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</p:sldIdLst>
  <p:sldSz cx="10058400" cy="7772400"/>
  <p:notesSz cx="10058400" cy="7772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655"/>
    <p:restoredTop sz="94674"/>
  </p:normalViewPr>
  <p:slideViewPr>
    <p:cSldViewPr>
      <p:cViewPr varScale="1">
        <p:scale>
          <a:sx n="109" d="100"/>
          <a:sy n="109" d="100"/>
        </p:scale>
        <p:origin x="2008" y="19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C6FB37-5DF0-7646-8C38-6FEC44B5E001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90E735-76C9-F342-96CA-5DD2B5E088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422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spc="-25" dirty="0">
                <a:solidFill>
                  <a:schemeClr val="bg1">
                    <a:lumMod val="75000"/>
                  </a:schemeClr>
                </a:solidFill>
                <a:latin typeface="Lucida Sans Unicode"/>
                <a:cs typeface="Lucida Sans Unicode"/>
              </a:rPr>
              <a:t>Than</a:t>
            </a:r>
            <a:r>
              <a:rPr lang="en-US" altLang="zh-CN" sz="1200" spc="-25" dirty="0">
                <a:solidFill>
                  <a:schemeClr val="bg1">
                    <a:lumMod val="75000"/>
                  </a:schemeClr>
                </a:solidFill>
                <a:latin typeface="Lucida Sans Unicode"/>
                <a:cs typeface="Lucida Sans Unicode"/>
              </a:rPr>
              <a:t>ks to </a:t>
            </a:r>
            <a:r>
              <a:rPr lang="en-US" sz="1200" spc="-25" dirty="0">
                <a:solidFill>
                  <a:schemeClr val="bg1">
                    <a:lumMod val="75000"/>
                  </a:schemeClr>
                </a:solidFill>
                <a:latin typeface="Lucida Sans Unicode"/>
                <a:cs typeface="Lucida Sans Unicode"/>
              </a:rPr>
              <a:t>Christopher</a:t>
            </a:r>
            <a:r>
              <a:rPr lang="en-US" sz="1200" spc="-40" dirty="0">
                <a:solidFill>
                  <a:schemeClr val="bg1">
                    <a:lumMod val="75000"/>
                  </a:schemeClr>
                </a:solidFill>
                <a:latin typeface="Lucida Sans Unicode"/>
                <a:cs typeface="Lucida Sans Unicode"/>
              </a:rPr>
              <a:t> </a:t>
            </a:r>
            <a:r>
              <a:rPr lang="en-US" sz="1200" spc="-25" dirty="0">
                <a:solidFill>
                  <a:schemeClr val="bg1">
                    <a:lumMod val="75000"/>
                  </a:schemeClr>
                </a:solidFill>
                <a:latin typeface="Lucida Sans Unicode"/>
                <a:cs typeface="Lucida Sans Unicode"/>
              </a:rPr>
              <a:t>Manning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Lucida Sans Unicode"/>
              <a:cs typeface="Lucida Sans Unicode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90E735-76C9-F342-96CA-5DD2B5E088F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1528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rgbClr val="3A87F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rgbClr val="3A87F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48369" y="1819909"/>
            <a:ext cx="3572510" cy="40773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383434" y="1822958"/>
            <a:ext cx="3858895" cy="43059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rgbClr val="3A87F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63118" y="411225"/>
            <a:ext cx="8610600" cy="5435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1" i="0">
                <a:solidFill>
                  <a:srgbClr val="3A87F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90524" y="3106172"/>
            <a:ext cx="8669655" cy="38214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37718" y="7086825"/>
            <a:ext cx="269875" cy="2584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jpeg"/><Relationship Id="rId4" Type="http://schemas.openxmlformats.org/officeDocument/2006/relationships/image" Target="../media/image4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jpeg"/><Relationship Id="rId4" Type="http://schemas.openxmlformats.org/officeDocument/2006/relationships/image" Target="../media/image4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12" Type="http://schemas.openxmlformats.org/officeDocument/2006/relationships/image" Target="../media/image1.jpe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jpg"/><Relationship Id="rId11" Type="http://schemas.openxmlformats.org/officeDocument/2006/relationships/image" Target="../media/image52.png"/><Relationship Id="rId5" Type="http://schemas.openxmlformats.org/officeDocument/2006/relationships/image" Target="../media/image46.jpg"/><Relationship Id="rId10" Type="http://schemas.openxmlformats.org/officeDocument/2006/relationships/image" Target="../media/image51.jpg"/><Relationship Id="rId4" Type="http://schemas.openxmlformats.org/officeDocument/2006/relationships/image" Target="../media/image45.jpg"/><Relationship Id="rId9" Type="http://schemas.openxmlformats.org/officeDocument/2006/relationships/image" Target="../media/image5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g"/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6.jpg"/><Relationship Id="rId4" Type="http://schemas.openxmlformats.org/officeDocument/2006/relationships/image" Target="../media/image55.jp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hyperlink" Target="http://code.google.com/p/word2vec/source/browse/trunk/questions-" TargetMode="Externa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11" Type="http://schemas.openxmlformats.org/officeDocument/2006/relationships/image" Target="../media/image74.png"/><Relationship Id="rId5" Type="http://schemas.openxmlformats.org/officeDocument/2006/relationships/image" Target="../media/image68.png"/><Relationship Id="rId10" Type="http://schemas.openxmlformats.org/officeDocument/2006/relationships/image" Target="../media/image73.png"/><Relationship Id="rId4" Type="http://schemas.openxmlformats.org/officeDocument/2006/relationships/image" Target="../media/image67.png"/><Relationship Id="rId9" Type="http://schemas.openxmlformats.org/officeDocument/2006/relationships/image" Target="../media/image7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jpg"/><Relationship Id="rId2" Type="http://schemas.openxmlformats.org/officeDocument/2006/relationships/image" Target="../media/image75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3" Type="http://schemas.openxmlformats.org/officeDocument/2006/relationships/image" Target="../media/image80.png"/><Relationship Id="rId7" Type="http://schemas.openxmlformats.org/officeDocument/2006/relationships/image" Target="../media/image84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13" Type="http://schemas.openxmlformats.org/officeDocument/2006/relationships/image" Target="../media/image97.png"/><Relationship Id="rId3" Type="http://schemas.openxmlformats.org/officeDocument/2006/relationships/image" Target="../media/image87.png"/><Relationship Id="rId7" Type="http://schemas.openxmlformats.org/officeDocument/2006/relationships/image" Target="../media/image91.png"/><Relationship Id="rId12" Type="http://schemas.openxmlformats.org/officeDocument/2006/relationships/image" Target="../media/image96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png"/><Relationship Id="rId11" Type="http://schemas.openxmlformats.org/officeDocument/2006/relationships/image" Target="../media/image95.png"/><Relationship Id="rId5" Type="http://schemas.openxmlformats.org/officeDocument/2006/relationships/image" Target="../media/image89.png"/><Relationship Id="rId10" Type="http://schemas.openxmlformats.org/officeDocument/2006/relationships/image" Target="../media/image94.png"/><Relationship Id="rId4" Type="http://schemas.openxmlformats.org/officeDocument/2006/relationships/image" Target="../media/image88.png"/><Relationship Id="rId9" Type="http://schemas.openxmlformats.org/officeDocument/2006/relationships/image" Target="../media/image93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s.technion.ac.il/~gabr/resources/data/wordsim353/" TargetMode="Externa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2819400" y="2097670"/>
            <a:ext cx="5020006" cy="597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zh-CN" sz="3800" b="1" spc="355" dirty="0">
                <a:latin typeface="Trebuchet MS"/>
                <a:cs typeface="Trebuchet MS"/>
              </a:rPr>
              <a:t>Word</a:t>
            </a:r>
            <a:r>
              <a:rPr lang="zh-CN" altLang="en-US" sz="3800" b="1" spc="355" dirty="0">
                <a:latin typeface="Trebuchet MS"/>
                <a:cs typeface="Trebuchet MS"/>
              </a:rPr>
              <a:t> </a:t>
            </a:r>
            <a:r>
              <a:rPr lang="en-US" altLang="zh-CN" sz="3800" b="1" spc="355" dirty="0">
                <a:latin typeface="Trebuchet MS"/>
                <a:cs typeface="Trebuchet MS"/>
              </a:rPr>
              <a:t>Embeddings</a:t>
            </a:r>
            <a:endParaRPr sz="3800" dirty="0">
              <a:latin typeface="Trebuchet MS"/>
              <a:cs typeface="Trebuchet MS"/>
            </a:endParaRP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9E864D47-161A-1749-A79A-EC3553D3ED72}"/>
              </a:ext>
            </a:extLst>
          </p:cNvPr>
          <p:cNvSpPr txBox="1"/>
          <p:nvPr/>
        </p:nvSpPr>
        <p:spPr>
          <a:xfrm>
            <a:off x="1742736" y="4733844"/>
            <a:ext cx="6586220" cy="1051570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60"/>
              </a:spcBef>
            </a:pPr>
            <a:r>
              <a:rPr lang="en-US" altLang="zh-CN" sz="2600" spc="-25" dirty="0">
                <a:latin typeface="Lucida Sans Unicode"/>
                <a:cs typeface="Lucida Sans Unicode"/>
              </a:rPr>
              <a:t>Lecturer:</a:t>
            </a:r>
            <a:r>
              <a:rPr lang="zh-CN" altLang="en-US" sz="2600" spc="-25" dirty="0">
                <a:latin typeface="Lucida Sans Unicode"/>
                <a:cs typeface="Lucida Sans Unicode"/>
              </a:rPr>
              <a:t> </a:t>
            </a:r>
            <a:r>
              <a:rPr lang="en-US" altLang="zh-CN" sz="2600" spc="-25" dirty="0">
                <a:latin typeface="Lucida Sans Unicode"/>
                <a:cs typeface="Lucida Sans Unicode"/>
              </a:rPr>
              <a:t>Shangsong</a:t>
            </a:r>
            <a:r>
              <a:rPr lang="zh-CN" altLang="en-US" sz="2600" spc="-25" dirty="0">
                <a:latin typeface="Lucida Sans Unicode"/>
                <a:cs typeface="Lucida Sans Unicode"/>
              </a:rPr>
              <a:t> </a:t>
            </a:r>
            <a:r>
              <a:rPr lang="en-US" altLang="zh-CN" sz="2600" spc="-25" dirty="0">
                <a:latin typeface="Lucida Sans Unicode"/>
                <a:cs typeface="Lucida Sans Unicode"/>
              </a:rPr>
              <a:t>Liang</a:t>
            </a:r>
          </a:p>
          <a:p>
            <a:pPr algn="ctr">
              <a:lnSpc>
                <a:spcPct val="100000"/>
              </a:lnSpc>
              <a:spcBef>
                <a:spcPts val="960"/>
              </a:spcBef>
            </a:pPr>
            <a:r>
              <a:rPr lang="en-US" altLang="zh-CN" sz="2600" spc="-25" dirty="0">
                <a:latin typeface="Lucida Sans Unicode"/>
                <a:cs typeface="Lucida Sans Unicode"/>
              </a:rPr>
              <a:t>Sun</a:t>
            </a:r>
            <a:r>
              <a:rPr lang="zh-CN" altLang="en-US" sz="2600" spc="-25" dirty="0">
                <a:latin typeface="Lucida Sans Unicode"/>
                <a:cs typeface="Lucida Sans Unicode"/>
              </a:rPr>
              <a:t> </a:t>
            </a:r>
            <a:r>
              <a:rPr lang="en-US" altLang="zh-CN" sz="2600" spc="-25" dirty="0" err="1">
                <a:latin typeface="Lucida Sans Unicode"/>
                <a:cs typeface="Lucida Sans Unicode"/>
              </a:rPr>
              <a:t>Yat-sen</a:t>
            </a:r>
            <a:r>
              <a:rPr lang="zh-CN" altLang="en-US" sz="2600" spc="-25" dirty="0">
                <a:latin typeface="Lucida Sans Unicode"/>
                <a:cs typeface="Lucida Sans Unicode"/>
              </a:rPr>
              <a:t> </a:t>
            </a:r>
            <a:r>
              <a:rPr lang="en-US" altLang="zh-CN" sz="2600" spc="-25" dirty="0">
                <a:latin typeface="Lucida Sans Unicode"/>
                <a:cs typeface="Lucida Sans Unicode"/>
              </a:rPr>
              <a:t>University</a:t>
            </a:r>
            <a:endParaRPr sz="2600" dirty="0">
              <a:latin typeface="Lucida Sans Unicode"/>
              <a:cs typeface="Lucida Sans Unicode"/>
            </a:endParaRP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0D92A11-EF38-7B4A-9DEA-794D0BD08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图片 3" descr="20121109221446303940">
            <a:extLst>
              <a:ext uri="{FF2B5EF4-FFF2-40B4-BE49-F238E27FC236}">
                <a16:creationId xmlns:a16="http://schemas.microsoft.com/office/drawing/2014/main" id="{77A90B78-9486-1C49-A806-51F001A7689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5304" y="593090"/>
            <a:ext cx="1332484" cy="13324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148079" y="222759"/>
            <a:ext cx="59055" cy="7325359"/>
            <a:chOff x="148079" y="222759"/>
            <a:chExt cx="59055" cy="7325359"/>
          </a:xfrm>
        </p:grpSpPr>
        <p:sp>
          <p:nvSpPr>
            <p:cNvPr id="4" name="object 4"/>
            <p:cNvSpPr/>
            <p:nvPr/>
          </p:nvSpPr>
          <p:spPr>
            <a:xfrm>
              <a:off x="153159" y="227839"/>
              <a:ext cx="48895" cy="7315200"/>
            </a:xfrm>
            <a:custGeom>
              <a:avLst/>
              <a:gdLst/>
              <a:ahLst/>
              <a:cxnLst/>
              <a:rect l="l" t="t" r="r" b="b"/>
              <a:pathLst>
                <a:path w="48894" h="7315200">
                  <a:moveTo>
                    <a:pt x="48766" y="0"/>
                  </a:moveTo>
                  <a:lnTo>
                    <a:pt x="0" y="0"/>
                  </a:lnTo>
                  <a:lnTo>
                    <a:pt x="0" y="7315200"/>
                  </a:lnTo>
                  <a:lnTo>
                    <a:pt x="48766" y="7315200"/>
                  </a:lnTo>
                  <a:lnTo>
                    <a:pt x="48766" y="0"/>
                  </a:lnTo>
                  <a:close/>
                </a:path>
              </a:pathLst>
            </a:custGeom>
            <a:solidFill>
              <a:srgbClr val="A4050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53159" y="227839"/>
              <a:ext cx="48895" cy="7315200"/>
            </a:xfrm>
            <a:custGeom>
              <a:avLst/>
              <a:gdLst/>
              <a:ahLst/>
              <a:cxnLst/>
              <a:rect l="l" t="t" r="r" b="b"/>
              <a:pathLst>
                <a:path w="48894" h="7315200">
                  <a:moveTo>
                    <a:pt x="48766" y="0"/>
                  </a:moveTo>
                  <a:lnTo>
                    <a:pt x="48766" y="7315200"/>
                  </a:lnTo>
                  <a:lnTo>
                    <a:pt x="0" y="7315200"/>
                  </a:lnTo>
                  <a:lnTo>
                    <a:pt x="0" y="0"/>
                  </a:lnTo>
                  <a:lnTo>
                    <a:pt x="48766" y="0"/>
                  </a:lnTo>
                  <a:close/>
                </a:path>
              </a:pathLst>
            </a:custGeom>
            <a:ln w="10159">
              <a:solidFill>
                <a:srgbClr val="A4001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701038" y="1218946"/>
            <a:ext cx="224472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0000"/>
                </a:solidFill>
              </a:rPr>
              <a:t>Lecture</a:t>
            </a:r>
            <a:r>
              <a:rPr spc="-6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Plan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37718" y="6952713"/>
            <a:ext cx="173355" cy="25844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z="1500" dirty="0">
                <a:latin typeface="Calibri"/>
                <a:cs typeface="Calibri"/>
              </a:rPr>
              <a:t>2</a:t>
            </a:fld>
            <a:endParaRPr sz="15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3116" y="2088642"/>
            <a:ext cx="9107805" cy="472249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600" spc="-20" dirty="0">
                <a:latin typeface="Lucida Sans Unicode"/>
                <a:cs typeface="Lucida Sans Unicode"/>
              </a:rPr>
              <a:t>Word</a:t>
            </a:r>
            <a:r>
              <a:rPr sz="2600" spc="-40" dirty="0">
                <a:latin typeface="Lucida Sans Unicode"/>
                <a:cs typeface="Lucida Sans Unicode"/>
              </a:rPr>
              <a:t> </a:t>
            </a:r>
            <a:r>
              <a:rPr lang="en-US" altLang="zh-CN" sz="2600" spc="-20" dirty="0">
                <a:latin typeface="Lucida Sans Unicode"/>
                <a:cs typeface="Lucida Sans Unicode"/>
              </a:rPr>
              <a:t>Embeddings</a:t>
            </a:r>
            <a:endParaRPr sz="2600" dirty="0">
              <a:latin typeface="Lucida Sans Unicode"/>
              <a:cs typeface="Lucida Sans Unicode"/>
            </a:endParaRPr>
          </a:p>
          <a:p>
            <a:pPr marL="500380" indent="-487680">
              <a:lnSpc>
                <a:spcPct val="100000"/>
              </a:lnSpc>
              <a:spcBef>
                <a:spcPts val="575"/>
              </a:spcBef>
              <a:buClr>
                <a:srgbClr val="CC0000"/>
              </a:buClr>
              <a:buAutoNum type="arabicPeriod"/>
              <a:tabLst>
                <a:tab pos="499745" algn="l"/>
                <a:tab pos="500380" algn="l"/>
              </a:tabLst>
            </a:pPr>
            <a:r>
              <a:rPr sz="2600" spc="-20" dirty="0">
                <a:latin typeface="Calibri"/>
                <a:cs typeface="Calibri"/>
              </a:rPr>
              <a:t>Finish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looking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at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word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vectors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and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word2vec</a:t>
            </a:r>
            <a:endParaRPr sz="2600" dirty="0">
              <a:latin typeface="Calibri"/>
              <a:cs typeface="Calibri"/>
            </a:endParaRPr>
          </a:p>
          <a:p>
            <a:pPr marL="500380" indent="-487680">
              <a:lnSpc>
                <a:spcPct val="100000"/>
              </a:lnSpc>
              <a:spcBef>
                <a:spcPts val="575"/>
              </a:spcBef>
              <a:buClr>
                <a:srgbClr val="CC0000"/>
              </a:buClr>
              <a:buAutoNum type="arabicPeriod"/>
              <a:tabLst>
                <a:tab pos="499745" algn="l"/>
                <a:tab pos="500380" algn="l"/>
              </a:tabLst>
            </a:pPr>
            <a:r>
              <a:rPr sz="2600" spc="-20" dirty="0">
                <a:latin typeface="Calibri"/>
                <a:cs typeface="Calibri"/>
              </a:rPr>
              <a:t>Optimization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basics</a:t>
            </a:r>
            <a:r>
              <a:rPr sz="2600" spc="-45" dirty="0">
                <a:latin typeface="Calibri"/>
                <a:cs typeface="Calibri"/>
              </a:rPr>
              <a:t> </a:t>
            </a:r>
            <a:endParaRPr sz="2600" dirty="0">
              <a:latin typeface="Calibri"/>
              <a:cs typeface="Calibri"/>
            </a:endParaRPr>
          </a:p>
          <a:p>
            <a:pPr marL="500380" indent="-487680">
              <a:lnSpc>
                <a:spcPct val="100000"/>
              </a:lnSpc>
              <a:spcBef>
                <a:spcPts val="575"/>
              </a:spcBef>
              <a:buClr>
                <a:srgbClr val="CC0000"/>
              </a:buClr>
              <a:buAutoNum type="arabicPeriod"/>
              <a:tabLst>
                <a:tab pos="499745" algn="l"/>
                <a:tab pos="500380" algn="l"/>
              </a:tabLst>
            </a:pPr>
            <a:r>
              <a:rPr sz="2600" spc="-20" dirty="0">
                <a:latin typeface="Calibri"/>
                <a:cs typeface="Calibri"/>
              </a:rPr>
              <a:t>Can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we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capture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this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essence</a:t>
            </a:r>
            <a:r>
              <a:rPr sz="2600" spc="-25" dirty="0">
                <a:latin typeface="Calibri"/>
                <a:cs typeface="Calibri"/>
              </a:rPr>
              <a:t> more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effectively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by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counting?</a:t>
            </a:r>
            <a:r>
              <a:rPr sz="2600" spc="-35" dirty="0">
                <a:latin typeface="Calibri"/>
                <a:cs typeface="Calibri"/>
              </a:rPr>
              <a:t> </a:t>
            </a:r>
            <a:endParaRPr sz="2600" dirty="0">
              <a:latin typeface="Calibri"/>
              <a:cs typeface="Calibri"/>
            </a:endParaRPr>
          </a:p>
          <a:p>
            <a:pPr marL="500380" indent="-487680">
              <a:lnSpc>
                <a:spcPct val="100000"/>
              </a:lnSpc>
              <a:spcBef>
                <a:spcPts val="580"/>
              </a:spcBef>
              <a:buClr>
                <a:srgbClr val="CC0000"/>
              </a:buClr>
              <a:buAutoNum type="arabicPeriod"/>
              <a:tabLst>
                <a:tab pos="499745" algn="l"/>
                <a:tab pos="500380" algn="l"/>
              </a:tabLst>
            </a:pPr>
            <a:r>
              <a:rPr sz="2600" spc="-15" dirty="0">
                <a:latin typeface="Calibri"/>
                <a:cs typeface="Calibri"/>
              </a:rPr>
              <a:t>The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GloVe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model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of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word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vectors</a:t>
            </a:r>
            <a:endParaRPr sz="2600" dirty="0">
              <a:latin typeface="Calibri"/>
              <a:cs typeface="Calibri"/>
            </a:endParaRPr>
          </a:p>
          <a:p>
            <a:pPr marL="500380" indent="-487680">
              <a:lnSpc>
                <a:spcPct val="100000"/>
              </a:lnSpc>
              <a:spcBef>
                <a:spcPts val="600"/>
              </a:spcBef>
              <a:buClr>
                <a:srgbClr val="CC0000"/>
              </a:buClr>
              <a:buAutoNum type="arabicPeriod"/>
              <a:tabLst>
                <a:tab pos="499745" algn="l"/>
                <a:tab pos="500380" algn="l"/>
              </a:tabLst>
            </a:pPr>
            <a:r>
              <a:rPr sz="2600" spc="-20" dirty="0">
                <a:latin typeface="Calibri"/>
                <a:cs typeface="Calibri"/>
              </a:rPr>
              <a:t>Evaluating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word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vectors</a:t>
            </a:r>
            <a:r>
              <a:rPr sz="2600" spc="-40" dirty="0">
                <a:latin typeface="Calibri"/>
                <a:cs typeface="Calibri"/>
              </a:rPr>
              <a:t> </a:t>
            </a:r>
            <a:endParaRPr sz="2600" dirty="0">
              <a:latin typeface="Calibri"/>
              <a:cs typeface="Calibri"/>
            </a:endParaRPr>
          </a:p>
          <a:p>
            <a:pPr marL="500380" indent="-487680">
              <a:lnSpc>
                <a:spcPct val="100000"/>
              </a:lnSpc>
              <a:spcBef>
                <a:spcPts val="575"/>
              </a:spcBef>
              <a:buClr>
                <a:srgbClr val="CC0000"/>
              </a:buClr>
              <a:buAutoNum type="arabicPeriod"/>
              <a:tabLst>
                <a:tab pos="499745" algn="l"/>
                <a:tab pos="500380" algn="l"/>
              </a:tabLst>
            </a:pPr>
            <a:r>
              <a:rPr sz="2600" spc="-20" dirty="0">
                <a:latin typeface="Calibri"/>
                <a:cs typeface="Calibri"/>
              </a:rPr>
              <a:t>Word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senses</a:t>
            </a:r>
            <a:r>
              <a:rPr sz="2600" spc="-50" dirty="0">
                <a:latin typeface="Calibri"/>
                <a:cs typeface="Calibri"/>
              </a:rPr>
              <a:t> </a:t>
            </a:r>
            <a:endParaRPr sz="2600" dirty="0">
              <a:latin typeface="Calibri"/>
              <a:cs typeface="Calibri"/>
            </a:endParaRPr>
          </a:p>
          <a:p>
            <a:pPr marL="500380" indent="-487680">
              <a:lnSpc>
                <a:spcPct val="100000"/>
              </a:lnSpc>
              <a:spcBef>
                <a:spcPts val="575"/>
              </a:spcBef>
              <a:buClr>
                <a:srgbClr val="CC0000"/>
              </a:buClr>
              <a:buAutoNum type="arabicPeriod"/>
              <a:tabLst>
                <a:tab pos="499745" algn="l"/>
                <a:tab pos="500380" algn="l"/>
              </a:tabLst>
            </a:pPr>
            <a:r>
              <a:rPr sz="2600" spc="-15" dirty="0">
                <a:latin typeface="Calibri"/>
                <a:cs typeface="Calibri"/>
              </a:rPr>
              <a:t>The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course</a:t>
            </a:r>
            <a:endParaRPr sz="2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35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600" spc="-20" dirty="0">
                <a:latin typeface="Calibri"/>
                <a:cs typeface="Calibri"/>
              </a:rPr>
              <a:t>Goal: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be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able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to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read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word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embeddings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papers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by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the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end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of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class</a:t>
            </a:r>
            <a:endParaRPr sz="2600" dirty="0">
              <a:latin typeface="Calibri"/>
              <a:cs typeface="Calibri"/>
            </a:endParaRPr>
          </a:p>
        </p:txBody>
      </p:sp>
      <p:pic>
        <p:nvPicPr>
          <p:cNvPr id="10" name="图片 3" descr="20121109221446303940">
            <a:extLst>
              <a:ext uri="{FF2B5EF4-FFF2-40B4-BE49-F238E27FC236}">
                <a16:creationId xmlns:a16="http://schemas.microsoft.com/office/drawing/2014/main" id="{6A5059C3-35A4-E049-AF85-9B935B35AE6A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5304" y="593090"/>
            <a:ext cx="1332484" cy="133248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496569"/>
            <a:ext cx="613029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" dirty="0"/>
              <a:t>1.</a:t>
            </a:r>
            <a:r>
              <a:rPr spc="-5" dirty="0"/>
              <a:t> </a:t>
            </a:r>
            <a:r>
              <a:rPr dirty="0"/>
              <a:t>Review: Main</a:t>
            </a:r>
            <a:r>
              <a:rPr spc="-10" dirty="0"/>
              <a:t> </a:t>
            </a:r>
            <a:r>
              <a:rPr dirty="0"/>
              <a:t>idea </a:t>
            </a:r>
            <a:r>
              <a:rPr spc="5" dirty="0"/>
              <a:t>of</a:t>
            </a:r>
            <a:r>
              <a:rPr spc="-5" dirty="0"/>
              <a:t> </a:t>
            </a:r>
            <a:r>
              <a:rPr spc="5" dirty="0"/>
              <a:t>word2vec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3118" y="1138682"/>
            <a:ext cx="7738745" cy="1421765"/>
          </a:xfrm>
          <a:prstGeom prst="rect">
            <a:avLst/>
          </a:prstGeom>
        </p:spPr>
        <p:txBody>
          <a:bodyPr vert="horz" wrap="square" lIns="0" tIns="253365" rIns="0" bIns="0" rtlCol="0">
            <a:spAutoFit/>
          </a:bodyPr>
          <a:lstStyle/>
          <a:p>
            <a:pPr marL="500380" indent="-487680">
              <a:lnSpc>
                <a:spcPct val="100000"/>
              </a:lnSpc>
              <a:spcBef>
                <a:spcPts val="1995"/>
              </a:spcBef>
              <a:buClr>
                <a:srgbClr val="CC0000"/>
              </a:buClr>
              <a:buChar char="•"/>
              <a:tabLst>
                <a:tab pos="499745" algn="l"/>
                <a:tab pos="500380" algn="l"/>
              </a:tabLst>
            </a:pPr>
            <a:r>
              <a:rPr sz="3000" spc="-10" dirty="0">
                <a:latin typeface="Calibri"/>
                <a:cs typeface="Calibri"/>
              </a:rPr>
              <a:t>Iterate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through each word</a:t>
            </a:r>
            <a:r>
              <a:rPr sz="3000" spc="-5" dirty="0">
                <a:latin typeface="Calibri"/>
                <a:cs typeface="Calibri"/>
              </a:rPr>
              <a:t> of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the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whole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corpus</a:t>
            </a:r>
            <a:endParaRPr sz="3000" dirty="0">
              <a:latin typeface="Calibri"/>
              <a:cs typeface="Calibri"/>
            </a:endParaRPr>
          </a:p>
          <a:p>
            <a:pPr marL="500380" indent="-487680">
              <a:lnSpc>
                <a:spcPct val="100000"/>
              </a:lnSpc>
              <a:spcBef>
                <a:spcPts val="1895"/>
              </a:spcBef>
              <a:buClr>
                <a:srgbClr val="CC0000"/>
              </a:buClr>
              <a:buChar char="•"/>
              <a:tabLst>
                <a:tab pos="499745" algn="l"/>
                <a:tab pos="500380" algn="l"/>
              </a:tabLst>
            </a:pPr>
            <a:r>
              <a:rPr sz="3000" spc="-10" dirty="0">
                <a:latin typeface="Calibri"/>
                <a:cs typeface="Calibri"/>
              </a:rPr>
              <a:t>Predict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surrounding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words</a:t>
            </a:r>
            <a:r>
              <a:rPr sz="3000" spc="-5" dirty="0">
                <a:latin typeface="Calibri"/>
                <a:cs typeface="Calibri"/>
              </a:rPr>
              <a:t> using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word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vectors</a:t>
            </a:r>
            <a:endParaRPr sz="3000" dirty="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37718" y="6952713"/>
            <a:ext cx="173355" cy="25844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z="1500" dirty="0">
                <a:latin typeface="Calibri"/>
                <a:cs typeface="Calibri"/>
              </a:rPr>
              <a:t>3</a:t>
            </a:fld>
            <a:endParaRPr sz="1500">
              <a:latin typeface="Calibri"/>
              <a:cs typeface="Calibri"/>
            </a:endParaRPr>
          </a:p>
        </p:txBody>
      </p:sp>
      <p:pic>
        <p:nvPicPr>
          <p:cNvPr id="30" name="Picture 29" descr="Diagram&#10;&#10;Description automatically generated">
            <a:extLst>
              <a:ext uri="{FF2B5EF4-FFF2-40B4-BE49-F238E27FC236}">
                <a16:creationId xmlns:a16="http://schemas.microsoft.com/office/drawing/2014/main" id="{C6A10147-6929-DF48-8450-9D92778F82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68" y="3187738"/>
            <a:ext cx="7459020" cy="34459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496569"/>
            <a:ext cx="740219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Word2vec</a:t>
            </a:r>
            <a:r>
              <a:rPr spc="5" dirty="0"/>
              <a:t> </a:t>
            </a:r>
            <a:r>
              <a:rPr dirty="0"/>
              <a:t>parameters and</a:t>
            </a:r>
            <a:r>
              <a:rPr spc="5" dirty="0"/>
              <a:t> </a:t>
            </a:r>
            <a:r>
              <a:rPr dirty="0"/>
              <a:t>computations</a:t>
            </a:r>
          </a:p>
        </p:txBody>
      </p:sp>
      <p:sp>
        <p:nvSpPr>
          <p:cNvPr id="3" name="object 3"/>
          <p:cNvSpPr/>
          <p:nvPr/>
        </p:nvSpPr>
        <p:spPr>
          <a:xfrm>
            <a:off x="588391" y="1551939"/>
            <a:ext cx="97155" cy="1917700"/>
          </a:xfrm>
          <a:custGeom>
            <a:avLst/>
            <a:gdLst/>
            <a:ahLst/>
            <a:cxnLst/>
            <a:rect l="l" t="t" r="r" b="b"/>
            <a:pathLst>
              <a:path w="97154" h="1917700">
                <a:moveTo>
                  <a:pt x="97053" y="0"/>
                </a:moveTo>
                <a:lnTo>
                  <a:pt x="0" y="0"/>
                </a:lnTo>
                <a:lnTo>
                  <a:pt x="0" y="15240"/>
                </a:lnTo>
                <a:lnTo>
                  <a:pt x="0" y="1903730"/>
                </a:lnTo>
                <a:lnTo>
                  <a:pt x="0" y="1917700"/>
                </a:lnTo>
                <a:lnTo>
                  <a:pt x="97053" y="1917700"/>
                </a:lnTo>
                <a:lnTo>
                  <a:pt x="97053" y="1903730"/>
                </a:lnTo>
                <a:lnTo>
                  <a:pt x="33858" y="1903730"/>
                </a:lnTo>
                <a:lnTo>
                  <a:pt x="33858" y="15240"/>
                </a:lnTo>
                <a:lnTo>
                  <a:pt x="97053" y="15240"/>
                </a:lnTo>
                <a:lnTo>
                  <a:pt x="9705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699717" y="1551939"/>
            <a:ext cx="97155" cy="1917700"/>
          </a:xfrm>
          <a:custGeom>
            <a:avLst/>
            <a:gdLst/>
            <a:ahLst/>
            <a:cxnLst/>
            <a:rect l="l" t="t" r="r" b="b"/>
            <a:pathLst>
              <a:path w="97155" h="1917700">
                <a:moveTo>
                  <a:pt x="97066" y="0"/>
                </a:moveTo>
                <a:lnTo>
                  <a:pt x="0" y="0"/>
                </a:lnTo>
                <a:lnTo>
                  <a:pt x="0" y="15240"/>
                </a:lnTo>
                <a:lnTo>
                  <a:pt x="63207" y="15240"/>
                </a:lnTo>
                <a:lnTo>
                  <a:pt x="63207" y="1903730"/>
                </a:lnTo>
                <a:lnTo>
                  <a:pt x="0" y="1903730"/>
                </a:lnTo>
                <a:lnTo>
                  <a:pt x="0" y="1917700"/>
                </a:lnTo>
                <a:lnTo>
                  <a:pt x="97066" y="1917700"/>
                </a:lnTo>
                <a:lnTo>
                  <a:pt x="97066" y="1903730"/>
                </a:lnTo>
                <a:lnTo>
                  <a:pt x="97066" y="15240"/>
                </a:lnTo>
                <a:lnTo>
                  <a:pt x="9706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76909" y="1290065"/>
            <a:ext cx="1032510" cy="2720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060"/>
              </a:lnSpc>
              <a:spcBef>
                <a:spcPts val="100"/>
              </a:spcBef>
            </a:pPr>
            <a:r>
              <a:rPr sz="2600" dirty="0">
                <a:latin typeface="Cambria Math"/>
                <a:cs typeface="Cambria Math"/>
              </a:rPr>
              <a:t>•</a:t>
            </a:r>
            <a:r>
              <a:rPr sz="2600" spc="-60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•</a:t>
            </a:r>
            <a:r>
              <a:rPr sz="2600" spc="-60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•</a:t>
            </a:r>
            <a:r>
              <a:rPr sz="2600" spc="-60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•</a:t>
            </a:r>
            <a:r>
              <a:rPr sz="2600" spc="-60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•</a:t>
            </a:r>
            <a:endParaRPr sz="2600">
              <a:latin typeface="Cambria Math"/>
              <a:cs typeface="Cambria Math"/>
            </a:endParaRPr>
          </a:p>
          <a:p>
            <a:pPr marL="12700">
              <a:lnSpc>
                <a:spcPts val="3000"/>
              </a:lnSpc>
            </a:pPr>
            <a:r>
              <a:rPr sz="2600" dirty="0">
                <a:latin typeface="Cambria Math"/>
                <a:cs typeface="Cambria Math"/>
              </a:rPr>
              <a:t>•</a:t>
            </a:r>
            <a:r>
              <a:rPr sz="2600" spc="-65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•</a:t>
            </a:r>
            <a:r>
              <a:rPr sz="2600" spc="200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•</a:t>
            </a:r>
            <a:r>
              <a:rPr sz="2600" spc="-60" dirty="0">
                <a:latin typeface="Cambria Math"/>
                <a:cs typeface="Cambria Math"/>
              </a:rPr>
              <a:t> </a:t>
            </a:r>
            <a:r>
              <a:rPr sz="2600" spc="130" dirty="0">
                <a:latin typeface="Cambria Math"/>
                <a:cs typeface="Cambria Math"/>
              </a:rPr>
              <a:t>••</a:t>
            </a:r>
            <a:endParaRPr sz="2600">
              <a:latin typeface="Cambria Math"/>
              <a:cs typeface="Cambria Math"/>
            </a:endParaRPr>
          </a:p>
          <a:p>
            <a:pPr marL="12700">
              <a:lnSpc>
                <a:spcPts val="3000"/>
              </a:lnSpc>
            </a:pPr>
            <a:r>
              <a:rPr sz="2600" dirty="0">
                <a:latin typeface="Cambria Math"/>
                <a:cs typeface="Cambria Math"/>
              </a:rPr>
              <a:t>•</a:t>
            </a:r>
            <a:r>
              <a:rPr sz="2600" spc="-65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•</a:t>
            </a:r>
            <a:r>
              <a:rPr sz="2600" spc="200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•</a:t>
            </a:r>
            <a:r>
              <a:rPr sz="2600" spc="-60" dirty="0">
                <a:latin typeface="Cambria Math"/>
                <a:cs typeface="Cambria Math"/>
              </a:rPr>
              <a:t> </a:t>
            </a:r>
            <a:r>
              <a:rPr sz="2600" spc="130" dirty="0">
                <a:latin typeface="Cambria Math"/>
                <a:cs typeface="Cambria Math"/>
              </a:rPr>
              <a:t>••</a:t>
            </a:r>
            <a:endParaRPr sz="2600">
              <a:latin typeface="Cambria Math"/>
              <a:cs typeface="Cambria Math"/>
            </a:endParaRPr>
          </a:p>
          <a:p>
            <a:pPr marL="12700">
              <a:lnSpc>
                <a:spcPts val="3000"/>
              </a:lnSpc>
            </a:pPr>
            <a:r>
              <a:rPr sz="2600" dirty="0">
                <a:latin typeface="Cambria Math"/>
                <a:cs typeface="Cambria Math"/>
              </a:rPr>
              <a:t>•</a:t>
            </a:r>
            <a:r>
              <a:rPr sz="2600" spc="-65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•</a:t>
            </a:r>
            <a:r>
              <a:rPr sz="2600" spc="200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•</a:t>
            </a:r>
            <a:r>
              <a:rPr sz="2600" spc="-60" dirty="0">
                <a:latin typeface="Cambria Math"/>
                <a:cs typeface="Cambria Math"/>
              </a:rPr>
              <a:t> </a:t>
            </a:r>
            <a:r>
              <a:rPr sz="2600" spc="130" dirty="0">
                <a:latin typeface="Cambria Math"/>
                <a:cs typeface="Cambria Math"/>
              </a:rPr>
              <a:t>••</a:t>
            </a:r>
            <a:endParaRPr sz="2600">
              <a:latin typeface="Cambria Math"/>
              <a:cs typeface="Cambria Math"/>
            </a:endParaRPr>
          </a:p>
          <a:p>
            <a:pPr marL="12700">
              <a:lnSpc>
                <a:spcPts val="3000"/>
              </a:lnSpc>
            </a:pPr>
            <a:r>
              <a:rPr sz="2600" dirty="0">
                <a:latin typeface="Cambria Math"/>
                <a:cs typeface="Cambria Math"/>
              </a:rPr>
              <a:t>•</a:t>
            </a:r>
            <a:r>
              <a:rPr sz="2600" spc="-65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•</a:t>
            </a:r>
            <a:r>
              <a:rPr sz="2600" spc="200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•</a:t>
            </a:r>
            <a:r>
              <a:rPr sz="2600" spc="-60" dirty="0">
                <a:latin typeface="Cambria Math"/>
                <a:cs typeface="Cambria Math"/>
              </a:rPr>
              <a:t> </a:t>
            </a:r>
            <a:r>
              <a:rPr sz="2600" spc="130" dirty="0">
                <a:latin typeface="Cambria Math"/>
                <a:cs typeface="Cambria Math"/>
              </a:rPr>
              <a:t>••</a:t>
            </a:r>
            <a:endParaRPr sz="2600">
              <a:latin typeface="Cambria Math"/>
              <a:cs typeface="Cambria Math"/>
            </a:endParaRPr>
          </a:p>
          <a:p>
            <a:pPr marL="12700">
              <a:lnSpc>
                <a:spcPts val="3050"/>
              </a:lnSpc>
            </a:pPr>
            <a:r>
              <a:rPr sz="2600" dirty="0">
                <a:latin typeface="Cambria Math"/>
                <a:cs typeface="Cambria Math"/>
              </a:rPr>
              <a:t>•</a:t>
            </a:r>
            <a:r>
              <a:rPr sz="2600" spc="-65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•</a:t>
            </a:r>
            <a:r>
              <a:rPr sz="2600" spc="200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•</a:t>
            </a:r>
            <a:r>
              <a:rPr sz="2600" spc="-60" dirty="0">
                <a:latin typeface="Cambria Math"/>
                <a:cs typeface="Cambria Math"/>
              </a:rPr>
              <a:t> </a:t>
            </a:r>
            <a:r>
              <a:rPr sz="2600" spc="130" dirty="0">
                <a:latin typeface="Cambria Math"/>
                <a:cs typeface="Cambria Math"/>
              </a:rPr>
              <a:t>••</a:t>
            </a:r>
            <a:endParaRPr sz="2600">
              <a:latin typeface="Cambria Math"/>
              <a:cs typeface="Cambria Math"/>
            </a:endParaRPr>
          </a:p>
          <a:p>
            <a:pPr marL="335280">
              <a:lnSpc>
                <a:spcPts val="3110"/>
              </a:lnSpc>
            </a:pPr>
            <a:r>
              <a:rPr sz="2600" i="1" dirty="0">
                <a:latin typeface="Calibri"/>
                <a:cs typeface="Calibri"/>
              </a:rPr>
              <a:t>U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693873" y="1551939"/>
            <a:ext cx="97155" cy="1917700"/>
          </a:xfrm>
          <a:custGeom>
            <a:avLst/>
            <a:gdLst/>
            <a:ahLst/>
            <a:cxnLst/>
            <a:rect l="l" t="t" r="r" b="b"/>
            <a:pathLst>
              <a:path w="97155" h="1917700">
                <a:moveTo>
                  <a:pt x="97066" y="0"/>
                </a:moveTo>
                <a:lnTo>
                  <a:pt x="0" y="0"/>
                </a:lnTo>
                <a:lnTo>
                  <a:pt x="0" y="15240"/>
                </a:lnTo>
                <a:lnTo>
                  <a:pt x="0" y="1903730"/>
                </a:lnTo>
                <a:lnTo>
                  <a:pt x="0" y="1917700"/>
                </a:lnTo>
                <a:lnTo>
                  <a:pt x="97066" y="1917700"/>
                </a:lnTo>
                <a:lnTo>
                  <a:pt x="97066" y="1903730"/>
                </a:lnTo>
                <a:lnTo>
                  <a:pt x="33858" y="1903730"/>
                </a:lnTo>
                <a:lnTo>
                  <a:pt x="33858" y="15240"/>
                </a:lnTo>
                <a:lnTo>
                  <a:pt x="97066" y="15240"/>
                </a:lnTo>
                <a:lnTo>
                  <a:pt x="9706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805212" y="1551939"/>
            <a:ext cx="97155" cy="1917700"/>
          </a:xfrm>
          <a:custGeom>
            <a:avLst/>
            <a:gdLst/>
            <a:ahLst/>
            <a:cxnLst/>
            <a:rect l="l" t="t" r="r" b="b"/>
            <a:pathLst>
              <a:path w="97154" h="1917700">
                <a:moveTo>
                  <a:pt x="97053" y="0"/>
                </a:moveTo>
                <a:lnTo>
                  <a:pt x="0" y="0"/>
                </a:lnTo>
                <a:lnTo>
                  <a:pt x="0" y="15240"/>
                </a:lnTo>
                <a:lnTo>
                  <a:pt x="63195" y="15240"/>
                </a:lnTo>
                <a:lnTo>
                  <a:pt x="63195" y="1903730"/>
                </a:lnTo>
                <a:lnTo>
                  <a:pt x="0" y="1903730"/>
                </a:lnTo>
                <a:lnTo>
                  <a:pt x="0" y="1917700"/>
                </a:lnTo>
                <a:lnTo>
                  <a:pt x="97053" y="1917700"/>
                </a:lnTo>
                <a:lnTo>
                  <a:pt x="97053" y="1903730"/>
                </a:lnTo>
                <a:lnTo>
                  <a:pt x="97053" y="15240"/>
                </a:lnTo>
                <a:lnTo>
                  <a:pt x="9705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715224" y="1290065"/>
            <a:ext cx="1099185" cy="3177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9375">
              <a:lnSpc>
                <a:spcPts val="3060"/>
              </a:lnSpc>
              <a:spcBef>
                <a:spcPts val="100"/>
              </a:spcBef>
            </a:pPr>
            <a:r>
              <a:rPr sz="2600" dirty="0">
                <a:latin typeface="Cambria Math"/>
                <a:cs typeface="Cambria Math"/>
              </a:rPr>
              <a:t>•</a:t>
            </a:r>
            <a:r>
              <a:rPr sz="2600" spc="-60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•</a:t>
            </a:r>
            <a:r>
              <a:rPr sz="2600" spc="-60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•</a:t>
            </a:r>
            <a:r>
              <a:rPr sz="2600" spc="-60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•</a:t>
            </a:r>
            <a:r>
              <a:rPr sz="2600" spc="-60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•</a:t>
            </a:r>
            <a:endParaRPr sz="2600">
              <a:latin typeface="Cambria Math"/>
              <a:cs typeface="Cambria Math"/>
            </a:endParaRPr>
          </a:p>
          <a:p>
            <a:pPr marL="79375">
              <a:lnSpc>
                <a:spcPts val="3000"/>
              </a:lnSpc>
            </a:pPr>
            <a:r>
              <a:rPr sz="2600" dirty="0">
                <a:latin typeface="Cambria Math"/>
                <a:cs typeface="Cambria Math"/>
              </a:rPr>
              <a:t>•</a:t>
            </a:r>
            <a:r>
              <a:rPr sz="2600" spc="-65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•</a:t>
            </a:r>
            <a:r>
              <a:rPr sz="2600" spc="200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•</a:t>
            </a:r>
            <a:r>
              <a:rPr sz="2600" spc="-60" dirty="0">
                <a:latin typeface="Cambria Math"/>
                <a:cs typeface="Cambria Math"/>
              </a:rPr>
              <a:t> </a:t>
            </a:r>
            <a:r>
              <a:rPr sz="2600" spc="130" dirty="0">
                <a:latin typeface="Cambria Math"/>
                <a:cs typeface="Cambria Math"/>
              </a:rPr>
              <a:t>••</a:t>
            </a:r>
            <a:endParaRPr sz="2600">
              <a:latin typeface="Cambria Math"/>
              <a:cs typeface="Cambria Math"/>
            </a:endParaRPr>
          </a:p>
          <a:p>
            <a:pPr marL="79375">
              <a:lnSpc>
                <a:spcPts val="3000"/>
              </a:lnSpc>
            </a:pPr>
            <a:r>
              <a:rPr sz="2600" dirty="0">
                <a:latin typeface="Cambria Math"/>
                <a:cs typeface="Cambria Math"/>
              </a:rPr>
              <a:t>•</a:t>
            </a:r>
            <a:r>
              <a:rPr sz="2600" spc="-65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•</a:t>
            </a:r>
            <a:r>
              <a:rPr sz="2600" spc="200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•</a:t>
            </a:r>
            <a:r>
              <a:rPr sz="2600" spc="-60" dirty="0">
                <a:latin typeface="Cambria Math"/>
                <a:cs typeface="Cambria Math"/>
              </a:rPr>
              <a:t> </a:t>
            </a:r>
            <a:r>
              <a:rPr sz="2600" spc="130" dirty="0">
                <a:latin typeface="Cambria Math"/>
                <a:cs typeface="Cambria Math"/>
              </a:rPr>
              <a:t>••</a:t>
            </a:r>
            <a:endParaRPr sz="2600">
              <a:latin typeface="Cambria Math"/>
              <a:cs typeface="Cambria Math"/>
            </a:endParaRPr>
          </a:p>
          <a:p>
            <a:pPr marL="79375">
              <a:lnSpc>
                <a:spcPts val="3000"/>
              </a:lnSpc>
            </a:pPr>
            <a:r>
              <a:rPr sz="2600" dirty="0">
                <a:latin typeface="Cambria Math"/>
                <a:cs typeface="Cambria Math"/>
              </a:rPr>
              <a:t>•</a:t>
            </a:r>
            <a:r>
              <a:rPr sz="2600" spc="-65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•</a:t>
            </a:r>
            <a:r>
              <a:rPr sz="2600" spc="200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•</a:t>
            </a:r>
            <a:r>
              <a:rPr sz="2600" spc="-60" dirty="0">
                <a:latin typeface="Cambria Math"/>
                <a:cs typeface="Cambria Math"/>
              </a:rPr>
              <a:t> </a:t>
            </a:r>
            <a:r>
              <a:rPr sz="2600" spc="130" dirty="0">
                <a:latin typeface="Cambria Math"/>
                <a:cs typeface="Cambria Math"/>
              </a:rPr>
              <a:t>••</a:t>
            </a:r>
            <a:endParaRPr sz="2600">
              <a:latin typeface="Cambria Math"/>
              <a:cs typeface="Cambria Math"/>
            </a:endParaRPr>
          </a:p>
          <a:p>
            <a:pPr marL="79375">
              <a:lnSpc>
                <a:spcPts val="3000"/>
              </a:lnSpc>
            </a:pPr>
            <a:r>
              <a:rPr sz="2600" dirty="0">
                <a:latin typeface="Cambria Math"/>
                <a:cs typeface="Cambria Math"/>
              </a:rPr>
              <a:t>•</a:t>
            </a:r>
            <a:r>
              <a:rPr sz="2600" spc="-65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•</a:t>
            </a:r>
            <a:r>
              <a:rPr sz="2600" spc="200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•</a:t>
            </a:r>
            <a:r>
              <a:rPr sz="2600" spc="-60" dirty="0">
                <a:latin typeface="Cambria Math"/>
                <a:cs typeface="Cambria Math"/>
              </a:rPr>
              <a:t> </a:t>
            </a:r>
            <a:r>
              <a:rPr sz="2600" spc="130" dirty="0">
                <a:latin typeface="Cambria Math"/>
                <a:cs typeface="Cambria Math"/>
              </a:rPr>
              <a:t>••</a:t>
            </a:r>
            <a:endParaRPr sz="2600">
              <a:latin typeface="Cambria Math"/>
              <a:cs typeface="Cambria Math"/>
            </a:endParaRPr>
          </a:p>
          <a:p>
            <a:pPr marL="79375">
              <a:lnSpc>
                <a:spcPts val="3050"/>
              </a:lnSpc>
            </a:pPr>
            <a:r>
              <a:rPr sz="2600" dirty="0">
                <a:latin typeface="Cambria Math"/>
                <a:cs typeface="Cambria Math"/>
              </a:rPr>
              <a:t>•</a:t>
            </a:r>
            <a:r>
              <a:rPr sz="2600" spc="-65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•</a:t>
            </a:r>
            <a:r>
              <a:rPr sz="2600" spc="200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•</a:t>
            </a:r>
            <a:r>
              <a:rPr sz="2600" spc="-60" dirty="0">
                <a:latin typeface="Cambria Math"/>
                <a:cs typeface="Cambria Math"/>
              </a:rPr>
              <a:t> </a:t>
            </a:r>
            <a:r>
              <a:rPr sz="2600" spc="130" dirty="0">
                <a:latin typeface="Cambria Math"/>
                <a:cs typeface="Cambria Math"/>
              </a:rPr>
              <a:t>••</a:t>
            </a:r>
            <a:endParaRPr sz="2600">
              <a:latin typeface="Cambria Math"/>
              <a:cs typeface="Cambria Math"/>
            </a:endParaRPr>
          </a:p>
          <a:p>
            <a:pPr marL="31115" algn="ctr">
              <a:lnSpc>
                <a:spcPts val="3110"/>
              </a:lnSpc>
            </a:pPr>
            <a:r>
              <a:rPr sz="2600" i="1" dirty="0">
                <a:latin typeface="Calibri"/>
                <a:cs typeface="Calibri"/>
              </a:rPr>
              <a:t>V</a:t>
            </a:r>
            <a:endParaRPr sz="2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600" spc="-15" dirty="0">
                <a:latin typeface="Calibri"/>
                <a:cs typeface="Calibri"/>
              </a:rPr>
              <a:t>center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600319" y="1551939"/>
            <a:ext cx="97155" cy="1917700"/>
          </a:xfrm>
          <a:custGeom>
            <a:avLst/>
            <a:gdLst/>
            <a:ahLst/>
            <a:cxnLst/>
            <a:rect l="l" t="t" r="r" b="b"/>
            <a:pathLst>
              <a:path w="97154" h="1917700">
                <a:moveTo>
                  <a:pt x="97053" y="0"/>
                </a:moveTo>
                <a:lnTo>
                  <a:pt x="0" y="0"/>
                </a:lnTo>
                <a:lnTo>
                  <a:pt x="0" y="15240"/>
                </a:lnTo>
                <a:lnTo>
                  <a:pt x="0" y="1903730"/>
                </a:lnTo>
                <a:lnTo>
                  <a:pt x="0" y="1917700"/>
                </a:lnTo>
                <a:lnTo>
                  <a:pt x="97053" y="1917700"/>
                </a:lnTo>
                <a:lnTo>
                  <a:pt x="97053" y="1903730"/>
                </a:lnTo>
                <a:lnTo>
                  <a:pt x="33858" y="1903730"/>
                </a:lnTo>
                <a:lnTo>
                  <a:pt x="33858" y="15240"/>
                </a:lnTo>
                <a:lnTo>
                  <a:pt x="97053" y="15240"/>
                </a:lnTo>
                <a:lnTo>
                  <a:pt x="9705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851436" y="1551939"/>
            <a:ext cx="97155" cy="1917700"/>
          </a:xfrm>
          <a:custGeom>
            <a:avLst/>
            <a:gdLst/>
            <a:ahLst/>
            <a:cxnLst/>
            <a:rect l="l" t="t" r="r" b="b"/>
            <a:pathLst>
              <a:path w="97154" h="1917700">
                <a:moveTo>
                  <a:pt x="97053" y="0"/>
                </a:moveTo>
                <a:lnTo>
                  <a:pt x="0" y="0"/>
                </a:lnTo>
                <a:lnTo>
                  <a:pt x="0" y="15240"/>
                </a:lnTo>
                <a:lnTo>
                  <a:pt x="63195" y="15240"/>
                </a:lnTo>
                <a:lnTo>
                  <a:pt x="63195" y="1903730"/>
                </a:lnTo>
                <a:lnTo>
                  <a:pt x="0" y="1903730"/>
                </a:lnTo>
                <a:lnTo>
                  <a:pt x="0" y="1917700"/>
                </a:lnTo>
                <a:lnTo>
                  <a:pt x="97053" y="1917700"/>
                </a:lnTo>
                <a:lnTo>
                  <a:pt x="97053" y="1903730"/>
                </a:lnTo>
                <a:lnTo>
                  <a:pt x="97053" y="15240"/>
                </a:lnTo>
                <a:lnTo>
                  <a:pt x="9705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688838" y="1290065"/>
            <a:ext cx="172085" cy="19456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060"/>
              </a:lnSpc>
              <a:spcBef>
                <a:spcPts val="100"/>
              </a:spcBef>
            </a:pPr>
            <a:r>
              <a:rPr sz="2600" dirty="0">
                <a:latin typeface="Cambria Math"/>
                <a:cs typeface="Cambria Math"/>
              </a:rPr>
              <a:t>•</a:t>
            </a:r>
            <a:endParaRPr sz="2600">
              <a:latin typeface="Cambria Math"/>
              <a:cs typeface="Cambria Math"/>
            </a:endParaRPr>
          </a:p>
          <a:p>
            <a:pPr marL="12700">
              <a:lnSpc>
                <a:spcPts val="3000"/>
              </a:lnSpc>
            </a:pPr>
            <a:r>
              <a:rPr sz="2600" dirty="0">
                <a:latin typeface="Cambria Math"/>
                <a:cs typeface="Cambria Math"/>
              </a:rPr>
              <a:t>•</a:t>
            </a:r>
            <a:endParaRPr sz="2600">
              <a:latin typeface="Cambria Math"/>
              <a:cs typeface="Cambria Math"/>
            </a:endParaRPr>
          </a:p>
          <a:p>
            <a:pPr marL="12700">
              <a:lnSpc>
                <a:spcPts val="3000"/>
              </a:lnSpc>
            </a:pPr>
            <a:r>
              <a:rPr sz="2600" dirty="0">
                <a:latin typeface="Cambria Math"/>
                <a:cs typeface="Cambria Math"/>
              </a:rPr>
              <a:t>•</a:t>
            </a:r>
            <a:endParaRPr sz="2600">
              <a:latin typeface="Cambria Math"/>
              <a:cs typeface="Cambria Math"/>
            </a:endParaRPr>
          </a:p>
          <a:p>
            <a:pPr marL="12700">
              <a:lnSpc>
                <a:spcPts val="3000"/>
              </a:lnSpc>
            </a:pPr>
            <a:r>
              <a:rPr sz="2600" dirty="0">
                <a:latin typeface="Cambria Math"/>
                <a:cs typeface="Cambria Math"/>
              </a:rPr>
              <a:t>•</a:t>
            </a:r>
            <a:endParaRPr sz="2600">
              <a:latin typeface="Cambria Math"/>
              <a:cs typeface="Cambria Math"/>
            </a:endParaRPr>
          </a:p>
          <a:p>
            <a:pPr marL="12700">
              <a:lnSpc>
                <a:spcPts val="3060"/>
              </a:lnSpc>
            </a:pPr>
            <a:r>
              <a:rPr sz="2600" dirty="0">
                <a:latin typeface="Cambria Math"/>
                <a:cs typeface="Cambria Math"/>
              </a:rPr>
              <a:t>•</a:t>
            </a:r>
            <a:endParaRPr sz="26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688838" y="3195066"/>
            <a:ext cx="17208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dirty="0">
                <a:latin typeface="Cambria Math"/>
                <a:cs typeface="Cambria Math"/>
              </a:rPr>
              <a:t>•</a:t>
            </a:r>
            <a:endParaRPr sz="2600">
              <a:latin typeface="Cambria Math"/>
              <a:cs typeface="Cambria Math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719352" y="1551939"/>
            <a:ext cx="97155" cy="1917700"/>
          </a:xfrm>
          <a:custGeom>
            <a:avLst/>
            <a:gdLst/>
            <a:ahLst/>
            <a:cxnLst/>
            <a:rect l="l" t="t" r="r" b="b"/>
            <a:pathLst>
              <a:path w="97154" h="1917700">
                <a:moveTo>
                  <a:pt x="97066" y="0"/>
                </a:moveTo>
                <a:lnTo>
                  <a:pt x="0" y="0"/>
                </a:lnTo>
                <a:lnTo>
                  <a:pt x="0" y="15240"/>
                </a:lnTo>
                <a:lnTo>
                  <a:pt x="0" y="1903730"/>
                </a:lnTo>
                <a:lnTo>
                  <a:pt x="0" y="1917700"/>
                </a:lnTo>
                <a:lnTo>
                  <a:pt x="97066" y="1917700"/>
                </a:lnTo>
                <a:lnTo>
                  <a:pt x="97066" y="1903730"/>
                </a:lnTo>
                <a:lnTo>
                  <a:pt x="33858" y="1903730"/>
                </a:lnTo>
                <a:lnTo>
                  <a:pt x="33858" y="15240"/>
                </a:lnTo>
                <a:lnTo>
                  <a:pt x="97066" y="15240"/>
                </a:lnTo>
                <a:lnTo>
                  <a:pt x="9706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970469" y="1551939"/>
            <a:ext cx="97155" cy="1917700"/>
          </a:xfrm>
          <a:custGeom>
            <a:avLst/>
            <a:gdLst/>
            <a:ahLst/>
            <a:cxnLst/>
            <a:rect l="l" t="t" r="r" b="b"/>
            <a:pathLst>
              <a:path w="97154" h="1917700">
                <a:moveTo>
                  <a:pt x="97066" y="0"/>
                </a:moveTo>
                <a:lnTo>
                  <a:pt x="0" y="0"/>
                </a:lnTo>
                <a:lnTo>
                  <a:pt x="0" y="15240"/>
                </a:lnTo>
                <a:lnTo>
                  <a:pt x="63195" y="15240"/>
                </a:lnTo>
                <a:lnTo>
                  <a:pt x="63195" y="1903730"/>
                </a:lnTo>
                <a:lnTo>
                  <a:pt x="0" y="1903730"/>
                </a:lnTo>
                <a:lnTo>
                  <a:pt x="0" y="1917700"/>
                </a:lnTo>
                <a:lnTo>
                  <a:pt x="97066" y="1917700"/>
                </a:lnTo>
                <a:lnTo>
                  <a:pt x="97066" y="1903730"/>
                </a:lnTo>
                <a:lnTo>
                  <a:pt x="97066" y="15240"/>
                </a:lnTo>
                <a:lnTo>
                  <a:pt x="9706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7807874" y="1290065"/>
            <a:ext cx="172085" cy="19456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060"/>
              </a:lnSpc>
              <a:spcBef>
                <a:spcPts val="100"/>
              </a:spcBef>
            </a:pPr>
            <a:r>
              <a:rPr sz="2600" dirty="0">
                <a:latin typeface="Cambria Math"/>
                <a:cs typeface="Cambria Math"/>
              </a:rPr>
              <a:t>•</a:t>
            </a:r>
            <a:endParaRPr sz="2600">
              <a:latin typeface="Cambria Math"/>
              <a:cs typeface="Cambria Math"/>
            </a:endParaRPr>
          </a:p>
          <a:p>
            <a:pPr marL="12700">
              <a:lnSpc>
                <a:spcPts val="3000"/>
              </a:lnSpc>
            </a:pPr>
            <a:r>
              <a:rPr sz="2600" dirty="0">
                <a:latin typeface="Cambria Math"/>
                <a:cs typeface="Cambria Math"/>
              </a:rPr>
              <a:t>•</a:t>
            </a:r>
            <a:endParaRPr sz="2600">
              <a:latin typeface="Cambria Math"/>
              <a:cs typeface="Cambria Math"/>
            </a:endParaRPr>
          </a:p>
          <a:p>
            <a:pPr marL="12700">
              <a:lnSpc>
                <a:spcPts val="3000"/>
              </a:lnSpc>
            </a:pPr>
            <a:r>
              <a:rPr sz="2600" dirty="0">
                <a:latin typeface="Cambria Math"/>
                <a:cs typeface="Cambria Math"/>
              </a:rPr>
              <a:t>•</a:t>
            </a:r>
            <a:endParaRPr sz="2600">
              <a:latin typeface="Cambria Math"/>
              <a:cs typeface="Cambria Math"/>
            </a:endParaRPr>
          </a:p>
          <a:p>
            <a:pPr marL="12700">
              <a:lnSpc>
                <a:spcPts val="3000"/>
              </a:lnSpc>
            </a:pPr>
            <a:r>
              <a:rPr sz="2600" dirty="0">
                <a:latin typeface="Cambria Math"/>
                <a:cs typeface="Cambria Math"/>
              </a:rPr>
              <a:t>•</a:t>
            </a:r>
            <a:endParaRPr sz="2600">
              <a:latin typeface="Cambria Math"/>
              <a:cs typeface="Cambria Math"/>
            </a:endParaRPr>
          </a:p>
          <a:p>
            <a:pPr marL="12700">
              <a:lnSpc>
                <a:spcPts val="3060"/>
              </a:lnSpc>
            </a:pPr>
            <a:r>
              <a:rPr sz="2600" dirty="0">
                <a:latin typeface="Cambria Math"/>
                <a:cs typeface="Cambria Math"/>
              </a:rPr>
              <a:t>•</a:t>
            </a:r>
            <a:endParaRPr sz="2600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4</a:t>
            </a:fld>
            <a:endParaRPr dirty="0"/>
          </a:p>
        </p:txBody>
      </p:sp>
      <p:sp>
        <p:nvSpPr>
          <p:cNvPr id="16" name="object 16"/>
          <p:cNvSpPr txBox="1"/>
          <p:nvPr/>
        </p:nvSpPr>
        <p:spPr>
          <a:xfrm>
            <a:off x="7807874" y="3195066"/>
            <a:ext cx="17208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dirty="0">
                <a:latin typeface="Cambria Math"/>
                <a:cs typeface="Cambria Math"/>
              </a:rPr>
              <a:t>•</a:t>
            </a:r>
            <a:endParaRPr sz="26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076608" y="3527298"/>
            <a:ext cx="1645285" cy="938719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80"/>
              </a:spcBef>
            </a:pPr>
            <a:endParaRPr lang="en-US" sz="2600" spc="-15" dirty="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480"/>
              </a:spcBef>
            </a:pPr>
            <a:r>
              <a:rPr sz="2600" spc="-15" dirty="0">
                <a:latin typeface="Calibri"/>
                <a:cs typeface="Calibri"/>
              </a:rPr>
              <a:t>dot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product</a:t>
            </a:r>
            <a:endParaRPr sz="2600" dirty="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999207" y="3527298"/>
            <a:ext cx="224726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2405" marR="30480" indent="-154940">
              <a:lnSpc>
                <a:spcPct val="115399"/>
              </a:lnSpc>
              <a:spcBef>
                <a:spcPts val="100"/>
              </a:spcBef>
            </a:pPr>
            <a:r>
              <a:rPr sz="2600" spc="-15" dirty="0">
                <a:latin typeface="Cambria Math"/>
                <a:cs typeface="Cambria Math"/>
              </a:rPr>
              <a:t>s</a:t>
            </a:r>
            <a:r>
              <a:rPr sz="2600" spc="-25" dirty="0">
                <a:latin typeface="Cambria Math"/>
                <a:cs typeface="Cambria Math"/>
              </a:rPr>
              <a:t>o</a:t>
            </a:r>
            <a:r>
              <a:rPr sz="2600" spc="-15" dirty="0">
                <a:latin typeface="Cambria Math"/>
                <a:cs typeface="Cambria Math"/>
              </a:rPr>
              <a:t>ft</a:t>
            </a:r>
            <a:r>
              <a:rPr sz="2600" spc="-35" dirty="0">
                <a:latin typeface="Cambria Math"/>
                <a:cs typeface="Cambria Math"/>
              </a:rPr>
              <a:t>m</a:t>
            </a:r>
            <a:r>
              <a:rPr sz="2600" spc="-20" dirty="0">
                <a:latin typeface="Cambria Math"/>
                <a:cs typeface="Cambria Math"/>
              </a:rPr>
              <a:t>a</a:t>
            </a:r>
            <a:r>
              <a:rPr sz="2600" spc="-15" dirty="0">
                <a:latin typeface="Cambria Math"/>
                <a:cs typeface="Cambria Math"/>
              </a:rPr>
              <a:t>x(</a:t>
            </a:r>
            <a:r>
              <a:rPr sz="2600" spc="15" dirty="0">
                <a:latin typeface="Cambria Math"/>
                <a:cs typeface="Cambria Math"/>
              </a:rPr>
              <a:t>𝑈</a:t>
            </a:r>
            <a:r>
              <a:rPr sz="2600" dirty="0">
                <a:latin typeface="Cambria Math"/>
                <a:cs typeface="Cambria Math"/>
              </a:rPr>
              <a:t>.</a:t>
            </a:r>
            <a:r>
              <a:rPr lang="zh-CN" altLang="en-US" sz="2600" dirty="0">
                <a:latin typeface="Cambria Math"/>
                <a:cs typeface="Cambria Math"/>
              </a:rPr>
              <a:t>       </a:t>
            </a:r>
            <a:r>
              <a:rPr sz="2600" dirty="0">
                <a:latin typeface="Calibri"/>
                <a:cs typeface="Calibri"/>
              </a:rPr>
              <a:t>)  </a:t>
            </a:r>
            <a:r>
              <a:rPr sz="2600" spc="-15" dirty="0">
                <a:latin typeface="Calibri"/>
                <a:cs typeface="Calibri"/>
              </a:rPr>
              <a:t>probabilities</a:t>
            </a:r>
            <a:endParaRPr sz="2600" dirty="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81558" y="4045458"/>
            <a:ext cx="101282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25" dirty="0">
                <a:latin typeface="Calibri"/>
                <a:cs typeface="Calibri"/>
              </a:rPr>
              <a:t>o</a:t>
            </a:r>
            <a:r>
              <a:rPr sz="2600" spc="-20" dirty="0">
                <a:latin typeface="Calibri"/>
                <a:cs typeface="Calibri"/>
              </a:rPr>
              <a:t>uts</a:t>
            </a:r>
            <a:r>
              <a:rPr sz="2600" spc="-10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d</a:t>
            </a:r>
            <a:r>
              <a:rPr sz="2600" dirty="0">
                <a:latin typeface="Calibri"/>
                <a:cs typeface="Calibri"/>
              </a:rPr>
              <a:t>e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960580" y="4984242"/>
            <a:ext cx="449199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25" dirty="0">
                <a:latin typeface="Calibri"/>
                <a:cs typeface="Calibri"/>
              </a:rPr>
              <a:t>Same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predictions</a:t>
            </a:r>
            <a:r>
              <a:rPr sz="2600" spc="1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at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each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position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054161" y="5782817"/>
            <a:ext cx="5435600" cy="1208405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12700" marR="5080">
              <a:lnSpc>
                <a:spcPts val="3100"/>
              </a:lnSpc>
              <a:spcBef>
                <a:spcPts val="210"/>
              </a:spcBef>
            </a:pPr>
            <a:r>
              <a:rPr sz="2600" spc="-65" dirty="0">
                <a:latin typeface="Calibri"/>
                <a:cs typeface="Calibri"/>
              </a:rPr>
              <a:t>We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35" dirty="0">
                <a:latin typeface="Calibri"/>
                <a:cs typeface="Calibri"/>
              </a:rPr>
              <a:t>want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model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that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gives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reasonably </a:t>
            </a:r>
            <a:r>
              <a:rPr sz="2600" spc="-57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high </a:t>
            </a:r>
            <a:r>
              <a:rPr sz="2600" spc="-20" dirty="0">
                <a:latin typeface="Calibri"/>
                <a:cs typeface="Calibri"/>
              </a:rPr>
              <a:t>probability </a:t>
            </a:r>
            <a:r>
              <a:rPr sz="2600" spc="-30" dirty="0">
                <a:latin typeface="Calibri"/>
                <a:cs typeface="Calibri"/>
              </a:rPr>
              <a:t>estimate </a:t>
            </a:r>
            <a:r>
              <a:rPr sz="2600" spc="-25" dirty="0">
                <a:latin typeface="Calibri"/>
                <a:cs typeface="Calibri"/>
              </a:rPr>
              <a:t>to </a:t>
            </a:r>
            <a:r>
              <a:rPr sz="2600" i="1" spc="-10" dirty="0">
                <a:latin typeface="Calibri"/>
                <a:cs typeface="Calibri"/>
              </a:rPr>
              <a:t>all </a:t>
            </a:r>
            <a:r>
              <a:rPr sz="2600" spc="-35" dirty="0">
                <a:latin typeface="Calibri"/>
                <a:cs typeface="Calibri"/>
              </a:rPr>
              <a:t>words 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that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occur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the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35" dirty="0">
                <a:latin typeface="Calibri"/>
                <a:cs typeface="Calibri"/>
              </a:rPr>
              <a:t>context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(fairly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often)</a:t>
            </a:r>
            <a:endParaRPr sz="2600">
              <a:latin typeface="Calibri"/>
              <a:cs typeface="Calibri"/>
            </a:endParaRPr>
          </a:p>
        </p:txBody>
      </p:sp>
      <p:pic>
        <p:nvPicPr>
          <p:cNvPr id="25" name="Picture 24" descr="Text&#10;&#10;Description automatically generated with medium confidence">
            <a:extLst>
              <a:ext uri="{FF2B5EF4-FFF2-40B4-BE49-F238E27FC236}">
                <a16:creationId xmlns:a16="http://schemas.microsoft.com/office/drawing/2014/main" id="{F9A763C9-55F1-FE4C-97FD-604FE62794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8267" y="3602972"/>
            <a:ext cx="507885" cy="42164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AEB81841-6F59-0C43-AF99-F63AB130AD12}"/>
              </a:ext>
            </a:extLst>
          </p:cNvPr>
          <p:cNvSpPr/>
          <p:nvPr/>
        </p:nvSpPr>
        <p:spPr>
          <a:xfrm>
            <a:off x="5422528" y="3641072"/>
            <a:ext cx="50788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pc="15" dirty="0">
                <a:latin typeface="Cambria Math"/>
                <a:cs typeface="Cambria Math"/>
              </a:rPr>
              <a:t>𝑈</a:t>
            </a:r>
            <a:r>
              <a:rPr lang="en-US" dirty="0">
                <a:latin typeface="Cambria Math"/>
                <a:cs typeface="Cambria Math"/>
              </a:rPr>
              <a:t>.</a:t>
            </a:r>
            <a:r>
              <a:rPr lang="en-US" altLang="zh-CN" dirty="0">
                <a:latin typeface="Cambria Math"/>
                <a:cs typeface="Cambria Math"/>
              </a:rPr>
              <a:t> </a:t>
            </a:r>
            <a:endParaRPr lang="en-US" dirty="0"/>
          </a:p>
        </p:txBody>
      </p:sp>
      <p:pic>
        <p:nvPicPr>
          <p:cNvPr id="27" name="Picture 26" descr="Text&#10;&#10;Description automatically generated with medium confidence">
            <a:extLst>
              <a:ext uri="{FF2B5EF4-FFF2-40B4-BE49-F238E27FC236}">
                <a16:creationId xmlns:a16="http://schemas.microsoft.com/office/drawing/2014/main" id="{314E7F54-0036-2241-91EA-228064E35A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3626" y="3598509"/>
            <a:ext cx="432314" cy="35890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453897"/>
            <a:ext cx="7748270" cy="106489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0600"/>
              </a:lnSpc>
              <a:spcBef>
                <a:spcPts val="75"/>
              </a:spcBef>
            </a:pPr>
            <a:r>
              <a:rPr dirty="0"/>
              <a:t>Word2vec</a:t>
            </a:r>
            <a:r>
              <a:rPr spc="10" dirty="0"/>
              <a:t> </a:t>
            </a:r>
            <a:r>
              <a:rPr dirty="0"/>
              <a:t>maximizes</a:t>
            </a:r>
            <a:r>
              <a:rPr spc="15" dirty="0"/>
              <a:t> </a:t>
            </a:r>
            <a:r>
              <a:rPr dirty="0"/>
              <a:t>objective</a:t>
            </a:r>
            <a:r>
              <a:rPr spc="10" dirty="0"/>
              <a:t> </a:t>
            </a:r>
            <a:r>
              <a:rPr dirty="0"/>
              <a:t>function</a:t>
            </a:r>
            <a:r>
              <a:rPr spc="5" dirty="0"/>
              <a:t> </a:t>
            </a:r>
            <a:r>
              <a:rPr dirty="0"/>
              <a:t>by </a:t>
            </a:r>
            <a:r>
              <a:rPr spc="-755" dirty="0"/>
              <a:t> </a:t>
            </a:r>
            <a:r>
              <a:rPr dirty="0"/>
              <a:t>putting similar</a:t>
            </a:r>
            <a:r>
              <a:rPr spc="5" dirty="0"/>
              <a:t> words </a:t>
            </a:r>
            <a:r>
              <a:rPr dirty="0"/>
              <a:t>nearby in</a:t>
            </a:r>
            <a:r>
              <a:rPr spc="5" dirty="0"/>
              <a:t> </a:t>
            </a:r>
            <a:r>
              <a:rPr dirty="0"/>
              <a:t>space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43436" y="1625370"/>
            <a:ext cx="9373235" cy="5894705"/>
            <a:chOff x="343436" y="1625370"/>
            <a:chExt cx="9373235" cy="589470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03872" y="1631373"/>
              <a:ext cx="7868969" cy="588848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3436" y="1625370"/>
              <a:ext cx="9373051" cy="5695847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5</a:t>
            </a:fld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496569"/>
            <a:ext cx="615632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" dirty="0"/>
              <a:t>2.</a:t>
            </a:r>
            <a:r>
              <a:rPr spc="-5" dirty="0"/>
              <a:t> </a:t>
            </a:r>
            <a:r>
              <a:rPr dirty="0"/>
              <a:t>Optimization:</a:t>
            </a:r>
            <a:r>
              <a:rPr spc="10" dirty="0"/>
              <a:t> </a:t>
            </a:r>
            <a:r>
              <a:rPr dirty="0"/>
              <a:t>Gradient</a:t>
            </a:r>
            <a:r>
              <a:rPr spc="10" dirty="0"/>
              <a:t> </a:t>
            </a:r>
            <a:r>
              <a:rPr dirty="0"/>
              <a:t>Descent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37718" y="1283983"/>
            <a:ext cx="8886190" cy="1848583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78460" indent="-365760">
              <a:lnSpc>
                <a:spcPct val="100000"/>
              </a:lnSpc>
              <a:spcBef>
                <a:spcPts val="675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  <a:tab pos="3899535" algn="l"/>
                <a:tab pos="4299585" algn="l"/>
              </a:tabLst>
            </a:pPr>
            <a:r>
              <a:rPr sz="2600" spc="-20" dirty="0">
                <a:latin typeface="Calibri"/>
                <a:cs typeface="Calibri"/>
              </a:rPr>
              <a:t>We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have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cost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function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mbria Math"/>
                <a:cs typeface="Cambria Math"/>
              </a:rPr>
              <a:t>𝐽</a:t>
            </a:r>
            <a:r>
              <a:rPr lang="en-US" altLang="zh-CN" sz="2600" dirty="0">
                <a:latin typeface="Cambria Math"/>
                <a:cs typeface="Cambria Math"/>
              </a:rPr>
              <a:t>(</a:t>
            </a:r>
            <a:r>
              <a:rPr sz="2600" spc="440" dirty="0">
                <a:latin typeface="Cambria Math"/>
                <a:cs typeface="Cambria Math"/>
              </a:rPr>
              <a:t>	</a:t>
            </a:r>
            <a:r>
              <a:rPr lang="zh-CN" altLang="en-US" sz="2600" spc="440" dirty="0">
                <a:latin typeface="Cambria Math"/>
                <a:cs typeface="Cambria Math"/>
              </a:rPr>
              <a:t>  </a:t>
            </a:r>
            <a:r>
              <a:rPr lang="en-US" altLang="zh-CN" sz="2600" spc="440" dirty="0">
                <a:latin typeface="Cambria Math"/>
                <a:cs typeface="Cambria Math"/>
              </a:rPr>
              <a:t>)</a:t>
            </a:r>
            <a:r>
              <a:rPr sz="2600" spc="-20" dirty="0">
                <a:latin typeface="Calibri"/>
                <a:cs typeface="Calibri"/>
              </a:rPr>
              <a:t>we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want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to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minimize</a:t>
            </a:r>
            <a:endParaRPr sz="2600" dirty="0">
              <a:latin typeface="Calibri"/>
              <a:cs typeface="Calibri"/>
            </a:endParaRPr>
          </a:p>
          <a:p>
            <a:pPr marL="378460" indent="-365760">
              <a:lnSpc>
                <a:spcPct val="100000"/>
              </a:lnSpc>
              <a:spcBef>
                <a:spcPts val="575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  <a:tab pos="6720205" algn="l"/>
              </a:tabLst>
            </a:pPr>
            <a:r>
              <a:rPr sz="2600" b="1" spc="-20" dirty="0">
                <a:solidFill>
                  <a:srgbClr val="BB57BE"/>
                </a:solidFill>
                <a:latin typeface="Calibri"/>
                <a:cs typeface="Calibri"/>
              </a:rPr>
              <a:t>Gradient Descent</a:t>
            </a:r>
            <a:r>
              <a:rPr sz="2600" b="1" spc="-25" dirty="0">
                <a:solidFill>
                  <a:srgbClr val="BB57BE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an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algorithm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to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minimize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mbria Math"/>
                <a:cs typeface="Cambria Math"/>
              </a:rPr>
              <a:t>𝐽</a:t>
            </a:r>
            <a:r>
              <a:rPr lang="en-US" altLang="zh-CN" sz="2600" dirty="0">
                <a:latin typeface="Cambria Math"/>
                <a:cs typeface="Cambria Math"/>
              </a:rPr>
              <a:t>(</a:t>
            </a:r>
            <a:r>
              <a:rPr lang="zh-CN" altLang="en-US" sz="2600" dirty="0">
                <a:latin typeface="Cambria Math"/>
                <a:cs typeface="Cambria Math"/>
              </a:rPr>
              <a:t>    </a:t>
            </a:r>
            <a:r>
              <a:rPr lang="en-US" altLang="zh-CN" sz="2600" dirty="0">
                <a:latin typeface="Cambria Math"/>
                <a:cs typeface="Cambria Math"/>
              </a:rPr>
              <a:t>)</a:t>
            </a:r>
            <a:r>
              <a:rPr sz="2600" dirty="0">
                <a:latin typeface="Cambria Math"/>
                <a:cs typeface="Cambria Math"/>
              </a:rPr>
              <a:t>	</a:t>
            </a:r>
          </a:p>
          <a:p>
            <a:pPr marL="377825" marR="5080" indent="-365760">
              <a:lnSpc>
                <a:spcPts val="3100"/>
              </a:lnSpc>
              <a:spcBef>
                <a:spcPts val="695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  <a:tab pos="7129780" algn="l"/>
                <a:tab pos="7456805" algn="l"/>
              </a:tabLst>
            </a:pPr>
            <a:r>
              <a:rPr sz="2600" u="sng" spc="-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Idea</a:t>
            </a:r>
            <a:r>
              <a:rPr sz="2600" spc="-15" dirty="0">
                <a:latin typeface="Calibri"/>
                <a:cs typeface="Calibri"/>
              </a:rPr>
              <a:t>: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for</a:t>
            </a:r>
            <a:r>
              <a:rPr sz="2600" spc="-20" dirty="0">
                <a:latin typeface="Calibri"/>
                <a:cs typeface="Calibri"/>
              </a:rPr>
              <a:t> current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value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of </a:t>
            </a:r>
            <a:r>
              <a:rPr lang="zh-CN" altLang="en-US" sz="2600" spc="245" dirty="0">
                <a:latin typeface="Cambria Math"/>
                <a:cs typeface="Calibri"/>
              </a:rPr>
              <a:t>  </a:t>
            </a:r>
            <a:r>
              <a:rPr sz="2600" spc="245" dirty="0">
                <a:latin typeface="Calibri"/>
                <a:cs typeface="Calibri"/>
              </a:rPr>
              <a:t>,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calculate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gradient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of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mbria Math"/>
                <a:cs typeface="Cambria Math"/>
              </a:rPr>
              <a:t>𝐽</a:t>
            </a:r>
            <a:r>
              <a:rPr lang="en-US" altLang="zh-CN" sz="2600" dirty="0">
                <a:latin typeface="Cambria Math"/>
                <a:cs typeface="Cambria Math"/>
              </a:rPr>
              <a:t>(</a:t>
            </a:r>
            <a:r>
              <a:rPr lang="zh-CN" altLang="en-US" sz="2600" dirty="0">
                <a:latin typeface="Cambria Math"/>
                <a:cs typeface="Cambria Math"/>
              </a:rPr>
              <a:t>   </a:t>
            </a:r>
            <a:r>
              <a:rPr lang="en-US" altLang="zh-CN" sz="2600" dirty="0">
                <a:latin typeface="Cambria Math"/>
                <a:cs typeface="Cambria Math"/>
              </a:rPr>
              <a:t>)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then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take </a:t>
            </a:r>
            <a:r>
              <a:rPr sz="2600" spc="-575" dirty="0">
                <a:latin typeface="Calibri"/>
                <a:cs typeface="Calibri"/>
              </a:rPr>
              <a:t> </a:t>
            </a:r>
            <a:r>
              <a:rPr sz="2600" spc="-20" dirty="0">
                <a:solidFill>
                  <a:srgbClr val="BB57BE"/>
                </a:solidFill>
                <a:latin typeface="Calibri"/>
                <a:cs typeface="Calibri"/>
              </a:rPr>
              <a:t>small</a:t>
            </a:r>
            <a:r>
              <a:rPr sz="2600" spc="-25" dirty="0">
                <a:solidFill>
                  <a:srgbClr val="BB57BE"/>
                </a:solidFill>
                <a:latin typeface="Calibri"/>
                <a:cs typeface="Calibri"/>
              </a:rPr>
              <a:t> </a:t>
            </a:r>
            <a:r>
              <a:rPr sz="2600" spc="-15" dirty="0">
                <a:solidFill>
                  <a:srgbClr val="BB57BE"/>
                </a:solidFill>
                <a:latin typeface="Calibri"/>
                <a:cs typeface="Calibri"/>
              </a:rPr>
              <a:t>step</a:t>
            </a:r>
            <a:r>
              <a:rPr sz="2600" spc="-35" dirty="0">
                <a:solidFill>
                  <a:srgbClr val="BB57BE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BB57BE"/>
                </a:solidFill>
                <a:latin typeface="Calibri"/>
                <a:cs typeface="Calibri"/>
              </a:rPr>
              <a:t>in</a:t>
            </a:r>
            <a:r>
              <a:rPr sz="2600" spc="-30" dirty="0">
                <a:solidFill>
                  <a:srgbClr val="BB57BE"/>
                </a:solidFill>
                <a:latin typeface="Calibri"/>
                <a:cs typeface="Calibri"/>
              </a:rPr>
              <a:t> </a:t>
            </a:r>
            <a:r>
              <a:rPr sz="2600" spc="-15" dirty="0">
                <a:solidFill>
                  <a:srgbClr val="BB57BE"/>
                </a:solidFill>
                <a:latin typeface="Calibri"/>
                <a:cs typeface="Calibri"/>
              </a:rPr>
              <a:t>the</a:t>
            </a:r>
            <a:r>
              <a:rPr sz="2600" spc="-35" dirty="0">
                <a:solidFill>
                  <a:srgbClr val="BB57BE"/>
                </a:solidFill>
                <a:latin typeface="Calibri"/>
                <a:cs typeface="Calibri"/>
              </a:rPr>
              <a:t> </a:t>
            </a:r>
            <a:r>
              <a:rPr sz="2600" spc="-20" dirty="0">
                <a:solidFill>
                  <a:srgbClr val="BB57BE"/>
                </a:solidFill>
                <a:latin typeface="Calibri"/>
                <a:cs typeface="Calibri"/>
              </a:rPr>
              <a:t>direction</a:t>
            </a:r>
            <a:r>
              <a:rPr sz="2600" spc="-30" dirty="0">
                <a:solidFill>
                  <a:srgbClr val="BB57BE"/>
                </a:solidFill>
                <a:latin typeface="Calibri"/>
                <a:cs typeface="Calibri"/>
              </a:rPr>
              <a:t> </a:t>
            </a:r>
            <a:r>
              <a:rPr sz="2600" spc="-15" dirty="0">
                <a:solidFill>
                  <a:srgbClr val="BB57BE"/>
                </a:solidFill>
                <a:latin typeface="Calibri"/>
                <a:cs typeface="Calibri"/>
              </a:rPr>
              <a:t>of</a:t>
            </a:r>
            <a:r>
              <a:rPr sz="2600" spc="-20" dirty="0">
                <a:solidFill>
                  <a:srgbClr val="BB57BE"/>
                </a:solidFill>
                <a:latin typeface="Calibri"/>
                <a:cs typeface="Calibri"/>
              </a:rPr>
              <a:t> negative</a:t>
            </a:r>
            <a:r>
              <a:rPr sz="2600" spc="-25" dirty="0">
                <a:solidFill>
                  <a:srgbClr val="BB57BE"/>
                </a:solidFill>
                <a:latin typeface="Calibri"/>
                <a:cs typeface="Calibri"/>
              </a:rPr>
              <a:t> </a:t>
            </a:r>
            <a:r>
              <a:rPr sz="2600" spc="-20" dirty="0">
                <a:solidFill>
                  <a:srgbClr val="BB57BE"/>
                </a:solidFill>
                <a:latin typeface="Calibri"/>
                <a:cs typeface="Calibri"/>
              </a:rPr>
              <a:t>gradient</a:t>
            </a:r>
            <a:r>
              <a:rPr sz="2600" spc="-20" dirty="0">
                <a:latin typeface="Calibri"/>
                <a:cs typeface="Calibri"/>
              </a:rPr>
              <a:t>.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Repeat.</a:t>
            </a:r>
            <a:endParaRPr sz="2600" dirty="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27682" y="3376421"/>
            <a:ext cx="6114288" cy="3806952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8609838" y="4314190"/>
            <a:ext cx="1026794" cy="148272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80"/>
              </a:spcBef>
            </a:pPr>
            <a:r>
              <a:rPr sz="1900" dirty="0">
                <a:latin typeface="Calibri"/>
                <a:cs typeface="Calibri"/>
              </a:rPr>
              <a:t>Note: </a:t>
            </a:r>
            <a:r>
              <a:rPr sz="1900" spc="5" dirty="0">
                <a:latin typeface="Calibri"/>
                <a:cs typeface="Calibri"/>
              </a:rPr>
              <a:t>Our </a:t>
            </a:r>
            <a:r>
              <a:rPr sz="1900" spc="-415" dirty="0">
                <a:latin typeface="Calibri"/>
                <a:cs typeface="Calibri"/>
              </a:rPr>
              <a:t> </a:t>
            </a:r>
            <a:r>
              <a:rPr sz="1900" spc="10" dirty="0">
                <a:latin typeface="Calibri"/>
                <a:cs typeface="Calibri"/>
              </a:rPr>
              <a:t>o</a:t>
            </a:r>
            <a:r>
              <a:rPr sz="1900" spc="15" dirty="0">
                <a:latin typeface="Calibri"/>
                <a:cs typeface="Calibri"/>
              </a:rPr>
              <a:t>b</a:t>
            </a:r>
            <a:r>
              <a:rPr sz="1900" spc="-5" dirty="0">
                <a:latin typeface="Calibri"/>
                <a:cs typeface="Calibri"/>
              </a:rPr>
              <a:t>j</a:t>
            </a:r>
            <a:r>
              <a:rPr sz="1900" spc="10" dirty="0">
                <a:latin typeface="Calibri"/>
                <a:cs typeface="Calibri"/>
              </a:rPr>
              <a:t>ec</a:t>
            </a:r>
            <a:r>
              <a:rPr sz="1900" dirty="0">
                <a:latin typeface="Calibri"/>
                <a:cs typeface="Calibri"/>
              </a:rPr>
              <a:t>ti</a:t>
            </a:r>
            <a:r>
              <a:rPr sz="1900" spc="-15" dirty="0">
                <a:latin typeface="Calibri"/>
                <a:cs typeface="Calibri"/>
              </a:rPr>
              <a:t>v</a:t>
            </a:r>
            <a:r>
              <a:rPr sz="1900" spc="10" dirty="0">
                <a:latin typeface="Calibri"/>
                <a:cs typeface="Calibri"/>
              </a:rPr>
              <a:t>e</a:t>
            </a:r>
            <a:r>
              <a:rPr sz="1900" dirty="0">
                <a:latin typeface="Calibri"/>
                <a:cs typeface="Calibri"/>
              </a:rPr>
              <a:t>s  </a:t>
            </a:r>
            <a:r>
              <a:rPr sz="1900" spc="-5" dirty="0">
                <a:latin typeface="Calibri"/>
                <a:cs typeface="Calibri"/>
              </a:rPr>
              <a:t>may </a:t>
            </a:r>
            <a:r>
              <a:rPr sz="1900" spc="5" dirty="0">
                <a:latin typeface="Calibri"/>
                <a:cs typeface="Calibri"/>
              </a:rPr>
              <a:t>not </a:t>
            </a:r>
            <a:r>
              <a:rPr sz="1900" spc="1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be </a:t>
            </a:r>
            <a:r>
              <a:rPr sz="1900" spc="-10" dirty="0">
                <a:latin typeface="Calibri"/>
                <a:cs typeface="Calibri"/>
              </a:rPr>
              <a:t>convex </a:t>
            </a:r>
            <a:r>
              <a:rPr sz="1900" spc="-415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like</a:t>
            </a:r>
            <a:r>
              <a:rPr sz="1900" spc="1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this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6</a:t>
            </a:fld>
            <a:endParaRPr dirty="0"/>
          </a:p>
        </p:txBody>
      </p:sp>
      <p:pic>
        <p:nvPicPr>
          <p:cNvPr id="11" name="Picture 10" descr="Icon&#10;&#10;Description automatically generated">
            <a:extLst>
              <a:ext uri="{FF2B5EF4-FFF2-40B4-BE49-F238E27FC236}">
                <a16:creationId xmlns:a16="http://schemas.microsoft.com/office/drawing/2014/main" id="{DABE351B-2B10-2947-A0C4-78CC60C8EC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9600" y="1392816"/>
            <a:ext cx="228600" cy="357809"/>
          </a:xfrm>
          <a:prstGeom prst="rect">
            <a:avLst/>
          </a:prstGeom>
        </p:spPr>
      </p:pic>
      <p:pic>
        <p:nvPicPr>
          <p:cNvPr id="12" name="Picture 11" descr="Icon&#10;&#10;Description automatically generated">
            <a:extLst>
              <a:ext uri="{FF2B5EF4-FFF2-40B4-BE49-F238E27FC236}">
                <a16:creationId xmlns:a16="http://schemas.microsoft.com/office/drawing/2014/main" id="{DA5FE3FB-826A-B846-8419-75E0C8077C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0" y="1850465"/>
            <a:ext cx="228600" cy="357809"/>
          </a:xfrm>
          <a:prstGeom prst="rect">
            <a:avLst/>
          </a:prstGeom>
        </p:spPr>
      </p:pic>
      <p:pic>
        <p:nvPicPr>
          <p:cNvPr id="13" name="Picture 12" descr="Icon&#10;&#10;Description automatically generated">
            <a:extLst>
              <a:ext uri="{FF2B5EF4-FFF2-40B4-BE49-F238E27FC236}">
                <a16:creationId xmlns:a16="http://schemas.microsoft.com/office/drawing/2014/main" id="{866287E4-7668-0E4A-8FD3-C01CD0EF41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0" y="2309191"/>
            <a:ext cx="228600" cy="357809"/>
          </a:xfrm>
          <a:prstGeom prst="rect">
            <a:avLst/>
          </a:prstGeom>
        </p:spPr>
      </p:pic>
      <p:pic>
        <p:nvPicPr>
          <p:cNvPr id="14" name="Picture 13" descr="Icon&#10;&#10;Description automatically generated">
            <a:extLst>
              <a:ext uri="{FF2B5EF4-FFF2-40B4-BE49-F238E27FC236}">
                <a16:creationId xmlns:a16="http://schemas.microsoft.com/office/drawing/2014/main" id="{0C9BA5D0-FEF9-1446-A854-CFD33E70D0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0" y="2328414"/>
            <a:ext cx="228600" cy="35780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3118" y="1402841"/>
            <a:ext cx="535813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8460" indent="-365760">
              <a:lnSpc>
                <a:spcPct val="100000"/>
              </a:lnSpc>
              <a:spcBef>
                <a:spcPts val="100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600" spc="-20" dirty="0">
                <a:latin typeface="Calibri"/>
                <a:cs typeface="Calibri"/>
              </a:rPr>
              <a:t>Update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equation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(in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matrix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notation):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63118" y="3752850"/>
            <a:ext cx="590677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8460" indent="-365760">
              <a:lnSpc>
                <a:spcPct val="100000"/>
              </a:lnSpc>
              <a:spcBef>
                <a:spcPts val="100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600" spc="-20" dirty="0">
                <a:latin typeface="Calibri"/>
                <a:cs typeface="Calibri"/>
              </a:rPr>
              <a:t>Update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equation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(for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single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parameter):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3118" y="5630417"/>
            <a:ext cx="179197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8460" indent="-365760">
              <a:lnSpc>
                <a:spcPct val="100000"/>
              </a:lnSpc>
              <a:spcBef>
                <a:spcPts val="100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600" spc="-25" dirty="0">
                <a:latin typeface="Calibri"/>
                <a:cs typeface="Calibri"/>
              </a:rPr>
              <a:t>A</a:t>
            </a:r>
            <a:r>
              <a:rPr sz="2600" spc="-10" dirty="0">
                <a:latin typeface="Calibri"/>
                <a:cs typeface="Calibri"/>
              </a:rPr>
              <a:t>l</a:t>
            </a:r>
            <a:r>
              <a:rPr sz="2600" spc="-25" dirty="0">
                <a:latin typeface="Calibri"/>
                <a:cs typeface="Calibri"/>
              </a:rPr>
              <a:t>go</a:t>
            </a:r>
            <a:r>
              <a:rPr sz="2600" spc="-15" dirty="0">
                <a:latin typeface="Calibri"/>
                <a:cs typeface="Calibri"/>
              </a:rPr>
              <a:t>ri</a:t>
            </a:r>
            <a:r>
              <a:rPr sz="2600" spc="-20" dirty="0">
                <a:latin typeface="Calibri"/>
                <a:cs typeface="Calibri"/>
              </a:rPr>
              <a:t>th</a:t>
            </a:r>
            <a:r>
              <a:rPr sz="2600" spc="-40" dirty="0">
                <a:latin typeface="Calibri"/>
                <a:cs typeface="Calibri"/>
              </a:rPr>
              <a:t>m</a:t>
            </a:r>
            <a:r>
              <a:rPr sz="2600" dirty="0">
                <a:latin typeface="Calibri"/>
                <a:cs typeface="Calibri"/>
              </a:rPr>
              <a:t>: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63118" y="496569"/>
            <a:ext cx="315277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Gradient</a:t>
            </a:r>
            <a:r>
              <a:rPr spc="-50" dirty="0"/>
              <a:t> </a:t>
            </a:r>
            <a:r>
              <a:rPr dirty="0"/>
              <a:t>Descent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1922" y="6022085"/>
            <a:ext cx="6355080" cy="103327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77549" y="2141931"/>
            <a:ext cx="4926880" cy="54510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870650" y="3014512"/>
            <a:ext cx="3371850" cy="427355"/>
          </a:xfrm>
          <a:prstGeom prst="rect">
            <a:avLst/>
          </a:prstGeom>
          <a:ln w="30479">
            <a:solidFill>
              <a:srgbClr val="BB57BE"/>
            </a:solidFill>
          </a:ln>
        </p:spPr>
        <p:txBody>
          <a:bodyPr vert="horz" wrap="square" lIns="0" tIns="34290" rIns="0" bIns="0" rtlCol="0">
            <a:spAutoFit/>
          </a:bodyPr>
          <a:lstStyle/>
          <a:p>
            <a:pPr marL="126364">
              <a:lnSpc>
                <a:spcPct val="100000"/>
              </a:lnSpc>
              <a:spcBef>
                <a:spcPts val="270"/>
              </a:spcBef>
            </a:pPr>
            <a:r>
              <a:rPr sz="2100" dirty="0">
                <a:latin typeface="Cambria Math"/>
                <a:cs typeface="Cambria Math"/>
              </a:rPr>
              <a:t>𝛼</a:t>
            </a:r>
            <a:r>
              <a:rPr sz="2100" spc="90" dirty="0">
                <a:latin typeface="Cambria Math"/>
                <a:cs typeface="Cambria Math"/>
              </a:rPr>
              <a:t> </a:t>
            </a:r>
            <a:r>
              <a:rPr sz="2100" dirty="0">
                <a:latin typeface="Calibri"/>
                <a:cs typeface="Calibri"/>
              </a:rPr>
              <a:t>=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i="1" spc="-5" dirty="0">
                <a:solidFill>
                  <a:srgbClr val="BB57BE"/>
                </a:solidFill>
                <a:latin typeface="Calibri"/>
                <a:cs typeface="Calibri"/>
              </a:rPr>
              <a:t>step</a:t>
            </a:r>
            <a:r>
              <a:rPr sz="2100" i="1" spc="10" dirty="0">
                <a:solidFill>
                  <a:srgbClr val="BB57BE"/>
                </a:solidFill>
                <a:latin typeface="Calibri"/>
                <a:cs typeface="Calibri"/>
              </a:rPr>
              <a:t> </a:t>
            </a:r>
            <a:r>
              <a:rPr sz="2100" i="1" spc="-5" dirty="0">
                <a:solidFill>
                  <a:srgbClr val="BB57BE"/>
                </a:solidFill>
                <a:latin typeface="Calibri"/>
                <a:cs typeface="Calibri"/>
              </a:rPr>
              <a:t>size</a:t>
            </a:r>
            <a:r>
              <a:rPr sz="2100" i="1" spc="10" dirty="0">
                <a:solidFill>
                  <a:srgbClr val="BB57BE"/>
                </a:solidFill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or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i="1" spc="5" dirty="0">
                <a:solidFill>
                  <a:srgbClr val="BB57BE"/>
                </a:solidFill>
                <a:latin typeface="Calibri"/>
                <a:cs typeface="Calibri"/>
              </a:rPr>
              <a:t>learning</a:t>
            </a:r>
            <a:r>
              <a:rPr sz="2100" i="1" spc="15" dirty="0">
                <a:solidFill>
                  <a:srgbClr val="BB57BE"/>
                </a:solidFill>
                <a:latin typeface="Calibri"/>
                <a:cs typeface="Calibri"/>
              </a:rPr>
              <a:t> </a:t>
            </a:r>
            <a:r>
              <a:rPr sz="2100" i="1" dirty="0">
                <a:solidFill>
                  <a:srgbClr val="BB57BE"/>
                </a:solidFill>
                <a:latin typeface="Calibri"/>
                <a:cs typeface="Calibri"/>
              </a:rPr>
              <a:t>rate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510677" y="2698179"/>
            <a:ext cx="91440" cy="316865"/>
          </a:xfrm>
          <a:custGeom>
            <a:avLst/>
            <a:gdLst/>
            <a:ahLst/>
            <a:cxnLst/>
            <a:rect l="l" t="t" r="r" b="b"/>
            <a:pathLst>
              <a:path w="91439" h="316864">
                <a:moveTo>
                  <a:pt x="60959" y="76200"/>
                </a:moveTo>
                <a:lnTo>
                  <a:pt x="30479" y="76200"/>
                </a:lnTo>
                <a:lnTo>
                  <a:pt x="30479" y="316332"/>
                </a:lnTo>
                <a:lnTo>
                  <a:pt x="60959" y="316332"/>
                </a:lnTo>
                <a:lnTo>
                  <a:pt x="60959" y="76200"/>
                </a:lnTo>
                <a:close/>
              </a:path>
              <a:path w="91439" h="316864">
                <a:moveTo>
                  <a:pt x="45721" y="0"/>
                </a:moveTo>
                <a:lnTo>
                  <a:pt x="0" y="91439"/>
                </a:lnTo>
                <a:lnTo>
                  <a:pt x="30479" y="91439"/>
                </a:lnTo>
                <a:lnTo>
                  <a:pt x="30479" y="76200"/>
                </a:lnTo>
                <a:lnTo>
                  <a:pt x="83820" y="76200"/>
                </a:lnTo>
                <a:lnTo>
                  <a:pt x="45721" y="0"/>
                </a:lnTo>
                <a:close/>
              </a:path>
              <a:path w="91439" h="316864">
                <a:moveTo>
                  <a:pt x="83820" y="76200"/>
                </a:moveTo>
                <a:lnTo>
                  <a:pt x="60959" y="76200"/>
                </a:lnTo>
                <a:lnTo>
                  <a:pt x="60959" y="91439"/>
                </a:lnTo>
                <a:lnTo>
                  <a:pt x="91439" y="91439"/>
                </a:lnTo>
                <a:lnTo>
                  <a:pt x="83820" y="76200"/>
                </a:lnTo>
                <a:close/>
              </a:path>
            </a:pathLst>
          </a:custGeom>
          <a:solidFill>
            <a:srgbClr val="BB57B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76800" y="4453423"/>
            <a:ext cx="4897928" cy="752260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7</a:t>
            </a:fld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496569"/>
            <a:ext cx="507873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Stochastic</a:t>
            </a:r>
            <a:r>
              <a:rPr spc="-15" dirty="0"/>
              <a:t> </a:t>
            </a:r>
            <a:r>
              <a:rPr dirty="0"/>
              <a:t>Gradient</a:t>
            </a:r>
            <a:r>
              <a:rPr spc="-10" dirty="0"/>
              <a:t> </a:t>
            </a:r>
            <a:r>
              <a:rPr dirty="0"/>
              <a:t>Descent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72643" y="1357723"/>
            <a:ext cx="8788400" cy="401574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377825" marR="1064895" indent="-365760">
              <a:lnSpc>
                <a:spcPts val="3100"/>
              </a:lnSpc>
              <a:spcBef>
                <a:spcPts val="219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  <a:tab pos="1921510" algn="l"/>
                <a:tab pos="2321560" algn="l"/>
              </a:tabLst>
            </a:pPr>
            <a:r>
              <a:rPr sz="260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Problem</a:t>
            </a:r>
            <a:r>
              <a:rPr sz="2600" spc="-20" dirty="0">
                <a:latin typeface="Calibri"/>
                <a:cs typeface="Calibri"/>
              </a:rPr>
              <a:t>: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mbria Math"/>
                <a:cs typeface="Cambria Math"/>
              </a:rPr>
              <a:t>𝐽</a:t>
            </a:r>
            <a:r>
              <a:rPr lang="en-US" altLang="zh-CN" sz="2600" dirty="0">
                <a:latin typeface="Cambria Math"/>
                <a:cs typeface="Cambria Math"/>
              </a:rPr>
              <a:t>(</a:t>
            </a:r>
            <a:r>
              <a:rPr lang="zh-CN" altLang="en-US" sz="2600" dirty="0">
                <a:latin typeface="Cambria Math"/>
                <a:cs typeface="Cambria Math"/>
              </a:rPr>
              <a:t>   </a:t>
            </a:r>
            <a:r>
              <a:rPr lang="en-US" altLang="zh-CN" sz="2600" dirty="0">
                <a:latin typeface="Cambria Math"/>
                <a:cs typeface="Cambria Math"/>
              </a:rPr>
              <a:t>)</a:t>
            </a:r>
            <a:r>
              <a:rPr sz="2600" spc="440" dirty="0">
                <a:latin typeface="Cambria Math"/>
                <a:cs typeface="Cambria Math"/>
              </a:rPr>
              <a:t>	</a:t>
            </a:r>
            <a:r>
              <a:rPr sz="2600" spc="-10" dirty="0">
                <a:latin typeface="Calibri"/>
                <a:cs typeface="Calibri"/>
              </a:rPr>
              <a:t>is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function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of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b="1" spc="-15" dirty="0">
                <a:solidFill>
                  <a:srgbClr val="BB57BE"/>
                </a:solidFill>
                <a:latin typeface="Calibri"/>
                <a:cs typeface="Calibri"/>
              </a:rPr>
              <a:t>all</a:t>
            </a:r>
            <a:r>
              <a:rPr sz="2600" b="1" spc="-35" dirty="0">
                <a:solidFill>
                  <a:srgbClr val="BB57BE"/>
                </a:solidFill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windows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the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corpus </a:t>
            </a:r>
            <a:r>
              <a:rPr sz="2600" spc="-57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(potentially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billions!)</a:t>
            </a:r>
            <a:endParaRPr sz="2600" dirty="0">
              <a:latin typeface="Calibri"/>
              <a:cs typeface="Calibri"/>
            </a:endParaRPr>
          </a:p>
          <a:p>
            <a:pPr marL="744220" lvl="1" indent="-244475">
              <a:lnSpc>
                <a:spcPct val="100000"/>
              </a:lnSpc>
              <a:spcBef>
                <a:spcPts val="470"/>
              </a:spcBef>
              <a:buClr>
                <a:srgbClr val="3A87FF"/>
              </a:buClr>
              <a:buFont typeface="Times New Roman"/>
              <a:buChar char="•"/>
              <a:tabLst>
                <a:tab pos="743585" algn="l"/>
                <a:tab pos="744220" algn="l"/>
                <a:tab pos="2227580" algn="l"/>
              </a:tabLst>
            </a:pPr>
            <a:r>
              <a:rPr sz="2600" spc="-15" dirty="0">
                <a:latin typeface="Calibri"/>
                <a:cs typeface="Calibri"/>
              </a:rPr>
              <a:t>So	</a:t>
            </a:r>
            <a:r>
              <a:rPr sz="2600" spc="-10" dirty="0">
                <a:latin typeface="Calibri"/>
                <a:cs typeface="Calibri"/>
              </a:rPr>
              <a:t>is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5" dirty="0">
                <a:solidFill>
                  <a:srgbClr val="BB57BE"/>
                </a:solidFill>
                <a:latin typeface="Calibri"/>
                <a:cs typeface="Calibri"/>
              </a:rPr>
              <a:t>very</a:t>
            </a:r>
            <a:r>
              <a:rPr sz="2600" spc="-35" dirty="0">
                <a:solidFill>
                  <a:srgbClr val="BB57BE"/>
                </a:solidFill>
                <a:latin typeface="Calibri"/>
                <a:cs typeface="Calibri"/>
              </a:rPr>
              <a:t> </a:t>
            </a:r>
            <a:r>
              <a:rPr sz="2600" spc="-20" dirty="0">
                <a:solidFill>
                  <a:srgbClr val="BB57BE"/>
                </a:solidFill>
                <a:latin typeface="Calibri"/>
                <a:cs typeface="Calibri"/>
              </a:rPr>
              <a:t>expensive</a:t>
            </a:r>
            <a:r>
              <a:rPr sz="2600" spc="-35" dirty="0">
                <a:solidFill>
                  <a:srgbClr val="BB57BE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BB57BE"/>
                </a:solidFill>
                <a:latin typeface="Calibri"/>
                <a:cs typeface="Calibri"/>
              </a:rPr>
              <a:t>to</a:t>
            </a:r>
            <a:r>
              <a:rPr sz="2600" spc="-40" dirty="0">
                <a:solidFill>
                  <a:srgbClr val="BB57BE"/>
                </a:solidFill>
                <a:latin typeface="Calibri"/>
                <a:cs typeface="Calibri"/>
              </a:rPr>
              <a:t> </a:t>
            </a:r>
            <a:r>
              <a:rPr sz="2600" spc="-25" dirty="0">
                <a:solidFill>
                  <a:srgbClr val="BB57BE"/>
                </a:solidFill>
                <a:latin typeface="Calibri"/>
                <a:cs typeface="Calibri"/>
              </a:rPr>
              <a:t>compute</a:t>
            </a:r>
            <a:endParaRPr sz="2600" dirty="0">
              <a:latin typeface="Calibri"/>
              <a:cs typeface="Calibri"/>
            </a:endParaRPr>
          </a:p>
          <a:p>
            <a:pPr marL="378460" indent="-365760">
              <a:lnSpc>
                <a:spcPct val="100000"/>
              </a:lnSpc>
              <a:spcBef>
                <a:spcPts val="575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600" spc="-15" dirty="0">
                <a:latin typeface="Calibri"/>
                <a:cs typeface="Calibri"/>
              </a:rPr>
              <a:t>You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would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wait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very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long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time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before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making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single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update!</a:t>
            </a:r>
            <a:endParaRPr sz="2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CC0000"/>
              </a:buClr>
              <a:buFont typeface="Times New Roman"/>
              <a:buChar char="•"/>
            </a:pPr>
            <a:endParaRPr sz="3500" dirty="0">
              <a:latin typeface="Calibri"/>
              <a:cs typeface="Calibri"/>
            </a:endParaRPr>
          </a:p>
          <a:p>
            <a:pPr marL="378460" indent="-365760">
              <a:lnSpc>
                <a:spcPct val="100000"/>
              </a:lnSpc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600" b="1" spc="-15" dirty="0">
                <a:solidFill>
                  <a:srgbClr val="BB57BE"/>
                </a:solidFill>
                <a:latin typeface="Calibri"/>
                <a:cs typeface="Calibri"/>
              </a:rPr>
              <a:t>Very</a:t>
            </a:r>
            <a:r>
              <a:rPr sz="2600" b="1" spc="-40" dirty="0">
                <a:solidFill>
                  <a:srgbClr val="BB57BE"/>
                </a:solidFill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bad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idea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for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pretty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much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all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neural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nets!</a:t>
            </a:r>
            <a:endParaRPr sz="2600" dirty="0">
              <a:latin typeface="Calibri"/>
              <a:cs typeface="Calibri"/>
            </a:endParaRPr>
          </a:p>
          <a:p>
            <a:pPr marL="378460" indent="-365760">
              <a:lnSpc>
                <a:spcPct val="100000"/>
              </a:lnSpc>
              <a:spcBef>
                <a:spcPts val="575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60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Solution: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b="1" spc="-20" dirty="0">
                <a:solidFill>
                  <a:srgbClr val="BB57BE"/>
                </a:solidFill>
                <a:latin typeface="Calibri"/>
                <a:cs typeface="Calibri"/>
              </a:rPr>
              <a:t>Stochastic</a:t>
            </a:r>
            <a:r>
              <a:rPr sz="2600" b="1" spc="-35" dirty="0">
                <a:solidFill>
                  <a:srgbClr val="BB57BE"/>
                </a:solidFill>
                <a:latin typeface="Calibri"/>
                <a:cs typeface="Calibri"/>
              </a:rPr>
              <a:t> </a:t>
            </a:r>
            <a:r>
              <a:rPr sz="2600" b="1" spc="-20" dirty="0">
                <a:solidFill>
                  <a:srgbClr val="BB57BE"/>
                </a:solidFill>
                <a:latin typeface="Calibri"/>
                <a:cs typeface="Calibri"/>
              </a:rPr>
              <a:t>gradient</a:t>
            </a:r>
            <a:r>
              <a:rPr sz="2600" b="1" spc="-30" dirty="0">
                <a:solidFill>
                  <a:srgbClr val="BB57BE"/>
                </a:solidFill>
                <a:latin typeface="Calibri"/>
                <a:cs typeface="Calibri"/>
              </a:rPr>
              <a:t> </a:t>
            </a:r>
            <a:r>
              <a:rPr sz="2600" b="1" spc="-20" dirty="0">
                <a:solidFill>
                  <a:srgbClr val="BB57BE"/>
                </a:solidFill>
                <a:latin typeface="Calibri"/>
                <a:cs typeface="Calibri"/>
              </a:rPr>
              <a:t>descent</a:t>
            </a:r>
            <a:r>
              <a:rPr sz="2600" b="1" spc="-25" dirty="0">
                <a:solidFill>
                  <a:srgbClr val="BB57BE"/>
                </a:solidFill>
                <a:latin typeface="Calibri"/>
                <a:cs typeface="Calibri"/>
              </a:rPr>
              <a:t> </a:t>
            </a:r>
            <a:r>
              <a:rPr sz="2600" b="1" spc="-20" dirty="0">
                <a:solidFill>
                  <a:srgbClr val="BB57BE"/>
                </a:solidFill>
                <a:latin typeface="Calibri"/>
                <a:cs typeface="Calibri"/>
              </a:rPr>
              <a:t>(SGD)</a:t>
            </a:r>
            <a:endParaRPr sz="2600" dirty="0">
              <a:latin typeface="Calibri"/>
              <a:cs typeface="Calibri"/>
            </a:endParaRPr>
          </a:p>
          <a:p>
            <a:pPr marL="744220" lvl="1" indent="-366395">
              <a:lnSpc>
                <a:spcPct val="100000"/>
              </a:lnSpc>
              <a:spcBef>
                <a:spcPts val="575"/>
              </a:spcBef>
              <a:buClr>
                <a:srgbClr val="CC0000"/>
              </a:buClr>
              <a:buFont typeface="Times New Roman"/>
              <a:buChar char="•"/>
              <a:tabLst>
                <a:tab pos="743585" algn="l"/>
                <a:tab pos="744220" algn="l"/>
              </a:tabLst>
            </a:pPr>
            <a:r>
              <a:rPr sz="2100" spc="15" dirty="0">
                <a:latin typeface="Calibri"/>
                <a:cs typeface="Calibri"/>
              </a:rPr>
              <a:t>Repeatedly</a:t>
            </a:r>
            <a:r>
              <a:rPr sz="2100" spc="10" dirty="0">
                <a:latin typeface="Calibri"/>
                <a:cs typeface="Calibri"/>
              </a:rPr>
              <a:t> sample</a:t>
            </a:r>
            <a:r>
              <a:rPr sz="2100" spc="2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windows, and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update</a:t>
            </a:r>
            <a:r>
              <a:rPr sz="2100" spc="2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after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each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one</a:t>
            </a:r>
            <a:endParaRPr sz="2100" dirty="0">
              <a:latin typeface="Calibri"/>
              <a:cs typeface="Calibri"/>
            </a:endParaRPr>
          </a:p>
          <a:p>
            <a:pPr marL="378460" indent="-365760">
              <a:lnSpc>
                <a:spcPct val="100000"/>
              </a:lnSpc>
              <a:spcBef>
                <a:spcPts val="480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600" spc="-20" dirty="0">
                <a:latin typeface="Calibri"/>
                <a:cs typeface="Calibri"/>
              </a:rPr>
              <a:t>Algorithm:</a:t>
            </a:r>
            <a:endParaRPr sz="2600" dirty="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0068" y="5672007"/>
            <a:ext cx="7390887" cy="126510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44411" y="2344135"/>
            <a:ext cx="949286" cy="307618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8</a:t>
            </a:fld>
            <a:endParaRPr dirty="0"/>
          </a:p>
        </p:txBody>
      </p:sp>
      <p:pic>
        <p:nvPicPr>
          <p:cNvPr id="8" name="Picture 7" descr="Icon&#10;&#10;Description automatically generated">
            <a:extLst>
              <a:ext uri="{FF2B5EF4-FFF2-40B4-BE49-F238E27FC236}">
                <a16:creationId xmlns:a16="http://schemas.microsoft.com/office/drawing/2014/main" id="{ED3F8457-0267-4B48-8567-EC57AF01F1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5097" y="1371600"/>
            <a:ext cx="228600" cy="35780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91626" y="3334913"/>
            <a:ext cx="4231926" cy="379988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63118" y="496569"/>
            <a:ext cx="7144384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Stochastic gradients</a:t>
            </a:r>
            <a:r>
              <a:rPr spc="-5" dirty="0"/>
              <a:t> </a:t>
            </a:r>
            <a:r>
              <a:rPr spc="5" dirty="0"/>
              <a:t>with</a:t>
            </a:r>
            <a:r>
              <a:rPr dirty="0"/>
              <a:t> </a:t>
            </a:r>
            <a:r>
              <a:rPr spc="5" dirty="0"/>
              <a:t>word</a:t>
            </a:r>
            <a:r>
              <a:rPr spc="-5" dirty="0"/>
              <a:t> </a:t>
            </a:r>
            <a:r>
              <a:rPr dirty="0"/>
              <a:t>vectors!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63118" y="1329689"/>
            <a:ext cx="7895590" cy="135763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78460" indent="-365760">
              <a:lnSpc>
                <a:spcPct val="100000"/>
              </a:lnSpc>
              <a:spcBef>
                <a:spcPts val="675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600" spc="-15" dirty="0">
                <a:latin typeface="Calibri"/>
                <a:cs typeface="Calibri"/>
              </a:rPr>
              <a:t>Iteratively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take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gradients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at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each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such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window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for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SGD</a:t>
            </a:r>
            <a:endParaRPr sz="2600">
              <a:latin typeface="Calibri"/>
              <a:cs typeface="Calibri"/>
            </a:endParaRPr>
          </a:p>
          <a:p>
            <a:pPr marL="377825" marR="5080" indent="-365760">
              <a:lnSpc>
                <a:spcPts val="3100"/>
              </a:lnSpc>
              <a:spcBef>
                <a:spcPts val="690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  <a:tab pos="1986914" algn="l"/>
              </a:tabLst>
            </a:pPr>
            <a:r>
              <a:rPr sz="2600" spc="-20" dirty="0">
                <a:latin typeface="Calibri"/>
                <a:cs typeface="Calibri"/>
              </a:rPr>
              <a:t>But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each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window,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we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only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have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at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most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2</a:t>
            </a:r>
            <a:r>
              <a:rPr sz="2600" i="1" spc="-15" dirty="0">
                <a:latin typeface="Calibri"/>
                <a:cs typeface="Calibri"/>
              </a:rPr>
              <a:t>m</a:t>
            </a:r>
            <a:r>
              <a:rPr sz="2600" i="1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+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1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words, </a:t>
            </a:r>
            <a:r>
              <a:rPr sz="2600" spc="-57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so	is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very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sparse!</a:t>
            </a:r>
            <a:endParaRPr sz="26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47127" y="2382158"/>
            <a:ext cx="1091080" cy="326924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9</a:t>
            </a:fld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496569"/>
            <a:ext cx="7144384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Stochastic gradients</a:t>
            </a:r>
            <a:r>
              <a:rPr spc="-5" dirty="0"/>
              <a:t> </a:t>
            </a:r>
            <a:r>
              <a:rPr spc="5" dirty="0"/>
              <a:t>with</a:t>
            </a:r>
            <a:r>
              <a:rPr dirty="0"/>
              <a:t> </a:t>
            </a:r>
            <a:r>
              <a:rPr spc="5" dirty="0"/>
              <a:t>word</a:t>
            </a:r>
            <a:r>
              <a:rPr spc="-5" dirty="0"/>
              <a:t> </a:t>
            </a:r>
            <a:r>
              <a:rPr dirty="0"/>
              <a:t>vectors!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3118" y="1402841"/>
            <a:ext cx="8484235" cy="2150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8460" indent="-365760">
              <a:lnSpc>
                <a:spcPct val="100000"/>
              </a:lnSpc>
              <a:spcBef>
                <a:spcPts val="100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600" spc="-20" dirty="0">
                <a:latin typeface="Calibri"/>
                <a:cs typeface="Calibri"/>
              </a:rPr>
              <a:t>We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might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only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update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the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word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vectors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that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actually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appear!</a:t>
            </a:r>
            <a:endParaRPr sz="2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CC0000"/>
              </a:buClr>
              <a:buFont typeface="Times New Roman"/>
              <a:buChar char="•"/>
            </a:pPr>
            <a:endParaRPr sz="3500">
              <a:latin typeface="Calibri"/>
              <a:cs typeface="Calibri"/>
            </a:endParaRPr>
          </a:p>
          <a:p>
            <a:pPr marL="377825" marR="5080" indent="-365760" algn="just">
              <a:lnSpc>
                <a:spcPct val="99600"/>
              </a:lnSpc>
              <a:buClr>
                <a:srgbClr val="CC0000"/>
              </a:buClr>
              <a:buFont typeface="Times New Roman"/>
              <a:buChar char="•"/>
              <a:tabLst>
                <a:tab pos="378460" algn="l"/>
              </a:tabLst>
            </a:pPr>
            <a:r>
              <a:rPr sz="2600" spc="-20" dirty="0">
                <a:latin typeface="Calibri"/>
                <a:cs typeface="Calibri"/>
              </a:rPr>
              <a:t>Solution: </a:t>
            </a:r>
            <a:r>
              <a:rPr sz="2600" spc="-15" dirty="0">
                <a:latin typeface="Calibri"/>
                <a:cs typeface="Calibri"/>
              </a:rPr>
              <a:t>either you need </a:t>
            </a:r>
            <a:r>
              <a:rPr sz="2600" spc="-20" dirty="0">
                <a:latin typeface="Calibri"/>
                <a:cs typeface="Calibri"/>
              </a:rPr>
              <a:t>sparse matrix update operations to </a:t>
            </a:r>
            <a:r>
              <a:rPr sz="2600" spc="-57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only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update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certain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rows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of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full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embedding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matrices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i="1" dirty="0">
                <a:latin typeface="Calibri"/>
                <a:cs typeface="Calibri"/>
              </a:rPr>
              <a:t>U</a:t>
            </a:r>
            <a:r>
              <a:rPr sz="2600" i="1" spc="-4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and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i="1" spc="-25" dirty="0">
                <a:latin typeface="Calibri"/>
                <a:cs typeface="Calibri"/>
              </a:rPr>
              <a:t>V, </a:t>
            </a:r>
            <a:r>
              <a:rPr sz="2600" i="1" spc="-58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or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you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need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to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keep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around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hash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for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word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vectors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3118" y="5465826"/>
            <a:ext cx="7598409" cy="12115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77825" marR="5080" indent="-365760" algn="just">
              <a:lnSpc>
                <a:spcPct val="99600"/>
              </a:lnSpc>
              <a:spcBef>
                <a:spcPts val="110"/>
              </a:spcBef>
              <a:buClr>
                <a:srgbClr val="CC0000"/>
              </a:buClr>
              <a:buFont typeface="Times New Roman"/>
              <a:buChar char="•"/>
              <a:tabLst>
                <a:tab pos="378460" algn="l"/>
              </a:tabLst>
            </a:pPr>
            <a:r>
              <a:rPr sz="2600" spc="-10" dirty="0">
                <a:latin typeface="Calibri"/>
                <a:cs typeface="Calibri"/>
              </a:rPr>
              <a:t>If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you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have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millions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of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word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vectors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and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distributed </a:t>
            </a:r>
            <a:r>
              <a:rPr sz="2600" spc="-58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computing, </a:t>
            </a:r>
            <a:r>
              <a:rPr sz="2600" spc="-10" dirty="0">
                <a:latin typeface="Calibri"/>
                <a:cs typeface="Calibri"/>
              </a:rPr>
              <a:t>it is </a:t>
            </a:r>
            <a:r>
              <a:rPr sz="2600" spc="-20" dirty="0">
                <a:latin typeface="Calibri"/>
                <a:cs typeface="Calibri"/>
              </a:rPr>
              <a:t>important </a:t>
            </a:r>
            <a:r>
              <a:rPr sz="2600" spc="-10" dirty="0">
                <a:latin typeface="Calibri"/>
                <a:cs typeface="Calibri"/>
              </a:rPr>
              <a:t>to </a:t>
            </a:r>
            <a:r>
              <a:rPr sz="2600" spc="-20" dirty="0">
                <a:latin typeface="Calibri"/>
                <a:cs typeface="Calibri"/>
              </a:rPr>
              <a:t>not </a:t>
            </a:r>
            <a:r>
              <a:rPr sz="2600" spc="-15" dirty="0">
                <a:latin typeface="Calibri"/>
                <a:cs typeface="Calibri"/>
              </a:rPr>
              <a:t>have </a:t>
            </a:r>
            <a:r>
              <a:rPr sz="2600" spc="-10" dirty="0">
                <a:latin typeface="Calibri"/>
                <a:cs typeface="Calibri"/>
              </a:rPr>
              <a:t>to </a:t>
            </a:r>
            <a:r>
              <a:rPr sz="2600" spc="-15" dirty="0">
                <a:latin typeface="Calibri"/>
                <a:cs typeface="Calibri"/>
              </a:rPr>
              <a:t>send </a:t>
            </a:r>
            <a:r>
              <a:rPr sz="2600" spc="-20" dirty="0">
                <a:latin typeface="Calibri"/>
                <a:cs typeface="Calibri"/>
              </a:rPr>
              <a:t>gigantic </a:t>
            </a:r>
            <a:r>
              <a:rPr sz="2600" spc="-57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updates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around!</a:t>
            </a:r>
            <a:endParaRPr sz="26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38808" y="3823970"/>
            <a:ext cx="4359275" cy="1579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949065" algn="l"/>
              </a:tabLst>
            </a:pPr>
            <a:r>
              <a:rPr sz="10200" dirty="0">
                <a:latin typeface="Calibri"/>
                <a:cs typeface="Calibri"/>
              </a:rPr>
              <a:t>[	]</a:t>
            </a:r>
            <a:endParaRPr sz="102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70521" y="4323711"/>
            <a:ext cx="190954" cy="19095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70521" y="4569503"/>
            <a:ext cx="190954" cy="19095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70521" y="4815294"/>
            <a:ext cx="190954" cy="19095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70521" y="5061087"/>
            <a:ext cx="190954" cy="19095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93518" y="4323711"/>
            <a:ext cx="190954" cy="19095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93518" y="4569503"/>
            <a:ext cx="190954" cy="19095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93518" y="4815294"/>
            <a:ext cx="190954" cy="19095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93518" y="5061087"/>
            <a:ext cx="190954" cy="19095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39690" y="4323711"/>
            <a:ext cx="190954" cy="19095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39690" y="4569503"/>
            <a:ext cx="190954" cy="190954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39690" y="4815294"/>
            <a:ext cx="190954" cy="190954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39690" y="5061087"/>
            <a:ext cx="190954" cy="190954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50202" y="4323711"/>
            <a:ext cx="190954" cy="190954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50202" y="4569503"/>
            <a:ext cx="190954" cy="190954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50202" y="4815294"/>
            <a:ext cx="190954" cy="190954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50202" y="5061087"/>
            <a:ext cx="190954" cy="190954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254906" y="4323711"/>
            <a:ext cx="190954" cy="190954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254906" y="4569503"/>
            <a:ext cx="190954" cy="190954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254906" y="4815294"/>
            <a:ext cx="190954" cy="190954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254906" y="5061087"/>
            <a:ext cx="190954" cy="190954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2449269" y="4655566"/>
            <a:ext cx="38735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5" dirty="0">
                <a:latin typeface="Calibri"/>
                <a:cs typeface="Calibri"/>
              </a:rPr>
              <a:t>|</a:t>
            </a:r>
            <a:r>
              <a:rPr sz="1900" i="1" spc="15" dirty="0">
                <a:latin typeface="Calibri"/>
                <a:cs typeface="Calibri"/>
              </a:rPr>
              <a:t>V</a:t>
            </a:r>
            <a:r>
              <a:rPr sz="1900" dirty="0">
                <a:latin typeface="Calibri"/>
                <a:cs typeface="Calibri"/>
              </a:rPr>
              <a:t>|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10</a:t>
            </a:fld>
            <a:endParaRPr dirty="0"/>
          </a:p>
        </p:txBody>
      </p:sp>
      <p:sp>
        <p:nvSpPr>
          <p:cNvPr id="27" name="object 27"/>
          <p:cNvSpPr txBox="1"/>
          <p:nvPr/>
        </p:nvSpPr>
        <p:spPr>
          <a:xfrm>
            <a:off x="4710190" y="3948429"/>
            <a:ext cx="14986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i="1" dirty="0">
                <a:latin typeface="Calibri"/>
                <a:cs typeface="Calibri"/>
              </a:rPr>
              <a:t>d</a:t>
            </a:r>
            <a:endParaRPr sz="1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11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496569"/>
            <a:ext cx="503174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1b.</a:t>
            </a:r>
            <a:r>
              <a:rPr spc="-25" dirty="0"/>
              <a:t> </a:t>
            </a:r>
            <a:r>
              <a:rPr spc="5" dirty="0"/>
              <a:t>Word2vec:</a:t>
            </a:r>
            <a:r>
              <a:rPr spc="-10" dirty="0"/>
              <a:t> </a:t>
            </a:r>
            <a:r>
              <a:rPr spc="5" dirty="0"/>
              <a:t>More</a:t>
            </a:r>
            <a:r>
              <a:rPr spc="-15" dirty="0"/>
              <a:t> </a:t>
            </a:r>
            <a:r>
              <a:rPr dirty="0"/>
              <a:t>details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3118" y="1329689"/>
            <a:ext cx="8768080" cy="560006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600" spc="-20" dirty="0">
                <a:latin typeface="Calibri"/>
                <a:cs typeface="Calibri"/>
              </a:rPr>
              <a:t>Why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two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vectors?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Wingdings"/>
                <a:cs typeface="Wingdings"/>
              </a:rPr>
              <a:t></a:t>
            </a:r>
            <a:r>
              <a:rPr sz="2600" spc="-12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Easier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optimization.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Average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both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at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the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end</a:t>
            </a:r>
            <a:endParaRPr sz="2600">
              <a:latin typeface="Calibri"/>
              <a:cs typeface="Calibri"/>
            </a:endParaRPr>
          </a:p>
          <a:p>
            <a:pPr marL="12700" marR="2364105" indent="487680">
              <a:lnSpc>
                <a:spcPts val="3700"/>
              </a:lnSpc>
              <a:spcBef>
                <a:spcPts val="215"/>
              </a:spcBef>
              <a:buClr>
                <a:srgbClr val="3A87FF"/>
              </a:buClr>
              <a:buFont typeface="Times New Roman"/>
              <a:buChar char="•"/>
              <a:tabLst>
                <a:tab pos="743585" algn="l"/>
                <a:tab pos="744220" algn="l"/>
              </a:tabLst>
            </a:pPr>
            <a:r>
              <a:rPr sz="2600" spc="-20" dirty="0">
                <a:latin typeface="Calibri"/>
                <a:cs typeface="Calibri"/>
              </a:rPr>
              <a:t>But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can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it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with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just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one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vector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per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word </a:t>
            </a:r>
            <a:r>
              <a:rPr sz="2600" spc="-57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Two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model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variants:</a:t>
            </a:r>
            <a:endParaRPr sz="2600">
              <a:latin typeface="Calibri"/>
              <a:cs typeface="Calibri"/>
            </a:endParaRPr>
          </a:p>
          <a:p>
            <a:pPr marL="988060" indent="-488315">
              <a:lnSpc>
                <a:spcPct val="100000"/>
              </a:lnSpc>
              <a:spcBef>
                <a:spcPts val="355"/>
              </a:spcBef>
              <a:buClr>
                <a:srgbClr val="3A87FF"/>
              </a:buClr>
              <a:buAutoNum type="arabicPeriod"/>
              <a:tabLst>
                <a:tab pos="987425" algn="l"/>
                <a:tab pos="988060" algn="l"/>
              </a:tabLst>
            </a:pPr>
            <a:r>
              <a:rPr sz="2600" spc="-20" dirty="0">
                <a:latin typeface="Calibri"/>
                <a:cs typeface="Calibri"/>
              </a:rPr>
              <a:t>Skip-grams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(SG)</a:t>
            </a:r>
            <a:endParaRPr sz="2600">
              <a:latin typeface="Calibri"/>
              <a:cs typeface="Calibri"/>
            </a:endParaRPr>
          </a:p>
          <a:p>
            <a:pPr marL="988060" marR="57785">
              <a:lnSpc>
                <a:spcPct val="102899"/>
              </a:lnSpc>
              <a:spcBef>
                <a:spcPts val="520"/>
              </a:spcBef>
            </a:pPr>
            <a:r>
              <a:rPr sz="2100" spc="10" dirty="0">
                <a:latin typeface="Calibri"/>
                <a:cs typeface="Calibri"/>
              </a:rPr>
              <a:t>Predict</a:t>
            </a:r>
            <a:r>
              <a:rPr sz="2100" spc="2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context</a:t>
            </a:r>
            <a:r>
              <a:rPr sz="2100" spc="2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(“outside”)</a:t>
            </a:r>
            <a:r>
              <a:rPr sz="2100" spc="2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words</a:t>
            </a:r>
            <a:r>
              <a:rPr sz="2100" spc="3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(position</a:t>
            </a:r>
            <a:r>
              <a:rPr sz="2100" spc="2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independent)</a:t>
            </a:r>
            <a:r>
              <a:rPr sz="2100" spc="3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given</a:t>
            </a:r>
            <a:r>
              <a:rPr sz="2100" spc="2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center </a:t>
            </a:r>
            <a:r>
              <a:rPr sz="2100" spc="-459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word</a:t>
            </a:r>
            <a:endParaRPr sz="2100">
              <a:latin typeface="Calibri"/>
              <a:cs typeface="Calibri"/>
            </a:endParaRPr>
          </a:p>
          <a:p>
            <a:pPr marL="988060" indent="-488315">
              <a:lnSpc>
                <a:spcPct val="100000"/>
              </a:lnSpc>
              <a:spcBef>
                <a:spcPts val="484"/>
              </a:spcBef>
              <a:buClr>
                <a:srgbClr val="3A87FF"/>
              </a:buClr>
              <a:buAutoNum type="arabicPeriod" startAt="2"/>
              <a:tabLst>
                <a:tab pos="987425" algn="l"/>
                <a:tab pos="988060" algn="l"/>
              </a:tabLst>
            </a:pPr>
            <a:r>
              <a:rPr sz="2600" spc="-20" dirty="0">
                <a:latin typeface="Calibri"/>
                <a:cs typeface="Calibri"/>
              </a:rPr>
              <a:t>Continuous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Bag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of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Words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(CBOW)</a:t>
            </a:r>
            <a:endParaRPr sz="2600">
              <a:latin typeface="Calibri"/>
              <a:cs typeface="Calibri"/>
            </a:endParaRPr>
          </a:p>
          <a:p>
            <a:pPr marL="133985" marR="2435225" indent="853440">
              <a:lnSpc>
                <a:spcPts val="3100"/>
              </a:lnSpc>
              <a:spcBef>
                <a:spcPts val="190"/>
              </a:spcBef>
            </a:pPr>
            <a:r>
              <a:rPr sz="2100" spc="10" dirty="0">
                <a:latin typeface="Calibri"/>
                <a:cs typeface="Calibri"/>
              </a:rPr>
              <a:t>Predict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center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word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from</a:t>
            </a:r>
            <a:r>
              <a:rPr sz="2100" spc="3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(bag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of)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context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words </a:t>
            </a:r>
            <a:r>
              <a:rPr sz="2100" spc="-459" dirty="0">
                <a:latin typeface="Calibri"/>
                <a:cs typeface="Calibri"/>
              </a:rPr>
              <a:t> </a:t>
            </a:r>
            <a:r>
              <a:rPr sz="2100" spc="10" dirty="0">
                <a:solidFill>
                  <a:srgbClr val="BB57BE"/>
                </a:solidFill>
                <a:latin typeface="Calibri"/>
                <a:cs typeface="Calibri"/>
              </a:rPr>
              <a:t>We</a:t>
            </a:r>
            <a:r>
              <a:rPr sz="2100" spc="20" dirty="0">
                <a:solidFill>
                  <a:srgbClr val="BB57BE"/>
                </a:solidFill>
                <a:latin typeface="Calibri"/>
                <a:cs typeface="Calibri"/>
              </a:rPr>
              <a:t> </a:t>
            </a:r>
            <a:r>
              <a:rPr sz="2100" spc="10" dirty="0">
                <a:solidFill>
                  <a:srgbClr val="BB57BE"/>
                </a:solidFill>
                <a:latin typeface="Calibri"/>
                <a:cs typeface="Calibri"/>
              </a:rPr>
              <a:t>presented:</a:t>
            </a:r>
            <a:r>
              <a:rPr sz="2100" spc="15" dirty="0">
                <a:solidFill>
                  <a:srgbClr val="BB57BE"/>
                </a:solidFill>
                <a:latin typeface="Calibri"/>
                <a:cs typeface="Calibri"/>
              </a:rPr>
              <a:t> </a:t>
            </a:r>
            <a:r>
              <a:rPr sz="2100" b="1" spc="10" dirty="0">
                <a:solidFill>
                  <a:srgbClr val="BB57BE"/>
                </a:solidFill>
                <a:latin typeface="Calibri"/>
                <a:cs typeface="Calibri"/>
              </a:rPr>
              <a:t>Skip-gram</a:t>
            </a:r>
            <a:r>
              <a:rPr sz="2100" b="1" spc="30" dirty="0">
                <a:solidFill>
                  <a:srgbClr val="BB57BE"/>
                </a:solidFill>
                <a:latin typeface="Calibri"/>
                <a:cs typeface="Calibri"/>
              </a:rPr>
              <a:t> </a:t>
            </a:r>
            <a:r>
              <a:rPr sz="2100" b="1" spc="15" dirty="0">
                <a:solidFill>
                  <a:srgbClr val="BB57BE"/>
                </a:solidFill>
                <a:latin typeface="Calibri"/>
                <a:cs typeface="Calibri"/>
              </a:rPr>
              <a:t>model</a:t>
            </a:r>
            <a:endParaRPr sz="2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850">
              <a:latin typeface="Calibri"/>
              <a:cs typeface="Calibri"/>
            </a:endParaRPr>
          </a:p>
          <a:p>
            <a:pPr marL="133985">
              <a:lnSpc>
                <a:spcPct val="100000"/>
              </a:lnSpc>
              <a:spcBef>
                <a:spcPts val="5"/>
              </a:spcBef>
            </a:pPr>
            <a:r>
              <a:rPr sz="2600" spc="-20" dirty="0">
                <a:latin typeface="Calibri"/>
                <a:cs typeface="Calibri"/>
              </a:rPr>
              <a:t>Additional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efficiency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training:</a:t>
            </a:r>
            <a:endParaRPr sz="2600">
              <a:latin typeface="Calibri"/>
              <a:cs typeface="Calibri"/>
            </a:endParaRPr>
          </a:p>
          <a:p>
            <a:pPr marL="499745">
              <a:lnSpc>
                <a:spcPct val="100000"/>
              </a:lnSpc>
              <a:spcBef>
                <a:spcPts val="575"/>
              </a:spcBef>
              <a:tabLst>
                <a:tab pos="987425" algn="l"/>
              </a:tabLst>
            </a:pPr>
            <a:r>
              <a:rPr sz="2600" spc="-15" dirty="0">
                <a:solidFill>
                  <a:srgbClr val="3A87FF"/>
                </a:solidFill>
                <a:latin typeface="Calibri"/>
                <a:cs typeface="Calibri"/>
              </a:rPr>
              <a:t>1.	</a:t>
            </a:r>
            <a:r>
              <a:rPr sz="2600" spc="-20" dirty="0">
                <a:latin typeface="Calibri"/>
                <a:cs typeface="Calibri"/>
              </a:rPr>
              <a:t>Negative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sampling</a:t>
            </a:r>
            <a:endParaRPr sz="2600">
              <a:latin typeface="Calibri"/>
              <a:cs typeface="Calibri"/>
            </a:endParaRPr>
          </a:p>
          <a:p>
            <a:pPr marL="133985">
              <a:lnSpc>
                <a:spcPct val="100000"/>
              </a:lnSpc>
              <a:spcBef>
                <a:spcPts val="570"/>
              </a:spcBef>
            </a:pPr>
            <a:r>
              <a:rPr sz="2100" spc="10" dirty="0">
                <a:solidFill>
                  <a:srgbClr val="BB57BE"/>
                </a:solidFill>
                <a:latin typeface="Calibri"/>
                <a:cs typeface="Calibri"/>
              </a:rPr>
              <a:t>So</a:t>
            </a:r>
            <a:r>
              <a:rPr sz="2100" spc="15" dirty="0">
                <a:solidFill>
                  <a:srgbClr val="BB57BE"/>
                </a:solidFill>
                <a:latin typeface="Calibri"/>
                <a:cs typeface="Calibri"/>
              </a:rPr>
              <a:t> </a:t>
            </a:r>
            <a:r>
              <a:rPr sz="2100" spc="10" dirty="0">
                <a:solidFill>
                  <a:srgbClr val="BB57BE"/>
                </a:solidFill>
                <a:latin typeface="Calibri"/>
                <a:cs typeface="Calibri"/>
              </a:rPr>
              <a:t>far:</a:t>
            </a:r>
            <a:r>
              <a:rPr sz="2100" spc="20" dirty="0">
                <a:solidFill>
                  <a:srgbClr val="BB57BE"/>
                </a:solidFill>
                <a:latin typeface="Calibri"/>
                <a:cs typeface="Calibri"/>
              </a:rPr>
              <a:t> </a:t>
            </a:r>
            <a:r>
              <a:rPr sz="2100" spc="10" dirty="0">
                <a:solidFill>
                  <a:srgbClr val="BB57BE"/>
                </a:solidFill>
                <a:latin typeface="Calibri"/>
                <a:cs typeface="Calibri"/>
              </a:rPr>
              <a:t>Focus</a:t>
            </a:r>
            <a:r>
              <a:rPr sz="2100" spc="20" dirty="0">
                <a:solidFill>
                  <a:srgbClr val="BB57BE"/>
                </a:solidFill>
                <a:latin typeface="Calibri"/>
                <a:cs typeface="Calibri"/>
              </a:rPr>
              <a:t> </a:t>
            </a:r>
            <a:r>
              <a:rPr sz="2100" spc="5" dirty="0">
                <a:solidFill>
                  <a:srgbClr val="BB57BE"/>
                </a:solidFill>
                <a:latin typeface="Calibri"/>
                <a:cs typeface="Calibri"/>
              </a:rPr>
              <a:t>on</a:t>
            </a:r>
            <a:r>
              <a:rPr sz="2100" spc="30" dirty="0">
                <a:solidFill>
                  <a:srgbClr val="BB57BE"/>
                </a:solidFill>
                <a:latin typeface="Calibri"/>
                <a:cs typeface="Calibri"/>
              </a:rPr>
              <a:t> </a:t>
            </a:r>
            <a:r>
              <a:rPr sz="2100" b="1" spc="10" dirty="0">
                <a:solidFill>
                  <a:srgbClr val="BB57BE"/>
                </a:solidFill>
                <a:latin typeface="Calibri"/>
                <a:cs typeface="Calibri"/>
              </a:rPr>
              <a:t>naïve</a:t>
            </a:r>
            <a:r>
              <a:rPr sz="2100" b="1" spc="25" dirty="0">
                <a:solidFill>
                  <a:srgbClr val="BB57BE"/>
                </a:solidFill>
                <a:latin typeface="Calibri"/>
                <a:cs typeface="Calibri"/>
              </a:rPr>
              <a:t> </a:t>
            </a:r>
            <a:r>
              <a:rPr sz="2100" b="1" spc="10" dirty="0">
                <a:solidFill>
                  <a:srgbClr val="BB57BE"/>
                </a:solidFill>
                <a:latin typeface="Calibri"/>
                <a:cs typeface="Calibri"/>
              </a:rPr>
              <a:t>softmax</a:t>
            </a:r>
            <a:r>
              <a:rPr sz="2100" b="1" spc="30" dirty="0">
                <a:solidFill>
                  <a:srgbClr val="BB57BE"/>
                </a:solidFill>
                <a:latin typeface="Calibri"/>
                <a:cs typeface="Calibri"/>
              </a:rPr>
              <a:t> </a:t>
            </a:r>
            <a:r>
              <a:rPr sz="2100" spc="10" dirty="0">
                <a:solidFill>
                  <a:srgbClr val="BB57BE"/>
                </a:solidFill>
                <a:latin typeface="Calibri"/>
                <a:cs typeface="Calibri"/>
              </a:rPr>
              <a:t>(simpler,</a:t>
            </a:r>
            <a:r>
              <a:rPr sz="2100" spc="15" dirty="0">
                <a:solidFill>
                  <a:srgbClr val="BB57BE"/>
                </a:solidFill>
                <a:latin typeface="Calibri"/>
                <a:cs typeface="Calibri"/>
              </a:rPr>
              <a:t> </a:t>
            </a:r>
            <a:r>
              <a:rPr sz="2100" spc="10" dirty="0">
                <a:solidFill>
                  <a:srgbClr val="BB57BE"/>
                </a:solidFill>
                <a:latin typeface="Calibri"/>
                <a:cs typeface="Calibri"/>
              </a:rPr>
              <a:t>but</a:t>
            </a:r>
            <a:r>
              <a:rPr sz="2100" spc="25" dirty="0">
                <a:solidFill>
                  <a:srgbClr val="BB57BE"/>
                </a:solidFill>
                <a:latin typeface="Calibri"/>
                <a:cs typeface="Calibri"/>
              </a:rPr>
              <a:t> </a:t>
            </a:r>
            <a:r>
              <a:rPr sz="2100" spc="10" dirty="0">
                <a:solidFill>
                  <a:srgbClr val="BB57BE"/>
                </a:solidFill>
                <a:latin typeface="Calibri"/>
                <a:cs typeface="Calibri"/>
              </a:rPr>
              <a:t>expensive, training</a:t>
            </a:r>
            <a:r>
              <a:rPr sz="2100" spc="20" dirty="0">
                <a:solidFill>
                  <a:srgbClr val="BB57BE"/>
                </a:solidFill>
                <a:latin typeface="Calibri"/>
                <a:cs typeface="Calibri"/>
              </a:rPr>
              <a:t> </a:t>
            </a:r>
            <a:r>
              <a:rPr sz="2100" spc="15" dirty="0">
                <a:solidFill>
                  <a:srgbClr val="BB57BE"/>
                </a:solidFill>
                <a:latin typeface="Calibri"/>
                <a:cs typeface="Calibri"/>
              </a:rPr>
              <a:t>method)</a:t>
            </a:r>
            <a:endParaRPr sz="2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543813"/>
            <a:ext cx="8465820" cy="497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100" spc="-10" dirty="0"/>
              <a:t>The</a:t>
            </a:r>
            <a:r>
              <a:rPr sz="3100" spc="-20" dirty="0"/>
              <a:t> </a:t>
            </a:r>
            <a:r>
              <a:rPr sz="3100" spc="-5" dirty="0"/>
              <a:t>skip-gram</a:t>
            </a:r>
            <a:r>
              <a:rPr sz="3100" spc="-20" dirty="0"/>
              <a:t> </a:t>
            </a:r>
            <a:r>
              <a:rPr sz="3100" spc="-5" dirty="0"/>
              <a:t>model</a:t>
            </a:r>
            <a:r>
              <a:rPr sz="3100" spc="-20" dirty="0"/>
              <a:t> </a:t>
            </a:r>
            <a:r>
              <a:rPr sz="3100" spc="-5" dirty="0"/>
              <a:t>with</a:t>
            </a:r>
            <a:r>
              <a:rPr sz="3100" spc="-25" dirty="0"/>
              <a:t> </a:t>
            </a:r>
            <a:r>
              <a:rPr sz="3100" spc="-5" dirty="0"/>
              <a:t>negative</a:t>
            </a:r>
            <a:r>
              <a:rPr sz="3100" spc="-20" dirty="0"/>
              <a:t> </a:t>
            </a:r>
            <a:r>
              <a:rPr sz="3100" spc="-10" dirty="0"/>
              <a:t>sampling</a:t>
            </a:r>
            <a:endParaRPr sz="3100" dirty="0"/>
          </a:p>
        </p:txBody>
      </p:sp>
      <p:sp>
        <p:nvSpPr>
          <p:cNvPr id="3" name="object 3"/>
          <p:cNvSpPr txBox="1"/>
          <p:nvPr/>
        </p:nvSpPr>
        <p:spPr>
          <a:xfrm>
            <a:off x="563118" y="1402841"/>
            <a:ext cx="814070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8460" indent="-365760">
              <a:lnSpc>
                <a:spcPct val="100000"/>
              </a:lnSpc>
              <a:spcBef>
                <a:spcPts val="100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600" spc="-15" dirty="0">
                <a:latin typeface="Calibri"/>
                <a:cs typeface="Calibri"/>
              </a:rPr>
              <a:t>The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normalization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factor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is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too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computationally</a:t>
            </a:r>
            <a:r>
              <a:rPr sz="2600" spc="-20" dirty="0">
                <a:latin typeface="Calibri"/>
                <a:cs typeface="Calibri"/>
              </a:rPr>
              <a:t> expensive.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63118" y="2695194"/>
            <a:ext cx="2270125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8460" indent="-365760">
              <a:lnSpc>
                <a:spcPct val="100000"/>
              </a:lnSpc>
              <a:spcBef>
                <a:spcPts val="100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  <a:tab pos="895350" algn="l"/>
                <a:tab pos="1319530" algn="l"/>
                <a:tab pos="1896745" algn="l"/>
              </a:tabLst>
            </a:pPr>
            <a:r>
              <a:rPr lang="zh-CN" altLang="en-US" sz="3800" dirty="0">
                <a:solidFill>
                  <a:schemeClr val="bg1"/>
                </a:solidFill>
                <a:latin typeface="Cambria Math"/>
                <a:cs typeface="Cambria Math"/>
              </a:rPr>
              <a:t>。</a:t>
            </a:r>
            <a:endParaRPr sz="3800" dirty="0">
              <a:solidFill>
                <a:schemeClr val="bg1"/>
              </a:solidFill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12</a:t>
            </a:fld>
            <a:endParaRPr dirty="0"/>
          </a:p>
        </p:txBody>
      </p:sp>
      <p:sp>
        <p:nvSpPr>
          <p:cNvPr id="12" name="object 12"/>
          <p:cNvSpPr txBox="1"/>
          <p:nvPr/>
        </p:nvSpPr>
        <p:spPr>
          <a:xfrm>
            <a:off x="563118" y="4057650"/>
            <a:ext cx="8895715" cy="2543175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377825" marR="68580" indent="-365760" algn="just">
              <a:lnSpc>
                <a:spcPts val="3100"/>
              </a:lnSpc>
              <a:spcBef>
                <a:spcPts val="219"/>
              </a:spcBef>
              <a:buClr>
                <a:srgbClr val="CC0000"/>
              </a:buClr>
              <a:buFont typeface="Times New Roman"/>
              <a:buChar char="•"/>
              <a:tabLst>
                <a:tab pos="378460" algn="l"/>
              </a:tabLst>
            </a:pPr>
            <a:r>
              <a:rPr sz="2600" spc="-15" dirty="0">
                <a:latin typeface="Calibri"/>
                <a:cs typeface="Calibri"/>
              </a:rPr>
              <a:t>Hence,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standard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word2vec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you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implement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the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skip-</a:t>
            </a:r>
            <a:r>
              <a:rPr sz="2600" spc="-15" dirty="0">
                <a:latin typeface="Calibri"/>
                <a:cs typeface="Calibri"/>
              </a:rPr>
              <a:t>gram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model </a:t>
            </a:r>
            <a:r>
              <a:rPr sz="2600" spc="-20" dirty="0">
                <a:latin typeface="Calibri"/>
                <a:cs typeface="Calibri"/>
              </a:rPr>
              <a:t>with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b="1" spc="-20" dirty="0">
                <a:solidFill>
                  <a:srgbClr val="BB57BE"/>
                </a:solidFill>
                <a:latin typeface="Calibri"/>
                <a:cs typeface="Calibri"/>
              </a:rPr>
              <a:t>negative</a:t>
            </a:r>
            <a:r>
              <a:rPr sz="2600" b="1" spc="-35" dirty="0">
                <a:solidFill>
                  <a:srgbClr val="BB57BE"/>
                </a:solidFill>
                <a:latin typeface="Calibri"/>
                <a:cs typeface="Calibri"/>
              </a:rPr>
              <a:t> </a:t>
            </a:r>
            <a:r>
              <a:rPr sz="2600" b="1" spc="-25" dirty="0">
                <a:solidFill>
                  <a:srgbClr val="BB57BE"/>
                </a:solidFill>
                <a:latin typeface="Calibri"/>
                <a:cs typeface="Calibri"/>
              </a:rPr>
              <a:t>sampling</a:t>
            </a:r>
            <a:endParaRPr sz="2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CC0000"/>
              </a:buClr>
              <a:buFont typeface="Times New Roman"/>
              <a:buChar char="•"/>
            </a:pPr>
            <a:endParaRPr sz="3400" dirty="0">
              <a:latin typeface="Calibri"/>
              <a:cs typeface="Calibri"/>
            </a:endParaRPr>
          </a:p>
          <a:p>
            <a:pPr marL="377825" marR="5080" indent="-365760" algn="just">
              <a:lnSpc>
                <a:spcPct val="99600"/>
              </a:lnSpc>
              <a:buClr>
                <a:srgbClr val="CC0000"/>
              </a:buClr>
              <a:buFont typeface="Times New Roman"/>
              <a:buChar char="•"/>
              <a:tabLst>
                <a:tab pos="378460" algn="l"/>
              </a:tabLst>
            </a:pPr>
            <a:r>
              <a:rPr sz="2600" spc="-20" dirty="0">
                <a:latin typeface="Calibri"/>
                <a:cs typeface="Calibri"/>
              </a:rPr>
              <a:t>Main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idea: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train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binary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logistic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regressions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for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true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pair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(center </a:t>
            </a:r>
            <a:r>
              <a:rPr sz="2600" spc="-57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word </a:t>
            </a:r>
            <a:r>
              <a:rPr sz="2600" spc="-15" dirty="0">
                <a:latin typeface="Calibri"/>
                <a:cs typeface="Calibri"/>
              </a:rPr>
              <a:t>and </a:t>
            </a:r>
            <a:r>
              <a:rPr sz="2600" spc="-20" dirty="0">
                <a:latin typeface="Calibri"/>
                <a:cs typeface="Calibri"/>
              </a:rPr>
              <a:t>word </a:t>
            </a:r>
            <a:r>
              <a:rPr sz="2600" spc="-10" dirty="0">
                <a:latin typeface="Calibri"/>
                <a:cs typeface="Calibri"/>
              </a:rPr>
              <a:t>in </a:t>
            </a:r>
            <a:r>
              <a:rPr sz="2600" spc="-15" dirty="0">
                <a:latin typeface="Calibri"/>
                <a:cs typeface="Calibri"/>
              </a:rPr>
              <a:t>its </a:t>
            </a:r>
            <a:r>
              <a:rPr sz="2600" spc="-20" dirty="0">
                <a:latin typeface="Calibri"/>
                <a:cs typeface="Calibri"/>
              </a:rPr>
              <a:t>context </a:t>
            </a:r>
            <a:r>
              <a:rPr sz="2600" spc="-25" dirty="0">
                <a:latin typeface="Calibri"/>
                <a:cs typeface="Calibri"/>
              </a:rPr>
              <a:t>window) </a:t>
            </a:r>
            <a:r>
              <a:rPr sz="2600" spc="-15" dirty="0">
                <a:latin typeface="Calibri"/>
                <a:cs typeface="Calibri"/>
              </a:rPr>
              <a:t>versus several </a:t>
            </a:r>
            <a:r>
              <a:rPr sz="2600" spc="-20" dirty="0">
                <a:latin typeface="Calibri"/>
                <a:cs typeface="Calibri"/>
              </a:rPr>
              <a:t>noise </a:t>
            </a:r>
            <a:r>
              <a:rPr sz="2600" spc="-15" dirty="0">
                <a:latin typeface="Calibri"/>
                <a:cs typeface="Calibri"/>
              </a:rPr>
              <a:t>pairs </a:t>
            </a:r>
            <a:r>
              <a:rPr sz="2600" spc="-57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(the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center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word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paired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with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random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word)</a:t>
            </a:r>
            <a:endParaRPr sz="2600" dirty="0">
              <a:latin typeface="Calibri"/>
              <a:cs typeface="Calibri"/>
            </a:endParaRPr>
          </a:p>
        </p:txBody>
      </p:sp>
      <p:pic>
        <p:nvPicPr>
          <p:cNvPr id="17" name="Picture 16" descr="Text&#10;&#10;Description automatically generated">
            <a:extLst>
              <a:ext uri="{FF2B5EF4-FFF2-40B4-BE49-F238E27FC236}">
                <a16:creationId xmlns:a16="http://schemas.microsoft.com/office/drawing/2014/main" id="{458A7213-E871-4E43-819C-2332CA07EB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2555591"/>
            <a:ext cx="5105400" cy="118628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488949"/>
            <a:ext cx="8463915" cy="497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100" spc="-10" dirty="0"/>
              <a:t>The</a:t>
            </a:r>
            <a:r>
              <a:rPr sz="3100" spc="-15" dirty="0"/>
              <a:t> </a:t>
            </a:r>
            <a:r>
              <a:rPr sz="3100" spc="-5" dirty="0"/>
              <a:t>skip-gram</a:t>
            </a:r>
            <a:r>
              <a:rPr sz="3100" spc="-15" dirty="0"/>
              <a:t> </a:t>
            </a:r>
            <a:r>
              <a:rPr sz="3100" spc="-5" dirty="0"/>
              <a:t>model</a:t>
            </a:r>
            <a:r>
              <a:rPr sz="3100" spc="-25" dirty="0"/>
              <a:t> </a:t>
            </a:r>
            <a:r>
              <a:rPr sz="3100" spc="-5" dirty="0"/>
              <a:t>with</a:t>
            </a:r>
            <a:r>
              <a:rPr sz="3100" spc="-20" dirty="0"/>
              <a:t> </a:t>
            </a:r>
            <a:r>
              <a:rPr sz="3100" spc="-5" dirty="0"/>
              <a:t>negative</a:t>
            </a:r>
            <a:r>
              <a:rPr sz="3100" spc="-20" dirty="0"/>
              <a:t> </a:t>
            </a:r>
            <a:r>
              <a:rPr sz="3100" spc="-10" dirty="0"/>
              <a:t>sampling</a:t>
            </a:r>
            <a:endParaRPr sz="3100" dirty="0"/>
          </a:p>
        </p:txBody>
      </p:sp>
      <p:sp>
        <p:nvSpPr>
          <p:cNvPr id="3" name="object 3"/>
          <p:cNvSpPr txBox="1"/>
          <p:nvPr/>
        </p:nvSpPr>
        <p:spPr>
          <a:xfrm>
            <a:off x="563118" y="1402841"/>
            <a:ext cx="8900795" cy="1284605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377825" marR="5080" indent="-365760">
              <a:lnSpc>
                <a:spcPts val="3100"/>
              </a:lnSpc>
              <a:spcBef>
                <a:spcPts val="219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600" spc="-20" dirty="0">
                <a:latin typeface="Calibri"/>
                <a:cs typeface="Calibri"/>
              </a:rPr>
              <a:t>From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paper: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“Distributed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Representations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of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Words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and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Phrases </a:t>
            </a:r>
            <a:r>
              <a:rPr sz="2600" spc="-57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and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their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Compositionality”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(Mikolov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et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al.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2013)</a:t>
            </a:r>
            <a:endParaRPr sz="2600">
              <a:latin typeface="Calibri"/>
              <a:cs typeface="Calibri"/>
            </a:endParaRPr>
          </a:p>
          <a:p>
            <a:pPr marL="378460" indent="-365760">
              <a:lnSpc>
                <a:spcPct val="100000"/>
              </a:lnSpc>
              <a:spcBef>
                <a:spcPts val="470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600" spc="-20" dirty="0">
                <a:latin typeface="Calibri"/>
                <a:cs typeface="Calibri"/>
              </a:rPr>
              <a:t>Overall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objective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function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(they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maximize):</a:t>
            </a:r>
            <a:endParaRPr sz="26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29693" y="5090081"/>
            <a:ext cx="2007073" cy="4844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63118" y="5084826"/>
            <a:ext cx="5242560" cy="2247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8460" indent="-365760">
              <a:lnSpc>
                <a:spcPts val="3060"/>
              </a:lnSpc>
              <a:spcBef>
                <a:spcPts val="100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600" spc="-15" dirty="0">
                <a:latin typeface="Calibri"/>
                <a:cs typeface="Calibri"/>
              </a:rPr>
              <a:t>The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sigmoid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function:</a:t>
            </a:r>
            <a:endParaRPr sz="2600">
              <a:latin typeface="Calibri"/>
              <a:cs typeface="Calibri"/>
            </a:endParaRPr>
          </a:p>
          <a:p>
            <a:pPr marL="377825">
              <a:lnSpc>
                <a:spcPts val="3060"/>
              </a:lnSpc>
            </a:pPr>
            <a:r>
              <a:rPr sz="2600" spc="-20" dirty="0">
                <a:latin typeface="Calibri"/>
                <a:cs typeface="Calibri"/>
              </a:rPr>
              <a:t>(we’ll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become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good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friends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soon)</a:t>
            </a:r>
            <a:endParaRPr sz="2600">
              <a:latin typeface="Calibri"/>
              <a:cs typeface="Calibri"/>
            </a:endParaRPr>
          </a:p>
          <a:p>
            <a:pPr marL="378460" indent="-365760">
              <a:lnSpc>
                <a:spcPct val="100000"/>
              </a:lnSpc>
              <a:spcBef>
                <a:spcPts val="575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600" spc="-15" dirty="0">
                <a:latin typeface="Calibri"/>
                <a:cs typeface="Calibri"/>
              </a:rPr>
              <a:t>So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we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maximize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the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probability</a:t>
            </a:r>
            <a:endParaRPr sz="2600">
              <a:latin typeface="Calibri"/>
              <a:cs typeface="Calibri"/>
            </a:endParaRPr>
          </a:p>
          <a:p>
            <a:pPr marL="377825">
              <a:lnSpc>
                <a:spcPts val="3110"/>
              </a:lnSpc>
            </a:pPr>
            <a:r>
              <a:rPr sz="2600" spc="-15" dirty="0">
                <a:latin typeface="Calibri"/>
                <a:cs typeface="Calibri"/>
              </a:rPr>
              <a:t>of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two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words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co-occurring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in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first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log</a:t>
            </a:r>
            <a:endParaRPr sz="2600">
              <a:latin typeface="Calibri"/>
              <a:cs typeface="Calibri"/>
            </a:endParaRPr>
          </a:p>
          <a:p>
            <a:pPr marL="377825">
              <a:lnSpc>
                <a:spcPts val="2940"/>
              </a:lnSpc>
            </a:pPr>
            <a:r>
              <a:rPr sz="2600" dirty="0">
                <a:latin typeface="Wingdings"/>
                <a:cs typeface="Wingdings"/>
              </a:rPr>
              <a:t></a:t>
            </a:r>
            <a:endParaRPr sz="2600">
              <a:latin typeface="Wingdings"/>
              <a:cs typeface="Wingdings"/>
            </a:endParaRPr>
          </a:p>
          <a:p>
            <a:pPr marL="12700">
              <a:lnSpc>
                <a:spcPts val="1630"/>
              </a:lnSpc>
            </a:pPr>
            <a:r>
              <a:rPr sz="1500" spc="-5" dirty="0">
                <a:latin typeface="Calibri"/>
                <a:cs typeface="Calibri"/>
              </a:rPr>
              <a:t>13</a:t>
            </a:r>
            <a:endParaRPr sz="15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02273" y="4723638"/>
            <a:ext cx="3258312" cy="217017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46509" y="2290560"/>
            <a:ext cx="2823600" cy="42145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52391" y="2938538"/>
            <a:ext cx="8134671" cy="108576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543813"/>
            <a:ext cx="8465820" cy="497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100" spc="-10" dirty="0"/>
              <a:t>The</a:t>
            </a:r>
            <a:r>
              <a:rPr sz="3100" spc="-20" dirty="0"/>
              <a:t> </a:t>
            </a:r>
            <a:r>
              <a:rPr sz="3100" spc="-5" dirty="0"/>
              <a:t>skip-gram</a:t>
            </a:r>
            <a:r>
              <a:rPr sz="3100" spc="-20" dirty="0"/>
              <a:t> </a:t>
            </a:r>
            <a:r>
              <a:rPr sz="3100" spc="-5" dirty="0"/>
              <a:t>model</a:t>
            </a:r>
            <a:r>
              <a:rPr sz="3100" spc="-20" dirty="0"/>
              <a:t> </a:t>
            </a:r>
            <a:r>
              <a:rPr sz="3100" spc="-5" dirty="0"/>
              <a:t>with</a:t>
            </a:r>
            <a:r>
              <a:rPr sz="3100" spc="-25" dirty="0"/>
              <a:t> </a:t>
            </a:r>
            <a:r>
              <a:rPr sz="3100" spc="-5" dirty="0"/>
              <a:t>negative</a:t>
            </a:r>
            <a:r>
              <a:rPr sz="3100" spc="-20" dirty="0"/>
              <a:t> </a:t>
            </a:r>
            <a:r>
              <a:rPr sz="3100" spc="-10" dirty="0"/>
              <a:t>sampling</a:t>
            </a:r>
            <a:endParaRPr sz="3100" dirty="0"/>
          </a:p>
        </p:txBody>
      </p:sp>
      <p:sp>
        <p:nvSpPr>
          <p:cNvPr id="3" name="object 3"/>
          <p:cNvSpPr txBox="1"/>
          <p:nvPr/>
        </p:nvSpPr>
        <p:spPr>
          <a:xfrm>
            <a:off x="563118" y="1402841"/>
            <a:ext cx="572706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8460" indent="-365760">
              <a:lnSpc>
                <a:spcPct val="100000"/>
              </a:lnSpc>
              <a:spcBef>
                <a:spcPts val="100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600" spc="-20" dirty="0">
                <a:latin typeface="Calibri"/>
                <a:cs typeface="Calibri"/>
              </a:rPr>
              <a:t>Notation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more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similar</a:t>
            </a:r>
            <a:r>
              <a:rPr sz="2600" spc="-25" dirty="0">
                <a:latin typeface="Calibri"/>
                <a:cs typeface="Calibri"/>
              </a:rPr>
              <a:t>:</a:t>
            </a:r>
            <a:endParaRPr sz="26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5018" y="3210306"/>
            <a:ext cx="8763635" cy="412178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416559" indent="-365760">
              <a:lnSpc>
                <a:spcPct val="100000"/>
              </a:lnSpc>
              <a:spcBef>
                <a:spcPts val="675"/>
              </a:spcBef>
              <a:buClr>
                <a:srgbClr val="CC0000"/>
              </a:buClr>
              <a:buFont typeface="Times New Roman"/>
              <a:buChar char="•"/>
              <a:tabLst>
                <a:tab pos="415925" algn="l"/>
                <a:tab pos="416559" algn="l"/>
              </a:tabLst>
            </a:pPr>
            <a:r>
              <a:rPr sz="2600" spc="-20" dirty="0">
                <a:latin typeface="Calibri"/>
                <a:cs typeface="Calibri"/>
              </a:rPr>
              <a:t>We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take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i="1" dirty="0">
                <a:latin typeface="Calibri"/>
                <a:cs typeface="Calibri"/>
              </a:rPr>
              <a:t>k</a:t>
            </a:r>
            <a:r>
              <a:rPr sz="2600" i="1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negative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samples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(using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word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probabilities)</a:t>
            </a:r>
            <a:endParaRPr sz="2600">
              <a:latin typeface="Calibri"/>
              <a:cs typeface="Calibri"/>
            </a:endParaRPr>
          </a:p>
          <a:p>
            <a:pPr marL="416559" indent="-365760">
              <a:lnSpc>
                <a:spcPts val="3110"/>
              </a:lnSpc>
              <a:spcBef>
                <a:spcPts val="575"/>
              </a:spcBef>
              <a:buClr>
                <a:srgbClr val="CC0000"/>
              </a:buClr>
              <a:buFont typeface="Times New Roman"/>
              <a:buChar char="•"/>
              <a:tabLst>
                <a:tab pos="415925" algn="l"/>
                <a:tab pos="416559" algn="l"/>
              </a:tabLst>
            </a:pPr>
            <a:r>
              <a:rPr sz="2600" spc="-20" dirty="0">
                <a:latin typeface="Calibri"/>
                <a:cs typeface="Calibri"/>
              </a:rPr>
              <a:t>Maximize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probability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that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real</a:t>
            </a:r>
            <a:r>
              <a:rPr sz="2600" spc="-20" dirty="0">
                <a:latin typeface="Calibri"/>
                <a:cs typeface="Calibri"/>
              </a:rPr>
              <a:t> outside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word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appears,</a:t>
            </a:r>
            <a:endParaRPr sz="2600">
              <a:latin typeface="Calibri"/>
              <a:cs typeface="Calibri"/>
            </a:endParaRPr>
          </a:p>
          <a:p>
            <a:pPr marL="416559">
              <a:lnSpc>
                <a:spcPts val="3110"/>
              </a:lnSpc>
            </a:pPr>
            <a:r>
              <a:rPr sz="2600" spc="-20" dirty="0">
                <a:latin typeface="Calibri"/>
                <a:cs typeface="Calibri"/>
              </a:rPr>
              <a:t>minimize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prob.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that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random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words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appear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around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center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word</a:t>
            </a:r>
            <a:endParaRPr sz="26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3500">
              <a:latin typeface="Calibri"/>
              <a:cs typeface="Calibri"/>
            </a:endParaRPr>
          </a:p>
          <a:p>
            <a:pPr marL="416559" indent="-365760">
              <a:lnSpc>
                <a:spcPts val="3060"/>
              </a:lnSpc>
              <a:buClr>
                <a:srgbClr val="CC0000"/>
              </a:buClr>
              <a:buFont typeface="Times New Roman"/>
              <a:buChar char="•"/>
              <a:tabLst>
                <a:tab pos="415925" algn="l"/>
                <a:tab pos="416559" algn="l"/>
              </a:tabLst>
            </a:pPr>
            <a:r>
              <a:rPr sz="2600" spc="-20" dirty="0">
                <a:latin typeface="Calibri"/>
                <a:cs typeface="Calibri"/>
              </a:rPr>
              <a:t>P(</a:t>
            </a:r>
            <a:r>
              <a:rPr sz="2600" i="1" spc="-20" dirty="0">
                <a:latin typeface="Calibri"/>
                <a:cs typeface="Calibri"/>
              </a:rPr>
              <a:t>w</a:t>
            </a:r>
            <a:r>
              <a:rPr sz="2600" spc="-20" dirty="0">
                <a:latin typeface="Calibri"/>
                <a:cs typeface="Calibri"/>
              </a:rPr>
              <a:t>)=U(</a:t>
            </a:r>
            <a:r>
              <a:rPr sz="2600" i="1" spc="-20" dirty="0">
                <a:latin typeface="Calibri"/>
                <a:cs typeface="Calibri"/>
              </a:rPr>
              <a:t>w</a:t>
            </a:r>
            <a:r>
              <a:rPr sz="2600" spc="-20" dirty="0">
                <a:latin typeface="Calibri"/>
                <a:cs typeface="Calibri"/>
              </a:rPr>
              <a:t>)</a:t>
            </a:r>
            <a:r>
              <a:rPr sz="2550" spc="-30" baseline="26143" dirty="0">
                <a:latin typeface="Calibri"/>
                <a:cs typeface="Calibri"/>
              </a:rPr>
              <a:t>3/4</a:t>
            </a:r>
            <a:r>
              <a:rPr sz="2600" spc="-20" dirty="0">
                <a:latin typeface="Calibri"/>
                <a:cs typeface="Calibri"/>
              </a:rPr>
              <a:t>/Z,</a:t>
            </a:r>
            <a:endParaRPr sz="2600">
              <a:latin typeface="Calibri"/>
              <a:cs typeface="Calibri"/>
            </a:endParaRPr>
          </a:p>
          <a:p>
            <a:pPr marL="416559" marR="1215390">
              <a:lnSpc>
                <a:spcPts val="3100"/>
              </a:lnSpc>
              <a:spcBef>
                <a:spcPts val="60"/>
              </a:spcBef>
            </a:pPr>
            <a:r>
              <a:rPr sz="2600" spc="-15" dirty="0">
                <a:latin typeface="Calibri"/>
                <a:cs typeface="Calibri"/>
              </a:rPr>
              <a:t>the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unigram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distribution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U(w)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raised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to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the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3/4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power </a:t>
            </a:r>
            <a:r>
              <a:rPr sz="2600" spc="-57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(We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provide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this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function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the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starter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code).</a:t>
            </a:r>
            <a:endParaRPr sz="2600">
              <a:latin typeface="Calibri"/>
              <a:cs typeface="Calibri"/>
            </a:endParaRPr>
          </a:p>
          <a:p>
            <a:pPr marL="416559" indent="-365760">
              <a:lnSpc>
                <a:spcPct val="100000"/>
              </a:lnSpc>
              <a:spcBef>
                <a:spcPts val="495"/>
              </a:spcBef>
              <a:buClr>
                <a:srgbClr val="CC0000"/>
              </a:buClr>
              <a:buFont typeface="Times New Roman"/>
              <a:buChar char="•"/>
              <a:tabLst>
                <a:tab pos="415925" algn="l"/>
                <a:tab pos="416559" algn="l"/>
              </a:tabLst>
            </a:pPr>
            <a:r>
              <a:rPr sz="2600" spc="-15" dirty="0">
                <a:latin typeface="Calibri"/>
                <a:cs typeface="Calibri"/>
              </a:rPr>
              <a:t>The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power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makes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less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frequent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words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be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sampled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more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often</a:t>
            </a:r>
            <a:endParaRPr sz="2600">
              <a:latin typeface="Calibri"/>
              <a:cs typeface="Calibri"/>
            </a:endParaRPr>
          </a:p>
          <a:p>
            <a:pPr marL="50800">
              <a:lnSpc>
                <a:spcPct val="100000"/>
              </a:lnSpc>
              <a:spcBef>
                <a:spcPts val="2755"/>
              </a:spcBef>
            </a:pPr>
            <a:r>
              <a:rPr sz="1500" spc="-5" dirty="0">
                <a:latin typeface="Calibri"/>
                <a:cs typeface="Calibri"/>
              </a:rPr>
              <a:t>14</a:t>
            </a:r>
            <a:endParaRPr sz="15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0777" y="1919477"/>
            <a:ext cx="8805672" cy="112471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537718" y="6952713"/>
            <a:ext cx="269875" cy="25844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z="1500" dirty="0">
                <a:latin typeface="Calibri"/>
                <a:cs typeface="Calibri"/>
              </a:rPr>
              <a:t>15</a:t>
            </a:fld>
            <a:endParaRPr sz="150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2984" y="543813"/>
            <a:ext cx="8803005" cy="497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100" dirty="0"/>
              <a:t>3.</a:t>
            </a:r>
            <a:r>
              <a:rPr sz="3100" spc="-20" dirty="0"/>
              <a:t> </a:t>
            </a:r>
            <a:r>
              <a:rPr sz="3100" spc="-5" dirty="0"/>
              <a:t>But</a:t>
            </a:r>
            <a:r>
              <a:rPr sz="3100" spc="-20" dirty="0"/>
              <a:t> </a:t>
            </a:r>
            <a:r>
              <a:rPr sz="3100" spc="-5" dirty="0"/>
              <a:t>why</a:t>
            </a:r>
            <a:r>
              <a:rPr sz="3100" spc="-25" dirty="0"/>
              <a:t> </a:t>
            </a:r>
            <a:r>
              <a:rPr sz="3100" spc="-10" dirty="0"/>
              <a:t>not</a:t>
            </a:r>
            <a:r>
              <a:rPr sz="3100" spc="-25" dirty="0"/>
              <a:t> </a:t>
            </a:r>
            <a:r>
              <a:rPr sz="3100" spc="-10" dirty="0"/>
              <a:t>capture</a:t>
            </a:r>
            <a:r>
              <a:rPr sz="3100" spc="-15" dirty="0"/>
              <a:t> </a:t>
            </a:r>
            <a:r>
              <a:rPr sz="3100" spc="-5" dirty="0"/>
              <a:t>co-occurrence</a:t>
            </a:r>
            <a:r>
              <a:rPr sz="3100" spc="-20" dirty="0"/>
              <a:t> </a:t>
            </a:r>
            <a:r>
              <a:rPr sz="3100" spc="-10" dirty="0"/>
              <a:t>counts</a:t>
            </a:r>
            <a:r>
              <a:rPr sz="3100" spc="-15" dirty="0"/>
              <a:t> </a:t>
            </a:r>
            <a:r>
              <a:rPr sz="3100" spc="-5" dirty="0"/>
              <a:t>directly?</a:t>
            </a:r>
            <a:endParaRPr sz="3100"/>
          </a:p>
        </p:txBody>
      </p:sp>
      <p:sp>
        <p:nvSpPr>
          <p:cNvPr id="3" name="object 3"/>
          <p:cNvSpPr txBox="1"/>
          <p:nvPr/>
        </p:nvSpPr>
        <p:spPr>
          <a:xfrm>
            <a:off x="563118" y="1291082"/>
            <a:ext cx="8289925" cy="4646295"/>
          </a:xfrm>
          <a:prstGeom prst="rect">
            <a:avLst/>
          </a:prstGeom>
        </p:spPr>
        <p:txBody>
          <a:bodyPr vert="horz" wrap="square" lIns="0" tIns="2533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95"/>
              </a:spcBef>
            </a:pPr>
            <a:r>
              <a:rPr sz="3000" spc="-10" dirty="0">
                <a:latin typeface="Calibri"/>
                <a:cs typeface="Calibri"/>
              </a:rPr>
              <a:t>With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co-occurrence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matrix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i="1" dirty="0">
                <a:latin typeface="Calibri"/>
                <a:cs typeface="Calibri"/>
              </a:rPr>
              <a:t>X</a:t>
            </a:r>
            <a:endParaRPr sz="3000">
              <a:latin typeface="Calibri"/>
              <a:cs typeface="Calibri"/>
            </a:endParaRPr>
          </a:p>
          <a:p>
            <a:pPr marL="500380" indent="-487680">
              <a:lnSpc>
                <a:spcPct val="100000"/>
              </a:lnSpc>
              <a:spcBef>
                <a:spcPts val="1895"/>
              </a:spcBef>
              <a:buClr>
                <a:srgbClr val="CC0000"/>
              </a:buClr>
              <a:buFont typeface="Arial MT"/>
              <a:buChar char="•"/>
              <a:tabLst>
                <a:tab pos="499745" algn="l"/>
                <a:tab pos="500380" algn="l"/>
              </a:tabLst>
            </a:pPr>
            <a:r>
              <a:rPr sz="3000" dirty="0">
                <a:latin typeface="Calibri"/>
                <a:cs typeface="Calibri"/>
              </a:rPr>
              <a:t>2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options: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windows</a:t>
            </a:r>
            <a:r>
              <a:rPr sz="3000" spc="-5" dirty="0">
                <a:latin typeface="Calibri"/>
                <a:cs typeface="Calibri"/>
              </a:rPr>
              <a:t> vs. </a:t>
            </a:r>
            <a:r>
              <a:rPr sz="3000" spc="-10" dirty="0">
                <a:latin typeface="Calibri"/>
                <a:cs typeface="Calibri"/>
              </a:rPr>
              <a:t>full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document</a:t>
            </a:r>
            <a:endParaRPr sz="3000">
              <a:latin typeface="Calibri"/>
              <a:cs typeface="Calibri"/>
            </a:endParaRPr>
          </a:p>
          <a:p>
            <a:pPr marL="499745" marR="5080" indent="-487680">
              <a:lnSpc>
                <a:spcPct val="100000"/>
              </a:lnSpc>
              <a:spcBef>
                <a:spcPts val="1895"/>
              </a:spcBef>
              <a:buClr>
                <a:srgbClr val="CC0000"/>
              </a:buClr>
              <a:buFont typeface="Arial MT"/>
              <a:buChar char="•"/>
              <a:tabLst>
                <a:tab pos="499745" algn="l"/>
                <a:tab pos="500380" algn="l"/>
              </a:tabLst>
            </a:pPr>
            <a:r>
              <a:rPr sz="3000" spc="-10" dirty="0">
                <a:latin typeface="Calibri"/>
                <a:cs typeface="Calibri"/>
              </a:rPr>
              <a:t>Window: Similar </a:t>
            </a:r>
            <a:r>
              <a:rPr sz="3000" spc="-5" dirty="0">
                <a:latin typeface="Calibri"/>
                <a:cs typeface="Calibri"/>
              </a:rPr>
              <a:t>to </a:t>
            </a:r>
            <a:r>
              <a:rPr sz="3000" spc="-10" dirty="0">
                <a:latin typeface="Calibri"/>
                <a:cs typeface="Calibri"/>
              </a:rPr>
              <a:t>word2vec, </a:t>
            </a:r>
            <a:r>
              <a:rPr sz="3000" spc="-5" dirty="0">
                <a:latin typeface="Calibri"/>
                <a:cs typeface="Calibri"/>
              </a:rPr>
              <a:t>use </a:t>
            </a:r>
            <a:r>
              <a:rPr sz="3000" spc="-10" dirty="0">
                <a:latin typeface="Calibri"/>
                <a:cs typeface="Calibri"/>
              </a:rPr>
              <a:t>window around </a:t>
            </a:r>
            <a:r>
              <a:rPr sz="3000" spc="-66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each word </a:t>
            </a:r>
            <a:r>
              <a:rPr sz="3000" dirty="0">
                <a:latin typeface="Wingdings"/>
                <a:cs typeface="Wingdings"/>
              </a:rPr>
              <a:t></a:t>
            </a:r>
            <a:r>
              <a:rPr sz="300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Calibri"/>
                <a:cs typeface="Calibri"/>
              </a:rPr>
              <a:t>captures both syntactic (POS) and 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semantic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information</a:t>
            </a:r>
            <a:endParaRPr sz="3000">
              <a:latin typeface="Calibri"/>
              <a:cs typeface="Calibri"/>
            </a:endParaRPr>
          </a:p>
          <a:p>
            <a:pPr marL="499745" marR="478790" indent="-487680" algn="just">
              <a:lnSpc>
                <a:spcPct val="100000"/>
              </a:lnSpc>
              <a:spcBef>
                <a:spcPts val="1895"/>
              </a:spcBef>
              <a:buClr>
                <a:srgbClr val="CC0000"/>
              </a:buClr>
              <a:buFont typeface="Arial MT"/>
              <a:buChar char="•"/>
              <a:tabLst>
                <a:tab pos="500380" algn="l"/>
              </a:tabLst>
            </a:pPr>
            <a:r>
              <a:rPr sz="3000" spc="-10" dirty="0">
                <a:latin typeface="Calibri"/>
                <a:cs typeface="Calibri"/>
              </a:rPr>
              <a:t>Word-document co-occurrence matrix </a:t>
            </a:r>
            <a:r>
              <a:rPr sz="3000" spc="-15" dirty="0">
                <a:latin typeface="Calibri"/>
                <a:cs typeface="Calibri"/>
              </a:rPr>
              <a:t>will </a:t>
            </a:r>
            <a:r>
              <a:rPr sz="3000" spc="-10" dirty="0">
                <a:latin typeface="Calibri"/>
                <a:cs typeface="Calibri"/>
              </a:rPr>
              <a:t>give </a:t>
            </a:r>
            <a:r>
              <a:rPr sz="3000" spc="-66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general topics (all sports terms will have similar </a:t>
            </a:r>
            <a:r>
              <a:rPr sz="3000" spc="-66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entries)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leading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to</a:t>
            </a:r>
            <a:r>
              <a:rPr sz="3000" spc="-10" dirty="0">
                <a:latin typeface="Calibri"/>
                <a:cs typeface="Calibri"/>
              </a:rPr>
              <a:t> “Latent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Semantic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Analysis”</a:t>
            </a:r>
            <a:endParaRPr sz="3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537718" y="6952713"/>
            <a:ext cx="269875" cy="25844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z="1500" dirty="0">
                <a:latin typeface="Calibri"/>
                <a:cs typeface="Calibri"/>
              </a:rPr>
              <a:t>16</a:t>
            </a:fld>
            <a:endParaRPr sz="150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496569"/>
            <a:ext cx="8369934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Example:</a:t>
            </a:r>
            <a:r>
              <a:rPr spc="10" dirty="0"/>
              <a:t> </a:t>
            </a:r>
            <a:r>
              <a:rPr dirty="0"/>
              <a:t>Window</a:t>
            </a:r>
            <a:r>
              <a:rPr spc="10" dirty="0"/>
              <a:t> </a:t>
            </a:r>
            <a:r>
              <a:rPr dirty="0"/>
              <a:t>based co-occurrence</a:t>
            </a:r>
            <a:r>
              <a:rPr spc="10" dirty="0"/>
              <a:t> </a:t>
            </a:r>
            <a:r>
              <a:rPr dirty="0"/>
              <a:t>matrix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3118" y="1092961"/>
            <a:ext cx="8442325" cy="3907790"/>
          </a:xfrm>
          <a:prstGeom prst="rect">
            <a:avLst/>
          </a:prstGeom>
        </p:spPr>
        <p:txBody>
          <a:bodyPr vert="horz" wrap="square" lIns="0" tIns="250190" rIns="0" bIns="0" rtlCol="0">
            <a:spAutoFit/>
          </a:bodyPr>
          <a:lstStyle/>
          <a:p>
            <a:pPr marL="500380" indent="-487680">
              <a:lnSpc>
                <a:spcPct val="100000"/>
              </a:lnSpc>
              <a:spcBef>
                <a:spcPts val="1970"/>
              </a:spcBef>
              <a:buClr>
                <a:srgbClr val="CC0000"/>
              </a:buClr>
              <a:buChar char="•"/>
              <a:tabLst>
                <a:tab pos="499745" algn="l"/>
                <a:tab pos="500380" algn="l"/>
              </a:tabLst>
            </a:pPr>
            <a:r>
              <a:rPr sz="3000" spc="-10" dirty="0">
                <a:latin typeface="Calibri"/>
                <a:cs typeface="Calibri"/>
              </a:rPr>
              <a:t>Window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length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1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(more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common: </a:t>
            </a:r>
            <a:r>
              <a:rPr sz="3000" spc="-5" dirty="0">
                <a:latin typeface="Calibri"/>
                <a:cs typeface="Calibri"/>
              </a:rPr>
              <a:t>5–10)</a:t>
            </a:r>
            <a:endParaRPr sz="3000" dirty="0">
              <a:latin typeface="Calibri"/>
              <a:cs typeface="Calibri"/>
            </a:endParaRPr>
          </a:p>
          <a:p>
            <a:pPr marL="500380" indent="-487680">
              <a:lnSpc>
                <a:spcPct val="100000"/>
              </a:lnSpc>
              <a:spcBef>
                <a:spcPts val="1875"/>
              </a:spcBef>
              <a:buClr>
                <a:srgbClr val="CC0000"/>
              </a:buClr>
              <a:buChar char="•"/>
              <a:tabLst>
                <a:tab pos="499745" algn="l"/>
                <a:tab pos="500380" algn="l"/>
              </a:tabLst>
            </a:pPr>
            <a:r>
              <a:rPr sz="3000" spc="-10" dirty="0">
                <a:latin typeface="Calibri"/>
                <a:cs typeface="Calibri"/>
              </a:rPr>
              <a:t>Symmetric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(irrelevant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whether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left </a:t>
            </a:r>
            <a:r>
              <a:rPr sz="3000" spc="-5" dirty="0">
                <a:latin typeface="Calibri"/>
                <a:cs typeface="Calibri"/>
              </a:rPr>
              <a:t>or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right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context)</a:t>
            </a:r>
            <a:endParaRPr sz="3000" dirty="0">
              <a:latin typeface="Calibri"/>
              <a:cs typeface="Calibri"/>
            </a:endParaRPr>
          </a:p>
          <a:p>
            <a:pPr marL="500380" indent="-487680">
              <a:lnSpc>
                <a:spcPct val="100000"/>
              </a:lnSpc>
              <a:spcBef>
                <a:spcPts val="1920"/>
              </a:spcBef>
              <a:buClr>
                <a:srgbClr val="CC0000"/>
              </a:buClr>
              <a:buChar char="•"/>
              <a:tabLst>
                <a:tab pos="499745" algn="l"/>
                <a:tab pos="500380" algn="l"/>
              </a:tabLst>
            </a:pPr>
            <a:r>
              <a:rPr sz="3000" spc="-10" dirty="0">
                <a:latin typeface="Calibri"/>
                <a:cs typeface="Calibri"/>
              </a:rPr>
              <a:t>Example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corpus:</a:t>
            </a:r>
            <a:endParaRPr sz="3000" dirty="0">
              <a:latin typeface="Calibri"/>
              <a:cs typeface="Calibri"/>
            </a:endParaRPr>
          </a:p>
          <a:p>
            <a:pPr marL="988060" lvl="1" indent="-488315">
              <a:lnSpc>
                <a:spcPct val="100000"/>
              </a:lnSpc>
              <a:spcBef>
                <a:spcPts val="1600"/>
              </a:spcBef>
              <a:buClr>
                <a:srgbClr val="3A87FF"/>
              </a:buClr>
              <a:buChar char="•"/>
              <a:tabLst>
                <a:tab pos="987425" algn="l"/>
                <a:tab pos="988060" algn="l"/>
              </a:tabLst>
            </a:pPr>
            <a:r>
              <a:rPr sz="2600" dirty="0">
                <a:latin typeface="Calibri"/>
                <a:cs typeface="Calibri"/>
              </a:rPr>
              <a:t>I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like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deep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learning.</a:t>
            </a:r>
            <a:endParaRPr sz="2600" dirty="0">
              <a:latin typeface="Calibri"/>
              <a:cs typeface="Calibri"/>
            </a:endParaRPr>
          </a:p>
          <a:p>
            <a:pPr marL="988060" lvl="1" indent="-488315">
              <a:lnSpc>
                <a:spcPct val="100000"/>
              </a:lnSpc>
              <a:spcBef>
                <a:spcPts val="1580"/>
              </a:spcBef>
              <a:buClr>
                <a:srgbClr val="3A87FF"/>
              </a:buClr>
              <a:buChar char="•"/>
              <a:tabLst>
                <a:tab pos="987425" algn="l"/>
                <a:tab pos="988060" algn="l"/>
              </a:tabLst>
            </a:pPr>
            <a:r>
              <a:rPr sz="2600" dirty="0">
                <a:latin typeface="Calibri"/>
                <a:cs typeface="Calibri"/>
              </a:rPr>
              <a:t>I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like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NLP.</a:t>
            </a:r>
            <a:endParaRPr sz="2600" dirty="0">
              <a:latin typeface="Calibri"/>
              <a:cs typeface="Calibri"/>
            </a:endParaRPr>
          </a:p>
          <a:p>
            <a:pPr marL="988060" lvl="1" indent="-488315">
              <a:lnSpc>
                <a:spcPct val="100000"/>
              </a:lnSpc>
              <a:spcBef>
                <a:spcPts val="1560"/>
              </a:spcBef>
              <a:buClr>
                <a:srgbClr val="3A87FF"/>
              </a:buClr>
              <a:buChar char="•"/>
              <a:tabLst>
                <a:tab pos="987425" algn="l"/>
                <a:tab pos="988060" algn="l"/>
              </a:tabLst>
            </a:pPr>
            <a:r>
              <a:rPr sz="2600" dirty="0">
                <a:latin typeface="Calibri"/>
                <a:cs typeface="Calibri"/>
              </a:rPr>
              <a:t>I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enjoy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flying.</a:t>
            </a:r>
            <a:endParaRPr sz="2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537718" y="6952713"/>
            <a:ext cx="269875" cy="25844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z="1500" dirty="0">
                <a:latin typeface="Calibri"/>
                <a:cs typeface="Calibri"/>
              </a:rPr>
              <a:t>17</a:t>
            </a:fld>
            <a:endParaRPr sz="150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496569"/>
            <a:ext cx="6617334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Window based</a:t>
            </a:r>
            <a:r>
              <a:rPr spc="5" dirty="0"/>
              <a:t> </a:t>
            </a:r>
            <a:r>
              <a:rPr dirty="0"/>
              <a:t>co-occurrence</a:t>
            </a:r>
            <a:r>
              <a:rPr spc="-5" dirty="0"/>
              <a:t> </a:t>
            </a:r>
            <a:r>
              <a:rPr dirty="0"/>
              <a:t>matrix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3118" y="1140714"/>
            <a:ext cx="3156585" cy="20091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0380" indent="-487680">
              <a:lnSpc>
                <a:spcPct val="100000"/>
              </a:lnSpc>
              <a:spcBef>
                <a:spcPts val="100"/>
              </a:spcBef>
              <a:buClr>
                <a:srgbClr val="CC0000"/>
              </a:buClr>
              <a:buChar char="•"/>
              <a:tabLst>
                <a:tab pos="499745" algn="l"/>
                <a:tab pos="500380" algn="l"/>
              </a:tabLst>
            </a:pPr>
            <a:r>
              <a:rPr sz="2600" spc="-20" dirty="0">
                <a:latin typeface="Calibri"/>
                <a:cs typeface="Calibri"/>
              </a:rPr>
              <a:t>Example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corpus:</a:t>
            </a:r>
            <a:endParaRPr sz="2600">
              <a:latin typeface="Calibri"/>
              <a:cs typeface="Calibri"/>
            </a:endParaRPr>
          </a:p>
          <a:p>
            <a:pPr marL="988060" lvl="1" indent="-488315">
              <a:lnSpc>
                <a:spcPct val="100000"/>
              </a:lnSpc>
              <a:spcBef>
                <a:spcPts val="1675"/>
              </a:spcBef>
              <a:buClr>
                <a:srgbClr val="3A87FF"/>
              </a:buClr>
              <a:buChar char="•"/>
              <a:tabLst>
                <a:tab pos="987425" algn="l"/>
                <a:tab pos="988060" algn="l"/>
              </a:tabLst>
            </a:pPr>
            <a:r>
              <a:rPr sz="2100" dirty="0">
                <a:latin typeface="Calibri"/>
                <a:cs typeface="Calibri"/>
              </a:rPr>
              <a:t>I</a:t>
            </a:r>
            <a:r>
              <a:rPr sz="2100" spc="-5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like</a:t>
            </a:r>
            <a:r>
              <a:rPr sz="2100" spc="10" dirty="0">
                <a:latin typeface="Calibri"/>
                <a:cs typeface="Calibri"/>
              </a:rPr>
              <a:t> deep</a:t>
            </a:r>
            <a:r>
              <a:rPr sz="2100" spc="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learning.</a:t>
            </a:r>
            <a:endParaRPr sz="2100">
              <a:latin typeface="Calibri"/>
              <a:cs typeface="Calibri"/>
            </a:endParaRPr>
          </a:p>
          <a:p>
            <a:pPr marL="988060" lvl="1" indent="-488315">
              <a:lnSpc>
                <a:spcPct val="100000"/>
              </a:lnSpc>
              <a:spcBef>
                <a:spcPts val="1680"/>
              </a:spcBef>
              <a:buClr>
                <a:srgbClr val="3A87FF"/>
              </a:buClr>
              <a:buChar char="•"/>
              <a:tabLst>
                <a:tab pos="987425" algn="l"/>
                <a:tab pos="988060" algn="l"/>
              </a:tabLst>
            </a:pPr>
            <a:r>
              <a:rPr sz="2100" dirty="0">
                <a:latin typeface="Calibri"/>
                <a:cs typeface="Calibri"/>
              </a:rPr>
              <a:t>I</a:t>
            </a:r>
            <a:r>
              <a:rPr sz="2100" spc="-15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like</a:t>
            </a:r>
            <a:r>
              <a:rPr sz="210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NLP.</a:t>
            </a:r>
            <a:endParaRPr sz="2100">
              <a:latin typeface="Calibri"/>
              <a:cs typeface="Calibri"/>
            </a:endParaRPr>
          </a:p>
          <a:p>
            <a:pPr marL="988060" lvl="1" indent="-488315">
              <a:lnSpc>
                <a:spcPct val="100000"/>
              </a:lnSpc>
              <a:spcBef>
                <a:spcPts val="1585"/>
              </a:spcBef>
              <a:buClr>
                <a:srgbClr val="3A87FF"/>
              </a:buClr>
              <a:buChar char="•"/>
              <a:tabLst>
                <a:tab pos="987425" algn="l"/>
                <a:tab pos="988060" algn="l"/>
              </a:tabLst>
            </a:pPr>
            <a:r>
              <a:rPr sz="2100" dirty="0">
                <a:latin typeface="Calibri"/>
                <a:cs typeface="Calibri"/>
              </a:rPr>
              <a:t>I</a:t>
            </a:r>
            <a:r>
              <a:rPr sz="2100" spc="-10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enjoy</a:t>
            </a:r>
            <a:r>
              <a:rPr sz="2100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flying.</a:t>
            </a:r>
            <a:endParaRPr sz="210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967141" y="3325960"/>
          <a:ext cx="7663176" cy="356005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458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15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15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15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60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04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8773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213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95562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9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counts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A4001D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9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A4001D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900" b="1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like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A4001D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9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enjoy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A4001D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9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deep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A4001D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9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learning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A4001D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900" b="1" spc="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NLP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A4001D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9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flying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A4001D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9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.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A400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562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9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A4001D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0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0CBCC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2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0CBCC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1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0CBCC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0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0CBCC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0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0CBCC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0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0CBCC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0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0CBCC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0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0CB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562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900" b="1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like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A4001D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2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0E7E7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0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0E7E7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0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0E7E7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1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0E7E7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0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0E7E7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1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0E7E7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0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0E7E7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0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0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562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9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enjoy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A4001D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1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0CBCC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0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0CBCC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0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0CBCC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0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0CBCC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0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0CBCC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0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0CBCC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1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0CBCC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0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0CB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562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9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deep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A4001D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0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0E7E7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1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0E7E7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0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0E7E7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0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0E7E7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1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0E7E7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0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0E7E7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0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0E7E7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0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0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5562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9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learning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A4001D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0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0CBCC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0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0CBCC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0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0CBCC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1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0CBCC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0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0CBCC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0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0CBCC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0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0CBCC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1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0CB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5562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900" b="1" spc="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NLP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A4001D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0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0E7E7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1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0E7E7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0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0E7E7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0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0E7E7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0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0E7E7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0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0E7E7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0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0E7E7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1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0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5562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9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flying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A4001D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0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0CBCC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0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0CBCC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1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0CBCC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0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0CBCC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0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0CBCC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0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0CBCC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0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0CBCC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1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0CB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5562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9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.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A4001D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0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0E7E7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0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0E7E7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0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0E7E7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0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0E7E7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1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0E7E7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1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0E7E7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1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0E7E7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0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0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537718" y="6952713"/>
            <a:ext cx="269875" cy="25844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z="1500" dirty="0">
                <a:latin typeface="Calibri"/>
                <a:cs typeface="Calibri"/>
              </a:rPr>
              <a:t>18</a:t>
            </a:fld>
            <a:endParaRPr sz="150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496569"/>
            <a:ext cx="796861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Problems </a:t>
            </a:r>
            <a:r>
              <a:rPr spc="5" dirty="0"/>
              <a:t>with</a:t>
            </a:r>
            <a:r>
              <a:rPr dirty="0"/>
              <a:t> simple</a:t>
            </a:r>
            <a:r>
              <a:rPr spc="10" dirty="0"/>
              <a:t> </a:t>
            </a:r>
            <a:r>
              <a:rPr dirty="0"/>
              <a:t>co-occurrence</a:t>
            </a:r>
            <a:r>
              <a:rPr spc="10" dirty="0"/>
              <a:t> </a:t>
            </a:r>
            <a:r>
              <a:rPr dirty="0"/>
              <a:t>vectors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3118" y="1516634"/>
            <a:ext cx="8233409" cy="4686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0" dirty="0">
                <a:latin typeface="Calibri"/>
                <a:cs typeface="Calibri"/>
              </a:rPr>
              <a:t>Increase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in </a:t>
            </a:r>
            <a:r>
              <a:rPr sz="3000" spc="-10" dirty="0">
                <a:latin typeface="Calibri"/>
                <a:cs typeface="Calibri"/>
              </a:rPr>
              <a:t>size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with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vocabulary</a:t>
            </a:r>
            <a:endParaRPr sz="3000">
              <a:latin typeface="Calibri"/>
              <a:cs typeface="Calibri"/>
            </a:endParaRPr>
          </a:p>
          <a:p>
            <a:pPr marL="12700" marR="5080">
              <a:lnSpc>
                <a:spcPts val="11090"/>
              </a:lnSpc>
              <a:spcBef>
                <a:spcPts val="1540"/>
              </a:spcBef>
            </a:pPr>
            <a:r>
              <a:rPr sz="3000" spc="-10" dirty="0">
                <a:latin typeface="Calibri"/>
                <a:cs typeface="Calibri"/>
              </a:rPr>
              <a:t>Very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high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dimensional: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requires</a:t>
            </a:r>
            <a:r>
              <a:rPr sz="3000" dirty="0">
                <a:latin typeface="Calibri"/>
                <a:cs typeface="Calibri"/>
              </a:rPr>
              <a:t> a</a:t>
            </a:r>
            <a:r>
              <a:rPr sz="3000" spc="-10" dirty="0">
                <a:latin typeface="Calibri"/>
                <a:cs typeface="Calibri"/>
              </a:rPr>
              <a:t> lot </a:t>
            </a:r>
            <a:r>
              <a:rPr sz="3000" spc="-5" dirty="0">
                <a:latin typeface="Calibri"/>
                <a:cs typeface="Calibri"/>
              </a:rPr>
              <a:t>of</a:t>
            </a:r>
            <a:r>
              <a:rPr sz="3000" spc="-10" dirty="0">
                <a:latin typeface="Calibri"/>
                <a:cs typeface="Calibri"/>
              </a:rPr>
              <a:t> storage 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Subsequent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classification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models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have sparsity </a:t>
            </a:r>
            <a:r>
              <a:rPr sz="3000" spc="-5" dirty="0">
                <a:latin typeface="Calibri"/>
                <a:cs typeface="Calibri"/>
              </a:rPr>
              <a:t>issues</a:t>
            </a:r>
            <a:endParaRPr sz="3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4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3000" dirty="0">
                <a:latin typeface="Wingdings"/>
                <a:cs typeface="Wingdings"/>
              </a:rPr>
              <a:t></a:t>
            </a:r>
            <a:r>
              <a:rPr sz="3000" spc="-10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Calibri"/>
                <a:cs typeface="Calibri"/>
              </a:rPr>
              <a:t>Models are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less </a:t>
            </a:r>
            <a:r>
              <a:rPr sz="3000" spc="-5" dirty="0">
                <a:latin typeface="Calibri"/>
                <a:cs typeface="Calibri"/>
              </a:rPr>
              <a:t>robust</a:t>
            </a:r>
            <a:endParaRPr sz="3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563118" y="7086825"/>
            <a:ext cx="219075" cy="25844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500" spc="-5" dirty="0">
                <a:latin typeface="Calibri"/>
                <a:cs typeface="Calibri"/>
              </a:rPr>
              <a:t>19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496569"/>
            <a:ext cx="620522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Solution:</a:t>
            </a:r>
            <a:r>
              <a:rPr spc="10" dirty="0"/>
              <a:t> </a:t>
            </a:r>
            <a:r>
              <a:rPr dirty="0"/>
              <a:t>Low</a:t>
            </a:r>
            <a:r>
              <a:rPr spc="15" dirty="0"/>
              <a:t> </a:t>
            </a:r>
            <a:r>
              <a:rPr dirty="0"/>
              <a:t>dimensional</a:t>
            </a:r>
            <a:r>
              <a:rPr spc="10" dirty="0"/>
              <a:t> </a:t>
            </a:r>
            <a:r>
              <a:rPr dirty="0"/>
              <a:t>vectors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3118" y="1363218"/>
            <a:ext cx="8832850" cy="2607310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377825" marR="5080" indent="-365760">
              <a:lnSpc>
                <a:spcPts val="2810"/>
              </a:lnSpc>
              <a:spcBef>
                <a:spcPts val="450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600" spc="-15" dirty="0">
                <a:latin typeface="Calibri"/>
                <a:cs typeface="Calibri"/>
              </a:rPr>
              <a:t>Idea: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store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“most”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of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the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important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information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fixed,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small </a:t>
            </a:r>
            <a:r>
              <a:rPr sz="2600" spc="-57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number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of</a:t>
            </a:r>
            <a:r>
              <a:rPr sz="2600" spc="-20" dirty="0">
                <a:latin typeface="Calibri"/>
                <a:cs typeface="Calibri"/>
              </a:rPr>
              <a:t> dimensions: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dense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vector</a:t>
            </a:r>
            <a:endParaRPr sz="2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200">
              <a:latin typeface="Calibri"/>
              <a:cs typeface="Calibri"/>
            </a:endParaRPr>
          </a:p>
          <a:p>
            <a:pPr marL="500380" indent="-487680">
              <a:lnSpc>
                <a:spcPct val="100000"/>
              </a:lnSpc>
              <a:buClr>
                <a:srgbClr val="CC0000"/>
              </a:buClr>
              <a:buChar char="•"/>
              <a:tabLst>
                <a:tab pos="499745" algn="l"/>
                <a:tab pos="500380" algn="l"/>
              </a:tabLst>
            </a:pPr>
            <a:r>
              <a:rPr sz="2600" spc="-20" dirty="0">
                <a:latin typeface="Calibri"/>
                <a:cs typeface="Calibri"/>
              </a:rPr>
              <a:t>Usually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25–1000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dimensions,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similar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to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word2vec</a:t>
            </a:r>
            <a:endParaRPr sz="2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CC0000"/>
              </a:buClr>
              <a:buFont typeface="Calibri"/>
              <a:buChar char="•"/>
            </a:pPr>
            <a:endParaRPr sz="3400">
              <a:latin typeface="Calibri"/>
              <a:cs typeface="Calibri"/>
            </a:endParaRPr>
          </a:p>
          <a:p>
            <a:pPr marL="500380" indent="-487680">
              <a:lnSpc>
                <a:spcPct val="100000"/>
              </a:lnSpc>
              <a:buClr>
                <a:srgbClr val="CC0000"/>
              </a:buClr>
              <a:buChar char="•"/>
              <a:tabLst>
                <a:tab pos="499745" algn="l"/>
                <a:tab pos="500380" algn="l"/>
              </a:tabLst>
            </a:pPr>
            <a:r>
              <a:rPr sz="2600" spc="-20" dirty="0">
                <a:latin typeface="Calibri"/>
                <a:cs typeface="Calibri"/>
              </a:rPr>
              <a:t>How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to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reduce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the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dimensionality?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496569"/>
            <a:ext cx="880364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" dirty="0"/>
              <a:t>Method</a:t>
            </a:r>
            <a:r>
              <a:rPr dirty="0"/>
              <a:t> 1:</a:t>
            </a:r>
            <a:r>
              <a:rPr spc="10" dirty="0"/>
              <a:t> </a:t>
            </a:r>
            <a:r>
              <a:rPr dirty="0"/>
              <a:t>Dimensionality</a:t>
            </a:r>
            <a:r>
              <a:rPr spc="5" dirty="0"/>
              <a:t> </a:t>
            </a:r>
            <a:r>
              <a:rPr dirty="0"/>
              <a:t>Reduction </a:t>
            </a:r>
            <a:r>
              <a:rPr spc="5" dirty="0"/>
              <a:t>on</a:t>
            </a:r>
            <a:r>
              <a:rPr spc="-5" dirty="0"/>
              <a:t> </a:t>
            </a:r>
            <a:r>
              <a:rPr dirty="0"/>
              <a:t>X</a:t>
            </a:r>
            <a:r>
              <a:rPr spc="10" dirty="0"/>
              <a:t> </a:t>
            </a:r>
            <a:endParaRPr spc="5" dirty="0"/>
          </a:p>
        </p:txBody>
      </p:sp>
      <p:sp>
        <p:nvSpPr>
          <p:cNvPr id="3" name="object 3"/>
          <p:cNvSpPr txBox="1"/>
          <p:nvPr/>
        </p:nvSpPr>
        <p:spPr>
          <a:xfrm>
            <a:off x="550418" y="1169161"/>
            <a:ext cx="8717280" cy="1421765"/>
          </a:xfrm>
          <a:prstGeom prst="rect">
            <a:avLst/>
          </a:prstGeom>
        </p:spPr>
        <p:txBody>
          <a:bodyPr vert="horz" wrap="square" lIns="0" tIns="2533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995"/>
              </a:spcBef>
            </a:pPr>
            <a:r>
              <a:rPr sz="3000" spc="-10" dirty="0">
                <a:latin typeface="Calibri"/>
                <a:cs typeface="Calibri"/>
              </a:rPr>
              <a:t>Singular Value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Decomposition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of</a:t>
            </a:r>
            <a:r>
              <a:rPr sz="3000" spc="-10" dirty="0">
                <a:latin typeface="Calibri"/>
                <a:cs typeface="Calibri"/>
              </a:rPr>
              <a:t> co-occurrence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matrix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i="1" dirty="0">
                <a:latin typeface="Calibri"/>
                <a:cs typeface="Calibri"/>
              </a:rPr>
              <a:t>X</a:t>
            </a:r>
            <a:endParaRPr sz="3000">
              <a:latin typeface="Calibri"/>
              <a:cs typeface="Calibri"/>
            </a:endParaRPr>
          </a:p>
          <a:p>
            <a:pPr marL="25400">
              <a:lnSpc>
                <a:spcPct val="100000"/>
              </a:lnSpc>
              <a:spcBef>
                <a:spcPts val="1895"/>
              </a:spcBef>
            </a:pPr>
            <a:r>
              <a:rPr sz="3000" spc="-10" dirty="0">
                <a:latin typeface="Calibri"/>
                <a:cs typeface="Calibri"/>
              </a:rPr>
              <a:t>Factorizes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i="1" dirty="0">
                <a:latin typeface="Calibri"/>
                <a:cs typeface="Calibri"/>
              </a:rPr>
              <a:t>X</a:t>
            </a:r>
            <a:r>
              <a:rPr sz="3000" i="1" spc="-1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into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i="1" spc="-5" dirty="0">
                <a:latin typeface="Calibri"/>
                <a:cs typeface="Calibri"/>
              </a:rPr>
              <a:t>UΣV</a:t>
            </a:r>
            <a:r>
              <a:rPr sz="3000" spc="-7" baseline="25000" dirty="0">
                <a:latin typeface="Calibri"/>
                <a:cs typeface="Calibri"/>
              </a:rPr>
              <a:t>T</a:t>
            </a:r>
            <a:r>
              <a:rPr sz="3000" spc="-5" dirty="0">
                <a:latin typeface="Calibri"/>
                <a:cs typeface="Calibri"/>
              </a:rPr>
              <a:t>, </a:t>
            </a:r>
            <a:r>
              <a:rPr sz="3000" spc="-10" dirty="0">
                <a:latin typeface="Calibri"/>
                <a:cs typeface="Calibri"/>
              </a:rPr>
              <a:t>where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i="1" dirty="0">
                <a:latin typeface="Calibri"/>
                <a:cs typeface="Calibri"/>
              </a:rPr>
              <a:t>U</a:t>
            </a:r>
            <a:r>
              <a:rPr sz="3000" i="1" spc="-1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and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i="1" dirty="0">
                <a:latin typeface="Calibri"/>
                <a:cs typeface="Calibri"/>
              </a:rPr>
              <a:t>V</a:t>
            </a:r>
            <a:r>
              <a:rPr sz="3000" i="1" spc="-1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are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orthonormal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06643" y="6068821"/>
            <a:ext cx="7675245" cy="1031240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90"/>
              </a:spcBef>
            </a:pPr>
            <a:r>
              <a:rPr sz="2100" dirty="0">
                <a:latin typeface="Calibri"/>
                <a:cs typeface="Calibri"/>
              </a:rPr>
              <a:t>Retain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only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i="1" dirty="0">
                <a:latin typeface="Calibri"/>
                <a:cs typeface="Calibri"/>
              </a:rPr>
              <a:t>k</a:t>
            </a:r>
            <a:r>
              <a:rPr sz="2100" i="1" spc="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singular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values,</a:t>
            </a:r>
            <a:r>
              <a:rPr sz="2100" spc="10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in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order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to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generalize.</a:t>
            </a:r>
          </a:p>
          <a:p>
            <a:pPr marL="38100" marR="30480">
              <a:lnSpc>
                <a:spcPts val="2500"/>
              </a:lnSpc>
              <a:spcBef>
                <a:spcPts val="295"/>
              </a:spcBef>
            </a:pPr>
            <a:r>
              <a:rPr lang="en-US" sz="2100" spc="-760" dirty="0">
                <a:solidFill>
                  <a:schemeClr val="bg1"/>
                </a:solidFill>
                <a:latin typeface="Cambria Math"/>
                <a:cs typeface="Cambria Math"/>
              </a:rPr>
              <a:t>X</a:t>
            </a:r>
            <a:r>
              <a:rPr lang="en-US" sz="3150" spc="375" baseline="10582" dirty="0">
                <a:solidFill>
                  <a:schemeClr val="bg1"/>
                </a:solidFill>
                <a:latin typeface="Cambria Math"/>
                <a:cs typeface="Cambria Math"/>
              </a:rPr>
              <a:t>!</a:t>
            </a:r>
            <a:r>
              <a:rPr lang="en-US" sz="3150" spc="209" baseline="10582" dirty="0">
                <a:solidFill>
                  <a:schemeClr val="bg1"/>
                </a:solidFill>
                <a:latin typeface="Cambria Math"/>
                <a:cs typeface="Cambria Math"/>
              </a:rPr>
              <a:t> </a:t>
            </a:r>
            <a:r>
              <a:rPr lang="zh-CN" altLang="en-US" sz="3150" spc="209" baseline="10582" dirty="0">
                <a:solidFill>
                  <a:schemeClr val="bg1"/>
                </a:solidFill>
                <a:latin typeface="Cambria Math"/>
                <a:cs typeface="Cambria Math"/>
              </a:rPr>
              <a:t>  </a:t>
            </a:r>
            <a:r>
              <a:rPr sz="2100" spc="10" dirty="0">
                <a:latin typeface="Calibri"/>
                <a:cs typeface="Calibri"/>
              </a:rPr>
              <a:t>i</a:t>
            </a:r>
            <a:r>
              <a:rPr sz="2100" dirty="0">
                <a:latin typeface="Calibri"/>
                <a:cs typeface="Calibri"/>
              </a:rPr>
              <a:t>s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5" dirty="0">
                <a:latin typeface="Calibri"/>
                <a:cs typeface="Calibri"/>
              </a:rPr>
              <a:t>th</a:t>
            </a:r>
            <a:r>
              <a:rPr sz="2100" dirty="0">
                <a:latin typeface="Calibri"/>
                <a:cs typeface="Calibri"/>
              </a:rPr>
              <a:t>e</a:t>
            </a:r>
            <a:r>
              <a:rPr sz="2100" spc="25" dirty="0">
                <a:latin typeface="Calibri"/>
                <a:cs typeface="Calibri"/>
              </a:rPr>
              <a:t> </a:t>
            </a:r>
            <a:r>
              <a:rPr sz="2100" spc="15" dirty="0">
                <a:latin typeface="Calibri"/>
                <a:cs typeface="Calibri"/>
              </a:rPr>
              <a:t>b</a:t>
            </a:r>
            <a:r>
              <a:rPr sz="2100" spc="20" dirty="0">
                <a:latin typeface="Calibri"/>
                <a:cs typeface="Calibri"/>
              </a:rPr>
              <a:t>e</a:t>
            </a:r>
            <a:r>
              <a:rPr sz="2100" spc="-5" dirty="0">
                <a:latin typeface="Calibri"/>
                <a:cs typeface="Calibri"/>
              </a:rPr>
              <a:t>s</a:t>
            </a:r>
            <a:r>
              <a:rPr sz="2100" dirty="0">
                <a:latin typeface="Calibri"/>
                <a:cs typeface="Calibri"/>
              </a:rPr>
              <a:t>t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-30" dirty="0">
                <a:latin typeface="Calibri"/>
                <a:cs typeface="Calibri"/>
              </a:rPr>
              <a:t>r</a:t>
            </a:r>
            <a:r>
              <a:rPr sz="2100" spc="20" dirty="0">
                <a:latin typeface="Calibri"/>
                <a:cs typeface="Calibri"/>
              </a:rPr>
              <a:t>a</a:t>
            </a:r>
            <a:r>
              <a:rPr sz="2100" spc="15" dirty="0">
                <a:latin typeface="Calibri"/>
                <a:cs typeface="Calibri"/>
              </a:rPr>
              <a:t>n</a:t>
            </a:r>
            <a:r>
              <a:rPr sz="2100" dirty="0">
                <a:latin typeface="Calibri"/>
                <a:cs typeface="Calibri"/>
              </a:rPr>
              <a:t>k</a:t>
            </a:r>
            <a:r>
              <a:rPr sz="2100" spc="25" dirty="0">
                <a:latin typeface="Calibri"/>
                <a:cs typeface="Calibri"/>
              </a:rPr>
              <a:t> </a:t>
            </a:r>
            <a:r>
              <a:rPr sz="2100" i="1" dirty="0">
                <a:latin typeface="Calibri"/>
                <a:cs typeface="Calibri"/>
              </a:rPr>
              <a:t>k</a:t>
            </a:r>
            <a:r>
              <a:rPr sz="2100" i="1" spc="20" dirty="0">
                <a:latin typeface="Calibri"/>
                <a:cs typeface="Calibri"/>
              </a:rPr>
              <a:t> </a:t>
            </a:r>
            <a:r>
              <a:rPr sz="2100" spc="20" dirty="0">
                <a:latin typeface="Calibri"/>
                <a:cs typeface="Calibri"/>
              </a:rPr>
              <a:t>a</a:t>
            </a:r>
            <a:r>
              <a:rPr sz="2100" spc="15" dirty="0">
                <a:latin typeface="Calibri"/>
                <a:cs typeface="Calibri"/>
              </a:rPr>
              <a:t>pp</a:t>
            </a:r>
            <a:r>
              <a:rPr sz="2100" spc="-25" dirty="0">
                <a:latin typeface="Calibri"/>
                <a:cs typeface="Calibri"/>
              </a:rPr>
              <a:t>r</a:t>
            </a:r>
            <a:r>
              <a:rPr sz="2100" spc="-30" dirty="0">
                <a:latin typeface="Calibri"/>
                <a:cs typeface="Calibri"/>
              </a:rPr>
              <a:t>o</a:t>
            </a:r>
            <a:r>
              <a:rPr sz="2100" spc="10" dirty="0">
                <a:latin typeface="Calibri"/>
                <a:cs typeface="Calibri"/>
              </a:rPr>
              <a:t>xi</a:t>
            </a:r>
            <a:r>
              <a:rPr sz="2100" spc="25" dirty="0">
                <a:latin typeface="Calibri"/>
                <a:cs typeface="Calibri"/>
              </a:rPr>
              <a:t>m</a:t>
            </a:r>
            <a:r>
              <a:rPr sz="2100" dirty="0">
                <a:latin typeface="Calibri"/>
                <a:cs typeface="Calibri"/>
              </a:rPr>
              <a:t>a</a:t>
            </a:r>
            <a:r>
              <a:rPr sz="2100" spc="15" dirty="0">
                <a:latin typeface="Calibri"/>
                <a:cs typeface="Calibri"/>
              </a:rPr>
              <a:t>t</a:t>
            </a:r>
            <a:r>
              <a:rPr sz="2100" spc="10" dirty="0">
                <a:latin typeface="Calibri"/>
                <a:cs typeface="Calibri"/>
              </a:rPr>
              <a:t>io</a:t>
            </a:r>
            <a:r>
              <a:rPr sz="2100" dirty="0">
                <a:latin typeface="Calibri"/>
                <a:cs typeface="Calibri"/>
              </a:rPr>
              <a:t>n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t</a:t>
            </a:r>
            <a:r>
              <a:rPr sz="2100" dirty="0">
                <a:latin typeface="Calibri"/>
                <a:cs typeface="Calibri"/>
              </a:rPr>
              <a:t>o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i="1" dirty="0">
                <a:latin typeface="Calibri"/>
                <a:cs typeface="Calibri"/>
              </a:rPr>
              <a:t>X</a:t>
            </a:r>
            <a:r>
              <a:rPr sz="2100" i="1" spc="2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,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i</a:t>
            </a:r>
            <a:r>
              <a:rPr sz="2100" dirty="0">
                <a:latin typeface="Calibri"/>
                <a:cs typeface="Calibri"/>
              </a:rPr>
              <a:t>n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t</a:t>
            </a:r>
            <a:r>
              <a:rPr sz="2100" spc="20" dirty="0">
                <a:latin typeface="Calibri"/>
                <a:cs typeface="Calibri"/>
              </a:rPr>
              <a:t>e</a:t>
            </a:r>
            <a:r>
              <a:rPr sz="2100" spc="15" dirty="0">
                <a:latin typeface="Calibri"/>
                <a:cs typeface="Calibri"/>
              </a:rPr>
              <a:t>r</a:t>
            </a:r>
            <a:r>
              <a:rPr sz="2100" spc="25" dirty="0">
                <a:latin typeface="Calibri"/>
                <a:cs typeface="Calibri"/>
              </a:rPr>
              <a:t>m</a:t>
            </a:r>
            <a:r>
              <a:rPr sz="2100" dirty="0">
                <a:latin typeface="Calibri"/>
                <a:cs typeface="Calibri"/>
              </a:rPr>
              <a:t>s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o</a:t>
            </a:r>
            <a:r>
              <a:rPr sz="2100" dirty="0">
                <a:latin typeface="Calibri"/>
                <a:cs typeface="Calibri"/>
              </a:rPr>
              <a:t>f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l</a:t>
            </a:r>
            <a:r>
              <a:rPr sz="2100" spc="20" dirty="0">
                <a:latin typeface="Calibri"/>
                <a:cs typeface="Calibri"/>
              </a:rPr>
              <a:t>ea</a:t>
            </a:r>
            <a:r>
              <a:rPr sz="2100" spc="-5" dirty="0">
                <a:latin typeface="Calibri"/>
                <a:cs typeface="Calibri"/>
              </a:rPr>
              <a:t>s</a:t>
            </a:r>
            <a:r>
              <a:rPr sz="2100" dirty="0">
                <a:latin typeface="Calibri"/>
                <a:cs typeface="Calibri"/>
              </a:rPr>
              <a:t>t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5" dirty="0">
                <a:latin typeface="Calibri"/>
                <a:cs typeface="Calibri"/>
              </a:rPr>
              <a:t>squ</a:t>
            </a:r>
            <a:r>
              <a:rPr sz="2100" spc="20" dirty="0">
                <a:latin typeface="Calibri"/>
                <a:cs typeface="Calibri"/>
              </a:rPr>
              <a:t>a</a:t>
            </a:r>
            <a:r>
              <a:rPr sz="2100" spc="-15" dirty="0">
                <a:latin typeface="Calibri"/>
                <a:cs typeface="Calibri"/>
              </a:rPr>
              <a:t>r</a:t>
            </a:r>
            <a:r>
              <a:rPr sz="2100" spc="20" dirty="0">
                <a:latin typeface="Calibri"/>
                <a:cs typeface="Calibri"/>
              </a:rPr>
              <a:t>e</a:t>
            </a:r>
            <a:r>
              <a:rPr sz="2100" spc="15" dirty="0">
                <a:latin typeface="Calibri"/>
                <a:cs typeface="Calibri"/>
              </a:rPr>
              <a:t>s</a:t>
            </a:r>
            <a:r>
              <a:rPr sz="2100" dirty="0">
                <a:latin typeface="Calibri"/>
                <a:cs typeface="Calibri"/>
              </a:rPr>
              <a:t>.  </a:t>
            </a:r>
            <a:r>
              <a:rPr sz="2100" spc="10" dirty="0">
                <a:latin typeface="Calibri"/>
                <a:cs typeface="Calibri"/>
              </a:rPr>
              <a:t>Classic</a:t>
            </a:r>
            <a:r>
              <a:rPr sz="2100" spc="3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linear</a:t>
            </a:r>
            <a:r>
              <a:rPr sz="2100" spc="2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algebra</a:t>
            </a:r>
            <a:r>
              <a:rPr sz="2100" spc="30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result.</a:t>
            </a:r>
            <a:r>
              <a:rPr sz="2100" spc="10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Expensive</a:t>
            </a:r>
            <a:r>
              <a:rPr sz="2100" spc="30" dirty="0"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to</a:t>
            </a:r>
            <a:r>
              <a:rPr sz="2100" spc="25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compute</a:t>
            </a:r>
            <a:r>
              <a:rPr sz="2100" spc="30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for</a:t>
            </a:r>
            <a:r>
              <a:rPr sz="2100" spc="2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large</a:t>
            </a:r>
            <a:r>
              <a:rPr sz="2100" spc="3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matrices.</a:t>
            </a:r>
            <a:endParaRPr sz="21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63118" y="6943597"/>
            <a:ext cx="21907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" dirty="0">
                <a:latin typeface="Calibri"/>
                <a:cs typeface="Calibri"/>
              </a:rPr>
              <a:t>20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38754" y="3016709"/>
            <a:ext cx="8832215" cy="2961640"/>
            <a:chOff x="638754" y="3016709"/>
            <a:chExt cx="8832215" cy="296164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8754" y="3016709"/>
              <a:ext cx="8831795" cy="296147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274689" y="3296805"/>
              <a:ext cx="3071495" cy="1994535"/>
            </a:xfrm>
            <a:custGeom>
              <a:avLst/>
              <a:gdLst/>
              <a:ahLst/>
              <a:cxnLst/>
              <a:rect l="l" t="t" r="r" b="b"/>
              <a:pathLst>
                <a:path w="3071495" h="1994535">
                  <a:moveTo>
                    <a:pt x="652716" y="0"/>
                  </a:moveTo>
                  <a:lnTo>
                    <a:pt x="0" y="0"/>
                  </a:lnTo>
                  <a:lnTo>
                    <a:pt x="0" y="1488059"/>
                  </a:lnTo>
                  <a:lnTo>
                    <a:pt x="652716" y="1488059"/>
                  </a:lnTo>
                  <a:lnTo>
                    <a:pt x="652716" y="0"/>
                  </a:lnTo>
                  <a:close/>
                </a:path>
                <a:path w="3071495" h="1994535">
                  <a:moveTo>
                    <a:pt x="3071469" y="1195324"/>
                  </a:moveTo>
                  <a:lnTo>
                    <a:pt x="941895" y="1195324"/>
                  </a:lnTo>
                  <a:lnTo>
                    <a:pt x="941895" y="1994242"/>
                  </a:lnTo>
                  <a:lnTo>
                    <a:pt x="3071469" y="1994242"/>
                  </a:lnTo>
                  <a:lnTo>
                    <a:pt x="3071469" y="1195324"/>
                  </a:lnTo>
                  <a:close/>
                </a:path>
              </a:pathLst>
            </a:custGeom>
            <a:solidFill>
              <a:srgbClr val="CC9900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12371" y="3321216"/>
              <a:ext cx="198755" cy="1463675"/>
            </a:xfrm>
            <a:custGeom>
              <a:avLst/>
              <a:gdLst/>
              <a:ahLst/>
              <a:cxnLst/>
              <a:rect l="l" t="t" r="r" b="b"/>
              <a:pathLst>
                <a:path w="198754" h="1463675">
                  <a:moveTo>
                    <a:pt x="198292" y="0"/>
                  </a:moveTo>
                  <a:lnTo>
                    <a:pt x="0" y="0"/>
                  </a:lnTo>
                  <a:lnTo>
                    <a:pt x="0" y="1463668"/>
                  </a:lnTo>
                  <a:lnTo>
                    <a:pt x="198292" y="1463668"/>
                  </a:lnTo>
                  <a:lnTo>
                    <a:pt x="198292" y="0"/>
                  </a:lnTo>
                  <a:close/>
                </a:path>
              </a:pathLst>
            </a:custGeom>
            <a:solidFill>
              <a:srgbClr val="EF8E1C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012371" y="3321216"/>
              <a:ext cx="198755" cy="1463675"/>
            </a:xfrm>
            <a:custGeom>
              <a:avLst/>
              <a:gdLst/>
              <a:ahLst/>
              <a:cxnLst/>
              <a:rect l="l" t="t" r="r" b="b"/>
              <a:pathLst>
                <a:path w="198754" h="1463675">
                  <a:moveTo>
                    <a:pt x="0" y="0"/>
                  </a:moveTo>
                  <a:lnTo>
                    <a:pt x="198293" y="0"/>
                  </a:lnTo>
                  <a:lnTo>
                    <a:pt x="198293" y="1463669"/>
                  </a:lnTo>
                  <a:lnTo>
                    <a:pt x="0" y="1463669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202127" y="4053051"/>
              <a:ext cx="2082164" cy="292735"/>
            </a:xfrm>
            <a:custGeom>
              <a:avLst/>
              <a:gdLst/>
              <a:ahLst/>
              <a:cxnLst/>
              <a:rect l="l" t="t" r="r" b="b"/>
              <a:pathLst>
                <a:path w="2082165" h="292735">
                  <a:moveTo>
                    <a:pt x="2082074" y="0"/>
                  </a:moveTo>
                  <a:lnTo>
                    <a:pt x="0" y="0"/>
                  </a:lnTo>
                  <a:lnTo>
                    <a:pt x="0" y="292733"/>
                  </a:lnTo>
                  <a:lnTo>
                    <a:pt x="2082074" y="292733"/>
                  </a:lnTo>
                  <a:lnTo>
                    <a:pt x="2082074" y="0"/>
                  </a:lnTo>
                  <a:close/>
                </a:path>
              </a:pathLst>
            </a:custGeom>
            <a:solidFill>
              <a:srgbClr val="EF8E1C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202127" y="4053051"/>
              <a:ext cx="2082164" cy="292735"/>
            </a:xfrm>
            <a:custGeom>
              <a:avLst/>
              <a:gdLst/>
              <a:ahLst/>
              <a:cxnLst/>
              <a:rect l="l" t="t" r="r" b="b"/>
              <a:pathLst>
                <a:path w="2082165" h="292735">
                  <a:moveTo>
                    <a:pt x="0" y="0"/>
                  </a:moveTo>
                  <a:lnTo>
                    <a:pt x="2082074" y="0"/>
                  </a:lnTo>
                  <a:lnTo>
                    <a:pt x="2082074" y="292733"/>
                  </a:lnTo>
                  <a:lnTo>
                    <a:pt x="0" y="292733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5174" y="3467582"/>
              <a:ext cx="198755" cy="1463675"/>
            </a:xfrm>
            <a:custGeom>
              <a:avLst/>
              <a:gdLst/>
              <a:ahLst/>
              <a:cxnLst/>
              <a:rect l="l" t="t" r="r" b="b"/>
              <a:pathLst>
                <a:path w="198754" h="1463675">
                  <a:moveTo>
                    <a:pt x="198292" y="0"/>
                  </a:moveTo>
                  <a:lnTo>
                    <a:pt x="0" y="0"/>
                  </a:lnTo>
                  <a:lnTo>
                    <a:pt x="0" y="1463668"/>
                  </a:lnTo>
                  <a:lnTo>
                    <a:pt x="198292" y="1463668"/>
                  </a:lnTo>
                  <a:lnTo>
                    <a:pt x="198292" y="0"/>
                  </a:lnTo>
                  <a:close/>
                </a:path>
              </a:pathLst>
            </a:custGeom>
            <a:solidFill>
              <a:srgbClr val="EF8E1C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525174" y="3467582"/>
              <a:ext cx="198755" cy="1463675"/>
            </a:xfrm>
            <a:custGeom>
              <a:avLst/>
              <a:gdLst/>
              <a:ahLst/>
              <a:cxnLst/>
              <a:rect l="l" t="t" r="r" b="b"/>
              <a:pathLst>
                <a:path w="198754" h="1463675">
                  <a:moveTo>
                    <a:pt x="0" y="0"/>
                  </a:moveTo>
                  <a:lnTo>
                    <a:pt x="198293" y="0"/>
                  </a:lnTo>
                  <a:lnTo>
                    <a:pt x="198293" y="1463669"/>
                  </a:lnTo>
                  <a:lnTo>
                    <a:pt x="0" y="1463669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120053" y="4492129"/>
              <a:ext cx="1090930" cy="292735"/>
            </a:xfrm>
            <a:custGeom>
              <a:avLst/>
              <a:gdLst/>
              <a:ahLst/>
              <a:cxnLst/>
              <a:rect l="l" t="t" r="r" b="b"/>
              <a:pathLst>
                <a:path w="1090929" h="292735">
                  <a:moveTo>
                    <a:pt x="1090609" y="0"/>
                  </a:moveTo>
                  <a:lnTo>
                    <a:pt x="0" y="0"/>
                  </a:lnTo>
                  <a:lnTo>
                    <a:pt x="0" y="292732"/>
                  </a:lnTo>
                  <a:lnTo>
                    <a:pt x="1090609" y="292732"/>
                  </a:lnTo>
                  <a:lnTo>
                    <a:pt x="1090609" y="0"/>
                  </a:lnTo>
                  <a:close/>
                </a:path>
              </a:pathLst>
            </a:custGeom>
            <a:solidFill>
              <a:srgbClr val="EF8E1C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120053" y="4492129"/>
              <a:ext cx="1090930" cy="292735"/>
            </a:xfrm>
            <a:custGeom>
              <a:avLst/>
              <a:gdLst/>
              <a:ahLst/>
              <a:cxnLst/>
              <a:rect l="l" t="t" r="r" b="b"/>
              <a:pathLst>
                <a:path w="1090929" h="292735">
                  <a:moveTo>
                    <a:pt x="0" y="0"/>
                  </a:moveTo>
                  <a:lnTo>
                    <a:pt x="1090610" y="0"/>
                  </a:lnTo>
                  <a:lnTo>
                    <a:pt x="1090610" y="292732"/>
                  </a:lnTo>
                  <a:lnTo>
                    <a:pt x="0" y="292732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400343" y="5111162"/>
              <a:ext cx="575945" cy="505459"/>
            </a:xfrm>
            <a:custGeom>
              <a:avLst/>
              <a:gdLst/>
              <a:ahLst/>
              <a:cxnLst/>
              <a:rect l="l" t="t" r="r" b="b"/>
              <a:pathLst>
                <a:path w="575944" h="505460">
                  <a:moveTo>
                    <a:pt x="575622" y="0"/>
                  </a:moveTo>
                  <a:lnTo>
                    <a:pt x="0" y="0"/>
                  </a:lnTo>
                  <a:lnTo>
                    <a:pt x="0" y="505139"/>
                  </a:lnTo>
                  <a:lnTo>
                    <a:pt x="575622" y="505139"/>
                  </a:lnTo>
                  <a:lnTo>
                    <a:pt x="57562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700922" y="5121910"/>
            <a:ext cx="40957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850" i="1" baseline="-30701" dirty="0">
                <a:latin typeface="Calibri"/>
                <a:cs typeface="Calibri"/>
              </a:rPr>
              <a:t>X</a:t>
            </a:r>
            <a:r>
              <a:rPr sz="2850" i="1" spc="232" baseline="-30701" dirty="0">
                <a:latin typeface="Calibri"/>
                <a:cs typeface="Calibri"/>
              </a:rPr>
              <a:t> </a:t>
            </a:r>
            <a:r>
              <a:rPr sz="1700" i="1" spc="-10" dirty="0">
                <a:solidFill>
                  <a:srgbClr val="EF8E1C"/>
                </a:solidFill>
                <a:latin typeface="Sitka Small"/>
                <a:cs typeface="Sitka Small"/>
              </a:rPr>
              <a:t>k</a:t>
            </a:r>
            <a:endParaRPr sz="1700">
              <a:latin typeface="Sitka Small"/>
              <a:cs typeface="Sitka Small"/>
            </a:endParaRPr>
          </a:p>
        </p:txBody>
      </p:sp>
      <p:pic>
        <p:nvPicPr>
          <p:cNvPr id="20" name="Picture 19" descr="Icon&#10;&#10;Description automatically generated">
            <a:extLst>
              <a:ext uri="{FF2B5EF4-FFF2-40B4-BE49-F238E27FC236}">
                <a16:creationId xmlns:a16="http://schemas.microsoft.com/office/drawing/2014/main" id="{2B216062-AA39-BA43-996D-3C67022BA1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1973" y="6427181"/>
            <a:ext cx="218227" cy="35461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496569"/>
            <a:ext cx="635381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Simple SVD</a:t>
            </a:r>
            <a:r>
              <a:rPr spc="5" dirty="0"/>
              <a:t> word</a:t>
            </a:r>
            <a:r>
              <a:rPr dirty="0"/>
              <a:t> vectors in Python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0865" y="2373287"/>
            <a:ext cx="7413730" cy="454660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71106" y="1311909"/>
            <a:ext cx="4316095" cy="607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5" dirty="0">
                <a:latin typeface="Calibri"/>
                <a:cs typeface="Calibri"/>
              </a:rPr>
              <a:t>Corpus:</a:t>
            </a:r>
            <a:endParaRPr sz="1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900" dirty="0">
                <a:latin typeface="Calibri"/>
                <a:cs typeface="Calibri"/>
              </a:rPr>
              <a:t>I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like</a:t>
            </a:r>
            <a:r>
              <a:rPr sz="1900" spc="20" dirty="0">
                <a:latin typeface="Calibri"/>
                <a:cs typeface="Calibri"/>
              </a:rPr>
              <a:t> </a:t>
            </a:r>
            <a:r>
              <a:rPr sz="1900" spc="10" dirty="0">
                <a:latin typeface="Calibri"/>
                <a:cs typeface="Calibri"/>
              </a:rPr>
              <a:t>deep</a:t>
            </a:r>
            <a:r>
              <a:rPr sz="1900" spc="2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learning. </a:t>
            </a:r>
            <a:r>
              <a:rPr sz="1900" dirty="0">
                <a:latin typeface="Calibri"/>
                <a:cs typeface="Calibri"/>
              </a:rPr>
              <a:t>I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like</a:t>
            </a:r>
            <a:r>
              <a:rPr sz="1900" spc="20" dirty="0">
                <a:latin typeface="Calibri"/>
                <a:cs typeface="Calibri"/>
              </a:rPr>
              <a:t> </a:t>
            </a:r>
            <a:r>
              <a:rPr sz="1900" spc="-55" dirty="0">
                <a:latin typeface="Calibri"/>
                <a:cs typeface="Calibri"/>
              </a:rPr>
              <a:t>NLP.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</a:t>
            </a:r>
            <a:r>
              <a:rPr sz="1900" spc="5" dirty="0">
                <a:latin typeface="Calibri"/>
                <a:cs typeface="Calibri"/>
              </a:rPr>
              <a:t> enjoy</a:t>
            </a:r>
            <a:r>
              <a:rPr sz="1900" spc="1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flying.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7718" y="6952713"/>
            <a:ext cx="269875" cy="25844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z="1500" dirty="0">
                <a:latin typeface="Calibri"/>
                <a:cs typeface="Calibri"/>
              </a:rPr>
              <a:t>21</a:t>
            </a:fld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496569"/>
            <a:ext cx="635381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Simple SVD</a:t>
            </a:r>
            <a:r>
              <a:rPr spc="5" dirty="0"/>
              <a:t> word</a:t>
            </a:r>
            <a:r>
              <a:rPr dirty="0"/>
              <a:t> vectors in Python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3118" y="1311909"/>
            <a:ext cx="7633334" cy="607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5" dirty="0">
                <a:latin typeface="Calibri"/>
                <a:cs typeface="Calibri"/>
              </a:rPr>
              <a:t>Corpus:</a:t>
            </a:r>
            <a:r>
              <a:rPr sz="1900" spc="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</a:t>
            </a:r>
            <a:r>
              <a:rPr sz="1900" spc="10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like</a:t>
            </a:r>
            <a:r>
              <a:rPr sz="1900" spc="25" dirty="0">
                <a:latin typeface="Calibri"/>
                <a:cs typeface="Calibri"/>
              </a:rPr>
              <a:t> </a:t>
            </a:r>
            <a:r>
              <a:rPr sz="1900" spc="10" dirty="0">
                <a:latin typeface="Calibri"/>
                <a:cs typeface="Calibri"/>
              </a:rPr>
              <a:t>deep</a:t>
            </a:r>
            <a:r>
              <a:rPr sz="1900" spc="25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learning.</a:t>
            </a:r>
            <a:r>
              <a:rPr sz="1900" spc="1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</a:t>
            </a:r>
            <a:r>
              <a:rPr sz="1900" spc="10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like</a:t>
            </a:r>
            <a:r>
              <a:rPr sz="1900" spc="25" dirty="0">
                <a:latin typeface="Calibri"/>
                <a:cs typeface="Calibri"/>
              </a:rPr>
              <a:t> </a:t>
            </a:r>
            <a:r>
              <a:rPr sz="1900" spc="-55" dirty="0">
                <a:latin typeface="Calibri"/>
                <a:cs typeface="Calibri"/>
              </a:rPr>
              <a:t>NLP.</a:t>
            </a:r>
            <a:r>
              <a:rPr sz="1900" spc="1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</a:t>
            </a:r>
            <a:r>
              <a:rPr sz="1900" spc="1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enjoy</a:t>
            </a:r>
            <a:r>
              <a:rPr sz="1900" spc="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flying.</a:t>
            </a:r>
            <a:endParaRPr sz="1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900" dirty="0">
                <a:latin typeface="Calibri"/>
                <a:cs typeface="Calibri"/>
              </a:rPr>
              <a:t>Printing</a:t>
            </a:r>
            <a:r>
              <a:rPr sz="1900" spc="2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first</a:t>
            </a:r>
            <a:r>
              <a:rPr sz="1900" spc="1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two</a:t>
            </a:r>
            <a:r>
              <a:rPr sz="1900" spc="2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columns</a:t>
            </a:r>
            <a:r>
              <a:rPr sz="1900" spc="15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of</a:t>
            </a:r>
            <a:r>
              <a:rPr sz="1900" spc="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U</a:t>
            </a:r>
            <a:r>
              <a:rPr sz="1900" spc="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corresponding</a:t>
            </a:r>
            <a:r>
              <a:rPr sz="1900" spc="2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to</a:t>
            </a:r>
            <a:r>
              <a:rPr sz="1900" spc="25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the</a:t>
            </a:r>
            <a:r>
              <a:rPr sz="1900" spc="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2</a:t>
            </a:r>
            <a:r>
              <a:rPr sz="1900" spc="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biggest</a:t>
            </a:r>
            <a:r>
              <a:rPr sz="1900" spc="15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singular</a:t>
            </a:r>
            <a:r>
              <a:rPr sz="1900" spc="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values</a:t>
            </a:r>
            <a:endParaRPr sz="19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10494" y="2060521"/>
            <a:ext cx="8842375" cy="4829810"/>
            <a:chOff x="910494" y="2060521"/>
            <a:chExt cx="8842375" cy="482981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0494" y="2346080"/>
              <a:ext cx="7042283" cy="454376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52348" y="2060521"/>
              <a:ext cx="5600170" cy="999115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537718" y="6952713"/>
            <a:ext cx="269875" cy="25844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z="1500" dirty="0">
                <a:latin typeface="Calibri"/>
                <a:cs typeface="Calibri"/>
              </a:rPr>
              <a:t>22</a:t>
            </a:fld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537718" y="6952713"/>
            <a:ext cx="269875" cy="25844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z="1500" dirty="0">
                <a:latin typeface="Calibri"/>
                <a:cs typeface="Calibri"/>
              </a:rPr>
              <a:t>23</a:t>
            </a:fld>
            <a:endParaRPr sz="150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496569"/>
            <a:ext cx="818070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Hacks to</a:t>
            </a:r>
            <a:r>
              <a:rPr spc="10" dirty="0"/>
              <a:t> </a:t>
            </a:r>
            <a:r>
              <a:rPr dirty="0"/>
              <a:t>X</a:t>
            </a:r>
            <a:r>
              <a:rPr spc="10" dirty="0"/>
              <a:t> </a:t>
            </a:r>
            <a:r>
              <a:rPr dirty="0"/>
              <a:t>(several</a:t>
            </a:r>
            <a:r>
              <a:rPr spc="5" dirty="0"/>
              <a:t> </a:t>
            </a:r>
            <a:r>
              <a:rPr dirty="0"/>
              <a:t>used</a:t>
            </a:r>
            <a:r>
              <a:rPr spc="5" dirty="0"/>
              <a:t> </a:t>
            </a:r>
            <a:r>
              <a:rPr dirty="0"/>
              <a:t>in Rohde</a:t>
            </a:r>
            <a:r>
              <a:rPr spc="10" dirty="0"/>
              <a:t> </a:t>
            </a:r>
            <a:r>
              <a:rPr dirty="0"/>
              <a:t>et</a:t>
            </a:r>
            <a:r>
              <a:rPr spc="5" dirty="0"/>
              <a:t> </a:t>
            </a:r>
            <a:r>
              <a:rPr dirty="0"/>
              <a:t>al.</a:t>
            </a:r>
            <a:r>
              <a:rPr spc="5" dirty="0"/>
              <a:t> 2005)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3118" y="1272793"/>
            <a:ext cx="8661400" cy="5624830"/>
          </a:xfrm>
          <a:prstGeom prst="rect">
            <a:avLst/>
          </a:prstGeom>
        </p:spPr>
        <p:txBody>
          <a:bodyPr vert="horz" wrap="square" lIns="0" tIns="2533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95"/>
              </a:spcBef>
            </a:pPr>
            <a:r>
              <a:rPr sz="3000" spc="-10" dirty="0">
                <a:latin typeface="Calibri"/>
                <a:cs typeface="Calibri"/>
              </a:rPr>
              <a:t>Scaling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the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counts</a:t>
            </a:r>
            <a:r>
              <a:rPr sz="3000" spc="-5" dirty="0">
                <a:latin typeface="Calibri"/>
                <a:cs typeface="Calibri"/>
              </a:rPr>
              <a:t> in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the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cells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can help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b="1" i="1" dirty="0">
                <a:latin typeface="Calibri"/>
                <a:cs typeface="Calibri"/>
              </a:rPr>
              <a:t>a</a:t>
            </a:r>
            <a:r>
              <a:rPr sz="3000" b="1" i="1" spc="-15" dirty="0">
                <a:latin typeface="Calibri"/>
                <a:cs typeface="Calibri"/>
              </a:rPr>
              <a:t> </a:t>
            </a:r>
            <a:r>
              <a:rPr sz="3000" b="1" i="1" spc="-5" dirty="0">
                <a:latin typeface="Calibri"/>
                <a:cs typeface="Calibri"/>
              </a:rPr>
              <a:t>lot</a:t>
            </a:r>
            <a:endParaRPr sz="3000" dirty="0">
              <a:latin typeface="Calibri"/>
              <a:cs typeface="Calibri"/>
            </a:endParaRPr>
          </a:p>
          <a:p>
            <a:pPr marL="499745" marR="5080" indent="-487680">
              <a:lnSpc>
                <a:spcPct val="100000"/>
              </a:lnSpc>
              <a:spcBef>
                <a:spcPts val="1895"/>
              </a:spcBef>
              <a:buClr>
                <a:srgbClr val="CC0000"/>
              </a:buClr>
              <a:buFont typeface="Arial MT"/>
              <a:buChar char="•"/>
              <a:tabLst>
                <a:tab pos="499745" algn="l"/>
                <a:tab pos="500380" algn="l"/>
              </a:tabLst>
            </a:pPr>
            <a:r>
              <a:rPr sz="3000" spc="-10" dirty="0">
                <a:latin typeface="Calibri"/>
                <a:cs typeface="Calibri"/>
              </a:rPr>
              <a:t>Problem: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function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words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(</a:t>
            </a:r>
            <a:r>
              <a:rPr sz="3000" i="1" spc="-10" dirty="0">
                <a:latin typeface="Calibri"/>
                <a:cs typeface="Calibri"/>
              </a:rPr>
              <a:t>the,</a:t>
            </a:r>
            <a:r>
              <a:rPr sz="3000" i="1" dirty="0">
                <a:latin typeface="Calibri"/>
                <a:cs typeface="Calibri"/>
              </a:rPr>
              <a:t> </a:t>
            </a:r>
            <a:r>
              <a:rPr sz="3000" i="1" spc="-10" dirty="0">
                <a:latin typeface="Calibri"/>
                <a:cs typeface="Calibri"/>
              </a:rPr>
              <a:t>he,</a:t>
            </a:r>
            <a:r>
              <a:rPr sz="3000" i="1" dirty="0">
                <a:latin typeface="Calibri"/>
                <a:cs typeface="Calibri"/>
              </a:rPr>
              <a:t> </a:t>
            </a:r>
            <a:r>
              <a:rPr sz="3000" i="1" spc="-10" dirty="0">
                <a:latin typeface="Calibri"/>
                <a:cs typeface="Calibri"/>
              </a:rPr>
              <a:t>has</a:t>
            </a:r>
            <a:r>
              <a:rPr sz="3000" spc="-10" dirty="0">
                <a:latin typeface="Calibri"/>
                <a:cs typeface="Calibri"/>
              </a:rPr>
              <a:t>)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are too 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frequent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dirty="0">
                <a:latin typeface="Wingdings"/>
                <a:cs typeface="Wingdings"/>
              </a:rPr>
              <a:t></a:t>
            </a:r>
            <a:r>
              <a:rPr sz="3000" spc="-9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Calibri"/>
                <a:cs typeface="Calibri"/>
              </a:rPr>
              <a:t>syntax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has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too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much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impact.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Some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fixes:</a:t>
            </a:r>
            <a:endParaRPr sz="3000" dirty="0">
              <a:latin typeface="Calibri"/>
              <a:cs typeface="Calibri"/>
            </a:endParaRPr>
          </a:p>
          <a:p>
            <a:pPr marL="988060" lvl="1" indent="-488315">
              <a:lnSpc>
                <a:spcPct val="100000"/>
              </a:lnSpc>
              <a:spcBef>
                <a:spcPts val="1600"/>
              </a:spcBef>
              <a:buClr>
                <a:srgbClr val="3A87FF"/>
              </a:buClr>
              <a:buFont typeface="Arial MT"/>
              <a:buChar char="•"/>
              <a:tabLst>
                <a:tab pos="987425" algn="l"/>
                <a:tab pos="988060" algn="l"/>
              </a:tabLst>
            </a:pPr>
            <a:r>
              <a:rPr sz="2600" spc="-20" dirty="0">
                <a:latin typeface="Calibri"/>
                <a:cs typeface="Calibri"/>
              </a:rPr>
              <a:t>min(X,t),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with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≈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100</a:t>
            </a:r>
            <a:endParaRPr sz="2600" dirty="0">
              <a:latin typeface="Calibri"/>
              <a:cs typeface="Calibri"/>
            </a:endParaRPr>
          </a:p>
          <a:p>
            <a:pPr marL="988060" lvl="1" indent="-488315">
              <a:lnSpc>
                <a:spcPct val="100000"/>
              </a:lnSpc>
              <a:spcBef>
                <a:spcPts val="1585"/>
              </a:spcBef>
              <a:buClr>
                <a:srgbClr val="3A87FF"/>
              </a:buClr>
              <a:buFont typeface="Arial MT"/>
              <a:buChar char="•"/>
              <a:tabLst>
                <a:tab pos="987425" algn="l"/>
                <a:tab pos="988060" algn="l"/>
              </a:tabLst>
            </a:pPr>
            <a:r>
              <a:rPr sz="2600" spc="-20" dirty="0">
                <a:latin typeface="Calibri"/>
                <a:cs typeface="Calibri"/>
              </a:rPr>
              <a:t>Ignore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them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all</a:t>
            </a:r>
            <a:endParaRPr sz="2600" dirty="0">
              <a:latin typeface="Calibri"/>
              <a:cs typeface="Calibri"/>
            </a:endParaRPr>
          </a:p>
          <a:p>
            <a:pPr marL="500380" indent="-487680">
              <a:lnSpc>
                <a:spcPct val="100000"/>
              </a:lnSpc>
              <a:spcBef>
                <a:spcPts val="1880"/>
              </a:spcBef>
              <a:buClr>
                <a:srgbClr val="CC0000"/>
              </a:buClr>
              <a:buFont typeface="Arial MT"/>
              <a:buChar char="•"/>
              <a:tabLst>
                <a:tab pos="499745" algn="l"/>
                <a:tab pos="500380" algn="l"/>
              </a:tabLst>
            </a:pPr>
            <a:r>
              <a:rPr sz="3000" spc="-10" dirty="0">
                <a:latin typeface="Calibri"/>
                <a:cs typeface="Calibri"/>
              </a:rPr>
              <a:t>Ramped windows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that </a:t>
            </a:r>
            <a:r>
              <a:rPr sz="3000" spc="-5" dirty="0">
                <a:latin typeface="Calibri"/>
                <a:cs typeface="Calibri"/>
              </a:rPr>
              <a:t>count</a:t>
            </a:r>
            <a:r>
              <a:rPr sz="3000" spc="-10" dirty="0">
                <a:latin typeface="Calibri"/>
                <a:cs typeface="Calibri"/>
              </a:rPr>
              <a:t> closer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words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more</a:t>
            </a:r>
            <a:endParaRPr sz="3000" dirty="0">
              <a:latin typeface="Calibri"/>
              <a:cs typeface="Calibri"/>
            </a:endParaRPr>
          </a:p>
          <a:p>
            <a:pPr marL="499745" marR="124460" indent="-487680">
              <a:lnSpc>
                <a:spcPct val="100000"/>
              </a:lnSpc>
              <a:spcBef>
                <a:spcPts val="1895"/>
              </a:spcBef>
              <a:buClr>
                <a:srgbClr val="CC0000"/>
              </a:buClr>
              <a:buFont typeface="Arial MT"/>
              <a:buChar char="•"/>
              <a:tabLst>
                <a:tab pos="499745" algn="l"/>
                <a:tab pos="500380" algn="l"/>
              </a:tabLst>
            </a:pPr>
            <a:r>
              <a:rPr sz="3000" spc="-5" dirty="0">
                <a:latin typeface="Calibri"/>
                <a:cs typeface="Calibri"/>
              </a:rPr>
              <a:t>Use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Pearson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correlations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instead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of</a:t>
            </a:r>
            <a:r>
              <a:rPr sz="3000" spc="-10" dirty="0">
                <a:latin typeface="Calibri"/>
                <a:cs typeface="Calibri"/>
              </a:rPr>
              <a:t> counts,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then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set </a:t>
            </a:r>
            <a:r>
              <a:rPr sz="3000" spc="-66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negative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values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to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0</a:t>
            </a:r>
          </a:p>
          <a:p>
            <a:pPr marL="500380" indent="-487680">
              <a:lnSpc>
                <a:spcPct val="100000"/>
              </a:lnSpc>
              <a:spcBef>
                <a:spcPts val="1895"/>
              </a:spcBef>
              <a:buClr>
                <a:srgbClr val="CC0000"/>
              </a:buClr>
              <a:buFont typeface="Arial MT"/>
              <a:buChar char="•"/>
              <a:tabLst>
                <a:tab pos="499745" algn="l"/>
                <a:tab pos="500380" algn="l"/>
              </a:tabLst>
            </a:pPr>
            <a:r>
              <a:rPr sz="3000" spc="-10" dirty="0">
                <a:latin typeface="Calibri"/>
                <a:cs typeface="Calibri"/>
              </a:rPr>
              <a:t>Etc.</a:t>
            </a:r>
            <a:endParaRPr sz="3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543813"/>
            <a:ext cx="8430260" cy="497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100" spc="-5" dirty="0"/>
              <a:t>Interesting</a:t>
            </a:r>
            <a:r>
              <a:rPr sz="3100" spc="-25" dirty="0"/>
              <a:t> </a:t>
            </a:r>
            <a:r>
              <a:rPr sz="3100" spc="-10" dirty="0"/>
              <a:t>syntactic patterns </a:t>
            </a:r>
            <a:r>
              <a:rPr sz="3100" spc="-5" dirty="0"/>
              <a:t>emerge</a:t>
            </a:r>
            <a:r>
              <a:rPr sz="3100" spc="-20" dirty="0"/>
              <a:t> </a:t>
            </a:r>
            <a:r>
              <a:rPr sz="3100" spc="-5" dirty="0"/>
              <a:t>in</a:t>
            </a:r>
            <a:r>
              <a:rPr sz="3100" spc="-25" dirty="0"/>
              <a:t> </a:t>
            </a:r>
            <a:r>
              <a:rPr sz="3100" spc="-10" dirty="0"/>
              <a:t>the</a:t>
            </a:r>
            <a:r>
              <a:rPr sz="3100" spc="-20" dirty="0"/>
              <a:t> </a:t>
            </a:r>
            <a:r>
              <a:rPr sz="3100" spc="-5" dirty="0"/>
              <a:t>vectors</a:t>
            </a:r>
            <a:endParaRPr sz="3100"/>
          </a:p>
        </p:txBody>
      </p:sp>
      <p:grpSp>
        <p:nvGrpSpPr>
          <p:cNvPr id="3" name="object 3"/>
          <p:cNvGrpSpPr/>
          <p:nvPr/>
        </p:nvGrpSpPr>
        <p:grpSpPr>
          <a:xfrm>
            <a:off x="2522812" y="1459582"/>
            <a:ext cx="4583430" cy="4591050"/>
            <a:chOff x="2522812" y="1459582"/>
            <a:chExt cx="4583430" cy="4591050"/>
          </a:xfrm>
        </p:grpSpPr>
        <p:sp>
          <p:nvSpPr>
            <p:cNvPr id="4" name="object 4"/>
            <p:cNvSpPr/>
            <p:nvPr/>
          </p:nvSpPr>
          <p:spPr>
            <a:xfrm>
              <a:off x="2527257" y="1464027"/>
              <a:ext cx="4574540" cy="4582160"/>
            </a:xfrm>
            <a:custGeom>
              <a:avLst/>
              <a:gdLst/>
              <a:ahLst/>
              <a:cxnLst/>
              <a:rect l="l" t="t" r="r" b="b"/>
              <a:pathLst>
                <a:path w="4574540" h="4582160">
                  <a:moveTo>
                    <a:pt x="0" y="4582149"/>
                  </a:moveTo>
                  <a:lnTo>
                    <a:pt x="4574427" y="4582149"/>
                  </a:lnTo>
                  <a:lnTo>
                    <a:pt x="4574427" y="0"/>
                  </a:lnTo>
                  <a:lnTo>
                    <a:pt x="0" y="0"/>
                  </a:lnTo>
                  <a:lnTo>
                    <a:pt x="0" y="4582149"/>
                  </a:lnTo>
                  <a:close/>
                </a:path>
              </a:pathLst>
            </a:custGeom>
            <a:ln w="85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191875" y="2856571"/>
              <a:ext cx="55244" cy="55244"/>
            </a:xfrm>
            <a:custGeom>
              <a:avLst/>
              <a:gdLst/>
              <a:ahLst/>
              <a:cxnLst/>
              <a:rect l="l" t="t" r="r" b="b"/>
              <a:pathLst>
                <a:path w="55245" h="55244">
                  <a:moveTo>
                    <a:pt x="27335" y="0"/>
                  </a:moveTo>
                  <a:lnTo>
                    <a:pt x="16698" y="2153"/>
                  </a:lnTo>
                  <a:lnTo>
                    <a:pt x="8008" y="8026"/>
                  </a:lnTo>
                  <a:lnTo>
                    <a:pt x="2149" y="16734"/>
                  </a:lnTo>
                  <a:lnTo>
                    <a:pt x="0" y="27395"/>
                  </a:lnTo>
                  <a:lnTo>
                    <a:pt x="2149" y="38055"/>
                  </a:lnTo>
                  <a:lnTo>
                    <a:pt x="8008" y="46763"/>
                  </a:lnTo>
                  <a:lnTo>
                    <a:pt x="16698" y="52636"/>
                  </a:lnTo>
                  <a:lnTo>
                    <a:pt x="27335" y="54790"/>
                  </a:lnTo>
                  <a:lnTo>
                    <a:pt x="37973" y="52636"/>
                  </a:lnTo>
                  <a:lnTo>
                    <a:pt x="46663" y="46763"/>
                  </a:lnTo>
                  <a:lnTo>
                    <a:pt x="52523" y="38055"/>
                  </a:lnTo>
                  <a:lnTo>
                    <a:pt x="54672" y="27395"/>
                  </a:lnTo>
                  <a:lnTo>
                    <a:pt x="52523" y="16734"/>
                  </a:lnTo>
                  <a:lnTo>
                    <a:pt x="46663" y="8026"/>
                  </a:lnTo>
                  <a:lnTo>
                    <a:pt x="37973" y="2153"/>
                  </a:lnTo>
                  <a:lnTo>
                    <a:pt x="2733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260742" y="2794772"/>
            <a:ext cx="311150" cy="1574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50" spc="5" dirty="0">
                <a:latin typeface="Arial MT"/>
                <a:cs typeface="Arial MT"/>
              </a:rPr>
              <a:t>TAKE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145894" y="4866181"/>
            <a:ext cx="55244" cy="55244"/>
          </a:xfrm>
          <a:custGeom>
            <a:avLst/>
            <a:gdLst/>
            <a:ahLst/>
            <a:cxnLst/>
            <a:rect l="l" t="t" r="r" b="b"/>
            <a:pathLst>
              <a:path w="55244" h="55245">
                <a:moveTo>
                  <a:pt x="27335" y="0"/>
                </a:moveTo>
                <a:lnTo>
                  <a:pt x="16698" y="2153"/>
                </a:lnTo>
                <a:lnTo>
                  <a:pt x="8008" y="8026"/>
                </a:lnTo>
                <a:lnTo>
                  <a:pt x="2149" y="16734"/>
                </a:lnTo>
                <a:lnTo>
                  <a:pt x="0" y="27395"/>
                </a:lnTo>
                <a:lnTo>
                  <a:pt x="2149" y="38055"/>
                </a:lnTo>
                <a:lnTo>
                  <a:pt x="8008" y="46763"/>
                </a:lnTo>
                <a:lnTo>
                  <a:pt x="16698" y="52636"/>
                </a:lnTo>
                <a:lnTo>
                  <a:pt x="27335" y="54790"/>
                </a:lnTo>
                <a:lnTo>
                  <a:pt x="37973" y="52636"/>
                </a:lnTo>
                <a:lnTo>
                  <a:pt x="46663" y="46763"/>
                </a:lnTo>
                <a:lnTo>
                  <a:pt x="52523" y="38055"/>
                </a:lnTo>
                <a:lnTo>
                  <a:pt x="54672" y="27395"/>
                </a:lnTo>
                <a:lnTo>
                  <a:pt x="52523" y="16734"/>
                </a:lnTo>
                <a:lnTo>
                  <a:pt x="46663" y="8026"/>
                </a:lnTo>
                <a:lnTo>
                  <a:pt x="37973" y="2153"/>
                </a:lnTo>
                <a:lnTo>
                  <a:pt x="2733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214756" y="4804801"/>
            <a:ext cx="365760" cy="1574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50" spc="5" dirty="0">
                <a:latin typeface="Arial MT"/>
                <a:cs typeface="Arial MT"/>
              </a:rPr>
              <a:t>SHOW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024674" y="3113099"/>
            <a:ext cx="161290" cy="149860"/>
          </a:xfrm>
          <a:custGeom>
            <a:avLst/>
            <a:gdLst/>
            <a:ahLst/>
            <a:cxnLst/>
            <a:rect l="l" t="t" r="r" b="b"/>
            <a:pathLst>
              <a:path w="161289" h="149860">
                <a:moveTo>
                  <a:pt x="160833" y="122041"/>
                </a:moveTo>
                <a:lnTo>
                  <a:pt x="158684" y="111381"/>
                </a:lnTo>
                <a:lnTo>
                  <a:pt x="152824" y="102672"/>
                </a:lnTo>
                <a:lnTo>
                  <a:pt x="144135" y="96800"/>
                </a:lnTo>
                <a:lnTo>
                  <a:pt x="133497" y="94646"/>
                </a:lnTo>
                <a:lnTo>
                  <a:pt x="122859" y="96800"/>
                </a:lnTo>
                <a:lnTo>
                  <a:pt x="114170" y="102672"/>
                </a:lnTo>
                <a:lnTo>
                  <a:pt x="108310" y="111381"/>
                </a:lnTo>
                <a:lnTo>
                  <a:pt x="106161" y="122041"/>
                </a:lnTo>
                <a:lnTo>
                  <a:pt x="108310" y="132702"/>
                </a:lnTo>
                <a:lnTo>
                  <a:pt x="114170" y="141410"/>
                </a:lnTo>
                <a:lnTo>
                  <a:pt x="122859" y="147282"/>
                </a:lnTo>
                <a:lnTo>
                  <a:pt x="133497" y="149436"/>
                </a:lnTo>
                <a:lnTo>
                  <a:pt x="144135" y="147282"/>
                </a:lnTo>
                <a:lnTo>
                  <a:pt x="152824" y="141410"/>
                </a:lnTo>
                <a:lnTo>
                  <a:pt x="158684" y="132702"/>
                </a:lnTo>
                <a:lnTo>
                  <a:pt x="160833" y="122041"/>
                </a:lnTo>
              </a:path>
              <a:path w="161289" h="149860">
                <a:moveTo>
                  <a:pt x="0" y="54771"/>
                </a:moveTo>
                <a:lnTo>
                  <a:pt x="54691" y="54771"/>
                </a:lnTo>
                <a:lnTo>
                  <a:pt x="54691" y="0"/>
                </a:lnTo>
                <a:lnTo>
                  <a:pt x="0" y="0"/>
                </a:lnTo>
                <a:lnTo>
                  <a:pt x="0" y="54771"/>
                </a:lnTo>
                <a:close/>
              </a:path>
            </a:pathLst>
          </a:custGeom>
          <a:ln w="85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093975" y="3051127"/>
            <a:ext cx="441959" cy="252095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18110" marR="5080" indent="-106045">
              <a:lnSpc>
                <a:spcPct val="73400"/>
              </a:lnSpc>
              <a:spcBef>
                <a:spcPts val="380"/>
              </a:spcBef>
            </a:pPr>
            <a:r>
              <a:rPr sz="850" spc="5" dirty="0">
                <a:latin typeface="Arial MT"/>
                <a:cs typeface="Arial MT"/>
              </a:rPr>
              <a:t>TAKING  TOOK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561049" y="3066954"/>
            <a:ext cx="55244" cy="55244"/>
          </a:xfrm>
          <a:custGeom>
            <a:avLst/>
            <a:gdLst/>
            <a:ahLst/>
            <a:cxnLst/>
            <a:rect l="l" t="t" r="r" b="b"/>
            <a:pathLst>
              <a:path w="55245" h="55244">
                <a:moveTo>
                  <a:pt x="54691" y="0"/>
                </a:moveTo>
                <a:lnTo>
                  <a:pt x="0" y="0"/>
                </a:lnTo>
                <a:lnTo>
                  <a:pt x="0" y="54771"/>
                </a:lnTo>
                <a:lnTo>
                  <a:pt x="54691" y="54771"/>
                </a:lnTo>
                <a:lnTo>
                  <a:pt x="5469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630370" y="3004923"/>
            <a:ext cx="390525" cy="1574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50" spc="5" dirty="0">
                <a:latin typeface="Arial MT"/>
                <a:cs typeface="Arial MT"/>
              </a:rPr>
              <a:t>TAKEN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087113" y="2922275"/>
            <a:ext cx="55244" cy="55244"/>
          </a:xfrm>
          <a:custGeom>
            <a:avLst/>
            <a:gdLst/>
            <a:ahLst/>
            <a:cxnLst/>
            <a:rect l="l" t="t" r="r" b="b"/>
            <a:pathLst>
              <a:path w="55244" h="55244">
                <a:moveTo>
                  <a:pt x="27336" y="0"/>
                </a:moveTo>
                <a:lnTo>
                  <a:pt x="16699" y="2153"/>
                </a:lnTo>
                <a:lnTo>
                  <a:pt x="8009" y="8026"/>
                </a:lnTo>
                <a:lnTo>
                  <a:pt x="2149" y="16734"/>
                </a:lnTo>
                <a:lnTo>
                  <a:pt x="0" y="27395"/>
                </a:lnTo>
                <a:lnTo>
                  <a:pt x="2149" y="38055"/>
                </a:lnTo>
                <a:lnTo>
                  <a:pt x="8009" y="46763"/>
                </a:lnTo>
                <a:lnTo>
                  <a:pt x="16699" y="52636"/>
                </a:lnTo>
                <a:lnTo>
                  <a:pt x="27336" y="54790"/>
                </a:lnTo>
                <a:lnTo>
                  <a:pt x="37974" y="52636"/>
                </a:lnTo>
                <a:lnTo>
                  <a:pt x="46663" y="46763"/>
                </a:lnTo>
                <a:lnTo>
                  <a:pt x="52524" y="38055"/>
                </a:lnTo>
                <a:lnTo>
                  <a:pt x="54673" y="27395"/>
                </a:lnTo>
                <a:lnTo>
                  <a:pt x="52524" y="16734"/>
                </a:lnTo>
                <a:lnTo>
                  <a:pt x="46663" y="8026"/>
                </a:lnTo>
                <a:lnTo>
                  <a:pt x="37974" y="2153"/>
                </a:lnTo>
                <a:lnTo>
                  <a:pt x="2733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156233" y="2860233"/>
            <a:ext cx="390525" cy="1574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50" spc="5" dirty="0">
                <a:latin typeface="Arial MT"/>
                <a:cs typeface="Arial MT"/>
              </a:rPr>
              <a:t>SPEAK</a:t>
            </a:r>
            <a:endParaRPr sz="85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848870" y="1576494"/>
            <a:ext cx="3618865" cy="2871470"/>
            <a:chOff x="2848870" y="1576494"/>
            <a:chExt cx="3618865" cy="2871470"/>
          </a:xfrm>
        </p:grpSpPr>
        <p:sp>
          <p:nvSpPr>
            <p:cNvPr id="16" name="object 16"/>
            <p:cNvSpPr/>
            <p:nvPr/>
          </p:nvSpPr>
          <p:spPr>
            <a:xfrm>
              <a:off x="3882898" y="1576501"/>
              <a:ext cx="2584450" cy="2871470"/>
            </a:xfrm>
            <a:custGeom>
              <a:avLst/>
              <a:gdLst/>
              <a:ahLst/>
              <a:cxnLst/>
              <a:rect l="l" t="t" r="r" b="b"/>
              <a:pathLst>
                <a:path w="2584450" h="2871470">
                  <a:moveTo>
                    <a:pt x="54673" y="27393"/>
                  </a:moveTo>
                  <a:lnTo>
                    <a:pt x="52514" y="16738"/>
                  </a:lnTo>
                  <a:lnTo>
                    <a:pt x="46659" y="8026"/>
                  </a:lnTo>
                  <a:lnTo>
                    <a:pt x="37973" y="2146"/>
                  </a:lnTo>
                  <a:lnTo>
                    <a:pt x="27330" y="0"/>
                  </a:lnTo>
                  <a:lnTo>
                    <a:pt x="16687" y="2146"/>
                  </a:lnTo>
                  <a:lnTo>
                    <a:pt x="8001" y="8026"/>
                  </a:lnTo>
                  <a:lnTo>
                    <a:pt x="2146" y="16738"/>
                  </a:lnTo>
                  <a:lnTo>
                    <a:pt x="0" y="27393"/>
                  </a:lnTo>
                  <a:lnTo>
                    <a:pt x="2146" y="38049"/>
                  </a:lnTo>
                  <a:lnTo>
                    <a:pt x="8001" y="46761"/>
                  </a:lnTo>
                  <a:lnTo>
                    <a:pt x="16687" y="52641"/>
                  </a:lnTo>
                  <a:lnTo>
                    <a:pt x="27330" y="54787"/>
                  </a:lnTo>
                  <a:lnTo>
                    <a:pt x="37973" y="52641"/>
                  </a:lnTo>
                  <a:lnTo>
                    <a:pt x="46659" y="46761"/>
                  </a:lnTo>
                  <a:lnTo>
                    <a:pt x="52514" y="38049"/>
                  </a:lnTo>
                  <a:lnTo>
                    <a:pt x="54673" y="27393"/>
                  </a:lnTo>
                  <a:close/>
                </a:path>
                <a:path w="2584450" h="2871470">
                  <a:moveTo>
                    <a:pt x="2584450" y="2843568"/>
                  </a:moveTo>
                  <a:lnTo>
                    <a:pt x="2582303" y="2832900"/>
                  </a:lnTo>
                  <a:lnTo>
                    <a:pt x="2576436" y="2824200"/>
                  </a:lnTo>
                  <a:lnTo>
                    <a:pt x="2567749" y="2818320"/>
                  </a:lnTo>
                  <a:lnTo>
                    <a:pt x="2557119" y="2816174"/>
                  </a:lnTo>
                  <a:lnTo>
                    <a:pt x="2546477" y="2818320"/>
                  </a:lnTo>
                  <a:lnTo>
                    <a:pt x="2537790" y="2824200"/>
                  </a:lnTo>
                  <a:lnTo>
                    <a:pt x="2531922" y="2832900"/>
                  </a:lnTo>
                  <a:lnTo>
                    <a:pt x="2529776" y="2843568"/>
                  </a:lnTo>
                  <a:lnTo>
                    <a:pt x="2531922" y="2854223"/>
                  </a:lnTo>
                  <a:lnTo>
                    <a:pt x="2537790" y="2862935"/>
                  </a:lnTo>
                  <a:lnTo>
                    <a:pt x="2546477" y="2868803"/>
                  </a:lnTo>
                  <a:lnTo>
                    <a:pt x="2557119" y="2870962"/>
                  </a:lnTo>
                  <a:lnTo>
                    <a:pt x="2567749" y="2868803"/>
                  </a:lnTo>
                  <a:lnTo>
                    <a:pt x="2576436" y="2862935"/>
                  </a:lnTo>
                  <a:lnTo>
                    <a:pt x="2582303" y="2854223"/>
                  </a:lnTo>
                  <a:lnTo>
                    <a:pt x="2584450" y="28435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853315" y="3067654"/>
              <a:ext cx="55244" cy="55244"/>
            </a:xfrm>
            <a:custGeom>
              <a:avLst/>
              <a:gdLst/>
              <a:ahLst/>
              <a:cxnLst/>
              <a:rect l="l" t="t" r="r" b="b"/>
              <a:pathLst>
                <a:path w="55244" h="55244">
                  <a:moveTo>
                    <a:pt x="0" y="54771"/>
                  </a:moveTo>
                  <a:lnTo>
                    <a:pt x="54691" y="54771"/>
                  </a:lnTo>
                  <a:lnTo>
                    <a:pt x="54691" y="0"/>
                  </a:lnTo>
                  <a:lnTo>
                    <a:pt x="0" y="0"/>
                  </a:lnTo>
                  <a:lnTo>
                    <a:pt x="0" y="54771"/>
                  </a:lnTo>
                  <a:close/>
                </a:path>
              </a:pathLst>
            </a:custGeom>
            <a:ln w="85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2922618" y="3005603"/>
            <a:ext cx="584835" cy="1574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50" spc="5" dirty="0">
                <a:latin typeface="Arial MT"/>
                <a:cs typeface="Arial MT"/>
              </a:rPr>
              <a:t>SPEAKING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465426" y="5211688"/>
            <a:ext cx="55244" cy="55244"/>
          </a:xfrm>
          <a:custGeom>
            <a:avLst/>
            <a:gdLst/>
            <a:ahLst/>
            <a:cxnLst/>
            <a:rect l="l" t="t" r="r" b="b"/>
            <a:pathLst>
              <a:path w="55245" h="55245">
                <a:moveTo>
                  <a:pt x="27336" y="0"/>
                </a:moveTo>
                <a:lnTo>
                  <a:pt x="16699" y="2153"/>
                </a:lnTo>
                <a:lnTo>
                  <a:pt x="8009" y="8026"/>
                </a:lnTo>
                <a:lnTo>
                  <a:pt x="2149" y="16734"/>
                </a:lnTo>
                <a:lnTo>
                  <a:pt x="0" y="27395"/>
                </a:lnTo>
                <a:lnTo>
                  <a:pt x="2149" y="38055"/>
                </a:lnTo>
                <a:lnTo>
                  <a:pt x="8009" y="46763"/>
                </a:lnTo>
                <a:lnTo>
                  <a:pt x="16699" y="52636"/>
                </a:lnTo>
                <a:lnTo>
                  <a:pt x="27336" y="54790"/>
                </a:lnTo>
                <a:lnTo>
                  <a:pt x="37974" y="52636"/>
                </a:lnTo>
                <a:lnTo>
                  <a:pt x="46663" y="46763"/>
                </a:lnTo>
                <a:lnTo>
                  <a:pt x="52523" y="38055"/>
                </a:lnTo>
                <a:lnTo>
                  <a:pt x="54672" y="27395"/>
                </a:lnTo>
                <a:lnTo>
                  <a:pt x="52523" y="16734"/>
                </a:lnTo>
                <a:lnTo>
                  <a:pt x="46663" y="8026"/>
                </a:lnTo>
                <a:lnTo>
                  <a:pt x="37974" y="2153"/>
                </a:lnTo>
                <a:lnTo>
                  <a:pt x="2733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5534163" y="5149586"/>
            <a:ext cx="378460" cy="1574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50" spc="5" dirty="0">
                <a:latin typeface="Arial MT"/>
                <a:cs typeface="Arial MT"/>
              </a:rPr>
              <a:t>GROW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881719" y="5953059"/>
            <a:ext cx="55244" cy="55244"/>
          </a:xfrm>
          <a:custGeom>
            <a:avLst/>
            <a:gdLst/>
            <a:ahLst/>
            <a:cxnLst/>
            <a:rect l="l" t="t" r="r" b="b"/>
            <a:pathLst>
              <a:path w="55245" h="55245">
                <a:moveTo>
                  <a:pt x="0" y="54771"/>
                </a:moveTo>
                <a:lnTo>
                  <a:pt x="54691" y="54771"/>
                </a:lnTo>
                <a:lnTo>
                  <a:pt x="54691" y="0"/>
                </a:lnTo>
                <a:lnTo>
                  <a:pt x="0" y="0"/>
                </a:lnTo>
                <a:lnTo>
                  <a:pt x="0" y="54771"/>
                </a:lnTo>
                <a:close/>
              </a:path>
            </a:pathLst>
          </a:custGeom>
          <a:ln w="85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4951024" y="5891055"/>
            <a:ext cx="572770" cy="1574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50" spc="5" dirty="0">
                <a:latin typeface="Arial MT"/>
                <a:cs typeface="Arial MT"/>
              </a:rPr>
              <a:t>GROWING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938932" y="3388994"/>
            <a:ext cx="3922395" cy="925194"/>
          </a:xfrm>
          <a:custGeom>
            <a:avLst/>
            <a:gdLst/>
            <a:ahLst/>
            <a:cxnLst/>
            <a:rect l="l" t="t" r="r" b="b"/>
            <a:pathLst>
              <a:path w="3922395" h="925195">
                <a:moveTo>
                  <a:pt x="54698" y="870407"/>
                </a:moveTo>
                <a:lnTo>
                  <a:pt x="0" y="870407"/>
                </a:lnTo>
                <a:lnTo>
                  <a:pt x="0" y="925169"/>
                </a:lnTo>
                <a:lnTo>
                  <a:pt x="54698" y="925169"/>
                </a:lnTo>
                <a:lnTo>
                  <a:pt x="54698" y="870407"/>
                </a:lnTo>
                <a:close/>
              </a:path>
              <a:path w="3922395" h="925195">
                <a:moveTo>
                  <a:pt x="3921785" y="27393"/>
                </a:moveTo>
                <a:lnTo>
                  <a:pt x="3919639" y="16738"/>
                </a:lnTo>
                <a:lnTo>
                  <a:pt x="3913771" y="8026"/>
                </a:lnTo>
                <a:lnTo>
                  <a:pt x="3905085" y="2159"/>
                </a:lnTo>
                <a:lnTo>
                  <a:pt x="3894455" y="0"/>
                </a:lnTo>
                <a:lnTo>
                  <a:pt x="3883812" y="2159"/>
                </a:lnTo>
                <a:lnTo>
                  <a:pt x="3875125" y="8026"/>
                </a:lnTo>
                <a:lnTo>
                  <a:pt x="3869258" y="16738"/>
                </a:lnTo>
                <a:lnTo>
                  <a:pt x="3867112" y="27393"/>
                </a:lnTo>
                <a:lnTo>
                  <a:pt x="3869258" y="38061"/>
                </a:lnTo>
                <a:lnTo>
                  <a:pt x="3875125" y="46774"/>
                </a:lnTo>
                <a:lnTo>
                  <a:pt x="3883812" y="52641"/>
                </a:lnTo>
                <a:lnTo>
                  <a:pt x="3894455" y="54800"/>
                </a:lnTo>
                <a:lnTo>
                  <a:pt x="3905085" y="52641"/>
                </a:lnTo>
                <a:lnTo>
                  <a:pt x="3913771" y="46774"/>
                </a:lnTo>
                <a:lnTo>
                  <a:pt x="3919639" y="38061"/>
                </a:lnTo>
                <a:lnTo>
                  <a:pt x="3921785" y="2739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3008306" y="4197424"/>
            <a:ext cx="445134" cy="1574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50" spc="5" dirty="0">
                <a:latin typeface="Arial MT"/>
                <a:cs typeface="Arial MT"/>
              </a:rPr>
              <a:t>SHOWN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402659" y="4548523"/>
            <a:ext cx="55244" cy="55244"/>
          </a:xfrm>
          <a:custGeom>
            <a:avLst/>
            <a:gdLst/>
            <a:ahLst/>
            <a:cxnLst/>
            <a:rect l="l" t="t" r="r" b="b"/>
            <a:pathLst>
              <a:path w="55245" h="55245">
                <a:moveTo>
                  <a:pt x="0" y="54771"/>
                </a:moveTo>
                <a:lnTo>
                  <a:pt x="54691" y="54771"/>
                </a:lnTo>
                <a:lnTo>
                  <a:pt x="54691" y="0"/>
                </a:lnTo>
                <a:lnTo>
                  <a:pt x="0" y="0"/>
                </a:lnTo>
                <a:lnTo>
                  <a:pt x="0" y="54771"/>
                </a:lnTo>
                <a:close/>
              </a:path>
            </a:pathLst>
          </a:custGeom>
          <a:ln w="85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3471960" y="4210523"/>
            <a:ext cx="567055" cy="43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48895">
              <a:lnSpc>
                <a:spcPct val="157300"/>
              </a:lnSpc>
              <a:spcBef>
                <a:spcPts val="95"/>
              </a:spcBef>
            </a:pPr>
            <a:r>
              <a:rPr sz="850" spc="5" dirty="0">
                <a:latin typeface="Arial MT"/>
                <a:cs typeface="Arial MT"/>
              </a:rPr>
              <a:t>SHOWED  SHOWING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3451095" y="4345089"/>
            <a:ext cx="3157220" cy="307975"/>
          </a:xfrm>
          <a:custGeom>
            <a:avLst/>
            <a:gdLst/>
            <a:ahLst/>
            <a:cxnLst/>
            <a:rect l="l" t="t" r="r" b="b"/>
            <a:pathLst>
              <a:path w="3157220" h="307975">
                <a:moveTo>
                  <a:pt x="54672" y="27395"/>
                </a:moveTo>
                <a:lnTo>
                  <a:pt x="52523" y="16734"/>
                </a:lnTo>
                <a:lnTo>
                  <a:pt x="46663" y="8026"/>
                </a:lnTo>
                <a:lnTo>
                  <a:pt x="37973" y="2153"/>
                </a:lnTo>
                <a:lnTo>
                  <a:pt x="27336" y="0"/>
                </a:lnTo>
                <a:lnTo>
                  <a:pt x="16698" y="2153"/>
                </a:lnTo>
                <a:lnTo>
                  <a:pt x="8009" y="8026"/>
                </a:lnTo>
                <a:lnTo>
                  <a:pt x="2149" y="16734"/>
                </a:lnTo>
                <a:lnTo>
                  <a:pt x="0" y="27395"/>
                </a:lnTo>
                <a:lnTo>
                  <a:pt x="2149" y="38055"/>
                </a:lnTo>
                <a:lnTo>
                  <a:pt x="8009" y="46763"/>
                </a:lnTo>
                <a:lnTo>
                  <a:pt x="16698" y="52636"/>
                </a:lnTo>
                <a:lnTo>
                  <a:pt x="27336" y="54790"/>
                </a:lnTo>
                <a:lnTo>
                  <a:pt x="37973" y="52636"/>
                </a:lnTo>
                <a:lnTo>
                  <a:pt x="46663" y="46763"/>
                </a:lnTo>
                <a:lnTo>
                  <a:pt x="52523" y="38055"/>
                </a:lnTo>
                <a:lnTo>
                  <a:pt x="54672" y="27395"/>
                </a:lnTo>
              </a:path>
              <a:path w="3157220" h="307975">
                <a:moveTo>
                  <a:pt x="3102375" y="307426"/>
                </a:moveTo>
                <a:lnTo>
                  <a:pt x="3157066" y="307426"/>
                </a:lnTo>
                <a:lnTo>
                  <a:pt x="3157066" y="252654"/>
                </a:lnTo>
                <a:lnTo>
                  <a:pt x="3102375" y="252654"/>
                </a:lnTo>
                <a:lnTo>
                  <a:pt x="3102375" y="307426"/>
                </a:lnTo>
                <a:close/>
              </a:path>
            </a:pathLst>
          </a:custGeom>
          <a:ln w="85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6622761" y="4535713"/>
            <a:ext cx="433070" cy="1574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50" spc="5" dirty="0">
                <a:latin typeface="Arial MT"/>
                <a:cs typeface="Arial MT"/>
              </a:rPr>
              <a:t>EATING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3308234" y="1673028"/>
            <a:ext cx="55244" cy="55244"/>
          </a:xfrm>
          <a:custGeom>
            <a:avLst/>
            <a:gdLst/>
            <a:ahLst/>
            <a:cxnLst/>
            <a:rect l="l" t="t" r="r" b="b"/>
            <a:pathLst>
              <a:path w="55245" h="55244">
                <a:moveTo>
                  <a:pt x="54691" y="0"/>
                </a:moveTo>
                <a:lnTo>
                  <a:pt x="0" y="0"/>
                </a:lnTo>
                <a:lnTo>
                  <a:pt x="0" y="54771"/>
                </a:lnTo>
                <a:lnTo>
                  <a:pt x="54691" y="54771"/>
                </a:lnTo>
                <a:lnTo>
                  <a:pt x="5469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2634869" y="2885810"/>
            <a:ext cx="402590" cy="1574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50" spc="5" dirty="0">
                <a:latin typeface="Arial MT"/>
                <a:cs typeface="Arial MT"/>
              </a:rPr>
              <a:t>S</a:t>
            </a:r>
            <a:r>
              <a:rPr sz="850" u="heavy" spc="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P</a:t>
            </a:r>
            <a:r>
              <a:rPr sz="850" spc="5" dirty="0">
                <a:latin typeface="Arial MT"/>
                <a:cs typeface="Arial MT"/>
              </a:rPr>
              <a:t>OKE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2564880" y="2947198"/>
            <a:ext cx="55244" cy="55244"/>
          </a:xfrm>
          <a:custGeom>
            <a:avLst/>
            <a:gdLst/>
            <a:ahLst/>
            <a:cxnLst/>
            <a:rect l="l" t="t" r="r" b="b"/>
            <a:pathLst>
              <a:path w="55244" h="55244">
                <a:moveTo>
                  <a:pt x="54672" y="27395"/>
                </a:moveTo>
                <a:lnTo>
                  <a:pt x="52523" y="16734"/>
                </a:lnTo>
                <a:lnTo>
                  <a:pt x="46663" y="8026"/>
                </a:lnTo>
                <a:lnTo>
                  <a:pt x="37973" y="2153"/>
                </a:lnTo>
                <a:lnTo>
                  <a:pt x="27336" y="0"/>
                </a:lnTo>
                <a:lnTo>
                  <a:pt x="16698" y="2153"/>
                </a:lnTo>
                <a:lnTo>
                  <a:pt x="8009" y="8026"/>
                </a:lnTo>
                <a:lnTo>
                  <a:pt x="2149" y="16734"/>
                </a:lnTo>
                <a:lnTo>
                  <a:pt x="0" y="27395"/>
                </a:lnTo>
                <a:lnTo>
                  <a:pt x="2149" y="38055"/>
                </a:lnTo>
                <a:lnTo>
                  <a:pt x="8009" y="46763"/>
                </a:lnTo>
                <a:lnTo>
                  <a:pt x="16698" y="52636"/>
                </a:lnTo>
                <a:lnTo>
                  <a:pt x="27336" y="54790"/>
                </a:lnTo>
                <a:lnTo>
                  <a:pt x="37973" y="52636"/>
                </a:lnTo>
                <a:lnTo>
                  <a:pt x="46663" y="46763"/>
                </a:lnTo>
                <a:lnTo>
                  <a:pt x="52523" y="38055"/>
                </a:lnTo>
                <a:lnTo>
                  <a:pt x="54672" y="27395"/>
                </a:lnTo>
              </a:path>
            </a:pathLst>
          </a:custGeom>
          <a:ln w="85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3377549" y="1513782"/>
            <a:ext cx="1075055" cy="254635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2700" marR="5080" indent="574675">
              <a:lnSpc>
                <a:spcPct val="75100"/>
              </a:lnSpc>
              <a:spcBef>
                <a:spcPts val="365"/>
              </a:spcBef>
            </a:pPr>
            <a:r>
              <a:rPr sz="850" dirty="0">
                <a:latin typeface="Arial MT"/>
                <a:cs typeface="Arial MT"/>
              </a:rPr>
              <a:t>CHOOSE  </a:t>
            </a:r>
            <a:r>
              <a:rPr sz="850" spc="-120" dirty="0">
                <a:latin typeface="Arial MT"/>
                <a:cs typeface="Arial MT"/>
              </a:rPr>
              <a:t>CHOS</a:t>
            </a:r>
            <a:r>
              <a:rPr sz="1275" spc="-179" baseline="6535" dirty="0">
                <a:latin typeface="Arial MT"/>
                <a:cs typeface="Arial MT"/>
              </a:rPr>
              <a:t>C</a:t>
            </a:r>
            <a:r>
              <a:rPr sz="850" spc="-120" dirty="0">
                <a:latin typeface="Arial MT"/>
                <a:cs typeface="Arial MT"/>
              </a:rPr>
              <a:t>E</a:t>
            </a:r>
            <a:r>
              <a:rPr sz="1275" spc="-179" baseline="6535" dirty="0">
                <a:latin typeface="Arial MT"/>
                <a:cs typeface="Arial MT"/>
              </a:rPr>
              <a:t>H</a:t>
            </a:r>
            <a:r>
              <a:rPr sz="850" spc="-120" dirty="0">
                <a:latin typeface="Arial MT"/>
                <a:cs typeface="Arial MT"/>
              </a:rPr>
              <a:t>N</a:t>
            </a:r>
            <a:r>
              <a:rPr sz="1275" spc="-179" baseline="6535" dirty="0">
                <a:latin typeface="Arial MT"/>
                <a:cs typeface="Arial MT"/>
              </a:rPr>
              <a:t>OSE</a:t>
            </a:r>
            <a:endParaRPr sz="1275" baseline="6535">
              <a:latin typeface="Arial MT"/>
              <a:cs typeface="Arial MT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3600382" y="1658145"/>
            <a:ext cx="1666875" cy="3541395"/>
            <a:chOff x="3600382" y="1658145"/>
            <a:chExt cx="1666875" cy="3541395"/>
          </a:xfrm>
        </p:grpSpPr>
        <p:sp>
          <p:nvSpPr>
            <p:cNvPr id="34" name="object 34"/>
            <p:cNvSpPr/>
            <p:nvPr/>
          </p:nvSpPr>
          <p:spPr>
            <a:xfrm>
              <a:off x="3604827" y="1662590"/>
              <a:ext cx="55244" cy="55244"/>
            </a:xfrm>
            <a:custGeom>
              <a:avLst/>
              <a:gdLst/>
              <a:ahLst/>
              <a:cxnLst/>
              <a:rect l="l" t="t" r="r" b="b"/>
              <a:pathLst>
                <a:path w="55245" h="55244">
                  <a:moveTo>
                    <a:pt x="54672" y="27395"/>
                  </a:moveTo>
                  <a:lnTo>
                    <a:pt x="52523" y="16734"/>
                  </a:lnTo>
                  <a:lnTo>
                    <a:pt x="46663" y="8026"/>
                  </a:lnTo>
                  <a:lnTo>
                    <a:pt x="37973" y="2153"/>
                  </a:lnTo>
                  <a:lnTo>
                    <a:pt x="27336" y="0"/>
                  </a:lnTo>
                  <a:lnTo>
                    <a:pt x="16698" y="2153"/>
                  </a:lnTo>
                  <a:lnTo>
                    <a:pt x="8009" y="8026"/>
                  </a:lnTo>
                  <a:lnTo>
                    <a:pt x="2149" y="16734"/>
                  </a:lnTo>
                  <a:lnTo>
                    <a:pt x="0" y="27395"/>
                  </a:lnTo>
                  <a:lnTo>
                    <a:pt x="2149" y="38055"/>
                  </a:lnTo>
                  <a:lnTo>
                    <a:pt x="8009" y="46763"/>
                  </a:lnTo>
                  <a:lnTo>
                    <a:pt x="16698" y="52636"/>
                  </a:lnTo>
                  <a:lnTo>
                    <a:pt x="27336" y="54790"/>
                  </a:lnTo>
                  <a:lnTo>
                    <a:pt x="37973" y="52636"/>
                  </a:lnTo>
                  <a:lnTo>
                    <a:pt x="46663" y="46763"/>
                  </a:lnTo>
                  <a:lnTo>
                    <a:pt x="52523" y="38055"/>
                  </a:lnTo>
                  <a:lnTo>
                    <a:pt x="54672" y="27395"/>
                  </a:lnTo>
                </a:path>
              </a:pathLst>
            </a:custGeom>
            <a:ln w="85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212316" y="5144739"/>
              <a:ext cx="55244" cy="55244"/>
            </a:xfrm>
            <a:custGeom>
              <a:avLst/>
              <a:gdLst/>
              <a:ahLst/>
              <a:cxnLst/>
              <a:rect l="l" t="t" r="r" b="b"/>
              <a:pathLst>
                <a:path w="55245" h="55245">
                  <a:moveTo>
                    <a:pt x="54691" y="0"/>
                  </a:moveTo>
                  <a:lnTo>
                    <a:pt x="0" y="0"/>
                  </a:lnTo>
                  <a:lnTo>
                    <a:pt x="0" y="54771"/>
                  </a:lnTo>
                  <a:lnTo>
                    <a:pt x="54691" y="54771"/>
                  </a:lnTo>
                  <a:lnTo>
                    <a:pt x="5469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5281671" y="5082718"/>
            <a:ext cx="457200" cy="1574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50" spc="5" dirty="0">
                <a:latin typeface="Arial MT"/>
                <a:cs typeface="Arial MT"/>
              </a:rPr>
              <a:t>GROWN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024177" y="5341199"/>
            <a:ext cx="365760" cy="1574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50" spc="5" dirty="0">
                <a:latin typeface="Arial MT"/>
                <a:cs typeface="Arial MT"/>
              </a:rPr>
              <a:t>GREW</a:t>
            </a:r>
            <a:endParaRPr sz="850">
              <a:latin typeface="Arial MT"/>
              <a:cs typeface="Arial MT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4950051" y="3413330"/>
            <a:ext cx="1763395" cy="2049145"/>
            <a:chOff x="4950051" y="3413330"/>
            <a:chExt cx="1763395" cy="2049145"/>
          </a:xfrm>
        </p:grpSpPr>
        <p:sp>
          <p:nvSpPr>
            <p:cNvPr id="39" name="object 39"/>
            <p:cNvSpPr/>
            <p:nvPr/>
          </p:nvSpPr>
          <p:spPr>
            <a:xfrm>
              <a:off x="4954496" y="5403135"/>
              <a:ext cx="55244" cy="55244"/>
            </a:xfrm>
            <a:custGeom>
              <a:avLst/>
              <a:gdLst/>
              <a:ahLst/>
              <a:cxnLst/>
              <a:rect l="l" t="t" r="r" b="b"/>
              <a:pathLst>
                <a:path w="55245" h="55245">
                  <a:moveTo>
                    <a:pt x="54672" y="27395"/>
                  </a:moveTo>
                  <a:lnTo>
                    <a:pt x="52523" y="16734"/>
                  </a:lnTo>
                  <a:lnTo>
                    <a:pt x="46663" y="8026"/>
                  </a:lnTo>
                  <a:lnTo>
                    <a:pt x="37973" y="2153"/>
                  </a:lnTo>
                  <a:lnTo>
                    <a:pt x="27336" y="0"/>
                  </a:lnTo>
                  <a:lnTo>
                    <a:pt x="16698" y="2153"/>
                  </a:lnTo>
                  <a:lnTo>
                    <a:pt x="8009" y="8026"/>
                  </a:lnTo>
                  <a:lnTo>
                    <a:pt x="2149" y="16734"/>
                  </a:lnTo>
                  <a:lnTo>
                    <a:pt x="0" y="27395"/>
                  </a:lnTo>
                  <a:lnTo>
                    <a:pt x="2149" y="38055"/>
                  </a:lnTo>
                  <a:lnTo>
                    <a:pt x="8009" y="46763"/>
                  </a:lnTo>
                  <a:lnTo>
                    <a:pt x="16698" y="52636"/>
                  </a:lnTo>
                  <a:lnTo>
                    <a:pt x="27336" y="54790"/>
                  </a:lnTo>
                  <a:lnTo>
                    <a:pt x="37973" y="52636"/>
                  </a:lnTo>
                  <a:lnTo>
                    <a:pt x="46663" y="46763"/>
                  </a:lnTo>
                  <a:lnTo>
                    <a:pt x="52523" y="38055"/>
                  </a:lnTo>
                  <a:lnTo>
                    <a:pt x="54672" y="27395"/>
                  </a:lnTo>
                </a:path>
              </a:pathLst>
            </a:custGeom>
            <a:ln w="85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427168" y="3413330"/>
              <a:ext cx="55244" cy="55244"/>
            </a:xfrm>
            <a:custGeom>
              <a:avLst/>
              <a:gdLst/>
              <a:ahLst/>
              <a:cxnLst/>
              <a:rect l="l" t="t" r="r" b="b"/>
              <a:pathLst>
                <a:path w="55245" h="55245">
                  <a:moveTo>
                    <a:pt x="54691" y="0"/>
                  </a:moveTo>
                  <a:lnTo>
                    <a:pt x="0" y="0"/>
                  </a:lnTo>
                  <a:lnTo>
                    <a:pt x="0" y="54771"/>
                  </a:lnTo>
                  <a:lnTo>
                    <a:pt x="54691" y="54771"/>
                  </a:lnTo>
                  <a:lnTo>
                    <a:pt x="5469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654036" y="3454170"/>
              <a:ext cx="55244" cy="55244"/>
            </a:xfrm>
            <a:custGeom>
              <a:avLst/>
              <a:gdLst/>
              <a:ahLst/>
              <a:cxnLst/>
              <a:rect l="l" t="t" r="r" b="b"/>
              <a:pathLst>
                <a:path w="55245" h="55245">
                  <a:moveTo>
                    <a:pt x="0" y="54771"/>
                  </a:moveTo>
                  <a:lnTo>
                    <a:pt x="54691" y="54771"/>
                  </a:lnTo>
                  <a:lnTo>
                    <a:pt x="54691" y="0"/>
                  </a:lnTo>
                  <a:lnTo>
                    <a:pt x="0" y="0"/>
                  </a:lnTo>
                  <a:lnTo>
                    <a:pt x="0" y="54771"/>
                  </a:lnTo>
                  <a:close/>
                </a:path>
              </a:pathLst>
            </a:custGeom>
            <a:ln w="85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2812114" y="2939460"/>
            <a:ext cx="481330" cy="1574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50" spc="5" dirty="0">
                <a:latin typeface="Arial MT"/>
                <a:cs typeface="Arial MT"/>
              </a:rPr>
              <a:t>SPOKEN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723336" y="3392128"/>
            <a:ext cx="633095" cy="1574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50" spc="5" dirty="0">
                <a:latin typeface="Arial MT"/>
                <a:cs typeface="Arial MT"/>
              </a:rPr>
              <a:t>THROWING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6350510" y="2162158"/>
            <a:ext cx="55244" cy="55244"/>
          </a:xfrm>
          <a:custGeom>
            <a:avLst/>
            <a:gdLst/>
            <a:ahLst/>
            <a:cxnLst/>
            <a:rect l="l" t="t" r="r" b="b"/>
            <a:pathLst>
              <a:path w="55245" h="55244">
                <a:moveTo>
                  <a:pt x="27336" y="0"/>
                </a:moveTo>
                <a:lnTo>
                  <a:pt x="16699" y="2153"/>
                </a:lnTo>
                <a:lnTo>
                  <a:pt x="8009" y="8026"/>
                </a:lnTo>
                <a:lnTo>
                  <a:pt x="2149" y="16734"/>
                </a:lnTo>
                <a:lnTo>
                  <a:pt x="0" y="27395"/>
                </a:lnTo>
                <a:lnTo>
                  <a:pt x="2149" y="38055"/>
                </a:lnTo>
                <a:lnTo>
                  <a:pt x="8009" y="46763"/>
                </a:lnTo>
                <a:lnTo>
                  <a:pt x="16699" y="52636"/>
                </a:lnTo>
                <a:lnTo>
                  <a:pt x="27336" y="54790"/>
                </a:lnTo>
                <a:lnTo>
                  <a:pt x="37974" y="52636"/>
                </a:lnTo>
                <a:lnTo>
                  <a:pt x="46663" y="46763"/>
                </a:lnTo>
                <a:lnTo>
                  <a:pt x="52524" y="38055"/>
                </a:lnTo>
                <a:lnTo>
                  <a:pt x="54673" y="27395"/>
                </a:lnTo>
                <a:lnTo>
                  <a:pt x="52524" y="16734"/>
                </a:lnTo>
                <a:lnTo>
                  <a:pt x="46663" y="8026"/>
                </a:lnTo>
                <a:lnTo>
                  <a:pt x="37974" y="2153"/>
                </a:lnTo>
                <a:lnTo>
                  <a:pt x="2733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6861877" y="4448605"/>
            <a:ext cx="238125" cy="1574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50" spc="5" dirty="0">
                <a:latin typeface="Arial MT"/>
                <a:cs typeface="Arial MT"/>
              </a:rPr>
              <a:t>ATE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6792489" y="4510479"/>
            <a:ext cx="55244" cy="55244"/>
          </a:xfrm>
          <a:custGeom>
            <a:avLst/>
            <a:gdLst/>
            <a:ahLst/>
            <a:cxnLst/>
            <a:rect l="l" t="t" r="r" b="b"/>
            <a:pathLst>
              <a:path w="55245" h="55245">
                <a:moveTo>
                  <a:pt x="54672" y="27395"/>
                </a:moveTo>
                <a:lnTo>
                  <a:pt x="52523" y="16734"/>
                </a:lnTo>
                <a:lnTo>
                  <a:pt x="46663" y="8026"/>
                </a:lnTo>
                <a:lnTo>
                  <a:pt x="37973" y="2153"/>
                </a:lnTo>
                <a:lnTo>
                  <a:pt x="27336" y="0"/>
                </a:lnTo>
                <a:lnTo>
                  <a:pt x="16698" y="2153"/>
                </a:lnTo>
                <a:lnTo>
                  <a:pt x="8009" y="8026"/>
                </a:lnTo>
                <a:lnTo>
                  <a:pt x="2149" y="16734"/>
                </a:lnTo>
                <a:lnTo>
                  <a:pt x="0" y="27395"/>
                </a:lnTo>
                <a:lnTo>
                  <a:pt x="2149" y="38055"/>
                </a:lnTo>
                <a:lnTo>
                  <a:pt x="8009" y="46763"/>
                </a:lnTo>
                <a:lnTo>
                  <a:pt x="16698" y="52636"/>
                </a:lnTo>
                <a:lnTo>
                  <a:pt x="27336" y="54790"/>
                </a:lnTo>
                <a:lnTo>
                  <a:pt x="37973" y="52636"/>
                </a:lnTo>
                <a:lnTo>
                  <a:pt x="46663" y="46763"/>
                </a:lnTo>
                <a:lnTo>
                  <a:pt x="52523" y="38055"/>
                </a:lnTo>
                <a:lnTo>
                  <a:pt x="54672" y="27395"/>
                </a:lnTo>
              </a:path>
            </a:pathLst>
          </a:custGeom>
          <a:ln w="85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6471137" y="3361346"/>
            <a:ext cx="1059180" cy="1574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275" spc="-232" baseline="6535" dirty="0">
                <a:latin typeface="Arial MT"/>
                <a:cs typeface="Arial MT"/>
              </a:rPr>
              <a:t>THROW</a:t>
            </a:r>
            <a:r>
              <a:rPr sz="1275" spc="-232" baseline="19607" dirty="0">
                <a:latin typeface="Arial MT"/>
                <a:cs typeface="Arial MT"/>
              </a:rPr>
              <a:t>T</a:t>
            </a:r>
            <a:r>
              <a:rPr sz="1275" spc="-232" baseline="6535" dirty="0">
                <a:latin typeface="Arial MT"/>
                <a:cs typeface="Arial MT"/>
              </a:rPr>
              <a:t>N</a:t>
            </a:r>
            <a:r>
              <a:rPr sz="1275" spc="-232" baseline="19607" dirty="0">
                <a:latin typeface="Arial MT"/>
                <a:cs typeface="Arial MT"/>
              </a:rPr>
              <a:t>HR</a:t>
            </a:r>
            <a:r>
              <a:rPr sz="850" spc="-155" dirty="0">
                <a:latin typeface="Arial MT"/>
                <a:cs typeface="Arial MT"/>
              </a:rPr>
              <a:t>T</a:t>
            </a:r>
            <a:r>
              <a:rPr sz="1275" spc="-232" baseline="19607" dirty="0">
                <a:latin typeface="Arial MT"/>
                <a:cs typeface="Arial MT"/>
              </a:rPr>
              <a:t>O</a:t>
            </a:r>
            <a:r>
              <a:rPr sz="850" spc="-155" dirty="0">
                <a:latin typeface="Arial MT"/>
                <a:cs typeface="Arial MT"/>
              </a:rPr>
              <a:t>H</a:t>
            </a:r>
            <a:r>
              <a:rPr sz="1275" spc="-232" baseline="19607" dirty="0">
                <a:latin typeface="Arial MT"/>
                <a:cs typeface="Arial MT"/>
              </a:rPr>
              <a:t>W</a:t>
            </a:r>
            <a:r>
              <a:rPr sz="850" spc="-155" dirty="0">
                <a:latin typeface="Arial MT"/>
                <a:cs typeface="Arial MT"/>
              </a:rPr>
              <a:t>REW</a:t>
            </a:r>
            <a:endParaRPr sz="850">
              <a:latin typeface="Arial MT"/>
              <a:cs typeface="Arial MT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4002909" y="1497927"/>
            <a:ext cx="3065780" cy="1984375"/>
            <a:chOff x="4002909" y="1497927"/>
            <a:chExt cx="3065780" cy="1984375"/>
          </a:xfrm>
        </p:grpSpPr>
        <p:sp>
          <p:nvSpPr>
            <p:cNvPr id="49" name="object 49"/>
            <p:cNvSpPr/>
            <p:nvPr/>
          </p:nvSpPr>
          <p:spPr>
            <a:xfrm>
              <a:off x="7009521" y="3422980"/>
              <a:ext cx="55244" cy="55244"/>
            </a:xfrm>
            <a:custGeom>
              <a:avLst/>
              <a:gdLst/>
              <a:ahLst/>
              <a:cxnLst/>
              <a:rect l="l" t="t" r="r" b="b"/>
              <a:pathLst>
                <a:path w="55245" h="55245">
                  <a:moveTo>
                    <a:pt x="54672" y="27395"/>
                  </a:moveTo>
                  <a:lnTo>
                    <a:pt x="52523" y="16734"/>
                  </a:lnTo>
                  <a:lnTo>
                    <a:pt x="46663" y="8026"/>
                  </a:lnTo>
                  <a:lnTo>
                    <a:pt x="37973" y="2153"/>
                  </a:lnTo>
                  <a:lnTo>
                    <a:pt x="27336" y="0"/>
                  </a:lnTo>
                  <a:lnTo>
                    <a:pt x="16698" y="2153"/>
                  </a:lnTo>
                  <a:lnTo>
                    <a:pt x="8009" y="8026"/>
                  </a:lnTo>
                  <a:lnTo>
                    <a:pt x="2149" y="16734"/>
                  </a:lnTo>
                  <a:lnTo>
                    <a:pt x="0" y="27395"/>
                  </a:lnTo>
                  <a:lnTo>
                    <a:pt x="2149" y="38055"/>
                  </a:lnTo>
                  <a:lnTo>
                    <a:pt x="8009" y="46763"/>
                  </a:lnTo>
                  <a:lnTo>
                    <a:pt x="16698" y="52636"/>
                  </a:lnTo>
                  <a:lnTo>
                    <a:pt x="27336" y="54790"/>
                  </a:lnTo>
                  <a:lnTo>
                    <a:pt x="37973" y="52636"/>
                  </a:lnTo>
                  <a:lnTo>
                    <a:pt x="46663" y="46763"/>
                  </a:lnTo>
                  <a:lnTo>
                    <a:pt x="52523" y="38055"/>
                  </a:lnTo>
                  <a:lnTo>
                    <a:pt x="54672" y="27395"/>
                  </a:lnTo>
                </a:path>
              </a:pathLst>
            </a:custGeom>
            <a:ln w="85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597724" y="2049292"/>
              <a:ext cx="55244" cy="55244"/>
            </a:xfrm>
            <a:custGeom>
              <a:avLst/>
              <a:gdLst/>
              <a:ahLst/>
              <a:cxnLst/>
              <a:rect l="l" t="t" r="r" b="b"/>
              <a:pathLst>
                <a:path w="55245" h="55244">
                  <a:moveTo>
                    <a:pt x="54691" y="0"/>
                  </a:moveTo>
                  <a:lnTo>
                    <a:pt x="0" y="0"/>
                  </a:lnTo>
                  <a:lnTo>
                    <a:pt x="0" y="54771"/>
                  </a:lnTo>
                  <a:lnTo>
                    <a:pt x="54691" y="54771"/>
                  </a:lnTo>
                  <a:lnTo>
                    <a:pt x="5469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4007354" y="1502372"/>
              <a:ext cx="2534920" cy="988060"/>
            </a:xfrm>
            <a:custGeom>
              <a:avLst/>
              <a:gdLst/>
              <a:ahLst/>
              <a:cxnLst/>
              <a:rect l="l" t="t" r="r" b="b"/>
              <a:pathLst>
                <a:path w="2534920" h="988060">
                  <a:moveTo>
                    <a:pt x="2480140" y="987698"/>
                  </a:moveTo>
                  <a:lnTo>
                    <a:pt x="2534832" y="987698"/>
                  </a:lnTo>
                  <a:lnTo>
                    <a:pt x="2534832" y="932927"/>
                  </a:lnTo>
                  <a:lnTo>
                    <a:pt x="2480140" y="932927"/>
                  </a:lnTo>
                  <a:lnTo>
                    <a:pt x="2480140" y="987698"/>
                  </a:lnTo>
                  <a:close/>
                </a:path>
                <a:path w="2534920" h="988060">
                  <a:moveTo>
                    <a:pt x="0" y="54771"/>
                  </a:moveTo>
                  <a:lnTo>
                    <a:pt x="54691" y="54771"/>
                  </a:lnTo>
                  <a:lnTo>
                    <a:pt x="54691" y="0"/>
                  </a:lnTo>
                  <a:lnTo>
                    <a:pt x="0" y="0"/>
                  </a:lnTo>
                  <a:lnTo>
                    <a:pt x="0" y="54771"/>
                  </a:lnTo>
                  <a:close/>
                </a:path>
              </a:pathLst>
            </a:custGeom>
            <a:ln w="85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4076668" y="1440365"/>
            <a:ext cx="621030" cy="1574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50" dirty="0">
                <a:latin typeface="Arial MT"/>
                <a:cs typeface="Arial MT"/>
              </a:rPr>
              <a:t>CHOOSING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6419868" y="1987243"/>
            <a:ext cx="710565" cy="542925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12700" marR="5080" indent="247015">
              <a:lnSpc>
                <a:spcPts val="890"/>
              </a:lnSpc>
              <a:spcBef>
                <a:spcPts val="250"/>
              </a:spcBef>
            </a:pPr>
            <a:r>
              <a:rPr sz="850" spc="5" dirty="0">
                <a:latin typeface="Arial MT"/>
                <a:cs typeface="Arial MT"/>
              </a:rPr>
              <a:t>STOLEN  STEAL</a:t>
            </a:r>
            <a:endParaRPr sz="850">
              <a:latin typeface="Arial MT"/>
              <a:cs typeface="Arial MT"/>
            </a:endParaRPr>
          </a:p>
          <a:p>
            <a:pPr marL="290830">
              <a:lnSpc>
                <a:spcPts val="900"/>
              </a:lnSpc>
            </a:pPr>
            <a:r>
              <a:rPr sz="850" spc="5" dirty="0">
                <a:latin typeface="Arial MT"/>
                <a:cs typeface="Arial MT"/>
              </a:rPr>
              <a:t>STOLE</a:t>
            </a:r>
            <a:endParaRPr sz="850">
              <a:latin typeface="Arial MT"/>
              <a:cs typeface="Arial MT"/>
            </a:endParaRPr>
          </a:p>
          <a:p>
            <a:pPr marL="149225">
              <a:lnSpc>
                <a:spcPct val="100000"/>
              </a:lnSpc>
              <a:spcBef>
                <a:spcPts val="220"/>
              </a:spcBef>
            </a:pPr>
            <a:r>
              <a:rPr sz="850" spc="5" dirty="0">
                <a:latin typeface="Arial MT"/>
                <a:cs typeface="Arial MT"/>
              </a:rPr>
              <a:t>STEALING</a:t>
            </a:r>
            <a:endParaRPr sz="850">
              <a:latin typeface="Arial MT"/>
              <a:cs typeface="Arial MT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6200754" y="2273435"/>
            <a:ext cx="488315" cy="2153920"/>
            <a:chOff x="6200754" y="2273435"/>
            <a:chExt cx="488315" cy="2153920"/>
          </a:xfrm>
        </p:grpSpPr>
        <p:sp>
          <p:nvSpPr>
            <p:cNvPr id="55" name="object 55"/>
            <p:cNvSpPr/>
            <p:nvPr/>
          </p:nvSpPr>
          <p:spPr>
            <a:xfrm>
              <a:off x="6629715" y="2277707"/>
              <a:ext cx="55244" cy="55244"/>
            </a:xfrm>
            <a:custGeom>
              <a:avLst/>
              <a:gdLst/>
              <a:ahLst/>
              <a:cxnLst/>
              <a:rect l="l" t="t" r="r" b="b"/>
              <a:pathLst>
                <a:path w="55245" h="55244">
                  <a:moveTo>
                    <a:pt x="54672" y="27395"/>
                  </a:moveTo>
                  <a:lnTo>
                    <a:pt x="52523" y="16734"/>
                  </a:lnTo>
                  <a:lnTo>
                    <a:pt x="46663" y="8026"/>
                  </a:lnTo>
                  <a:lnTo>
                    <a:pt x="37973" y="2153"/>
                  </a:lnTo>
                  <a:lnTo>
                    <a:pt x="27336" y="0"/>
                  </a:lnTo>
                  <a:lnTo>
                    <a:pt x="16698" y="2153"/>
                  </a:lnTo>
                  <a:lnTo>
                    <a:pt x="8009" y="8026"/>
                  </a:lnTo>
                  <a:lnTo>
                    <a:pt x="2149" y="16734"/>
                  </a:lnTo>
                  <a:lnTo>
                    <a:pt x="0" y="27395"/>
                  </a:lnTo>
                  <a:lnTo>
                    <a:pt x="2149" y="38055"/>
                  </a:lnTo>
                  <a:lnTo>
                    <a:pt x="8009" y="46763"/>
                  </a:lnTo>
                  <a:lnTo>
                    <a:pt x="16698" y="52636"/>
                  </a:lnTo>
                  <a:lnTo>
                    <a:pt x="27336" y="54790"/>
                  </a:lnTo>
                  <a:lnTo>
                    <a:pt x="37973" y="52636"/>
                  </a:lnTo>
                  <a:lnTo>
                    <a:pt x="46663" y="46763"/>
                  </a:lnTo>
                  <a:lnTo>
                    <a:pt x="52523" y="38055"/>
                  </a:lnTo>
                  <a:lnTo>
                    <a:pt x="54672" y="27395"/>
                  </a:lnTo>
                </a:path>
              </a:pathLst>
            </a:custGeom>
            <a:ln w="85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6200754" y="4372293"/>
              <a:ext cx="55244" cy="55244"/>
            </a:xfrm>
            <a:custGeom>
              <a:avLst/>
              <a:gdLst/>
              <a:ahLst/>
              <a:cxnLst/>
              <a:rect l="l" t="t" r="r" b="b"/>
              <a:pathLst>
                <a:path w="55245" h="55245">
                  <a:moveTo>
                    <a:pt x="54691" y="0"/>
                  </a:moveTo>
                  <a:lnTo>
                    <a:pt x="0" y="0"/>
                  </a:lnTo>
                  <a:lnTo>
                    <a:pt x="0" y="54771"/>
                  </a:lnTo>
                  <a:lnTo>
                    <a:pt x="54691" y="54771"/>
                  </a:lnTo>
                  <a:lnTo>
                    <a:pt x="5469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6244706" y="4310261"/>
            <a:ext cx="501650" cy="1574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850" spc="-5" dirty="0">
                <a:latin typeface="Arial MT"/>
                <a:cs typeface="Arial MT"/>
              </a:rPr>
              <a:t>EATEN</a:t>
            </a:r>
            <a:r>
              <a:rPr sz="1275" spc="-7" baseline="-9803" dirty="0">
                <a:latin typeface="Arial MT"/>
                <a:cs typeface="Arial MT"/>
              </a:rPr>
              <a:t>T</a:t>
            </a:r>
            <a:endParaRPr sz="1275" baseline="-9803">
              <a:latin typeface="Arial MT"/>
              <a:cs typeface="Arial MT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1389242" y="6127104"/>
            <a:ext cx="7409815" cy="902335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900" dirty="0">
                <a:latin typeface="Calibri"/>
                <a:cs typeface="Calibri"/>
              </a:rPr>
              <a:t>COALS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spc="10" dirty="0">
                <a:latin typeface="Calibri"/>
                <a:cs typeface="Calibri"/>
              </a:rPr>
              <a:t>model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from</a:t>
            </a:r>
            <a:endParaRPr sz="1900" dirty="0">
              <a:latin typeface="Calibri"/>
              <a:cs typeface="Calibri"/>
            </a:endParaRPr>
          </a:p>
          <a:p>
            <a:pPr marL="12700" marR="5080">
              <a:lnSpc>
                <a:spcPts val="2300"/>
              </a:lnSpc>
              <a:spcBef>
                <a:spcPts val="60"/>
              </a:spcBef>
            </a:pPr>
            <a:r>
              <a:rPr sz="1900" dirty="0">
                <a:latin typeface="Calibri"/>
                <a:cs typeface="Calibri"/>
              </a:rPr>
              <a:t>An</a:t>
            </a:r>
            <a:r>
              <a:rPr sz="1900" spc="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Improved</a:t>
            </a:r>
            <a:r>
              <a:rPr sz="1900" spc="30" dirty="0">
                <a:latin typeface="Calibri"/>
                <a:cs typeface="Calibri"/>
              </a:rPr>
              <a:t> </a:t>
            </a:r>
            <a:r>
              <a:rPr sz="1900" spc="10" dirty="0">
                <a:latin typeface="Calibri"/>
                <a:cs typeface="Calibri"/>
              </a:rPr>
              <a:t>Model</a:t>
            </a:r>
            <a:r>
              <a:rPr sz="1900" spc="2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of</a:t>
            </a:r>
            <a:r>
              <a:rPr sz="1900" spc="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Semantic</a:t>
            </a:r>
            <a:r>
              <a:rPr sz="1900" spc="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Similarity</a:t>
            </a:r>
            <a:r>
              <a:rPr sz="1900" spc="25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Based</a:t>
            </a:r>
            <a:r>
              <a:rPr sz="1900" spc="3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on</a:t>
            </a:r>
            <a:r>
              <a:rPr sz="1900" spc="3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Lexical</a:t>
            </a:r>
            <a:r>
              <a:rPr sz="1900" spc="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Co-Occurrence </a:t>
            </a:r>
            <a:r>
              <a:rPr sz="1900" spc="-4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Rohde</a:t>
            </a:r>
            <a:r>
              <a:rPr sz="1900" spc="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et</a:t>
            </a:r>
            <a:r>
              <a:rPr sz="1900" spc="1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al.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ms.,</a:t>
            </a:r>
            <a:r>
              <a:rPr sz="1900" spc="15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2005</a:t>
            </a:r>
            <a:endParaRPr sz="1900" dirty="0">
              <a:latin typeface="Calibri"/>
              <a:cs typeface="Calibri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537718" y="6952713"/>
            <a:ext cx="269875" cy="25844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z="1500" dirty="0">
                <a:latin typeface="Calibri"/>
                <a:cs typeface="Calibri"/>
              </a:rPr>
              <a:t>24</a:t>
            </a:fld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543813"/>
            <a:ext cx="8462010" cy="497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100" spc="-5" dirty="0"/>
              <a:t>Interesting</a:t>
            </a:r>
            <a:r>
              <a:rPr sz="3100" spc="-30" dirty="0"/>
              <a:t> </a:t>
            </a:r>
            <a:r>
              <a:rPr sz="3100" spc="-5" dirty="0"/>
              <a:t>semantic</a:t>
            </a:r>
            <a:r>
              <a:rPr sz="3100" spc="-20" dirty="0"/>
              <a:t> </a:t>
            </a:r>
            <a:r>
              <a:rPr sz="3100" spc="-10" dirty="0"/>
              <a:t>patterns</a:t>
            </a:r>
            <a:r>
              <a:rPr sz="3100" spc="-15" dirty="0"/>
              <a:t> </a:t>
            </a:r>
            <a:r>
              <a:rPr sz="3100" spc="-5" dirty="0"/>
              <a:t>emerge</a:t>
            </a:r>
            <a:r>
              <a:rPr sz="3100" spc="-25" dirty="0"/>
              <a:t> </a:t>
            </a:r>
            <a:r>
              <a:rPr sz="3100" spc="-5" dirty="0"/>
              <a:t>in</a:t>
            </a:r>
            <a:r>
              <a:rPr sz="3100" spc="-30" dirty="0"/>
              <a:t> </a:t>
            </a:r>
            <a:r>
              <a:rPr sz="3100" spc="-10" dirty="0"/>
              <a:t>the</a:t>
            </a:r>
            <a:r>
              <a:rPr sz="3100" spc="-25" dirty="0"/>
              <a:t> </a:t>
            </a:r>
            <a:r>
              <a:rPr sz="3100" spc="-5" dirty="0"/>
              <a:t>vectors</a:t>
            </a:r>
            <a:endParaRPr sz="3100"/>
          </a:p>
        </p:txBody>
      </p:sp>
      <p:sp>
        <p:nvSpPr>
          <p:cNvPr id="3" name="object 3"/>
          <p:cNvSpPr/>
          <p:nvPr/>
        </p:nvSpPr>
        <p:spPr>
          <a:xfrm>
            <a:off x="2531372" y="1382413"/>
            <a:ext cx="4549775" cy="4552315"/>
          </a:xfrm>
          <a:custGeom>
            <a:avLst/>
            <a:gdLst/>
            <a:ahLst/>
            <a:cxnLst/>
            <a:rect l="l" t="t" r="r" b="b"/>
            <a:pathLst>
              <a:path w="4549775" h="4552315">
                <a:moveTo>
                  <a:pt x="0" y="4552004"/>
                </a:moveTo>
                <a:lnTo>
                  <a:pt x="4549532" y="4552004"/>
                </a:lnTo>
                <a:lnTo>
                  <a:pt x="4549532" y="0"/>
                </a:lnTo>
                <a:lnTo>
                  <a:pt x="0" y="0"/>
                </a:lnTo>
                <a:lnTo>
                  <a:pt x="0" y="4552004"/>
                </a:lnTo>
                <a:close/>
              </a:path>
            </a:pathLst>
          </a:custGeom>
          <a:ln w="84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667167" y="2390107"/>
            <a:ext cx="438150" cy="1879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50" dirty="0">
                <a:latin typeface="Arial MT"/>
                <a:cs typeface="Arial MT"/>
              </a:rPr>
              <a:t>DRIVE</a:t>
            </a:r>
            <a:endParaRPr sz="105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74222" y="2459671"/>
            <a:ext cx="75928" cy="7599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993191" y="4849814"/>
            <a:ext cx="475615" cy="1879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50" dirty="0">
                <a:latin typeface="Arial MT"/>
                <a:cs typeface="Arial MT"/>
              </a:rPr>
              <a:t>LEARN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900926" y="3825137"/>
            <a:ext cx="2117090" cy="1170305"/>
            <a:chOff x="3900926" y="3825137"/>
            <a:chExt cx="2117090" cy="117030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00926" y="4919098"/>
              <a:ext cx="75928" cy="7599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50060" y="3825137"/>
              <a:ext cx="67482" cy="67551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2756426" y="3372706"/>
            <a:ext cx="475615" cy="1879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50" dirty="0">
                <a:latin typeface="Arial MT"/>
                <a:cs typeface="Arial MT"/>
              </a:rPr>
              <a:t>CLEAN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663519" y="1429557"/>
            <a:ext cx="1287780" cy="2088514"/>
            <a:chOff x="2663519" y="1429557"/>
            <a:chExt cx="1287780" cy="2088514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3519" y="3441654"/>
              <a:ext cx="75928" cy="7599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83463" y="1429557"/>
              <a:ext cx="67482" cy="67551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3971951" y="1356218"/>
            <a:ext cx="535940" cy="1879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50" dirty="0">
                <a:latin typeface="Arial MT"/>
                <a:cs typeface="Arial MT"/>
              </a:rPr>
              <a:t>DRIVER</a:t>
            </a:r>
            <a:endParaRPr sz="1050">
              <a:latin typeface="Arial MT"/>
              <a:cs typeface="Arial MT"/>
            </a:endParaRPr>
          </a:p>
        </p:txBody>
      </p:sp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495918" y="2594146"/>
            <a:ext cx="67483" cy="67551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4840472" y="4794119"/>
            <a:ext cx="483234" cy="1879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50" spc="5" dirty="0">
                <a:latin typeface="Arial MT"/>
                <a:cs typeface="Arial MT"/>
              </a:rPr>
              <a:t>TEACH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747976" y="3479081"/>
            <a:ext cx="773430" cy="1459865"/>
            <a:chOff x="4747976" y="3479081"/>
            <a:chExt cx="773430" cy="1459865"/>
          </a:xfrm>
        </p:grpSpPr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47976" y="4862911"/>
              <a:ext cx="75928" cy="75996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53822" y="3479081"/>
              <a:ext cx="67482" cy="67550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5542575" y="3405206"/>
            <a:ext cx="671195" cy="1879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50" spc="5" dirty="0">
                <a:latin typeface="Arial MT"/>
                <a:cs typeface="Arial MT"/>
              </a:rPr>
              <a:t>TEACHER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131017" y="5746127"/>
            <a:ext cx="468630" cy="1879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50" spc="5" dirty="0">
                <a:latin typeface="Arial MT"/>
                <a:cs typeface="Arial MT"/>
              </a:rPr>
              <a:t>TREAT</a:t>
            </a:r>
            <a:endParaRPr sz="1050">
              <a:latin typeface="Arial MT"/>
              <a:cs typeface="Arial MT"/>
            </a:endParaRPr>
          </a:p>
        </p:txBody>
      </p:sp>
      <p:pic>
        <p:nvPicPr>
          <p:cNvPr id="22" name="object 2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38699" y="5815524"/>
            <a:ext cx="75928" cy="75996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5421024" y="5689901"/>
            <a:ext cx="393065" cy="1879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50" spc="5" dirty="0">
                <a:latin typeface="Arial MT"/>
                <a:cs typeface="Arial MT"/>
              </a:rPr>
              <a:t>PRAY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328408" y="4302720"/>
            <a:ext cx="1438275" cy="1532890"/>
            <a:chOff x="5328408" y="4302720"/>
            <a:chExt cx="1438275" cy="1532890"/>
          </a:xfrm>
        </p:grpSpPr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28408" y="5759338"/>
              <a:ext cx="75928" cy="75996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698882" y="4302720"/>
              <a:ext cx="67482" cy="67551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6787343" y="4229106"/>
            <a:ext cx="513080" cy="1879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50" spc="5" dirty="0">
                <a:latin typeface="Arial MT"/>
                <a:cs typeface="Arial MT"/>
              </a:rPr>
              <a:t>PRIEST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759236" y="5023265"/>
            <a:ext cx="513080" cy="1879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50" spc="5" dirty="0">
                <a:latin typeface="Arial MT"/>
                <a:cs typeface="Arial MT"/>
              </a:rPr>
              <a:t>MARRY</a:t>
            </a:r>
            <a:endParaRPr sz="1050">
              <a:latin typeface="Arial MT"/>
              <a:cs typeface="Arial MT"/>
            </a:endParaRPr>
          </a:p>
        </p:txBody>
      </p:sp>
      <p:pic>
        <p:nvPicPr>
          <p:cNvPr id="29" name="object 2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66463" y="5092765"/>
            <a:ext cx="75928" cy="75996"/>
          </a:xfrm>
          <a:prstGeom prst="rect">
            <a:avLst/>
          </a:prstGeom>
        </p:spPr>
      </p:pic>
      <p:sp>
        <p:nvSpPr>
          <p:cNvPr id="30" name="object 30"/>
          <p:cNvSpPr txBox="1"/>
          <p:nvPr/>
        </p:nvSpPr>
        <p:spPr>
          <a:xfrm>
            <a:off x="3551959" y="4119613"/>
            <a:ext cx="393065" cy="1879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50" spc="5" dirty="0">
                <a:latin typeface="Arial MT"/>
                <a:cs typeface="Arial MT"/>
              </a:rPr>
              <a:t>SWIM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3459541" y="4028174"/>
            <a:ext cx="3573779" cy="236854"/>
            <a:chOff x="3459541" y="4028174"/>
            <a:chExt cx="3573779" cy="236854"/>
          </a:xfrm>
        </p:grpSpPr>
        <p:pic>
          <p:nvPicPr>
            <p:cNvPr id="32" name="object 3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459541" y="4188676"/>
              <a:ext cx="75928" cy="75996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965498" y="4028174"/>
              <a:ext cx="67483" cy="67550"/>
            </a:xfrm>
            <a:prstGeom prst="rect">
              <a:avLst/>
            </a:prstGeom>
          </p:spPr>
        </p:pic>
      </p:grpSp>
      <p:sp>
        <p:nvSpPr>
          <p:cNvPr id="34" name="object 34"/>
          <p:cNvSpPr txBox="1"/>
          <p:nvPr/>
        </p:nvSpPr>
        <p:spPr>
          <a:xfrm>
            <a:off x="6037931" y="3710986"/>
            <a:ext cx="1454785" cy="43180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050" dirty="0">
                <a:latin typeface="Arial MT"/>
                <a:cs typeface="Arial MT"/>
              </a:rPr>
              <a:t>DOCTOR</a:t>
            </a:r>
            <a:endParaRPr sz="1050">
              <a:latin typeface="Arial MT"/>
              <a:cs typeface="Arial MT"/>
            </a:endParaRPr>
          </a:p>
          <a:p>
            <a:pPr marL="1029335">
              <a:lnSpc>
                <a:spcPct val="100000"/>
              </a:lnSpc>
              <a:spcBef>
                <a:spcPts val="340"/>
              </a:spcBef>
            </a:pPr>
            <a:r>
              <a:rPr sz="1050" spc="5" dirty="0">
                <a:latin typeface="Arial MT"/>
                <a:cs typeface="Arial MT"/>
              </a:rPr>
              <a:t>BRIDE</a:t>
            </a:r>
            <a:endParaRPr sz="1050">
              <a:latin typeface="Arial MT"/>
              <a:cs typeface="Arial MT"/>
            </a:endParaRPr>
          </a:p>
        </p:txBody>
      </p:sp>
      <p:pic>
        <p:nvPicPr>
          <p:cNvPr id="35" name="object 3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106969" y="2350246"/>
            <a:ext cx="67482" cy="67551"/>
          </a:xfrm>
          <a:prstGeom prst="rect">
            <a:avLst/>
          </a:prstGeom>
        </p:spPr>
      </p:pic>
      <p:sp>
        <p:nvSpPr>
          <p:cNvPr id="36" name="object 36"/>
          <p:cNvSpPr txBox="1"/>
          <p:nvPr/>
        </p:nvSpPr>
        <p:spPr>
          <a:xfrm>
            <a:off x="5584192" y="2196168"/>
            <a:ext cx="1214120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610870">
              <a:lnSpc>
                <a:spcPct val="152000"/>
              </a:lnSpc>
              <a:spcBef>
                <a:spcPts val="95"/>
              </a:spcBef>
            </a:pPr>
            <a:r>
              <a:rPr sz="1050" spc="5" dirty="0">
                <a:latin typeface="Arial MT"/>
                <a:cs typeface="Arial MT"/>
              </a:rPr>
              <a:t>JANITOR  STUDENT</a:t>
            </a:r>
            <a:endParaRPr sz="1050">
              <a:latin typeface="Arial MT"/>
              <a:cs typeface="Arial MT"/>
            </a:endParaRPr>
          </a:p>
        </p:txBody>
      </p:sp>
      <p:pic>
        <p:nvPicPr>
          <p:cNvPr id="37" name="object 3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503442" y="2453680"/>
            <a:ext cx="67482" cy="67551"/>
          </a:xfrm>
          <a:prstGeom prst="rect">
            <a:avLst/>
          </a:prstGeom>
        </p:spPr>
      </p:pic>
      <p:sp>
        <p:nvSpPr>
          <p:cNvPr id="38" name="object 38"/>
          <p:cNvSpPr txBox="1"/>
          <p:nvPr/>
        </p:nvSpPr>
        <p:spPr>
          <a:xfrm>
            <a:off x="4592593" y="2380637"/>
            <a:ext cx="693420" cy="1879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50" spc="5" dirty="0">
                <a:latin typeface="Arial MT"/>
                <a:cs typeface="Arial MT"/>
              </a:rPr>
              <a:t>SWIMMER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389242" y="6127104"/>
            <a:ext cx="7409815" cy="902335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900" dirty="0">
                <a:latin typeface="Calibri"/>
                <a:cs typeface="Calibri"/>
              </a:rPr>
              <a:t>COALS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spc="10" dirty="0">
                <a:latin typeface="Calibri"/>
                <a:cs typeface="Calibri"/>
              </a:rPr>
              <a:t>model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from</a:t>
            </a:r>
            <a:endParaRPr sz="1900">
              <a:latin typeface="Calibri"/>
              <a:cs typeface="Calibri"/>
            </a:endParaRPr>
          </a:p>
          <a:p>
            <a:pPr marL="12700" marR="5080">
              <a:lnSpc>
                <a:spcPts val="2300"/>
              </a:lnSpc>
              <a:spcBef>
                <a:spcPts val="60"/>
              </a:spcBef>
            </a:pPr>
            <a:r>
              <a:rPr sz="1900" dirty="0">
                <a:latin typeface="Calibri"/>
                <a:cs typeface="Calibri"/>
              </a:rPr>
              <a:t>An</a:t>
            </a:r>
            <a:r>
              <a:rPr sz="1900" spc="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Improved</a:t>
            </a:r>
            <a:r>
              <a:rPr sz="1900" spc="30" dirty="0">
                <a:latin typeface="Calibri"/>
                <a:cs typeface="Calibri"/>
              </a:rPr>
              <a:t> </a:t>
            </a:r>
            <a:r>
              <a:rPr sz="1900" spc="10" dirty="0">
                <a:latin typeface="Calibri"/>
                <a:cs typeface="Calibri"/>
              </a:rPr>
              <a:t>Model</a:t>
            </a:r>
            <a:r>
              <a:rPr sz="1900" spc="2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of</a:t>
            </a:r>
            <a:r>
              <a:rPr sz="1900" spc="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Semantic</a:t>
            </a:r>
            <a:r>
              <a:rPr sz="1900" spc="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Similarity</a:t>
            </a:r>
            <a:r>
              <a:rPr sz="1900" spc="25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Based</a:t>
            </a:r>
            <a:r>
              <a:rPr sz="1900" spc="3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on</a:t>
            </a:r>
            <a:r>
              <a:rPr sz="1900" spc="3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Lexical</a:t>
            </a:r>
            <a:r>
              <a:rPr sz="1900" spc="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Co-Occurrence </a:t>
            </a:r>
            <a:r>
              <a:rPr sz="1900" spc="-4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Rohde</a:t>
            </a:r>
            <a:r>
              <a:rPr sz="1900" spc="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et</a:t>
            </a:r>
            <a:r>
              <a:rPr sz="1900" spc="1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al.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ms.,</a:t>
            </a:r>
            <a:r>
              <a:rPr sz="1900" spc="15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2005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37718" y="6952713"/>
            <a:ext cx="269875" cy="25844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z="1500" dirty="0">
                <a:latin typeface="Calibri"/>
                <a:cs typeface="Calibri"/>
              </a:rPr>
              <a:t>25</a:t>
            </a:fld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496569"/>
            <a:ext cx="594995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Count based</a:t>
            </a:r>
            <a:r>
              <a:rPr spc="-5" dirty="0"/>
              <a:t> </a:t>
            </a:r>
            <a:r>
              <a:rPr dirty="0"/>
              <a:t>vs. direct</a:t>
            </a:r>
            <a:r>
              <a:rPr spc="5" dirty="0"/>
              <a:t> </a:t>
            </a:r>
            <a:r>
              <a:rPr dirty="0"/>
              <a:t>prediction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03097" y="1386077"/>
            <a:ext cx="4389120" cy="5011420"/>
            <a:chOff x="403097" y="1386077"/>
            <a:chExt cx="4389120" cy="501142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3097" y="1386077"/>
              <a:ext cx="4389120" cy="501091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78281" y="1435186"/>
              <a:ext cx="4236720" cy="4860290"/>
            </a:xfrm>
            <a:custGeom>
              <a:avLst/>
              <a:gdLst/>
              <a:ahLst/>
              <a:cxnLst/>
              <a:rect l="l" t="t" r="r" b="b"/>
              <a:pathLst>
                <a:path w="4236720" h="4860290">
                  <a:moveTo>
                    <a:pt x="0" y="345203"/>
                  </a:moveTo>
                  <a:lnTo>
                    <a:pt x="3151" y="298361"/>
                  </a:lnTo>
                  <a:lnTo>
                    <a:pt x="12331" y="253435"/>
                  </a:lnTo>
                  <a:lnTo>
                    <a:pt x="27127" y="210834"/>
                  </a:lnTo>
                  <a:lnTo>
                    <a:pt x="47130" y="170972"/>
                  </a:lnTo>
                  <a:lnTo>
                    <a:pt x="71927" y="134260"/>
                  </a:lnTo>
                  <a:lnTo>
                    <a:pt x="101107" y="101107"/>
                  </a:lnTo>
                  <a:lnTo>
                    <a:pt x="134260" y="71927"/>
                  </a:lnTo>
                  <a:lnTo>
                    <a:pt x="170973" y="47130"/>
                  </a:lnTo>
                  <a:lnTo>
                    <a:pt x="210835" y="27127"/>
                  </a:lnTo>
                  <a:lnTo>
                    <a:pt x="253435" y="12331"/>
                  </a:lnTo>
                  <a:lnTo>
                    <a:pt x="298361" y="3151"/>
                  </a:lnTo>
                  <a:lnTo>
                    <a:pt x="345204" y="0"/>
                  </a:lnTo>
                  <a:lnTo>
                    <a:pt x="3891473" y="0"/>
                  </a:lnTo>
                  <a:lnTo>
                    <a:pt x="3938315" y="3151"/>
                  </a:lnTo>
                  <a:lnTo>
                    <a:pt x="3983241" y="12331"/>
                  </a:lnTo>
                  <a:lnTo>
                    <a:pt x="4025841" y="27127"/>
                  </a:lnTo>
                  <a:lnTo>
                    <a:pt x="4065704" y="47130"/>
                  </a:lnTo>
                  <a:lnTo>
                    <a:pt x="4102416" y="71927"/>
                  </a:lnTo>
                  <a:lnTo>
                    <a:pt x="4135569" y="101107"/>
                  </a:lnTo>
                  <a:lnTo>
                    <a:pt x="4164749" y="134260"/>
                  </a:lnTo>
                  <a:lnTo>
                    <a:pt x="4189546" y="170972"/>
                  </a:lnTo>
                  <a:lnTo>
                    <a:pt x="4209549" y="210834"/>
                  </a:lnTo>
                  <a:lnTo>
                    <a:pt x="4224346" y="253435"/>
                  </a:lnTo>
                  <a:lnTo>
                    <a:pt x="4233525" y="298361"/>
                  </a:lnTo>
                  <a:lnTo>
                    <a:pt x="4236677" y="345203"/>
                  </a:lnTo>
                  <a:lnTo>
                    <a:pt x="4236677" y="4514981"/>
                  </a:lnTo>
                  <a:lnTo>
                    <a:pt x="4233525" y="4561823"/>
                  </a:lnTo>
                  <a:lnTo>
                    <a:pt x="4224346" y="4606750"/>
                  </a:lnTo>
                  <a:lnTo>
                    <a:pt x="4209549" y="4649350"/>
                  </a:lnTo>
                  <a:lnTo>
                    <a:pt x="4189546" y="4689212"/>
                  </a:lnTo>
                  <a:lnTo>
                    <a:pt x="4164749" y="4725925"/>
                  </a:lnTo>
                  <a:lnTo>
                    <a:pt x="4135569" y="4759077"/>
                  </a:lnTo>
                  <a:lnTo>
                    <a:pt x="4102416" y="4788258"/>
                  </a:lnTo>
                  <a:lnTo>
                    <a:pt x="4065704" y="4813055"/>
                  </a:lnTo>
                  <a:lnTo>
                    <a:pt x="4025841" y="4833057"/>
                  </a:lnTo>
                  <a:lnTo>
                    <a:pt x="3983241" y="4847854"/>
                  </a:lnTo>
                  <a:lnTo>
                    <a:pt x="3938315" y="4857034"/>
                  </a:lnTo>
                  <a:lnTo>
                    <a:pt x="3891473" y="4860185"/>
                  </a:lnTo>
                  <a:lnTo>
                    <a:pt x="345204" y="4860185"/>
                  </a:lnTo>
                  <a:lnTo>
                    <a:pt x="298361" y="4857034"/>
                  </a:lnTo>
                  <a:lnTo>
                    <a:pt x="253435" y="4847854"/>
                  </a:lnTo>
                  <a:lnTo>
                    <a:pt x="210835" y="4833057"/>
                  </a:lnTo>
                  <a:lnTo>
                    <a:pt x="170973" y="4813055"/>
                  </a:lnTo>
                  <a:lnTo>
                    <a:pt x="134260" y="4788258"/>
                  </a:lnTo>
                  <a:lnTo>
                    <a:pt x="101107" y="4759077"/>
                  </a:lnTo>
                  <a:lnTo>
                    <a:pt x="71927" y="4725925"/>
                  </a:lnTo>
                  <a:lnTo>
                    <a:pt x="47130" y="4689212"/>
                  </a:lnTo>
                  <a:lnTo>
                    <a:pt x="27127" y="4649350"/>
                  </a:lnTo>
                  <a:lnTo>
                    <a:pt x="12331" y="4606750"/>
                  </a:lnTo>
                  <a:lnTo>
                    <a:pt x="3151" y="4561823"/>
                  </a:lnTo>
                  <a:lnTo>
                    <a:pt x="0" y="4514981"/>
                  </a:lnTo>
                  <a:lnTo>
                    <a:pt x="0" y="345203"/>
                  </a:lnTo>
                  <a:close/>
                </a:path>
              </a:pathLst>
            </a:custGeom>
            <a:ln w="67733">
              <a:solidFill>
                <a:srgbClr val="51A7F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85055" y="3194559"/>
              <a:ext cx="4225925" cy="0"/>
            </a:xfrm>
            <a:custGeom>
              <a:avLst/>
              <a:gdLst/>
              <a:ahLst/>
              <a:cxnLst/>
              <a:rect l="l" t="t" r="r" b="b"/>
              <a:pathLst>
                <a:path w="4225925">
                  <a:moveTo>
                    <a:pt x="0" y="1"/>
                  </a:moveTo>
                  <a:lnTo>
                    <a:pt x="4225886" y="0"/>
                  </a:lnTo>
                </a:path>
              </a:pathLst>
            </a:custGeom>
            <a:ln w="27093">
              <a:solidFill>
                <a:srgbClr val="51A7F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8460" indent="-365760">
              <a:lnSpc>
                <a:spcPts val="2510"/>
              </a:lnSpc>
              <a:spcBef>
                <a:spcPts val="100"/>
              </a:spcBef>
              <a:buChar char="•"/>
              <a:tabLst>
                <a:tab pos="377825" algn="l"/>
                <a:tab pos="378460" algn="l"/>
              </a:tabLst>
            </a:pPr>
            <a:r>
              <a:rPr sz="1900" spc="5" dirty="0"/>
              <a:t>LSA,</a:t>
            </a:r>
            <a:r>
              <a:rPr sz="1900" spc="-5" dirty="0"/>
              <a:t> </a:t>
            </a:r>
            <a:r>
              <a:rPr sz="1900" spc="5" dirty="0"/>
              <a:t>HAL</a:t>
            </a:r>
            <a:r>
              <a:rPr sz="1900" spc="-70" dirty="0"/>
              <a:t> </a:t>
            </a:r>
            <a:r>
              <a:rPr spc="-10" dirty="0"/>
              <a:t>(Lund</a:t>
            </a:r>
            <a:r>
              <a:rPr spc="-20" dirty="0"/>
              <a:t> </a:t>
            </a:r>
            <a:r>
              <a:rPr dirty="0"/>
              <a:t>&amp;</a:t>
            </a:r>
            <a:r>
              <a:rPr spc="-15" dirty="0"/>
              <a:t> </a:t>
            </a:r>
            <a:r>
              <a:rPr spc="-10" dirty="0"/>
              <a:t>Burgess)</a:t>
            </a:r>
            <a:r>
              <a:rPr sz="2100" spc="-10" dirty="0"/>
              <a:t>,</a:t>
            </a:r>
            <a:endParaRPr sz="2100"/>
          </a:p>
          <a:p>
            <a:pPr marL="377825" marR="5080" indent="-365760">
              <a:lnSpc>
                <a:spcPts val="1989"/>
              </a:lnSpc>
              <a:spcBef>
                <a:spcPts val="300"/>
              </a:spcBef>
              <a:buChar char="•"/>
              <a:tabLst>
                <a:tab pos="377825" algn="l"/>
                <a:tab pos="378460" algn="l"/>
              </a:tabLst>
            </a:pPr>
            <a:r>
              <a:rPr sz="1900" spc="5" dirty="0"/>
              <a:t>COALS,</a:t>
            </a:r>
            <a:r>
              <a:rPr sz="1900" spc="-15" dirty="0"/>
              <a:t> </a:t>
            </a:r>
            <a:r>
              <a:rPr sz="1900" spc="5" dirty="0"/>
              <a:t>Hellinger-PCA</a:t>
            </a:r>
            <a:r>
              <a:rPr sz="1900" spc="-105" dirty="0"/>
              <a:t> </a:t>
            </a:r>
            <a:r>
              <a:rPr spc="-10" dirty="0"/>
              <a:t>(Rohde </a:t>
            </a:r>
            <a:r>
              <a:rPr spc="-400" dirty="0"/>
              <a:t> </a:t>
            </a:r>
            <a:r>
              <a:rPr spc="-5" dirty="0"/>
              <a:t>et</a:t>
            </a:r>
            <a:r>
              <a:rPr spc="-15" dirty="0"/>
              <a:t> </a:t>
            </a:r>
            <a:r>
              <a:rPr spc="-5" dirty="0"/>
              <a:t>al,</a:t>
            </a:r>
            <a:r>
              <a:rPr spc="-10" dirty="0"/>
              <a:t> Lebret</a:t>
            </a:r>
            <a:r>
              <a:rPr spc="-15" dirty="0"/>
              <a:t> </a:t>
            </a:r>
            <a:r>
              <a:rPr dirty="0"/>
              <a:t>&amp;</a:t>
            </a:r>
            <a:r>
              <a:rPr spc="-5" dirty="0"/>
              <a:t> </a:t>
            </a:r>
            <a:r>
              <a:rPr spc="-10" dirty="0"/>
              <a:t>Collobert)</a:t>
            </a:r>
            <a:endParaRPr sz="1900"/>
          </a:p>
          <a:p>
            <a:pPr>
              <a:lnSpc>
                <a:spcPct val="100000"/>
              </a:lnSpc>
              <a:buChar char="•"/>
            </a:pPr>
            <a:endParaRPr sz="1900"/>
          </a:p>
          <a:p>
            <a:pPr>
              <a:lnSpc>
                <a:spcPct val="100000"/>
              </a:lnSpc>
              <a:buChar char="•"/>
            </a:pPr>
            <a:endParaRPr sz="1900"/>
          </a:p>
          <a:p>
            <a:pPr>
              <a:lnSpc>
                <a:spcPct val="100000"/>
              </a:lnSpc>
              <a:spcBef>
                <a:spcPts val="25"/>
              </a:spcBef>
              <a:buChar char="•"/>
            </a:pPr>
            <a:endParaRPr sz="2050"/>
          </a:p>
          <a:p>
            <a:pPr marL="188595" indent="-176530">
              <a:lnSpc>
                <a:spcPct val="100000"/>
              </a:lnSpc>
              <a:buChar char="•"/>
              <a:tabLst>
                <a:tab pos="189230" algn="l"/>
              </a:tabLst>
            </a:pPr>
            <a:r>
              <a:rPr sz="2100" spc="10" dirty="0"/>
              <a:t>Fast</a:t>
            </a:r>
            <a:r>
              <a:rPr sz="2100" spc="-25" dirty="0"/>
              <a:t> </a:t>
            </a:r>
            <a:r>
              <a:rPr sz="2100" spc="5" dirty="0"/>
              <a:t>training</a:t>
            </a:r>
            <a:endParaRPr sz="2100"/>
          </a:p>
          <a:p>
            <a:pPr marL="188595" indent="-176530">
              <a:lnSpc>
                <a:spcPct val="100000"/>
              </a:lnSpc>
              <a:spcBef>
                <a:spcPts val="980"/>
              </a:spcBef>
              <a:buChar char="•"/>
              <a:tabLst>
                <a:tab pos="189230" algn="l"/>
              </a:tabLst>
            </a:pPr>
            <a:r>
              <a:rPr sz="2100" spc="5" dirty="0"/>
              <a:t>Efficient</a:t>
            </a:r>
            <a:r>
              <a:rPr sz="2100" spc="-10" dirty="0"/>
              <a:t> </a:t>
            </a:r>
            <a:r>
              <a:rPr sz="2100" spc="10" dirty="0"/>
              <a:t>usage </a:t>
            </a:r>
            <a:r>
              <a:rPr sz="2100" spc="5" dirty="0"/>
              <a:t>of</a:t>
            </a:r>
            <a:r>
              <a:rPr sz="2100" spc="-5" dirty="0"/>
              <a:t> </a:t>
            </a:r>
            <a:r>
              <a:rPr sz="2100" spc="5" dirty="0"/>
              <a:t>statistics</a:t>
            </a:r>
            <a:endParaRPr sz="2100"/>
          </a:p>
          <a:p>
            <a:pPr>
              <a:lnSpc>
                <a:spcPct val="100000"/>
              </a:lnSpc>
              <a:buChar char="•"/>
            </a:pPr>
            <a:endParaRPr sz="2450"/>
          </a:p>
          <a:p>
            <a:pPr marL="174625" marR="97790" indent="-162560">
              <a:lnSpc>
                <a:spcPct val="101099"/>
              </a:lnSpc>
              <a:buChar char="•"/>
              <a:tabLst>
                <a:tab pos="175260" algn="l"/>
              </a:tabLst>
            </a:pPr>
            <a:r>
              <a:rPr sz="1900" spc="5" dirty="0">
                <a:solidFill>
                  <a:srgbClr val="861001"/>
                </a:solidFill>
              </a:rPr>
              <a:t>Primarily used </a:t>
            </a:r>
            <a:r>
              <a:rPr sz="1900" dirty="0">
                <a:solidFill>
                  <a:srgbClr val="861001"/>
                </a:solidFill>
              </a:rPr>
              <a:t>to </a:t>
            </a:r>
            <a:r>
              <a:rPr sz="1900" spc="5" dirty="0">
                <a:solidFill>
                  <a:srgbClr val="861001"/>
                </a:solidFill>
              </a:rPr>
              <a:t>capture word </a:t>
            </a:r>
            <a:r>
              <a:rPr sz="1900" spc="-515" dirty="0">
                <a:solidFill>
                  <a:srgbClr val="861001"/>
                </a:solidFill>
              </a:rPr>
              <a:t> </a:t>
            </a:r>
            <a:r>
              <a:rPr sz="1900" dirty="0">
                <a:solidFill>
                  <a:srgbClr val="861001"/>
                </a:solidFill>
              </a:rPr>
              <a:t>similarity</a:t>
            </a:r>
            <a:endParaRPr sz="1900"/>
          </a:p>
          <a:p>
            <a:pPr marL="174625" marR="327660" indent="-162560">
              <a:lnSpc>
                <a:spcPct val="100000"/>
              </a:lnSpc>
              <a:spcBef>
                <a:spcPts val="1270"/>
              </a:spcBef>
              <a:buChar char="•"/>
              <a:tabLst>
                <a:tab pos="175260" algn="l"/>
              </a:tabLst>
            </a:pPr>
            <a:r>
              <a:rPr sz="1900" spc="5" dirty="0">
                <a:solidFill>
                  <a:srgbClr val="861001"/>
                </a:solidFill>
              </a:rPr>
              <a:t>Disproportionate importance </a:t>
            </a:r>
            <a:r>
              <a:rPr sz="1900" spc="-515" dirty="0">
                <a:solidFill>
                  <a:srgbClr val="861001"/>
                </a:solidFill>
              </a:rPr>
              <a:t> </a:t>
            </a:r>
            <a:r>
              <a:rPr sz="1900" spc="5" dirty="0">
                <a:solidFill>
                  <a:srgbClr val="861001"/>
                </a:solidFill>
              </a:rPr>
              <a:t>given</a:t>
            </a:r>
            <a:r>
              <a:rPr sz="1900" spc="10" dirty="0">
                <a:solidFill>
                  <a:srgbClr val="861001"/>
                </a:solidFill>
              </a:rPr>
              <a:t> </a:t>
            </a:r>
            <a:r>
              <a:rPr sz="1900" dirty="0">
                <a:solidFill>
                  <a:srgbClr val="861001"/>
                </a:solidFill>
              </a:rPr>
              <a:t>to</a:t>
            </a:r>
            <a:r>
              <a:rPr sz="1900" spc="5" dirty="0">
                <a:solidFill>
                  <a:srgbClr val="861001"/>
                </a:solidFill>
              </a:rPr>
              <a:t> large</a:t>
            </a:r>
            <a:r>
              <a:rPr sz="1900" spc="10" dirty="0">
                <a:solidFill>
                  <a:srgbClr val="861001"/>
                </a:solidFill>
              </a:rPr>
              <a:t> </a:t>
            </a:r>
            <a:r>
              <a:rPr sz="1900" spc="5" dirty="0">
                <a:solidFill>
                  <a:srgbClr val="861001"/>
                </a:solidFill>
              </a:rPr>
              <a:t>counts</a:t>
            </a:r>
            <a:endParaRPr sz="1900"/>
          </a:p>
        </p:txBody>
      </p:sp>
      <p:grpSp>
        <p:nvGrpSpPr>
          <p:cNvPr id="8" name="object 8"/>
          <p:cNvGrpSpPr/>
          <p:nvPr/>
        </p:nvGrpSpPr>
        <p:grpSpPr>
          <a:xfrm>
            <a:off x="5036058" y="1379982"/>
            <a:ext cx="4523740" cy="5142230"/>
            <a:chOff x="5036058" y="1379982"/>
            <a:chExt cx="4523740" cy="514223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36058" y="1379982"/>
              <a:ext cx="4523232" cy="51419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113349" y="1429137"/>
              <a:ext cx="4368800" cy="4989830"/>
            </a:xfrm>
            <a:custGeom>
              <a:avLst/>
              <a:gdLst/>
              <a:ahLst/>
              <a:cxnLst/>
              <a:rect l="l" t="t" r="r" b="b"/>
              <a:pathLst>
                <a:path w="4368800" h="4989830">
                  <a:moveTo>
                    <a:pt x="0" y="355950"/>
                  </a:moveTo>
                  <a:lnTo>
                    <a:pt x="3249" y="307649"/>
                  </a:lnTo>
                  <a:lnTo>
                    <a:pt x="12714" y="261324"/>
                  </a:lnTo>
                  <a:lnTo>
                    <a:pt x="27972" y="217398"/>
                  </a:lnTo>
                  <a:lnTo>
                    <a:pt x="48597" y="176295"/>
                  </a:lnTo>
                  <a:lnTo>
                    <a:pt x="74166" y="138439"/>
                  </a:lnTo>
                  <a:lnTo>
                    <a:pt x="104255" y="104255"/>
                  </a:lnTo>
                  <a:lnTo>
                    <a:pt x="138439" y="74166"/>
                  </a:lnTo>
                  <a:lnTo>
                    <a:pt x="176295" y="48597"/>
                  </a:lnTo>
                  <a:lnTo>
                    <a:pt x="217398" y="27972"/>
                  </a:lnTo>
                  <a:lnTo>
                    <a:pt x="261324" y="12714"/>
                  </a:lnTo>
                  <a:lnTo>
                    <a:pt x="307649" y="3249"/>
                  </a:lnTo>
                  <a:lnTo>
                    <a:pt x="355950" y="0"/>
                  </a:lnTo>
                  <a:lnTo>
                    <a:pt x="4012618" y="0"/>
                  </a:lnTo>
                  <a:lnTo>
                    <a:pt x="4060919" y="3249"/>
                  </a:lnTo>
                  <a:lnTo>
                    <a:pt x="4107244" y="12714"/>
                  </a:lnTo>
                  <a:lnTo>
                    <a:pt x="4151170" y="27972"/>
                  </a:lnTo>
                  <a:lnTo>
                    <a:pt x="4192274" y="48597"/>
                  </a:lnTo>
                  <a:lnTo>
                    <a:pt x="4230129" y="74166"/>
                  </a:lnTo>
                  <a:lnTo>
                    <a:pt x="4264314" y="104255"/>
                  </a:lnTo>
                  <a:lnTo>
                    <a:pt x="4294402" y="138439"/>
                  </a:lnTo>
                  <a:lnTo>
                    <a:pt x="4319971" y="176295"/>
                  </a:lnTo>
                  <a:lnTo>
                    <a:pt x="4340597" y="217398"/>
                  </a:lnTo>
                  <a:lnTo>
                    <a:pt x="4355854" y="261324"/>
                  </a:lnTo>
                  <a:lnTo>
                    <a:pt x="4365320" y="307649"/>
                  </a:lnTo>
                  <a:lnTo>
                    <a:pt x="4368569" y="355950"/>
                  </a:lnTo>
                  <a:lnTo>
                    <a:pt x="4368569" y="4633563"/>
                  </a:lnTo>
                  <a:lnTo>
                    <a:pt x="4365320" y="4681863"/>
                  </a:lnTo>
                  <a:lnTo>
                    <a:pt x="4355854" y="4728189"/>
                  </a:lnTo>
                  <a:lnTo>
                    <a:pt x="4340597" y="4772115"/>
                  </a:lnTo>
                  <a:lnTo>
                    <a:pt x="4319971" y="4813218"/>
                  </a:lnTo>
                  <a:lnTo>
                    <a:pt x="4294402" y="4851073"/>
                  </a:lnTo>
                  <a:lnTo>
                    <a:pt x="4264314" y="4885258"/>
                  </a:lnTo>
                  <a:lnTo>
                    <a:pt x="4230129" y="4915346"/>
                  </a:lnTo>
                  <a:lnTo>
                    <a:pt x="4192274" y="4940915"/>
                  </a:lnTo>
                  <a:lnTo>
                    <a:pt x="4151170" y="4961541"/>
                  </a:lnTo>
                  <a:lnTo>
                    <a:pt x="4107244" y="4976798"/>
                  </a:lnTo>
                  <a:lnTo>
                    <a:pt x="4060919" y="4986264"/>
                  </a:lnTo>
                  <a:lnTo>
                    <a:pt x="4012618" y="4989513"/>
                  </a:lnTo>
                  <a:lnTo>
                    <a:pt x="355950" y="4989513"/>
                  </a:lnTo>
                  <a:lnTo>
                    <a:pt x="307649" y="4986264"/>
                  </a:lnTo>
                  <a:lnTo>
                    <a:pt x="261324" y="4976798"/>
                  </a:lnTo>
                  <a:lnTo>
                    <a:pt x="217398" y="4961541"/>
                  </a:lnTo>
                  <a:lnTo>
                    <a:pt x="176295" y="4940915"/>
                  </a:lnTo>
                  <a:lnTo>
                    <a:pt x="138439" y="4915346"/>
                  </a:lnTo>
                  <a:lnTo>
                    <a:pt x="104255" y="4885258"/>
                  </a:lnTo>
                  <a:lnTo>
                    <a:pt x="74166" y="4851073"/>
                  </a:lnTo>
                  <a:lnTo>
                    <a:pt x="48597" y="4813218"/>
                  </a:lnTo>
                  <a:lnTo>
                    <a:pt x="27972" y="4772115"/>
                  </a:lnTo>
                  <a:lnTo>
                    <a:pt x="12714" y="4728189"/>
                  </a:lnTo>
                  <a:lnTo>
                    <a:pt x="3249" y="4681863"/>
                  </a:lnTo>
                  <a:lnTo>
                    <a:pt x="0" y="4633563"/>
                  </a:lnTo>
                  <a:lnTo>
                    <a:pt x="0" y="355950"/>
                  </a:lnTo>
                  <a:close/>
                </a:path>
              </a:pathLst>
            </a:custGeom>
            <a:ln w="67733">
              <a:solidFill>
                <a:srgbClr val="773F9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120120" y="3185121"/>
              <a:ext cx="4361815" cy="9525"/>
            </a:xfrm>
            <a:custGeom>
              <a:avLst/>
              <a:gdLst/>
              <a:ahLst/>
              <a:cxnLst/>
              <a:rect l="l" t="t" r="r" b="b"/>
              <a:pathLst>
                <a:path w="4361815" h="9525">
                  <a:moveTo>
                    <a:pt x="0" y="0"/>
                  </a:moveTo>
                  <a:lnTo>
                    <a:pt x="4361797" y="9436"/>
                  </a:lnTo>
                </a:path>
              </a:pathLst>
            </a:custGeom>
            <a:ln w="27093">
              <a:solidFill>
                <a:srgbClr val="773F9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8460" indent="-365760">
              <a:lnSpc>
                <a:spcPct val="100000"/>
              </a:lnSpc>
              <a:spcBef>
                <a:spcPts val="100"/>
              </a:spcBef>
              <a:buChar char="•"/>
              <a:tabLst>
                <a:tab pos="377825" algn="l"/>
                <a:tab pos="378460" algn="l"/>
              </a:tabLst>
            </a:pPr>
            <a:r>
              <a:rPr sz="2100" spc="10" dirty="0"/>
              <a:t>Skip-gram/CBOW</a:t>
            </a:r>
            <a:r>
              <a:rPr sz="2100" spc="30" dirty="0"/>
              <a:t> </a:t>
            </a:r>
            <a:r>
              <a:rPr spc="-10" dirty="0"/>
              <a:t>(Mikolov </a:t>
            </a:r>
            <a:r>
              <a:rPr spc="-5" dirty="0"/>
              <a:t>et</a:t>
            </a:r>
            <a:r>
              <a:rPr spc="-15" dirty="0"/>
              <a:t> </a:t>
            </a:r>
            <a:r>
              <a:rPr spc="-5" dirty="0"/>
              <a:t>al)</a:t>
            </a:r>
            <a:endParaRPr sz="2100"/>
          </a:p>
          <a:p>
            <a:pPr marL="378460" indent="-365760">
              <a:lnSpc>
                <a:spcPct val="100000"/>
              </a:lnSpc>
              <a:buChar char="•"/>
              <a:tabLst>
                <a:tab pos="377825" algn="l"/>
                <a:tab pos="378460" algn="l"/>
              </a:tabLst>
            </a:pPr>
            <a:r>
              <a:rPr sz="2100" spc="15" dirty="0"/>
              <a:t>NNLM,</a:t>
            </a:r>
            <a:r>
              <a:rPr sz="2100" spc="-5" dirty="0"/>
              <a:t> </a:t>
            </a:r>
            <a:r>
              <a:rPr sz="2100" spc="15" dirty="0"/>
              <a:t>HLBL,</a:t>
            </a:r>
            <a:r>
              <a:rPr sz="2100" spc="-10" dirty="0"/>
              <a:t> </a:t>
            </a:r>
            <a:r>
              <a:rPr sz="2100" spc="15" dirty="0"/>
              <a:t>RNN</a:t>
            </a:r>
            <a:r>
              <a:rPr sz="2100" spc="20" dirty="0"/>
              <a:t> </a:t>
            </a:r>
            <a:r>
              <a:rPr spc="-10" dirty="0"/>
              <a:t>(Bengio</a:t>
            </a:r>
            <a:r>
              <a:rPr spc="-20" dirty="0"/>
              <a:t> </a:t>
            </a:r>
            <a:r>
              <a:rPr spc="-10" dirty="0"/>
              <a:t>et</a:t>
            </a:r>
            <a:endParaRPr sz="2100"/>
          </a:p>
          <a:p>
            <a:pPr marL="378460" marR="5080">
              <a:lnSpc>
                <a:spcPct val="100000"/>
              </a:lnSpc>
              <a:spcBef>
                <a:spcPts val="70"/>
              </a:spcBef>
            </a:pPr>
            <a:r>
              <a:rPr spc="-5" dirty="0"/>
              <a:t>al; </a:t>
            </a:r>
            <a:r>
              <a:rPr spc="-10" dirty="0"/>
              <a:t>Collobert </a:t>
            </a:r>
            <a:r>
              <a:rPr dirty="0"/>
              <a:t>&amp; </a:t>
            </a:r>
            <a:r>
              <a:rPr spc="-10" dirty="0"/>
              <a:t>Weston; Huang </a:t>
            </a:r>
            <a:r>
              <a:rPr spc="-5" dirty="0"/>
              <a:t>et al; Mnih </a:t>
            </a:r>
            <a:r>
              <a:rPr spc="-405" dirty="0"/>
              <a:t> </a:t>
            </a:r>
            <a:r>
              <a:rPr dirty="0"/>
              <a:t>&amp;</a:t>
            </a:r>
            <a:r>
              <a:rPr spc="-10" dirty="0"/>
              <a:t> Hinton)</a:t>
            </a:r>
          </a:p>
          <a:p>
            <a:pPr>
              <a:lnSpc>
                <a:spcPct val="100000"/>
              </a:lnSpc>
            </a:pPr>
            <a:endParaRPr spc="-10" dirty="0"/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200"/>
          </a:p>
          <a:p>
            <a:pPr marL="188595" indent="-176530">
              <a:lnSpc>
                <a:spcPct val="100000"/>
              </a:lnSpc>
              <a:spcBef>
                <a:spcPts val="5"/>
              </a:spcBef>
              <a:buChar char="•"/>
              <a:tabLst>
                <a:tab pos="189230" algn="l"/>
              </a:tabLst>
            </a:pPr>
            <a:r>
              <a:rPr sz="2100" spc="10" dirty="0">
                <a:solidFill>
                  <a:srgbClr val="861001"/>
                </a:solidFill>
              </a:rPr>
              <a:t>Scales</a:t>
            </a:r>
            <a:r>
              <a:rPr sz="2100" spc="-5" dirty="0">
                <a:solidFill>
                  <a:srgbClr val="861001"/>
                </a:solidFill>
              </a:rPr>
              <a:t> </a:t>
            </a:r>
            <a:r>
              <a:rPr sz="2100" spc="10" dirty="0">
                <a:solidFill>
                  <a:srgbClr val="861001"/>
                </a:solidFill>
              </a:rPr>
              <a:t>with</a:t>
            </a:r>
            <a:r>
              <a:rPr sz="2100" dirty="0">
                <a:solidFill>
                  <a:srgbClr val="861001"/>
                </a:solidFill>
              </a:rPr>
              <a:t> </a:t>
            </a:r>
            <a:r>
              <a:rPr sz="2100" spc="10" dirty="0">
                <a:solidFill>
                  <a:srgbClr val="861001"/>
                </a:solidFill>
              </a:rPr>
              <a:t>corpus</a:t>
            </a:r>
            <a:r>
              <a:rPr sz="2100" dirty="0">
                <a:solidFill>
                  <a:srgbClr val="861001"/>
                </a:solidFill>
              </a:rPr>
              <a:t> </a:t>
            </a:r>
            <a:r>
              <a:rPr sz="2100" spc="10" dirty="0">
                <a:solidFill>
                  <a:srgbClr val="861001"/>
                </a:solidFill>
              </a:rPr>
              <a:t>size</a:t>
            </a:r>
            <a:endParaRPr sz="2100"/>
          </a:p>
          <a:p>
            <a:pPr marL="188595" indent="-176530">
              <a:lnSpc>
                <a:spcPct val="100000"/>
              </a:lnSpc>
              <a:spcBef>
                <a:spcPts val="1845"/>
              </a:spcBef>
              <a:buChar char="•"/>
              <a:tabLst>
                <a:tab pos="189230" algn="l"/>
              </a:tabLst>
            </a:pPr>
            <a:r>
              <a:rPr sz="2100" spc="5" dirty="0">
                <a:solidFill>
                  <a:srgbClr val="861001"/>
                </a:solidFill>
              </a:rPr>
              <a:t>Inefficient</a:t>
            </a:r>
            <a:r>
              <a:rPr sz="2100" spc="-5" dirty="0">
                <a:solidFill>
                  <a:srgbClr val="861001"/>
                </a:solidFill>
              </a:rPr>
              <a:t> </a:t>
            </a:r>
            <a:r>
              <a:rPr sz="2100" spc="10" dirty="0">
                <a:solidFill>
                  <a:srgbClr val="861001"/>
                </a:solidFill>
              </a:rPr>
              <a:t>usage </a:t>
            </a:r>
            <a:r>
              <a:rPr sz="2100" spc="5" dirty="0">
                <a:solidFill>
                  <a:srgbClr val="861001"/>
                </a:solidFill>
              </a:rPr>
              <a:t>of</a:t>
            </a:r>
            <a:r>
              <a:rPr sz="2100" spc="-5" dirty="0">
                <a:solidFill>
                  <a:srgbClr val="861001"/>
                </a:solidFill>
              </a:rPr>
              <a:t> </a:t>
            </a:r>
            <a:r>
              <a:rPr sz="2100" spc="5" dirty="0">
                <a:solidFill>
                  <a:srgbClr val="861001"/>
                </a:solidFill>
              </a:rPr>
              <a:t>statistics</a:t>
            </a:r>
            <a:endParaRPr sz="2100"/>
          </a:p>
          <a:p>
            <a:pPr>
              <a:lnSpc>
                <a:spcPct val="100000"/>
              </a:lnSpc>
              <a:spcBef>
                <a:spcPts val="25"/>
              </a:spcBef>
              <a:buChar char="•"/>
            </a:pPr>
            <a:endParaRPr sz="1800"/>
          </a:p>
          <a:p>
            <a:pPr marL="175260" marR="155575" indent="-162560">
              <a:lnSpc>
                <a:spcPct val="101099"/>
              </a:lnSpc>
              <a:buChar char="•"/>
              <a:tabLst>
                <a:tab pos="175260" algn="l"/>
              </a:tabLst>
            </a:pPr>
            <a:r>
              <a:rPr sz="1900" spc="5" dirty="0"/>
              <a:t>Generate improved performance </a:t>
            </a:r>
            <a:r>
              <a:rPr sz="1900" spc="-515" dirty="0"/>
              <a:t> </a:t>
            </a:r>
            <a:r>
              <a:rPr sz="1900" dirty="0"/>
              <a:t>on</a:t>
            </a:r>
            <a:r>
              <a:rPr sz="1900" spc="10" dirty="0"/>
              <a:t> </a:t>
            </a:r>
            <a:r>
              <a:rPr sz="1900" spc="5" dirty="0"/>
              <a:t>other</a:t>
            </a:r>
            <a:r>
              <a:rPr sz="1900" spc="10" dirty="0"/>
              <a:t> </a:t>
            </a:r>
            <a:r>
              <a:rPr sz="1900" spc="5" dirty="0"/>
              <a:t>tasks</a:t>
            </a:r>
            <a:endParaRPr sz="1900"/>
          </a:p>
          <a:p>
            <a:pPr>
              <a:lnSpc>
                <a:spcPct val="100000"/>
              </a:lnSpc>
              <a:spcBef>
                <a:spcPts val="45"/>
              </a:spcBef>
              <a:buChar char="•"/>
            </a:pPr>
            <a:endParaRPr sz="2150"/>
          </a:p>
          <a:p>
            <a:pPr marL="175260" marR="424180" indent="-162560">
              <a:lnSpc>
                <a:spcPct val="101099"/>
              </a:lnSpc>
              <a:spcBef>
                <a:spcPts val="5"/>
              </a:spcBef>
              <a:buChar char="•"/>
              <a:tabLst>
                <a:tab pos="175260" algn="l"/>
              </a:tabLst>
            </a:pPr>
            <a:r>
              <a:rPr sz="1900" spc="5" dirty="0"/>
              <a:t>Can capture complex patterns </a:t>
            </a:r>
            <a:r>
              <a:rPr sz="1900" spc="-515" dirty="0"/>
              <a:t> </a:t>
            </a:r>
            <a:r>
              <a:rPr sz="1900" dirty="0"/>
              <a:t>beyond</a:t>
            </a:r>
            <a:r>
              <a:rPr sz="1900" spc="10" dirty="0"/>
              <a:t> </a:t>
            </a:r>
            <a:r>
              <a:rPr sz="1900" spc="5" dirty="0"/>
              <a:t>word</a:t>
            </a:r>
            <a:r>
              <a:rPr sz="1900" spc="10" dirty="0"/>
              <a:t> </a:t>
            </a:r>
            <a:r>
              <a:rPr sz="1900" spc="5" dirty="0"/>
              <a:t>similarity</a:t>
            </a:r>
            <a:endParaRPr sz="1900"/>
          </a:p>
        </p:txBody>
      </p:sp>
      <p:sp>
        <p:nvSpPr>
          <p:cNvPr id="13" name="object 13"/>
          <p:cNvSpPr txBox="1"/>
          <p:nvPr/>
        </p:nvSpPr>
        <p:spPr>
          <a:xfrm>
            <a:off x="537718" y="6952713"/>
            <a:ext cx="269875" cy="25844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z="1500" dirty="0">
                <a:latin typeface="Calibri"/>
                <a:cs typeface="Calibri"/>
              </a:rPr>
              <a:t>26</a:t>
            </a:fld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148079" y="222759"/>
            <a:ext cx="59055" cy="7325359"/>
            <a:chOff x="148079" y="222759"/>
            <a:chExt cx="59055" cy="7325359"/>
          </a:xfrm>
        </p:grpSpPr>
        <p:sp>
          <p:nvSpPr>
            <p:cNvPr id="4" name="object 4"/>
            <p:cNvSpPr/>
            <p:nvPr/>
          </p:nvSpPr>
          <p:spPr>
            <a:xfrm>
              <a:off x="153159" y="227839"/>
              <a:ext cx="48895" cy="7315200"/>
            </a:xfrm>
            <a:custGeom>
              <a:avLst/>
              <a:gdLst/>
              <a:ahLst/>
              <a:cxnLst/>
              <a:rect l="l" t="t" r="r" b="b"/>
              <a:pathLst>
                <a:path w="48894" h="7315200">
                  <a:moveTo>
                    <a:pt x="48766" y="0"/>
                  </a:moveTo>
                  <a:lnTo>
                    <a:pt x="0" y="0"/>
                  </a:lnTo>
                  <a:lnTo>
                    <a:pt x="0" y="7315200"/>
                  </a:lnTo>
                  <a:lnTo>
                    <a:pt x="48766" y="7315200"/>
                  </a:lnTo>
                  <a:lnTo>
                    <a:pt x="48766" y="0"/>
                  </a:lnTo>
                  <a:close/>
                </a:path>
              </a:pathLst>
            </a:custGeom>
            <a:solidFill>
              <a:srgbClr val="A4050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53159" y="227839"/>
              <a:ext cx="48895" cy="7315200"/>
            </a:xfrm>
            <a:custGeom>
              <a:avLst/>
              <a:gdLst/>
              <a:ahLst/>
              <a:cxnLst/>
              <a:rect l="l" t="t" r="r" b="b"/>
              <a:pathLst>
                <a:path w="48894" h="7315200">
                  <a:moveTo>
                    <a:pt x="48766" y="0"/>
                  </a:moveTo>
                  <a:lnTo>
                    <a:pt x="48766" y="7315200"/>
                  </a:lnTo>
                  <a:lnTo>
                    <a:pt x="0" y="7315200"/>
                  </a:lnTo>
                  <a:lnTo>
                    <a:pt x="0" y="0"/>
                  </a:lnTo>
                  <a:lnTo>
                    <a:pt x="48766" y="0"/>
                  </a:lnTo>
                  <a:close/>
                </a:path>
              </a:pathLst>
            </a:custGeom>
            <a:ln w="10159">
              <a:solidFill>
                <a:srgbClr val="A4001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784415" y="2052066"/>
            <a:ext cx="6428105" cy="81534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>
              <a:lnSpc>
                <a:spcPts val="3100"/>
              </a:lnSpc>
              <a:spcBef>
                <a:spcPts val="215"/>
              </a:spcBef>
            </a:pPr>
            <a:r>
              <a:rPr sz="2600" spc="-25" dirty="0">
                <a:latin typeface="Calibri"/>
                <a:cs typeface="Calibri"/>
              </a:rPr>
              <a:t>Ratios </a:t>
            </a:r>
            <a:r>
              <a:rPr sz="2600" spc="-15" dirty="0">
                <a:latin typeface="Calibri"/>
                <a:cs typeface="Calibri"/>
              </a:rPr>
              <a:t>of </a:t>
            </a:r>
            <a:r>
              <a:rPr sz="2600" spc="-25" dirty="0">
                <a:latin typeface="Calibri"/>
                <a:cs typeface="Calibri"/>
              </a:rPr>
              <a:t>co-occurrence </a:t>
            </a:r>
            <a:r>
              <a:rPr sz="2600" spc="-20" dirty="0">
                <a:latin typeface="Calibri"/>
                <a:cs typeface="Calibri"/>
              </a:rPr>
              <a:t>probabilities </a:t>
            </a:r>
            <a:r>
              <a:rPr sz="2600" spc="-25" dirty="0">
                <a:latin typeface="Calibri"/>
                <a:cs typeface="Calibri"/>
              </a:rPr>
              <a:t>can encode </a:t>
            </a:r>
            <a:r>
              <a:rPr sz="2600" spc="-57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meaning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30" dirty="0">
                <a:latin typeface="Calibri"/>
                <a:cs typeface="Calibri"/>
              </a:rPr>
              <a:t>components</a:t>
            </a:r>
            <a:endParaRPr sz="26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6941" y="2024634"/>
            <a:ext cx="196278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20" dirty="0">
                <a:solidFill>
                  <a:srgbClr val="C82506"/>
                </a:solidFill>
                <a:latin typeface="Calibri"/>
                <a:cs typeface="Calibri"/>
              </a:rPr>
              <a:t>Crucial</a:t>
            </a:r>
            <a:r>
              <a:rPr sz="2600" spc="-85" dirty="0">
                <a:solidFill>
                  <a:srgbClr val="C82506"/>
                </a:solidFill>
                <a:latin typeface="Calibri"/>
                <a:cs typeface="Calibri"/>
              </a:rPr>
              <a:t> </a:t>
            </a:r>
            <a:r>
              <a:rPr sz="2600" spc="-20" dirty="0">
                <a:solidFill>
                  <a:srgbClr val="C82506"/>
                </a:solidFill>
                <a:latin typeface="Calibri"/>
                <a:cs typeface="Calibri"/>
              </a:rPr>
              <a:t>insight:</a:t>
            </a:r>
            <a:endParaRPr sz="2600">
              <a:latin typeface="Calibri"/>
              <a:cs typeface="Calibri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690524" y="3106172"/>
          <a:ext cx="8656319" cy="38076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1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8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33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94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040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72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41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07205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8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6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600" i="1" spc="-1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26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spc="-15" dirty="0">
                          <a:latin typeface="Calibri"/>
                          <a:cs typeface="Calibri"/>
                        </a:rPr>
                        <a:t>solid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748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6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600" i="1" spc="-1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26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spc="-35" dirty="0">
                          <a:latin typeface="Calibri"/>
                          <a:cs typeface="Calibri"/>
                        </a:rPr>
                        <a:t>gas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701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6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600" i="1" spc="-1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26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spc="-40" dirty="0">
                          <a:latin typeface="Calibri"/>
                          <a:cs typeface="Calibri"/>
                        </a:rPr>
                        <a:t>water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20447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6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600" i="1" spc="-1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2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spc="-30" dirty="0">
                          <a:latin typeface="Calibri"/>
                          <a:cs typeface="Calibri"/>
                        </a:rPr>
                        <a:t>random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28575">
                      <a:solidFill>
                        <a:srgbClr val="000000"/>
                      </a:solidFill>
                      <a:prstDash val="solid"/>
                    </a:lnL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93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3870">
                        <a:lnSpc>
                          <a:spcPct val="100000"/>
                        </a:lnSpc>
                        <a:spcBef>
                          <a:spcPts val="2375"/>
                        </a:spcBef>
                      </a:pPr>
                      <a:r>
                        <a:rPr sz="2600" spc="-30" dirty="0">
                          <a:solidFill>
                            <a:srgbClr val="C82506"/>
                          </a:solidFill>
                          <a:latin typeface="Calibri"/>
                          <a:cs typeface="Calibri"/>
                        </a:rPr>
                        <a:t>large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3016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80695" algn="r">
                        <a:lnSpc>
                          <a:spcPct val="100000"/>
                        </a:lnSpc>
                        <a:spcBef>
                          <a:spcPts val="2395"/>
                        </a:spcBef>
                      </a:pPr>
                      <a:r>
                        <a:rPr sz="2600" spc="-20" dirty="0">
                          <a:solidFill>
                            <a:srgbClr val="0365C0"/>
                          </a:solidFill>
                          <a:latin typeface="Calibri"/>
                          <a:cs typeface="Calibri"/>
                        </a:rPr>
                        <a:t>small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30416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6720">
                        <a:lnSpc>
                          <a:spcPct val="100000"/>
                        </a:lnSpc>
                        <a:spcBef>
                          <a:spcPts val="2375"/>
                        </a:spcBef>
                      </a:pPr>
                      <a:r>
                        <a:rPr sz="2600" spc="-30" dirty="0">
                          <a:solidFill>
                            <a:srgbClr val="C82506"/>
                          </a:solidFill>
                          <a:latin typeface="Calibri"/>
                          <a:cs typeface="Calibri"/>
                        </a:rPr>
                        <a:t>large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3016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526415">
                        <a:lnSpc>
                          <a:spcPct val="100000"/>
                        </a:lnSpc>
                        <a:spcBef>
                          <a:spcPts val="2375"/>
                        </a:spcBef>
                      </a:pPr>
                      <a:r>
                        <a:rPr sz="2600" spc="-20" dirty="0">
                          <a:solidFill>
                            <a:srgbClr val="0365C0"/>
                          </a:solidFill>
                          <a:latin typeface="Calibri"/>
                          <a:cs typeface="Calibri"/>
                        </a:rPr>
                        <a:t>small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301625" marB="0">
                    <a:lnL w="38100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1570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3870">
                        <a:lnSpc>
                          <a:spcPct val="100000"/>
                        </a:lnSpc>
                        <a:spcBef>
                          <a:spcPts val="2165"/>
                        </a:spcBef>
                      </a:pPr>
                      <a:r>
                        <a:rPr sz="2600" spc="-20" dirty="0">
                          <a:solidFill>
                            <a:srgbClr val="0365C0"/>
                          </a:solidFill>
                          <a:latin typeface="Calibri"/>
                          <a:cs typeface="Calibri"/>
                        </a:rPr>
                        <a:t>small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2749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6715">
                        <a:lnSpc>
                          <a:spcPct val="100000"/>
                        </a:lnSpc>
                        <a:spcBef>
                          <a:spcPts val="2240"/>
                        </a:spcBef>
                      </a:pPr>
                      <a:r>
                        <a:rPr sz="2600" spc="-30" dirty="0">
                          <a:solidFill>
                            <a:srgbClr val="C82506"/>
                          </a:solidFill>
                          <a:latin typeface="Calibri"/>
                          <a:cs typeface="Calibri"/>
                        </a:rPr>
                        <a:t>large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2844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7990">
                        <a:lnSpc>
                          <a:spcPct val="100000"/>
                        </a:lnSpc>
                        <a:spcBef>
                          <a:spcPts val="2240"/>
                        </a:spcBef>
                      </a:pPr>
                      <a:r>
                        <a:rPr sz="2600" spc="-30" dirty="0">
                          <a:solidFill>
                            <a:srgbClr val="C82506"/>
                          </a:solidFill>
                          <a:latin typeface="Calibri"/>
                          <a:cs typeface="Calibri"/>
                        </a:rPr>
                        <a:t>large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2844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150" algn="ctr">
                        <a:lnSpc>
                          <a:spcPct val="100000"/>
                        </a:lnSpc>
                        <a:spcBef>
                          <a:spcPts val="2240"/>
                        </a:spcBef>
                      </a:pPr>
                      <a:r>
                        <a:rPr sz="2600" spc="-20" dirty="0">
                          <a:solidFill>
                            <a:srgbClr val="0365C0"/>
                          </a:solidFill>
                          <a:latin typeface="Calibri"/>
                          <a:cs typeface="Calibri"/>
                        </a:rPr>
                        <a:t>small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28448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95402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444500">
                        <a:lnSpc>
                          <a:spcPct val="100000"/>
                        </a:lnSpc>
                      </a:pPr>
                      <a:r>
                        <a:rPr sz="2600" spc="-30" dirty="0">
                          <a:solidFill>
                            <a:srgbClr val="C82506"/>
                          </a:solidFill>
                          <a:latin typeface="Calibri"/>
                          <a:cs typeface="Calibri"/>
                        </a:rPr>
                        <a:t>large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698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R="504190" algn="r">
                        <a:lnSpc>
                          <a:spcPct val="100000"/>
                        </a:lnSpc>
                      </a:pPr>
                      <a:r>
                        <a:rPr sz="2600" spc="-20" dirty="0">
                          <a:solidFill>
                            <a:srgbClr val="0365C0"/>
                          </a:solidFill>
                          <a:latin typeface="Calibri"/>
                          <a:cs typeface="Calibri"/>
                        </a:rPr>
                        <a:t>small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2650">
                        <a:latin typeface="Times New Roman"/>
                        <a:cs typeface="Times New Roman"/>
                      </a:endParaRPr>
                    </a:p>
                    <a:p>
                      <a:pPr marR="249554" algn="ctr">
                        <a:lnSpc>
                          <a:spcPct val="100000"/>
                        </a:lnSpc>
                      </a:pPr>
                      <a:r>
                        <a:rPr sz="2600" spc="-15" dirty="0">
                          <a:latin typeface="Calibri"/>
                          <a:cs typeface="Calibri"/>
                        </a:rPr>
                        <a:t>~1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6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2650">
                        <a:latin typeface="Times New Roman"/>
                        <a:cs typeface="Times New Roman"/>
                      </a:endParaRPr>
                    </a:p>
                    <a:p>
                      <a:pPr marR="38100" algn="ctr">
                        <a:lnSpc>
                          <a:spcPct val="100000"/>
                        </a:lnSpc>
                      </a:pPr>
                      <a:r>
                        <a:rPr sz="2600" spc="-15" dirty="0">
                          <a:latin typeface="Calibri"/>
                          <a:cs typeface="Calibri"/>
                        </a:rPr>
                        <a:t>~1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635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2866" y="3897629"/>
            <a:ext cx="1054608" cy="42062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7313" y="4930902"/>
            <a:ext cx="1484376" cy="42062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85977" y="5884926"/>
            <a:ext cx="1517904" cy="972312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701038" y="828802"/>
            <a:ext cx="710247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0000"/>
                </a:solidFill>
              </a:rPr>
              <a:t>Encoding</a:t>
            </a:r>
            <a:r>
              <a:rPr spc="-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meaning in vector</a:t>
            </a:r>
            <a:r>
              <a:rPr spc="1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differences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701038" y="1347978"/>
            <a:ext cx="6664959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spc="-20" dirty="0">
                <a:solidFill>
                  <a:srgbClr val="177245"/>
                </a:solidFill>
                <a:latin typeface="Calibri"/>
                <a:cs typeface="Calibri"/>
              </a:rPr>
              <a:t>[Pennington,</a:t>
            </a:r>
            <a:r>
              <a:rPr sz="2600" b="1" spc="-25" dirty="0">
                <a:solidFill>
                  <a:srgbClr val="177245"/>
                </a:solidFill>
                <a:latin typeface="Calibri"/>
                <a:cs typeface="Calibri"/>
              </a:rPr>
              <a:t> </a:t>
            </a:r>
            <a:r>
              <a:rPr sz="2600" b="1" spc="-20" dirty="0">
                <a:solidFill>
                  <a:srgbClr val="177245"/>
                </a:solidFill>
                <a:latin typeface="Calibri"/>
                <a:cs typeface="Calibri"/>
              </a:rPr>
              <a:t>Socher,</a:t>
            </a:r>
            <a:r>
              <a:rPr sz="2600" b="1" spc="-25" dirty="0">
                <a:solidFill>
                  <a:srgbClr val="177245"/>
                </a:solidFill>
                <a:latin typeface="Calibri"/>
                <a:cs typeface="Calibri"/>
              </a:rPr>
              <a:t> </a:t>
            </a:r>
            <a:r>
              <a:rPr sz="2600" b="1" spc="-15" dirty="0">
                <a:solidFill>
                  <a:srgbClr val="177245"/>
                </a:solidFill>
                <a:latin typeface="Calibri"/>
                <a:cs typeface="Calibri"/>
              </a:rPr>
              <a:t>and</a:t>
            </a:r>
            <a:r>
              <a:rPr sz="2600" b="1" spc="-45" dirty="0">
                <a:solidFill>
                  <a:srgbClr val="177245"/>
                </a:solidFill>
                <a:latin typeface="Calibri"/>
                <a:cs typeface="Calibri"/>
              </a:rPr>
              <a:t> </a:t>
            </a:r>
            <a:r>
              <a:rPr sz="2600" b="1" spc="-25" dirty="0">
                <a:solidFill>
                  <a:srgbClr val="177245"/>
                </a:solidFill>
                <a:latin typeface="Calibri"/>
                <a:cs typeface="Calibri"/>
              </a:rPr>
              <a:t>Manning, EMNLP</a:t>
            </a:r>
            <a:r>
              <a:rPr sz="2600" b="1" spc="-45" dirty="0">
                <a:solidFill>
                  <a:srgbClr val="177245"/>
                </a:solidFill>
                <a:latin typeface="Calibri"/>
                <a:cs typeface="Calibri"/>
              </a:rPr>
              <a:t> </a:t>
            </a:r>
            <a:r>
              <a:rPr sz="2600" b="1" spc="-25" dirty="0">
                <a:solidFill>
                  <a:srgbClr val="177245"/>
                </a:solidFill>
                <a:latin typeface="Calibri"/>
                <a:cs typeface="Calibri"/>
              </a:rPr>
              <a:t>2014]</a:t>
            </a:r>
            <a:endParaRPr sz="2600">
              <a:latin typeface="Calibri"/>
              <a:cs typeface="Calibri"/>
            </a:endParaRPr>
          </a:p>
        </p:txBody>
      </p:sp>
      <p:pic>
        <p:nvPicPr>
          <p:cNvPr id="15" name="图片 3" descr="20121109221446303940">
            <a:extLst>
              <a:ext uri="{FF2B5EF4-FFF2-40B4-BE49-F238E27FC236}">
                <a16:creationId xmlns:a16="http://schemas.microsoft.com/office/drawing/2014/main" id="{C0CF94A0-7640-0B4C-8357-CC9154CAB30A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5304" y="593090"/>
            <a:ext cx="1332484" cy="1332484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148079" y="222759"/>
            <a:ext cx="59055" cy="7325359"/>
            <a:chOff x="148079" y="222759"/>
            <a:chExt cx="59055" cy="7325359"/>
          </a:xfrm>
        </p:grpSpPr>
        <p:sp>
          <p:nvSpPr>
            <p:cNvPr id="4" name="object 4"/>
            <p:cNvSpPr/>
            <p:nvPr/>
          </p:nvSpPr>
          <p:spPr>
            <a:xfrm>
              <a:off x="153159" y="227839"/>
              <a:ext cx="48895" cy="7315200"/>
            </a:xfrm>
            <a:custGeom>
              <a:avLst/>
              <a:gdLst/>
              <a:ahLst/>
              <a:cxnLst/>
              <a:rect l="l" t="t" r="r" b="b"/>
              <a:pathLst>
                <a:path w="48894" h="7315200">
                  <a:moveTo>
                    <a:pt x="48766" y="0"/>
                  </a:moveTo>
                  <a:lnTo>
                    <a:pt x="0" y="0"/>
                  </a:lnTo>
                  <a:lnTo>
                    <a:pt x="0" y="7315200"/>
                  </a:lnTo>
                  <a:lnTo>
                    <a:pt x="48766" y="7315200"/>
                  </a:lnTo>
                  <a:lnTo>
                    <a:pt x="48766" y="0"/>
                  </a:lnTo>
                  <a:close/>
                </a:path>
              </a:pathLst>
            </a:custGeom>
            <a:solidFill>
              <a:srgbClr val="A4050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53159" y="227839"/>
              <a:ext cx="48895" cy="7315200"/>
            </a:xfrm>
            <a:custGeom>
              <a:avLst/>
              <a:gdLst/>
              <a:ahLst/>
              <a:cxnLst/>
              <a:rect l="l" t="t" r="r" b="b"/>
              <a:pathLst>
                <a:path w="48894" h="7315200">
                  <a:moveTo>
                    <a:pt x="48766" y="0"/>
                  </a:moveTo>
                  <a:lnTo>
                    <a:pt x="48766" y="7315200"/>
                  </a:lnTo>
                  <a:lnTo>
                    <a:pt x="0" y="7315200"/>
                  </a:lnTo>
                  <a:lnTo>
                    <a:pt x="0" y="0"/>
                  </a:lnTo>
                  <a:lnTo>
                    <a:pt x="48766" y="0"/>
                  </a:lnTo>
                  <a:close/>
                </a:path>
              </a:pathLst>
            </a:custGeom>
            <a:ln w="10159">
              <a:solidFill>
                <a:srgbClr val="A4001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784415" y="2052066"/>
            <a:ext cx="6428105" cy="81534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>
              <a:lnSpc>
                <a:spcPts val="3100"/>
              </a:lnSpc>
              <a:spcBef>
                <a:spcPts val="215"/>
              </a:spcBef>
            </a:pPr>
            <a:r>
              <a:rPr sz="2600" spc="-25" dirty="0">
                <a:latin typeface="Calibri"/>
                <a:cs typeface="Calibri"/>
              </a:rPr>
              <a:t>Ratios </a:t>
            </a:r>
            <a:r>
              <a:rPr sz="2600" spc="-15" dirty="0">
                <a:latin typeface="Calibri"/>
                <a:cs typeface="Calibri"/>
              </a:rPr>
              <a:t>of </a:t>
            </a:r>
            <a:r>
              <a:rPr sz="2600" spc="-25" dirty="0">
                <a:latin typeface="Calibri"/>
                <a:cs typeface="Calibri"/>
              </a:rPr>
              <a:t>co-occurrence </a:t>
            </a:r>
            <a:r>
              <a:rPr sz="2600" spc="-20" dirty="0">
                <a:latin typeface="Calibri"/>
                <a:cs typeface="Calibri"/>
              </a:rPr>
              <a:t>probabilities </a:t>
            </a:r>
            <a:r>
              <a:rPr sz="2600" spc="-25" dirty="0">
                <a:latin typeface="Calibri"/>
                <a:cs typeface="Calibri"/>
              </a:rPr>
              <a:t>can encode </a:t>
            </a:r>
            <a:r>
              <a:rPr sz="2600" spc="-57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meaning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30" dirty="0">
                <a:latin typeface="Calibri"/>
                <a:cs typeface="Calibri"/>
              </a:rPr>
              <a:t>components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6941" y="2027682"/>
            <a:ext cx="196278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20" dirty="0">
                <a:solidFill>
                  <a:srgbClr val="C82506"/>
                </a:solidFill>
                <a:latin typeface="Calibri"/>
                <a:cs typeface="Calibri"/>
              </a:rPr>
              <a:t>Crucial</a:t>
            </a:r>
            <a:r>
              <a:rPr sz="2600" spc="-85" dirty="0">
                <a:solidFill>
                  <a:srgbClr val="C82506"/>
                </a:solidFill>
                <a:latin typeface="Calibri"/>
                <a:cs typeface="Calibri"/>
              </a:rPr>
              <a:t> </a:t>
            </a:r>
            <a:r>
              <a:rPr sz="2600" spc="-20" dirty="0">
                <a:solidFill>
                  <a:srgbClr val="C82506"/>
                </a:solidFill>
                <a:latin typeface="Calibri"/>
                <a:cs typeface="Calibri"/>
              </a:rPr>
              <a:t>insight:</a:t>
            </a:r>
            <a:endParaRPr sz="2600">
              <a:latin typeface="Calibri"/>
              <a:cs typeface="Calibri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690524" y="3106172"/>
          <a:ext cx="8656319" cy="38076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1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8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33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94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040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72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41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07205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8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6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600" i="1" spc="-1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26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spc="-15" dirty="0">
                          <a:latin typeface="Calibri"/>
                          <a:cs typeface="Calibri"/>
                        </a:rPr>
                        <a:t>solid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748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6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600" i="1" spc="-1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26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spc="-35" dirty="0">
                          <a:latin typeface="Calibri"/>
                          <a:cs typeface="Calibri"/>
                        </a:rPr>
                        <a:t>gas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701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6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600" i="1" spc="-1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26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spc="-40" dirty="0">
                          <a:latin typeface="Calibri"/>
                          <a:cs typeface="Calibri"/>
                        </a:rPr>
                        <a:t>water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20447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6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600" i="1" spc="-1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2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spc="-25" dirty="0">
                          <a:latin typeface="Calibri"/>
                          <a:cs typeface="Calibri"/>
                        </a:rPr>
                        <a:t>fashion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28575">
                      <a:solidFill>
                        <a:srgbClr val="000000"/>
                      </a:solidFill>
                      <a:prstDash val="solid"/>
                    </a:lnL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93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2175"/>
                        </a:spcBef>
                      </a:pPr>
                      <a:r>
                        <a:rPr sz="2800" spc="-10" dirty="0">
                          <a:solidFill>
                            <a:srgbClr val="C82506"/>
                          </a:solidFill>
                          <a:latin typeface="Calibri"/>
                          <a:cs typeface="Calibri"/>
                        </a:rPr>
                        <a:t>1.9</a:t>
                      </a:r>
                      <a:r>
                        <a:rPr sz="2800" spc="-60" dirty="0">
                          <a:solidFill>
                            <a:srgbClr val="C8250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800" dirty="0">
                          <a:solidFill>
                            <a:srgbClr val="C82506"/>
                          </a:solidFill>
                          <a:latin typeface="Calibri"/>
                          <a:cs typeface="Calibri"/>
                        </a:rPr>
                        <a:t>x</a:t>
                      </a:r>
                      <a:r>
                        <a:rPr sz="2800" spc="-45" dirty="0">
                          <a:solidFill>
                            <a:srgbClr val="C8250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10" dirty="0">
                          <a:solidFill>
                            <a:srgbClr val="C82506"/>
                          </a:solidFill>
                          <a:latin typeface="Calibri"/>
                          <a:cs typeface="Calibri"/>
                        </a:rPr>
                        <a:t>10</a:t>
                      </a:r>
                      <a:r>
                        <a:rPr sz="2700" spc="-15" baseline="27777" dirty="0">
                          <a:solidFill>
                            <a:srgbClr val="C82506"/>
                          </a:solidFill>
                          <a:latin typeface="Calibri"/>
                          <a:cs typeface="Calibri"/>
                        </a:rPr>
                        <a:t>-4</a:t>
                      </a:r>
                      <a:endParaRPr sz="2700" baseline="27777">
                        <a:latin typeface="Calibri"/>
                        <a:cs typeface="Calibri"/>
                      </a:endParaRPr>
                    </a:p>
                  </a:txBody>
                  <a:tcPr marL="0" marR="0" marT="2762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8275">
                        <a:lnSpc>
                          <a:spcPct val="100000"/>
                        </a:lnSpc>
                        <a:spcBef>
                          <a:spcPts val="2100"/>
                        </a:spcBef>
                      </a:pPr>
                      <a:r>
                        <a:rPr sz="2800" spc="-10" dirty="0">
                          <a:solidFill>
                            <a:srgbClr val="0365C0"/>
                          </a:solidFill>
                          <a:latin typeface="Calibri"/>
                          <a:cs typeface="Calibri"/>
                        </a:rPr>
                        <a:t>6.6</a:t>
                      </a:r>
                      <a:r>
                        <a:rPr sz="2800" spc="-60" dirty="0">
                          <a:solidFill>
                            <a:srgbClr val="0365C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800" dirty="0">
                          <a:solidFill>
                            <a:srgbClr val="0365C0"/>
                          </a:solidFill>
                          <a:latin typeface="Calibri"/>
                          <a:cs typeface="Calibri"/>
                        </a:rPr>
                        <a:t>x</a:t>
                      </a:r>
                      <a:r>
                        <a:rPr sz="2800" spc="-45" dirty="0">
                          <a:solidFill>
                            <a:srgbClr val="0365C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10" dirty="0">
                          <a:solidFill>
                            <a:srgbClr val="0365C0"/>
                          </a:solidFill>
                          <a:latin typeface="Calibri"/>
                          <a:cs typeface="Calibri"/>
                        </a:rPr>
                        <a:t>10</a:t>
                      </a:r>
                      <a:r>
                        <a:rPr sz="2700" spc="-15" baseline="27777" dirty="0">
                          <a:solidFill>
                            <a:srgbClr val="0365C0"/>
                          </a:solidFill>
                          <a:latin typeface="Calibri"/>
                          <a:cs typeface="Calibri"/>
                        </a:rPr>
                        <a:t>-5</a:t>
                      </a:r>
                      <a:endParaRPr sz="2700" baseline="27777">
                        <a:latin typeface="Calibri"/>
                        <a:cs typeface="Calibri"/>
                      </a:endParaRPr>
                    </a:p>
                  </a:txBody>
                  <a:tcPr marL="0" marR="0" marT="2667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2090">
                        <a:lnSpc>
                          <a:spcPct val="100000"/>
                        </a:lnSpc>
                        <a:spcBef>
                          <a:spcPts val="2125"/>
                        </a:spcBef>
                      </a:pPr>
                      <a:r>
                        <a:rPr sz="2800" spc="-10" dirty="0">
                          <a:solidFill>
                            <a:srgbClr val="C82506"/>
                          </a:solidFill>
                          <a:latin typeface="Calibri"/>
                          <a:cs typeface="Calibri"/>
                        </a:rPr>
                        <a:t>3.0</a:t>
                      </a:r>
                      <a:r>
                        <a:rPr sz="2800" spc="-60" dirty="0">
                          <a:solidFill>
                            <a:srgbClr val="C8250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800" dirty="0">
                          <a:solidFill>
                            <a:srgbClr val="C82506"/>
                          </a:solidFill>
                          <a:latin typeface="Calibri"/>
                          <a:cs typeface="Calibri"/>
                        </a:rPr>
                        <a:t>x</a:t>
                      </a:r>
                      <a:r>
                        <a:rPr sz="2800" spc="-45" dirty="0">
                          <a:solidFill>
                            <a:srgbClr val="C8250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10" dirty="0">
                          <a:solidFill>
                            <a:srgbClr val="C82506"/>
                          </a:solidFill>
                          <a:latin typeface="Calibri"/>
                          <a:cs typeface="Calibri"/>
                        </a:rPr>
                        <a:t>10</a:t>
                      </a:r>
                      <a:r>
                        <a:rPr sz="2700" spc="-15" baseline="27777" dirty="0">
                          <a:solidFill>
                            <a:srgbClr val="C82506"/>
                          </a:solidFill>
                          <a:latin typeface="Calibri"/>
                          <a:cs typeface="Calibri"/>
                        </a:rPr>
                        <a:t>-3</a:t>
                      </a:r>
                      <a:endParaRPr sz="2700" baseline="27777">
                        <a:latin typeface="Calibri"/>
                        <a:cs typeface="Calibri"/>
                      </a:endParaRPr>
                    </a:p>
                  </a:txBody>
                  <a:tcPr marL="0" marR="0" marT="2698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320675">
                        <a:lnSpc>
                          <a:spcPct val="100000"/>
                        </a:lnSpc>
                        <a:spcBef>
                          <a:spcPts val="2100"/>
                        </a:spcBef>
                      </a:pPr>
                      <a:r>
                        <a:rPr sz="2800" spc="-10" dirty="0">
                          <a:solidFill>
                            <a:srgbClr val="0365C0"/>
                          </a:solidFill>
                          <a:latin typeface="Calibri"/>
                          <a:cs typeface="Calibri"/>
                        </a:rPr>
                        <a:t>1.7</a:t>
                      </a:r>
                      <a:r>
                        <a:rPr sz="2800" spc="-60" dirty="0">
                          <a:solidFill>
                            <a:srgbClr val="0365C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800" dirty="0">
                          <a:solidFill>
                            <a:srgbClr val="0365C0"/>
                          </a:solidFill>
                          <a:latin typeface="Calibri"/>
                          <a:cs typeface="Calibri"/>
                        </a:rPr>
                        <a:t>x</a:t>
                      </a:r>
                      <a:r>
                        <a:rPr sz="2800" spc="-45" dirty="0">
                          <a:solidFill>
                            <a:srgbClr val="0365C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10" dirty="0">
                          <a:solidFill>
                            <a:srgbClr val="0365C0"/>
                          </a:solidFill>
                          <a:latin typeface="Calibri"/>
                          <a:cs typeface="Calibri"/>
                        </a:rPr>
                        <a:t>10</a:t>
                      </a:r>
                      <a:r>
                        <a:rPr sz="2700" spc="-15" baseline="27777" dirty="0">
                          <a:solidFill>
                            <a:srgbClr val="0365C0"/>
                          </a:solidFill>
                          <a:latin typeface="Calibri"/>
                          <a:cs typeface="Calibri"/>
                        </a:rPr>
                        <a:t>-5</a:t>
                      </a:r>
                      <a:endParaRPr sz="2700" baseline="27777">
                        <a:latin typeface="Calibri"/>
                        <a:cs typeface="Calibri"/>
                      </a:endParaRPr>
                    </a:p>
                  </a:txBody>
                  <a:tcPr marL="0" marR="0" marT="266700" marB="0">
                    <a:lnL w="38100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1570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8435">
                        <a:lnSpc>
                          <a:spcPct val="100000"/>
                        </a:lnSpc>
                        <a:spcBef>
                          <a:spcPts val="1945"/>
                        </a:spcBef>
                      </a:pPr>
                      <a:r>
                        <a:rPr sz="2800" spc="-10" dirty="0">
                          <a:solidFill>
                            <a:srgbClr val="0365C0"/>
                          </a:solidFill>
                          <a:latin typeface="Calibri"/>
                          <a:cs typeface="Calibri"/>
                        </a:rPr>
                        <a:t>2.2</a:t>
                      </a:r>
                      <a:r>
                        <a:rPr sz="2800" spc="-60" dirty="0">
                          <a:solidFill>
                            <a:srgbClr val="0365C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800" dirty="0">
                          <a:solidFill>
                            <a:srgbClr val="0365C0"/>
                          </a:solidFill>
                          <a:latin typeface="Calibri"/>
                          <a:cs typeface="Calibri"/>
                        </a:rPr>
                        <a:t>x</a:t>
                      </a:r>
                      <a:r>
                        <a:rPr sz="2800" spc="-45" dirty="0">
                          <a:solidFill>
                            <a:srgbClr val="0365C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10" dirty="0">
                          <a:solidFill>
                            <a:srgbClr val="0365C0"/>
                          </a:solidFill>
                          <a:latin typeface="Calibri"/>
                          <a:cs typeface="Calibri"/>
                        </a:rPr>
                        <a:t>10</a:t>
                      </a:r>
                      <a:r>
                        <a:rPr sz="2700" spc="-15" baseline="27777" dirty="0">
                          <a:solidFill>
                            <a:srgbClr val="0365C0"/>
                          </a:solidFill>
                          <a:latin typeface="Calibri"/>
                          <a:cs typeface="Calibri"/>
                        </a:rPr>
                        <a:t>-5</a:t>
                      </a:r>
                      <a:endParaRPr sz="2700" baseline="27777">
                        <a:latin typeface="Calibri"/>
                        <a:cs typeface="Calibri"/>
                      </a:endParaRPr>
                    </a:p>
                  </a:txBody>
                  <a:tcPr marL="0" marR="0" marT="2470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8275">
                        <a:lnSpc>
                          <a:spcPct val="100000"/>
                        </a:lnSpc>
                        <a:spcBef>
                          <a:spcPts val="1920"/>
                        </a:spcBef>
                      </a:pPr>
                      <a:r>
                        <a:rPr sz="2800" spc="-10" dirty="0">
                          <a:solidFill>
                            <a:srgbClr val="C82506"/>
                          </a:solidFill>
                          <a:latin typeface="Calibri"/>
                          <a:cs typeface="Calibri"/>
                        </a:rPr>
                        <a:t>7.8</a:t>
                      </a:r>
                      <a:r>
                        <a:rPr sz="2800" spc="-60" dirty="0">
                          <a:solidFill>
                            <a:srgbClr val="C8250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800" dirty="0">
                          <a:solidFill>
                            <a:srgbClr val="C82506"/>
                          </a:solidFill>
                          <a:latin typeface="Calibri"/>
                          <a:cs typeface="Calibri"/>
                        </a:rPr>
                        <a:t>x</a:t>
                      </a:r>
                      <a:r>
                        <a:rPr sz="2800" spc="-45" dirty="0">
                          <a:solidFill>
                            <a:srgbClr val="C8250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10" dirty="0">
                          <a:solidFill>
                            <a:srgbClr val="C82506"/>
                          </a:solidFill>
                          <a:latin typeface="Calibri"/>
                          <a:cs typeface="Calibri"/>
                        </a:rPr>
                        <a:t>10</a:t>
                      </a:r>
                      <a:r>
                        <a:rPr sz="2700" spc="-15" baseline="27777" dirty="0">
                          <a:solidFill>
                            <a:srgbClr val="C82506"/>
                          </a:solidFill>
                          <a:latin typeface="Calibri"/>
                          <a:cs typeface="Calibri"/>
                        </a:rPr>
                        <a:t>-4</a:t>
                      </a:r>
                      <a:endParaRPr sz="2700" baseline="27777">
                        <a:latin typeface="Calibri"/>
                        <a:cs typeface="Calibri"/>
                      </a:endParaRPr>
                    </a:p>
                  </a:txBody>
                  <a:tcPr marL="0" marR="0" marT="2438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2090">
                        <a:lnSpc>
                          <a:spcPct val="100000"/>
                        </a:lnSpc>
                        <a:spcBef>
                          <a:spcPts val="1920"/>
                        </a:spcBef>
                      </a:pPr>
                      <a:r>
                        <a:rPr sz="2800" spc="-10" dirty="0">
                          <a:solidFill>
                            <a:srgbClr val="C82506"/>
                          </a:solidFill>
                          <a:latin typeface="Calibri"/>
                          <a:cs typeface="Calibri"/>
                        </a:rPr>
                        <a:t>2.2</a:t>
                      </a:r>
                      <a:r>
                        <a:rPr sz="2800" spc="-60" dirty="0">
                          <a:solidFill>
                            <a:srgbClr val="C8250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800" dirty="0">
                          <a:solidFill>
                            <a:srgbClr val="C82506"/>
                          </a:solidFill>
                          <a:latin typeface="Calibri"/>
                          <a:cs typeface="Calibri"/>
                        </a:rPr>
                        <a:t>x</a:t>
                      </a:r>
                      <a:r>
                        <a:rPr sz="2800" spc="-45" dirty="0">
                          <a:solidFill>
                            <a:srgbClr val="C8250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10" dirty="0">
                          <a:solidFill>
                            <a:srgbClr val="C82506"/>
                          </a:solidFill>
                          <a:latin typeface="Calibri"/>
                          <a:cs typeface="Calibri"/>
                        </a:rPr>
                        <a:t>10</a:t>
                      </a:r>
                      <a:r>
                        <a:rPr sz="2700" spc="-15" baseline="27777" dirty="0">
                          <a:solidFill>
                            <a:srgbClr val="C82506"/>
                          </a:solidFill>
                          <a:latin typeface="Calibri"/>
                          <a:cs typeface="Calibri"/>
                        </a:rPr>
                        <a:t>-3</a:t>
                      </a:r>
                      <a:endParaRPr sz="2700" baseline="27777">
                        <a:latin typeface="Calibri"/>
                        <a:cs typeface="Calibri"/>
                      </a:endParaRPr>
                    </a:p>
                  </a:txBody>
                  <a:tcPr marL="0" marR="0" marT="2438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8275" algn="ctr">
                        <a:lnSpc>
                          <a:spcPct val="100000"/>
                        </a:lnSpc>
                        <a:spcBef>
                          <a:spcPts val="2470"/>
                        </a:spcBef>
                      </a:pPr>
                      <a:r>
                        <a:rPr sz="2800" spc="-10" dirty="0">
                          <a:solidFill>
                            <a:srgbClr val="0365C0"/>
                          </a:solidFill>
                          <a:latin typeface="Calibri"/>
                          <a:cs typeface="Calibri"/>
                        </a:rPr>
                        <a:t>1.8</a:t>
                      </a:r>
                      <a:r>
                        <a:rPr sz="2800" spc="-60" dirty="0">
                          <a:solidFill>
                            <a:srgbClr val="0365C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800" dirty="0">
                          <a:solidFill>
                            <a:srgbClr val="0365C0"/>
                          </a:solidFill>
                          <a:latin typeface="Calibri"/>
                          <a:cs typeface="Calibri"/>
                        </a:rPr>
                        <a:t>x</a:t>
                      </a:r>
                      <a:r>
                        <a:rPr sz="2800" spc="-45" dirty="0">
                          <a:solidFill>
                            <a:srgbClr val="0365C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10" dirty="0">
                          <a:solidFill>
                            <a:srgbClr val="0365C0"/>
                          </a:solidFill>
                          <a:latin typeface="Calibri"/>
                          <a:cs typeface="Calibri"/>
                        </a:rPr>
                        <a:t>10</a:t>
                      </a:r>
                      <a:r>
                        <a:rPr sz="2700" spc="-15" baseline="27777" dirty="0">
                          <a:solidFill>
                            <a:srgbClr val="0365C0"/>
                          </a:solidFill>
                          <a:latin typeface="Calibri"/>
                          <a:cs typeface="Calibri"/>
                        </a:rPr>
                        <a:t>-5</a:t>
                      </a:r>
                      <a:endParaRPr sz="2700" baseline="27777">
                        <a:latin typeface="Calibri"/>
                        <a:cs typeface="Calibri"/>
                      </a:endParaRPr>
                    </a:p>
                  </a:txBody>
                  <a:tcPr marL="0" marR="0" marT="31369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95402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  <a:p>
                      <a:pPr marL="27813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800" spc="-10" dirty="0">
                          <a:solidFill>
                            <a:srgbClr val="C82506"/>
                          </a:solidFill>
                          <a:latin typeface="Calibri"/>
                          <a:cs typeface="Calibri"/>
                        </a:rPr>
                        <a:t>8.9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2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2750">
                        <a:latin typeface="Times New Roman"/>
                        <a:cs typeface="Times New Roman"/>
                      </a:endParaRPr>
                    </a:p>
                    <a:p>
                      <a:pPr marL="168275">
                        <a:lnSpc>
                          <a:spcPct val="100000"/>
                        </a:lnSpc>
                      </a:pPr>
                      <a:r>
                        <a:rPr sz="2800" spc="-10" dirty="0">
                          <a:solidFill>
                            <a:srgbClr val="0365C0"/>
                          </a:solidFill>
                          <a:latin typeface="Calibri"/>
                          <a:cs typeface="Calibri"/>
                        </a:rPr>
                        <a:t>8.5</a:t>
                      </a:r>
                      <a:r>
                        <a:rPr sz="2800" spc="-60" dirty="0">
                          <a:solidFill>
                            <a:srgbClr val="0365C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800" dirty="0">
                          <a:solidFill>
                            <a:srgbClr val="0365C0"/>
                          </a:solidFill>
                          <a:latin typeface="Calibri"/>
                          <a:cs typeface="Calibri"/>
                        </a:rPr>
                        <a:t>x</a:t>
                      </a:r>
                      <a:r>
                        <a:rPr sz="2800" spc="-45" dirty="0">
                          <a:solidFill>
                            <a:srgbClr val="0365C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10" dirty="0">
                          <a:solidFill>
                            <a:srgbClr val="0365C0"/>
                          </a:solidFill>
                          <a:latin typeface="Calibri"/>
                          <a:cs typeface="Calibri"/>
                        </a:rPr>
                        <a:t>10</a:t>
                      </a:r>
                      <a:r>
                        <a:rPr sz="2700" spc="-15" baseline="27777" dirty="0">
                          <a:solidFill>
                            <a:srgbClr val="0365C0"/>
                          </a:solidFill>
                          <a:latin typeface="Calibri"/>
                          <a:cs typeface="Calibri"/>
                        </a:rPr>
                        <a:t>-2</a:t>
                      </a:r>
                      <a:endParaRPr sz="2700" baseline="27777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2450">
                        <a:latin typeface="Times New Roman"/>
                        <a:cs typeface="Times New Roman"/>
                      </a:endParaRPr>
                    </a:p>
                    <a:p>
                      <a:pPr marR="3810" algn="ctr">
                        <a:lnSpc>
                          <a:spcPct val="100000"/>
                        </a:lnSpc>
                      </a:pPr>
                      <a:r>
                        <a:rPr sz="2600" spc="-25" dirty="0">
                          <a:latin typeface="Calibri"/>
                          <a:cs typeface="Calibri"/>
                        </a:rPr>
                        <a:t>1.36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25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  <a:p>
                      <a:pPr marL="200025" algn="ctr">
                        <a:lnSpc>
                          <a:spcPct val="100000"/>
                        </a:lnSpc>
                      </a:pPr>
                      <a:r>
                        <a:rPr sz="2600" spc="-25" dirty="0">
                          <a:latin typeface="Calibri"/>
                          <a:cs typeface="Calibri"/>
                        </a:rPr>
                        <a:t>0.96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2866" y="3897629"/>
            <a:ext cx="1054608" cy="42062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7313" y="4930902"/>
            <a:ext cx="1484376" cy="42062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85977" y="5884926"/>
            <a:ext cx="1517904" cy="972312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701038" y="828802"/>
            <a:ext cx="710120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0000"/>
                </a:solidFill>
              </a:rPr>
              <a:t>Encoding</a:t>
            </a:r>
            <a:r>
              <a:rPr spc="-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meaning</a:t>
            </a:r>
            <a:r>
              <a:rPr spc="-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in vector</a:t>
            </a:r>
            <a:r>
              <a:rPr spc="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differences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701038" y="1347978"/>
            <a:ext cx="6664959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spc="-20" dirty="0">
                <a:solidFill>
                  <a:srgbClr val="177245"/>
                </a:solidFill>
                <a:latin typeface="Calibri"/>
                <a:cs typeface="Calibri"/>
              </a:rPr>
              <a:t>[Pennington,</a:t>
            </a:r>
            <a:r>
              <a:rPr sz="2600" b="1" spc="-30" dirty="0">
                <a:solidFill>
                  <a:srgbClr val="177245"/>
                </a:solidFill>
                <a:latin typeface="Calibri"/>
                <a:cs typeface="Calibri"/>
              </a:rPr>
              <a:t> </a:t>
            </a:r>
            <a:r>
              <a:rPr sz="2600" b="1" spc="-20" dirty="0">
                <a:solidFill>
                  <a:srgbClr val="177245"/>
                </a:solidFill>
                <a:latin typeface="Calibri"/>
                <a:cs typeface="Calibri"/>
              </a:rPr>
              <a:t>Socher,</a:t>
            </a:r>
            <a:r>
              <a:rPr sz="2600" b="1" spc="-25" dirty="0">
                <a:solidFill>
                  <a:srgbClr val="177245"/>
                </a:solidFill>
                <a:latin typeface="Calibri"/>
                <a:cs typeface="Calibri"/>
              </a:rPr>
              <a:t> </a:t>
            </a:r>
            <a:r>
              <a:rPr sz="2600" b="1" spc="-15" dirty="0">
                <a:solidFill>
                  <a:srgbClr val="177245"/>
                </a:solidFill>
                <a:latin typeface="Calibri"/>
                <a:cs typeface="Calibri"/>
              </a:rPr>
              <a:t>and</a:t>
            </a:r>
            <a:r>
              <a:rPr sz="2600" b="1" spc="-45" dirty="0">
                <a:solidFill>
                  <a:srgbClr val="177245"/>
                </a:solidFill>
                <a:latin typeface="Calibri"/>
                <a:cs typeface="Calibri"/>
              </a:rPr>
              <a:t> </a:t>
            </a:r>
            <a:r>
              <a:rPr sz="2600" b="1" spc="-25" dirty="0">
                <a:solidFill>
                  <a:srgbClr val="177245"/>
                </a:solidFill>
                <a:latin typeface="Calibri"/>
                <a:cs typeface="Calibri"/>
              </a:rPr>
              <a:t>Manning,</a:t>
            </a:r>
            <a:r>
              <a:rPr sz="2600" b="1" spc="-30" dirty="0">
                <a:solidFill>
                  <a:srgbClr val="177245"/>
                </a:solidFill>
                <a:latin typeface="Calibri"/>
                <a:cs typeface="Calibri"/>
              </a:rPr>
              <a:t> </a:t>
            </a:r>
            <a:r>
              <a:rPr sz="2600" b="1" spc="-25" dirty="0">
                <a:solidFill>
                  <a:srgbClr val="177245"/>
                </a:solidFill>
                <a:latin typeface="Calibri"/>
                <a:cs typeface="Calibri"/>
              </a:rPr>
              <a:t>EMNLP</a:t>
            </a:r>
            <a:r>
              <a:rPr sz="2600" b="1" spc="-45" dirty="0">
                <a:solidFill>
                  <a:srgbClr val="177245"/>
                </a:solidFill>
                <a:latin typeface="Calibri"/>
                <a:cs typeface="Calibri"/>
              </a:rPr>
              <a:t> </a:t>
            </a:r>
            <a:r>
              <a:rPr sz="2600" b="1" spc="-25" dirty="0">
                <a:solidFill>
                  <a:srgbClr val="177245"/>
                </a:solidFill>
                <a:latin typeface="Calibri"/>
                <a:cs typeface="Calibri"/>
              </a:rPr>
              <a:t>2014]</a:t>
            </a:r>
            <a:endParaRPr sz="2600">
              <a:latin typeface="Calibri"/>
              <a:cs typeface="Calibri"/>
            </a:endParaRPr>
          </a:p>
        </p:txBody>
      </p:sp>
      <p:pic>
        <p:nvPicPr>
          <p:cNvPr id="15" name="图片 3" descr="20121109221446303940">
            <a:extLst>
              <a:ext uri="{FF2B5EF4-FFF2-40B4-BE49-F238E27FC236}">
                <a16:creationId xmlns:a16="http://schemas.microsoft.com/office/drawing/2014/main" id="{A1561C20-71E8-9A46-B303-83A1C9BF51EC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5304" y="593090"/>
            <a:ext cx="1332484" cy="1332484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148079" y="222759"/>
            <a:ext cx="59055" cy="7325359"/>
            <a:chOff x="148079" y="222759"/>
            <a:chExt cx="59055" cy="7325359"/>
          </a:xfrm>
        </p:grpSpPr>
        <p:sp>
          <p:nvSpPr>
            <p:cNvPr id="4" name="object 4"/>
            <p:cNvSpPr/>
            <p:nvPr/>
          </p:nvSpPr>
          <p:spPr>
            <a:xfrm>
              <a:off x="153159" y="227839"/>
              <a:ext cx="48895" cy="7315200"/>
            </a:xfrm>
            <a:custGeom>
              <a:avLst/>
              <a:gdLst/>
              <a:ahLst/>
              <a:cxnLst/>
              <a:rect l="l" t="t" r="r" b="b"/>
              <a:pathLst>
                <a:path w="48894" h="7315200">
                  <a:moveTo>
                    <a:pt x="48766" y="0"/>
                  </a:moveTo>
                  <a:lnTo>
                    <a:pt x="0" y="0"/>
                  </a:lnTo>
                  <a:lnTo>
                    <a:pt x="0" y="7315200"/>
                  </a:lnTo>
                  <a:lnTo>
                    <a:pt x="48766" y="7315200"/>
                  </a:lnTo>
                  <a:lnTo>
                    <a:pt x="48766" y="0"/>
                  </a:lnTo>
                  <a:close/>
                </a:path>
              </a:pathLst>
            </a:custGeom>
            <a:solidFill>
              <a:srgbClr val="A4050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53159" y="227839"/>
              <a:ext cx="48895" cy="7315200"/>
            </a:xfrm>
            <a:custGeom>
              <a:avLst/>
              <a:gdLst/>
              <a:ahLst/>
              <a:cxnLst/>
              <a:rect l="l" t="t" r="r" b="b"/>
              <a:pathLst>
                <a:path w="48894" h="7315200">
                  <a:moveTo>
                    <a:pt x="48766" y="0"/>
                  </a:moveTo>
                  <a:lnTo>
                    <a:pt x="48766" y="7315200"/>
                  </a:lnTo>
                  <a:lnTo>
                    <a:pt x="0" y="7315200"/>
                  </a:lnTo>
                  <a:lnTo>
                    <a:pt x="0" y="0"/>
                  </a:lnTo>
                  <a:lnTo>
                    <a:pt x="48766" y="0"/>
                  </a:lnTo>
                  <a:close/>
                </a:path>
              </a:pathLst>
            </a:custGeom>
            <a:ln w="10159">
              <a:solidFill>
                <a:srgbClr val="A4001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74058" y="3294126"/>
            <a:ext cx="2813304" cy="36576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95265" y="3891534"/>
            <a:ext cx="4136136" cy="819912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548024" y="2161794"/>
            <a:ext cx="8326120" cy="232664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27305" marR="5080">
              <a:lnSpc>
                <a:spcPts val="3100"/>
              </a:lnSpc>
              <a:spcBef>
                <a:spcPts val="219"/>
              </a:spcBef>
            </a:pPr>
            <a:r>
              <a:rPr sz="2600" spc="-15" dirty="0">
                <a:latin typeface="Calibri"/>
                <a:cs typeface="Calibri"/>
              </a:rPr>
              <a:t>Q: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How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can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we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capture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ratios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of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co-occurrence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probabilities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as </a:t>
            </a:r>
            <a:r>
              <a:rPr sz="2600" spc="-57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linear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meaning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components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word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vector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space?</a:t>
            </a:r>
            <a:endParaRPr sz="2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200"/>
              </a:spcBef>
            </a:pPr>
            <a:r>
              <a:rPr sz="2600" spc="-15" dirty="0">
                <a:solidFill>
                  <a:srgbClr val="773F9B"/>
                </a:solidFill>
                <a:latin typeface="Calibri"/>
                <a:cs typeface="Calibri"/>
              </a:rPr>
              <a:t>A:</a:t>
            </a:r>
            <a:r>
              <a:rPr sz="2600" spc="-45" dirty="0">
                <a:solidFill>
                  <a:srgbClr val="773F9B"/>
                </a:solidFill>
                <a:latin typeface="Calibri"/>
                <a:cs typeface="Calibri"/>
              </a:rPr>
              <a:t> </a:t>
            </a:r>
            <a:r>
              <a:rPr sz="2600" spc="-20" dirty="0">
                <a:solidFill>
                  <a:srgbClr val="773F9B"/>
                </a:solidFill>
                <a:latin typeface="Calibri"/>
                <a:cs typeface="Calibri"/>
              </a:rPr>
              <a:t>Log-bilinear</a:t>
            </a:r>
            <a:r>
              <a:rPr sz="2600" spc="-40" dirty="0">
                <a:solidFill>
                  <a:srgbClr val="773F9B"/>
                </a:solidFill>
                <a:latin typeface="Calibri"/>
                <a:cs typeface="Calibri"/>
              </a:rPr>
              <a:t> </a:t>
            </a:r>
            <a:r>
              <a:rPr sz="2600" spc="-20" dirty="0">
                <a:solidFill>
                  <a:srgbClr val="773F9B"/>
                </a:solidFill>
                <a:latin typeface="Calibri"/>
                <a:cs typeface="Calibri"/>
              </a:rPr>
              <a:t>model:</a:t>
            </a:r>
            <a:endParaRPr sz="26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750">
              <a:latin typeface="Calibri"/>
              <a:cs typeface="Calibri"/>
            </a:endParaRPr>
          </a:p>
          <a:p>
            <a:pPr marL="429259">
              <a:lnSpc>
                <a:spcPct val="100000"/>
              </a:lnSpc>
            </a:pPr>
            <a:r>
              <a:rPr sz="2600" spc="-20" dirty="0">
                <a:solidFill>
                  <a:srgbClr val="773F9B"/>
                </a:solidFill>
                <a:latin typeface="Calibri"/>
                <a:cs typeface="Calibri"/>
              </a:rPr>
              <a:t>with</a:t>
            </a:r>
            <a:r>
              <a:rPr sz="2600" spc="-50" dirty="0">
                <a:solidFill>
                  <a:srgbClr val="773F9B"/>
                </a:solidFill>
                <a:latin typeface="Calibri"/>
                <a:cs typeface="Calibri"/>
              </a:rPr>
              <a:t> </a:t>
            </a:r>
            <a:r>
              <a:rPr sz="2600" spc="-25" dirty="0">
                <a:solidFill>
                  <a:srgbClr val="773F9B"/>
                </a:solidFill>
                <a:latin typeface="Calibri"/>
                <a:cs typeface="Calibri"/>
              </a:rPr>
              <a:t>vector</a:t>
            </a:r>
            <a:r>
              <a:rPr sz="2600" spc="-45" dirty="0">
                <a:solidFill>
                  <a:srgbClr val="773F9B"/>
                </a:solidFill>
                <a:latin typeface="Calibri"/>
                <a:cs typeface="Calibri"/>
              </a:rPr>
              <a:t> </a:t>
            </a:r>
            <a:r>
              <a:rPr sz="2600" spc="-30" dirty="0">
                <a:solidFill>
                  <a:srgbClr val="773F9B"/>
                </a:solidFill>
                <a:latin typeface="Calibri"/>
                <a:cs typeface="Calibri"/>
              </a:rPr>
              <a:t>differences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701038" y="1218946"/>
            <a:ext cx="710247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0000"/>
                </a:solidFill>
              </a:rPr>
              <a:t>Encoding</a:t>
            </a:r>
            <a:r>
              <a:rPr spc="-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meaning in vector</a:t>
            </a:r>
            <a:r>
              <a:rPr spc="1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differences</a:t>
            </a:r>
          </a:p>
        </p:txBody>
      </p:sp>
      <p:pic>
        <p:nvPicPr>
          <p:cNvPr id="11" name="图片 3" descr="20121109221446303940">
            <a:extLst>
              <a:ext uri="{FF2B5EF4-FFF2-40B4-BE49-F238E27FC236}">
                <a16:creationId xmlns:a16="http://schemas.microsoft.com/office/drawing/2014/main" id="{42703806-A5F9-B746-B125-C849940C2F4B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5304" y="593090"/>
            <a:ext cx="1332484" cy="1332484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53159" y="7536210"/>
            <a:ext cx="48895" cy="6985"/>
          </a:xfrm>
          <a:custGeom>
            <a:avLst/>
            <a:gdLst/>
            <a:ahLst/>
            <a:cxnLst/>
            <a:rect l="l" t="t" r="r" b="b"/>
            <a:pathLst>
              <a:path w="48894" h="6984">
                <a:moveTo>
                  <a:pt x="0" y="6828"/>
                </a:moveTo>
                <a:lnTo>
                  <a:pt x="48766" y="6828"/>
                </a:lnTo>
                <a:lnTo>
                  <a:pt x="48766" y="0"/>
                </a:lnTo>
                <a:lnTo>
                  <a:pt x="0" y="0"/>
                </a:lnTo>
                <a:lnTo>
                  <a:pt x="0" y="6828"/>
                </a:lnTo>
                <a:close/>
              </a:path>
            </a:pathLst>
          </a:custGeom>
          <a:solidFill>
            <a:srgbClr val="A40508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148079" y="222759"/>
            <a:ext cx="59055" cy="7325359"/>
            <a:chOff x="148079" y="222759"/>
            <a:chExt cx="59055" cy="7325359"/>
          </a:xfrm>
        </p:grpSpPr>
        <p:sp>
          <p:nvSpPr>
            <p:cNvPr id="5" name="object 5"/>
            <p:cNvSpPr/>
            <p:nvPr/>
          </p:nvSpPr>
          <p:spPr>
            <a:xfrm>
              <a:off x="153159" y="227839"/>
              <a:ext cx="48895" cy="4443730"/>
            </a:xfrm>
            <a:custGeom>
              <a:avLst/>
              <a:gdLst/>
              <a:ahLst/>
              <a:cxnLst/>
              <a:rect l="l" t="t" r="r" b="b"/>
              <a:pathLst>
                <a:path w="48894" h="4443730">
                  <a:moveTo>
                    <a:pt x="0" y="4443159"/>
                  </a:moveTo>
                  <a:lnTo>
                    <a:pt x="48766" y="4443159"/>
                  </a:lnTo>
                  <a:lnTo>
                    <a:pt x="48766" y="0"/>
                  </a:lnTo>
                  <a:lnTo>
                    <a:pt x="0" y="0"/>
                  </a:lnTo>
                  <a:lnTo>
                    <a:pt x="0" y="4443159"/>
                  </a:lnTo>
                  <a:close/>
                </a:path>
              </a:pathLst>
            </a:custGeom>
            <a:solidFill>
              <a:srgbClr val="A4050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3159" y="227839"/>
              <a:ext cx="48895" cy="7315200"/>
            </a:xfrm>
            <a:custGeom>
              <a:avLst/>
              <a:gdLst/>
              <a:ahLst/>
              <a:cxnLst/>
              <a:rect l="l" t="t" r="r" b="b"/>
              <a:pathLst>
                <a:path w="48894" h="7315200">
                  <a:moveTo>
                    <a:pt x="48766" y="0"/>
                  </a:moveTo>
                  <a:lnTo>
                    <a:pt x="48766" y="7315200"/>
                  </a:lnTo>
                  <a:lnTo>
                    <a:pt x="0" y="7315200"/>
                  </a:lnTo>
                  <a:lnTo>
                    <a:pt x="0" y="0"/>
                  </a:lnTo>
                  <a:lnTo>
                    <a:pt x="48766" y="0"/>
                  </a:lnTo>
                  <a:close/>
                </a:path>
              </a:pathLst>
            </a:custGeom>
            <a:ln w="10159">
              <a:solidFill>
                <a:srgbClr val="A4001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57593" y="5534405"/>
            <a:ext cx="2865120" cy="156667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71209" y="6019038"/>
            <a:ext cx="618743" cy="329184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6626602" y="4866693"/>
            <a:ext cx="3170555" cy="2630170"/>
            <a:chOff x="6626602" y="4866693"/>
            <a:chExt cx="3170555" cy="2630170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26602" y="5424548"/>
              <a:ext cx="2522870" cy="1787061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9107833" y="4866693"/>
              <a:ext cx="689610" cy="2630170"/>
            </a:xfrm>
            <a:custGeom>
              <a:avLst/>
              <a:gdLst/>
              <a:ahLst/>
              <a:cxnLst/>
              <a:rect l="l" t="t" r="r" b="b"/>
              <a:pathLst>
                <a:path w="689609" h="2630170">
                  <a:moveTo>
                    <a:pt x="689230" y="0"/>
                  </a:moveTo>
                  <a:lnTo>
                    <a:pt x="0" y="0"/>
                  </a:lnTo>
                  <a:lnTo>
                    <a:pt x="0" y="2629885"/>
                  </a:lnTo>
                  <a:lnTo>
                    <a:pt x="689230" y="2629885"/>
                  </a:lnTo>
                  <a:lnTo>
                    <a:pt x="68923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153162" y="3443801"/>
            <a:ext cx="7052945" cy="4092575"/>
            <a:chOff x="153162" y="3443801"/>
            <a:chExt cx="7052945" cy="4092575"/>
          </a:xfrm>
        </p:grpSpPr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3162" y="5504240"/>
              <a:ext cx="5225326" cy="135496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53162" y="4670998"/>
              <a:ext cx="5619115" cy="2865755"/>
            </a:xfrm>
            <a:custGeom>
              <a:avLst/>
              <a:gdLst/>
              <a:ahLst/>
              <a:cxnLst/>
              <a:rect l="l" t="t" r="r" b="b"/>
              <a:pathLst>
                <a:path w="5619115" h="2865754">
                  <a:moveTo>
                    <a:pt x="0" y="2865211"/>
                  </a:moveTo>
                  <a:lnTo>
                    <a:pt x="0" y="0"/>
                  </a:lnTo>
                  <a:lnTo>
                    <a:pt x="5618845" y="0"/>
                  </a:lnTo>
                  <a:lnTo>
                    <a:pt x="5618845" y="2865211"/>
                  </a:lnTo>
                  <a:lnTo>
                    <a:pt x="0" y="286521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25870" y="3443801"/>
              <a:ext cx="6180178" cy="1354964"/>
            </a:xfrm>
            <a:prstGeom prst="rect">
              <a:avLst/>
            </a:prstGeom>
          </p:spPr>
        </p:pic>
      </p:grp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1701038" y="827785"/>
            <a:ext cx="560959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1224915" algn="l"/>
              </a:tabLst>
            </a:pPr>
            <a:r>
              <a:rPr sz="3000" spc="-15" dirty="0">
                <a:solidFill>
                  <a:srgbClr val="000000"/>
                </a:solidFill>
              </a:rPr>
              <a:t>Combining </a:t>
            </a:r>
            <a:r>
              <a:rPr sz="3000" spc="-5" dirty="0">
                <a:solidFill>
                  <a:srgbClr val="000000"/>
                </a:solidFill>
              </a:rPr>
              <a:t>the </a:t>
            </a:r>
            <a:r>
              <a:rPr sz="3000" spc="-10" dirty="0">
                <a:solidFill>
                  <a:srgbClr val="000000"/>
                </a:solidFill>
              </a:rPr>
              <a:t>best of both worlds </a:t>
            </a:r>
            <a:r>
              <a:rPr sz="3000" spc="-5" dirty="0">
                <a:solidFill>
                  <a:srgbClr val="000000"/>
                </a:solidFill>
              </a:rPr>
              <a:t> </a:t>
            </a:r>
            <a:r>
              <a:rPr sz="3000" spc="-10" dirty="0">
                <a:solidFill>
                  <a:srgbClr val="000000"/>
                </a:solidFill>
              </a:rPr>
              <a:t>GloVe	</a:t>
            </a:r>
            <a:r>
              <a:rPr sz="2600" spc="-20" dirty="0">
                <a:solidFill>
                  <a:srgbClr val="177245"/>
                </a:solidFill>
              </a:rPr>
              <a:t>[Pennington</a:t>
            </a:r>
            <a:r>
              <a:rPr sz="2600" spc="-60" dirty="0">
                <a:solidFill>
                  <a:srgbClr val="177245"/>
                </a:solidFill>
              </a:rPr>
              <a:t> </a:t>
            </a:r>
            <a:r>
              <a:rPr sz="2600" spc="-10" dirty="0">
                <a:solidFill>
                  <a:srgbClr val="177245"/>
                </a:solidFill>
              </a:rPr>
              <a:t>et</a:t>
            </a:r>
            <a:r>
              <a:rPr sz="2600" spc="-40" dirty="0">
                <a:solidFill>
                  <a:srgbClr val="177245"/>
                </a:solidFill>
              </a:rPr>
              <a:t> </a:t>
            </a:r>
            <a:r>
              <a:rPr sz="2600" spc="-15" dirty="0">
                <a:solidFill>
                  <a:srgbClr val="177245"/>
                </a:solidFill>
              </a:rPr>
              <a:t>al.,</a:t>
            </a:r>
            <a:r>
              <a:rPr sz="2600" spc="-35" dirty="0">
                <a:solidFill>
                  <a:srgbClr val="177245"/>
                </a:solidFill>
              </a:rPr>
              <a:t> </a:t>
            </a:r>
            <a:r>
              <a:rPr sz="2600" spc="-25" dirty="0">
                <a:solidFill>
                  <a:srgbClr val="177245"/>
                </a:solidFill>
              </a:rPr>
              <a:t>EMNLP</a:t>
            </a:r>
            <a:r>
              <a:rPr sz="2600" spc="-55" dirty="0">
                <a:solidFill>
                  <a:srgbClr val="177245"/>
                </a:solidFill>
              </a:rPr>
              <a:t> </a:t>
            </a:r>
            <a:r>
              <a:rPr sz="2600" spc="-25" dirty="0">
                <a:solidFill>
                  <a:srgbClr val="177245"/>
                </a:solidFill>
              </a:rPr>
              <a:t>2014]</a:t>
            </a:r>
            <a:endParaRPr sz="2600" dirty="0"/>
          </a:p>
        </p:txBody>
      </p:sp>
      <p:pic>
        <p:nvPicPr>
          <p:cNvPr id="17" name="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935985" y="2583942"/>
            <a:ext cx="3200400" cy="414527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199881" y="633222"/>
            <a:ext cx="1374648" cy="1322831"/>
          </a:xfrm>
          <a:prstGeom prst="rect">
            <a:avLst/>
          </a:prstGeom>
        </p:spPr>
      </p:pic>
      <p:grpSp>
        <p:nvGrpSpPr>
          <p:cNvPr id="19" name="object 19"/>
          <p:cNvGrpSpPr/>
          <p:nvPr/>
        </p:nvGrpSpPr>
        <p:grpSpPr>
          <a:xfrm>
            <a:off x="7592877" y="2806254"/>
            <a:ext cx="2313940" cy="2757170"/>
            <a:chOff x="7592877" y="2806254"/>
            <a:chExt cx="2313940" cy="2757170"/>
          </a:xfrm>
        </p:grpSpPr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483345" y="3473958"/>
              <a:ext cx="1423415" cy="1566671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451061" y="3364109"/>
              <a:ext cx="1455700" cy="1787061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696961" y="3958590"/>
              <a:ext cx="618744" cy="329184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7592877" y="2806254"/>
              <a:ext cx="2313940" cy="2757170"/>
            </a:xfrm>
            <a:custGeom>
              <a:avLst/>
              <a:gdLst/>
              <a:ahLst/>
              <a:cxnLst/>
              <a:rect l="l" t="t" r="r" b="b"/>
              <a:pathLst>
                <a:path w="2313940" h="2757170">
                  <a:moveTo>
                    <a:pt x="0" y="0"/>
                  </a:moveTo>
                  <a:lnTo>
                    <a:pt x="2313884" y="0"/>
                  </a:lnTo>
                  <a:lnTo>
                    <a:pt x="2313884" y="2757006"/>
                  </a:lnTo>
                  <a:lnTo>
                    <a:pt x="0" y="27570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722917" y="5054346"/>
            <a:ext cx="4258945" cy="182689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88290" indent="-276225">
              <a:lnSpc>
                <a:spcPct val="100000"/>
              </a:lnSpc>
              <a:spcBef>
                <a:spcPts val="675"/>
              </a:spcBef>
              <a:buClr>
                <a:srgbClr val="CC0000"/>
              </a:buClr>
              <a:buChar char="•"/>
              <a:tabLst>
                <a:tab pos="288925" algn="l"/>
              </a:tabLst>
            </a:pPr>
            <a:r>
              <a:rPr sz="2600" spc="-20" dirty="0">
                <a:latin typeface="Calibri"/>
                <a:cs typeface="Calibri"/>
              </a:rPr>
              <a:t>Fast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training</a:t>
            </a:r>
            <a:endParaRPr sz="2600">
              <a:latin typeface="Calibri"/>
              <a:cs typeface="Calibri"/>
            </a:endParaRPr>
          </a:p>
          <a:p>
            <a:pPr marL="288290" indent="-276225">
              <a:lnSpc>
                <a:spcPct val="100000"/>
              </a:lnSpc>
              <a:spcBef>
                <a:spcPts val="575"/>
              </a:spcBef>
              <a:buClr>
                <a:srgbClr val="CC0000"/>
              </a:buClr>
              <a:buChar char="•"/>
              <a:tabLst>
                <a:tab pos="288925" algn="l"/>
              </a:tabLst>
            </a:pPr>
            <a:r>
              <a:rPr sz="2600" spc="-20" dirty="0">
                <a:latin typeface="Calibri"/>
                <a:cs typeface="Calibri"/>
              </a:rPr>
              <a:t>Scalable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to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huge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corpora</a:t>
            </a:r>
            <a:endParaRPr sz="2600">
              <a:latin typeface="Calibri"/>
              <a:cs typeface="Calibri"/>
            </a:endParaRPr>
          </a:p>
          <a:p>
            <a:pPr marL="215900" marR="5080" indent="-203200">
              <a:lnSpc>
                <a:spcPts val="3100"/>
              </a:lnSpc>
              <a:spcBef>
                <a:spcPts val="690"/>
              </a:spcBef>
              <a:buClr>
                <a:srgbClr val="CC0000"/>
              </a:buClr>
              <a:buFont typeface="Calibri"/>
              <a:buChar char="•"/>
              <a:tabLst>
                <a:tab pos="288925" algn="l"/>
              </a:tabLst>
            </a:pPr>
            <a:r>
              <a:rPr dirty="0"/>
              <a:t>	</a:t>
            </a:r>
            <a:r>
              <a:rPr sz="2600" spc="-25" dirty="0">
                <a:latin typeface="Calibri"/>
                <a:cs typeface="Calibri"/>
              </a:rPr>
              <a:t>Good </a:t>
            </a:r>
            <a:r>
              <a:rPr sz="2600" spc="-20" dirty="0">
                <a:latin typeface="Calibri"/>
                <a:cs typeface="Calibri"/>
              </a:rPr>
              <a:t>performance </a:t>
            </a:r>
            <a:r>
              <a:rPr sz="2600" spc="-15" dirty="0">
                <a:latin typeface="Calibri"/>
                <a:cs typeface="Calibri"/>
              </a:rPr>
              <a:t>even </a:t>
            </a:r>
            <a:r>
              <a:rPr sz="2600" spc="-20" dirty="0">
                <a:latin typeface="Calibri"/>
                <a:cs typeface="Calibri"/>
              </a:rPr>
              <a:t>with </a:t>
            </a:r>
            <a:r>
              <a:rPr sz="2600" spc="-57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small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corpus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and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small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vectors</a:t>
            </a:r>
            <a:endParaRPr sz="2600">
              <a:latin typeface="Calibri"/>
              <a:cs typeface="Calibri"/>
            </a:endParaRPr>
          </a:p>
        </p:txBody>
      </p:sp>
      <p:pic>
        <p:nvPicPr>
          <p:cNvPr id="26" name="图片 3" descr="20121109221446303940">
            <a:extLst>
              <a:ext uri="{FF2B5EF4-FFF2-40B4-BE49-F238E27FC236}">
                <a16:creationId xmlns:a16="http://schemas.microsoft.com/office/drawing/2014/main" id="{CD4FE602-0FE7-EB4B-B967-54ABFEA6104F}"/>
              </a:ext>
            </a:extLst>
          </p:cNvPr>
          <p:cNvPicPr>
            <a:picLocks noChangeAspect="1"/>
          </p:cNvPicPr>
          <p:nvPr/>
        </p:nvPicPr>
        <p:blipFill>
          <a:blip r:embed="rId1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5304" y="593090"/>
            <a:ext cx="1332484" cy="1332484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496569"/>
            <a:ext cx="242189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GloVe</a:t>
            </a:r>
            <a:r>
              <a:rPr spc="-50" dirty="0"/>
              <a:t> </a:t>
            </a:r>
            <a:r>
              <a:rPr dirty="0"/>
              <a:t>results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5448" y="2177541"/>
            <a:ext cx="2079625" cy="290322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361950">
              <a:lnSpc>
                <a:spcPct val="101099"/>
              </a:lnSpc>
              <a:spcBef>
                <a:spcPts val="75"/>
              </a:spcBef>
            </a:pPr>
            <a:r>
              <a:rPr sz="1900" dirty="0">
                <a:latin typeface="Calibri"/>
                <a:cs typeface="Calibri"/>
              </a:rPr>
              <a:t>Nearest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words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to </a:t>
            </a:r>
            <a:r>
              <a:rPr sz="1900" spc="-415" dirty="0">
                <a:latin typeface="Calibri"/>
                <a:cs typeface="Calibri"/>
              </a:rPr>
              <a:t> </a:t>
            </a:r>
            <a:r>
              <a:rPr sz="1900" spc="-5" dirty="0">
                <a:solidFill>
                  <a:srgbClr val="0365C0"/>
                </a:solidFill>
                <a:latin typeface="Calibri"/>
                <a:cs typeface="Calibri"/>
              </a:rPr>
              <a:t>frog</a:t>
            </a:r>
            <a:r>
              <a:rPr sz="1900" spc="-5" dirty="0">
                <a:latin typeface="Calibri"/>
                <a:cs typeface="Calibri"/>
              </a:rPr>
              <a:t>:</a:t>
            </a:r>
            <a:endParaRPr sz="1900">
              <a:latin typeface="Calibri"/>
              <a:cs typeface="Calibri"/>
            </a:endParaRPr>
          </a:p>
          <a:p>
            <a:pPr marL="276860" indent="-240665">
              <a:lnSpc>
                <a:spcPct val="100000"/>
              </a:lnSpc>
              <a:spcBef>
                <a:spcPts val="1870"/>
              </a:spcBef>
              <a:buAutoNum type="arabicPeriod"/>
              <a:tabLst>
                <a:tab pos="277495" algn="l"/>
              </a:tabLst>
            </a:pPr>
            <a:r>
              <a:rPr sz="1900" spc="-5" dirty="0">
                <a:latin typeface="Calibri"/>
                <a:cs typeface="Calibri"/>
              </a:rPr>
              <a:t>frogs</a:t>
            </a:r>
            <a:endParaRPr sz="1900">
              <a:latin typeface="Calibri"/>
              <a:cs typeface="Calibri"/>
            </a:endParaRPr>
          </a:p>
          <a:p>
            <a:pPr marL="276860" indent="-240665">
              <a:lnSpc>
                <a:spcPct val="100000"/>
              </a:lnSpc>
              <a:spcBef>
                <a:spcPts val="25"/>
              </a:spcBef>
              <a:buAutoNum type="arabicPeriod"/>
              <a:tabLst>
                <a:tab pos="277495" algn="l"/>
              </a:tabLst>
            </a:pPr>
            <a:r>
              <a:rPr sz="1900" dirty="0">
                <a:latin typeface="Calibri"/>
                <a:cs typeface="Calibri"/>
              </a:rPr>
              <a:t>toad</a:t>
            </a:r>
            <a:endParaRPr sz="1900">
              <a:latin typeface="Calibri"/>
              <a:cs typeface="Calibri"/>
            </a:endParaRPr>
          </a:p>
          <a:p>
            <a:pPr marL="276860" indent="-240665">
              <a:lnSpc>
                <a:spcPct val="100000"/>
              </a:lnSpc>
              <a:spcBef>
                <a:spcPts val="25"/>
              </a:spcBef>
              <a:buAutoNum type="arabicPeriod"/>
              <a:tabLst>
                <a:tab pos="277495" algn="l"/>
              </a:tabLst>
            </a:pPr>
            <a:r>
              <a:rPr sz="1900" spc="-5" dirty="0">
                <a:latin typeface="Calibri"/>
                <a:cs typeface="Calibri"/>
              </a:rPr>
              <a:t>litoria</a:t>
            </a:r>
            <a:endParaRPr sz="1900">
              <a:latin typeface="Calibri"/>
              <a:cs typeface="Calibri"/>
            </a:endParaRPr>
          </a:p>
          <a:p>
            <a:pPr marL="276860" indent="-240665">
              <a:lnSpc>
                <a:spcPct val="100000"/>
              </a:lnSpc>
              <a:spcBef>
                <a:spcPts val="20"/>
              </a:spcBef>
              <a:buAutoNum type="arabicPeriod"/>
              <a:tabLst>
                <a:tab pos="277495" algn="l"/>
              </a:tabLst>
            </a:pPr>
            <a:r>
              <a:rPr sz="1900" dirty="0">
                <a:latin typeface="Calibri"/>
                <a:cs typeface="Calibri"/>
              </a:rPr>
              <a:t>leptodactylidae</a:t>
            </a:r>
            <a:endParaRPr sz="1900">
              <a:latin typeface="Calibri"/>
              <a:cs typeface="Calibri"/>
            </a:endParaRPr>
          </a:p>
          <a:p>
            <a:pPr marL="276860" indent="-240665">
              <a:lnSpc>
                <a:spcPct val="100000"/>
              </a:lnSpc>
              <a:spcBef>
                <a:spcPts val="25"/>
              </a:spcBef>
              <a:buAutoNum type="arabicPeriod"/>
              <a:tabLst>
                <a:tab pos="277495" algn="l"/>
              </a:tabLst>
            </a:pPr>
            <a:r>
              <a:rPr sz="1900" spc="-5" dirty="0">
                <a:latin typeface="Calibri"/>
                <a:cs typeface="Calibri"/>
              </a:rPr>
              <a:t>rana</a:t>
            </a:r>
            <a:endParaRPr sz="1900">
              <a:latin typeface="Calibri"/>
              <a:cs typeface="Calibri"/>
            </a:endParaRPr>
          </a:p>
          <a:p>
            <a:pPr marL="276860" indent="-240665">
              <a:lnSpc>
                <a:spcPct val="100000"/>
              </a:lnSpc>
              <a:spcBef>
                <a:spcPts val="120"/>
              </a:spcBef>
              <a:buAutoNum type="arabicPeriod"/>
              <a:tabLst>
                <a:tab pos="277495" algn="l"/>
              </a:tabLst>
            </a:pPr>
            <a:r>
              <a:rPr sz="1900" spc="-10" dirty="0">
                <a:latin typeface="Calibri"/>
                <a:cs typeface="Calibri"/>
              </a:rPr>
              <a:t>lizard</a:t>
            </a:r>
            <a:endParaRPr sz="1900">
              <a:latin typeface="Calibri"/>
              <a:cs typeface="Calibri"/>
            </a:endParaRPr>
          </a:p>
          <a:p>
            <a:pPr marL="276860" indent="-240665">
              <a:lnSpc>
                <a:spcPct val="100000"/>
              </a:lnSpc>
              <a:spcBef>
                <a:spcPts val="25"/>
              </a:spcBef>
              <a:buAutoNum type="arabicPeriod"/>
              <a:tabLst>
                <a:tab pos="277495" algn="l"/>
              </a:tabLst>
            </a:pPr>
            <a:r>
              <a:rPr sz="1900" spc="5" dirty="0">
                <a:latin typeface="Calibri"/>
                <a:cs typeface="Calibri"/>
              </a:rPr>
              <a:t>eleutherodactylus</a:t>
            </a:r>
            <a:endParaRPr sz="19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87097" y="1104308"/>
            <a:ext cx="2331246" cy="213936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739029" y="3466846"/>
            <a:ext cx="60134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5" dirty="0">
                <a:latin typeface="Calibri"/>
                <a:cs typeface="Calibri"/>
              </a:rPr>
              <a:t>litoria</a:t>
            </a:r>
            <a:endParaRPr sz="19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22605" y="1237467"/>
            <a:ext cx="2828276" cy="187304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6436931" y="3466846"/>
            <a:ext cx="155638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latin typeface="Calibri"/>
                <a:cs typeface="Calibri"/>
              </a:rPr>
              <a:t>leptodactylidae</a:t>
            </a:r>
            <a:endParaRPr sz="19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77164" y="4001025"/>
            <a:ext cx="2852458" cy="213936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3962186" y="6466078"/>
            <a:ext cx="46672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40" dirty="0">
                <a:latin typeface="Calibri"/>
                <a:cs typeface="Calibri"/>
              </a:rPr>
              <a:t>r</a:t>
            </a:r>
            <a:r>
              <a:rPr sz="1900" spc="10" dirty="0">
                <a:latin typeface="Calibri"/>
                <a:cs typeface="Calibri"/>
              </a:rPr>
              <a:t>an</a:t>
            </a:r>
            <a:r>
              <a:rPr sz="1900" dirty="0">
                <a:latin typeface="Calibri"/>
                <a:cs typeface="Calibri"/>
              </a:rPr>
              <a:t>a</a:t>
            </a:r>
            <a:endParaRPr sz="190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658549" y="3984562"/>
            <a:ext cx="3040631" cy="2155828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6329488" y="6466078"/>
            <a:ext cx="181483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5" dirty="0">
                <a:latin typeface="Calibri"/>
                <a:cs typeface="Calibri"/>
              </a:rPr>
              <a:t>eleutherodactylus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63118" y="6943597"/>
            <a:ext cx="21907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" dirty="0">
                <a:latin typeface="Calibri"/>
                <a:cs typeface="Calibri"/>
              </a:rPr>
              <a:t>31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32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496569"/>
            <a:ext cx="565213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" dirty="0"/>
              <a:t>How </a:t>
            </a:r>
            <a:r>
              <a:rPr dirty="0"/>
              <a:t>to</a:t>
            </a:r>
            <a:r>
              <a:rPr spc="5" dirty="0"/>
              <a:t> </a:t>
            </a:r>
            <a:r>
              <a:rPr dirty="0"/>
              <a:t>evaluate </a:t>
            </a:r>
            <a:r>
              <a:rPr spc="5" dirty="0"/>
              <a:t>word</a:t>
            </a:r>
            <a:r>
              <a:rPr spc="-5" dirty="0"/>
              <a:t> </a:t>
            </a:r>
            <a:r>
              <a:rPr dirty="0"/>
              <a:t>vectors?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3118" y="1341374"/>
            <a:ext cx="8450580" cy="497840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78460" indent="-365760">
              <a:lnSpc>
                <a:spcPct val="100000"/>
              </a:lnSpc>
              <a:spcBef>
                <a:spcPts val="675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100" spc="10" dirty="0">
                <a:latin typeface="Calibri"/>
                <a:cs typeface="Calibri"/>
              </a:rPr>
              <a:t>Related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to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general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evaluation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in</a:t>
            </a:r>
            <a:r>
              <a:rPr sz="2100" spc="2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NLP: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Intrinsic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vs</a:t>
            </a:r>
            <a:r>
              <a:rPr sz="2100" spc="2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extrinsic</a:t>
            </a:r>
            <a:endParaRPr sz="2100" dirty="0">
              <a:latin typeface="Calibri"/>
              <a:cs typeface="Calibri"/>
            </a:endParaRPr>
          </a:p>
          <a:p>
            <a:pPr marL="378460" indent="-365760">
              <a:lnSpc>
                <a:spcPct val="100000"/>
              </a:lnSpc>
              <a:spcBef>
                <a:spcPts val="575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100" spc="10" dirty="0">
                <a:latin typeface="Calibri"/>
                <a:cs typeface="Calibri"/>
              </a:rPr>
              <a:t>Intrinsic:</a:t>
            </a:r>
            <a:endParaRPr sz="2100" dirty="0">
              <a:latin typeface="Calibri"/>
              <a:cs typeface="Calibri"/>
            </a:endParaRPr>
          </a:p>
          <a:p>
            <a:pPr marL="744220" lvl="1" indent="-244475">
              <a:lnSpc>
                <a:spcPct val="100000"/>
              </a:lnSpc>
              <a:spcBef>
                <a:spcPts val="600"/>
              </a:spcBef>
              <a:buClr>
                <a:srgbClr val="3A87FF"/>
              </a:buClr>
              <a:buFont typeface="Times New Roman"/>
              <a:buChar char="•"/>
              <a:tabLst>
                <a:tab pos="743585" algn="l"/>
                <a:tab pos="744220" algn="l"/>
              </a:tabLst>
            </a:pPr>
            <a:r>
              <a:rPr sz="2100" spc="10" dirty="0">
                <a:latin typeface="Calibri"/>
                <a:cs typeface="Calibri"/>
              </a:rPr>
              <a:t>Evaluation</a:t>
            </a:r>
            <a:r>
              <a:rPr sz="2100" spc="25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on</a:t>
            </a:r>
            <a:r>
              <a:rPr sz="2100" spc="2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</a:t>
            </a:r>
            <a:r>
              <a:rPr sz="2100" spc="3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specific/intermediate</a:t>
            </a:r>
            <a:r>
              <a:rPr sz="2100" spc="3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subtask</a:t>
            </a:r>
            <a:endParaRPr sz="2100" dirty="0">
              <a:latin typeface="Calibri"/>
              <a:cs typeface="Calibri"/>
            </a:endParaRPr>
          </a:p>
          <a:p>
            <a:pPr marL="744220" lvl="1" indent="-244475">
              <a:lnSpc>
                <a:spcPct val="100000"/>
              </a:lnSpc>
              <a:spcBef>
                <a:spcPts val="480"/>
              </a:spcBef>
              <a:buClr>
                <a:srgbClr val="3A87FF"/>
              </a:buClr>
              <a:buFont typeface="Times New Roman"/>
              <a:buChar char="•"/>
              <a:tabLst>
                <a:tab pos="743585" algn="l"/>
                <a:tab pos="744220" algn="l"/>
              </a:tabLst>
            </a:pPr>
            <a:r>
              <a:rPr sz="2100" spc="10" dirty="0">
                <a:latin typeface="Calibri"/>
                <a:cs typeface="Calibri"/>
              </a:rPr>
              <a:t>Fast</a:t>
            </a:r>
            <a:r>
              <a:rPr sz="2100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to</a:t>
            </a:r>
            <a:r>
              <a:rPr sz="2100" spc="-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compute</a:t>
            </a:r>
            <a:endParaRPr sz="2100" dirty="0">
              <a:latin typeface="Calibri"/>
              <a:cs typeface="Calibri"/>
            </a:endParaRPr>
          </a:p>
          <a:p>
            <a:pPr marL="744220" lvl="1" indent="-244475">
              <a:lnSpc>
                <a:spcPct val="100000"/>
              </a:lnSpc>
              <a:spcBef>
                <a:spcPts val="575"/>
              </a:spcBef>
              <a:buClr>
                <a:srgbClr val="3A87FF"/>
              </a:buClr>
              <a:buFont typeface="Times New Roman"/>
              <a:buChar char="•"/>
              <a:tabLst>
                <a:tab pos="743585" algn="l"/>
                <a:tab pos="744220" algn="l"/>
              </a:tabLst>
            </a:pPr>
            <a:r>
              <a:rPr sz="2100" spc="10" dirty="0">
                <a:latin typeface="Calibri"/>
                <a:cs typeface="Calibri"/>
              </a:rPr>
              <a:t>Helps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to</a:t>
            </a:r>
            <a:r>
              <a:rPr sz="2100" spc="10" dirty="0">
                <a:latin typeface="Calibri"/>
                <a:cs typeface="Calibri"/>
              </a:rPr>
              <a:t> understand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that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system</a:t>
            </a:r>
            <a:endParaRPr sz="2100" dirty="0">
              <a:latin typeface="Calibri"/>
              <a:cs typeface="Calibri"/>
            </a:endParaRPr>
          </a:p>
          <a:p>
            <a:pPr marL="744220" lvl="1" indent="-244475">
              <a:lnSpc>
                <a:spcPct val="100000"/>
              </a:lnSpc>
              <a:spcBef>
                <a:spcPts val="575"/>
              </a:spcBef>
              <a:buClr>
                <a:srgbClr val="3A87FF"/>
              </a:buClr>
              <a:buFont typeface="Times New Roman"/>
              <a:buChar char="•"/>
              <a:tabLst>
                <a:tab pos="743585" algn="l"/>
                <a:tab pos="744220" algn="l"/>
              </a:tabLst>
            </a:pPr>
            <a:r>
              <a:rPr sz="2100" spc="5" dirty="0">
                <a:latin typeface="Calibri"/>
                <a:cs typeface="Calibri"/>
              </a:rPr>
              <a:t>Not</a:t>
            </a:r>
            <a:r>
              <a:rPr sz="2100" spc="2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clear</a:t>
            </a:r>
            <a:r>
              <a:rPr sz="2100" spc="25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if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really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helpful</a:t>
            </a:r>
            <a:r>
              <a:rPr sz="2100" spc="2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unless</a:t>
            </a:r>
            <a:r>
              <a:rPr sz="2100" spc="2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correlation</a:t>
            </a:r>
            <a:r>
              <a:rPr sz="2100" spc="25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to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real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task</a:t>
            </a:r>
            <a:r>
              <a:rPr sz="2100" spc="35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is</a:t>
            </a:r>
            <a:r>
              <a:rPr sz="2100" spc="2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established</a:t>
            </a:r>
            <a:endParaRPr sz="2100" dirty="0">
              <a:latin typeface="Calibri"/>
              <a:cs typeface="Calibri"/>
            </a:endParaRPr>
          </a:p>
          <a:p>
            <a:pPr marL="378460" indent="-365760">
              <a:lnSpc>
                <a:spcPct val="100000"/>
              </a:lnSpc>
              <a:spcBef>
                <a:spcPts val="580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100" spc="10" dirty="0">
                <a:latin typeface="Calibri"/>
                <a:cs typeface="Calibri"/>
              </a:rPr>
              <a:t>Extrinsic:</a:t>
            </a:r>
            <a:endParaRPr sz="2100" dirty="0">
              <a:latin typeface="Calibri"/>
              <a:cs typeface="Calibri"/>
            </a:endParaRPr>
          </a:p>
          <a:p>
            <a:pPr marL="744220" lvl="1" indent="-244475">
              <a:lnSpc>
                <a:spcPct val="100000"/>
              </a:lnSpc>
              <a:spcBef>
                <a:spcPts val="575"/>
              </a:spcBef>
              <a:buClr>
                <a:srgbClr val="3A87FF"/>
              </a:buClr>
              <a:buFont typeface="Times New Roman"/>
              <a:buChar char="•"/>
              <a:tabLst>
                <a:tab pos="743585" algn="l"/>
                <a:tab pos="744220" algn="l"/>
              </a:tabLst>
            </a:pPr>
            <a:r>
              <a:rPr sz="2100" spc="10" dirty="0">
                <a:latin typeface="Calibri"/>
                <a:cs typeface="Calibri"/>
              </a:rPr>
              <a:t>Evaluation</a:t>
            </a:r>
            <a:r>
              <a:rPr sz="2100" spc="5" dirty="0">
                <a:latin typeface="Calibri"/>
                <a:cs typeface="Calibri"/>
              </a:rPr>
              <a:t> on</a:t>
            </a:r>
            <a:r>
              <a:rPr sz="2100" spc="1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real</a:t>
            </a:r>
            <a:r>
              <a:rPr sz="2100" spc="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task</a:t>
            </a:r>
            <a:endParaRPr sz="2100" dirty="0">
              <a:latin typeface="Calibri"/>
              <a:cs typeface="Calibri"/>
            </a:endParaRPr>
          </a:p>
          <a:p>
            <a:pPr marL="744220" lvl="1" indent="-244475">
              <a:lnSpc>
                <a:spcPct val="100000"/>
              </a:lnSpc>
              <a:spcBef>
                <a:spcPts val="480"/>
              </a:spcBef>
              <a:buClr>
                <a:srgbClr val="3A87FF"/>
              </a:buClr>
              <a:buFont typeface="Times New Roman"/>
              <a:buChar char="•"/>
              <a:tabLst>
                <a:tab pos="743585" algn="l"/>
                <a:tab pos="744220" algn="l"/>
              </a:tabLst>
            </a:pPr>
            <a:r>
              <a:rPr sz="2100" spc="5" dirty="0">
                <a:latin typeface="Calibri"/>
                <a:cs typeface="Calibri"/>
              </a:rPr>
              <a:t>Can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take</a:t>
            </a:r>
            <a:r>
              <a:rPr sz="2100" spc="2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</a:t>
            </a:r>
            <a:r>
              <a:rPr sz="2100" spc="25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long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time</a:t>
            </a:r>
            <a:r>
              <a:rPr sz="2100" spc="25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to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compute</a:t>
            </a:r>
            <a:r>
              <a:rPr sz="2100" spc="2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accuracy</a:t>
            </a:r>
            <a:endParaRPr sz="2100" dirty="0">
              <a:latin typeface="Calibri"/>
              <a:cs typeface="Calibri"/>
            </a:endParaRPr>
          </a:p>
          <a:p>
            <a:pPr marL="743585" marR="461009" lvl="1" indent="-243840">
              <a:lnSpc>
                <a:spcPct val="103800"/>
              </a:lnSpc>
              <a:spcBef>
                <a:spcPts val="480"/>
              </a:spcBef>
              <a:buClr>
                <a:srgbClr val="3A87FF"/>
              </a:buClr>
              <a:buFont typeface="Times New Roman"/>
              <a:buChar char="•"/>
              <a:tabLst>
                <a:tab pos="743585" algn="l"/>
                <a:tab pos="744220" algn="l"/>
              </a:tabLst>
            </a:pPr>
            <a:r>
              <a:rPr sz="2100" spc="15" dirty="0">
                <a:latin typeface="Calibri"/>
                <a:cs typeface="Calibri"/>
              </a:rPr>
              <a:t>Unclear </a:t>
            </a:r>
            <a:r>
              <a:rPr sz="2100" spc="5" dirty="0">
                <a:latin typeface="Calibri"/>
                <a:cs typeface="Calibri"/>
              </a:rPr>
              <a:t>if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the</a:t>
            </a:r>
            <a:r>
              <a:rPr sz="2100" spc="2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subsystem</a:t>
            </a:r>
            <a:r>
              <a:rPr sz="2100" spc="35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is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the</a:t>
            </a:r>
            <a:r>
              <a:rPr sz="2100" spc="2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problem</a:t>
            </a:r>
            <a:r>
              <a:rPr sz="2100" spc="35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or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its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interaction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or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other </a:t>
            </a:r>
            <a:r>
              <a:rPr sz="2100" spc="-459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subsystems</a:t>
            </a:r>
            <a:endParaRPr sz="2100" dirty="0">
              <a:latin typeface="Calibri"/>
              <a:cs typeface="Calibri"/>
            </a:endParaRPr>
          </a:p>
          <a:p>
            <a:pPr marL="744220" lvl="1" indent="-244475">
              <a:lnSpc>
                <a:spcPts val="2510"/>
              </a:lnSpc>
              <a:spcBef>
                <a:spcPts val="575"/>
              </a:spcBef>
              <a:buClr>
                <a:srgbClr val="3A87FF"/>
              </a:buClr>
              <a:buFont typeface="Times New Roman"/>
              <a:buChar char="•"/>
              <a:tabLst>
                <a:tab pos="743585" algn="l"/>
                <a:tab pos="744220" algn="l"/>
              </a:tabLst>
            </a:pPr>
            <a:r>
              <a:rPr sz="2100" dirty="0">
                <a:latin typeface="Calibri"/>
                <a:cs typeface="Calibri"/>
              </a:rPr>
              <a:t>If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replacing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exactly</a:t>
            </a:r>
            <a:r>
              <a:rPr sz="2100" spc="25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one</a:t>
            </a:r>
            <a:r>
              <a:rPr sz="2100" spc="3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subsystem</a:t>
            </a:r>
            <a:r>
              <a:rPr sz="2100" spc="4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with</a:t>
            </a:r>
            <a:r>
              <a:rPr sz="2100" spc="2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another</a:t>
            </a:r>
            <a:r>
              <a:rPr sz="2100" spc="3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improves</a:t>
            </a:r>
            <a:r>
              <a:rPr sz="2100" spc="2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accuracy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dirty="0">
                <a:latin typeface="Wingdings"/>
                <a:cs typeface="Wingdings"/>
              </a:rPr>
              <a:t></a:t>
            </a:r>
          </a:p>
          <a:p>
            <a:pPr marL="743585">
              <a:lnSpc>
                <a:spcPts val="2510"/>
              </a:lnSpc>
            </a:pPr>
            <a:r>
              <a:rPr sz="2100" spc="10" dirty="0">
                <a:latin typeface="Calibri"/>
                <a:cs typeface="Calibri"/>
              </a:rPr>
              <a:t>Winning!</a:t>
            </a:r>
            <a:endParaRPr sz="21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496569"/>
            <a:ext cx="576897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Intrinsic</a:t>
            </a:r>
            <a:r>
              <a:rPr spc="-10" dirty="0"/>
              <a:t> </a:t>
            </a:r>
            <a:r>
              <a:rPr spc="5" dirty="0"/>
              <a:t>word</a:t>
            </a:r>
            <a:r>
              <a:rPr spc="-10" dirty="0"/>
              <a:t> </a:t>
            </a:r>
            <a:r>
              <a:rPr dirty="0"/>
              <a:t>vector</a:t>
            </a:r>
            <a:r>
              <a:rPr spc="-10" dirty="0"/>
              <a:t> </a:t>
            </a:r>
            <a:r>
              <a:rPr dirty="0"/>
              <a:t>evaluation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3118" y="1414526"/>
            <a:ext cx="293116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8460" indent="-365760">
              <a:lnSpc>
                <a:spcPct val="100000"/>
              </a:lnSpc>
              <a:spcBef>
                <a:spcPts val="100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100" spc="10" dirty="0">
                <a:latin typeface="Calibri"/>
                <a:cs typeface="Calibri"/>
              </a:rPr>
              <a:t>Word</a:t>
            </a:r>
            <a:r>
              <a:rPr sz="210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Vector</a:t>
            </a:r>
            <a:r>
              <a:rPr sz="2100" spc="-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Analogies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3118" y="3371341"/>
            <a:ext cx="4379595" cy="275971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77825" marR="143510" indent="-365760">
              <a:lnSpc>
                <a:spcPct val="101899"/>
              </a:lnSpc>
              <a:spcBef>
                <a:spcPts val="50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100" spc="10" dirty="0">
                <a:latin typeface="Calibri"/>
                <a:cs typeface="Calibri"/>
              </a:rPr>
              <a:t>Evaluate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word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vectors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by</a:t>
            </a:r>
            <a:r>
              <a:rPr sz="2100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how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well </a:t>
            </a:r>
            <a:r>
              <a:rPr sz="2100" spc="-459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their cosine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distance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after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addition </a:t>
            </a:r>
            <a:r>
              <a:rPr sz="2100" spc="-459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captures intuitive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5" dirty="0">
                <a:latin typeface="Calibri"/>
                <a:cs typeface="Calibri"/>
              </a:rPr>
              <a:t>semantic and 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syntactic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analogy questions</a:t>
            </a:r>
            <a:endParaRPr sz="2100">
              <a:latin typeface="Calibri"/>
              <a:cs typeface="Calibri"/>
            </a:endParaRPr>
          </a:p>
          <a:p>
            <a:pPr marL="377825" marR="5080" indent="-365760">
              <a:lnSpc>
                <a:spcPts val="2500"/>
              </a:lnSpc>
              <a:spcBef>
                <a:spcPts val="675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100" spc="10" dirty="0">
                <a:latin typeface="Calibri"/>
                <a:cs typeface="Calibri"/>
              </a:rPr>
              <a:t>Discarding</a:t>
            </a:r>
            <a:r>
              <a:rPr sz="2100" spc="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the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input</a:t>
            </a:r>
            <a:r>
              <a:rPr sz="2100" spc="10" dirty="0">
                <a:latin typeface="Calibri"/>
                <a:cs typeface="Calibri"/>
              </a:rPr>
              <a:t> words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from</a:t>
            </a:r>
            <a:r>
              <a:rPr sz="2100" spc="25" dirty="0">
                <a:latin typeface="Calibri"/>
                <a:cs typeface="Calibri"/>
              </a:rPr>
              <a:t> </a:t>
            </a:r>
            <a:r>
              <a:rPr sz="2100" spc="15" dirty="0">
                <a:latin typeface="Calibri"/>
                <a:cs typeface="Calibri"/>
              </a:rPr>
              <a:t>the </a:t>
            </a:r>
            <a:r>
              <a:rPr sz="2100" spc="-459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search!</a:t>
            </a:r>
            <a:endParaRPr sz="2100">
              <a:latin typeface="Calibri"/>
              <a:cs typeface="Calibri"/>
            </a:endParaRPr>
          </a:p>
          <a:p>
            <a:pPr marL="377825" marR="82550" indent="-365760">
              <a:lnSpc>
                <a:spcPct val="103800"/>
              </a:lnSpc>
              <a:spcBef>
                <a:spcPts val="400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100" spc="15" dirty="0">
                <a:latin typeface="Calibri"/>
                <a:cs typeface="Calibri"/>
              </a:rPr>
              <a:t>Problem: What </a:t>
            </a:r>
            <a:r>
              <a:rPr sz="2100" spc="5" dirty="0">
                <a:latin typeface="Calibri"/>
                <a:cs typeface="Calibri"/>
              </a:rPr>
              <a:t>if </a:t>
            </a:r>
            <a:r>
              <a:rPr sz="2100" spc="10" dirty="0">
                <a:latin typeface="Calibri"/>
                <a:cs typeface="Calibri"/>
              </a:rPr>
              <a:t>the information </a:t>
            </a:r>
            <a:r>
              <a:rPr sz="2100" spc="5" dirty="0">
                <a:latin typeface="Calibri"/>
                <a:cs typeface="Calibri"/>
              </a:rPr>
              <a:t>is </a:t>
            </a:r>
            <a:r>
              <a:rPr sz="2100" spc="-459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there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but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not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linear?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88809" y="2635758"/>
            <a:ext cx="2557780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spc="15" dirty="0">
                <a:solidFill>
                  <a:srgbClr val="0365C0"/>
                </a:solidFill>
                <a:latin typeface="Calibri"/>
                <a:cs typeface="Calibri"/>
              </a:rPr>
              <a:t>man:woman</a:t>
            </a:r>
            <a:r>
              <a:rPr sz="2300" spc="5" dirty="0">
                <a:solidFill>
                  <a:srgbClr val="0365C0"/>
                </a:solidFill>
                <a:latin typeface="Calibri"/>
                <a:cs typeface="Calibri"/>
              </a:rPr>
              <a:t> ::</a:t>
            </a:r>
            <a:r>
              <a:rPr sz="2300" dirty="0">
                <a:solidFill>
                  <a:srgbClr val="0365C0"/>
                </a:solidFill>
                <a:latin typeface="Calibri"/>
                <a:cs typeface="Calibri"/>
              </a:rPr>
              <a:t> </a:t>
            </a:r>
            <a:r>
              <a:rPr sz="2300" spc="10" dirty="0">
                <a:solidFill>
                  <a:srgbClr val="0365C0"/>
                </a:solidFill>
                <a:latin typeface="Calibri"/>
                <a:cs typeface="Calibri"/>
              </a:rPr>
              <a:t>king:?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35241" y="2098555"/>
            <a:ext cx="1429385" cy="484505"/>
          </a:xfrm>
          <a:prstGeom prst="rect">
            <a:avLst/>
          </a:prstGeom>
          <a:ln w="13546">
            <a:solidFill>
              <a:srgbClr val="000000"/>
            </a:solidFill>
          </a:ln>
        </p:spPr>
        <p:txBody>
          <a:bodyPr vert="horz" wrap="square" lIns="0" tIns="73025" rIns="0" bIns="0" rtlCol="0">
            <a:spAutoFit/>
          </a:bodyPr>
          <a:lstStyle/>
          <a:p>
            <a:pPr marL="58419">
              <a:lnSpc>
                <a:spcPct val="100000"/>
              </a:lnSpc>
              <a:spcBef>
                <a:spcPts val="575"/>
              </a:spcBef>
            </a:pPr>
            <a:r>
              <a:rPr sz="1900" spc="5" dirty="0">
                <a:latin typeface="Calibri"/>
                <a:cs typeface="Calibri"/>
              </a:rPr>
              <a:t>a:b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::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c:?</a:t>
            </a:r>
            <a:endParaRPr sz="19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86889" y="2077973"/>
            <a:ext cx="1527048" cy="582167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4142994" y="2196845"/>
            <a:ext cx="1045844" cy="329565"/>
            <a:chOff x="4142994" y="2196845"/>
            <a:chExt cx="1045844" cy="329565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42994" y="2196845"/>
              <a:ext cx="1045463" cy="32918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185810" y="2274164"/>
              <a:ext cx="836930" cy="121920"/>
            </a:xfrm>
            <a:custGeom>
              <a:avLst/>
              <a:gdLst/>
              <a:ahLst/>
              <a:cxnLst/>
              <a:rect l="l" t="t" r="r" b="b"/>
              <a:pathLst>
                <a:path w="836929" h="121919">
                  <a:moveTo>
                    <a:pt x="714902" y="0"/>
                  </a:moveTo>
                  <a:lnTo>
                    <a:pt x="714902" y="121919"/>
                  </a:lnTo>
                  <a:lnTo>
                    <a:pt x="796182" y="81279"/>
                  </a:lnTo>
                  <a:lnTo>
                    <a:pt x="735222" y="81279"/>
                  </a:lnTo>
                  <a:lnTo>
                    <a:pt x="735222" y="40639"/>
                  </a:lnTo>
                  <a:lnTo>
                    <a:pt x="796182" y="40639"/>
                  </a:lnTo>
                  <a:lnTo>
                    <a:pt x="714902" y="0"/>
                  </a:lnTo>
                  <a:close/>
                </a:path>
                <a:path w="836929" h="121919">
                  <a:moveTo>
                    <a:pt x="714902" y="40639"/>
                  </a:moveTo>
                  <a:lnTo>
                    <a:pt x="0" y="40639"/>
                  </a:lnTo>
                  <a:lnTo>
                    <a:pt x="0" y="81279"/>
                  </a:lnTo>
                  <a:lnTo>
                    <a:pt x="714902" y="81279"/>
                  </a:lnTo>
                  <a:lnTo>
                    <a:pt x="714902" y="40639"/>
                  </a:lnTo>
                  <a:close/>
                </a:path>
                <a:path w="836929" h="121919">
                  <a:moveTo>
                    <a:pt x="796182" y="40639"/>
                  </a:moveTo>
                  <a:lnTo>
                    <a:pt x="735222" y="40639"/>
                  </a:lnTo>
                  <a:lnTo>
                    <a:pt x="735222" y="81279"/>
                  </a:lnTo>
                  <a:lnTo>
                    <a:pt x="796182" y="81279"/>
                  </a:lnTo>
                  <a:lnTo>
                    <a:pt x="836822" y="60960"/>
                  </a:lnTo>
                  <a:lnTo>
                    <a:pt x="796182" y="4063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5420105" y="1873757"/>
            <a:ext cx="4200525" cy="975360"/>
            <a:chOff x="5420105" y="1873757"/>
            <a:chExt cx="4200525" cy="975360"/>
          </a:xfrm>
        </p:grpSpPr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20105" y="1873757"/>
              <a:ext cx="4200144" cy="97536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469178" y="1896856"/>
              <a:ext cx="4102100" cy="876935"/>
            </a:xfrm>
            <a:custGeom>
              <a:avLst/>
              <a:gdLst/>
              <a:ahLst/>
              <a:cxnLst/>
              <a:rect l="l" t="t" r="r" b="b"/>
              <a:pathLst>
                <a:path w="4102100" h="876935">
                  <a:moveTo>
                    <a:pt x="0" y="0"/>
                  </a:moveTo>
                  <a:lnTo>
                    <a:pt x="4101827" y="0"/>
                  </a:lnTo>
                  <a:lnTo>
                    <a:pt x="4101827" y="876495"/>
                  </a:lnTo>
                  <a:lnTo>
                    <a:pt x="0" y="876495"/>
                  </a:lnTo>
                  <a:lnTo>
                    <a:pt x="0" y="0"/>
                  </a:lnTo>
                  <a:close/>
                </a:path>
              </a:pathLst>
            </a:custGeom>
            <a:ln w="135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46181" y="1969364"/>
              <a:ext cx="3657600" cy="731519"/>
            </a:xfrm>
            <a:prstGeom prst="rect">
              <a:avLst/>
            </a:prstGeom>
          </p:spPr>
        </p:pic>
      </p:grpSp>
      <p:grpSp>
        <p:nvGrpSpPr>
          <p:cNvPr id="15" name="object 15"/>
          <p:cNvGrpSpPr/>
          <p:nvPr/>
        </p:nvGrpSpPr>
        <p:grpSpPr>
          <a:xfrm>
            <a:off x="5468873" y="3236214"/>
            <a:ext cx="4114800" cy="3749040"/>
            <a:chOff x="5468873" y="3236214"/>
            <a:chExt cx="4114800" cy="3749040"/>
          </a:xfrm>
        </p:grpSpPr>
        <p:sp>
          <p:nvSpPr>
            <p:cNvPr id="16" name="object 16"/>
            <p:cNvSpPr/>
            <p:nvPr/>
          </p:nvSpPr>
          <p:spPr>
            <a:xfrm>
              <a:off x="6688967" y="5683256"/>
              <a:ext cx="1431925" cy="362585"/>
            </a:xfrm>
            <a:custGeom>
              <a:avLst/>
              <a:gdLst/>
              <a:ahLst/>
              <a:cxnLst/>
              <a:rect l="l" t="t" r="r" b="b"/>
              <a:pathLst>
                <a:path w="1431925" h="362585">
                  <a:moveTo>
                    <a:pt x="1349524" y="26409"/>
                  </a:moveTo>
                  <a:lnTo>
                    <a:pt x="0" y="335674"/>
                  </a:lnTo>
                  <a:lnTo>
                    <a:pt x="6051" y="362083"/>
                  </a:lnTo>
                  <a:lnTo>
                    <a:pt x="1355575" y="52817"/>
                  </a:lnTo>
                  <a:lnTo>
                    <a:pt x="1349524" y="26409"/>
                  </a:lnTo>
                  <a:close/>
                </a:path>
                <a:path w="1431925" h="362585">
                  <a:moveTo>
                    <a:pt x="1429437" y="23383"/>
                  </a:moveTo>
                  <a:lnTo>
                    <a:pt x="1362727" y="23383"/>
                  </a:lnTo>
                  <a:lnTo>
                    <a:pt x="1368779" y="49791"/>
                  </a:lnTo>
                  <a:lnTo>
                    <a:pt x="1355575" y="52817"/>
                  </a:lnTo>
                  <a:lnTo>
                    <a:pt x="1361627" y="79226"/>
                  </a:lnTo>
                  <a:lnTo>
                    <a:pt x="1429437" y="23383"/>
                  </a:lnTo>
                  <a:close/>
                </a:path>
                <a:path w="1431925" h="362585">
                  <a:moveTo>
                    <a:pt x="1362727" y="23383"/>
                  </a:moveTo>
                  <a:lnTo>
                    <a:pt x="1349524" y="26409"/>
                  </a:lnTo>
                  <a:lnTo>
                    <a:pt x="1355575" y="52817"/>
                  </a:lnTo>
                  <a:lnTo>
                    <a:pt x="1368779" y="49791"/>
                  </a:lnTo>
                  <a:lnTo>
                    <a:pt x="1362727" y="23383"/>
                  </a:lnTo>
                  <a:close/>
                </a:path>
                <a:path w="1431925" h="362585">
                  <a:moveTo>
                    <a:pt x="1343472" y="0"/>
                  </a:moveTo>
                  <a:lnTo>
                    <a:pt x="1349524" y="26409"/>
                  </a:lnTo>
                  <a:lnTo>
                    <a:pt x="1362727" y="23383"/>
                  </a:lnTo>
                  <a:lnTo>
                    <a:pt x="1429437" y="23383"/>
                  </a:lnTo>
                  <a:lnTo>
                    <a:pt x="1431775" y="21457"/>
                  </a:lnTo>
                  <a:lnTo>
                    <a:pt x="13434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468873" y="3236214"/>
              <a:ext cx="4114800" cy="3749040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7161325" y="4094734"/>
            <a:ext cx="43434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solidFill>
                  <a:srgbClr val="0365C0"/>
                </a:solidFill>
                <a:latin typeface="Calibri"/>
                <a:cs typeface="Calibri"/>
              </a:rPr>
              <a:t>k</a:t>
            </a:r>
            <a:r>
              <a:rPr sz="1900" spc="5" dirty="0">
                <a:solidFill>
                  <a:srgbClr val="0365C0"/>
                </a:solidFill>
                <a:latin typeface="Calibri"/>
                <a:cs typeface="Calibri"/>
              </a:rPr>
              <a:t>i</a:t>
            </a:r>
            <a:r>
              <a:rPr sz="1900" spc="10" dirty="0">
                <a:solidFill>
                  <a:srgbClr val="0365C0"/>
                </a:solidFill>
                <a:latin typeface="Calibri"/>
                <a:cs typeface="Calibri"/>
              </a:rPr>
              <a:t>n</a:t>
            </a:r>
            <a:r>
              <a:rPr sz="1900" dirty="0">
                <a:solidFill>
                  <a:srgbClr val="0365C0"/>
                </a:solidFill>
                <a:latin typeface="Calibri"/>
                <a:cs typeface="Calibri"/>
              </a:rPr>
              <a:t>g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768891" y="5618734"/>
            <a:ext cx="464184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15" dirty="0">
                <a:solidFill>
                  <a:srgbClr val="0365C0"/>
                </a:solidFill>
                <a:latin typeface="Calibri"/>
                <a:cs typeface="Calibri"/>
              </a:rPr>
              <a:t>m</a:t>
            </a:r>
            <a:r>
              <a:rPr sz="1900" spc="5" dirty="0">
                <a:solidFill>
                  <a:srgbClr val="0365C0"/>
                </a:solidFill>
                <a:latin typeface="Calibri"/>
                <a:cs typeface="Calibri"/>
              </a:rPr>
              <a:t>a</a:t>
            </a:r>
            <a:r>
              <a:rPr sz="1900" dirty="0">
                <a:solidFill>
                  <a:srgbClr val="0365C0"/>
                </a:solidFill>
                <a:latin typeface="Calibri"/>
                <a:cs typeface="Calibri"/>
              </a:rPr>
              <a:t>n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230996" y="5292598"/>
            <a:ext cx="76517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5" dirty="0">
                <a:solidFill>
                  <a:srgbClr val="0365C0"/>
                </a:solidFill>
                <a:latin typeface="Calibri"/>
                <a:cs typeface="Calibri"/>
              </a:rPr>
              <a:t>w</a:t>
            </a:r>
            <a:r>
              <a:rPr sz="1900" spc="10" dirty="0">
                <a:solidFill>
                  <a:srgbClr val="0365C0"/>
                </a:solidFill>
                <a:latin typeface="Calibri"/>
                <a:cs typeface="Calibri"/>
              </a:rPr>
              <a:t>o</a:t>
            </a:r>
            <a:r>
              <a:rPr sz="1900" spc="15" dirty="0">
                <a:solidFill>
                  <a:srgbClr val="0365C0"/>
                </a:solidFill>
                <a:latin typeface="Calibri"/>
                <a:cs typeface="Calibri"/>
              </a:rPr>
              <a:t>m</a:t>
            </a:r>
            <a:r>
              <a:rPr sz="1900" spc="10" dirty="0">
                <a:solidFill>
                  <a:srgbClr val="0365C0"/>
                </a:solidFill>
                <a:latin typeface="Calibri"/>
                <a:cs typeface="Calibri"/>
              </a:rPr>
              <a:t>a</a:t>
            </a:r>
            <a:r>
              <a:rPr sz="1900" dirty="0">
                <a:solidFill>
                  <a:srgbClr val="0365C0"/>
                </a:solidFill>
                <a:latin typeface="Calibri"/>
                <a:cs typeface="Calibri"/>
              </a:rPr>
              <a:t>n</a:t>
            </a:r>
            <a:endParaRPr sz="19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688968" y="3794951"/>
            <a:ext cx="2075180" cy="2250440"/>
            <a:chOff x="6688968" y="3794951"/>
            <a:chExt cx="2075180" cy="2250440"/>
          </a:xfrm>
        </p:grpSpPr>
        <p:sp>
          <p:nvSpPr>
            <p:cNvPr id="22" name="object 22"/>
            <p:cNvSpPr/>
            <p:nvPr/>
          </p:nvSpPr>
          <p:spPr>
            <a:xfrm>
              <a:off x="8125507" y="3794951"/>
              <a:ext cx="638175" cy="599440"/>
            </a:xfrm>
            <a:custGeom>
              <a:avLst/>
              <a:gdLst/>
              <a:ahLst/>
              <a:cxnLst/>
              <a:rect l="l" t="t" r="r" b="b"/>
              <a:pathLst>
                <a:path w="638175" h="599439">
                  <a:moveTo>
                    <a:pt x="638144" y="0"/>
                  </a:moveTo>
                  <a:lnTo>
                    <a:pt x="0" y="0"/>
                  </a:lnTo>
                  <a:lnTo>
                    <a:pt x="0" y="598855"/>
                  </a:lnTo>
                  <a:lnTo>
                    <a:pt x="638144" y="598855"/>
                  </a:lnTo>
                  <a:lnTo>
                    <a:pt x="6381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688968" y="5683256"/>
              <a:ext cx="1431925" cy="362585"/>
            </a:xfrm>
            <a:custGeom>
              <a:avLst/>
              <a:gdLst/>
              <a:ahLst/>
              <a:cxnLst/>
              <a:rect l="l" t="t" r="r" b="b"/>
              <a:pathLst>
                <a:path w="1431925" h="362585">
                  <a:moveTo>
                    <a:pt x="1349524" y="26409"/>
                  </a:moveTo>
                  <a:lnTo>
                    <a:pt x="0" y="335674"/>
                  </a:lnTo>
                  <a:lnTo>
                    <a:pt x="6051" y="362083"/>
                  </a:lnTo>
                  <a:lnTo>
                    <a:pt x="1355575" y="52817"/>
                  </a:lnTo>
                  <a:lnTo>
                    <a:pt x="1349524" y="26409"/>
                  </a:lnTo>
                  <a:close/>
                </a:path>
                <a:path w="1431925" h="362585">
                  <a:moveTo>
                    <a:pt x="1429437" y="23383"/>
                  </a:moveTo>
                  <a:lnTo>
                    <a:pt x="1362727" y="23383"/>
                  </a:lnTo>
                  <a:lnTo>
                    <a:pt x="1368779" y="49791"/>
                  </a:lnTo>
                  <a:lnTo>
                    <a:pt x="1355575" y="52817"/>
                  </a:lnTo>
                  <a:lnTo>
                    <a:pt x="1361627" y="79226"/>
                  </a:lnTo>
                  <a:lnTo>
                    <a:pt x="1429437" y="23383"/>
                  </a:lnTo>
                  <a:close/>
                </a:path>
                <a:path w="1431925" h="362585">
                  <a:moveTo>
                    <a:pt x="1362727" y="23383"/>
                  </a:moveTo>
                  <a:lnTo>
                    <a:pt x="1349524" y="26409"/>
                  </a:lnTo>
                  <a:lnTo>
                    <a:pt x="1355575" y="52817"/>
                  </a:lnTo>
                  <a:lnTo>
                    <a:pt x="1368779" y="49791"/>
                  </a:lnTo>
                  <a:lnTo>
                    <a:pt x="1362727" y="23383"/>
                  </a:lnTo>
                  <a:close/>
                </a:path>
                <a:path w="1431925" h="362585">
                  <a:moveTo>
                    <a:pt x="1343472" y="0"/>
                  </a:moveTo>
                  <a:lnTo>
                    <a:pt x="1349524" y="26409"/>
                  </a:lnTo>
                  <a:lnTo>
                    <a:pt x="1362727" y="23383"/>
                  </a:lnTo>
                  <a:lnTo>
                    <a:pt x="1429437" y="23383"/>
                  </a:lnTo>
                  <a:lnTo>
                    <a:pt x="1431775" y="21457"/>
                  </a:lnTo>
                  <a:lnTo>
                    <a:pt x="13434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33</a:t>
            </a:fld>
            <a:endParaRPr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496569"/>
            <a:ext cx="363918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Glove</a:t>
            </a:r>
            <a:r>
              <a:rPr spc="-30" dirty="0"/>
              <a:t> </a:t>
            </a:r>
            <a:r>
              <a:rPr dirty="0"/>
              <a:t>Visualizations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5682" y="1090422"/>
            <a:ext cx="7114032" cy="583082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37718" y="6952713"/>
            <a:ext cx="269875" cy="25844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z="1500" dirty="0">
                <a:latin typeface="Calibri"/>
                <a:cs typeface="Calibri"/>
              </a:rPr>
              <a:t>34</a:t>
            </a:fld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496569"/>
            <a:ext cx="661860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Glove</a:t>
            </a:r>
            <a:r>
              <a:rPr spc="5" dirty="0"/>
              <a:t> </a:t>
            </a:r>
            <a:r>
              <a:rPr dirty="0"/>
              <a:t>Visualizations:</a:t>
            </a:r>
            <a:r>
              <a:rPr spc="5" dirty="0"/>
              <a:t> </a:t>
            </a:r>
            <a:r>
              <a:rPr dirty="0"/>
              <a:t>Company -</a:t>
            </a:r>
            <a:r>
              <a:rPr spc="-5" dirty="0"/>
              <a:t> </a:t>
            </a:r>
            <a:r>
              <a:rPr spc="5" dirty="0"/>
              <a:t>CEO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7977" y="1102613"/>
            <a:ext cx="7178040" cy="569366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37718" y="6952713"/>
            <a:ext cx="269875" cy="25844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z="1500" dirty="0">
                <a:latin typeface="Calibri"/>
                <a:cs typeface="Calibri"/>
              </a:rPr>
              <a:t>35</a:t>
            </a:fld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496569"/>
            <a:ext cx="607250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Glove Visualizations:</a:t>
            </a:r>
            <a:r>
              <a:rPr spc="5" dirty="0"/>
              <a:t> </a:t>
            </a:r>
            <a:r>
              <a:rPr dirty="0"/>
              <a:t>Superlatives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0713" y="1163574"/>
            <a:ext cx="7254240" cy="57150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37718" y="6952713"/>
            <a:ext cx="269875" cy="25844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z="1500" dirty="0">
                <a:latin typeface="Calibri"/>
                <a:cs typeface="Calibri"/>
              </a:rPr>
              <a:t>36</a:t>
            </a:fld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37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496569"/>
            <a:ext cx="757364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Details</a:t>
            </a:r>
            <a:r>
              <a:rPr spc="10" dirty="0"/>
              <a:t> </a:t>
            </a:r>
            <a:r>
              <a:rPr spc="5" dirty="0"/>
              <a:t>of</a:t>
            </a:r>
            <a:r>
              <a:rPr spc="10" dirty="0"/>
              <a:t> </a:t>
            </a:r>
            <a:r>
              <a:rPr dirty="0"/>
              <a:t>intrinsic</a:t>
            </a:r>
            <a:r>
              <a:rPr spc="10" dirty="0"/>
              <a:t> </a:t>
            </a:r>
            <a:r>
              <a:rPr spc="5" dirty="0"/>
              <a:t>word</a:t>
            </a:r>
            <a:r>
              <a:rPr spc="10" dirty="0"/>
              <a:t> </a:t>
            </a:r>
            <a:r>
              <a:rPr dirty="0"/>
              <a:t>vector</a:t>
            </a:r>
            <a:r>
              <a:rPr spc="10" dirty="0"/>
              <a:t> </a:t>
            </a:r>
            <a:r>
              <a:rPr dirty="0"/>
              <a:t>evaluation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3118" y="1414526"/>
            <a:ext cx="8176259" cy="995044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377825" marR="5080" indent="-365760">
              <a:lnSpc>
                <a:spcPct val="101400"/>
              </a:lnSpc>
              <a:spcBef>
                <a:spcPts val="65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100" spc="10" dirty="0">
                <a:latin typeface="Calibri"/>
                <a:cs typeface="Calibri"/>
              </a:rPr>
              <a:t>Word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Vector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Analogies: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Syntactic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and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b="1" spc="10" dirty="0">
                <a:latin typeface="Calibri"/>
                <a:cs typeface="Calibri"/>
              </a:rPr>
              <a:t>Semantic</a:t>
            </a:r>
            <a:r>
              <a:rPr sz="2100" b="1" spc="15" dirty="0">
                <a:latin typeface="Calibri"/>
                <a:cs typeface="Calibri"/>
              </a:rPr>
              <a:t> </a:t>
            </a:r>
            <a:r>
              <a:rPr sz="2100" spc="15" dirty="0">
                <a:latin typeface="Calibri"/>
                <a:cs typeface="Calibri"/>
              </a:rPr>
              <a:t>examples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from </a:t>
            </a:r>
            <a:r>
              <a:rPr sz="2100" spc="15" dirty="0">
                <a:solidFill>
                  <a:srgbClr val="EF8E1C"/>
                </a:solidFill>
                <a:latin typeface="Calibri"/>
                <a:cs typeface="Calibri"/>
              </a:rPr>
              <a:t> </a:t>
            </a:r>
            <a:r>
              <a:rPr sz="2100" u="sng" spc="10" dirty="0">
                <a:solidFill>
                  <a:srgbClr val="EF8E1C"/>
                </a:solidFill>
                <a:uFill>
                  <a:solidFill>
                    <a:srgbClr val="EF8E1C"/>
                  </a:solidFill>
                </a:uFill>
                <a:latin typeface="Calibri"/>
                <a:cs typeface="Calibri"/>
                <a:hlinkClick r:id="rId2"/>
              </a:rPr>
              <a:t>http://code.google.com/p/word2vec/source/browse/trunk/questions- </a:t>
            </a:r>
            <a:r>
              <a:rPr sz="2100" spc="-459" dirty="0">
                <a:solidFill>
                  <a:srgbClr val="EF8E1C"/>
                </a:solidFill>
                <a:latin typeface="Calibri"/>
                <a:cs typeface="Calibri"/>
              </a:rPr>
              <a:t> </a:t>
            </a:r>
            <a:r>
              <a:rPr sz="2100" u="sng" spc="10" dirty="0">
                <a:solidFill>
                  <a:srgbClr val="EF8E1C"/>
                </a:solidFill>
                <a:uFill>
                  <a:solidFill>
                    <a:srgbClr val="EF8E1C"/>
                  </a:solidFill>
                </a:uFill>
                <a:latin typeface="Calibri"/>
                <a:cs typeface="Calibri"/>
              </a:rPr>
              <a:t>words.txt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3118" y="2850134"/>
            <a:ext cx="4573905" cy="3609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dirty="0">
                <a:latin typeface="Calibri"/>
                <a:cs typeface="Calibri"/>
              </a:rPr>
              <a:t>:</a:t>
            </a:r>
            <a:r>
              <a:rPr sz="2100" spc="-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city-in-state</a:t>
            </a:r>
            <a:endParaRPr sz="2100">
              <a:latin typeface="Calibri"/>
              <a:cs typeface="Calibri"/>
            </a:endParaRPr>
          </a:p>
          <a:p>
            <a:pPr marL="12700">
              <a:lnSpc>
                <a:spcPts val="2510"/>
              </a:lnSpc>
              <a:spcBef>
                <a:spcPts val="95"/>
              </a:spcBef>
            </a:pPr>
            <a:r>
              <a:rPr sz="2100" spc="10" dirty="0">
                <a:latin typeface="Calibri"/>
                <a:cs typeface="Calibri"/>
              </a:rPr>
              <a:t>Chicago</a:t>
            </a:r>
            <a:r>
              <a:rPr sz="2100" spc="5" dirty="0">
                <a:latin typeface="Calibri"/>
                <a:cs typeface="Calibri"/>
              </a:rPr>
              <a:t> Illinois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Houston Texas</a:t>
            </a:r>
            <a:endParaRPr sz="2100">
              <a:latin typeface="Calibri"/>
              <a:cs typeface="Calibri"/>
            </a:endParaRPr>
          </a:p>
          <a:p>
            <a:pPr marL="12700" marR="5080">
              <a:lnSpc>
                <a:spcPts val="2590"/>
              </a:lnSpc>
              <a:spcBef>
                <a:spcPts val="15"/>
              </a:spcBef>
            </a:pPr>
            <a:r>
              <a:rPr sz="2100" spc="10" dirty="0">
                <a:latin typeface="Calibri"/>
                <a:cs typeface="Calibri"/>
              </a:rPr>
              <a:t>Chicago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Illinois</a:t>
            </a:r>
            <a:r>
              <a:rPr sz="2100" spc="2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Philadelphia</a:t>
            </a:r>
            <a:r>
              <a:rPr sz="2100" spc="2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Pennsylvania </a:t>
            </a:r>
            <a:r>
              <a:rPr sz="2100" spc="-459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Chicago </a:t>
            </a:r>
            <a:r>
              <a:rPr sz="2100" spc="5" dirty="0">
                <a:latin typeface="Calibri"/>
                <a:cs typeface="Calibri"/>
              </a:rPr>
              <a:t>Illinois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Phoenix Arizona</a:t>
            </a:r>
            <a:endParaRPr sz="2100">
              <a:latin typeface="Calibri"/>
              <a:cs typeface="Calibri"/>
            </a:endParaRPr>
          </a:p>
          <a:p>
            <a:pPr marL="12700" marR="748030">
              <a:lnSpc>
                <a:spcPts val="2520"/>
              </a:lnSpc>
              <a:spcBef>
                <a:spcPts val="60"/>
              </a:spcBef>
            </a:pPr>
            <a:r>
              <a:rPr sz="2100" spc="10" dirty="0">
                <a:latin typeface="Calibri"/>
                <a:cs typeface="Calibri"/>
              </a:rPr>
              <a:t>Chicago </a:t>
            </a:r>
            <a:r>
              <a:rPr sz="2100" spc="5" dirty="0">
                <a:latin typeface="Calibri"/>
                <a:cs typeface="Calibri"/>
              </a:rPr>
              <a:t>Illinois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Dallas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Texas 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Chicago</a:t>
            </a:r>
            <a:r>
              <a:rPr sz="2100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Illinois </a:t>
            </a:r>
            <a:r>
              <a:rPr sz="2100" spc="10" dirty="0">
                <a:latin typeface="Calibri"/>
                <a:cs typeface="Calibri"/>
              </a:rPr>
              <a:t>Jacksonville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Florida</a:t>
            </a:r>
            <a:endParaRPr sz="2100">
              <a:latin typeface="Calibri"/>
              <a:cs typeface="Calibri"/>
            </a:endParaRPr>
          </a:p>
          <a:p>
            <a:pPr marL="12700">
              <a:lnSpc>
                <a:spcPts val="2510"/>
              </a:lnSpc>
            </a:pPr>
            <a:r>
              <a:rPr sz="2100" spc="10" dirty="0">
                <a:latin typeface="Calibri"/>
                <a:cs typeface="Calibri"/>
              </a:rPr>
              <a:t>Chicago</a:t>
            </a:r>
            <a:r>
              <a:rPr sz="2100" spc="5" dirty="0">
                <a:latin typeface="Calibri"/>
                <a:cs typeface="Calibri"/>
              </a:rPr>
              <a:t> Illinois</a:t>
            </a:r>
            <a:r>
              <a:rPr sz="2100" spc="10" dirty="0">
                <a:latin typeface="Calibri"/>
                <a:cs typeface="Calibri"/>
              </a:rPr>
              <a:t> Indianapolis Indiana</a:t>
            </a:r>
            <a:endParaRPr sz="2100">
              <a:latin typeface="Calibri"/>
              <a:cs typeface="Calibri"/>
            </a:endParaRPr>
          </a:p>
          <a:p>
            <a:pPr marL="12700" marR="590550">
              <a:lnSpc>
                <a:spcPct val="101400"/>
              </a:lnSpc>
              <a:spcBef>
                <a:spcPts val="35"/>
              </a:spcBef>
            </a:pPr>
            <a:r>
              <a:rPr sz="2100" spc="10" dirty="0">
                <a:latin typeface="Calibri"/>
                <a:cs typeface="Calibri"/>
              </a:rPr>
              <a:t>Chicago</a:t>
            </a:r>
            <a:r>
              <a:rPr sz="2100" spc="125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Illinois</a:t>
            </a:r>
            <a:r>
              <a:rPr sz="2100" spc="13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Austin</a:t>
            </a:r>
            <a:r>
              <a:rPr sz="2100" spc="13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Texas 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Chicago </a:t>
            </a:r>
            <a:r>
              <a:rPr sz="2100" spc="5" dirty="0">
                <a:latin typeface="Calibri"/>
                <a:cs typeface="Calibri"/>
              </a:rPr>
              <a:t>Illinois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Detroit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Michigan 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Chicago</a:t>
            </a:r>
            <a:r>
              <a:rPr sz="2100" spc="-5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Illinois </a:t>
            </a:r>
            <a:r>
              <a:rPr sz="2100" spc="15" dirty="0">
                <a:latin typeface="Calibri"/>
                <a:cs typeface="Calibri"/>
              </a:rPr>
              <a:t>Memphis</a:t>
            </a:r>
            <a:r>
              <a:rPr sz="2100" dirty="0">
                <a:latin typeface="Calibri"/>
                <a:cs typeface="Calibri"/>
              </a:rPr>
              <a:t> </a:t>
            </a:r>
            <a:r>
              <a:rPr sz="2100" spc="15" dirty="0">
                <a:latin typeface="Calibri"/>
                <a:cs typeface="Calibri"/>
              </a:rPr>
              <a:t>Tennessee</a:t>
            </a:r>
            <a:endParaRPr sz="2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2100" spc="10" dirty="0">
                <a:latin typeface="Calibri"/>
                <a:cs typeface="Calibri"/>
              </a:rPr>
              <a:t>Chicago</a:t>
            </a:r>
            <a:r>
              <a:rPr sz="2100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Illinois</a:t>
            </a:r>
            <a:r>
              <a:rPr sz="2100" spc="10" dirty="0">
                <a:latin typeface="Calibri"/>
                <a:cs typeface="Calibri"/>
              </a:rPr>
              <a:t> Boston </a:t>
            </a:r>
            <a:r>
              <a:rPr sz="2100" spc="15" dirty="0">
                <a:latin typeface="Calibri"/>
                <a:cs typeface="Calibri"/>
              </a:rPr>
              <a:t>Massachusetts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15278" y="2850134"/>
            <a:ext cx="2699385" cy="67818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 marR="5080">
              <a:lnSpc>
                <a:spcPct val="103800"/>
              </a:lnSpc>
              <a:spcBef>
                <a:spcPts val="5"/>
              </a:spcBef>
            </a:pPr>
            <a:r>
              <a:rPr sz="2100" spc="10" dirty="0">
                <a:solidFill>
                  <a:srgbClr val="595959"/>
                </a:solidFill>
                <a:latin typeface="Calibri"/>
                <a:cs typeface="Calibri"/>
              </a:rPr>
              <a:t>problem: different cities </a:t>
            </a:r>
            <a:r>
              <a:rPr sz="2100" spc="-459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100" spc="15" dirty="0">
                <a:solidFill>
                  <a:srgbClr val="595959"/>
                </a:solidFill>
                <a:latin typeface="Calibri"/>
                <a:cs typeface="Calibri"/>
              </a:rPr>
              <a:t>may</a:t>
            </a:r>
            <a:r>
              <a:rPr sz="21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100" spc="10" dirty="0">
                <a:solidFill>
                  <a:srgbClr val="595959"/>
                </a:solidFill>
                <a:latin typeface="Calibri"/>
                <a:cs typeface="Calibri"/>
              </a:rPr>
              <a:t>have</a:t>
            </a:r>
            <a:r>
              <a:rPr sz="2100" spc="15" dirty="0">
                <a:solidFill>
                  <a:srgbClr val="595959"/>
                </a:solidFill>
                <a:latin typeface="Calibri"/>
                <a:cs typeface="Calibri"/>
              </a:rPr>
              <a:t> same</a:t>
            </a:r>
            <a:r>
              <a:rPr sz="2100" spc="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100" spc="20" dirty="0">
                <a:solidFill>
                  <a:srgbClr val="595959"/>
                </a:solidFill>
                <a:latin typeface="Calibri"/>
                <a:cs typeface="Calibri"/>
              </a:rPr>
              <a:t>name</a:t>
            </a:r>
            <a:endParaRPr sz="2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38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496569"/>
            <a:ext cx="757364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Details</a:t>
            </a:r>
            <a:r>
              <a:rPr spc="10" dirty="0"/>
              <a:t> </a:t>
            </a:r>
            <a:r>
              <a:rPr spc="5" dirty="0"/>
              <a:t>of</a:t>
            </a:r>
            <a:r>
              <a:rPr spc="10" dirty="0"/>
              <a:t> </a:t>
            </a:r>
            <a:r>
              <a:rPr dirty="0"/>
              <a:t>intrinsic</a:t>
            </a:r>
            <a:r>
              <a:rPr spc="10" dirty="0"/>
              <a:t> </a:t>
            </a:r>
            <a:r>
              <a:rPr spc="5" dirty="0"/>
              <a:t>word</a:t>
            </a:r>
            <a:r>
              <a:rPr spc="10" dirty="0"/>
              <a:t> </a:t>
            </a:r>
            <a:r>
              <a:rPr dirty="0"/>
              <a:t>vector</a:t>
            </a:r>
            <a:r>
              <a:rPr spc="10" dirty="0"/>
              <a:t> </a:t>
            </a:r>
            <a:r>
              <a:rPr dirty="0"/>
              <a:t>evaluation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3118" y="1414526"/>
            <a:ext cx="734060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8460" indent="-365760">
              <a:lnSpc>
                <a:spcPct val="100000"/>
              </a:lnSpc>
              <a:spcBef>
                <a:spcPts val="100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100" spc="10" dirty="0">
                <a:latin typeface="Calibri"/>
                <a:cs typeface="Calibri"/>
              </a:rPr>
              <a:t>Word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Vector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Analogies: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b="1" spc="5" dirty="0">
                <a:latin typeface="Calibri"/>
                <a:cs typeface="Calibri"/>
              </a:rPr>
              <a:t>Syntactic</a:t>
            </a:r>
            <a:r>
              <a:rPr sz="2100" b="1" spc="2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and</a:t>
            </a:r>
            <a:r>
              <a:rPr sz="2100" spc="25" dirty="0">
                <a:latin typeface="Calibri"/>
                <a:cs typeface="Calibri"/>
              </a:rPr>
              <a:t> </a:t>
            </a:r>
            <a:r>
              <a:rPr sz="2100" spc="15" dirty="0">
                <a:latin typeface="Calibri"/>
                <a:cs typeface="Calibri"/>
              </a:rPr>
              <a:t>Semantic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5" dirty="0">
                <a:latin typeface="Calibri"/>
                <a:cs typeface="Calibri"/>
              </a:rPr>
              <a:t>examples</a:t>
            </a:r>
            <a:r>
              <a:rPr sz="2100" spc="30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from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3118" y="2978150"/>
            <a:ext cx="2903220" cy="3277870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 marR="533400">
              <a:lnSpc>
                <a:spcPct val="102899"/>
              </a:lnSpc>
              <a:spcBef>
                <a:spcPts val="25"/>
              </a:spcBef>
            </a:pPr>
            <a:r>
              <a:rPr sz="2100" dirty="0">
                <a:latin typeface="Calibri"/>
                <a:cs typeface="Calibri"/>
              </a:rPr>
              <a:t>:</a:t>
            </a:r>
            <a:r>
              <a:rPr sz="2100" spc="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gram4-superlative 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bad</a:t>
            </a:r>
            <a:r>
              <a:rPr sz="2100" spc="-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worst</a:t>
            </a:r>
            <a:r>
              <a:rPr sz="2100" spc="-5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big</a:t>
            </a:r>
            <a:r>
              <a:rPr sz="2100" spc="-1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biggest</a:t>
            </a:r>
            <a:endParaRPr sz="2100">
              <a:latin typeface="Calibri"/>
              <a:cs typeface="Calibri"/>
            </a:endParaRPr>
          </a:p>
          <a:p>
            <a:pPr marL="12700" marR="5080">
              <a:lnSpc>
                <a:spcPct val="101499"/>
              </a:lnSpc>
              <a:spcBef>
                <a:spcPts val="60"/>
              </a:spcBef>
            </a:pPr>
            <a:r>
              <a:rPr sz="2100" spc="10" dirty="0">
                <a:latin typeface="Calibri"/>
                <a:cs typeface="Calibri"/>
              </a:rPr>
              <a:t>bad worst bright brightest </a:t>
            </a:r>
            <a:r>
              <a:rPr sz="2100" spc="-46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bad worst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cold</a:t>
            </a:r>
            <a:r>
              <a:rPr sz="2100" spc="10" dirty="0">
                <a:latin typeface="Calibri"/>
                <a:cs typeface="Calibri"/>
              </a:rPr>
              <a:t> coldest 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bad worst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cool </a:t>
            </a:r>
            <a:r>
              <a:rPr sz="2100" spc="10" dirty="0">
                <a:latin typeface="Calibri"/>
                <a:cs typeface="Calibri"/>
              </a:rPr>
              <a:t>coolest 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bad worst dark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darkest 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bad worst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easy</a:t>
            </a:r>
            <a:r>
              <a:rPr sz="2100" spc="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easiest 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bad worst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fast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fastest</a:t>
            </a:r>
            <a:endParaRPr sz="2100">
              <a:latin typeface="Calibri"/>
              <a:cs typeface="Calibri"/>
            </a:endParaRPr>
          </a:p>
          <a:p>
            <a:pPr marL="12700" marR="166370">
              <a:lnSpc>
                <a:spcPts val="2500"/>
              </a:lnSpc>
              <a:spcBef>
                <a:spcPts val="170"/>
              </a:spcBef>
            </a:pPr>
            <a:r>
              <a:rPr sz="2100" spc="10" dirty="0">
                <a:latin typeface="Calibri"/>
                <a:cs typeface="Calibri"/>
              </a:rPr>
              <a:t>bad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worst  </a:t>
            </a:r>
            <a:r>
              <a:rPr sz="2100" spc="5" dirty="0">
                <a:latin typeface="Calibri"/>
                <a:cs typeface="Calibri"/>
              </a:rPr>
              <a:t>good  </a:t>
            </a:r>
            <a:r>
              <a:rPr sz="2100" spc="10" dirty="0">
                <a:latin typeface="Calibri"/>
                <a:cs typeface="Calibri"/>
              </a:rPr>
              <a:t>best 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bad</a:t>
            </a:r>
            <a:r>
              <a:rPr sz="210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worst</a:t>
            </a:r>
            <a:r>
              <a:rPr sz="210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great</a:t>
            </a:r>
            <a:r>
              <a:rPr sz="2100" spc="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greatest</a:t>
            </a:r>
            <a:endParaRPr sz="2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39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496569"/>
            <a:ext cx="748982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Analogy</a:t>
            </a:r>
            <a:r>
              <a:rPr spc="-5" dirty="0"/>
              <a:t> </a:t>
            </a:r>
            <a:r>
              <a:rPr dirty="0"/>
              <a:t>evaluation</a:t>
            </a:r>
            <a:r>
              <a:rPr spc="-5" dirty="0"/>
              <a:t> </a:t>
            </a:r>
            <a:r>
              <a:rPr dirty="0"/>
              <a:t>and</a:t>
            </a:r>
            <a:r>
              <a:rPr spc="15" dirty="0"/>
              <a:t> </a:t>
            </a:r>
            <a:r>
              <a:rPr dirty="0"/>
              <a:t>hyperparameters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3118" y="1414526"/>
            <a:ext cx="2524760" cy="67818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77825" marR="5080" indent="-365760">
              <a:lnSpc>
                <a:spcPct val="103800"/>
              </a:lnSpc>
              <a:spcBef>
                <a:spcPts val="5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100" spc="10" dirty="0">
                <a:latin typeface="Calibri"/>
                <a:cs typeface="Calibri"/>
              </a:rPr>
              <a:t>Glove</a:t>
            </a:r>
            <a:r>
              <a:rPr sz="2100" spc="-2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word</a:t>
            </a:r>
            <a:r>
              <a:rPr sz="2100" spc="-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vectors </a:t>
            </a:r>
            <a:r>
              <a:rPr sz="2100" spc="-459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evaluation</a:t>
            </a:r>
            <a:endParaRPr sz="210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817040" y="1461889"/>
          <a:ext cx="4753608" cy="575460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6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45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46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13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29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940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9394">
                <a:tc>
                  <a:txBody>
                    <a:bodyPr/>
                    <a:lstStyle/>
                    <a:p>
                      <a:pPr marL="12065" algn="ctr">
                        <a:lnSpc>
                          <a:spcPts val="2070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Model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ts val="2070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Dim.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53035" algn="r">
                        <a:lnSpc>
                          <a:spcPts val="2070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Size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2070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Sem.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Syn.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</a:pPr>
                      <a:r>
                        <a:rPr sz="1900" spc="-40" dirty="0">
                          <a:latin typeface="Times New Roman"/>
                          <a:cs typeface="Times New Roman"/>
                        </a:rPr>
                        <a:t>Tot.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274">
                <a:tc>
                  <a:txBody>
                    <a:bodyPr/>
                    <a:lstStyle/>
                    <a:p>
                      <a:pPr marL="12065" algn="ctr">
                        <a:lnSpc>
                          <a:spcPts val="2070"/>
                        </a:lnSpc>
                      </a:pPr>
                      <a:r>
                        <a:rPr sz="1900" spc="-10" dirty="0">
                          <a:latin typeface="Times New Roman"/>
                          <a:cs typeface="Times New Roman"/>
                        </a:rPr>
                        <a:t>ivLBL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ts val="2070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100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28905" algn="r">
                        <a:lnSpc>
                          <a:spcPts val="2070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1.5B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ts val="2070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55.9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50.1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53.2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555">
                <a:tc>
                  <a:txBody>
                    <a:bodyPr/>
                    <a:lstStyle/>
                    <a:p>
                      <a:pPr marL="12065" algn="ctr">
                        <a:lnSpc>
                          <a:spcPts val="2175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HPCA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ts val="2175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100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9539" algn="r">
                        <a:lnSpc>
                          <a:spcPts val="2175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1.6B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2175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4.2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75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16.4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75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10.8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652">
                <a:tc>
                  <a:txBody>
                    <a:bodyPr/>
                    <a:lstStyle/>
                    <a:p>
                      <a:pPr marL="12065" algn="ctr">
                        <a:lnSpc>
                          <a:spcPts val="2175"/>
                        </a:lnSpc>
                      </a:pPr>
                      <a:r>
                        <a:rPr sz="1900" spc="-40" dirty="0">
                          <a:latin typeface="Times New Roman"/>
                          <a:cs typeface="Times New Roman"/>
                        </a:rPr>
                        <a:t>GloVe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ts val="2175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100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9539" algn="r">
                        <a:lnSpc>
                          <a:spcPts val="2175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1.6B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ts val="2175"/>
                        </a:lnSpc>
                      </a:pPr>
                      <a:r>
                        <a:rPr sz="1900" u="heavy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67.5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75"/>
                        </a:lnSpc>
                      </a:pPr>
                      <a:r>
                        <a:rPr sz="1900" u="heavy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54.3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75"/>
                        </a:lnSpc>
                      </a:pPr>
                      <a:r>
                        <a:rPr sz="1900" u="heavy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60.3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7275">
                <a:tc>
                  <a:txBody>
                    <a:bodyPr/>
                    <a:lstStyle/>
                    <a:p>
                      <a:pPr marL="12065" algn="ctr">
                        <a:lnSpc>
                          <a:spcPts val="2070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SG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ts val="2070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300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23520">
                        <a:lnSpc>
                          <a:spcPts val="2070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1B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2070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61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61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61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0555">
                <a:tc>
                  <a:txBody>
                    <a:bodyPr/>
                    <a:lstStyle/>
                    <a:p>
                      <a:pPr marL="12065" algn="ctr">
                        <a:lnSpc>
                          <a:spcPts val="2175"/>
                        </a:lnSpc>
                      </a:pPr>
                      <a:r>
                        <a:rPr sz="1900" spc="-15" dirty="0">
                          <a:latin typeface="Times New Roman"/>
                          <a:cs typeface="Times New Roman"/>
                        </a:rPr>
                        <a:t>CBOW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ts val="2175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300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9539" algn="r">
                        <a:lnSpc>
                          <a:spcPts val="2175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1.6B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ts val="2175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16.1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75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52.6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75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36.1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0544">
                <a:tc>
                  <a:txBody>
                    <a:bodyPr/>
                    <a:lstStyle/>
                    <a:p>
                      <a:pPr marL="12065" algn="ctr">
                        <a:lnSpc>
                          <a:spcPts val="2175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vLBL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ts val="2175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300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9539" algn="r">
                        <a:lnSpc>
                          <a:spcPts val="2175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1.5B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ts val="2175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54.2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75"/>
                        </a:lnSpc>
                      </a:pPr>
                      <a:r>
                        <a:rPr sz="1900" u="heavy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64.8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75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60.0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0544">
                <a:tc>
                  <a:txBody>
                    <a:bodyPr/>
                    <a:lstStyle/>
                    <a:p>
                      <a:pPr marL="12065" algn="ctr">
                        <a:lnSpc>
                          <a:spcPts val="2175"/>
                        </a:lnSpc>
                      </a:pPr>
                      <a:r>
                        <a:rPr sz="1900" spc="-10" dirty="0">
                          <a:latin typeface="Times New Roman"/>
                          <a:cs typeface="Times New Roman"/>
                        </a:rPr>
                        <a:t>ivLBL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ts val="2175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300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8905" algn="r">
                        <a:lnSpc>
                          <a:spcPts val="2175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1.5B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ts val="2175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65.2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75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63.0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75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64.0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2651">
                <a:tc>
                  <a:txBody>
                    <a:bodyPr/>
                    <a:lstStyle/>
                    <a:p>
                      <a:pPr marL="12065" algn="ctr">
                        <a:lnSpc>
                          <a:spcPts val="2175"/>
                        </a:lnSpc>
                      </a:pPr>
                      <a:r>
                        <a:rPr sz="1900" spc="-40" dirty="0">
                          <a:latin typeface="Times New Roman"/>
                          <a:cs typeface="Times New Roman"/>
                        </a:rPr>
                        <a:t>GloVe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ts val="2175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300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9539" algn="r">
                        <a:lnSpc>
                          <a:spcPts val="2175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1.6B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ts val="2175"/>
                        </a:lnSpc>
                      </a:pPr>
                      <a:r>
                        <a:rPr sz="1900" u="heavy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80.8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75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61.5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75"/>
                        </a:lnSpc>
                      </a:pPr>
                      <a:r>
                        <a:rPr sz="1900" u="heavy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70.3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7287">
                <a:tc>
                  <a:txBody>
                    <a:bodyPr/>
                    <a:lstStyle/>
                    <a:p>
                      <a:pPr marL="12065" algn="ctr">
                        <a:lnSpc>
                          <a:spcPts val="2070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SVD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ts val="2070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300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23520">
                        <a:lnSpc>
                          <a:spcPts val="2070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6B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2070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6.3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8.1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7.3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0544">
                <a:tc>
                  <a:txBody>
                    <a:bodyPr/>
                    <a:lstStyle/>
                    <a:p>
                      <a:pPr marL="12065" algn="ctr">
                        <a:lnSpc>
                          <a:spcPts val="2175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SVD-S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ts val="2175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300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22885">
                        <a:lnSpc>
                          <a:spcPts val="2175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6B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ts val="2175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36.7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75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46.6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75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42.1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0544">
                <a:tc>
                  <a:txBody>
                    <a:bodyPr/>
                    <a:lstStyle/>
                    <a:p>
                      <a:pPr marL="12065" algn="ctr">
                        <a:lnSpc>
                          <a:spcPts val="2175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SVD-L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ts val="2175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300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23520">
                        <a:lnSpc>
                          <a:spcPts val="2175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6B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ts val="2175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56.6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75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63.0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75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60.1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0555">
                <a:tc>
                  <a:txBody>
                    <a:bodyPr/>
                    <a:lstStyle/>
                    <a:p>
                      <a:pPr algn="ctr">
                        <a:lnSpc>
                          <a:spcPts val="2175"/>
                        </a:lnSpc>
                      </a:pPr>
                      <a:r>
                        <a:rPr sz="1900" spc="-30" dirty="0">
                          <a:latin typeface="Times New Roman"/>
                          <a:cs typeface="Times New Roman"/>
                        </a:rPr>
                        <a:t>CBOW</a:t>
                      </a:r>
                      <a:r>
                        <a:rPr sz="2100" spc="-44" baseline="27777" dirty="0">
                          <a:latin typeface="Lucida Sans Unicode"/>
                          <a:cs typeface="Lucida Sans Unicode"/>
                        </a:rPr>
                        <a:t>†</a:t>
                      </a:r>
                      <a:endParaRPr sz="2100" baseline="27777">
                        <a:latin typeface="Lucida Sans Unicode"/>
                        <a:cs typeface="Lucida Sans Unicode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ts val="2175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300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23520">
                        <a:lnSpc>
                          <a:spcPts val="2175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6B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ts val="2175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63.6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75"/>
                        </a:lnSpc>
                      </a:pPr>
                      <a:r>
                        <a:rPr sz="1900" u="heavy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67.4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75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65.7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0555">
                <a:tc>
                  <a:txBody>
                    <a:bodyPr/>
                    <a:lstStyle/>
                    <a:p>
                      <a:pPr algn="ctr">
                        <a:lnSpc>
                          <a:spcPts val="2175"/>
                        </a:lnSpc>
                      </a:pPr>
                      <a:r>
                        <a:rPr sz="1900" spc="-35" dirty="0">
                          <a:latin typeface="Times New Roman"/>
                          <a:cs typeface="Times New Roman"/>
                        </a:rPr>
                        <a:t>SG</a:t>
                      </a:r>
                      <a:r>
                        <a:rPr sz="2100" spc="-52" baseline="27777" dirty="0">
                          <a:latin typeface="Lucida Sans Unicode"/>
                          <a:cs typeface="Lucida Sans Unicode"/>
                        </a:rPr>
                        <a:t>†</a:t>
                      </a:r>
                      <a:endParaRPr sz="2100" baseline="27777">
                        <a:latin typeface="Lucida Sans Unicode"/>
                        <a:cs typeface="Lucida Sans Unicode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ts val="2175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300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23520">
                        <a:lnSpc>
                          <a:spcPts val="2175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6B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ts val="2175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73.0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75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66.0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75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69.1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22652">
                <a:tc>
                  <a:txBody>
                    <a:bodyPr/>
                    <a:lstStyle/>
                    <a:p>
                      <a:pPr marL="12065" algn="ctr">
                        <a:lnSpc>
                          <a:spcPts val="2175"/>
                        </a:lnSpc>
                      </a:pPr>
                      <a:r>
                        <a:rPr sz="1900" spc="-40" dirty="0">
                          <a:latin typeface="Times New Roman"/>
                          <a:cs typeface="Times New Roman"/>
                        </a:rPr>
                        <a:t>GloVe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ts val="2175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300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2885">
                        <a:lnSpc>
                          <a:spcPts val="2175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6B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ts val="2175"/>
                        </a:lnSpc>
                      </a:pPr>
                      <a:r>
                        <a:rPr sz="1900" u="heavy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77.4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75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67.0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75"/>
                        </a:lnSpc>
                      </a:pPr>
                      <a:r>
                        <a:rPr sz="1900" u="heavy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71.7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7275">
                <a:tc>
                  <a:txBody>
                    <a:bodyPr/>
                    <a:lstStyle/>
                    <a:p>
                      <a:pPr marL="12065" algn="ctr">
                        <a:lnSpc>
                          <a:spcPts val="2070"/>
                        </a:lnSpc>
                      </a:pPr>
                      <a:r>
                        <a:rPr sz="1900" spc="-15" dirty="0">
                          <a:latin typeface="Times New Roman"/>
                          <a:cs typeface="Times New Roman"/>
                        </a:rPr>
                        <a:t>CBOW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ts val="2070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1000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22885">
                        <a:lnSpc>
                          <a:spcPts val="2070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6B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ts val="2070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57.3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68.9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63.7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00555">
                <a:tc>
                  <a:txBody>
                    <a:bodyPr/>
                    <a:lstStyle/>
                    <a:p>
                      <a:pPr marL="12065" algn="ctr">
                        <a:lnSpc>
                          <a:spcPts val="2175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SG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ts val="2175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1000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23520">
                        <a:lnSpc>
                          <a:spcPts val="2175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6B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ts val="2175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66.1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75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65.1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75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65.6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96188">
                <a:tc>
                  <a:txBody>
                    <a:bodyPr/>
                    <a:lstStyle/>
                    <a:p>
                      <a:pPr marL="12065" algn="ctr">
                        <a:lnSpc>
                          <a:spcPts val="2175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SVD-L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ts val="2175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300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59385" algn="r">
                        <a:lnSpc>
                          <a:spcPts val="2175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42B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ts val="2175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38.4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75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58.2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75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49.2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327007">
                <a:tc>
                  <a:txBody>
                    <a:bodyPr/>
                    <a:lstStyle/>
                    <a:p>
                      <a:pPr marL="12065" algn="ctr">
                        <a:lnSpc>
                          <a:spcPts val="2210"/>
                        </a:lnSpc>
                      </a:pPr>
                      <a:r>
                        <a:rPr sz="1900" spc="-40" dirty="0">
                          <a:latin typeface="Times New Roman"/>
                          <a:cs typeface="Times New Roman"/>
                        </a:rPr>
                        <a:t>GloVe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ts val="2210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300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59385" algn="r">
                        <a:lnSpc>
                          <a:spcPts val="2210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42B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ts val="2210"/>
                        </a:lnSpc>
                      </a:pPr>
                      <a:r>
                        <a:rPr sz="1900" b="1" u="heavy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81.9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10"/>
                        </a:lnSpc>
                      </a:pPr>
                      <a:r>
                        <a:rPr sz="1900" b="1" u="heavy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69.3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10"/>
                        </a:lnSpc>
                      </a:pPr>
                      <a:r>
                        <a:rPr sz="1900" b="1" u="heavy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75.0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496569"/>
            <a:ext cx="748982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Analogy</a:t>
            </a:r>
            <a:r>
              <a:rPr spc="-5" dirty="0"/>
              <a:t> </a:t>
            </a:r>
            <a:r>
              <a:rPr dirty="0"/>
              <a:t>evaluation</a:t>
            </a:r>
            <a:r>
              <a:rPr spc="-5" dirty="0"/>
              <a:t> </a:t>
            </a:r>
            <a:r>
              <a:rPr dirty="0"/>
              <a:t>and</a:t>
            </a:r>
            <a:r>
              <a:rPr spc="15" dirty="0"/>
              <a:t> </a:t>
            </a:r>
            <a:r>
              <a:rPr dirty="0"/>
              <a:t>hyperparameters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3118" y="4776470"/>
            <a:ext cx="7990840" cy="2146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7825">
              <a:lnSpc>
                <a:spcPct val="100000"/>
              </a:lnSpc>
              <a:spcBef>
                <a:spcPts val="100"/>
              </a:spcBef>
              <a:tabLst>
                <a:tab pos="3606800" algn="l"/>
                <a:tab pos="6584950" algn="l"/>
              </a:tabLst>
            </a:pPr>
            <a:r>
              <a:rPr sz="2100" spc="10" dirty="0">
                <a:latin typeface="Calibri"/>
                <a:cs typeface="Calibri"/>
              </a:rPr>
              <a:t>Dimensionality	Window</a:t>
            </a:r>
            <a:r>
              <a:rPr sz="2100" spc="25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size	</a:t>
            </a:r>
            <a:r>
              <a:rPr sz="2100" spc="10" dirty="0">
                <a:latin typeface="Calibri"/>
                <a:cs typeface="Calibri"/>
              </a:rPr>
              <a:t>Window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size</a:t>
            </a:r>
            <a:endParaRPr sz="2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900">
              <a:latin typeface="Calibri"/>
              <a:cs typeface="Calibri"/>
            </a:endParaRPr>
          </a:p>
          <a:p>
            <a:pPr marL="378460" indent="-365760">
              <a:lnSpc>
                <a:spcPct val="100000"/>
              </a:lnSpc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100" spc="10" dirty="0">
                <a:latin typeface="Calibri"/>
                <a:cs typeface="Calibri"/>
              </a:rPr>
              <a:t>Good</a:t>
            </a:r>
            <a:r>
              <a:rPr sz="2100" spc="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dimension</a:t>
            </a:r>
            <a:r>
              <a:rPr sz="2100" spc="5" dirty="0">
                <a:latin typeface="Calibri"/>
                <a:cs typeface="Calibri"/>
              </a:rPr>
              <a:t> is </a:t>
            </a:r>
            <a:r>
              <a:rPr sz="2100" spc="10" dirty="0">
                <a:latin typeface="Calibri"/>
                <a:cs typeface="Calibri"/>
              </a:rPr>
              <a:t>~300</a:t>
            </a:r>
            <a:endParaRPr sz="2100">
              <a:latin typeface="Calibri"/>
              <a:cs typeface="Calibri"/>
            </a:endParaRPr>
          </a:p>
          <a:p>
            <a:pPr marL="378460" indent="-365760">
              <a:lnSpc>
                <a:spcPct val="100000"/>
              </a:lnSpc>
              <a:spcBef>
                <a:spcPts val="575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100" spc="15" dirty="0">
                <a:latin typeface="Calibri"/>
                <a:cs typeface="Calibri"/>
              </a:rPr>
              <a:t>Asymmetric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context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(only</a:t>
            </a:r>
            <a:r>
              <a:rPr sz="2100" spc="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words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to</a:t>
            </a:r>
            <a:r>
              <a:rPr sz="2100" spc="10" dirty="0">
                <a:latin typeface="Calibri"/>
                <a:cs typeface="Calibri"/>
              </a:rPr>
              <a:t> the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left)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are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not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as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good</a:t>
            </a:r>
            <a:endParaRPr sz="2100">
              <a:latin typeface="Calibri"/>
              <a:cs typeface="Calibri"/>
            </a:endParaRPr>
          </a:p>
          <a:p>
            <a:pPr marL="378460" indent="-365760">
              <a:lnSpc>
                <a:spcPct val="100000"/>
              </a:lnSpc>
              <a:spcBef>
                <a:spcPts val="575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100" spc="10" dirty="0">
                <a:latin typeface="Calibri"/>
                <a:cs typeface="Calibri"/>
              </a:rPr>
              <a:t>But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this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might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be</a:t>
            </a:r>
            <a:r>
              <a:rPr sz="2100" spc="2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different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for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downstream</a:t>
            </a:r>
            <a:r>
              <a:rPr sz="2100" spc="3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tasks!</a:t>
            </a:r>
            <a:endParaRPr sz="2100">
              <a:latin typeface="Calibri"/>
              <a:cs typeface="Calibri"/>
            </a:endParaRPr>
          </a:p>
          <a:p>
            <a:pPr marL="378460" indent="-365760">
              <a:lnSpc>
                <a:spcPct val="100000"/>
              </a:lnSpc>
              <a:spcBef>
                <a:spcPts val="580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100" spc="10" dirty="0">
                <a:latin typeface="Calibri"/>
                <a:cs typeface="Calibri"/>
              </a:rPr>
              <a:t>Window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size</a:t>
            </a:r>
            <a:r>
              <a:rPr sz="2100" spc="25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of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8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around</a:t>
            </a:r>
            <a:r>
              <a:rPr sz="2100" spc="2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each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center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word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is</a:t>
            </a:r>
            <a:r>
              <a:rPr sz="2100" spc="25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good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for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Glove</a:t>
            </a:r>
            <a:r>
              <a:rPr sz="2100" spc="2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vectors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97344" y="4028759"/>
            <a:ext cx="83185" cy="1504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00" spc="5" dirty="0">
                <a:solidFill>
                  <a:srgbClr val="231F20"/>
                </a:solidFill>
                <a:latin typeface="Arial MT"/>
                <a:cs typeface="Arial MT"/>
              </a:rPr>
              <a:t>0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77110" y="4028759"/>
            <a:ext cx="198755" cy="1504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00" dirty="0">
                <a:solidFill>
                  <a:srgbClr val="231F20"/>
                </a:solidFill>
                <a:latin typeface="Arial MT"/>
                <a:cs typeface="Arial MT"/>
              </a:rPr>
              <a:t>100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67362" y="4028759"/>
            <a:ext cx="198755" cy="1504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00" dirty="0">
                <a:solidFill>
                  <a:srgbClr val="231F20"/>
                </a:solidFill>
                <a:latin typeface="Arial MT"/>
                <a:cs typeface="Arial MT"/>
              </a:rPr>
              <a:t>600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95809" y="3956089"/>
            <a:ext cx="140970" cy="1504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00" dirty="0">
                <a:solidFill>
                  <a:srgbClr val="231F20"/>
                </a:solidFill>
                <a:latin typeface="Arial MT"/>
                <a:cs typeface="Arial MT"/>
              </a:rPr>
              <a:t>20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5809" y="3630839"/>
            <a:ext cx="140970" cy="1504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00" dirty="0">
                <a:solidFill>
                  <a:srgbClr val="231F20"/>
                </a:solidFill>
                <a:latin typeface="Arial MT"/>
                <a:cs typeface="Arial MT"/>
              </a:rPr>
              <a:t>30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95809" y="3306004"/>
            <a:ext cx="140970" cy="1504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00" dirty="0">
                <a:solidFill>
                  <a:srgbClr val="231F20"/>
                </a:solidFill>
                <a:latin typeface="Arial MT"/>
                <a:cs typeface="Arial MT"/>
              </a:rPr>
              <a:t>40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5809" y="2981169"/>
            <a:ext cx="140970" cy="1504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00" dirty="0">
                <a:solidFill>
                  <a:srgbClr val="231F20"/>
                </a:solidFill>
                <a:latin typeface="Arial MT"/>
                <a:cs typeface="Arial MT"/>
              </a:rPr>
              <a:t>50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5809" y="2656334"/>
            <a:ext cx="140970" cy="1504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00" dirty="0">
                <a:solidFill>
                  <a:srgbClr val="231F20"/>
                </a:solidFill>
                <a:latin typeface="Arial MT"/>
                <a:cs typeface="Arial MT"/>
              </a:rPr>
              <a:t>60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95809" y="2331498"/>
            <a:ext cx="140970" cy="1504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00" dirty="0">
                <a:solidFill>
                  <a:srgbClr val="231F20"/>
                </a:solidFill>
                <a:latin typeface="Arial MT"/>
                <a:cs typeface="Arial MT"/>
              </a:rPr>
              <a:t>70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95809" y="2006664"/>
            <a:ext cx="140970" cy="1504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00" dirty="0">
                <a:solidFill>
                  <a:srgbClr val="231F20"/>
                </a:solidFill>
                <a:latin typeface="Arial MT"/>
                <a:cs typeface="Arial MT"/>
              </a:rPr>
              <a:t>80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801627" y="2054583"/>
            <a:ext cx="2617470" cy="1868805"/>
            <a:chOff x="801627" y="2054583"/>
            <a:chExt cx="2617470" cy="1868805"/>
          </a:xfrm>
        </p:grpSpPr>
        <p:sp>
          <p:nvSpPr>
            <p:cNvPr id="15" name="object 15"/>
            <p:cNvSpPr/>
            <p:nvPr/>
          </p:nvSpPr>
          <p:spPr>
            <a:xfrm>
              <a:off x="848034" y="2106181"/>
              <a:ext cx="2519045" cy="1784350"/>
            </a:xfrm>
            <a:custGeom>
              <a:avLst/>
              <a:gdLst/>
              <a:ahLst/>
              <a:cxnLst/>
              <a:rect l="l" t="t" r="r" b="b"/>
              <a:pathLst>
                <a:path w="2519045" h="1784350">
                  <a:moveTo>
                    <a:pt x="0" y="1783877"/>
                  </a:moveTo>
                  <a:lnTo>
                    <a:pt x="109445" y="1003105"/>
                  </a:lnTo>
                  <a:lnTo>
                    <a:pt x="328325" y="472355"/>
                  </a:lnTo>
                  <a:lnTo>
                    <a:pt x="766525" y="168698"/>
                  </a:lnTo>
                  <a:lnTo>
                    <a:pt x="1204290" y="73967"/>
                  </a:lnTo>
                  <a:lnTo>
                    <a:pt x="2518457" y="0"/>
                  </a:lnTo>
                </a:path>
              </a:pathLst>
            </a:custGeom>
            <a:ln w="25953">
              <a:solidFill>
                <a:srgbClr val="1B9E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30300" y="2085860"/>
              <a:ext cx="2553970" cy="1814830"/>
            </a:xfrm>
            <a:custGeom>
              <a:avLst/>
              <a:gdLst/>
              <a:ahLst/>
              <a:cxnLst/>
              <a:rect l="l" t="t" r="r" b="b"/>
              <a:pathLst>
                <a:path w="2553970" h="1814829">
                  <a:moveTo>
                    <a:pt x="35458" y="1814588"/>
                  </a:moveTo>
                  <a:lnTo>
                    <a:pt x="17729" y="1783880"/>
                  </a:lnTo>
                  <a:lnTo>
                    <a:pt x="0" y="1814588"/>
                  </a:lnTo>
                  <a:lnTo>
                    <a:pt x="35458" y="1814588"/>
                  </a:lnTo>
                  <a:close/>
                </a:path>
                <a:path w="2553970" h="1814829">
                  <a:moveTo>
                    <a:pt x="2553919" y="30708"/>
                  </a:moveTo>
                  <a:lnTo>
                    <a:pt x="2536190" y="0"/>
                  </a:lnTo>
                  <a:lnTo>
                    <a:pt x="2518448" y="30708"/>
                  </a:lnTo>
                  <a:lnTo>
                    <a:pt x="2553919" y="3070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011230" y="2143088"/>
              <a:ext cx="73025" cy="63500"/>
            </a:xfrm>
            <a:custGeom>
              <a:avLst/>
              <a:gdLst/>
              <a:ahLst/>
              <a:cxnLst/>
              <a:rect l="l" t="t" r="r" b="b"/>
              <a:pathLst>
                <a:path w="73025" h="63500">
                  <a:moveTo>
                    <a:pt x="0" y="62916"/>
                  </a:moveTo>
                  <a:lnTo>
                    <a:pt x="72672" y="62916"/>
                  </a:lnTo>
                  <a:lnTo>
                    <a:pt x="36331" y="0"/>
                  </a:lnTo>
                  <a:lnTo>
                    <a:pt x="0" y="62916"/>
                  </a:lnTo>
                  <a:close/>
                </a:path>
              </a:pathLst>
            </a:custGeom>
            <a:ln w="18167">
              <a:solidFill>
                <a:srgbClr val="1B9E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131713" y="2536684"/>
              <a:ext cx="73025" cy="63500"/>
            </a:xfrm>
            <a:custGeom>
              <a:avLst/>
              <a:gdLst/>
              <a:ahLst/>
              <a:cxnLst/>
              <a:rect l="l" t="t" r="r" b="b"/>
              <a:pathLst>
                <a:path w="73025" h="63500">
                  <a:moveTo>
                    <a:pt x="0" y="62916"/>
                  </a:moveTo>
                  <a:lnTo>
                    <a:pt x="72672" y="62916"/>
                  </a:lnTo>
                  <a:lnTo>
                    <a:pt x="36331" y="0"/>
                  </a:lnTo>
                  <a:lnTo>
                    <a:pt x="0" y="62916"/>
                  </a:lnTo>
                  <a:close/>
                </a:path>
              </a:pathLst>
            </a:custGeom>
            <a:ln w="18167">
              <a:solidFill>
                <a:srgbClr val="1B9E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571439" y="2248614"/>
              <a:ext cx="73025" cy="63500"/>
            </a:xfrm>
            <a:custGeom>
              <a:avLst/>
              <a:gdLst/>
              <a:ahLst/>
              <a:cxnLst/>
              <a:rect l="l" t="t" r="r" b="b"/>
              <a:pathLst>
                <a:path w="73025" h="63500">
                  <a:moveTo>
                    <a:pt x="0" y="62916"/>
                  </a:moveTo>
                  <a:lnTo>
                    <a:pt x="72672" y="62916"/>
                  </a:lnTo>
                  <a:lnTo>
                    <a:pt x="36331" y="0"/>
                  </a:lnTo>
                  <a:lnTo>
                    <a:pt x="0" y="62916"/>
                  </a:lnTo>
                  <a:close/>
                </a:path>
              </a:pathLst>
            </a:custGeom>
            <a:ln w="18167">
              <a:solidFill>
                <a:srgbClr val="1B9E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923602" y="3059544"/>
              <a:ext cx="73025" cy="63500"/>
            </a:xfrm>
            <a:custGeom>
              <a:avLst/>
              <a:gdLst/>
              <a:ahLst/>
              <a:cxnLst/>
              <a:rect l="l" t="t" r="r" b="b"/>
              <a:pathLst>
                <a:path w="73025" h="63500">
                  <a:moveTo>
                    <a:pt x="0" y="62916"/>
                  </a:moveTo>
                  <a:lnTo>
                    <a:pt x="72672" y="62916"/>
                  </a:lnTo>
                  <a:lnTo>
                    <a:pt x="36331" y="0"/>
                  </a:lnTo>
                  <a:lnTo>
                    <a:pt x="0" y="62916"/>
                  </a:lnTo>
                  <a:close/>
                </a:path>
              </a:pathLst>
            </a:custGeom>
            <a:ln w="18167">
              <a:solidFill>
                <a:srgbClr val="1B9E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10834" y="3851248"/>
              <a:ext cx="73025" cy="63500"/>
            </a:xfrm>
            <a:custGeom>
              <a:avLst/>
              <a:gdLst/>
              <a:ahLst/>
              <a:cxnLst/>
              <a:rect l="l" t="t" r="r" b="b"/>
              <a:pathLst>
                <a:path w="73025" h="63500">
                  <a:moveTo>
                    <a:pt x="36331" y="0"/>
                  </a:moveTo>
                  <a:lnTo>
                    <a:pt x="0" y="62915"/>
                  </a:lnTo>
                  <a:lnTo>
                    <a:pt x="72672" y="62915"/>
                  </a:lnTo>
                  <a:lnTo>
                    <a:pt x="3633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10834" y="3851247"/>
              <a:ext cx="73025" cy="63500"/>
            </a:xfrm>
            <a:custGeom>
              <a:avLst/>
              <a:gdLst/>
              <a:ahLst/>
              <a:cxnLst/>
              <a:rect l="l" t="t" r="r" b="b"/>
              <a:pathLst>
                <a:path w="73025" h="63500">
                  <a:moveTo>
                    <a:pt x="0" y="62916"/>
                  </a:moveTo>
                  <a:lnTo>
                    <a:pt x="72672" y="62916"/>
                  </a:lnTo>
                  <a:lnTo>
                    <a:pt x="36331" y="0"/>
                  </a:lnTo>
                  <a:lnTo>
                    <a:pt x="0" y="62916"/>
                  </a:lnTo>
                  <a:close/>
                </a:path>
              </a:pathLst>
            </a:custGeom>
            <a:ln w="18167">
              <a:solidFill>
                <a:srgbClr val="1B9E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336644" y="2063791"/>
              <a:ext cx="73025" cy="63500"/>
            </a:xfrm>
            <a:custGeom>
              <a:avLst/>
              <a:gdLst/>
              <a:ahLst/>
              <a:cxnLst/>
              <a:rect l="l" t="t" r="r" b="b"/>
              <a:pathLst>
                <a:path w="73025" h="63500">
                  <a:moveTo>
                    <a:pt x="36332" y="0"/>
                  </a:moveTo>
                  <a:lnTo>
                    <a:pt x="0" y="62915"/>
                  </a:lnTo>
                  <a:lnTo>
                    <a:pt x="72671" y="62915"/>
                  </a:lnTo>
                  <a:lnTo>
                    <a:pt x="3633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336644" y="2063791"/>
              <a:ext cx="73025" cy="63500"/>
            </a:xfrm>
            <a:custGeom>
              <a:avLst/>
              <a:gdLst/>
              <a:ahLst/>
              <a:cxnLst/>
              <a:rect l="l" t="t" r="r" b="b"/>
              <a:pathLst>
                <a:path w="73025" h="63500">
                  <a:moveTo>
                    <a:pt x="0" y="62916"/>
                  </a:moveTo>
                  <a:lnTo>
                    <a:pt x="72672" y="62916"/>
                  </a:lnTo>
                  <a:lnTo>
                    <a:pt x="36331" y="0"/>
                  </a:lnTo>
                  <a:lnTo>
                    <a:pt x="0" y="62916"/>
                  </a:lnTo>
                  <a:close/>
                </a:path>
              </a:pathLst>
            </a:custGeom>
            <a:ln w="18167">
              <a:solidFill>
                <a:srgbClr val="1B9E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48034" y="2501544"/>
              <a:ext cx="2519045" cy="1297305"/>
            </a:xfrm>
            <a:custGeom>
              <a:avLst/>
              <a:gdLst/>
              <a:ahLst/>
              <a:cxnLst/>
              <a:rect l="l" t="t" r="r" b="b"/>
              <a:pathLst>
                <a:path w="2519045" h="1297304">
                  <a:moveTo>
                    <a:pt x="0" y="1296812"/>
                  </a:moveTo>
                  <a:lnTo>
                    <a:pt x="109445" y="740974"/>
                  </a:lnTo>
                  <a:lnTo>
                    <a:pt x="328325" y="304954"/>
                  </a:lnTo>
                  <a:lnTo>
                    <a:pt x="766525" y="32872"/>
                  </a:lnTo>
                  <a:lnTo>
                    <a:pt x="1204290" y="0"/>
                  </a:lnTo>
                  <a:lnTo>
                    <a:pt x="2518457" y="430"/>
                  </a:lnTo>
                </a:path>
              </a:pathLst>
            </a:custGeom>
            <a:ln w="25953">
              <a:solidFill>
                <a:srgbClr val="7671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026560" y="2474001"/>
              <a:ext cx="52705" cy="52705"/>
            </a:xfrm>
            <a:custGeom>
              <a:avLst/>
              <a:gdLst/>
              <a:ahLst/>
              <a:cxnLst/>
              <a:rect l="l" t="t" r="r" b="b"/>
              <a:pathLst>
                <a:path w="52705" h="52705">
                  <a:moveTo>
                    <a:pt x="491" y="0"/>
                  </a:moveTo>
                  <a:lnTo>
                    <a:pt x="0" y="51902"/>
                  </a:lnTo>
                  <a:lnTo>
                    <a:pt x="51908" y="52395"/>
                  </a:lnTo>
                  <a:lnTo>
                    <a:pt x="52396" y="494"/>
                  </a:lnTo>
                  <a:lnTo>
                    <a:pt x="49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026560" y="2474002"/>
              <a:ext cx="52705" cy="52705"/>
            </a:xfrm>
            <a:custGeom>
              <a:avLst/>
              <a:gdLst/>
              <a:ahLst/>
              <a:cxnLst/>
              <a:rect l="l" t="t" r="r" b="b"/>
              <a:pathLst>
                <a:path w="52705" h="52705">
                  <a:moveTo>
                    <a:pt x="0" y="51901"/>
                  </a:moveTo>
                  <a:lnTo>
                    <a:pt x="51909" y="52395"/>
                  </a:lnTo>
                  <a:lnTo>
                    <a:pt x="52397" y="493"/>
                  </a:lnTo>
                  <a:lnTo>
                    <a:pt x="493" y="0"/>
                  </a:lnTo>
                  <a:lnTo>
                    <a:pt x="0" y="51901"/>
                  </a:lnTo>
                  <a:close/>
                </a:path>
              </a:pathLst>
            </a:custGeom>
            <a:ln w="20763">
              <a:solidFill>
                <a:srgbClr val="7671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88791" y="2510489"/>
              <a:ext cx="52705" cy="52705"/>
            </a:xfrm>
            <a:custGeom>
              <a:avLst/>
              <a:gdLst/>
              <a:ahLst/>
              <a:cxnLst/>
              <a:rect l="l" t="t" r="r" b="b"/>
              <a:pathLst>
                <a:path w="52705" h="52705">
                  <a:moveTo>
                    <a:pt x="0" y="51901"/>
                  </a:moveTo>
                  <a:lnTo>
                    <a:pt x="51909" y="52395"/>
                  </a:lnTo>
                  <a:lnTo>
                    <a:pt x="52397" y="493"/>
                  </a:lnTo>
                  <a:lnTo>
                    <a:pt x="493" y="0"/>
                  </a:lnTo>
                  <a:lnTo>
                    <a:pt x="0" y="51901"/>
                  </a:lnTo>
                  <a:close/>
                </a:path>
              </a:pathLst>
            </a:custGeom>
            <a:ln w="20763">
              <a:solidFill>
                <a:srgbClr val="7671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154053" y="2788192"/>
              <a:ext cx="52705" cy="52705"/>
            </a:xfrm>
            <a:custGeom>
              <a:avLst/>
              <a:gdLst/>
              <a:ahLst/>
              <a:cxnLst/>
              <a:rect l="l" t="t" r="r" b="b"/>
              <a:pathLst>
                <a:path w="52705" h="52705">
                  <a:moveTo>
                    <a:pt x="0" y="51901"/>
                  </a:moveTo>
                  <a:lnTo>
                    <a:pt x="51909" y="52395"/>
                  </a:lnTo>
                  <a:lnTo>
                    <a:pt x="52397" y="493"/>
                  </a:lnTo>
                  <a:lnTo>
                    <a:pt x="493" y="0"/>
                  </a:lnTo>
                  <a:lnTo>
                    <a:pt x="0" y="51901"/>
                  </a:lnTo>
                  <a:close/>
                </a:path>
              </a:pathLst>
            </a:custGeom>
            <a:ln w="20763">
              <a:solidFill>
                <a:srgbClr val="7671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936035" y="3204747"/>
              <a:ext cx="52705" cy="52705"/>
            </a:xfrm>
            <a:custGeom>
              <a:avLst/>
              <a:gdLst/>
              <a:ahLst/>
              <a:cxnLst/>
              <a:rect l="l" t="t" r="r" b="b"/>
              <a:pathLst>
                <a:path w="52705" h="52704">
                  <a:moveTo>
                    <a:pt x="0" y="51901"/>
                  </a:moveTo>
                  <a:lnTo>
                    <a:pt x="51909" y="52395"/>
                  </a:lnTo>
                  <a:lnTo>
                    <a:pt x="52397" y="493"/>
                  </a:lnTo>
                  <a:lnTo>
                    <a:pt x="493" y="0"/>
                  </a:lnTo>
                  <a:lnTo>
                    <a:pt x="0" y="51901"/>
                  </a:lnTo>
                  <a:close/>
                </a:path>
              </a:pathLst>
            </a:custGeom>
            <a:ln w="20763">
              <a:solidFill>
                <a:srgbClr val="7671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20537" y="3775810"/>
              <a:ext cx="52705" cy="52705"/>
            </a:xfrm>
            <a:custGeom>
              <a:avLst/>
              <a:gdLst/>
              <a:ahLst/>
              <a:cxnLst/>
              <a:rect l="l" t="t" r="r" b="b"/>
              <a:pathLst>
                <a:path w="52705" h="52704">
                  <a:moveTo>
                    <a:pt x="493" y="0"/>
                  </a:moveTo>
                  <a:lnTo>
                    <a:pt x="0" y="51901"/>
                  </a:lnTo>
                  <a:lnTo>
                    <a:pt x="51909" y="52392"/>
                  </a:lnTo>
                  <a:lnTo>
                    <a:pt x="52397" y="492"/>
                  </a:lnTo>
                  <a:lnTo>
                    <a:pt x="49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820537" y="3775809"/>
              <a:ext cx="52705" cy="52705"/>
            </a:xfrm>
            <a:custGeom>
              <a:avLst/>
              <a:gdLst/>
              <a:ahLst/>
              <a:cxnLst/>
              <a:rect l="l" t="t" r="r" b="b"/>
              <a:pathLst>
                <a:path w="52705" h="52704">
                  <a:moveTo>
                    <a:pt x="0" y="51901"/>
                  </a:moveTo>
                  <a:lnTo>
                    <a:pt x="51909" y="52395"/>
                  </a:lnTo>
                  <a:lnTo>
                    <a:pt x="52397" y="493"/>
                  </a:lnTo>
                  <a:lnTo>
                    <a:pt x="493" y="0"/>
                  </a:lnTo>
                  <a:lnTo>
                    <a:pt x="0" y="51901"/>
                  </a:lnTo>
                  <a:close/>
                </a:path>
              </a:pathLst>
            </a:custGeom>
            <a:ln w="20763">
              <a:solidFill>
                <a:srgbClr val="7671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340722" y="2475450"/>
              <a:ext cx="52705" cy="52705"/>
            </a:xfrm>
            <a:custGeom>
              <a:avLst/>
              <a:gdLst/>
              <a:ahLst/>
              <a:cxnLst/>
              <a:rect l="l" t="t" r="r" b="b"/>
              <a:pathLst>
                <a:path w="52704" h="52705">
                  <a:moveTo>
                    <a:pt x="494" y="0"/>
                  </a:moveTo>
                  <a:lnTo>
                    <a:pt x="0" y="51903"/>
                  </a:lnTo>
                  <a:lnTo>
                    <a:pt x="51908" y="52395"/>
                  </a:lnTo>
                  <a:lnTo>
                    <a:pt x="52396" y="494"/>
                  </a:lnTo>
                  <a:lnTo>
                    <a:pt x="49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340722" y="2475452"/>
              <a:ext cx="52705" cy="52705"/>
            </a:xfrm>
            <a:custGeom>
              <a:avLst/>
              <a:gdLst/>
              <a:ahLst/>
              <a:cxnLst/>
              <a:rect l="l" t="t" r="r" b="b"/>
              <a:pathLst>
                <a:path w="52704" h="52705">
                  <a:moveTo>
                    <a:pt x="0" y="51901"/>
                  </a:moveTo>
                  <a:lnTo>
                    <a:pt x="51909" y="52395"/>
                  </a:lnTo>
                  <a:lnTo>
                    <a:pt x="52397" y="493"/>
                  </a:lnTo>
                  <a:lnTo>
                    <a:pt x="493" y="0"/>
                  </a:lnTo>
                  <a:lnTo>
                    <a:pt x="0" y="51901"/>
                  </a:lnTo>
                  <a:close/>
                </a:path>
              </a:pathLst>
            </a:custGeom>
            <a:ln w="20763">
              <a:solidFill>
                <a:srgbClr val="7671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48034" y="2322465"/>
              <a:ext cx="2519045" cy="1517650"/>
            </a:xfrm>
            <a:custGeom>
              <a:avLst/>
              <a:gdLst/>
              <a:ahLst/>
              <a:cxnLst/>
              <a:rect l="l" t="t" r="r" b="b"/>
              <a:pathLst>
                <a:path w="2519045" h="1517650">
                  <a:moveTo>
                    <a:pt x="0" y="1517417"/>
                  </a:moveTo>
                  <a:lnTo>
                    <a:pt x="109445" y="859494"/>
                  </a:lnTo>
                  <a:lnTo>
                    <a:pt x="328325" y="380650"/>
                  </a:lnTo>
                  <a:lnTo>
                    <a:pt x="766525" y="93863"/>
                  </a:lnTo>
                  <a:lnTo>
                    <a:pt x="1204290" y="33308"/>
                  </a:lnTo>
                  <a:lnTo>
                    <a:pt x="2518457" y="0"/>
                  </a:lnTo>
                </a:path>
              </a:pathLst>
            </a:custGeom>
            <a:ln w="25953">
              <a:solidFill>
                <a:srgbClr val="D7612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32459" y="2306891"/>
              <a:ext cx="2550160" cy="1548765"/>
            </a:xfrm>
            <a:custGeom>
              <a:avLst/>
              <a:gdLst/>
              <a:ahLst/>
              <a:cxnLst/>
              <a:rect l="l" t="t" r="r" b="b"/>
              <a:pathLst>
                <a:path w="2550160" h="1548764">
                  <a:moveTo>
                    <a:pt x="31140" y="1524393"/>
                  </a:moveTo>
                  <a:lnTo>
                    <a:pt x="24168" y="1517421"/>
                  </a:lnTo>
                  <a:lnTo>
                    <a:pt x="6972" y="1517421"/>
                  </a:lnTo>
                  <a:lnTo>
                    <a:pt x="0" y="1524393"/>
                  </a:lnTo>
                  <a:lnTo>
                    <a:pt x="0" y="1541602"/>
                  </a:lnTo>
                  <a:lnTo>
                    <a:pt x="6972" y="1548574"/>
                  </a:lnTo>
                  <a:lnTo>
                    <a:pt x="24168" y="1548574"/>
                  </a:lnTo>
                  <a:lnTo>
                    <a:pt x="31140" y="1541602"/>
                  </a:lnTo>
                  <a:lnTo>
                    <a:pt x="31140" y="1532991"/>
                  </a:lnTo>
                  <a:lnTo>
                    <a:pt x="31140" y="1524393"/>
                  </a:lnTo>
                  <a:close/>
                </a:path>
                <a:path w="2550160" h="1548764">
                  <a:moveTo>
                    <a:pt x="2549601" y="6972"/>
                  </a:moveTo>
                  <a:lnTo>
                    <a:pt x="2542629" y="0"/>
                  </a:lnTo>
                  <a:lnTo>
                    <a:pt x="2525420" y="0"/>
                  </a:lnTo>
                  <a:lnTo>
                    <a:pt x="2518448" y="6972"/>
                  </a:lnTo>
                  <a:lnTo>
                    <a:pt x="2518448" y="24180"/>
                  </a:lnTo>
                  <a:lnTo>
                    <a:pt x="2525420" y="31153"/>
                  </a:lnTo>
                  <a:lnTo>
                    <a:pt x="2542629" y="31153"/>
                  </a:lnTo>
                  <a:lnTo>
                    <a:pt x="2549601" y="24180"/>
                  </a:lnTo>
                  <a:lnTo>
                    <a:pt x="2549601" y="15582"/>
                  </a:lnTo>
                  <a:lnTo>
                    <a:pt x="2549601" y="697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15123" y="2315975"/>
              <a:ext cx="75267" cy="75265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79087" y="2378263"/>
              <a:ext cx="75267" cy="75265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37860" y="2663753"/>
              <a:ext cx="75267" cy="75265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25032" y="3141080"/>
              <a:ext cx="75267" cy="75265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822512" y="381263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28550" y="0"/>
                  </a:moveTo>
                  <a:lnTo>
                    <a:pt x="17440" y="2243"/>
                  </a:lnTo>
                  <a:lnTo>
                    <a:pt x="8365" y="8360"/>
                  </a:lnTo>
                  <a:lnTo>
                    <a:pt x="2244" y="17435"/>
                  </a:lnTo>
                  <a:lnTo>
                    <a:pt x="0" y="28548"/>
                  </a:lnTo>
                  <a:lnTo>
                    <a:pt x="2244" y="39658"/>
                  </a:lnTo>
                  <a:lnTo>
                    <a:pt x="8365" y="48733"/>
                  </a:lnTo>
                  <a:lnTo>
                    <a:pt x="17440" y="54853"/>
                  </a:lnTo>
                  <a:lnTo>
                    <a:pt x="28550" y="57097"/>
                  </a:lnTo>
                  <a:lnTo>
                    <a:pt x="39663" y="54853"/>
                  </a:lnTo>
                  <a:lnTo>
                    <a:pt x="48738" y="48733"/>
                  </a:lnTo>
                  <a:lnTo>
                    <a:pt x="54856" y="39658"/>
                  </a:lnTo>
                  <a:lnTo>
                    <a:pt x="57100" y="28548"/>
                  </a:lnTo>
                  <a:lnTo>
                    <a:pt x="54856" y="17435"/>
                  </a:lnTo>
                  <a:lnTo>
                    <a:pt x="48738" y="8360"/>
                  </a:lnTo>
                  <a:lnTo>
                    <a:pt x="39663" y="2243"/>
                  </a:lnTo>
                  <a:lnTo>
                    <a:pt x="285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822512" y="381263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00" y="28548"/>
                  </a:moveTo>
                  <a:lnTo>
                    <a:pt x="54856" y="39658"/>
                  </a:lnTo>
                  <a:lnTo>
                    <a:pt x="48738" y="48733"/>
                  </a:lnTo>
                  <a:lnTo>
                    <a:pt x="39663" y="54853"/>
                  </a:lnTo>
                  <a:lnTo>
                    <a:pt x="28550" y="57097"/>
                  </a:lnTo>
                  <a:lnTo>
                    <a:pt x="17440" y="54853"/>
                  </a:lnTo>
                  <a:lnTo>
                    <a:pt x="8365" y="48733"/>
                  </a:lnTo>
                  <a:lnTo>
                    <a:pt x="2244" y="39658"/>
                  </a:lnTo>
                  <a:lnTo>
                    <a:pt x="0" y="28548"/>
                  </a:lnTo>
                  <a:lnTo>
                    <a:pt x="2244" y="17435"/>
                  </a:lnTo>
                  <a:lnTo>
                    <a:pt x="8365" y="8360"/>
                  </a:lnTo>
                  <a:lnTo>
                    <a:pt x="17440" y="2243"/>
                  </a:lnTo>
                  <a:lnTo>
                    <a:pt x="28550" y="0"/>
                  </a:lnTo>
                  <a:lnTo>
                    <a:pt x="39663" y="2243"/>
                  </a:lnTo>
                  <a:lnTo>
                    <a:pt x="48738" y="8360"/>
                  </a:lnTo>
                  <a:lnTo>
                    <a:pt x="54856" y="17435"/>
                  </a:lnTo>
                  <a:lnTo>
                    <a:pt x="57100" y="28548"/>
                  </a:lnTo>
                </a:path>
              </a:pathLst>
            </a:custGeom>
            <a:ln w="18167">
              <a:solidFill>
                <a:srgbClr val="D7612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338370" y="2293915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28550" y="0"/>
                  </a:moveTo>
                  <a:lnTo>
                    <a:pt x="17440" y="2243"/>
                  </a:lnTo>
                  <a:lnTo>
                    <a:pt x="8365" y="8360"/>
                  </a:lnTo>
                  <a:lnTo>
                    <a:pt x="2244" y="17435"/>
                  </a:lnTo>
                  <a:lnTo>
                    <a:pt x="0" y="28548"/>
                  </a:lnTo>
                  <a:lnTo>
                    <a:pt x="2244" y="39658"/>
                  </a:lnTo>
                  <a:lnTo>
                    <a:pt x="8365" y="48733"/>
                  </a:lnTo>
                  <a:lnTo>
                    <a:pt x="17440" y="54853"/>
                  </a:lnTo>
                  <a:lnTo>
                    <a:pt x="28550" y="57097"/>
                  </a:lnTo>
                  <a:lnTo>
                    <a:pt x="39663" y="54853"/>
                  </a:lnTo>
                  <a:lnTo>
                    <a:pt x="48738" y="48733"/>
                  </a:lnTo>
                  <a:lnTo>
                    <a:pt x="54856" y="39658"/>
                  </a:lnTo>
                  <a:lnTo>
                    <a:pt x="57100" y="28548"/>
                  </a:lnTo>
                  <a:lnTo>
                    <a:pt x="54856" y="17435"/>
                  </a:lnTo>
                  <a:lnTo>
                    <a:pt x="48738" y="8360"/>
                  </a:lnTo>
                  <a:lnTo>
                    <a:pt x="39663" y="2243"/>
                  </a:lnTo>
                  <a:lnTo>
                    <a:pt x="285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338370" y="2293915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00" y="28548"/>
                  </a:moveTo>
                  <a:lnTo>
                    <a:pt x="54856" y="39658"/>
                  </a:lnTo>
                  <a:lnTo>
                    <a:pt x="48738" y="48733"/>
                  </a:lnTo>
                  <a:lnTo>
                    <a:pt x="39663" y="54853"/>
                  </a:lnTo>
                  <a:lnTo>
                    <a:pt x="28550" y="57097"/>
                  </a:lnTo>
                  <a:lnTo>
                    <a:pt x="17440" y="54853"/>
                  </a:lnTo>
                  <a:lnTo>
                    <a:pt x="8365" y="48733"/>
                  </a:lnTo>
                  <a:lnTo>
                    <a:pt x="2244" y="39658"/>
                  </a:lnTo>
                  <a:lnTo>
                    <a:pt x="0" y="28548"/>
                  </a:lnTo>
                  <a:lnTo>
                    <a:pt x="2244" y="17435"/>
                  </a:lnTo>
                  <a:lnTo>
                    <a:pt x="8365" y="8360"/>
                  </a:lnTo>
                  <a:lnTo>
                    <a:pt x="17440" y="2243"/>
                  </a:lnTo>
                  <a:lnTo>
                    <a:pt x="28550" y="0"/>
                  </a:lnTo>
                  <a:lnTo>
                    <a:pt x="39663" y="2243"/>
                  </a:lnTo>
                  <a:lnTo>
                    <a:pt x="48738" y="8360"/>
                  </a:lnTo>
                  <a:lnTo>
                    <a:pt x="54856" y="17435"/>
                  </a:lnTo>
                  <a:lnTo>
                    <a:pt x="57100" y="28548"/>
                  </a:lnTo>
                </a:path>
              </a:pathLst>
            </a:custGeom>
            <a:ln w="18167">
              <a:solidFill>
                <a:srgbClr val="D7612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1515327" y="4028759"/>
            <a:ext cx="1512570" cy="25019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ts val="875"/>
              </a:lnSpc>
              <a:spcBef>
                <a:spcPts val="114"/>
              </a:spcBef>
              <a:tabLst>
                <a:tab pos="450215" algn="l"/>
                <a:tab pos="888365" algn="l"/>
                <a:tab pos="1325880" algn="l"/>
              </a:tabLst>
            </a:pPr>
            <a:r>
              <a:rPr sz="800" dirty="0">
                <a:solidFill>
                  <a:srgbClr val="231F20"/>
                </a:solidFill>
                <a:latin typeface="Arial MT"/>
                <a:cs typeface="Arial MT"/>
              </a:rPr>
              <a:t>20</a:t>
            </a:r>
            <a:r>
              <a:rPr sz="800" spc="5" dirty="0">
                <a:solidFill>
                  <a:srgbClr val="231F20"/>
                </a:solidFill>
                <a:latin typeface="Arial MT"/>
                <a:cs typeface="Arial MT"/>
              </a:rPr>
              <a:t>0</a:t>
            </a:r>
            <a:r>
              <a:rPr sz="800" dirty="0">
                <a:solidFill>
                  <a:srgbClr val="231F20"/>
                </a:solidFill>
                <a:latin typeface="Arial MT"/>
                <a:cs typeface="Arial MT"/>
              </a:rPr>
              <a:t>	30</a:t>
            </a:r>
            <a:r>
              <a:rPr sz="800" spc="5" dirty="0">
                <a:solidFill>
                  <a:srgbClr val="231F20"/>
                </a:solidFill>
                <a:latin typeface="Arial MT"/>
                <a:cs typeface="Arial MT"/>
              </a:rPr>
              <a:t>0</a:t>
            </a:r>
            <a:r>
              <a:rPr sz="800" dirty="0">
                <a:solidFill>
                  <a:srgbClr val="231F20"/>
                </a:solidFill>
                <a:latin typeface="Arial MT"/>
                <a:cs typeface="Arial MT"/>
              </a:rPr>
              <a:t>	40</a:t>
            </a:r>
            <a:r>
              <a:rPr sz="800" spc="5" dirty="0">
                <a:solidFill>
                  <a:srgbClr val="231F20"/>
                </a:solidFill>
                <a:latin typeface="Arial MT"/>
                <a:cs typeface="Arial MT"/>
              </a:rPr>
              <a:t>0</a:t>
            </a:r>
            <a:r>
              <a:rPr sz="800" dirty="0">
                <a:solidFill>
                  <a:srgbClr val="231F20"/>
                </a:solidFill>
                <a:latin typeface="Arial MT"/>
                <a:cs typeface="Arial MT"/>
              </a:rPr>
              <a:t>	500</a:t>
            </a:r>
            <a:endParaRPr sz="800">
              <a:latin typeface="Arial MT"/>
              <a:cs typeface="Arial MT"/>
            </a:endParaRPr>
          </a:p>
          <a:p>
            <a:pPr marL="130810">
              <a:lnSpc>
                <a:spcPts val="875"/>
              </a:lnSpc>
            </a:pPr>
            <a:r>
              <a:rPr sz="800" spc="5" dirty="0">
                <a:solidFill>
                  <a:srgbClr val="231F20"/>
                </a:solidFill>
                <a:latin typeface="Arial MT"/>
                <a:cs typeface="Arial MT"/>
              </a:rPr>
              <a:t>Vector</a:t>
            </a:r>
            <a:r>
              <a:rPr sz="800" spc="-1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231F20"/>
                </a:solidFill>
                <a:latin typeface="Arial MT"/>
                <a:cs typeface="Arial MT"/>
              </a:rPr>
              <a:t>Dimension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68594" y="2743371"/>
            <a:ext cx="129539" cy="63182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890"/>
              </a:lnSpc>
            </a:pPr>
            <a:r>
              <a:rPr sz="800" spc="5" dirty="0">
                <a:solidFill>
                  <a:srgbClr val="231F20"/>
                </a:solidFill>
                <a:latin typeface="Arial MT"/>
                <a:cs typeface="Arial MT"/>
              </a:rPr>
              <a:t>Accuracy</a:t>
            </a:r>
            <a:r>
              <a:rPr sz="800" spc="-3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00" spc="5" dirty="0">
                <a:solidFill>
                  <a:srgbClr val="231F20"/>
                </a:solidFill>
                <a:latin typeface="Arial MT"/>
                <a:cs typeface="Arial MT"/>
              </a:rPr>
              <a:t>[%]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2239343" y="3432988"/>
            <a:ext cx="933450" cy="439420"/>
            <a:chOff x="2239343" y="3432988"/>
            <a:chExt cx="933450" cy="439420"/>
          </a:xfrm>
        </p:grpSpPr>
        <p:sp>
          <p:nvSpPr>
            <p:cNvPr id="48" name="object 48"/>
            <p:cNvSpPr/>
            <p:nvPr/>
          </p:nvSpPr>
          <p:spPr>
            <a:xfrm>
              <a:off x="2240930" y="3434575"/>
              <a:ext cx="930275" cy="436245"/>
            </a:xfrm>
            <a:custGeom>
              <a:avLst/>
              <a:gdLst/>
              <a:ahLst/>
              <a:cxnLst/>
              <a:rect l="l" t="t" r="r" b="b"/>
              <a:pathLst>
                <a:path w="930275" h="436245">
                  <a:moveTo>
                    <a:pt x="930033" y="0"/>
                  </a:moveTo>
                  <a:lnTo>
                    <a:pt x="0" y="0"/>
                  </a:lnTo>
                  <a:lnTo>
                    <a:pt x="0" y="436020"/>
                  </a:lnTo>
                  <a:lnTo>
                    <a:pt x="930033" y="436020"/>
                  </a:lnTo>
                  <a:lnTo>
                    <a:pt x="93003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2240931" y="3434576"/>
              <a:ext cx="930275" cy="436245"/>
            </a:xfrm>
            <a:custGeom>
              <a:avLst/>
              <a:gdLst/>
              <a:ahLst/>
              <a:cxnLst/>
              <a:rect l="l" t="t" r="r" b="b"/>
              <a:pathLst>
                <a:path w="930275" h="436245">
                  <a:moveTo>
                    <a:pt x="0" y="0"/>
                  </a:moveTo>
                  <a:lnTo>
                    <a:pt x="930034" y="0"/>
                  </a:lnTo>
                  <a:lnTo>
                    <a:pt x="930034" y="436020"/>
                  </a:lnTo>
                  <a:lnTo>
                    <a:pt x="0" y="43602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2304950" y="3519355"/>
              <a:ext cx="321945" cy="0"/>
            </a:xfrm>
            <a:custGeom>
              <a:avLst/>
              <a:gdLst/>
              <a:ahLst/>
              <a:cxnLst/>
              <a:rect l="l" t="t" r="r" b="b"/>
              <a:pathLst>
                <a:path w="321944">
                  <a:moveTo>
                    <a:pt x="0" y="0"/>
                  </a:moveTo>
                  <a:lnTo>
                    <a:pt x="321405" y="0"/>
                  </a:lnTo>
                </a:path>
              </a:pathLst>
            </a:custGeom>
            <a:ln w="25953">
              <a:solidFill>
                <a:srgbClr val="1B9E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2240930" y="3434575"/>
            <a:ext cx="930275" cy="436245"/>
          </a:xfrm>
          <a:prstGeom prst="rect">
            <a:avLst/>
          </a:prstGeom>
          <a:ln w="3175">
            <a:solidFill>
              <a:srgbClr val="231F20"/>
            </a:solidFill>
          </a:ln>
        </p:spPr>
        <p:txBody>
          <a:bodyPr vert="horz" wrap="square" lIns="0" tIns="20320" rIns="0" bIns="0" rtlCol="0">
            <a:spAutoFit/>
          </a:bodyPr>
          <a:lstStyle/>
          <a:p>
            <a:pPr marR="71755" algn="r">
              <a:lnSpc>
                <a:spcPct val="100000"/>
              </a:lnSpc>
              <a:spcBef>
                <a:spcPts val="160"/>
              </a:spcBef>
            </a:pPr>
            <a:r>
              <a:rPr sz="800" spc="5" dirty="0">
                <a:solidFill>
                  <a:srgbClr val="231F20"/>
                </a:solidFill>
                <a:latin typeface="Arial MT"/>
                <a:cs typeface="Arial MT"/>
              </a:rPr>
              <a:t>Semantic</a:t>
            </a:r>
            <a:endParaRPr sz="800">
              <a:latin typeface="Arial MT"/>
              <a:cs typeface="Arial MT"/>
            </a:endParaRPr>
          </a:p>
          <a:p>
            <a:pPr marR="83185" algn="r">
              <a:lnSpc>
                <a:spcPct val="100000"/>
              </a:lnSpc>
              <a:spcBef>
                <a:spcPts val="90"/>
              </a:spcBef>
              <a:tabLst>
                <a:tab pos="321310" algn="l"/>
              </a:tabLst>
            </a:pPr>
            <a:r>
              <a:rPr sz="800" u="heavy" dirty="0">
                <a:solidFill>
                  <a:srgbClr val="231F20"/>
                </a:solidFill>
                <a:uFill>
                  <a:solidFill>
                    <a:srgbClr val="D76127"/>
                  </a:solidFill>
                </a:uFill>
                <a:latin typeface="Arial MT"/>
                <a:cs typeface="Arial MT"/>
              </a:rPr>
              <a:t> 	</a:t>
            </a:r>
            <a:r>
              <a:rPr sz="800" spc="3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00" spc="5" dirty="0">
                <a:solidFill>
                  <a:srgbClr val="231F20"/>
                </a:solidFill>
                <a:latin typeface="Arial MT"/>
                <a:cs typeface="Arial MT"/>
              </a:rPr>
              <a:t>Syntactic</a:t>
            </a:r>
            <a:endParaRPr sz="800">
              <a:latin typeface="Arial MT"/>
              <a:cs typeface="Arial MT"/>
            </a:endParaRPr>
          </a:p>
          <a:p>
            <a:pPr marL="417830">
              <a:lnSpc>
                <a:spcPct val="100000"/>
              </a:lnSpc>
              <a:spcBef>
                <a:spcPts val="85"/>
              </a:spcBef>
            </a:pPr>
            <a:r>
              <a:rPr sz="800" spc="5" dirty="0">
                <a:solidFill>
                  <a:srgbClr val="231F20"/>
                </a:solidFill>
                <a:latin typeface="Arial MT"/>
                <a:cs typeface="Arial MT"/>
              </a:rPr>
              <a:t>Overall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737296" y="2083255"/>
            <a:ext cx="2630805" cy="1952625"/>
            <a:chOff x="737296" y="2083255"/>
            <a:chExt cx="2630805" cy="1952625"/>
          </a:xfrm>
        </p:grpSpPr>
        <p:sp>
          <p:nvSpPr>
            <p:cNvPr id="53" name="object 53"/>
            <p:cNvSpPr/>
            <p:nvPr/>
          </p:nvSpPr>
          <p:spPr>
            <a:xfrm>
              <a:off x="2304950" y="3657080"/>
              <a:ext cx="321945" cy="0"/>
            </a:xfrm>
            <a:custGeom>
              <a:avLst/>
              <a:gdLst/>
              <a:ahLst/>
              <a:cxnLst/>
              <a:rect l="l" t="t" r="r" b="b"/>
              <a:pathLst>
                <a:path w="321944">
                  <a:moveTo>
                    <a:pt x="0" y="0"/>
                  </a:moveTo>
                  <a:lnTo>
                    <a:pt x="134933" y="0"/>
                  </a:lnTo>
                </a:path>
                <a:path w="321944">
                  <a:moveTo>
                    <a:pt x="187331" y="0"/>
                  </a:moveTo>
                  <a:lnTo>
                    <a:pt x="321405" y="0"/>
                  </a:lnTo>
                </a:path>
              </a:pathLst>
            </a:custGeom>
            <a:ln w="25953">
              <a:solidFill>
                <a:srgbClr val="7671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4" name="object 5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420664" y="3473576"/>
              <a:ext cx="90840" cy="81084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2439884" y="3632981"/>
              <a:ext cx="52705" cy="52705"/>
            </a:xfrm>
            <a:custGeom>
              <a:avLst/>
              <a:gdLst/>
              <a:ahLst/>
              <a:cxnLst/>
              <a:rect l="l" t="t" r="r" b="b"/>
              <a:pathLst>
                <a:path w="52705" h="52704">
                  <a:moveTo>
                    <a:pt x="0" y="51901"/>
                  </a:moveTo>
                  <a:lnTo>
                    <a:pt x="51909" y="52395"/>
                  </a:lnTo>
                  <a:lnTo>
                    <a:pt x="52397" y="493"/>
                  </a:lnTo>
                  <a:lnTo>
                    <a:pt x="493" y="0"/>
                  </a:lnTo>
                  <a:lnTo>
                    <a:pt x="0" y="51901"/>
                  </a:lnTo>
                  <a:close/>
                </a:path>
              </a:pathLst>
            </a:custGeom>
            <a:ln w="20763">
              <a:solidFill>
                <a:srgbClr val="7671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6" name="object 5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428450" y="3754019"/>
              <a:ext cx="75267" cy="75265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3366491" y="2084553"/>
              <a:ext cx="0" cy="1950085"/>
            </a:xfrm>
            <a:custGeom>
              <a:avLst/>
              <a:gdLst/>
              <a:ahLst/>
              <a:cxnLst/>
              <a:rect l="l" t="t" r="r" b="b"/>
              <a:pathLst>
                <a:path h="1950085">
                  <a:moveTo>
                    <a:pt x="0" y="194954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1176359" y="4007718"/>
              <a:ext cx="0" cy="26670"/>
            </a:xfrm>
            <a:custGeom>
              <a:avLst/>
              <a:gdLst/>
              <a:ahLst/>
              <a:cxnLst/>
              <a:rect l="l" t="t" r="r" b="b"/>
              <a:pathLst>
                <a:path h="26670">
                  <a:moveTo>
                    <a:pt x="0" y="2638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1176359" y="2084552"/>
              <a:ext cx="0" cy="26034"/>
            </a:xfrm>
            <a:custGeom>
              <a:avLst/>
              <a:gdLst/>
              <a:ahLst/>
              <a:cxnLst/>
              <a:rect l="l" t="t" r="r" b="b"/>
              <a:pathLst>
                <a:path h="26035">
                  <a:moveTo>
                    <a:pt x="0" y="0"/>
                  </a:moveTo>
                  <a:lnTo>
                    <a:pt x="0" y="25953"/>
                  </a:lnTo>
                </a:path>
              </a:pathLst>
            </a:custGeom>
            <a:ln w="317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1614559" y="4007718"/>
              <a:ext cx="0" cy="26670"/>
            </a:xfrm>
            <a:custGeom>
              <a:avLst/>
              <a:gdLst/>
              <a:ahLst/>
              <a:cxnLst/>
              <a:rect l="l" t="t" r="r" b="b"/>
              <a:pathLst>
                <a:path h="26670">
                  <a:moveTo>
                    <a:pt x="0" y="2638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1614559" y="2084552"/>
              <a:ext cx="0" cy="26034"/>
            </a:xfrm>
            <a:custGeom>
              <a:avLst/>
              <a:gdLst/>
              <a:ahLst/>
              <a:cxnLst/>
              <a:rect l="l" t="t" r="r" b="b"/>
              <a:pathLst>
                <a:path h="26035">
                  <a:moveTo>
                    <a:pt x="0" y="0"/>
                  </a:moveTo>
                  <a:lnTo>
                    <a:pt x="0" y="25953"/>
                  </a:lnTo>
                </a:path>
              </a:pathLst>
            </a:custGeom>
            <a:ln w="317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2052326" y="4007718"/>
              <a:ext cx="0" cy="26670"/>
            </a:xfrm>
            <a:custGeom>
              <a:avLst/>
              <a:gdLst/>
              <a:ahLst/>
              <a:cxnLst/>
              <a:rect l="l" t="t" r="r" b="b"/>
              <a:pathLst>
                <a:path h="26670">
                  <a:moveTo>
                    <a:pt x="0" y="2638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2052326" y="2084552"/>
              <a:ext cx="0" cy="26034"/>
            </a:xfrm>
            <a:custGeom>
              <a:avLst/>
              <a:gdLst/>
              <a:ahLst/>
              <a:cxnLst/>
              <a:rect l="l" t="t" r="r" b="b"/>
              <a:pathLst>
                <a:path h="26035">
                  <a:moveTo>
                    <a:pt x="0" y="0"/>
                  </a:moveTo>
                  <a:lnTo>
                    <a:pt x="0" y="25953"/>
                  </a:lnTo>
                </a:path>
              </a:pathLst>
            </a:custGeom>
            <a:ln w="317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2490525" y="4007718"/>
              <a:ext cx="0" cy="26670"/>
            </a:xfrm>
            <a:custGeom>
              <a:avLst/>
              <a:gdLst/>
              <a:ahLst/>
              <a:cxnLst/>
              <a:rect l="l" t="t" r="r" b="b"/>
              <a:pathLst>
                <a:path h="26670">
                  <a:moveTo>
                    <a:pt x="0" y="2638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2490525" y="2084552"/>
              <a:ext cx="0" cy="26034"/>
            </a:xfrm>
            <a:custGeom>
              <a:avLst/>
              <a:gdLst/>
              <a:ahLst/>
              <a:cxnLst/>
              <a:rect l="l" t="t" r="r" b="b"/>
              <a:pathLst>
                <a:path h="26035">
                  <a:moveTo>
                    <a:pt x="0" y="0"/>
                  </a:moveTo>
                  <a:lnTo>
                    <a:pt x="0" y="25953"/>
                  </a:lnTo>
                </a:path>
              </a:pathLst>
            </a:custGeom>
            <a:ln w="317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2928291" y="4007718"/>
              <a:ext cx="0" cy="26670"/>
            </a:xfrm>
            <a:custGeom>
              <a:avLst/>
              <a:gdLst/>
              <a:ahLst/>
              <a:cxnLst/>
              <a:rect l="l" t="t" r="r" b="b"/>
              <a:pathLst>
                <a:path h="26670">
                  <a:moveTo>
                    <a:pt x="0" y="2638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2928291" y="2084552"/>
              <a:ext cx="0" cy="26034"/>
            </a:xfrm>
            <a:custGeom>
              <a:avLst/>
              <a:gdLst/>
              <a:ahLst/>
              <a:cxnLst/>
              <a:rect l="l" t="t" r="r" b="b"/>
              <a:pathLst>
                <a:path h="26035">
                  <a:moveTo>
                    <a:pt x="0" y="0"/>
                  </a:moveTo>
                  <a:lnTo>
                    <a:pt x="0" y="25953"/>
                  </a:lnTo>
                </a:path>
              </a:pathLst>
            </a:custGeom>
            <a:ln w="317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738594" y="3708816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4">
                  <a:moveTo>
                    <a:pt x="0" y="0"/>
                  </a:moveTo>
                  <a:lnTo>
                    <a:pt x="25954" y="0"/>
                  </a:lnTo>
                </a:path>
              </a:pathLst>
            </a:custGeom>
            <a:ln w="317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3340106" y="3708816"/>
              <a:ext cx="26670" cy="0"/>
            </a:xfrm>
            <a:custGeom>
              <a:avLst/>
              <a:gdLst/>
              <a:ahLst/>
              <a:cxnLst/>
              <a:rect l="l" t="t" r="r" b="b"/>
              <a:pathLst>
                <a:path w="26670">
                  <a:moveTo>
                    <a:pt x="26385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738594" y="3383965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4">
                  <a:moveTo>
                    <a:pt x="0" y="0"/>
                  </a:moveTo>
                  <a:lnTo>
                    <a:pt x="25954" y="0"/>
                  </a:lnTo>
                </a:path>
              </a:pathLst>
            </a:custGeom>
            <a:ln w="317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3340106" y="3383965"/>
              <a:ext cx="26670" cy="0"/>
            </a:xfrm>
            <a:custGeom>
              <a:avLst/>
              <a:gdLst/>
              <a:ahLst/>
              <a:cxnLst/>
              <a:rect l="l" t="t" r="r" b="b"/>
              <a:pathLst>
                <a:path w="26670">
                  <a:moveTo>
                    <a:pt x="26385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738594" y="3059113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4">
                  <a:moveTo>
                    <a:pt x="0" y="0"/>
                  </a:moveTo>
                  <a:lnTo>
                    <a:pt x="25954" y="0"/>
                  </a:lnTo>
                </a:path>
              </a:pathLst>
            </a:custGeom>
            <a:ln w="317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3340106" y="3059113"/>
              <a:ext cx="26670" cy="0"/>
            </a:xfrm>
            <a:custGeom>
              <a:avLst/>
              <a:gdLst/>
              <a:ahLst/>
              <a:cxnLst/>
              <a:rect l="l" t="t" r="r" b="b"/>
              <a:pathLst>
                <a:path w="26670">
                  <a:moveTo>
                    <a:pt x="26385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738594" y="2734260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4">
                  <a:moveTo>
                    <a:pt x="0" y="0"/>
                  </a:moveTo>
                  <a:lnTo>
                    <a:pt x="25954" y="0"/>
                  </a:lnTo>
                </a:path>
              </a:pathLst>
            </a:custGeom>
            <a:ln w="317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3340106" y="2734260"/>
              <a:ext cx="26670" cy="0"/>
            </a:xfrm>
            <a:custGeom>
              <a:avLst/>
              <a:gdLst/>
              <a:ahLst/>
              <a:cxnLst/>
              <a:rect l="l" t="t" r="r" b="b"/>
              <a:pathLst>
                <a:path w="26670">
                  <a:moveTo>
                    <a:pt x="26385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738594" y="2409408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4">
                  <a:moveTo>
                    <a:pt x="0" y="0"/>
                  </a:moveTo>
                  <a:lnTo>
                    <a:pt x="25954" y="0"/>
                  </a:lnTo>
                </a:path>
              </a:pathLst>
            </a:custGeom>
            <a:ln w="317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3340106" y="2409408"/>
              <a:ext cx="26670" cy="0"/>
            </a:xfrm>
            <a:custGeom>
              <a:avLst/>
              <a:gdLst/>
              <a:ahLst/>
              <a:cxnLst/>
              <a:rect l="l" t="t" r="r" b="b"/>
              <a:pathLst>
                <a:path w="26670">
                  <a:moveTo>
                    <a:pt x="26385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738594" y="4034102"/>
              <a:ext cx="2628265" cy="0"/>
            </a:xfrm>
            <a:custGeom>
              <a:avLst/>
              <a:gdLst/>
              <a:ahLst/>
              <a:cxnLst/>
              <a:rect l="l" t="t" r="r" b="b"/>
              <a:pathLst>
                <a:path w="2628265">
                  <a:moveTo>
                    <a:pt x="0" y="0"/>
                  </a:moveTo>
                  <a:lnTo>
                    <a:pt x="2627897" y="0"/>
                  </a:lnTo>
                </a:path>
              </a:pathLst>
            </a:custGeom>
            <a:ln w="317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738594" y="2084552"/>
              <a:ext cx="2628265" cy="0"/>
            </a:xfrm>
            <a:custGeom>
              <a:avLst/>
              <a:gdLst/>
              <a:ahLst/>
              <a:cxnLst/>
              <a:rect l="l" t="t" r="r" b="b"/>
              <a:pathLst>
                <a:path w="2628265">
                  <a:moveTo>
                    <a:pt x="0" y="0"/>
                  </a:moveTo>
                  <a:lnTo>
                    <a:pt x="2627897" y="0"/>
                  </a:lnTo>
                </a:path>
              </a:pathLst>
            </a:custGeom>
            <a:ln w="317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738594" y="2084553"/>
              <a:ext cx="0" cy="1950085"/>
            </a:xfrm>
            <a:custGeom>
              <a:avLst/>
              <a:gdLst/>
              <a:ahLst/>
              <a:cxnLst/>
              <a:rect l="l" t="t" r="r" b="b"/>
              <a:pathLst>
                <a:path h="1950085">
                  <a:moveTo>
                    <a:pt x="0" y="194954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1" name="object 81"/>
          <p:cNvSpPr txBox="1"/>
          <p:nvPr/>
        </p:nvSpPr>
        <p:spPr>
          <a:xfrm>
            <a:off x="1110955" y="4351858"/>
            <a:ext cx="1715770" cy="2489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450" spc="5" dirty="0">
                <a:latin typeface="Times New Roman"/>
                <a:cs typeface="Times New Roman"/>
              </a:rPr>
              <a:t>(a)</a:t>
            </a:r>
            <a:r>
              <a:rPr sz="1450" spc="195" dirty="0">
                <a:latin typeface="Times New Roman"/>
                <a:cs typeface="Times New Roman"/>
              </a:rPr>
              <a:t> </a:t>
            </a:r>
            <a:r>
              <a:rPr sz="1450" spc="5" dirty="0">
                <a:latin typeface="Times New Roman"/>
                <a:cs typeface="Times New Roman"/>
              </a:rPr>
              <a:t>Symmetric</a:t>
            </a:r>
            <a:r>
              <a:rPr sz="1450" spc="-2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context</a:t>
            </a:r>
            <a:endParaRPr sz="1450">
              <a:latin typeface="Times New Roman"/>
              <a:cs typeface="Times New Roman"/>
            </a:endParaRPr>
          </a:p>
        </p:txBody>
      </p:sp>
      <p:grpSp>
        <p:nvGrpSpPr>
          <p:cNvPr id="82" name="object 82"/>
          <p:cNvGrpSpPr/>
          <p:nvPr/>
        </p:nvGrpSpPr>
        <p:grpSpPr>
          <a:xfrm>
            <a:off x="3760398" y="2078206"/>
            <a:ext cx="2748280" cy="1953260"/>
            <a:chOff x="3760398" y="2078206"/>
            <a:chExt cx="2748280" cy="1953260"/>
          </a:xfrm>
        </p:grpSpPr>
        <p:sp>
          <p:nvSpPr>
            <p:cNvPr id="83" name="object 83"/>
            <p:cNvSpPr/>
            <p:nvPr/>
          </p:nvSpPr>
          <p:spPr>
            <a:xfrm>
              <a:off x="3806175" y="2837367"/>
              <a:ext cx="2656840" cy="288290"/>
            </a:xfrm>
            <a:custGeom>
              <a:avLst/>
              <a:gdLst/>
              <a:ahLst/>
              <a:cxnLst/>
              <a:rect l="l" t="t" r="r" b="b"/>
              <a:pathLst>
                <a:path w="2656840" h="288289">
                  <a:moveTo>
                    <a:pt x="0" y="287809"/>
                  </a:moveTo>
                  <a:lnTo>
                    <a:pt x="663880" y="47131"/>
                  </a:lnTo>
                  <a:lnTo>
                    <a:pt x="1328192" y="15712"/>
                  </a:lnTo>
                  <a:lnTo>
                    <a:pt x="1992063" y="0"/>
                  </a:lnTo>
                  <a:lnTo>
                    <a:pt x="2656375" y="39932"/>
                  </a:lnTo>
                </a:path>
              </a:pathLst>
            </a:custGeom>
            <a:ln w="25953">
              <a:solidFill>
                <a:srgbClr val="7570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3779975" y="3094385"/>
              <a:ext cx="52705" cy="52705"/>
            </a:xfrm>
            <a:custGeom>
              <a:avLst/>
              <a:gdLst/>
              <a:ahLst/>
              <a:cxnLst/>
              <a:rect l="l" t="t" r="r" b="b"/>
              <a:pathLst>
                <a:path w="52704" h="52705">
                  <a:moveTo>
                    <a:pt x="494" y="0"/>
                  </a:moveTo>
                  <a:lnTo>
                    <a:pt x="0" y="51901"/>
                  </a:lnTo>
                  <a:lnTo>
                    <a:pt x="51909" y="52395"/>
                  </a:lnTo>
                  <a:lnTo>
                    <a:pt x="52397" y="492"/>
                  </a:lnTo>
                  <a:lnTo>
                    <a:pt x="49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3779975" y="3094384"/>
              <a:ext cx="52705" cy="52705"/>
            </a:xfrm>
            <a:custGeom>
              <a:avLst/>
              <a:gdLst/>
              <a:ahLst/>
              <a:cxnLst/>
              <a:rect l="l" t="t" r="r" b="b"/>
              <a:pathLst>
                <a:path w="52704" h="52705">
                  <a:moveTo>
                    <a:pt x="0" y="51901"/>
                  </a:moveTo>
                  <a:lnTo>
                    <a:pt x="51909" y="52395"/>
                  </a:lnTo>
                  <a:lnTo>
                    <a:pt x="52397" y="493"/>
                  </a:lnTo>
                  <a:lnTo>
                    <a:pt x="493" y="0"/>
                  </a:lnTo>
                  <a:lnTo>
                    <a:pt x="0" y="51901"/>
                  </a:lnTo>
                  <a:close/>
                </a:path>
              </a:pathLst>
            </a:custGeom>
            <a:ln w="20763">
              <a:solidFill>
                <a:srgbClr val="7670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3806175" y="2417757"/>
              <a:ext cx="2656840" cy="941705"/>
            </a:xfrm>
            <a:custGeom>
              <a:avLst/>
              <a:gdLst/>
              <a:ahLst/>
              <a:cxnLst/>
              <a:rect l="l" t="t" r="r" b="b"/>
              <a:pathLst>
                <a:path w="2656840" h="941704">
                  <a:moveTo>
                    <a:pt x="0" y="941118"/>
                  </a:moveTo>
                  <a:lnTo>
                    <a:pt x="663880" y="286942"/>
                  </a:lnTo>
                  <a:lnTo>
                    <a:pt x="1328192" y="160600"/>
                  </a:lnTo>
                  <a:lnTo>
                    <a:pt x="1992063" y="60663"/>
                  </a:lnTo>
                  <a:lnTo>
                    <a:pt x="2656375" y="0"/>
                  </a:lnTo>
                </a:path>
              </a:pathLst>
            </a:custGeom>
            <a:ln w="25953">
              <a:solidFill>
                <a:srgbClr val="1B9E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3788444" y="3348616"/>
              <a:ext cx="35560" cy="15875"/>
            </a:xfrm>
            <a:custGeom>
              <a:avLst/>
              <a:gdLst/>
              <a:ahLst/>
              <a:cxnLst/>
              <a:rect l="l" t="t" r="r" b="b"/>
              <a:pathLst>
                <a:path w="35560" h="15875">
                  <a:moveTo>
                    <a:pt x="17731" y="0"/>
                  </a:moveTo>
                  <a:lnTo>
                    <a:pt x="0" y="15495"/>
                  </a:lnTo>
                  <a:lnTo>
                    <a:pt x="35463" y="15495"/>
                  </a:lnTo>
                  <a:lnTo>
                    <a:pt x="1773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3806175" y="2668692"/>
              <a:ext cx="2656840" cy="562610"/>
            </a:xfrm>
            <a:custGeom>
              <a:avLst/>
              <a:gdLst/>
              <a:ahLst/>
              <a:cxnLst/>
              <a:rect l="l" t="t" r="r" b="b"/>
              <a:pathLst>
                <a:path w="2656840" h="562610">
                  <a:moveTo>
                    <a:pt x="0" y="562533"/>
                  </a:moveTo>
                  <a:lnTo>
                    <a:pt x="663880" y="134413"/>
                  </a:lnTo>
                  <a:lnTo>
                    <a:pt x="1328192" y="59791"/>
                  </a:lnTo>
                  <a:lnTo>
                    <a:pt x="1992063" y="5891"/>
                  </a:lnTo>
                  <a:lnTo>
                    <a:pt x="2656375" y="0"/>
                  </a:lnTo>
                </a:path>
              </a:pathLst>
            </a:custGeom>
            <a:ln w="25953">
              <a:solidFill>
                <a:srgbClr val="D95F0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3790594" y="2634348"/>
              <a:ext cx="2687955" cy="605155"/>
            </a:xfrm>
            <a:custGeom>
              <a:avLst/>
              <a:gdLst/>
              <a:ahLst/>
              <a:cxnLst/>
              <a:rect l="l" t="t" r="r" b="b"/>
              <a:pathLst>
                <a:path w="2687954" h="605155">
                  <a:moveTo>
                    <a:pt x="27889" y="397090"/>
                  </a:moveTo>
                  <a:lnTo>
                    <a:pt x="2794" y="397090"/>
                  </a:lnTo>
                  <a:lnTo>
                    <a:pt x="2794" y="422173"/>
                  </a:lnTo>
                  <a:lnTo>
                    <a:pt x="27889" y="422173"/>
                  </a:lnTo>
                  <a:lnTo>
                    <a:pt x="27889" y="397090"/>
                  </a:lnTo>
                  <a:close/>
                </a:path>
                <a:path w="2687954" h="605155">
                  <a:moveTo>
                    <a:pt x="31140" y="592543"/>
                  </a:moveTo>
                  <a:lnTo>
                    <a:pt x="24168" y="589026"/>
                  </a:lnTo>
                  <a:lnTo>
                    <a:pt x="6972" y="589026"/>
                  </a:lnTo>
                  <a:lnTo>
                    <a:pt x="0" y="592543"/>
                  </a:lnTo>
                  <a:lnTo>
                    <a:pt x="0" y="601218"/>
                  </a:lnTo>
                  <a:lnTo>
                    <a:pt x="6972" y="604735"/>
                  </a:lnTo>
                  <a:lnTo>
                    <a:pt x="24168" y="604735"/>
                  </a:lnTo>
                  <a:lnTo>
                    <a:pt x="31140" y="601218"/>
                  </a:lnTo>
                  <a:lnTo>
                    <a:pt x="31140" y="596887"/>
                  </a:lnTo>
                  <a:lnTo>
                    <a:pt x="31140" y="592543"/>
                  </a:lnTo>
                  <a:close/>
                </a:path>
                <a:path w="2687954" h="605155">
                  <a:moveTo>
                    <a:pt x="1356321" y="0"/>
                  </a:moveTo>
                  <a:lnTo>
                    <a:pt x="1331239" y="0"/>
                  </a:lnTo>
                  <a:lnTo>
                    <a:pt x="1331239" y="25082"/>
                  </a:lnTo>
                  <a:lnTo>
                    <a:pt x="1356321" y="25082"/>
                  </a:lnTo>
                  <a:lnTo>
                    <a:pt x="1356321" y="0"/>
                  </a:lnTo>
                  <a:close/>
                </a:path>
                <a:path w="2687954" h="605155">
                  <a:moveTo>
                    <a:pt x="1370203" y="190792"/>
                  </a:moveTo>
                  <a:lnTo>
                    <a:pt x="1318298" y="190296"/>
                  </a:lnTo>
                  <a:lnTo>
                    <a:pt x="1317802" y="242201"/>
                  </a:lnTo>
                  <a:lnTo>
                    <a:pt x="1369707" y="242697"/>
                  </a:lnTo>
                  <a:lnTo>
                    <a:pt x="1370203" y="190792"/>
                  </a:lnTo>
                  <a:close/>
                </a:path>
                <a:path w="2687954" h="605155">
                  <a:moveTo>
                    <a:pt x="2023211" y="35902"/>
                  </a:moveTo>
                  <a:lnTo>
                    <a:pt x="2016239" y="32385"/>
                  </a:lnTo>
                  <a:lnTo>
                    <a:pt x="1999043" y="32385"/>
                  </a:lnTo>
                  <a:lnTo>
                    <a:pt x="1992071" y="35902"/>
                  </a:lnTo>
                  <a:lnTo>
                    <a:pt x="1992071" y="44577"/>
                  </a:lnTo>
                  <a:lnTo>
                    <a:pt x="1999043" y="48094"/>
                  </a:lnTo>
                  <a:lnTo>
                    <a:pt x="2016239" y="48094"/>
                  </a:lnTo>
                  <a:lnTo>
                    <a:pt x="2023211" y="44577"/>
                  </a:lnTo>
                  <a:lnTo>
                    <a:pt x="2023211" y="40246"/>
                  </a:lnTo>
                  <a:lnTo>
                    <a:pt x="2023211" y="35902"/>
                  </a:lnTo>
                  <a:close/>
                </a:path>
                <a:path w="2687954" h="605155">
                  <a:moveTo>
                    <a:pt x="2687523" y="30010"/>
                  </a:moveTo>
                  <a:lnTo>
                    <a:pt x="2680551" y="26492"/>
                  </a:lnTo>
                  <a:lnTo>
                    <a:pt x="2663355" y="26492"/>
                  </a:lnTo>
                  <a:lnTo>
                    <a:pt x="2656382" y="30010"/>
                  </a:lnTo>
                  <a:lnTo>
                    <a:pt x="2656382" y="38684"/>
                  </a:lnTo>
                  <a:lnTo>
                    <a:pt x="2663355" y="42202"/>
                  </a:lnTo>
                  <a:lnTo>
                    <a:pt x="2680551" y="42202"/>
                  </a:lnTo>
                  <a:lnTo>
                    <a:pt x="2687523" y="38684"/>
                  </a:lnTo>
                  <a:lnTo>
                    <a:pt x="2687523" y="34353"/>
                  </a:lnTo>
                  <a:lnTo>
                    <a:pt x="2687523" y="300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5108400" y="2824637"/>
              <a:ext cx="52705" cy="52705"/>
            </a:xfrm>
            <a:custGeom>
              <a:avLst/>
              <a:gdLst/>
              <a:ahLst/>
              <a:cxnLst/>
              <a:rect l="l" t="t" r="r" b="b"/>
              <a:pathLst>
                <a:path w="52704" h="52705">
                  <a:moveTo>
                    <a:pt x="0" y="51901"/>
                  </a:moveTo>
                  <a:lnTo>
                    <a:pt x="51909" y="52395"/>
                  </a:lnTo>
                  <a:lnTo>
                    <a:pt x="52397" y="493"/>
                  </a:lnTo>
                  <a:lnTo>
                    <a:pt x="493" y="0"/>
                  </a:lnTo>
                  <a:lnTo>
                    <a:pt x="0" y="51901"/>
                  </a:lnTo>
                  <a:close/>
                </a:path>
              </a:pathLst>
            </a:custGeom>
            <a:ln w="20763">
              <a:solidFill>
                <a:srgbClr val="7670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5776513" y="2809066"/>
              <a:ext cx="52705" cy="52705"/>
            </a:xfrm>
            <a:custGeom>
              <a:avLst/>
              <a:gdLst/>
              <a:ahLst/>
              <a:cxnLst/>
              <a:rect l="l" t="t" r="r" b="b"/>
              <a:pathLst>
                <a:path w="52704" h="52705">
                  <a:moveTo>
                    <a:pt x="492" y="0"/>
                  </a:moveTo>
                  <a:lnTo>
                    <a:pt x="0" y="51901"/>
                  </a:lnTo>
                  <a:lnTo>
                    <a:pt x="51909" y="52395"/>
                  </a:lnTo>
                  <a:lnTo>
                    <a:pt x="52397" y="492"/>
                  </a:lnTo>
                  <a:lnTo>
                    <a:pt x="4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5776513" y="2809065"/>
              <a:ext cx="52705" cy="52705"/>
            </a:xfrm>
            <a:custGeom>
              <a:avLst/>
              <a:gdLst/>
              <a:ahLst/>
              <a:cxnLst/>
              <a:rect l="l" t="t" r="r" b="b"/>
              <a:pathLst>
                <a:path w="52704" h="52705">
                  <a:moveTo>
                    <a:pt x="0" y="51901"/>
                  </a:moveTo>
                  <a:lnTo>
                    <a:pt x="51909" y="52395"/>
                  </a:lnTo>
                  <a:lnTo>
                    <a:pt x="52397" y="493"/>
                  </a:lnTo>
                  <a:lnTo>
                    <a:pt x="493" y="0"/>
                  </a:lnTo>
                  <a:lnTo>
                    <a:pt x="0" y="51901"/>
                  </a:lnTo>
                  <a:close/>
                </a:path>
              </a:pathLst>
            </a:custGeom>
            <a:ln w="20763">
              <a:solidFill>
                <a:srgbClr val="7670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6437059" y="2848165"/>
              <a:ext cx="52705" cy="52705"/>
            </a:xfrm>
            <a:custGeom>
              <a:avLst/>
              <a:gdLst/>
              <a:ahLst/>
              <a:cxnLst/>
              <a:rect l="l" t="t" r="r" b="b"/>
              <a:pathLst>
                <a:path w="52704" h="52705">
                  <a:moveTo>
                    <a:pt x="491" y="0"/>
                  </a:moveTo>
                  <a:lnTo>
                    <a:pt x="0" y="51902"/>
                  </a:lnTo>
                  <a:lnTo>
                    <a:pt x="51908" y="52395"/>
                  </a:lnTo>
                  <a:lnTo>
                    <a:pt x="52396" y="494"/>
                  </a:lnTo>
                  <a:lnTo>
                    <a:pt x="49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6437059" y="2848165"/>
              <a:ext cx="52705" cy="52705"/>
            </a:xfrm>
            <a:custGeom>
              <a:avLst/>
              <a:gdLst/>
              <a:ahLst/>
              <a:cxnLst/>
              <a:rect l="l" t="t" r="r" b="b"/>
              <a:pathLst>
                <a:path w="52704" h="52705">
                  <a:moveTo>
                    <a:pt x="0" y="51901"/>
                  </a:moveTo>
                  <a:lnTo>
                    <a:pt x="51909" y="52395"/>
                  </a:lnTo>
                  <a:lnTo>
                    <a:pt x="52397" y="493"/>
                  </a:lnTo>
                  <a:lnTo>
                    <a:pt x="493" y="0"/>
                  </a:lnTo>
                  <a:lnTo>
                    <a:pt x="0" y="51901"/>
                  </a:lnTo>
                  <a:close/>
                </a:path>
              </a:pathLst>
            </a:custGeom>
            <a:ln w="20763">
              <a:solidFill>
                <a:srgbClr val="7670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4447638" y="2861776"/>
              <a:ext cx="52705" cy="52705"/>
            </a:xfrm>
            <a:custGeom>
              <a:avLst/>
              <a:gdLst/>
              <a:ahLst/>
              <a:cxnLst/>
              <a:rect l="l" t="t" r="r" b="b"/>
              <a:pathLst>
                <a:path w="52704" h="52705">
                  <a:moveTo>
                    <a:pt x="0" y="51901"/>
                  </a:moveTo>
                  <a:lnTo>
                    <a:pt x="51909" y="52395"/>
                  </a:lnTo>
                  <a:lnTo>
                    <a:pt x="52397" y="493"/>
                  </a:lnTo>
                  <a:lnTo>
                    <a:pt x="493" y="0"/>
                  </a:lnTo>
                  <a:lnTo>
                    <a:pt x="0" y="51901"/>
                  </a:lnTo>
                  <a:close/>
                </a:path>
              </a:pathLst>
            </a:custGeom>
            <a:ln w="20763">
              <a:solidFill>
                <a:srgbClr val="7670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3790370" y="3332490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>
                  <a:moveTo>
                    <a:pt x="24174" y="0"/>
                  </a:moveTo>
                  <a:lnTo>
                    <a:pt x="6969" y="0"/>
                  </a:lnTo>
                  <a:lnTo>
                    <a:pt x="0" y="6969"/>
                  </a:lnTo>
                  <a:lnTo>
                    <a:pt x="0" y="24174"/>
                  </a:lnTo>
                  <a:lnTo>
                    <a:pt x="6969" y="31144"/>
                  </a:lnTo>
                  <a:lnTo>
                    <a:pt x="24174" y="31144"/>
                  </a:lnTo>
                  <a:lnTo>
                    <a:pt x="31145" y="24174"/>
                  </a:lnTo>
                  <a:lnTo>
                    <a:pt x="31145" y="15571"/>
                  </a:lnTo>
                  <a:lnTo>
                    <a:pt x="31145" y="6969"/>
                  </a:lnTo>
                  <a:lnTo>
                    <a:pt x="241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4442692" y="2773262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28550" y="0"/>
                  </a:moveTo>
                  <a:lnTo>
                    <a:pt x="17440" y="2243"/>
                  </a:lnTo>
                  <a:lnTo>
                    <a:pt x="8365" y="8360"/>
                  </a:lnTo>
                  <a:lnTo>
                    <a:pt x="2244" y="17435"/>
                  </a:lnTo>
                  <a:lnTo>
                    <a:pt x="0" y="28548"/>
                  </a:lnTo>
                  <a:lnTo>
                    <a:pt x="2244" y="39658"/>
                  </a:lnTo>
                  <a:lnTo>
                    <a:pt x="8365" y="48733"/>
                  </a:lnTo>
                  <a:lnTo>
                    <a:pt x="17440" y="54853"/>
                  </a:lnTo>
                  <a:lnTo>
                    <a:pt x="28550" y="57097"/>
                  </a:lnTo>
                  <a:lnTo>
                    <a:pt x="39663" y="54853"/>
                  </a:lnTo>
                  <a:lnTo>
                    <a:pt x="48738" y="48733"/>
                  </a:lnTo>
                  <a:lnTo>
                    <a:pt x="54856" y="39658"/>
                  </a:lnTo>
                  <a:lnTo>
                    <a:pt x="57100" y="28548"/>
                  </a:lnTo>
                  <a:lnTo>
                    <a:pt x="54856" y="17435"/>
                  </a:lnTo>
                  <a:lnTo>
                    <a:pt x="48738" y="8360"/>
                  </a:lnTo>
                  <a:lnTo>
                    <a:pt x="39663" y="2243"/>
                  </a:lnTo>
                  <a:lnTo>
                    <a:pt x="285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4442692" y="2773262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00" y="28548"/>
                  </a:moveTo>
                  <a:lnTo>
                    <a:pt x="54856" y="39658"/>
                  </a:lnTo>
                  <a:lnTo>
                    <a:pt x="48738" y="48733"/>
                  </a:lnTo>
                  <a:lnTo>
                    <a:pt x="39663" y="54853"/>
                  </a:lnTo>
                  <a:lnTo>
                    <a:pt x="28550" y="57097"/>
                  </a:lnTo>
                  <a:lnTo>
                    <a:pt x="17440" y="54853"/>
                  </a:lnTo>
                  <a:lnTo>
                    <a:pt x="8365" y="48733"/>
                  </a:lnTo>
                  <a:lnTo>
                    <a:pt x="2244" y="39658"/>
                  </a:lnTo>
                  <a:lnTo>
                    <a:pt x="0" y="28548"/>
                  </a:lnTo>
                  <a:lnTo>
                    <a:pt x="2244" y="17435"/>
                  </a:lnTo>
                  <a:lnTo>
                    <a:pt x="8365" y="8360"/>
                  </a:lnTo>
                  <a:lnTo>
                    <a:pt x="17440" y="2243"/>
                  </a:lnTo>
                  <a:lnTo>
                    <a:pt x="28550" y="0"/>
                  </a:lnTo>
                  <a:lnTo>
                    <a:pt x="39663" y="2243"/>
                  </a:lnTo>
                  <a:lnTo>
                    <a:pt x="48738" y="8360"/>
                  </a:lnTo>
                  <a:lnTo>
                    <a:pt x="54856" y="17435"/>
                  </a:lnTo>
                  <a:lnTo>
                    <a:pt x="57100" y="28548"/>
                  </a:lnTo>
                </a:path>
              </a:pathLst>
            </a:custGeom>
            <a:ln w="18167">
              <a:solidFill>
                <a:srgbClr val="D6612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9" name="object 9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094586" y="2690211"/>
              <a:ext cx="75267" cy="75265"/>
            </a:xfrm>
            <a:prstGeom prst="rect">
              <a:avLst/>
            </a:prstGeom>
          </p:spPr>
        </p:pic>
        <p:sp>
          <p:nvSpPr>
            <p:cNvPr id="100" name="object 100"/>
            <p:cNvSpPr/>
            <p:nvPr/>
          </p:nvSpPr>
          <p:spPr>
            <a:xfrm>
              <a:off x="5771566" y="2647309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28550" y="0"/>
                  </a:moveTo>
                  <a:lnTo>
                    <a:pt x="17440" y="2243"/>
                  </a:lnTo>
                  <a:lnTo>
                    <a:pt x="8365" y="8360"/>
                  </a:lnTo>
                  <a:lnTo>
                    <a:pt x="2244" y="17435"/>
                  </a:lnTo>
                  <a:lnTo>
                    <a:pt x="0" y="28548"/>
                  </a:lnTo>
                  <a:lnTo>
                    <a:pt x="2244" y="39658"/>
                  </a:lnTo>
                  <a:lnTo>
                    <a:pt x="8365" y="48733"/>
                  </a:lnTo>
                  <a:lnTo>
                    <a:pt x="17440" y="54853"/>
                  </a:lnTo>
                  <a:lnTo>
                    <a:pt x="28550" y="57097"/>
                  </a:lnTo>
                  <a:lnTo>
                    <a:pt x="39663" y="54853"/>
                  </a:lnTo>
                  <a:lnTo>
                    <a:pt x="48738" y="48733"/>
                  </a:lnTo>
                  <a:lnTo>
                    <a:pt x="54856" y="39658"/>
                  </a:lnTo>
                  <a:lnTo>
                    <a:pt x="57100" y="28548"/>
                  </a:lnTo>
                  <a:lnTo>
                    <a:pt x="54856" y="17435"/>
                  </a:lnTo>
                  <a:lnTo>
                    <a:pt x="48738" y="8360"/>
                  </a:lnTo>
                  <a:lnTo>
                    <a:pt x="39663" y="2243"/>
                  </a:lnTo>
                  <a:lnTo>
                    <a:pt x="285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5771566" y="2647309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00" y="28548"/>
                  </a:moveTo>
                  <a:lnTo>
                    <a:pt x="54856" y="39658"/>
                  </a:lnTo>
                  <a:lnTo>
                    <a:pt x="48738" y="48733"/>
                  </a:lnTo>
                  <a:lnTo>
                    <a:pt x="39663" y="54853"/>
                  </a:lnTo>
                  <a:lnTo>
                    <a:pt x="28550" y="57097"/>
                  </a:lnTo>
                  <a:lnTo>
                    <a:pt x="17440" y="54853"/>
                  </a:lnTo>
                  <a:lnTo>
                    <a:pt x="8365" y="48733"/>
                  </a:lnTo>
                  <a:lnTo>
                    <a:pt x="2244" y="39658"/>
                  </a:lnTo>
                  <a:lnTo>
                    <a:pt x="0" y="28548"/>
                  </a:lnTo>
                  <a:lnTo>
                    <a:pt x="2244" y="17435"/>
                  </a:lnTo>
                  <a:lnTo>
                    <a:pt x="8365" y="8360"/>
                  </a:lnTo>
                  <a:lnTo>
                    <a:pt x="17440" y="2243"/>
                  </a:lnTo>
                  <a:lnTo>
                    <a:pt x="28550" y="0"/>
                  </a:lnTo>
                  <a:lnTo>
                    <a:pt x="39663" y="2243"/>
                  </a:lnTo>
                  <a:lnTo>
                    <a:pt x="48738" y="8360"/>
                  </a:lnTo>
                  <a:lnTo>
                    <a:pt x="54856" y="17435"/>
                  </a:lnTo>
                  <a:lnTo>
                    <a:pt x="57100" y="28548"/>
                  </a:lnTo>
                </a:path>
              </a:pathLst>
            </a:custGeom>
            <a:ln w="18167">
              <a:solidFill>
                <a:srgbClr val="D6612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6434708" y="2636928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28550" y="0"/>
                  </a:moveTo>
                  <a:lnTo>
                    <a:pt x="17440" y="2243"/>
                  </a:lnTo>
                  <a:lnTo>
                    <a:pt x="8365" y="8360"/>
                  </a:lnTo>
                  <a:lnTo>
                    <a:pt x="2244" y="17435"/>
                  </a:lnTo>
                  <a:lnTo>
                    <a:pt x="0" y="28548"/>
                  </a:lnTo>
                  <a:lnTo>
                    <a:pt x="2244" y="39658"/>
                  </a:lnTo>
                  <a:lnTo>
                    <a:pt x="8365" y="48733"/>
                  </a:lnTo>
                  <a:lnTo>
                    <a:pt x="17440" y="54853"/>
                  </a:lnTo>
                  <a:lnTo>
                    <a:pt x="28550" y="57097"/>
                  </a:lnTo>
                  <a:lnTo>
                    <a:pt x="39663" y="54853"/>
                  </a:lnTo>
                  <a:lnTo>
                    <a:pt x="48738" y="48733"/>
                  </a:lnTo>
                  <a:lnTo>
                    <a:pt x="54856" y="39658"/>
                  </a:lnTo>
                  <a:lnTo>
                    <a:pt x="57100" y="28548"/>
                  </a:lnTo>
                  <a:lnTo>
                    <a:pt x="54856" y="17435"/>
                  </a:lnTo>
                  <a:lnTo>
                    <a:pt x="48738" y="8360"/>
                  </a:lnTo>
                  <a:lnTo>
                    <a:pt x="39663" y="2243"/>
                  </a:lnTo>
                  <a:lnTo>
                    <a:pt x="285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6434708" y="2636928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00" y="28548"/>
                  </a:moveTo>
                  <a:lnTo>
                    <a:pt x="54856" y="39658"/>
                  </a:lnTo>
                  <a:lnTo>
                    <a:pt x="48738" y="48733"/>
                  </a:lnTo>
                  <a:lnTo>
                    <a:pt x="39663" y="54853"/>
                  </a:lnTo>
                  <a:lnTo>
                    <a:pt x="28550" y="57097"/>
                  </a:lnTo>
                  <a:lnTo>
                    <a:pt x="17440" y="54853"/>
                  </a:lnTo>
                  <a:lnTo>
                    <a:pt x="8365" y="48733"/>
                  </a:lnTo>
                  <a:lnTo>
                    <a:pt x="2244" y="39658"/>
                  </a:lnTo>
                  <a:lnTo>
                    <a:pt x="0" y="28548"/>
                  </a:lnTo>
                  <a:lnTo>
                    <a:pt x="2244" y="17435"/>
                  </a:lnTo>
                  <a:lnTo>
                    <a:pt x="8365" y="8360"/>
                  </a:lnTo>
                  <a:lnTo>
                    <a:pt x="17440" y="2243"/>
                  </a:lnTo>
                  <a:lnTo>
                    <a:pt x="28550" y="0"/>
                  </a:lnTo>
                  <a:lnTo>
                    <a:pt x="39663" y="2243"/>
                  </a:lnTo>
                  <a:lnTo>
                    <a:pt x="48738" y="8360"/>
                  </a:lnTo>
                  <a:lnTo>
                    <a:pt x="54856" y="17435"/>
                  </a:lnTo>
                  <a:lnTo>
                    <a:pt x="57100" y="28548"/>
                  </a:lnTo>
                </a:path>
              </a:pathLst>
            </a:custGeom>
            <a:ln w="18167">
              <a:solidFill>
                <a:srgbClr val="D6612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3777393" y="3198902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28550" y="0"/>
                  </a:moveTo>
                  <a:lnTo>
                    <a:pt x="17440" y="2243"/>
                  </a:lnTo>
                  <a:lnTo>
                    <a:pt x="8365" y="8360"/>
                  </a:lnTo>
                  <a:lnTo>
                    <a:pt x="2244" y="17435"/>
                  </a:lnTo>
                  <a:lnTo>
                    <a:pt x="0" y="28548"/>
                  </a:lnTo>
                  <a:lnTo>
                    <a:pt x="2244" y="39658"/>
                  </a:lnTo>
                  <a:lnTo>
                    <a:pt x="8365" y="48733"/>
                  </a:lnTo>
                  <a:lnTo>
                    <a:pt x="17440" y="54853"/>
                  </a:lnTo>
                  <a:lnTo>
                    <a:pt x="28550" y="57097"/>
                  </a:lnTo>
                  <a:lnTo>
                    <a:pt x="39663" y="54853"/>
                  </a:lnTo>
                  <a:lnTo>
                    <a:pt x="48738" y="48733"/>
                  </a:lnTo>
                  <a:lnTo>
                    <a:pt x="54856" y="39658"/>
                  </a:lnTo>
                  <a:lnTo>
                    <a:pt x="57100" y="28548"/>
                  </a:lnTo>
                  <a:lnTo>
                    <a:pt x="54856" y="17435"/>
                  </a:lnTo>
                  <a:lnTo>
                    <a:pt x="48738" y="8360"/>
                  </a:lnTo>
                  <a:lnTo>
                    <a:pt x="39663" y="2243"/>
                  </a:lnTo>
                  <a:lnTo>
                    <a:pt x="285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3777393" y="3198902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00" y="28548"/>
                  </a:moveTo>
                  <a:lnTo>
                    <a:pt x="54856" y="39658"/>
                  </a:lnTo>
                  <a:lnTo>
                    <a:pt x="48738" y="48733"/>
                  </a:lnTo>
                  <a:lnTo>
                    <a:pt x="39663" y="54853"/>
                  </a:lnTo>
                  <a:lnTo>
                    <a:pt x="28550" y="57097"/>
                  </a:lnTo>
                  <a:lnTo>
                    <a:pt x="17440" y="54853"/>
                  </a:lnTo>
                  <a:lnTo>
                    <a:pt x="8365" y="48733"/>
                  </a:lnTo>
                  <a:lnTo>
                    <a:pt x="2244" y="39658"/>
                  </a:lnTo>
                  <a:lnTo>
                    <a:pt x="0" y="28548"/>
                  </a:lnTo>
                  <a:lnTo>
                    <a:pt x="2244" y="17435"/>
                  </a:lnTo>
                  <a:lnTo>
                    <a:pt x="8365" y="8360"/>
                  </a:lnTo>
                  <a:lnTo>
                    <a:pt x="17440" y="2243"/>
                  </a:lnTo>
                  <a:lnTo>
                    <a:pt x="28550" y="0"/>
                  </a:lnTo>
                  <a:lnTo>
                    <a:pt x="39663" y="2243"/>
                  </a:lnTo>
                  <a:lnTo>
                    <a:pt x="48738" y="8360"/>
                  </a:lnTo>
                  <a:lnTo>
                    <a:pt x="54856" y="17435"/>
                  </a:lnTo>
                  <a:lnTo>
                    <a:pt x="57100" y="28548"/>
                  </a:lnTo>
                </a:path>
              </a:pathLst>
            </a:custGeom>
            <a:ln w="18167">
              <a:solidFill>
                <a:srgbClr val="D6612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3769606" y="3317560"/>
              <a:ext cx="73025" cy="63500"/>
            </a:xfrm>
            <a:custGeom>
              <a:avLst/>
              <a:gdLst/>
              <a:ahLst/>
              <a:cxnLst/>
              <a:rect l="l" t="t" r="r" b="b"/>
              <a:pathLst>
                <a:path w="73025" h="63500">
                  <a:moveTo>
                    <a:pt x="36330" y="0"/>
                  </a:moveTo>
                  <a:lnTo>
                    <a:pt x="0" y="62917"/>
                  </a:lnTo>
                  <a:lnTo>
                    <a:pt x="72673" y="62917"/>
                  </a:lnTo>
                  <a:lnTo>
                    <a:pt x="3633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3769606" y="3317560"/>
              <a:ext cx="73025" cy="63500"/>
            </a:xfrm>
            <a:custGeom>
              <a:avLst/>
              <a:gdLst/>
              <a:ahLst/>
              <a:cxnLst/>
              <a:rect l="l" t="t" r="r" b="b"/>
              <a:pathLst>
                <a:path w="73025" h="63500">
                  <a:moveTo>
                    <a:pt x="0" y="62916"/>
                  </a:moveTo>
                  <a:lnTo>
                    <a:pt x="72672" y="62916"/>
                  </a:lnTo>
                  <a:lnTo>
                    <a:pt x="36331" y="0"/>
                  </a:lnTo>
                  <a:lnTo>
                    <a:pt x="0" y="62916"/>
                  </a:lnTo>
                  <a:close/>
                </a:path>
              </a:pathLst>
            </a:custGeom>
            <a:ln w="18167">
              <a:solidFill>
                <a:srgbClr val="199D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4437769" y="2669366"/>
              <a:ext cx="73025" cy="63500"/>
            </a:xfrm>
            <a:custGeom>
              <a:avLst/>
              <a:gdLst/>
              <a:ahLst/>
              <a:cxnLst/>
              <a:rect l="l" t="t" r="r" b="b"/>
              <a:pathLst>
                <a:path w="73025" h="63500">
                  <a:moveTo>
                    <a:pt x="0" y="62916"/>
                  </a:moveTo>
                  <a:lnTo>
                    <a:pt x="72672" y="62916"/>
                  </a:lnTo>
                  <a:lnTo>
                    <a:pt x="36331" y="0"/>
                  </a:lnTo>
                  <a:lnTo>
                    <a:pt x="0" y="62916"/>
                  </a:lnTo>
                  <a:close/>
                </a:path>
              </a:pathLst>
            </a:custGeom>
            <a:ln w="18167">
              <a:solidFill>
                <a:srgbClr val="199D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5098261" y="2535419"/>
              <a:ext cx="73025" cy="63500"/>
            </a:xfrm>
            <a:custGeom>
              <a:avLst/>
              <a:gdLst/>
              <a:ahLst/>
              <a:cxnLst/>
              <a:rect l="l" t="t" r="r" b="b"/>
              <a:pathLst>
                <a:path w="73025" h="63500">
                  <a:moveTo>
                    <a:pt x="0" y="62916"/>
                  </a:moveTo>
                  <a:lnTo>
                    <a:pt x="72672" y="62916"/>
                  </a:lnTo>
                  <a:lnTo>
                    <a:pt x="36331" y="0"/>
                  </a:lnTo>
                  <a:lnTo>
                    <a:pt x="0" y="62916"/>
                  </a:lnTo>
                  <a:close/>
                </a:path>
              </a:pathLst>
            </a:custGeom>
            <a:ln w="18167">
              <a:solidFill>
                <a:srgbClr val="199D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5763779" y="2444581"/>
              <a:ext cx="73025" cy="63500"/>
            </a:xfrm>
            <a:custGeom>
              <a:avLst/>
              <a:gdLst/>
              <a:ahLst/>
              <a:cxnLst/>
              <a:rect l="l" t="t" r="r" b="b"/>
              <a:pathLst>
                <a:path w="73025" h="63500">
                  <a:moveTo>
                    <a:pt x="0" y="62916"/>
                  </a:moveTo>
                  <a:lnTo>
                    <a:pt x="72672" y="62916"/>
                  </a:lnTo>
                  <a:lnTo>
                    <a:pt x="36331" y="0"/>
                  </a:lnTo>
                  <a:lnTo>
                    <a:pt x="0" y="62916"/>
                  </a:lnTo>
                  <a:close/>
                </a:path>
              </a:pathLst>
            </a:custGeom>
            <a:ln w="18167">
              <a:solidFill>
                <a:srgbClr val="199D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1" name="object 1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417836" y="2367449"/>
              <a:ext cx="90840" cy="81084"/>
            </a:xfrm>
            <a:prstGeom prst="rect">
              <a:avLst/>
            </a:prstGeom>
          </p:spPr>
        </p:pic>
        <p:sp>
          <p:nvSpPr>
            <p:cNvPr id="112" name="object 112"/>
            <p:cNvSpPr/>
            <p:nvPr/>
          </p:nvSpPr>
          <p:spPr>
            <a:xfrm>
              <a:off x="3805942" y="2079799"/>
              <a:ext cx="2657475" cy="1950085"/>
            </a:xfrm>
            <a:custGeom>
              <a:avLst/>
              <a:gdLst/>
              <a:ahLst/>
              <a:cxnLst/>
              <a:rect l="l" t="t" r="r" b="b"/>
              <a:pathLst>
                <a:path w="2657475" h="1950085">
                  <a:moveTo>
                    <a:pt x="0" y="0"/>
                  </a:moveTo>
                  <a:lnTo>
                    <a:pt x="2656878" y="0"/>
                  </a:lnTo>
                  <a:lnTo>
                    <a:pt x="2656878" y="1949544"/>
                  </a:lnTo>
                  <a:lnTo>
                    <a:pt x="0" y="1949544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3805943" y="4029344"/>
              <a:ext cx="2657475" cy="0"/>
            </a:xfrm>
            <a:custGeom>
              <a:avLst/>
              <a:gdLst/>
              <a:ahLst/>
              <a:cxnLst/>
              <a:rect l="l" t="t" r="r" b="b"/>
              <a:pathLst>
                <a:path w="2657475">
                  <a:moveTo>
                    <a:pt x="0" y="0"/>
                  </a:moveTo>
                  <a:lnTo>
                    <a:pt x="265687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3805943" y="2079793"/>
              <a:ext cx="2657475" cy="0"/>
            </a:xfrm>
            <a:custGeom>
              <a:avLst/>
              <a:gdLst/>
              <a:ahLst/>
              <a:cxnLst/>
              <a:rect l="l" t="t" r="r" b="b"/>
              <a:pathLst>
                <a:path w="2657475">
                  <a:moveTo>
                    <a:pt x="0" y="0"/>
                  </a:moveTo>
                  <a:lnTo>
                    <a:pt x="265687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3805943" y="2079794"/>
              <a:ext cx="0" cy="1950085"/>
            </a:xfrm>
            <a:custGeom>
              <a:avLst/>
              <a:gdLst/>
              <a:ahLst/>
              <a:cxnLst/>
              <a:rect l="l" t="t" r="r" b="b"/>
              <a:pathLst>
                <a:path h="1950085">
                  <a:moveTo>
                    <a:pt x="0" y="194954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6462820" y="2079794"/>
              <a:ext cx="0" cy="1950085"/>
            </a:xfrm>
            <a:custGeom>
              <a:avLst/>
              <a:gdLst/>
              <a:ahLst/>
              <a:cxnLst/>
              <a:rect l="l" t="t" r="r" b="b"/>
              <a:pathLst>
                <a:path h="1950085">
                  <a:moveTo>
                    <a:pt x="0" y="194954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3805943" y="2079794"/>
              <a:ext cx="2657475" cy="1950085"/>
            </a:xfrm>
            <a:custGeom>
              <a:avLst/>
              <a:gdLst/>
              <a:ahLst/>
              <a:cxnLst/>
              <a:rect l="l" t="t" r="r" b="b"/>
              <a:pathLst>
                <a:path w="2657475" h="1950085">
                  <a:moveTo>
                    <a:pt x="0" y="1949549"/>
                  </a:moveTo>
                  <a:lnTo>
                    <a:pt x="2656878" y="1949549"/>
                  </a:lnTo>
                </a:path>
                <a:path w="2657475" h="1950085">
                  <a:moveTo>
                    <a:pt x="0" y="1949549"/>
                  </a:moveTo>
                  <a:lnTo>
                    <a:pt x="0" y="0"/>
                  </a:lnTo>
                </a:path>
                <a:path w="2657475" h="1950085">
                  <a:moveTo>
                    <a:pt x="0" y="1949549"/>
                  </a:moveTo>
                  <a:lnTo>
                    <a:pt x="0" y="19227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3805943" y="2079793"/>
              <a:ext cx="0" cy="26670"/>
            </a:xfrm>
            <a:custGeom>
              <a:avLst/>
              <a:gdLst/>
              <a:ahLst/>
              <a:cxnLst/>
              <a:rect l="l" t="t" r="r" b="b"/>
              <a:pathLst>
                <a:path h="26669">
                  <a:moveTo>
                    <a:pt x="0" y="0"/>
                  </a:moveTo>
                  <a:lnTo>
                    <a:pt x="0" y="2638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9" name="object 119"/>
          <p:cNvSpPr txBox="1"/>
          <p:nvPr/>
        </p:nvSpPr>
        <p:spPr>
          <a:xfrm>
            <a:off x="3764693" y="4023999"/>
            <a:ext cx="83185" cy="1504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00" spc="5" dirty="0">
                <a:latin typeface="Arial MT"/>
                <a:cs typeface="Arial MT"/>
              </a:rPr>
              <a:t>2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120" name="object 120"/>
          <p:cNvGrpSpPr/>
          <p:nvPr/>
        </p:nvGrpSpPr>
        <p:grpSpPr>
          <a:xfrm>
            <a:off x="4468360" y="2078206"/>
            <a:ext cx="3175" cy="1953260"/>
            <a:chOff x="4468360" y="2078206"/>
            <a:chExt cx="3175" cy="1953260"/>
          </a:xfrm>
        </p:grpSpPr>
        <p:sp>
          <p:nvSpPr>
            <p:cNvPr id="121" name="object 121"/>
            <p:cNvSpPr/>
            <p:nvPr/>
          </p:nvSpPr>
          <p:spPr>
            <a:xfrm>
              <a:off x="4469947" y="4002523"/>
              <a:ext cx="0" cy="27305"/>
            </a:xfrm>
            <a:custGeom>
              <a:avLst/>
              <a:gdLst/>
              <a:ahLst/>
              <a:cxnLst/>
              <a:rect l="l" t="t" r="r" b="b"/>
              <a:pathLst>
                <a:path h="27304">
                  <a:moveTo>
                    <a:pt x="0" y="2682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4469947" y="2079793"/>
              <a:ext cx="0" cy="26670"/>
            </a:xfrm>
            <a:custGeom>
              <a:avLst/>
              <a:gdLst/>
              <a:ahLst/>
              <a:cxnLst/>
              <a:rect l="l" t="t" r="r" b="b"/>
              <a:pathLst>
                <a:path h="26669">
                  <a:moveTo>
                    <a:pt x="0" y="0"/>
                  </a:moveTo>
                  <a:lnTo>
                    <a:pt x="0" y="2638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3" name="object 123"/>
          <p:cNvSpPr txBox="1"/>
          <p:nvPr/>
        </p:nvSpPr>
        <p:spPr>
          <a:xfrm>
            <a:off x="4428698" y="4023999"/>
            <a:ext cx="83185" cy="1504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00" spc="5" dirty="0">
                <a:latin typeface="Arial MT"/>
                <a:cs typeface="Arial MT"/>
              </a:rPr>
              <a:t>4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124" name="object 124"/>
          <p:cNvGrpSpPr/>
          <p:nvPr/>
        </p:nvGrpSpPr>
        <p:grpSpPr>
          <a:xfrm>
            <a:off x="5132799" y="2078206"/>
            <a:ext cx="667385" cy="1953260"/>
            <a:chOff x="5132799" y="2078206"/>
            <a:chExt cx="667385" cy="1953260"/>
          </a:xfrm>
        </p:grpSpPr>
        <p:sp>
          <p:nvSpPr>
            <p:cNvPr id="125" name="object 125"/>
            <p:cNvSpPr/>
            <p:nvPr/>
          </p:nvSpPr>
          <p:spPr>
            <a:xfrm>
              <a:off x="5134386" y="4002523"/>
              <a:ext cx="0" cy="27305"/>
            </a:xfrm>
            <a:custGeom>
              <a:avLst/>
              <a:gdLst/>
              <a:ahLst/>
              <a:cxnLst/>
              <a:rect l="l" t="t" r="r" b="b"/>
              <a:pathLst>
                <a:path h="27304">
                  <a:moveTo>
                    <a:pt x="0" y="2682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5134386" y="2079793"/>
              <a:ext cx="0" cy="26670"/>
            </a:xfrm>
            <a:custGeom>
              <a:avLst/>
              <a:gdLst/>
              <a:ahLst/>
              <a:cxnLst/>
              <a:rect l="l" t="t" r="r" b="b"/>
              <a:pathLst>
                <a:path h="26669">
                  <a:moveTo>
                    <a:pt x="0" y="0"/>
                  </a:moveTo>
                  <a:lnTo>
                    <a:pt x="0" y="2638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5798387" y="4002523"/>
              <a:ext cx="0" cy="27305"/>
            </a:xfrm>
            <a:custGeom>
              <a:avLst/>
              <a:gdLst/>
              <a:ahLst/>
              <a:cxnLst/>
              <a:rect l="l" t="t" r="r" b="b"/>
              <a:pathLst>
                <a:path h="27304">
                  <a:moveTo>
                    <a:pt x="0" y="2682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5798387" y="2079793"/>
              <a:ext cx="0" cy="26670"/>
            </a:xfrm>
            <a:custGeom>
              <a:avLst/>
              <a:gdLst/>
              <a:ahLst/>
              <a:cxnLst/>
              <a:rect l="l" t="t" r="r" b="b"/>
              <a:pathLst>
                <a:path h="26669">
                  <a:moveTo>
                    <a:pt x="0" y="0"/>
                  </a:moveTo>
                  <a:lnTo>
                    <a:pt x="0" y="2638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9" name="object 129"/>
          <p:cNvSpPr txBox="1"/>
          <p:nvPr/>
        </p:nvSpPr>
        <p:spPr>
          <a:xfrm>
            <a:off x="5757135" y="4023999"/>
            <a:ext cx="83185" cy="1504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00" spc="5" dirty="0">
                <a:latin typeface="Arial MT"/>
                <a:cs typeface="Arial MT"/>
              </a:rPr>
              <a:t>8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130" name="object 130"/>
          <p:cNvGrpSpPr/>
          <p:nvPr/>
        </p:nvGrpSpPr>
        <p:grpSpPr>
          <a:xfrm>
            <a:off x="6461233" y="2078206"/>
            <a:ext cx="3175" cy="1953260"/>
            <a:chOff x="6461233" y="2078206"/>
            <a:chExt cx="3175" cy="1953260"/>
          </a:xfrm>
        </p:grpSpPr>
        <p:sp>
          <p:nvSpPr>
            <p:cNvPr id="131" name="object 131"/>
            <p:cNvSpPr/>
            <p:nvPr/>
          </p:nvSpPr>
          <p:spPr>
            <a:xfrm>
              <a:off x="6462820" y="4002523"/>
              <a:ext cx="0" cy="27305"/>
            </a:xfrm>
            <a:custGeom>
              <a:avLst/>
              <a:gdLst/>
              <a:ahLst/>
              <a:cxnLst/>
              <a:rect l="l" t="t" r="r" b="b"/>
              <a:pathLst>
                <a:path h="27304">
                  <a:moveTo>
                    <a:pt x="0" y="2682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6462820" y="2079793"/>
              <a:ext cx="0" cy="26670"/>
            </a:xfrm>
            <a:custGeom>
              <a:avLst/>
              <a:gdLst/>
              <a:ahLst/>
              <a:cxnLst/>
              <a:rect l="l" t="t" r="r" b="b"/>
              <a:pathLst>
                <a:path h="26669">
                  <a:moveTo>
                    <a:pt x="0" y="0"/>
                  </a:moveTo>
                  <a:lnTo>
                    <a:pt x="0" y="2638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3" name="object 133"/>
          <p:cNvSpPr txBox="1"/>
          <p:nvPr/>
        </p:nvSpPr>
        <p:spPr>
          <a:xfrm>
            <a:off x="6392590" y="4023999"/>
            <a:ext cx="140970" cy="1504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00" dirty="0">
                <a:latin typeface="Arial MT"/>
                <a:cs typeface="Arial MT"/>
              </a:rPr>
              <a:t>10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134" name="object 134"/>
          <p:cNvGrpSpPr/>
          <p:nvPr/>
        </p:nvGrpSpPr>
        <p:grpSpPr>
          <a:xfrm>
            <a:off x="3804356" y="4027756"/>
            <a:ext cx="2660650" cy="3175"/>
            <a:chOff x="3804356" y="4027756"/>
            <a:chExt cx="2660650" cy="3175"/>
          </a:xfrm>
        </p:grpSpPr>
        <p:sp>
          <p:nvSpPr>
            <p:cNvPr id="135" name="object 135"/>
            <p:cNvSpPr/>
            <p:nvPr/>
          </p:nvSpPr>
          <p:spPr>
            <a:xfrm>
              <a:off x="3805943" y="4029344"/>
              <a:ext cx="26670" cy="0"/>
            </a:xfrm>
            <a:custGeom>
              <a:avLst/>
              <a:gdLst/>
              <a:ahLst/>
              <a:cxnLst/>
              <a:rect l="l" t="t" r="r" b="b"/>
              <a:pathLst>
                <a:path w="26670">
                  <a:moveTo>
                    <a:pt x="0" y="0"/>
                  </a:moveTo>
                  <a:lnTo>
                    <a:pt x="2638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6"/>
            <p:cNvSpPr/>
            <p:nvPr/>
          </p:nvSpPr>
          <p:spPr>
            <a:xfrm>
              <a:off x="6436004" y="4029344"/>
              <a:ext cx="27305" cy="0"/>
            </a:xfrm>
            <a:custGeom>
              <a:avLst/>
              <a:gdLst/>
              <a:ahLst/>
              <a:cxnLst/>
              <a:rect l="l" t="t" r="r" b="b"/>
              <a:pathLst>
                <a:path w="27304">
                  <a:moveTo>
                    <a:pt x="26816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7" name="object 137"/>
          <p:cNvSpPr txBox="1"/>
          <p:nvPr/>
        </p:nvSpPr>
        <p:spPr>
          <a:xfrm>
            <a:off x="3663039" y="3951329"/>
            <a:ext cx="140970" cy="1504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00" dirty="0">
                <a:latin typeface="Arial MT"/>
                <a:cs typeface="Arial MT"/>
              </a:rPr>
              <a:t>40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138" name="object 138"/>
          <p:cNvGrpSpPr/>
          <p:nvPr/>
        </p:nvGrpSpPr>
        <p:grpSpPr>
          <a:xfrm>
            <a:off x="3804356" y="3377619"/>
            <a:ext cx="2660650" cy="328295"/>
            <a:chOff x="3804356" y="3377619"/>
            <a:chExt cx="2660650" cy="328295"/>
          </a:xfrm>
        </p:grpSpPr>
        <p:sp>
          <p:nvSpPr>
            <p:cNvPr id="139" name="object 139"/>
            <p:cNvSpPr/>
            <p:nvPr/>
          </p:nvSpPr>
          <p:spPr>
            <a:xfrm>
              <a:off x="3805943" y="3704058"/>
              <a:ext cx="26670" cy="0"/>
            </a:xfrm>
            <a:custGeom>
              <a:avLst/>
              <a:gdLst/>
              <a:ahLst/>
              <a:cxnLst/>
              <a:rect l="l" t="t" r="r" b="b"/>
              <a:pathLst>
                <a:path w="26670">
                  <a:moveTo>
                    <a:pt x="0" y="0"/>
                  </a:moveTo>
                  <a:lnTo>
                    <a:pt x="2638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6436004" y="3704058"/>
              <a:ext cx="27305" cy="0"/>
            </a:xfrm>
            <a:custGeom>
              <a:avLst/>
              <a:gdLst/>
              <a:ahLst/>
              <a:cxnLst/>
              <a:rect l="l" t="t" r="r" b="b"/>
              <a:pathLst>
                <a:path w="27304">
                  <a:moveTo>
                    <a:pt x="26816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" name="object 141"/>
            <p:cNvSpPr/>
            <p:nvPr/>
          </p:nvSpPr>
          <p:spPr>
            <a:xfrm>
              <a:off x="3805943" y="3379207"/>
              <a:ext cx="26670" cy="0"/>
            </a:xfrm>
            <a:custGeom>
              <a:avLst/>
              <a:gdLst/>
              <a:ahLst/>
              <a:cxnLst/>
              <a:rect l="l" t="t" r="r" b="b"/>
              <a:pathLst>
                <a:path w="26670">
                  <a:moveTo>
                    <a:pt x="0" y="0"/>
                  </a:moveTo>
                  <a:lnTo>
                    <a:pt x="2638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" name="object 142"/>
            <p:cNvSpPr/>
            <p:nvPr/>
          </p:nvSpPr>
          <p:spPr>
            <a:xfrm>
              <a:off x="6436004" y="3379207"/>
              <a:ext cx="27305" cy="0"/>
            </a:xfrm>
            <a:custGeom>
              <a:avLst/>
              <a:gdLst/>
              <a:ahLst/>
              <a:cxnLst/>
              <a:rect l="l" t="t" r="r" b="b"/>
              <a:pathLst>
                <a:path w="27304">
                  <a:moveTo>
                    <a:pt x="26816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3" name="object 143"/>
          <p:cNvSpPr txBox="1"/>
          <p:nvPr/>
        </p:nvSpPr>
        <p:spPr>
          <a:xfrm>
            <a:off x="3663039" y="3301192"/>
            <a:ext cx="140970" cy="1504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00" dirty="0">
                <a:latin typeface="Arial MT"/>
                <a:cs typeface="Arial MT"/>
              </a:rPr>
              <a:t>50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144" name="object 144"/>
          <p:cNvGrpSpPr/>
          <p:nvPr/>
        </p:nvGrpSpPr>
        <p:grpSpPr>
          <a:xfrm>
            <a:off x="3804356" y="3052767"/>
            <a:ext cx="2660650" cy="3175"/>
            <a:chOff x="3804356" y="3052767"/>
            <a:chExt cx="2660650" cy="3175"/>
          </a:xfrm>
        </p:grpSpPr>
        <p:sp>
          <p:nvSpPr>
            <p:cNvPr id="145" name="object 145"/>
            <p:cNvSpPr/>
            <p:nvPr/>
          </p:nvSpPr>
          <p:spPr>
            <a:xfrm>
              <a:off x="3805943" y="3054355"/>
              <a:ext cx="26670" cy="0"/>
            </a:xfrm>
            <a:custGeom>
              <a:avLst/>
              <a:gdLst/>
              <a:ahLst/>
              <a:cxnLst/>
              <a:rect l="l" t="t" r="r" b="b"/>
              <a:pathLst>
                <a:path w="26670">
                  <a:moveTo>
                    <a:pt x="0" y="0"/>
                  </a:moveTo>
                  <a:lnTo>
                    <a:pt x="2638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" name="object 146"/>
            <p:cNvSpPr/>
            <p:nvPr/>
          </p:nvSpPr>
          <p:spPr>
            <a:xfrm>
              <a:off x="6436004" y="3054355"/>
              <a:ext cx="27305" cy="0"/>
            </a:xfrm>
            <a:custGeom>
              <a:avLst/>
              <a:gdLst/>
              <a:ahLst/>
              <a:cxnLst/>
              <a:rect l="l" t="t" r="r" b="b"/>
              <a:pathLst>
                <a:path w="27304">
                  <a:moveTo>
                    <a:pt x="26816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7" name="object 147"/>
          <p:cNvSpPr txBox="1"/>
          <p:nvPr/>
        </p:nvSpPr>
        <p:spPr>
          <a:xfrm>
            <a:off x="3663039" y="2976336"/>
            <a:ext cx="140970" cy="1504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00" dirty="0">
                <a:latin typeface="Arial MT"/>
                <a:cs typeface="Arial MT"/>
              </a:rPr>
              <a:t>55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148" name="object 148"/>
          <p:cNvGrpSpPr/>
          <p:nvPr/>
        </p:nvGrpSpPr>
        <p:grpSpPr>
          <a:xfrm>
            <a:off x="3804356" y="2727914"/>
            <a:ext cx="2660650" cy="3175"/>
            <a:chOff x="3804356" y="2727914"/>
            <a:chExt cx="2660650" cy="3175"/>
          </a:xfrm>
        </p:grpSpPr>
        <p:sp>
          <p:nvSpPr>
            <p:cNvPr id="149" name="object 149"/>
            <p:cNvSpPr/>
            <p:nvPr/>
          </p:nvSpPr>
          <p:spPr>
            <a:xfrm>
              <a:off x="3805943" y="2729501"/>
              <a:ext cx="26670" cy="0"/>
            </a:xfrm>
            <a:custGeom>
              <a:avLst/>
              <a:gdLst/>
              <a:ahLst/>
              <a:cxnLst/>
              <a:rect l="l" t="t" r="r" b="b"/>
              <a:pathLst>
                <a:path w="26670">
                  <a:moveTo>
                    <a:pt x="0" y="0"/>
                  </a:moveTo>
                  <a:lnTo>
                    <a:pt x="2638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" name="object 150"/>
            <p:cNvSpPr/>
            <p:nvPr/>
          </p:nvSpPr>
          <p:spPr>
            <a:xfrm>
              <a:off x="6436004" y="2729501"/>
              <a:ext cx="27305" cy="0"/>
            </a:xfrm>
            <a:custGeom>
              <a:avLst/>
              <a:gdLst/>
              <a:ahLst/>
              <a:cxnLst/>
              <a:rect l="l" t="t" r="r" b="b"/>
              <a:pathLst>
                <a:path w="27304">
                  <a:moveTo>
                    <a:pt x="26816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1" name="object 151"/>
          <p:cNvSpPr txBox="1"/>
          <p:nvPr/>
        </p:nvSpPr>
        <p:spPr>
          <a:xfrm>
            <a:off x="3663039" y="2651486"/>
            <a:ext cx="140970" cy="1504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00" dirty="0">
                <a:latin typeface="Arial MT"/>
                <a:cs typeface="Arial MT"/>
              </a:rPr>
              <a:t>60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152" name="object 152"/>
          <p:cNvGrpSpPr/>
          <p:nvPr/>
        </p:nvGrpSpPr>
        <p:grpSpPr>
          <a:xfrm>
            <a:off x="3804356" y="2403062"/>
            <a:ext cx="2660650" cy="3175"/>
            <a:chOff x="3804356" y="2403062"/>
            <a:chExt cx="2660650" cy="3175"/>
          </a:xfrm>
        </p:grpSpPr>
        <p:sp>
          <p:nvSpPr>
            <p:cNvPr id="153" name="object 153"/>
            <p:cNvSpPr/>
            <p:nvPr/>
          </p:nvSpPr>
          <p:spPr>
            <a:xfrm>
              <a:off x="3805943" y="2404649"/>
              <a:ext cx="26670" cy="0"/>
            </a:xfrm>
            <a:custGeom>
              <a:avLst/>
              <a:gdLst/>
              <a:ahLst/>
              <a:cxnLst/>
              <a:rect l="l" t="t" r="r" b="b"/>
              <a:pathLst>
                <a:path w="26670">
                  <a:moveTo>
                    <a:pt x="0" y="0"/>
                  </a:moveTo>
                  <a:lnTo>
                    <a:pt x="2638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" name="object 154"/>
            <p:cNvSpPr/>
            <p:nvPr/>
          </p:nvSpPr>
          <p:spPr>
            <a:xfrm>
              <a:off x="6436004" y="2404649"/>
              <a:ext cx="27305" cy="0"/>
            </a:xfrm>
            <a:custGeom>
              <a:avLst/>
              <a:gdLst/>
              <a:ahLst/>
              <a:cxnLst/>
              <a:rect l="l" t="t" r="r" b="b"/>
              <a:pathLst>
                <a:path w="27304">
                  <a:moveTo>
                    <a:pt x="26816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5" name="object 155"/>
          <p:cNvSpPr txBox="1"/>
          <p:nvPr/>
        </p:nvSpPr>
        <p:spPr>
          <a:xfrm>
            <a:off x="3663039" y="2326635"/>
            <a:ext cx="140970" cy="1504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00" dirty="0">
                <a:latin typeface="Arial MT"/>
                <a:cs typeface="Arial MT"/>
              </a:rPr>
              <a:t>65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156" name="object 156"/>
          <p:cNvGrpSpPr/>
          <p:nvPr/>
        </p:nvGrpSpPr>
        <p:grpSpPr>
          <a:xfrm>
            <a:off x="3804356" y="2078206"/>
            <a:ext cx="2660650" cy="3175"/>
            <a:chOff x="3804356" y="2078206"/>
            <a:chExt cx="2660650" cy="3175"/>
          </a:xfrm>
        </p:grpSpPr>
        <p:sp>
          <p:nvSpPr>
            <p:cNvPr id="157" name="object 157"/>
            <p:cNvSpPr/>
            <p:nvPr/>
          </p:nvSpPr>
          <p:spPr>
            <a:xfrm>
              <a:off x="3805943" y="2079793"/>
              <a:ext cx="26670" cy="0"/>
            </a:xfrm>
            <a:custGeom>
              <a:avLst/>
              <a:gdLst/>
              <a:ahLst/>
              <a:cxnLst/>
              <a:rect l="l" t="t" r="r" b="b"/>
              <a:pathLst>
                <a:path w="26670">
                  <a:moveTo>
                    <a:pt x="0" y="0"/>
                  </a:moveTo>
                  <a:lnTo>
                    <a:pt x="2638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" name="object 158"/>
            <p:cNvSpPr/>
            <p:nvPr/>
          </p:nvSpPr>
          <p:spPr>
            <a:xfrm>
              <a:off x="6436004" y="2079793"/>
              <a:ext cx="27305" cy="0"/>
            </a:xfrm>
            <a:custGeom>
              <a:avLst/>
              <a:gdLst/>
              <a:ahLst/>
              <a:cxnLst/>
              <a:rect l="l" t="t" r="r" b="b"/>
              <a:pathLst>
                <a:path w="27304">
                  <a:moveTo>
                    <a:pt x="26816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9" name="object 159"/>
          <p:cNvSpPr txBox="1"/>
          <p:nvPr/>
        </p:nvSpPr>
        <p:spPr>
          <a:xfrm>
            <a:off x="3663039" y="2001779"/>
            <a:ext cx="140970" cy="1504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00" dirty="0">
                <a:latin typeface="Arial MT"/>
                <a:cs typeface="Arial MT"/>
              </a:rPr>
              <a:t>70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160" name="object 160"/>
          <p:cNvGrpSpPr/>
          <p:nvPr/>
        </p:nvGrpSpPr>
        <p:grpSpPr>
          <a:xfrm>
            <a:off x="3804356" y="2078206"/>
            <a:ext cx="2660650" cy="1953260"/>
            <a:chOff x="3804356" y="2078206"/>
            <a:chExt cx="2660650" cy="1953260"/>
          </a:xfrm>
        </p:grpSpPr>
        <p:sp>
          <p:nvSpPr>
            <p:cNvPr id="161" name="object 161"/>
            <p:cNvSpPr/>
            <p:nvPr/>
          </p:nvSpPr>
          <p:spPr>
            <a:xfrm>
              <a:off x="3805943" y="4029344"/>
              <a:ext cx="2657475" cy="0"/>
            </a:xfrm>
            <a:custGeom>
              <a:avLst/>
              <a:gdLst/>
              <a:ahLst/>
              <a:cxnLst/>
              <a:rect l="l" t="t" r="r" b="b"/>
              <a:pathLst>
                <a:path w="2657475">
                  <a:moveTo>
                    <a:pt x="0" y="0"/>
                  </a:moveTo>
                  <a:lnTo>
                    <a:pt x="265687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" name="object 162"/>
            <p:cNvSpPr/>
            <p:nvPr/>
          </p:nvSpPr>
          <p:spPr>
            <a:xfrm>
              <a:off x="3805943" y="2079793"/>
              <a:ext cx="2657475" cy="0"/>
            </a:xfrm>
            <a:custGeom>
              <a:avLst/>
              <a:gdLst/>
              <a:ahLst/>
              <a:cxnLst/>
              <a:rect l="l" t="t" r="r" b="b"/>
              <a:pathLst>
                <a:path w="2657475">
                  <a:moveTo>
                    <a:pt x="0" y="0"/>
                  </a:moveTo>
                  <a:lnTo>
                    <a:pt x="265687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" name="object 163"/>
            <p:cNvSpPr/>
            <p:nvPr/>
          </p:nvSpPr>
          <p:spPr>
            <a:xfrm>
              <a:off x="6462820" y="2079794"/>
              <a:ext cx="0" cy="1950085"/>
            </a:xfrm>
            <a:custGeom>
              <a:avLst/>
              <a:gdLst/>
              <a:ahLst/>
              <a:cxnLst/>
              <a:rect l="l" t="t" r="r" b="b"/>
              <a:pathLst>
                <a:path h="1950085">
                  <a:moveTo>
                    <a:pt x="0" y="194954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4" name="object 164"/>
          <p:cNvSpPr txBox="1"/>
          <p:nvPr/>
        </p:nvSpPr>
        <p:spPr>
          <a:xfrm>
            <a:off x="3663039" y="3626043"/>
            <a:ext cx="140970" cy="1504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00" dirty="0">
                <a:latin typeface="Arial MT"/>
                <a:cs typeface="Arial MT"/>
              </a:rPr>
              <a:t>45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65" name="object 165"/>
          <p:cNvSpPr txBox="1"/>
          <p:nvPr/>
        </p:nvSpPr>
        <p:spPr>
          <a:xfrm>
            <a:off x="4822771" y="4023999"/>
            <a:ext cx="626110" cy="25019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algn="ctr">
              <a:lnSpc>
                <a:spcPts val="875"/>
              </a:lnSpc>
              <a:spcBef>
                <a:spcPts val="114"/>
              </a:spcBef>
            </a:pPr>
            <a:r>
              <a:rPr sz="800" spc="5" dirty="0">
                <a:latin typeface="Arial MT"/>
                <a:cs typeface="Arial MT"/>
              </a:rPr>
              <a:t>6</a:t>
            </a:r>
            <a:endParaRPr sz="800">
              <a:latin typeface="Arial MT"/>
              <a:cs typeface="Arial MT"/>
            </a:endParaRPr>
          </a:p>
          <a:p>
            <a:pPr algn="ctr">
              <a:lnSpc>
                <a:spcPts val="875"/>
              </a:lnSpc>
            </a:pPr>
            <a:r>
              <a:rPr sz="800" spc="10" dirty="0">
                <a:latin typeface="Arial MT"/>
                <a:cs typeface="Arial MT"/>
              </a:rPr>
              <a:t>Window</a:t>
            </a:r>
            <a:r>
              <a:rPr sz="800" spc="-40" dirty="0">
                <a:latin typeface="Arial MT"/>
                <a:cs typeface="Arial MT"/>
              </a:rPr>
              <a:t> </a:t>
            </a:r>
            <a:r>
              <a:rPr sz="800" spc="5" dirty="0">
                <a:latin typeface="Arial MT"/>
                <a:cs typeface="Arial MT"/>
              </a:rPr>
              <a:t>Size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66" name="object 166"/>
          <p:cNvSpPr txBox="1"/>
          <p:nvPr/>
        </p:nvSpPr>
        <p:spPr>
          <a:xfrm>
            <a:off x="3535943" y="2738611"/>
            <a:ext cx="129539" cy="63182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890"/>
              </a:lnSpc>
            </a:pPr>
            <a:r>
              <a:rPr sz="800" spc="5" dirty="0">
                <a:latin typeface="Arial MT"/>
                <a:cs typeface="Arial MT"/>
              </a:rPr>
              <a:t>Accuracy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spc="5" dirty="0">
                <a:latin typeface="Arial MT"/>
                <a:cs typeface="Arial MT"/>
              </a:rPr>
              <a:t>[%]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67" name="object 167"/>
          <p:cNvSpPr/>
          <p:nvPr/>
        </p:nvSpPr>
        <p:spPr>
          <a:xfrm>
            <a:off x="5367108" y="3504215"/>
            <a:ext cx="321945" cy="0"/>
          </a:xfrm>
          <a:custGeom>
            <a:avLst/>
            <a:gdLst/>
            <a:ahLst/>
            <a:cxnLst/>
            <a:rect l="l" t="t" r="r" b="b"/>
            <a:pathLst>
              <a:path w="321945">
                <a:moveTo>
                  <a:pt x="0" y="0"/>
                </a:moveTo>
                <a:lnTo>
                  <a:pt x="321405" y="0"/>
                </a:lnTo>
              </a:path>
            </a:pathLst>
          </a:custGeom>
          <a:ln w="25953">
            <a:solidFill>
              <a:srgbClr val="199D7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8" name="object 168"/>
          <p:cNvSpPr txBox="1"/>
          <p:nvPr/>
        </p:nvSpPr>
        <p:spPr>
          <a:xfrm>
            <a:off x="5303090" y="3419434"/>
            <a:ext cx="930275" cy="436245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20320" rIns="0" bIns="0" rtlCol="0">
            <a:spAutoFit/>
          </a:bodyPr>
          <a:lstStyle/>
          <a:p>
            <a:pPr marR="71755" algn="r">
              <a:lnSpc>
                <a:spcPct val="100000"/>
              </a:lnSpc>
              <a:spcBef>
                <a:spcPts val="160"/>
              </a:spcBef>
            </a:pPr>
            <a:r>
              <a:rPr sz="800" spc="5" dirty="0">
                <a:latin typeface="Arial MT"/>
                <a:cs typeface="Arial MT"/>
              </a:rPr>
              <a:t>Semantic</a:t>
            </a:r>
            <a:endParaRPr sz="800">
              <a:latin typeface="Arial MT"/>
              <a:cs typeface="Arial MT"/>
            </a:endParaRPr>
          </a:p>
          <a:p>
            <a:pPr marR="83185" algn="r">
              <a:lnSpc>
                <a:spcPct val="100000"/>
              </a:lnSpc>
              <a:spcBef>
                <a:spcPts val="90"/>
              </a:spcBef>
              <a:tabLst>
                <a:tab pos="321310" algn="l"/>
              </a:tabLst>
            </a:pPr>
            <a:r>
              <a:rPr sz="800" u="heavy" dirty="0">
                <a:uFill>
                  <a:solidFill>
                    <a:srgbClr val="D66127"/>
                  </a:solidFill>
                </a:uFill>
                <a:latin typeface="Arial MT"/>
                <a:cs typeface="Arial MT"/>
              </a:rPr>
              <a:t> 	</a:t>
            </a:r>
            <a:r>
              <a:rPr sz="800" spc="30" dirty="0">
                <a:latin typeface="Arial MT"/>
                <a:cs typeface="Arial MT"/>
              </a:rPr>
              <a:t> </a:t>
            </a:r>
            <a:r>
              <a:rPr sz="800" spc="5" dirty="0">
                <a:latin typeface="Arial MT"/>
                <a:cs typeface="Arial MT"/>
              </a:rPr>
              <a:t>Syntactic</a:t>
            </a:r>
            <a:endParaRPr sz="800">
              <a:latin typeface="Arial MT"/>
              <a:cs typeface="Arial MT"/>
            </a:endParaRPr>
          </a:p>
          <a:p>
            <a:pPr marL="417830">
              <a:lnSpc>
                <a:spcPct val="100000"/>
              </a:lnSpc>
              <a:spcBef>
                <a:spcPts val="85"/>
              </a:spcBef>
            </a:pPr>
            <a:r>
              <a:rPr sz="800" spc="5" dirty="0">
                <a:latin typeface="Arial MT"/>
                <a:cs typeface="Arial MT"/>
              </a:rPr>
              <a:t>Overall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169" name="object 169"/>
          <p:cNvGrpSpPr/>
          <p:nvPr/>
        </p:nvGrpSpPr>
        <p:grpSpPr>
          <a:xfrm>
            <a:off x="5367108" y="3458436"/>
            <a:ext cx="321945" cy="356235"/>
            <a:chOff x="5367108" y="3458436"/>
            <a:chExt cx="321945" cy="356235"/>
          </a:xfrm>
        </p:grpSpPr>
        <p:sp>
          <p:nvSpPr>
            <p:cNvPr id="170" name="object 170"/>
            <p:cNvSpPr/>
            <p:nvPr/>
          </p:nvSpPr>
          <p:spPr>
            <a:xfrm>
              <a:off x="5367108" y="3641939"/>
              <a:ext cx="321945" cy="0"/>
            </a:xfrm>
            <a:custGeom>
              <a:avLst/>
              <a:gdLst/>
              <a:ahLst/>
              <a:cxnLst/>
              <a:rect l="l" t="t" r="r" b="b"/>
              <a:pathLst>
                <a:path w="321945">
                  <a:moveTo>
                    <a:pt x="0" y="0"/>
                  </a:moveTo>
                  <a:lnTo>
                    <a:pt x="134934" y="0"/>
                  </a:lnTo>
                </a:path>
                <a:path w="321945">
                  <a:moveTo>
                    <a:pt x="187331" y="0"/>
                  </a:moveTo>
                  <a:lnTo>
                    <a:pt x="321405" y="0"/>
                  </a:lnTo>
                </a:path>
              </a:pathLst>
            </a:custGeom>
            <a:ln w="25953">
              <a:solidFill>
                <a:srgbClr val="7670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1" name="object 17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482822" y="3458436"/>
              <a:ext cx="90840" cy="81084"/>
            </a:xfrm>
            <a:prstGeom prst="rect">
              <a:avLst/>
            </a:prstGeom>
          </p:spPr>
        </p:pic>
        <p:sp>
          <p:nvSpPr>
            <p:cNvPr id="172" name="object 172"/>
            <p:cNvSpPr/>
            <p:nvPr/>
          </p:nvSpPr>
          <p:spPr>
            <a:xfrm>
              <a:off x="5502043" y="3617841"/>
              <a:ext cx="52705" cy="52705"/>
            </a:xfrm>
            <a:custGeom>
              <a:avLst/>
              <a:gdLst/>
              <a:ahLst/>
              <a:cxnLst/>
              <a:rect l="l" t="t" r="r" b="b"/>
              <a:pathLst>
                <a:path w="52704" h="52704">
                  <a:moveTo>
                    <a:pt x="0" y="51901"/>
                  </a:moveTo>
                  <a:lnTo>
                    <a:pt x="51909" y="52395"/>
                  </a:lnTo>
                  <a:lnTo>
                    <a:pt x="52397" y="493"/>
                  </a:lnTo>
                  <a:lnTo>
                    <a:pt x="493" y="0"/>
                  </a:lnTo>
                  <a:lnTo>
                    <a:pt x="0" y="51901"/>
                  </a:lnTo>
                  <a:close/>
                </a:path>
              </a:pathLst>
            </a:custGeom>
            <a:ln w="20763">
              <a:solidFill>
                <a:srgbClr val="7670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3" name="object 17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490609" y="3738879"/>
              <a:ext cx="75267" cy="75265"/>
            </a:xfrm>
            <a:prstGeom prst="rect">
              <a:avLst/>
            </a:prstGeom>
          </p:spPr>
        </p:pic>
      </p:grpSp>
      <p:sp>
        <p:nvSpPr>
          <p:cNvPr id="174" name="object 174"/>
          <p:cNvSpPr txBox="1"/>
          <p:nvPr/>
        </p:nvSpPr>
        <p:spPr>
          <a:xfrm>
            <a:off x="4173093" y="4351858"/>
            <a:ext cx="1726564" cy="2489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450" spc="5" dirty="0">
                <a:latin typeface="Times New Roman"/>
                <a:cs typeface="Times New Roman"/>
              </a:rPr>
              <a:t>(b)</a:t>
            </a:r>
            <a:r>
              <a:rPr sz="1450" spc="195" dirty="0">
                <a:latin typeface="Times New Roman"/>
                <a:cs typeface="Times New Roman"/>
              </a:rPr>
              <a:t> </a:t>
            </a:r>
            <a:r>
              <a:rPr sz="1450" spc="5" dirty="0">
                <a:latin typeface="Times New Roman"/>
                <a:cs typeface="Times New Roman"/>
              </a:rPr>
              <a:t>Symmetric</a:t>
            </a:r>
            <a:r>
              <a:rPr sz="1450" spc="-1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context</a:t>
            </a:r>
            <a:endParaRPr sz="1450">
              <a:latin typeface="Times New Roman"/>
              <a:cs typeface="Times New Roman"/>
            </a:endParaRPr>
          </a:p>
        </p:txBody>
      </p:sp>
      <p:grpSp>
        <p:nvGrpSpPr>
          <p:cNvPr id="175" name="object 175"/>
          <p:cNvGrpSpPr/>
          <p:nvPr/>
        </p:nvGrpSpPr>
        <p:grpSpPr>
          <a:xfrm>
            <a:off x="6827748" y="2078206"/>
            <a:ext cx="2748915" cy="1953260"/>
            <a:chOff x="6827748" y="2078206"/>
            <a:chExt cx="2748915" cy="1953260"/>
          </a:xfrm>
        </p:grpSpPr>
        <p:sp>
          <p:nvSpPr>
            <p:cNvPr id="176" name="object 176"/>
            <p:cNvSpPr/>
            <p:nvPr/>
          </p:nvSpPr>
          <p:spPr>
            <a:xfrm>
              <a:off x="6873293" y="2382590"/>
              <a:ext cx="2657475" cy="1332230"/>
            </a:xfrm>
            <a:custGeom>
              <a:avLst/>
              <a:gdLst/>
              <a:ahLst/>
              <a:cxnLst/>
              <a:rect l="l" t="t" r="r" b="b"/>
              <a:pathLst>
                <a:path w="2657475" h="1332229">
                  <a:moveTo>
                    <a:pt x="0" y="1331849"/>
                  </a:moveTo>
                  <a:lnTo>
                    <a:pt x="664005" y="478843"/>
                  </a:lnTo>
                  <a:lnTo>
                    <a:pt x="1328441" y="155721"/>
                  </a:lnTo>
                  <a:lnTo>
                    <a:pt x="1992442" y="28548"/>
                  </a:lnTo>
                  <a:lnTo>
                    <a:pt x="2656878" y="0"/>
                  </a:lnTo>
                </a:path>
              </a:pathLst>
            </a:custGeom>
            <a:ln w="25953">
              <a:solidFill>
                <a:srgbClr val="1B9E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" name="object 177"/>
            <p:cNvSpPr/>
            <p:nvPr/>
          </p:nvSpPr>
          <p:spPr>
            <a:xfrm>
              <a:off x="6873293" y="2646884"/>
              <a:ext cx="2657475" cy="397510"/>
            </a:xfrm>
            <a:custGeom>
              <a:avLst/>
              <a:gdLst/>
              <a:ahLst/>
              <a:cxnLst/>
              <a:rect l="l" t="t" r="r" b="b"/>
              <a:pathLst>
                <a:path w="2657475" h="397510">
                  <a:moveTo>
                    <a:pt x="0" y="397089"/>
                  </a:moveTo>
                  <a:lnTo>
                    <a:pt x="664005" y="44121"/>
                  </a:lnTo>
                  <a:lnTo>
                    <a:pt x="1328441" y="0"/>
                  </a:lnTo>
                  <a:lnTo>
                    <a:pt x="1992442" y="3893"/>
                  </a:lnTo>
                  <a:lnTo>
                    <a:pt x="2656878" y="861"/>
                  </a:lnTo>
                </a:path>
              </a:pathLst>
            </a:custGeom>
            <a:ln w="25953">
              <a:solidFill>
                <a:srgbClr val="7570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" name="object 178"/>
            <p:cNvSpPr/>
            <p:nvPr/>
          </p:nvSpPr>
          <p:spPr>
            <a:xfrm>
              <a:off x="8175749" y="2624964"/>
              <a:ext cx="52705" cy="52705"/>
            </a:xfrm>
            <a:custGeom>
              <a:avLst/>
              <a:gdLst/>
              <a:ahLst/>
              <a:cxnLst/>
              <a:rect l="l" t="t" r="r" b="b"/>
              <a:pathLst>
                <a:path w="52704" h="52705">
                  <a:moveTo>
                    <a:pt x="494" y="0"/>
                  </a:moveTo>
                  <a:lnTo>
                    <a:pt x="0" y="51903"/>
                  </a:lnTo>
                  <a:lnTo>
                    <a:pt x="51909" y="52395"/>
                  </a:lnTo>
                  <a:lnTo>
                    <a:pt x="52397" y="494"/>
                  </a:lnTo>
                  <a:lnTo>
                    <a:pt x="49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" name="object 179"/>
            <p:cNvSpPr/>
            <p:nvPr/>
          </p:nvSpPr>
          <p:spPr>
            <a:xfrm>
              <a:off x="8175749" y="2624965"/>
              <a:ext cx="52705" cy="52705"/>
            </a:xfrm>
            <a:custGeom>
              <a:avLst/>
              <a:gdLst/>
              <a:ahLst/>
              <a:cxnLst/>
              <a:rect l="l" t="t" r="r" b="b"/>
              <a:pathLst>
                <a:path w="52704" h="52705">
                  <a:moveTo>
                    <a:pt x="0" y="51901"/>
                  </a:moveTo>
                  <a:lnTo>
                    <a:pt x="51909" y="52395"/>
                  </a:lnTo>
                  <a:lnTo>
                    <a:pt x="52397" y="493"/>
                  </a:lnTo>
                  <a:lnTo>
                    <a:pt x="493" y="0"/>
                  </a:lnTo>
                  <a:lnTo>
                    <a:pt x="0" y="51901"/>
                  </a:lnTo>
                  <a:close/>
                </a:path>
              </a:pathLst>
            </a:custGeom>
            <a:ln w="20763">
              <a:solidFill>
                <a:srgbClr val="7670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" name="object 180"/>
            <p:cNvSpPr/>
            <p:nvPr/>
          </p:nvSpPr>
          <p:spPr>
            <a:xfrm>
              <a:off x="8843863" y="2624964"/>
              <a:ext cx="52705" cy="52705"/>
            </a:xfrm>
            <a:custGeom>
              <a:avLst/>
              <a:gdLst/>
              <a:ahLst/>
              <a:cxnLst/>
              <a:rect l="l" t="t" r="r" b="b"/>
              <a:pathLst>
                <a:path w="52704" h="52705">
                  <a:moveTo>
                    <a:pt x="491" y="0"/>
                  </a:moveTo>
                  <a:lnTo>
                    <a:pt x="0" y="51903"/>
                  </a:lnTo>
                  <a:lnTo>
                    <a:pt x="51908" y="52395"/>
                  </a:lnTo>
                  <a:lnTo>
                    <a:pt x="52396" y="494"/>
                  </a:lnTo>
                  <a:lnTo>
                    <a:pt x="49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" name="object 181"/>
            <p:cNvSpPr/>
            <p:nvPr/>
          </p:nvSpPr>
          <p:spPr>
            <a:xfrm>
              <a:off x="8843863" y="2624965"/>
              <a:ext cx="52705" cy="52705"/>
            </a:xfrm>
            <a:custGeom>
              <a:avLst/>
              <a:gdLst/>
              <a:ahLst/>
              <a:cxnLst/>
              <a:rect l="l" t="t" r="r" b="b"/>
              <a:pathLst>
                <a:path w="52704" h="52705">
                  <a:moveTo>
                    <a:pt x="0" y="51901"/>
                  </a:moveTo>
                  <a:lnTo>
                    <a:pt x="51909" y="52395"/>
                  </a:lnTo>
                  <a:lnTo>
                    <a:pt x="52397" y="493"/>
                  </a:lnTo>
                  <a:lnTo>
                    <a:pt x="493" y="0"/>
                  </a:lnTo>
                  <a:lnTo>
                    <a:pt x="0" y="51901"/>
                  </a:lnTo>
                  <a:close/>
                </a:path>
              </a:pathLst>
            </a:custGeom>
            <a:ln w="20763">
              <a:solidFill>
                <a:srgbClr val="7670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" name="object 182"/>
            <p:cNvSpPr/>
            <p:nvPr/>
          </p:nvSpPr>
          <p:spPr>
            <a:xfrm>
              <a:off x="9504408" y="2619773"/>
              <a:ext cx="52705" cy="52705"/>
            </a:xfrm>
            <a:custGeom>
              <a:avLst/>
              <a:gdLst/>
              <a:ahLst/>
              <a:cxnLst/>
              <a:rect l="l" t="t" r="r" b="b"/>
              <a:pathLst>
                <a:path w="52704" h="52705">
                  <a:moveTo>
                    <a:pt x="492" y="0"/>
                  </a:moveTo>
                  <a:lnTo>
                    <a:pt x="0" y="51902"/>
                  </a:lnTo>
                  <a:lnTo>
                    <a:pt x="51909" y="52395"/>
                  </a:lnTo>
                  <a:lnTo>
                    <a:pt x="52397" y="494"/>
                  </a:lnTo>
                  <a:lnTo>
                    <a:pt x="4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" name="object 183"/>
            <p:cNvSpPr/>
            <p:nvPr/>
          </p:nvSpPr>
          <p:spPr>
            <a:xfrm>
              <a:off x="9504408" y="2619774"/>
              <a:ext cx="52705" cy="52705"/>
            </a:xfrm>
            <a:custGeom>
              <a:avLst/>
              <a:gdLst/>
              <a:ahLst/>
              <a:cxnLst/>
              <a:rect l="l" t="t" r="r" b="b"/>
              <a:pathLst>
                <a:path w="52704" h="52705">
                  <a:moveTo>
                    <a:pt x="0" y="51901"/>
                  </a:moveTo>
                  <a:lnTo>
                    <a:pt x="51909" y="52395"/>
                  </a:lnTo>
                  <a:lnTo>
                    <a:pt x="52397" y="493"/>
                  </a:lnTo>
                  <a:lnTo>
                    <a:pt x="493" y="0"/>
                  </a:lnTo>
                  <a:lnTo>
                    <a:pt x="0" y="51901"/>
                  </a:lnTo>
                  <a:close/>
                </a:path>
              </a:pathLst>
            </a:custGeom>
            <a:ln w="20763">
              <a:solidFill>
                <a:srgbClr val="7670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" name="object 184"/>
            <p:cNvSpPr/>
            <p:nvPr/>
          </p:nvSpPr>
          <p:spPr>
            <a:xfrm>
              <a:off x="7514988" y="2669087"/>
              <a:ext cx="52705" cy="52705"/>
            </a:xfrm>
            <a:custGeom>
              <a:avLst/>
              <a:gdLst/>
              <a:ahLst/>
              <a:cxnLst/>
              <a:rect l="l" t="t" r="r" b="b"/>
              <a:pathLst>
                <a:path w="52704" h="52705">
                  <a:moveTo>
                    <a:pt x="0" y="51901"/>
                  </a:moveTo>
                  <a:lnTo>
                    <a:pt x="51909" y="52395"/>
                  </a:lnTo>
                  <a:lnTo>
                    <a:pt x="52397" y="493"/>
                  </a:lnTo>
                  <a:lnTo>
                    <a:pt x="493" y="0"/>
                  </a:lnTo>
                  <a:lnTo>
                    <a:pt x="0" y="51901"/>
                  </a:lnTo>
                  <a:close/>
                </a:path>
              </a:pathLst>
            </a:custGeom>
            <a:ln w="20763">
              <a:solidFill>
                <a:srgbClr val="7670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5" name="object 185"/>
            <p:cNvSpPr/>
            <p:nvPr/>
          </p:nvSpPr>
          <p:spPr>
            <a:xfrm>
              <a:off x="6847092" y="3020801"/>
              <a:ext cx="52705" cy="52705"/>
            </a:xfrm>
            <a:custGeom>
              <a:avLst/>
              <a:gdLst/>
              <a:ahLst/>
              <a:cxnLst/>
              <a:rect l="l" t="t" r="r" b="b"/>
              <a:pathLst>
                <a:path w="52704" h="52705">
                  <a:moveTo>
                    <a:pt x="494" y="0"/>
                  </a:moveTo>
                  <a:lnTo>
                    <a:pt x="0" y="51903"/>
                  </a:lnTo>
                  <a:lnTo>
                    <a:pt x="51908" y="52395"/>
                  </a:lnTo>
                  <a:lnTo>
                    <a:pt x="52396" y="494"/>
                  </a:lnTo>
                  <a:lnTo>
                    <a:pt x="49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" name="object 186"/>
            <p:cNvSpPr/>
            <p:nvPr/>
          </p:nvSpPr>
          <p:spPr>
            <a:xfrm>
              <a:off x="6847092" y="3020803"/>
              <a:ext cx="52705" cy="52705"/>
            </a:xfrm>
            <a:custGeom>
              <a:avLst/>
              <a:gdLst/>
              <a:ahLst/>
              <a:cxnLst/>
              <a:rect l="l" t="t" r="r" b="b"/>
              <a:pathLst>
                <a:path w="52704" h="52705">
                  <a:moveTo>
                    <a:pt x="0" y="51901"/>
                  </a:moveTo>
                  <a:lnTo>
                    <a:pt x="51909" y="52395"/>
                  </a:lnTo>
                  <a:lnTo>
                    <a:pt x="52397" y="493"/>
                  </a:lnTo>
                  <a:lnTo>
                    <a:pt x="493" y="0"/>
                  </a:lnTo>
                  <a:lnTo>
                    <a:pt x="0" y="51901"/>
                  </a:lnTo>
                  <a:close/>
                </a:path>
              </a:pathLst>
            </a:custGeom>
            <a:ln w="20763">
              <a:solidFill>
                <a:srgbClr val="7670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" name="object 187"/>
            <p:cNvSpPr/>
            <p:nvPr/>
          </p:nvSpPr>
          <p:spPr>
            <a:xfrm>
              <a:off x="6873293" y="2527497"/>
              <a:ext cx="2657475" cy="821055"/>
            </a:xfrm>
            <a:custGeom>
              <a:avLst/>
              <a:gdLst/>
              <a:ahLst/>
              <a:cxnLst/>
              <a:rect l="l" t="t" r="r" b="b"/>
              <a:pathLst>
                <a:path w="2657475" h="821054">
                  <a:moveTo>
                    <a:pt x="0" y="820563"/>
                  </a:moveTo>
                  <a:lnTo>
                    <a:pt x="664005" y="240932"/>
                  </a:lnTo>
                  <a:lnTo>
                    <a:pt x="1328441" y="70074"/>
                  </a:lnTo>
                  <a:lnTo>
                    <a:pt x="1992442" y="14705"/>
                  </a:lnTo>
                  <a:lnTo>
                    <a:pt x="2656878" y="0"/>
                  </a:lnTo>
                </a:path>
              </a:pathLst>
            </a:custGeom>
            <a:ln w="25953">
              <a:solidFill>
                <a:srgbClr val="D95F0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" name="object 188"/>
            <p:cNvSpPr/>
            <p:nvPr/>
          </p:nvSpPr>
          <p:spPr>
            <a:xfrm>
              <a:off x="6857720" y="2526639"/>
              <a:ext cx="2023745" cy="837565"/>
            </a:xfrm>
            <a:custGeom>
              <a:avLst/>
              <a:gdLst/>
              <a:ahLst/>
              <a:cxnLst/>
              <a:rect l="l" t="t" r="r" b="b"/>
              <a:pathLst>
                <a:path w="2023745" h="837564">
                  <a:moveTo>
                    <a:pt x="31140" y="812825"/>
                  </a:moveTo>
                  <a:lnTo>
                    <a:pt x="24168" y="805853"/>
                  </a:lnTo>
                  <a:lnTo>
                    <a:pt x="6972" y="805853"/>
                  </a:lnTo>
                  <a:lnTo>
                    <a:pt x="0" y="812825"/>
                  </a:lnTo>
                  <a:lnTo>
                    <a:pt x="0" y="830033"/>
                  </a:lnTo>
                  <a:lnTo>
                    <a:pt x="6972" y="837006"/>
                  </a:lnTo>
                  <a:lnTo>
                    <a:pt x="24168" y="837006"/>
                  </a:lnTo>
                  <a:lnTo>
                    <a:pt x="31140" y="830033"/>
                  </a:lnTo>
                  <a:lnTo>
                    <a:pt x="31140" y="821423"/>
                  </a:lnTo>
                  <a:lnTo>
                    <a:pt x="31140" y="812825"/>
                  </a:lnTo>
                  <a:close/>
                </a:path>
                <a:path w="2023745" h="837564">
                  <a:moveTo>
                    <a:pt x="2023579" y="6972"/>
                  </a:moveTo>
                  <a:lnTo>
                    <a:pt x="2016607" y="0"/>
                  </a:lnTo>
                  <a:lnTo>
                    <a:pt x="1999411" y="0"/>
                  </a:lnTo>
                  <a:lnTo>
                    <a:pt x="1992439" y="6972"/>
                  </a:lnTo>
                  <a:lnTo>
                    <a:pt x="1992439" y="24168"/>
                  </a:lnTo>
                  <a:lnTo>
                    <a:pt x="1999411" y="31140"/>
                  </a:lnTo>
                  <a:lnTo>
                    <a:pt x="2016607" y="31140"/>
                  </a:lnTo>
                  <a:lnTo>
                    <a:pt x="2023579" y="24168"/>
                  </a:lnTo>
                  <a:lnTo>
                    <a:pt x="2023579" y="15570"/>
                  </a:lnTo>
                  <a:lnTo>
                    <a:pt x="2023579" y="697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" name="object 189"/>
            <p:cNvSpPr/>
            <p:nvPr/>
          </p:nvSpPr>
          <p:spPr>
            <a:xfrm>
              <a:off x="7510042" y="2740748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00" y="28548"/>
                  </a:moveTo>
                  <a:lnTo>
                    <a:pt x="54856" y="39658"/>
                  </a:lnTo>
                  <a:lnTo>
                    <a:pt x="48738" y="48733"/>
                  </a:lnTo>
                  <a:lnTo>
                    <a:pt x="39663" y="54853"/>
                  </a:lnTo>
                  <a:lnTo>
                    <a:pt x="28550" y="57097"/>
                  </a:lnTo>
                  <a:lnTo>
                    <a:pt x="17440" y="54853"/>
                  </a:lnTo>
                  <a:lnTo>
                    <a:pt x="8365" y="48733"/>
                  </a:lnTo>
                  <a:lnTo>
                    <a:pt x="2244" y="39658"/>
                  </a:lnTo>
                  <a:lnTo>
                    <a:pt x="0" y="28548"/>
                  </a:lnTo>
                  <a:lnTo>
                    <a:pt x="2244" y="17435"/>
                  </a:lnTo>
                  <a:lnTo>
                    <a:pt x="8365" y="8360"/>
                  </a:lnTo>
                  <a:lnTo>
                    <a:pt x="17440" y="2243"/>
                  </a:lnTo>
                  <a:lnTo>
                    <a:pt x="28550" y="0"/>
                  </a:lnTo>
                  <a:lnTo>
                    <a:pt x="39663" y="2243"/>
                  </a:lnTo>
                  <a:lnTo>
                    <a:pt x="48738" y="8360"/>
                  </a:lnTo>
                  <a:lnTo>
                    <a:pt x="54856" y="17435"/>
                  </a:lnTo>
                  <a:lnTo>
                    <a:pt x="57100" y="28548"/>
                  </a:lnTo>
                </a:path>
              </a:pathLst>
            </a:custGeom>
            <a:ln w="18167">
              <a:solidFill>
                <a:srgbClr val="D6612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" name="object 190"/>
            <p:cNvSpPr/>
            <p:nvPr/>
          </p:nvSpPr>
          <p:spPr>
            <a:xfrm>
              <a:off x="8171020" y="2575943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28550" y="0"/>
                  </a:moveTo>
                  <a:lnTo>
                    <a:pt x="17440" y="2243"/>
                  </a:lnTo>
                  <a:lnTo>
                    <a:pt x="8365" y="8360"/>
                  </a:lnTo>
                  <a:lnTo>
                    <a:pt x="2244" y="17435"/>
                  </a:lnTo>
                  <a:lnTo>
                    <a:pt x="0" y="28548"/>
                  </a:lnTo>
                  <a:lnTo>
                    <a:pt x="2244" y="39658"/>
                  </a:lnTo>
                  <a:lnTo>
                    <a:pt x="8365" y="48733"/>
                  </a:lnTo>
                  <a:lnTo>
                    <a:pt x="17440" y="54853"/>
                  </a:lnTo>
                  <a:lnTo>
                    <a:pt x="28550" y="57097"/>
                  </a:lnTo>
                  <a:lnTo>
                    <a:pt x="39663" y="54853"/>
                  </a:lnTo>
                  <a:lnTo>
                    <a:pt x="48738" y="48733"/>
                  </a:lnTo>
                  <a:lnTo>
                    <a:pt x="54856" y="39658"/>
                  </a:lnTo>
                  <a:lnTo>
                    <a:pt x="57100" y="28548"/>
                  </a:lnTo>
                  <a:lnTo>
                    <a:pt x="54856" y="17435"/>
                  </a:lnTo>
                  <a:lnTo>
                    <a:pt x="48738" y="8360"/>
                  </a:lnTo>
                  <a:lnTo>
                    <a:pt x="39663" y="2243"/>
                  </a:lnTo>
                  <a:lnTo>
                    <a:pt x="285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" name="object 191"/>
            <p:cNvSpPr/>
            <p:nvPr/>
          </p:nvSpPr>
          <p:spPr>
            <a:xfrm>
              <a:off x="8171020" y="2575943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00" y="28548"/>
                  </a:moveTo>
                  <a:lnTo>
                    <a:pt x="54856" y="39658"/>
                  </a:lnTo>
                  <a:lnTo>
                    <a:pt x="48738" y="48733"/>
                  </a:lnTo>
                  <a:lnTo>
                    <a:pt x="39663" y="54853"/>
                  </a:lnTo>
                  <a:lnTo>
                    <a:pt x="28550" y="57097"/>
                  </a:lnTo>
                  <a:lnTo>
                    <a:pt x="17440" y="54853"/>
                  </a:lnTo>
                  <a:lnTo>
                    <a:pt x="8365" y="48733"/>
                  </a:lnTo>
                  <a:lnTo>
                    <a:pt x="2244" y="39658"/>
                  </a:lnTo>
                  <a:lnTo>
                    <a:pt x="0" y="28548"/>
                  </a:lnTo>
                  <a:lnTo>
                    <a:pt x="2244" y="17435"/>
                  </a:lnTo>
                  <a:lnTo>
                    <a:pt x="8365" y="8360"/>
                  </a:lnTo>
                  <a:lnTo>
                    <a:pt x="17440" y="2243"/>
                  </a:lnTo>
                  <a:lnTo>
                    <a:pt x="28550" y="0"/>
                  </a:lnTo>
                  <a:lnTo>
                    <a:pt x="39663" y="2243"/>
                  </a:lnTo>
                  <a:lnTo>
                    <a:pt x="48738" y="8360"/>
                  </a:lnTo>
                  <a:lnTo>
                    <a:pt x="54856" y="17435"/>
                  </a:lnTo>
                  <a:lnTo>
                    <a:pt x="57100" y="28548"/>
                  </a:lnTo>
                </a:path>
              </a:pathLst>
            </a:custGeom>
            <a:ln w="18167">
              <a:solidFill>
                <a:srgbClr val="D6612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" name="object 192"/>
            <p:cNvSpPr/>
            <p:nvPr/>
          </p:nvSpPr>
          <p:spPr>
            <a:xfrm>
              <a:off x="8838915" y="2512356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28550" y="0"/>
                  </a:moveTo>
                  <a:lnTo>
                    <a:pt x="17440" y="2243"/>
                  </a:lnTo>
                  <a:lnTo>
                    <a:pt x="8365" y="8360"/>
                  </a:lnTo>
                  <a:lnTo>
                    <a:pt x="2244" y="17435"/>
                  </a:lnTo>
                  <a:lnTo>
                    <a:pt x="0" y="28548"/>
                  </a:lnTo>
                  <a:lnTo>
                    <a:pt x="2244" y="39658"/>
                  </a:lnTo>
                  <a:lnTo>
                    <a:pt x="8365" y="48733"/>
                  </a:lnTo>
                  <a:lnTo>
                    <a:pt x="17440" y="54853"/>
                  </a:lnTo>
                  <a:lnTo>
                    <a:pt x="28550" y="57097"/>
                  </a:lnTo>
                  <a:lnTo>
                    <a:pt x="39663" y="54853"/>
                  </a:lnTo>
                  <a:lnTo>
                    <a:pt x="48738" y="48733"/>
                  </a:lnTo>
                  <a:lnTo>
                    <a:pt x="54856" y="39658"/>
                  </a:lnTo>
                  <a:lnTo>
                    <a:pt x="57100" y="28548"/>
                  </a:lnTo>
                  <a:lnTo>
                    <a:pt x="54856" y="17435"/>
                  </a:lnTo>
                  <a:lnTo>
                    <a:pt x="48738" y="8360"/>
                  </a:lnTo>
                  <a:lnTo>
                    <a:pt x="39663" y="2243"/>
                  </a:lnTo>
                  <a:lnTo>
                    <a:pt x="285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" name="object 193"/>
            <p:cNvSpPr/>
            <p:nvPr/>
          </p:nvSpPr>
          <p:spPr>
            <a:xfrm>
              <a:off x="8838915" y="2512356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00" y="28548"/>
                  </a:moveTo>
                  <a:lnTo>
                    <a:pt x="54856" y="39658"/>
                  </a:lnTo>
                  <a:lnTo>
                    <a:pt x="48738" y="48733"/>
                  </a:lnTo>
                  <a:lnTo>
                    <a:pt x="39663" y="54853"/>
                  </a:lnTo>
                  <a:lnTo>
                    <a:pt x="28550" y="57097"/>
                  </a:lnTo>
                  <a:lnTo>
                    <a:pt x="17440" y="54853"/>
                  </a:lnTo>
                  <a:lnTo>
                    <a:pt x="8365" y="48733"/>
                  </a:lnTo>
                  <a:lnTo>
                    <a:pt x="2244" y="39658"/>
                  </a:lnTo>
                  <a:lnTo>
                    <a:pt x="0" y="28548"/>
                  </a:lnTo>
                  <a:lnTo>
                    <a:pt x="2244" y="17435"/>
                  </a:lnTo>
                  <a:lnTo>
                    <a:pt x="8365" y="8360"/>
                  </a:lnTo>
                  <a:lnTo>
                    <a:pt x="17440" y="2243"/>
                  </a:lnTo>
                  <a:lnTo>
                    <a:pt x="28550" y="0"/>
                  </a:lnTo>
                  <a:lnTo>
                    <a:pt x="39663" y="2243"/>
                  </a:lnTo>
                  <a:lnTo>
                    <a:pt x="48738" y="8360"/>
                  </a:lnTo>
                  <a:lnTo>
                    <a:pt x="54856" y="17435"/>
                  </a:lnTo>
                  <a:lnTo>
                    <a:pt x="57100" y="28548"/>
                  </a:lnTo>
                </a:path>
              </a:pathLst>
            </a:custGeom>
            <a:ln w="18167">
              <a:solidFill>
                <a:srgbClr val="D6612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4" name="object 19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492973" y="2495487"/>
              <a:ext cx="75267" cy="75265"/>
            </a:xfrm>
            <a:prstGeom prst="rect">
              <a:avLst/>
            </a:prstGeom>
          </p:spPr>
        </p:pic>
        <p:sp>
          <p:nvSpPr>
            <p:cNvPr id="195" name="object 195"/>
            <p:cNvSpPr/>
            <p:nvPr/>
          </p:nvSpPr>
          <p:spPr>
            <a:xfrm>
              <a:off x="6844742" y="3316918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28550" y="0"/>
                  </a:moveTo>
                  <a:lnTo>
                    <a:pt x="17440" y="2243"/>
                  </a:lnTo>
                  <a:lnTo>
                    <a:pt x="8365" y="8360"/>
                  </a:lnTo>
                  <a:lnTo>
                    <a:pt x="2244" y="17435"/>
                  </a:lnTo>
                  <a:lnTo>
                    <a:pt x="0" y="28548"/>
                  </a:lnTo>
                  <a:lnTo>
                    <a:pt x="2244" y="39658"/>
                  </a:lnTo>
                  <a:lnTo>
                    <a:pt x="8365" y="48733"/>
                  </a:lnTo>
                  <a:lnTo>
                    <a:pt x="17440" y="54853"/>
                  </a:lnTo>
                  <a:lnTo>
                    <a:pt x="28550" y="57097"/>
                  </a:lnTo>
                  <a:lnTo>
                    <a:pt x="39663" y="54853"/>
                  </a:lnTo>
                  <a:lnTo>
                    <a:pt x="48738" y="48733"/>
                  </a:lnTo>
                  <a:lnTo>
                    <a:pt x="54856" y="39658"/>
                  </a:lnTo>
                  <a:lnTo>
                    <a:pt x="57100" y="28548"/>
                  </a:lnTo>
                  <a:lnTo>
                    <a:pt x="54856" y="17435"/>
                  </a:lnTo>
                  <a:lnTo>
                    <a:pt x="48738" y="8360"/>
                  </a:lnTo>
                  <a:lnTo>
                    <a:pt x="39663" y="2243"/>
                  </a:lnTo>
                  <a:lnTo>
                    <a:pt x="285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6" name="object 196"/>
            <p:cNvSpPr/>
            <p:nvPr/>
          </p:nvSpPr>
          <p:spPr>
            <a:xfrm>
              <a:off x="6844742" y="3316918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00" y="28548"/>
                  </a:moveTo>
                  <a:lnTo>
                    <a:pt x="54856" y="39658"/>
                  </a:lnTo>
                  <a:lnTo>
                    <a:pt x="48738" y="48733"/>
                  </a:lnTo>
                  <a:lnTo>
                    <a:pt x="39663" y="54853"/>
                  </a:lnTo>
                  <a:lnTo>
                    <a:pt x="28550" y="57097"/>
                  </a:lnTo>
                  <a:lnTo>
                    <a:pt x="17440" y="54853"/>
                  </a:lnTo>
                  <a:lnTo>
                    <a:pt x="8365" y="48733"/>
                  </a:lnTo>
                  <a:lnTo>
                    <a:pt x="2244" y="39658"/>
                  </a:lnTo>
                  <a:lnTo>
                    <a:pt x="0" y="28548"/>
                  </a:lnTo>
                  <a:lnTo>
                    <a:pt x="2244" y="17435"/>
                  </a:lnTo>
                  <a:lnTo>
                    <a:pt x="8365" y="8360"/>
                  </a:lnTo>
                  <a:lnTo>
                    <a:pt x="17440" y="2243"/>
                  </a:lnTo>
                  <a:lnTo>
                    <a:pt x="28550" y="0"/>
                  </a:lnTo>
                  <a:lnTo>
                    <a:pt x="39663" y="2243"/>
                  </a:lnTo>
                  <a:lnTo>
                    <a:pt x="48738" y="8360"/>
                  </a:lnTo>
                  <a:lnTo>
                    <a:pt x="54856" y="17435"/>
                  </a:lnTo>
                  <a:lnTo>
                    <a:pt x="57100" y="28548"/>
                  </a:lnTo>
                </a:path>
              </a:pathLst>
            </a:custGeom>
            <a:ln w="18167">
              <a:solidFill>
                <a:srgbClr val="D6612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" name="object 197"/>
            <p:cNvSpPr/>
            <p:nvPr/>
          </p:nvSpPr>
          <p:spPr>
            <a:xfrm>
              <a:off x="6836956" y="2517990"/>
              <a:ext cx="1383030" cy="1207135"/>
            </a:xfrm>
            <a:custGeom>
              <a:avLst/>
              <a:gdLst/>
              <a:ahLst/>
              <a:cxnLst/>
              <a:rect l="l" t="t" r="r" b="b"/>
              <a:pathLst>
                <a:path w="1383029" h="1207135">
                  <a:moveTo>
                    <a:pt x="72669" y="1204137"/>
                  </a:moveTo>
                  <a:lnTo>
                    <a:pt x="36322" y="1141222"/>
                  </a:lnTo>
                  <a:lnTo>
                    <a:pt x="0" y="1204137"/>
                  </a:lnTo>
                  <a:lnTo>
                    <a:pt x="20142" y="1204137"/>
                  </a:lnTo>
                  <a:lnTo>
                    <a:pt x="18592" y="1206830"/>
                  </a:lnTo>
                  <a:lnTo>
                    <a:pt x="54076" y="1206830"/>
                  </a:lnTo>
                  <a:lnTo>
                    <a:pt x="52514" y="1204137"/>
                  </a:lnTo>
                  <a:lnTo>
                    <a:pt x="72669" y="1204137"/>
                  </a:lnTo>
                  <a:close/>
                </a:path>
                <a:path w="1383029" h="1207135">
                  <a:moveTo>
                    <a:pt x="1382509" y="30708"/>
                  </a:moveTo>
                  <a:lnTo>
                    <a:pt x="1364767" y="0"/>
                  </a:lnTo>
                  <a:lnTo>
                    <a:pt x="1347038" y="30708"/>
                  </a:lnTo>
                  <a:lnTo>
                    <a:pt x="1382509" y="3070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8" name="object 198"/>
            <p:cNvSpPr/>
            <p:nvPr/>
          </p:nvSpPr>
          <p:spPr>
            <a:xfrm>
              <a:off x="6836955" y="3659209"/>
              <a:ext cx="73025" cy="63500"/>
            </a:xfrm>
            <a:custGeom>
              <a:avLst/>
              <a:gdLst/>
              <a:ahLst/>
              <a:cxnLst/>
              <a:rect l="l" t="t" r="r" b="b"/>
              <a:pathLst>
                <a:path w="73025" h="63500">
                  <a:moveTo>
                    <a:pt x="0" y="62916"/>
                  </a:moveTo>
                  <a:lnTo>
                    <a:pt x="72672" y="62916"/>
                  </a:lnTo>
                  <a:lnTo>
                    <a:pt x="36331" y="0"/>
                  </a:lnTo>
                  <a:lnTo>
                    <a:pt x="0" y="62916"/>
                  </a:lnTo>
                  <a:close/>
                </a:path>
              </a:pathLst>
            </a:custGeom>
            <a:ln w="18167">
              <a:solidFill>
                <a:srgbClr val="199D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9" name="object 199"/>
            <p:cNvSpPr/>
            <p:nvPr/>
          </p:nvSpPr>
          <p:spPr>
            <a:xfrm>
              <a:off x="9512438" y="2362258"/>
              <a:ext cx="35560" cy="31115"/>
            </a:xfrm>
            <a:custGeom>
              <a:avLst/>
              <a:gdLst/>
              <a:ahLst/>
              <a:cxnLst/>
              <a:rect l="l" t="t" r="r" b="b"/>
              <a:pathLst>
                <a:path w="35559" h="31114">
                  <a:moveTo>
                    <a:pt x="17731" y="0"/>
                  </a:moveTo>
                  <a:lnTo>
                    <a:pt x="0" y="30712"/>
                  </a:lnTo>
                  <a:lnTo>
                    <a:pt x="35469" y="30712"/>
                  </a:lnTo>
                  <a:lnTo>
                    <a:pt x="1773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0" name="object 200"/>
            <p:cNvSpPr/>
            <p:nvPr/>
          </p:nvSpPr>
          <p:spPr>
            <a:xfrm>
              <a:off x="7505116" y="2827165"/>
              <a:ext cx="73025" cy="63500"/>
            </a:xfrm>
            <a:custGeom>
              <a:avLst/>
              <a:gdLst/>
              <a:ahLst/>
              <a:cxnLst/>
              <a:rect l="l" t="t" r="r" b="b"/>
              <a:pathLst>
                <a:path w="73025" h="63500">
                  <a:moveTo>
                    <a:pt x="0" y="62916"/>
                  </a:moveTo>
                  <a:lnTo>
                    <a:pt x="72672" y="62916"/>
                  </a:lnTo>
                  <a:lnTo>
                    <a:pt x="36331" y="0"/>
                  </a:lnTo>
                  <a:lnTo>
                    <a:pt x="0" y="62916"/>
                  </a:lnTo>
                  <a:close/>
                </a:path>
              </a:pathLst>
            </a:custGeom>
            <a:ln w="18167">
              <a:solidFill>
                <a:srgbClr val="199D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1" name="object 201"/>
            <p:cNvSpPr/>
            <p:nvPr/>
          </p:nvSpPr>
          <p:spPr>
            <a:xfrm>
              <a:off x="8165610" y="2499085"/>
              <a:ext cx="73025" cy="63500"/>
            </a:xfrm>
            <a:custGeom>
              <a:avLst/>
              <a:gdLst/>
              <a:ahLst/>
              <a:cxnLst/>
              <a:rect l="l" t="t" r="r" b="b"/>
              <a:pathLst>
                <a:path w="73025" h="63500">
                  <a:moveTo>
                    <a:pt x="36332" y="0"/>
                  </a:moveTo>
                  <a:lnTo>
                    <a:pt x="0" y="62915"/>
                  </a:lnTo>
                  <a:lnTo>
                    <a:pt x="72673" y="62915"/>
                  </a:lnTo>
                  <a:lnTo>
                    <a:pt x="3633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2" name="object 202"/>
            <p:cNvSpPr/>
            <p:nvPr/>
          </p:nvSpPr>
          <p:spPr>
            <a:xfrm>
              <a:off x="8165610" y="2499084"/>
              <a:ext cx="73025" cy="63500"/>
            </a:xfrm>
            <a:custGeom>
              <a:avLst/>
              <a:gdLst/>
              <a:ahLst/>
              <a:cxnLst/>
              <a:rect l="l" t="t" r="r" b="b"/>
              <a:pathLst>
                <a:path w="73025" h="63500">
                  <a:moveTo>
                    <a:pt x="0" y="62916"/>
                  </a:moveTo>
                  <a:lnTo>
                    <a:pt x="72672" y="62916"/>
                  </a:lnTo>
                  <a:lnTo>
                    <a:pt x="36331" y="0"/>
                  </a:lnTo>
                  <a:lnTo>
                    <a:pt x="0" y="62916"/>
                  </a:lnTo>
                  <a:close/>
                </a:path>
              </a:pathLst>
            </a:custGeom>
            <a:ln w="18167">
              <a:solidFill>
                <a:srgbClr val="199D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3" name="object 20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822045" y="2362828"/>
              <a:ext cx="90840" cy="81084"/>
            </a:xfrm>
            <a:prstGeom prst="rect">
              <a:avLst/>
            </a:prstGeom>
          </p:spPr>
        </p:pic>
        <p:sp>
          <p:nvSpPr>
            <p:cNvPr id="204" name="object 204"/>
            <p:cNvSpPr/>
            <p:nvPr/>
          </p:nvSpPr>
          <p:spPr>
            <a:xfrm>
              <a:off x="9494269" y="2350579"/>
              <a:ext cx="73025" cy="63500"/>
            </a:xfrm>
            <a:custGeom>
              <a:avLst/>
              <a:gdLst/>
              <a:ahLst/>
              <a:cxnLst/>
              <a:rect l="l" t="t" r="r" b="b"/>
              <a:pathLst>
                <a:path w="73025" h="63500">
                  <a:moveTo>
                    <a:pt x="36329" y="0"/>
                  </a:moveTo>
                  <a:lnTo>
                    <a:pt x="0" y="62917"/>
                  </a:lnTo>
                  <a:lnTo>
                    <a:pt x="72673" y="62917"/>
                  </a:lnTo>
                  <a:lnTo>
                    <a:pt x="3632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5" name="object 205"/>
            <p:cNvSpPr/>
            <p:nvPr/>
          </p:nvSpPr>
          <p:spPr>
            <a:xfrm>
              <a:off x="9494269" y="2350579"/>
              <a:ext cx="73025" cy="63500"/>
            </a:xfrm>
            <a:custGeom>
              <a:avLst/>
              <a:gdLst/>
              <a:ahLst/>
              <a:cxnLst/>
              <a:rect l="l" t="t" r="r" b="b"/>
              <a:pathLst>
                <a:path w="73025" h="63500">
                  <a:moveTo>
                    <a:pt x="0" y="62916"/>
                  </a:moveTo>
                  <a:lnTo>
                    <a:pt x="72672" y="62916"/>
                  </a:lnTo>
                  <a:lnTo>
                    <a:pt x="36331" y="0"/>
                  </a:lnTo>
                  <a:lnTo>
                    <a:pt x="0" y="62916"/>
                  </a:lnTo>
                  <a:close/>
                </a:path>
              </a:pathLst>
            </a:custGeom>
            <a:ln w="18167">
              <a:solidFill>
                <a:srgbClr val="199D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6" name="object 206"/>
            <p:cNvSpPr/>
            <p:nvPr/>
          </p:nvSpPr>
          <p:spPr>
            <a:xfrm>
              <a:off x="6873292" y="2079799"/>
              <a:ext cx="2657475" cy="1950085"/>
            </a:xfrm>
            <a:custGeom>
              <a:avLst/>
              <a:gdLst/>
              <a:ahLst/>
              <a:cxnLst/>
              <a:rect l="l" t="t" r="r" b="b"/>
              <a:pathLst>
                <a:path w="2657475" h="1950085">
                  <a:moveTo>
                    <a:pt x="0" y="0"/>
                  </a:moveTo>
                  <a:lnTo>
                    <a:pt x="2656878" y="0"/>
                  </a:lnTo>
                  <a:lnTo>
                    <a:pt x="2656878" y="1949544"/>
                  </a:lnTo>
                  <a:lnTo>
                    <a:pt x="0" y="1949544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7" name="object 207"/>
            <p:cNvSpPr/>
            <p:nvPr/>
          </p:nvSpPr>
          <p:spPr>
            <a:xfrm>
              <a:off x="6873293" y="4029344"/>
              <a:ext cx="2657475" cy="0"/>
            </a:xfrm>
            <a:custGeom>
              <a:avLst/>
              <a:gdLst/>
              <a:ahLst/>
              <a:cxnLst/>
              <a:rect l="l" t="t" r="r" b="b"/>
              <a:pathLst>
                <a:path w="2657475">
                  <a:moveTo>
                    <a:pt x="0" y="0"/>
                  </a:moveTo>
                  <a:lnTo>
                    <a:pt x="265687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8" name="object 208"/>
            <p:cNvSpPr/>
            <p:nvPr/>
          </p:nvSpPr>
          <p:spPr>
            <a:xfrm>
              <a:off x="6873293" y="2079793"/>
              <a:ext cx="2657475" cy="0"/>
            </a:xfrm>
            <a:custGeom>
              <a:avLst/>
              <a:gdLst/>
              <a:ahLst/>
              <a:cxnLst/>
              <a:rect l="l" t="t" r="r" b="b"/>
              <a:pathLst>
                <a:path w="2657475">
                  <a:moveTo>
                    <a:pt x="0" y="0"/>
                  </a:moveTo>
                  <a:lnTo>
                    <a:pt x="265687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9" name="object 209"/>
            <p:cNvSpPr/>
            <p:nvPr/>
          </p:nvSpPr>
          <p:spPr>
            <a:xfrm>
              <a:off x="6873293" y="2079794"/>
              <a:ext cx="0" cy="1950085"/>
            </a:xfrm>
            <a:custGeom>
              <a:avLst/>
              <a:gdLst/>
              <a:ahLst/>
              <a:cxnLst/>
              <a:rect l="l" t="t" r="r" b="b"/>
              <a:pathLst>
                <a:path h="1950085">
                  <a:moveTo>
                    <a:pt x="0" y="194954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0" name="object 210"/>
            <p:cNvSpPr/>
            <p:nvPr/>
          </p:nvSpPr>
          <p:spPr>
            <a:xfrm>
              <a:off x="9530172" y="2079794"/>
              <a:ext cx="0" cy="1950085"/>
            </a:xfrm>
            <a:custGeom>
              <a:avLst/>
              <a:gdLst/>
              <a:ahLst/>
              <a:cxnLst/>
              <a:rect l="l" t="t" r="r" b="b"/>
              <a:pathLst>
                <a:path h="1950085">
                  <a:moveTo>
                    <a:pt x="0" y="194954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1" name="object 211"/>
            <p:cNvSpPr/>
            <p:nvPr/>
          </p:nvSpPr>
          <p:spPr>
            <a:xfrm>
              <a:off x="6873293" y="2079794"/>
              <a:ext cx="2657475" cy="1950085"/>
            </a:xfrm>
            <a:custGeom>
              <a:avLst/>
              <a:gdLst/>
              <a:ahLst/>
              <a:cxnLst/>
              <a:rect l="l" t="t" r="r" b="b"/>
              <a:pathLst>
                <a:path w="2657475" h="1950085">
                  <a:moveTo>
                    <a:pt x="0" y="1949549"/>
                  </a:moveTo>
                  <a:lnTo>
                    <a:pt x="2656878" y="1949549"/>
                  </a:lnTo>
                </a:path>
                <a:path w="2657475" h="1950085">
                  <a:moveTo>
                    <a:pt x="0" y="1949549"/>
                  </a:moveTo>
                  <a:lnTo>
                    <a:pt x="0" y="0"/>
                  </a:lnTo>
                </a:path>
                <a:path w="2657475" h="1950085">
                  <a:moveTo>
                    <a:pt x="0" y="1949549"/>
                  </a:moveTo>
                  <a:lnTo>
                    <a:pt x="0" y="19227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2" name="object 212"/>
            <p:cNvSpPr/>
            <p:nvPr/>
          </p:nvSpPr>
          <p:spPr>
            <a:xfrm>
              <a:off x="6873293" y="2079793"/>
              <a:ext cx="0" cy="26670"/>
            </a:xfrm>
            <a:custGeom>
              <a:avLst/>
              <a:gdLst/>
              <a:ahLst/>
              <a:cxnLst/>
              <a:rect l="l" t="t" r="r" b="b"/>
              <a:pathLst>
                <a:path h="26669">
                  <a:moveTo>
                    <a:pt x="0" y="0"/>
                  </a:moveTo>
                  <a:lnTo>
                    <a:pt x="0" y="2638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3" name="object 213"/>
          <p:cNvSpPr txBox="1"/>
          <p:nvPr/>
        </p:nvSpPr>
        <p:spPr>
          <a:xfrm>
            <a:off x="6832042" y="4023999"/>
            <a:ext cx="83185" cy="1504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00" spc="5" dirty="0">
                <a:latin typeface="Arial MT"/>
                <a:cs typeface="Arial MT"/>
              </a:rPr>
              <a:t>2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214" name="object 214"/>
          <p:cNvGrpSpPr/>
          <p:nvPr/>
        </p:nvGrpSpPr>
        <p:grpSpPr>
          <a:xfrm>
            <a:off x="7535711" y="2078206"/>
            <a:ext cx="3175" cy="1953260"/>
            <a:chOff x="7535711" y="2078206"/>
            <a:chExt cx="3175" cy="1953260"/>
          </a:xfrm>
        </p:grpSpPr>
        <p:sp>
          <p:nvSpPr>
            <p:cNvPr id="215" name="object 215"/>
            <p:cNvSpPr/>
            <p:nvPr/>
          </p:nvSpPr>
          <p:spPr>
            <a:xfrm>
              <a:off x="7537298" y="4002523"/>
              <a:ext cx="0" cy="27305"/>
            </a:xfrm>
            <a:custGeom>
              <a:avLst/>
              <a:gdLst/>
              <a:ahLst/>
              <a:cxnLst/>
              <a:rect l="l" t="t" r="r" b="b"/>
              <a:pathLst>
                <a:path h="27304">
                  <a:moveTo>
                    <a:pt x="0" y="2682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6" name="object 216"/>
            <p:cNvSpPr/>
            <p:nvPr/>
          </p:nvSpPr>
          <p:spPr>
            <a:xfrm>
              <a:off x="7537298" y="2079793"/>
              <a:ext cx="0" cy="26670"/>
            </a:xfrm>
            <a:custGeom>
              <a:avLst/>
              <a:gdLst/>
              <a:ahLst/>
              <a:cxnLst/>
              <a:rect l="l" t="t" r="r" b="b"/>
              <a:pathLst>
                <a:path h="26669">
                  <a:moveTo>
                    <a:pt x="0" y="0"/>
                  </a:moveTo>
                  <a:lnTo>
                    <a:pt x="0" y="2638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7" name="object 217"/>
          <p:cNvSpPr txBox="1"/>
          <p:nvPr/>
        </p:nvSpPr>
        <p:spPr>
          <a:xfrm>
            <a:off x="7496047" y="4023999"/>
            <a:ext cx="83185" cy="1504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00" spc="5" dirty="0">
                <a:latin typeface="Arial MT"/>
                <a:cs typeface="Arial MT"/>
              </a:rPr>
              <a:t>4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218" name="object 218"/>
          <p:cNvGrpSpPr/>
          <p:nvPr/>
        </p:nvGrpSpPr>
        <p:grpSpPr>
          <a:xfrm>
            <a:off x="8200147" y="2078206"/>
            <a:ext cx="667385" cy="1953260"/>
            <a:chOff x="8200147" y="2078206"/>
            <a:chExt cx="667385" cy="1953260"/>
          </a:xfrm>
        </p:grpSpPr>
        <p:sp>
          <p:nvSpPr>
            <p:cNvPr id="219" name="object 219"/>
            <p:cNvSpPr/>
            <p:nvPr/>
          </p:nvSpPr>
          <p:spPr>
            <a:xfrm>
              <a:off x="8201735" y="4002523"/>
              <a:ext cx="0" cy="27305"/>
            </a:xfrm>
            <a:custGeom>
              <a:avLst/>
              <a:gdLst/>
              <a:ahLst/>
              <a:cxnLst/>
              <a:rect l="l" t="t" r="r" b="b"/>
              <a:pathLst>
                <a:path h="27304">
                  <a:moveTo>
                    <a:pt x="0" y="2682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0" name="object 220"/>
            <p:cNvSpPr/>
            <p:nvPr/>
          </p:nvSpPr>
          <p:spPr>
            <a:xfrm>
              <a:off x="8201735" y="2079793"/>
              <a:ext cx="0" cy="26670"/>
            </a:xfrm>
            <a:custGeom>
              <a:avLst/>
              <a:gdLst/>
              <a:ahLst/>
              <a:cxnLst/>
              <a:rect l="l" t="t" r="r" b="b"/>
              <a:pathLst>
                <a:path h="26669">
                  <a:moveTo>
                    <a:pt x="0" y="0"/>
                  </a:moveTo>
                  <a:lnTo>
                    <a:pt x="0" y="2638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1" name="object 221"/>
            <p:cNvSpPr/>
            <p:nvPr/>
          </p:nvSpPr>
          <p:spPr>
            <a:xfrm>
              <a:off x="8865735" y="4002523"/>
              <a:ext cx="0" cy="27305"/>
            </a:xfrm>
            <a:custGeom>
              <a:avLst/>
              <a:gdLst/>
              <a:ahLst/>
              <a:cxnLst/>
              <a:rect l="l" t="t" r="r" b="b"/>
              <a:pathLst>
                <a:path h="27304">
                  <a:moveTo>
                    <a:pt x="0" y="2682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2" name="object 222"/>
            <p:cNvSpPr/>
            <p:nvPr/>
          </p:nvSpPr>
          <p:spPr>
            <a:xfrm>
              <a:off x="8865735" y="2079793"/>
              <a:ext cx="0" cy="26670"/>
            </a:xfrm>
            <a:custGeom>
              <a:avLst/>
              <a:gdLst/>
              <a:ahLst/>
              <a:cxnLst/>
              <a:rect l="l" t="t" r="r" b="b"/>
              <a:pathLst>
                <a:path h="26669">
                  <a:moveTo>
                    <a:pt x="0" y="0"/>
                  </a:moveTo>
                  <a:lnTo>
                    <a:pt x="0" y="2638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3" name="object 223"/>
          <p:cNvSpPr txBox="1"/>
          <p:nvPr/>
        </p:nvSpPr>
        <p:spPr>
          <a:xfrm>
            <a:off x="8824484" y="4023999"/>
            <a:ext cx="83185" cy="1504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00" spc="5" dirty="0">
                <a:latin typeface="Arial MT"/>
                <a:cs typeface="Arial MT"/>
              </a:rPr>
              <a:t>8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224" name="object 224"/>
          <p:cNvGrpSpPr/>
          <p:nvPr/>
        </p:nvGrpSpPr>
        <p:grpSpPr>
          <a:xfrm>
            <a:off x="9528585" y="2078206"/>
            <a:ext cx="3175" cy="1953260"/>
            <a:chOff x="9528585" y="2078206"/>
            <a:chExt cx="3175" cy="1953260"/>
          </a:xfrm>
        </p:grpSpPr>
        <p:sp>
          <p:nvSpPr>
            <p:cNvPr id="225" name="object 225"/>
            <p:cNvSpPr/>
            <p:nvPr/>
          </p:nvSpPr>
          <p:spPr>
            <a:xfrm>
              <a:off x="9530172" y="4002523"/>
              <a:ext cx="0" cy="27305"/>
            </a:xfrm>
            <a:custGeom>
              <a:avLst/>
              <a:gdLst/>
              <a:ahLst/>
              <a:cxnLst/>
              <a:rect l="l" t="t" r="r" b="b"/>
              <a:pathLst>
                <a:path h="27304">
                  <a:moveTo>
                    <a:pt x="0" y="2682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6" name="object 226"/>
            <p:cNvSpPr/>
            <p:nvPr/>
          </p:nvSpPr>
          <p:spPr>
            <a:xfrm>
              <a:off x="9530172" y="2079793"/>
              <a:ext cx="0" cy="26670"/>
            </a:xfrm>
            <a:custGeom>
              <a:avLst/>
              <a:gdLst/>
              <a:ahLst/>
              <a:cxnLst/>
              <a:rect l="l" t="t" r="r" b="b"/>
              <a:pathLst>
                <a:path h="26669">
                  <a:moveTo>
                    <a:pt x="0" y="0"/>
                  </a:moveTo>
                  <a:lnTo>
                    <a:pt x="0" y="2638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7" name="object 227"/>
          <p:cNvSpPr txBox="1"/>
          <p:nvPr/>
        </p:nvSpPr>
        <p:spPr>
          <a:xfrm>
            <a:off x="9459940" y="4023999"/>
            <a:ext cx="140970" cy="1504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00" dirty="0">
                <a:latin typeface="Arial MT"/>
                <a:cs typeface="Arial MT"/>
              </a:rPr>
              <a:t>10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228" name="object 228"/>
          <p:cNvGrpSpPr/>
          <p:nvPr/>
        </p:nvGrpSpPr>
        <p:grpSpPr>
          <a:xfrm>
            <a:off x="6871706" y="4027756"/>
            <a:ext cx="2660650" cy="3175"/>
            <a:chOff x="6871706" y="4027756"/>
            <a:chExt cx="2660650" cy="3175"/>
          </a:xfrm>
        </p:grpSpPr>
        <p:sp>
          <p:nvSpPr>
            <p:cNvPr id="229" name="object 229"/>
            <p:cNvSpPr/>
            <p:nvPr/>
          </p:nvSpPr>
          <p:spPr>
            <a:xfrm>
              <a:off x="6873293" y="4029344"/>
              <a:ext cx="26670" cy="0"/>
            </a:xfrm>
            <a:custGeom>
              <a:avLst/>
              <a:gdLst/>
              <a:ahLst/>
              <a:cxnLst/>
              <a:rect l="l" t="t" r="r" b="b"/>
              <a:pathLst>
                <a:path w="26670">
                  <a:moveTo>
                    <a:pt x="0" y="0"/>
                  </a:moveTo>
                  <a:lnTo>
                    <a:pt x="2638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0" name="object 230"/>
            <p:cNvSpPr/>
            <p:nvPr/>
          </p:nvSpPr>
          <p:spPr>
            <a:xfrm>
              <a:off x="9503356" y="4029344"/>
              <a:ext cx="27305" cy="0"/>
            </a:xfrm>
            <a:custGeom>
              <a:avLst/>
              <a:gdLst/>
              <a:ahLst/>
              <a:cxnLst/>
              <a:rect l="l" t="t" r="r" b="b"/>
              <a:pathLst>
                <a:path w="27304">
                  <a:moveTo>
                    <a:pt x="26816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1" name="object 231"/>
          <p:cNvSpPr txBox="1"/>
          <p:nvPr/>
        </p:nvSpPr>
        <p:spPr>
          <a:xfrm>
            <a:off x="6730389" y="3951329"/>
            <a:ext cx="140970" cy="1504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00" dirty="0">
                <a:latin typeface="Arial MT"/>
                <a:cs typeface="Arial MT"/>
              </a:rPr>
              <a:t>40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232" name="object 232"/>
          <p:cNvGrpSpPr/>
          <p:nvPr/>
        </p:nvGrpSpPr>
        <p:grpSpPr>
          <a:xfrm>
            <a:off x="6871706" y="3377619"/>
            <a:ext cx="2660650" cy="328295"/>
            <a:chOff x="6871706" y="3377619"/>
            <a:chExt cx="2660650" cy="328295"/>
          </a:xfrm>
        </p:grpSpPr>
        <p:sp>
          <p:nvSpPr>
            <p:cNvPr id="233" name="object 233"/>
            <p:cNvSpPr/>
            <p:nvPr/>
          </p:nvSpPr>
          <p:spPr>
            <a:xfrm>
              <a:off x="6873293" y="3704058"/>
              <a:ext cx="26670" cy="0"/>
            </a:xfrm>
            <a:custGeom>
              <a:avLst/>
              <a:gdLst/>
              <a:ahLst/>
              <a:cxnLst/>
              <a:rect l="l" t="t" r="r" b="b"/>
              <a:pathLst>
                <a:path w="26670">
                  <a:moveTo>
                    <a:pt x="0" y="0"/>
                  </a:moveTo>
                  <a:lnTo>
                    <a:pt x="2638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4" name="object 234"/>
            <p:cNvSpPr/>
            <p:nvPr/>
          </p:nvSpPr>
          <p:spPr>
            <a:xfrm>
              <a:off x="9503356" y="3704058"/>
              <a:ext cx="27305" cy="0"/>
            </a:xfrm>
            <a:custGeom>
              <a:avLst/>
              <a:gdLst/>
              <a:ahLst/>
              <a:cxnLst/>
              <a:rect l="l" t="t" r="r" b="b"/>
              <a:pathLst>
                <a:path w="27304">
                  <a:moveTo>
                    <a:pt x="26816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5" name="object 235"/>
            <p:cNvSpPr/>
            <p:nvPr/>
          </p:nvSpPr>
          <p:spPr>
            <a:xfrm>
              <a:off x="6873293" y="3379207"/>
              <a:ext cx="26670" cy="0"/>
            </a:xfrm>
            <a:custGeom>
              <a:avLst/>
              <a:gdLst/>
              <a:ahLst/>
              <a:cxnLst/>
              <a:rect l="l" t="t" r="r" b="b"/>
              <a:pathLst>
                <a:path w="26670">
                  <a:moveTo>
                    <a:pt x="0" y="0"/>
                  </a:moveTo>
                  <a:lnTo>
                    <a:pt x="2638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6" name="object 236"/>
            <p:cNvSpPr/>
            <p:nvPr/>
          </p:nvSpPr>
          <p:spPr>
            <a:xfrm>
              <a:off x="9503356" y="3379207"/>
              <a:ext cx="27305" cy="0"/>
            </a:xfrm>
            <a:custGeom>
              <a:avLst/>
              <a:gdLst/>
              <a:ahLst/>
              <a:cxnLst/>
              <a:rect l="l" t="t" r="r" b="b"/>
              <a:pathLst>
                <a:path w="27304">
                  <a:moveTo>
                    <a:pt x="26816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7" name="object 237"/>
          <p:cNvSpPr txBox="1"/>
          <p:nvPr/>
        </p:nvSpPr>
        <p:spPr>
          <a:xfrm>
            <a:off x="6730389" y="3301192"/>
            <a:ext cx="140970" cy="1504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00" dirty="0">
                <a:latin typeface="Arial MT"/>
                <a:cs typeface="Arial MT"/>
              </a:rPr>
              <a:t>50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238" name="object 238"/>
          <p:cNvGrpSpPr/>
          <p:nvPr/>
        </p:nvGrpSpPr>
        <p:grpSpPr>
          <a:xfrm>
            <a:off x="6871706" y="3052767"/>
            <a:ext cx="2660650" cy="3175"/>
            <a:chOff x="6871706" y="3052767"/>
            <a:chExt cx="2660650" cy="3175"/>
          </a:xfrm>
        </p:grpSpPr>
        <p:sp>
          <p:nvSpPr>
            <p:cNvPr id="239" name="object 239"/>
            <p:cNvSpPr/>
            <p:nvPr/>
          </p:nvSpPr>
          <p:spPr>
            <a:xfrm>
              <a:off x="6873293" y="3054355"/>
              <a:ext cx="26670" cy="0"/>
            </a:xfrm>
            <a:custGeom>
              <a:avLst/>
              <a:gdLst/>
              <a:ahLst/>
              <a:cxnLst/>
              <a:rect l="l" t="t" r="r" b="b"/>
              <a:pathLst>
                <a:path w="26670">
                  <a:moveTo>
                    <a:pt x="0" y="0"/>
                  </a:moveTo>
                  <a:lnTo>
                    <a:pt x="2638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0" name="object 240"/>
            <p:cNvSpPr/>
            <p:nvPr/>
          </p:nvSpPr>
          <p:spPr>
            <a:xfrm>
              <a:off x="9503356" y="3054355"/>
              <a:ext cx="27305" cy="0"/>
            </a:xfrm>
            <a:custGeom>
              <a:avLst/>
              <a:gdLst/>
              <a:ahLst/>
              <a:cxnLst/>
              <a:rect l="l" t="t" r="r" b="b"/>
              <a:pathLst>
                <a:path w="27304">
                  <a:moveTo>
                    <a:pt x="26816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1" name="object 241"/>
          <p:cNvSpPr txBox="1"/>
          <p:nvPr/>
        </p:nvSpPr>
        <p:spPr>
          <a:xfrm>
            <a:off x="6730389" y="2976336"/>
            <a:ext cx="140970" cy="1504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00" dirty="0">
                <a:latin typeface="Arial MT"/>
                <a:cs typeface="Arial MT"/>
              </a:rPr>
              <a:t>55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242" name="object 242"/>
          <p:cNvGrpSpPr/>
          <p:nvPr/>
        </p:nvGrpSpPr>
        <p:grpSpPr>
          <a:xfrm>
            <a:off x="6871706" y="2727914"/>
            <a:ext cx="2660650" cy="3175"/>
            <a:chOff x="6871706" y="2727914"/>
            <a:chExt cx="2660650" cy="3175"/>
          </a:xfrm>
        </p:grpSpPr>
        <p:sp>
          <p:nvSpPr>
            <p:cNvPr id="243" name="object 243"/>
            <p:cNvSpPr/>
            <p:nvPr/>
          </p:nvSpPr>
          <p:spPr>
            <a:xfrm>
              <a:off x="6873293" y="2729501"/>
              <a:ext cx="26670" cy="0"/>
            </a:xfrm>
            <a:custGeom>
              <a:avLst/>
              <a:gdLst/>
              <a:ahLst/>
              <a:cxnLst/>
              <a:rect l="l" t="t" r="r" b="b"/>
              <a:pathLst>
                <a:path w="26670">
                  <a:moveTo>
                    <a:pt x="0" y="0"/>
                  </a:moveTo>
                  <a:lnTo>
                    <a:pt x="2638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4" name="object 244"/>
            <p:cNvSpPr/>
            <p:nvPr/>
          </p:nvSpPr>
          <p:spPr>
            <a:xfrm>
              <a:off x="9503356" y="2729501"/>
              <a:ext cx="27305" cy="0"/>
            </a:xfrm>
            <a:custGeom>
              <a:avLst/>
              <a:gdLst/>
              <a:ahLst/>
              <a:cxnLst/>
              <a:rect l="l" t="t" r="r" b="b"/>
              <a:pathLst>
                <a:path w="27304">
                  <a:moveTo>
                    <a:pt x="26816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5" name="object 245"/>
          <p:cNvSpPr txBox="1"/>
          <p:nvPr/>
        </p:nvSpPr>
        <p:spPr>
          <a:xfrm>
            <a:off x="6730389" y="2651486"/>
            <a:ext cx="140970" cy="1504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00" dirty="0">
                <a:latin typeface="Arial MT"/>
                <a:cs typeface="Arial MT"/>
              </a:rPr>
              <a:t>60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246" name="object 246"/>
          <p:cNvGrpSpPr/>
          <p:nvPr/>
        </p:nvGrpSpPr>
        <p:grpSpPr>
          <a:xfrm>
            <a:off x="6871706" y="2403062"/>
            <a:ext cx="2660650" cy="3175"/>
            <a:chOff x="6871706" y="2403062"/>
            <a:chExt cx="2660650" cy="3175"/>
          </a:xfrm>
        </p:grpSpPr>
        <p:sp>
          <p:nvSpPr>
            <p:cNvPr id="247" name="object 247"/>
            <p:cNvSpPr/>
            <p:nvPr/>
          </p:nvSpPr>
          <p:spPr>
            <a:xfrm>
              <a:off x="6873293" y="2404649"/>
              <a:ext cx="26670" cy="0"/>
            </a:xfrm>
            <a:custGeom>
              <a:avLst/>
              <a:gdLst/>
              <a:ahLst/>
              <a:cxnLst/>
              <a:rect l="l" t="t" r="r" b="b"/>
              <a:pathLst>
                <a:path w="26670">
                  <a:moveTo>
                    <a:pt x="0" y="0"/>
                  </a:moveTo>
                  <a:lnTo>
                    <a:pt x="2638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8" name="object 248"/>
            <p:cNvSpPr/>
            <p:nvPr/>
          </p:nvSpPr>
          <p:spPr>
            <a:xfrm>
              <a:off x="9503356" y="2404649"/>
              <a:ext cx="27305" cy="0"/>
            </a:xfrm>
            <a:custGeom>
              <a:avLst/>
              <a:gdLst/>
              <a:ahLst/>
              <a:cxnLst/>
              <a:rect l="l" t="t" r="r" b="b"/>
              <a:pathLst>
                <a:path w="27304">
                  <a:moveTo>
                    <a:pt x="26816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9" name="object 249"/>
          <p:cNvSpPr txBox="1"/>
          <p:nvPr/>
        </p:nvSpPr>
        <p:spPr>
          <a:xfrm>
            <a:off x="6730389" y="2326635"/>
            <a:ext cx="140970" cy="1504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00" dirty="0">
                <a:latin typeface="Arial MT"/>
                <a:cs typeface="Arial MT"/>
              </a:rPr>
              <a:t>65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250" name="object 250"/>
          <p:cNvGrpSpPr/>
          <p:nvPr/>
        </p:nvGrpSpPr>
        <p:grpSpPr>
          <a:xfrm>
            <a:off x="6871706" y="2078206"/>
            <a:ext cx="2660650" cy="3175"/>
            <a:chOff x="6871706" y="2078206"/>
            <a:chExt cx="2660650" cy="3175"/>
          </a:xfrm>
        </p:grpSpPr>
        <p:sp>
          <p:nvSpPr>
            <p:cNvPr id="251" name="object 251"/>
            <p:cNvSpPr/>
            <p:nvPr/>
          </p:nvSpPr>
          <p:spPr>
            <a:xfrm>
              <a:off x="6873293" y="2079793"/>
              <a:ext cx="26670" cy="0"/>
            </a:xfrm>
            <a:custGeom>
              <a:avLst/>
              <a:gdLst/>
              <a:ahLst/>
              <a:cxnLst/>
              <a:rect l="l" t="t" r="r" b="b"/>
              <a:pathLst>
                <a:path w="26670">
                  <a:moveTo>
                    <a:pt x="0" y="0"/>
                  </a:moveTo>
                  <a:lnTo>
                    <a:pt x="2638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2" name="object 252"/>
            <p:cNvSpPr/>
            <p:nvPr/>
          </p:nvSpPr>
          <p:spPr>
            <a:xfrm>
              <a:off x="9503356" y="2079793"/>
              <a:ext cx="27305" cy="0"/>
            </a:xfrm>
            <a:custGeom>
              <a:avLst/>
              <a:gdLst/>
              <a:ahLst/>
              <a:cxnLst/>
              <a:rect l="l" t="t" r="r" b="b"/>
              <a:pathLst>
                <a:path w="27304">
                  <a:moveTo>
                    <a:pt x="26816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3" name="object 253"/>
          <p:cNvSpPr txBox="1"/>
          <p:nvPr/>
        </p:nvSpPr>
        <p:spPr>
          <a:xfrm>
            <a:off x="6730389" y="2001779"/>
            <a:ext cx="140970" cy="1504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00" dirty="0">
                <a:latin typeface="Arial MT"/>
                <a:cs typeface="Arial MT"/>
              </a:rPr>
              <a:t>70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254" name="object 254"/>
          <p:cNvGrpSpPr/>
          <p:nvPr/>
        </p:nvGrpSpPr>
        <p:grpSpPr>
          <a:xfrm>
            <a:off x="6871706" y="2078206"/>
            <a:ext cx="2660650" cy="1953260"/>
            <a:chOff x="6871706" y="2078206"/>
            <a:chExt cx="2660650" cy="1953260"/>
          </a:xfrm>
        </p:grpSpPr>
        <p:sp>
          <p:nvSpPr>
            <p:cNvPr id="255" name="object 255"/>
            <p:cNvSpPr/>
            <p:nvPr/>
          </p:nvSpPr>
          <p:spPr>
            <a:xfrm>
              <a:off x="6873293" y="4029344"/>
              <a:ext cx="2657475" cy="0"/>
            </a:xfrm>
            <a:custGeom>
              <a:avLst/>
              <a:gdLst/>
              <a:ahLst/>
              <a:cxnLst/>
              <a:rect l="l" t="t" r="r" b="b"/>
              <a:pathLst>
                <a:path w="2657475">
                  <a:moveTo>
                    <a:pt x="0" y="0"/>
                  </a:moveTo>
                  <a:lnTo>
                    <a:pt x="265687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6" name="object 256"/>
            <p:cNvSpPr/>
            <p:nvPr/>
          </p:nvSpPr>
          <p:spPr>
            <a:xfrm>
              <a:off x="6873293" y="2079793"/>
              <a:ext cx="2657475" cy="0"/>
            </a:xfrm>
            <a:custGeom>
              <a:avLst/>
              <a:gdLst/>
              <a:ahLst/>
              <a:cxnLst/>
              <a:rect l="l" t="t" r="r" b="b"/>
              <a:pathLst>
                <a:path w="2657475">
                  <a:moveTo>
                    <a:pt x="0" y="0"/>
                  </a:moveTo>
                  <a:lnTo>
                    <a:pt x="265687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7" name="object 257"/>
            <p:cNvSpPr/>
            <p:nvPr/>
          </p:nvSpPr>
          <p:spPr>
            <a:xfrm>
              <a:off x="6873293" y="2079794"/>
              <a:ext cx="0" cy="1950085"/>
            </a:xfrm>
            <a:custGeom>
              <a:avLst/>
              <a:gdLst/>
              <a:ahLst/>
              <a:cxnLst/>
              <a:rect l="l" t="t" r="r" b="b"/>
              <a:pathLst>
                <a:path h="1950085">
                  <a:moveTo>
                    <a:pt x="0" y="194954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8" name="object 258"/>
            <p:cNvSpPr/>
            <p:nvPr/>
          </p:nvSpPr>
          <p:spPr>
            <a:xfrm>
              <a:off x="9530172" y="2079794"/>
              <a:ext cx="0" cy="1950085"/>
            </a:xfrm>
            <a:custGeom>
              <a:avLst/>
              <a:gdLst/>
              <a:ahLst/>
              <a:cxnLst/>
              <a:rect l="l" t="t" r="r" b="b"/>
              <a:pathLst>
                <a:path h="1950085">
                  <a:moveTo>
                    <a:pt x="0" y="194954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9" name="object 259"/>
          <p:cNvSpPr txBox="1"/>
          <p:nvPr/>
        </p:nvSpPr>
        <p:spPr>
          <a:xfrm>
            <a:off x="6730389" y="3626043"/>
            <a:ext cx="140970" cy="1504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00" dirty="0">
                <a:latin typeface="Arial MT"/>
                <a:cs typeface="Arial MT"/>
              </a:rPr>
              <a:t>45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260" name="object 260"/>
          <p:cNvSpPr txBox="1"/>
          <p:nvPr/>
        </p:nvSpPr>
        <p:spPr>
          <a:xfrm>
            <a:off x="7890121" y="4023999"/>
            <a:ext cx="626110" cy="25019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algn="ctr">
              <a:lnSpc>
                <a:spcPts val="875"/>
              </a:lnSpc>
              <a:spcBef>
                <a:spcPts val="114"/>
              </a:spcBef>
            </a:pPr>
            <a:r>
              <a:rPr sz="800" spc="5" dirty="0">
                <a:latin typeface="Arial MT"/>
                <a:cs typeface="Arial MT"/>
              </a:rPr>
              <a:t>6</a:t>
            </a:r>
            <a:endParaRPr sz="800">
              <a:latin typeface="Arial MT"/>
              <a:cs typeface="Arial MT"/>
            </a:endParaRPr>
          </a:p>
          <a:p>
            <a:pPr algn="ctr">
              <a:lnSpc>
                <a:spcPts val="875"/>
              </a:lnSpc>
            </a:pPr>
            <a:r>
              <a:rPr sz="800" spc="10" dirty="0">
                <a:latin typeface="Arial MT"/>
                <a:cs typeface="Arial MT"/>
              </a:rPr>
              <a:t>Window</a:t>
            </a:r>
            <a:r>
              <a:rPr sz="800" spc="-40" dirty="0">
                <a:latin typeface="Arial MT"/>
                <a:cs typeface="Arial MT"/>
              </a:rPr>
              <a:t> </a:t>
            </a:r>
            <a:r>
              <a:rPr sz="800" spc="5" dirty="0">
                <a:latin typeface="Arial MT"/>
                <a:cs typeface="Arial MT"/>
              </a:rPr>
              <a:t>Size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261" name="object 261"/>
          <p:cNvSpPr txBox="1"/>
          <p:nvPr/>
        </p:nvSpPr>
        <p:spPr>
          <a:xfrm>
            <a:off x="6603293" y="2738611"/>
            <a:ext cx="129539" cy="63182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890"/>
              </a:lnSpc>
            </a:pPr>
            <a:r>
              <a:rPr sz="800" spc="5" dirty="0">
                <a:latin typeface="Arial MT"/>
                <a:cs typeface="Arial MT"/>
              </a:rPr>
              <a:t>Accuracy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spc="5" dirty="0">
                <a:latin typeface="Arial MT"/>
                <a:cs typeface="Arial MT"/>
              </a:rPr>
              <a:t>[%]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262" name="object 262"/>
          <p:cNvGrpSpPr/>
          <p:nvPr/>
        </p:nvGrpSpPr>
        <p:grpSpPr>
          <a:xfrm>
            <a:off x="8368851" y="3417847"/>
            <a:ext cx="933450" cy="439420"/>
            <a:chOff x="8368851" y="3417847"/>
            <a:chExt cx="933450" cy="439420"/>
          </a:xfrm>
        </p:grpSpPr>
        <p:sp>
          <p:nvSpPr>
            <p:cNvPr id="263" name="object 263"/>
            <p:cNvSpPr/>
            <p:nvPr/>
          </p:nvSpPr>
          <p:spPr>
            <a:xfrm>
              <a:off x="8370440" y="3419434"/>
              <a:ext cx="930275" cy="436245"/>
            </a:xfrm>
            <a:custGeom>
              <a:avLst/>
              <a:gdLst/>
              <a:ahLst/>
              <a:cxnLst/>
              <a:rect l="l" t="t" r="r" b="b"/>
              <a:pathLst>
                <a:path w="930275" h="436245">
                  <a:moveTo>
                    <a:pt x="930033" y="0"/>
                  </a:moveTo>
                  <a:lnTo>
                    <a:pt x="0" y="0"/>
                  </a:lnTo>
                  <a:lnTo>
                    <a:pt x="0" y="436020"/>
                  </a:lnTo>
                  <a:lnTo>
                    <a:pt x="930033" y="436020"/>
                  </a:lnTo>
                  <a:lnTo>
                    <a:pt x="93003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4" name="object 264"/>
            <p:cNvSpPr/>
            <p:nvPr/>
          </p:nvSpPr>
          <p:spPr>
            <a:xfrm>
              <a:off x="8370439" y="3419435"/>
              <a:ext cx="930275" cy="436245"/>
            </a:xfrm>
            <a:custGeom>
              <a:avLst/>
              <a:gdLst/>
              <a:ahLst/>
              <a:cxnLst/>
              <a:rect l="l" t="t" r="r" b="b"/>
              <a:pathLst>
                <a:path w="930275" h="436245">
                  <a:moveTo>
                    <a:pt x="0" y="0"/>
                  </a:moveTo>
                  <a:lnTo>
                    <a:pt x="930034" y="0"/>
                  </a:lnTo>
                  <a:lnTo>
                    <a:pt x="930034" y="436020"/>
                  </a:lnTo>
                  <a:lnTo>
                    <a:pt x="0" y="43602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5" name="object 265"/>
            <p:cNvSpPr/>
            <p:nvPr/>
          </p:nvSpPr>
          <p:spPr>
            <a:xfrm>
              <a:off x="8434458" y="3504215"/>
              <a:ext cx="321945" cy="0"/>
            </a:xfrm>
            <a:custGeom>
              <a:avLst/>
              <a:gdLst/>
              <a:ahLst/>
              <a:cxnLst/>
              <a:rect l="l" t="t" r="r" b="b"/>
              <a:pathLst>
                <a:path w="321945">
                  <a:moveTo>
                    <a:pt x="0" y="0"/>
                  </a:moveTo>
                  <a:lnTo>
                    <a:pt x="321405" y="0"/>
                  </a:lnTo>
                </a:path>
              </a:pathLst>
            </a:custGeom>
            <a:ln w="25953">
              <a:solidFill>
                <a:srgbClr val="199D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6" name="object 266"/>
          <p:cNvSpPr txBox="1"/>
          <p:nvPr/>
        </p:nvSpPr>
        <p:spPr>
          <a:xfrm>
            <a:off x="8370440" y="3419434"/>
            <a:ext cx="930275" cy="436245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20320" rIns="0" bIns="0" rtlCol="0">
            <a:spAutoFit/>
          </a:bodyPr>
          <a:lstStyle/>
          <a:p>
            <a:pPr marR="71755" algn="r">
              <a:lnSpc>
                <a:spcPct val="100000"/>
              </a:lnSpc>
              <a:spcBef>
                <a:spcPts val="160"/>
              </a:spcBef>
            </a:pPr>
            <a:r>
              <a:rPr sz="800" spc="5" dirty="0">
                <a:latin typeface="Arial MT"/>
                <a:cs typeface="Arial MT"/>
              </a:rPr>
              <a:t>Semantic</a:t>
            </a:r>
            <a:endParaRPr sz="800">
              <a:latin typeface="Arial MT"/>
              <a:cs typeface="Arial MT"/>
            </a:endParaRPr>
          </a:p>
          <a:p>
            <a:pPr marR="83185" algn="r">
              <a:lnSpc>
                <a:spcPct val="100000"/>
              </a:lnSpc>
              <a:spcBef>
                <a:spcPts val="90"/>
              </a:spcBef>
              <a:tabLst>
                <a:tab pos="321310" algn="l"/>
              </a:tabLst>
            </a:pPr>
            <a:r>
              <a:rPr sz="800" u="heavy" dirty="0">
                <a:uFill>
                  <a:solidFill>
                    <a:srgbClr val="D66127"/>
                  </a:solidFill>
                </a:uFill>
                <a:latin typeface="Arial MT"/>
                <a:cs typeface="Arial MT"/>
              </a:rPr>
              <a:t> 	</a:t>
            </a:r>
            <a:r>
              <a:rPr sz="800" spc="30" dirty="0">
                <a:latin typeface="Arial MT"/>
                <a:cs typeface="Arial MT"/>
              </a:rPr>
              <a:t> </a:t>
            </a:r>
            <a:r>
              <a:rPr sz="800" spc="5" dirty="0">
                <a:latin typeface="Arial MT"/>
                <a:cs typeface="Arial MT"/>
              </a:rPr>
              <a:t>Syntactic</a:t>
            </a:r>
            <a:endParaRPr sz="800">
              <a:latin typeface="Arial MT"/>
              <a:cs typeface="Arial MT"/>
            </a:endParaRPr>
          </a:p>
          <a:p>
            <a:pPr marL="417830">
              <a:lnSpc>
                <a:spcPct val="100000"/>
              </a:lnSpc>
              <a:spcBef>
                <a:spcPts val="85"/>
              </a:spcBef>
            </a:pPr>
            <a:r>
              <a:rPr sz="800" spc="5" dirty="0">
                <a:latin typeface="Arial MT"/>
                <a:cs typeface="Arial MT"/>
              </a:rPr>
              <a:t>Overall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267" name="object 267"/>
          <p:cNvGrpSpPr/>
          <p:nvPr/>
        </p:nvGrpSpPr>
        <p:grpSpPr>
          <a:xfrm>
            <a:off x="8434458" y="3458436"/>
            <a:ext cx="321945" cy="356235"/>
            <a:chOff x="8434458" y="3458436"/>
            <a:chExt cx="321945" cy="356235"/>
          </a:xfrm>
        </p:grpSpPr>
        <p:sp>
          <p:nvSpPr>
            <p:cNvPr id="268" name="object 268"/>
            <p:cNvSpPr/>
            <p:nvPr/>
          </p:nvSpPr>
          <p:spPr>
            <a:xfrm>
              <a:off x="8434458" y="3641939"/>
              <a:ext cx="321945" cy="0"/>
            </a:xfrm>
            <a:custGeom>
              <a:avLst/>
              <a:gdLst/>
              <a:ahLst/>
              <a:cxnLst/>
              <a:rect l="l" t="t" r="r" b="b"/>
              <a:pathLst>
                <a:path w="321945">
                  <a:moveTo>
                    <a:pt x="0" y="0"/>
                  </a:moveTo>
                  <a:lnTo>
                    <a:pt x="134934" y="0"/>
                  </a:lnTo>
                </a:path>
                <a:path w="321945">
                  <a:moveTo>
                    <a:pt x="187331" y="0"/>
                  </a:moveTo>
                  <a:lnTo>
                    <a:pt x="321405" y="0"/>
                  </a:lnTo>
                </a:path>
              </a:pathLst>
            </a:custGeom>
            <a:ln w="25953">
              <a:solidFill>
                <a:srgbClr val="7670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9" name="object 26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550172" y="3458436"/>
              <a:ext cx="90840" cy="81084"/>
            </a:xfrm>
            <a:prstGeom prst="rect">
              <a:avLst/>
            </a:prstGeom>
          </p:spPr>
        </p:pic>
        <p:sp>
          <p:nvSpPr>
            <p:cNvPr id="270" name="object 270"/>
            <p:cNvSpPr/>
            <p:nvPr/>
          </p:nvSpPr>
          <p:spPr>
            <a:xfrm>
              <a:off x="8569393" y="3617841"/>
              <a:ext cx="52705" cy="52705"/>
            </a:xfrm>
            <a:custGeom>
              <a:avLst/>
              <a:gdLst/>
              <a:ahLst/>
              <a:cxnLst/>
              <a:rect l="l" t="t" r="r" b="b"/>
              <a:pathLst>
                <a:path w="52704" h="52704">
                  <a:moveTo>
                    <a:pt x="0" y="51901"/>
                  </a:moveTo>
                  <a:lnTo>
                    <a:pt x="51909" y="52395"/>
                  </a:lnTo>
                  <a:lnTo>
                    <a:pt x="52397" y="493"/>
                  </a:lnTo>
                  <a:lnTo>
                    <a:pt x="493" y="0"/>
                  </a:lnTo>
                  <a:lnTo>
                    <a:pt x="0" y="51901"/>
                  </a:lnTo>
                  <a:close/>
                </a:path>
              </a:pathLst>
            </a:custGeom>
            <a:ln w="20763">
              <a:solidFill>
                <a:srgbClr val="7670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1" name="object 27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557958" y="3738879"/>
              <a:ext cx="75267" cy="75265"/>
            </a:xfrm>
            <a:prstGeom prst="rect">
              <a:avLst/>
            </a:prstGeom>
          </p:spPr>
        </p:pic>
      </p:grpSp>
      <p:sp>
        <p:nvSpPr>
          <p:cNvPr id="272" name="object 272"/>
          <p:cNvSpPr txBox="1"/>
          <p:nvPr/>
        </p:nvSpPr>
        <p:spPr>
          <a:xfrm>
            <a:off x="7193994" y="4351858"/>
            <a:ext cx="1819275" cy="2489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450" spc="5" dirty="0">
                <a:latin typeface="Times New Roman"/>
                <a:cs typeface="Times New Roman"/>
              </a:rPr>
              <a:t>(c)</a:t>
            </a:r>
            <a:r>
              <a:rPr sz="1450" spc="195" dirty="0">
                <a:latin typeface="Times New Roman"/>
                <a:cs typeface="Times New Roman"/>
              </a:rPr>
              <a:t> </a:t>
            </a:r>
            <a:r>
              <a:rPr sz="1450" spc="5" dirty="0">
                <a:latin typeface="Times New Roman"/>
                <a:cs typeface="Times New Roman"/>
              </a:rPr>
              <a:t>Asymmetric</a:t>
            </a:r>
            <a:r>
              <a:rPr sz="1450" spc="-1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context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73" name="object 27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40</a:t>
            </a:fld>
            <a:endParaRPr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148079" y="222759"/>
            <a:ext cx="59055" cy="7325359"/>
            <a:chOff x="148079" y="222759"/>
            <a:chExt cx="59055" cy="7325359"/>
          </a:xfrm>
        </p:grpSpPr>
        <p:sp>
          <p:nvSpPr>
            <p:cNvPr id="4" name="object 4"/>
            <p:cNvSpPr/>
            <p:nvPr/>
          </p:nvSpPr>
          <p:spPr>
            <a:xfrm>
              <a:off x="153159" y="227839"/>
              <a:ext cx="48895" cy="7315200"/>
            </a:xfrm>
            <a:custGeom>
              <a:avLst/>
              <a:gdLst/>
              <a:ahLst/>
              <a:cxnLst/>
              <a:rect l="l" t="t" r="r" b="b"/>
              <a:pathLst>
                <a:path w="48894" h="7315200">
                  <a:moveTo>
                    <a:pt x="48766" y="0"/>
                  </a:moveTo>
                  <a:lnTo>
                    <a:pt x="0" y="0"/>
                  </a:lnTo>
                  <a:lnTo>
                    <a:pt x="0" y="7315200"/>
                  </a:lnTo>
                  <a:lnTo>
                    <a:pt x="48766" y="7315200"/>
                  </a:lnTo>
                  <a:lnTo>
                    <a:pt x="48766" y="0"/>
                  </a:lnTo>
                  <a:close/>
                </a:path>
              </a:pathLst>
            </a:custGeom>
            <a:solidFill>
              <a:srgbClr val="A4050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53159" y="227839"/>
              <a:ext cx="48895" cy="7315200"/>
            </a:xfrm>
            <a:custGeom>
              <a:avLst/>
              <a:gdLst/>
              <a:ahLst/>
              <a:cxnLst/>
              <a:rect l="l" t="t" r="r" b="b"/>
              <a:pathLst>
                <a:path w="48894" h="7315200">
                  <a:moveTo>
                    <a:pt x="48766" y="0"/>
                  </a:moveTo>
                  <a:lnTo>
                    <a:pt x="48766" y="7315200"/>
                  </a:lnTo>
                  <a:lnTo>
                    <a:pt x="0" y="7315200"/>
                  </a:lnTo>
                  <a:lnTo>
                    <a:pt x="0" y="0"/>
                  </a:lnTo>
                  <a:lnTo>
                    <a:pt x="48766" y="0"/>
                  </a:lnTo>
                  <a:close/>
                </a:path>
              </a:pathLst>
            </a:custGeom>
            <a:ln w="10159">
              <a:solidFill>
                <a:srgbClr val="A4001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701038" y="796797"/>
            <a:ext cx="7027545" cy="967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710"/>
              </a:lnSpc>
              <a:spcBef>
                <a:spcPts val="100"/>
              </a:spcBef>
            </a:pPr>
            <a:r>
              <a:rPr sz="3100" spc="-5" dirty="0">
                <a:solidFill>
                  <a:srgbClr val="000000"/>
                </a:solidFill>
              </a:rPr>
              <a:t>On</a:t>
            </a:r>
            <a:r>
              <a:rPr sz="3100" spc="-25" dirty="0">
                <a:solidFill>
                  <a:srgbClr val="000000"/>
                </a:solidFill>
              </a:rPr>
              <a:t> </a:t>
            </a:r>
            <a:r>
              <a:rPr sz="3100" spc="-10" dirty="0">
                <a:solidFill>
                  <a:srgbClr val="000000"/>
                </a:solidFill>
              </a:rPr>
              <a:t>the Dimensionality </a:t>
            </a:r>
            <a:r>
              <a:rPr sz="3100" spc="-5" dirty="0">
                <a:solidFill>
                  <a:srgbClr val="000000"/>
                </a:solidFill>
              </a:rPr>
              <a:t>of</a:t>
            </a:r>
            <a:r>
              <a:rPr sz="3100" spc="-15" dirty="0">
                <a:solidFill>
                  <a:srgbClr val="000000"/>
                </a:solidFill>
              </a:rPr>
              <a:t> </a:t>
            </a:r>
            <a:r>
              <a:rPr sz="3100" spc="-10" dirty="0">
                <a:solidFill>
                  <a:srgbClr val="000000"/>
                </a:solidFill>
              </a:rPr>
              <a:t>Word</a:t>
            </a:r>
            <a:r>
              <a:rPr sz="3100" spc="-20" dirty="0">
                <a:solidFill>
                  <a:srgbClr val="000000"/>
                </a:solidFill>
              </a:rPr>
              <a:t> </a:t>
            </a:r>
            <a:r>
              <a:rPr sz="3100" spc="-10" dirty="0">
                <a:solidFill>
                  <a:srgbClr val="000000"/>
                </a:solidFill>
              </a:rPr>
              <a:t>Embedding</a:t>
            </a:r>
            <a:endParaRPr sz="3100"/>
          </a:p>
          <a:p>
            <a:pPr marL="12700">
              <a:lnSpc>
                <a:spcPts val="3710"/>
              </a:lnSpc>
            </a:pPr>
            <a:r>
              <a:rPr sz="3100" b="0" spc="-5" dirty="0">
                <a:solidFill>
                  <a:srgbClr val="177245"/>
                </a:solidFill>
                <a:latin typeface="Calibri"/>
                <a:cs typeface="Calibri"/>
              </a:rPr>
              <a:t>[Zi</a:t>
            </a:r>
            <a:r>
              <a:rPr sz="3100" b="0" spc="-20" dirty="0">
                <a:solidFill>
                  <a:srgbClr val="177245"/>
                </a:solidFill>
                <a:latin typeface="Calibri"/>
                <a:cs typeface="Calibri"/>
              </a:rPr>
              <a:t> </a:t>
            </a:r>
            <a:r>
              <a:rPr sz="3100" b="0" spc="-5" dirty="0">
                <a:solidFill>
                  <a:srgbClr val="177245"/>
                </a:solidFill>
                <a:latin typeface="Calibri"/>
                <a:cs typeface="Calibri"/>
              </a:rPr>
              <a:t>Yin</a:t>
            </a:r>
            <a:r>
              <a:rPr sz="3100" b="0" spc="-15" dirty="0">
                <a:solidFill>
                  <a:srgbClr val="177245"/>
                </a:solidFill>
                <a:latin typeface="Calibri"/>
                <a:cs typeface="Calibri"/>
              </a:rPr>
              <a:t> </a:t>
            </a:r>
            <a:r>
              <a:rPr sz="3100" b="0" spc="-5" dirty="0">
                <a:solidFill>
                  <a:srgbClr val="177245"/>
                </a:solidFill>
                <a:latin typeface="Calibri"/>
                <a:cs typeface="Calibri"/>
              </a:rPr>
              <a:t>and</a:t>
            </a:r>
            <a:r>
              <a:rPr sz="3100" b="0" spc="-10" dirty="0">
                <a:solidFill>
                  <a:srgbClr val="177245"/>
                </a:solidFill>
                <a:latin typeface="Calibri"/>
                <a:cs typeface="Calibri"/>
              </a:rPr>
              <a:t> Yuanyuan</a:t>
            </a:r>
            <a:r>
              <a:rPr sz="3100" b="0" spc="-15" dirty="0">
                <a:solidFill>
                  <a:srgbClr val="177245"/>
                </a:solidFill>
                <a:latin typeface="Calibri"/>
                <a:cs typeface="Calibri"/>
              </a:rPr>
              <a:t> </a:t>
            </a:r>
            <a:r>
              <a:rPr sz="3100" b="0" spc="-5" dirty="0">
                <a:solidFill>
                  <a:srgbClr val="177245"/>
                </a:solidFill>
                <a:latin typeface="Calibri"/>
                <a:cs typeface="Calibri"/>
              </a:rPr>
              <a:t>Shen,</a:t>
            </a:r>
            <a:r>
              <a:rPr sz="3100" b="0" spc="-10" dirty="0">
                <a:solidFill>
                  <a:srgbClr val="177245"/>
                </a:solidFill>
                <a:latin typeface="Calibri"/>
                <a:cs typeface="Calibri"/>
              </a:rPr>
              <a:t> NeurIPS </a:t>
            </a:r>
            <a:r>
              <a:rPr sz="3100" b="0" dirty="0">
                <a:solidFill>
                  <a:srgbClr val="177245"/>
                </a:solidFill>
                <a:latin typeface="Calibri"/>
                <a:cs typeface="Calibri"/>
              </a:rPr>
              <a:t>2018]</a:t>
            </a:r>
            <a:endParaRPr sz="31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3118" y="4837175"/>
            <a:ext cx="8908415" cy="1504950"/>
          </a:xfrm>
          <a:prstGeom prst="rect">
            <a:avLst/>
          </a:prstGeom>
        </p:spPr>
        <p:txBody>
          <a:bodyPr vert="horz" wrap="square" lIns="0" tIns="181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30"/>
              </a:spcBef>
            </a:pPr>
            <a:r>
              <a:rPr sz="1900" u="sng" spc="5" dirty="0">
                <a:solidFill>
                  <a:srgbClr val="EF8E1C"/>
                </a:solidFill>
                <a:uFill>
                  <a:solidFill>
                    <a:srgbClr val="EF8E1C"/>
                  </a:solidFill>
                </a:uFill>
                <a:latin typeface="Calibri"/>
                <a:cs typeface="Calibri"/>
              </a:rPr>
              <a:t>https://papers.nips.cc/paper/7368-on-the-dimensionality-of-word-embedding.pdf</a:t>
            </a:r>
            <a:endParaRPr sz="1900">
              <a:latin typeface="Calibri"/>
              <a:cs typeface="Calibri"/>
            </a:endParaRPr>
          </a:p>
          <a:p>
            <a:pPr marL="12700" marR="5080">
              <a:lnSpc>
                <a:spcPts val="3100"/>
              </a:lnSpc>
              <a:spcBef>
                <a:spcPts val="1935"/>
              </a:spcBef>
            </a:pPr>
            <a:r>
              <a:rPr sz="2600" spc="-20" dirty="0">
                <a:latin typeface="Calibri"/>
                <a:cs typeface="Calibri"/>
              </a:rPr>
              <a:t>Using matrix perturbation theory, </a:t>
            </a:r>
            <a:r>
              <a:rPr sz="2600" spc="-15" dirty="0">
                <a:latin typeface="Calibri"/>
                <a:cs typeface="Calibri"/>
              </a:rPr>
              <a:t>reveal </a:t>
            </a:r>
            <a:r>
              <a:rPr sz="2600" dirty="0">
                <a:latin typeface="Calibri"/>
                <a:cs typeface="Calibri"/>
              </a:rPr>
              <a:t>a </a:t>
            </a:r>
            <a:r>
              <a:rPr sz="2600" spc="-20" dirty="0">
                <a:latin typeface="Calibri"/>
                <a:cs typeface="Calibri"/>
              </a:rPr>
              <a:t>fundamental </a:t>
            </a:r>
            <a:r>
              <a:rPr sz="2600" spc="-15" dirty="0">
                <a:latin typeface="Calibri"/>
                <a:cs typeface="Calibri"/>
              </a:rPr>
              <a:t>bias- 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variance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trade-off </a:t>
            </a:r>
            <a:r>
              <a:rPr sz="2600" spc="-5" dirty="0">
                <a:latin typeface="Calibri"/>
                <a:cs typeface="Calibri"/>
              </a:rPr>
              <a:t>in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dimensionality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selection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for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word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embeddings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3118" y="6943597"/>
            <a:ext cx="21907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" dirty="0">
                <a:latin typeface="Calibri"/>
                <a:cs typeface="Calibri"/>
              </a:rPr>
              <a:t>41</a:t>
            </a:r>
            <a:endParaRPr sz="15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02411" y="1885687"/>
            <a:ext cx="1679230" cy="210727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20978" y="1885688"/>
            <a:ext cx="1679230" cy="210726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3162" y="6506718"/>
            <a:ext cx="9753600" cy="902208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89354" y="1800605"/>
            <a:ext cx="3340608" cy="31242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496569"/>
            <a:ext cx="748982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Analogy</a:t>
            </a:r>
            <a:r>
              <a:rPr spc="-5" dirty="0"/>
              <a:t> </a:t>
            </a:r>
            <a:r>
              <a:rPr dirty="0"/>
              <a:t>evaluation</a:t>
            </a:r>
            <a:r>
              <a:rPr spc="-5" dirty="0"/>
              <a:t> </a:t>
            </a:r>
            <a:r>
              <a:rPr dirty="0"/>
              <a:t>and</a:t>
            </a:r>
            <a:r>
              <a:rPr spc="15" dirty="0"/>
              <a:t> </a:t>
            </a:r>
            <a:r>
              <a:rPr dirty="0"/>
              <a:t>hyperparameters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3118" y="1414526"/>
            <a:ext cx="312483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8460" indent="-365760">
              <a:lnSpc>
                <a:spcPct val="100000"/>
              </a:lnSpc>
              <a:spcBef>
                <a:spcPts val="100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100" spc="10" dirty="0">
                <a:latin typeface="Calibri"/>
                <a:cs typeface="Calibri"/>
              </a:rPr>
              <a:t>More training</a:t>
            </a:r>
            <a:r>
              <a:rPr sz="210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time helps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112153" y="2600885"/>
            <a:ext cx="4196715" cy="3446779"/>
          </a:xfrm>
          <a:custGeom>
            <a:avLst/>
            <a:gdLst/>
            <a:ahLst/>
            <a:cxnLst/>
            <a:rect l="l" t="t" r="r" b="b"/>
            <a:pathLst>
              <a:path w="4196715" h="3446779">
                <a:moveTo>
                  <a:pt x="524122" y="0"/>
                </a:moveTo>
                <a:lnTo>
                  <a:pt x="524122" y="43226"/>
                </a:lnTo>
              </a:path>
              <a:path w="4196715" h="3446779">
                <a:moveTo>
                  <a:pt x="0" y="3446384"/>
                </a:moveTo>
                <a:lnTo>
                  <a:pt x="0" y="0"/>
                </a:lnTo>
              </a:path>
              <a:path w="4196715" h="3446779">
                <a:moveTo>
                  <a:pt x="0" y="0"/>
                </a:moveTo>
                <a:lnTo>
                  <a:pt x="4196108" y="0"/>
                </a:lnTo>
              </a:path>
            </a:pathLst>
          </a:custGeom>
          <a:ln w="140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576608" y="2385013"/>
            <a:ext cx="120014" cy="228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00" spc="15" dirty="0">
                <a:solidFill>
                  <a:srgbClr val="231F20"/>
                </a:solidFill>
                <a:latin typeface="Arial MT"/>
                <a:cs typeface="Arial MT"/>
              </a:rPr>
              <a:t>3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161181" y="2603662"/>
            <a:ext cx="0" cy="41910"/>
          </a:xfrm>
          <a:custGeom>
            <a:avLst/>
            <a:gdLst/>
            <a:ahLst/>
            <a:cxnLst/>
            <a:rect l="l" t="t" r="r" b="b"/>
            <a:pathLst>
              <a:path h="41910">
                <a:moveTo>
                  <a:pt x="0" y="0"/>
                </a:moveTo>
                <a:lnTo>
                  <a:pt x="0" y="41506"/>
                </a:lnTo>
              </a:path>
            </a:pathLst>
          </a:custGeom>
          <a:ln w="141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101464" y="2385013"/>
            <a:ext cx="120014" cy="228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00" spc="15" dirty="0">
                <a:solidFill>
                  <a:srgbClr val="231F20"/>
                </a:solidFill>
                <a:latin typeface="Arial MT"/>
                <a:cs typeface="Arial MT"/>
              </a:rPr>
              <a:t>6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678001" y="2596360"/>
            <a:ext cx="1588770" cy="56515"/>
            <a:chOff x="4678001" y="2596360"/>
            <a:chExt cx="1588770" cy="56515"/>
          </a:xfrm>
        </p:grpSpPr>
        <p:sp>
          <p:nvSpPr>
            <p:cNvPr id="9" name="object 9"/>
            <p:cNvSpPr/>
            <p:nvPr/>
          </p:nvSpPr>
          <p:spPr>
            <a:xfrm>
              <a:off x="4685304" y="2603662"/>
              <a:ext cx="0" cy="41910"/>
            </a:xfrm>
            <a:custGeom>
              <a:avLst/>
              <a:gdLst/>
              <a:ahLst/>
              <a:cxnLst/>
              <a:rect l="l" t="t" r="r" b="b"/>
              <a:pathLst>
                <a:path h="41910">
                  <a:moveTo>
                    <a:pt x="0" y="0"/>
                  </a:moveTo>
                  <a:lnTo>
                    <a:pt x="0" y="41506"/>
                  </a:lnTo>
                </a:path>
              </a:pathLst>
            </a:custGeom>
            <a:ln w="1410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210210" y="2603662"/>
              <a:ext cx="0" cy="41910"/>
            </a:xfrm>
            <a:custGeom>
              <a:avLst/>
              <a:gdLst/>
              <a:ahLst/>
              <a:cxnLst/>
              <a:rect l="l" t="t" r="r" b="b"/>
              <a:pathLst>
                <a:path h="41910">
                  <a:moveTo>
                    <a:pt x="0" y="0"/>
                  </a:moveTo>
                  <a:lnTo>
                    <a:pt x="0" y="41506"/>
                  </a:lnTo>
                </a:path>
              </a:pathLst>
            </a:custGeom>
            <a:ln w="1410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734333" y="2603662"/>
              <a:ext cx="0" cy="41910"/>
            </a:xfrm>
            <a:custGeom>
              <a:avLst/>
              <a:gdLst/>
              <a:ahLst/>
              <a:cxnLst/>
              <a:rect l="l" t="t" r="r" b="b"/>
              <a:pathLst>
                <a:path h="41910">
                  <a:moveTo>
                    <a:pt x="0" y="0"/>
                  </a:moveTo>
                  <a:lnTo>
                    <a:pt x="0" y="41506"/>
                  </a:lnTo>
                </a:path>
              </a:pathLst>
            </a:custGeom>
            <a:ln w="1410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259236" y="2603662"/>
              <a:ext cx="0" cy="41910"/>
            </a:xfrm>
            <a:custGeom>
              <a:avLst/>
              <a:gdLst/>
              <a:ahLst/>
              <a:cxnLst/>
              <a:rect l="l" t="t" r="r" b="b"/>
              <a:pathLst>
                <a:path h="41910">
                  <a:moveTo>
                    <a:pt x="0" y="0"/>
                  </a:moveTo>
                  <a:lnTo>
                    <a:pt x="0" y="41506"/>
                  </a:lnTo>
                </a:path>
              </a:pathLst>
            </a:custGeom>
            <a:ln w="1410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152490" y="2385013"/>
            <a:ext cx="213995" cy="228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00" spc="10" dirty="0">
                <a:solidFill>
                  <a:srgbClr val="231F20"/>
                </a:solidFill>
                <a:latin typeface="Arial MT"/>
                <a:cs typeface="Arial MT"/>
              </a:rPr>
              <a:t>18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783361" y="2603662"/>
            <a:ext cx="0" cy="41910"/>
          </a:xfrm>
          <a:custGeom>
            <a:avLst/>
            <a:gdLst/>
            <a:ahLst/>
            <a:cxnLst/>
            <a:rect l="l" t="t" r="r" b="b"/>
            <a:pathLst>
              <a:path h="41910">
                <a:moveTo>
                  <a:pt x="0" y="0"/>
                </a:moveTo>
                <a:lnTo>
                  <a:pt x="0" y="41506"/>
                </a:lnTo>
              </a:path>
            </a:pathLst>
          </a:custGeom>
          <a:ln w="141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676538" y="2385013"/>
            <a:ext cx="213995" cy="228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00" spc="10" dirty="0">
                <a:solidFill>
                  <a:srgbClr val="231F20"/>
                </a:solidFill>
                <a:latin typeface="Arial MT"/>
                <a:cs typeface="Arial MT"/>
              </a:rPr>
              <a:t>21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308265" y="2725823"/>
            <a:ext cx="0" cy="41910"/>
          </a:xfrm>
          <a:custGeom>
            <a:avLst/>
            <a:gdLst/>
            <a:ahLst/>
            <a:cxnLst/>
            <a:rect l="l" t="t" r="r" b="b"/>
            <a:pathLst>
              <a:path h="41910">
                <a:moveTo>
                  <a:pt x="0" y="0"/>
                </a:moveTo>
                <a:lnTo>
                  <a:pt x="0" y="41506"/>
                </a:lnTo>
              </a:path>
            </a:pathLst>
          </a:custGeom>
          <a:ln w="141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7201542" y="2385013"/>
            <a:ext cx="213995" cy="228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00" spc="10" dirty="0">
                <a:solidFill>
                  <a:srgbClr val="231F20"/>
                </a:solidFill>
                <a:latin typeface="Arial MT"/>
                <a:cs typeface="Arial MT"/>
              </a:rPr>
              <a:t>24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097865" y="2593582"/>
            <a:ext cx="4237355" cy="3469004"/>
            <a:chOff x="3097865" y="2593582"/>
            <a:chExt cx="4237355" cy="3469004"/>
          </a:xfrm>
        </p:grpSpPr>
        <p:sp>
          <p:nvSpPr>
            <p:cNvPr id="19" name="object 19"/>
            <p:cNvSpPr/>
            <p:nvPr/>
          </p:nvSpPr>
          <p:spPr>
            <a:xfrm>
              <a:off x="3112152" y="6035130"/>
              <a:ext cx="41910" cy="0"/>
            </a:xfrm>
            <a:custGeom>
              <a:avLst/>
              <a:gdLst/>
              <a:ahLst/>
              <a:cxnLst/>
              <a:rect l="l" t="t" r="r" b="b"/>
              <a:pathLst>
                <a:path w="41910">
                  <a:moveTo>
                    <a:pt x="0" y="0"/>
                  </a:moveTo>
                  <a:lnTo>
                    <a:pt x="41525" y="0"/>
                  </a:lnTo>
                </a:path>
              </a:pathLst>
            </a:custGeom>
            <a:ln w="14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112152" y="5495164"/>
              <a:ext cx="41910" cy="0"/>
            </a:xfrm>
            <a:custGeom>
              <a:avLst/>
              <a:gdLst/>
              <a:ahLst/>
              <a:cxnLst/>
              <a:rect l="l" t="t" r="r" b="b"/>
              <a:pathLst>
                <a:path w="41910">
                  <a:moveTo>
                    <a:pt x="0" y="0"/>
                  </a:moveTo>
                  <a:lnTo>
                    <a:pt x="41525" y="0"/>
                  </a:lnTo>
                </a:path>
              </a:pathLst>
            </a:custGeom>
            <a:ln w="14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112152" y="4943872"/>
              <a:ext cx="41910" cy="0"/>
            </a:xfrm>
            <a:custGeom>
              <a:avLst/>
              <a:gdLst/>
              <a:ahLst/>
              <a:cxnLst/>
              <a:rect l="l" t="t" r="r" b="b"/>
              <a:pathLst>
                <a:path w="41910">
                  <a:moveTo>
                    <a:pt x="0" y="0"/>
                  </a:moveTo>
                  <a:lnTo>
                    <a:pt x="41525" y="0"/>
                  </a:lnTo>
                </a:path>
              </a:pathLst>
            </a:custGeom>
            <a:ln w="14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112152" y="4392583"/>
              <a:ext cx="41910" cy="0"/>
            </a:xfrm>
            <a:custGeom>
              <a:avLst/>
              <a:gdLst/>
              <a:ahLst/>
              <a:cxnLst/>
              <a:rect l="l" t="t" r="r" b="b"/>
              <a:pathLst>
                <a:path w="41910">
                  <a:moveTo>
                    <a:pt x="0" y="0"/>
                  </a:moveTo>
                  <a:lnTo>
                    <a:pt x="41525" y="0"/>
                  </a:lnTo>
                </a:path>
              </a:pathLst>
            </a:custGeom>
            <a:ln w="14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112152" y="3841290"/>
              <a:ext cx="41910" cy="0"/>
            </a:xfrm>
            <a:custGeom>
              <a:avLst/>
              <a:gdLst/>
              <a:ahLst/>
              <a:cxnLst/>
              <a:rect l="l" t="t" r="r" b="b"/>
              <a:pathLst>
                <a:path w="41910">
                  <a:moveTo>
                    <a:pt x="0" y="0"/>
                  </a:moveTo>
                  <a:lnTo>
                    <a:pt x="41525" y="0"/>
                  </a:lnTo>
                </a:path>
              </a:pathLst>
            </a:custGeom>
            <a:ln w="14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112152" y="3289998"/>
              <a:ext cx="41910" cy="0"/>
            </a:xfrm>
            <a:custGeom>
              <a:avLst/>
              <a:gdLst/>
              <a:ahLst/>
              <a:cxnLst/>
              <a:rect l="l" t="t" r="r" b="b"/>
              <a:pathLst>
                <a:path w="41910">
                  <a:moveTo>
                    <a:pt x="0" y="0"/>
                  </a:moveTo>
                  <a:lnTo>
                    <a:pt x="41525" y="0"/>
                  </a:lnTo>
                </a:path>
              </a:pathLst>
            </a:custGeom>
            <a:ln w="14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112152" y="2738706"/>
              <a:ext cx="41910" cy="0"/>
            </a:xfrm>
            <a:custGeom>
              <a:avLst/>
              <a:gdLst/>
              <a:ahLst/>
              <a:cxnLst/>
              <a:rect l="l" t="t" r="r" b="b"/>
              <a:pathLst>
                <a:path w="41910">
                  <a:moveTo>
                    <a:pt x="0" y="0"/>
                  </a:moveTo>
                  <a:lnTo>
                    <a:pt x="41525" y="0"/>
                  </a:lnTo>
                </a:path>
              </a:pathLst>
            </a:custGeom>
            <a:ln w="14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217136" y="2738710"/>
              <a:ext cx="4091940" cy="3309620"/>
            </a:xfrm>
            <a:custGeom>
              <a:avLst/>
              <a:gdLst/>
              <a:ahLst/>
              <a:cxnLst/>
              <a:rect l="l" t="t" r="r" b="b"/>
              <a:pathLst>
                <a:path w="4091940" h="3309620">
                  <a:moveTo>
                    <a:pt x="0" y="3309376"/>
                  </a:moveTo>
                  <a:lnTo>
                    <a:pt x="18022" y="2530553"/>
                  </a:lnTo>
                  <a:lnTo>
                    <a:pt x="59538" y="1794139"/>
                  </a:lnTo>
                </a:path>
                <a:path w="4091940" h="3309620">
                  <a:moveTo>
                    <a:pt x="59538" y="1794139"/>
                  </a:moveTo>
                  <a:lnTo>
                    <a:pt x="100283" y="1446732"/>
                  </a:lnTo>
                  <a:lnTo>
                    <a:pt x="141019" y="1237959"/>
                  </a:lnTo>
                  <a:lnTo>
                    <a:pt x="181755" y="1028369"/>
                  </a:lnTo>
                  <a:lnTo>
                    <a:pt x="222500" y="884839"/>
                  </a:lnTo>
                  <a:lnTo>
                    <a:pt x="263236" y="917456"/>
                  </a:lnTo>
                  <a:lnTo>
                    <a:pt x="304761" y="689109"/>
                  </a:lnTo>
                  <a:lnTo>
                    <a:pt x="345497" y="702979"/>
                  </a:lnTo>
                  <a:lnTo>
                    <a:pt x="386233" y="649961"/>
                  </a:lnTo>
                  <a:lnTo>
                    <a:pt x="426978" y="639361"/>
                  </a:lnTo>
                  <a:lnTo>
                    <a:pt x="467714" y="529266"/>
                  </a:lnTo>
                  <a:lnTo>
                    <a:pt x="508450" y="553736"/>
                  </a:lnTo>
                  <a:lnTo>
                    <a:pt x="549975" y="529266"/>
                  </a:lnTo>
                  <a:lnTo>
                    <a:pt x="590711" y="463215"/>
                  </a:lnTo>
                  <a:lnTo>
                    <a:pt x="632237" y="382476"/>
                  </a:lnTo>
                  <a:lnTo>
                    <a:pt x="672973" y="413467"/>
                  </a:lnTo>
                  <a:lnTo>
                    <a:pt x="713718" y="360459"/>
                  </a:lnTo>
                  <a:lnTo>
                    <a:pt x="755234" y="366163"/>
                  </a:lnTo>
                  <a:lnTo>
                    <a:pt x="795979" y="313972"/>
                  </a:lnTo>
                  <a:lnTo>
                    <a:pt x="836715" y="341702"/>
                  </a:lnTo>
                  <a:lnTo>
                    <a:pt x="877451" y="322128"/>
                  </a:lnTo>
                  <a:lnTo>
                    <a:pt x="918196" y="380033"/>
                  </a:lnTo>
                  <a:lnTo>
                    <a:pt x="958932" y="272381"/>
                  </a:lnTo>
                  <a:lnTo>
                    <a:pt x="999668" y="316415"/>
                  </a:lnTo>
                  <a:lnTo>
                    <a:pt x="1040413" y="253624"/>
                  </a:lnTo>
                  <a:lnTo>
                    <a:pt x="1081149" y="258520"/>
                  </a:lnTo>
                  <a:lnTo>
                    <a:pt x="1122674" y="272381"/>
                  </a:lnTo>
                  <a:lnTo>
                    <a:pt x="1163410" y="203877"/>
                  </a:lnTo>
                  <a:lnTo>
                    <a:pt x="1204146" y="294398"/>
                  </a:lnTo>
                  <a:lnTo>
                    <a:pt x="1244891" y="236494"/>
                  </a:lnTo>
                  <a:lnTo>
                    <a:pt x="1285627" y="192459"/>
                  </a:lnTo>
                  <a:lnTo>
                    <a:pt x="1326363" y="214476"/>
                  </a:lnTo>
                  <a:lnTo>
                    <a:pt x="1367888" y="214476"/>
                  </a:lnTo>
                  <a:lnTo>
                    <a:pt x="1408624" y="170442"/>
                  </a:lnTo>
                  <a:lnTo>
                    <a:pt x="1449369" y="137816"/>
                  </a:lnTo>
                  <a:lnTo>
                    <a:pt x="1490885" y="173703"/>
                  </a:lnTo>
                  <a:lnTo>
                    <a:pt x="1531631" y="190016"/>
                  </a:lnTo>
                  <a:lnTo>
                    <a:pt x="1572366" y="162286"/>
                  </a:lnTo>
                  <a:lnTo>
                    <a:pt x="1613892" y="192459"/>
                  </a:lnTo>
                  <a:lnTo>
                    <a:pt x="1654628" y="162286"/>
                  </a:lnTo>
                  <a:lnTo>
                    <a:pt x="1695364" y="217737"/>
                  </a:lnTo>
                  <a:lnTo>
                    <a:pt x="1736109" y="186746"/>
                  </a:lnTo>
                  <a:lnTo>
                    <a:pt x="1776845" y="164729"/>
                  </a:lnTo>
                  <a:lnTo>
                    <a:pt x="1818370" y="92964"/>
                  </a:lnTo>
                  <a:lnTo>
                    <a:pt x="1859106" y="88068"/>
                  </a:lnTo>
                  <a:lnTo>
                    <a:pt x="1899842" y="96225"/>
                  </a:lnTo>
                  <a:lnTo>
                    <a:pt x="1940587" y="159842"/>
                  </a:lnTo>
                  <a:lnTo>
                    <a:pt x="1981323" y="115799"/>
                  </a:lnTo>
                  <a:lnTo>
                    <a:pt x="2022848" y="106834"/>
                  </a:lnTo>
                  <a:lnTo>
                    <a:pt x="2063584" y="176146"/>
                  </a:lnTo>
                  <a:lnTo>
                    <a:pt x="2104320" y="164729"/>
                  </a:lnTo>
                  <a:lnTo>
                    <a:pt x="2145065" y="154129"/>
                  </a:lnTo>
                  <a:lnTo>
                    <a:pt x="2185801" y="134555"/>
                  </a:lnTo>
                  <a:lnTo>
                    <a:pt x="2227327" y="60347"/>
                  </a:lnTo>
                  <a:lnTo>
                    <a:pt x="2268062" y="62790"/>
                  </a:lnTo>
                  <a:lnTo>
                    <a:pt x="2309588" y="90521"/>
                  </a:lnTo>
                  <a:lnTo>
                    <a:pt x="2351104" y="68504"/>
                  </a:lnTo>
                  <a:lnTo>
                    <a:pt x="2391849" y="150868"/>
                  </a:lnTo>
                  <a:lnTo>
                    <a:pt x="2432585" y="98677"/>
                  </a:lnTo>
                  <a:lnTo>
                    <a:pt x="2473321" y="137816"/>
                  </a:lnTo>
                  <a:lnTo>
                    <a:pt x="2514846" y="46477"/>
                  </a:lnTo>
                  <a:lnTo>
                    <a:pt x="2555582" y="98677"/>
                  </a:lnTo>
                  <a:lnTo>
                    <a:pt x="2596327" y="106834"/>
                  </a:lnTo>
                  <a:lnTo>
                    <a:pt x="2637844" y="90521"/>
                  </a:lnTo>
                  <a:lnTo>
                    <a:pt x="2679369" y="70947"/>
                  </a:lnTo>
                  <a:lnTo>
                    <a:pt x="2720105" y="123955"/>
                  </a:lnTo>
                  <a:lnTo>
                    <a:pt x="2761630" y="88078"/>
                  </a:lnTo>
                  <a:lnTo>
                    <a:pt x="2802366" y="52190"/>
                  </a:lnTo>
                  <a:lnTo>
                    <a:pt x="2843892" y="90521"/>
                  </a:lnTo>
                  <a:lnTo>
                    <a:pt x="2885417" y="35060"/>
                  </a:lnTo>
                  <a:lnTo>
                    <a:pt x="2926933" y="30173"/>
                  </a:lnTo>
                  <a:lnTo>
                    <a:pt x="2967679" y="112538"/>
                  </a:lnTo>
                  <a:lnTo>
                    <a:pt x="3008414" y="82364"/>
                  </a:lnTo>
                  <a:lnTo>
                    <a:pt x="3049150" y="60347"/>
                  </a:lnTo>
                  <a:lnTo>
                    <a:pt x="3089896" y="24460"/>
                  </a:lnTo>
                  <a:lnTo>
                    <a:pt x="3130631" y="82364"/>
                  </a:lnTo>
                  <a:lnTo>
                    <a:pt x="3172157" y="0"/>
                  </a:lnTo>
                  <a:lnTo>
                    <a:pt x="3212893" y="35060"/>
                  </a:lnTo>
                  <a:lnTo>
                    <a:pt x="3253628" y="66051"/>
                  </a:lnTo>
                  <a:lnTo>
                    <a:pt x="3294374" y="66051"/>
                  </a:lnTo>
                  <a:lnTo>
                    <a:pt x="3335110" y="96225"/>
                  </a:lnTo>
                  <a:lnTo>
                    <a:pt x="3375845" y="74208"/>
                  </a:lnTo>
                  <a:lnTo>
                    <a:pt x="3416591" y="70947"/>
                  </a:lnTo>
                  <a:lnTo>
                    <a:pt x="3457326" y="74208"/>
                  </a:lnTo>
                  <a:lnTo>
                    <a:pt x="3498852" y="57894"/>
                  </a:lnTo>
                  <a:lnTo>
                    <a:pt x="3539588" y="38330"/>
                  </a:lnTo>
                  <a:lnTo>
                    <a:pt x="3581113" y="110095"/>
                  </a:lnTo>
                  <a:lnTo>
                    <a:pt x="3621849" y="118251"/>
                  </a:lnTo>
                  <a:lnTo>
                    <a:pt x="3661805" y="40773"/>
                  </a:lnTo>
                  <a:lnTo>
                    <a:pt x="3702540" y="84807"/>
                  </a:lnTo>
                  <a:lnTo>
                    <a:pt x="3742496" y="10599"/>
                  </a:lnTo>
                  <a:lnTo>
                    <a:pt x="3783241" y="88078"/>
                  </a:lnTo>
                  <a:lnTo>
                    <a:pt x="3823197" y="54634"/>
                  </a:lnTo>
                  <a:lnTo>
                    <a:pt x="3863152" y="46477"/>
                  </a:lnTo>
                  <a:lnTo>
                    <a:pt x="3903888" y="30173"/>
                  </a:lnTo>
                  <a:lnTo>
                    <a:pt x="3945414" y="0"/>
                  </a:lnTo>
                  <a:lnTo>
                    <a:pt x="3986149" y="48930"/>
                  </a:lnTo>
                  <a:lnTo>
                    <a:pt x="4026885" y="57894"/>
                  </a:lnTo>
                  <a:lnTo>
                    <a:pt x="4067630" y="48930"/>
                  </a:lnTo>
                  <a:lnTo>
                    <a:pt x="4091914" y="33434"/>
                  </a:lnTo>
                </a:path>
              </a:pathLst>
            </a:custGeom>
            <a:ln w="28197">
              <a:solidFill>
                <a:srgbClr val="D95C0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713835" y="3455550"/>
              <a:ext cx="3578860" cy="626110"/>
            </a:xfrm>
            <a:custGeom>
              <a:avLst/>
              <a:gdLst/>
              <a:ahLst/>
              <a:cxnLst/>
              <a:rect l="l" t="t" r="r" b="b"/>
              <a:pathLst>
                <a:path w="3578859" h="626110">
                  <a:moveTo>
                    <a:pt x="0" y="625501"/>
                  </a:moveTo>
                  <a:lnTo>
                    <a:pt x="172353" y="501545"/>
                  </a:lnTo>
                  <a:lnTo>
                    <a:pt x="364300" y="349859"/>
                  </a:lnTo>
                  <a:lnTo>
                    <a:pt x="562507" y="449345"/>
                  </a:lnTo>
                  <a:lnTo>
                    <a:pt x="756024" y="291955"/>
                  </a:lnTo>
                  <a:lnTo>
                    <a:pt x="996537" y="391450"/>
                  </a:lnTo>
                  <a:lnTo>
                    <a:pt x="1302079" y="545579"/>
                  </a:lnTo>
                  <a:lnTo>
                    <a:pt x="1703985" y="70947"/>
                  </a:lnTo>
                  <a:lnTo>
                    <a:pt x="2010307" y="145972"/>
                  </a:lnTo>
                  <a:lnTo>
                    <a:pt x="2598678" y="0"/>
                  </a:lnTo>
                  <a:lnTo>
                    <a:pt x="3578763" y="247911"/>
                  </a:lnTo>
                </a:path>
              </a:pathLst>
            </a:custGeom>
            <a:ln w="28191">
              <a:solidFill>
                <a:srgbClr val="1B9E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50450" y="3661153"/>
              <a:ext cx="84605" cy="8691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71211" y="3412190"/>
              <a:ext cx="84605" cy="8691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82314" y="3557805"/>
              <a:ext cx="84605" cy="86919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75455" y="3482648"/>
              <a:ext cx="84605" cy="86919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73832" y="3957084"/>
              <a:ext cx="84605" cy="86919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666974" y="3804420"/>
              <a:ext cx="84605" cy="86919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427805" y="3703431"/>
              <a:ext cx="84605" cy="86910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33762" y="3860793"/>
              <a:ext cx="84605" cy="86910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035206" y="3762143"/>
              <a:ext cx="84605" cy="86919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43420" y="3913632"/>
              <a:ext cx="84605" cy="86919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71940" y="4036939"/>
              <a:ext cx="84605" cy="86919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3112152" y="6035130"/>
              <a:ext cx="4196715" cy="0"/>
            </a:xfrm>
            <a:custGeom>
              <a:avLst/>
              <a:gdLst/>
              <a:ahLst/>
              <a:cxnLst/>
              <a:rect l="l" t="t" r="r" b="b"/>
              <a:pathLst>
                <a:path w="4196715">
                  <a:moveTo>
                    <a:pt x="0" y="0"/>
                  </a:moveTo>
                  <a:lnTo>
                    <a:pt x="4196108" y="0"/>
                  </a:lnTo>
                </a:path>
              </a:pathLst>
            </a:custGeom>
            <a:ln w="28190">
              <a:solidFill>
                <a:srgbClr val="D95C0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308265" y="2600885"/>
              <a:ext cx="0" cy="3446779"/>
            </a:xfrm>
            <a:custGeom>
              <a:avLst/>
              <a:gdLst/>
              <a:ahLst/>
              <a:cxnLst/>
              <a:rect l="l" t="t" r="r" b="b"/>
              <a:pathLst>
                <a:path h="3446779">
                  <a:moveTo>
                    <a:pt x="0" y="3446384"/>
                  </a:moveTo>
                  <a:lnTo>
                    <a:pt x="0" y="0"/>
                  </a:lnTo>
                </a:path>
              </a:pathLst>
            </a:custGeom>
            <a:ln w="1410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522678" y="5985795"/>
              <a:ext cx="411480" cy="56515"/>
            </a:xfrm>
            <a:custGeom>
              <a:avLst/>
              <a:gdLst/>
              <a:ahLst/>
              <a:cxnLst/>
              <a:rect l="l" t="t" r="r" b="b"/>
              <a:pathLst>
                <a:path w="411479" h="56514">
                  <a:moveTo>
                    <a:pt x="411306" y="56381"/>
                  </a:moveTo>
                  <a:lnTo>
                    <a:pt x="411306" y="0"/>
                  </a:lnTo>
                </a:path>
                <a:path w="411479" h="56514">
                  <a:moveTo>
                    <a:pt x="0" y="56381"/>
                  </a:moveTo>
                  <a:lnTo>
                    <a:pt x="0" y="0"/>
                  </a:lnTo>
                </a:path>
              </a:pathLst>
            </a:custGeom>
            <a:ln w="18798">
              <a:solidFill>
                <a:srgbClr val="D95C0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343721" y="5985795"/>
              <a:ext cx="411480" cy="56515"/>
            </a:xfrm>
            <a:custGeom>
              <a:avLst/>
              <a:gdLst/>
              <a:ahLst/>
              <a:cxnLst/>
              <a:rect l="l" t="t" r="r" b="b"/>
              <a:pathLst>
                <a:path w="411479" h="56514">
                  <a:moveTo>
                    <a:pt x="411306" y="56381"/>
                  </a:moveTo>
                  <a:lnTo>
                    <a:pt x="411306" y="0"/>
                  </a:lnTo>
                </a:path>
                <a:path w="411479" h="56514">
                  <a:moveTo>
                    <a:pt x="0" y="56381"/>
                  </a:moveTo>
                  <a:lnTo>
                    <a:pt x="0" y="0"/>
                  </a:lnTo>
                </a:path>
              </a:pathLst>
            </a:custGeom>
            <a:ln w="18798">
              <a:solidFill>
                <a:srgbClr val="D95C0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165554" y="5985795"/>
              <a:ext cx="411480" cy="56515"/>
            </a:xfrm>
            <a:custGeom>
              <a:avLst/>
              <a:gdLst/>
              <a:ahLst/>
              <a:cxnLst/>
              <a:rect l="l" t="t" r="r" b="b"/>
              <a:pathLst>
                <a:path w="411479" h="56514">
                  <a:moveTo>
                    <a:pt x="411306" y="56381"/>
                  </a:moveTo>
                  <a:lnTo>
                    <a:pt x="411306" y="0"/>
                  </a:lnTo>
                </a:path>
                <a:path w="411479" h="56514">
                  <a:moveTo>
                    <a:pt x="0" y="56381"/>
                  </a:moveTo>
                  <a:lnTo>
                    <a:pt x="0" y="0"/>
                  </a:lnTo>
                </a:path>
              </a:pathLst>
            </a:custGeom>
            <a:ln w="18798">
              <a:solidFill>
                <a:srgbClr val="D95C0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989733" y="5985795"/>
              <a:ext cx="411480" cy="56515"/>
            </a:xfrm>
            <a:custGeom>
              <a:avLst/>
              <a:gdLst/>
              <a:ahLst/>
              <a:cxnLst/>
              <a:rect l="l" t="t" r="r" b="b"/>
              <a:pathLst>
                <a:path w="411479" h="56514">
                  <a:moveTo>
                    <a:pt x="411306" y="56381"/>
                  </a:moveTo>
                  <a:lnTo>
                    <a:pt x="411306" y="0"/>
                  </a:lnTo>
                </a:path>
                <a:path w="411479" h="56514">
                  <a:moveTo>
                    <a:pt x="0" y="56381"/>
                  </a:moveTo>
                  <a:lnTo>
                    <a:pt x="0" y="0"/>
                  </a:lnTo>
                </a:path>
              </a:pathLst>
            </a:custGeom>
            <a:ln w="18798">
              <a:solidFill>
                <a:srgbClr val="D95C0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811566" y="5985795"/>
              <a:ext cx="407670" cy="56515"/>
            </a:xfrm>
            <a:custGeom>
              <a:avLst/>
              <a:gdLst/>
              <a:ahLst/>
              <a:cxnLst/>
              <a:rect l="l" t="t" r="r" b="b"/>
              <a:pathLst>
                <a:path w="407670" h="56514">
                  <a:moveTo>
                    <a:pt x="407386" y="56381"/>
                  </a:moveTo>
                  <a:lnTo>
                    <a:pt x="407386" y="0"/>
                  </a:lnTo>
                </a:path>
                <a:path w="407670" h="56514">
                  <a:moveTo>
                    <a:pt x="0" y="56381"/>
                  </a:moveTo>
                  <a:lnTo>
                    <a:pt x="0" y="0"/>
                  </a:lnTo>
                </a:path>
              </a:pathLst>
            </a:custGeom>
            <a:ln w="18798">
              <a:solidFill>
                <a:srgbClr val="D95C0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2884098" y="5915878"/>
            <a:ext cx="213995" cy="228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00" spc="10" dirty="0">
                <a:solidFill>
                  <a:srgbClr val="231F20"/>
                </a:solidFill>
                <a:latin typeface="Arial MT"/>
                <a:cs typeface="Arial MT"/>
              </a:rPr>
              <a:t>60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2884098" y="5366025"/>
            <a:ext cx="213995" cy="228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00" spc="10" dirty="0">
                <a:solidFill>
                  <a:srgbClr val="231F20"/>
                </a:solidFill>
                <a:latin typeface="Arial MT"/>
                <a:cs typeface="Arial MT"/>
              </a:rPr>
              <a:t>62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2884098" y="4816181"/>
            <a:ext cx="213995" cy="228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00" spc="10" dirty="0">
                <a:solidFill>
                  <a:srgbClr val="231F20"/>
                </a:solidFill>
                <a:latin typeface="Arial MT"/>
                <a:cs typeface="Arial MT"/>
              </a:rPr>
              <a:t>64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2884098" y="2616799"/>
            <a:ext cx="213995" cy="18783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00" spc="10" dirty="0">
                <a:solidFill>
                  <a:srgbClr val="231F20"/>
                </a:solidFill>
                <a:latin typeface="Arial MT"/>
                <a:cs typeface="Arial MT"/>
              </a:rPr>
              <a:t>72</a:t>
            </a: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300" spc="10" dirty="0">
                <a:solidFill>
                  <a:srgbClr val="231F20"/>
                </a:solidFill>
                <a:latin typeface="Arial MT"/>
                <a:cs typeface="Arial MT"/>
              </a:rPr>
              <a:t>70</a:t>
            </a: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300" spc="10" dirty="0">
                <a:solidFill>
                  <a:srgbClr val="231F20"/>
                </a:solidFill>
                <a:latin typeface="Arial MT"/>
                <a:cs typeface="Arial MT"/>
              </a:rPr>
              <a:t>68</a:t>
            </a: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300" spc="10" dirty="0">
                <a:solidFill>
                  <a:srgbClr val="231F20"/>
                </a:solidFill>
                <a:latin typeface="Arial MT"/>
                <a:cs typeface="Arial MT"/>
              </a:rPr>
              <a:t>66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3827312" y="5783586"/>
            <a:ext cx="213995" cy="228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00" spc="10" dirty="0">
                <a:solidFill>
                  <a:srgbClr val="CC5602"/>
                </a:solidFill>
                <a:latin typeface="Arial MT"/>
                <a:cs typeface="Arial MT"/>
              </a:rPr>
              <a:t>20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6294250" y="5783586"/>
            <a:ext cx="213995" cy="228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00" spc="10" dirty="0">
                <a:solidFill>
                  <a:srgbClr val="CC5602"/>
                </a:solidFill>
                <a:latin typeface="Arial MT"/>
                <a:cs typeface="Arial MT"/>
              </a:rPr>
              <a:t>80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6999404" y="5783586"/>
            <a:ext cx="307975" cy="228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00" spc="10" dirty="0">
                <a:solidFill>
                  <a:srgbClr val="CC5602"/>
                </a:solidFill>
                <a:latin typeface="Arial MT"/>
                <a:cs typeface="Arial MT"/>
              </a:rPr>
              <a:t>100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5421574" y="2850860"/>
            <a:ext cx="1894205" cy="2651760"/>
            <a:chOff x="5421574" y="2850860"/>
            <a:chExt cx="1894205" cy="2651760"/>
          </a:xfrm>
        </p:grpSpPr>
        <p:sp>
          <p:nvSpPr>
            <p:cNvPr id="54" name="object 54"/>
            <p:cNvSpPr/>
            <p:nvPr/>
          </p:nvSpPr>
          <p:spPr>
            <a:xfrm>
              <a:off x="7265959" y="5495164"/>
              <a:ext cx="42545" cy="0"/>
            </a:xfrm>
            <a:custGeom>
              <a:avLst/>
              <a:gdLst/>
              <a:ahLst/>
              <a:cxnLst/>
              <a:rect l="l" t="t" r="r" b="b"/>
              <a:pathLst>
                <a:path w="42545">
                  <a:moveTo>
                    <a:pt x="42305" y="0"/>
                  </a:moveTo>
                  <a:lnTo>
                    <a:pt x="0" y="0"/>
                  </a:lnTo>
                </a:path>
              </a:pathLst>
            </a:custGeom>
            <a:ln w="14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7265959" y="4943872"/>
              <a:ext cx="42545" cy="0"/>
            </a:xfrm>
            <a:custGeom>
              <a:avLst/>
              <a:gdLst/>
              <a:ahLst/>
              <a:cxnLst/>
              <a:rect l="l" t="t" r="r" b="b"/>
              <a:pathLst>
                <a:path w="42545">
                  <a:moveTo>
                    <a:pt x="42305" y="0"/>
                  </a:moveTo>
                  <a:lnTo>
                    <a:pt x="0" y="0"/>
                  </a:lnTo>
                </a:path>
              </a:pathLst>
            </a:custGeom>
            <a:ln w="14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7265959" y="4392583"/>
              <a:ext cx="42545" cy="0"/>
            </a:xfrm>
            <a:custGeom>
              <a:avLst/>
              <a:gdLst/>
              <a:ahLst/>
              <a:cxnLst/>
              <a:rect l="l" t="t" r="r" b="b"/>
              <a:pathLst>
                <a:path w="42545">
                  <a:moveTo>
                    <a:pt x="42305" y="0"/>
                  </a:moveTo>
                  <a:lnTo>
                    <a:pt x="0" y="0"/>
                  </a:lnTo>
                </a:path>
              </a:pathLst>
            </a:custGeom>
            <a:ln w="14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7265959" y="3841290"/>
              <a:ext cx="42545" cy="0"/>
            </a:xfrm>
            <a:custGeom>
              <a:avLst/>
              <a:gdLst/>
              <a:ahLst/>
              <a:cxnLst/>
              <a:rect l="l" t="t" r="r" b="b"/>
              <a:pathLst>
                <a:path w="42545">
                  <a:moveTo>
                    <a:pt x="42305" y="0"/>
                  </a:moveTo>
                  <a:lnTo>
                    <a:pt x="0" y="0"/>
                  </a:lnTo>
                </a:path>
              </a:pathLst>
            </a:custGeom>
            <a:ln w="14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7265959" y="3289998"/>
              <a:ext cx="42545" cy="0"/>
            </a:xfrm>
            <a:custGeom>
              <a:avLst/>
              <a:gdLst/>
              <a:ahLst/>
              <a:cxnLst/>
              <a:rect l="l" t="t" r="r" b="b"/>
              <a:pathLst>
                <a:path w="42545">
                  <a:moveTo>
                    <a:pt x="42305" y="0"/>
                  </a:moveTo>
                  <a:lnTo>
                    <a:pt x="0" y="0"/>
                  </a:lnTo>
                </a:path>
              </a:pathLst>
            </a:custGeom>
            <a:ln w="14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7265959" y="2858162"/>
              <a:ext cx="42545" cy="0"/>
            </a:xfrm>
            <a:custGeom>
              <a:avLst/>
              <a:gdLst/>
              <a:ahLst/>
              <a:cxnLst/>
              <a:rect l="l" t="t" r="r" b="b"/>
              <a:pathLst>
                <a:path w="42545">
                  <a:moveTo>
                    <a:pt x="42305" y="0"/>
                  </a:moveTo>
                  <a:lnTo>
                    <a:pt x="0" y="0"/>
                  </a:lnTo>
                </a:path>
              </a:pathLst>
            </a:custGeom>
            <a:ln w="14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5445069" y="5101066"/>
              <a:ext cx="582295" cy="0"/>
            </a:xfrm>
            <a:custGeom>
              <a:avLst/>
              <a:gdLst/>
              <a:ahLst/>
              <a:cxnLst/>
              <a:rect l="l" t="t" r="r" b="b"/>
              <a:pathLst>
                <a:path w="582295">
                  <a:moveTo>
                    <a:pt x="582100" y="0"/>
                  </a:moveTo>
                  <a:lnTo>
                    <a:pt x="0" y="0"/>
                  </a:lnTo>
                </a:path>
              </a:pathLst>
            </a:custGeom>
            <a:solidFill>
              <a:srgbClr val="1B9E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5445069" y="5101066"/>
              <a:ext cx="582295" cy="0"/>
            </a:xfrm>
            <a:custGeom>
              <a:avLst/>
              <a:gdLst/>
              <a:ahLst/>
              <a:cxnLst/>
              <a:rect l="l" t="t" r="r" b="b"/>
              <a:pathLst>
                <a:path w="582295">
                  <a:moveTo>
                    <a:pt x="0" y="0"/>
                  </a:moveTo>
                  <a:lnTo>
                    <a:pt x="582100" y="0"/>
                  </a:lnTo>
                </a:path>
              </a:pathLst>
            </a:custGeom>
            <a:ln w="46984">
              <a:solidFill>
                <a:srgbClr val="1B9E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5445069" y="4874451"/>
              <a:ext cx="582295" cy="0"/>
            </a:xfrm>
            <a:custGeom>
              <a:avLst/>
              <a:gdLst/>
              <a:ahLst/>
              <a:cxnLst/>
              <a:rect l="l" t="t" r="r" b="b"/>
              <a:pathLst>
                <a:path w="582295">
                  <a:moveTo>
                    <a:pt x="0" y="0"/>
                  </a:moveTo>
                  <a:lnTo>
                    <a:pt x="582100" y="0"/>
                  </a:lnTo>
                </a:path>
              </a:pathLst>
            </a:custGeom>
            <a:ln w="46984">
              <a:solidFill>
                <a:srgbClr val="D6612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3" name="object 63"/>
          <p:cNvGrpSpPr/>
          <p:nvPr/>
        </p:nvGrpSpPr>
        <p:grpSpPr>
          <a:xfrm>
            <a:off x="3112152" y="6301378"/>
            <a:ext cx="4196715" cy="73025"/>
            <a:chOff x="3112152" y="6301378"/>
            <a:chExt cx="4196715" cy="73025"/>
          </a:xfrm>
        </p:grpSpPr>
        <p:sp>
          <p:nvSpPr>
            <p:cNvPr id="64" name="object 64"/>
            <p:cNvSpPr/>
            <p:nvPr/>
          </p:nvSpPr>
          <p:spPr>
            <a:xfrm>
              <a:off x="3716186" y="6301378"/>
              <a:ext cx="0" cy="56515"/>
            </a:xfrm>
            <a:custGeom>
              <a:avLst/>
              <a:gdLst/>
              <a:ahLst/>
              <a:cxnLst/>
              <a:rect l="l" t="t" r="r" b="b"/>
              <a:pathLst>
                <a:path h="56514">
                  <a:moveTo>
                    <a:pt x="0" y="56381"/>
                  </a:moveTo>
                  <a:lnTo>
                    <a:pt x="0" y="0"/>
                  </a:lnTo>
                </a:path>
              </a:pathLst>
            </a:custGeom>
            <a:ln w="18802">
              <a:solidFill>
                <a:srgbClr val="1B9E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3889328" y="6301378"/>
              <a:ext cx="0" cy="56515"/>
            </a:xfrm>
            <a:custGeom>
              <a:avLst/>
              <a:gdLst/>
              <a:ahLst/>
              <a:cxnLst/>
              <a:rect l="l" t="t" r="r" b="b"/>
              <a:pathLst>
                <a:path h="56514">
                  <a:moveTo>
                    <a:pt x="0" y="56381"/>
                  </a:moveTo>
                  <a:lnTo>
                    <a:pt x="0" y="0"/>
                  </a:lnTo>
                </a:path>
              </a:pathLst>
            </a:custGeom>
            <a:ln w="18802">
              <a:solidFill>
                <a:srgbClr val="1B9E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082055" y="6301378"/>
              <a:ext cx="0" cy="56515"/>
            </a:xfrm>
            <a:custGeom>
              <a:avLst/>
              <a:gdLst/>
              <a:ahLst/>
              <a:cxnLst/>
              <a:rect l="l" t="t" r="r" b="b"/>
              <a:pathLst>
                <a:path h="56514">
                  <a:moveTo>
                    <a:pt x="0" y="56381"/>
                  </a:moveTo>
                  <a:lnTo>
                    <a:pt x="0" y="0"/>
                  </a:lnTo>
                </a:path>
              </a:pathLst>
            </a:custGeom>
            <a:ln w="18802">
              <a:solidFill>
                <a:srgbClr val="1B9E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4281048" y="6301378"/>
              <a:ext cx="0" cy="56515"/>
            </a:xfrm>
            <a:custGeom>
              <a:avLst/>
              <a:gdLst/>
              <a:ahLst/>
              <a:cxnLst/>
              <a:rect l="l" t="t" r="r" b="b"/>
              <a:pathLst>
                <a:path h="56514">
                  <a:moveTo>
                    <a:pt x="0" y="56381"/>
                  </a:moveTo>
                  <a:lnTo>
                    <a:pt x="0" y="0"/>
                  </a:lnTo>
                </a:path>
              </a:pathLst>
            </a:custGeom>
            <a:ln w="18802">
              <a:solidFill>
                <a:srgbClr val="1B9E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4474559" y="6301378"/>
              <a:ext cx="0" cy="56515"/>
            </a:xfrm>
            <a:custGeom>
              <a:avLst/>
              <a:gdLst/>
              <a:ahLst/>
              <a:cxnLst/>
              <a:rect l="l" t="t" r="r" b="b"/>
              <a:pathLst>
                <a:path h="56514">
                  <a:moveTo>
                    <a:pt x="0" y="56381"/>
                  </a:moveTo>
                  <a:lnTo>
                    <a:pt x="0" y="0"/>
                  </a:lnTo>
                </a:path>
              </a:pathLst>
            </a:custGeom>
            <a:ln w="18802">
              <a:solidFill>
                <a:srgbClr val="1B9E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4715858" y="6301378"/>
              <a:ext cx="0" cy="56515"/>
            </a:xfrm>
            <a:custGeom>
              <a:avLst/>
              <a:gdLst/>
              <a:ahLst/>
              <a:cxnLst/>
              <a:rect l="l" t="t" r="r" b="b"/>
              <a:pathLst>
                <a:path h="56514">
                  <a:moveTo>
                    <a:pt x="0" y="56381"/>
                  </a:moveTo>
                  <a:lnTo>
                    <a:pt x="0" y="0"/>
                  </a:lnTo>
                </a:path>
              </a:pathLst>
            </a:custGeom>
            <a:ln w="18802">
              <a:solidFill>
                <a:srgbClr val="1B9E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5022965" y="6301378"/>
              <a:ext cx="0" cy="56515"/>
            </a:xfrm>
            <a:custGeom>
              <a:avLst/>
              <a:gdLst/>
              <a:ahLst/>
              <a:cxnLst/>
              <a:rect l="l" t="t" r="r" b="b"/>
              <a:pathLst>
                <a:path h="56514">
                  <a:moveTo>
                    <a:pt x="0" y="56381"/>
                  </a:moveTo>
                  <a:lnTo>
                    <a:pt x="0" y="0"/>
                  </a:lnTo>
                </a:path>
              </a:pathLst>
            </a:custGeom>
            <a:ln w="18802">
              <a:solidFill>
                <a:srgbClr val="1B9E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5426440" y="6301378"/>
              <a:ext cx="0" cy="56515"/>
            </a:xfrm>
            <a:custGeom>
              <a:avLst/>
              <a:gdLst/>
              <a:ahLst/>
              <a:cxnLst/>
              <a:rect l="l" t="t" r="r" b="b"/>
              <a:pathLst>
                <a:path h="56514">
                  <a:moveTo>
                    <a:pt x="0" y="56381"/>
                  </a:moveTo>
                  <a:lnTo>
                    <a:pt x="0" y="0"/>
                  </a:lnTo>
                </a:path>
              </a:pathLst>
            </a:custGeom>
            <a:ln w="18802">
              <a:solidFill>
                <a:srgbClr val="1B9E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5734333" y="6301378"/>
              <a:ext cx="0" cy="56515"/>
            </a:xfrm>
            <a:custGeom>
              <a:avLst/>
              <a:gdLst/>
              <a:ahLst/>
              <a:cxnLst/>
              <a:rect l="l" t="t" r="r" b="b"/>
              <a:pathLst>
                <a:path h="56514">
                  <a:moveTo>
                    <a:pt x="0" y="56381"/>
                  </a:moveTo>
                  <a:lnTo>
                    <a:pt x="0" y="0"/>
                  </a:lnTo>
                </a:path>
              </a:pathLst>
            </a:custGeom>
            <a:ln w="18802">
              <a:solidFill>
                <a:srgbClr val="1B9E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6324264" y="6301378"/>
              <a:ext cx="0" cy="56515"/>
            </a:xfrm>
            <a:custGeom>
              <a:avLst/>
              <a:gdLst/>
              <a:ahLst/>
              <a:cxnLst/>
              <a:rect l="l" t="t" r="r" b="b"/>
              <a:pathLst>
                <a:path h="56514">
                  <a:moveTo>
                    <a:pt x="0" y="56381"/>
                  </a:moveTo>
                  <a:lnTo>
                    <a:pt x="0" y="0"/>
                  </a:lnTo>
                </a:path>
              </a:pathLst>
            </a:custGeom>
            <a:ln w="18802">
              <a:solidFill>
                <a:srgbClr val="1B9E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7298863" y="6301378"/>
              <a:ext cx="0" cy="56515"/>
            </a:xfrm>
            <a:custGeom>
              <a:avLst/>
              <a:gdLst/>
              <a:ahLst/>
              <a:cxnLst/>
              <a:rect l="l" t="t" r="r" b="b"/>
              <a:pathLst>
                <a:path h="56514">
                  <a:moveTo>
                    <a:pt x="0" y="56381"/>
                  </a:moveTo>
                  <a:lnTo>
                    <a:pt x="0" y="0"/>
                  </a:lnTo>
                </a:path>
              </a:pathLst>
            </a:custGeom>
            <a:ln w="18802">
              <a:solidFill>
                <a:srgbClr val="1B9E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3112152" y="6360110"/>
              <a:ext cx="4196715" cy="0"/>
            </a:xfrm>
            <a:custGeom>
              <a:avLst/>
              <a:gdLst/>
              <a:ahLst/>
              <a:cxnLst/>
              <a:rect l="l" t="t" r="r" b="b"/>
              <a:pathLst>
                <a:path w="4196715">
                  <a:moveTo>
                    <a:pt x="4196108" y="0"/>
                  </a:moveTo>
                  <a:lnTo>
                    <a:pt x="0" y="0"/>
                  </a:lnTo>
                </a:path>
              </a:pathLst>
            </a:custGeom>
            <a:solidFill>
              <a:srgbClr val="188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3112152" y="6360110"/>
              <a:ext cx="4196715" cy="0"/>
            </a:xfrm>
            <a:custGeom>
              <a:avLst/>
              <a:gdLst/>
              <a:ahLst/>
              <a:cxnLst/>
              <a:rect l="l" t="t" r="r" b="b"/>
              <a:pathLst>
                <a:path w="4196715">
                  <a:moveTo>
                    <a:pt x="0" y="0"/>
                  </a:moveTo>
                  <a:lnTo>
                    <a:pt x="4196108" y="0"/>
                  </a:lnTo>
                </a:path>
              </a:pathLst>
            </a:custGeom>
            <a:ln w="28190">
              <a:solidFill>
                <a:srgbClr val="1B9E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7" name="object 77"/>
          <p:cNvSpPr txBox="1"/>
          <p:nvPr/>
        </p:nvSpPr>
        <p:spPr>
          <a:xfrm>
            <a:off x="7201542" y="6362235"/>
            <a:ext cx="213995" cy="228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00" spc="10" dirty="0">
                <a:solidFill>
                  <a:srgbClr val="188C6A"/>
                </a:solidFill>
                <a:latin typeface="Arial MT"/>
                <a:cs typeface="Arial MT"/>
              </a:rPr>
              <a:t>20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3656445" y="6362235"/>
            <a:ext cx="2874010" cy="42735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ts val="1380"/>
              </a:lnSpc>
              <a:spcBef>
                <a:spcPts val="130"/>
              </a:spcBef>
              <a:tabLst>
                <a:tab pos="1012190" algn="l"/>
                <a:tab pos="1319530" algn="l"/>
                <a:tab pos="1675764" algn="l"/>
                <a:tab pos="2573655" algn="l"/>
              </a:tabLst>
            </a:pPr>
            <a:r>
              <a:rPr sz="1300" spc="15" dirty="0">
                <a:solidFill>
                  <a:srgbClr val="188C6A"/>
                </a:solidFill>
                <a:latin typeface="Arial MT"/>
                <a:cs typeface="Arial MT"/>
              </a:rPr>
              <a:t>1</a:t>
            </a:r>
            <a:r>
              <a:rPr sz="1300" spc="254" dirty="0">
                <a:solidFill>
                  <a:srgbClr val="188C6A"/>
                </a:solidFill>
                <a:latin typeface="Arial MT"/>
                <a:cs typeface="Arial MT"/>
              </a:rPr>
              <a:t> </a:t>
            </a:r>
            <a:r>
              <a:rPr sz="1300" spc="15" dirty="0">
                <a:solidFill>
                  <a:srgbClr val="188C6A"/>
                </a:solidFill>
                <a:latin typeface="Arial MT"/>
                <a:cs typeface="Arial MT"/>
              </a:rPr>
              <a:t>2 </a:t>
            </a:r>
            <a:r>
              <a:rPr sz="1300" spc="40" dirty="0">
                <a:solidFill>
                  <a:srgbClr val="188C6A"/>
                </a:solidFill>
                <a:latin typeface="Arial MT"/>
                <a:cs typeface="Arial MT"/>
              </a:rPr>
              <a:t> </a:t>
            </a:r>
            <a:r>
              <a:rPr sz="1300" spc="15" dirty="0">
                <a:solidFill>
                  <a:srgbClr val="188C6A"/>
                </a:solidFill>
                <a:latin typeface="Arial MT"/>
                <a:cs typeface="Arial MT"/>
              </a:rPr>
              <a:t>3 </a:t>
            </a:r>
            <a:r>
              <a:rPr sz="1300" spc="90" dirty="0">
                <a:solidFill>
                  <a:srgbClr val="188C6A"/>
                </a:solidFill>
                <a:latin typeface="Arial MT"/>
                <a:cs typeface="Arial MT"/>
              </a:rPr>
              <a:t> </a:t>
            </a:r>
            <a:r>
              <a:rPr sz="1300" spc="15" dirty="0">
                <a:solidFill>
                  <a:srgbClr val="188C6A"/>
                </a:solidFill>
                <a:latin typeface="Arial MT"/>
                <a:cs typeface="Arial MT"/>
              </a:rPr>
              <a:t>4 </a:t>
            </a:r>
            <a:r>
              <a:rPr sz="1300" spc="45" dirty="0">
                <a:solidFill>
                  <a:srgbClr val="188C6A"/>
                </a:solidFill>
                <a:latin typeface="Arial MT"/>
                <a:cs typeface="Arial MT"/>
              </a:rPr>
              <a:t> </a:t>
            </a:r>
            <a:r>
              <a:rPr sz="1300" spc="15" dirty="0">
                <a:solidFill>
                  <a:srgbClr val="188C6A"/>
                </a:solidFill>
                <a:latin typeface="Arial MT"/>
                <a:cs typeface="Arial MT"/>
              </a:rPr>
              <a:t>5	6	7	10 </a:t>
            </a:r>
            <a:r>
              <a:rPr sz="1300" spc="204" dirty="0">
                <a:solidFill>
                  <a:srgbClr val="188C6A"/>
                </a:solidFill>
                <a:latin typeface="Arial MT"/>
                <a:cs typeface="Arial MT"/>
              </a:rPr>
              <a:t> </a:t>
            </a:r>
            <a:r>
              <a:rPr sz="1300" spc="15" dirty="0">
                <a:solidFill>
                  <a:srgbClr val="188C6A"/>
                </a:solidFill>
                <a:latin typeface="Arial MT"/>
                <a:cs typeface="Arial MT"/>
              </a:rPr>
              <a:t>12	</a:t>
            </a:r>
            <a:r>
              <a:rPr sz="1300" spc="10" dirty="0">
                <a:solidFill>
                  <a:srgbClr val="188C6A"/>
                </a:solidFill>
                <a:latin typeface="Arial MT"/>
                <a:cs typeface="Arial MT"/>
              </a:rPr>
              <a:t>15</a:t>
            </a:r>
            <a:endParaRPr sz="1300">
              <a:latin typeface="Arial MT"/>
              <a:cs typeface="Arial MT"/>
            </a:endParaRPr>
          </a:p>
          <a:p>
            <a:pPr marL="246379">
              <a:lnSpc>
                <a:spcPts val="1739"/>
              </a:lnSpc>
            </a:pPr>
            <a:r>
              <a:rPr sz="1600" spc="10" dirty="0">
                <a:solidFill>
                  <a:srgbClr val="188C6A"/>
                </a:solidFill>
                <a:latin typeface="Trebuchet MS"/>
                <a:cs typeface="Trebuchet MS"/>
              </a:rPr>
              <a:t>Neg</a:t>
            </a:r>
            <a:r>
              <a:rPr sz="1600" dirty="0">
                <a:solidFill>
                  <a:srgbClr val="188C6A"/>
                </a:solidFill>
                <a:latin typeface="Trebuchet MS"/>
                <a:cs typeface="Trebuchet MS"/>
              </a:rPr>
              <a:t>a</a:t>
            </a:r>
            <a:r>
              <a:rPr sz="1600" spc="-50" dirty="0">
                <a:solidFill>
                  <a:srgbClr val="188C6A"/>
                </a:solidFill>
                <a:latin typeface="Trebuchet MS"/>
                <a:cs typeface="Trebuchet MS"/>
              </a:rPr>
              <a:t>ti</a:t>
            </a:r>
            <a:r>
              <a:rPr sz="1600" spc="-95" dirty="0">
                <a:solidFill>
                  <a:srgbClr val="188C6A"/>
                </a:solidFill>
                <a:latin typeface="Trebuchet MS"/>
                <a:cs typeface="Trebuchet MS"/>
              </a:rPr>
              <a:t>v</a:t>
            </a:r>
            <a:r>
              <a:rPr sz="1600" spc="-60" dirty="0">
                <a:solidFill>
                  <a:srgbClr val="188C6A"/>
                </a:solidFill>
                <a:latin typeface="Trebuchet MS"/>
                <a:cs typeface="Trebuchet MS"/>
              </a:rPr>
              <a:t>e</a:t>
            </a:r>
            <a:r>
              <a:rPr sz="1600" spc="-140" dirty="0">
                <a:solidFill>
                  <a:srgbClr val="188C6A"/>
                </a:solidFill>
                <a:latin typeface="Trebuchet MS"/>
                <a:cs typeface="Trebuchet MS"/>
              </a:rPr>
              <a:t> </a:t>
            </a:r>
            <a:r>
              <a:rPr sz="1600" spc="30" dirty="0">
                <a:solidFill>
                  <a:srgbClr val="188C6A"/>
                </a:solidFill>
                <a:latin typeface="Trebuchet MS"/>
                <a:cs typeface="Trebuchet MS"/>
              </a:rPr>
              <a:t>S</a:t>
            </a:r>
            <a:r>
              <a:rPr sz="1600" spc="-25" dirty="0">
                <a:solidFill>
                  <a:srgbClr val="188C6A"/>
                </a:solidFill>
                <a:latin typeface="Trebuchet MS"/>
                <a:cs typeface="Trebuchet MS"/>
              </a:rPr>
              <a:t>amples</a:t>
            </a:r>
            <a:r>
              <a:rPr sz="1600" spc="-140" dirty="0">
                <a:solidFill>
                  <a:srgbClr val="188C6A"/>
                </a:solidFill>
                <a:latin typeface="Trebuchet MS"/>
                <a:cs typeface="Trebuchet MS"/>
              </a:rPr>
              <a:t> </a:t>
            </a:r>
            <a:r>
              <a:rPr sz="1600" spc="-45" dirty="0">
                <a:solidFill>
                  <a:srgbClr val="188C6A"/>
                </a:solidFill>
                <a:latin typeface="Trebuchet MS"/>
                <a:cs typeface="Trebuchet MS"/>
              </a:rPr>
              <a:t>(S</a:t>
            </a:r>
            <a:r>
              <a:rPr sz="1600" spc="-30" dirty="0">
                <a:solidFill>
                  <a:srgbClr val="188C6A"/>
                </a:solidFill>
                <a:latin typeface="Trebuchet MS"/>
                <a:cs typeface="Trebuchet MS"/>
              </a:rPr>
              <a:t>k</a:t>
            </a:r>
            <a:r>
              <a:rPr sz="1600" spc="-15" dirty="0">
                <a:solidFill>
                  <a:srgbClr val="188C6A"/>
                </a:solidFill>
                <a:latin typeface="Trebuchet MS"/>
                <a:cs typeface="Trebuchet MS"/>
              </a:rPr>
              <a:t>i</a:t>
            </a:r>
            <a:r>
              <a:rPr sz="1600" spc="-10" dirty="0">
                <a:solidFill>
                  <a:srgbClr val="188C6A"/>
                </a:solidFill>
                <a:latin typeface="Trebuchet MS"/>
                <a:cs typeface="Trebuchet MS"/>
              </a:rPr>
              <a:t>p</a:t>
            </a:r>
            <a:r>
              <a:rPr sz="1600" spc="-70" dirty="0">
                <a:solidFill>
                  <a:srgbClr val="188C6A"/>
                </a:solidFill>
                <a:latin typeface="Trebuchet MS"/>
                <a:cs typeface="Trebuchet MS"/>
              </a:rPr>
              <a:t>-</a:t>
            </a:r>
            <a:r>
              <a:rPr sz="1600" spc="-80" dirty="0">
                <a:solidFill>
                  <a:srgbClr val="188C6A"/>
                </a:solidFill>
                <a:latin typeface="Trebuchet MS"/>
                <a:cs typeface="Trebuchet MS"/>
              </a:rPr>
              <a:t>G</a:t>
            </a:r>
            <a:r>
              <a:rPr sz="1600" spc="-55" dirty="0">
                <a:solidFill>
                  <a:srgbClr val="188C6A"/>
                </a:solidFill>
                <a:latin typeface="Trebuchet MS"/>
                <a:cs typeface="Trebuchet MS"/>
              </a:rPr>
              <a:t>ram)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5329122" y="4698254"/>
            <a:ext cx="1732914" cy="558165"/>
          </a:xfrm>
          <a:prstGeom prst="rect">
            <a:avLst/>
          </a:prstGeom>
          <a:ln w="9397">
            <a:solidFill>
              <a:srgbClr val="000000"/>
            </a:solidFill>
          </a:ln>
        </p:spPr>
        <p:txBody>
          <a:bodyPr vert="horz" wrap="square" lIns="0" tIns="57785" rIns="0" bIns="0" rtlCol="0">
            <a:spAutoFit/>
          </a:bodyPr>
          <a:lstStyle/>
          <a:p>
            <a:pPr marL="756285" marR="69215">
              <a:lnSpc>
                <a:spcPts val="1720"/>
              </a:lnSpc>
              <a:spcBef>
                <a:spcPts val="455"/>
              </a:spcBef>
            </a:pPr>
            <a:r>
              <a:rPr sz="1450" spc="15" dirty="0">
                <a:latin typeface="Arial MT"/>
                <a:cs typeface="Arial MT"/>
              </a:rPr>
              <a:t>GloVe </a:t>
            </a:r>
            <a:r>
              <a:rPr sz="1450" spc="20" dirty="0">
                <a:latin typeface="Arial MT"/>
                <a:cs typeface="Arial MT"/>
              </a:rPr>
              <a:t> </a:t>
            </a:r>
            <a:r>
              <a:rPr sz="1450" spc="15" dirty="0">
                <a:latin typeface="Arial MT"/>
                <a:cs typeface="Arial MT"/>
              </a:rPr>
              <a:t>Skip-Gram</a:t>
            </a:r>
            <a:endParaRPr sz="1450">
              <a:latin typeface="Arial MT"/>
              <a:cs typeface="Arial MT"/>
            </a:endParaRPr>
          </a:p>
        </p:txBody>
      </p:sp>
      <p:pic>
        <p:nvPicPr>
          <p:cNvPr id="80" name="object 8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682060" y="5046332"/>
            <a:ext cx="112806" cy="112772"/>
          </a:xfrm>
          <a:prstGeom prst="rect">
            <a:avLst/>
          </a:prstGeom>
        </p:spPr>
      </p:pic>
      <p:sp>
        <p:nvSpPr>
          <p:cNvPr id="81" name="object 81"/>
          <p:cNvSpPr txBox="1"/>
          <p:nvPr/>
        </p:nvSpPr>
        <p:spPr>
          <a:xfrm>
            <a:off x="4455932" y="5761969"/>
            <a:ext cx="1508760" cy="52451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205104">
              <a:lnSpc>
                <a:spcPct val="100000"/>
              </a:lnSpc>
              <a:spcBef>
                <a:spcPts val="300"/>
              </a:spcBef>
              <a:tabLst>
                <a:tab pos="1026794" algn="l"/>
              </a:tabLst>
            </a:pPr>
            <a:r>
              <a:rPr sz="1300" spc="15" dirty="0">
                <a:solidFill>
                  <a:srgbClr val="CC5602"/>
                </a:solidFill>
                <a:latin typeface="Arial MT"/>
                <a:cs typeface="Arial MT"/>
              </a:rPr>
              <a:t>40	</a:t>
            </a:r>
            <a:r>
              <a:rPr sz="1300" spc="10" dirty="0">
                <a:solidFill>
                  <a:srgbClr val="CC5602"/>
                </a:solidFill>
                <a:latin typeface="Arial MT"/>
                <a:cs typeface="Arial MT"/>
              </a:rPr>
              <a:t>60</a:t>
            </a:r>
            <a:endParaRPr sz="1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44"/>
              </a:spcBef>
            </a:pPr>
            <a:r>
              <a:rPr sz="1600" spc="-35" dirty="0">
                <a:solidFill>
                  <a:srgbClr val="CC5902"/>
                </a:solidFill>
                <a:latin typeface="Trebuchet MS"/>
                <a:cs typeface="Trebuchet MS"/>
              </a:rPr>
              <a:t>I</a:t>
            </a:r>
            <a:r>
              <a:rPr sz="1600" spc="-110" dirty="0">
                <a:solidFill>
                  <a:srgbClr val="CC5902"/>
                </a:solidFill>
                <a:latin typeface="Trebuchet MS"/>
                <a:cs typeface="Trebuchet MS"/>
              </a:rPr>
              <a:t>t</a:t>
            </a:r>
            <a:r>
              <a:rPr sz="1600" spc="-90" dirty="0">
                <a:solidFill>
                  <a:srgbClr val="CC5902"/>
                </a:solidFill>
                <a:latin typeface="Trebuchet MS"/>
                <a:cs typeface="Trebuchet MS"/>
              </a:rPr>
              <a:t>e</a:t>
            </a:r>
            <a:r>
              <a:rPr sz="1600" spc="-75" dirty="0">
                <a:solidFill>
                  <a:srgbClr val="CC5902"/>
                </a:solidFill>
                <a:latin typeface="Trebuchet MS"/>
                <a:cs typeface="Trebuchet MS"/>
              </a:rPr>
              <a:t>r</a:t>
            </a:r>
            <a:r>
              <a:rPr sz="1600" spc="-70" dirty="0">
                <a:solidFill>
                  <a:srgbClr val="CC5902"/>
                </a:solidFill>
                <a:latin typeface="Trebuchet MS"/>
                <a:cs typeface="Trebuchet MS"/>
              </a:rPr>
              <a:t>a</a:t>
            </a:r>
            <a:r>
              <a:rPr sz="1600" spc="-25" dirty="0">
                <a:solidFill>
                  <a:srgbClr val="CC5902"/>
                </a:solidFill>
                <a:latin typeface="Trebuchet MS"/>
                <a:cs typeface="Trebuchet MS"/>
              </a:rPr>
              <a:t>tions</a:t>
            </a:r>
            <a:r>
              <a:rPr sz="1600" spc="-140" dirty="0">
                <a:solidFill>
                  <a:srgbClr val="CC5902"/>
                </a:solidFill>
                <a:latin typeface="Trebuchet MS"/>
                <a:cs typeface="Trebuchet MS"/>
              </a:rPr>
              <a:t> </a:t>
            </a:r>
            <a:r>
              <a:rPr sz="1600" spc="-145" dirty="0">
                <a:solidFill>
                  <a:srgbClr val="CC5902"/>
                </a:solidFill>
                <a:latin typeface="Trebuchet MS"/>
                <a:cs typeface="Trebuchet MS"/>
              </a:rPr>
              <a:t>(</a:t>
            </a:r>
            <a:r>
              <a:rPr sz="1600" spc="-30" dirty="0">
                <a:solidFill>
                  <a:srgbClr val="CC5902"/>
                </a:solidFill>
                <a:latin typeface="Trebuchet MS"/>
                <a:cs typeface="Trebuchet MS"/>
              </a:rPr>
              <a:t>Glo</a:t>
            </a:r>
            <a:r>
              <a:rPr sz="1600" spc="-90" dirty="0">
                <a:solidFill>
                  <a:srgbClr val="CC5902"/>
                </a:solidFill>
                <a:latin typeface="Trebuchet MS"/>
                <a:cs typeface="Trebuchet MS"/>
              </a:rPr>
              <a:t>V</a:t>
            </a:r>
            <a:r>
              <a:rPr sz="1600" spc="-95" dirty="0">
                <a:solidFill>
                  <a:srgbClr val="CC5902"/>
                </a:solidFill>
                <a:latin typeface="Trebuchet MS"/>
                <a:cs typeface="Trebuchet MS"/>
              </a:rPr>
              <a:t>e)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84" name="object 8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42</a:t>
            </a:fld>
            <a:endParaRPr dirty="0"/>
          </a:p>
        </p:txBody>
      </p:sp>
      <p:sp>
        <p:nvSpPr>
          <p:cNvPr id="82" name="object 82"/>
          <p:cNvSpPr txBox="1"/>
          <p:nvPr/>
        </p:nvSpPr>
        <p:spPr>
          <a:xfrm>
            <a:off x="4359151" y="2179869"/>
            <a:ext cx="1613535" cy="4337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1770"/>
              </a:lnSpc>
              <a:spcBef>
                <a:spcPts val="125"/>
              </a:spcBef>
            </a:pPr>
            <a:r>
              <a:rPr sz="1600" spc="-195" dirty="0">
                <a:latin typeface="Trebuchet MS"/>
                <a:cs typeface="Trebuchet MS"/>
              </a:rPr>
              <a:t>T</a:t>
            </a:r>
            <a:r>
              <a:rPr sz="1600" spc="-100" dirty="0">
                <a:latin typeface="Trebuchet MS"/>
                <a:cs typeface="Trebuchet MS"/>
              </a:rPr>
              <a:t>r</a:t>
            </a:r>
            <a:r>
              <a:rPr sz="1600" spc="-10" dirty="0">
                <a:latin typeface="Trebuchet MS"/>
                <a:cs typeface="Trebuchet MS"/>
              </a:rPr>
              <a:t>aining</a:t>
            </a:r>
            <a:r>
              <a:rPr sz="1600" spc="-204" dirty="0">
                <a:latin typeface="Trebuchet MS"/>
                <a:cs typeface="Trebuchet MS"/>
              </a:rPr>
              <a:t> </a:t>
            </a:r>
            <a:r>
              <a:rPr sz="1600" spc="-140" dirty="0">
                <a:latin typeface="Trebuchet MS"/>
                <a:cs typeface="Trebuchet MS"/>
              </a:rPr>
              <a:t>T</a:t>
            </a:r>
            <a:r>
              <a:rPr sz="1600" spc="-35" dirty="0">
                <a:latin typeface="Trebuchet MS"/>
                <a:cs typeface="Trebuchet MS"/>
              </a:rPr>
              <a:t>ime</a:t>
            </a:r>
            <a:r>
              <a:rPr sz="1600" spc="-140" dirty="0">
                <a:latin typeface="Trebuchet MS"/>
                <a:cs typeface="Trebuchet MS"/>
              </a:rPr>
              <a:t> </a:t>
            </a:r>
            <a:r>
              <a:rPr sz="1600" spc="-65" dirty="0">
                <a:latin typeface="Trebuchet MS"/>
                <a:cs typeface="Trebuchet MS"/>
              </a:rPr>
              <a:t>(hrs)</a:t>
            </a:r>
            <a:endParaRPr sz="1600">
              <a:latin typeface="Trebuchet MS"/>
              <a:cs typeface="Trebuchet MS"/>
            </a:endParaRPr>
          </a:p>
          <a:p>
            <a:pPr marL="278765">
              <a:lnSpc>
                <a:spcPts val="1410"/>
              </a:lnSpc>
              <a:tabLst>
                <a:tab pos="756920" algn="l"/>
                <a:tab pos="1280795" algn="l"/>
              </a:tabLst>
            </a:pPr>
            <a:r>
              <a:rPr sz="1300" spc="15" dirty="0">
                <a:solidFill>
                  <a:srgbClr val="231F20"/>
                </a:solidFill>
                <a:latin typeface="Arial MT"/>
                <a:cs typeface="Arial MT"/>
              </a:rPr>
              <a:t>9	12	</a:t>
            </a:r>
            <a:r>
              <a:rPr sz="1300" spc="10" dirty="0">
                <a:solidFill>
                  <a:srgbClr val="231F20"/>
                </a:solidFill>
                <a:latin typeface="Arial MT"/>
                <a:cs typeface="Arial MT"/>
              </a:rPr>
              <a:t>15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2542147" y="3646137"/>
            <a:ext cx="274320" cy="1132840"/>
          </a:xfrm>
          <a:prstGeom prst="rect">
            <a:avLst/>
          </a:prstGeom>
        </p:spPr>
        <p:txBody>
          <a:bodyPr vert="vert270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1600" spc="-20" dirty="0">
                <a:solidFill>
                  <a:srgbClr val="231F20"/>
                </a:solidFill>
                <a:latin typeface="Trebuchet MS"/>
                <a:cs typeface="Trebuchet MS"/>
              </a:rPr>
              <a:t>A</a:t>
            </a:r>
            <a:r>
              <a:rPr sz="1600" spc="-10" dirty="0">
                <a:solidFill>
                  <a:srgbClr val="231F20"/>
                </a:solidFill>
                <a:latin typeface="Trebuchet MS"/>
                <a:cs typeface="Trebuchet MS"/>
              </a:rPr>
              <a:t>c</a:t>
            </a:r>
            <a:r>
              <a:rPr sz="1600" dirty="0">
                <a:solidFill>
                  <a:srgbClr val="231F20"/>
                </a:solidFill>
                <a:latin typeface="Trebuchet MS"/>
                <a:cs typeface="Trebuchet MS"/>
              </a:rPr>
              <a:t>cu</a:t>
            </a:r>
            <a:r>
              <a:rPr sz="1600" spc="-10" dirty="0">
                <a:solidFill>
                  <a:srgbClr val="231F20"/>
                </a:solidFill>
                <a:latin typeface="Trebuchet MS"/>
                <a:cs typeface="Trebuchet MS"/>
              </a:rPr>
              <a:t>r</a:t>
            </a:r>
            <a:r>
              <a:rPr sz="1600" dirty="0">
                <a:solidFill>
                  <a:srgbClr val="231F20"/>
                </a:solidFill>
                <a:latin typeface="Trebuchet MS"/>
                <a:cs typeface="Trebuchet MS"/>
              </a:rPr>
              <a:t>a</a:t>
            </a:r>
            <a:r>
              <a:rPr sz="1600" spc="25" dirty="0">
                <a:solidFill>
                  <a:srgbClr val="231F20"/>
                </a:solidFill>
                <a:latin typeface="Trebuchet MS"/>
                <a:cs typeface="Trebuchet MS"/>
              </a:rPr>
              <a:t>c</a:t>
            </a:r>
            <a:r>
              <a:rPr sz="1600" dirty="0">
                <a:solidFill>
                  <a:srgbClr val="231F20"/>
                </a:solidFill>
                <a:latin typeface="Trebuchet MS"/>
                <a:cs typeface="Trebuchet MS"/>
              </a:rPr>
              <a:t>y</a:t>
            </a:r>
            <a:r>
              <a:rPr sz="1600" spc="-140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31F20"/>
                </a:solidFill>
                <a:latin typeface="Trebuchet MS"/>
                <a:cs typeface="Trebuchet MS"/>
              </a:rPr>
              <a:t>[%]</a:t>
            </a:r>
            <a:endParaRPr sz="1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496569"/>
            <a:ext cx="748982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Analogy</a:t>
            </a:r>
            <a:r>
              <a:rPr spc="-5" dirty="0"/>
              <a:t> </a:t>
            </a:r>
            <a:r>
              <a:rPr dirty="0"/>
              <a:t>evaluation</a:t>
            </a:r>
            <a:r>
              <a:rPr spc="-5" dirty="0"/>
              <a:t> </a:t>
            </a:r>
            <a:r>
              <a:rPr dirty="0"/>
              <a:t>and</a:t>
            </a:r>
            <a:r>
              <a:rPr spc="15" dirty="0"/>
              <a:t> </a:t>
            </a:r>
            <a:r>
              <a:rPr dirty="0"/>
              <a:t>hyperparameters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3118" y="1402841"/>
            <a:ext cx="7353934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8460" indent="-365760">
              <a:lnSpc>
                <a:spcPct val="100000"/>
              </a:lnSpc>
              <a:spcBef>
                <a:spcPts val="100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600" spc="-20" dirty="0">
                <a:latin typeface="Calibri"/>
                <a:cs typeface="Calibri"/>
              </a:rPr>
              <a:t>More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data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helps,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Wikipedia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is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better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than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news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text!</a:t>
            </a:r>
            <a:endParaRPr sz="26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053197" y="2825887"/>
            <a:ext cx="6107430" cy="2763520"/>
            <a:chOff x="2053197" y="2825887"/>
            <a:chExt cx="6107430" cy="2763520"/>
          </a:xfrm>
        </p:grpSpPr>
        <p:sp>
          <p:nvSpPr>
            <p:cNvPr id="5" name="object 5"/>
            <p:cNvSpPr/>
            <p:nvPr/>
          </p:nvSpPr>
          <p:spPr>
            <a:xfrm>
              <a:off x="2057624" y="5582685"/>
              <a:ext cx="6098540" cy="0"/>
            </a:xfrm>
            <a:custGeom>
              <a:avLst/>
              <a:gdLst/>
              <a:ahLst/>
              <a:cxnLst/>
              <a:rect l="l" t="t" r="r" b="b"/>
              <a:pathLst>
                <a:path w="6098540">
                  <a:moveTo>
                    <a:pt x="0" y="0"/>
                  </a:moveTo>
                  <a:lnTo>
                    <a:pt x="108760" y="0"/>
                  </a:lnTo>
                </a:path>
                <a:path w="6098540">
                  <a:moveTo>
                    <a:pt x="419788" y="0"/>
                  </a:moveTo>
                  <a:lnTo>
                    <a:pt x="454341" y="0"/>
                  </a:lnTo>
                </a:path>
                <a:path w="6098540">
                  <a:moveTo>
                    <a:pt x="765370" y="0"/>
                  </a:moveTo>
                  <a:lnTo>
                    <a:pt x="1328460" y="0"/>
                  </a:lnTo>
                </a:path>
                <a:path w="6098540">
                  <a:moveTo>
                    <a:pt x="1639488" y="0"/>
                  </a:moveTo>
                  <a:lnTo>
                    <a:pt x="1674042" y="0"/>
                  </a:lnTo>
                </a:path>
                <a:path w="6098540">
                  <a:moveTo>
                    <a:pt x="1985070" y="0"/>
                  </a:moveTo>
                  <a:lnTo>
                    <a:pt x="2019624" y="0"/>
                  </a:lnTo>
                </a:path>
                <a:path w="6098540">
                  <a:moveTo>
                    <a:pt x="2330653" y="0"/>
                  </a:moveTo>
                  <a:lnTo>
                    <a:pt x="2548161" y="0"/>
                  </a:lnTo>
                </a:path>
                <a:path w="6098540">
                  <a:moveTo>
                    <a:pt x="2859190" y="0"/>
                  </a:moveTo>
                  <a:lnTo>
                    <a:pt x="2893743" y="0"/>
                  </a:lnTo>
                </a:path>
                <a:path w="6098540">
                  <a:moveTo>
                    <a:pt x="3204771" y="0"/>
                  </a:moveTo>
                  <a:lnTo>
                    <a:pt x="3239334" y="0"/>
                  </a:lnTo>
                </a:path>
                <a:path w="6098540">
                  <a:moveTo>
                    <a:pt x="3550363" y="0"/>
                  </a:moveTo>
                  <a:lnTo>
                    <a:pt x="3767871" y="0"/>
                  </a:lnTo>
                </a:path>
                <a:path w="6098540">
                  <a:moveTo>
                    <a:pt x="4078900" y="0"/>
                  </a:moveTo>
                  <a:lnTo>
                    <a:pt x="4113453" y="0"/>
                  </a:lnTo>
                </a:path>
                <a:path w="6098540">
                  <a:moveTo>
                    <a:pt x="4424481" y="0"/>
                  </a:moveTo>
                  <a:lnTo>
                    <a:pt x="4459035" y="0"/>
                  </a:lnTo>
                </a:path>
                <a:path w="6098540">
                  <a:moveTo>
                    <a:pt x="4770064" y="0"/>
                  </a:moveTo>
                  <a:lnTo>
                    <a:pt x="4987573" y="0"/>
                  </a:lnTo>
                </a:path>
                <a:path w="6098540">
                  <a:moveTo>
                    <a:pt x="5298601" y="0"/>
                  </a:moveTo>
                  <a:lnTo>
                    <a:pt x="5333154" y="0"/>
                  </a:lnTo>
                </a:path>
                <a:path w="6098540">
                  <a:moveTo>
                    <a:pt x="5644182" y="0"/>
                  </a:moveTo>
                  <a:lnTo>
                    <a:pt x="5678736" y="0"/>
                  </a:lnTo>
                </a:path>
                <a:path w="6098540">
                  <a:moveTo>
                    <a:pt x="5989765" y="0"/>
                  </a:moveTo>
                  <a:lnTo>
                    <a:pt x="6098523" y="0"/>
                  </a:lnTo>
                </a:path>
              </a:pathLst>
            </a:custGeom>
            <a:ln w="4432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057624" y="5587112"/>
              <a:ext cx="6098540" cy="0"/>
            </a:xfrm>
            <a:custGeom>
              <a:avLst/>
              <a:gdLst/>
              <a:ahLst/>
              <a:cxnLst/>
              <a:rect l="l" t="t" r="r" b="b"/>
              <a:pathLst>
                <a:path w="6098540">
                  <a:moveTo>
                    <a:pt x="0" y="0"/>
                  </a:moveTo>
                  <a:lnTo>
                    <a:pt x="6098523" y="0"/>
                  </a:lnTo>
                </a:path>
              </a:pathLst>
            </a:custGeom>
            <a:ln w="4432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057624" y="5516031"/>
              <a:ext cx="0" cy="69215"/>
            </a:xfrm>
            <a:custGeom>
              <a:avLst/>
              <a:gdLst/>
              <a:ahLst/>
              <a:cxnLst/>
              <a:rect l="l" t="t" r="r" b="b"/>
              <a:pathLst>
                <a:path h="69214">
                  <a:moveTo>
                    <a:pt x="0" y="68864"/>
                  </a:moveTo>
                  <a:lnTo>
                    <a:pt x="0" y="0"/>
                  </a:lnTo>
                </a:path>
              </a:pathLst>
            </a:custGeom>
            <a:ln w="885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277328" y="5516031"/>
              <a:ext cx="0" cy="69215"/>
            </a:xfrm>
            <a:custGeom>
              <a:avLst/>
              <a:gdLst/>
              <a:ahLst/>
              <a:cxnLst/>
              <a:rect l="l" t="t" r="r" b="b"/>
              <a:pathLst>
                <a:path h="69214">
                  <a:moveTo>
                    <a:pt x="0" y="68864"/>
                  </a:moveTo>
                  <a:lnTo>
                    <a:pt x="0" y="0"/>
                  </a:lnTo>
                </a:path>
              </a:pathLst>
            </a:custGeom>
            <a:ln w="885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97033" y="5516031"/>
              <a:ext cx="0" cy="69215"/>
            </a:xfrm>
            <a:custGeom>
              <a:avLst/>
              <a:gdLst/>
              <a:ahLst/>
              <a:cxnLst/>
              <a:rect l="l" t="t" r="r" b="b"/>
              <a:pathLst>
                <a:path h="69214">
                  <a:moveTo>
                    <a:pt x="0" y="68864"/>
                  </a:moveTo>
                  <a:lnTo>
                    <a:pt x="0" y="0"/>
                  </a:lnTo>
                </a:path>
              </a:pathLst>
            </a:custGeom>
            <a:ln w="885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716737" y="5516031"/>
              <a:ext cx="0" cy="69215"/>
            </a:xfrm>
            <a:custGeom>
              <a:avLst/>
              <a:gdLst/>
              <a:ahLst/>
              <a:cxnLst/>
              <a:rect l="l" t="t" r="r" b="b"/>
              <a:pathLst>
                <a:path h="69214">
                  <a:moveTo>
                    <a:pt x="0" y="68864"/>
                  </a:moveTo>
                  <a:lnTo>
                    <a:pt x="0" y="0"/>
                  </a:lnTo>
                </a:path>
              </a:pathLst>
            </a:custGeom>
            <a:ln w="885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936441" y="5516031"/>
              <a:ext cx="0" cy="69215"/>
            </a:xfrm>
            <a:custGeom>
              <a:avLst/>
              <a:gdLst/>
              <a:ahLst/>
              <a:cxnLst/>
              <a:rect l="l" t="t" r="r" b="b"/>
              <a:pathLst>
                <a:path h="69214">
                  <a:moveTo>
                    <a:pt x="0" y="68864"/>
                  </a:moveTo>
                  <a:lnTo>
                    <a:pt x="0" y="0"/>
                  </a:lnTo>
                </a:path>
              </a:pathLst>
            </a:custGeom>
            <a:ln w="885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156145" y="5516031"/>
              <a:ext cx="0" cy="69215"/>
            </a:xfrm>
            <a:custGeom>
              <a:avLst/>
              <a:gdLst/>
              <a:ahLst/>
              <a:cxnLst/>
              <a:rect l="l" t="t" r="r" b="b"/>
              <a:pathLst>
                <a:path h="69214">
                  <a:moveTo>
                    <a:pt x="0" y="68864"/>
                  </a:moveTo>
                  <a:lnTo>
                    <a:pt x="0" y="0"/>
                  </a:lnTo>
                </a:path>
              </a:pathLst>
            </a:custGeom>
            <a:ln w="885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057624" y="2830316"/>
              <a:ext cx="0" cy="2754630"/>
            </a:xfrm>
            <a:custGeom>
              <a:avLst/>
              <a:gdLst/>
              <a:ahLst/>
              <a:cxnLst/>
              <a:rect l="l" t="t" r="r" b="b"/>
              <a:pathLst>
                <a:path h="2754629">
                  <a:moveTo>
                    <a:pt x="0" y="2754579"/>
                  </a:moveTo>
                  <a:lnTo>
                    <a:pt x="0" y="0"/>
                  </a:lnTo>
                </a:path>
              </a:pathLst>
            </a:custGeom>
            <a:ln w="885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057624" y="5582685"/>
              <a:ext cx="153035" cy="4445"/>
            </a:xfrm>
            <a:custGeom>
              <a:avLst/>
              <a:gdLst/>
              <a:ahLst/>
              <a:cxnLst/>
              <a:rect l="l" t="t" r="r" b="b"/>
              <a:pathLst>
                <a:path w="153035" h="4445">
                  <a:moveTo>
                    <a:pt x="0" y="0"/>
                  </a:moveTo>
                  <a:lnTo>
                    <a:pt x="152459" y="0"/>
                  </a:lnTo>
                </a:path>
                <a:path w="153035" h="4445">
                  <a:moveTo>
                    <a:pt x="0" y="4426"/>
                  </a:moveTo>
                  <a:lnTo>
                    <a:pt x="152459" y="4426"/>
                  </a:lnTo>
                </a:path>
              </a:pathLst>
            </a:custGeom>
            <a:ln w="4433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057624" y="3617337"/>
              <a:ext cx="109220" cy="1574165"/>
            </a:xfrm>
            <a:custGeom>
              <a:avLst/>
              <a:gdLst/>
              <a:ahLst/>
              <a:cxnLst/>
              <a:rect l="l" t="t" r="r" b="b"/>
              <a:pathLst>
                <a:path w="109219" h="1574164">
                  <a:moveTo>
                    <a:pt x="0" y="1574049"/>
                  </a:moveTo>
                  <a:lnTo>
                    <a:pt x="108760" y="1574049"/>
                  </a:lnTo>
                </a:path>
                <a:path w="109219" h="1574164">
                  <a:moveTo>
                    <a:pt x="0" y="1180536"/>
                  </a:moveTo>
                  <a:lnTo>
                    <a:pt x="108760" y="1180536"/>
                  </a:lnTo>
                </a:path>
                <a:path w="109219" h="1574164">
                  <a:moveTo>
                    <a:pt x="0" y="787022"/>
                  </a:moveTo>
                  <a:lnTo>
                    <a:pt x="108760" y="787022"/>
                  </a:lnTo>
                </a:path>
                <a:path w="109219" h="1574164">
                  <a:moveTo>
                    <a:pt x="0" y="393513"/>
                  </a:moveTo>
                  <a:lnTo>
                    <a:pt x="108760" y="393513"/>
                  </a:lnTo>
                </a:path>
                <a:path w="109219" h="1574164">
                  <a:moveTo>
                    <a:pt x="0" y="0"/>
                  </a:moveTo>
                  <a:lnTo>
                    <a:pt x="108760" y="0"/>
                  </a:lnTo>
                </a:path>
              </a:pathLst>
            </a:custGeom>
            <a:ln w="8853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057624" y="3223827"/>
              <a:ext cx="153035" cy="0"/>
            </a:xfrm>
            <a:custGeom>
              <a:avLst/>
              <a:gdLst/>
              <a:ahLst/>
              <a:cxnLst/>
              <a:rect l="l" t="t" r="r" b="b"/>
              <a:pathLst>
                <a:path w="153035">
                  <a:moveTo>
                    <a:pt x="0" y="0"/>
                  </a:moveTo>
                  <a:lnTo>
                    <a:pt x="152459" y="0"/>
                  </a:lnTo>
                </a:path>
              </a:pathLst>
            </a:custGeom>
            <a:ln w="8853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057624" y="2830314"/>
              <a:ext cx="153035" cy="0"/>
            </a:xfrm>
            <a:custGeom>
              <a:avLst/>
              <a:gdLst/>
              <a:ahLst/>
              <a:cxnLst/>
              <a:rect l="l" t="t" r="r" b="b"/>
              <a:pathLst>
                <a:path w="153035">
                  <a:moveTo>
                    <a:pt x="0" y="0"/>
                  </a:moveTo>
                  <a:lnTo>
                    <a:pt x="152459" y="0"/>
                  </a:lnTo>
                </a:path>
              </a:pathLst>
            </a:custGeom>
            <a:ln w="8853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857548" y="4128907"/>
              <a:ext cx="311150" cy="1456055"/>
            </a:xfrm>
            <a:custGeom>
              <a:avLst/>
              <a:gdLst/>
              <a:ahLst/>
              <a:cxnLst/>
              <a:rect l="l" t="t" r="r" b="b"/>
              <a:pathLst>
                <a:path w="311150" h="1456054">
                  <a:moveTo>
                    <a:pt x="311028" y="0"/>
                  </a:moveTo>
                  <a:lnTo>
                    <a:pt x="0" y="0"/>
                  </a:lnTo>
                  <a:lnTo>
                    <a:pt x="0" y="1455995"/>
                  </a:lnTo>
                  <a:lnTo>
                    <a:pt x="311028" y="1455995"/>
                  </a:lnTo>
                  <a:lnTo>
                    <a:pt x="311028" y="0"/>
                  </a:lnTo>
                  <a:close/>
                </a:path>
              </a:pathLst>
            </a:custGeom>
            <a:solidFill>
              <a:srgbClr val="D761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857548" y="4128907"/>
              <a:ext cx="311150" cy="1456055"/>
            </a:xfrm>
            <a:custGeom>
              <a:avLst/>
              <a:gdLst/>
              <a:ahLst/>
              <a:cxnLst/>
              <a:rect l="l" t="t" r="r" b="b"/>
              <a:pathLst>
                <a:path w="311150" h="1456054">
                  <a:moveTo>
                    <a:pt x="0" y="0"/>
                  </a:moveTo>
                  <a:lnTo>
                    <a:pt x="311028" y="0"/>
                  </a:lnTo>
                  <a:lnTo>
                    <a:pt x="311028" y="1455995"/>
                  </a:lnTo>
                  <a:lnTo>
                    <a:pt x="0" y="1455995"/>
                  </a:lnTo>
                  <a:lnTo>
                    <a:pt x="0" y="0"/>
                  </a:lnTo>
                  <a:close/>
                </a:path>
              </a:pathLst>
            </a:custGeom>
            <a:ln w="442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077249" y="3987238"/>
              <a:ext cx="311150" cy="1597660"/>
            </a:xfrm>
            <a:custGeom>
              <a:avLst/>
              <a:gdLst/>
              <a:ahLst/>
              <a:cxnLst/>
              <a:rect l="l" t="t" r="r" b="b"/>
              <a:pathLst>
                <a:path w="311150" h="1597660">
                  <a:moveTo>
                    <a:pt x="311028" y="0"/>
                  </a:moveTo>
                  <a:lnTo>
                    <a:pt x="0" y="0"/>
                  </a:lnTo>
                  <a:lnTo>
                    <a:pt x="0" y="1597654"/>
                  </a:lnTo>
                  <a:lnTo>
                    <a:pt x="311028" y="1597654"/>
                  </a:lnTo>
                  <a:lnTo>
                    <a:pt x="311028" y="0"/>
                  </a:lnTo>
                  <a:close/>
                </a:path>
              </a:pathLst>
            </a:custGeom>
            <a:solidFill>
              <a:srgbClr val="D761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077249" y="3987238"/>
              <a:ext cx="311150" cy="1597660"/>
            </a:xfrm>
            <a:custGeom>
              <a:avLst/>
              <a:gdLst/>
              <a:ahLst/>
              <a:cxnLst/>
              <a:rect l="l" t="t" r="r" b="b"/>
              <a:pathLst>
                <a:path w="311150" h="1597660">
                  <a:moveTo>
                    <a:pt x="0" y="0"/>
                  </a:moveTo>
                  <a:lnTo>
                    <a:pt x="311028" y="0"/>
                  </a:lnTo>
                  <a:lnTo>
                    <a:pt x="311028" y="1597654"/>
                  </a:lnTo>
                  <a:lnTo>
                    <a:pt x="0" y="1597654"/>
                  </a:lnTo>
                  <a:lnTo>
                    <a:pt x="0" y="0"/>
                  </a:lnTo>
                  <a:close/>
                </a:path>
              </a:pathLst>
            </a:custGeom>
            <a:ln w="442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296959" y="4152511"/>
              <a:ext cx="311150" cy="1432560"/>
            </a:xfrm>
            <a:custGeom>
              <a:avLst/>
              <a:gdLst/>
              <a:ahLst/>
              <a:cxnLst/>
              <a:rect l="l" t="t" r="r" b="b"/>
              <a:pathLst>
                <a:path w="311150" h="1432560">
                  <a:moveTo>
                    <a:pt x="311028" y="0"/>
                  </a:moveTo>
                  <a:lnTo>
                    <a:pt x="0" y="0"/>
                  </a:lnTo>
                  <a:lnTo>
                    <a:pt x="0" y="1432382"/>
                  </a:lnTo>
                  <a:lnTo>
                    <a:pt x="311028" y="1432382"/>
                  </a:lnTo>
                  <a:lnTo>
                    <a:pt x="311028" y="0"/>
                  </a:lnTo>
                  <a:close/>
                </a:path>
              </a:pathLst>
            </a:custGeom>
            <a:solidFill>
              <a:srgbClr val="D761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296959" y="4152511"/>
              <a:ext cx="311150" cy="1432560"/>
            </a:xfrm>
            <a:custGeom>
              <a:avLst/>
              <a:gdLst/>
              <a:ahLst/>
              <a:cxnLst/>
              <a:rect l="l" t="t" r="r" b="b"/>
              <a:pathLst>
                <a:path w="311150" h="1432560">
                  <a:moveTo>
                    <a:pt x="0" y="0"/>
                  </a:moveTo>
                  <a:lnTo>
                    <a:pt x="311028" y="0"/>
                  </a:lnTo>
                  <a:lnTo>
                    <a:pt x="311028" y="1432382"/>
                  </a:lnTo>
                  <a:lnTo>
                    <a:pt x="0" y="1432382"/>
                  </a:lnTo>
                  <a:lnTo>
                    <a:pt x="0" y="0"/>
                  </a:lnTo>
                  <a:close/>
                </a:path>
              </a:pathLst>
            </a:custGeom>
            <a:ln w="442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516660" y="3877054"/>
              <a:ext cx="311150" cy="1708150"/>
            </a:xfrm>
            <a:custGeom>
              <a:avLst/>
              <a:gdLst/>
              <a:ahLst/>
              <a:cxnLst/>
              <a:rect l="l" t="t" r="r" b="b"/>
              <a:pathLst>
                <a:path w="311150" h="1708150">
                  <a:moveTo>
                    <a:pt x="311028" y="0"/>
                  </a:moveTo>
                  <a:lnTo>
                    <a:pt x="0" y="0"/>
                  </a:lnTo>
                  <a:lnTo>
                    <a:pt x="0" y="1707839"/>
                  </a:lnTo>
                  <a:lnTo>
                    <a:pt x="311028" y="1707839"/>
                  </a:lnTo>
                  <a:lnTo>
                    <a:pt x="311028" y="0"/>
                  </a:lnTo>
                  <a:close/>
                </a:path>
              </a:pathLst>
            </a:custGeom>
            <a:solidFill>
              <a:srgbClr val="D761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516660" y="3877054"/>
              <a:ext cx="311150" cy="1708150"/>
            </a:xfrm>
            <a:custGeom>
              <a:avLst/>
              <a:gdLst/>
              <a:ahLst/>
              <a:cxnLst/>
              <a:rect l="l" t="t" r="r" b="b"/>
              <a:pathLst>
                <a:path w="311150" h="1708150">
                  <a:moveTo>
                    <a:pt x="0" y="0"/>
                  </a:moveTo>
                  <a:lnTo>
                    <a:pt x="311028" y="0"/>
                  </a:lnTo>
                  <a:lnTo>
                    <a:pt x="311028" y="1707839"/>
                  </a:lnTo>
                  <a:lnTo>
                    <a:pt x="0" y="1707839"/>
                  </a:lnTo>
                  <a:lnTo>
                    <a:pt x="0" y="0"/>
                  </a:lnTo>
                  <a:close/>
                </a:path>
              </a:pathLst>
            </a:custGeom>
            <a:ln w="442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736361" y="3617338"/>
              <a:ext cx="311150" cy="1967864"/>
            </a:xfrm>
            <a:custGeom>
              <a:avLst/>
              <a:gdLst/>
              <a:ahLst/>
              <a:cxnLst/>
              <a:rect l="l" t="t" r="r" b="b"/>
              <a:pathLst>
                <a:path w="311150" h="1967864">
                  <a:moveTo>
                    <a:pt x="311028" y="0"/>
                  </a:moveTo>
                  <a:lnTo>
                    <a:pt x="0" y="0"/>
                  </a:lnTo>
                  <a:lnTo>
                    <a:pt x="0" y="1967554"/>
                  </a:lnTo>
                  <a:lnTo>
                    <a:pt x="311028" y="1967554"/>
                  </a:lnTo>
                  <a:lnTo>
                    <a:pt x="311028" y="0"/>
                  </a:lnTo>
                  <a:close/>
                </a:path>
              </a:pathLst>
            </a:custGeom>
            <a:solidFill>
              <a:srgbClr val="D761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736361" y="3617338"/>
              <a:ext cx="311150" cy="1967864"/>
            </a:xfrm>
            <a:custGeom>
              <a:avLst/>
              <a:gdLst/>
              <a:ahLst/>
              <a:cxnLst/>
              <a:rect l="l" t="t" r="r" b="b"/>
              <a:pathLst>
                <a:path w="311150" h="1967864">
                  <a:moveTo>
                    <a:pt x="0" y="0"/>
                  </a:moveTo>
                  <a:lnTo>
                    <a:pt x="311028" y="0"/>
                  </a:lnTo>
                  <a:lnTo>
                    <a:pt x="311028" y="1967554"/>
                  </a:lnTo>
                  <a:lnTo>
                    <a:pt x="0" y="1967554"/>
                  </a:lnTo>
                  <a:lnTo>
                    <a:pt x="0" y="0"/>
                  </a:lnTo>
                  <a:close/>
                </a:path>
              </a:pathLst>
            </a:custGeom>
            <a:ln w="442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11965" y="4852965"/>
              <a:ext cx="311029" cy="731927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31667" y="4679823"/>
              <a:ext cx="311028" cy="905079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51367" y="4475193"/>
              <a:ext cx="311028" cy="110970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71078" y="4231220"/>
              <a:ext cx="311028" cy="1353681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390779" y="4065939"/>
              <a:ext cx="311028" cy="1518954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166385" y="3263182"/>
              <a:ext cx="311028" cy="232172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386085" y="3160868"/>
              <a:ext cx="311028" cy="2424033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605785" y="3774739"/>
              <a:ext cx="311029" cy="1810153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825496" y="3452065"/>
              <a:ext cx="311029" cy="2132836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045197" y="3074295"/>
              <a:ext cx="311028" cy="2510607"/>
            </a:xfrm>
            <a:prstGeom prst="rect">
              <a:avLst/>
            </a:prstGeom>
          </p:spPr>
        </p:pic>
      </p:grpSp>
      <p:sp>
        <p:nvSpPr>
          <p:cNvPr id="38" name="object 38"/>
          <p:cNvSpPr txBox="1"/>
          <p:nvPr/>
        </p:nvSpPr>
        <p:spPr>
          <a:xfrm>
            <a:off x="1786104" y="2755046"/>
            <a:ext cx="189230" cy="2927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50" spc="-15" dirty="0">
                <a:solidFill>
                  <a:srgbClr val="231F20"/>
                </a:solidFill>
                <a:latin typeface="Trebuchet MS"/>
                <a:cs typeface="Trebuchet MS"/>
              </a:rPr>
              <a:t>85</a:t>
            </a:r>
            <a:endParaRPr sz="12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3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250" spc="-15" dirty="0">
                <a:solidFill>
                  <a:srgbClr val="231F20"/>
                </a:solidFill>
                <a:latin typeface="Trebuchet MS"/>
                <a:cs typeface="Trebuchet MS"/>
              </a:rPr>
              <a:t>80</a:t>
            </a:r>
            <a:endParaRPr sz="12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3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250" spc="-15" dirty="0">
                <a:solidFill>
                  <a:srgbClr val="231F20"/>
                </a:solidFill>
                <a:latin typeface="Trebuchet MS"/>
                <a:cs typeface="Trebuchet MS"/>
              </a:rPr>
              <a:t>75</a:t>
            </a:r>
            <a:endParaRPr sz="12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3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250" spc="-15" dirty="0">
                <a:solidFill>
                  <a:srgbClr val="231F20"/>
                </a:solidFill>
                <a:latin typeface="Trebuchet MS"/>
                <a:cs typeface="Trebuchet MS"/>
              </a:rPr>
              <a:t>70</a:t>
            </a:r>
            <a:endParaRPr sz="12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250" spc="-15" dirty="0">
                <a:solidFill>
                  <a:srgbClr val="231F20"/>
                </a:solidFill>
                <a:latin typeface="Trebuchet MS"/>
                <a:cs typeface="Trebuchet MS"/>
              </a:rPr>
              <a:t>65</a:t>
            </a:r>
            <a:endParaRPr sz="12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3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250" spc="-15" dirty="0">
                <a:solidFill>
                  <a:srgbClr val="231F20"/>
                </a:solidFill>
                <a:latin typeface="Trebuchet MS"/>
                <a:cs typeface="Trebuchet MS"/>
              </a:rPr>
              <a:t>60</a:t>
            </a:r>
            <a:endParaRPr sz="12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50" spc="-15" dirty="0">
                <a:solidFill>
                  <a:srgbClr val="231F20"/>
                </a:solidFill>
                <a:latin typeface="Trebuchet MS"/>
                <a:cs typeface="Trebuchet MS"/>
              </a:rPr>
              <a:t>55</a:t>
            </a:r>
            <a:endParaRPr sz="12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3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250" spc="-15" dirty="0">
                <a:solidFill>
                  <a:srgbClr val="231F20"/>
                </a:solidFill>
                <a:latin typeface="Trebuchet MS"/>
                <a:cs typeface="Trebuchet MS"/>
              </a:rPr>
              <a:t>50</a:t>
            </a:r>
            <a:endParaRPr sz="1250">
              <a:latin typeface="Trebuchet MS"/>
              <a:cs typeface="Trebuchet MS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5945910" y="2450426"/>
            <a:ext cx="386080" cy="262890"/>
            <a:chOff x="5945910" y="2450426"/>
            <a:chExt cx="386080" cy="262890"/>
          </a:xfrm>
        </p:grpSpPr>
        <p:sp>
          <p:nvSpPr>
            <p:cNvPr id="40" name="object 40"/>
            <p:cNvSpPr/>
            <p:nvPr/>
          </p:nvSpPr>
          <p:spPr>
            <a:xfrm>
              <a:off x="5948123" y="2452640"/>
              <a:ext cx="381635" cy="258445"/>
            </a:xfrm>
            <a:custGeom>
              <a:avLst/>
              <a:gdLst/>
              <a:ahLst/>
              <a:cxnLst/>
              <a:rect l="l" t="t" r="r" b="b"/>
              <a:pathLst>
                <a:path w="381635" h="258444">
                  <a:moveTo>
                    <a:pt x="381161" y="0"/>
                  </a:moveTo>
                  <a:lnTo>
                    <a:pt x="0" y="0"/>
                  </a:lnTo>
                  <a:lnTo>
                    <a:pt x="0" y="258245"/>
                  </a:lnTo>
                  <a:lnTo>
                    <a:pt x="381161" y="258245"/>
                  </a:lnTo>
                  <a:lnTo>
                    <a:pt x="381161" y="0"/>
                  </a:lnTo>
                  <a:close/>
                </a:path>
              </a:pathLst>
            </a:custGeom>
            <a:solidFill>
              <a:srgbClr val="D761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948123" y="2452640"/>
              <a:ext cx="381635" cy="258445"/>
            </a:xfrm>
            <a:custGeom>
              <a:avLst/>
              <a:gdLst/>
              <a:ahLst/>
              <a:cxnLst/>
              <a:rect l="l" t="t" r="r" b="b"/>
              <a:pathLst>
                <a:path w="381635" h="258444">
                  <a:moveTo>
                    <a:pt x="0" y="0"/>
                  </a:moveTo>
                  <a:lnTo>
                    <a:pt x="381161" y="0"/>
                  </a:lnTo>
                  <a:lnTo>
                    <a:pt x="381161" y="258245"/>
                  </a:lnTo>
                  <a:lnTo>
                    <a:pt x="0" y="258245"/>
                  </a:lnTo>
                  <a:lnTo>
                    <a:pt x="0" y="0"/>
                  </a:lnTo>
                  <a:close/>
                </a:path>
              </a:pathLst>
            </a:custGeom>
            <a:ln w="442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42" name="object 4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423493" y="2452641"/>
            <a:ext cx="381161" cy="258244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2898867" y="2452641"/>
            <a:ext cx="381160" cy="258244"/>
          </a:xfrm>
          <a:prstGeom prst="rect">
            <a:avLst/>
          </a:prstGeom>
        </p:spPr>
      </p:pic>
      <p:sp>
        <p:nvSpPr>
          <p:cNvPr id="44" name="object 44"/>
          <p:cNvSpPr txBox="1"/>
          <p:nvPr/>
        </p:nvSpPr>
        <p:spPr>
          <a:xfrm>
            <a:off x="6364231" y="2471122"/>
            <a:ext cx="600710" cy="2597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00" spc="65" dirty="0">
                <a:solidFill>
                  <a:srgbClr val="231F20"/>
                </a:solidFill>
                <a:latin typeface="Trebuchet MS"/>
                <a:cs typeface="Trebuchet MS"/>
              </a:rPr>
              <a:t>O</a:t>
            </a:r>
            <a:r>
              <a:rPr sz="1500" spc="-20" dirty="0">
                <a:solidFill>
                  <a:srgbClr val="231F20"/>
                </a:solidFill>
                <a:latin typeface="Trebuchet MS"/>
                <a:cs typeface="Trebuchet MS"/>
              </a:rPr>
              <a:t>v</a:t>
            </a:r>
            <a:r>
              <a:rPr sz="1500" spc="-80" dirty="0">
                <a:solidFill>
                  <a:srgbClr val="231F20"/>
                </a:solidFill>
                <a:latin typeface="Trebuchet MS"/>
                <a:cs typeface="Trebuchet MS"/>
              </a:rPr>
              <a:t>e</a:t>
            </a:r>
            <a:r>
              <a:rPr sz="1500" spc="-65" dirty="0">
                <a:solidFill>
                  <a:srgbClr val="231F20"/>
                </a:solidFill>
                <a:latin typeface="Trebuchet MS"/>
                <a:cs typeface="Trebuchet MS"/>
              </a:rPr>
              <a:t>r</a:t>
            </a:r>
            <a:r>
              <a:rPr sz="1500" spc="-70" dirty="0">
                <a:solidFill>
                  <a:srgbClr val="231F20"/>
                </a:solidFill>
                <a:latin typeface="Trebuchet MS"/>
                <a:cs typeface="Trebuchet MS"/>
              </a:rPr>
              <a:t>all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53" name="object 5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43</a:t>
            </a:fld>
            <a:endParaRPr dirty="0"/>
          </a:p>
        </p:txBody>
      </p:sp>
      <p:sp>
        <p:nvSpPr>
          <p:cNvPr id="45" name="object 45"/>
          <p:cNvSpPr txBox="1"/>
          <p:nvPr/>
        </p:nvSpPr>
        <p:spPr>
          <a:xfrm>
            <a:off x="4839620" y="2471122"/>
            <a:ext cx="764540" cy="2597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00" spc="-45" dirty="0">
                <a:solidFill>
                  <a:srgbClr val="231F20"/>
                </a:solidFill>
                <a:latin typeface="Trebuchet MS"/>
                <a:cs typeface="Trebuchet MS"/>
              </a:rPr>
              <a:t>Syntactic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315009" y="2471122"/>
            <a:ext cx="781685" cy="2597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00" spc="-30" dirty="0">
                <a:solidFill>
                  <a:srgbClr val="231F20"/>
                </a:solidFill>
                <a:latin typeface="Trebuchet MS"/>
                <a:cs typeface="Trebuchet MS"/>
              </a:rPr>
              <a:t>Semantic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2296117" y="5925406"/>
            <a:ext cx="673100" cy="4083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17780">
              <a:lnSpc>
                <a:spcPct val="100000"/>
              </a:lnSpc>
              <a:spcBef>
                <a:spcPts val="105"/>
              </a:spcBef>
            </a:pPr>
            <a:r>
              <a:rPr sz="1250" spc="-30" dirty="0">
                <a:solidFill>
                  <a:srgbClr val="231F20"/>
                </a:solidFill>
                <a:latin typeface="Trebuchet MS"/>
                <a:cs typeface="Trebuchet MS"/>
              </a:rPr>
              <a:t>Wiki2010 </a:t>
            </a:r>
            <a:r>
              <a:rPr sz="1250" spc="-365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1250" spc="-20" dirty="0">
                <a:solidFill>
                  <a:srgbClr val="231F20"/>
                </a:solidFill>
                <a:latin typeface="Trebuchet MS"/>
                <a:cs typeface="Trebuchet MS"/>
              </a:rPr>
              <a:t>1B</a:t>
            </a:r>
            <a:r>
              <a:rPr sz="1250" spc="-114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1250" spc="-95" dirty="0">
                <a:solidFill>
                  <a:srgbClr val="231F20"/>
                </a:solidFill>
                <a:latin typeface="Trebuchet MS"/>
                <a:cs typeface="Trebuchet MS"/>
              </a:rPr>
              <a:t>t</a:t>
            </a:r>
            <a:r>
              <a:rPr sz="1250" spc="-15" dirty="0">
                <a:solidFill>
                  <a:srgbClr val="231F20"/>
                </a:solidFill>
                <a:latin typeface="Trebuchet MS"/>
                <a:cs typeface="Trebuchet MS"/>
              </a:rPr>
              <a:t>okens</a:t>
            </a:r>
            <a:endParaRPr sz="1250">
              <a:latin typeface="Trebuchet MS"/>
              <a:cs typeface="Trebuchet MS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401599" y="3595329"/>
            <a:ext cx="259715" cy="1068705"/>
          </a:xfrm>
          <a:prstGeom prst="rect">
            <a:avLst/>
          </a:prstGeom>
        </p:spPr>
        <p:txBody>
          <a:bodyPr vert="vert270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500" spc="-20" dirty="0">
                <a:solidFill>
                  <a:srgbClr val="231F20"/>
                </a:solidFill>
                <a:latin typeface="Trebuchet MS"/>
                <a:cs typeface="Trebuchet MS"/>
              </a:rPr>
              <a:t>A</a:t>
            </a:r>
            <a:r>
              <a:rPr sz="1500" spc="-10" dirty="0">
                <a:solidFill>
                  <a:srgbClr val="231F20"/>
                </a:solidFill>
                <a:latin typeface="Trebuchet MS"/>
                <a:cs typeface="Trebuchet MS"/>
              </a:rPr>
              <a:t>c</a:t>
            </a:r>
            <a:r>
              <a:rPr sz="1500" dirty="0">
                <a:solidFill>
                  <a:srgbClr val="231F20"/>
                </a:solidFill>
                <a:latin typeface="Trebuchet MS"/>
                <a:cs typeface="Trebuchet MS"/>
              </a:rPr>
              <a:t>cu</a:t>
            </a:r>
            <a:r>
              <a:rPr sz="1500" spc="-10" dirty="0">
                <a:solidFill>
                  <a:srgbClr val="231F20"/>
                </a:solidFill>
                <a:latin typeface="Trebuchet MS"/>
                <a:cs typeface="Trebuchet MS"/>
              </a:rPr>
              <a:t>r</a:t>
            </a:r>
            <a:r>
              <a:rPr sz="1500" dirty="0">
                <a:solidFill>
                  <a:srgbClr val="231F20"/>
                </a:solidFill>
                <a:latin typeface="Trebuchet MS"/>
                <a:cs typeface="Trebuchet MS"/>
              </a:rPr>
              <a:t>a</a:t>
            </a:r>
            <a:r>
              <a:rPr sz="1500" spc="25" dirty="0">
                <a:solidFill>
                  <a:srgbClr val="231F20"/>
                </a:solidFill>
                <a:latin typeface="Trebuchet MS"/>
                <a:cs typeface="Trebuchet MS"/>
              </a:rPr>
              <a:t>c</a:t>
            </a:r>
            <a:r>
              <a:rPr sz="1500" dirty="0">
                <a:solidFill>
                  <a:srgbClr val="231F20"/>
                </a:solidFill>
                <a:latin typeface="Trebuchet MS"/>
                <a:cs typeface="Trebuchet MS"/>
              </a:rPr>
              <a:t>y</a:t>
            </a:r>
            <a:r>
              <a:rPr sz="1500" spc="-130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231F20"/>
                </a:solidFill>
                <a:latin typeface="Trebuchet MS"/>
                <a:cs typeface="Trebuchet MS"/>
              </a:rPr>
              <a:t>[%]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3513878" y="5925406"/>
            <a:ext cx="788035" cy="4083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74930">
              <a:lnSpc>
                <a:spcPct val="100000"/>
              </a:lnSpc>
              <a:spcBef>
                <a:spcPts val="105"/>
              </a:spcBef>
            </a:pPr>
            <a:r>
              <a:rPr sz="1250" spc="-30" dirty="0">
                <a:solidFill>
                  <a:srgbClr val="231F20"/>
                </a:solidFill>
                <a:latin typeface="Trebuchet MS"/>
                <a:cs typeface="Trebuchet MS"/>
              </a:rPr>
              <a:t>Wiki2014 </a:t>
            </a:r>
            <a:r>
              <a:rPr sz="1250" spc="-25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1250" spc="-65" dirty="0">
                <a:solidFill>
                  <a:srgbClr val="231F20"/>
                </a:solidFill>
                <a:latin typeface="Trebuchet MS"/>
                <a:cs typeface="Trebuchet MS"/>
              </a:rPr>
              <a:t>1.6B</a:t>
            </a:r>
            <a:r>
              <a:rPr sz="1250" spc="-114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1250" spc="-95" dirty="0">
                <a:solidFill>
                  <a:srgbClr val="231F20"/>
                </a:solidFill>
                <a:latin typeface="Trebuchet MS"/>
                <a:cs typeface="Trebuchet MS"/>
              </a:rPr>
              <a:t>t</a:t>
            </a:r>
            <a:r>
              <a:rPr sz="1250" spc="-15" dirty="0">
                <a:solidFill>
                  <a:srgbClr val="231F20"/>
                </a:solidFill>
                <a:latin typeface="Trebuchet MS"/>
                <a:cs typeface="Trebuchet MS"/>
              </a:rPr>
              <a:t>okens</a:t>
            </a:r>
            <a:endParaRPr sz="1250">
              <a:latin typeface="Trebuchet MS"/>
              <a:cs typeface="Trebuchet MS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4718251" y="5925406"/>
            <a:ext cx="788035" cy="4083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15875">
              <a:lnSpc>
                <a:spcPct val="100000"/>
              </a:lnSpc>
              <a:spcBef>
                <a:spcPts val="105"/>
              </a:spcBef>
            </a:pPr>
            <a:r>
              <a:rPr sz="1250" spc="-20" dirty="0">
                <a:solidFill>
                  <a:srgbClr val="231F20"/>
                </a:solidFill>
                <a:latin typeface="Trebuchet MS"/>
                <a:cs typeface="Trebuchet MS"/>
              </a:rPr>
              <a:t>Gig</a:t>
            </a:r>
            <a:r>
              <a:rPr sz="1250" spc="-30" dirty="0">
                <a:solidFill>
                  <a:srgbClr val="231F20"/>
                </a:solidFill>
                <a:latin typeface="Trebuchet MS"/>
                <a:cs typeface="Trebuchet MS"/>
              </a:rPr>
              <a:t>a</a:t>
            </a:r>
            <a:r>
              <a:rPr sz="1250" spc="-25" dirty="0">
                <a:solidFill>
                  <a:srgbClr val="231F20"/>
                </a:solidFill>
                <a:latin typeface="Trebuchet MS"/>
                <a:cs typeface="Trebuchet MS"/>
              </a:rPr>
              <a:t>w</a:t>
            </a:r>
            <a:r>
              <a:rPr sz="1250" spc="-35" dirty="0">
                <a:solidFill>
                  <a:srgbClr val="231F20"/>
                </a:solidFill>
                <a:latin typeface="Trebuchet MS"/>
                <a:cs typeface="Trebuchet MS"/>
              </a:rPr>
              <a:t>o</a:t>
            </a:r>
            <a:r>
              <a:rPr sz="1250" spc="-40" dirty="0">
                <a:solidFill>
                  <a:srgbClr val="231F20"/>
                </a:solidFill>
                <a:latin typeface="Trebuchet MS"/>
                <a:cs typeface="Trebuchet MS"/>
              </a:rPr>
              <a:t>r</a:t>
            </a:r>
            <a:r>
              <a:rPr sz="1250" spc="-5" dirty="0">
                <a:solidFill>
                  <a:srgbClr val="231F20"/>
                </a:solidFill>
                <a:latin typeface="Trebuchet MS"/>
                <a:cs typeface="Trebuchet MS"/>
              </a:rPr>
              <a:t>d5  </a:t>
            </a:r>
            <a:r>
              <a:rPr sz="1250" spc="-65" dirty="0">
                <a:solidFill>
                  <a:srgbClr val="231F20"/>
                </a:solidFill>
                <a:latin typeface="Trebuchet MS"/>
                <a:cs typeface="Trebuchet MS"/>
              </a:rPr>
              <a:t>4.3B</a:t>
            </a:r>
            <a:r>
              <a:rPr sz="1250" spc="-114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1250" spc="-95" dirty="0">
                <a:solidFill>
                  <a:srgbClr val="231F20"/>
                </a:solidFill>
                <a:latin typeface="Trebuchet MS"/>
                <a:cs typeface="Trebuchet MS"/>
              </a:rPr>
              <a:t>t</a:t>
            </a:r>
            <a:r>
              <a:rPr sz="1250" spc="-15" dirty="0">
                <a:solidFill>
                  <a:srgbClr val="231F20"/>
                </a:solidFill>
                <a:latin typeface="Trebuchet MS"/>
                <a:cs typeface="Trebuchet MS"/>
              </a:rPr>
              <a:t>okens</a:t>
            </a:r>
            <a:endParaRPr sz="1250">
              <a:latin typeface="Trebuchet MS"/>
              <a:cs typeface="Trebuchet MS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5931710" y="5808112"/>
            <a:ext cx="884555" cy="5994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8110" marR="5080" indent="-106045">
              <a:lnSpc>
                <a:spcPct val="100000"/>
              </a:lnSpc>
              <a:spcBef>
                <a:spcPts val="105"/>
              </a:spcBef>
            </a:pPr>
            <a:r>
              <a:rPr sz="1250" spc="-20" dirty="0">
                <a:solidFill>
                  <a:srgbClr val="231F20"/>
                </a:solidFill>
                <a:latin typeface="Trebuchet MS"/>
                <a:cs typeface="Trebuchet MS"/>
              </a:rPr>
              <a:t>Gig</a:t>
            </a:r>
            <a:r>
              <a:rPr sz="1250" spc="-30" dirty="0">
                <a:solidFill>
                  <a:srgbClr val="231F20"/>
                </a:solidFill>
                <a:latin typeface="Trebuchet MS"/>
                <a:cs typeface="Trebuchet MS"/>
              </a:rPr>
              <a:t>a</a:t>
            </a:r>
            <a:r>
              <a:rPr sz="1250" spc="-25" dirty="0">
                <a:solidFill>
                  <a:srgbClr val="231F20"/>
                </a:solidFill>
                <a:latin typeface="Trebuchet MS"/>
                <a:cs typeface="Trebuchet MS"/>
              </a:rPr>
              <a:t>w</a:t>
            </a:r>
            <a:r>
              <a:rPr sz="1250" spc="-35" dirty="0">
                <a:solidFill>
                  <a:srgbClr val="231F20"/>
                </a:solidFill>
                <a:latin typeface="Trebuchet MS"/>
                <a:cs typeface="Trebuchet MS"/>
              </a:rPr>
              <a:t>o</a:t>
            </a:r>
            <a:r>
              <a:rPr sz="1250" spc="-40" dirty="0">
                <a:solidFill>
                  <a:srgbClr val="231F20"/>
                </a:solidFill>
                <a:latin typeface="Trebuchet MS"/>
                <a:cs typeface="Trebuchet MS"/>
              </a:rPr>
              <a:t>r</a:t>
            </a:r>
            <a:r>
              <a:rPr sz="1250" spc="-5" dirty="0">
                <a:solidFill>
                  <a:srgbClr val="231F20"/>
                </a:solidFill>
                <a:latin typeface="Trebuchet MS"/>
                <a:cs typeface="Trebuchet MS"/>
              </a:rPr>
              <a:t>d5</a:t>
            </a:r>
            <a:r>
              <a:rPr sz="1250" spc="-114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1250" spc="65" dirty="0">
                <a:solidFill>
                  <a:srgbClr val="231F20"/>
                </a:solidFill>
                <a:latin typeface="Trebuchet MS"/>
                <a:cs typeface="Trebuchet MS"/>
              </a:rPr>
              <a:t>+  </a:t>
            </a:r>
            <a:r>
              <a:rPr sz="1250" spc="-30" dirty="0">
                <a:solidFill>
                  <a:srgbClr val="231F20"/>
                </a:solidFill>
                <a:latin typeface="Trebuchet MS"/>
                <a:cs typeface="Trebuchet MS"/>
              </a:rPr>
              <a:t>Wiki2014 </a:t>
            </a:r>
            <a:r>
              <a:rPr sz="1250" spc="-25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1250" spc="-20" dirty="0">
                <a:solidFill>
                  <a:srgbClr val="231F20"/>
                </a:solidFill>
                <a:latin typeface="Trebuchet MS"/>
                <a:cs typeface="Trebuchet MS"/>
              </a:rPr>
              <a:t>6B</a:t>
            </a:r>
            <a:r>
              <a:rPr sz="1250" spc="-114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1250" spc="-95" dirty="0">
                <a:solidFill>
                  <a:srgbClr val="231F20"/>
                </a:solidFill>
                <a:latin typeface="Trebuchet MS"/>
                <a:cs typeface="Trebuchet MS"/>
              </a:rPr>
              <a:t>t</a:t>
            </a:r>
            <a:r>
              <a:rPr sz="1250" spc="-15" dirty="0">
                <a:solidFill>
                  <a:srgbClr val="231F20"/>
                </a:solidFill>
                <a:latin typeface="Trebuchet MS"/>
                <a:cs typeface="Trebuchet MS"/>
              </a:rPr>
              <a:t>okens</a:t>
            </a:r>
            <a:endParaRPr sz="1250">
              <a:latin typeface="Trebuchet MS"/>
              <a:cs typeface="Trebuchet MS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7029608" y="5934330"/>
            <a:ext cx="1053465" cy="4083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61290" marR="5080" indent="-149225">
              <a:lnSpc>
                <a:spcPct val="100000"/>
              </a:lnSpc>
              <a:spcBef>
                <a:spcPts val="105"/>
              </a:spcBef>
            </a:pPr>
            <a:r>
              <a:rPr sz="1250" spc="-35" dirty="0">
                <a:solidFill>
                  <a:srgbClr val="231F20"/>
                </a:solidFill>
                <a:latin typeface="Trebuchet MS"/>
                <a:cs typeface="Trebuchet MS"/>
              </a:rPr>
              <a:t>C</a:t>
            </a:r>
            <a:r>
              <a:rPr sz="1250" spc="10" dirty="0">
                <a:solidFill>
                  <a:srgbClr val="231F20"/>
                </a:solidFill>
                <a:latin typeface="Trebuchet MS"/>
                <a:cs typeface="Trebuchet MS"/>
              </a:rPr>
              <a:t>ommon</a:t>
            </a:r>
            <a:r>
              <a:rPr sz="1250" spc="-114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1250" spc="-25" dirty="0">
                <a:solidFill>
                  <a:srgbClr val="231F20"/>
                </a:solidFill>
                <a:latin typeface="Trebuchet MS"/>
                <a:cs typeface="Trebuchet MS"/>
              </a:rPr>
              <a:t>C</a:t>
            </a:r>
            <a:r>
              <a:rPr sz="1250" spc="-90" dirty="0">
                <a:solidFill>
                  <a:srgbClr val="231F20"/>
                </a:solidFill>
                <a:latin typeface="Trebuchet MS"/>
                <a:cs typeface="Trebuchet MS"/>
              </a:rPr>
              <a:t>r</a:t>
            </a:r>
            <a:r>
              <a:rPr sz="1250" spc="-65" dirty="0">
                <a:solidFill>
                  <a:srgbClr val="231F20"/>
                </a:solidFill>
                <a:latin typeface="Trebuchet MS"/>
                <a:cs typeface="Trebuchet MS"/>
              </a:rPr>
              <a:t>a</a:t>
            </a:r>
            <a:r>
              <a:rPr sz="1250" spc="-35" dirty="0">
                <a:solidFill>
                  <a:srgbClr val="231F20"/>
                </a:solidFill>
                <a:latin typeface="Trebuchet MS"/>
                <a:cs typeface="Trebuchet MS"/>
              </a:rPr>
              <a:t>wl  </a:t>
            </a:r>
            <a:r>
              <a:rPr sz="1250" spc="-20" dirty="0">
                <a:solidFill>
                  <a:srgbClr val="231F20"/>
                </a:solidFill>
                <a:latin typeface="Trebuchet MS"/>
                <a:cs typeface="Trebuchet MS"/>
              </a:rPr>
              <a:t>42B</a:t>
            </a:r>
            <a:r>
              <a:rPr sz="1250" spc="-114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1250" spc="-95" dirty="0">
                <a:solidFill>
                  <a:srgbClr val="231F20"/>
                </a:solidFill>
                <a:latin typeface="Trebuchet MS"/>
                <a:cs typeface="Trebuchet MS"/>
              </a:rPr>
              <a:t>t</a:t>
            </a:r>
            <a:r>
              <a:rPr sz="1250" spc="-15" dirty="0">
                <a:solidFill>
                  <a:srgbClr val="231F20"/>
                </a:solidFill>
                <a:latin typeface="Trebuchet MS"/>
                <a:cs typeface="Trebuchet MS"/>
              </a:rPr>
              <a:t>okens</a:t>
            </a:r>
            <a:endParaRPr sz="12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44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496569"/>
            <a:ext cx="7338059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Another</a:t>
            </a:r>
            <a:r>
              <a:rPr spc="-5" dirty="0"/>
              <a:t> </a:t>
            </a:r>
            <a:r>
              <a:rPr dirty="0"/>
              <a:t>intrinsic</a:t>
            </a:r>
            <a:r>
              <a:rPr spc="-5" dirty="0"/>
              <a:t> </a:t>
            </a:r>
            <a:r>
              <a:rPr spc="5" dirty="0"/>
              <a:t>word</a:t>
            </a:r>
            <a:r>
              <a:rPr spc="-5" dirty="0"/>
              <a:t> </a:t>
            </a:r>
            <a:r>
              <a:rPr dirty="0"/>
              <a:t>vector</a:t>
            </a:r>
            <a:r>
              <a:rPr spc="-5" dirty="0"/>
              <a:t> </a:t>
            </a:r>
            <a:r>
              <a:rPr dirty="0"/>
              <a:t>evaluation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3118" y="1341374"/>
            <a:ext cx="7817484" cy="113220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78460" indent="-365760">
              <a:lnSpc>
                <a:spcPct val="100000"/>
              </a:lnSpc>
              <a:spcBef>
                <a:spcPts val="675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100" spc="10" dirty="0">
                <a:latin typeface="Calibri"/>
                <a:cs typeface="Calibri"/>
              </a:rPr>
              <a:t>Word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vector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distances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and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their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correlation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with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5" dirty="0">
                <a:latin typeface="Calibri"/>
                <a:cs typeface="Calibri"/>
              </a:rPr>
              <a:t>human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judgments</a:t>
            </a:r>
            <a:endParaRPr sz="2100">
              <a:latin typeface="Calibri"/>
              <a:cs typeface="Calibri"/>
            </a:endParaRPr>
          </a:p>
          <a:p>
            <a:pPr marL="377825" marR="173990" indent="-365760">
              <a:lnSpc>
                <a:spcPct val="100000"/>
              </a:lnSpc>
              <a:spcBef>
                <a:spcPts val="575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100" spc="10" dirty="0">
                <a:latin typeface="Calibri"/>
                <a:cs typeface="Calibri"/>
              </a:rPr>
              <a:t>Example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5" dirty="0">
                <a:latin typeface="Calibri"/>
                <a:cs typeface="Calibri"/>
              </a:rPr>
              <a:t>dataset: WordSim353 </a:t>
            </a:r>
            <a:r>
              <a:rPr sz="2100" spc="20" dirty="0">
                <a:solidFill>
                  <a:srgbClr val="EF8E1C"/>
                </a:solidFill>
                <a:latin typeface="Calibri"/>
                <a:cs typeface="Calibri"/>
              </a:rPr>
              <a:t> </a:t>
            </a:r>
            <a:r>
              <a:rPr sz="2100" u="sng" spc="10" dirty="0">
                <a:solidFill>
                  <a:srgbClr val="EF8E1C"/>
                </a:solidFill>
                <a:uFill>
                  <a:solidFill>
                    <a:srgbClr val="EF8E1C"/>
                  </a:solidFill>
                </a:uFill>
                <a:latin typeface="Calibri"/>
                <a:cs typeface="Calibri"/>
                <a:hlinkClick r:id="rId2"/>
              </a:rPr>
              <a:t>http://www.cs.technion.ac.il/~gabr/resources/data/wordsim353/</a:t>
            </a:r>
            <a:endParaRPr sz="210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687710" y="2726615"/>
          <a:ext cx="5031104" cy="41594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07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1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20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5941">
                <a:tc>
                  <a:txBody>
                    <a:bodyPr/>
                    <a:lstStyle/>
                    <a:p>
                      <a:pPr marL="9525">
                        <a:lnSpc>
                          <a:spcPts val="3065"/>
                        </a:lnSpc>
                      </a:pPr>
                      <a:r>
                        <a:rPr sz="2600" b="1" spc="-5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Word</a:t>
                      </a:r>
                      <a:r>
                        <a:rPr sz="2600" b="1" spc="-7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6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A4001D"/>
                    </a:solidFill>
                  </a:tcPr>
                </a:tc>
                <a:tc>
                  <a:txBody>
                    <a:bodyPr/>
                    <a:lstStyle/>
                    <a:p>
                      <a:pPr marL="9525">
                        <a:lnSpc>
                          <a:spcPts val="3065"/>
                        </a:lnSpc>
                      </a:pPr>
                      <a:r>
                        <a:rPr sz="2600" b="1" spc="-5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Word</a:t>
                      </a:r>
                      <a:r>
                        <a:rPr sz="2600" b="1" spc="-7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6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A4001D"/>
                    </a:solidFill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3065"/>
                        </a:lnSpc>
                      </a:pPr>
                      <a:r>
                        <a:rPr sz="26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Human</a:t>
                      </a:r>
                      <a:r>
                        <a:rPr sz="2600" b="1" spc="-7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6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(mean)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A400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941">
                <a:tc>
                  <a:txBody>
                    <a:bodyPr/>
                    <a:lstStyle/>
                    <a:p>
                      <a:pPr marL="9525">
                        <a:lnSpc>
                          <a:spcPts val="3050"/>
                        </a:lnSpc>
                      </a:pPr>
                      <a:r>
                        <a:rPr sz="2600" spc="-20" dirty="0">
                          <a:latin typeface="Calibri"/>
                          <a:cs typeface="Calibri"/>
                        </a:rPr>
                        <a:t>tiger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0E7E7"/>
                    </a:solidFill>
                  </a:tcPr>
                </a:tc>
                <a:tc>
                  <a:txBody>
                    <a:bodyPr/>
                    <a:lstStyle/>
                    <a:p>
                      <a:pPr marL="9525">
                        <a:lnSpc>
                          <a:spcPts val="3050"/>
                        </a:lnSpc>
                      </a:pPr>
                      <a:r>
                        <a:rPr sz="2600" spc="-30" dirty="0">
                          <a:latin typeface="Calibri"/>
                          <a:cs typeface="Calibri"/>
                        </a:rPr>
                        <a:t>cat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0E7E7"/>
                    </a:solidFill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3050"/>
                        </a:lnSpc>
                      </a:pPr>
                      <a:r>
                        <a:rPr sz="2600" spc="-25" dirty="0">
                          <a:latin typeface="Calibri"/>
                          <a:cs typeface="Calibri"/>
                        </a:rPr>
                        <a:t>7.35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0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941">
                <a:tc>
                  <a:txBody>
                    <a:bodyPr/>
                    <a:lstStyle/>
                    <a:p>
                      <a:pPr marL="9525">
                        <a:lnSpc>
                          <a:spcPts val="3065"/>
                        </a:lnSpc>
                      </a:pPr>
                      <a:r>
                        <a:rPr sz="2600" spc="-20" dirty="0">
                          <a:latin typeface="Calibri"/>
                          <a:cs typeface="Calibri"/>
                        </a:rPr>
                        <a:t>tiger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0E7E7"/>
                    </a:solidFill>
                  </a:tcPr>
                </a:tc>
                <a:tc>
                  <a:txBody>
                    <a:bodyPr/>
                    <a:lstStyle/>
                    <a:p>
                      <a:pPr marL="9525">
                        <a:lnSpc>
                          <a:spcPts val="3065"/>
                        </a:lnSpc>
                      </a:pPr>
                      <a:r>
                        <a:rPr sz="2600" spc="-20" dirty="0">
                          <a:latin typeface="Calibri"/>
                          <a:cs typeface="Calibri"/>
                        </a:rPr>
                        <a:t>tiger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0E7E7"/>
                    </a:solidFill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3065"/>
                        </a:lnSpc>
                      </a:pPr>
                      <a:r>
                        <a:rPr sz="2600" spc="-25" dirty="0">
                          <a:latin typeface="Calibri"/>
                          <a:cs typeface="Calibri"/>
                        </a:rPr>
                        <a:t>10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0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941">
                <a:tc>
                  <a:txBody>
                    <a:bodyPr/>
                    <a:lstStyle/>
                    <a:p>
                      <a:pPr marL="9525">
                        <a:lnSpc>
                          <a:spcPts val="3055"/>
                        </a:lnSpc>
                      </a:pPr>
                      <a:r>
                        <a:rPr sz="2600" spc="-20" dirty="0">
                          <a:latin typeface="Calibri"/>
                          <a:cs typeface="Calibri"/>
                        </a:rPr>
                        <a:t>book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0E7E7"/>
                    </a:solidFill>
                  </a:tcPr>
                </a:tc>
                <a:tc>
                  <a:txBody>
                    <a:bodyPr/>
                    <a:lstStyle/>
                    <a:p>
                      <a:pPr marL="9525">
                        <a:lnSpc>
                          <a:spcPts val="3055"/>
                        </a:lnSpc>
                      </a:pPr>
                      <a:r>
                        <a:rPr sz="2600" spc="-20" dirty="0">
                          <a:latin typeface="Calibri"/>
                          <a:cs typeface="Calibri"/>
                        </a:rPr>
                        <a:t>paper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0E7E7"/>
                    </a:solidFill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3055"/>
                        </a:lnSpc>
                      </a:pPr>
                      <a:r>
                        <a:rPr sz="2600" spc="-25" dirty="0">
                          <a:latin typeface="Calibri"/>
                          <a:cs typeface="Calibri"/>
                        </a:rPr>
                        <a:t>7.46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0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5941">
                <a:tc>
                  <a:txBody>
                    <a:bodyPr/>
                    <a:lstStyle/>
                    <a:p>
                      <a:pPr marL="9525">
                        <a:lnSpc>
                          <a:spcPts val="3065"/>
                        </a:lnSpc>
                      </a:pPr>
                      <a:r>
                        <a:rPr sz="2600" spc="-30" dirty="0">
                          <a:latin typeface="Calibri"/>
                          <a:cs typeface="Calibri"/>
                        </a:rPr>
                        <a:t>computer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0E7E7"/>
                    </a:solidFill>
                  </a:tcPr>
                </a:tc>
                <a:tc>
                  <a:txBody>
                    <a:bodyPr/>
                    <a:lstStyle/>
                    <a:p>
                      <a:pPr marL="9525">
                        <a:lnSpc>
                          <a:spcPts val="3065"/>
                        </a:lnSpc>
                      </a:pPr>
                      <a:r>
                        <a:rPr sz="2600" spc="-25" dirty="0">
                          <a:latin typeface="Calibri"/>
                          <a:cs typeface="Calibri"/>
                        </a:rPr>
                        <a:t>internet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0E7E7"/>
                    </a:solidFill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3065"/>
                        </a:lnSpc>
                      </a:pPr>
                      <a:r>
                        <a:rPr sz="2600" spc="-25" dirty="0">
                          <a:latin typeface="Calibri"/>
                          <a:cs typeface="Calibri"/>
                        </a:rPr>
                        <a:t>7.58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0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5941">
                <a:tc>
                  <a:txBody>
                    <a:bodyPr/>
                    <a:lstStyle/>
                    <a:p>
                      <a:pPr marL="9525">
                        <a:lnSpc>
                          <a:spcPts val="3055"/>
                        </a:lnSpc>
                      </a:pPr>
                      <a:r>
                        <a:rPr sz="2600" spc="-20" dirty="0">
                          <a:latin typeface="Calibri"/>
                          <a:cs typeface="Calibri"/>
                        </a:rPr>
                        <a:t>plane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0E7E7"/>
                    </a:solidFill>
                  </a:tcPr>
                </a:tc>
                <a:tc>
                  <a:txBody>
                    <a:bodyPr/>
                    <a:lstStyle/>
                    <a:p>
                      <a:pPr marL="9525">
                        <a:lnSpc>
                          <a:spcPts val="3055"/>
                        </a:lnSpc>
                      </a:pPr>
                      <a:r>
                        <a:rPr sz="2600" spc="-25" dirty="0">
                          <a:latin typeface="Calibri"/>
                          <a:cs typeface="Calibri"/>
                        </a:rPr>
                        <a:t>car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0E7E7"/>
                    </a:solidFill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3055"/>
                        </a:lnSpc>
                      </a:pPr>
                      <a:r>
                        <a:rPr sz="2600" spc="-25" dirty="0">
                          <a:latin typeface="Calibri"/>
                          <a:cs typeface="Calibri"/>
                        </a:rPr>
                        <a:t>5.77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0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5941">
                <a:tc>
                  <a:txBody>
                    <a:bodyPr/>
                    <a:lstStyle/>
                    <a:p>
                      <a:pPr marL="9525">
                        <a:lnSpc>
                          <a:spcPts val="3070"/>
                        </a:lnSpc>
                      </a:pPr>
                      <a:r>
                        <a:rPr sz="2600" spc="-30" dirty="0">
                          <a:latin typeface="Calibri"/>
                          <a:cs typeface="Calibri"/>
                        </a:rPr>
                        <a:t>professor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0E7E7"/>
                    </a:solidFill>
                  </a:tcPr>
                </a:tc>
                <a:tc>
                  <a:txBody>
                    <a:bodyPr/>
                    <a:lstStyle/>
                    <a:p>
                      <a:pPr marL="9525">
                        <a:lnSpc>
                          <a:spcPts val="3070"/>
                        </a:lnSpc>
                      </a:pPr>
                      <a:r>
                        <a:rPr sz="2600" spc="-25" dirty="0">
                          <a:latin typeface="Calibri"/>
                          <a:cs typeface="Calibri"/>
                        </a:rPr>
                        <a:t>doctor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0E7E7"/>
                    </a:solidFill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3070"/>
                        </a:lnSpc>
                      </a:pPr>
                      <a:r>
                        <a:rPr sz="2600" spc="-25" dirty="0">
                          <a:latin typeface="Calibri"/>
                          <a:cs typeface="Calibri"/>
                        </a:rPr>
                        <a:t>6.62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0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5941">
                <a:tc>
                  <a:txBody>
                    <a:bodyPr/>
                    <a:lstStyle/>
                    <a:p>
                      <a:pPr marL="9525">
                        <a:lnSpc>
                          <a:spcPts val="3055"/>
                        </a:lnSpc>
                      </a:pPr>
                      <a:r>
                        <a:rPr sz="2600" spc="-30" dirty="0">
                          <a:latin typeface="Calibri"/>
                          <a:cs typeface="Calibri"/>
                        </a:rPr>
                        <a:t>stock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0E7E7"/>
                    </a:solidFill>
                  </a:tcPr>
                </a:tc>
                <a:tc>
                  <a:txBody>
                    <a:bodyPr/>
                    <a:lstStyle/>
                    <a:p>
                      <a:pPr marL="9525">
                        <a:lnSpc>
                          <a:spcPts val="3055"/>
                        </a:lnSpc>
                      </a:pPr>
                      <a:r>
                        <a:rPr sz="2600" spc="-25" dirty="0">
                          <a:latin typeface="Calibri"/>
                          <a:cs typeface="Calibri"/>
                        </a:rPr>
                        <a:t>phone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0E7E7"/>
                    </a:solidFill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3055"/>
                        </a:lnSpc>
                      </a:pPr>
                      <a:r>
                        <a:rPr sz="2600" spc="-25" dirty="0">
                          <a:latin typeface="Calibri"/>
                          <a:cs typeface="Calibri"/>
                        </a:rPr>
                        <a:t>1.62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0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5941">
                <a:tc>
                  <a:txBody>
                    <a:bodyPr/>
                    <a:lstStyle/>
                    <a:p>
                      <a:pPr marL="9525">
                        <a:lnSpc>
                          <a:spcPts val="3045"/>
                        </a:lnSpc>
                      </a:pPr>
                      <a:r>
                        <a:rPr sz="2600" spc="-30" dirty="0">
                          <a:latin typeface="Calibri"/>
                          <a:cs typeface="Calibri"/>
                        </a:rPr>
                        <a:t>stock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0E7E7"/>
                    </a:solidFill>
                  </a:tcPr>
                </a:tc>
                <a:tc>
                  <a:txBody>
                    <a:bodyPr/>
                    <a:lstStyle/>
                    <a:p>
                      <a:pPr marL="9525">
                        <a:lnSpc>
                          <a:spcPts val="3045"/>
                        </a:lnSpc>
                      </a:pPr>
                      <a:r>
                        <a:rPr sz="2600" spc="-30" dirty="0">
                          <a:latin typeface="Calibri"/>
                          <a:cs typeface="Calibri"/>
                        </a:rPr>
                        <a:t>CD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0E7E7"/>
                    </a:solidFill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3045"/>
                        </a:lnSpc>
                      </a:pPr>
                      <a:r>
                        <a:rPr sz="2600" spc="-25" dirty="0">
                          <a:latin typeface="Calibri"/>
                          <a:cs typeface="Calibri"/>
                        </a:rPr>
                        <a:t>1.31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0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5941">
                <a:tc>
                  <a:txBody>
                    <a:bodyPr/>
                    <a:lstStyle/>
                    <a:p>
                      <a:pPr marL="9525">
                        <a:lnSpc>
                          <a:spcPts val="3060"/>
                        </a:lnSpc>
                      </a:pPr>
                      <a:r>
                        <a:rPr sz="2600" spc="-30" dirty="0">
                          <a:latin typeface="Calibri"/>
                          <a:cs typeface="Calibri"/>
                        </a:rPr>
                        <a:t>stock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0E7E7"/>
                    </a:solidFill>
                  </a:tcPr>
                </a:tc>
                <a:tc>
                  <a:txBody>
                    <a:bodyPr/>
                    <a:lstStyle/>
                    <a:p>
                      <a:pPr marL="9525">
                        <a:lnSpc>
                          <a:spcPts val="3060"/>
                        </a:lnSpc>
                      </a:pPr>
                      <a:r>
                        <a:rPr sz="2600" spc="-20" dirty="0">
                          <a:latin typeface="Calibri"/>
                          <a:cs typeface="Calibri"/>
                        </a:rPr>
                        <a:t>jaguar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0E7E7"/>
                    </a:solidFill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3060"/>
                        </a:lnSpc>
                      </a:pPr>
                      <a:r>
                        <a:rPr sz="2600" spc="-25" dirty="0">
                          <a:latin typeface="Calibri"/>
                          <a:cs typeface="Calibri"/>
                        </a:rPr>
                        <a:t>0.92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0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496569"/>
            <a:ext cx="8198484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Closest</a:t>
            </a:r>
            <a:r>
              <a:rPr spc="10" dirty="0"/>
              <a:t> </a:t>
            </a:r>
            <a:r>
              <a:rPr spc="5" dirty="0"/>
              <a:t>words</a:t>
            </a:r>
            <a:r>
              <a:rPr spc="10" dirty="0"/>
              <a:t> </a:t>
            </a:r>
            <a:r>
              <a:rPr dirty="0"/>
              <a:t>to</a:t>
            </a:r>
            <a:r>
              <a:rPr spc="15" dirty="0"/>
              <a:t> </a:t>
            </a:r>
            <a:r>
              <a:rPr dirty="0"/>
              <a:t>“Sweden”</a:t>
            </a:r>
            <a:r>
              <a:rPr spc="10" dirty="0"/>
              <a:t> </a:t>
            </a:r>
            <a:r>
              <a:rPr dirty="0"/>
              <a:t>(cosine</a:t>
            </a:r>
            <a:r>
              <a:rPr spc="10" dirty="0"/>
              <a:t> </a:t>
            </a:r>
            <a:r>
              <a:rPr dirty="0"/>
              <a:t>similarity)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7977" y="1279397"/>
            <a:ext cx="7184135" cy="524560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45</a:t>
            </a:fld>
            <a:endParaRPr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46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496569"/>
            <a:ext cx="407035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" dirty="0"/>
              <a:t>Correlation</a:t>
            </a:r>
            <a:r>
              <a:rPr spc="-50" dirty="0"/>
              <a:t> </a:t>
            </a:r>
            <a:r>
              <a:rPr dirty="0"/>
              <a:t>evaluation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3118" y="1414526"/>
            <a:ext cx="7817484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8460" indent="-365760">
              <a:lnSpc>
                <a:spcPct val="100000"/>
              </a:lnSpc>
              <a:spcBef>
                <a:spcPts val="100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100" spc="10" dirty="0">
                <a:latin typeface="Calibri"/>
                <a:cs typeface="Calibri"/>
              </a:rPr>
              <a:t>Word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vector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distances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and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their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correlation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with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5" dirty="0">
                <a:latin typeface="Calibri"/>
                <a:cs typeface="Calibri"/>
              </a:rPr>
              <a:t>human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judgments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3118" y="6114541"/>
            <a:ext cx="8583295" cy="66294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377825" marR="5080" indent="-365760">
              <a:lnSpc>
                <a:spcPts val="2500"/>
              </a:lnSpc>
              <a:spcBef>
                <a:spcPts val="200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100" spc="10" dirty="0">
                <a:latin typeface="Calibri"/>
                <a:cs typeface="Calibri"/>
              </a:rPr>
              <a:t>Some</a:t>
            </a:r>
            <a:r>
              <a:rPr sz="2100" spc="3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ideas</a:t>
            </a:r>
            <a:r>
              <a:rPr sz="2100" spc="25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from</a:t>
            </a:r>
            <a:r>
              <a:rPr sz="2100" spc="35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Glove</a:t>
            </a:r>
            <a:r>
              <a:rPr sz="2100" spc="3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paper</a:t>
            </a:r>
            <a:r>
              <a:rPr sz="2100" spc="2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have</a:t>
            </a:r>
            <a:r>
              <a:rPr sz="2100" spc="3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been</a:t>
            </a:r>
            <a:r>
              <a:rPr sz="2100" spc="3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shown</a:t>
            </a:r>
            <a:r>
              <a:rPr sz="2100" spc="25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to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improve</a:t>
            </a:r>
            <a:r>
              <a:rPr sz="2100" spc="3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skip-gram</a:t>
            </a:r>
            <a:r>
              <a:rPr sz="2100" spc="3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(SG) </a:t>
            </a:r>
            <a:r>
              <a:rPr sz="2100" spc="-459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model also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(e.g. </a:t>
            </a:r>
            <a:r>
              <a:rPr sz="2100" spc="10" dirty="0">
                <a:latin typeface="Calibri"/>
                <a:cs typeface="Calibri"/>
              </a:rPr>
              <a:t>sum</a:t>
            </a:r>
            <a:r>
              <a:rPr sz="2100" spc="3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both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vectors)</a:t>
            </a:r>
            <a:endParaRPr sz="2100">
              <a:latin typeface="Calibri"/>
              <a:cs typeface="Calibri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299641" y="1884047"/>
          <a:ext cx="6632571" cy="40326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2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31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42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56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56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90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721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10310">
                <a:tc>
                  <a:txBody>
                    <a:bodyPr/>
                    <a:lstStyle/>
                    <a:p>
                      <a:pPr marL="9525" algn="ctr">
                        <a:lnSpc>
                          <a:spcPts val="2745"/>
                        </a:lnSpc>
                      </a:pPr>
                      <a:r>
                        <a:rPr sz="2500" spc="10" dirty="0">
                          <a:latin typeface="Times New Roman"/>
                          <a:cs typeface="Times New Roman"/>
                        </a:rPr>
                        <a:t>Model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2860" algn="ctr">
                        <a:lnSpc>
                          <a:spcPts val="2745"/>
                        </a:lnSpc>
                      </a:pPr>
                      <a:r>
                        <a:rPr sz="2500" spc="10" dirty="0">
                          <a:latin typeface="Times New Roman"/>
                          <a:cs typeface="Times New Roman"/>
                        </a:rPr>
                        <a:t>Size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ts val="2745"/>
                        </a:lnSpc>
                      </a:pPr>
                      <a:r>
                        <a:rPr sz="2500" spc="15" dirty="0">
                          <a:latin typeface="Times New Roman"/>
                          <a:cs typeface="Times New Roman"/>
                        </a:rPr>
                        <a:t>WS353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8745">
                        <a:lnSpc>
                          <a:spcPts val="2745"/>
                        </a:lnSpc>
                      </a:pPr>
                      <a:r>
                        <a:rPr sz="2500" spc="20" dirty="0">
                          <a:latin typeface="Times New Roman"/>
                          <a:cs typeface="Times New Roman"/>
                        </a:rPr>
                        <a:t>MC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8419" algn="ctr">
                        <a:lnSpc>
                          <a:spcPts val="2745"/>
                        </a:lnSpc>
                      </a:pPr>
                      <a:r>
                        <a:rPr sz="2500" spc="15" dirty="0">
                          <a:latin typeface="Times New Roman"/>
                          <a:cs typeface="Times New Roman"/>
                        </a:rPr>
                        <a:t>RG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45"/>
                        </a:lnSpc>
                      </a:pPr>
                      <a:r>
                        <a:rPr sz="2500" spc="15" dirty="0">
                          <a:latin typeface="Times New Roman"/>
                          <a:cs typeface="Times New Roman"/>
                        </a:rPr>
                        <a:t>SCWS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8745">
                        <a:lnSpc>
                          <a:spcPts val="2745"/>
                        </a:lnSpc>
                      </a:pPr>
                      <a:r>
                        <a:rPr sz="2500" spc="-50" dirty="0">
                          <a:latin typeface="Times New Roman"/>
                          <a:cs typeface="Times New Roman"/>
                        </a:rPr>
                        <a:t>RW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991">
                <a:tc>
                  <a:txBody>
                    <a:bodyPr/>
                    <a:lstStyle/>
                    <a:p>
                      <a:pPr marL="9525" algn="ctr">
                        <a:lnSpc>
                          <a:spcPts val="2745"/>
                        </a:lnSpc>
                      </a:pPr>
                      <a:r>
                        <a:rPr sz="2500" spc="15" dirty="0">
                          <a:latin typeface="Times New Roman"/>
                          <a:cs typeface="Times New Roman"/>
                        </a:rPr>
                        <a:t>SVD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23495" algn="ctr">
                        <a:lnSpc>
                          <a:spcPts val="2745"/>
                        </a:lnSpc>
                      </a:pPr>
                      <a:r>
                        <a:rPr sz="2500" spc="15" dirty="0">
                          <a:latin typeface="Times New Roman"/>
                          <a:cs typeface="Times New Roman"/>
                        </a:rPr>
                        <a:t>6B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ts val="2745"/>
                        </a:lnSpc>
                      </a:pPr>
                      <a:r>
                        <a:rPr sz="2500" spc="10" dirty="0">
                          <a:latin typeface="Times New Roman"/>
                          <a:cs typeface="Times New Roman"/>
                        </a:rPr>
                        <a:t>35.3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ts val="2745"/>
                        </a:lnSpc>
                      </a:pPr>
                      <a:r>
                        <a:rPr sz="2500" spc="10" dirty="0">
                          <a:latin typeface="Times New Roman"/>
                          <a:cs typeface="Times New Roman"/>
                        </a:rPr>
                        <a:t>35.1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8419" algn="ctr">
                        <a:lnSpc>
                          <a:spcPts val="2745"/>
                        </a:lnSpc>
                      </a:pPr>
                      <a:r>
                        <a:rPr sz="2500" spc="10" dirty="0">
                          <a:latin typeface="Times New Roman"/>
                          <a:cs typeface="Times New Roman"/>
                        </a:rPr>
                        <a:t>42.5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45"/>
                        </a:lnSpc>
                      </a:pPr>
                      <a:r>
                        <a:rPr sz="2500" spc="10" dirty="0">
                          <a:latin typeface="Times New Roman"/>
                          <a:cs typeface="Times New Roman"/>
                        </a:rPr>
                        <a:t>38.3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ts val="2745"/>
                        </a:lnSpc>
                      </a:pPr>
                      <a:r>
                        <a:rPr sz="2500" spc="10" dirty="0">
                          <a:latin typeface="Times New Roman"/>
                          <a:cs typeface="Times New Roman"/>
                        </a:rPr>
                        <a:t>25.6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8575">
                <a:tc>
                  <a:txBody>
                    <a:bodyPr/>
                    <a:lstStyle/>
                    <a:p>
                      <a:pPr marL="9525" algn="ctr">
                        <a:lnSpc>
                          <a:spcPts val="2880"/>
                        </a:lnSpc>
                      </a:pPr>
                      <a:r>
                        <a:rPr sz="2500" spc="15" dirty="0">
                          <a:latin typeface="Times New Roman"/>
                          <a:cs typeface="Times New Roman"/>
                        </a:rPr>
                        <a:t>SVD-S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23495" algn="ctr">
                        <a:lnSpc>
                          <a:spcPts val="2880"/>
                        </a:lnSpc>
                      </a:pPr>
                      <a:r>
                        <a:rPr sz="2500" spc="15" dirty="0">
                          <a:latin typeface="Times New Roman"/>
                          <a:cs typeface="Times New Roman"/>
                        </a:rPr>
                        <a:t>6B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ts val="2880"/>
                        </a:lnSpc>
                      </a:pPr>
                      <a:r>
                        <a:rPr sz="2500" spc="10" dirty="0">
                          <a:latin typeface="Times New Roman"/>
                          <a:cs typeface="Times New Roman"/>
                        </a:rPr>
                        <a:t>56.5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ts val="2880"/>
                        </a:lnSpc>
                      </a:pPr>
                      <a:r>
                        <a:rPr sz="2500" spc="10" dirty="0">
                          <a:latin typeface="Times New Roman"/>
                          <a:cs typeface="Times New Roman"/>
                        </a:rPr>
                        <a:t>71.5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8419" algn="ctr">
                        <a:lnSpc>
                          <a:spcPts val="2880"/>
                        </a:lnSpc>
                      </a:pPr>
                      <a:r>
                        <a:rPr sz="2500" spc="10" dirty="0">
                          <a:latin typeface="Times New Roman"/>
                          <a:cs typeface="Times New Roman"/>
                        </a:rPr>
                        <a:t>71.0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80"/>
                        </a:lnSpc>
                      </a:pPr>
                      <a:r>
                        <a:rPr sz="2500" spc="10" dirty="0">
                          <a:latin typeface="Times New Roman"/>
                          <a:cs typeface="Times New Roman"/>
                        </a:rPr>
                        <a:t>53.6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ts val="2880"/>
                        </a:lnSpc>
                      </a:pPr>
                      <a:r>
                        <a:rPr sz="2500" spc="10" dirty="0">
                          <a:latin typeface="Times New Roman"/>
                          <a:cs typeface="Times New Roman"/>
                        </a:rPr>
                        <a:t>34.7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8575">
                <a:tc>
                  <a:txBody>
                    <a:bodyPr/>
                    <a:lstStyle/>
                    <a:p>
                      <a:pPr marL="9525" algn="ctr">
                        <a:lnSpc>
                          <a:spcPts val="2880"/>
                        </a:lnSpc>
                      </a:pPr>
                      <a:r>
                        <a:rPr sz="2500" spc="15" dirty="0">
                          <a:latin typeface="Times New Roman"/>
                          <a:cs typeface="Times New Roman"/>
                        </a:rPr>
                        <a:t>SVD-L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23495" algn="ctr">
                        <a:lnSpc>
                          <a:spcPts val="2880"/>
                        </a:lnSpc>
                      </a:pPr>
                      <a:r>
                        <a:rPr sz="2500" spc="15" dirty="0">
                          <a:latin typeface="Times New Roman"/>
                          <a:cs typeface="Times New Roman"/>
                        </a:rPr>
                        <a:t>6B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ts val="2880"/>
                        </a:lnSpc>
                      </a:pPr>
                      <a:r>
                        <a:rPr sz="2500" spc="10" dirty="0">
                          <a:latin typeface="Times New Roman"/>
                          <a:cs typeface="Times New Roman"/>
                        </a:rPr>
                        <a:t>65.7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ts val="2880"/>
                        </a:lnSpc>
                      </a:pPr>
                      <a:r>
                        <a:rPr sz="2500" u="heavy" spc="10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72.7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8419" algn="ctr">
                        <a:lnSpc>
                          <a:spcPts val="2880"/>
                        </a:lnSpc>
                      </a:pPr>
                      <a:r>
                        <a:rPr sz="2500" spc="10" dirty="0">
                          <a:latin typeface="Times New Roman"/>
                          <a:cs typeface="Times New Roman"/>
                        </a:rPr>
                        <a:t>75.1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80"/>
                        </a:lnSpc>
                      </a:pPr>
                      <a:r>
                        <a:rPr sz="2500" spc="10" dirty="0">
                          <a:latin typeface="Times New Roman"/>
                          <a:cs typeface="Times New Roman"/>
                        </a:rPr>
                        <a:t>56.5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ts val="2880"/>
                        </a:lnSpc>
                      </a:pPr>
                      <a:r>
                        <a:rPr sz="2500" spc="10" dirty="0">
                          <a:latin typeface="Times New Roman"/>
                          <a:cs typeface="Times New Roman"/>
                        </a:rPr>
                        <a:t>37.0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8575">
                <a:tc>
                  <a:txBody>
                    <a:bodyPr/>
                    <a:lstStyle/>
                    <a:p>
                      <a:pPr marR="3175" algn="ctr">
                        <a:lnSpc>
                          <a:spcPts val="2880"/>
                        </a:lnSpc>
                      </a:pPr>
                      <a:r>
                        <a:rPr sz="2500" spc="-30" dirty="0">
                          <a:latin typeface="Times New Roman"/>
                          <a:cs typeface="Times New Roman"/>
                        </a:rPr>
                        <a:t>CBOW</a:t>
                      </a:r>
                      <a:r>
                        <a:rPr sz="2775" spc="-44" baseline="27027" dirty="0">
                          <a:latin typeface="Lucida Sans Unicode"/>
                          <a:cs typeface="Lucida Sans Unicode"/>
                        </a:rPr>
                        <a:t>†</a:t>
                      </a:r>
                      <a:endParaRPr sz="2775" baseline="27027">
                        <a:latin typeface="Lucida Sans Unicode"/>
                        <a:cs typeface="Lucida Sans Unicode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23495" algn="ctr">
                        <a:lnSpc>
                          <a:spcPts val="2880"/>
                        </a:lnSpc>
                      </a:pPr>
                      <a:r>
                        <a:rPr sz="2500" spc="15" dirty="0">
                          <a:latin typeface="Times New Roman"/>
                          <a:cs typeface="Times New Roman"/>
                        </a:rPr>
                        <a:t>6B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ts val="2880"/>
                        </a:lnSpc>
                      </a:pPr>
                      <a:r>
                        <a:rPr sz="2500" spc="10" dirty="0">
                          <a:latin typeface="Times New Roman"/>
                          <a:cs typeface="Times New Roman"/>
                        </a:rPr>
                        <a:t>57.2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ts val="2880"/>
                        </a:lnSpc>
                      </a:pPr>
                      <a:r>
                        <a:rPr sz="2500" spc="10" dirty="0">
                          <a:latin typeface="Times New Roman"/>
                          <a:cs typeface="Times New Roman"/>
                        </a:rPr>
                        <a:t>65.6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8419" algn="ctr">
                        <a:lnSpc>
                          <a:spcPts val="2880"/>
                        </a:lnSpc>
                      </a:pPr>
                      <a:r>
                        <a:rPr sz="2500" spc="10" dirty="0">
                          <a:latin typeface="Times New Roman"/>
                          <a:cs typeface="Times New Roman"/>
                        </a:rPr>
                        <a:t>68.2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80"/>
                        </a:lnSpc>
                      </a:pPr>
                      <a:r>
                        <a:rPr sz="2500" spc="10" dirty="0">
                          <a:latin typeface="Times New Roman"/>
                          <a:cs typeface="Times New Roman"/>
                        </a:rPr>
                        <a:t>57.0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ts val="2880"/>
                        </a:lnSpc>
                      </a:pPr>
                      <a:r>
                        <a:rPr sz="2500" spc="10" dirty="0">
                          <a:latin typeface="Times New Roman"/>
                          <a:cs typeface="Times New Roman"/>
                        </a:rPr>
                        <a:t>32.5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8589">
                <a:tc>
                  <a:txBody>
                    <a:bodyPr/>
                    <a:lstStyle/>
                    <a:p>
                      <a:pPr marR="3175" algn="ctr">
                        <a:lnSpc>
                          <a:spcPts val="2880"/>
                        </a:lnSpc>
                      </a:pPr>
                      <a:r>
                        <a:rPr sz="2500" spc="-35" dirty="0">
                          <a:latin typeface="Times New Roman"/>
                          <a:cs typeface="Times New Roman"/>
                        </a:rPr>
                        <a:t>SG</a:t>
                      </a:r>
                      <a:r>
                        <a:rPr sz="2775" spc="-52" baseline="27027" dirty="0">
                          <a:latin typeface="Lucida Sans Unicode"/>
                          <a:cs typeface="Lucida Sans Unicode"/>
                        </a:rPr>
                        <a:t>†</a:t>
                      </a:r>
                      <a:endParaRPr sz="2775" baseline="27027">
                        <a:latin typeface="Lucida Sans Unicode"/>
                        <a:cs typeface="Lucida Sans Unicode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23495" algn="ctr">
                        <a:lnSpc>
                          <a:spcPts val="2880"/>
                        </a:lnSpc>
                      </a:pPr>
                      <a:r>
                        <a:rPr sz="2500" spc="15" dirty="0">
                          <a:latin typeface="Times New Roman"/>
                          <a:cs typeface="Times New Roman"/>
                        </a:rPr>
                        <a:t>6B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ts val="2880"/>
                        </a:lnSpc>
                      </a:pPr>
                      <a:r>
                        <a:rPr sz="2500" spc="10" dirty="0">
                          <a:latin typeface="Times New Roman"/>
                          <a:cs typeface="Times New Roman"/>
                        </a:rPr>
                        <a:t>62.8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ts val="2880"/>
                        </a:lnSpc>
                      </a:pPr>
                      <a:r>
                        <a:rPr sz="2500" spc="10" dirty="0">
                          <a:latin typeface="Times New Roman"/>
                          <a:cs typeface="Times New Roman"/>
                        </a:rPr>
                        <a:t>65.2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8419" algn="ctr">
                        <a:lnSpc>
                          <a:spcPts val="2880"/>
                        </a:lnSpc>
                      </a:pPr>
                      <a:r>
                        <a:rPr sz="2500" spc="10" dirty="0">
                          <a:latin typeface="Times New Roman"/>
                          <a:cs typeface="Times New Roman"/>
                        </a:rPr>
                        <a:t>69.7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80"/>
                        </a:lnSpc>
                      </a:pPr>
                      <a:r>
                        <a:rPr sz="2500" u="heavy" spc="10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58.1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ts val="2880"/>
                        </a:lnSpc>
                      </a:pPr>
                      <a:r>
                        <a:rPr sz="2500" spc="10" dirty="0">
                          <a:latin typeface="Times New Roman"/>
                          <a:cs typeface="Times New Roman"/>
                        </a:rPr>
                        <a:t>37.2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7913">
                <a:tc>
                  <a:txBody>
                    <a:bodyPr/>
                    <a:lstStyle/>
                    <a:p>
                      <a:pPr marL="9525" algn="ctr">
                        <a:lnSpc>
                          <a:spcPts val="2880"/>
                        </a:lnSpc>
                      </a:pPr>
                      <a:r>
                        <a:rPr sz="2500" spc="-45" dirty="0">
                          <a:latin typeface="Times New Roman"/>
                          <a:cs typeface="Times New Roman"/>
                        </a:rPr>
                        <a:t>GloVe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3495" algn="ctr">
                        <a:lnSpc>
                          <a:spcPts val="2880"/>
                        </a:lnSpc>
                      </a:pPr>
                      <a:r>
                        <a:rPr sz="2500" spc="15" dirty="0">
                          <a:latin typeface="Times New Roman"/>
                          <a:cs typeface="Times New Roman"/>
                        </a:rPr>
                        <a:t>6B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ts val="2880"/>
                        </a:lnSpc>
                      </a:pPr>
                      <a:r>
                        <a:rPr sz="2500" u="heavy" spc="10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65.8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ts val="2880"/>
                        </a:lnSpc>
                      </a:pPr>
                      <a:r>
                        <a:rPr sz="2500" u="heavy" spc="10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72.7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8419" algn="ctr">
                        <a:lnSpc>
                          <a:spcPts val="2880"/>
                        </a:lnSpc>
                      </a:pPr>
                      <a:r>
                        <a:rPr sz="2500" u="heavy" spc="10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77.8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80"/>
                        </a:lnSpc>
                      </a:pPr>
                      <a:r>
                        <a:rPr sz="2500" spc="10" dirty="0">
                          <a:latin typeface="Times New Roman"/>
                          <a:cs typeface="Times New Roman"/>
                        </a:rPr>
                        <a:t>53.9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ts val="2880"/>
                        </a:lnSpc>
                      </a:pPr>
                      <a:r>
                        <a:rPr sz="2500" u="heavy" spc="10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38.1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5183">
                <a:tc>
                  <a:txBody>
                    <a:bodyPr/>
                    <a:lstStyle/>
                    <a:p>
                      <a:pPr marL="9525" algn="ctr">
                        <a:lnSpc>
                          <a:spcPts val="2745"/>
                        </a:lnSpc>
                      </a:pPr>
                      <a:r>
                        <a:rPr sz="2500" spc="15" dirty="0">
                          <a:latin typeface="Times New Roman"/>
                          <a:cs typeface="Times New Roman"/>
                        </a:rPr>
                        <a:t>SVD-L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23495" algn="ctr">
                        <a:lnSpc>
                          <a:spcPts val="2745"/>
                        </a:lnSpc>
                      </a:pPr>
                      <a:r>
                        <a:rPr sz="2500" spc="10" dirty="0">
                          <a:latin typeface="Times New Roman"/>
                          <a:cs typeface="Times New Roman"/>
                        </a:rPr>
                        <a:t>42B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ts val="2745"/>
                        </a:lnSpc>
                      </a:pPr>
                      <a:r>
                        <a:rPr sz="2500" spc="10" dirty="0">
                          <a:latin typeface="Times New Roman"/>
                          <a:cs typeface="Times New Roman"/>
                        </a:rPr>
                        <a:t>74.0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ts val="2745"/>
                        </a:lnSpc>
                      </a:pPr>
                      <a:r>
                        <a:rPr sz="2500" spc="10" dirty="0">
                          <a:latin typeface="Times New Roman"/>
                          <a:cs typeface="Times New Roman"/>
                        </a:rPr>
                        <a:t>76.4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8419" algn="ctr">
                        <a:lnSpc>
                          <a:spcPts val="2745"/>
                        </a:lnSpc>
                      </a:pPr>
                      <a:r>
                        <a:rPr sz="2500" spc="10" dirty="0">
                          <a:latin typeface="Times New Roman"/>
                          <a:cs typeface="Times New Roman"/>
                        </a:rPr>
                        <a:t>74.1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45"/>
                        </a:lnSpc>
                      </a:pPr>
                      <a:r>
                        <a:rPr sz="2500" spc="10" dirty="0">
                          <a:latin typeface="Times New Roman"/>
                          <a:cs typeface="Times New Roman"/>
                        </a:rPr>
                        <a:t>58.3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ts val="2745"/>
                        </a:lnSpc>
                      </a:pPr>
                      <a:r>
                        <a:rPr sz="2500" spc="10" dirty="0">
                          <a:latin typeface="Times New Roman"/>
                          <a:cs typeface="Times New Roman"/>
                        </a:rPr>
                        <a:t>39.9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3675">
                <a:tc>
                  <a:txBody>
                    <a:bodyPr/>
                    <a:lstStyle/>
                    <a:p>
                      <a:pPr marL="9525" algn="ctr">
                        <a:lnSpc>
                          <a:spcPts val="2925"/>
                        </a:lnSpc>
                      </a:pPr>
                      <a:r>
                        <a:rPr sz="2500" spc="-45" dirty="0">
                          <a:latin typeface="Times New Roman"/>
                          <a:cs typeface="Times New Roman"/>
                        </a:rPr>
                        <a:t>GloVe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3495" algn="ctr">
                        <a:lnSpc>
                          <a:spcPts val="2925"/>
                        </a:lnSpc>
                      </a:pPr>
                      <a:r>
                        <a:rPr sz="2500" spc="10" dirty="0">
                          <a:latin typeface="Times New Roman"/>
                          <a:cs typeface="Times New Roman"/>
                        </a:rPr>
                        <a:t>42B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ts val="2925"/>
                        </a:lnSpc>
                      </a:pPr>
                      <a:r>
                        <a:rPr sz="2500" b="1" u="heavy" spc="10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75.9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ts val="2925"/>
                        </a:lnSpc>
                      </a:pPr>
                      <a:r>
                        <a:rPr sz="2500" b="1" u="heavy" spc="10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83.6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8419" algn="ctr">
                        <a:lnSpc>
                          <a:spcPts val="2925"/>
                        </a:lnSpc>
                      </a:pPr>
                      <a:r>
                        <a:rPr sz="2500" b="1" u="heavy" spc="10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82.9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25"/>
                        </a:lnSpc>
                      </a:pPr>
                      <a:r>
                        <a:rPr sz="2500" b="1" u="heavy" spc="10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59.6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ts val="2925"/>
                        </a:lnSpc>
                      </a:pPr>
                      <a:r>
                        <a:rPr sz="2500" b="1" u="heavy" spc="10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47.8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0312">
                <a:tc gridSpan="2">
                  <a:txBody>
                    <a:bodyPr/>
                    <a:lstStyle/>
                    <a:p>
                      <a:pPr marL="96520">
                        <a:lnSpc>
                          <a:spcPts val="2745"/>
                        </a:lnSpc>
                        <a:tabLst>
                          <a:tab pos="1315085" algn="l"/>
                        </a:tabLst>
                      </a:pPr>
                      <a:r>
                        <a:rPr sz="2500" spc="-155" dirty="0">
                          <a:latin typeface="Times New Roman"/>
                          <a:cs typeface="Times New Roman"/>
                        </a:rPr>
                        <a:t>CBOW</a:t>
                      </a:r>
                      <a:r>
                        <a:rPr sz="2775" spc="-232" baseline="27027" dirty="0">
                          <a:latin typeface="Lucida Sans Unicode"/>
                          <a:cs typeface="Lucida Sans Unicode"/>
                        </a:rPr>
                        <a:t>⇤	</a:t>
                      </a:r>
                      <a:r>
                        <a:rPr sz="2500" spc="10" dirty="0">
                          <a:latin typeface="Times New Roman"/>
                          <a:cs typeface="Times New Roman"/>
                        </a:rPr>
                        <a:t>100B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ts val="2745"/>
                        </a:lnSpc>
                      </a:pPr>
                      <a:r>
                        <a:rPr sz="2500" spc="10" dirty="0">
                          <a:latin typeface="Times New Roman"/>
                          <a:cs typeface="Times New Roman"/>
                        </a:rPr>
                        <a:t>68.4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ts val="2745"/>
                        </a:lnSpc>
                      </a:pPr>
                      <a:r>
                        <a:rPr sz="2500" spc="10" dirty="0">
                          <a:latin typeface="Times New Roman"/>
                          <a:cs typeface="Times New Roman"/>
                        </a:rPr>
                        <a:t>79.6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8419" algn="ctr">
                        <a:lnSpc>
                          <a:spcPts val="2745"/>
                        </a:lnSpc>
                      </a:pPr>
                      <a:r>
                        <a:rPr sz="2500" spc="10" dirty="0">
                          <a:latin typeface="Times New Roman"/>
                          <a:cs typeface="Times New Roman"/>
                        </a:rPr>
                        <a:t>75.4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45"/>
                        </a:lnSpc>
                      </a:pPr>
                      <a:r>
                        <a:rPr sz="2500" spc="10" dirty="0">
                          <a:latin typeface="Times New Roman"/>
                          <a:cs typeface="Times New Roman"/>
                        </a:rPr>
                        <a:t>59.4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ts val="2745"/>
                        </a:lnSpc>
                      </a:pPr>
                      <a:r>
                        <a:rPr sz="2500" spc="10" dirty="0">
                          <a:latin typeface="Times New Roman"/>
                          <a:cs typeface="Times New Roman"/>
                        </a:rPr>
                        <a:t>45.5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47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496569"/>
            <a:ext cx="715137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Word</a:t>
            </a:r>
            <a:r>
              <a:rPr spc="-5" dirty="0"/>
              <a:t> </a:t>
            </a:r>
            <a:r>
              <a:rPr dirty="0"/>
              <a:t>senses</a:t>
            </a:r>
            <a:r>
              <a:rPr spc="-5" dirty="0"/>
              <a:t> </a:t>
            </a:r>
            <a:r>
              <a:rPr dirty="0"/>
              <a:t>and</a:t>
            </a:r>
            <a:r>
              <a:rPr spc="-5" dirty="0"/>
              <a:t> </a:t>
            </a:r>
            <a:r>
              <a:rPr dirty="0"/>
              <a:t>word sense ambiguity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3118" y="1329689"/>
            <a:ext cx="7280275" cy="143383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78460" indent="-365760">
              <a:lnSpc>
                <a:spcPct val="100000"/>
              </a:lnSpc>
              <a:spcBef>
                <a:spcPts val="675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600" spc="-25" dirty="0">
                <a:latin typeface="Calibri"/>
                <a:cs typeface="Calibri"/>
              </a:rPr>
              <a:t>Most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words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have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lots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of</a:t>
            </a:r>
            <a:r>
              <a:rPr sz="2600" spc="-25" dirty="0">
                <a:latin typeface="Calibri"/>
                <a:cs typeface="Calibri"/>
              </a:rPr>
              <a:t> meanings!</a:t>
            </a:r>
            <a:endParaRPr sz="2600">
              <a:latin typeface="Calibri"/>
              <a:cs typeface="Calibri"/>
            </a:endParaRPr>
          </a:p>
          <a:p>
            <a:pPr marL="744220" lvl="1" indent="-244475">
              <a:lnSpc>
                <a:spcPct val="100000"/>
              </a:lnSpc>
              <a:spcBef>
                <a:spcPts val="575"/>
              </a:spcBef>
              <a:buClr>
                <a:srgbClr val="3A87FF"/>
              </a:buClr>
              <a:buFont typeface="Times New Roman"/>
              <a:buChar char="•"/>
              <a:tabLst>
                <a:tab pos="743585" algn="l"/>
                <a:tab pos="744220" algn="l"/>
              </a:tabLst>
            </a:pPr>
            <a:r>
              <a:rPr sz="2600" spc="-15" dirty="0">
                <a:latin typeface="Calibri"/>
                <a:cs typeface="Calibri"/>
              </a:rPr>
              <a:t>Especially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30" dirty="0">
                <a:latin typeface="Calibri"/>
                <a:cs typeface="Calibri"/>
              </a:rPr>
              <a:t>common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words</a:t>
            </a:r>
            <a:endParaRPr sz="2600">
              <a:latin typeface="Calibri"/>
              <a:cs typeface="Calibri"/>
            </a:endParaRPr>
          </a:p>
          <a:p>
            <a:pPr marL="744220" lvl="1" indent="-244475">
              <a:lnSpc>
                <a:spcPct val="100000"/>
              </a:lnSpc>
              <a:spcBef>
                <a:spcPts val="575"/>
              </a:spcBef>
              <a:buClr>
                <a:srgbClr val="3A87FF"/>
              </a:buClr>
              <a:buFont typeface="Times New Roman"/>
              <a:buChar char="•"/>
              <a:tabLst>
                <a:tab pos="743585" algn="l"/>
                <a:tab pos="744220" algn="l"/>
              </a:tabLst>
            </a:pPr>
            <a:r>
              <a:rPr sz="2600" spc="-15" dirty="0">
                <a:latin typeface="Calibri"/>
                <a:cs typeface="Calibri"/>
              </a:rPr>
              <a:t>Especially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words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that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have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existed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for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long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time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3118" y="3752850"/>
            <a:ext cx="223012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8460" indent="-365760">
              <a:lnSpc>
                <a:spcPct val="100000"/>
              </a:lnSpc>
              <a:spcBef>
                <a:spcPts val="100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600" spc="-20" dirty="0">
                <a:latin typeface="Calibri"/>
                <a:cs typeface="Calibri"/>
              </a:rPr>
              <a:t>Example</a:t>
            </a:r>
            <a:r>
              <a:rPr sz="2600" spc="-20">
                <a:latin typeface="Calibri"/>
                <a:cs typeface="Calibri"/>
              </a:rPr>
              <a:t>:</a:t>
            </a:r>
            <a:r>
              <a:rPr sz="2600" spc="-105">
                <a:latin typeface="Calibri"/>
                <a:cs typeface="Calibri"/>
              </a:rPr>
              <a:t> </a:t>
            </a:r>
            <a:r>
              <a:rPr lang="en-US" altLang="zh-CN" sz="2600" spc="-15">
                <a:latin typeface="Calibri"/>
                <a:cs typeface="Calibri"/>
              </a:rPr>
              <a:t>pike</a:t>
            </a:r>
            <a:endParaRPr sz="26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63118" y="6102858"/>
            <a:ext cx="8342630" cy="80264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377825" marR="5080" indent="-365760">
              <a:lnSpc>
                <a:spcPts val="3000"/>
              </a:lnSpc>
              <a:spcBef>
                <a:spcPts val="300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600" spc="-20" dirty="0">
                <a:latin typeface="Calibri"/>
                <a:cs typeface="Calibri"/>
              </a:rPr>
              <a:t>Does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one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vector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capture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all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these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meanings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or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we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have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 </a:t>
            </a:r>
            <a:r>
              <a:rPr sz="2600" spc="-57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mess?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48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496569"/>
            <a:ext cx="78994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</a:t>
            </a:r>
            <a:r>
              <a:rPr spc="5" dirty="0"/>
              <a:t>ik</a:t>
            </a:r>
            <a:r>
              <a:rPr dirty="0"/>
              <a:t>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3118" y="1329689"/>
            <a:ext cx="8228965" cy="502729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78460" indent="-365760">
              <a:lnSpc>
                <a:spcPct val="100000"/>
              </a:lnSpc>
              <a:spcBef>
                <a:spcPts val="675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600" dirty="0">
                <a:latin typeface="Calibri"/>
                <a:cs typeface="Calibri"/>
              </a:rPr>
              <a:t>A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sharp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point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or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staff</a:t>
            </a:r>
            <a:endParaRPr sz="2600">
              <a:latin typeface="Calibri"/>
              <a:cs typeface="Calibri"/>
            </a:endParaRPr>
          </a:p>
          <a:p>
            <a:pPr marL="378460" indent="-365760">
              <a:lnSpc>
                <a:spcPct val="100000"/>
              </a:lnSpc>
              <a:spcBef>
                <a:spcPts val="575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600" dirty="0">
                <a:latin typeface="Calibri"/>
                <a:cs typeface="Calibri"/>
              </a:rPr>
              <a:t>A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type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of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elongated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fish</a:t>
            </a:r>
            <a:endParaRPr sz="2600">
              <a:latin typeface="Calibri"/>
              <a:cs typeface="Calibri"/>
            </a:endParaRPr>
          </a:p>
          <a:p>
            <a:pPr marL="378460" indent="-365760">
              <a:lnSpc>
                <a:spcPct val="100000"/>
              </a:lnSpc>
              <a:spcBef>
                <a:spcPts val="575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600" dirty="0">
                <a:latin typeface="Calibri"/>
                <a:cs typeface="Calibri"/>
              </a:rPr>
              <a:t>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railroad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line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or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system</a:t>
            </a:r>
            <a:endParaRPr sz="2600">
              <a:latin typeface="Calibri"/>
              <a:cs typeface="Calibri"/>
            </a:endParaRPr>
          </a:p>
          <a:p>
            <a:pPr marL="378460" indent="-365760">
              <a:lnSpc>
                <a:spcPct val="100000"/>
              </a:lnSpc>
              <a:spcBef>
                <a:spcPts val="580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600" dirty="0">
                <a:latin typeface="Calibri"/>
                <a:cs typeface="Calibri"/>
              </a:rPr>
              <a:t>A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type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of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road</a:t>
            </a:r>
            <a:endParaRPr sz="2600">
              <a:latin typeface="Calibri"/>
              <a:cs typeface="Calibri"/>
            </a:endParaRPr>
          </a:p>
          <a:p>
            <a:pPr marL="378460" indent="-365760">
              <a:lnSpc>
                <a:spcPct val="100000"/>
              </a:lnSpc>
              <a:spcBef>
                <a:spcPts val="600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600" spc="-15" dirty="0">
                <a:latin typeface="Calibri"/>
                <a:cs typeface="Calibri"/>
              </a:rPr>
              <a:t>The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future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(coming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down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the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pike)</a:t>
            </a:r>
            <a:endParaRPr sz="2600">
              <a:latin typeface="Calibri"/>
              <a:cs typeface="Calibri"/>
            </a:endParaRPr>
          </a:p>
          <a:p>
            <a:pPr marL="378460" indent="-365760">
              <a:lnSpc>
                <a:spcPct val="100000"/>
              </a:lnSpc>
              <a:spcBef>
                <a:spcPts val="575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600" dirty="0">
                <a:latin typeface="Calibri"/>
                <a:cs typeface="Calibri"/>
              </a:rPr>
              <a:t>A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type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of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body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position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(as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diving)</a:t>
            </a:r>
            <a:endParaRPr sz="2600">
              <a:latin typeface="Calibri"/>
              <a:cs typeface="Calibri"/>
            </a:endParaRPr>
          </a:p>
          <a:p>
            <a:pPr marL="378460" indent="-365760">
              <a:lnSpc>
                <a:spcPct val="100000"/>
              </a:lnSpc>
              <a:spcBef>
                <a:spcPts val="575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600" spc="-10" dirty="0">
                <a:latin typeface="Calibri"/>
                <a:cs typeface="Calibri"/>
              </a:rPr>
              <a:t>To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kill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or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pierce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with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pike</a:t>
            </a:r>
            <a:endParaRPr sz="2600">
              <a:latin typeface="Calibri"/>
              <a:cs typeface="Calibri"/>
            </a:endParaRPr>
          </a:p>
          <a:p>
            <a:pPr marL="378460" indent="-365760">
              <a:lnSpc>
                <a:spcPct val="100000"/>
              </a:lnSpc>
              <a:spcBef>
                <a:spcPts val="575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600" spc="-10" dirty="0">
                <a:latin typeface="Calibri"/>
                <a:cs typeface="Calibri"/>
              </a:rPr>
              <a:t>To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make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one’s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way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(pike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along)</a:t>
            </a:r>
            <a:endParaRPr sz="2600">
              <a:latin typeface="Calibri"/>
              <a:cs typeface="Calibri"/>
            </a:endParaRPr>
          </a:p>
          <a:p>
            <a:pPr marL="377825" marR="5080" indent="-365760">
              <a:lnSpc>
                <a:spcPct val="97700"/>
              </a:lnSpc>
              <a:spcBef>
                <a:spcPts val="650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600" spc="-10" dirty="0">
                <a:latin typeface="Calibri"/>
                <a:cs typeface="Calibri"/>
              </a:rPr>
              <a:t>In </a:t>
            </a:r>
            <a:r>
              <a:rPr sz="2600" spc="-20" dirty="0">
                <a:latin typeface="Calibri"/>
                <a:cs typeface="Calibri"/>
              </a:rPr>
              <a:t>Australian English, </a:t>
            </a:r>
            <a:r>
              <a:rPr sz="2600" spc="-15" dirty="0">
                <a:latin typeface="Calibri"/>
                <a:cs typeface="Calibri"/>
              </a:rPr>
              <a:t>pike </a:t>
            </a:r>
            <a:r>
              <a:rPr sz="2600" spc="-20" dirty="0">
                <a:latin typeface="Calibri"/>
                <a:cs typeface="Calibri"/>
              </a:rPr>
              <a:t>means </a:t>
            </a:r>
            <a:r>
              <a:rPr sz="2600" spc="-10" dirty="0">
                <a:latin typeface="Calibri"/>
                <a:cs typeface="Calibri"/>
              </a:rPr>
              <a:t>to </a:t>
            </a:r>
            <a:r>
              <a:rPr sz="2600" spc="-15" dirty="0">
                <a:latin typeface="Calibri"/>
                <a:cs typeface="Calibri"/>
              </a:rPr>
              <a:t>pull out from </a:t>
            </a:r>
            <a:r>
              <a:rPr sz="2600" spc="-20" dirty="0">
                <a:latin typeface="Calibri"/>
                <a:cs typeface="Calibri"/>
              </a:rPr>
              <a:t>doing 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something: </a:t>
            </a:r>
            <a:r>
              <a:rPr sz="2600" dirty="0">
                <a:latin typeface="Calibri"/>
                <a:cs typeface="Calibri"/>
              </a:rPr>
              <a:t>I </a:t>
            </a:r>
            <a:r>
              <a:rPr sz="2600" spc="-20" dirty="0">
                <a:latin typeface="Calibri"/>
                <a:cs typeface="Calibri"/>
              </a:rPr>
              <a:t>reckon </a:t>
            </a:r>
            <a:r>
              <a:rPr sz="2600" spc="-15" dirty="0">
                <a:latin typeface="Calibri"/>
                <a:cs typeface="Calibri"/>
              </a:rPr>
              <a:t>he </a:t>
            </a:r>
            <a:r>
              <a:rPr sz="2600" spc="-20" dirty="0">
                <a:latin typeface="Calibri"/>
                <a:cs typeface="Calibri"/>
              </a:rPr>
              <a:t>could </a:t>
            </a:r>
            <a:r>
              <a:rPr sz="2600" spc="-15" dirty="0">
                <a:latin typeface="Calibri"/>
                <a:cs typeface="Calibri"/>
              </a:rPr>
              <a:t>have </a:t>
            </a:r>
            <a:r>
              <a:rPr sz="2600" spc="-20" dirty="0">
                <a:latin typeface="Calibri"/>
                <a:cs typeface="Calibri"/>
              </a:rPr>
              <a:t>climbed </a:t>
            </a:r>
            <a:r>
              <a:rPr sz="2600" spc="-15" dirty="0">
                <a:latin typeface="Calibri"/>
                <a:cs typeface="Calibri"/>
              </a:rPr>
              <a:t>that cliff, </a:t>
            </a:r>
            <a:r>
              <a:rPr sz="2600" spc="-20" dirty="0">
                <a:latin typeface="Calibri"/>
                <a:cs typeface="Calibri"/>
              </a:rPr>
              <a:t>but </a:t>
            </a:r>
            <a:r>
              <a:rPr sz="2600" spc="-15" dirty="0">
                <a:latin typeface="Calibri"/>
                <a:cs typeface="Calibri"/>
              </a:rPr>
              <a:t>he </a:t>
            </a:r>
            <a:r>
              <a:rPr sz="2600" spc="-57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piked!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360933"/>
            <a:ext cx="8584565" cy="970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100" spc="-10" dirty="0"/>
              <a:t>Improving</a:t>
            </a:r>
            <a:r>
              <a:rPr sz="3100" spc="-15" dirty="0"/>
              <a:t> </a:t>
            </a:r>
            <a:r>
              <a:rPr sz="3100" spc="-5" dirty="0"/>
              <a:t>Word</a:t>
            </a:r>
            <a:r>
              <a:rPr sz="3100" spc="-15" dirty="0"/>
              <a:t> </a:t>
            </a:r>
            <a:r>
              <a:rPr sz="3100" spc="-10" dirty="0"/>
              <a:t>Representations</a:t>
            </a:r>
            <a:r>
              <a:rPr sz="3100" dirty="0"/>
              <a:t> </a:t>
            </a:r>
            <a:r>
              <a:rPr sz="3100" spc="-5" dirty="0"/>
              <a:t>Via</a:t>
            </a:r>
            <a:r>
              <a:rPr sz="3100" dirty="0"/>
              <a:t> </a:t>
            </a:r>
            <a:r>
              <a:rPr sz="3100" spc="-5" dirty="0"/>
              <a:t>Global </a:t>
            </a:r>
            <a:r>
              <a:rPr sz="3100" spc="-10" dirty="0"/>
              <a:t>Context </a:t>
            </a:r>
            <a:r>
              <a:rPr sz="3100" spc="-685" dirty="0"/>
              <a:t> </a:t>
            </a:r>
            <a:r>
              <a:rPr sz="3100" spc="-5" dirty="0"/>
              <a:t>And</a:t>
            </a:r>
            <a:r>
              <a:rPr sz="3100" spc="-20" dirty="0"/>
              <a:t> </a:t>
            </a:r>
            <a:r>
              <a:rPr sz="3100" spc="-10" dirty="0"/>
              <a:t>Multiple Word</a:t>
            </a:r>
            <a:r>
              <a:rPr sz="3100" spc="-15" dirty="0"/>
              <a:t> </a:t>
            </a:r>
            <a:r>
              <a:rPr sz="3100" spc="-10" dirty="0"/>
              <a:t>Prototypes</a:t>
            </a:r>
            <a:r>
              <a:rPr sz="3100" spc="-5" dirty="0"/>
              <a:t> </a:t>
            </a:r>
            <a:r>
              <a:rPr sz="3100" spc="-10" dirty="0"/>
              <a:t>(Huang </a:t>
            </a:r>
            <a:r>
              <a:rPr sz="3100" dirty="0"/>
              <a:t>et</a:t>
            </a:r>
            <a:r>
              <a:rPr sz="3100" spc="-15" dirty="0"/>
              <a:t> </a:t>
            </a:r>
            <a:r>
              <a:rPr sz="3100" spc="-5" dirty="0"/>
              <a:t>al.</a:t>
            </a:r>
            <a:r>
              <a:rPr sz="3100" spc="-10" dirty="0"/>
              <a:t> </a:t>
            </a:r>
            <a:r>
              <a:rPr sz="3100" spc="-5" dirty="0"/>
              <a:t>2012)</a:t>
            </a:r>
            <a:endParaRPr sz="3100"/>
          </a:p>
        </p:txBody>
      </p:sp>
      <p:sp>
        <p:nvSpPr>
          <p:cNvPr id="3" name="object 3"/>
          <p:cNvSpPr txBox="1"/>
          <p:nvPr/>
        </p:nvSpPr>
        <p:spPr>
          <a:xfrm>
            <a:off x="550418" y="1402841"/>
            <a:ext cx="8471535" cy="81534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390525" marR="17780" indent="-365760">
              <a:lnSpc>
                <a:spcPts val="3100"/>
              </a:lnSpc>
              <a:spcBef>
                <a:spcPts val="215"/>
              </a:spcBef>
              <a:buClr>
                <a:srgbClr val="CC0000"/>
              </a:buClr>
              <a:buFont typeface="Times New Roman"/>
              <a:buChar char="•"/>
              <a:tabLst>
                <a:tab pos="390525" algn="l"/>
                <a:tab pos="391160" algn="l"/>
              </a:tabLst>
            </a:pPr>
            <a:r>
              <a:rPr sz="2600" spc="-15" dirty="0">
                <a:latin typeface="Calibri"/>
                <a:cs typeface="Calibri"/>
              </a:rPr>
              <a:t>Idea: </a:t>
            </a:r>
            <a:r>
              <a:rPr sz="2600" spc="-20" dirty="0">
                <a:latin typeface="Calibri"/>
                <a:cs typeface="Calibri"/>
              </a:rPr>
              <a:t>Cluster word </a:t>
            </a:r>
            <a:r>
              <a:rPr sz="2600" spc="-25" dirty="0">
                <a:latin typeface="Calibri"/>
                <a:cs typeface="Calibri"/>
              </a:rPr>
              <a:t>windows </a:t>
            </a:r>
            <a:r>
              <a:rPr sz="2600" spc="-20" dirty="0">
                <a:latin typeface="Calibri"/>
                <a:cs typeface="Calibri"/>
              </a:rPr>
              <a:t>around words, </a:t>
            </a:r>
            <a:r>
              <a:rPr sz="2600" spc="-15" dirty="0">
                <a:latin typeface="Calibri"/>
                <a:cs typeface="Calibri"/>
              </a:rPr>
              <a:t>retrain </a:t>
            </a:r>
            <a:r>
              <a:rPr sz="2600" spc="-20" dirty="0">
                <a:latin typeface="Calibri"/>
                <a:cs typeface="Calibri"/>
              </a:rPr>
              <a:t>with </a:t>
            </a:r>
            <a:r>
              <a:rPr sz="2600" spc="-15" dirty="0">
                <a:latin typeface="Calibri"/>
                <a:cs typeface="Calibri"/>
              </a:rPr>
              <a:t>each </a:t>
            </a:r>
            <a:r>
              <a:rPr sz="2600" spc="-57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word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assigned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to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multiple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different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clusters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bank</a:t>
            </a:r>
            <a:r>
              <a:rPr sz="2550" spc="-22" baseline="-16339" dirty="0">
                <a:latin typeface="Calibri"/>
                <a:cs typeface="Calibri"/>
              </a:rPr>
              <a:t>1</a:t>
            </a:r>
            <a:r>
              <a:rPr sz="2600" spc="-15" dirty="0">
                <a:latin typeface="Calibri"/>
                <a:cs typeface="Calibri"/>
              </a:rPr>
              <a:t>,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bank</a:t>
            </a:r>
            <a:r>
              <a:rPr sz="2550" spc="-22" baseline="-16339" dirty="0">
                <a:latin typeface="Calibri"/>
                <a:cs typeface="Calibri"/>
              </a:rPr>
              <a:t>2</a:t>
            </a:r>
            <a:r>
              <a:rPr sz="2600" spc="-15" dirty="0">
                <a:latin typeface="Calibri"/>
                <a:cs typeface="Calibri"/>
              </a:rPr>
              <a:t>,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etc</a:t>
            </a:r>
            <a:endParaRPr sz="26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3850" y="2401061"/>
            <a:ext cx="9582912" cy="463296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49</a:t>
            </a:fld>
            <a:endParaRPr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Linear</a:t>
            </a:r>
            <a:r>
              <a:rPr spc="5" dirty="0"/>
              <a:t> </a:t>
            </a:r>
            <a:r>
              <a:rPr dirty="0"/>
              <a:t>Algebraic</a:t>
            </a:r>
            <a:r>
              <a:rPr spc="5" dirty="0"/>
              <a:t> </a:t>
            </a:r>
            <a:r>
              <a:rPr dirty="0"/>
              <a:t>Structure</a:t>
            </a:r>
            <a:r>
              <a:rPr spc="5" dirty="0"/>
              <a:t> of Word</a:t>
            </a:r>
            <a:r>
              <a:rPr dirty="0"/>
              <a:t> Senses,</a:t>
            </a:r>
            <a:r>
              <a:rPr spc="5" dirty="0"/>
              <a:t> with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3118" y="932434"/>
            <a:ext cx="455993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b="1" dirty="0">
                <a:solidFill>
                  <a:srgbClr val="3A87FF"/>
                </a:solidFill>
                <a:latin typeface="Calibri"/>
                <a:cs typeface="Calibri"/>
              </a:rPr>
              <a:t>Applications</a:t>
            </a:r>
            <a:r>
              <a:rPr sz="3400" b="1" spc="-20" dirty="0">
                <a:solidFill>
                  <a:srgbClr val="3A87FF"/>
                </a:solidFill>
                <a:latin typeface="Calibri"/>
                <a:cs typeface="Calibri"/>
              </a:rPr>
              <a:t> </a:t>
            </a:r>
            <a:r>
              <a:rPr sz="3400" b="1" dirty="0">
                <a:solidFill>
                  <a:srgbClr val="3A87FF"/>
                </a:solidFill>
                <a:latin typeface="Calibri"/>
                <a:cs typeface="Calibri"/>
              </a:rPr>
              <a:t>to Polysemy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87145" y="1097534"/>
            <a:ext cx="3275329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spc="10" dirty="0">
                <a:solidFill>
                  <a:srgbClr val="177245"/>
                </a:solidFill>
                <a:latin typeface="Calibri"/>
                <a:cs typeface="Calibri"/>
              </a:rPr>
              <a:t>(Arora,</a:t>
            </a:r>
            <a:r>
              <a:rPr sz="2100" b="1" spc="-5" dirty="0">
                <a:solidFill>
                  <a:srgbClr val="177245"/>
                </a:solidFill>
                <a:latin typeface="Calibri"/>
                <a:cs typeface="Calibri"/>
              </a:rPr>
              <a:t> </a:t>
            </a:r>
            <a:r>
              <a:rPr sz="2100" b="1" spc="10" dirty="0">
                <a:solidFill>
                  <a:srgbClr val="177245"/>
                </a:solidFill>
                <a:latin typeface="Calibri"/>
                <a:cs typeface="Calibri"/>
              </a:rPr>
              <a:t>…,</a:t>
            </a:r>
            <a:r>
              <a:rPr sz="2100" b="1" dirty="0">
                <a:solidFill>
                  <a:srgbClr val="177245"/>
                </a:solidFill>
                <a:latin typeface="Calibri"/>
                <a:cs typeface="Calibri"/>
              </a:rPr>
              <a:t> </a:t>
            </a:r>
            <a:r>
              <a:rPr sz="2100" b="1" spc="15" dirty="0">
                <a:solidFill>
                  <a:srgbClr val="177245"/>
                </a:solidFill>
                <a:latin typeface="Calibri"/>
                <a:cs typeface="Calibri"/>
              </a:rPr>
              <a:t>Ma,</a:t>
            </a:r>
            <a:r>
              <a:rPr sz="2100" b="1" dirty="0">
                <a:solidFill>
                  <a:srgbClr val="177245"/>
                </a:solidFill>
                <a:latin typeface="Calibri"/>
                <a:cs typeface="Calibri"/>
              </a:rPr>
              <a:t> </a:t>
            </a:r>
            <a:r>
              <a:rPr sz="2100" b="1" spc="10" dirty="0">
                <a:solidFill>
                  <a:srgbClr val="177245"/>
                </a:solidFill>
                <a:latin typeface="Calibri"/>
                <a:cs typeface="Calibri"/>
              </a:rPr>
              <a:t>…,</a:t>
            </a:r>
            <a:r>
              <a:rPr sz="2100" b="1" spc="-5" dirty="0">
                <a:solidFill>
                  <a:srgbClr val="177245"/>
                </a:solidFill>
                <a:latin typeface="Calibri"/>
                <a:cs typeface="Calibri"/>
              </a:rPr>
              <a:t> </a:t>
            </a:r>
            <a:r>
              <a:rPr sz="2100" b="1" spc="10" dirty="0">
                <a:solidFill>
                  <a:srgbClr val="177245"/>
                </a:solidFill>
                <a:latin typeface="Calibri"/>
                <a:cs typeface="Calibri"/>
              </a:rPr>
              <a:t>TACL 2018)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63118" y="1529334"/>
            <a:ext cx="8655685" cy="73279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77825" marR="5080" indent="-365760">
              <a:lnSpc>
                <a:spcPct val="101699"/>
              </a:lnSpc>
              <a:spcBef>
                <a:spcPts val="50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300" spc="15" dirty="0">
                <a:latin typeface="Calibri"/>
                <a:cs typeface="Calibri"/>
              </a:rPr>
              <a:t>Different</a:t>
            </a:r>
            <a:r>
              <a:rPr sz="2300" spc="25" dirty="0">
                <a:latin typeface="Calibri"/>
                <a:cs typeface="Calibri"/>
              </a:rPr>
              <a:t> </a:t>
            </a:r>
            <a:r>
              <a:rPr sz="2300" spc="15" dirty="0">
                <a:latin typeface="Calibri"/>
                <a:cs typeface="Calibri"/>
              </a:rPr>
              <a:t>senses</a:t>
            </a:r>
            <a:r>
              <a:rPr sz="2300" spc="25" dirty="0">
                <a:latin typeface="Calibri"/>
                <a:cs typeface="Calibri"/>
              </a:rPr>
              <a:t> </a:t>
            </a:r>
            <a:r>
              <a:rPr sz="2300" spc="10" dirty="0">
                <a:latin typeface="Calibri"/>
                <a:cs typeface="Calibri"/>
              </a:rPr>
              <a:t>of</a:t>
            </a:r>
            <a:r>
              <a:rPr sz="2300" spc="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</a:t>
            </a:r>
            <a:r>
              <a:rPr sz="2300" spc="30" dirty="0">
                <a:latin typeface="Calibri"/>
                <a:cs typeface="Calibri"/>
              </a:rPr>
              <a:t> </a:t>
            </a:r>
            <a:r>
              <a:rPr sz="2300" spc="15" dirty="0">
                <a:latin typeface="Calibri"/>
                <a:cs typeface="Calibri"/>
              </a:rPr>
              <a:t>word</a:t>
            </a:r>
            <a:r>
              <a:rPr sz="2300" spc="25" dirty="0">
                <a:latin typeface="Calibri"/>
                <a:cs typeface="Calibri"/>
              </a:rPr>
              <a:t> </a:t>
            </a:r>
            <a:r>
              <a:rPr sz="2300" spc="10" dirty="0">
                <a:latin typeface="Calibri"/>
                <a:cs typeface="Calibri"/>
              </a:rPr>
              <a:t>reside</a:t>
            </a:r>
            <a:r>
              <a:rPr sz="2300" spc="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in</a:t>
            </a:r>
            <a:r>
              <a:rPr sz="2300" spc="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</a:t>
            </a:r>
            <a:r>
              <a:rPr sz="2300" spc="25" dirty="0">
                <a:latin typeface="Calibri"/>
                <a:cs typeface="Calibri"/>
              </a:rPr>
              <a:t> </a:t>
            </a:r>
            <a:r>
              <a:rPr sz="2300" spc="10" dirty="0">
                <a:latin typeface="Calibri"/>
                <a:cs typeface="Calibri"/>
              </a:rPr>
              <a:t>linear</a:t>
            </a:r>
            <a:r>
              <a:rPr sz="2300" spc="15" dirty="0">
                <a:latin typeface="Calibri"/>
                <a:cs typeface="Calibri"/>
              </a:rPr>
              <a:t> superposition</a:t>
            </a:r>
            <a:r>
              <a:rPr sz="2300" spc="30" dirty="0">
                <a:latin typeface="Calibri"/>
                <a:cs typeface="Calibri"/>
              </a:rPr>
              <a:t> </a:t>
            </a:r>
            <a:r>
              <a:rPr sz="2300" spc="15" dirty="0">
                <a:latin typeface="Calibri"/>
                <a:cs typeface="Calibri"/>
              </a:rPr>
              <a:t>(weighted </a:t>
            </a:r>
            <a:r>
              <a:rPr sz="2300" spc="-505" dirty="0">
                <a:latin typeface="Calibri"/>
                <a:cs typeface="Calibri"/>
              </a:rPr>
              <a:t> </a:t>
            </a:r>
            <a:r>
              <a:rPr sz="2300" spc="15" dirty="0">
                <a:latin typeface="Calibri"/>
                <a:cs typeface="Calibri"/>
              </a:rPr>
              <a:t>sum)</a:t>
            </a:r>
            <a:r>
              <a:rPr sz="2300" spc="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in</a:t>
            </a:r>
            <a:r>
              <a:rPr sz="2300" spc="30" dirty="0">
                <a:latin typeface="Calibri"/>
                <a:cs typeface="Calibri"/>
              </a:rPr>
              <a:t> </a:t>
            </a:r>
            <a:r>
              <a:rPr sz="2300" spc="10" dirty="0">
                <a:latin typeface="Calibri"/>
                <a:cs typeface="Calibri"/>
              </a:rPr>
              <a:t>standard</a:t>
            </a:r>
            <a:r>
              <a:rPr sz="2300" spc="30" dirty="0">
                <a:latin typeface="Calibri"/>
                <a:cs typeface="Calibri"/>
              </a:rPr>
              <a:t> </a:t>
            </a:r>
            <a:r>
              <a:rPr sz="2300" spc="15" dirty="0">
                <a:latin typeface="Calibri"/>
                <a:cs typeface="Calibri"/>
              </a:rPr>
              <a:t>word</a:t>
            </a:r>
            <a:r>
              <a:rPr sz="2300" spc="30" dirty="0">
                <a:latin typeface="Calibri"/>
                <a:cs typeface="Calibri"/>
              </a:rPr>
              <a:t> </a:t>
            </a:r>
            <a:r>
              <a:rPr sz="2300" spc="15" dirty="0">
                <a:latin typeface="Calibri"/>
                <a:cs typeface="Calibri"/>
              </a:rPr>
              <a:t>embeddings</a:t>
            </a:r>
            <a:r>
              <a:rPr sz="2300" spc="30" dirty="0">
                <a:latin typeface="Calibri"/>
                <a:cs typeface="Calibri"/>
              </a:rPr>
              <a:t> </a:t>
            </a:r>
            <a:r>
              <a:rPr sz="2300" spc="5" dirty="0">
                <a:latin typeface="Calibri"/>
                <a:cs typeface="Calibri"/>
              </a:rPr>
              <a:t>like</a:t>
            </a:r>
            <a:r>
              <a:rPr sz="2300" spc="40" dirty="0">
                <a:latin typeface="Calibri"/>
                <a:cs typeface="Calibri"/>
              </a:rPr>
              <a:t> </a:t>
            </a:r>
            <a:r>
              <a:rPr sz="2300" spc="15" dirty="0">
                <a:latin typeface="Calibri"/>
                <a:cs typeface="Calibri"/>
              </a:rPr>
              <a:t>word2vec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3118" y="2343150"/>
            <a:ext cx="128270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dirty="0">
                <a:solidFill>
                  <a:srgbClr val="CC0000"/>
                </a:solidFill>
                <a:latin typeface="Times New Roman"/>
                <a:cs typeface="Times New Roman"/>
              </a:rPr>
              <a:t>•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3477" y="2440685"/>
            <a:ext cx="5185410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450" spc="37" baseline="18115" dirty="0">
                <a:solidFill>
                  <a:schemeClr val="bg1"/>
                </a:solidFill>
                <a:latin typeface="Cambria Math"/>
                <a:cs typeface="Cambria Math"/>
              </a:rPr>
              <a:t>𝑣</a:t>
            </a:r>
            <a:r>
              <a:rPr sz="2300" spc="25" dirty="0">
                <a:solidFill>
                  <a:schemeClr val="bg1"/>
                </a:solidFill>
                <a:latin typeface="Cambria Math"/>
                <a:cs typeface="Cambria Math"/>
              </a:rPr>
              <a:t>p</a:t>
            </a:r>
            <a:r>
              <a:rPr sz="2300" spc="10" dirty="0">
                <a:solidFill>
                  <a:schemeClr val="bg1"/>
                </a:solidFill>
                <a:latin typeface="Cambria Math"/>
                <a:cs typeface="Cambria Math"/>
              </a:rPr>
              <a:t>i</a:t>
            </a:r>
            <a:r>
              <a:rPr sz="2300" spc="-20" dirty="0">
                <a:solidFill>
                  <a:schemeClr val="bg1"/>
                </a:solidFill>
                <a:latin typeface="Cambria Math"/>
                <a:cs typeface="Cambria Math"/>
              </a:rPr>
              <a:t>k</a:t>
            </a:r>
            <a:r>
              <a:rPr sz="2300" dirty="0">
                <a:solidFill>
                  <a:schemeClr val="bg1"/>
                </a:solidFill>
                <a:latin typeface="Cambria Math"/>
                <a:cs typeface="Cambria Math"/>
              </a:rPr>
              <a:t>e </a:t>
            </a:r>
            <a:r>
              <a:rPr sz="2300" spc="-240" dirty="0">
                <a:solidFill>
                  <a:schemeClr val="bg1"/>
                </a:solidFill>
                <a:latin typeface="Cambria Math"/>
                <a:cs typeface="Cambria Math"/>
              </a:rPr>
              <a:t> </a:t>
            </a:r>
            <a:r>
              <a:rPr sz="3450" baseline="18115" dirty="0">
                <a:solidFill>
                  <a:schemeClr val="bg1"/>
                </a:solidFill>
                <a:latin typeface="Cambria Math"/>
                <a:cs typeface="Cambria Math"/>
              </a:rPr>
              <a:t>=</a:t>
            </a:r>
            <a:r>
              <a:rPr sz="3450" spc="254" baseline="18115" dirty="0">
                <a:solidFill>
                  <a:schemeClr val="bg1"/>
                </a:solidFill>
                <a:latin typeface="Cambria Math"/>
                <a:cs typeface="Cambria Math"/>
              </a:rPr>
              <a:t> </a:t>
            </a:r>
            <a:r>
              <a:rPr sz="3450" spc="-37" baseline="18115" dirty="0">
                <a:solidFill>
                  <a:schemeClr val="bg1"/>
                </a:solidFill>
                <a:latin typeface="Cambria Math"/>
                <a:cs typeface="Cambria Math"/>
              </a:rPr>
              <a:t>𝛼</a:t>
            </a:r>
            <a:r>
              <a:rPr sz="2550" spc="562" baseline="9803" dirty="0">
                <a:solidFill>
                  <a:schemeClr val="bg1"/>
                </a:solidFill>
                <a:latin typeface="Cambria Math"/>
                <a:cs typeface="Cambria Math"/>
              </a:rPr>
              <a:t>(</a:t>
            </a:r>
            <a:r>
              <a:rPr sz="3450" spc="37" baseline="18115" dirty="0">
                <a:solidFill>
                  <a:schemeClr val="bg1"/>
                </a:solidFill>
                <a:latin typeface="Cambria Math"/>
                <a:cs typeface="Cambria Math"/>
              </a:rPr>
              <a:t>𝑣</a:t>
            </a:r>
            <a:r>
              <a:rPr sz="2300" spc="25" dirty="0">
                <a:solidFill>
                  <a:schemeClr val="bg1"/>
                </a:solidFill>
                <a:latin typeface="Cambria Math"/>
                <a:cs typeface="Cambria Math"/>
              </a:rPr>
              <a:t>p</a:t>
            </a:r>
            <a:r>
              <a:rPr sz="2300" spc="10" dirty="0">
                <a:solidFill>
                  <a:schemeClr val="bg1"/>
                </a:solidFill>
                <a:latin typeface="Cambria Math"/>
                <a:cs typeface="Cambria Math"/>
              </a:rPr>
              <a:t>i</a:t>
            </a:r>
            <a:r>
              <a:rPr sz="2300" spc="-20" dirty="0">
                <a:solidFill>
                  <a:schemeClr val="bg1"/>
                </a:solidFill>
                <a:latin typeface="Cambria Math"/>
                <a:cs typeface="Cambria Math"/>
              </a:rPr>
              <a:t>k</a:t>
            </a:r>
            <a:r>
              <a:rPr sz="2300" spc="25" dirty="0">
                <a:solidFill>
                  <a:schemeClr val="bg1"/>
                </a:solidFill>
                <a:latin typeface="Cambria Math"/>
                <a:cs typeface="Cambria Math"/>
              </a:rPr>
              <a:t>e</a:t>
            </a:r>
            <a:r>
              <a:rPr sz="2100" spc="375" baseline="-13888" dirty="0">
                <a:solidFill>
                  <a:schemeClr val="bg1"/>
                </a:solidFill>
                <a:latin typeface="Cambria Math"/>
                <a:cs typeface="Cambria Math"/>
              </a:rPr>
              <a:t>)</a:t>
            </a:r>
            <a:r>
              <a:rPr sz="2100" baseline="-13888" dirty="0">
                <a:solidFill>
                  <a:schemeClr val="bg1"/>
                </a:solidFill>
                <a:latin typeface="Cambria Math"/>
                <a:cs typeface="Cambria Math"/>
              </a:rPr>
              <a:t> </a:t>
            </a:r>
            <a:r>
              <a:rPr sz="2100" spc="120" baseline="-13888" dirty="0">
                <a:solidFill>
                  <a:schemeClr val="bg1"/>
                </a:solidFill>
                <a:latin typeface="Cambria Math"/>
                <a:cs typeface="Cambria Math"/>
              </a:rPr>
              <a:t> </a:t>
            </a:r>
            <a:r>
              <a:rPr sz="3450" baseline="18115" dirty="0">
                <a:solidFill>
                  <a:schemeClr val="bg1"/>
                </a:solidFill>
                <a:latin typeface="Cambria Math"/>
                <a:cs typeface="Cambria Math"/>
              </a:rPr>
              <a:t>+</a:t>
            </a:r>
            <a:r>
              <a:rPr sz="3450" spc="60" baseline="18115" dirty="0">
                <a:solidFill>
                  <a:schemeClr val="bg1"/>
                </a:solidFill>
                <a:latin typeface="Cambria Math"/>
                <a:cs typeface="Cambria Math"/>
              </a:rPr>
              <a:t> </a:t>
            </a:r>
            <a:r>
              <a:rPr sz="3450" spc="44" baseline="18115" dirty="0">
                <a:solidFill>
                  <a:schemeClr val="bg1"/>
                </a:solidFill>
                <a:latin typeface="Cambria Math"/>
                <a:cs typeface="Cambria Math"/>
              </a:rPr>
              <a:t>𝛼</a:t>
            </a:r>
            <a:r>
              <a:rPr sz="2550" spc="-284" baseline="9803" dirty="0">
                <a:solidFill>
                  <a:schemeClr val="bg1"/>
                </a:solidFill>
                <a:latin typeface="Cambria Math"/>
                <a:cs typeface="Cambria Math"/>
              </a:rPr>
              <a:t>+</a:t>
            </a:r>
            <a:r>
              <a:rPr sz="3450" spc="37" baseline="18115" dirty="0">
                <a:solidFill>
                  <a:schemeClr val="bg1"/>
                </a:solidFill>
                <a:latin typeface="Cambria Math"/>
                <a:cs typeface="Cambria Math"/>
              </a:rPr>
              <a:t>𝑣</a:t>
            </a:r>
            <a:r>
              <a:rPr sz="2300" spc="25" dirty="0">
                <a:solidFill>
                  <a:schemeClr val="bg1"/>
                </a:solidFill>
                <a:latin typeface="Cambria Math"/>
                <a:cs typeface="Cambria Math"/>
              </a:rPr>
              <a:t>p</a:t>
            </a:r>
            <a:r>
              <a:rPr sz="2300" spc="10" dirty="0">
                <a:solidFill>
                  <a:schemeClr val="bg1"/>
                </a:solidFill>
                <a:latin typeface="Cambria Math"/>
                <a:cs typeface="Cambria Math"/>
              </a:rPr>
              <a:t>i</a:t>
            </a:r>
            <a:r>
              <a:rPr sz="2300" spc="-20" dirty="0">
                <a:solidFill>
                  <a:schemeClr val="bg1"/>
                </a:solidFill>
                <a:latin typeface="Cambria Math"/>
                <a:cs typeface="Cambria Math"/>
              </a:rPr>
              <a:t>k</a:t>
            </a:r>
            <a:r>
              <a:rPr sz="2300" spc="25" dirty="0">
                <a:solidFill>
                  <a:schemeClr val="bg1"/>
                </a:solidFill>
                <a:latin typeface="Cambria Math"/>
                <a:cs typeface="Cambria Math"/>
              </a:rPr>
              <a:t>e</a:t>
            </a:r>
            <a:r>
              <a:rPr sz="2100" spc="82" baseline="-13888" dirty="0">
                <a:solidFill>
                  <a:schemeClr val="bg1"/>
                </a:solidFill>
                <a:latin typeface="Cambria Math"/>
                <a:cs typeface="Cambria Math"/>
              </a:rPr>
              <a:t>2</a:t>
            </a:r>
            <a:r>
              <a:rPr sz="2100" spc="-202" baseline="-13888" dirty="0">
                <a:solidFill>
                  <a:schemeClr val="bg1"/>
                </a:solidFill>
                <a:latin typeface="Cambria Math"/>
                <a:cs typeface="Cambria Math"/>
              </a:rPr>
              <a:t> </a:t>
            </a:r>
            <a:r>
              <a:rPr sz="3450" baseline="18115" dirty="0">
                <a:solidFill>
                  <a:schemeClr val="bg1"/>
                </a:solidFill>
                <a:latin typeface="Calibri"/>
                <a:cs typeface="Calibri"/>
              </a:rPr>
              <a:t>+</a:t>
            </a:r>
            <a:r>
              <a:rPr sz="3450" spc="60" baseline="1811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3450" spc="44" baseline="18115" dirty="0">
                <a:solidFill>
                  <a:schemeClr val="bg1"/>
                </a:solidFill>
                <a:latin typeface="Cambria Math"/>
                <a:cs typeface="Cambria Math"/>
              </a:rPr>
              <a:t>𝛼</a:t>
            </a:r>
            <a:r>
              <a:rPr sz="2550" spc="209" baseline="9803" dirty="0">
                <a:solidFill>
                  <a:schemeClr val="bg1"/>
                </a:solidFill>
                <a:latin typeface="Cambria Math"/>
                <a:cs typeface="Cambria Math"/>
              </a:rPr>
              <a:t>3</a:t>
            </a:r>
            <a:r>
              <a:rPr sz="3450" spc="37" baseline="18115" dirty="0">
                <a:solidFill>
                  <a:schemeClr val="bg1"/>
                </a:solidFill>
                <a:latin typeface="Cambria Math"/>
                <a:cs typeface="Cambria Math"/>
              </a:rPr>
              <a:t>𝑣</a:t>
            </a:r>
            <a:r>
              <a:rPr sz="2300" spc="25" dirty="0">
                <a:solidFill>
                  <a:schemeClr val="bg1"/>
                </a:solidFill>
                <a:latin typeface="Cambria Math"/>
                <a:cs typeface="Cambria Math"/>
              </a:rPr>
              <a:t>p</a:t>
            </a:r>
            <a:r>
              <a:rPr sz="2300" spc="10" dirty="0">
                <a:solidFill>
                  <a:schemeClr val="bg1"/>
                </a:solidFill>
                <a:latin typeface="Cambria Math"/>
                <a:cs typeface="Cambria Math"/>
              </a:rPr>
              <a:t>i</a:t>
            </a:r>
            <a:r>
              <a:rPr sz="2300" spc="-20" dirty="0">
                <a:solidFill>
                  <a:schemeClr val="bg1"/>
                </a:solidFill>
                <a:latin typeface="Cambria Math"/>
                <a:cs typeface="Cambria Math"/>
              </a:rPr>
              <a:t>k</a:t>
            </a:r>
            <a:r>
              <a:rPr sz="2300" spc="25" dirty="0">
                <a:solidFill>
                  <a:schemeClr val="bg1"/>
                </a:solidFill>
                <a:latin typeface="Cambria Math"/>
                <a:cs typeface="Cambria Math"/>
              </a:rPr>
              <a:t>e</a:t>
            </a:r>
            <a:r>
              <a:rPr sz="2100" spc="82" baseline="-13888" dirty="0">
                <a:solidFill>
                  <a:schemeClr val="bg1"/>
                </a:solidFill>
                <a:latin typeface="Cambria Math"/>
                <a:cs typeface="Cambria Math"/>
              </a:rPr>
              <a:t>3</a:t>
            </a:r>
            <a:endParaRPr sz="2100" baseline="-13888" dirty="0">
              <a:solidFill>
                <a:schemeClr val="bg1"/>
              </a:solidFill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7718" y="2977134"/>
            <a:ext cx="1944370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3860" indent="-365760">
              <a:lnSpc>
                <a:spcPct val="100000"/>
              </a:lnSpc>
              <a:spcBef>
                <a:spcPts val="100"/>
              </a:spcBef>
              <a:buClr>
                <a:srgbClr val="CC0000"/>
              </a:buClr>
              <a:buFont typeface="Times New Roman"/>
              <a:buChar char="•"/>
              <a:tabLst>
                <a:tab pos="403225" algn="l"/>
                <a:tab pos="403860" algn="l"/>
              </a:tabLst>
            </a:pPr>
            <a:r>
              <a:rPr sz="2300" spc="15" dirty="0">
                <a:solidFill>
                  <a:schemeClr val="bg1"/>
                </a:solidFill>
                <a:latin typeface="Calibri"/>
                <a:cs typeface="Calibri"/>
              </a:rPr>
              <a:t>Where</a:t>
            </a:r>
            <a:r>
              <a:rPr sz="2300" spc="1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300" spc="125" dirty="0">
                <a:solidFill>
                  <a:schemeClr val="bg1"/>
                </a:solidFill>
                <a:latin typeface="Cambria Math"/>
                <a:cs typeface="Cambria Math"/>
              </a:rPr>
              <a:t>𝛼</a:t>
            </a:r>
            <a:r>
              <a:rPr sz="2550" spc="187" baseline="-16339" dirty="0">
                <a:solidFill>
                  <a:schemeClr val="bg1"/>
                </a:solidFill>
                <a:latin typeface="Cambria Math"/>
                <a:cs typeface="Cambria Math"/>
              </a:rPr>
              <a:t>(</a:t>
            </a:r>
            <a:r>
              <a:rPr sz="2550" spc="509" baseline="-16339" dirty="0">
                <a:solidFill>
                  <a:schemeClr val="bg1"/>
                </a:solidFill>
                <a:latin typeface="Cambria Math"/>
                <a:cs typeface="Cambria Math"/>
              </a:rPr>
              <a:t> </a:t>
            </a:r>
            <a:r>
              <a:rPr sz="2300" dirty="0">
                <a:solidFill>
                  <a:schemeClr val="bg1"/>
                </a:solidFill>
                <a:latin typeface="Cambria Math"/>
                <a:cs typeface="Cambria Math"/>
              </a:rPr>
              <a:t>=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563118" y="3440430"/>
            <a:ext cx="8763000" cy="125984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378460" indent="-365760">
              <a:lnSpc>
                <a:spcPct val="100000"/>
              </a:lnSpc>
              <a:spcBef>
                <a:spcPts val="745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300" spc="10" dirty="0">
                <a:latin typeface="Calibri"/>
                <a:cs typeface="Calibri"/>
              </a:rPr>
              <a:t>Surprising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spc="10" dirty="0">
                <a:latin typeface="Calibri"/>
                <a:cs typeface="Calibri"/>
              </a:rPr>
              <a:t>result:</a:t>
            </a:r>
            <a:endParaRPr sz="2300">
              <a:latin typeface="Calibri"/>
              <a:cs typeface="Calibri"/>
            </a:endParaRPr>
          </a:p>
          <a:p>
            <a:pPr marL="743585" marR="5080" lvl="1" indent="-243840">
              <a:lnSpc>
                <a:spcPct val="105200"/>
              </a:lnSpc>
              <a:spcBef>
                <a:spcPts val="505"/>
              </a:spcBef>
              <a:buClr>
                <a:srgbClr val="3A87FF"/>
              </a:buClr>
              <a:buFont typeface="Times New Roman"/>
              <a:buChar char="•"/>
              <a:tabLst>
                <a:tab pos="743585" algn="l"/>
                <a:tab pos="744220" algn="l"/>
              </a:tabLst>
            </a:pPr>
            <a:r>
              <a:rPr sz="2300" spc="15" dirty="0">
                <a:latin typeface="Calibri"/>
                <a:cs typeface="Calibri"/>
              </a:rPr>
              <a:t>Because</a:t>
            </a:r>
            <a:r>
              <a:rPr sz="2300" spc="35" dirty="0">
                <a:latin typeface="Calibri"/>
                <a:cs typeface="Calibri"/>
              </a:rPr>
              <a:t> </a:t>
            </a:r>
            <a:r>
              <a:rPr sz="2300" spc="10" dirty="0">
                <a:latin typeface="Calibri"/>
                <a:cs typeface="Calibri"/>
              </a:rPr>
              <a:t>of</a:t>
            </a:r>
            <a:r>
              <a:rPr sz="2300" spc="25" dirty="0">
                <a:latin typeface="Calibri"/>
                <a:cs typeface="Calibri"/>
              </a:rPr>
              <a:t> </a:t>
            </a:r>
            <a:r>
              <a:rPr sz="2300" spc="10" dirty="0">
                <a:latin typeface="Calibri"/>
                <a:cs typeface="Calibri"/>
              </a:rPr>
              <a:t>ideas</a:t>
            </a:r>
            <a:r>
              <a:rPr sz="2300" spc="30" dirty="0">
                <a:latin typeface="Calibri"/>
                <a:cs typeface="Calibri"/>
              </a:rPr>
              <a:t> </a:t>
            </a:r>
            <a:r>
              <a:rPr sz="2300" spc="10" dirty="0">
                <a:latin typeface="Calibri"/>
                <a:cs typeface="Calibri"/>
              </a:rPr>
              <a:t>from</a:t>
            </a:r>
            <a:r>
              <a:rPr sz="2300" spc="55" dirty="0">
                <a:latin typeface="Calibri"/>
                <a:cs typeface="Calibri"/>
              </a:rPr>
              <a:t> </a:t>
            </a:r>
            <a:r>
              <a:rPr sz="2300" i="1" spc="10" dirty="0">
                <a:latin typeface="Calibri"/>
                <a:cs typeface="Calibri"/>
              </a:rPr>
              <a:t>sparse</a:t>
            </a:r>
            <a:r>
              <a:rPr sz="2300" i="1" spc="35" dirty="0">
                <a:latin typeface="Calibri"/>
                <a:cs typeface="Calibri"/>
              </a:rPr>
              <a:t> </a:t>
            </a:r>
            <a:r>
              <a:rPr sz="2300" i="1" spc="10" dirty="0">
                <a:latin typeface="Calibri"/>
                <a:cs typeface="Calibri"/>
              </a:rPr>
              <a:t>coding</a:t>
            </a:r>
            <a:r>
              <a:rPr sz="2300" i="1" spc="20" dirty="0">
                <a:latin typeface="Calibri"/>
                <a:cs typeface="Calibri"/>
              </a:rPr>
              <a:t> </a:t>
            </a:r>
            <a:r>
              <a:rPr sz="2300" spc="15" dirty="0">
                <a:latin typeface="Calibri"/>
                <a:cs typeface="Calibri"/>
              </a:rPr>
              <a:t>you</a:t>
            </a:r>
            <a:r>
              <a:rPr sz="2300" spc="25" dirty="0">
                <a:latin typeface="Calibri"/>
                <a:cs typeface="Calibri"/>
              </a:rPr>
              <a:t> </a:t>
            </a:r>
            <a:r>
              <a:rPr sz="2300" spc="5" dirty="0">
                <a:latin typeface="Calibri"/>
                <a:cs typeface="Calibri"/>
              </a:rPr>
              <a:t>can</a:t>
            </a:r>
            <a:r>
              <a:rPr sz="2300" spc="30" dirty="0">
                <a:latin typeface="Calibri"/>
                <a:cs typeface="Calibri"/>
              </a:rPr>
              <a:t> </a:t>
            </a:r>
            <a:r>
              <a:rPr sz="2300" spc="10" dirty="0">
                <a:latin typeface="Calibri"/>
                <a:cs typeface="Calibri"/>
              </a:rPr>
              <a:t>actually</a:t>
            </a:r>
            <a:r>
              <a:rPr sz="2300" spc="35" dirty="0">
                <a:latin typeface="Calibri"/>
                <a:cs typeface="Calibri"/>
              </a:rPr>
              <a:t> </a:t>
            </a:r>
            <a:r>
              <a:rPr sz="2300" spc="10" dirty="0">
                <a:latin typeface="Calibri"/>
                <a:cs typeface="Calibri"/>
              </a:rPr>
              <a:t>separate</a:t>
            </a:r>
            <a:r>
              <a:rPr sz="2300" spc="40" dirty="0">
                <a:latin typeface="Calibri"/>
                <a:cs typeface="Calibri"/>
              </a:rPr>
              <a:t> </a:t>
            </a:r>
            <a:r>
              <a:rPr sz="2300" spc="10" dirty="0">
                <a:latin typeface="Calibri"/>
                <a:cs typeface="Calibri"/>
              </a:rPr>
              <a:t>out </a:t>
            </a:r>
            <a:r>
              <a:rPr sz="2300" spc="-505" dirty="0">
                <a:latin typeface="Calibri"/>
                <a:cs typeface="Calibri"/>
              </a:rPr>
              <a:t> </a:t>
            </a:r>
            <a:r>
              <a:rPr sz="2300" spc="10" dirty="0">
                <a:latin typeface="Calibri"/>
                <a:cs typeface="Calibri"/>
              </a:rPr>
              <a:t>the</a:t>
            </a:r>
            <a:r>
              <a:rPr sz="2300" spc="35" dirty="0">
                <a:latin typeface="Calibri"/>
                <a:cs typeface="Calibri"/>
              </a:rPr>
              <a:t> </a:t>
            </a:r>
            <a:r>
              <a:rPr sz="2300" spc="15" dirty="0">
                <a:latin typeface="Calibri"/>
                <a:cs typeface="Calibri"/>
              </a:rPr>
              <a:t>senses</a:t>
            </a:r>
            <a:r>
              <a:rPr sz="2300" spc="30" dirty="0">
                <a:latin typeface="Calibri"/>
                <a:cs typeface="Calibri"/>
              </a:rPr>
              <a:t> </a:t>
            </a:r>
            <a:r>
              <a:rPr sz="2300" spc="10" dirty="0">
                <a:latin typeface="Calibri"/>
                <a:cs typeface="Calibri"/>
              </a:rPr>
              <a:t>(providing</a:t>
            </a:r>
            <a:r>
              <a:rPr sz="2300" spc="35" dirty="0">
                <a:latin typeface="Calibri"/>
                <a:cs typeface="Calibri"/>
              </a:rPr>
              <a:t> </a:t>
            </a:r>
            <a:r>
              <a:rPr sz="2300" spc="10" dirty="0">
                <a:latin typeface="Calibri"/>
                <a:cs typeface="Calibri"/>
              </a:rPr>
              <a:t>they</a:t>
            </a:r>
            <a:r>
              <a:rPr sz="2300" spc="35" dirty="0">
                <a:latin typeface="Calibri"/>
                <a:cs typeface="Calibri"/>
              </a:rPr>
              <a:t> </a:t>
            </a:r>
            <a:r>
              <a:rPr sz="2300" spc="5" dirty="0">
                <a:latin typeface="Calibri"/>
                <a:cs typeface="Calibri"/>
              </a:rPr>
              <a:t>are</a:t>
            </a:r>
            <a:r>
              <a:rPr sz="2300" spc="40" dirty="0">
                <a:latin typeface="Calibri"/>
                <a:cs typeface="Calibri"/>
              </a:rPr>
              <a:t> </a:t>
            </a:r>
            <a:r>
              <a:rPr sz="2300" spc="10" dirty="0">
                <a:latin typeface="Calibri"/>
                <a:cs typeface="Calibri"/>
              </a:rPr>
              <a:t>relatively</a:t>
            </a:r>
            <a:r>
              <a:rPr sz="2300" spc="35" dirty="0">
                <a:latin typeface="Calibri"/>
                <a:cs typeface="Calibri"/>
              </a:rPr>
              <a:t> </a:t>
            </a:r>
            <a:r>
              <a:rPr sz="2300" spc="20" dirty="0">
                <a:latin typeface="Calibri"/>
                <a:cs typeface="Calibri"/>
              </a:rPr>
              <a:t>common)</a:t>
            </a:r>
            <a:endParaRPr sz="2300">
              <a:latin typeface="Calibri"/>
              <a:cs typeface="Calibri"/>
            </a:endParaRPr>
          </a:p>
        </p:txBody>
      </p: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3866" y="4769358"/>
            <a:ext cx="7632192" cy="2773680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50</a:t>
            </a:fld>
            <a:endParaRPr dirty="0"/>
          </a:p>
        </p:txBody>
      </p:sp>
      <p:pic>
        <p:nvPicPr>
          <p:cNvPr id="17" name="Picture 16" descr="Diagram, schematic&#10;&#10;Description automatically generated">
            <a:extLst>
              <a:ext uri="{FF2B5EF4-FFF2-40B4-BE49-F238E27FC236}">
                <a16:creationId xmlns:a16="http://schemas.microsoft.com/office/drawing/2014/main" id="{C21311DA-FF1C-E648-A1B7-F3BC81D4A1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390" y="2428435"/>
            <a:ext cx="5185410" cy="1097397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51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496569"/>
            <a:ext cx="583438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Extrinsic </a:t>
            </a:r>
            <a:r>
              <a:rPr spc="5" dirty="0"/>
              <a:t>word</a:t>
            </a:r>
            <a:r>
              <a:rPr dirty="0"/>
              <a:t> vector</a:t>
            </a:r>
            <a:r>
              <a:rPr spc="5" dirty="0"/>
              <a:t> </a:t>
            </a:r>
            <a:r>
              <a:rPr dirty="0"/>
              <a:t>evaluation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3118" y="1414526"/>
            <a:ext cx="8564880" cy="14522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8460" indent="-365760">
              <a:lnSpc>
                <a:spcPct val="100000"/>
              </a:lnSpc>
              <a:spcBef>
                <a:spcPts val="100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100" spc="10" dirty="0">
                <a:latin typeface="Calibri"/>
                <a:cs typeface="Calibri"/>
              </a:rPr>
              <a:t>Extrinsic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evaluation</a:t>
            </a:r>
            <a:r>
              <a:rPr sz="2100" spc="25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of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word</a:t>
            </a:r>
            <a:r>
              <a:rPr sz="2100" spc="2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vectors: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All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subsequent</a:t>
            </a:r>
            <a:r>
              <a:rPr sz="2100" spc="2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tasks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in</a:t>
            </a:r>
            <a:r>
              <a:rPr sz="2100" spc="2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this</a:t>
            </a:r>
            <a:r>
              <a:rPr sz="2100" spc="2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class</a:t>
            </a:r>
            <a:endParaRPr sz="2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CC0000"/>
              </a:buClr>
              <a:buFont typeface="Times New Roman"/>
              <a:buChar char="•"/>
            </a:pPr>
            <a:endParaRPr sz="3100">
              <a:latin typeface="Calibri"/>
              <a:cs typeface="Calibri"/>
            </a:endParaRPr>
          </a:p>
          <a:p>
            <a:pPr marL="377825" marR="5080" indent="-365760">
              <a:lnSpc>
                <a:spcPts val="2500"/>
              </a:lnSpc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100" spc="10" dirty="0">
                <a:latin typeface="Calibri"/>
                <a:cs typeface="Calibri"/>
              </a:rPr>
              <a:t>One</a:t>
            </a:r>
            <a:r>
              <a:rPr sz="2100" spc="2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example</a:t>
            </a:r>
            <a:r>
              <a:rPr sz="2100" spc="2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where</a:t>
            </a:r>
            <a:r>
              <a:rPr sz="2100" spc="30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good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word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vectors</a:t>
            </a:r>
            <a:r>
              <a:rPr sz="2100" spc="2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should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help</a:t>
            </a:r>
            <a:r>
              <a:rPr sz="2100" spc="2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directly:</a:t>
            </a:r>
            <a:r>
              <a:rPr sz="2100" spc="15" dirty="0">
                <a:latin typeface="Calibri"/>
                <a:cs typeface="Calibri"/>
              </a:rPr>
              <a:t> named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entity </a:t>
            </a:r>
            <a:r>
              <a:rPr sz="2100" spc="-459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recognition: finding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</a:t>
            </a:r>
            <a:r>
              <a:rPr sz="2100" spc="2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person, organization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or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location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3118" y="6431533"/>
            <a:ext cx="620839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8460" indent="-365760">
              <a:lnSpc>
                <a:spcPct val="100000"/>
              </a:lnSpc>
              <a:spcBef>
                <a:spcPts val="100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100" spc="10" dirty="0">
                <a:latin typeface="Calibri"/>
                <a:cs typeface="Calibri"/>
              </a:rPr>
              <a:t>Next: How</a:t>
            </a:r>
            <a:r>
              <a:rPr sz="2100" spc="25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to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use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word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vectors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in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neural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net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models!</a:t>
            </a:r>
            <a:endParaRPr sz="2100">
              <a:latin typeface="Calibri"/>
              <a:cs typeface="Calibri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792453" y="2993721"/>
          <a:ext cx="4378960" cy="31944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17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21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77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16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5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6905">
                <a:tc>
                  <a:txBody>
                    <a:bodyPr/>
                    <a:lstStyle/>
                    <a:p>
                      <a:pPr algn="ctr">
                        <a:lnSpc>
                          <a:spcPts val="2185"/>
                        </a:lnSpc>
                      </a:pPr>
                      <a:r>
                        <a:rPr sz="2000" spc="5" dirty="0">
                          <a:latin typeface="Times New Roman"/>
                          <a:cs typeface="Times New Roman"/>
                        </a:rPr>
                        <a:t>Model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8750">
                        <a:lnSpc>
                          <a:spcPts val="2185"/>
                        </a:lnSpc>
                      </a:pP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Dev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5"/>
                        </a:lnSpc>
                      </a:pPr>
                      <a:r>
                        <a:rPr sz="2000" spc="-30" dirty="0">
                          <a:latin typeface="Times New Roman"/>
                          <a:cs typeface="Times New Roman"/>
                        </a:rPr>
                        <a:t>Test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ts val="2185"/>
                        </a:lnSpc>
                      </a:pP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ACE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5"/>
                        </a:lnSpc>
                      </a:pPr>
                      <a:r>
                        <a:rPr sz="2000" spc="5" dirty="0">
                          <a:latin typeface="Times New Roman"/>
                          <a:cs typeface="Times New Roman"/>
                        </a:rPr>
                        <a:t>MUC7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558">
                <a:tc>
                  <a:txBody>
                    <a:bodyPr/>
                    <a:lstStyle/>
                    <a:p>
                      <a:pPr algn="ctr">
                        <a:lnSpc>
                          <a:spcPts val="2185"/>
                        </a:lnSpc>
                      </a:pPr>
                      <a:r>
                        <a:rPr sz="2000" spc="5" dirty="0">
                          <a:latin typeface="Times New Roman"/>
                          <a:cs typeface="Times New Roman"/>
                        </a:rPr>
                        <a:t>Discrete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44780">
                        <a:lnSpc>
                          <a:spcPts val="2185"/>
                        </a:lnSpc>
                      </a:pPr>
                      <a:r>
                        <a:rPr sz="2000" spc="5" dirty="0">
                          <a:latin typeface="Times New Roman"/>
                          <a:cs typeface="Times New Roman"/>
                        </a:rPr>
                        <a:t>91.0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5"/>
                        </a:lnSpc>
                      </a:pPr>
                      <a:r>
                        <a:rPr sz="2000" spc="5" dirty="0">
                          <a:latin typeface="Times New Roman"/>
                          <a:cs typeface="Times New Roman"/>
                        </a:rPr>
                        <a:t>85.4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67005">
                        <a:lnSpc>
                          <a:spcPts val="2185"/>
                        </a:lnSpc>
                      </a:pPr>
                      <a:r>
                        <a:rPr sz="2000" spc="5" dirty="0">
                          <a:latin typeface="Times New Roman"/>
                          <a:cs typeface="Times New Roman"/>
                        </a:rPr>
                        <a:t>77.4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5"/>
                        </a:lnSpc>
                      </a:pPr>
                      <a:r>
                        <a:rPr sz="2000" spc="5" dirty="0">
                          <a:latin typeface="Times New Roman"/>
                          <a:cs typeface="Times New Roman"/>
                        </a:rPr>
                        <a:t>73.4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575"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</a:pPr>
                      <a:r>
                        <a:rPr sz="2000" spc="5" dirty="0">
                          <a:latin typeface="Times New Roman"/>
                          <a:cs typeface="Times New Roman"/>
                        </a:rPr>
                        <a:t>SVD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44780">
                        <a:lnSpc>
                          <a:spcPts val="2300"/>
                        </a:lnSpc>
                      </a:pPr>
                      <a:r>
                        <a:rPr sz="2000" spc="5" dirty="0">
                          <a:latin typeface="Times New Roman"/>
                          <a:cs typeface="Times New Roman"/>
                        </a:rPr>
                        <a:t>90.8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</a:pPr>
                      <a:r>
                        <a:rPr sz="2000" spc="5" dirty="0">
                          <a:latin typeface="Times New Roman"/>
                          <a:cs typeface="Times New Roman"/>
                        </a:rPr>
                        <a:t>85.7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7005">
                        <a:lnSpc>
                          <a:spcPts val="2300"/>
                        </a:lnSpc>
                      </a:pPr>
                      <a:r>
                        <a:rPr sz="2000" spc="5" dirty="0">
                          <a:latin typeface="Times New Roman"/>
                          <a:cs typeface="Times New Roman"/>
                        </a:rPr>
                        <a:t>77.3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</a:pPr>
                      <a:r>
                        <a:rPr sz="2000" spc="5" dirty="0">
                          <a:latin typeface="Times New Roman"/>
                          <a:cs typeface="Times New Roman"/>
                        </a:rPr>
                        <a:t>73.7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587"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</a:pPr>
                      <a:r>
                        <a:rPr sz="2000" spc="5" dirty="0">
                          <a:latin typeface="Times New Roman"/>
                          <a:cs typeface="Times New Roman"/>
                        </a:rPr>
                        <a:t>SVD-S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44780">
                        <a:lnSpc>
                          <a:spcPts val="2300"/>
                        </a:lnSpc>
                      </a:pPr>
                      <a:r>
                        <a:rPr sz="2000" spc="5" dirty="0">
                          <a:latin typeface="Times New Roman"/>
                          <a:cs typeface="Times New Roman"/>
                        </a:rPr>
                        <a:t>91.0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</a:pPr>
                      <a:r>
                        <a:rPr sz="2000" spc="5" dirty="0">
                          <a:latin typeface="Times New Roman"/>
                          <a:cs typeface="Times New Roman"/>
                        </a:rPr>
                        <a:t>85.5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7005">
                        <a:lnSpc>
                          <a:spcPts val="2300"/>
                        </a:lnSpc>
                      </a:pPr>
                      <a:r>
                        <a:rPr sz="2000" spc="5" dirty="0">
                          <a:latin typeface="Times New Roman"/>
                          <a:cs typeface="Times New Roman"/>
                        </a:rPr>
                        <a:t>77.6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</a:pPr>
                      <a:r>
                        <a:rPr sz="2000" spc="5" dirty="0">
                          <a:latin typeface="Times New Roman"/>
                          <a:cs typeface="Times New Roman"/>
                        </a:rPr>
                        <a:t>74.3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984"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</a:pPr>
                      <a:r>
                        <a:rPr sz="2000" spc="5" dirty="0">
                          <a:latin typeface="Times New Roman"/>
                          <a:cs typeface="Times New Roman"/>
                        </a:rPr>
                        <a:t>SVD-L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44780">
                        <a:lnSpc>
                          <a:spcPts val="2300"/>
                        </a:lnSpc>
                      </a:pPr>
                      <a:r>
                        <a:rPr sz="2000" spc="5" dirty="0">
                          <a:latin typeface="Times New Roman"/>
                          <a:cs typeface="Times New Roman"/>
                        </a:rPr>
                        <a:t>90.5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</a:pPr>
                      <a:r>
                        <a:rPr sz="2000" spc="5" dirty="0">
                          <a:latin typeface="Times New Roman"/>
                          <a:cs typeface="Times New Roman"/>
                        </a:rPr>
                        <a:t>84.8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7005">
                        <a:lnSpc>
                          <a:spcPts val="2300"/>
                        </a:lnSpc>
                      </a:pPr>
                      <a:r>
                        <a:rPr sz="2000" spc="5" dirty="0">
                          <a:latin typeface="Times New Roman"/>
                          <a:cs typeface="Times New Roman"/>
                        </a:rPr>
                        <a:t>73.6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</a:pPr>
                      <a:r>
                        <a:rPr sz="2000" spc="5" dirty="0">
                          <a:latin typeface="Times New Roman"/>
                          <a:cs typeface="Times New Roman"/>
                        </a:rPr>
                        <a:t>71.5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848">
                <a:tc>
                  <a:txBody>
                    <a:bodyPr/>
                    <a:lstStyle/>
                    <a:p>
                      <a:pPr algn="ctr">
                        <a:lnSpc>
                          <a:spcPts val="2335"/>
                        </a:lnSpc>
                      </a:pPr>
                      <a:r>
                        <a:rPr sz="2000" spc="5" dirty="0">
                          <a:latin typeface="Times New Roman"/>
                          <a:cs typeface="Times New Roman"/>
                        </a:rPr>
                        <a:t>HPCA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44780">
                        <a:lnSpc>
                          <a:spcPts val="2335"/>
                        </a:lnSpc>
                      </a:pPr>
                      <a:r>
                        <a:rPr sz="2000" spc="5" dirty="0">
                          <a:latin typeface="Times New Roman"/>
                          <a:cs typeface="Times New Roman"/>
                        </a:rPr>
                        <a:t>92.6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35"/>
                        </a:lnSpc>
                      </a:pPr>
                      <a:r>
                        <a:rPr sz="2000" b="1" spc="5" dirty="0">
                          <a:latin typeface="Times New Roman"/>
                          <a:cs typeface="Times New Roman"/>
                        </a:rPr>
                        <a:t>88.7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7005">
                        <a:lnSpc>
                          <a:spcPts val="2335"/>
                        </a:lnSpc>
                      </a:pPr>
                      <a:r>
                        <a:rPr sz="2000" spc="5" dirty="0">
                          <a:latin typeface="Times New Roman"/>
                          <a:cs typeface="Times New Roman"/>
                        </a:rPr>
                        <a:t>81.7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35"/>
                        </a:lnSpc>
                      </a:pPr>
                      <a:r>
                        <a:rPr sz="2000" spc="5" dirty="0">
                          <a:latin typeface="Times New Roman"/>
                          <a:cs typeface="Times New Roman"/>
                        </a:rPr>
                        <a:t>80.7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9904">
                <a:tc>
                  <a:txBody>
                    <a:bodyPr/>
                    <a:lstStyle/>
                    <a:p>
                      <a:pPr algn="ctr">
                        <a:lnSpc>
                          <a:spcPts val="2235"/>
                        </a:lnSpc>
                      </a:pPr>
                      <a:r>
                        <a:rPr sz="2000" spc="5" dirty="0">
                          <a:latin typeface="Times New Roman"/>
                          <a:cs typeface="Times New Roman"/>
                        </a:rPr>
                        <a:t>HSMN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44780">
                        <a:lnSpc>
                          <a:spcPts val="2235"/>
                        </a:lnSpc>
                      </a:pPr>
                      <a:r>
                        <a:rPr sz="2000" spc="5" dirty="0">
                          <a:latin typeface="Times New Roman"/>
                          <a:cs typeface="Times New Roman"/>
                        </a:rPr>
                        <a:t>90.5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35"/>
                        </a:lnSpc>
                      </a:pPr>
                      <a:r>
                        <a:rPr sz="2000" spc="5" dirty="0">
                          <a:latin typeface="Times New Roman"/>
                          <a:cs typeface="Times New Roman"/>
                        </a:rPr>
                        <a:t>85.7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7005">
                        <a:lnSpc>
                          <a:spcPts val="2235"/>
                        </a:lnSpc>
                      </a:pPr>
                      <a:r>
                        <a:rPr sz="2000" spc="5" dirty="0">
                          <a:latin typeface="Times New Roman"/>
                          <a:cs typeface="Times New Roman"/>
                        </a:rPr>
                        <a:t>78.7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35"/>
                        </a:lnSpc>
                      </a:pPr>
                      <a:r>
                        <a:rPr sz="2000" spc="5" dirty="0">
                          <a:latin typeface="Times New Roman"/>
                          <a:cs typeface="Times New Roman"/>
                        </a:rPr>
                        <a:t>74.7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7575"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</a:pPr>
                      <a:r>
                        <a:rPr sz="2000" spc="10" dirty="0">
                          <a:latin typeface="Times New Roman"/>
                          <a:cs typeface="Times New Roman"/>
                        </a:rPr>
                        <a:t>CW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44780">
                        <a:lnSpc>
                          <a:spcPts val="2300"/>
                        </a:lnSpc>
                      </a:pPr>
                      <a:r>
                        <a:rPr sz="2000" spc="5" dirty="0">
                          <a:latin typeface="Times New Roman"/>
                          <a:cs typeface="Times New Roman"/>
                        </a:rPr>
                        <a:t>92.2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</a:pPr>
                      <a:r>
                        <a:rPr sz="2000" spc="5" dirty="0">
                          <a:latin typeface="Times New Roman"/>
                          <a:cs typeface="Times New Roman"/>
                        </a:rPr>
                        <a:t>87.4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7005">
                        <a:lnSpc>
                          <a:spcPts val="2300"/>
                        </a:lnSpc>
                      </a:pPr>
                      <a:r>
                        <a:rPr sz="2000" spc="5" dirty="0">
                          <a:latin typeface="Times New Roman"/>
                          <a:cs typeface="Times New Roman"/>
                        </a:rPr>
                        <a:t>81.7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</a:pPr>
                      <a:r>
                        <a:rPr sz="2000" spc="5" dirty="0">
                          <a:latin typeface="Times New Roman"/>
                          <a:cs typeface="Times New Roman"/>
                        </a:rPr>
                        <a:t>80.2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2972"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</a:pP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CBOW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44780">
                        <a:lnSpc>
                          <a:spcPts val="2300"/>
                        </a:lnSpc>
                      </a:pPr>
                      <a:r>
                        <a:rPr sz="2000" spc="5" dirty="0">
                          <a:latin typeface="Times New Roman"/>
                          <a:cs typeface="Times New Roman"/>
                        </a:rPr>
                        <a:t>93.1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</a:pPr>
                      <a:r>
                        <a:rPr sz="2000" spc="5" dirty="0">
                          <a:latin typeface="Times New Roman"/>
                          <a:cs typeface="Times New Roman"/>
                        </a:rPr>
                        <a:t>88.2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7005">
                        <a:lnSpc>
                          <a:spcPts val="2300"/>
                        </a:lnSpc>
                      </a:pPr>
                      <a:r>
                        <a:rPr sz="2000" spc="5" dirty="0">
                          <a:latin typeface="Times New Roman"/>
                          <a:cs typeface="Times New Roman"/>
                        </a:rPr>
                        <a:t>82.2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</a:pPr>
                      <a:r>
                        <a:rPr sz="2000" spc="5" dirty="0">
                          <a:latin typeface="Times New Roman"/>
                          <a:cs typeface="Times New Roman"/>
                        </a:rPr>
                        <a:t>81.1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5570">
                <a:tc>
                  <a:txBody>
                    <a:bodyPr/>
                    <a:lstStyle/>
                    <a:p>
                      <a:pPr algn="ctr">
                        <a:lnSpc>
                          <a:spcPts val="2335"/>
                        </a:lnSpc>
                      </a:pPr>
                      <a:r>
                        <a:rPr sz="2000" spc="-40" dirty="0">
                          <a:latin typeface="Times New Roman"/>
                          <a:cs typeface="Times New Roman"/>
                        </a:rPr>
                        <a:t>GloVe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4780">
                        <a:lnSpc>
                          <a:spcPts val="2335"/>
                        </a:lnSpc>
                      </a:pPr>
                      <a:r>
                        <a:rPr sz="2000" b="1" spc="5" dirty="0">
                          <a:latin typeface="Times New Roman"/>
                          <a:cs typeface="Times New Roman"/>
                        </a:rPr>
                        <a:t>93.2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35"/>
                        </a:lnSpc>
                      </a:pPr>
                      <a:r>
                        <a:rPr sz="2000" spc="5" dirty="0">
                          <a:latin typeface="Times New Roman"/>
                          <a:cs typeface="Times New Roman"/>
                        </a:rPr>
                        <a:t>88.3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7005">
                        <a:lnSpc>
                          <a:spcPts val="2335"/>
                        </a:lnSpc>
                      </a:pPr>
                      <a:r>
                        <a:rPr sz="2000" b="1" spc="5" dirty="0">
                          <a:latin typeface="Times New Roman"/>
                          <a:cs typeface="Times New Roman"/>
                        </a:rPr>
                        <a:t>82.9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35"/>
                        </a:lnSpc>
                      </a:pPr>
                      <a:r>
                        <a:rPr sz="2000" b="1" spc="5" dirty="0">
                          <a:latin typeface="Times New Roman"/>
                          <a:cs typeface="Times New Roman"/>
                        </a:rPr>
                        <a:t>82.2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52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496569"/>
            <a:ext cx="491807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Course</a:t>
            </a:r>
            <a:r>
              <a:rPr spc="-5" dirty="0"/>
              <a:t> </a:t>
            </a:r>
            <a:r>
              <a:rPr dirty="0"/>
              <a:t>plan:</a:t>
            </a:r>
            <a:r>
              <a:rPr spc="-5" dirty="0"/>
              <a:t> </a:t>
            </a:r>
            <a:r>
              <a:rPr dirty="0"/>
              <a:t>coming</a:t>
            </a:r>
            <a:r>
              <a:rPr spc="-15" dirty="0"/>
              <a:t> </a:t>
            </a:r>
            <a:r>
              <a:rPr spc="5" dirty="0"/>
              <a:t>weeks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3118" y="1329689"/>
            <a:ext cx="8905875" cy="566420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600" b="1" spc="-20" dirty="0">
                <a:latin typeface="Calibri"/>
                <a:cs typeface="Calibri"/>
              </a:rPr>
              <a:t>Week</a:t>
            </a:r>
            <a:r>
              <a:rPr sz="2600" b="1" spc="-55" dirty="0">
                <a:latin typeface="Calibri"/>
                <a:cs typeface="Calibri"/>
              </a:rPr>
              <a:t> </a:t>
            </a:r>
            <a:r>
              <a:rPr sz="2600" b="1" spc="-15" dirty="0">
                <a:latin typeface="Calibri"/>
                <a:cs typeface="Calibri"/>
              </a:rPr>
              <a:t>2:</a:t>
            </a:r>
            <a:r>
              <a:rPr sz="2600" b="1" spc="-40" dirty="0">
                <a:latin typeface="Calibri"/>
                <a:cs typeface="Calibri"/>
              </a:rPr>
              <a:t> </a:t>
            </a:r>
            <a:r>
              <a:rPr sz="2600" b="1" spc="-20" dirty="0">
                <a:latin typeface="Calibri"/>
                <a:cs typeface="Calibri"/>
              </a:rPr>
              <a:t>Neural</a:t>
            </a:r>
            <a:r>
              <a:rPr sz="2600" b="1" spc="-45" dirty="0">
                <a:latin typeface="Calibri"/>
                <a:cs typeface="Calibri"/>
              </a:rPr>
              <a:t> </a:t>
            </a:r>
            <a:r>
              <a:rPr sz="2600" b="1" spc="-20" dirty="0">
                <a:latin typeface="Calibri"/>
                <a:cs typeface="Calibri"/>
              </a:rPr>
              <a:t>Net</a:t>
            </a:r>
            <a:r>
              <a:rPr sz="2600" b="1" spc="-40" dirty="0">
                <a:latin typeface="Calibri"/>
                <a:cs typeface="Calibri"/>
              </a:rPr>
              <a:t> </a:t>
            </a:r>
            <a:r>
              <a:rPr sz="2600" b="1" spc="-20" dirty="0">
                <a:latin typeface="Calibri"/>
                <a:cs typeface="Calibri"/>
              </a:rPr>
              <a:t>Fundamentals</a:t>
            </a:r>
            <a:endParaRPr sz="2600">
              <a:latin typeface="Calibri"/>
              <a:cs typeface="Calibri"/>
            </a:endParaRPr>
          </a:p>
          <a:p>
            <a:pPr marL="377825" marR="5080" indent="-365760">
              <a:lnSpc>
                <a:spcPts val="3100"/>
              </a:lnSpc>
              <a:spcBef>
                <a:spcPts val="695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600" spc="-20" dirty="0">
                <a:latin typeface="Calibri"/>
                <a:cs typeface="Calibri"/>
              </a:rPr>
              <a:t>We concentrate </a:t>
            </a:r>
            <a:r>
              <a:rPr sz="2600" spc="-15" dirty="0">
                <a:latin typeface="Calibri"/>
                <a:cs typeface="Calibri"/>
              </a:rPr>
              <a:t>on </a:t>
            </a:r>
            <a:r>
              <a:rPr sz="2600" spc="-20" dirty="0">
                <a:latin typeface="Calibri"/>
                <a:cs typeface="Calibri"/>
              </a:rPr>
              <a:t>understanding </a:t>
            </a:r>
            <a:r>
              <a:rPr sz="2600" spc="-15" dirty="0">
                <a:latin typeface="Calibri"/>
                <a:cs typeface="Calibri"/>
              </a:rPr>
              <a:t>(deep, </a:t>
            </a:r>
            <a:r>
              <a:rPr sz="2600" spc="-20" dirty="0">
                <a:latin typeface="Calibri"/>
                <a:cs typeface="Calibri"/>
              </a:rPr>
              <a:t>multi-layer) neural 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networks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and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how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they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can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be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trained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(learned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from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data)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using </a:t>
            </a:r>
            <a:r>
              <a:rPr sz="2600" spc="-57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backpropagation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(the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judicious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application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of</a:t>
            </a:r>
            <a:r>
              <a:rPr sz="2600" spc="-20" dirty="0">
                <a:latin typeface="Calibri"/>
                <a:cs typeface="Calibri"/>
              </a:rPr>
              <a:t> calculus)</a:t>
            </a:r>
            <a:endParaRPr sz="2600">
              <a:latin typeface="Calibri"/>
              <a:cs typeface="Calibri"/>
            </a:endParaRPr>
          </a:p>
          <a:p>
            <a:pPr marL="377825" marR="138430" indent="-365760">
              <a:lnSpc>
                <a:spcPct val="97700"/>
              </a:lnSpc>
              <a:spcBef>
                <a:spcPts val="565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600" spc="-15" dirty="0">
                <a:latin typeface="Calibri"/>
                <a:cs typeface="Calibri"/>
              </a:rPr>
              <a:t>We’ll </a:t>
            </a:r>
            <a:r>
              <a:rPr sz="2600" spc="-20" dirty="0">
                <a:latin typeface="Calibri"/>
                <a:cs typeface="Calibri"/>
              </a:rPr>
              <a:t>look </a:t>
            </a:r>
            <a:r>
              <a:rPr sz="2600" spc="-10" dirty="0">
                <a:latin typeface="Calibri"/>
                <a:cs typeface="Calibri"/>
              </a:rPr>
              <a:t>at an </a:t>
            </a:r>
            <a:r>
              <a:rPr sz="2600" spc="-15" dirty="0">
                <a:latin typeface="Calibri"/>
                <a:cs typeface="Calibri"/>
              </a:rPr>
              <a:t>NLP classifier that adds </a:t>
            </a:r>
            <a:r>
              <a:rPr sz="2600" spc="-20" dirty="0">
                <a:latin typeface="Calibri"/>
                <a:cs typeface="Calibri"/>
              </a:rPr>
              <a:t>context </a:t>
            </a:r>
            <a:r>
              <a:rPr sz="2600" spc="-10" dirty="0">
                <a:latin typeface="Calibri"/>
                <a:cs typeface="Calibri"/>
              </a:rPr>
              <a:t>by </a:t>
            </a:r>
            <a:r>
              <a:rPr sz="2600" spc="-20" dirty="0">
                <a:latin typeface="Calibri"/>
                <a:cs typeface="Calibri"/>
              </a:rPr>
              <a:t>taking </a:t>
            </a:r>
            <a:r>
              <a:rPr sz="2600" spc="-10" dirty="0">
                <a:latin typeface="Calibri"/>
                <a:cs typeface="Calibri"/>
              </a:rPr>
              <a:t>in 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windows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around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word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and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classifies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the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center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word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(not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just </a:t>
            </a:r>
            <a:r>
              <a:rPr sz="2600" spc="-57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representing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it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across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all</a:t>
            </a:r>
            <a:r>
              <a:rPr sz="2600" spc="-25" dirty="0">
                <a:latin typeface="Calibri"/>
                <a:cs typeface="Calibri"/>
              </a:rPr>
              <a:t> windows)!</a:t>
            </a:r>
            <a:endParaRPr sz="2600">
              <a:latin typeface="Calibri"/>
              <a:cs typeface="Calibri"/>
            </a:endParaRPr>
          </a:p>
          <a:p>
            <a:pPr>
              <a:lnSpc>
                <a:spcPct val="100000"/>
              </a:lnSpc>
              <a:buClr>
                <a:srgbClr val="CC0000"/>
              </a:buClr>
              <a:buFont typeface="Times New Roman"/>
              <a:buChar char="•"/>
            </a:pPr>
            <a:endParaRPr sz="3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600" b="1" spc="-20" dirty="0">
                <a:latin typeface="Calibri"/>
                <a:cs typeface="Calibri"/>
              </a:rPr>
              <a:t>Week</a:t>
            </a:r>
            <a:r>
              <a:rPr sz="2600" b="1" spc="-40" dirty="0">
                <a:latin typeface="Calibri"/>
                <a:cs typeface="Calibri"/>
              </a:rPr>
              <a:t> </a:t>
            </a:r>
            <a:r>
              <a:rPr sz="2600" b="1" spc="-15" dirty="0">
                <a:latin typeface="Calibri"/>
                <a:cs typeface="Calibri"/>
              </a:rPr>
              <a:t>3:</a:t>
            </a:r>
            <a:r>
              <a:rPr sz="2600" b="1" spc="-30" dirty="0">
                <a:latin typeface="Calibri"/>
                <a:cs typeface="Calibri"/>
              </a:rPr>
              <a:t> </a:t>
            </a:r>
            <a:r>
              <a:rPr sz="2600" b="1" spc="-20" dirty="0">
                <a:latin typeface="Calibri"/>
                <a:cs typeface="Calibri"/>
              </a:rPr>
              <a:t>We</a:t>
            </a:r>
            <a:r>
              <a:rPr sz="2600" b="1" spc="-40" dirty="0">
                <a:latin typeface="Calibri"/>
                <a:cs typeface="Calibri"/>
              </a:rPr>
              <a:t> </a:t>
            </a:r>
            <a:r>
              <a:rPr sz="2600" b="1" spc="-15" dirty="0">
                <a:latin typeface="Calibri"/>
                <a:cs typeface="Calibri"/>
              </a:rPr>
              <a:t>learn</a:t>
            </a:r>
            <a:r>
              <a:rPr sz="2600" b="1" spc="-45" dirty="0">
                <a:latin typeface="Calibri"/>
                <a:cs typeface="Calibri"/>
              </a:rPr>
              <a:t> </a:t>
            </a:r>
            <a:r>
              <a:rPr sz="2600" b="1" spc="-20" dirty="0">
                <a:latin typeface="Calibri"/>
                <a:cs typeface="Calibri"/>
              </a:rPr>
              <a:t>some</a:t>
            </a:r>
            <a:r>
              <a:rPr sz="2600" b="1" spc="-40" dirty="0">
                <a:latin typeface="Calibri"/>
                <a:cs typeface="Calibri"/>
              </a:rPr>
              <a:t> </a:t>
            </a:r>
            <a:r>
              <a:rPr sz="2600" b="1" spc="-20" dirty="0">
                <a:latin typeface="Calibri"/>
                <a:cs typeface="Calibri"/>
              </a:rPr>
              <a:t>natural</a:t>
            </a:r>
            <a:r>
              <a:rPr sz="2600" b="1" spc="-30" dirty="0">
                <a:latin typeface="Calibri"/>
                <a:cs typeface="Calibri"/>
              </a:rPr>
              <a:t> </a:t>
            </a:r>
            <a:r>
              <a:rPr sz="2600" b="1" spc="-20" dirty="0">
                <a:latin typeface="Calibri"/>
                <a:cs typeface="Calibri"/>
              </a:rPr>
              <a:t>language</a:t>
            </a:r>
            <a:r>
              <a:rPr sz="2600" b="1" spc="-40" dirty="0">
                <a:latin typeface="Calibri"/>
                <a:cs typeface="Calibri"/>
              </a:rPr>
              <a:t> </a:t>
            </a:r>
            <a:r>
              <a:rPr sz="2600" b="1" spc="-20" dirty="0">
                <a:latin typeface="Calibri"/>
                <a:cs typeface="Calibri"/>
              </a:rPr>
              <a:t>processing</a:t>
            </a:r>
            <a:endParaRPr sz="2600">
              <a:latin typeface="Calibri"/>
              <a:cs typeface="Calibri"/>
            </a:endParaRPr>
          </a:p>
          <a:p>
            <a:pPr marL="377825" marR="85090" indent="-365760">
              <a:lnSpc>
                <a:spcPts val="3100"/>
              </a:lnSpc>
              <a:spcBef>
                <a:spcPts val="695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600" spc="-20" dirty="0">
                <a:latin typeface="Calibri"/>
                <a:cs typeface="Calibri"/>
              </a:rPr>
              <a:t>We </a:t>
            </a:r>
            <a:r>
              <a:rPr sz="2600" spc="-15" dirty="0">
                <a:latin typeface="Calibri"/>
                <a:cs typeface="Calibri"/>
              </a:rPr>
              <a:t>learn </a:t>
            </a:r>
            <a:r>
              <a:rPr sz="2600" spc="-20" dirty="0">
                <a:latin typeface="Calibri"/>
                <a:cs typeface="Calibri"/>
              </a:rPr>
              <a:t>about putting syntactic structure (dependency parses) </a:t>
            </a:r>
            <a:r>
              <a:rPr sz="2600" spc="-57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over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sentence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(this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is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HW3!)</a:t>
            </a:r>
            <a:endParaRPr sz="2600">
              <a:latin typeface="Calibri"/>
              <a:cs typeface="Calibri"/>
            </a:endParaRPr>
          </a:p>
          <a:p>
            <a:pPr marL="377825" marR="941069" indent="-365760">
              <a:lnSpc>
                <a:spcPts val="3100"/>
              </a:lnSpc>
              <a:spcBef>
                <a:spcPts val="610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600" spc="-20" dirty="0">
                <a:latin typeface="Calibri"/>
                <a:cs typeface="Calibri"/>
              </a:rPr>
              <a:t>We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develop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the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notion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of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the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probability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of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sentence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(a </a:t>
            </a:r>
            <a:r>
              <a:rPr sz="2600" spc="-57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probabilistic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language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model)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and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why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it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really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useful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148079" y="222759"/>
            <a:ext cx="59055" cy="7325359"/>
            <a:chOff x="148079" y="222759"/>
            <a:chExt cx="59055" cy="7325359"/>
          </a:xfrm>
        </p:grpSpPr>
        <p:sp>
          <p:nvSpPr>
            <p:cNvPr id="4" name="object 4"/>
            <p:cNvSpPr/>
            <p:nvPr/>
          </p:nvSpPr>
          <p:spPr>
            <a:xfrm>
              <a:off x="153159" y="227839"/>
              <a:ext cx="48895" cy="7315200"/>
            </a:xfrm>
            <a:custGeom>
              <a:avLst/>
              <a:gdLst/>
              <a:ahLst/>
              <a:cxnLst/>
              <a:rect l="l" t="t" r="r" b="b"/>
              <a:pathLst>
                <a:path w="48894" h="7315200">
                  <a:moveTo>
                    <a:pt x="48766" y="0"/>
                  </a:moveTo>
                  <a:lnTo>
                    <a:pt x="0" y="0"/>
                  </a:lnTo>
                  <a:lnTo>
                    <a:pt x="0" y="7315200"/>
                  </a:lnTo>
                  <a:lnTo>
                    <a:pt x="48766" y="7315200"/>
                  </a:lnTo>
                  <a:lnTo>
                    <a:pt x="48766" y="0"/>
                  </a:lnTo>
                  <a:close/>
                </a:path>
              </a:pathLst>
            </a:custGeom>
            <a:solidFill>
              <a:srgbClr val="A4050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53159" y="227839"/>
              <a:ext cx="48895" cy="7315200"/>
            </a:xfrm>
            <a:custGeom>
              <a:avLst/>
              <a:gdLst/>
              <a:ahLst/>
              <a:cxnLst/>
              <a:rect l="l" t="t" r="r" b="b"/>
              <a:pathLst>
                <a:path w="48894" h="7315200">
                  <a:moveTo>
                    <a:pt x="48766" y="0"/>
                  </a:moveTo>
                  <a:lnTo>
                    <a:pt x="48766" y="7315200"/>
                  </a:lnTo>
                  <a:lnTo>
                    <a:pt x="0" y="7315200"/>
                  </a:lnTo>
                  <a:lnTo>
                    <a:pt x="0" y="0"/>
                  </a:lnTo>
                  <a:lnTo>
                    <a:pt x="48766" y="0"/>
                  </a:lnTo>
                  <a:close/>
                </a:path>
              </a:pathLst>
            </a:custGeom>
            <a:ln w="10159">
              <a:solidFill>
                <a:srgbClr val="A4001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07200" y="1254643"/>
            <a:ext cx="431800" cy="41910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731706" y="1179576"/>
            <a:ext cx="531558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0000"/>
                </a:solidFill>
              </a:rPr>
              <a:t>A note</a:t>
            </a:r>
            <a:r>
              <a:rPr spc="5" dirty="0">
                <a:solidFill>
                  <a:srgbClr val="000000"/>
                </a:solidFill>
              </a:rPr>
              <a:t> on</a:t>
            </a:r>
            <a:r>
              <a:rPr spc="-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your</a:t>
            </a:r>
            <a:r>
              <a:rPr spc="-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experience</a:t>
            </a:r>
            <a:r>
              <a:rPr spc="10" dirty="0">
                <a:solidFill>
                  <a:srgbClr val="000000"/>
                </a:solidFill>
              </a:rPr>
              <a:t> </a:t>
            </a:r>
            <a:r>
              <a:rPr sz="4875" spc="3472" baseline="1709" dirty="0">
                <a:solidFill>
                  <a:srgbClr val="000000"/>
                </a:solidFill>
                <a:latin typeface="Arial"/>
                <a:cs typeface="Arial"/>
              </a:rPr>
              <a:t>!</a:t>
            </a:r>
            <a:endParaRPr sz="4875" baseline="1709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3118" y="5136642"/>
            <a:ext cx="8677910" cy="190309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78460" indent="-365760">
              <a:lnSpc>
                <a:spcPct val="100000"/>
              </a:lnSpc>
              <a:spcBef>
                <a:spcPts val="675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600" spc="-15" dirty="0">
                <a:latin typeface="Calibri"/>
                <a:cs typeface="Calibri"/>
              </a:rPr>
              <a:t>This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is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hard,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advanced,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graduate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level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class</a:t>
            </a:r>
            <a:endParaRPr sz="2600">
              <a:latin typeface="Calibri"/>
              <a:cs typeface="Calibri"/>
            </a:endParaRPr>
          </a:p>
          <a:p>
            <a:pPr marL="378460" indent="-365760">
              <a:lnSpc>
                <a:spcPct val="100000"/>
              </a:lnSpc>
              <a:spcBef>
                <a:spcPts val="575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600" dirty="0">
                <a:latin typeface="Calibri"/>
                <a:cs typeface="Calibri"/>
              </a:rPr>
              <a:t>I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and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all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the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TAs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really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care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about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your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success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this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class</a:t>
            </a:r>
            <a:endParaRPr sz="2600">
              <a:latin typeface="Calibri"/>
              <a:cs typeface="Calibri"/>
            </a:endParaRPr>
          </a:p>
          <a:p>
            <a:pPr marL="378460" indent="-365760">
              <a:lnSpc>
                <a:spcPct val="100000"/>
              </a:lnSpc>
              <a:spcBef>
                <a:spcPts val="575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600" spc="-15" dirty="0">
                <a:latin typeface="Calibri"/>
                <a:cs typeface="Calibri"/>
              </a:rPr>
              <a:t>Give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Feedback.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Take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responsibility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for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holes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in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your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knowledge</a:t>
            </a:r>
            <a:endParaRPr sz="2600">
              <a:latin typeface="Calibri"/>
              <a:cs typeface="Calibri"/>
            </a:endParaRPr>
          </a:p>
          <a:p>
            <a:pPr marL="378460" indent="-365760">
              <a:lnSpc>
                <a:spcPct val="100000"/>
              </a:lnSpc>
              <a:spcBef>
                <a:spcPts val="575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600" b="1" spc="-25" dirty="0">
                <a:latin typeface="Calibri"/>
                <a:cs typeface="Calibri"/>
              </a:rPr>
              <a:t>Come</a:t>
            </a:r>
            <a:r>
              <a:rPr sz="2600" b="1" spc="-45" dirty="0">
                <a:latin typeface="Calibri"/>
                <a:cs typeface="Calibri"/>
              </a:rPr>
              <a:t> </a:t>
            </a:r>
            <a:r>
              <a:rPr sz="2600" b="1" spc="-5" dirty="0">
                <a:latin typeface="Calibri"/>
                <a:cs typeface="Calibri"/>
              </a:rPr>
              <a:t>to</a:t>
            </a:r>
            <a:r>
              <a:rPr sz="2600" b="1" spc="-50" dirty="0">
                <a:latin typeface="Calibri"/>
                <a:cs typeface="Calibri"/>
              </a:rPr>
              <a:t> </a:t>
            </a:r>
            <a:r>
              <a:rPr sz="2600" b="1" spc="-15" dirty="0">
                <a:latin typeface="Calibri"/>
                <a:cs typeface="Calibri"/>
              </a:rPr>
              <a:t>office</a:t>
            </a:r>
            <a:r>
              <a:rPr sz="2600" b="1" spc="-35" dirty="0">
                <a:latin typeface="Calibri"/>
                <a:cs typeface="Calibri"/>
              </a:rPr>
              <a:t> </a:t>
            </a:r>
            <a:r>
              <a:rPr sz="2600" b="1" spc="-20" dirty="0">
                <a:latin typeface="Calibri"/>
                <a:cs typeface="Calibri"/>
              </a:rPr>
              <a:t>hours/help</a:t>
            </a:r>
            <a:r>
              <a:rPr sz="2600" b="1" spc="-45" dirty="0">
                <a:latin typeface="Calibri"/>
                <a:cs typeface="Calibri"/>
              </a:rPr>
              <a:t> </a:t>
            </a:r>
            <a:r>
              <a:rPr sz="2600" b="1" spc="-20" dirty="0">
                <a:latin typeface="Calibri"/>
                <a:cs typeface="Calibri"/>
              </a:rPr>
              <a:t>sessions</a:t>
            </a:r>
            <a:endParaRPr sz="26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47722" y="2013966"/>
            <a:ext cx="5559552" cy="3035808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6496558" y="2525014"/>
            <a:ext cx="3085465" cy="148590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763905">
              <a:lnSpc>
                <a:spcPct val="101099"/>
              </a:lnSpc>
              <a:spcBef>
                <a:spcPts val="75"/>
              </a:spcBef>
            </a:pPr>
            <a:r>
              <a:rPr sz="1900" dirty="0">
                <a:latin typeface="Calibri"/>
                <a:cs typeface="Calibri"/>
              </a:rPr>
              <a:t>“Best class </a:t>
            </a:r>
            <a:r>
              <a:rPr sz="1900" spc="-5" dirty="0">
                <a:latin typeface="Calibri"/>
                <a:cs typeface="Calibri"/>
              </a:rPr>
              <a:t>at </a:t>
            </a:r>
            <a:r>
              <a:rPr sz="1900" spc="-10" dirty="0">
                <a:latin typeface="Calibri"/>
                <a:cs typeface="Calibri"/>
              </a:rPr>
              <a:t>Stanford” </a:t>
            </a:r>
            <a:r>
              <a:rPr sz="1900" spc="-415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“Changed</a:t>
            </a:r>
            <a:r>
              <a:rPr sz="1900" spc="10" dirty="0">
                <a:latin typeface="Calibri"/>
                <a:cs typeface="Calibri"/>
              </a:rPr>
              <a:t> </a:t>
            </a:r>
            <a:r>
              <a:rPr sz="1900" spc="-15" dirty="0">
                <a:latin typeface="Calibri"/>
                <a:cs typeface="Calibri"/>
              </a:rPr>
              <a:t>my</a:t>
            </a:r>
            <a:r>
              <a:rPr sz="1900" spc="1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life”</a:t>
            </a:r>
            <a:endParaRPr sz="1900">
              <a:latin typeface="Calibri"/>
              <a:cs typeface="Calibri"/>
            </a:endParaRPr>
          </a:p>
          <a:p>
            <a:pPr marL="12700" marR="5080">
              <a:lnSpc>
                <a:spcPts val="2300"/>
              </a:lnSpc>
              <a:spcBef>
                <a:spcPts val="80"/>
              </a:spcBef>
            </a:pPr>
            <a:r>
              <a:rPr sz="1900" dirty="0">
                <a:latin typeface="Calibri"/>
                <a:cs typeface="Calibri"/>
              </a:rPr>
              <a:t>“Obvious that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instructors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care” </a:t>
            </a:r>
            <a:r>
              <a:rPr sz="1900" spc="-415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“Learned</a:t>
            </a:r>
            <a:r>
              <a:rPr sz="1900" spc="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1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ton”</a:t>
            </a:r>
            <a:endParaRPr sz="1900">
              <a:latin typeface="Calibri"/>
              <a:cs typeface="Calibri"/>
            </a:endParaRPr>
          </a:p>
          <a:p>
            <a:pPr marL="12700">
              <a:lnSpc>
                <a:spcPts val="2230"/>
              </a:lnSpc>
            </a:pPr>
            <a:r>
              <a:rPr sz="1900" dirty="0">
                <a:latin typeface="Calibri"/>
                <a:cs typeface="Calibri"/>
              </a:rPr>
              <a:t>“Hard </a:t>
            </a:r>
            <a:r>
              <a:rPr sz="1900" spc="5" dirty="0">
                <a:latin typeface="Calibri"/>
                <a:cs typeface="Calibri"/>
              </a:rPr>
              <a:t>but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worth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spc="20" dirty="0">
                <a:latin typeface="Calibri"/>
                <a:cs typeface="Calibri"/>
              </a:rPr>
              <a:t>it”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06958" y="2546350"/>
            <a:ext cx="2351405" cy="1189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845185">
              <a:lnSpc>
                <a:spcPct val="100000"/>
              </a:lnSpc>
              <a:spcBef>
                <a:spcPts val="100"/>
              </a:spcBef>
            </a:pPr>
            <a:r>
              <a:rPr sz="1900" spc="-10" dirty="0">
                <a:latin typeface="Calibri"/>
                <a:cs typeface="Calibri"/>
              </a:rPr>
              <a:t>“Terrible </a:t>
            </a:r>
            <a:r>
              <a:rPr sz="1900" dirty="0">
                <a:latin typeface="Calibri"/>
                <a:cs typeface="Calibri"/>
              </a:rPr>
              <a:t>class” </a:t>
            </a:r>
            <a:r>
              <a:rPr sz="1900" spc="-415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“Don’t</a:t>
            </a:r>
            <a:r>
              <a:rPr sz="1900" spc="-20" dirty="0">
                <a:latin typeface="Calibri"/>
                <a:cs typeface="Calibri"/>
              </a:rPr>
              <a:t> take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spc="20" dirty="0">
                <a:latin typeface="Calibri"/>
                <a:cs typeface="Calibri"/>
              </a:rPr>
              <a:t>it”</a:t>
            </a:r>
            <a:endParaRPr sz="1900">
              <a:latin typeface="Calibri"/>
              <a:cs typeface="Calibri"/>
            </a:endParaRPr>
          </a:p>
          <a:p>
            <a:pPr marL="12700" marR="5080">
              <a:lnSpc>
                <a:spcPts val="2300"/>
              </a:lnSpc>
              <a:spcBef>
                <a:spcPts val="80"/>
              </a:spcBef>
            </a:pPr>
            <a:r>
              <a:rPr sz="1900" spc="-5" dirty="0">
                <a:latin typeface="Calibri"/>
                <a:cs typeface="Calibri"/>
              </a:rPr>
              <a:t>“Instructors </a:t>
            </a:r>
            <a:r>
              <a:rPr sz="1900" spc="5" dirty="0">
                <a:latin typeface="Calibri"/>
                <a:cs typeface="Calibri"/>
              </a:rPr>
              <a:t>don’t </a:t>
            </a:r>
            <a:r>
              <a:rPr sz="1900" spc="-5" dirty="0">
                <a:latin typeface="Calibri"/>
                <a:cs typeface="Calibri"/>
              </a:rPr>
              <a:t>care” </a:t>
            </a:r>
            <a:r>
              <a:rPr sz="1900" spc="-415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“Too</a:t>
            </a:r>
            <a:r>
              <a:rPr sz="1900" spc="1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much</a:t>
            </a:r>
            <a:r>
              <a:rPr sz="1900" spc="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work”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63118" y="6943597"/>
            <a:ext cx="21907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" dirty="0">
                <a:latin typeface="Calibri"/>
                <a:cs typeface="Calibri"/>
              </a:rPr>
              <a:t>53</a:t>
            </a:r>
            <a:endParaRPr sz="1500">
              <a:latin typeface="Calibri"/>
              <a:cs typeface="Calibri"/>
            </a:endParaRPr>
          </a:p>
        </p:txBody>
      </p:sp>
      <p:pic>
        <p:nvPicPr>
          <p:cNvPr id="14" name="图片 3" descr="20121109221446303940">
            <a:extLst>
              <a:ext uri="{FF2B5EF4-FFF2-40B4-BE49-F238E27FC236}">
                <a16:creationId xmlns:a16="http://schemas.microsoft.com/office/drawing/2014/main" id="{BFD7D42D-2E4E-0C4C-975A-7F85A5872998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5304" y="593090"/>
            <a:ext cx="1332484" cy="1332484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496569"/>
            <a:ext cx="505968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Office</a:t>
            </a:r>
            <a:r>
              <a:rPr spc="-10" dirty="0"/>
              <a:t> </a:t>
            </a:r>
            <a:r>
              <a:rPr spc="5" dirty="0"/>
              <a:t>Hours</a:t>
            </a:r>
            <a:r>
              <a:rPr spc="-15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5" dirty="0"/>
              <a:t>Help</a:t>
            </a:r>
            <a:r>
              <a:rPr spc="-15" dirty="0"/>
              <a:t> </a:t>
            </a:r>
            <a:r>
              <a:rPr spc="5" dirty="0"/>
              <a:t>sessions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3118" y="1329689"/>
            <a:ext cx="8780780" cy="510349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78460" indent="-365760">
              <a:lnSpc>
                <a:spcPct val="100000"/>
              </a:lnSpc>
              <a:spcBef>
                <a:spcPts val="675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600" b="1" spc="-25" dirty="0">
                <a:latin typeface="Calibri"/>
                <a:cs typeface="Calibri"/>
              </a:rPr>
              <a:t>Come</a:t>
            </a:r>
            <a:r>
              <a:rPr sz="2600" b="1" spc="-45" dirty="0">
                <a:latin typeface="Calibri"/>
                <a:cs typeface="Calibri"/>
              </a:rPr>
              <a:t> </a:t>
            </a:r>
            <a:r>
              <a:rPr sz="2600" b="1" spc="-5" dirty="0">
                <a:latin typeface="Calibri"/>
                <a:cs typeface="Calibri"/>
              </a:rPr>
              <a:t>to</a:t>
            </a:r>
            <a:r>
              <a:rPr sz="2600" b="1" spc="-55" dirty="0">
                <a:latin typeface="Calibri"/>
                <a:cs typeface="Calibri"/>
              </a:rPr>
              <a:t> </a:t>
            </a:r>
            <a:r>
              <a:rPr sz="2600" b="1" spc="-15" dirty="0">
                <a:latin typeface="Calibri"/>
                <a:cs typeface="Calibri"/>
              </a:rPr>
              <a:t>office</a:t>
            </a:r>
            <a:r>
              <a:rPr sz="2600" b="1" spc="-40" dirty="0">
                <a:latin typeface="Calibri"/>
                <a:cs typeface="Calibri"/>
              </a:rPr>
              <a:t> </a:t>
            </a:r>
            <a:r>
              <a:rPr sz="2600" b="1" spc="-20" dirty="0">
                <a:latin typeface="Calibri"/>
                <a:cs typeface="Calibri"/>
              </a:rPr>
              <a:t>hours/help</a:t>
            </a:r>
            <a:r>
              <a:rPr sz="2600" b="1" spc="-40" dirty="0">
                <a:latin typeface="Calibri"/>
                <a:cs typeface="Calibri"/>
              </a:rPr>
              <a:t> </a:t>
            </a:r>
            <a:r>
              <a:rPr sz="2600" b="1" spc="-20" dirty="0">
                <a:latin typeface="Calibri"/>
                <a:cs typeface="Calibri"/>
              </a:rPr>
              <a:t>sessions!</a:t>
            </a:r>
            <a:endParaRPr sz="2600">
              <a:latin typeface="Calibri"/>
              <a:cs typeface="Calibri"/>
            </a:endParaRPr>
          </a:p>
          <a:p>
            <a:pPr marL="744220" lvl="1" indent="-244475">
              <a:lnSpc>
                <a:spcPct val="100000"/>
              </a:lnSpc>
              <a:spcBef>
                <a:spcPts val="575"/>
              </a:spcBef>
              <a:buClr>
                <a:srgbClr val="3A87FF"/>
              </a:buClr>
              <a:buFont typeface="Times New Roman"/>
              <a:buChar char="•"/>
              <a:tabLst>
                <a:tab pos="743585" algn="l"/>
                <a:tab pos="744220" algn="l"/>
              </a:tabLst>
            </a:pPr>
            <a:r>
              <a:rPr sz="2600" spc="-25" dirty="0">
                <a:latin typeface="Calibri"/>
                <a:cs typeface="Calibri"/>
              </a:rPr>
              <a:t>Come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to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discuss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final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project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ideas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well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the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homeworks</a:t>
            </a:r>
            <a:endParaRPr sz="2600">
              <a:latin typeface="Calibri"/>
              <a:cs typeface="Calibri"/>
            </a:endParaRPr>
          </a:p>
          <a:p>
            <a:pPr marL="744220" lvl="1" indent="-244475">
              <a:lnSpc>
                <a:spcPct val="100000"/>
              </a:lnSpc>
              <a:spcBef>
                <a:spcPts val="575"/>
              </a:spcBef>
              <a:buClr>
                <a:srgbClr val="3A87FF"/>
              </a:buClr>
              <a:buFont typeface="Times New Roman"/>
              <a:buChar char="•"/>
              <a:tabLst>
                <a:tab pos="743585" algn="l"/>
                <a:tab pos="744220" algn="l"/>
              </a:tabLst>
            </a:pPr>
            <a:r>
              <a:rPr sz="2600" spc="-15" dirty="0">
                <a:latin typeface="Calibri"/>
                <a:cs typeface="Calibri"/>
              </a:rPr>
              <a:t>Try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to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come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early,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often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and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off-cycle</a:t>
            </a:r>
            <a:endParaRPr sz="2600">
              <a:latin typeface="Calibri"/>
              <a:cs typeface="Calibri"/>
            </a:endParaRPr>
          </a:p>
          <a:p>
            <a:pPr marL="378460" indent="-365760">
              <a:lnSpc>
                <a:spcPct val="100000"/>
              </a:lnSpc>
              <a:spcBef>
                <a:spcPts val="580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600" b="1" spc="-15" dirty="0">
                <a:latin typeface="Calibri"/>
                <a:cs typeface="Calibri"/>
              </a:rPr>
              <a:t>Help</a:t>
            </a:r>
            <a:r>
              <a:rPr sz="2600" b="1" spc="-45" dirty="0">
                <a:latin typeface="Calibri"/>
                <a:cs typeface="Calibri"/>
              </a:rPr>
              <a:t> </a:t>
            </a:r>
            <a:r>
              <a:rPr sz="2600" b="1" spc="-20" dirty="0">
                <a:latin typeface="Calibri"/>
                <a:cs typeface="Calibri"/>
              </a:rPr>
              <a:t>sessions:</a:t>
            </a:r>
            <a:r>
              <a:rPr sz="2600" b="1" spc="-3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daily,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at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various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times,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see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calendar</a:t>
            </a:r>
            <a:endParaRPr sz="2600">
              <a:latin typeface="Calibri"/>
              <a:cs typeface="Calibri"/>
            </a:endParaRPr>
          </a:p>
          <a:p>
            <a:pPr marL="744220" lvl="1" indent="-244475">
              <a:lnSpc>
                <a:spcPct val="100000"/>
              </a:lnSpc>
              <a:spcBef>
                <a:spcPts val="600"/>
              </a:spcBef>
              <a:buClr>
                <a:srgbClr val="3A87FF"/>
              </a:buClr>
              <a:buFont typeface="Times New Roman"/>
              <a:buChar char="•"/>
              <a:tabLst>
                <a:tab pos="743585" algn="l"/>
                <a:tab pos="744220" algn="l"/>
              </a:tabLst>
            </a:pPr>
            <a:r>
              <a:rPr sz="2600" spc="-15" dirty="0">
                <a:latin typeface="Calibri"/>
                <a:cs typeface="Calibri"/>
              </a:rPr>
              <a:t>First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one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tonight: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6:30–9:00pm</a:t>
            </a:r>
            <a:endParaRPr sz="2600">
              <a:latin typeface="Calibri"/>
              <a:cs typeface="Calibri"/>
            </a:endParaRPr>
          </a:p>
          <a:p>
            <a:pPr marL="744220" lvl="1" indent="-244475">
              <a:lnSpc>
                <a:spcPct val="100000"/>
              </a:lnSpc>
              <a:spcBef>
                <a:spcPts val="575"/>
              </a:spcBef>
              <a:buClr>
                <a:srgbClr val="3A87FF"/>
              </a:buClr>
              <a:buFont typeface="Times New Roman"/>
              <a:buChar char="•"/>
              <a:tabLst>
                <a:tab pos="743585" algn="l"/>
                <a:tab pos="744220" algn="l"/>
              </a:tabLst>
            </a:pPr>
            <a:r>
              <a:rPr sz="2600" spc="-20" dirty="0">
                <a:latin typeface="Calibri"/>
                <a:cs typeface="Calibri"/>
              </a:rPr>
              <a:t>Gates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Basement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B21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(and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B30)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bring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your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student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ID</a:t>
            </a:r>
            <a:endParaRPr sz="2600">
              <a:latin typeface="Calibri"/>
              <a:cs typeface="Calibri"/>
            </a:endParaRPr>
          </a:p>
          <a:p>
            <a:pPr marL="743585" marR="171450" lvl="1" indent="-243840">
              <a:lnSpc>
                <a:spcPts val="3100"/>
              </a:lnSpc>
              <a:spcBef>
                <a:spcPts val="695"/>
              </a:spcBef>
              <a:buClr>
                <a:srgbClr val="3A87FF"/>
              </a:buClr>
              <a:buFont typeface="Times New Roman"/>
              <a:buChar char="•"/>
              <a:tabLst>
                <a:tab pos="743585" algn="l"/>
                <a:tab pos="744220" algn="l"/>
              </a:tabLst>
            </a:pPr>
            <a:r>
              <a:rPr sz="2600" spc="-20" dirty="0">
                <a:latin typeface="Calibri"/>
                <a:cs typeface="Calibri"/>
              </a:rPr>
              <a:t>Attending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person: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Just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show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up!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Our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friendly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course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staff </a:t>
            </a:r>
            <a:r>
              <a:rPr sz="2600" spc="-57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will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be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on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hand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to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assist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you</a:t>
            </a:r>
            <a:endParaRPr sz="2600">
              <a:latin typeface="Calibri"/>
              <a:cs typeface="Calibri"/>
            </a:endParaRPr>
          </a:p>
          <a:p>
            <a:pPr marL="744220" lvl="1" indent="-244475">
              <a:lnSpc>
                <a:spcPct val="100000"/>
              </a:lnSpc>
              <a:spcBef>
                <a:spcPts val="470"/>
              </a:spcBef>
              <a:buClr>
                <a:srgbClr val="3A87FF"/>
              </a:buClr>
              <a:buFont typeface="Times New Roman"/>
              <a:buChar char="•"/>
              <a:tabLst>
                <a:tab pos="743585" algn="l"/>
                <a:tab pos="744220" algn="l"/>
              </a:tabLst>
            </a:pPr>
            <a:r>
              <a:rPr sz="2600" spc="-25" dirty="0">
                <a:latin typeface="Calibri"/>
                <a:cs typeface="Calibri"/>
              </a:rPr>
              <a:t>SCPD/remote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access: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Use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queuestatus</a:t>
            </a:r>
            <a:endParaRPr sz="2600">
              <a:latin typeface="Calibri"/>
              <a:cs typeface="Calibri"/>
            </a:endParaRPr>
          </a:p>
          <a:p>
            <a:pPr marL="378460" indent="-365760">
              <a:lnSpc>
                <a:spcPct val="100000"/>
              </a:lnSpc>
              <a:spcBef>
                <a:spcPts val="580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600" b="1" spc="-15" dirty="0">
                <a:latin typeface="Calibri"/>
                <a:cs typeface="Calibri"/>
              </a:rPr>
              <a:t>Chris’s</a:t>
            </a:r>
            <a:r>
              <a:rPr sz="2600" b="1" spc="-55" dirty="0">
                <a:latin typeface="Calibri"/>
                <a:cs typeface="Calibri"/>
              </a:rPr>
              <a:t> </a:t>
            </a:r>
            <a:r>
              <a:rPr sz="2600" b="1" spc="-15" dirty="0">
                <a:latin typeface="Calibri"/>
                <a:cs typeface="Calibri"/>
              </a:rPr>
              <a:t>office</a:t>
            </a:r>
            <a:r>
              <a:rPr sz="2600" b="1" spc="-55" dirty="0">
                <a:latin typeface="Calibri"/>
                <a:cs typeface="Calibri"/>
              </a:rPr>
              <a:t> </a:t>
            </a:r>
            <a:r>
              <a:rPr sz="2600" b="1" spc="-20" dirty="0">
                <a:latin typeface="Calibri"/>
                <a:cs typeface="Calibri"/>
              </a:rPr>
              <a:t>hours:</a:t>
            </a:r>
            <a:endParaRPr sz="2600">
              <a:latin typeface="Calibri"/>
              <a:cs typeface="Calibri"/>
            </a:endParaRPr>
          </a:p>
          <a:p>
            <a:pPr marL="744220" lvl="1" indent="-244475">
              <a:lnSpc>
                <a:spcPct val="100000"/>
              </a:lnSpc>
              <a:spcBef>
                <a:spcPts val="480"/>
              </a:spcBef>
              <a:buClr>
                <a:srgbClr val="3A87FF"/>
              </a:buClr>
              <a:buFont typeface="Times New Roman"/>
              <a:buChar char="•"/>
              <a:tabLst>
                <a:tab pos="743585" algn="l"/>
                <a:tab pos="744220" algn="l"/>
              </a:tabLst>
            </a:pPr>
            <a:r>
              <a:rPr sz="2600" spc="-25" dirty="0">
                <a:latin typeface="Calibri"/>
                <a:cs typeface="Calibri"/>
              </a:rPr>
              <a:t>Mon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1–3pm.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Come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along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this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Monday?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3118" y="7077709"/>
            <a:ext cx="21907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" dirty="0">
                <a:latin typeface="Calibri"/>
                <a:cs typeface="Calibri"/>
              </a:rPr>
              <a:t>54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EF8E1C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4728</TotalTime>
  <Words>3286</Words>
  <Application>Microsoft Macintosh PowerPoint</Application>
  <PresentationFormat>Custom</PresentationFormat>
  <Paragraphs>930</Paragraphs>
  <Slides>54</Slides>
  <Notes>1</Notes>
  <HiddenSlides>2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4" baseType="lpstr">
      <vt:lpstr>Arial MT</vt:lpstr>
      <vt:lpstr>Arial</vt:lpstr>
      <vt:lpstr>Calibri</vt:lpstr>
      <vt:lpstr>Cambria Math</vt:lpstr>
      <vt:lpstr>Lucida Sans Unicode</vt:lpstr>
      <vt:lpstr>Sitka Small</vt:lpstr>
      <vt:lpstr>Times New Roman</vt:lpstr>
      <vt:lpstr>Trebuchet MS</vt:lpstr>
      <vt:lpstr>Wingdings</vt:lpstr>
      <vt:lpstr>Office Theme</vt:lpstr>
      <vt:lpstr>PowerPoint Presentation</vt:lpstr>
      <vt:lpstr>Lecture Plan</vt:lpstr>
      <vt:lpstr>1. Review: Main idea of word2vec</vt:lpstr>
      <vt:lpstr>Word2vec parameters and computations</vt:lpstr>
      <vt:lpstr>Word2vec maximizes objective function by  putting similar words nearby in space</vt:lpstr>
      <vt:lpstr>2. Optimization: Gradient Descent</vt:lpstr>
      <vt:lpstr>Gradient Descent</vt:lpstr>
      <vt:lpstr>Stochastic Gradient Descent</vt:lpstr>
      <vt:lpstr>Stochastic gradients with word vectors!</vt:lpstr>
      <vt:lpstr>Stochastic gradients with word vectors!</vt:lpstr>
      <vt:lpstr>1b. Word2vec: More details</vt:lpstr>
      <vt:lpstr>The skip-gram model with negative sampling</vt:lpstr>
      <vt:lpstr>The skip-gram model with negative sampling</vt:lpstr>
      <vt:lpstr>The skip-gram model with negative sampling</vt:lpstr>
      <vt:lpstr>3. But why not capture co-occurrence counts directly?</vt:lpstr>
      <vt:lpstr>Example: Window based co-occurrence matrix</vt:lpstr>
      <vt:lpstr>Window based co-occurrence matrix</vt:lpstr>
      <vt:lpstr>Problems with simple co-occurrence vectors</vt:lpstr>
      <vt:lpstr>Solution: Low dimensional vectors</vt:lpstr>
      <vt:lpstr>Method 1: Dimensionality Reduction on X </vt:lpstr>
      <vt:lpstr>Simple SVD word vectors in Python</vt:lpstr>
      <vt:lpstr>Simple SVD word vectors in Python</vt:lpstr>
      <vt:lpstr>Hacks to X (several used in Rohde et al. 2005)</vt:lpstr>
      <vt:lpstr>Interesting syntactic patterns emerge in the vectors</vt:lpstr>
      <vt:lpstr>Interesting semantic patterns emerge in the vectors</vt:lpstr>
      <vt:lpstr>Count based vs. direct prediction</vt:lpstr>
      <vt:lpstr>Encoding meaning in vector differences</vt:lpstr>
      <vt:lpstr>Encoding meaning in vector differences</vt:lpstr>
      <vt:lpstr>Encoding meaning in vector differences</vt:lpstr>
      <vt:lpstr>Combining the best of both worlds  GloVe [Pennington et al., EMNLP 2014]</vt:lpstr>
      <vt:lpstr>GloVe results</vt:lpstr>
      <vt:lpstr>How to evaluate word vectors?</vt:lpstr>
      <vt:lpstr>Intrinsic word vector evaluation</vt:lpstr>
      <vt:lpstr>Glove Visualizations</vt:lpstr>
      <vt:lpstr>Glove Visualizations: Company - CEO</vt:lpstr>
      <vt:lpstr>Glove Visualizations: Superlatives</vt:lpstr>
      <vt:lpstr>Details of intrinsic word vector evaluation</vt:lpstr>
      <vt:lpstr>Details of intrinsic word vector evaluation</vt:lpstr>
      <vt:lpstr>Analogy evaluation and hyperparameters</vt:lpstr>
      <vt:lpstr>Analogy evaluation and hyperparameters</vt:lpstr>
      <vt:lpstr>On the Dimensionality of Word Embedding [Zi Yin and Yuanyuan Shen, NeurIPS 2018]</vt:lpstr>
      <vt:lpstr>Analogy evaluation and hyperparameters</vt:lpstr>
      <vt:lpstr>Analogy evaluation and hyperparameters</vt:lpstr>
      <vt:lpstr>Another intrinsic word vector evaluation</vt:lpstr>
      <vt:lpstr>Closest words to “Sweden” (cosine similarity)</vt:lpstr>
      <vt:lpstr>Correlation evaluation</vt:lpstr>
      <vt:lpstr>Word senses and word sense ambiguity</vt:lpstr>
      <vt:lpstr>pike</vt:lpstr>
      <vt:lpstr>Improving Word Representations Via Global Context  And Multiple Word Prototypes (Huang et al. 2012)</vt:lpstr>
      <vt:lpstr>Linear Algebraic Structure of Word Senses, with</vt:lpstr>
      <vt:lpstr>Extrinsic word vector evaluation</vt:lpstr>
      <vt:lpstr>Course plan: coming weeks</vt:lpstr>
      <vt:lpstr>A note on your experience !</vt:lpstr>
      <vt:lpstr>Office Hours / Help sessions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Natural Language Processing</dc:title>
  <cp:lastModifiedBy>Dr. Shangsong Liang</cp:lastModifiedBy>
  <cp:revision>12</cp:revision>
  <dcterms:created xsi:type="dcterms:W3CDTF">2021-10-30T17:45:28Z</dcterms:created>
  <dcterms:modified xsi:type="dcterms:W3CDTF">2025-11-28T01:49:08Z</dcterms:modified>
</cp:coreProperties>
</file>