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7"/>
    <p:restoredTop sz="94740"/>
  </p:normalViewPr>
  <p:slideViewPr>
    <p:cSldViewPr>
      <p:cViewPr varScale="1">
        <p:scale>
          <a:sx n="109" d="100"/>
          <a:sy n="109" d="100"/>
        </p:scale>
        <p:origin x="204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8CF09-BCE9-0648-BA3F-CEB7D0559F0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20660-9833-9643-BEFE-849F11BB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ote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Motor_vehicle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spc="8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Thanks to Chris Manning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Trebuchet MS"/>
              <a:cs typeface="Trebuchet M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20660-9833-9643-BEFE-849F11BBA8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10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also known as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motor hotel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motor lodge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otel"/>
              </a:rPr>
              <a:t>hotel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designed for motorists, usually having each room entered directly from the parking area for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Motor vehicle"/>
              </a:rPr>
              <a:t>motor vehicles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rather than through a central lobby. 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Seattle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西雅图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motel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汽车旅馆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20660-9833-9643-BEFE-849F11BBA8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67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3118" y="496568"/>
            <a:ext cx="8932163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1772" y="555498"/>
            <a:ext cx="7494854" cy="1189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3118" y="1329689"/>
            <a:ext cx="8932163" cy="284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7718" y="7086825"/>
            <a:ext cx="269875" cy="282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972945" y="2514600"/>
            <a:ext cx="6536055" cy="3016852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sz="4000" spc="90" dirty="0">
                <a:latin typeface="Trebuchet MS"/>
                <a:cs typeface="Trebuchet MS"/>
              </a:rPr>
              <a:t>Word</a:t>
            </a:r>
            <a:r>
              <a:rPr sz="4000" spc="-240" dirty="0">
                <a:latin typeface="Trebuchet MS"/>
                <a:cs typeface="Trebuchet MS"/>
              </a:rPr>
              <a:t> </a:t>
            </a:r>
            <a:r>
              <a:rPr lang="en-US" altLang="zh-CN" sz="4000" spc="80" dirty="0">
                <a:latin typeface="Trebuchet MS"/>
                <a:cs typeface="Trebuchet MS"/>
              </a:rPr>
              <a:t>Embeddings</a:t>
            </a:r>
            <a:endParaRPr lang="en-US" sz="4000" spc="8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endParaRPr lang="en-US" sz="4000" spc="8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lang="en-US" altLang="zh-CN" sz="2600" spc="80" dirty="0">
                <a:latin typeface="Trebuchet MS"/>
                <a:cs typeface="Trebuchet MS"/>
              </a:rPr>
              <a:t>Lecturer:</a:t>
            </a:r>
            <a:r>
              <a:rPr lang="zh-CN" altLang="en-US" sz="2600" spc="80" dirty="0"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latin typeface="Trebuchet MS"/>
                <a:cs typeface="Trebuchet MS"/>
              </a:rPr>
              <a:t>Shangsong</a:t>
            </a:r>
            <a:r>
              <a:rPr lang="zh-CN" altLang="en-US" sz="2600" spc="80" dirty="0"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latin typeface="Trebuchet MS"/>
                <a:cs typeface="Trebuchet MS"/>
              </a:rPr>
              <a:t>Liang</a:t>
            </a: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lang="en-US" altLang="zh-CN" sz="2600" spc="80" dirty="0">
                <a:latin typeface="Trebuchet MS"/>
                <a:cs typeface="Trebuchet MS"/>
              </a:rPr>
              <a:t>Sun</a:t>
            </a:r>
            <a:r>
              <a:rPr lang="zh-CN" altLang="en-US" sz="2600" spc="80" dirty="0">
                <a:latin typeface="Trebuchet MS"/>
                <a:cs typeface="Trebuchet MS"/>
              </a:rPr>
              <a:t> </a:t>
            </a:r>
            <a:r>
              <a:rPr lang="en-US" altLang="zh-CN" sz="2600" spc="80" dirty="0" err="1">
                <a:latin typeface="Trebuchet MS"/>
                <a:cs typeface="Trebuchet MS"/>
              </a:rPr>
              <a:t>Yat-sen</a:t>
            </a:r>
            <a:r>
              <a:rPr lang="zh-CN" altLang="en-US" sz="2600" spc="80" dirty="0"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latin typeface="Trebuchet MS"/>
                <a:cs typeface="Trebuchet MS"/>
              </a:rPr>
              <a:t>University</a:t>
            </a: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endParaRPr lang="en-US" sz="2600" spc="80" dirty="0">
              <a:latin typeface="Trebuchet MS"/>
              <a:cs typeface="Trebuchet MS"/>
            </a:endParaRPr>
          </a:p>
        </p:txBody>
      </p:sp>
      <p:pic>
        <p:nvPicPr>
          <p:cNvPr id="8" name="图片 3" descr="20121109221446303940">
            <a:extLst>
              <a:ext uri="{FF2B5EF4-FFF2-40B4-BE49-F238E27FC236}">
                <a16:creationId xmlns:a16="http://schemas.microsoft.com/office/drawing/2014/main" id="{56DFFB13-EAD7-5948-A71C-50A6E631557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80" y="222758"/>
            <a:ext cx="59055" cy="7325359"/>
            <a:chOff x="148080" y="222758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8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8" y="0"/>
                  </a:moveTo>
                  <a:lnTo>
                    <a:pt x="0" y="0"/>
                  </a:lnTo>
                  <a:lnTo>
                    <a:pt x="0" y="7315201"/>
                  </a:lnTo>
                  <a:lnTo>
                    <a:pt x="48768" y="7315201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60" y="227838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199"/>
                  </a:lnTo>
                  <a:lnTo>
                    <a:pt x="0" y="7315199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1038" y="1218945"/>
            <a:ext cx="22447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65" dirty="0"/>
              <a:t>Lecture</a:t>
            </a:r>
            <a:r>
              <a:rPr sz="3400" spc="-295" dirty="0"/>
              <a:t> </a:t>
            </a:r>
            <a:r>
              <a:rPr sz="3400" spc="-170" dirty="0"/>
              <a:t>Plan</a:t>
            </a:r>
            <a:endParaRPr sz="3400"/>
          </a:p>
        </p:txBody>
      </p:sp>
      <p:sp>
        <p:nvSpPr>
          <p:cNvPr id="8" name="object 8"/>
          <p:cNvSpPr txBox="1"/>
          <p:nvPr/>
        </p:nvSpPr>
        <p:spPr>
          <a:xfrm>
            <a:off x="537718" y="6952713"/>
            <a:ext cx="17335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spc="-30" dirty="0">
                <a:latin typeface="Trebuchet MS"/>
                <a:cs typeface="Trebuchet MS"/>
              </a:rPr>
              <a:t>2</a:t>
            </a:fld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18" y="2088641"/>
            <a:ext cx="6946900" cy="28719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spc="90" dirty="0">
                <a:latin typeface="Trebuchet MS"/>
                <a:cs typeface="Trebuchet MS"/>
              </a:rPr>
              <a:t>Word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latin typeface="Trebuchet MS"/>
                <a:cs typeface="Trebuchet MS"/>
              </a:rPr>
              <a:t>Embeddings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lang="en-US" altLang="zh-CN" sz="2600" spc="-100" dirty="0">
                <a:latin typeface="Trebuchet MS"/>
                <a:cs typeface="Trebuchet MS"/>
              </a:rPr>
              <a:t>W</a:t>
            </a:r>
            <a:r>
              <a:rPr sz="2600" spc="-95" dirty="0">
                <a:latin typeface="Trebuchet MS"/>
                <a:cs typeface="Trebuchet MS"/>
              </a:rPr>
              <a:t>ord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meaning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endParaRPr lang="en-US" sz="2600" spc="-235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90" dirty="0">
                <a:latin typeface="Trebuchet MS"/>
                <a:cs typeface="Trebuchet MS"/>
              </a:rPr>
              <a:t>Word2vec </a:t>
            </a:r>
            <a:r>
              <a:rPr sz="2600" spc="-120" dirty="0">
                <a:latin typeface="Trebuchet MS"/>
                <a:cs typeface="Trebuchet MS"/>
              </a:rPr>
              <a:t>introduction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90" dirty="0">
                <a:latin typeface="Trebuchet MS"/>
                <a:cs typeface="Trebuchet MS"/>
              </a:rPr>
              <a:t>Word2vec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objective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gradients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35" dirty="0">
                <a:latin typeface="Trebuchet MS"/>
                <a:cs typeface="Trebuchet MS"/>
              </a:rPr>
              <a:t>Optimization </a:t>
            </a:r>
            <a:r>
              <a:rPr sz="2600" spc="-120" dirty="0">
                <a:latin typeface="Trebuchet MS"/>
                <a:cs typeface="Trebuchet MS"/>
              </a:rPr>
              <a:t>basics 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20" dirty="0">
                <a:latin typeface="Trebuchet MS"/>
                <a:cs typeface="Trebuchet MS"/>
              </a:rPr>
              <a:t>Looking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endParaRPr sz="2600" dirty="0">
              <a:latin typeface="Trebuchet MS"/>
              <a:cs typeface="Trebuchet MS"/>
            </a:endParaRPr>
          </a:p>
        </p:txBody>
      </p:sp>
      <p:pic>
        <p:nvPicPr>
          <p:cNvPr id="9" name="图片 3" descr="20121109221446303940">
            <a:extLst>
              <a:ext uri="{FF2B5EF4-FFF2-40B4-BE49-F238E27FC236}">
                <a16:creationId xmlns:a16="http://schemas.microsoft.com/office/drawing/2014/main" id="{6A0C29CC-F98A-CC47-9EA9-0A7C1080D02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186" y="359752"/>
            <a:ext cx="4502366" cy="2393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35750" y="4720590"/>
            <a:ext cx="30060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85" dirty="0">
                <a:latin typeface="Trebuchet MS"/>
                <a:cs typeface="Trebuchet MS"/>
              </a:rPr>
              <a:t>https://xkcd.com/1576/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70" dirty="0">
                <a:latin typeface="Trebuchet MS"/>
                <a:cs typeface="Trebuchet MS"/>
              </a:rPr>
              <a:t>Randall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Munroe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80" dirty="0">
                <a:latin typeface="Trebuchet MS"/>
                <a:cs typeface="Trebuchet MS"/>
              </a:rPr>
              <a:t>CC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70" dirty="0">
                <a:latin typeface="Trebuchet MS"/>
                <a:cs typeface="Trebuchet MS"/>
              </a:rPr>
              <a:t>BY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NC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Trebuchet MS"/>
                <a:cs typeface="Trebuchet MS"/>
              </a:rPr>
              <a:t>2.5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83835" y="377000"/>
            <a:ext cx="4843603" cy="34447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50092" y="5068571"/>
            <a:ext cx="6086730" cy="23214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390" y="3541215"/>
            <a:ext cx="3245304" cy="38612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162" y="227838"/>
            <a:ext cx="9753600" cy="731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87210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0" dirty="0">
                <a:solidFill>
                  <a:srgbClr val="3A87FF"/>
                </a:solidFill>
              </a:rPr>
              <a:t>1. </a:t>
            </a:r>
            <a:r>
              <a:rPr sz="3400" spc="-130" dirty="0">
                <a:solidFill>
                  <a:srgbClr val="3A87FF"/>
                </a:solidFill>
              </a:rPr>
              <a:t>How </a:t>
            </a:r>
            <a:r>
              <a:rPr sz="3400" spc="-125" dirty="0">
                <a:solidFill>
                  <a:srgbClr val="3A87FF"/>
                </a:solidFill>
              </a:rPr>
              <a:t>do </a:t>
            </a:r>
            <a:r>
              <a:rPr sz="3400" spc="-185" dirty="0">
                <a:solidFill>
                  <a:srgbClr val="3A87FF"/>
                </a:solidFill>
              </a:rPr>
              <a:t>we </a:t>
            </a:r>
            <a:r>
              <a:rPr sz="3400" spc="-204" dirty="0">
                <a:solidFill>
                  <a:srgbClr val="3A87FF"/>
                </a:solidFill>
              </a:rPr>
              <a:t>represent </a:t>
            </a:r>
            <a:r>
              <a:rPr sz="3400" spc="-200" dirty="0">
                <a:solidFill>
                  <a:srgbClr val="3A87FF"/>
                </a:solidFill>
              </a:rPr>
              <a:t>the </a:t>
            </a:r>
            <a:r>
              <a:rPr sz="3400" spc="-170" dirty="0">
                <a:solidFill>
                  <a:srgbClr val="3A87FF"/>
                </a:solidFill>
              </a:rPr>
              <a:t>meaning </a:t>
            </a:r>
            <a:r>
              <a:rPr sz="3400" spc="-135" dirty="0">
                <a:solidFill>
                  <a:srgbClr val="3A87FF"/>
                </a:solidFill>
              </a:rPr>
              <a:t>of a</a:t>
            </a:r>
            <a:r>
              <a:rPr sz="3400" spc="-775" dirty="0">
                <a:solidFill>
                  <a:srgbClr val="3A87FF"/>
                </a:solidFill>
              </a:rPr>
              <a:t> </a:t>
            </a:r>
            <a:r>
              <a:rPr lang="zh-CN" altLang="en-US" sz="3400" spc="-775" dirty="0">
                <a:solidFill>
                  <a:srgbClr val="3A87FF"/>
                </a:solidFill>
              </a:rPr>
              <a:t> </a:t>
            </a:r>
            <a:r>
              <a:rPr sz="3400" spc="-105" dirty="0">
                <a:solidFill>
                  <a:srgbClr val="3A87FF"/>
                </a:solidFill>
              </a:rPr>
              <a:t>word?</a:t>
            </a:r>
            <a:endParaRPr sz="3400" dirty="0"/>
          </a:p>
        </p:txBody>
      </p:sp>
      <p:sp>
        <p:nvSpPr>
          <p:cNvPr id="3" name="object 3"/>
          <p:cNvSpPr txBox="1"/>
          <p:nvPr/>
        </p:nvSpPr>
        <p:spPr>
          <a:xfrm>
            <a:off x="563118" y="1918970"/>
            <a:ext cx="8899525" cy="468630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000" spc="-145" dirty="0">
                <a:latin typeface="Trebuchet MS"/>
                <a:cs typeface="Trebuchet MS"/>
              </a:rPr>
              <a:t>Definition: </a:t>
            </a:r>
            <a:r>
              <a:rPr sz="3000" b="1" spc="-160" dirty="0">
                <a:latin typeface="Trebuchet MS"/>
                <a:cs typeface="Trebuchet MS"/>
              </a:rPr>
              <a:t>meaning </a:t>
            </a:r>
            <a:r>
              <a:rPr sz="3000" spc="-114" dirty="0">
                <a:latin typeface="Trebuchet MS"/>
                <a:cs typeface="Trebuchet MS"/>
              </a:rPr>
              <a:t>(Webster</a:t>
            </a:r>
            <a:r>
              <a:rPr sz="3000" spc="-380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dictionary)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the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idea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that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is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represented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by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word,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phrase,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229" dirty="0">
                <a:latin typeface="Trebuchet MS"/>
                <a:cs typeface="Trebuchet MS"/>
              </a:rPr>
              <a:t>etc.</a:t>
            </a:r>
            <a:endParaRPr sz="3000" dirty="0">
              <a:latin typeface="Trebuchet MS"/>
              <a:cs typeface="Trebuchet MS"/>
            </a:endParaRPr>
          </a:p>
          <a:p>
            <a:pPr marL="499745" marR="949960" indent="-487680">
              <a:lnSpc>
                <a:spcPct val="100000"/>
              </a:lnSpc>
              <a:spcBef>
                <a:spcPts val="192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the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idea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that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person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wants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to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express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by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using  </a:t>
            </a:r>
            <a:r>
              <a:rPr sz="3000" spc="-130" dirty="0">
                <a:latin typeface="Trebuchet MS"/>
                <a:cs typeface="Trebuchet MS"/>
              </a:rPr>
              <a:t>words, </a:t>
            </a:r>
            <a:r>
              <a:rPr sz="3000" spc="-135" dirty="0">
                <a:latin typeface="Trebuchet MS"/>
                <a:cs typeface="Trebuchet MS"/>
              </a:rPr>
              <a:t>signs,</a:t>
            </a:r>
            <a:r>
              <a:rPr sz="3000" spc="-325" dirty="0">
                <a:latin typeface="Trebuchet MS"/>
                <a:cs typeface="Trebuchet MS"/>
              </a:rPr>
              <a:t> </a:t>
            </a:r>
            <a:r>
              <a:rPr sz="3000" spc="-229" dirty="0">
                <a:latin typeface="Trebuchet MS"/>
                <a:cs typeface="Trebuchet MS"/>
              </a:rPr>
              <a:t>etc.</a:t>
            </a:r>
            <a:endParaRPr sz="3000" dirty="0">
              <a:latin typeface="Trebuchet MS"/>
              <a:cs typeface="Trebuchet MS"/>
            </a:endParaRPr>
          </a:p>
          <a:p>
            <a:pPr marL="12700" marR="5080">
              <a:lnSpc>
                <a:spcPct val="152700"/>
              </a:lnSpc>
              <a:spcBef>
                <a:spcPts val="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the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idea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that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is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expressed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in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work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of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writing,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210" dirty="0">
                <a:latin typeface="Trebuchet MS"/>
                <a:cs typeface="Trebuchet MS"/>
              </a:rPr>
              <a:t>art,</a:t>
            </a:r>
            <a:r>
              <a:rPr sz="3000" spc="-229" dirty="0">
                <a:latin typeface="Trebuchet MS"/>
                <a:cs typeface="Trebuchet MS"/>
              </a:rPr>
              <a:t> etc.  </a:t>
            </a:r>
            <a:r>
              <a:rPr sz="3000" spc="-110" dirty="0">
                <a:latin typeface="Trebuchet MS"/>
                <a:cs typeface="Trebuchet MS"/>
              </a:rPr>
              <a:t>Commonest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linguistic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way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of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thinking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of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meaning:</a:t>
            </a:r>
            <a:endParaRPr sz="3000" dirty="0">
              <a:latin typeface="Trebuchet MS"/>
              <a:cs typeface="Trebuchet MS"/>
            </a:endParaRPr>
          </a:p>
          <a:p>
            <a:pPr marL="1054735">
              <a:lnSpc>
                <a:spcPct val="100000"/>
              </a:lnSpc>
              <a:spcBef>
                <a:spcPts val="1895"/>
              </a:spcBef>
            </a:pPr>
            <a:r>
              <a:rPr sz="3000" spc="-140" dirty="0">
                <a:latin typeface="Trebuchet MS"/>
                <a:cs typeface="Trebuchet MS"/>
              </a:rPr>
              <a:t>signifier </a:t>
            </a:r>
            <a:r>
              <a:rPr sz="3000" spc="-130" dirty="0">
                <a:latin typeface="Trebuchet MS"/>
                <a:cs typeface="Trebuchet MS"/>
              </a:rPr>
              <a:t>(symbol) </a:t>
            </a:r>
            <a:r>
              <a:rPr sz="3000" spc="-765" dirty="0">
                <a:latin typeface="DejaVu Sans"/>
                <a:cs typeface="DejaVu Sans"/>
              </a:rPr>
              <a:t>⟺ </a:t>
            </a:r>
            <a:r>
              <a:rPr sz="3000" spc="-135" dirty="0">
                <a:latin typeface="Trebuchet MS"/>
                <a:cs typeface="Trebuchet MS"/>
              </a:rPr>
              <a:t>signified </a:t>
            </a:r>
            <a:r>
              <a:rPr sz="3000" spc="-155" dirty="0">
                <a:latin typeface="Trebuchet MS"/>
                <a:cs typeface="Trebuchet MS"/>
              </a:rPr>
              <a:t>(idea </a:t>
            </a:r>
            <a:r>
              <a:rPr sz="3000" spc="-80" dirty="0">
                <a:latin typeface="Trebuchet MS"/>
                <a:cs typeface="Trebuchet MS"/>
              </a:rPr>
              <a:t>or</a:t>
            </a:r>
            <a:r>
              <a:rPr sz="3000" spc="-520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thing)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1292" y="6070244"/>
            <a:ext cx="7357745" cy="721995"/>
          </a:xfrm>
          <a:custGeom>
            <a:avLst/>
            <a:gdLst/>
            <a:ahLst/>
            <a:cxnLst/>
            <a:rect l="l" t="t" r="r" b="b"/>
            <a:pathLst>
              <a:path w="7357745" h="721995">
                <a:moveTo>
                  <a:pt x="0" y="120298"/>
                </a:moveTo>
                <a:lnTo>
                  <a:pt x="9453" y="73472"/>
                </a:lnTo>
                <a:lnTo>
                  <a:pt x="35234" y="35234"/>
                </a:lnTo>
                <a:lnTo>
                  <a:pt x="73472" y="9453"/>
                </a:lnTo>
                <a:lnTo>
                  <a:pt x="120297" y="0"/>
                </a:lnTo>
                <a:lnTo>
                  <a:pt x="7237045" y="0"/>
                </a:lnTo>
                <a:lnTo>
                  <a:pt x="7283872" y="9453"/>
                </a:lnTo>
                <a:lnTo>
                  <a:pt x="7322110" y="35234"/>
                </a:lnTo>
                <a:lnTo>
                  <a:pt x="7347890" y="73472"/>
                </a:lnTo>
                <a:lnTo>
                  <a:pt x="7357343" y="120298"/>
                </a:lnTo>
                <a:lnTo>
                  <a:pt x="7357343" y="601467"/>
                </a:lnTo>
                <a:lnTo>
                  <a:pt x="7347890" y="648293"/>
                </a:lnTo>
                <a:lnTo>
                  <a:pt x="7322110" y="686531"/>
                </a:lnTo>
                <a:lnTo>
                  <a:pt x="7283872" y="712312"/>
                </a:lnTo>
                <a:lnTo>
                  <a:pt x="7237045" y="721766"/>
                </a:lnTo>
                <a:lnTo>
                  <a:pt x="120297" y="721766"/>
                </a:lnTo>
                <a:lnTo>
                  <a:pt x="73472" y="712312"/>
                </a:lnTo>
                <a:lnTo>
                  <a:pt x="35234" y="686531"/>
                </a:lnTo>
                <a:lnTo>
                  <a:pt x="9453" y="648293"/>
                </a:lnTo>
                <a:lnTo>
                  <a:pt x="0" y="601467"/>
                </a:lnTo>
                <a:lnTo>
                  <a:pt x="0" y="120298"/>
                </a:lnTo>
                <a:close/>
              </a:path>
            </a:pathLst>
          </a:custGeom>
          <a:ln w="30479">
            <a:solidFill>
              <a:srgbClr val="BB5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89539" y="6795769"/>
            <a:ext cx="515446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80" dirty="0">
                <a:solidFill>
                  <a:srgbClr val="BB57BE"/>
                </a:solidFill>
                <a:latin typeface="Trebuchet MS"/>
                <a:cs typeface="Trebuchet MS"/>
              </a:rPr>
              <a:t>= </a:t>
            </a:r>
            <a:r>
              <a:rPr sz="3000" spc="-135" dirty="0">
                <a:solidFill>
                  <a:srgbClr val="BB57BE"/>
                </a:solidFill>
                <a:latin typeface="Trebuchet MS"/>
                <a:cs typeface="Trebuchet MS"/>
              </a:rPr>
              <a:t>denotational</a:t>
            </a:r>
            <a:r>
              <a:rPr lang="zh-CN" altLang="en-US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lang="en-US" altLang="zh-CN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(</a:t>
            </a:r>
            <a:r>
              <a:rPr lang="zh-CN" altLang="en-US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命名的</a:t>
            </a:r>
            <a:r>
              <a:rPr lang="en-US" altLang="zh-CN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)</a:t>
            </a:r>
            <a:r>
              <a:rPr lang="zh-CN" altLang="en-US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3000" spc="-44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3000" spc="-135" dirty="0">
                <a:solidFill>
                  <a:srgbClr val="BB57BE"/>
                </a:solidFill>
                <a:latin typeface="Trebuchet MS"/>
                <a:cs typeface="Trebuchet MS"/>
              </a:rPr>
              <a:t>semantics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118" y="7102093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5" dirty="0">
                <a:latin typeface="Trebuchet MS"/>
                <a:cs typeface="Trebuchet MS"/>
              </a:rPr>
              <a:t>11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87617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30" dirty="0">
                <a:solidFill>
                  <a:srgbClr val="3A87FF"/>
                </a:solidFill>
              </a:rPr>
              <a:t>How</a:t>
            </a:r>
            <a:r>
              <a:rPr sz="3400" spc="-240" dirty="0">
                <a:solidFill>
                  <a:srgbClr val="3A87FF"/>
                </a:solidFill>
              </a:rPr>
              <a:t> </a:t>
            </a:r>
            <a:r>
              <a:rPr sz="3400" spc="-125" dirty="0">
                <a:solidFill>
                  <a:srgbClr val="3A87FF"/>
                </a:solidFill>
              </a:rPr>
              <a:t>do</a:t>
            </a:r>
            <a:r>
              <a:rPr sz="3400" spc="-240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we</a:t>
            </a:r>
            <a:r>
              <a:rPr sz="3400" spc="-245" dirty="0">
                <a:solidFill>
                  <a:srgbClr val="3A87FF"/>
                </a:solidFill>
              </a:rPr>
              <a:t> </a:t>
            </a:r>
            <a:r>
              <a:rPr sz="3400" spc="-190" dirty="0">
                <a:solidFill>
                  <a:srgbClr val="3A87FF"/>
                </a:solidFill>
              </a:rPr>
              <a:t>have</a:t>
            </a:r>
            <a:r>
              <a:rPr sz="3400" spc="-240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usable</a:t>
            </a:r>
            <a:r>
              <a:rPr sz="3400" spc="-245" dirty="0">
                <a:solidFill>
                  <a:srgbClr val="3A87FF"/>
                </a:solidFill>
              </a:rPr>
              <a:t> </a:t>
            </a:r>
            <a:r>
              <a:rPr sz="3400" spc="-170" dirty="0">
                <a:solidFill>
                  <a:srgbClr val="3A87FF"/>
                </a:solidFill>
              </a:rPr>
              <a:t>meaning</a:t>
            </a:r>
            <a:r>
              <a:rPr sz="3400" spc="-254" dirty="0">
                <a:solidFill>
                  <a:srgbClr val="3A87FF"/>
                </a:solidFill>
              </a:rPr>
              <a:t> </a:t>
            </a:r>
            <a:r>
              <a:rPr sz="3400" spc="-180" dirty="0">
                <a:solidFill>
                  <a:srgbClr val="3A87FF"/>
                </a:solidFill>
              </a:rPr>
              <a:t>in</a:t>
            </a:r>
            <a:r>
              <a:rPr sz="3400" spc="-250" dirty="0">
                <a:solidFill>
                  <a:srgbClr val="3A87FF"/>
                </a:solidFill>
              </a:rPr>
              <a:t> </a:t>
            </a:r>
            <a:r>
              <a:rPr sz="3400" spc="-135" dirty="0">
                <a:solidFill>
                  <a:srgbClr val="3A87FF"/>
                </a:solidFill>
              </a:rPr>
              <a:t>a</a:t>
            </a:r>
            <a:r>
              <a:rPr sz="3400" spc="-245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computer?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244347"/>
            <a:ext cx="8612505" cy="13944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u="sng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Common</a:t>
            </a:r>
            <a:r>
              <a:rPr sz="2600" u="sng" spc="-2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sng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solution</a:t>
            </a:r>
            <a:r>
              <a:rPr sz="2600" spc="-125" dirty="0">
                <a:latin typeface="Trebuchet MS"/>
                <a:cs typeface="Trebuchet MS"/>
              </a:rPr>
              <a:t>: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Use</a:t>
            </a:r>
            <a:r>
              <a:rPr sz="2600" spc="-220" dirty="0">
                <a:latin typeface="Trebuchet MS"/>
                <a:cs typeface="Trebuchet MS"/>
              </a:rPr>
              <a:t> e.g.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WordNet</a:t>
            </a:r>
            <a:r>
              <a:rPr sz="2600" spc="-105" dirty="0">
                <a:latin typeface="Trebuchet MS"/>
                <a:cs typeface="Trebuchet MS"/>
              </a:rPr>
              <a:t>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thesaurus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containing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lists 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synonym</a:t>
            </a:r>
            <a:r>
              <a:rPr sz="2600" b="1" spc="-245" dirty="0">
                <a:latin typeface="Trebuchet MS"/>
                <a:cs typeface="Trebuchet MS"/>
              </a:rPr>
              <a:t> </a:t>
            </a:r>
            <a:r>
              <a:rPr sz="2600" b="1" spc="-135" dirty="0">
                <a:latin typeface="Trebuchet MS"/>
                <a:cs typeface="Trebuchet MS"/>
              </a:rPr>
              <a:t>sets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hypernyms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spc="-175" dirty="0">
                <a:latin typeface="Trebuchet MS"/>
                <a:cs typeface="Trebuchet MS"/>
              </a:rPr>
              <a:t>(“is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210" dirty="0">
                <a:latin typeface="Trebuchet MS"/>
                <a:cs typeface="Trebuchet MS"/>
              </a:rPr>
              <a:t>a”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relationships).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  <a:tabLst>
                <a:tab pos="5245735" algn="l"/>
              </a:tabLst>
            </a:pPr>
            <a:r>
              <a:rPr sz="1900" i="1" spc="-130" dirty="0">
                <a:latin typeface="Trebuchet MS"/>
                <a:cs typeface="Trebuchet MS"/>
              </a:rPr>
              <a:t>e.g. </a:t>
            </a:r>
            <a:r>
              <a:rPr sz="1900" i="1" spc="-70" dirty="0">
                <a:latin typeface="Trebuchet MS"/>
                <a:cs typeface="Trebuchet MS"/>
              </a:rPr>
              <a:t>synonym </a:t>
            </a:r>
            <a:r>
              <a:rPr sz="1900" i="1" spc="-85" dirty="0">
                <a:latin typeface="Trebuchet MS"/>
                <a:cs typeface="Trebuchet MS"/>
              </a:rPr>
              <a:t>sets</a:t>
            </a:r>
            <a:r>
              <a:rPr sz="1900" i="1" spc="-165" dirty="0">
                <a:latin typeface="Trebuchet MS"/>
                <a:cs typeface="Trebuchet MS"/>
              </a:rPr>
              <a:t> </a:t>
            </a:r>
            <a:r>
              <a:rPr sz="1900" i="1" spc="-80" dirty="0">
                <a:latin typeface="Trebuchet MS"/>
                <a:cs typeface="Trebuchet MS"/>
              </a:rPr>
              <a:t>containing</a:t>
            </a:r>
            <a:r>
              <a:rPr sz="1900" i="1" spc="-114" dirty="0">
                <a:latin typeface="Trebuchet MS"/>
                <a:cs typeface="Trebuchet MS"/>
              </a:rPr>
              <a:t> </a:t>
            </a:r>
            <a:r>
              <a:rPr sz="1900" i="1" spc="-110" dirty="0">
                <a:latin typeface="Trebuchet MS"/>
                <a:cs typeface="Trebuchet MS"/>
              </a:rPr>
              <a:t>“good”:	</a:t>
            </a:r>
            <a:r>
              <a:rPr sz="1900" i="1" spc="-130" dirty="0">
                <a:latin typeface="Trebuchet MS"/>
                <a:cs typeface="Trebuchet MS"/>
              </a:rPr>
              <a:t>e.g. </a:t>
            </a:r>
            <a:r>
              <a:rPr sz="1900" i="1" spc="-90" dirty="0">
                <a:latin typeface="Trebuchet MS"/>
                <a:cs typeface="Trebuchet MS"/>
              </a:rPr>
              <a:t>hypernyms </a:t>
            </a:r>
            <a:r>
              <a:rPr sz="1900" i="1" spc="-110" dirty="0">
                <a:latin typeface="Trebuchet MS"/>
                <a:cs typeface="Trebuchet MS"/>
              </a:rPr>
              <a:t>of</a:t>
            </a:r>
            <a:r>
              <a:rPr sz="1900" i="1" spc="-185" dirty="0">
                <a:latin typeface="Trebuchet MS"/>
                <a:cs typeface="Trebuchet MS"/>
              </a:rPr>
              <a:t> </a:t>
            </a:r>
            <a:r>
              <a:rPr sz="1900" i="1" spc="-105" dirty="0">
                <a:latin typeface="Trebuchet MS"/>
                <a:cs typeface="Trebuchet MS"/>
              </a:rPr>
              <a:t>“panda”:</a:t>
            </a:r>
            <a:endParaRPr sz="19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97473" y="3839717"/>
            <a:ext cx="3550920" cy="3270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96737" y="3983990"/>
            <a:ext cx="2965450" cy="299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956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Noto Sans Mono CJK JP Bold"/>
                <a:cs typeface="Noto Sans Mono CJK JP Bold"/>
              </a:rPr>
              <a:t>[Synset('procyonid.n.01'),  Synset('carnivore.n.01'),  Synset('placental.n.01'),  Synset('mammal.n.01'),  Synset('vertebrate.n.01'),  Synset('chordate.n.01'),  Synset('animal.n.01'),  Synset('organism.n.01'),  Synset('living_thing.n.01'),  Synset('whole.n.02'),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508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Synset('object.n.01'),  Synset('physical_entity.n.01'),  Synset('entity.n.01')]</a:t>
            </a:r>
            <a:endParaRPr sz="1500">
              <a:latin typeface="Noto Sans Mono CJK JP Bold"/>
              <a:cs typeface="Noto Sans Mono CJK JP Bold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4058" y="3824478"/>
            <a:ext cx="4989576" cy="3273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3118" y="3855973"/>
            <a:ext cx="4766945" cy="321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Noto Sans Mono CJK JP Bold"/>
                <a:cs typeface="Noto Sans Mono CJK JP Bold"/>
              </a:rPr>
              <a:t>noun:</a:t>
            </a:r>
            <a:r>
              <a:rPr sz="1500" spc="-1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284988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noun: good,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goodness  noun: good,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goodness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161671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noun: commodity, trade_good,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  adj:</a:t>
            </a:r>
            <a:r>
              <a:rPr sz="1500" spc="-1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275463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adj (sat): full,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  adj:</a:t>
            </a:r>
            <a:r>
              <a:rPr sz="1500" spc="-20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508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adj (sat): estimable, good, honorable,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respectable  adj (sat): beneficial,</a:t>
            </a:r>
            <a:r>
              <a:rPr sz="1500" spc="-30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adj (sat):</a:t>
            </a:r>
            <a:r>
              <a:rPr sz="1500" spc="-20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adj (sat): good, just,</a:t>
            </a:r>
            <a:r>
              <a:rPr sz="1500" spc="-40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upright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ct val="100000"/>
              </a:lnSpc>
            </a:pPr>
            <a:r>
              <a:rPr sz="1500" spc="-750" dirty="0">
                <a:latin typeface="Noto Sans Mono CJK JP Bold"/>
                <a:cs typeface="Noto Sans Mono CJK JP Bold"/>
              </a:rPr>
              <a:t>…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ts val="175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adverb: well,</a:t>
            </a:r>
            <a:r>
              <a:rPr sz="1500" spc="-2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ts val="175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adverb: thoroughly, soundly,</a:t>
            </a:r>
            <a:r>
              <a:rPr sz="1500" spc="-3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6</a:t>
            </a:fld>
            <a:endParaRPr spc="-30" dirty="0"/>
          </a:p>
        </p:txBody>
      </p:sp>
      <p:sp>
        <p:nvSpPr>
          <p:cNvPr id="8" name="object 8"/>
          <p:cNvSpPr txBox="1"/>
          <p:nvPr/>
        </p:nvSpPr>
        <p:spPr>
          <a:xfrm>
            <a:off x="505374" y="2756598"/>
            <a:ext cx="4959350" cy="91948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46990" rIns="0" bIns="0" rtlCol="0">
            <a:spAutoFit/>
          </a:bodyPr>
          <a:lstStyle/>
          <a:p>
            <a:pPr marL="97155">
              <a:lnSpc>
                <a:spcPts val="1260"/>
              </a:lnSpc>
              <a:spcBef>
                <a:spcPts val="370"/>
              </a:spcBef>
            </a:pPr>
            <a:r>
              <a:rPr sz="1100" spc="-1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from </a:t>
            </a:r>
            <a:r>
              <a:rPr sz="1100" spc="-20" dirty="0">
                <a:latin typeface="Noto Sans Mono CJK JP Bold"/>
                <a:cs typeface="Noto Sans Mono CJK JP Bold"/>
              </a:rPr>
              <a:t>nltk.corpus </a:t>
            </a:r>
            <a:r>
              <a:rPr sz="1100" spc="-2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import </a:t>
            </a:r>
            <a:r>
              <a:rPr sz="1100" spc="-20" dirty="0">
                <a:latin typeface="Noto Sans Mono CJK JP Bold"/>
                <a:cs typeface="Noto Sans Mono CJK JP Bold"/>
              </a:rPr>
              <a:t>wordnet </a:t>
            </a:r>
            <a:r>
              <a:rPr sz="11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as</a:t>
            </a:r>
            <a:r>
              <a:rPr sz="1100" spc="-10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latin typeface="Noto Sans Mono CJK JP Bold"/>
                <a:cs typeface="Noto Sans Mono CJK JP Bold"/>
              </a:rPr>
              <a:t>wn</a:t>
            </a:r>
            <a:endParaRPr sz="1100">
              <a:latin typeface="Noto Sans Mono CJK JP Bold"/>
              <a:cs typeface="Noto Sans Mono CJK JP Bold"/>
            </a:endParaRPr>
          </a:p>
          <a:p>
            <a:pPr marL="97155">
              <a:lnSpc>
                <a:spcPts val="1260"/>
              </a:lnSpc>
            </a:pPr>
            <a:r>
              <a:rPr sz="1100" spc="-20" dirty="0">
                <a:latin typeface="Noto Sans Mono CJK JP Bold"/>
                <a:cs typeface="Noto Sans Mono CJK JP Bold"/>
              </a:rPr>
              <a:t>poses </a:t>
            </a:r>
            <a:r>
              <a:rPr sz="1100" dirty="0">
                <a:latin typeface="Noto Sans Mono CJK JP Bold"/>
                <a:cs typeface="Noto Sans Mono CJK JP Bold"/>
              </a:rPr>
              <a:t>= { 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'n'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'noun', 'v'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'verb', 's'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'adj (s)', 'a'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'adj',</a:t>
            </a:r>
            <a:r>
              <a:rPr sz="1100" spc="-15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'r'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'adv'</a:t>
            </a:r>
            <a:r>
              <a:rPr sz="1100" spc="-20" dirty="0">
                <a:latin typeface="Noto Sans Mono CJK JP Bold"/>
                <a:cs typeface="Noto Sans Mono CJK JP Bold"/>
              </a:rPr>
              <a:t>}</a:t>
            </a:r>
            <a:endParaRPr sz="1100">
              <a:latin typeface="Noto Sans Mono CJK JP Bold"/>
              <a:cs typeface="Noto Sans Mono CJK JP Bold"/>
            </a:endParaRPr>
          </a:p>
          <a:p>
            <a:pPr marL="97155">
              <a:lnSpc>
                <a:spcPts val="1310"/>
              </a:lnSpc>
            </a:pPr>
            <a:r>
              <a:rPr sz="1100" spc="-1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for </a:t>
            </a:r>
            <a:r>
              <a:rPr sz="1100" spc="-20" dirty="0">
                <a:latin typeface="Noto Sans Mono CJK JP Bold"/>
                <a:cs typeface="Noto Sans Mono CJK JP Bold"/>
              </a:rPr>
              <a:t>synset </a:t>
            </a:r>
            <a:r>
              <a:rPr sz="11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in</a:t>
            </a:r>
            <a:r>
              <a:rPr sz="1100" spc="-8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latin typeface="Noto Sans Mono CJK JP Bold"/>
                <a:cs typeface="Noto Sans Mono CJK JP Bold"/>
              </a:rPr>
              <a:t>wn.synsets(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"good"</a:t>
            </a:r>
            <a:r>
              <a:rPr sz="1100" spc="-20" dirty="0">
                <a:latin typeface="Noto Sans Mono CJK JP Bold"/>
                <a:cs typeface="Noto Sans Mono CJK JP Bold"/>
              </a:rPr>
              <a:t>):</a:t>
            </a:r>
            <a:endParaRPr sz="1100">
              <a:latin typeface="Noto Sans Mono CJK JP Bold"/>
              <a:cs typeface="Noto Sans Mono CJK JP Bold"/>
            </a:endParaRPr>
          </a:p>
          <a:p>
            <a:pPr marL="368300">
              <a:lnSpc>
                <a:spcPts val="1295"/>
              </a:lnSpc>
            </a:pPr>
            <a:r>
              <a:rPr sz="1100" spc="-2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print</a:t>
            </a:r>
            <a:r>
              <a:rPr sz="1100" spc="-20" dirty="0">
                <a:latin typeface="Noto Sans Mono CJK JP Bold"/>
                <a:cs typeface="Noto Sans Mono CJK JP Bold"/>
              </a:rPr>
              <a:t>(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"{}:</a:t>
            </a:r>
            <a:r>
              <a:rPr sz="1100" spc="-4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{}"</a:t>
            </a:r>
            <a:r>
              <a:rPr sz="1100" spc="-20" dirty="0">
                <a:latin typeface="Noto Sans Mono CJK JP Bold"/>
                <a:cs typeface="Noto Sans Mono CJK JP Bold"/>
              </a:rPr>
              <a:t>.format(poses[synset.pos()],</a:t>
            </a:r>
            <a:endParaRPr sz="1100">
              <a:latin typeface="Noto Sans Mono CJK JP Bold"/>
              <a:cs typeface="Noto Sans Mono CJK JP Bold"/>
            </a:endParaRPr>
          </a:p>
          <a:p>
            <a:pPr marL="909955">
              <a:lnSpc>
                <a:spcPts val="1310"/>
              </a:lnSpc>
            </a:pPr>
            <a:r>
              <a:rPr sz="1100" spc="-1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", 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</a:t>
            </a:r>
            <a:r>
              <a:rPr sz="1100" spc="-20" dirty="0">
                <a:latin typeface="Noto Sans Mono CJK JP Bold"/>
                <a:cs typeface="Noto Sans Mono CJK JP Bold"/>
              </a:rPr>
              <a:t>.join([l.name() </a:t>
            </a:r>
            <a:r>
              <a:rPr sz="1100" spc="-1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for </a:t>
            </a:r>
            <a:r>
              <a:rPr sz="1100" dirty="0">
                <a:latin typeface="Noto Sans Mono CJK JP Bold"/>
                <a:cs typeface="Noto Sans Mono CJK JP Bold"/>
              </a:rPr>
              <a:t>l </a:t>
            </a:r>
            <a:r>
              <a:rPr sz="11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in</a:t>
            </a:r>
            <a:r>
              <a:rPr sz="1100" spc="-15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latin typeface="Noto Sans Mono CJK JP Bold"/>
                <a:cs typeface="Noto Sans Mono CJK JP Bold"/>
              </a:rPr>
              <a:t>synset.lemmas()])))</a:t>
            </a:r>
            <a:endParaRPr sz="1100">
              <a:latin typeface="Noto Sans Mono CJK JP Bold"/>
              <a:cs typeface="Noto Sans Mono CJK JP 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4918" y="2756598"/>
            <a:ext cx="3522979" cy="95250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50800" rIns="0" bIns="0" rtlCol="0">
            <a:spAutoFit/>
          </a:bodyPr>
          <a:lstStyle/>
          <a:p>
            <a:pPr marL="97155" marR="158750">
              <a:lnSpc>
                <a:spcPct val="99000"/>
              </a:lnSpc>
              <a:spcBef>
                <a:spcPts val="400"/>
              </a:spcBef>
            </a:pPr>
            <a:r>
              <a:rPr sz="14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from </a:t>
            </a:r>
            <a:r>
              <a:rPr sz="1400" spc="-10" dirty="0">
                <a:latin typeface="Noto Sans Mono CJK JP Bold"/>
                <a:cs typeface="Noto Sans Mono CJK JP Bold"/>
              </a:rPr>
              <a:t>nltk.corpus </a:t>
            </a:r>
            <a:r>
              <a:rPr sz="14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import </a:t>
            </a:r>
            <a:r>
              <a:rPr sz="1400" spc="-10" dirty="0">
                <a:latin typeface="Noto Sans Mono CJK JP Bold"/>
                <a:cs typeface="Noto Sans Mono CJK JP Bold"/>
              </a:rPr>
              <a:t>wordnet </a:t>
            </a:r>
            <a:r>
              <a:rPr sz="1400" spc="-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as </a:t>
            </a:r>
            <a:r>
              <a:rPr sz="1400" spc="-10" dirty="0">
                <a:latin typeface="Noto Sans Mono CJK JP Bold"/>
                <a:cs typeface="Noto Sans Mono CJK JP Bold"/>
              </a:rPr>
              <a:t>wn  panda </a:t>
            </a:r>
            <a:r>
              <a:rPr sz="1400" dirty="0">
                <a:latin typeface="Noto Sans Mono CJK JP Bold"/>
                <a:cs typeface="Noto Sans Mono CJK JP Bold"/>
              </a:rPr>
              <a:t>= </a:t>
            </a:r>
            <a:r>
              <a:rPr sz="1400" spc="-10" dirty="0">
                <a:latin typeface="Noto Sans Mono CJK JP Bold"/>
                <a:cs typeface="Noto Sans Mono CJK JP Bold"/>
              </a:rPr>
              <a:t>wn.synset(</a:t>
            </a:r>
            <a:r>
              <a:rPr sz="1400" spc="-1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"panda.n.01"</a:t>
            </a:r>
            <a:r>
              <a:rPr sz="1400" spc="-10" dirty="0">
                <a:latin typeface="Noto Sans Mono CJK JP Bold"/>
                <a:cs typeface="Noto Sans Mono CJK JP Bold"/>
              </a:rPr>
              <a:t>)  hyper </a:t>
            </a:r>
            <a:r>
              <a:rPr sz="1400" dirty="0">
                <a:latin typeface="Noto Sans Mono CJK JP Bold"/>
                <a:cs typeface="Noto Sans Mono CJK JP Bold"/>
              </a:rPr>
              <a:t>= </a:t>
            </a:r>
            <a:r>
              <a:rPr sz="14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lambda </a:t>
            </a:r>
            <a:r>
              <a:rPr sz="1400" spc="-5" dirty="0">
                <a:latin typeface="Noto Sans Mono CJK JP Bold"/>
                <a:cs typeface="Noto Sans Mono CJK JP Bold"/>
              </a:rPr>
              <a:t>s: </a:t>
            </a:r>
            <a:r>
              <a:rPr sz="1400" spc="-10" dirty="0">
                <a:latin typeface="Noto Sans Mono CJK JP Bold"/>
                <a:cs typeface="Noto Sans Mono CJK JP Bold"/>
              </a:rPr>
              <a:t>s.hypernyms()  </a:t>
            </a:r>
            <a:r>
              <a:rPr sz="14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list</a:t>
            </a:r>
            <a:r>
              <a:rPr sz="1400" spc="-10" dirty="0">
                <a:latin typeface="Noto Sans Mono CJK JP Bold"/>
                <a:cs typeface="Noto Sans Mono CJK JP Bold"/>
              </a:rPr>
              <a:t>(panda.closure(hyper))</a:t>
            </a:r>
            <a:endParaRPr sz="1400">
              <a:latin typeface="Noto Sans Mono CJK JP Bold"/>
              <a:cs typeface="Noto Sans Mono CJK JP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7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9786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>
                <a:solidFill>
                  <a:srgbClr val="3A87FF"/>
                </a:solidFill>
              </a:rPr>
              <a:t>Problems with </a:t>
            </a:r>
            <a:r>
              <a:rPr sz="3400" spc="-200" dirty="0">
                <a:solidFill>
                  <a:srgbClr val="3A87FF"/>
                </a:solidFill>
              </a:rPr>
              <a:t>resources </a:t>
            </a:r>
            <a:r>
              <a:rPr sz="3400" spc="-204" dirty="0">
                <a:solidFill>
                  <a:srgbClr val="3A87FF"/>
                </a:solidFill>
              </a:rPr>
              <a:t>like</a:t>
            </a:r>
            <a:r>
              <a:rPr sz="3400" spc="-470" dirty="0">
                <a:solidFill>
                  <a:srgbClr val="3A87FF"/>
                </a:solidFill>
              </a:rPr>
              <a:t> </a:t>
            </a:r>
            <a:r>
              <a:rPr sz="3400" spc="-120" dirty="0">
                <a:solidFill>
                  <a:srgbClr val="3A87FF"/>
                </a:solidFill>
              </a:rPr>
              <a:t>WordNet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282170"/>
            <a:ext cx="8547100" cy="5694680"/>
          </a:xfrm>
          <a:prstGeom prst="rect">
            <a:avLst/>
          </a:prstGeom>
        </p:spPr>
        <p:txBody>
          <a:bodyPr vert="horz" wrap="square" lIns="0" tIns="24701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94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55" dirty="0">
                <a:latin typeface="Trebuchet MS"/>
                <a:cs typeface="Trebuchet MS"/>
              </a:rPr>
              <a:t>Great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as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resource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but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missing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nuance</a:t>
            </a:r>
            <a:r>
              <a:rPr lang="zh-CN" altLang="en-US" sz="3000" spc="-120" dirty="0">
                <a:latin typeface="Trebuchet MS"/>
                <a:cs typeface="Trebuchet MS"/>
              </a:rPr>
              <a:t> </a:t>
            </a:r>
            <a:r>
              <a:rPr lang="en-US" altLang="zh-CN" sz="3000" spc="-120" dirty="0">
                <a:latin typeface="Trebuchet MS"/>
                <a:cs typeface="Trebuchet MS"/>
              </a:rPr>
              <a:t>(</a:t>
            </a:r>
            <a:r>
              <a:rPr lang="zh-CN" altLang="en-US" sz="3000" spc="-120" dirty="0">
                <a:latin typeface="Trebuchet MS"/>
                <a:cs typeface="Trebuchet MS"/>
              </a:rPr>
              <a:t>细微差别</a:t>
            </a:r>
            <a:r>
              <a:rPr lang="en-US" altLang="zh-CN" sz="3000" spc="-120" dirty="0">
                <a:latin typeface="Trebuchet MS"/>
                <a:cs typeface="Trebuchet MS"/>
              </a:rPr>
              <a:t>)</a:t>
            </a:r>
            <a:endParaRPr sz="3000" dirty="0">
              <a:latin typeface="Trebuchet MS"/>
              <a:cs typeface="Trebuchet MS"/>
            </a:endParaRPr>
          </a:p>
          <a:p>
            <a:pPr marL="988060" marR="979805" lvl="1" indent="-487680">
              <a:lnSpc>
                <a:spcPct val="100000"/>
              </a:lnSpc>
              <a:spcBef>
                <a:spcPts val="1600"/>
              </a:spcBef>
              <a:buClr>
                <a:srgbClr val="3A87FF"/>
              </a:buClr>
              <a:buFont typeface="Arial"/>
              <a:buChar char="•"/>
              <a:tabLst>
                <a:tab pos="987425" algn="l"/>
                <a:tab pos="988060" algn="l"/>
              </a:tabLst>
            </a:pPr>
            <a:r>
              <a:rPr sz="2600" spc="-215" dirty="0">
                <a:latin typeface="Trebuchet MS"/>
                <a:cs typeface="Trebuchet MS"/>
              </a:rPr>
              <a:t>e.g.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5" dirty="0">
                <a:solidFill>
                  <a:srgbClr val="BB57BE"/>
                </a:solidFill>
                <a:latin typeface="Trebuchet MS"/>
                <a:cs typeface="Trebuchet MS"/>
              </a:rPr>
              <a:t>“proficient”</a:t>
            </a:r>
            <a:r>
              <a:rPr sz="2600" spc="-2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listed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as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synonym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75" dirty="0">
                <a:solidFill>
                  <a:srgbClr val="BB57BE"/>
                </a:solidFill>
                <a:latin typeface="Trebuchet MS"/>
                <a:cs typeface="Trebuchet MS"/>
              </a:rPr>
              <a:t>“good”</a:t>
            </a:r>
            <a:r>
              <a:rPr sz="2600" spc="-175" dirty="0">
                <a:latin typeface="Trebuchet MS"/>
                <a:cs typeface="Trebuchet MS"/>
              </a:rPr>
              <a:t>.  </a:t>
            </a:r>
            <a:r>
              <a:rPr sz="2600" spc="-135" dirty="0">
                <a:latin typeface="Trebuchet MS"/>
                <a:cs typeface="Trebuchet MS"/>
              </a:rPr>
              <a:t>This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only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correct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some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contexts.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5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25" dirty="0">
                <a:latin typeface="Trebuchet MS"/>
                <a:cs typeface="Trebuchet MS"/>
              </a:rPr>
              <a:t>Missing </a:t>
            </a:r>
            <a:r>
              <a:rPr sz="3000" spc="-105" dirty="0">
                <a:latin typeface="Trebuchet MS"/>
                <a:cs typeface="Trebuchet MS"/>
              </a:rPr>
              <a:t>new </a:t>
            </a:r>
            <a:r>
              <a:rPr sz="3000" spc="-114" dirty="0">
                <a:latin typeface="Trebuchet MS"/>
                <a:cs typeface="Trebuchet MS"/>
              </a:rPr>
              <a:t>meanings </a:t>
            </a:r>
            <a:r>
              <a:rPr sz="3000" spc="-120" dirty="0">
                <a:latin typeface="Trebuchet MS"/>
                <a:cs typeface="Trebuchet MS"/>
              </a:rPr>
              <a:t>of</a:t>
            </a:r>
            <a:r>
              <a:rPr sz="3000" spc="-700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words</a:t>
            </a:r>
            <a:endParaRPr sz="3000" dirty="0">
              <a:latin typeface="Trebuchet MS"/>
              <a:cs typeface="Trebuchet MS"/>
            </a:endParaRPr>
          </a:p>
          <a:p>
            <a:pPr marL="988060" lvl="1" indent="-488315">
              <a:lnSpc>
                <a:spcPct val="100000"/>
              </a:lnSpc>
              <a:spcBef>
                <a:spcPts val="1600"/>
              </a:spcBef>
              <a:buClr>
                <a:srgbClr val="3A87FF"/>
              </a:buClr>
              <a:buFont typeface="Arial"/>
              <a:buChar char="•"/>
              <a:tabLst>
                <a:tab pos="987425" algn="l"/>
                <a:tab pos="988060" algn="l"/>
              </a:tabLst>
            </a:pPr>
            <a:r>
              <a:rPr sz="2600" spc="-240" dirty="0">
                <a:latin typeface="Trebuchet MS"/>
                <a:cs typeface="Trebuchet MS"/>
              </a:rPr>
              <a:t>e.g., </a:t>
            </a:r>
            <a:r>
              <a:rPr sz="2600" spc="-170" dirty="0">
                <a:solidFill>
                  <a:srgbClr val="BB57BE"/>
                </a:solidFill>
                <a:latin typeface="Trebuchet MS"/>
                <a:cs typeface="Trebuchet MS"/>
              </a:rPr>
              <a:t>wicked,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badass, </a:t>
            </a:r>
            <a:r>
              <a:rPr sz="2600" spc="-175" dirty="0">
                <a:solidFill>
                  <a:srgbClr val="BB57BE"/>
                </a:solidFill>
                <a:latin typeface="Trebuchet MS"/>
                <a:cs typeface="Trebuchet MS"/>
              </a:rPr>
              <a:t>nifty, </a:t>
            </a:r>
            <a:r>
              <a:rPr sz="2600" spc="-170" dirty="0">
                <a:solidFill>
                  <a:srgbClr val="BB57BE"/>
                </a:solidFill>
                <a:latin typeface="Trebuchet MS"/>
                <a:cs typeface="Trebuchet MS"/>
              </a:rPr>
              <a:t>wizard,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genius, </a:t>
            </a:r>
            <a:r>
              <a:rPr sz="2600" spc="-185" dirty="0">
                <a:solidFill>
                  <a:srgbClr val="BB57BE"/>
                </a:solidFill>
                <a:latin typeface="Trebuchet MS"/>
                <a:cs typeface="Trebuchet MS"/>
              </a:rPr>
              <a:t>ninja,</a:t>
            </a:r>
            <a:r>
              <a:rPr sz="2600" spc="-50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bombest</a:t>
            </a:r>
            <a:endParaRPr sz="2600" dirty="0">
              <a:latin typeface="Trebuchet MS"/>
              <a:cs typeface="Trebuchet MS"/>
            </a:endParaRPr>
          </a:p>
          <a:p>
            <a:pPr marL="988060" lvl="1" indent="-488315">
              <a:lnSpc>
                <a:spcPct val="100000"/>
              </a:lnSpc>
              <a:spcBef>
                <a:spcPts val="1585"/>
              </a:spcBef>
              <a:buClr>
                <a:srgbClr val="3A87FF"/>
              </a:buClr>
              <a:buFont typeface="Arial"/>
              <a:buChar char="•"/>
              <a:tabLst>
                <a:tab pos="987425" algn="l"/>
                <a:tab pos="988060" algn="l"/>
              </a:tabLst>
            </a:pPr>
            <a:r>
              <a:rPr sz="2600" spc="-105" dirty="0">
                <a:latin typeface="Trebuchet MS"/>
                <a:cs typeface="Trebuchet MS"/>
              </a:rPr>
              <a:t>Impossible to </a:t>
            </a:r>
            <a:r>
              <a:rPr sz="2600" spc="-130" dirty="0">
                <a:latin typeface="Trebuchet MS"/>
                <a:cs typeface="Trebuchet MS"/>
              </a:rPr>
              <a:t>keep</a:t>
            </a:r>
            <a:r>
              <a:rPr sz="2600" spc="-484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up-to-date!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8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65" dirty="0">
                <a:latin typeface="Trebuchet MS"/>
                <a:cs typeface="Trebuchet MS"/>
              </a:rPr>
              <a:t>Subjective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20" dirty="0">
                <a:latin typeface="Trebuchet MS"/>
                <a:cs typeface="Trebuchet MS"/>
              </a:rPr>
              <a:t>Requires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95" dirty="0">
                <a:latin typeface="Trebuchet MS"/>
                <a:cs typeface="Trebuchet MS"/>
              </a:rPr>
              <a:t>human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labor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to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create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and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adapt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95" dirty="0">
                <a:latin typeface="Trebuchet MS"/>
                <a:cs typeface="Trebuchet MS"/>
              </a:rPr>
              <a:t>Can’t </a:t>
            </a:r>
            <a:r>
              <a:rPr sz="3000" spc="-125" dirty="0">
                <a:latin typeface="Trebuchet MS"/>
                <a:cs typeface="Trebuchet MS"/>
              </a:rPr>
              <a:t>compute </a:t>
            </a:r>
            <a:r>
              <a:rPr sz="3000" spc="-160" dirty="0">
                <a:latin typeface="Trebuchet MS"/>
                <a:cs typeface="Trebuchet MS"/>
              </a:rPr>
              <a:t>accurate </a:t>
            </a:r>
            <a:r>
              <a:rPr sz="3000" spc="-95" dirty="0">
                <a:latin typeface="Trebuchet MS"/>
                <a:cs typeface="Trebuchet MS"/>
              </a:rPr>
              <a:t>word </a:t>
            </a:r>
            <a:r>
              <a:rPr sz="3000" spc="-150" dirty="0">
                <a:latin typeface="Trebuchet MS"/>
                <a:cs typeface="Trebuchet MS"/>
              </a:rPr>
              <a:t>similarity</a:t>
            </a:r>
            <a:r>
              <a:rPr sz="3000" spc="-660" dirty="0">
                <a:latin typeface="Trebuchet MS"/>
                <a:cs typeface="Trebuchet MS"/>
              </a:rPr>
              <a:t> </a:t>
            </a:r>
            <a:r>
              <a:rPr sz="3000" dirty="0">
                <a:latin typeface="Wingdings"/>
                <a:cs typeface="Wingdings"/>
              </a:rPr>
              <a:t>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72136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85" dirty="0">
                <a:solidFill>
                  <a:srgbClr val="3A87FF"/>
                </a:solidFill>
              </a:rPr>
              <a:t>Representing </a:t>
            </a:r>
            <a:r>
              <a:rPr sz="3400" spc="-145" dirty="0">
                <a:solidFill>
                  <a:srgbClr val="3A87FF"/>
                </a:solidFill>
              </a:rPr>
              <a:t>words </a:t>
            </a:r>
            <a:r>
              <a:rPr sz="3400" spc="-125" dirty="0">
                <a:solidFill>
                  <a:srgbClr val="3A87FF"/>
                </a:solidFill>
              </a:rPr>
              <a:t>as </a:t>
            </a:r>
            <a:r>
              <a:rPr sz="3400" spc="-210" dirty="0">
                <a:solidFill>
                  <a:srgbClr val="3A87FF"/>
                </a:solidFill>
              </a:rPr>
              <a:t>discrete</a:t>
            </a:r>
            <a:r>
              <a:rPr sz="3400" spc="-535" dirty="0">
                <a:solidFill>
                  <a:srgbClr val="3A87FF"/>
                </a:solidFill>
              </a:rPr>
              <a:t> </a:t>
            </a:r>
            <a:r>
              <a:rPr sz="3400" spc="-140" dirty="0">
                <a:solidFill>
                  <a:srgbClr val="3A87FF"/>
                </a:solidFill>
              </a:rPr>
              <a:t>symbols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85138"/>
            <a:ext cx="7416165" cy="8153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spc="-70" dirty="0">
                <a:latin typeface="Trebuchet MS"/>
                <a:cs typeface="Trebuchet MS"/>
              </a:rPr>
              <a:t>In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traditional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75" dirty="0">
                <a:latin typeface="Trebuchet MS"/>
                <a:cs typeface="Trebuchet MS"/>
              </a:rPr>
              <a:t>NLP,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regard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words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as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discrete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symbols:  </a:t>
            </a:r>
            <a:r>
              <a:rPr sz="2600" spc="-160" dirty="0">
                <a:solidFill>
                  <a:srgbClr val="3A87FF"/>
                </a:solidFill>
                <a:latin typeface="Trebuchet MS"/>
                <a:cs typeface="Trebuchet MS"/>
              </a:rPr>
              <a:t>hotel</a:t>
            </a:r>
            <a:r>
              <a:rPr sz="2600" spc="-160" dirty="0">
                <a:latin typeface="Trebuchet MS"/>
                <a:cs typeface="Trebuchet MS"/>
              </a:rPr>
              <a:t>,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0" dirty="0">
                <a:solidFill>
                  <a:srgbClr val="3A87FF"/>
                </a:solidFill>
                <a:latin typeface="Trebuchet MS"/>
                <a:cs typeface="Trebuchet MS"/>
              </a:rPr>
              <a:t>conference</a:t>
            </a:r>
            <a:r>
              <a:rPr sz="2600" spc="-150" dirty="0">
                <a:latin typeface="Trebuchet MS"/>
                <a:cs typeface="Trebuchet MS"/>
              </a:rPr>
              <a:t>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3A87FF"/>
                </a:solidFill>
                <a:latin typeface="Trebuchet MS"/>
                <a:cs typeface="Trebuchet MS"/>
              </a:rPr>
              <a:t>motel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340" dirty="0">
                <a:latin typeface="Trebuchet MS"/>
                <a:cs typeface="Trebuchet MS"/>
              </a:rPr>
              <a:t>–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solidFill>
                  <a:srgbClr val="BB57BE"/>
                </a:solidFill>
                <a:latin typeface="Trebuchet MS"/>
                <a:cs typeface="Trebuchet MS"/>
              </a:rPr>
              <a:t>localist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representation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3542539"/>
            <a:ext cx="8750935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Trebuchet MS"/>
                <a:cs typeface="Trebuchet MS"/>
              </a:rPr>
              <a:t>Words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can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be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represented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by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one-hot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vectors:</a:t>
            </a:r>
            <a:endParaRPr sz="2600">
              <a:latin typeface="Trebuchet MS"/>
              <a:cs typeface="Trebuchet MS"/>
            </a:endParaRPr>
          </a:p>
          <a:p>
            <a:pPr marL="184150" algn="ctr">
              <a:lnSpc>
                <a:spcPts val="3110"/>
              </a:lnSpc>
              <a:spcBef>
                <a:spcPts val="1870"/>
              </a:spcBef>
            </a:pPr>
            <a:r>
              <a:rPr sz="2600" spc="-135" dirty="0">
                <a:solidFill>
                  <a:srgbClr val="3A87FF"/>
                </a:solidFill>
                <a:latin typeface="Trebuchet MS"/>
                <a:cs typeface="Trebuchet MS"/>
              </a:rPr>
              <a:t>motel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3A87FF"/>
                </a:solidFill>
                <a:latin typeface="Trebuchet MS"/>
                <a:cs typeface="Trebuchet MS"/>
              </a:rPr>
              <a:t>=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3A87FF"/>
                </a:solidFill>
                <a:latin typeface="Trebuchet MS"/>
                <a:cs typeface="Trebuchet MS"/>
              </a:rPr>
              <a:t>[0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1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3A87FF"/>
                </a:solidFill>
                <a:latin typeface="Trebuchet MS"/>
                <a:cs typeface="Trebuchet MS"/>
              </a:rPr>
              <a:t>0]</a:t>
            </a:r>
            <a:endParaRPr sz="2600">
              <a:latin typeface="Trebuchet MS"/>
              <a:cs typeface="Trebuchet MS"/>
            </a:endParaRPr>
          </a:p>
          <a:p>
            <a:pPr marL="254635" algn="ctr">
              <a:lnSpc>
                <a:spcPts val="3110"/>
              </a:lnSpc>
            </a:pPr>
            <a:r>
              <a:rPr sz="2600" spc="-125" dirty="0">
                <a:solidFill>
                  <a:srgbClr val="3A87FF"/>
                </a:solidFill>
                <a:latin typeface="Trebuchet MS"/>
                <a:cs typeface="Trebuchet MS"/>
              </a:rPr>
              <a:t>hotel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3A87FF"/>
                </a:solidFill>
                <a:latin typeface="Trebuchet MS"/>
                <a:cs typeface="Trebuchet MS"/>
              </a:rPr>
              <a:t>=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3A87FF"/>
                </a:solidFill>
                <a:latin typeface="Trebuchet MS"/>
                <a:cs typeface="Trebuchet MS"/>
              </a:rPr>
              <a:t>[0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1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solidFill>
                  <a:srgbClr val="3A87FF"/>
                </a:solidFill>
                <a:latin typeface="Trebuchet MS"/>
                <a:cs typeface="Trebuchet MS"/>
              </a:rPr>
              <a:t>0]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130" dirty="0">
                <a:latin typeface="Trebuchet MS"/>
                <a:cs typeface="Trebuchet MS"/>
              </a:rPr>
              <a:t>Vector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dimension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=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number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words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vocabulary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229" dirty="0">
                <a:latin typeface="Trebuchet MS"/>
                <a:cs typeface="Trebuchet MS"/>
              </a:rPr>
              <a:t>(e.g.,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500,000)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5491" y="2771889"/>
            <a:ext cx="2708275" cy="326371"/>
          </a:xfrm>
          <a:prstGeom prst="rect">
            <a:avLst/>
          </a:prstGeom>
          <a:ln w="20319">
            <a:solidFill>
              <a:srgbClr val="BB57BE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265"/>
              </a:spcBef>
            </a:pPr>
            <a:r>
              <a:rPr sz="1900" spc="10" dirty="0">
                <a:latin typeface="Trebuchet MS"/>
                <a:cs typeface="Trebuchet MS"/>
              </a:rPr>
              <a:t>Means </a:t>
            </a:r>
            <a:r>
              <a:rPr sz="1900" spc="-45" dirty="0">
                <a:latin typeface="Trebuchet MS"/>
                <a:cs typeface="Trebuchet MS"/>
              </a:rPr>
              <a:t>one </a:t>
            </a:r>
            <a:r>
              <a:rPr sz="1900" spc="-125" dirty="0">
                <a:latin typeface="Trebuchet MS"/>
                <a:cs typeface="Trebuchet MS"/>
              </a:rPr>
              <a:t>1, </a:t>
            </a:r>
            <a:r>
              <a:rPr sz="1900" spc="-80" dirty="0">
                <a:latin typeface="Trebuchet MS"/>
                <a:cs typeface="Trebuchet MS"/>
              </a:rPr>
              <a:t>the </a:t>
            </a:r>
            <a:r>
              <a:rPr sz="1900" spc="-90" dirty="0">
                <a:latin typeface="Trebuchet MS"/>
                <a:cs typeface="Trebuchet MS"/>
              </a:rPr>
              <a:t>rest</a:t>
            </a:r>
            <a:r>
              <a:rPr lang="zh-CN" altLang="en-US" sz="1900" spc="-90" dirty="0">
                <a:latin typeface="Trebuchet MS"/>
                <a:cs typeface="Trebuchet MS"/>
              </a:rPr>
              <a:t> </a:t>
            </a:r>
            <a:r>
              <a:rPr sz="1900" spc="-434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0s</a:t>
            </a:r>
            <a:endParaRPr sz="19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8976" y="3165843"/>
            <a:ext cx="81280" cy="465455"/>
          </a:xfrm>
          <a:custGeom>
            <a:avLst/>
            <a:gdLst/>
            <a:ahLst/>
            <a:cxnLst/>
            <a:rect l="l" t="t" r="r" b="b"/>
            <a:pathLst>
              <a:path w="81279" h="465454">
                <a:moveTo>
                  <a:pt x="30479" y="383794"/>
                </a:moveTo>
                <a:lnTo>
                  <a:pt x="0" y="383794"/>
                </a:lnTo>
                <a:lnTo>
                  <a:pt x="40639" y="465074"/>
                </a:lnTo>
                <a:lnTo>
                  <a:pt x="74504" y="397344"/>
                </a:lnTo>
                <a:lnTo>
                  <a:pt x="30479" y="397344"/>
                </a:lnTo>
                <a:lnTo>
                  <a:pt x="30479" y="383794"/>
                </a:lnTo>
                <a:close/>
              </a:path>
              <a:path w="81279" h="465454">
                <a:moveTo>
                  <a:pt x="50800" y="0"/>
                </a:moveTo>
                <a:lnTo>
                  <a:pt x="30479" y="0"/>
                </a:lnTo>
                <a:lnTo>
                  <a:pt x="30479" y="397344"/>
                </a:lnTo>
                <a:lnTo>
                  <a:pt x="50800" y="397344"/>
                </a:lnTo>
                <a:lnTo>
                  <a:pt x="50800" y="0"/>
                </a:lnTo>
                <a:close/>
              </a:path>
              <a:path w="81279" h="465454">
                <a:moveTo>
                  <a:pt x="81279" y="383794"/>
                </a:moveTo>
                <a:lnTo>
                  <a:pt x="50800" y="383794"/>
                </a:lnTo>
                <a:lnTo>
                  <a:pt x="50800" y="397344"/>
                </a:lnTo>
                <a:lnTo>
                  <a:pt x="74504" y="397344"/>
                </a:lnTo>
                <a:lnTo>
                  <a:pt x="81279" y="383794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8</a:t>
            </a:fld>
            <a:endParaRPr spc="-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9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72713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75" dirty="0">
                <a:solidFill>
                  <a:srgbClr val="3A87FF"/>
                </a:solidFill>
              </a:rPr>
              <a:t>Problem </a:t>
            </a:r>
            <a:r>
              <a:rPr sz="3400" spc="-165" dirty="0">
                <a:solidFill>
                  <a:srgbClr val="3A87FF"/>
                </a:solidFill>
              </a:rPr>
              <a:t>with </a:t>
            </a:r>
            <a:r>
              <a:rPr sz="3400" spc="-145" dirty="0">
                <a:solidFill>
                  <a:srgbClr val="3A87FF"/>
                </a:solidFill>
              </a:rPr>
              <a:t>words </a:t>
            </a:r>
            <a:r>
              <a:rPr sz="3400" spc="-125" dirty="0">
                <a:solidFill>
                  <a:srgbClr val="3A87FF"/>
                </a:solidFill>
              </a:rPr>
              <a:t>as </a:t>
            </a:r>
            <a:r>
              <a:rPr sz="3400" spc="-204" dirty="0">
                <a:solidFill>
                  <a:srgbClr val="3A87FF"/>
                </a:solidFill>
              </a:rPr>
              <a:t>discrete</a:t>
            </a:r>
            <a:r>
              <a:rPr sz="3400" spc="-655" dirty="0">
                <a:solidFill>
                  <a:srgbClr val="3A87FF"/>
                </a:solidFill>
              </a:rPr>
              <a:t> </a:t>
            </a:r>
            <a:r>
              <a:rPr sz="3400" spc="-140" dirty="0">
                <a:solidFill>
                  <a:srgbClr val="3A87FF"/>
                </a:solidFill>
              </a:rPr>
              <a:t>symbols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2"/>
            <a:ext cx="8917305" cy="6311983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433070">
              <a:lnSpc>
                <a:spcPts val="3100"/>
              </a:lnSpc>
              <a:spcBef>
                <a:spcPts val="219"/>
              </a:spcBef>
            </a:pPr>
            <a:r>
              <a:rPr sz="2600" b="1" spc="-190" dirty="0">
                <a:latin typeface="Trebuchet MS"/>
                <a:cs typeface="Trebuchet MS"/>
              </a:rPr>
              <a:t>Example: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web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search,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if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user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searches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70" dirty="0">
                <a:solidFill>
                  <a:srgbClr val="BB57BE"/>
                </a:solidFill>
                <a:latin typeface="Trebuchet MS"/>
                <a:cs typeface="Trebuchet MS"/>
              </a:rPr>
              <a:t>“Seattle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85" dirty="0">
                <a:solidFill>
                  <a:srgbClr val="BB57BE"/>
                </a:solidFill>
                <a:latin typeface="Trebuchet MS"/>
                <a:cs typeface="Trebuchet MS"/>
              </a:rPr>
              <a:t>motel”</a:t>
            </a:r>
            <a:r>
              <a:rPr sz="2600" spc="-185" dirty="0">
                <a:latin typeface="Trebuchet MS"/>
                <a:cs typeface="Trebuchet MS"/>
              </a:rPr>
              <a:t>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we  </a:t>
            </a:r>
            <a:r>
              <a:rPr sz="2600" spc="-105" dirty="0">
                <a:latin typeface="Trebuchet MS"/>
                <a:cs typeface="Trebuchet MS"/>
              </a:rPr>
              <a:t>would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like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match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documents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containing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70" dirty="0">
                <a:solidFill>
                  <a:srgbClr val="BB57BE"/>
                </a:solidFill>
                <a:latin typeface="Trebuchet MS"/>
                <a:cs typeface="Trebuchet MS"/>
              </a:rPr>
              <a:t>“Seattle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80" dirty="0">
                <a:solidFill>
                  <a:srgbClr val="BB57BE"/>
                </a:solidFill>
                <a:latin typeface="Trebuchet MS"/>
                <a:cs typeface="Trebuchet MS"/>
              </a:rPr>
              <a:t>hotel”</a:t>
            </a:r>
            <a:r>
              <a:rPr sz="2600" spc="-180" dirty="0">
                <a:latin typeface="Trebuchet MS"/>
                <a:cs typeface="Trebuchet MS"/>
              </a:rPr>
              <a:t>.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155" dirty="0">
                <a:latin typeface="Trebuchet MS"/>
                <a:cs typeface="Trebuchet MS"/>
              </a:rPr>
              <a:t>But:</a:t>
            </a:r>
            <a:endParaRPr sz="2600" dirty="0">
              <a:latin typeface="Trebuchet MS"/>
              <a:cs typeface="Trebuchet MS"/>
            </a:endParaRPr>
          </a:p>
          <a:p>
            <a:pPr marL="2082164">
              <a:lnSpc>
                <a:spcPts val="3060"/>
              </a:lnSpc>
              <a:spcBef>
                <a:spcPts val="600"/>
              </a:spcBef>
            </a:pPr>
            <a:r>
              <a:rPr sz="2600" spc="-135" dirty="0">
                <a:solidFill>
                  <a:srgbClr val="3A87FF"/>
                </a:solidFill>
                <a:latin typeface="Trebuchet MS"/>
                <a:cs typeface="Trebuchet MS"/>
              </a:rPr>
              <a:t>motel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3A87FF"/>
                </a:solidFill>
                <a:latin typeface="Trebuchet MS"/>
                <a:cs typeface="Trebuchet MS"/>
              </a:rPr>
              <a:t>=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3A87FF"/>
                </a:solidFill>
                <a:latin typeface="Trebuchet MS"/>
                <a:cs typeface="Trebuchet MS"/>
              </a:rPr>
              <a:t>[0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1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3A87FF"/>
                </a:solidFill>
                <a:latin typeface="Trebuchet MS"/>
                <a:cs typeface="Trebuchet MS"/>
              </a:rPr>
              <a:t>0]</a:t>
            </a:r>
            <a:endParaRPr sz="2600" dirty="0">
              <a:latin typeface="Trebuchet MS"/>
              <a:cs typeface="Trebuchet MS"/>
            </a:endParaRPr>
          </a:p>
          <a:p>
            <a:pPr marL="2162810">
              <a:lnSpc>
                <a:spcPts val="3060"/>
              </a:lnSpc>
            </a:pPr>
            <a:r>
              <a:rPr sz="2600" spc="-125" dirty="0">
                <a:solidFill>
                  <a:srgbClr val="3A87FF"/>
                </a:solidFill>
                <a:latin typeface="Trebuchet MS"/>
                <a:cs typeface="Trebuchet MS"/>
              </a:rPr>
              <a:t>hotel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3A87FF"/>
                </a:solidFill>
                <a:latin typeface="Trebuchet MS"/>
                <a:cs typeface="Trebuchet MS"/>
              </a:rPr>
              <a:t>=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3A87FF"/>
                </a:solidFill>
                <a:latin typeface="Trebuchet MS"/>
                <a:cs typeface="Trebuchet MS"/>
              </a:rPr>
              <a:t>[0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1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solidFill>
                  <a:srgbClr val="3A87FF"/>
                </a:solidFill>
                <a:latin typeface="Trebuchet MS"/>
                <a:cs typeface="Trebuchet MS"/>
              </a:rPr>
              <a:t>0]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600" spc="-135" dirty="0">
                <a:latin typeface="Trebuchet MS"/>
                <a:cs typeface="Trebuchet MS"/>
              </a:rPr>
              <a:t>These </a:t>
            </a:r>
            <a:r>
              <a:rPr sz="2600" spc="-110" dirty="0">
                <a:latin typeface="Trebuchet MS"/>
                <a:cs typeface="Trebuchet MS"/>
              </a:rPr>
              <a:t>two </a:t>
            </a:r>
            <a:r>
              <a:rPr sz="2600" spc="-125" dirty="0">
                <a:latin typeface="Trebuchet MS"/>
                <a:cs typeface="Trebuchet MS"/>
              </a:rPr>
              <a:t>vectors </a:t>
            </a:r>
            <a:r>
              <a:rPr sz="2600" spc="-130" dirty="0">
                <a:latin typeface="Trebuchet MS"/>
                <a:cs typeface="Trebuchet MS"/>
              </a:rPr>
              <a:t>are</a:t>
            </a:r>
            <a:r>
              <a:rPr sz="2600" spc="-545" dirty="0"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orthogonal</a:t>
            </a:r>
            <a:r>
              <a:rPr sz="2600" spc="-125" dirty="0">
                <a:latin typeface="Trebuchet MS"/>
                <a:cs typeface="Trebuchet MS"/>
              </a:rPr>
              <a:t>.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600" spc="-145" dirty="0">
                <a:latin typeface="Trebuchet MS"/>
                <a:cs typeface="Trebuchet MS"/>
              </a:rPr>
              <a:t>There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no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natural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notion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b="1" spc="-150" dirty="0">
                <a:solidFill>
                  <a:srgbClr val="BB57BE"/>
                </a:solidFill>
                <a:latin typeface="Trebuchet MS"/>
                <a:cs typeface="Trebuchet MS"/>
              </a:rPr>
              <a:t>similarity</a:t>
            </a:r>
            <a:r>
              <a:rPr sz="2600" b="1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one-hot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vectors!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b="1" spc="-150" dirty="0">
                <a:latin typeface="Trebuchet MS"/>
                <a:cs typeface="Trebuchet MS"/>
              </a:rPr>
              <a:t>Solution: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20" dirty="0">
                <a:latin typeface="Trebuchet MS"/>
                <a:cs typeface="Trebuchet MS"/>
              </a:rPr>
              <a:t>Could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try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rely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WordNet’s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list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synonyms</a:t>
            </a:r>
            <a:r>
              <a:rPr lang="en-US" altLang="zh-CN" sz="2600" spc="-85" dirty="0">
                <a:latin typeface="Trebuchet MS"/>
                <a:cs typeface="Trebuchet MS"/>
              </a:rPr>
              <a:t>(</a:t>
            </a:r>
            <a:r>
              <a:rPr lang="zh-CN" altLang="en-US" sz="2600" spc="-85" dirty="0">
                <a:latin typeface="Trebuchet MS"/>
                <a:cs typeface="Trebuchet MS"/>
              </a:rPr>
              <a:t>同义词</a:t>
            </a:r>
            <a:r>
              <a:rPr lang="en-US" altLang="zh-CN" sz="2600" spc="-85" dirty="0">
                <a:latin typeface="Trebuchet MS"/>
                <a:cs typeface="Trebuchet MS"/>
              </a:rPr>
              <a:t>)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get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similarity?</a:t>
            </a:r>
            <a:endParaRPr sz="2600" dirty="0">
              <a:latin typeface="Trebuchet MS"/>
              <a:cs typeface="Trebuchet MS"/>
            </a:endParaRPr>
          </a:p>
          <a:p>
            <a:pPr marL="744220" lvl="1" indent="-244475">
              <a:lnSpc>
                <a:spcPct val="100000"/>
              </a:lnSpc>
              <a:spcBef>
                <a:spcPts val="60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10" dirty="0">
                <a:latin typeface="Trebuchet MS"/>
                <a:cs typeface="Trebuchet MS"/>
              </a:rPr>
              <a:t>But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it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well-known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fail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badly: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incompleteness,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210" dirty="0">
                <a:latin typeface="Trebuchet MS"/>
                <a:cs typeface="Trebuchet MS"/>
              </a:rPr>
              <a:t>etc.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45" dirty="0">
                <a:latin typeface="Trebuchet MS"/>
                <a:cs typeface="Trebuchet MS"/>
              </a:rPr>
              <a:t>Instead: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learn</a:t>
            </a:r>
            <a:r>
              <a:rPr sz="2600" b="1" spc="-235" dirty="0">
                <a:latin typeface="Trebuchet MS"/>
                <a:cs typeface="Trebuchet MS"/>
              </a:rPr>
              <a:t> </a:t>
            </a:r>
            <a:r>
              <a:rPr sz="2600" b="1" spc="-110" dirty="0">
                <a:latin typeface="Trebuchet MS"/>
                <a:cs typeface="Trebuchet MS"/>
              </a:rPr>
              <a:t>to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80" dirty="0">
                <a:latin typeface="Trebuchet MS"/>
                <a:cs typeface="Trebuchet MS"/>
              </a:rPr>
              <a:t>encode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similarity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in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the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vectors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themselves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5997" y="227838"/>
            <a:ext cx="10629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5" dirty="0">
                <a:solidFill>
                  <a:srgbClr val="FBFCFF"/>
                </a:solidFill>
                <a:latin typeface="Trebuchet MS"/>
                <a:cs typeface="Trebuchet MS"/>
              </a:rPr>
              <a:t>Sec.</a:t>
            </a:r>
            <a:r>
              <a:rPr sz="1700" spc="-30" dirty="0">
                <a:solidFill>
                  <a:srgbClr val="FBFCFF"/>
                </a:solidFill>
                <a:latin typeface="Trebuchet MS"/>
                <a:cs typeface="Trebuchet MS"/>
              </a:rPr>
              <a:t> </a:t>
            </a:r>
            <a:r>
              <a:rPr sz="1700" spc="75" dirty="0">
                <a:solidFill>
                  <a:srgbClr val="FBFCFF"/>
                </a:solidFill>
                <a:latin typeface="Trebuchet MS"/>
                <a:cs typeface="Trebuchet MS"/>
              </a:rPr>
              <a:t>9.2.2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5830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85" dirty="0">
                <a:solidFill>
                  <a:srgbClr val="3A87FF"/>
                </a:solidFill>
              </a:rPr>
              <a:t>Representing </a:t>
            </a:r>
            <a:r>
              <a:rPr sz="3400" spc="-145" dirty="0">
                <a:solidFill>
                  <a:srgbClr val="3A87FF"/>
                </a:solidFill>
              </a:rPr>
              <a:t>words </a:t>
            </a:r>
            <a:r>
              <a:rPr sz="3400" spc="-180" dirty="0">
                <a:solidFill>
                  <a:srgbClr val="3A87FF"/>
                </a:solidFill>
              </a:rPr>
              <a:t>by </a:t>
            </a:r>
            <a:r>
              <a:rPr sz="3400" spc="-204" dirty="0">
                <a:solidFill>
                  <a:srgbClr val="3A87FF"/>
                </a:solidFill>
              </a:rPr>
              <a:t>their</a:t>
            </a:r>
            <a:r>
              <a:rPr sz="3400" spc="-509" dirty="0">
                <a:solidFill>
                  <a:srgbClr val="3A87FF"/>
                </a:solidFill>
              </a:rPr>
              <a:t> </a:t>
            </a:r>
            <a:r>
              <a:rPr sz="3400" spc="-210" dirty="0">
                <a:solidFill>
                  <a:srgbClr val="3A87FF"/>
                </a:solidFill>
              </a:rPr>
              <a:t>context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585722"/>
            <a:ext cx="8802370" cy="353377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1546225" indent="-365760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sz="26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Distributional</a:t>
            </a:r>
            <a:r>
              <a:rPr sz="2600" u="sng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sng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semantics</a:t>
            </a:r>
            <a:r>
              <a:rPr sz="2600" spc="-145" dirty="0">
                <a:latin typeface="Trebuchet MS"/>
                <a:cs typeface="Trebuchet MS"/>
              </a:rPr>
              <a:t>: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b="1" spc="-75" dirty="0">
                <a:latin typeface="Trebuchet MS"/>
                <a:cs typeface="Trebuchet MS"/>
              </a:rPr>
              <a:t>A</a:t>
            </a:r>
            <a:r>
              <a:rPr sz="2600" b="1" spc="-235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word’s</a:t>
            </a:r>
            <a:r>
              <a:rPr sz="2600" b="1" spc="-215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meaning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20" dirty="0">
                <a:latin typeface="Trebuchet MS"/>
                <a:cs typeface="Trebuchet MS"/>
              </a:rPr>
              <a:t>is</a:t>
            </a:r>
            <a:r>
              <a:rPr sz="2600" b="1" spc="-215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given  by </a:t>
            </a:r>
            <a:r>
              <a:rPr sz="2600" b="1" spc="-170" dirty="0">
                <a:latin typeface="Trebuchet MS"/>
                <a:cs typeface="Trebuchet MS"/>
              </a:rPr>
              <a:t>the </a:t>
            </a:r>
            <a:r>
              <a:rPr sz="2600" b="1" spc="-135" dirty="0">
                <a:latin typeface="Trebuchet MS"/>
                <a:cs typeface="Trebuchet MS"/>
              </a:rPr>
              <a:t>words </a:t>
            </a:r>
            <a:r>
              <a:rPr sz="2600" b="1" spc="-145" dirty="0">
                <a:latin typeface="Trebuchet MS"/>
                <a:cs typeface="Trebuchet MS"/>
              </a:rPr>
              <a:t>that </a:t>
            </a:r>
            <a:r>
              <a:rPr sz="2600" b="1" spc="-170" dirty="0">
                <a:latin typeface="Trebuchet MS"/>
                <a:cs typeface="Trebuchet MS"/>
              </a:rPr>
              <a:t>frequently </a:t>
            </a:r>
            <a:r>
              <a:rPr sz="2600" b="1" spc="-155" dirty="0">
                <a:latin typeface="Trebuchet MS"/>
                <a:cs typeface="Trebuchet MS"/>
              </a:rPr>
              <a:t>appear</a:t>
            </a:r>
            <a:r>
              <a:rPr sz="2600" b="1" spc="-590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close-by</a:t>
            </a:r>
            <a:endParaRPr sz="2600">
              <a:latin typeface="Trebuchet MS"/>
              <a:cs typeface="Trebuchet MS"/>
            </a:endParaRPr>
          </a:p>
          <a:p>
            <a:pPr marL="866140" lvl="1" indent="-366395">
              <a:lnSpc>
                <a:spcPct val="100000"/>
              </a:lnSpc>
              <a:spcBef>
                <a:spcPts val="1570"/>
              </a:spcBef>
              <a:buClr>
                <a:srgbClr val="3A87FF"/>
              </a:buClr>
              <a:buFont typeface="Arial"/>
              <a:buChar char="•"/>
              <a:tabLst>
                <a:tab pos="865505" algn="l"/>
                <a:tab pos="866140" algn="l"/>
              </a:tabLst>
            </a:pPr>
            <a:r>
              <a:rPr sz="2100" i="1" spc="-125" dirty="0">
                <a:solidFill>
                  <a:srgbClr val="0070C0"/>
                </a:solidFill>
                <a:latin typeface="Trebuchet MS"/>
                <a:cs typeface="Trebuchet MS"/>
              </a:rPr>
              <a:t>“You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100" dirty="0">
                <a:solidFill>
                  <a:srgbClr val="0070C0"/>
                </a:solidFill>
                <a:latin typeface="Trebuchet MS"/>
                <a:cs typeface="Trebuchet MS"/>
              </a:rPr>
              <a:t>shall</a:t>
            </a:r>
            <a:r>
              <a:rPr sz="2100" i="1" spc="-14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65" dirty="0">
                <a:solidFill>
                  <a:srgbClr val="0070C0"/>
                </a:solidFill>
                <a:latin typeface="Trebuchet MS"/>
                <a:cs typeface="Trebuchet MS"/>
              </a:rPr>
              <a:t>know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25" dirty="0">
                <a:solidFill>
                  <a:srgbClr val="0070C0"/>
                </a:solidFill>
                <a:latin typeface="Trebuchet MS"/>
                <a:cs typeface="Trebuchet MS"/>
              </a:rPr>
              <a:t>a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80" dirty="0">
                <a:solidFill>
                  <a:srgbClr val="0070C0"/>
                </a:solidFill>
                <a:latin typeface="Trebuchet MS"/>
                <a:cs typeface="Trebuchet MS"/>
              </a:rPr>
              <a:t>word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90" dirty="0">
                <a:solidFill>
                  <a:srgbClr val="0070C0"/>
                </a:solidFill>
                <a:latin typeface="Trebuchet MS"/>
                <a:cs typeface="Trebuchet MS"/>
              </a:rPr>
              <a:t>by</a:t>
            </a:r>
            <a:r>
              <a:rPr sz="2100" i="1" spc="-13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125" dirty="0">
                <a:solidFill>
                  <a:srgbClr val="0070C0"/>
                </a:solidFill>
                <a:latin typeface="Trebuchet MS"/>
                <a:cs typeface="Trebuchet MS"/>
              </a:rPr>
              <a:t>the</a:t>
            </a:r>
            <a:r>
              <a:rPr sz="2100" i="1" spc="-14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60" dirty="0">
                <a:solidFill>
                  <a:srgbClr val="0070C0"/>
                </a:solidFill>
                <a:latin typeface="Trebuchet MS"/>
                <a:cs typeface="Trebuchet MS"/>
              </a:rPr>
              <a:t>company</a:t>
            </a:r>
            <a:r>
              <a:rPr sz="2100" i="1" spc="-13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170" dirty="0">
                <a:solidFill>
                  <a:srgbClr val="0070C0"/>
                </a:solidFill>
                <a:latin typeface="Trebuchet MS"/>
                <a:cs typeface="Trebuchet MS"/>
              </a:rPr>
              <a:t>it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110" dirty="0">
                <a:solidFill>
                  <a:srgbClr val="0070C0"/>
                </a:solidFill>
                <a:latin typeface="Trebuchet MS"/>
                <a:cs typeface="Trebuchet MS"/>
              </a:rPr>
              <a:t>keeps”</a:t>
            </a:r>
            <a:r>
              <a:rPr sz="2100" i="1" spc="-12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spc="-229" dirty="0">
                <a:latin typeface="Trebuchet MS"/>
                <a:cs typeface="Trebuchet MS"/>
              </a:rPr>
              <a:t>(J.</a:t>
            </a:r>
            <a:r>
              <a:rPr sz="2100" spc="-155" dirty="0">
                <a:latin typeface="Trebuchet MS"/>
                <a:cs typeface="Trebuchet MS"/>
              </a:rPr>
              <a:t> R. </a:t>
            </a:r>
            <a:r>
              <a:rPr sz="2100" spc="-95" dirty="0">
                <a:latin typeface="Trebuchet MS"/>
                <a:cs typeface="Trebuchet MS"/>
              </a:rPr>
              <a:t>Firth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1957: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11)</a:t>
            </a:r>
            <a:endParaRPr sz="2100">
              <a:latin typeface="Trebuchet MS"/>
              <a:cs typeface="Trebuchet MS"/>
            </a:endParaRPr>
          </a:p>
          <a:p>
            <a:pPr marL="866140" lvl="1" indent="-366395">
              <a:lnSpc>
                <a:spcPct val="100000"/>
              </a:lnSpc>
              <a:spcBef>
                <a:spcPts val="1585"/>
              </a:spcBef>
              <a:buClr>
                <a:srgbClr val="3A87FF"/>
              </a:buClr>
              <a:buFont typeface="Arial"/>
              <a:buChar char="•"/>
              <a:tabLst>
                <a:tab pos="865505" algn="l"/>
                <a:tab pos="866140" algn="l"/>
              </a:tabLst>
            </a:pPr>
            <a:r>
              <a:rPr sz="2100" spc="-45" dirty="0">
                <a:latin typeface="Trebuchet MS"/>
                <a:cs typeface="Trebuchet MS"/>
              </a:rPr>
              <a:t>One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of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the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most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successful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ideas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of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modern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statistical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NLP!</a:t>
            </a:r>
            <a:endParaRPr sz="2100">
              <a:latin typeface="Trebuchet MS"/>
              <a:cs typeface="Trebuchet MS"/>
            </a:endParaRPr>
          </a:p>
          <a:p>
            <a:pPr marL="377825" marR="5080" indent="-365760">
              <a:lnSpc>
                <a:spcPts val="3100"/>
              </a:lnSpc>
              <a:spcBef>
                <a:spcPts val="1995"/>
              </a:spcBef>
              <a:buClr>
                <a:srgbClr val="CC0000"/>
              </a:buClr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sz="2600" spc="-55" dirty="0">
                <a:latin typeface="Trebuchet MS"/>
                <a:cs typeface="Trebuchet MS"/>
              </a:rPr>
              <a:t>When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i="1" spc="-80" dirty="0">
                <a:latin typeface="Trebuchet MS"/>
                <a:cs typeface="Trebuchet MS"/>
              </a:rPr>
              <a:t>w</a:t>
            </a:r>
            <a:r>
              <a:rPr sz="2600" i="1" spc="-24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appears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204" dirty="0">
                <a:latin typeface="Trebuchet MS"/>
                <a:cs typeface="Trebuchet MS"/>
              </a:rPr>
              <a:t>text,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its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b="1" spc="-185" dirty="0">
                <a:solidFill>
                  <a:srgbClr val="BB57BE"/>
                </a:solidFill>
                <a:latin typeface="Trebuchet MS"/>
                <a:cs typeface="Trebuchet MS"/>
              </a:rPr>
              <a:t>context</a:t>
            </a:r>
            <a:r>
              <a:rPr sz="2600" b="1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set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words 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appear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nearby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(within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fixed-size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window).</a:t>
            </a:r>
            <a:endParaRPr sz="260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1789"/>
              </a:spcBef>
              <a:buClr>
                <a:srgbClr val="CC0000"/>
              </a:buClr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sz="2600" spc="-80" dirty="0">
                <a:latin typeface="Trebuchet MS"/>
                <a:cs typeface="Trebuchet MS"/>
              </a:rPr>
              <a:t>Use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many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contexts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i="1" spc="-80" dirty="0">
                <a:latin typeface="Trebuchet MS"/>
                <a:cs typeface="Trebuchet MS"/>
              </a:rPr>
              <a:t>w</a:t>
            </a:r>
            <a:r>
              <a:rPr sz="2600" i="1" spc="-24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build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up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representation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i="1" spc="-80" dirty="0">
                <a:latin typeface="Trebuchet MS"/>
                <a:cs typeface="Trebuchet MS"/>
              </a:rPr>
              <a:t>w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131" y="5498033"/>
            <a:ext cx="3763645" cy="975360"/>
          </a:xfrm>
          <a:prstGeom prst="rect">
            <a:avLst/>
          </a:prstGeom>
          <a:solidFill>
            <a:srgbClr val="F1DDF2"/>
          </a:solidFill>
        </p:spPr>
        <p:txBody>
          <a:bodyPr vert="horz" wrap="square" lIns="0" tIns="28575" rIns="0" bIns="0" rtlCol="0">
            <a:spAutoFit/>
          </a:bodyPr>
          <a:lstStyle/>
          <a:p>
            <a:pPr marR="41275" algn="r">
              <a:lnSpc>
                <a:spcPct val="100000"/>
              </a:lnSpc>
              <a:spcBef>
                <a:spcPts val="225"/>
              </a:spcBef>
            </a:pPr>
            <a:r>
              <a:rPr sz="1550" i="1" spc="-40" dirty="0">
                <a:latin typeface="Arial"/>
                <a:cs typeface="Arial"/>
              </a:rPr>
              <a:t>…government </a:t>
            </a:r>
            <a:r>
              <a:rPr sz="1550" i="1" spc="-35" dirty="0">
                <a:latin typeface="Arial"/>
                <a:cs typeface="Arial"/>
              </a:rPr>
              <a:t>debt problems </a:t>
            </a:r>
            <a:r>
              <a:rPr sz="1550" i="1" spc="-30" dirty="0">
                <a:latin typeface="Arial"/>
                <a:cs typeface="Arial"/>
              </a:rPr>
              <a:t>turning</a:t>
            </a:r>
            <a:r>
              <a:rPr sz="1550" i="1" dirty="0">
                <a:latin typeface="Arial"/>
                <a:cs typeface="Arial"/>
              </a:rPr>
              <a:t> </a:t>
            </a:r>
            <a:r>
              <a:rPr sz="1550" i="1" spc="-30" dirty="0">
                <a:latin typeface="Arial"/>
                <a:cs typeface="Arial"/>
              </a:rPr>
              <a:t>into</a:t>
            </a:r>
            <a:endParaRPr sz="1550" dirty="0">
              <a:latin typeface="Arial"/>
              <a:cs typeface="Arial"/>
            </a:endParaRPr>
          </a:p>
          <a:p>
            <a:pPr marR="41910" algn="r">
              <a:lnSpc>
                <a:spcPct val="100000"/>
              </a:lnSpc>
              <a:spcBef>
                <a:spcPts val="705"/>
              </a:spcBef>
            </a:pPr>
            <a:r>
              <a:rPr sz="1550" i="1" spc="-35" dirty="0">
                <a:latin typeface="Arial"/>
                <a:cs typeface="Arial"/>
              </a:rPr>
              <a:t>…saying </a:t>
            </a:r>
            <a:r>
              <a:rPr sz="1550" i="1" spc="-30" dirty="0">
                <a:latin typeface="Arial"/>
                <a:cs typeface="Arial"/>
              </a:rPr>
              <a:t>that </a:t>
            </a:r>
            <a:r>
              <a:rPr sz="1550" i="1" spc="-35" dirty="0">
                <a:latin typeface="Arial"/>
                <a:cs typeface="Arial"/>
              </a:rPr>
              <a:t>Europe </a:t>
            </a:r>
            <a:r>
              <a:rPr sz="1550" i="1" spc="-40" dirty="0">
                <a:latin typeface="Arial"/>
                <a:cs typeface="Arial"/>
              </a:rPr>
              <a:t>needs</a:t>
            </a:r>
            <a:r>
              <a:rPr sz="1550" i="1" spc="-30" dirty="0">
                <a:latin typeface="Arial"/>
                <a:cs typeface="Arial"/>
              </a:rPr>
              <a:t> unified</a:t>
            </a:r>
            <a:endParaRPr sz="1550" dirty="0">
              <a:latin typeface="Arial"/>
              <a:cs typeface="Arial"/>
            </a:endParaRPr>
          </a:p>
          <a:p>
            <a:pPr marR="42545" algn="r">
              <a:lnSpc>
                <a:spcPct val="100000"/>
              </a:lnSpc>
              <a:spcBef>
                <a:spcPts val="710"/>
              </a:spcBef>
            </a:pPr>
            <a:r>
              <a:rPr sz="1550" i="1" spc="-35" dirty="0">
                <a:latin typeface="Arial"/>
                <a:cs typeface="Arial"/>
              </a:rPr>
              <a:t>…India has </a:t>
            </a:r>
            <a:r>
              <a:rPr sz="1550" i="1" spc="-25" dirty="0">
                <a:latin typeface="Arial"/>
                <a:cs typeface="Arial"/>
              </a:rPr>
              <a:t>just </a:t>
            </a:r>
            <a:r>
              <a:rPr sz="1550" i="1" spc="-30" dirty="0">
                <a:latin typeface="Arial"/>
                <a:cs typeface="Arial"/>
              </a:rPr>
              <a:t>given</a:t>
            </a:r>
            <a:r>
              <a:rPr sz="1550" i="1" spc="-85" dirty="0">
                <a:latin typeface="Arial"/>
                <a:cs typeface="Arial"/>
              </a:rPr>
              <a:t> </a:t>
            </a:r>
            <a:r>
              <a:rPr sz="1550" i="1" spc="-20" dirty="0">
                <a:latin typeface="Arial"/>
                <a:cs typeface="Arial"/>
              </a:rPr>
              <a:t>its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1217" y="5498033"/>
            <a:ext cx="774065" cy="975360"/>
          </a:xfrm>
          <a:prstGeom prst="rect">
            <a:avLst/>
          </a:prstGeom>
          <a:solidFill>
            <a:srgbClr val="BDD7FF"/>
          </a:solidFill>
        </p:spPr>
        <p:txBody>
          <a:bodyPr vert="horz" wrap="square" lIns="0" tIns="254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200"/>
              </a:spcBef>
            </a:pPr>
            <a:r>
              <a:rPr sz="1550" b="1" i="1" spc="-110" dirty="0">
                <a:latin typeface="Arial"/>
                <a:cs typeface="Arial"/>
              </a:rPr>
              <a:t>banking</a:t>
            </a:r>
            <a:endParaRPr sz="1550">
              <a:latin typeface="Arial"/>
              <a:cs typeface="Arial"/>
            </a:endParaRPr>
          </a:p>
          <a:p>
            <a:pPr marL="56515" marR="46990">
              <a:lnSpc>
                <a:spcPct val="138100"/>
              </a:lnSpc>
            </a:pPr>
            <a:r>
              <a:rPr sz="1550" b="1" i="1" spc="-105" dirty="0">
                <a:latin typeface="Arial"/>
                <a:cs typeface="Arial"/>
              </a:rPr>
              <a:t>ban</a:t>
            </a:r>
            <a:r>
              <a:rPr sz="1550" b="1" i="1" spc="-95" dirty="0">
                <a:latin typeface="Arial"/>
                <a:cs typeface="Arial"/>
              </a:rPr>
              <a:t>k</a:t>
            </a:r>
            <a:r>
              <a:rPr sz="1550" b="1" i="1" spc="-105" dirty="0">
                <a:latin typeface="Arial"/>
                <a:cs typeface="Arial"/>
              </a:rPr>
              <a:t>ing </a:t>
            </a:r>
            <a:r>
              <a:rPr sz="1550" b="1" i="1" spc="-65" dirty="0">
                <a:latin typeface="Arial"/>
                <a:cs typeface="Arial"/>
              </a:rPr>
              <a:t> </a:t>
            </a:r>
            <a:r>
              <a:rPr sz="1550" b="1" i="1" spc="-105" dirty="0">
                <a:latin typeface="Arial"/>
                <a:cs typeface="Arial"/>
              </a:rPr>
              <a:t>ban</a:t>
            </a:r>
            <a:r>
              <a:rPr sz="1550" b="1" i="1" spc="-95" dirty="0">
                <a:latin typeface="Arial"/>
                <a:cs typeface="Arial"/>
              </a:rPr>
              <a:t>k</a:t>
            </a:r>
            <a:r>
              <a:rPr sz="1550" b="1" i="1" spc="-105" dirty="0">
                <a:latin typeface="Arial"/>
                <a:cs typeface="Arial"/>
              </a:rPr>
              <a:t>i</a:t>
            </a:r>
            <a:r>
              <a:rPr sz="1550" b="1" i="1" spc="-125" dirty="0">
                <a:latin typeface="Arial"/>
                <a:cs typeface="Arial"/>
              </a:rPr>
              <a:t>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4939" y="5498033"/>
            <a:ext cx="4027170" cy="975360"/>
          </a:xfrm>
          <a:prstGeom prst="rect">
            <a:avLst/>
          </a:prstGeom>
          <a:solidFill>
            <a:srgbClr val="F1DDF2"/>
          </a:solidFill>
        </p:spPr>
        <p:txBody>
          <a:bodyPr vert="horz" wrap="square" lIns="0" tIns="2857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225"/>
              </a:spcBef>
            </a:pPr>
            <a:r>
              <a:rPr sz="1550" i="1" spc="-30" dirty="0">
                <a:latin typeface="Arial"/>
                <a:cs typeface="Arial"/>
              </a:rPr>
              <a:t>crises </a:t>
            </a:r>
            <a:r>
              <a:rPr sz="1550" i="1" spc="-35" dirty="0">
                <a:latin typeface="Arial"/>
                <a:cs typeface="Arial"/>
              </a:rPr>
              <a:t>as </a:t>
            </a:r>
            <a:r>
              <a:rPr sz="1550" i="1" spc="-40" dirty="0">
                <a:latin typeface="Arial"/>
                <a:cs typeface="Arial"/>
              </a:rPr>
              <a:t>happened </a:t>
            </a:r>
            <a:r>
              <a:rPr sz="1550" i="1" spc="-25" dirty="0">
                <a:latin typeface="Arial"/>
                <a:cs typeface="Arial"/>
              </a:rPr>
              <a:t>in</a:t>
            </a:r>
            <a:r>
              <a:rPr sz="1550" i="1" dirty="0">
                <a:latin typeface="Arial"/>
                <a:cs typeface="Arial"/>
              </a:rPr>
              <a:t> </a:t>
            </a:r>
            <a:r>
              <a:rPr sz="1550" i="1" spc="-40" dirty="0">
                <a:latin typeface="Arial"/>
                <a:cs typeface="Arial"/>
              </a:rPr>
              <a:t>2009…</a:t>
            </a:r>
            <a:endParaRPr sz="1550">
              <a:latin typeface="Arial"/>
              <a:cs typeface="Arial"/>
            </a:endParaRPr>
          </a:p>
          <a:p>
            <a:pPr marL="48260" marR="650240">
              <a:lnSpc>
                <a:spcPct val="138100"/>
              </a:lnSpc>
            </a:pPr>
            <a:r>
              <a:rPr sz="1550" i="1" spc="-30" dirty="0">
                <a:latin typeface="Arial"/>
                <a:cs typeface="Arial"/>
              </a:rPr>
              <a:t>regulation </a:t>
            </a:r>
            <a:r>
              <a:rPr sz="1550" i="1" spc="-25" dirty="0">
                <a:latin typeface="Arial"/>
                <a:cs typeface="Arial"/>
              </a:rPr>
              <a:t>to </a:t>
            </a:r>
            <a:r>
              <a:rPr sz="1550" i="1" spc="-35" dirty="0">
                <a:latin typeface="Arial"/>
                <a:cs typeface="Arial"/>
              </a:rPr>
              <a:t>replace </a:t>
            </a:r>
            <a:r>
              <a:rPr sz="1550" i="1" spc="-30" dirty="0">
                <a:latin typeface="Arial"/>
                <a:cs typeface="Arial"/>
              </a:rPr>
              <a:t>the </a:t>
            </a:r>
            <a:r>
              <a:rPr sz="1550" i="1" spc="-40" dirty="0">
                <a:latin typeface="Arial"/>
                <a:cs typeface="Arial"/>
              </a:rPr>
              <a:t>hodgepodge…  </a:t>
            </a:r>
            <a:r>
              <a:rPr sz="1550" i="1" spc="-35" dirty="0">
                <a:latin typeface="Arial"/>
                <a:cs typeface="Arial"/>
              </a:rPr>
              <a:t>system </a:t>
            </a:r>
            <a:r>
              <a:rPr sz="1550" i="1" spc="-30" dirty="0">
                <a:latin typeface="Arial"/>
                <a:cs typeface="Arial"/>
              </a:rPr>
              <a:t>a shot </a:t>
            </a:r>
            <a:r>
              <a:rPr sz="1550" i="1" spc="-25" dirty="0">
                <a:latin typeface="Arial"/>
                <a:cs typeface="Arial"/>
              </a:rPr>
              <a:t>in </a:t>
            </a:r>
            <a:r>
              <a:rPr sz="1550" i="1" spc="-30" dirty="0">
                <a:latin typeface="Arial"/>
                <a:cs typeface="Arial"/>
              </a:rPr>
              <a:t>the</a:t>
            </a:r>
            <a:r>
              <a:rPr sz="1550" i="1" spc="-15" dirty="0">
                <a:latin typeface="Arial"/>
                <a:cs typeface="Arial"/>
              </a:rPr>
              <a:t> </a:t>
            </a:r>
            <a:r>
              <a:rPr sz="1550" i="1" spc="-45" dirty="0">
                <a:latin typeface="Arial"/>
                <a:cs typeface="Arial"/>
              </a:rPr>
              <a:t>arm…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0781" y="6959854"/>
            <a:ext cx="43573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80" dirty="0">
                <a:latin typeface="Trebuchet MS"/>
                <a:cs typeface="Trebuchet MS"/>
              </a:rPr>
              <a:t>These </a:t>
            </a:r>
            <a:r>
              <a:rPr sz="1900" spc="-100" dirty="0">
                <a:solidFill>
                  <a:srgbClr val="BB57BE"/>
                </a:solidFill>
                <a:latin typeface="Trebuchet MS"/>
                <a:cs typeface="Trebuchet MS"/>
              </a:rPr>
              <a:t>context </a:t>
            </a:r>
            <a:r>
              <a:rPr sz="1900" spc="-50" dirty="0">
                <a:solidFill>
                  <a:srgbClr val="BB57BE"/>
                </a:solidFill>
                <a:latin typeface="Trebuchet MS"/>
                <a:cs typeface="Trebuchet MS"/>
              </a:rPr>
              <a:t>words </a:t>
            </a:r>
            <a:r>
              <a:rPr sz="1900" spc="-100" dirty="0">
                <a:latin typeface="Trebuchet MS"/>
                <a:cs typeface="Trebuchet MS"/>
              </a:rPr>
              <a:t>will </a:t>
            </a:r>
            <a:r>
              <a:rPr sz="1900" spc="-80" dirty="0">
                <a:latin typeface="Trebuchet MS"/>
                <a:cs typeface="Trebuchet MS"/>
              </a:rPr>
              <a:t>represent</a:t>
            </a:r>
            <a:r>
              <a:rPr sz="1900" spc="-330" dirty="0">
                <a:latin typeface="Trebuchet MS"/>
                <a:cs typeface="Trebuchet MS"/>
              </a:rPr>
              <a:t> </a:t>
            </a:r>
            <a:r>
              <a:rPr sz="1900" b="1" i="1" spc="5" dirty="0">
                <a:latin typeface="Carlito"/>
                <a:cs typeface="Carlito"/>
              </a:rPr>
              <a:t>banking</a:t>
            </a:r>
            <a:endParaRPr sz="190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62096" y="6567678"/>
            <a:ext cx="308610" cy="383540"/>
          </a:xfrm>
          <a:custGeom>
            <a:avLst/>
            <a:gdLst/>
            <a:ahLst/>
            <a:cxnLst/>
            <a:rect l="l" t="t" r="r" b="b"/>
            <a:pathLst>
              <a:path w="308610" h="383540">
                <a:moveTo>
                  <a:pt x="91496" y="83101"/>
                </a:moveTo>
                <a:lnTo>
                  <a:pt x="59595" y="108285"/>
                </a:lnTo>
                <a:lnTo>
                  <a:pt x="276656" y="383227"/>
                </a:lnTo>
                <a:lnTo>
                  <a:pt x="308559" y="358046"/>
                </a:lnTo>
                <a:lnTo>
                  <a:pt x="91496" y="83101"/>
                </a:lnTo>
                <a:close/>
              </a:path>
              <a:path w="308610" h="383540">
                <a:moveTo>
                  <a:pt x="0" y="0"/>
                </a:moveTo>
                <a:lnTo>
                  <a:pt x="27698" y="133466"/>
                </a:lnTo>
                <a:lnTo>
                  <a:pt x="59595" y="108285"/>
                </a:lnTo>
                <a:lnTo>
                  <a:pt x="47002" y="92335"/>
                </a:lnTo>
                <a:lnTo>
                  <a:pt x="78905" y="67152"/>
                </a:lnTo>
                <a:lnTo>
                  <a:pt x="111698" y="67152"/>
                </a:lnTo>
                <a:lnTo>
                  <a:pt x="123393" y="57919"/>
                </a:lnTo>
                <a:lnTo>
                  <a:pt x="0" y="0"/>
                </a:lnTo>
                <a:close/>
              </a:path>
              <a:path w="308610" h="383540">
                <a:moveTo>
                  <a:pt x="78905" y="67152"/>
                </a:moveTo>
                <a:lnTo>
                  <a:pt x="47002" y="92335"/>
                </a:lnTo>
                <a:lnTo>
                  <a:pt x="59595" y="108285"/>
                </a:lnTo>
                <a:lnTo>
                  <a:pt x="91496" y="83101"/>
                </a:lnTo>
                <a:lnTo>
                  <a:pt x="78905" y="67152"/>
                </a:lnTo>
                <a:close/>
              </a:path>
              <a:path w="308610" h="383540">
                <a:moveTo>
                  <a:pt x="111698" y="67152"/>
                </a:moveTo>
                <a:lnTo>
                  <a:pt x="78905" y="67152"/>
                </a:lnTo>
                <a:lnTo>
                  <a:pt x="91496" y="83101"/>
                </a:lnTo>
                <a:lnTo>
                  <a:pt x="111698" y="67152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98921" y="6567678"/>
            <a:ext cx="299085" cy="383540"/>
          </a:xfrm>
          <a:custGeom>
            <a:avLst/>
            <a:gdLst/>
            <a:ahLst/>
            <a:cxnLst/>
            <a:rect l="l" t="t" r="r" b="b"/>
            <a:pathLst>
              <a:path w="299085" h="383540">
                <a:moveTo>
                  <a:pt x="208891" y="84594"/>
                </a:moveTo>
                <a:lnTo>
                  <a:pt x="0" y="358308"/>
                </a:lnTo>
                <a:lnTo>
                  <a:pt x="32308" y="382964"/>
                </a:lnTo>
                <a:lnTo>
                  <a:pt x="241193" y="109244"/>
                </a:lnTo>
                <a:lnTo>
                  <a:pt x="208891" y="84594"/>
                </a:lnTo>
                <a:close/>
              </a:path>
              <a:path w="299085" h="383540">
                <a:moveTo>
                  <a:pt x="285974" y="68439"/>
                </a:moveTo>
                <a:lnTo>
                  <a:pt x="221221" y="68439"/>
                </a:lnTo>
                <a:lnTo>
                  <a:pt x="253517" y="93094"/>
                </a:lnTo>
                <a:lnTo>
                  <a:pt x="241193" y="109244"/>
                </a:lnTo>
                <a:lnTo>
                  <a:pt x="273507" y="133903"/>
                </a:lnTo>
                <a:lnTo>
                  <a:pt x="285974" y="68439"/>
                </a:lnTo>
                <a:close/>
              </a:path>
              <a:path w="299085" h="383540">
                <a:moveTo>
                  <a:pt x="221221" y="68439"/>
                </a:moveTo>
                <a:lnTo>
                  <a:pt x="208891" y="84594"/>
                </a:lnTo>
                <a:lnTo>
                  <a:pt x="241193" y="109244"/>
                </a:lnTo>
                <a:lnTo>
                  <a:pt x="253517" y="93094"/>
                </a:lnTo>
                <a:lnTo>
                  <a:pt x="221221" y="68439"/>
                </a:lnTo>
                <a:close/>
              </a:path>
              <a:path w="299085" h="383540">
                <a:moveTo>
                  <a:pt x="299008" y="0"/>
                </a:moveTo>
                <a:lnTo>
                  <a:pt x="176580" y="59937"/>
                </a:lnTo>
                <a:lnTo>
                  <a:pt x="208891" y="84594"/>
                </a:lnTo>
                <a:lnTo>
                  <a:pt x="221221" y="68439"/>
                </a:lnTo>
                <a:lnTo>
                  <a:pt x="285974" y="68439"/>
                </a:lnTo>
                <a:lnTo>
                  <a:pt x="299008" y="0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63118" y="7102093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5" dirty="0">
                <a:latin typeface="Trebuchet MS"/>
                <a:cs typeface="Trebuchet MS"/>
              </a:rPr>
              <a:t>16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34706" y="566166"/>
            <a:ext cx="1664207" cy="1728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24511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0" dirty="0">
                <a:solidFill>
                  <a:srgbClr val="3A87FF"/>
                </a:solidFill>
              </a:rPr>
              <a:t>Word</a:t>
            </a:r>
            <a:r>
              <a:rPr sz="3400" spc="-310" dirty="0">
                <a:solidFill>
                  <a:srgbClr val="3A87FF"/>
                </a:solidFill>
              </a:rPr>
              <a:t> </a:t>
            </a:r>
            <a:r>
              <a:rPr sz="3400" spc="-195" dirty="0">
                <a:solidFill>
                  <a:srgbClr val="3A87FF"/>
                </a:solidFill>
              </a:rPr>
              <a:t>vectors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6" y="1475994"/>
            <a:ext cx="8281670" cy="8153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will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build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dense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vector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each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word,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chosen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so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it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  </a:t>
            </a:r>
            <a:r>
              <a:rPr sz="2600" spc="-135" dirty="0">
                <a:latin typeface="Trebuchet MS"/>
                <a:cs typeface="Trebuchet MS"/>
              </a:rPr>
              <a:t>similar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words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appear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similar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contexts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6" y="6176011"/>
            <a:ext cx="8252459" cy="8026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300"/>
              </a:spcBef>
            </a:pPr>
            <a:r>
              <a:rPr sz="2600" spc="-130" dirty="0">
                <a:latin typeface="Trebuchet MS"/>
                <a:cs typeface="Trebuchet MS"/>
              </a:rPr>
              <a:t>Note: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vectors</a:t>
            </a:r>
            <a:r>
              <a:rPr sz="2600" spc="-21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are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sometimes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called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BB57BE"/>
                </a:solidFill>
                <a:latin typeface="Trebuchet MS"/>
                <a:cs typeface="Trebuchet MS"/>
              </a:rPr>
              <a:t>embeddings</a:t>
            </a:r>
            <a:r>
              <a:rPr sz="2600" spc="-21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or 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representations.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They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are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distributed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representation.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0766" y="4283202"/>
            <a:ext cx="13957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i="1" spc="-105" dirty="0">
                <a:solidFill>
                  <a:srgbClr val="3A87FF"/>
                </a:solidFill>
                <a:latin typeface="Trebuchet MS"/>
                <a:cs typeface="Trebuchet MS"/>
              </a:rPr>
              <a:t>banking</a:t>
            </a:r>
            <a:r>
              <a:rPr sz="2600" i="1" spc="26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=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38597" y="3010662"/>
            <a:ext cx="852169" cy="289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286</a:t>
            </a:r>
            <a:endParaRPr sz="2300">
              <a:latin typeface="Trebuchet MS"/>
              <a:cs typeface="Trebuchet MS"/>
            </a:endParaRPr>
          </a:p>
          <a:p>
            <a:pPr marL="161290">
              <a:lnSpc>
                <a:spcPct val="100000"/>
              </a:lnSpc>
              <a:spcBef>
                <a:spcPts val="20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792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300" spc="-70" dirty="0">
                <a:latin typeface="Trebuchet MS"/>
                <a:cs typeface="Trebuchet MS"/>
              </a:rPr>
              <a:t>−0.177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300" spc="-70" dirty="0">
                <a:latin typeface="Trebuchet MS"/>
                <a:cs typeface="Trebuchet MS"/>
              </a:rPr>
              <a:t>−0.107</a:t>
            </a:r>
            <a:endParaRPr sz="2300">
              <a:latin typeface="Trebuchet MS"/>
              <a:cs typeface="Trebuchet MS"/>
            </a:endParaRPr>
          </a:p>
          <a:p>
            <a:pPr marL="161290">
              <a:lnSpc>
                <a:spcPct val="100000"/>
              </a:lnSpc>
              <a:spcBef>
                <a:spcPts val="50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109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300" spc="-70" dirty="0">
                <a:latin typeface="Trebuchet MS"/>
                <a:cs typeface="Trebuchet MS"/>
              </a:rPr>
              <a:t>−0.542</a:t>
            </a:r>
            <a:endParaRPr sz="2300">
              <a:latin typeface="Trebuchet MS"/>
              <a:cs typeface="Trebuchet MS"/>
            </a:endParaRPr>
          </a:p>
          <a:p>
            <a:pPr marL="161290">
              <a:lnSpc>
                <a:spcPct val="100000"/>
              </a:lnSpc>
              <a:spcBef>
                <a:spcPts val="50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349</a:t>
            </a:r>
            <a:endParaRPr sz="2300">
              <a:latin typeface="Trebuchet MS"/>
              <a:cs typeface="Trebuchet MS"/>
            </a:endParaRPr>
          </a:p>
          <a:p>
            <a:pPr marL="161290">
              <a:lnSpc>
                <a:spcPct val="100000"/>
              </a:lnSpc>
              <a:spcBef>
                <a:spcPts val="145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271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13846" y="2851556"/>
            <a:ext cx="245745" cy="3092450"/>
          </a:xfrm>
          <a:custGeom>
            <a:avLst/>
            <a:gdLst/>
            <a:ahLst/>
            <a:cxnLst/>
            <a:rect l="l" t="t" r="r" b="b"/>
            <a:pathLst>
              <a:path w="245745" h="3092450">
                <a:moveTo>
                  <a:pt x="245197" y="3091893"/>
                </a:moveTo>
                <a:lnTo>
                  <a:pt x="195782" y="3086911"/>
                </a:lnTo>
                <a:lnTo>
                  <a:pt x="149755" y="3072624"/>
                </a:lnTo>
                <a:lnTo>
                  <a:pt x="108105" y="3050016"/>
                </a:lnTo>
                <a:lnTo>
                  <a:pt x="71816" y="3020075"/>
                </a:lnTo>
                <a:lnTo>
                  <a:pt x="41876" y="2983787"/>
                </a:lnTo>
                <a:lnTo>
                  <a:pt x="19268" y="2942137"/>
                </a:lnTo>
                <a:lnTo>
                  <a:pt x="4981" y="2896112"/>
                </a:lnTo>
                <a:lnTo>
                  <a:pt x="0" y="2846698"/>
                </a:lnTo>
                <a:lnTo>
                  <a:pt x="0" y="245197"/>
                </a:lnTo>
                <a:lnTo>
                  <a:pt x="4981" y="195781"/>
                </a:lnTo>
                <a:lnTo>
                  <a:pt x="19268" y="149755"/>
                </a:lnTo>
                <a:lnTo>
                  <a:pt x="41876" y="108105"/>
                </a:lnTo>
                <a:lnTo>
                  <a:pt x="71816" y="71816"/>
                </a:lnTo>
                <a:lnTo>
                  <a:pt x="108105" y="41875"/>
                </a:lnTo>
                <a:lnTo>
                  <a:pt x="149755" y="19268"/>
                </a:lnTo>
                <a:lnTo>
                  <a:pt x="195782" y="4981"/>
                </a:lnTo>
                <a:lnTo>
                  <a:pt x="245197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39798" y="2851556"/>
            <a:ext cx="245745" cy="3092450"/>
          </a:xfrm>
          <a:custGeom>
            <a:avLst/>
            <a:gdLst/>
            <a:ahLst/>
            <a:cxnLst/>
            <a:rect l="l" t="t" r="r" b="b"/>
            <a:pathLst>
              <a:path w="245745" h="3092450">
                <a:moveTo>
                  <a:pt x="0" y="0"/>
                </a:moveTo>
                <a:lnTo>
                  <a:pt x="49417" y="4981"/>
                </a:lnTo>
                <a:lnTo>
                  <a:pt x="95445" y="19268"/>
                </a:lnTo>
                <a:lnTo>
                  <a:pt x="137096" y="41875"/>
                </a:lnTo>
                <a:lnTo>
                  <a:pt x="173386" y="71816"/>
                </a:lnTo>
                <a:lnTo>
                  <a:pt x="203328" y="108105"/>
                </a:lnTo>
                <a:lnTo>
                  <a:pt x="225935" y="149755"/>
                </a:lnTo>
                <a:lnTo>
                  <a:pt x="240223" y="195781"/>
                </a:lnTo>
                <a:lnTo>
                  <a:pt x="245205" y="245197"/>
                </a:lnTo>
                <a:lnTo>
                  <a:pt x="245205" y="2846698"/>
                </a:lnTo>
                <a:lnTo>
                  <a:pt x="240223" y="2896112"/>
                </a:lnTo>
                <a:lnTo>
                  <a:pt x="225935" y="2942137"/>
                </a:lnTo>
                <a:lnTo>
                  <a:pt x="203328" y="2983787"/>
                </a:lnTo>
                <a:lnTo>
                  <a:pt x="173386" y="3020075"/>
                </a:lnTo>
                <a:lnTo>
                  <a:pt x="137096" y="3050016"/>
                </a:lnTo>
                <a:lnTo>
                  <a:pt x="95445" y="3072624"/>
                </a:lnTo>
                <a:lnTo>
                  <a:pt x="49417" y="3086911"/>
                </a:lnTo>
                <a:lnTo>
                  <a:pt x="0" y="3091893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11</a:t>
            </a:fld>
            <a:endParaRPr spc="-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431" y="1553717"/>
            <a:ext cx="9719945" cy="5987415"/>
            <a:chOff x="187431" y="1553717"/>
            <a:chExt cx="9719945" cy="5987415"/>
          </a:xfrm>
        </p:grpSpPr>
        <p:sp>
          <p:nvSpPr>
            <p:cNvPr id="3" name="object 3"/>
            <p:cNvSpPr/>
            <p:nvPr/>
          </p:nvSpPr>
          <p:spPr>
            <a:xfrm>
              <a:off x="744473" y="1553717"/>
              <a:ext cx="8839200" cy="53400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386" y="1553717"/>
              <a:ext cx="9104376" cy="47426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601" y="1553717"/>
              <a:ext cx="9607296" cy="53400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431" y="1687220"/>
              <a:ext cx="9662795" cy="5854065"/>
            </a:xfrm>
            <a:custGeom>
              <a:avLst/>
              <a:gdLst/>
              <a:ahLst/>
              <a:cxnLst/>
              <a:rect l="l" t="t" r="r" b="b"/>
              <a:pathLst>
                <a:path w="9662795" h="5854065">
                  <a:moveTo>
                    <a:pt x="9662218" y="0"/>
                  </a:moveTo>
                  <a:lnTo>
                    <a:pt x="0" y="0"/>
                  </a:lnTo>
                  <a:lnTo>
                    <a:pt x="0" y="5853775"/>
                  </a:lnTo>
                  <a:lnTo>
                    <a:pt x="9662218" y="5853775"/>
                  </a:lnTo>
                  <a:lnTo>
                    <a:pt x="96622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38321" y="1648205"/>
              <a:ext cx="6001512" cy="49469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78459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5" dirty="0">
                <a:solidFill>
                  <a:srgbClr val="3A87FF"/>
                </a:solidFill>
              </a:rPr>
              <a:t>Word</a:t>
            </a:r>
            <a:r>
              <a:rPr sz="3100" spc="-254" dirty="0">
                <a:solidFill>
                  <a:srgbClr val="3A87FF"/>
                </a:solidFill>
              </a:rPr>
              <a:t> </a:t>
            </a:r>
            <a:r>
              <a:rPr sz="3100" spc="-160" dirty="0">
                <a:solidFill>
                  <a:srgbClr val="3A87FF"/>
                </a:solidFill>
              </a:rPr>
              <a:t>meaning</a:t>
            </a:r>
            <a:r>
              <a:rPr sz="3100" spc="-250" dirty="0">
                <a:solidFill>
                  <a:srgbClr val="3A87FF"/>
                </a:solidFill>
              </a:rPr>
              <a:t> </a:t>
            </a:r>
            <a:r>
              <a:rPr sz="3100" spc="-110" dirty="0">
                <a:solidFill>
                  <a:srgbClr val="3A87FF"/>
                </a:solidFill>
              </a:rPr>
              <a:t>as</a:t>
            </a:r>
            <a:r>
              <a:rPr sz="3100" spc="-235" dirty="0">
                <a:solidFill>
                  <a:srgbClr val="3A87FF"/>
                </a:solidFill>
              </a:rPr>
              <a:t> </a:t>
            </a:r>
            <a:r>
              <a:rPr sz="3100" spc="-125" dirty="0">
                <a:solidFill>
                  <a:srgbClr val="3A87FF"/>
                </a:solidFill>
              </a:rPr>
              <a:t>a</a:t>
            </a:r>
            <a:r>
              <a:rPr sz="3100" spc="-245" dirty="0">
                <a:solidFill>
                  <a:srgbClr val="3A87FF"/>
                </a:solidFill>
              </a:rPr>
              <a:t> </a:t>
            </a:r>
            <a:r>
              <a:rPr sz="3100" spc="-185" dirty="0">
                <a:solidFill>
                  <a:srgbClr val="3A87FF"/>
                </a:solidFill>
              </a:rPr>
              <a:t>neural</a:t>
            </a:r>
            <a:r>
              <a:rPr sz="3100" spc="-245" dirty="0">
                <a:solidFill>
                  <a:srgbClr val="3A87FF"/>
                </a:solidFill>
              </a:rPr>
              <a:t> </a:t>
            </a:r>
            <a:r>
              <a:rPr sz="3100" spc="-150" dirty="0">
                <a:solidFill>
                  <a:srgbClr val="3A87FF"/>
                </a:solidFill>
              </a:rPr>
              <a:t>word</a:t>
            </a:r>
            <a:r>
              <a:rPr sz="3100" spc="-254" dirty="0">
                <a:solidFill>
                  <a:srgbClr val="3A87FF"/>
                </a:solidFill>
              </a:rPr>
              <a:t> </a:t>
            </a:r>
            <a:r>
              <a:rPr sz="3100" spc="-195" dirty="0">
                <a:solidFill>
                  <a:srgbClr val="3A87FF"/>
                </a:solidFill>
              </a:rPr>
              <a:t>vector</a:t>
            </a:r>
            <a:r>
              <a:rPr sz="3100" spc="-260" dirty="0">
                <a:solidFill>
                  <a:srgbClr val="3A87FF"/>
                </a:solidFill>
              </a:rPr>
              <a:t> </a:t>
            </a:r>
            <a:r>
              <a:rPr sz="3100" spc="405" dirty="0">
                <a:solidFill>
                  <a:srgbClr val="3A87FF"/>
                </a:solidFill>
              </a:rPr>
              <a:t>–</a:t>
            </a:r>
            <a:r>
              <a:rPr sz="3100" spc="-240" dirty="0">
                <a:solidFill>
                  <a:srgbClr val="3A87FF"/>
                </a:solidFill>
              </a:rPr>
              <a:t> </a:t>
            </a:r>
            <a:r>
              <a:rPr sz="3100" spc="-170" dirty="0">
                <a:solidFill>
                  <a:srgbClr val="3A87FF"/>
                </a:solidFill>
              </a:rPr>
              <a:t>visualization</a:t>
            </a:r>
            <a:endParaRPr sz="3100"/>
          </a:p>
        </p:txBody>
      </p:sp>
      <p:sp>
        <p:nvSpPr>
          <p:cNvPr id="9" name="object 9"/>
          <p:cNvSpPr txBox="1"/>
          <p:nvPr/>
        </p:nvSpPr>
        <p:spPr>
          <a:xfrm>
            <a:off x="2259304" y="2702814"/>
            <a:ext cx="636905" cy="239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286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ct val="100000"/>
              </a:lnSpc>
              <a:spcBef>
                <a:spcPts val="70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792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ts val="2030"/>
              </a:lnSpc>
              <a:spcBef>
                <a:spcPts val="50"/>
              </a:spcBef>
            </a:pPr>
            <a:r>
              <a:rPr sz="1700" spc="-35" dirty="0">
                <a:latin typeface="Trebuchet MS"/>
                <a:cs typeface="Trebuchet MS"/>
              </a:rPr>
              <a:t>−</a:t>
            </a:r>
            <a:r>
              <a:rPr sz="1700" spc="-25" dirty="0">
                <a:latin typeface="Trebuchet MS"/>
                <a:cs typeface="Trebuchet MS"/>
              </a:rPr>
              <a:t>0</a:t>
            </a:r>
            <a:r>
              <a:rPr sz="1700" spc="-190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17</a:t>
            </a:r>
            <a:r>
              <a:rPr sz="1700" spc="-30" dirty="0"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ts val="2030"/>
              </a:lnSpc>
            </a:pPr>
            <a:r>
              <a:rPr sz="1700" spc="-35" dirty="0">
                <a:latin typeface="Trebuchet MS"/>
                <a:cs typeface="Trebuchet MS"/>
              </a:rPr>
              <a:t>−</a:t>
            </a:r>
            <a:r>
              <a:rPr sz="1700" spc="-25" dirty="0">
                <a:latin typeface="Trebuchet MS"/>
                <a:cs typeface="Trebuchet MS"/>
              </a:rPr>
              <a:t>0</a:t>
            </a:r>
            <a:r>
              <a:rPr sz="1700" spc="-190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10</a:t>
            </a:r>
            <a:r>
              <a:rPr sz="1700" spc="-30" dirty="0"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ct val="100000"/>
              </a:lnSpc>
              <a:spcBef>
                <a:spcPts val="45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109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00" spc="-35" dirty="0">
                <a:latin typeface="Trebuchet MS"/>
                <a:cs typeface="Trebuchet MS"/>
              </a:rPr>
              <a:t>−</a:t>
            </a:r>
            <a:r>
              <a:rPr sz="1700" spc="-25" dirty="0">
                <a:latin typeface="Trebuchet MS"/>
                <a:cs typeface="Trebuchet MS"/>
              </a:rPr>
              <a:t>0</a:t>
            </a:r>
            <a:r>
              <a:rPr sz="1700" spc="-190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54</a:t>
            </a:r>
            <a:r>
              <a:rPr sz="1700" spc="-30" dirty="0"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ct val="100000"/>
              </a:lnSpc>
              <a:spcBef>
                <a:spcPts val="45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349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ts val="2014"/>
              </a:lnSpc>
              <a:spcBef>
                <a:spcPts val="75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271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ts val="2014"/>
              </a:lnSpc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487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85606" y="2681097"/>
            <a:ext cx="1156335" cy="2462530"/>
          </a:xfrm>
          <a:custGeom>
            <a:avLst/>
            <a:gdLst/>
            <a:ahLst/>
            <a:cxnLst/>
            <a:rect l="l" t="t" r="r" b="b"/>
            <a:pathLst>
              <a:path w="1156335" h="2462529">
                <a:moveTo>
                  <a:pt x="192705" y="2462090"/>
                </a:moveTo>
                <a:lnTo>
                  <a:pt x="148519" y="2457000"/>
                </a:lnTo>
                <a:lnTo>
                  <a:pt x="107958" y="2442502"/>
                </a:lnTo>
                <a:lnTo>
                  <a:pt x="72177" y="2419753"/>
                </a:lnTo>
                <a:lnTo>
                  <a:pt x="42335" y="2389910"/>
                </a:lnTo>
                <a:lnTo>
                  <a:pt x="19586" y="2354130"/>
                </a:lnTo>
                <a:lnTo>
                  <a:pt x="5089" y="2313569"/>
                </a:lnTo>
                <a:lnTo>
                  <a:pt x="0" y="2269386"/>
                </a:lnTo>
                <a:lnTo>
                  <a:pt x="0" y="192705"/>
                </a:lnTo>
                <a:lnTo>
                  <a:pt x="5089" y="148519"/>
                </a:lnTo>
                <a:lnTo>
                  <a:pt x="19586" y="107958"/>
                </a:lnTo>
                <a:lnTo>
                  <a:pt x="42335" y="72177"/>
                </a:lnTo>
                <a:lnTo>
                  <a:pt x="72177" y="42335"/>
                </a:lnTo>
                <a:lnTo>
                  <a:pt x="107958" y="19586"/>
                </a:lnTo>
                <a:lnTo>
                  <a:pt x="148519" y="5089"/>
                </a:lnTo>
                <a:lnTo>
                  <a:pt x="192705" y="0"/>
                </a:lnTo>
              </a:path>
              <a:path w="1156335" h="2462529">
                <a:moveTo>
                  <a:pt x="963496" y="0"/>
                </a:moveTo>
                <a:lnTo>
                  <a:pt x="1007680" y="5089"/>
                </a:lnTo>
                <a:lnTo>
                  <a:pt x="1048241" y="19586"/>
                </a:lnTo>
                <a:lnTo>
                  <a:pt x="1084022" y="42335"/>
                </a:lnTo>
                <a:lnTo>
                  <a:pt x="1113865" y="72177"/>
                </a:lnTo>
                <a:lnTo>
                  <a:pt x="1136614" y="107958"/>
                </a:lnTo>
                <a:lnTo>
                  <a:pt x="1151112" y="148519"/>
                </a:lnTo>
                <a:lnTo>
                  <a:pt x="1156202" y="192705"/>
                </a:lnTo>
                <a:lnTo>
                  <a:pt x="1156202" y="2269386"/>
                </a:lnTo>
                <a:lnTo>
                  <a:pt x="1151112" y="2313569"/>
                </a:lnTo>
                <a:lnTo>
                  <a:pt x="1136614" y="2354130"/>
                </a:lnTo>
                <a:lnTo>
                  <a:pt x="1113865" y="2389910"/>
                </a:lnTo>
                <a:lnTo>
                  <a:pt x="1084022" y="2419753"/>
                </a:lnTo>
                <a:lnTo>
                  <a:pt x="1048241" y="2442502"/>
                </a:lnTo>
                <a:lnTo>
                  <a:pt x="1007680" y="2457000"/>
                </a:lnTo>
                <a:lnTo>
                  <a:pt x="963496" y="246209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1166" y="3783838"/>
            <a:ext cx="8826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spc="-130" dirty="0">
                <a:solidFill>
                  <a:srgbClr val="3A87FF"/>
                </a:solidFill>
                <a:latin typeface="Trebuchet MS"/>
                <a:cs typeface="Trebuchet MS"/>
              </a:rPr>
              <a:t>expect</a:t>
            </a:r>
            <a:r>
              <a:rPr sz="1900" i="1" spc="19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=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12</a:t>
            </a:fld>
            <a:endParaRPr spc="-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13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42392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0" dirty="0">
                <a:solidFill>
                  <a:srgbClr val="3A87FF"/>
                </a:solidFill>
              </a:rPr>
              <a:t>3. </a:t>
            </a:r>
            <a:r>
              <a:rPr sz="3400" spc="-190" dirty="0">
                <a:solidFill>
                  <a:srgbClr val="3A87FF"/>
                </a:solidFill>
              </a:rPr>
              <a:t>Word2vec:</a:t>
            </a:r>
            <a:r>
              <a:rPr sz="3400" spc="-254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Overview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2"/>
            <a:ext cx="8732520" cy="57656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927100">
              <a:lnSpc>
                <a:spcPts val="3100"/>
              </a:lnSpc>
              <a:spcBef>
                <a:spcPts val="219"/>
              </a:spcBef>
            </a:pPr>
            <a:r>
              <a:rPr sz="2600" spc="-90" dirty="0">
                <a:solidFill>
                  <a:srgbClr val="BB57BE"/>
                </a:solidFill>
                <a:latin typeface="Trebuchet MS"/>
                <a:cs typeface="Trebuchet MS"/>
              </a:rPr>
              <a:t>Word2vec</a:t>
            </a:r>
            <a:r>
              <a:rPr sz="2600" spc="-2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(Mikolov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et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210" dirty="0">
                <a:latin typeface="Trebuchet MS"/>
                <a:cs typeface="Trebuchet MS"/>
              </a:rPr>
              <a:t>al.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2013)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framework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learning 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r>
              <a:rPr lang="en-US" altLang="zh-CN" sz="2600" spc="-125" dirty="0">
                <a:latin typeface="Trebuchet MS"/>
                <a:cs typeface="Trebuchet MS"/>
              </a:rPr>
              <a:t>:</a:t>
            </a:r>
          </a:p>
          <a:p>
            <a:pPr marL="12700" marR="927100">
              <a:lnSpc>
                <a:spcPts val="3100"/>
              </a:lnSpc>
              <a:spcBef>
                <a:spcPts val="219"/>
              </a:spcBef>
            </a:pPr>
            <a:r>
              <a:rPr lang="en-US" altLang="zh-CN" sz="2600" spc="-125" dirty="0" err="1">
                <a:latin typeface="Trebuchet MS"/>
                <a:cs typeface="Trebuchet MS"/>
              </a:rPr>
              <a:t>Mikolov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et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al.,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Distributed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representations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of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words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and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phrases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and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their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compositionality,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in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NIPS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2013.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145" dirty="0">
                <a:latin typeface="Trebuchet MS"/>
                <a:cs typeface="Trebuchet MS"/>
              </a:rPr>
              <a:t>Idea: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have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large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corpus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70" dirty="0">
                <a:latin typeface="Trebuchet MS"/>
                <a:cs typeface="Trebuchet MS"/>
              </a:rPr>
              <a:t>text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30" dirty="0">
                <a:latin typeface="Trebuchet MS"/>
                <a:cs typeface="Trebuchet MS"/>
              </a:rPr>
              <a:t>Every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fixed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vocabulary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represented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by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vector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ts val="306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90" dirty="0">
                <a:latin typeface="Trebuchet MS"/>
                <a:cs typeface="Trebuchet MS"/>
              </a:rPr>
              <a:t>Go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through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each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position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i="1" spc="-225" dirty="0">
                <a:latin typeface="Trebuchet MS"/>
                <a:cs typeface="Trebuchet MS"/>
              </a:rPr>
              <a:t>t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204" dirty="0">
                <a:latin typeface="Trebuchet MS"/>
                <a:cs typeface="Trebuchet MS"/>
              </a:rPr>
              <a:t>text,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which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has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center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endParaRPr sz="2600" dirty="0">
              <a:latin typeface="Trebuchet MS"/>
              <a:cs typeface="Trebuchet MS"/>
            </a:endParaRPr>
          </a:p>
          <a:p>
            <a:pPr marL="377825">
              <a:lnSpc>
                <a:spcPts val="3060"/>
              </a:lnSpc>
            </a:pPr>
            <a:r>
              <a:rPr sz="2600" i="1" spc="-114" dirty="0">
                <a:latin typeface="Trebuchet MS"/>
                <a:cs typeface="Trebuchet MS"/>
              </a:rPr>
              <a:t>c</a:t>
            </a:r>
            <a:r>
              <a:rPr sz="2600" i="1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context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(“outside”)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words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i="1" spc="-65" dirty="0">
                <a:latin typeface="Trebuchet MS"/>
                <a:cs typeface="Trebuchet MS"/>
              </a:rPr>
              <a:t>o</a:t>
            </a:r>
            <a:endParaRPr sz="2600" dirty="0">
              <a:latin typeface="Trebuchet MS"/>
              <a:cs typeface="Trebuchet MS"/>
            </a:endParaRPr>
          </a:p>
          <a:p>
            <a:pPr marL="377825" marR="31242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80" dirty="0">
                <a:latin typeface="Trebuchet MS"/>
                <a:cs typeface="Trebuchet MS"/>
              </a:rPr>
              <a:t>Use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solidFill>
                  <a:srgbClr val="BB57BE"/>
                </a:solidFill>
                <a:latin typeface="Trebuchet MS"/>
                <a:cs typeface="Trebuchet MS"/>
              </a:rPr>
              <a:t>similarity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BB57BE"/>
                </a:solidFill>
                <a:latin typeface="Trebuchet MS"/>
                <a:cs typeface="Trebuchet MS"/>
              </a:rPr>
              <a:t>of</a:t>
            </a:r>
            <a:r>
              <a:rPr sz="2600" spc="-21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the</a:t>
            </a:r>
            <a:r>
              <a:rPr sz="2600" spc="-21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vectors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c</a:t>
            </a:r>
            <a:r>
              <a:rPr sz="2600" i="1" spc="-21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i="1" spc="-65" dirty="0">
                <a:latin typeface="Trebuchet MS"/>
                <a:cs typeface="Trebuchet MS"/>
              </a:rPr>
              <a:t>o</a:t>
            </a:r>
            <a:r>
              <a:rPr sz="2600" i="1" spc="-220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5" dirty="0">
                <a:solidFill>
                  <a:srgbClr val="BB57BE"/>
                </a:solidFill>
                <a:latin typeface="Trebuchet MS"/>
                <a:cs typeface="Trebuchet MS"/>
              </a:rPr>
              <a:t>calculate 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the</a:t>
            </a:r>
            <a:r>
              <a:rPr sz="2600" spc="-2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probability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i="1" spc="-65" dirty="0">
                <a:latin typeface="Trebuchet MS"/>
                <a:cs typeface="Trebuchet MS"/>
              </a:rPr>
              <a:t>o</a:t>
            </a:r>
            <a:r>
              <a:rPr sz="2600" i="1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given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c</a:t>
            </a:r>
            <a:r>
              <a:rPr sz="2600" i="1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(or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vice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versa)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4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Keep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adjusting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the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vectors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maximize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this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probability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37338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>
                <a:solidFill>
                  <a:srgbClr val="3A87FF"/>
                </a:solidFill>
              </a:rPr>
              <a:t>Word2Vec</a:t>
            </a:r>
            <a:r>
              <a:rPr sz="3400" spc="-325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Overview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550418" y="1439418"/>
            <a:ext cx="83883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1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90525" algn="l"/>
                <a:tab pos="391160" algn="l"/>
              </a:tabLst>
            </a:pPr>
            <a:r>
              <a:rPr sz="2600" spc="-280" dirty="0">
                <a:latin typeface="+mj-lt"/>
                <a:cs typeface="DejaVu Serif"/>
              </a:rPr>
              <a:t>Example </a:t>
            </a:r>
            <a:r>
              <a:rPr lang="zh-CN" altLang="en-US" sz="2600" spc="-280" dirty="0">
                <a:latin typeface="+mj-lt"/>
                <a:cs typeface="DejaVu Serif"/>
              </a:rPr>
              <a:t>  </a:t>
            </a:r>
            <a:r>
              <a:rPr sz="2600" spc="-220" dirty="0">
                <a:latin typeface="+mj-lt"/>
                <a:cs typeface="DejaVu Serif"/>
              </a:rPr>
              <a:t>windows</a:t>
            </a:r>
            <a:r>
              <a:rPr lang="zh-CN" altLang="en-US" sz="2600" spc="-220" dirty="0">
                <a:latin typeface="+mj-lt"/>
                <a:cs typeface="DejaVu Serif"/>
              </a:rPr>
              <a:t> </a:t>
            </a:r>
            <a:r>
              <a:rPr sz="2600" spc="-220" dirty="0">
                <a:latin typeface="+mj-lt"/>
                <a:cs typeface="DejaVu Serif"/>
              </a:rPr>
              <a:t> </a:t>
            </a:r>
            <a:r>
              <a:rPr sz="2600" spc="-260" dirty="0">
                <a:latin typeface="+mj-lt"/>
                <a:cs typeface="DejaVu Serif"/>
              </a:rPr>
              <a:t>and </a:t>
            </a:r>
            <a:r>
              <a:rPr lang="zh-CN" altLang="en-US" sz="2600" spc="-260" dirty="0">
                <a:latin typeface="+mj-lt"/>
                <a:cs typeface="DejaVu Serif"/>
              </a:rPr>
              <a:t> </a:t>
            </a:r>
            <a:r>
              <a:rPr sz="2600" spc="-245" dirty="0">
                <a:latin typeface="+mj-lt"/>
                <a:cs typeface="DejaVu Serif"/>
              </a:rPr>
              <a:t>process </a:t>
            </a:r>
            <a:r>
              <a:rPr lang="zh-CN" altLang="en-US" sz="2600" spc="-245" dirty="0">
                <a:latin typeface="+mj-lt"/>
                <a:cs typeface="DejaVu Serif"/>
              </a:rPr>
              <a:t> </a:t>
            </a:r>
            <a:r>
              <a:rPr sz="2600" spc="-190" dirty="0">
                <a:latin typeface="+mj-lt"/>
                <a:cs typeface="DejaVu Serif"/>
              </a:rPr>
              <a:t>for </a:t>
            </a:r>
            <a:r>
              <a:rPr lang="zh-CN" altLang="en-US" sz="2600" spc="-190" dirty="0">
                <a:latin typeface="+mj-lt"/>
                <a:cs typeface="DejaVu Serif"/>
              </a:rPr>
              <a:t> </a:t>
            </a:r>
            <a:r>
              <a:rPr sz="2600" spc="-260" dirty="0">
                <a:latin typeface="+mj-lt"/>
                <a:cs typeface="DejaVu Serif"/>
              </a:rPr>
              <a:t>computing</a:t>
            </a:r>
            <a:endParaRPr sz="2850" baseline="-16081" dirty="0">
              <a:latin typeface="+mj-lt"/>
              <a:cs typeface="DejaVu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14</a:t>
            </a:fld>
            <a:endParaRPr spc="-30" dirty="0"/>
          </a:p>
        </p:txBody>
      </p:sp>
      <p:pic>
        <p:nvPicPr>
          <p:cNvPr id="25" name="Picture 24" descr="Diagram&#10;&#10;Description automatically generated">
            <a:extLst>
              <a:ext uri="{FF2B5EF4-FFF2-40B4-BE49-F238E27FC236}">
                <a16:creationId xmlns:a16="http://schemas.microsoft.com/office/drawing/2014/main" id="{EA87E40B-2A66-7343-AE21-3E2D9F57A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780" y="1439418"/>
            <a:ext cx="1890968" cy="555640"/>
          </a:xfrm>
          <a:prstGeom prst="rect">
            <a:avLst/>
          </a:prstGeom>
        </p:spPr>
      </p:pic>
      <p:pic>
        <p:nvPicPr>
          <p:cNvPr id="27" name="Picture 26" descr="Diagram&#10;&#10;Description automatically generated">
            <a:extLst>
              <a:ext uri="{FF2B5EF4-FFF2-40B4-BE49-F238E27FC236}">
                <a16:creationId xmlns:a16="http://schemas.microsoft.com/office/drawing/2014/main" id="{E74AFCCD-8DF3-2C4C-845F-1851BFD81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8689"/>
            <a:ext cx="10058400" cy="33286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37338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>
                <a:solidFill>
                  <a:srgbClr val="3A87FF"/>
                </a:solidFill>
              </a:rPr>
              <a:t>Word2Vec</a:t>
            </a:r>
            <a:r>
              <a:rPr sz="3400" spc="-325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Overview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550418" y="1439418"/>
            <a:ext cx="83883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1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90525" algn="l"/>
                <a:tab pos="391160" algn="l"/>
              </a:tabLst>
            </a:pPr>
            <a:r>
              <a:rPr lang="en-US" sz="2600" spc="-280" dirty="0">
                <a:cs typeface="DejaVu Serif"/>
              </a:rPr>
              <a:t>Example </a:t>
            </a:r>
            <a:r>
              <a:rPr lang="en-US" altLang="zh-CN" sz="2600" spc="-280" dirty="0">
                <a:cs typeface="DejaVu Serif"/>
              </a:rPr>
              <a:t>  </a:t>
            </a:r>
            <a:r>
              <a:rPr lang="en-US" sz="2600" spc="-220" dirty="0">
                <a:cs typeface="DejaVu Serif"/>
              </a:rPr>
              <a:t>windows</a:t>
            </a:r>
            <a:r>
              <a:rPr lang="en-US" altLang="zh-CN" sz="2600" spc="-220" dirty="0">
                <a:cs typeface="DejaVu Serif"/>
              </a:rPr>
              <a:t> </a:t>
            </a:r>
            <a:r>
              <a:rPr lang="en-US" sz="2600" spc="-220" dirty="0">
                <a:cs typeface="DejaVu Serif"/>
              </a:rPr>
              <a:t> </a:t>
            </a:r>
            <a:r>
              <a:rPr lang="en-US" sz="2600" spc="-260" dirty="0">
                <a:cs typeface="DejaVu Serif"/>
              </a:rPr>
              <a:t>and </a:t>
            </a:r>
            <a:r>
              <a:rPr lang="en-US" altLang="zh-CN" sz="2600" spc="-260" dirty="0">
                <a:cs typeface="DejaVu Serif"/>
              </a:rPr>
              <a:t> </a:t>
            </a:r>
            <a:r>
              <a:rPr lang="en-US" sz="2600" spc="-245" dirty="0">
                <a:cs typeface="DejaVu Serif"/>
              </a:rPr>
              <a:t>process </a:t>
            </a:r>
            <a:r>
              <a:rPr lang="en-US" altLang="zh-CN" sz="2600" spc="-245" dirty="0">
                <a:cs typeface="DejaVu Serif"/>
              </a:rPr>
              <a:t> </a:t>
            </a:r>
            <a:r>
              <a:rPr lang="en-US" sz="2600" spc="-190" dirty="0">
                <a:cs typeface="DejaVu Serif"/>
              </a:rPr>
              <a:t>for </a:t>
            </a:r>
            <a:r>
              <a:rPr lang="en-US" altLang="zh-CN" sz="2600" spc="-190" dirty="0">
                <a:cs typeface="DejaVu Serif"/>
              </a:rPr>
              <a:t> </a:t>
            </a:r>
            <a:r>
              <a:rPr lang="en-US" sz="2600" spc="-260" dirty="0">
                <a:cs typeface="DejaVu Serif"/>
              </a:rPr>
              <a:t>computing</a:t>
            </a:r>
            <a:endParaRPr lang="en-US" sz="2850" baseline="-16081" dirty="0">
              <a:cs typeface="DejaVu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15</a:t>
            </a:fld>
            <a:endParaRPr spc="-30" dirty="0"/>
          </a:p>
        </p:txBody>
      </p:sp>
      <p:pic>
        <p:nvPicPr>
          <p:cNvPr id="23" name="Picture 22" descr="Diagram&#10;&#10;Description automatically generated">
            <a:extLst>
              <a:ext uri="{FF2B5EF4-FFF2-40B4-BE49-F238E27FC236}">
                <a16:creationId xmlns:a16="http://schemas.microsoft.com/office/drawing/2014/main" id="{2C6D9670-E619-A245-9BC2-249C85F33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780" y="1439418"/>
            <a:ext cx="1890968" cy="555640"/>
          </a:xfrm>
          <a:prstGeom prst="rect">
            <a:avLst/>
          </a:prstGeom>
        </p:spPr>
      </p:pic>
      <p:pic>
        <p:nvPicPr>
          <p:cNvPr id="25" name="Picture 24" descr="Diagram&#10;&#10;Description automatically generated">
            <a:extLst>
              <a:ext uri="{FF2B5EF4-FFF2-40B4-BE49-F238E27FC236}">
                <a16:creationId xmlns:a16="http://schemas.microsoft.com/office/drawing/2014/main" id="{70DDF98E-98CA-B949-A995-A3B2AD488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2804308"/>
            <a:ext cx="10058400" cy="33392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3397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Word2vec: </a:t>
            </a:r>
            <a:r>
              <a:rPr sz="3400" spc="-220" dirty="0">
                <a:solidFill>
                  <a:srgbClr val="3A87FF"/>
                </a:solidFill>
              </a:rPr>
              <a:t>objective</a:t>
            </a:r>
            <a:r>
              <a:rPr sz="3400" spc="-345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function</a:t>
            </a:r>
            <a:endParaRPr sz="340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16</a:t>
            </a:fld>
            <a:endParaRPr spc="-30" dirty="0"/>
          </a:p>
        </p:txBody>
      </p:sp>
      <p:pic>
        <p:nvPicPr>
          <p:cNvPr id="24" name="Picture 23" descr="Text&#10;&#10;Description automatically generated">
            <a:extLst>
              <a:ext uri="{FF2B5EF4-FFF2-40B4-BE49-F238E27FC236}">
                <a16:creationId xmlns:a16="http://schemas.microsoft.com/office/drawing/2014/main" id="{C9AE53B8-FA74-4343-A4C8-ACB93281F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30" y="1385218"/>
            <a:ext cx="8763000" cy="56825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3397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Word2vec: </a:t>
            </a:r>
            <a:r>
              <a:rPr sz="3400" spc="-220" dirty="0">
                <a:solidFill>
                  <a:srgbClr val="3A87FF"/>
                </a:solidFill>
              </a:rPr>
              <a:t>objective</a:t>
            </a:r>
            <a:r>
              <a:rPr sz="3400" spc="-345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function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97330"/>
            <a:ext cx="64001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want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minimize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objective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function: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118" y="3143694"/>
            <a:ext cx="6783070" cy="277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1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Arial"/>
              <a:buChar char="•"/>
              <a:tabLst>
                <a:tab pos="550545" algn="l"/>
                <a:tab pos="551180" algn="l"/>
                <a:tab pos="6349365" algn="l"/>
              </a:tabLst>
            </a:pPr>
            <a:r>
              <a:rPr sz="26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Question: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BB57BE"/>
                </a:solidFill>
                <a:latin typeface="Trebuchet MS"/>
                <a:cs typeface="Trebuchet MS"/>
              </a:rPr>
              <a:t>How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to </a:t>
            </a:r>
            <a:r>
              <a:rPr sz="2600" spc="-165" dirty="0">
                <a:solidFill>
                  <a:srgbClr val="BB57BE"/>
                </a:solidFill>
                <a:latin typeface="Trebuchet MS"/>
                <a:cs typeface="Trebuchet MS"/>
              </a:rPr>
              <a:t>calculate </a:t>
            </a:r>
            <a:r>
              <a:rPr lang="zh-CN" altLang="en-US" sz="2600" spc="-45" dirty="0">
                <a:solidFill>
                  <a:srgbClr val="BB57BE"/>
                </a:solidFill>
                <a:latin typeface="DejaVu Sans"/>
                <a:cs typeface="DejaVu Sans"/>
              </a:rPr>
              <a:t>                   </a:t>
            </a:r>
            <a:r>
              <a:rPr lang="en-US" sz="2600" spc="250" dirty="0">
                <a:solidFill>
                  <a:srgbClr val="BB57BE"/>
                </a:solidFill>
                <a:latin typeface="Trebuchet MS"/>
                <a:cs typeface="Trebuchet MS"/>
              </a:rPr>
              <a:t>?</a:t>
            </a:r>
            <a:endParaRPr lang="en-US" sz="2600" dirty="0">
              <a:latin typeface="Trebuchet MS"/>
              <a:cs typeface="Trebuchet MS"/>
            </a:endParaRPr>
          </a:p>
          <a:p>
            <a:pPr marL="551180" indent="-487680">
              <a:lnSpc>
                <a:spcPct val="100000"/>
              </a:lnSpc>
              <a:spcBef>
                <a:spcPts val="2085"/>
              </a:spcBef>
              <a:buClr>
                <a:srgbClr val="CC0000"/>
              </a:buClr>
              <a:buFont typeface="Arial"/>
              <a:buChar char="•"/>
              <a:tabLst>
                <a:tab pos="550545" algn="l"/>
                <a:tab pos="551180" algn="l"/>
              </a:tabLst>
            </a:pPr>
            <a:r>
              <a:rPr lang="en-US" sz="26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Answer:</a:t>
            </a:r>
            <a:r>
              <a:rPr lang="en-US" sz="2600" spc="-225" dirty="0">
                <a:latin typeface="Trebuchet MS"/>
                <a:cs typeface="Trebuchet MS"/>
              </a:rPr>
              <a:t> </a:t>
            </a:r>
            <a:r>
              <a:rPr lang="en-US" sz="2600" spc="-35" dirty="0">
                <a:latin typeface="Trebuchet MS"/>
                <a:cs typeface="Trebuchet MS"/>
              </a:rPr>
              <a:t>We</a:t>
            </a:r>
            <a:r>
              <a:rPr lang="en-US" sz="2600" spc="-225" dirty="0">
                <a:latin typeface="Trebuchet MS"/>
                <a:cs typeface="Trebuchet MS"/>
              </a:rPr>
              <a:t> </a:t>
            </a:r>
            <a:r>
              <a:rPr lang="en-US" sz="2600" spc="-155" dirty="0">
                <a:latin typeface="Trebuchet MS"/>
                <a:cs typeface="Trebuchet MS"/>
              </a:rPr>
              <a:t>will</a:t>
            </a:r>
            <a:r>
              <a:rPr lang="en-US" sz="2600" spc="-220" dirty="0">
                <a:latin typeface="Trebuchet MS"/>
                <a:cs typeface="Trebuchet MS"/>
              </a:rPr>
              <a:t> </a:t>
            </a:r>
            <a:r>
              <a:rPr lang="en-US" sz="2600" i="1" spc="-114" dirty="0">
                <a:latin typeface="Trebuchet MS"/>
                <a:cs typeface="Trebuchet MS"/>
              </a:rPr>
              <a:t>use</a:t>
            </a:r>
            <a:r>
              <a:rPr lang="en-US" sz="2600" i="1" spc="-225" dirty="0">
                <a:latin typeface="Trebuchet MS"/>
                <a:cs typeface="Trebuchet MS"/>
              </a:rPr>
              <a:t> </a:t>
            </a:r>
            <a:r>
              <a:rPr lang="en-US" sz="2600" i="1" spc="-140" dirty="0">
                <a:latin typeface="Trebuchet MS"/>
                <a:cs typeface="Trebuchet MS"/>
              </a:rPr>
              <a:t>two</a:t>
            </a:r>
            <a:r>
              <a:rPr lang="en-US" sz="2600" i="1" spc="-225" dirty="0">
                <a:latin typeface="Trebuchet MS"/>
                <a:cs typeface="Trebuchet MS"/>
              </a:rPr>
              <a:t> </a:t>
            </a:r>
            <a:r>
              <a:rPr lang="en-US" sz="2600" spc="-125" dirty="0">
                <a:latin typeface="Trebuchet MS"/>
                <a:cs typeface="Trebuchet MS"/>
              </a:rPr>
              <a:t>vectors</a:t>
            </a:r>
            <a:r>
              <a:rPr lang="en-US" sz="2600" spc="-225" dirty="0">
                <a:latin typeface="Trebuchet MS"/>
                <a:cs typeface="Trebuchet MS"/>
              </a:rPr>
              <a:t> </a:t>
            </a:r>
            <a:r>
              <a:rPr lang="en-US" sz="2600" spc="-120" dirty="0">
                <a:latin typeface="Trebuchet MS"/>
                <a:cs typeface="Trebuchet MS"/>
              </a:rPr>
              <a:t>per</a:t>
            </a:r>
            <a:r>
              <a:rPr lang="en-US" sz="2600" spc="-225" dirty="0">
                <a:latin typeface="Trebuchet MS"/>
                <a:cs typeface="Trebuchet MS"/>
              </a:rPr>
              <a:t> </a:t>
            </a:r>
            <a:r>
              <a:rPr lang="en-US" sz="2600" spc="-95" dirty="0">
                <a:latin typeface="Trebuchet MS"/>
                <a:cs typeface="Trebuchet MS"/>
              </a:rPr>
              <a:t>word</a:t>
            </a:r>
            <a:r>
              <a:rPr lang="en-US" sz="2600" spc="-229" dirty="0">
                <a:latin typeface="Trebuchet MS"/>
                <a:cs typeface="Trebuchet MS"/>
              </a:rPr>
              <a:t> </a:t>
            </a:r>
            <a:r>
              <a:rPr lang="en-US" sz="2600" i="1" spc="-190" dirty="0">
                <a:latin typeface="Trebuchet MS"/>
                <a:cs typeface="Trebuchet MS"/>
              </a:rPr>
              <a:t>w</a:t>
            </a:r>
            <a:r>
              <a:rPr lang="en-US" sz="2600" spc="-190" dirty="0">
                <a:latin typeface="Trebuchet MS"/>
                <a:cs typeface="Trebuchet MS"/>
              </a:rPr>
              <a:t>:</a:t>
            </a:r>
            <a:endParaRPr lang="en-US" sz="2600" dirty="0">
              <a:latin typeface="Trebuchet MS"/>
              <a:cs typeface="Trebuchet MS"/>
            </a:endParaRPr>
          </a:p>
          <a:p>
            <a:pPr marL="1038860" lvl="1" indent="-488315">
              <a:lnSpc>
                <a:spcPct val="100000"/>
              </a:lnSpc>
              <a:spcBef>
                <a:spcPts val="1675"/>
              </a:spcBef>
              <a:buClr>
                <a:srgbClr val="3A87FF"/>
              </a:buClr>
              <a:buFont typeface="Arial"/>
              <a:buChar char="•"/>
              <a:tabLst>
                <a:tab pos="1038225" algn="l"/>
                <a:tab pos="1038860" algn="l"/>
              </a:tabLst>
            </a:pPr>
            <a:r>
              <a:rPr lang="zh-CN" altLang="en-US" sz="2100" spc="-50" dirty="0">
                <a:latin typeface="Trebuchet MS"/>
                <a:cs typeface="Trebuchet MS"/>
              </a:rPr>
              <a:t>   </a:t>
            </a:r>
            <a:r>
              <a:rPr sz="2100" spc="-50" dirty="0">
                <a:latin typeface="Trebuchet MS"/>
                <a:cs typeface="Trebuchet MS"/>
              </a:rPr>
              <a:t>when </a:t>
            </a:r>
            <a:r>
              <a:rPr sz="2100" i="1" spc="-65" dirty="0">
                <a:latin typeface="Trebuchet MS"/>
                <a:cs typeface="Trebuchet MS"/>
              </a:rPr>
              <a:t>w </a:t>
            </a:r>
            <a:r>
              <a:rPr sz="2100" spc="-70" dirty="0">
                <a:latin typeface="Trebuchet MS"/>
                <a:cs typeface="Trebuchet MS"/>
              </a:rPr>
              <a:t>is </a:t>
            </a:r>
            <a:r>
              <a:rPr sz="2100" spc="-100" dirty="0">
                <a:latin typeface="Trebuchet MS"/>
                <a:cs typeface="Trebuchet MS"/>
              </a:rPr>
              <a:t>a </a:t>
            </a:r>
            <a:r>
              <a:rPr sz="2100" spc="-90" dirty="0">
                <a:latin typeface="Trebuchet MS"/>
                <a:cs typeface="Trebuchet MS"/>
              </a:rPr>
              <a:t>center </a:t>
            </a:r>
            <a:r>
              <a:rPr sz="2100" spc="-50" dirty="0">
                <a:latin typeface="Trebuchet MS"/>
                <a:cs typeface="Trebuchet MS"/>
              </a:rPr>
              <a:t>word</a:t>
            </a:r>
            <a:endParaRPr sz="2100" dirty="0">
              <a:latin typeface="Trebuchet MS"/>
              <a:cs typeface="Trebuchet MS"/>
            </a:endParaRPr>
          </a:p>
          <a:p>
            <a:pPr marL="1038860" lvl="1" indent="-488315">
              <a:lnSpc>
                <a:spcPct val="100000"/>
              </a:lnSpc>
              <a:spcBef>
                <a:spcPts val="1680"/>
              </a:spcBef>
              <a:buClr>
                <a:srgbClr val="3A87FF"/>
              </a:buClr>
              <a:buFont typeface="Arial"/>
              <a:buChar char="•"/>
              <a:tabLst>
                <a:tab pos="1038225" algn="l"/>
                <a:tab pos="1038860" algn="l"/>
              </a:tabLst>
            </a:pPr>
            <a:r>
              <a:rPr lang="zh-CN" altLang="en-US" sz="2100" spc="90" baseline="-16666" dirty="0">
                <a:latin typeface="DejaVu Sans"/>
                <a:cs typeface="DejaVu Sans"/>
              </a:rPr>
              <a:t> </a:t>
            </a:r>
            <a:r>
              <a:rPr sz="2250" spc="135" baseline="-16666" dirty="0">
                <a:latin typeface="DejaVu Sans"/>
                <a:cs typeface="DejaVu Sans"/>
              </a:rPr>
              <a:t> </a:t>
            </a:r>
            <a:r>
              <a:rPr lang="zh-CN" altLang="en-US" sz="2250" spc="135" baseline="-16666" dirty="0">
                <a:latin typeface="DejaVu Sans"/>
                <a:cs typeface="DejaVu Sans"/>
              </a:rPr>
              <a:t>  </a:t>
            </a:r>
            <a:r>
              <a:rPr sz="2100" spc="-50" dirty="0">
                <a:latin typeface="Trebuchet MS"/>
                <a:cs typeface="Trebuchet MS"/>
              </a:rPr>
              <a:t>when </a:t>
            </a:r>
            <a:r>
              <a:rPr sz="2100" i="1" spc="-65" dirty="0">
                <a:latin typeface="Trebuchet MS"/>
                <a:cs typeface="Trebuchet MS"/>
              </a:rPr>
              <a:t>w </a:t>
            </a:r>
            <a:r>
              <a:rPr sz="2100" spc="-70" dirty="0">
                <a:latin typeface="Trebuchet MS"/>
                <a:cs typeface="Trebuchet MS"/>
              </a:rPr>
              <a:t>is </a:t>
            </a:r>
            <a:r>
              <a:rPr sz="2100" spc="-100" dirty="0">
                <a:latin typeface="Trebuchet MS"/>
                <a:cs typeface="Trebuchet MS"/>
              </a:rPr>
              <a:t>a </a:t>
            </a:r>
            <a:r>
              <a:rPr sz="2100" spc="-95" dirty="0">
                <a:latin typeface="Trebuchet MS"/>
                <a:cs typeface="Trebuchet MS"/>
              </a:rPr>
              <a:t>context</a:t>
            </a:r>
            <a:r>
              <a:rPr sz="2100" spc="-32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word</a:t>
            </a:r>
            <a:endParaRPr sz="2100" dirty="0">
              <a:latin typeface="Trebuchet MS"/>
              <a:cs typeface="Trebuchet MS"/>
            </a:endParaRPr>
          </a:p>
          <a:p>
            <a:pPr marL="551180" indent="-487680">
              <a:lnSpc>
                <a:spcPct val="100000"/>
              </a:lnSpc>
              <a:spcBef>
                <a:spcPts val="1780"/>
              </a:spcBef>
              <a:buClr>
                <a:srgbClr val="CC0000"/>
              </a:buClr>
              <a:buFont typeface="Arial"/>
              <a:buChar char="•"/>
              <a:tabLst>
                <a:tab pos="550545" algn="l"/>
                <a:tab pos="551180" algn="l"/>
              </a:tabLst>
            </a:pPr>
            <a:r>
              <a:rPr sz="2600" spc="-135" dirty="0">
                <a:latin typeface="Trebuchet MS"/>
                <a:cs typeface="Trebuchet MS"/>
              </a:rPr>
              <a:t>Then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center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c</a:t>
            </a:r>
            <a:r>
              <a:rPr sz="2600" i="1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context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i="1" spc="-170" dirty="0">
                <a:latin typeface="Trebuchet MS"/>
                <a:cs typeface="Trebuchet MS"/>
              </a:rPr>
              <a:t>o</a:t>
            </a:r>
            <a:r>
              <a:rPr sz="2600" spc="-170" dirty="0">
                <a:latin typeface="Trebuchet MS"/>
                <a:cs typeface="Trebuchet MS"/>
              </a:rPr>
              <a:t>: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3118" y="7102093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5" dirty="0">
                <a:latin typeface="Trebuchet MS"/>
                <a:cs typeface="Trebuchet MS"/>
              </a:rPr>
              <a:t>23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22" name="Picture 21" descr="Text&#10;&#10;Description automatically generated">
            <a:extLst>
              <a:ext uri="{FF2B5EF4-FFF2-40B4-BE49-F238E27FC236}">
                <a16:creationId xmlns:a16="http://schemas.microsoft.com/office/drawing/2014/main" id="{AD63ACA1-94E0-0A48-9A95-55AE1AA4B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0" y="2035419"/>
            <a:ext cx="4343400" cy="1070618"/>
          </a:xfrm>
          <a:prstGeom prst="rect">
            <a:avLst/>
          </a:prstGeom>
        </p:spPr>
      </p:pic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CC725002-13BE-DA46-91E6-01E37C8A6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143694"/>
            <a:ext cx="1828800" cy="440267"/>
          </a:xfrm>
          <a:prstGeom prst="rect">
            <a:avLst/>
          </a:prstGeom>
        </p:spPr>
      </p:pic>
      <p:pic>
        <p:nvPicPr>
          <p:cNvPr id="26" name="Picture 25" descr="Text&#10;&#10;Description automatically generated with low confidence">
            <a:extLst>
              <a:ext uri="{FF2B5EF4-FFF2-40B4-BE49-F238E27FC236}">
                <a16:creationId xmlns:a16="http://schemas.microsoft.com/office/drawing/2014/main" id="{27818C19-2B4C-DE4A-B8B2-66AF02793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508500"/>
            <a:ext cx="571500" cy="292100"/>
          </a:xfrm>
          <a:prstGeom prst="rect">
            <a:avLst/>
          </a:prstGeom>
        </p:spPr>
      </p:pic>
      <p:pic>
        <p:nvPicPr>
          <p:cNvPr id="28" name="Picture 2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BEAA5D-9DB5-A645-9881-EE76FE951B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015134"/>
            <a:ext cx="482600" cy="342900"/>
          </a:xfrm>
          <a:prstGeom prst="rect">
            <a:avLst/>
          </a:prstGeom>
        </p:spPr>
      </p:pic>
      <p:pic>
        <p:nvPicPr>
          <p:cNvPr id="30" name="Picture 29" descr="Icon&#10;&#10;Description automatically generated with low confidence">
            <a:extLst>
              <a:ext uri="{FF2B5EF4-FFF2-40B4-BE49-F238E27FC236}">
                <a16:creationId xmlns:a16="http://schemas.microsoft.com/office/drawing/2014/main" id="{7D9FA93A-D899-3542-9C11-1A534183E9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021" y="6068492"/>
            <a:ext cx="4841558" cy="12073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10997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>
                <a:solidFill>
                  <a:srgbClr val="3A87FF"/>
                </a:solidFill>
              </a:rPr>
              <a:t>Word2Vec </a:t>
            </a:r>
            <a:r>
              <a:rPr sz="3400" spc="-185" dirty="0">
                <a:solidFill>
                  <a:srgbClr val="3A87FF"/>
                </a:solidFill>
              </a:rPr>
              <a:t>Overview </a:t>
            </a:r>
            <a:r>
              <a:rPr sz="3400" spc="-165" dirty="0">
                <a:solidFill>
                  <a:srgbClr val="3A87FF"/>
                </a:solidFill>
              </a:rPr>
              <a:t>with</a:t>
            </a:r>
            <a:r>
              <a:rPr sz="3400" spc="-470" dirty="0">
                <a:solidFill>
                  <a:srgbClr val="3A87FF"/>
                </a:solidFill>
              </a:rPr>
              <a:t> </a:t>
            </a:r>
            <a:r>
              <a:rPr sz="3400" spc="-180" dirty="0">
                <a:solidFill>
                  <a:srgbClr val="3A87FF"/>
                </a:solidFill>
              </a:rPr>
              <a:t>Vectors</a:t>
            </a:r>
            <a:endParaRPr sz="340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18</a:t>
            </a:fld>
            <a:endParaRPr spc="-30" dirty="0"/>
          </a:p>
        </p:txBody>
      </p:sp>
      <p:pic>
        <p:nvPicPr>
          <p:cNvPr id="28" name="Picture 27" descr="Diagram&#10;&#10;Description automatically generated">
            <a:extLst>
              <a:ext uri="{FF2B5EF4-FFF2-40B4-BE49-F238E27FC236}">
                <a16:creationId xmlns:a16="http://schemas.microsoft.com/office/drawing/2014/main" id="{685BCA65-0160-6244-9462-CE9D735FA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18" y="1752600"/>
            <a:ext cx="8504682" cy="46955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5302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Word2vec: prediction</a:t>
            </a:r>
            <a:r>
              <a:rPr sz="3400" spc="-380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function</a:t>
            </a:r>
            <a:endParaRPr sz="340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19</a:t>
            </a:fld>
            <a:endParaRPr spc="-30" dirty="0"/>
          </a:p>
        </p:txBody>
      </p:sp>
      <p:pic>
        <p:nvPicPr>
          <p:cNvPr id="35" name="Picture 34" descr="Diagram, text&#10;&#10;Description automatically generated">
            <a:extLst>
              <a:ext uri="{FF2B5EF4-FFF2-40B4-BE49-F238E27FC236}">
                <a16:creationId xmlns:a16="http://schemas.microsoft.com/office/drawing/2014/main" id="{4D858069-4668-9B4C-B26E-3C3D0FA04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43" y="1371600"/>
            <a:ext cx="8428482" cy="55909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118" y="496568"/>
            <a:ext cx="77520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200" dirty="0">
                <a:solidFill>
                  <a:srgbClr val="3A87FF"/>
                </a:solidFill>
                <a:latin typeface="Trebuchet MS"/>
                <a:cs typeface="Trebuchet MS"/>
              </a:rPr>
              <a:t>Training </a:t>
            </a:r>
            <a:r>
              <a:rPr sz="3400" b="1" spc="-135" dirty="0">
                <a:solidFill>
                  <a:srgbClr val="3A87FF"/>
                </a:solidFill>
                <a:latin typeface="Trebuchet MS"/>
                <a:cs typeface="Trebuchet MS"/>
              </a:rPr>
              <a:t>a </a:t>
            </a:r>
            <a:r>
              <a:rPr sz="3400" b="1" spc="-160" dirty="0">
                <a:solidFill>
                  <a:srgbClr val="3A87FF"/>
                </a:solidFill>
                <a:latin typeface="Trebuchet MS"/>
                <a:cs typeface="Trebuchet MS"/>
              </a:rPr>
              <a:t>model </a:t>
            </a:r>
            <a:r>
              <a:rPr sz="3400" b="1" spc="-180" dirty="0">
                <a:solidFill>
                  <a:srgbClr val="3A87FF"/>
                </a:solidFill>
                <a:latin typeface="Trebuchet MS"/>
                <a:cs typeface="Trebuchet MS"/>
              </a:rPr>
              <a:t>by </a:t>
            </a:r>
            <a:r>
              <a:rPr sz="3400" b="1" spc="-185" dirty="0">
                <a:solidFill>
                  <a:srgbClr val="3A87FF"/>
                </a:solidFill>
                <a:latin typeface="Trebuchet MS"/>
                <a:cs typeface="Trebuchet MS"/>
              </a:rPr>
              <a:t>optimizing</a:t>
            </a:r>
            <a:r>
              <a:rPr sz="3400" b="1" spc="-60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3400" b="1" spc="-180" dirty="0">
                <a:solidFill>
                  <a:srgbClr val="3A87FF"/>
                </a:solidFill>
                <a:latin typeface="Trebuchet MS"/>
                <a:cs typeface="Trebuchet MS"/>
              </a:rPr>
              <a:t>parameters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116" y="1329689"/>
            <a:ext cx="8133080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95"/>
              </a:spcBef>
            </a:pPr>
            <a:r>
              <a:rPr sz="2600" spc="-260" dirty="0">
                <a:latin typeface="Trebuchet MS"/>
                <a:cs typeface="Trebuchet MS"/>
              </a:rPr>
              <a:t>To </a:t>
            </a:r>
            <a:r>
              <a:rPr sz="2600" spc="-145" dirty="0">
                <a:latin typeface="Trebuchet MS"/>
                <a:cs typeface="Trebuchet MS"/>
              </a:rPr>
              <a:t>train </a:t>
            </a:r>
            <a:r>
              <a:rPr sz="2600" spc="-125" dirty="0">
                <a:latin typeface="Trebuchet MS"/>
                <a:cs typeface="Trebuchet MS"/>
              </a:rPr>
              <a:t>a </a:t>
            </a:r>
            <a:r>
              <a:rPr sz="2600" spc="-155" dirty="0">
                <a:latin typeface="Trebuchet MS"/>
                <a:cs typeface="Trebuchet MS"/>
              </a:rPr>
              <a:t>model, </a:t>
            </a:r>
            <a:r>
              <a:rPr sz="2600" spc="-135" dirty="0">
                <a:latin typeface="Trebuchet MS"/>
                <a:cs typeface="Trebuchet MS"/>
              </a:rPr>
              <a:t>we </a:t>
            </a:r>
            <a:r>
              <a:rPr sz="2600" spc="-155" dirty="0">
                <a:latin typeface="Trebuchet MS"/>
                <a:cs typeface="Trebuchet MS"/>
              </a:rPr>
              <a:t>adjust </a:t>
            </a:r>
            <a:r>
              <a:rPr sz="2600" spc="-140" dirty="0">
                <a:latin typeface="Trebuchet MS"/>
                <a:cs typeface="Trebuchet MS"/>
              </a:rPr>
              <a:t>parameters </a:t>
            </a:r>
            <a:r>
              <a:rPr sz="2600" spc="-114" dirty="0">
                <a:latin typeface="Trebuchet MS"/>
                <a:cs typeface="Trebuchet MS"/>
              </a:rPr>
              <a:t>to </a:t>
            </a:r>
            <a:r>
              <a:rPr sz="2600" spc="-155" dirty="0">
                <a:latin typeface="Trebuchet MS"/>
                <a:cs typeface="Trebuchet MS"/>
              </a:rPr>
              <a:t>minimize </a:t>
            </a:r>
            <a:r>
              <a:rPr sz="2600" spc="-125" dirty="0">
                <a:latin typeface="Trebuchet MS"/>
                <a:cs typeface="Trebuchet MS"/>
              </a:rPr>
              <a:t>a </a:t>
            </a:r>
            <a:r>
              <a:rPr sz="2600" spc="-85" dirty="0">
                <a:latin typeface="Trebuchet MS"/>
                <a:cs typeface="Trebuchet MS"/>
              </a:rPr>
              <a:t>loss  </a:t>
            </a:r>
            <a:r>
              <a:rPr sz="2600" spc="-235" dirty="0">
                <a:latin typeface="Trebuchet MS"/>
                <a:cs typeface="Trebuchet MS"/>
              </a:rPr>
              <a:t>E.g.,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90" dirty="0">
                <a:latin typeface="Trebuchet MS"/>
                <a:cs typeface="Trebuchet MS"/>
              </a:rPr>
              <a:t>below,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for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simple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convex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over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two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parameters  </a:t>
            </a:r>
            <a:r>
              <a:rPr sz="2600" spc="-114" dirty="0">
                <a:latin typeface="Trebuchet MS"/>
                <a:cs typeface="Trebuchet MS"/>
              </a:rPr>
              <a:t>Contour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lines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show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levels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objective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57322" y="3022854"/>
            <a:ext cx="4142231" cy="4142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20</a:t>
            </a:fld>
            <a:endParaRPr spc="-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892746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45" dirty="0">
                <a:solidFill>
                  <a:srgbClr val="3A87FF"/>
                </a:solidFill>
              </a:rPr>
              <a:t>To </a:t>
            </a:r>
            <a:r>
              <a:rPr sz="3400" spc="-180" dirty="0">
                <a:solidFill>
                  <a:srgbClr val="3A87FF"/>
                </a:solidFill>
              </a:rPr>
              <a:t>train </a:t>
            </a:r>
            <a:r>
              <a:rPr sz="3400" spc="-200" dirty="0">
                <a:solidFill>
                  <a:srgbClr val="3A87FF"/>
                </a:solidFill>
              </a:rPr>
              <a:t>the </a:t>
            </a:r>
            <a:r>
              <a:rPr sz="3400" spc="-185" dirty="0">
                <a:solidFill>
                  <a:srgbClr val="3A87FF"/>
                </a:solidFill>
              </a:rPr>
              <a:t>model: </a:t>
            </a:r>
            <a:r>
              <a:rPr sz="3400" spc="-180" dirty="0">
                <a:solidFill>
                  <a:srgbClr val="3A87FF"/>
                </a:solidFill>
              </a:rPr>
              <a:t>Compute </a:t>
            </a:r>
            <a:r>
              <a:rPr sz="3400" spc="-160" dirty="0">
                <a:solidFill>
                  <a:srgbClr val="BB57BE"/>
                </a:solidFill>
              </a:rPr>
              <a:t>all </a:t>
            </a:r>
            <a:r>
              <a:rPr sz="3400" spc="-210" dirty="0">
                <a:solidFill>
                  <a:srgbClr val="3A87FF"/>
                </a:solidFill>
              </a:rPr>
              <a:t>vector</a:t>
            </a:r>
            <a:r>
              <a:rPr sz="3400" spc="-600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gradients!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733282" cy="9637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80" dirty="0">
                <a:latin typeface="Trebuchet MS"/>
                <a:cs typeface="Trebuchet MS"/>
              </a:rPr>
              <a:t>Recall: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lang="zh-CN" altLang="en-US" sz="2600" spc="420" dirty="0">
                <a:latin typeface="DejaVu Sans"/>
                <a:cs typeface="Trebuchet MS"/>
              </a:rPr>
              <a:t>  </a:t>
            </a:r>
            <a:r>
              <a:rPr sz="2600" spc="-114" dirty="0">
                <a:latin typeface="Trebuchet MS"/>
                <a:cs typeface="Trebuchet MS"/>
              </a:rPr>
              <a:t>represents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b="1" spc="-135" dirty="0">
                <a:solidFill>
                  <a:srgbClr val="BB57BE"/>
                </a:solidFill>
                <a:latin typeface="Trebuchet MS"/>
                <a:cs typeface="Trebuchet MS"/>
              </a:rPr>
              <a:t>all</a:t>
            </a:r>
            <a:r>
              <a:rPr sz="2600" b="1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model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parameters,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one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long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vector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70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our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case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with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i="1" spc="-120" dirty="0">
                <a:latin typeface="Trebuchet MS"/>
                <a:cs typeface="Trebuchet MS"/>
              </a:rPr>
              <a:t>d</a:t>
            </a:r>
            <a:r>
              <a:rPr sz="2600" spc="-120" dirty="0">
                <a:latin typeface="Trebuchet MS"/>
                <a:cs typeface="Trebuchet MS"/>
              </a:rPr>
              <a:t>-dimensional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i="1" spc="-120" dirty="0">
                <a:latin typeface="Trebuchet MS"/>
                <a:cs typeface="Trebuchet MS"/>
              </a:rPr>
              <a:t>V</a:t>
            </a:r>
            <a:r>
              <a:rPr sz="2600" spc="-120" dirty="0">
                <a:latin typeface="Trebuchet MS"/>
                <a:cs typeface="Trebuchet MS"/>
              </a:rPr>
              <a:t>-many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words: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6029705"/>
            <a:ext cx="8461375" cy="9645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45" dirty="0">
                <a:latin typeface="Trebuchet MS"/>
                <a:cs typeface="Trebuchet MS"/>
              </a:rPr>
              <a:t>Remember: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every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has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two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endParaRPr sz="260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optimize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these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parameters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by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walking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down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gradient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65028" y="2540098"/>
            <a:ext cx="3427923" cy="3221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21</a:t>
            </a:fld>
            <a:endParaRPr spc="-30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DAC2685B-B612-F44D-ACC1-AADAFF6E1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422931"/>
            <a:ext cx="228600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4979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0" dirty="0">
                <a:solidFill>
                  <a:srgbClr val="3A87FF"/>
                </a:solidFill>
              </a:rPr>
              <a:t>4. </a:t>
            </a:r>
            <a:r>
              <a:rPr sz="3400" spc="-175" dirty="0">
                <a:solidFill>
                  <a:srgbClr val="3A87FF"/>
                </a:solidFill>
              </a:rPr>
              <a:t>Word2vec </a:t>
            </a:r>
            <a:r>
              <a:rPr sz="3400" spc="-170" dirty="0">
                <a:solidFill>
                  <a:srgbClr val="3A87FF"/>
                </a:solidFill>
              </a:rPr>
              <a:t>derivations </a:t>
            </a:r>
            <a:r>
              <a:rPr sz="3400" spc="-135" dirty="0">
                <a:solidFill>
                  <a:srgbClr val="3A87FF"/>
                </a:solidFill>
              </a:rPr>
              <a:t>of</a:t>
            </a:r>
            <a:r>
              <a:rPr sz="3400" spc="-395" dirty="0">
                <a:solidFill>
                  <a:srgbClr val="3A87FF"/>
                </a:solidFill>
              </a:rPr>
              <a:t> </a:t>
            </a:r>
            <a:r>
              <a:rPr sz="3400" spc="-175" dirty="0">
                <a:solidFill>
                  <a:srgbClr val="3A87FF"/>
                </a:solidFill>
              </a:rPr>
              <a:t>gradient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58722"/>
            <a:ext cx="8750300" cy="422910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9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05" dirty="0">
                <a:latin typeface="Trebuchet MS"/>
                <a:cs typeface="Trebuchet MS"/>
              </a:rPr>
              <a:t>Whiteboard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390" dirty="0">
                <a:latin typeface="Trebuchet MS"/>
                <a:cs typeface="Trebuchet MS"/>
              </a:rPr>
              <a:t>–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see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video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if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you’re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not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in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class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250" dirty="0">
                <a:latin typeface="Trebuchet MS"/>
                <a:cs typeface="Trebuchet MS"/>
              </a:rPr>
              <a:t>;)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70" dirty="0">
                <a:latin typeface="Trebuchet MS"/>
                <a:cs typeface="Trebuchet MS"/>
              </a:rPr>
              <a:t>The </a:t>
            </a:r>
            <a:r>
              <a:rPr sz="3000" spc="-140" dirty="0">
                <a:latin typeface="Trebuchet MS"/>
                <a:cs typeface="Trebuchet MS"/>
              </a:rPr>
              <a:t>basic </a:t>
            </a:r>
            <a:r>
              <a:rPr sz="3000" spc="-145" dirty="0">
                <a:latin typeface="Trebuchet MS"/>
                <a:cs typeface="Trebuchet MS"/>
              </a:rPr>
              <a:t>Lego</a:t>
            </a:r>
            <a:r>
              <a:rPr sz="3000" spc="-400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piece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92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20" dirty="0">
                <a:latin typeface="Trebuchet MS"/>
                <a:cs typeface="Trebuchet MS"/>
              </a:rPr>
              <a:t>Useful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basics: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989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45" dirty="0">
                <a:latin typeface="Trebuchet MS"/>
                <a:cs typeface="Trebuchet MS"/>
              </a:rPr>
              <a:t>If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in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doubt: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write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out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with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indices</a:t>
            </a:r>
            <a:endParaRPr sz="3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CC0000"/>
              </a:buClr>
              <a:buFont typeface="Arial"/>
              <a:buChar char="•"/>
            </a:pPr>
            <a:endParaRPr sz="3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321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Chain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rule!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If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i="1" spc="-140" dirty="0">
                <a:latin typeface="Trebuchet MS"/>
                <a:cs typeface="Trebuchet MS"/>
              </a:rPr>
              <a:t>y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210" dirty="0">
                <a:latin typeface="Trebuchet MS"/>
                <a:cs typeface="Trebuchet MS"/>
              </a:rPr>
              <a:t>f</a:t>
            </a:r>
            <a:r>
              <a:rPr sz="3000" spc="-210" dirty="0">
                <a:latin typeface="Trebuchet MS"/>
                <a:cs typeface="Trebuchet MS"/>
              </a:rPr>
              <a:t>(</a:t>
            </a:r>
            <a:r>
              <a:rPr sz="3000" i="1" spc="-210" dirty="0">
                <a:latin typeface="Trebuchet MS"/>
                <a:cs typeface="Trebuchet MS"/>
              </a:rPr>
              <a:t>u</a:t>
            </a:r>
            <a:r>
              <a:rPr sz="3000" spc="-210" dirty="0">
                <a:latin typeface="Trebuchet MS"/>
                <a:cs typeface="Trebuchet MS"/>
              </a:rPr>
              <a:t>)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and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130" dirty="0">
                <a:latin typeface="Trebuchet MS"/>
                <a:cs typeface="Trebuchet MS"/>
              </a:rPr>
              <a:t>u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190" dirty="0">
                <a:latin typeface="Trebuchet MS"/>
                <a:cs typeface="Trebuchet MS"/>
              </a:rPr>
              <a:t>g</a:t>
            </a:r>
            <a:r>
              <a:rPr sz="3000" spc="-190" dirty="0">
                <a:latin typeface="Trebuchet MS"/>
                <a:cs typeface="Trebuchet MS"/>
              </a:rPr>
              <a:t>(</a:t>
            </a:r>
            <a:r>
              <a:rPr sz="3000" i="1" spc="-190" dirty="0">
                <a:latin typeface="Trebuchet MS"/>
                <a:cs typeface="Trebuchet MS"/>
              </a:rPr>
              <a:t>x</a:t>
            </a:r>
            <a:r>
              <a:rPr sz="3000" spc="-190" dirty="0">
                <a:latin typeface="Trebuchet MS"/>
                <a:cs typeface="Trebuchet MS"/>
              </a:rPr>
              <a:t>),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260" dirty="0">
                <a:latin typeface="Trebuchet MS"/>
                <a:cs typeface="Trebuchet MS"/>
              </a:rPr>
              <a:t>i.e.</a:t>
            </a:r>
            <a:r>
              <a:rPr sz="3000" spc="-220" dirty="0">
                <a:latin typeface="Trebuchet MS"/>
                <a:cs typeface="Trebuchet MS"/>
              </a:rPr>
              <a:t> </a:t>
            </a:r>
            <a:r>
              <a:rPr sz="3000" i="1" spc="-140" dirty="0">
                <a:latin typeface="Trebuchet MS"/>
                <a:cs typeface="Trebuchet MS"/>
              </a:rPr>
              <a:t>y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204" dirty="0">
                <a:latin typeface="Trebuchet MS"/>
                <a:cs typeface="Trebuchet MS"/>
              </a:rPr>
              <a:t>f</a:t>
            </a:r>
            <a:r>
              <a:rPr sz="3000" spc="-204" dirty="0">
                <a:latin typeface="Trebuchet MS"/>
                <a:cs typeface="Trebuchet MS"/>
              </a:rPr>
              <a:t>(</a:t>
            </a:r>
            <a:r>
              <a:rPr sz="3000" i="1" spc="-204" dirty="0">
                <a:latin typeface="Trebuchet MS"/>
                <a:cs typeface="Trebuchet MS"/>
              </a:rPr>
              <a:t>g</a:t>
            </a:r>
            <a:r>
              <a:rPr sz="3000" spc="-204" dirty="0">
                <a:latin typeface="Trebuchet MS"/>
                <a:cs typeface="Trebuchet MS"/>
              </a:rPr>
              <a:t>(x)),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then: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58986" y="3116645"/>
            <a:ext cx="3342621" cy="622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42829" y="5934285"/>
            <a:ext cx="2234325" cy="641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22</a:t>
            </a:fld>
            <a:endParaRPr spc="-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19380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5" dirty="0">
                <a:solidFill>
                  <a:srgbClr val="3A87FF"/>
                </a:solidFill>
              </a:rPr>
              <a:t>Chain</a:t>
            </a:r>
            <a:r>
              <a:rPr sz="3400" spc="-310" dirty="0">
                <a:solidFill>
                  <a:srgbClr val="3A87FF"/>
                </a:solidFill>
              </a:rPr>
              <a:t> </a:t>
            </a:r>
            <a:r>
              <a:rPr sz="3400" spc="-190" dirty="0">
                <a:solidFill>
                  <a:srgbClr val="3A87FF"/>
                </a:solidFill>
              </a:rPr>
              <a:t>Rule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699514"/>
            <a:ext cx="8750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Chain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rule!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If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i="1" spc="-140" dirty="0">
                <a:latin typeface="Trebuchet MS"/>
                <a:cs typeface="Trebuchet MS"/>
              </a:rPr>
              <a:t>y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210" dirty="0">
                <a:latin typeface="Trebuchet MS"/>
                <a:cs typeface="Trebuchet MS"/>
              </a:rPr>
              <a:t>f</a:t>
            </a:r>
            <a:r>
              <a:rPr sz="3000" spc="-210" dirty="0">
                <a:latin typeface="Trebuchet MS"/>
                <a:cs typeface="Trebuchet MS"/>
              </a:rPr>
              <a:t>(</a:t>
            </a:r>
            <a:r>
              <a:rPr sz="3000" i="1" spc="-210" dirty="0">
                <a:latin typeface="Trebuchet MS"/>
                <a:cs typeface="Trebuchet MS"/>
              </a:rPr>
              <a:t>u</a:t>
            </a:r>
            <a:r>
              <a:rPr sz="3000" spc="-210" dirty="0">
                <a:latin typeface="Trebuchet MS"/>
                <a:cs typeface="Trebuchet MS"/>
              </a:rPr>
              <a:t>)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and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130" dirty="0">
                <a:latin typeface="Trebuchet MS"/>
                <a:cs typeface="Trebuchet MS"/>
              </a:rPr>
              <a:t>u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190" dirty="0">
                <a:latin typeface="Trebuchet MS"/>
                <a:cs typeface="Trebuchet MS"/>
              </a:rPr>
              <a:t>g</a:t>
            </a:r>
            <a:r>
              <a:rPr sz="3000" spc="-190" dirty="0">
                <a:latin typeface="Trebuchet MS"/>
                <a:cs typeface="Trebuchet MS"/>
              </a:rPr>
              <a:t>(</a:t>
            </a:r>
            <a:r>
              <a:rPr sz="3000" i="1" spc="-190" dirty="0">
                <a:latin typeface="Trebuchet MS"/>
                <a:cs typeface="Trebuchet MS"/>
              </a:rPr>
              <a:t>x</a:t>
            </a:r>
            <a:r>
              <a:rPr sz="3000" spc="-190" dirty="0">
                <a:latin typeface="Trebuchet MS"/>
                <a:cs typeface="Trebuchet MS"/>
              </a:rPr>
              <a:t>),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260" dirty="0">
                <a:latin typeface="Trebuchet MS"/>
                <a:cs typeface="Trebuchet MS"/>
              </a:rPr>
              <a:t>i.e.</a:t>
            </a:r>
            <a:r>
              <a:rPr sz="3000" spc="-220" dirty="0">
                <a:latin typeface="Trebuchet MS"/>
                <a:cs typeface="Trebuchet MS"/>
              </a:rPr>
              <a:t> </a:t>
            </a:r>
            <a:r>
              <a:rPr sz="3000" i="1" spc="-140" dirty="0">
                <a:latin typeface="Trebuchet MS"/>
                <a:cs typeface="Trebuchet MS"/>
              </a:rPr>
              <a:t>y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204" dirty="0">
                <a:latin typeface="Trebuchet MS"/>
                <a:cs typeface="Trebuchet MS"/>
              </a:rPr>
              <a:t>f</a:t>
            </a:r>
            <a:r>
              <a:rPr sz="3000" spc="-204" dirty="0">
                <a:latin typeface="Trebuchet MS"/>
                <a:cs typeface="Trebuchet MS"/>
              </a:rPr>
              <a:t>(</a:t>
            </a:r>
            <a:r>
              <a:rPr sz="3000" i="1" spc="-204" dirty="0">
                <a:latin typeface="Trebuchet MS"/>
                <a:cs typeface="Trebuchet MS"/>
              </a:rPr>
              <a:t>g</a:t>
            </a:r>
            <a:r>
              <a:rPr sz="3000" spc="-204" dirty="0">
                <a:latin typeface="Trebuchet MS"/>
                <a:cs typeface="Trebuchet MS"/>
              </a:rPr>
              <a:t>(x)),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then: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3808729"/>
            <a:ext cx="30505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Simple</a:t>
            </a:r>
            <a:r>
              <a:rPr sz="3000" spc="-310" dirty="0">
                <a:latin typeface="Trebuchet MS"/>
                <a:cs typeface="Trebuchet MS"/>
              </a:rPr>
              <a:t> </a:t>
            </a:r>
            <a:r>
              <a:rPr sz="3000" spc="-175" dirty="0">
                <a:latin typeface="Trebuchet MS"/>
                <a:cs typeface="Trebuchet MS"/>
              </a:rPr>
              <a:t>example: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53096" y="2532324"/>
            <a:ext cx="5758101" cy="7830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01111" y="3812828"/>
            <a:ext cx="3189460" cy="677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16054" y="4811826"/>
            <a:ext cx="1929961" cy="3193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05075" y="4846367"/>
            <a:ext cx="2295478" cy="3176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55057" y="5316685"/>
            <a:ext cx="1321341" cy="6080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48495" y="5316685"/>
            <a:ext cx="1173445" cy="6080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23</a:t>
            </a:fld>
            <a:endParaRPr spc="-30" dirty="0"/>
          </a:p>
        </p:txBody>
      </p:sp>
      <p:pic>
        <p:nvPicPr>
          <p:cNvPr id="16" name="Picture 15" descr="Text&#10;&#10;Description automatically generated with low confidence">
            <a:extLst>
              <a:ext uri="{FF2B5EF4-FFF2-40B4-BE49-F238E27FC236}">
                <a16:creationId xmlns:a16="http://schemas.microsoft.com/office/drawing/2014/main" id="{C59E92BA-1BF6-604C-8B81-B3715C9437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881" y="6240352"/>
            <a:ext cx="3781957" cy="9826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81596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Interactive </a:t>
            </a:r>
            <a:r>
              <a:rPr sz="3400" spc="-145" dirty="0">
                <a:solidFill>
                  <a:srgbClr val="3A87FF"/>
                </a:solidFill>
              </a:rPr>
              <a:t>Whiteboard</a:t>
            </a:r>
            <a:r>
              <a:rPr sz="3400" spc="-355" dirty="0">
                <a:solidFill>
                  <a:srgbClr val="3A87FF"/>
                </a:solidFill>
              </a:rPr>
              <a:t> </a:t>
            </a:r>
            <a:r>
              <a:rPr sz="3400" spc="-150" dirty="0">
                <a:solidFill>
                  <a:srgbClr val="3A87FF"/>
                </a:solidFill>
              </a:rPr>
              <a:t>Session!</a:t>
            </a:r>
            <a:endParaRPr sz="3400"/>
          </a:p>
        </p:txBody>
      </p:sp>
      <p:sp>
        <p:nvSpPr>
          <p:cNvPr id="3" name="object 3"/>
          <p:cNvSpPr/>
          <p:nvPr/>
        </p:nvSpPr>
        <p:spPr>
          <a:xfrm>
            <a:off x="703563" y="1500473"/>
            <a:ext cx="8589570" cy="15183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1454" y="3606547"/>
            <a:ext cx="757872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10"/>
              </a:lnSpc>
              <a:spcBef>
                <a:spcPts val="100"/>
              </a:spcBef>
            </a:pPr>
            <a:r>
              <a:rPr sz="2600" spc="-200" dirty="0">
                <a:latin typeface="Trebuchet MS"/>
                <a:cs typeface="Trebuchet MS"/>
              </a:rPr>
              <a:t>Let’s </a:t>
            </a:r>
            <a:r>
              <a:rPr sz="2600" spc="-135" dirty="0">
                <a:latin typeface="Trebuchet MS"/>
                <a:cs typeface="Trebuchet MS"/>
              </a:rPr>
              <a:t>derive </a:t>
            </a:r>
            <a:r>
              <a:rPr sz="2600" spc="-140" dirty="0">
                <a:latin typeface="Trebuchet MS"/>
                <a:cs typeface="Trebuchet MS"/>
              </a:rPr>
              <a:t>gradient </a:t>
            </a:r>
            <a:r>
              <a:rPr sz="2600" spc="-135" dirty="0">
                <a:latin typeface="Trebuchet MS"/>
                <a:cs typeface="Trebuchet MS"/>
              </a:rPr>
              <a:t>for </a:t>
            </a:r>
            <a:r>
              <a:rPr sz="2600" spc="-155" dirty="0">
                <a:latin typeface="Trebuchet MS"/>
                <a:cs typeface="Trebuchet MS"/>
              </a:rPr>
              <a:t>center </a:t>
            </a:r>
            <a:r>
              <a:rPr sz="2600" spc="-110" dirty="0">
                <a:latin typeface="Trebuchet MS"/>
                <a:cs typeface="Trebuchet MS"/>
              </a:rPr>
              <a:t>word</a:t>
            </a:r>
            <a:r>
              <a:rPr sz="2600" spc="-595" dirty="0">
                <a:latin typeface="Trebuchet MS"/>
                <a:cs typeface="Trebuchet MS"/>
              </a:rPr>
              <a:t> </a:t>
            </a:r>
            <a:r>
              <a:rPr lang="zh-CN" altLang="en-US" sz="2600" spc="-595" dirty="0">
                <a:latin typeface="Trebuchet MS"/>
                <a:cs typeface="Trebuchet MS"/>
              </a:rPr>
              <a:t>  </a:t>
            </a:r>
            <a:r>
              <a:rPr sz="2600" spc="-135" dirty="0">
                <a:latin typeface="Trebuchet MS"/>
                <a:cs typeface="Trebuchet MS"/>
              </a:rPr>
              <a:t>together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ts val="3110"/>
              </a:lnSpc>
            </a:pPr>
            <a:r>
              <a:rPr sz="2600" spc="-130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one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example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window</a:t>
            </a:r>
            <a:r>
              <a:rPr sz="2600" u="heavy" spc="-2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one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example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outside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word</a:t>
            </a:r>
            <a:r>
              <a:rPr sz="2600" spc="-145" dirty="0">
                <a:latin typeface="Trebuchet MS"/>
                <a:cs typeface="Trebuchet MS"/>
              </a:rPr>
              <a:t>: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1454" y="6142483"/>
            <a:ext cx="819912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spc="-180" dirty="0">
                <a:latin typeface="Trebuchet MS"/>
                <a:cs typeface="Trebuchet MS"/>
              </a:rPr>
              <a:t>You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then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also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need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gradient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for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context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words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90" dirty="0">
                <a:latin typeface="Trebuchet MS"/>
                <a:cs typeface="Trebuchet MS"/>
              </a:rPr>
              <a:t>(it’s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similar;  </a:t>
            </a:r>
            <a:r>
              <a:rPr sz="2600" spc="-175" dirty="0">
                <a:latin typeface="Trebuchet MS"/>
                <a:cs typeface="Trebuchet MS"/>
              </a:rPr>
              <a:t>left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homework).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85" dirty="0">
                <a:latin typeface="Trebuchet MS"/>
                <a:cs typeface="Trebuchet MS"/>
              </a:rPr>
              <a:t>That’s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70" dirty="0">
                <a:latin typeface="Trebuchet MS"/>
                <a:cs typeface="Trebuchet MS"/>
              </a:rPr>
              <a:t>all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parameters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lang="zh-CN" altLang="en-US" sz="2600" spc="420" dirty="0">
                <a:latin typeface="DejaVu Sans"/>
                <a:cs typeface="Trebuchet MS"/>
              </a:rPr>
              <a:t>  </a:t>
            </a:r>
            <a:r>
              <a:rPr sz="2600" spc="-165" dirty="0">
                <a:latin typeface="Trebuchet MS"/>
                <a:cs typeface="Trebuchet MS"/>
              </a:rPr>
              <a:t>here.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24</a:t>
            </a:fld>
            <a:endParaRPr spc="-30" dirty="0"/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8D0A64BF-9160-C243-B24B-ECAADF6A4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448" y="4696983"/>
            <a:ext cx="6019800" cy="1237520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8591F75-3AC5-B041-B700-3D18113A6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6592063"/>
            <a:ext cx="2794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44532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80" dirty="0">
                <a:solidFill>
                  <a:srgbClr val="3A87FF"/>
                </a:solidFill>
              </a:rPr>
              <a:t>Calculating </a:t>
            </a:r>
            <a:r>
              <a:rPr sz="3400" spc="-155" dirty="0">
                <a:solidFill>
                  <a:srgbClr val="3A87FF"/>
                </a:solidFill>
              </a:rPr>
              <a:t>all</a:t>
            </a:r>
            <a:r>
              <a:rPr sz="3400" spc="-390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gradients!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794115" cy="22993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went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through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gradient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each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center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vector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v</a:t>
            </a:r>
            <a:r>
              <a:rPr sz="2600" i="1" spc="-220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window</a:t>
            </a:r>
            <a:endParaRPr sz="260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also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need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gradients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outside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u</a:t>
            </a:r>
            <a:endParaRPr sz="2600">
              <a:latin typeface="Trebuchet MS"/>
              <a:cs typeface="Trebuchet MS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14" dirty="0">
                <a:latin typeface="Trebuchet MS"/>
                <a:cs typeface="Trebuchet MS"/>
              </a:rPr>
              <a:t>Derive </a:t>
            </a:r>
            <a:r>
              <a:rPr sz="2600" spc="-155" dirty="0">
                <a:latin typeface="Trebuchet MS"/>
                <a:cs typeface="Trebuchet MS"/>
              </a:rPr>
              <a:t>at</a:t>
            </a:r>
            <a:r>
              <a:rPr sz="2600" spc="-35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home!</a:t>
            </a:r>
            <a:endParaRPr sz="2600">
              <a:latin typeface="Trebuchet MS"/>
              <a:cs typeface="Trebuchet MS"/>
            </a:endParaRPr>
          </a:p>
          <a:p>
            <a:pPr marL="377825" marR="3149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40" dirty="0">
                <a:latin typeface="Trebuchet MS"/>
                <a:cs typeface="Trebuchet MS"/>
              </a:rPr>
              <a:t>Generally </a:t>
            </a:r>
            <a:r>
              <a:rPr sz="2600" spc="-110" dirty="0">
                <a:latin typeface="Trebuchet MS"/>
                <a:cs typeface="Trebuchet MS"/>
              </a:rPr>
              <a:t>in </a:t>
            </a:r>
            <a:r>
              <a:rPr sz="2600" spc="-140" dirty="0">
                <a:latin typeface="Trebuchet MS"/>
                <a:cs typeface="Trebuchet MS"/>
              </a:rPr>
              <a:t>each </a:t>
            </a:r>
            <a:r>
              <a:rPr sz="2600" spc="-100" dirty="0">
                <a:latin typeface="Trebuchet MS"/>
                <a:cs typeface="Trebuchet MS"/>
              </a:rPr>
              <a:t>window </a:t>
            </a:r>
            <a:r>
              <a:rPr sz="2600" spc="-120" dirty="0">
                <a:latin typeface="Trebuchet MS"/>
                <a:cs typeface="Trebuchet MS"/>
              </a:rPr>
              <a:t>we </a:t>
            </a:r>
            <a:r>
              <a:rPr sz="2600" spc="-160" dirty="0">
                <a:latin typeface="Trebuchet MS"/>
                <a:cs typeface="Trebuchet MS"/>
              </a:rPr>
              <a:t>will </a:t>
            </a:r>
            <a:r>
              <a:rPr sz="2600" spc="-125" dirty="0">
                <a:latin typeface="Trebuchet MS"/>
                <a:cs typeface="Trebuchet MS"/>
              </a:rPr>
              <a:t>compute </a:t>
            </a:r>
            <a:r>
              <a:rPr sz="2600" spc="-114" dirty="0">
                <a:latin typeface="Trebuchet MS"/>
                <a:cs typeface="Trebuchet MS"/>
              </a:rPr>
              <a:t>updates for </a:t>
            </a:r>
            <a:r>
              <a:rPr sz="2600" spc="-170" dirty="0">
                <a:latin typeface="Trebuchet MS"/>
                <a:cs typeface="Trebuchet MS"/>
              </a:rPr>
              <a:t>all  </a:t>
            </a:r>
            <a:r>
              <a:rPr sz="2600" spc="-125" dirty="0">
                <a:latin typeface="Trebuchet MS"/>
                <a:cs typeface="Trebuchet MS"/>
              </a:rPr>
              <a:t>parameters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are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being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used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window.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example: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25</a:t>
            </a:fld>
            <a:endParaRPr spc="-30" dirty="0"/>
          </a:p>
        </p:txBody>
      </p:sp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857173BE-E3BE-8A45-B51B-A85DC7901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5" y="4111625"/>
            <a:ext cx="86868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26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43643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Word2vec: </a:t>
            </a:r>
            <a:r>
              <a:rPr sz="3400" spc="-30" dirty="0">
                <a:solidFill>
                  <a:srgbClr val="3A87FF"/>
                </a:solidFill>
              </a:rPr>
              <a:t>More</a:t>
            </a:r>
            <a:r>
              <a:rPr sz="3400" spc="-365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details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2"/>
            <a:ext cx="8848725" cy="56055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40" dirty="0">
                <a:latin typeface="Trebuchet MS"/>
                <a:cs typeface="Trebuchet MS"/>
              </a:rPr>
              <a:t>Why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two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vectors?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Easier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optimization.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Average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both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end.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135" dirty="0">
                <a:latin typeface="Trebuchet MS"/>
                <a:cs typeface="Trebuchet MS"/>
              </a:rPr>
              <a:t>Two </a:t>
            </a:r>
            <a:r>
              <a:rPr sz="2600" spc="-120" dirty="0">
                <a:latin typeface="Trebuchet MS"/>
                <a:cs typeface="Trebuchet MS"/>
              </a:rPr>
              <a:t>model</a:t>
            </a:r>
            <a:r>
              <a:rPr sz="2600" spc="-33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variants:</a:t>
            </a:r>
            <a:endParaRPr sz="2600" dirty="0">
              <a:latin typeface="Trebuchet MS"/>
              <a:cs typeface="Trebuchet MS"/>
            </a:endParaRPr>
          </a:p>
          <a:p>
            <a:pPr marL="988060" indent="-488315">
              <a:lnSpc>
                <a:spcPct val="100000"/>
              </a:lnSpc>
              <a:spcBef>
                <a:spcPts val="580"/>
              </a:spcBef>
              <a:buClr>
                <a:srgbClr val="3A87FF"/>
              </a:buClr>
              <a:buAutoNum type="arabicPeriod"/>
              <a:tabLst>
                <a:tab pos="987425" algn="l"/>
                <a:tab pos="988060" algn="l"/>
              </a:tabLst>
            </a:pPr>
            <a:r>
              <a:rPr sz="2600" spc="-120" dirty="0">
                <a:latin typeface="Trebuchet MS"/>
                <a:cs typeface="Trebuchet MS"/>
              </a:rPr>
              <a:t>Skip-grams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(SG)</a:t>
            </a:r>
            <a:endParaRPr sz="2600" dirty="0">
              <a:latin typeface="Trebuchet MS"/>
              <a:cs typeface="Trebuchet MS"/>
            </a:endParaRPr>
          </a:p>
          <a:p>
            <a:pPr marL="988060" marR="135255">
              <a:lnSpc>
                <a:spcPct val="102899"/>
              </a:lnSpc>
              <a:spcBef>
                <a:spcPts val="520"/>
              </a:spcBef>
            </a:pPr>
            <a:r>
              <a:rPr sz="2100" spc="-95" dirty="0">
                <a:latin typeface="Trebuchet MS"/>
                <a:cs typeface="Trebuchet MS"/>
              </a:rPr>
              <a:t>Predict context </a:t>
            </a:r>
            <a:r>
              <a:rPr sz="2100" spc="-100" dirty="0">
                <a:latin typeface="Trebuchet MS"/>
                <a:cs typeface="Trebuchet MS"/>
              </a:rPr>
              <a:t>(</a:t>
            </a:r>
            <a:r>
              <a:rPr lang="en-US" altLang="zh-CN" sz="2100" spc="-100" dirty="0">
                <a:latin typeface="Trebuchet MS"/>
                <a:cs typeface="Trebuchet MS"/>
              </a:rPr>
              <a:t>"</a:t>
            </a:r>
            <a:r>
              <a:rPr sz="2100" spc="-100" dirty="0">
                <a:latin typeface="Trebuchet MS"/>
                <a:cs typeface="Trebuchet MS"/>
              </a:rPr>
              <a:t>outside</a:t>
            </a:r>
            <a:r>
              <a:rPr lang="en-US" altLang="zh-CN" sz="2100" spc="-100" dirty="0">
                <a:latin typeface="Trebuchet MS"/>
                <a:cs typeface="Trebuchet MS"/>
              </a:rPr>
              <a:t>"</a:t>
            </a:r>
            <a:r>
              <a:rPr sz="2100" spc="-100" dirty="0">
                <a:latin typeface="Trebuchet MS"/>
                <a:cs typeface="Trebuchet MS"/>
              </a:rPr>
              <a:t>) </a:t>
            </a:r>
            <a:r>
              <a:rPr sz="2100" spc="-45" dirty="0">
                <a:latin typeface="Trebuchet MS"/>
                <a:cs typeface="Trebuchet MS"/>
              </a:rPr>
              <a:t>words </a:t>
            </a:r>
            <a:r>
              <a:rPr sz="2100" spc="-65" dirty="0">
                <a:latin typeface="Trebuchet MS"/>
                <a:cs typeface="Trebuchet MS"/>
              </a:rPr>
              <a:t>(position </a:t>
            </a:r>
            <a:r>
              <a:rPr sz="2100" spc="-70" dirty="0">
                <a:latin typeface="Trebuchet MS"/>
                <a:cs typeface="Trebuchet MS"/>
              </a:rPr>
              <a:t>independent) </a:t>
            </a:r>
            <a:r>
              <a:rPr sz="2100" spc="-75" dirty="0">
                <a:latin typeface="Trebuchet MS"/>
                <a:cs typeface="Trebuchet MS"/>
              </a:rPr>
              <a:t>given</a:t>
            </a:r>
            <a:r>
              <a:rPr sz="2100" spc="-459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center  </a:t>
            </a:r>
            <a:r>
              <a:rPr sz="2100" spc="-50" dirty="0">
                <a:latin typeface="Trebuchet MS"/>
                <a:cs typeface="Trebuchet MS"/>
              </a:rPr>
              <a:t>word</a:t>
            </a:r>
            <a:endParaRPr sz="2100" dirty="0">
              <a:latin typeface="Trebuchet MS"/>
              <a:cs typeface="Trebuchet MS"/>
            </a:endParaRPr>
          </a:p>
          <a:p>
            <a:pPr marL="988060" indent="-488315">
              <a:lnSpc>
                <a:spcPct val="100000"/>
              </a:lnSpc>
              <a:spcBef>
                <a:spcPts val="484"/>
              </a:spcBef>
              <a:buClr>
                <a:srgbClr val="3A87FF"/>
              </a:buClr>
              <a:buAutoNum type="arabicPeriod" startAt="2"/>
              <a:tabLst>
                <a:tab pos="987425" algn="l"/>
                <a:tab pos="988060" algn="l"/>
              </a:tabLst>
            </a:pPr>
            <a:r>
              <a:rPr sz="2600" spc="-100" dirty="0">
                <a:latin typeface="Trebuchet MS"/>
                <a:cs typeface="Trebuchet MS"/>
              </a:rPr>
              <a:t>Continuous </a:t>
            </a:r>
            <a:r>
              <a:rPr sz="2600" spc="-105" dirty="0">
                <a:latin typeface="Trebuchet MS"/>
                <a:cs typeface="Trebuchet MS"/>
              </a:rPr>
              <a:t>Bag </a:t>
            </a:r>
            <a:r>
              <a:rPr sz="2600" spc="-110" dirty="0">
                <a:latin typeface="Trebuchet MS"/>
                <a:cs typeface="Trebuchet MS"/>
              </a:rPr>
              <a:t>of </a:t>
            </a:r>
            <a:r>
              <a:rPr sz="2600" spc="-50" dirty="0">
                <a:latin typeface="Trebuchet MS"/>
                <a:cs typeface="Trebuchet MS"/>
              </a:rPr>
              <a:t>Words</a:t>
            </a:r>
            <a:r>
              <a:rPr sz="2600" spc="-610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(CBOW)</a:t>
            </a:r>
            <a:endParaRPr sz="2600" dirty="0">
              <a:latin typeface="Trebuchet MS"/>
              <a:cs typeface="Trebuchet MS"/>
            </a:endParaRPr>
          </a:p>
          <a:p>
            <a:pPr marL="133985" marR="2515870" indent="853440">
              <a:lnSpc>
                <a:spcPts val="3100"/>
              </a:lnSpc>
              <a:spcBef>
                <a:spcPts val="190"/>
              </a:spcBef>
            </a:pPr>
            <a:r>
              <a:rPr sz="2100" spc="-95" dirty="0">
                <a:latin typeface="Trebuchet MS"/>
                <a:cs typeface="Trebuchet MS"/>
              </a:rPr>
              <a:t>Predict </a:t>
            </a:r>
            <a:r>
              <a:rPr sz="2100" spc="-90" dirty="0">
                <a:latin typeface="Trebuchet MS"/>
                <a:cs typeface="Trebuchet MS"/>
              </a:rPr>
              <a:t>center </a:t>
            </a:r>
            <a:r>
              <a:rPr sz="2100" spc="-50" dirty="0">
                <a:latin typeface="Trebuchet MS"/>
                <a:cs typeface="Trebuchet MS"/>
              </a:rPr>
              <a:t>word </a:t>
            </a:r>
            <a:r>
              <a:rPr sz="2100" spc="-70" dirty="0">
                <a:latin typeface="Trebuchet MS"/>
                <a:cs typeface="Trebuchet MS"/>
              </a:rPr>
              <a:t>from </a:t>
            </a:r>
            <a:r>
              <a:rPr sz="2100" spc="-80" dirty="0">
                <a:latin typeface="Trebuchet MS"/>
                <a:cs typeface="Trebuchet MS"/>
              </a:rPr>
              <a:t>(bag </a:t>
            </a:r>
            <a:r>
              <a:rPr sz="2100" spc="-90" dirty="0">
                <a:latin typeface="Trebuchet MS"/>
                <a:cs typeface="Trebuchet MS"/>
              </a:rPr>
              <a:t>of) </a:t>
            </a:r>
            <a:r>
              <a:rPr sz="2100" spc="-95" dirty="0">
                <a:latin typeface="Trebuchet MS"/>
                <a:cs typeface="Trebuchet MS"/>
              </a:rPr>
              <a:t>context</a:t>
            </a:r>
            <a:r>
              <a:rPr sz="2100" spc="-47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words  </a:t>
            </a:r>
            <a:r>
              <a:rPr sz="2100" spc="-90" dirty="0">
                <a:solidFill>
                  <a:srgbClr val="BB57BE"/>
                </a:solidFill>
                <a:latin typeface="Trebuchet MS"/>
                <a:cs typeface="Trebuchet MS"/>
              </a:rPr>
              <a:t>This </a:t>
            </a:r>
            <a:r>
              <a:rPr sz="2100" spc="-95" dirty="0">
                <a:solidFill>
                  <a:srgbClr val="BB57BE"/>
                </a:solidFill>
                <a:latin typeface="Trebuchet MS"/>
                <a:cs typeface="Trebuchet MS"/>
              </a:rPr>
              <a:t>lecture </a:t>
            </a:r>
            <a:r>
              <a:rPr sz="2100" spc="-20" dirty="0">
                <a:solidFill>
                  <a:srgbClr val="BB57BE"/>
                </a:solidFill>
                <a:latin typeface="Trebuchet MS"/>
                <a:cs typeface="Trebuchet MS"/>
              </a:rPr>
              <a:t>so </a:t>
            </a:r>
            <a:r>
              <a:rPr sz="2100" spc="-125" dirty="0">
                <a:solidFill>
                  <a:srgbClr val="BB57BE"/>
                </a:solidFill>
                <a:latin typeface="Trebuchet MS"/>
                <a:cs typeface="Trebuchet MS"/>
              </a:rPr>
              <a:t>far: </a:t>
            </a:r>
            <a:r>
              <a:rPr sz="2100" b="1" spc="-95" dirty="0">
                <a:solidFill>
                  <a:srgbClr val="BB57BE"/>
                </a:solidFill>
                <a:latin typeface="Trebuchet MS"/>
                <a:cs typeface="Trebuchet MS"/>
              </a:rPr>
              <a:t>Skip-gram</a:t>
            </a:r>
            <a:r>
              <a:rPr sz="2100" b="1" spc="-37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b="1" spc="-85" dirty="0">
                <a:solidFill>
                  <a:srgbClr val="BB57BE"/>
                </a:solidFill>
                <a:latin typeface="Trebuchet MS"/>
                <a:cs typeface="Trebuchet MS"/>
              </a:rPr>
              <a:t>model</a:t>
            </a:r>
            <a:endParaRPr sz="2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00" dirty="0">
              <a:latin typeface="Trebuchet MS"/>
              <a:cs typeface="Trebuchet MS"/>
            </a:endParaRPr>
          </a:p>
          <a:p>
            <a:pPr marL="133985">
              <a:lnSpc>
                <a:spcPct val="100000"/>
              </a:lnSpc>
            </a:pPr>
            <a:r>
              <a:rPr sz="2600" spc="-120" dirty="0">
                <a:latin typeface="Trebuchet MS"/>
                <a:cs typeface="Trebuchet MS"/>
              </a:rPr>
              <a:t>Additional </a:t>
            </a:r>
            <a:r>
              <a:rPr sz="2600" spc="-155" dirty="0">
                <a:latin typeface="Trebuchet MS"/>
                <a:cs typeface="Trebuchet MS"/>
              </a:rPr>
              <a:t>efficiency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41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training:</a:t>
            </a:r>
            <a:endParaRPr sz="2600" dirty="0">
              <a:latin typeface="Trebuchet MS"/>
              <a:cs typeface="Trebuchet MS"/>
            </a:endParaRPr>
          </a:p>
          <a:p>
            <a:pPr marL="499745">
              <a:lnSpc>
                <a:spcPct val="100000"/>
              </a:lnSpc>
              <a:spcBef>
                <a:spcPts val="575"/>
              </a:spcBef>
              <a:tabLst>
                <a:tab pos="987425" algn="l"/>
              </a:tabLst>
            </a:pPr>
            <a:r>
              <a:rPr sz="2600" spc="-185" dirty="0">
                <a:solidFill>
                  <a:srgbClr val="3A87FF"/>
                </a:solidFill>
                <a:latin typeface="Trebuchet MS"/>
                <a:cs typeface="Trebuchet MS"/>
              </a:rPr>
              <a:t>1.	</a:t>
            </a:r>
            <a:r>
              <a:rPr sz="2600" spc="-125" dirty="0">
                <a:latin typeface="Trebuchet MS"/>
                <a:cs typeface="Trebuchet MS"/>
              </a:rPr>
              <a:t>Negative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sampling</a:t>
            </a:r>
            <a:endParaRPr sz="2600" dirty="0">
              <a:latin typeface="Trebuchet MS"/>
              <a:cs typeface="Trebuchet MS"/>
            </a:endParaRPr>
          </a:p>
          <a:p>
            <a:pPr marL="133985">
              <a:lnSpc>
                <a:spcPct val="100000"/>
              </a:lnSpc>
              <a:spcBef>
                <a:spcPts val="575"/>
              </a:spcBef>
            </a:pPr>
            <a:r>
              <a:rPr sz="2100" spc="-25" dirty="0">
                <a:solidFill>
                  <a:srgbClr val="BB57BE"/>
                </a:solidFill>
                <a:latin typeface="Trebuchet MS"/>
                <a:cs typeface="Trebuchet MS"/>
              </a:rPr>
              <a:t>So</a:t>
            </a:r>
            <a:r>
              <a:rPr sz="2100" spc="-14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125" dirty="0">
                <a:solidFill>
                  <a:srgbClr val="BB57BE"/>
                </a:solidFill>
                <a:latin typeface="Trebuchet MS"/>
                <a:cs typeface="Trebuchet MS"/>
              </a:rPr>
              <a:t>far:</a:t>
            </a:r>
            <a:r>
              <a:rPr sz="2100" spc="-14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65" dirty="0">
                <a:solidFill>
                  <a:srgbClr val="BB57BE"/>
                </a:solidFill>
                <a:latin typeface="Trebuchet MS"/>
                <a:cs typeface="Trebuchet MS"/>
              </a:rPr>
              <a:t>Focus</a:t>
            </a:r>
            <a:r>
              <a:rPr sz="2100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30" dirty="0">
                <a:solidFill>
                  <a:srgbClr val="BB57BE"/>
                </a:solidFill>
                <a:latin typeface="Trebuchet MS"/>
                <a:cs typeface="Trebuchet MS"/>
              </a:rPr>
              <a:t>on</a:t>
            </a:r>
            <a:r>
              <a:rPr sz="2100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b="1" spc="-105" dirty="0">
                <a:solidFill>
                  <a:srgbClr val="BB57BE"/>
                </a:solidFill>
                <a:latin typeface="Trebuchet MS"/>
                <a:cs typeface="Trebuchet MS"/>
              </a:rPr>
              <a:t>naïve</a:t>
            </a:r>
            <a:r>
              <a:rPr sz="2100" b="1" spc="-13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b="1" spc="-95" dirty="0">
                <a:solidFill>
                  <a:srgbClr val="BB57BE"/>
                </a:solidFill>
                <a:latin typeface="Trebuchet MS"/>
                <a:cs typeface="Trebuchet MS"/>
              </a:rPr>
              <a:t>softmax</a:t>
            </a:r>
            <a:r>
              <a:rPr sz="2100" b="1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80" dirty="0">
                <a:solidFill>
                  <a:srgbClr val="BB57BE"/>
                </a:solidFill>
                <a:latin typeface="Trebuchet MS"/>
                <a:cs typeface="Trebuchet MS"/>
              </a:rPr>
              <a:t>(simpler</a:t>
            </a:r>
            <a:r>
              <a:rPr sz="2100" spc="-14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80" dirty="0">
                <a:solidFill>
                  <a:srgbClr val="BB57BE"/>
                </a:solidFill>
                <a:latin typeface="Trebuchet MS"/>
                <a:cs typeface="Trebuchet MS"/>
              </a:rPr>
              <a:t>training</a:t>
            </a:r>
            <a:r>
              <a:rPr sz="2100" spc="-14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65" dirty="0">
                <a:solidFill>
                  <a:srgbClr val="BB57BE"/>
                </a:solidFill>
                <a:latin typeface="Trebuchet MS"/>
                <a:cs typeface="Trebuchet MS"/>
              </a:rPr>
              <a:t>method)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1512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0" dirty="0">
                <a:solidFill>
                  <a:srgbClr val="3A87FF"/>
                </a:solidFill>
              </a:rPr>
              <a:t>5. </a:t>
            </a:r>
            <a:r>
              <a:rPr sz="3400" spc="-190" dirty="0">
                <a:solidFill>
                  <a:srgbClr val="3A87FF"/>
                </a:solidFill>
              </a:rPr>
              <a:t>Optimization: </a:t>
            </a:r>
            <a:r>
              <a:rPr sz="3400" spc="-180" dirty="0">
                <a:solidFill>
                  <a:srgbClr val="3A87FF"/>
                </a:solidFill>
              </a:rPr>
              <a:t>Gradient</a:t>
            </a:r>
            <a:r>
              <a:rPr sz="3400" spc="-240" dirty="0">
                <a:solidFill>
                  <a:srgbClr val="3A87FF"/>
                </a:solidFill>
              </a:rPr>
              <a:t> </a:t>
            </a:r>
            <a:r>
              <a:rPr sz="3400" spc="-190" dirty="0">
                <a:solidFill>
                  <a:srgbClr val="3A87FF"/>
                </a:solidFill>
              </a:rPr>
              <a:t>Descent</a:t>
            </a:r>
            <a:endParaRPr sz="3400"/>
          </a:p>
        </p:txBody>
      </p:sp>
      <p:sp>
        <p:nvSpPr>
          <p:cNvPr id="6" name="object 6"/>
          <p:cNvSpPr txBox="1"/>
          <p:nvPr/>
        </p:nvSpPr>
        <p:spPr>
          <a:xfrm>
            <a:off x="672654" y="1219200"/>
            <a:ext cx="9157145" cy="184858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4299585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have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cost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lang="zh-CN" altLang="en-US" sz="2600" spc="275" dirty="0">
                <a:latin typeface="DejaVu Sans"/>
                <a:cs typeface="DejaVu Sans"/>
              </a:rPr>
              <a:t>     </a:t>
            </a:r>
            <a:r>
              <a:rPr sz="2600" spc="-120" dirty="0">
                <a:latin typeface="Trebuchet MS"/>
                <a:cs typeface="Trebuchet MS"/>
              </a:rPr>
              <a:t>we </a:t>
            </a:r>
            <a:r>
              <a:rPr sz="2600" spc="-125" dirty="0">
                <a:latin typeface="Trebuchet MS"/>
                <a:cs typeface="Trebuchet MS"/>
              </a:rPr>
              <a:t>want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45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minimize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60" dirty="0">
                <a:solidFill>
                  <a:srgbClr val="BB57BE"/>
                </a:solidFill>
                <a:latin typeface="Trebuchet MS"/>
                <a:cs typeface="Trebuchet MS"/>
              </a:rPr>
              <a:t>Gradient </a:t>
            </a:r>
            <a:r>
              <a:rPr sz="2600" b="1" spc="-165" dirty="0">
                <a:solidFill>
                  <a:srgbClr val="BB57BE"/>
                </a:solidFill>
                <a:latin typeface="Trebuchet MS"/>
                <a:cs typeface="Trebuchet MS"/>
              </a:rPr>
              <a:t>Descent </a:t>
            </a:r>
            <a:r>
              <a:rPr sz="2600" spc="-100" dirty="0">
                <a:latin typeface="Trebuchet MS"/>
                <a:cs typeface="Trebuchet MS"/>
              </a:rPr>
              <a:t>is an </a:t>
            </a:r>
            <a:r>
              <a:rPr sz="2600" spc="-125" dirty="0">
                <a:latin typeface="Trebuchet MS"/>
                <a:cs typeface="Trebuchet MS"/>
              </a:rPr>
              <a:t>algorithm </a:t>
            </a:r>
            <a:r>
              <a:rPr sz="2600" spc="-105" dirty="0">
                <a:latin typeface="Trebuchet MS"/>
                <a:cs typeface="Trebuchet MS"/>
              </a:rPr>
              <a:t>to </a:t>
            </a:r>
            <a:r>
              <a:rPr sz="2600" spc="-145" dirty="0">
                <a:latin typeface="Trebuchet MS"/>
                <a:cs typeface="Trebuchet MS"/>
              </a:rPr>
              <a:t>minimize </a:t>
            </a:r>
            <a:endParaRPr sz="2600" dirty="0">
              <a:latin typeface="DejaVu Sans"/>
              <a:cs typeface="DejaVu Sans"/>
            </a:endParaRPr>
          </a:p>
          <a:p>
            <a:pPr marL="377825" marR="508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u="sng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Idea</a:t>
            </a:r>
            <a:r>
              <a:rPr sz="2600" spc="-150" dirty="0">
                <a:latin typeface="Trebuchet MS"/>
                <a:cs typeface="Trebuchet MS"/>
              </a:rPr>
              <a:t>: </a:t>
            </a:r>
            <a:r>
              <a:rPr sz="2600" spc="-114" dirty="0">
                <a:latin typeface="Trebuchet MS"/>
                <a:cs typeface="Trebuchet MS"/>
              </a:rPr>
              <a:t>for </a:t>
            </a:r>
            <a:r>
              <a:rPr sz="2600" spc="-130" dirty="0">
                <a:latin typeface="Trebuchet MS"/>
                <a:cs typeface="Trebuchet MS"/>
              </a:rPr>
              <a:t>current value </a:t>
            </a:r>
            <a:r>
              <a:rPr sz="2600" spc="-114" dirty="0">
                <a:latin typeface="Trebuchet MS"/>
                <a:cs typeface="Trebuchet MS"/>
              </a:rPr>
              <a:t>of </a:t>
            </a:r>
            <a:r>
              <a:rPr lang="zh-CN" altLang="en-US" sz="2600" spc="5" dirty="0">
                <a:latin typeface="DejaVu Sans"/>
                <a:cs typeface="Trebuchet MS"/>
              </a:rPr>
              <a:t>  </a:t>
            </a:r>
            <a:r>
              <a:rPr sz="2600" spc="5" dirty="0">
                <a:latin typeface="Trebuchet MS"/>
                <a:cs typeface="Trebuchet MS"/>
              </a:rPr>
              <a:t>, </a:t>
            </a:r>
            <a:r>
              <a:rPr sz="2600" spc="-165" dirty="0">
                <a:latin typeface="Trebuchet MS"/>
                <a:cs typeface="Trebuchet MS"/>
              </a:rPr>
              <a:t>calculate </a:t>
            </a:r>
            <a:r>
              <a:rPr sz="2600" spc="-130" dirty="0">
                <a:latin typeface="Trebuchet MS"/>
                <a:cs typeface="Trebuchet MS"/>
              </a:rPr>
              <a:t>gradient </a:t>
            </a:r>
            <a:r>
              <a:rPr sz="2600" spc="-110" dirty="0">
                <a:latin typeface="Trebuchet MS"/>
                <a:cs typeface="Trebuchet MS"/>
              </a:rPr>
              <a:t>of </a:t>
            </a:r>
            <a:r>
              <a:rPr lang="zh-CN" altLang="en-US" sz="2600" spc="-50" dirty="0">
                <a:latin typeface="DejaVu Sans"/>
                <a:cs typeface="Trebuchet MS"/>
              </a:rPr>
              <a:t>   </a:t>
            </a:r>
            <a:r>
              <a:rPr sz="2600" spc="-355" dirty="0">
                <a:latin typeface="DejaVu Sans"/>
                <a:cs typeface="DejaVu Sans"/>
              </a:rPr>
              <a:t> </a:t>
            </a:r>
            <a:r>
              <a:rPr lang="zh-CN" altLang="en-US" sz="2600" spc="-355" dirty="0">
                <a:latin typeface="DejaVu Sans"/>
                <a:cs typeface="DejaVu Sans"/>
              </a:rPr>
              <a:t>    </a:t>
            </a:r>
            <a:r>
              <a:rPr sz="2600" spc="-310" dirty="0">
                <a:latin typeface="Trebuchet MS"/>
                <a:cs typeface="Trebuchet MS"/>
              </a:rPr>
              <a:t>, </a:t>
            </a:r>
            <a:r>
              <a:rPr sz="2600" spc="-114" dirty="0">
                <a:latin typeface="Trebuchet MS"/>
                <a:cs typeface="Trebuchet MS"/>
              </a:rPr>
              <a:t>then </a:t>
            </a:r>
            <a:r>
              <a:rPr sz="2600" spc="-150" dirty="0">
                <a:latin typeface="Trebuchet MS"/>
                <a:cs typeface="Trebuchet MS"/>
              </a:rPr>
              <a:t>take </a:t>
            </a:r>
            <a:r>
              <a:rPr sz="2600" spc="-15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small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BB57BE"/>
                </a:solidFill>
                <a:latin typeface="Trebuchet MS"/>
                <a:cs typeface="Trebuchet MS"/>
              </a:rPr>
              <a:t>step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BB57BE"/>
                </a:solidFill>
                <a:latin typeface="Trebuchet MS"/>
                <a:cs typeface="Trebuchet MS"/>
              </a:rPr>
              <a:t>in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direction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BB57BE"/>
                </a:solidFill>
                <a:latin typeface="Trebuchet MS"/>
                <a:cs typeface="Trebuchet MS"/>
              </a:rPr>
              <a:t>of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negative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50" dirty="0">
                <a:solidFill>
                  <a:srgbClr val="BB57BE"/>
                </a:solidFill>
                <a:latin typeface="Trebuchet MS"/>
                <a:cs typeface="Trebuchet MS"/>
              </a:rPr>
              <a:t>gradient</a:t>
            </a:r>
            <a:r>
              <a:rPr sz="2600" spc="-150" dirty="0">
                <a:latin typeface="Trebuchet MS"/>
                <a:cs typeface="Trebuchet MS"/>
              </a:rPr>
              <a:t>.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Repeat.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27682" y="3376421"/>
            <a:ext cx="6114288" cy="3806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09838" y="4314189"/>
            <a:ext cx="1026794" cy="14827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</a:pPr>
            <a:r>
              <a:rPr sz="1900" spc="-80" dirty="0">
                <a:latin typeface="Trebuchet MS"/>
                <a:cs typeface="Trebuchet MS"/>
              </a:rPr>
              <a:t>Note: </a:t>
            </a:r>
            <a:r>
              <a:rPr sz="1900" spc="-40" dirty="0">
                <a:latin typeface="Trebuchet MS"/>
                <a:cs typeface="Trebuchet MS"/>
              </a:rPr>
              <a:t>Our  </a:t>
            </a:r>
            <a:r>
              <a:rPr sz="1900" spc="-30" dirty="0">
                <a:latin typeface="Trebuchet MS"/>
                <a:cs typeface="Trebuchet MS"/>
              </a:rPr>
              <a:t>o</a:t>
            </a:r>
            <a:r>
              <a:rPr sz="1900" spc="-25" dirty="0">
                <a:latin typeface="Trebuchet MS"/>
                <a:cs typeface="Trebuchet MS"/>
              </a:rPr>
              <a:t>b</a:t>
            </a:r>
            <a:r>
              <a:rPr sz="1900" spc="-250" dirty="0">
                <a:latin typeface="Trebuchet MS"/>
                <a:cs typeface="Trebuchet MS"/>
              </a:rPr>
              <a:t>j</a:t>
            </a:r>
            <a:r>
              <a:rPr sz="1900" spc="-85" dirty="0">
                <a:latin typeface="Trebuchet MS"/>
                <a:cs typeface="Trebuchet MS"/>
              </a:rPr>
              <a:t>e</a:t>
            </a:r>
            <a:r>
              <a:rPr sz="1900" spc="-130" dirty="0">
                <a:latin typeface="Trebuchet MS"/>
                <a:cs typeface="Trebuchet MS"/>
              </a:rPr>
              <a:t>c</a:t>
            </a:r>
            <a:r>
              <a:rPr sz="1900" spc="-120" dirty="0">
                <a:latin typeface="Trebuchet MS"/>
                <a:cs typeface="Trebuchet MS"/>
              </a:rPr>
              <a:t>t</a:t>
            </a:r>
            <a:r>
              <a:rPr sz="1900" spc="-110" dirty="0">
                <a:latin typeface="Trebuchet MS"/>
                <a:cs typeface="Trebuchet MS"/>
              </a:rPr>
              <a:t>i</a:t>
            </a:r>
            <a:r>
              <a:rPr sz="1900" spc="-90" dirty="0">
                <a:latin typeface="Trebuchet MS"/>
                <a:cs typeface="Trebuchet MS"/>
              </a:rPr>
              <a:t>v</a:t>
            </a:r>
            <a:r>
              <a:rPr sz="1900" spc="-85" dirty="0">
                <a:latin typeface="Trebuchet MS"/>
                <a:cs typeface="Trebuchet MS"/>
              </a:rPr>
              <a:t>e</a:t>
            </a:r>
            <a:r>
              <a:rPr sz="1900" spc="-25" dirty="0">
                <a:latin typeface="Trebuchet MS"/>
                <a:cs typeface="Trebuchet MS"/>
              </a:rPr>
              <a:t>s  </a:t>
            </a:r>
            <a:r>
              <a:rPr sz="1900" spc="-80" dirty="0">
                <a:latin typeface="Trebuchet MS"/>
                <a:cs typeface="Trebuchet MS"/>
              </a:rPr>
              <a:t>may </a:t>
            </a:r>
            <a:r>
              <a:rPr sz="1900" spc="-55" dirty="0">
                <a:latin typeface="Trebuchet MS"/>
                <a:cs typeface="Trebuchet MS"/>
              </a:rPr>
              <a:t>not  </a:t>
            </a:r>
            <a:r>
              <a:rPr sz="1900" spc="-70" dirty="0">
                <a:latin typeface="Trebuchet MS"/>
                <a:cs typeface="Trebuchet MS"/>
              </a:rPr>
              <a:t>be</a:t>
            </a:r>
            <a:r>
              <a:rPr sz="1900" spc="-20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convex  </a:t>
            </a:r>
            <a:r>
              <a:rPr sz="1900" spc="-125" dirty="0">
                <a:latin typeface="Trebuchet MS"/>
                <a:cs typeface="Trebuchet MS"/>
              </a:rPr>
              <a:t>like </a:t>
            </a:r>
            <a:r>
              <a:rPr sz="1900" spc="-70" dirty="0">
                <a:latin typeface="Trebuchet MS"/>
                <a:cs typeface="Trebuchet MS"/>
              </a:rPr>
              <a:t>this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:(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27</a:t>
            </a:fld>
            <a:endParaRPr spc="-30" dirty="0"/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D59BB6FD-834B-1E41-BBE2-7B858171A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348766"/>
            <a:ext cx="687917" cy="381000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EEAABB5F-0CAA-5A41-AC55-6F7521C77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762491"/>
            <a:ext cx="687917" cy="381000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E252F0FD-C7FC-2B45-AAA9-8C6224DC0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261629"/>
            <a:ext cx="687917" cy="381000"/>
          </a:xfrm>
          <a:prstGeom prst="rect">
            <a:avLst/>
          </a:prstGeom>
        </p:spPr>
      </p:pic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6622F583-DF18-ED40-A324-CBE978A86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267979"/>
            <a:ext cx="2794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118" y="1402842"/>
            <a:ext cx="53581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20" dirty="0">
                <a:latin typeface="Trebuchet MS"/>
                <a:cs typeface="Trebuchet MS"/>
              </a:rPr>
              <a:t>Update </a:t>
            </a:r>
            <a:r>
              <a:rPr sz="2600" spc="-114" dirty="0">
                <a:latin typeface="Trebuchet MS"/>
                <a:cs typeface="Trebuchet MS"/>
              </a:rPr>
              <a:t>equation </a:t>
            </a:r>
            <a:r>
              <a:rPr sz="2600" spc="-135" dirty="0">
                <a:latin typeface="Trebuchet MS"/>
                <a:cs typeface="Trebuchet MS"/>
              </a:rPr>
              <a:t>(in </a:t>
            </a:r>
            <a:r>
              <a:rPr sz="2600" spc="-150" dirty="0">
                <a:latin typeface="Trebuchet MS"/>
                <a:cs typeface="Trebuchet MS"/>
              </a:rPr>
              <a:t>matrix</a:t>
            </a:r>
            <a:r>
              <a:rPr sz="2600" spc="-570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notation):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118" y="3752851"/>
            <a:ext cx="56781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20" dirty="0">
                <a:latin typeface="Trebuchet MS"/>
                <a:cs typeface="Trebuchet MS"/>
              </a:rPr>
              <a:t>Update </a:t>
            </a:r>
            <a:r>
              <a:rPr sz="2600" spc="-114" dirty="0">
                <a:latin typeface="Trebuchet MS"/>
                <a:cs typeface="Trebuchet MS"/>
              </a:rPr>
              <a:t>equation </a:t>
            </a:r>
            <a:r>
              <a:rPr sz="2600" spc="-130" dirty="0">
                <a:latin typeface="Trebuchet MS"/>
                <a:cs typeface="Trebuchet MS"/>
              </a:rPr>
              <a:t>(for </a:t>
            </a:r>
            <a:r>
              <a:rPr sz="2600" spc="-120" dirty="0">
                <a:latin typeface="Trebuchet MS"/>
                <a:cs typeface="Trebuchet MS"/>
              </a:rPr>
              <a:t>single</a:t>
            </a:r>
            <a:r>
              <a:rPr sz="2600" spc="-55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parameter):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5630419"/>
            <a:ext cx="1791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35" dirty="0">
                <a:latin typeface="Trebuchet MS"/>
                <a:cs typeface="Trebuchet MS"/>
              </a:rPr>
              <a:t>Algorithm: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31527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75" dirty="0">
                <a:solidFill>
                  <a:srgbClr val="3A87FF"/>
                </a:solidFill>
              </a:rPr>
              <a:t>Gradient</a:t>
            </a:r>
            <a:r>
              <a:rPr sz="3400" spc="-330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Descent</a:t>
            </a:r>
            <a:endParaRPr sz="3400"/>
          </a:p>
        </p:txBody>
      </p:sp>
      <p:sp>
        <p:nvSpPr>
          <p:cNvPr id="6" name="object 6"/>
          <p:cNvSpPr/>
          <p:nvPr/>
        </p:nvSpPr>
        <p:spPr>
          <a:xfrm>
            <a:off x="1661922" y="6022085"/>
            <a:ext cx="6355080" cy="10332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77547" y="2141933"/>
            <a:ext cx="4926874" cy="5450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70654" y="3014510"/>
            <a:ext cx="3825545" cy="357790"/>
          </a:xfrm>
          <a:prstGeom prst="rect">
            <a:avLst/>
          </a:prstGeom>
          <a:ln w="30479">
            <a:solidFill>
              <a:srgbClr val="BB57BE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270"/>
              </a:spcBef>
            </a:pPr>
            <a:r>
              <a:rPr lang="zh-CN" altLang="en-US" sz="2100" spc="415" dirty="0">
                <a:latin typeface="DejaVu Sans"/>
                <a:cs typeface="DejaVu Sans"/>
              </a:rPr>
              <a:t>   </a:t>
            </a:r>
            <a:r>
              <a:rPr sz="2100" spc="-395" dirty="0">
                <a:latin typeface="DejaVu Sans"/>
                <a:cs typeface="DejaVu San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= </a:t>
            </a:r>
            <a:r>
              <a:rPr sz="2100" i="1" spc="-114" dirty="0">
                <a:solidFill>
                  <a:srgbClr val="BB57BE"/>
                </a:solidFill>
                <a:latin typeface="Trebuchet MS"/>
                <a:cs typeface="Trebuchet MS"/>
              </a:rPr>
              <a:t>step </a:t>
            </a:r>
            <a:r>
              <a:rPr sz="2100" i="1" spc="-125" dirty="0">
                <a:solidFill>
                  <a:srgbClr val="BB57BE"/>
                </a:solidFill>
                <a:latin typeface="Trebuchet MS"/>
                <a:cs typeface="Trebuchet MS"/>
              </a:rPr>
              <a:t>size </a:t>
            </a:r>
            <a:r>
              <a:rPr sz="2100" spc="-50" dirty="0">
                <a:latin typeface="Trebuchet MS"/>
                <a:cs typeface="Trebuchet MS"/>
              </a:rPr>
              <a:t>or </a:t>
            </a:r>
            <a:r>
              <a:rPr sz="2100" i="1" spc="-90" dirty="0">
                <a:solidFill>
                  <a:srgbClr val="BB57BE"/>
                </a:solidFill>
                <a:latin typeface="Trebuchet MS"/>
                <a:cs typeface="Trebuchet MS"/>
              </a:rPr>
              <a:t>learning </a:t>
            </a:r>
            <a:r>
              <a:rPr sz="2100" i="1" spc="-120" dirty="0">
                <a:solidFill>
                  <a:srgbClr val="BB57BE"/>
                </a:solidFill>
                <a:latin typeface="Trebuchet MS"/>
                <a:cs typeface="Trebuchet MS"/>
              </a:rPr>
              <a:t>rate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10682" y="2698178"/>
            <a:ext cx="91440" cy="316865"/>
          </a:xfrm>
          <a:custGeom>
            <a:avLst/>
            <a:gdLst/>
            <a:ahLst/>
            <a:cxnLst/>
            <a:rect l="l" t="t" r="r" b="b"/>
            <a:pathLst>
              <a:path w="91439" h="316864">
                <a:moveTo>
                  <a:pt x="60960" y="76200"/>
                </a:moveTo>
                <a:lnTo>
                  <a:pt x="30480" y="76200"/>
                </a:lnTo>
                <a:lnTo>
                  <a:pt x="30480" y="316331"/>
                </a:lnTo>
                <a:lnTo>
                  <a:pt x="60960" y="316331"/>
                </a:lnTo>
                <a:lnTo>
                  <a:pt x="60960" y="76200"/>
                </a:lnTo>
                <a:close/>
              </a:path>
              <a:path w="91439" h="316864">
                <a:moveTo>
                  <a:pt x="45720" y="0"/>
                </a:moveTo>
                <a:lnTo>
                  <a:pt x="0" y="91439"/>
                </a:lnTo>
                <a:lnTo>
                  <a:pt x="30480" y="91439"/>
                </a:lnTo>
                <a:lnTo>
                  <a:pt x="30480" y="76200"/>
                </a:lnTo>
                <a:lnTo>
                  <a:pt x="83820" y="76200"/>
                </a:lnTo>
                <a:lnTo>
                  <a:pt x="45720" y="0"/>
                </a:lnTo>
                <a:close/>
              </a:path>
              <a:path w="91439" h="316864">
                <a:moveTo>
                  <a:pt x="83820" y="76200"/>
                </a:moveTo>
                <a:lnTo>
                  <a:pt x="60960" y="76200"/>
                </a:lnTo>
                <a:lnTo>
                  <a:pt x="60960" y="91439"/>
                </a:lnTo>
                <a:lnTo>
                  <a:pt x="91440" y="91439"/>
                </a:lnTo>
                <a:lnTo>
                  <a:pt x="83820" y="76200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76799" y="4453430"/>
            <a:ext cx="4897921" cy="7522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28</a:t>
            </a:fld>
            <a:endParaRPr spc="-30" dirty="0"/>
          </a:p>
        </p:txBody>
      </p:sp>
      <p:pic>
        <p:nvPicPr>
          <p:cNvPr id="13" name="Picture 12" descr="A picture containing gauge&#10;&#10;Description automatically generated">
            <a:extLst>
              <a:ext uri="{FF2B5EF4-FFF2-40B4-BE49-F238E27FC236}">
                <a16:creationId xmlns:a16="http://schemas.microsoft.com/office/drawing/2014/main" id="{6F2CC418-6BC9-654A-A451-3C6733C95B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117245"/>
            <a:ext cx="256038" cy="2355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0787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80" dirty="0">
                <a:solidFill>
                  <a:srgbClr val="3A87FF"/>
                </a:solidFill>
              </a:rPr>
              <a:t>Stochastic Gradient</a:t>
            </a:r>
            <a:r>
              <a:rPr sz="3400" spc="-350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Descent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635000" y="1376770"/>
            <a:ext cx="9271000" cy="407547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1064895" indent="-365760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2321560" algn="l"/>
              </a:tabLst>
            </a:pPr>
            <a:r>
              <a:rPr sz="26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Problem</a:t>
            </a:r>
            <a:r>
              <a:rPr sz="2600" spc="-140" dirty="0">
                <a:latin typeface="Trebuchet MS"/>
                <a:cs typeface="Trebuchet MS"/>
              </a:rPr>
              <a:t>: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265" dirty="0">
                <a:latin typeface="DejaVu Sans"/>
                <a:cs typeface="DejaVu Sans"/>
              </a:rPr>
              <a:t>	</a:t>
            </a:r>
            <a:r>
              <a:rPr lang="zh-CN" altLang="en-US" sz="2600" spc="265" dirty="0">
                <a:latin typeface="DejaVu Sans"/>
                <a:cs typeface="DejaVu San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b="1" spc="-135" dirty="0">
                <a:solidFill>
                  <a:srgbClr val="BB57BE"/>
                </a:solidFill>
                <a:latin typeface="Trebuchet MS"/>
                <a:cs typeface="Trebuchet MS"/>
              </a:rPr>
              <a:t>all</a:t>
            </a:r>
            <a:r>
              <a:rPr sz="2600" b="1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windows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corpus  </a:t>
            </a:r>
            <a:r>
              <a:rPr sz="2600" spc="-145" dirty="0">
                <a:latin typeface="Trebuchet MS"/>
                <a:cs typeface="Trebuchet MS"/>
              </a:rPr>
              <a:t>(potentially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billions!)</a:t>
            </a:r>
            <a:endParaRPr sz="2600" dirty="0">
              <a:latin typeface="Trebuchet MS"/>
              <a:cs typeface="Trebuchet MS"/>
            </a:endParaRPr>
          </a:p>
          <a:p>
            <a:pPr marL="744220" lvl="1" indent="-244475">
              <a:lnSpc>
                <a:spcPct val="100000"/>
              </a:lnSpc>
              <a:spcBef>
                <a:spcPts val="47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  <a:tab pos="2227580" algn="l"/>
              </a:tabLst>
            </a:pPr>
            <a:r>
              <a:rPr sz="2600" spc="-55" dirty="0">
                <a:latin typeface="Trebuchet MS"/>
                <a:cs typeface="Trebuchet MS"/>
              </a:rPr>
              <a:t>So	</a:t>
            </a:r>
            <a:r>
              <a:rPr sz="2600" spc="-100" dirty="0">
                <a:latin typeface="Trebuchet MS"/>
                <a:cs typeface="Trebuchet MS"/>
              </a:rPr>
              <a:t>is </a:t>
            </a:r>
            <a:r>
              <a:rPr sz="2600" spc="-120" dirty="0">
                <a:solidFill>
                  <a:srgbClr val="BB57BE"/>
                </a:solidFill>
                <a:latin typeface="Trebuchet MS"/>
                <a:cs typeface="Trebuchet MS"/>
              </a:rPr>
              <a:t>very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expensive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to</a:t>
            </a:r>
            <a:r>
              <a:rPr sz="2600" spc="-57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lang="zh-CN" altLang="en-US" sz="2600" spc="-570" dirty="0">
                <a:solidFill>
                  <a:srgbClr val="BB57BE"/>
                </a:solidFill>
                <a:latin typeface="Trebuchet MS"/>
                <a:cs typeface="Trebuchet MS"/>
              </a:rPr>
              <a:t> 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compute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14" dirty="0">
                <a:latin typeface="Trebuchet MS"/>
                <a:cs typeface="Trebuchet MS"/>
              </a:rPr>
              <a:t>You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would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wait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very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long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time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before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making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single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update!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</a:pPr>
            <a:endParaRPr sz="37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70" dirty="0">
                <a:solidFill>
                  <a:srgbClr val="BB57BE"/>
                </a:solidFill>
                <a:latin typeface="Trebuchet MS"/>
                <a:cs typeface="Trebuchet MS"/>
              </a:rPr>
              <a:t>Very</a:t>
            </a:r>
            <a:r>
              <a:rPr sz="2600" b="1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bad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idea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pretty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much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all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neural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nets!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u="sng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Solution: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b="1" spc="-160" dirty="0">
                <a:solidFill>
                  <a:srgbClr val="BB57BE"/>
                </a:solidFill>
                <a:latin typeface="Trebuchet MS"/>
                <a:cs typeface="Trebuchet MS"/>
              </a:rPr>
              <a:t>Stochastic </a:t>
            </a:r>
            <a:r>
              <a:rPr sz="2600" b="1" spc="-155" dirty="0">
                <a:solidFill>
                  <a:srgbClr val="BB57BE"/>
                </a:solidFill>
                <a:latin typeface="Trebuchet MS"/>
                <a:cs typeface="Trebuchet MS"/>
              </a:rPr>
              <a:t>gradient </a:t>
            </a:r>
            <a:r>
              <a:rPr sz="2600" b="1" spc="-175" dirty="0">
                <a:solidFill>
                  <a:srgbClr val="BB57BE"/>
                </a:solidFill>
                <a:latin typeface="Trebuchet MS"/>
                <a:cs typeface="Trebuchet MS"/>
              </a:rPr>
              <a:t>descent</a:t>
            </a:r>
            <a:r>
              <a:rPr sz="2600" b="1" spc="-45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b="1" spc="-125" dirty="0">
                <a:solidFill>
                  <a:srgbClr val="BB57BE"/>
                </a:solidFill>
                <a:latin typeface="Trebuchet MS"/>
                <a:cs typeface="Trebuchet MS"/>
              </a:rPr>
              <a:t>(SGD)</a:t>
            </a:r>
            <a:endParaRPr sz="2600" dirty="0">
              <a:latin typeface="Trebuchet MS"/>
              <a:cs typeface="Trebuchet MS"/>
            </a:endParaRPr>
          </a:p>
          <a:p>
            <a:pPr marL="744220" lvl="1" indent="-366395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-85" dirty="0">
                <a:latin typeface="Trebuchet MS"/>
                <a:cs typeface="Trebuchet MS"/>
              </a:rPr>
              <a:t>Repeatedly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sample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windows,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and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update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100" dirty="0">
                <a:latin typeface="Trebuchet MS"/>
                <a:cs typeface="Trebuchet MS"/>
              </a:rPr>
              <a:t>after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each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one</a:t>
            </a:r>
            <a:endParaRPr sz="21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484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35" dirty="0">
                <a:latin typeface="Trebuchet MS"/>
                <a:cs typeface="Trebuchet MS"/>
              </a:rPr>
              <a:t>Algorithm: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40066" y="5672003"/>
            <a:ext cx="7390887" cy="12651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4413" y="2344135"/>
            <a:ext cx="949280" cy="3076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29</a:t>
            </a:fld>
            <a:endParaRPr spc="-30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4B726EA5-D70B-144A-AFD1-5BDDA97EC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447800"/>
            <a:ext cx="687917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30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22447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65" dirty="0">
                <a:solidFill>
                  <a:srgbClr val="3A87FF"/>
                </a:solidFill>
              </a:rPr>
              <a:t>Lecture</a:t>
            </a:r>
            <a:r>
              <a:rPr sz="3400" spc="-295" dirty="0">
                <a:solidFill>
                  <a:srgbClr val="3A87FF"/>
                </a:solidFill>
              </a:rPr>
              <a:t> </a:t>
            </a:r>
            <a:r>
              <a:rPr sz="3400" spc="-170" dirty="0">
                <a:solidFill>
                  <a:srgbClr val="3A87FF"/>
                </a:solidFill>
              </a:rPr>
              <a:t>Plan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6946900" cy="239488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lang="en-US" altLang="zh-CN" sz="2600" spc="-95" dirty="0">
                <a:solidFill>
                  <a:srgbClr val="7F7F7F"/>
                </a:solidFill>
                <a:latin typeface="Trebuchet MS"/>
                <a:cs typeface="Trebuchet MS"/>
              </a:rPr>
              <a:t>W</a:t>
            </a:r>
            <a:r>
              <a:rPr sz="2600" spc="-95" dirty="0">
                <a:solidFill>
                  <a:srgbClr val="7F7F7F"/>
                </a:solidFill>
                <a:latin typeface="Trebuchet MS"/>
                <a:cs typeface="Trebuchet MS"/>
              </a:rPr>
              <a:t>ord</a:t>
            </a:r>
            <a:r>
              <a:rPr sz="2600" spc="-229" dirty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7F7F7F"/>
                </a:solidFill>
                <a:latin typeface="Trebuchet MS"/>
                <a:cs typeface="Trebuchet MS"/>
              </a:rPr>
              <a:t>meaning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90" dirty="0">
                <a:solidFill>
                  <a:srgbClr val="7F7F7F"/>
                </a:solidFill>
                <a:latin typeface="Trebuchet MS"/>
                <a:cs typeface="Trebuchet MS"/>
              </a:rPr>
              <a:t>Word2vec </a:t>
            </a:r>
            <a:r>
              <a:rPr sz="2600" spc="-120" dirty="0">
                <a:solidFill>
                  <a:srgbClr val="7F7F7F"/>
                </a:solidFill>
                <a:latin typeface="Trebuchet MS"/>
                <a:cs typeface="Trebuchet MS"/>
              </a:rPr>
              <a:t>introduction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90" dirty="0">
                <a:solidFill>
                  <a:srgbClr val="7F7F7F"/>
                </a:solidFill>
                <a:latin typeface="Trebuchet MS"/>
                <a:cs typeface="Trebuchet MS"/>
              </a:rPr>
              <a:t>Word2vec</a:t>
            </a:r>
            <a:r>
              <a:rPr sz="2600" spc="-235" dirty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sz="2600" spc="-160" dirty="0">
                <a:solidFill>
                  <a:srgbClr val="7F7F7F"/>
                </a:solidFill>
                <a:latin typeface="Trebuchet MS"/>
                <a:cs typeface="Trebuchet MS"/>
              </a:rPr>
              <a:t>objective</a:t>
            </a:r>
            <a:r>
              <a:rPr sz="2600" spc="-229" dirty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7F7F7F"/>
                </a:solidFill>
                <a:latin typeface="Trebuchet MS"/>
                <a:cs typeface="Trebuchet MS"/>
              </a:rPr>
              <a:t>function</a:t>
            </a:r>
            <a:r>
              <a:rPr sz="2600" spc="-229" dirty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solidFill>
                  <a:srgbClr val="7F7F7F"/>
                </a:solidFill>
                <a:latin typeface="Trebuchet MS"/>
                <a:cs typeface="Trebuchet MS"/>
              </a:rPr>
              <a:t>gradients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35" dirty="0">
                <a:solidFill>
                  <a:srgbClr val="7F7F7F"/>
                </a:solidFill>
                <a:latin typeface="Trebuchet MS"/>
                <a:cs typeface="Trebuchet MS"/>
              </a:rPr>
              <a:t>Optimization </a:t>
            </a:r>
            <a:r>
              <a:rPr sz="2600" spc="-120" dirty="0">
                <a:solidFill>
                  <a:srgbClr val="7F7F7F"/>
                </a:solidFill>
                <a:latin typeface="Trebuchet MS"/>
                <a:cs typeface="Trebuchet MS"/>
              </a:rPr>
              <a:t>basics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20" dirty="0">
                <a:latin typeface="Trebuchet MS"/>
                <a:cs typeface="Trebuchet MS"/>
              </a:rPr>
              <a:t>Looking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6F52-070E-944D-9F07-58B544BA2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9DE63-EB8F-4742-AE95-143F29CA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118" y="1329689"/>
            <a:ext cx="8932163" cy="830997"/>
          </a:xfrm>
        </p:spPr>
        <p:txBody>
          <a:bodyPr/>
          <a:lstStyle/>
          <a:p>
            <a:r>
              <a:rPr lang="en-US" sz="5400" dirty="0"/>
              <a:t>Th</a:t>
            </a:r>
            <a:r>
              <a:rPr lang="en-US" altLang="zh-CN" sz="5400" dirty="0"/>
              <a:t>ank</a:t>
            </a:r>
            <a:r>
              <a:rPr lang="zh-CN" altLang="en-US" sz="5400" dirty="0"/>
              <a:t> </a:t>
            </a:r>
            <a:r>
              <a:rPr lang="en-US" altLang="zh-CN" sz="5400" dirty="0"/>
              <a:t>You!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064002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F8E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6037</TotalTime>
  <Words>1817</Words>
  <Application>Microsoft Macintosh PowerPoint</Application>
  <PresentationFormat>Custom</PresentationFormat>
  <Paragraphs>229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Carlito</vt:lpstr>
      <vt:lpstr>DejaVu Sans</vt:lpstr>
      <vt:lpstr>Noto Sans Mono CJK JP Bold</vt:lpstr>
      <vt:lpstr>Arial</vt:lpstr>
      <vt:lpstr>Calibri</vt:lpstr>
      <vt:lpstr>Times New Roman</vt:lpstr>
      <vt:lpstr>Trebuchet MS</vt:lpstr>
      <vt:lpstr>Wingdings</vt:lpstr>
      <vt:lpstr>Office Theme</vt:lpstr>
      <vt:lpstr>PowerPoint Presentation</vt:lpstr>
      <vt:lpstr>Lecture Plan</vt:lpstr>
      <vt:lpstr>PowerPoint Presentation</vt:lpstr>
      <vt:lpstr>PowerPoint Presentation</vt:lpstr>
      <vt:lpstr>1. How do we represent the meaning of a  word?</vt:lpstr>
      <vt:lpstr>How do we have usable meaning in a computer?</vt:lpstr>
      <vt:lpstr>Problems with resources like WordNet</vt:lpstr>
      <vt:lpstr>Representing words as discrete symbols</vt:lpstr>
      <vt:lpstr>Problem with words as discrete symbols</vt:lpstr>
      <vt:lpstr>Representing words by their context</vt:lpstr>
      <vt:lpstr>Word vectors</vt:lpstr>
      <vt:lpstr>Word meaning as a neural word vector – visualization</vt:lpstr>
      <vt:lpstr>3. Word2vec: Overview</vt:lpstr>
      <vt:lpstr>Word2Vec Overview</vt:lpstr>
      <vt:lpstr>Word2Vec Overview</vt:lpstr>
      <vt:lpstr>Word2vec: objective function</vt:lpstr>
      <vt:lpstr>Word2vec: objective function</vt:lpstr>
      <vt:lpstr>Word2Vec Overview with Vectors</vt:lpstr>
      <vt:lpstr>Word2vec: prediction function</vt:lpstr>
      <vt:lpstr>PowerPoint Presentation</vt:lpstr>
      <vt:lpstr>To train the model: Compute all vector gradients!</vt:lpstr>
      <vt:lpstr>4. Word2vec derivations of gradient</vt:lpstr>
      <vt:lpstr>Chain Rule</vt:lpstr>
      <vt:lpstr>Interactive Whiteboard Session!</vt:lpstr>
      <vt:lpstr>Calculating all gradients!</vt:lpstr>
      <vt:lpstr>Word2vec: More details</vt:lpstr>
      <vt:lpstr>5. Optimization: Gradient Descent</vt:lpstr>
      <vt:lpstr>Gradient Descent</vt:lpstr>
      <vt:lpstr>Stochastic Gradient Descent</vt:lpstr>
      <vt:lpstr>Lecture Plan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 with Deep Learning</dc:title>
  <cp:lastModifiedBy>Dr. Shangsong Liang</cp:lastModifiedBy>
  <cp:revision>17</cp:revision>
  <dcterms:created xsi:type="dcterms:W3CDTF">2021-10-30T17:43:28Z</dcterms:created>
  <dcterms:modified xsi:type="dcterms:W3CDTF">2025-11-28T01:48:30Z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2021-10-30T00:00:00Z</vt:filetime>
  </property>
</Properties>
</file>