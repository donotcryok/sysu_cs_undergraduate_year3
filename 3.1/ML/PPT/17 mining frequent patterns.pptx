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88"/>
  </p:notesMasterIdLst>
  <p:handoutMasterIdLst>
    <p:handoutMasterId r:id="rId89"/>
  </p:handoutMasterIdLst>
  <p:sldIdLst>
    <p:sldId id="1293" r:id="rId2"/>
    <p:sldId id="1292" r:id="rId3"/>
    <p:sldId id="1184" r:id="rId4"/>
    <p:sldId id="1185" r:id="rId5"/>
    <p:sldId id="1186" r:id="rId6"/>
    <p:sldId id="1187" r:id="rId7"/>
    <p:sldId id="1266" r:id="rId8"/>
    <p:sldId id="1189" r:id="rId9"/>
    <p:sldId id="1190" r:id="rId10"/>
    <p:sldId id="1191" r:id="rId11"/>
    <p:sldId id="1033" r:id="rId12"/>
    <p:sldId id="1034" r:id="rId13"/>
    <p:sldId id="1037" r:id="rId14"/>
    <p:sldId id="1039" r:id="rId15"/>
    <p:sldId id="1040" r:id="rId16"/>
    <p:sldId id="1042" r:id="rId17"/>
    <p:sldId id="1044" r:id="rId18"/>
    <p:sldId id="1043" r:id="rId19"/>
    <p:sldId id="1041" r:id="rId20"/>
    <p:sldId id="1046" r:id="rId21"/>
    <p:sldId id="1047" r:id="rId22"/>
    <p:sldId id="1048" r:id="rId23"/>
    <p:sldId id="266" r:id="rId24"/>
    <p:sldId id="263" r:id="rId25"/>
    <p:sldId id="285" r:id="rId26"/>
    <p:sldId id="265" r:id="rId27"/>
    <p:sldId id="267" r:id="rId28"/>
    <p:sldId id="269" r:id="rId29"/>
    <p:sldId id="270" r:id="rId30"/>
    <p:sldId id="1049" r:id="rId31"/>
    <p:sldId id="1050" r:id="rId32"/>
    <p:sldId id="1051" r:id="rId33"/>
    <p:sldId id="1052" r:id="rId34"/>
    <p:sldId id="1053" r:id="rId35"/>
    <p:sldId id="1066" r:id="rId36"/>
    <p:sldId id="1054" r:id="rId37"/>
    <p:sldId id="1067" r:id="rId38"/>
    <p:sldId id="1068" r:id="rId39"/>
    <p:sldId id="1055" r:id="rId40"/>
    <p:sldId id="1056" r:id="rId41"/>
    <p:sldId id="1057" r:id="rId42"/>
    <p:sldId id="1058" r:id="rId43"/>
    <p:sldId id="1060" r:id="rId44"/>
    <p:sldId id="1062" r:id="rId45"/>
    <p:sldId id="1196" r:id="rId46"/>
    <p:sldId id="1197" r:id="rId47"/>
    <p:sldId id="1198" r:id="rId48"/>
    <p:sldId id="1064" r:id="rId49"/>
    <p:sldId id="1065" r:id="rId50"/>
    <p:sldId id="1199" r:id="rId51"/>
    <p:sldId id="1267" r:id="rId52"/>
    <p:sldId id="1200" r:id="rId53"/>
    <p:sldId id="1201" r:id="rId54"/>
    <p:sldId id="873" r:id="rId55"/>
    <p:sldId id="1202" r:id="rId56"/>
    <p:sldId id="1203" r:id="rId57"/>
    <p:sldId id="880" r:id="rId58"/>
    <p:sldId id="1294" r:id="rId59"/>
    <p:sldId id="1204" r:id="rId60"/>
    <p:sldId id="1268" r:id="rId61"/>
    <p:sldId id="1073" r:id="rId62"/>
    <p:sldId id="1205" r:id="rId63"/>
    <p:sldId id="1206" r:id="rId64"/>
    <p:sldId id="1269" r:id="rId65"/>
    <p:sldId id="1208" r:id="rId66"/>
    <p:sldId id="1209" r:id="rId67"/>
    <p:sldId id="1078" r:id="rId68"/>
    <p:sldId id="1210" r:id="rId69"/>
    <p:sldId id="1211" r:id="rId70"/>
    <p:sldId id="1212" r:id="rId71"/>
    <p:sldId id="1218" r:id="rId72"/>
    <p:sldId id="1219" r:id="rId73"/>
    <p:sldId id="1220" r:id="rId74"/>
    <p:sldId id="1221" r:id="rId75"/>
    <p:sldId id="1213" r:id="rId76"/>
    <p:sldId id="1214" r:id="rId77"/>
    <p:sldId id="1093" r:id="rId78"/>
    <p:sldId id="1094" r:id="rId79"/>
    <p:sldId id="1025" r:id="rId80"/>
    <p:sldId id="1215" r:id="rId81"/>
    <p:sldId id="1216" r:id="rId82"/>
    <p:sldId id="1217" r:id="rId83"/>
    <p:sldId id="1290" r:id="rId84"/>
    <p:sldId id="1271" r:id="rId85"/>
    <p:sldId id="1272" r:id="rId86"/>
    <p:sldId id="1273" r:id="rId87"/>
  </p:sldIdLst>
  <p:sldSz cx="9144000" cy="6858000" type="screen4x3"/>
  <p:notesSz cx="6831013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2" autoAdjust="0"/>
    <p:restoredTop sz="94629" autoAdjust="0"/>
  </p:normalViewPr>
  <p:slideViewPr>
    <p:cSldViewPr>
      <p:cViewPr varScale="1">
        <p:scale>
          <a:sx n="155" d="100"/>
          <a:sy n="155" d="100"/>
        </p:scale>
        <p:origin x="25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7546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1.xml"/><Relationship Id="rId13" Type="http://schemas.openxmlformats.org/officeDocument/2006/relationships/slide" Target="slides/slide57.xml"/><Relationship Id="rId18" Type="http://schemas.openxmlformats.org/officeDocument/2006/relationships/slide" Target="slides/slide63.xml"/><Relationship Id="rId3" Type="http://schemas.openxmlformats.org/officeDocument/2006/relationships/slide" Target="slides/slide7.xml"/><Relationship Id="rId7" Type="http://schemas.openxmlformats.org/officeDocument/2006/relationships/slide" Target="slides/slide49.xml"/><Relationship Id="rId12" Type="http://schemas.openxmlformats.org/officeDocument/2006/relationships/slide" Target="slides/slide56.xml"/><Relationship Id="rId17" Type="http://schemas.openxmlformats.org/officeDocument/2006/relationships/slide" Target="slides/slide62.xml"/><Relationship Id="rId2" Type="http://schemas.openxmlformats.org/officeDocument/2006/relationships/slide" Target="slides/slide4.xml"/><Relationship Id="rId16" Type="http://schemas.openxmlformats.org/officeDocument/2006/relationships/slide" Target="slides/slide61.xml"/><Relationship Id="rId20" Type="http://schemas.openxmlformats.org/officeDocument/2006/relationships/slide" Target="slides/slide83.xml"/><Relationship Id="rId1" Type="http://schemas.openxmlformats.org/officeDocument/2006/relationships/slide" Target="slides/slide2.xml"/><Relationship Id="rId6" Type="http://schemas.openxmlformats.org/officeDocument/2006/relationships/slide" Target="slides/slide48.xml"/><Relationship Id="rId11" Type="http://schemas.openxmlformats.org/officeDocument/2006/relationships/slide" Target="slides/slide55.xml"/><Relationship Id="rId5" Type="http://schemas.openxmlformats.org/officeDocument/2006/relationships/slide" Target="slides/slide11.xml"/><Relationship Id="rId15" Type="http://schemas.openxmlformats.org/officeDocument/2006/relationships/slide" Target="slides/slide60.xml"/><Relationship Id="rId10" Type="http://schemas.openxmlformats.org/officeDocument/2006/relationships/slide" Target="slides/slide54.xml"/><Relationship Id="rId19" Type="http://schemas.openxmlformats.org/officeDocument/2006/relationships/slide" Target="slides/slide64.xml"/><Relationship Id="rId4" Type="http://schemas.openxmlformats.org/officeDocument/2006/relationships/slide" Target="slides/slide10.xml"/><Relationship Id="rId9" Type="http://schemas.openxmlformats.org/officeDocument/2006/relationships/slide" Target="slides/slide53.xml"/><Relationship Id="rId14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CC04BCC-7650-F64B-B78A-7C709AB07C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15CA2EAA-A2BB-F543-8E30-86DA379E102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2A4743F6-5113-D34F-9C88-7070943C0D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81E909E1-A560-3442-9604-7887F04879C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CDE94380-6897-C143-ADAB-05E228CEE2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C58FBB1-751A-1B4C-9707-E85825BE27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46A6E9B-FFE3-F845-A045-B231A83F12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5EA987B-4C7D-934D-9BDA-47AFCBBD6A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E69B82C-A58F-9340-A249-93D0B41B16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06331BD6-0422-B648-B8C0-DA24DAC385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6E090E7E-7F4E-D046-8241-E5E428A893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B8115035-C571-524B-8868-86F3DBE4F15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uc.edu/~hanj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academic.csuohio.edu</a:t>
            </a:r>
            <a:r>
              <a:rPr lang="en-US" dirty="0"/>
              <a:t>/</a:t>
            </a:r>
            <a:r>
              <a:rPr lang="en-US" dirty="0" err="1"/>
              <a:t>fuy</a:t>
            </a:r>
            <a:r>
              <a:rPr lang="en-US" dirty="0"/>
              <a:t>/EEC%20525/</a:t>
            </a:r>
            <a:r>
              <a:rPr lang="en-US" dirty="0" err="1"/>
              <a:t>index.html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chemeClr val="bg1">
                    <a:lumMod val="75000"/>
                  </a:schemeClr>
                </a:solidFill>
              </a:rPr>
              <a:t>From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200" dirty="0">
                <a:solidFill>
                  <a:schemeClr val="bg1">
                    <a:lumMod val="75000"/>
                  </a:schemeClr>
                </a:solidFill>
              </a:rPr>
              <a:t>Jiawei Han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200" dirty="0">
                <a:solidFill>
                  <a:schemeClr val="bg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www.cs.uiuc.edu/~hanj</a:t>
            </a:r>
            <a:endParaRPr lang="en-US" alt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15035-C571-524B-8868-86F3DBE4F15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72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72EB12D2-171F-B945-8C63-8B64FED212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49198F00-A4BF-124A-961D-C11B221875C6}" type="slidenum">
              <a:rPr lang="en-US" altLang="en-US" sz="13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11A2D01-AFEC-074D-88A5-662F3E89CB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83B8FF6-1E66-9C4E-914F-53A4CAC79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784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C046263A-40E4-5C47-8D14-8FB78A22FC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CE62CA58-AB07-B44E-9BDA-58B643572E62}" type="slidenum">
              <a:rPr lang="en-US" altLang="en-US" sz="130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B59A798-8288-D041-ACDA-B9E438F551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6789829-87EA-F442-856D-0E72EF088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94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4B0AB902-9AC0-2C48-812B-2FAF50E08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38BE923B-79CB-844B-B75D-9BF09BB11043}" type="slidenum">
              <a:rPr lang="en-US" altLang="en-US" sz="1300" smtClean="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01F5158C-E7CB-9448-8828-21AD99FFEE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C52EE17-2ECA-CB49-ABB3-7A0EBBFBF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749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1D0CDDC5-E6DF-B749-80B8-EFDD96C60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88A9F0A2-51AF-E143-8835-229ECD08AF24}" type="slidenum">
              <a:rPr lang="en-US" altLang="en-US" sz="1300" smtClean="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BB356F9-F688-2C4E-85B9-4C7C1ADCFD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2871638-B8A6-CC47-A1DC-3632AA40C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32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F5938550-66BC-9047-AC26-F0DA09A88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B30D2206-5DBA-2C4C-8E6C-050147FE936F}" type="slidenum">
              <a:rPr lang="en-US" altLang="en-US" sz="1300" smtClean="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016DD75-3AEE-F24E-A625-9647B58187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E6F73B-7379-974E-BA27-373779963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960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FB53233F-C2E5-0F4B-94AE-94CE7055C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733DE687-AEAF-934B-AED1-E29BC1A630BF}" type="slidenum">
              <a:rPr lang="en-US" altLang="en-US" sz="1300" smtClean="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F28D826B-F70B-1D48-9C26-A417E390FF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0DC8437-EE02-354C-A978-4503BA392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4383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CDA5303-A52C-E44B-A490-955C7BCC06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E31442CD-A728-FA4F-8433-2994EDFC4439}" type="slidenum">
              <a:rPr lang="en-US" altLang="en-US" sz="1300" smtClean="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22FC6285-06F8-2449-A0C3-127B5DA203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54A3C1D-69A8-D84E-B397-6D147F679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604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D96E4C-1EAE-164F-A55C-46892EB6EB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007749-65C4-0B40-9AA5-CE2CA572B8C9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555458" name="Rectangle 2">
            <a:extLst>
              <a:ext uri="{FF2B5EF4-FFF2-40B4-BE49-F238E27FC236}">
                <a16:creationId xmlns:a16="http://schemas.microsoft.com/office/drawing/2014/main" id="{4A01088A-332A-8E41-A346-D472CC9C29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5459" name="Rectangle 3">
            <a:extLst>
              <a:ext uri="{FF2B5EF4-FFF2-40B4-BE49-F238E27FC236}">
                <a16:creationId xmlns:a16="http://schemas.microsoft.com/office/drawing/2014/main" id="{E8FE97A3-DC42-444C-AFAF-8044912EF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1111" tIns="45556" rIns="91111" bIns="4555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794" name="Group 2">
            <a:extLst>
              <a:ext uri="{FF2B5EF4-FFF2-40B4-BE49-F238E27FC236}">
                <a16:creationId xmlns:a16="http://schemas.microsoft.com/office/drawing/2014/main" id="{234E8767-576C-0249-A047-F349B4D380E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929795" name="Group 3">
              <a:extLst>
                <a:ext uri="{FF2B5EF4-FFF2-40B4-BE49-F238E27FC236}">
                  <a16:creationId xmlns:a16="http://schemas.microsoft.com/office/drawing/2014/main" id="{0C2688DA-38DD-1048-A6B7-549DF86F8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29796" name="Rectangle 4">
                <a:extLst>
                  <a:ext uri="{FF2B5EF4-FFF2-40B4-BE49-F238E27FC236}">
                    <a16:creationId xmlns:a16="http://schemas.microsoft.com/office/drawing/2014/main" id="{8B739D73-A6E7-8E44-A270-A2FFF2584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9797" name="Rectangle 5">
                <a:extLst>
                  <a:ext uri="{FF2B5EF4-FFF2-40B4-BE49-F238E27FC236}">
                    <a16:creationId xmlns:a16="http://schemas.microsoft.com/office/drawing/2014/main" id="{C13E7487-B5F9-7145-87DC-782876D21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29798" name="Group 6">
              <a:extLst>
                <a:ext uri="{FF2B5EF4-FFF2-40B4-BE49-F238E27FC236}">
                  <a16:creationId xmlns:a16="http://schemas.microsoft.com/office/drawing/2014/main" id="{283C9F53-9B10-BB43-9283-5C45512A7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29799" name="Rectangle 7">
                <a:extLst>
                  <a:ext uri="{FF2B5EF4-FFF2-40B4-BE49-F238E27FC236}">
                    <a16:creationId xmlns:a16="http://schemas.microsoft.com/office/drawing/2014/main" id="{8A34E39F-8518-9B4B-8048-436979A1F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9800" name="Rectangle 8">
                <a:extLst>
                  <a:ext uri="{FF2B5EF4-FFF2-40B4-BE49-F238E27FC236}">
                    <a16:creationId xmlns:a16="http://schemas.microsoft.com/office/drawing/2014/main" id="{F8235480-FB87-9A48-9010-B27808467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9801" name="Rectangle 9">
              <a:extLst>
                <a:ext uri="{FF2B5EF4-FFF2-40B4-BE49-F238E27FC236}">
                  <a16:creationId xmlns:a16="http://schemas.microsoft.com/office/drawing/2014/main" id="{45017332-5B3A-7B47-8F35-E71A8CE99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9802" name="Rectangle 10">
              <a:extLst>
                <a:ext uri="{FF2B5EF4-FFF2-40B4-BE49-F238E27FC236}">
                  <a16:creationId xmlns:a16="http://schemas.microsoft.com/office/drawing/2014/main" id="{D2A54CC8-9E2A-B547-8126-45DC3E510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9803" name="Rectangle 11">
              <a:extLst>
                <a:ext uri="{FF2B5EF4-FFF2-40B4-BE49-F238E27FC236}">
                  <a16:creationId xmlns:a16="http://schemas.microsoft.com/office/drawing/2014/main" id="{57C9F259-6EF3-2E40-BFD8-7263A15023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804" name="Rectangle 12">
            <a:extLst>
              <a:ext uri="{FF2B5EF4-FFF2-40B4-BE49-F238E27FC236}">
                <a16:creationId xmlns:a16="http://schemas.microsoft.com/office/drawing/2014/main" id="{025E59D7-B4AE-3A42-97C5-4998C77AE6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929805" name="Rectangle 13">
            <a:extLst>
              <a:ext uri="{FF2B5EF4-FFF2-40B4-BE49-F238E27FC236}">
                <a16:creationId xmlns:a16="http://schemas.microsoft.com/office/drawing/2014/main" id="{5E253AED-E613-4941-BB97-B51914507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929806" name="Rectangle 14">
            <a:extLst>
              <a:ext uri="{FF2B5EF4-FFF2-40B4-BE49-F238E27FC236}">
                <a16:creationId xmlns:a16="http://schemas.microsoft.com/office/drawing/2014/main" id="{117008BD-25F0-B64C-8383-FFE9B634F8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B5B73128-0435-B84D-BE7B-274E03C16816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929807" name="Rectangle 15">
            <a:extLst>
              <a:ext uri="{FF2B5EF4-FFF2-40B4-BE49-F238E27FC236}">
                <a16:creationId xmlns:a16="http://schemas.microsoft.com/office/drawing/2014/main" id="{149D3E3D-6FB5-A547-9315-89E1E0EA85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929808" name="Rectangle 16">
            <a:extLst>
              <a:ext uri="{FF2B5EF4-FFF2-40B4-BE49-F238E27FC236}">
                <a16:creationId xmlns:a16="http://schemas.microsoft.com/office/drawing/2014/main" id="{504BE26D-A430-6E48-8F1A-BC66A59CFA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F29EB235-338C-8347-842E-10E1A50EC8D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C1BD-E0F0-AB46-979A-2C83854C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131ED-7898-9143-84FB-19E5A486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81AE-5BCD-B54F-85FA-ADA3371B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24171A-A05D-FF4B-A311-8DA7381642D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C8584-9264-DE49-845F-DD0E6D5A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1CEAA-5F66-5E40-90FF-F55BCBB0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49D19-18D5-F848-AE7A-208D2D5031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04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F654-49D1-1C4A-AD95-D65429CB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F67B9-A5AD-B74A-9C0D-072F23B70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318C3-3295-2646-9062-6BF4E97E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BC8B5F-8FB2-304A-A6C5-43F7D564EDA6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7AB8-2892-654B-8A78-57493DDE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7185-54FF-4841-889D-1D518FF0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0A6FC2-0E33-C440-B6C2-7A2D03ED9E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0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8BC1-60E4-2A49-ADFF-018F73E8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FBBA-8905-E048-80A0-F5BDA2A01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2AC70-0F1D-284D-B6EA-9950FB98C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32860-7250-5A44-BF16-28989FCE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5B1341-82FC-5D4C-9660-6DBE9B2AF3F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1D024-0B8D-BC4A-8886-A4FE99DB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A546-C289-8D44-9750-AC1EBBC2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8CECC-1129-8940-869C-AD32946C8D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00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FBB2-2561-874E-909D-095CD3B8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E4D86-C8FF-6B41-805D-5449746A4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8353C-8519-0C4A-A0FD-BEEE994D6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832F6-7E52-9849-AC8C-3DD6918C1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65A36-470F-0240-92FA-76A2F4734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5300A-CB5F-6A4C-94FC-80488109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493199-A285-CE46-BF28-E8BEE3F826D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EB7AD-4E1E-F74C-9F2B-FC76DE4F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2497A-0B9D-9D4F-80AB-8FB32D06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98B6C3-588C-604C-BC72-B13F183A0F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595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0BCD-45D6-8845-A57F-49A974B1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99036-4DD8-6E49-88F3-4FE6A5F9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57E1A2-0BCD-B340-922C-6C355D0C91B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833CA-7569-5E4A-996A-2C66FBF8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3C7C2-ED27-E147-A5E6-D5C04EAC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60645-F5E2-D441-B1E3-54795901B6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08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36677-0111-C14F-BC47-5E0370C8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9A0D6-8AC6-4E49-A904-D598CBDF0EE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38B48-7FD8-9343-913C-DE1121B7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54223-8A18-9145-8A1A-9486D87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C762C-038E-6D43-8415-52B57138E7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25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36DD-7DF1-9F49-9C38-D4F6E5F0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F892-E43E-0F47-8490-77CC797C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3A40A-FDC6-814E-830B-94AB9B28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7DB58-DB7B-4F49-9448-CEC4C6AD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183C0-B402-AA48-8672-193131EE26F9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2D27B-9021-7343-BB97-04ECCDEE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0E34E-788E-944F-B315-E18492A7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31108-9F76-9941-96CD-CB36988FEA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74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9FA6-D28E-C249-B283-CB281FC8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32C45-8FA6-A248-AC75-34F8C6BF8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F3D4A-4FDB-7643-AA8B-2ED9A799D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5205B-076A-6841-B16B-95160754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9C5333-AEF4-3540-AC88-748D8D6C9E9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B4B2F-98D9-F543-87C1-35767D73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86A97-1DF7-0A45-B37C-5E46B65D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7D862-EE97-7C4B-9B20-12D51EE72D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59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90E3-0C23-DE42-9AE1-001227B9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3E914-712C-DF44-99EF-EBC3D0E8D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1DE88-706E-7841-9774-3AD10DD8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82E6CF-7281-0641-8C37-318F83A010A0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A74F-FEBD-924D-9B7E-41BF5377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F3FA9-00BA-DC4C-B23B-28E041E4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87123-3579-9E4F-9EC2-2B2D6E1ED0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38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3B387-9F96-9643-8880-6F341D36A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B27A1-32AC-B44D-B0D4-59DE973E3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5B70-64E2-CC4C-B9AD-1325C74E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708153-6718-1F40-BFF9-CE190523419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8434C-8E3B-BF4F-B064-E33B0F8F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F7840-4165-4649-A695-D2B2BB0D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92CE64-DFBA-5D47-818A-D27F633310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26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0180-221B-4843-B17C-8D8CD379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F680F-7667-4E48-8737-A8A828212F2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F18ED-FFB0-0E40-8D4E-298583F33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E7B46-1E14-1D46-91AB-502F93F0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4DF7017F-BB28-A14A-8E1A-FE236ECED39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90DC4-7E7B-CC4A-B143-4826D40A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B4145-B774-7B40-8A37-A4083CAE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01D2B4F9-2FBD-3047-AEAE-ABA7C64134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873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8B86-94FC-114E-B3E6-B3727E80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5654C-4F79-2E45-9D87-2EB56942279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BF226-F383-8449-8C49-C08EAF7A79D6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86A25A-86D1-7A4F-988C-A729D6FA9947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82E88D-07B9-5247-8BEC-7321619B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3D03E61F-410B-034C-B8BF-A26A1DE99BB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1716E7-4C28-0043-82FF-4363F0C2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Data Mining: Concepts and Techniques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D3A440-52BA-294E-9301-1FF2ECD4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B5EB2F18-9954-5E41-98F5-B24DD5D897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03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6" name="Rectangle 2056">
            <a:extLst>
              <a:ext uri="{FF2B5EF4-FFF2-40B4-BE49-F238E27FC236}">
                <a16:creationId xmlns:a16="http://schemas.microsoft.com/office/drawing/2014/main" id="{C0422BB6-E670-B64C-83F0-1184CA0358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" y="1219200"/>
            <a:ext cx="8410575" cy="46038"/>
          </a:xfrm>
          <a:prstGeom prst="rect">
            <a:avLst/>
          </a:prstGeom>
          <a:gradFill rotWithShape="0">
            <a:gsLst>
              <a:gs pos="0">
                <a:schemeClr val="accent1">
                  <a:alpha val="50000"/>
                </a:schemeClr>
              </a:gs>
              <a:gs pos="100000">
                <a:schemeClr val="folHlink">
                  <a:alpha val="5000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928777" name="Rectangle 2057">
            <a:extLst>
              <a:ext uri="{FF2B5EF4-FFF2-40B4-BE49-F238E27FC236}">
                <a16:creationId xmlns:a16="http://schemas.microsoft.com/office/drawing/2014/main" id="{8946CC51-BE36-8F46-8B32-57A23422B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8778" name="Rectangle 2058">
            <a:extLst>
              <a:ext uri="{FF2B5EF4-FFF2-40B4-BE49-F238E27FC236}">
                <a16:creationId xmlns:a16="http://schemas.microsoft.com/office/drawing/2014/main" id="{6E67149F-DB75-C94A-9755-87F8873F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82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79" name="Rectangle 2059">
            <a:extLst>
              <a:ext uri="{FF2B5EF4-FFF2-40B4-BE49-F238E27FC236}">
                <a16:creationId xmlns:a16="http://schemas.microsoft.com/office/drawing/2014/main" id="{9FFE7EE4-87CD-ED48-A93E-16E49BA492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660CAD9-C224-0046-B32C-41695304E2D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928780" name="Rectangle 2060">
            <a:extLst>
              <a:ext uri="{FF2B5EF4-FFF2-40B4-BE49-F238E27FC236}">
                <a16:creationId xmlns:a16="http://schemas.microsoft.com/office/drawing/2014/main" id="{C6E51B68-0713-8647-8C6A-552CDF1A77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r>
              <a:rPr lang="en-US" altLang="en-US" dirty="0"/>
              <a:t>Data Mining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2D14F965-E563-3B49-BE17-44EA66059E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E83559-7D93-7C4B-B45A-2782E66C55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0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20.e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20.e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5FAB9-F05B-2B40-8407-8B9D459C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83D9-C2FB-FF47-97D5-154A7D7D36B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068B-C88C-4B43-8450-9BFC3D06F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E2F84-4533-594D-90C2-9996F6CC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CD11-23BB-9F40-ACBA-E649858742C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654786" name="Rectangle 2">
            <a:extLst>
              <a:ext uri="{FF2B5EF4-FFF2-40B4-BE49-F238E27FC236}">
                <a16:creationId xmlns:a16="http://schemas.microsoft.com/office/drawing/2014/main" id="{3C105F4C-07C1-A143-8B58-B488C2355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077200" cy="2743200"/>
          </a:xfrm>
        </p:spPr>
        <p:txBody>
          <a:bodyPr/>
          <a:lstStyle/>
          <a:p>
            <a:r>
              <a:rPr lang="en-US" altLang="en-US" sz="4800" b="1" dirty="0"/>
              <a:t>Min</a:t>
            </a:r>
            <a:r>
              <a:rPr lang="en-US" altLang="zh-CN" sz="4800" b="1" dirty="0"/>
              <a:t>ing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Frequent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Patterns,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Associations,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and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Correlations</a:t>
            </a:r>
            <a:endParaRPr lang="en-US" altLang="en-US" sz="2800" dirty="0"/>
          </a:p>
        </p:txBody>
      </p:sp>
      <p:sp>
        <p:nvSpPr>
          <p:cNvPr id="1654787" name="Rectangle 3">
            <a:extLst>
              <a:ext uri="{FF2B5EF4-FFF2-40B4-BE49-F238E27FC236}">
                <a16:creationId xmlns:a16="http://schemas.microsoft.com/office/drawing/2014/main" id="{3EAADA1A-FF6A-484E-9F9A-93AC49E09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5638800"/>
            <a:ext cx="8305800" cy="609600"/>
          </a:xfrm>
        </p:spPr>
        <p:txBody>
          <a:bodyPr/>
          <a:lstStyle/>
          <a:p>
            <a:pPr algn="ctr">
              <a:lnSpc>
                <a:spcPct val="110000"/>
              </a:lnSpc>
              <a:buFont typeface="Wingdings" pitchFamily="2" charset="2"/>
              <a:buNone/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5363C-4140-7C47-9039-9B661F299719}"/>
              </a:ext>
            </a:extLst>
          </p:cNvPr>
          <p:cNvSpPr txBox="1"/>
          <p:nvPr/>
        </p:nvSpPr>
        <p:spPr>
          <a:xfrm>
            <a:off x="2514600" y="4093340"/>
            <a:ext cx="48597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Lectured</a:t>
            </a:r>
            <a:r>
              <a:rPr lang="zh-CN" altLang="en-US" sz="2800" dirty="0"/>
              <a:t> </a:t>
            </a:r>
            <a:r>
              <a:rPr lang="en-US" altLang="zh-CN" sz="2800" dirty="0"/>
              <a:t>by</a:t>
            </a:r>
            <a:r>
              <a:rPr lang="zh-CN" altLang="en-US" sz="2800" dirty="0"/>
              <a:t> </a:t>
            </a:r>
            <a:r>
              <a:rPr lang="en-US" altLang="zh-CN" sz="2800" dirty="0"/>
              <a:t>Shangsong</a:t>
            </a:r>
            <a:r>
              <a:rPr lang="zh-CN" altLang="en-US" sz="2800" dirty="0"/>
              <a:t> </a:t>
            </a:r>
            <a:r>
              <a:rPr lang="en-US" altLang="zh-CN" sz="2800" dirty="0"/>
              <a:t>Liang</a:t>
            </a:r>
          </a:p>
          <a:p>
            <a:pPr algn="ctr"/>
            <a:r>
              <a:rPr lang="en-US" altLang="zh-CN" sz="2800" dirty="0"/>
              <a:t>Sun</a:t>
            </a:r>
            <a:r>
              <a:rPr lang="zh-CN" altLang="en-US" sz="2800" dirty="0"/>
              <a:t> </a:t>
            </a:r>
            <a:r>
              <a:rPr lang="en-US" altLang="zh-CN" sz="2800" dirty="0" err="1"/>
              <a:t>Yat-sen</a:t>
            </a:r>
            <a:r>
              <a:rPr lang="zh-CN" altLang="en-US" sz="2800" dirty="0"/>
              <a:t> </a:t>
            </a:r>
            <a:r>
              <a:rPr lang="en-US" altLang="zh-CN" sz="2800" dirty="0"/>
              <a:t>University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DA2F5-4BA1-4240-A817-5DE65DD0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6E25-F7D9-0845-BD00-F7EC491E94A3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8505E-D2AA-C44C-BC92-905BB3C0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D7668-0078-7E4F-B4B7-DBD202D9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6411-5986-9F4E-AD6F-385F77DBCC7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653762" name="Rectangle 2">
            <a:extLst>
              <a:ext uri="{FF2B5EF4-FFF2-40B4-BE49-F238E27FC236}">
                <a16:creationId xmlns:a16="http://schemas.microsoft.com/office/drawing/2014/main" id="{BFF67184-347E-1047-AC46-474309114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 dirty="0"/>
              <a:t>Mining Frequent Patterns, Association and Correlations</a:t>
            </a:r>
          </a:p>
        </p:txBody>
      </p:sp>
      <p:sp>
        <p:nvSpPr>
          <p:cNvPr id="1653763" name="Rectangle 3">
            <a:extLst>
              <a:ext uri="{FF2B5EF4-FFF2-40B4-BE49-F238E27FC236}">
                <a16:creationId xmlns:a16="http://schemas.microsoft.com/office/drawing/2014/main" id="{AD1C3136-13E4-EC4E-A808-459509D3AB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79248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dirty="0"/>
              <a:t>Summary</a:t>
            </a:r>
          </a:p>
        </p:txBody>
      </p:sp>
      <p:graphicFrame>
        <p:nvGraphicFramePr>
          <p:cNvPr id="1653764" name="Object 4">
            <a:extLst>
              <a:ext uri="{FF2B5EF4-FFF2-40B4-BE49-F238E27FC236}">
                <a16:creationId xmlns:a16="http://schemas.microsoft.com/office/drawing/2014/main" id="{83B09235-9E59-1540-AE78-104AC706C2B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867400" y="1538288"/>
          <a:ext cx="9906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781" name="SmartDraw" r:id="rId3" imgW="4013200" imgH="2654300" progId="SmartDraw.2">
                  <p:embed/>
                </p:oleObj>
              </mc:Choice>
              <mc:Fallback>
                <p:oleObj name="SmartDraw" r:id="rId3" imgW="4013200" imgH="2654300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538288"/>
                        <a:ext cx="9906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1548B-A86D-D749-AB6A-4454078B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B2D13-7CF8-E445-BD0D-9F91D5AECEC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75F7D-A914-1A41-B806-785BD2F8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AD34-F2FD-0347-BAFE-4FB9B8CF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6D90-D566-604F-B15B-47B15E226FB3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525762" name="Rectangle 2">
            <a:extLst>
              <a:ext uri="{FF2B5EF4-FFF2-40B4-BE49-F238E27FC236}">
                <a16:creationId xmlns:a16="http://schemas.microsoft.com/office/drawing/2014/main" id="{3E9138D0-B27F-464E-9D77-63F7AFD7D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620000" cy="762000"/>
          </a:xfrm>
        </p:spPr>
        <p:txBody>
          <a:bodyPr/>
          <a:lstStyle/>
          <a:p>
            <a:r>
              <a:rPr lang="en-US" altLang="en-US"/>
              <a:t>What Is Frequent Pattern Analysis?</a:t>
            </a:r>
          </a:p>
        </p:txBody>
      </p:sp>
      <p:sp>
        <p:nvSpPr>
          <p:cNvPr id="1525763" name="Rectangle 3">
            <a:extLst>
              <a:ext uri="{FF2B5EF4-FFF2-40B4-BE49-F238E27FC236}">
                <a16:creationId xmlns:a16="http://schemas.microsoft.com/office/drawing/2014/main" id="{8210D5AF-A582-8B4A-92E6-C833DA7A0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181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hlink"/>
                </a:solidFill>
              </a:rPr>
              <a:t>Frequent pattern</a:t>
            </a:r>
            <a:r>
              <a:rPr lang="en-US" altLang="en-US" sz="2000" dirty="0"/>
              <a:t>: a pattern (a set of items, subsequences, substructures, etc.) that occurs frequently in a data set 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000" dirty="0"/>
              <a:t>First proposed by Agrawal, </a:t>
            </a:r>
            <a:r>
              <a:rPr lang="en-US" altLang="en-US" sz="2000" dirty="0" err="1"/>
              <a:t>Imielinski</a:t>
            </a:r>
            <a:r>
              <a:rPr lang="en-US" altLang="en-US" sz="2000" dirty="0"/>
              <a:t>, and Swami [AIS93] in the context of </a:t>
            </a:r>
            <a:r>
              <a:rPr lang="en-US" altLang="en-US" sz="2000" dirty="0">
                <a:solidFill>
                  <a:schemeClr val="hlink"/>
                </a:solidFill>
              </a:rPr>
              <a:t>frequent </a:t>
            </a:r>
            <a:r>
              <a:rPr lang="en-US" altLang="en-US" sz="2000" dirty="0" err="1">
                <a:solidFill>
                  <a:schemeClr val="hlink"/>
                </a:solidFill>
              </a:rPr>
              <a:t>itemsets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chemeClr val="hlink"/>
                </a:solidFill>
              </a:rPr>
              <a:t>association rule mining</a:t>
            </a:r>
          </a:p>
          <a:p>
            <a:pPr>
              <a:lnSpc>
                <a:spcPct val="130000"/>
              </a:lnSpc>
            </a:pPr>
            <a:r>
              <a:rPr lang="en-US" altLang="en-US" sz="2000" dirty="0"/>
              <a:t>Motivation: Finding inherent regularities in data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products were often purchased together?— Beer and diapers?!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are the subsequent purchases after buying a PC?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kinds of DNA are sensitive to this new drug?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Can we automatically classify web documents?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000" dirty="0"/>
              <a:t>Applications</a:t>
            </a:r>
          </a:p>
          <a:p>
            <a:pPr lvl="1">
              <a:lnSpc>
                <a:spcPct val="130000"/>
              </a:lnSpc>
              <a:buSzPct val="80000"/>
            </a:pPr>
            <a:r>
              <a:rPr lang="en-US" altLang="en-US" sz="2000" dirty="0"/>
              <a:t>Basket data analysis, cross-marketing, catalog design, sale campaign analysis, Web log (click stream) analysis, and DNA sequence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FEF60-E98A-6D44-B0C6-9A13E15F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B5CF9-85EE-8D49-B78A-94EBF3634273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B3B3C-37A8-544F-9DDC-3827A31B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28A9-7660-FD4C-9AD4-B0E47C93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AD32-FFCF-0145-8E88-D68E7FC19E3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526786" name="Rectangle 2">
            <a:extLst>
              <a:ext uri="{FF2B5EF4-FFF2-40B4-BE49-F238E27FC236}">
                <a16:creationId xmlns:a16="http://schemas.microsoft.com/office/drawing/2014/main" id="{55A6A985-289D-6D47-8481-35C6FD1D8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620000" cy="685800"/>
          </a:xfrm>
        </p:spPr>
        <p:txBody>
          <a:bodyPr/>
          <a:lstStyle/>
          <a:p>
            <a:r>
              <a:rPr lang="en-US" altLang="en-US" sz="3200"/>
              <a:t>Why Is Freq. Pattern Mining Important?</a:t>
            </a:r>
          </a:p>
        </p:txBody>
      </p:sp>
      <p:sp>
        <p:nvSpPr>
          <p:cNvPr id="1526787" name="Rectangle 3">
            <a:extLst>
              <a:ext uri="{FF2B5EF4-FFF2-40B4-BE49-F238E27FC236}">
                <a16:creationId xmlns:a16="http://schemas.microsoft.com/office/drawing/2014/main" id="{A15DA8EC-987D-1A4D-920A-0C6C36D51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Discloses an intrinsic and important property of data sets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Forms the foundation for many essential data mining tasks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Association, correlation, and causality analysis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Sequential, structural (e.g., sub-graph)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Pattern analysis in spatiotemporal, multimedia, time-series, and stream data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Classification: associative classification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Cluster analysis: frequent pattern-based clustering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Data warehousing: iceberg cube and cube-gradient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Semantic data compression: fascicles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Broad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59641FB8-ACBD-0D4A-AEEE-D6DC35B7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E2BE8-8B54-D24A-8B36-E117715FA39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3B292F05-A0FF-9642-9205-60526BD8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5448D7C8-0B56-194B-BF36-814327F0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DD327-0D8E-7C46-953F-CFA24659FED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527810" name="Rectangle 2">
            <a:extLst>
              <a:ext uri="{FF2B5EF4-FFF2-40B4-BE49-F238E27FC236}">
                <a16:creationId xmlns:a16="http://schemas.microsoft.com/office/drawing/2014/main" id="{9944C9F6-2EB2-4C4B-A61C-C9B4A92D4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914400"/>
          </a:xfrm>
        </p:spPr>
        <p:txBody>
          <a:bodyPr/>
          <a:lstStyle/>
          <a:p>
            <a:r>
              <a:rPr lang="en-US" altLang="en-US" sz="3200"/>
              <a:t>Basic Concepts: Frequent Patterns and Association Rules</a:t>
            </a:r>
          </a:p>
        </p:txBody>
      </p:sp>
      <p:sp>
        <p:nvSpPr>
          <p:cNvPr id="1527811" name="Rectangle 3">
            <a:extLst>
              <a:ext uri="{FF2B5EF4-FFF2-40B4-BE49-F238E27FC236}">
                <a16:creationId xmlns:a16="http://schemas.microsoft.com/office/drawing/2014/main" id="{640DB082-6122-6D48-8BC4-DB043E105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8600" y="1524000"/>
            <a:ext cx="4953000" cy="3200400"/>
          </a:xfrm>
        </p:spPr>
        <p:txBody>
          <a:bodyPr/>
          <a:lstStyle/>
          <a:p>
            <a:r>
              <a:rPr lang="en-US" altLang="en-US" sz="2000"/>
              <a:t>Itemset X = {x</a:t>
            </a:r>
            <a:r>
              <a:rPr lang="en-US" altLang="en-US" sz="2000" baseline="-25000"/>
              <a:t>1</a:t>
            </a:r>
            <a:r>
              <a:rPr lang="en-US" altLang="en-US" sz="2000"/>
              <a:t>, …, x</a:t>
            </a:r>
            <a:r>
              <a:rPr lang="en-US" altLang="en-US" sz="2000" baseline="-25000"/>
              <a:t>k</a:t>
            </a:r>
            <a:r>
              <a:rPr lang="en-US" altLang="en-US" sz="2000"/>
              <a:t>}</a:t>
            </a:r>
          </a:p>
          <a:p>
            <a:r>
              <a:rPr lang="en-US" altLang="en-US" sz="2000"/>
              <a:t>Find all the rules </a:t>
            </a:r>
            <a:r>
              <a:rPr lang="en-US" altLang="en-US" sz="2000" i="1"/>
              <a:t>X </a:t>
            </a:r>
            <a:r>
              <a:rPr lang="en-US" altLang="en-US" sz="2000">
                <a:sym typeface="Wingdings" pitchFamily="2" charset="2"/>
              </a:rPr>
              <a:t> </a:t>
            </a:r>
            <a:r>
              <a:rPr lang="en-US" altLang="en-US" sz="2000" i="1">
                <a:sym typeface="Wingdings" pitchFamily="2" charset="2"/>
              </a:rPr>
              <a:t>Y</a:t>
            </a:r>
            <a:r>
              <a:rPr lang="en-US" altLang="en-US" sz="2400" i="1">
                <a:sym typeface="Symbol" pitchFamily="2" charset="2"/>
              </a:rPr>
              <a:t> </a:t>
            </a:r>
            <a:r>
              <a:rPr lang="en-US" altLang="en-US" sz="2000"/>
              <a:t>with minimum support and confidence</a:t>
            </a:r>
            <a:endParaRPr lang="en-US" altLang="en-US" sz="2400">
              <a:sym typeface="Symbol" pitchFamily="2" charset="2"/>
            </a:endParaRPr>
          </a:p>
          <a:p>
            <a:pPr lvl="1"/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support</a:t>
            </a:r>
            <a:r>
              <a:rPr lang="en-US" altLang="en-US" sz="2400">
                <a:sym typeface="Symbol" pitchFamily="2" charset="2"/>
              </a:rPr>
              <a:t>, </a:t>
            </a:r>
            <a:r>
              <a:rPr lang="en-US" altLang="en-US" sz="2400" i="1">
                <a:sym typeface="Symbol" pitchFamily="2" charset="2"/>
              </a:rPr>
              <a:t>s</a:t>
            </a:r>
            <a:r>
              <a:rPr lang="en-US" altLang="en-US" sz="2400">
                <a:sym typeface="Symbol" pitchFamily="2" charset="2"/>
              </a:rPr>
              <a:t>, </a:t>
            </a:r>
            <a:r>
              <a:rPr lang="en-US" altLang="en-US" sz="2400">
                <a:solidFill>
                  <a:schemeClr val="tx2"/>
                </a:solidFill>
                <a:sym typeface="Symbol" pitchFamily="2" charset="2"/>
              </a:rPr>
              <a:t>probability</a:t>
            </a:r>
            <a:r>
              <a:rPr lang="en-US" altLang="en-US" sz="2400">
                <a:sym typeface="Symbol" pitchFamily="2" charset="2"/>
              </a:rPr>
              <a:t> that a transaction contains X  Y</a:t>
            </a:r>
          </a:p>
          <a:p>
            <a:pPr lvl="1"/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confidence</a:t>
            </a:r>
            <a:r>
              <a:rPr lang="en-US" altLang="en-US" sz="2400">
                <a:sym typeface="Symbol" pitchFamily="2" charset="2"/>
              </a:rPr>
              <a:t>, </a:t>
            </a:r>
            <a:r>
              <a:rPr lang="en-US" altLang="en-US" sz="2400" i="1">
                <a:sym typeface="Symbol" pitchFamily="2" charset="2"/>
              </a:rPr>
              <a:t>c,</a:t>
            </a:r>
            <a:r>
              <a:rPr lang="en-US" altLang="en-US" sz="2400">
                <a:sym typeface="Symbol" pitchFamily="2" charset="2"/>
              </a:rPr>
              <a:t> </a:t>
            </a:r>
            <a:r>
              <a:rPr lang="en-US" altLang="en-US" sz="2400">
                <a:solidFill>
                  <a:schemeClr val="tx2"/>
                </a:solidFill>
                <a:sym typeface="Symbol" pitchFamily="2" charset="2"/>
              </a:rPr>
              <a:t>conditional probability</a:t>
            </a:r>
            <a:r>
              <a:rPr lang="en-US" altLang="en-US" sz="2400">
                <a:sym typeface="Symbol" pitchFamily="2" charset="2"/>
              </a:rPr>
              <a:t> that a transaction having X also contains </a:t>
            </a:r>
            <a:r>
              <a:rPr lang="en-US" altLang="en-US" sz="2400" i="1">
                <a:sym typeface="Symbol" pitchFamily="2" charset="2"/>
              </a:rPr>
              <a:t>Y</a:t>
            </a:r>
          </a:p>
        </p:txBody>
      </p:sp>
      <p:sp>
        <p:nvSpPr>
          <p:cNvPr id="1527812" name="Rectangle 4">
            <a:extLst>
              <a:ext uri="{FF2B5EF4-FFF2-40B4-BE49-F238E27FC236}">
                <a16:creationId xmlns:a16="http://schemas.microsoft.com/office/drawing/2014/main" id="{F1C18454-741F-AE40-9D35-846256C9B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724400"/>
            <a:ext cx="45720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000" i="1"/>
              <a:t>Let  sup</a:t>
            </a:r>
            <a:r>
              <a:rPr lang="en-US" altLang="en-US" sz="2000" i="1" baseline="-25000"/>
              <a:t>min</a:t>
            </a:r>
            <a:r>
              <a:rPr lang="en-US" altLang="en-US" sz="2000" i="1"/>
              <a:t> = 50%,  conf</a:t>
            </a:r>
            <a:r>
              <a:rPr lang="en-US" altLang="en-US" sz="2000" i="1" baseline="-25000"/>
              <a:t>min</a:t>
            </a:r>
            <a:r>
              <a:rPr lang="en-US" altLang="en-US" sz="2000" i="1"/>
              <a:t> = 50%</a:t>
            </a:r>
          </a:p>
          <a:p>
            <a:pPr>
              <a:lnSpc>
                <a:spcPct val="110000"/>
              </a:lnSpc>
            </a:pPr>
            <a:r>
              <a:rPr lang="en-US" altLang="en-US" sz="2000" i="1"/>
              <a:t>Freq. Pat.: </a:t>
            </a:r>
            <a:r>
              <a:rPr lang="en-US" altLang="en-US" sz="2000"/>
              <a:t>{</a:t>
            </a:r>
            <a:r>
              <a:rPr lang="en-US" altLang="en-US" sz="2000" i="1"/>
              <a:t>A:3, B:3, D:4, E:3, AD:3</a:t>
            </a:r>
            <a:r>
              <a:rPr lang="en-US" altLang="en-US" sz="2000"/>
              <a:t>}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Association rules: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A </a:t>
            </a:r>
            <a:r>
              <a:rPr lang="en-US" altLang="en-US" sz="2000">
                <a:sym typeface="Wingdings" pitchFamily="2" charset="2"/>
              </a:rPr>
              <a:t></a:t>
            </a:r>
            <a:r>
              <a:rPr lang="en-US" altLang="en-US" sz="2000" i="1">
                <a:sym typeface="Symbol" pitchFamily="2" charset="2"/>
              </a:rPr>
              <a:t> D  </a:t>
            </a:r>
            <a:r>
              <a:rPr lang="en-US" altLang="en-US" sz="2000">
                <a:sym typeface="Symbol" pitchFamily="2" charset="2"/>
              </a:rPr>
              <a:t>(60%, 100%)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D </a:t>
            </a:r>
            <a:r>
              <a:rPr lang="en-US" altLang="en-US" sz="2000">
                <a:sym typeface="Wingdings" pitchFamily="2" charset="2"/>
              </a:rPr>
              <a:t></a:t>
            </a:r>
            <a:r>
              <a:rPr lang="en-US" altLang="en-US" sz="2000" i="1">
                <a:sym typeface="Symbol" pitchFamily="2" charset="2"/>
              </a:rPr>
              <a:t> A  </a:t>
            </a:r>
            <a:r>
              <a:rPr lang="en-US" altLang="en-US" sz="2000">
                <a:sym typeface="Symbol" pitchFamily="2" charset="2"/>
              </a:rPr>
              <a:t>(60%, 75%)</a:t>
            </a:r>
            <a:endParaRPr lang="en-US" altLang="en-US" sz="2000" b="1">
              <a:sym typeface="Symbol" pitchFamily="2" charset="2"/>
            </a:endParaRPr>
          </a:p>
          <a:p>
            <a:pPr lvl="1"/>
            <a:endParaRPr lang="en-US" altLang="en-US" sz="2000">
              <a:sym typeface="Symbol" pitchFamily="2" charset="2"/>
            </a:endParaRPr>
          </a:p>
        </p:txBody>
      </p:sp>
      <p:grpSp>
        <p:nvGrpSpPr>
          <p:cNvPr id="1527813" name="Group 5">
            <a:extLst>
              <a:ext uri="{FF2B5EF4-FFF2-40B4-BE49-F238E27FC236}">
                <a16:creationId xmlns:a16="http://schemas.microsoft.com/office/drawing/2014/main" id="{7A1815E6-6E27-1D43-A1D1-F01B8EBFF6C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810000"/>
            <a:ext cx="3886200" cy="2630488"/>
            <a:chOff x="192" y="2400"/>
            <a:chExt cx="2448" cy="1657"/>
          </a:xfrm>
        </p:grpSpPr>
        <p:sp>
          <p:nvSpPr>
            <p:cNvPr id="1527814" name="Oval 6">
              <a:extLst>
                <a:ext uri="{FF2B5EF4-FFF2-40B4-BE49-F238E27FC236}">
                  <a16:creationId xmlns:a16="http://schemas.microsoft.com/office/drawing/2014/main" id="{BD2F84DB-6AB6-E641-B18F-93367B10D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5" name="Oval 7">
              <a:extLst>
                <a:ext uri="{FF2B5EF4-FFF2-40B4-BE49-F238E27FC236}">
                  <a16:creationId xmlns:a16="http://schemas.microsoft.com/office/drawing/2014/main" id="{4D9DCB73-446A-3745-B2B0-3B65A4CA1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000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6" name="Line 8">
              <a:extLst>
                <a:ext uri="{FF2B5EF4-FFF2-40B4-BE49-F238E27FC236}">
                  <a16:creationId xmlns:a16="http://schemas.microsoft.com/office/drawing/2014/main" id="{769B22D2-0FD8-0B40-9AEE-D429B020A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7" name="Line 9">
              <a:extLst>
                <a:ext uri="{FF2B5EF4-FFF2-40B4-BE49-F238E27FC236}">
                  <a16:creationId xmlns:a16="http://schemas.microsoft.com/office/drawing/2014/main" id="{49E5EF27-A44B-4C45-A52B-76283D6CD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8" name="Line 10">
              <a:extLst>
                <a:ext uri="{FF2B5EF4-FFF2-40B4-BE49-F238E27FC236}">
                  <a16:creationId xmlns:a16="http://schemas.microsoft.com/office/drawing/2014/main" id="{9CD093E0-0D08-1C49-9332-DD4188106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9" name="Text Box 11">
              <a:extLst>
                <a:ext uri="{FF2B5EF4-FFF2-40B4-BE49-F238E27FC236}">
                  <a16:creationId xmlns:a16="http://schemas.microsoft.com/office/drawing/2014/main" id="{F630AC54-3D1A-9D4E-A5D4-7EAF358F6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buys diaper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1527820" name="Text Box 12">
              <a:extLst>
                <a:ext uri="{FF2B5EF4-FFF2-40B4-BE49-F238E27FC236}">
                  <a16:creationId xmlns:a16="http://schemas.microsoft.com/office/drawing/2014/main" id="{F2B4D76E-CCA6-A746-BAA3-738D2AE2F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buys both</a:t>
              </a:r>
              <a:endParaRPr lang="en-US" altLang="en-US" sz="1800" b="1" u="sng">
                <a:solidFill>
                  <a:srgbClr val="5FA1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7821" name="Text Box 13">
              <a:extLst>
                <a:ext uri="{FF2B5EF4-FFF2-40B4-BE49-F238E27FC236}">
                  <a16:creationId xmlns:a16="http://schemas.microsoft.com/office/drawing/2014/main" id="{F14E6CF7-5ECF-8D48-BC03-2BBF262B4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buys beer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1527822" name="Rectangle 14">
              <a:extLst>
                <a:ext uri="{FF2B5EF4-FFF2-40B4-BE49-F238E27FC236}">
                  <a16:creationId xmlns:a16="http://schemas.microsoft.com/office/drawing/2014/main" id="{AAFC6D51-7CF4-1942-8840-E82F499D1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27823" name="Group 15">
            <a:extLst>
              <a:ext uri="{FF2B5EF4-FFF2-40B4-BE49-F238E27FC236}">
                <a16:creationId xmlns:a16="http://schemas.microsoft.com/office/drawing/2014/main" id="{A29E7402-A0BB-6241-8382-BB2E8F9CA25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524000"/>
          <a:ext cx="3886200" cy="213106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31611317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92867836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Transaction-id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 bought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94548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238854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32448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D,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888614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E,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908254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D, E,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478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4F73F-0BD5-0648-A0EF-A3075CC7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0BD8D-1028-6E4D-AFB7-D65E1749477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81B9-9D28-4B4B-8AF7-94F738BF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86505-199B-E145-995D-47A68013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42DB-097A-CE42-8960-657FE121566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528834" name="Rectangle 2">
            <a:extLst>
              <a:ext uri="{FF2B5EF4-FFF2-40B4-BE49-F238E27FC236}">
                <a16:creationId xmlns:a16="http://schemas.microsoft.com/office/drawing/2014/main" id="{A81BE0AA-11F7-AC4D-B353-EB25184DA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924800" cy="762000"/>
          </a:xfrm>
        </p:spPr>
        <p:txBody>
          <a:bodyPr/>
          <a:lstStyle/>
          <a:p>
            <a:r>
              <a:rPr lang="en-US" altLang="en-US"/>
              <a:t>Closed Patterns and Max-Patterns</a:t>
            </a:r>
          </a:p>
        </p:txBody>
      </p:sp>
      <p:sp>
        <p:nvSpPr>
          <p:cNvPr id="1528835" name="Rectangle 3">
            <a:extLst>
              <a:ext uri="{FF2B5EF4-FFF2-40B4-BE49-F238E27FC236}">
                <a16:creationId xmlns:a16="http://schemas.microsoft.com/office/drawing/2014/main" id="{2366B64B-A430-9043-9096-466B1B263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257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A long pattern contains a combinatorial number of sub-patterns, e.g.,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  <a:r>
              <a:rPr lang="en-US" altLang="en-US" sz="2400" dirty="0">
                <a:sym typeface="Wingdings" pitchFamily="2" charset="2"/>
              </a:rPr>
              <a:t>contains</a:t>
            </a:r>
            <a:r>
              <a:rPr lang="en-US" altLang="en-US" sz="2400" dirty="0"/>
              <a:t> (</a:t>
            </a:r>
            <a:r>
              <a:rPr lang="en-US" altLang="en-US" sz="2400" baseline="-25000" dirty="0"/>
              <a:t>100</a:t>
            </a:r>
            <a:r>
              <a:rPr lang="en-US" altLang="en-US" sz="2400" baseline="30000" dirty="0"/>
              <a:t>1</a:t>
            </a:r>
            <a:r>
              <a:rPr lang="en-US" altLang="en-US" sz="2400" dirty="0"/>
              <a:t>) + (</a:t>
            </a:r>
            <a:r>
              <a:rPr lang="en-US" altLang="en-US" sz="2400" baseline="-25000" dirty="0"/>
              <a:t>100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 + … + (</a:t>
            </a:r>
            <a:r>
              <a:rPr lang="en-US" altLang="en-US" sz="2400" baseline="-25000" dirty="0"/>
              <a:t>1</a:t>
            </a:r>
            <a:r>
              <a:rPr lang="en-US" altLang="en-US" sz="2400" baseline="30000" dirty="0"/>
              <a:t>1</a:t>
            </a:r>
            <a:r>
              <a:rPr lang="en-US" altLang="en-US" sz="2400" baseline="-25000" dirty="0"/>
              <a:t>0</a:t>
            </a:r>
            <a:r>
              <a:rPr lang="en-US" altLang="en-US" sz="2400" baseline="30000" dirty="0"/>
              <a:t>0</a:t>
            </a:r>
            <a:r>
              <a:rPr lang="en-US" altLang="en-US" sz="2400" baseline="-25000" dirty="0"/>
              <a:t>0</a:t>
            </a:r>
            <a:r>
              <a:rPr lang="en-US" altLang="en-US" sz="2400" baseline="30000" dirty="0"/>
              <a:t>0</a:t>
            </a:r>
            <a:r>
              <a:rPr lang="en-US" altLang="en-US" sz="2400" dirty="0"/>
              <a:t>) = 2</a:t>
            </a:r>
            <a:r>
              <a:rPr lang="en-US" altLang="en-US" sz="2400" baseline="30000" dirty="0"/>
              <a:t>100 </a:t>
            </a:r>
            <a:r>
              <a:rPr lang="en-US" altLang="en-US" sz="2400" dirty="0"/>
              <a:t>– 1 = 1.27*10</a:t>
            </a:r>
            <a:r>
              <a:rPr lang="en-US" altLang="en-US" sz="2400" baseline="30000" dirty="0"/>
              <a:t>30 </a:t>
            </a:r>
            <a:r>
              <a:rPr lang="en-US" altLang="en-US" sz="2400" dirty="0"/>
              <a:t>sub-patterns!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Solution: </a:t>
            </a:r>
            <a:r>
              <a:rPr lang="en-US" altLang="en-US" sz="2400" i="1" dirty="0"/>
              <a:t>Mine </a:t>
            </a:r>
            <a:r>
              <a:rPr lang="en-US" altLang="en-US" sz="2400" i="1" dirty="0">
                <a:solidFill>
                  <a:schemeClr val="hlink"/>
                </a:solidFill>
              </a:rPr>
              <a:t>closed patterns</a:t>
            </a:r>
            <a:r>
              <a:rPr lang="en-US" altLang="en-US" sz="2400" i="1" dirty="0"/>
              <a:t> and </a:t>
            </a:r>
            <a:r>
              <a:rPr lang="en-US" altLang="en-US" sz="2400" i="1" dirty="0">
                <a:solidFill>
                  <a:schemeClr val="hlink"/>
                </a:solidFill>
              </a:rPr>
              <a:t>max-patterns</a:t>
            </a:r>
            <a:r>
              <a:rPr lang="en-US" altLang="en-US" sz="2400" i="1" dirty="0"/>
              <a:t> instead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An itemset X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is </a:t>
            </a:r>
            <a:r>
              <a:rPr lang="en-US" altLang="en-US" sz="2400" dirty="0">
                <a:solidFill>
                  <a:schemeClr val="hlink"/>
                </a:solidFill>
              </a:rPr>
              <a:t>closed </a:t>
            </a:r>
            <a:r>
              <a:rPr lang="en-US" altLang="en-US" sz="2400" dirty="0"/>
              <a:t>if X is </a:t>
            </a:r>
            <a:r>
              <a:rPr lang="en-US" altLang="en-US" sz="2400" i="1" dirty="0"/>
              <a:t>frequent</a:t>
            </a:r>
            <a:r>
              <a:rPr lang="en-US" altLang="en-US" sz="2400" dirty="0"/>
              <a:t> and there exists </a:t>
            </a:r>
            <a:r>
              <a:rPr lang="en-US" altLang="en-US" sz="2400" i="1" dirty="0"/>
              <a:t>no super-pattern</a:t>
            </a:r>
            <a:r>
              <a:rPr lang="en-US" altLang="en-US" sz="2400" dirty="0"/>
              <a:t> Y </a:t>
            </a:r>
            <a:r>
              <a:rPr lang="he-IL" altLang="en-US" sz="2400" dirty="0"/>
              <a:t>כ</a:t>
            </a:r>
            <a:r>
              <a:rPr lang="en-US" altLang="en-US" sz="2400" dirty="0"/>
              <a:t> X, </a:t>
            </a:r>
            <a:r>
              <a:rPr lang="en-US" altLang="en-US" sz="2400" i="1" dirty="0"/>
              <a:t>with the same support</a:t>
            </a:r>
            <a:r>
              <a:rPr lang="en-US" altLang="en-US" sz="2400" dirty="0"/>
              <a:t> as X (proposed by </a:t>
            </a:r>
            <a:r>
              <a:rPr lang="en-US" altLang="en-US" sz="2400" dirty="0" err="1"/>
              <a:t>Pasquier</a:t>
            </a:r>
            <a:r>
              <a:rPr lang="en-US" altLang="en-US" sz="2400" dirty="0"/>
              <a:t>, et al. @ ICDT’99) 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An itemset X is a </a:t>
            </a:r>
            <a:r>
              <a:rPr lang="en-US" altLang="en-US" sz="2400" dirty="0">
                <a:solidFill>
                  <a:schemeClr val="hlink"/>
                </a:solidFill>
              </a:rPr>
              <a:t>max-pattern</a:t>
            </a:r>
            <a:r>
              <a:rPr lang="en-US" altLang="en-US" sz="2400" dirty="0"/>
              <a:t> if X is frequent and there exists no frequent super-pattern Y </a:t>
            </a:r>
            <a:r>
              <a:rPr lang="he-IL" altLang="en-US" sz="2400" dirty="0"/>
              <a:t>כ</a:t>
            </a:r>
            <a:r>
              <a:rPr lang="en-US" altLang="en-US" sz="2400" dirty="0"/>
              <a:t> X (proposed by </a:t>
            </a:r>
            <a:r>
              <a:rPr lang="en-US" altLang="en-US" sz="2400" dirty="0" err="1"/>
              <a:t>Bayardo</a:t>
            </a:r>
            <a:r>
              <a:rPr lang="en-US" altLang="en-US" sz="2400" dirty="0"/>
              <a:t> @ SIGMOD’98)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542BA-F2D7-F847-A1E9-CA59CA01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901-65CC-B340-B465-2BF3F0B059FA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D6AD0-210E-EB4C-9C64-9659127E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5389D-2C76-9D4D-9E1C-1010A6FA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8A49-8200-144D-B3C5-86AADE4DF89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626114" name="Rectangle 2">
            <a:extLst>
              <a:ext uri="{FF2B5EF4-FFF2-40B4-BE49-F238E27FC236}">
                <a16:creationId xmlns:a16="http://schemas.microsoft.com/office/drawing/2014/main" id="{FDBE69BE-D87F-2C42-B14E-7C4F503E8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 dirty="0"/>
              <a:t>Mining Frequent Patterns, Association and Correlations</a:t>
            </a:r>
          </a:p>
        </p:txBody>
      </p:sp>
      <p:sp>
        <p:nvSpPr>
          <p:cNvPr id="1626115" name="Rectangle 3">
            <a:extLst>
              <a:ext uri="{FF2B5EF4-FFF2-40B4-BE49-F238E27FC236}">
                <a16:creationId xmlns:a16="http://schemas.microsoft.com/office/drawing/2014/main" id="{FBDE94A7-A588-0642-8006-E478870410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79248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626117" name="AutoShape 5">
            <a:extLst>
              <a:ext uri="{FF2B5EF4-FFF2-40B4-BE49-F238E27FC236}">
                <a16:creationId xmlns:a16="http://schemas.microsoft.com/office/drawing/2014/main" id="{B0DDE5A4-0BE2-7643-8F05-22DA366BC207}"/>
              </a:ext>
            </a:extLst>
          </p:cNvPr>
          <p:cNvSpPr>
            <a:spLocks noChangeArrowheads="1"/>
          </p:cNvSpPr>
          <p:nvPr/>
        </p:nvSpPr>
        <p:spPr bwMode="auto">
          <a:xfrm rot="635239">
            <a:off x="2514600" y="3048000"/>
            <a:ext cx="693738" cy="150813"/>
          </a:xfrm>
          <a:prstGeom prst="leftArrow">
            <a:avLst>
              <a:gd name="adj1" fmla="val 50000"/>
              <a:gd name="adj2" fmla="val 11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511C1-CDBB-DF43-A9BC-7DDD39C2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521D-CEC5-E34E-9266-B2B9AAB33B4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5436-B5FF-1648-A108-AD9CDA88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86F87-DB13-D74C-8D0A-3B581107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B2FB0-FDAC-4247-BACC-6D0EDCBDAF0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530882" name="Rectangle 2">
            <a:extLst>
              <a:ext uri="{FF2B5EF4-FFF2-40B4-BE49-F238E27FC236}">
                <a16:creationId xmlns:a16="http://schemas.microsoft.com/office/drawing/2014/main" id="{F0A89772-46F0-FD45-81E7-E171FF850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763000" cy="685800"/>
          </a:xfrm>
        </p:spPr>
        <p:txBody>
          <a:bodyPr/>
          <a:lstStyle/>
          <a:p>
            <a:pPr>
              <a:tabLst>
                <a:tab pos="2570163" algn="l"/>
              </a:tabLst>
            </a:pPr>
            <a:r>
              <a:rPr lang="en-US" altLang="en-US" sz="3200"/>
              <a:t>Scalable Methods for Mining Frequent Patterns</a:t>
            </a:r>
          </a:p>
        </p:txBody>
      </p:sp>
      <p:sp>
        <p:nvSpPr>
          <p:cNvPr id="1530883" name="Rectangle 3">
            <a:extLst>
              <a:ext uri="{FF2B5EF4-FFF2-40B4-BE49-F238E27FC236}">
                <a16:creationId xmlns:a16="http://schemas.microsoft.com/office/drawing/2014/main" id="{64183790-EA38-494F-AD7F-C4148AAD5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610600" cy="5181600"/>
          </a:xfrm>
        </p:spPr>
        <p:txBody>
          <a:bodyPr/>
          <a:lstStyle/>
          <a:p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chemeClr val="hlink"/>
                </a:solidFill>
              </a:rPr>
              <a:t>downward closure</a:t>
            </a:r>
            <a:r>
              <a:rPr lang="en-US" altLang="en-US" sz="2400" dirty="0"/>
              <a:t> property of frequent patterns</a:t>
            </a:r>
          </a:p>
          <a:p>
            <a:pPr lvl="1"/>
            <a:r>
              <a:rPr lang="en-US" altLang="en-US" sz="2400" u="sng" dirty="0">
                <a:solidFill>
                  <a:schemeClr val="hlink"/>
                </a:solidFill>
              </a:rPr>
              <a:t>Any subset of a frequent itemset must be frequent</a:t>
            </a:r>
            <a:endParaRPr lang="en-US" altLang="en-US" sz="2400" dirty="0">
              <a:solidFill>
                <a:schemeClr val="hlink"/>
              </a:solidFill>
            </a:endParaRPr>
          </a:p>
          <a:p>
            <a:pPr lvl="1"/>
            <a:r>
              <a:rPr lang="en-US" altLang="en-US" sz="2400" dirty="0">
                <a:solidFill>
                  <a:schemeClr val="bg2"/>
                </a:solidFill>
              </a:rPr>
              <a:t>If </a:t>
            </a:r>
            <a:r>
              <a:rPr lang="en-US" altLang="en-US" sz="2400" b="1" dirty="0">
                <a:solidFill>
                  <a:schemeClr val="bg2"/>
                </a:solidFill>
              </a:rPr>
              <a:t>{beer, diaper, nuts}</a:t>
            </a:r>
            <a:r>
              <a:rPr lang="en-US" altLang="en-US" sz="2400" dirty="0">
                <a:solidFill>
                  <a:schemeClr val="bg2"/>
                </a:solidFill>
              </a:rPr>
              <a:t> is frequent, so is </a:t>
            </a:r>
            <a:r>
              <a:rPr lang="en-US" altLang="en-US" sz="2400" b="1" dirty="0">
                <a:solidFill>
                  <a:schemeClr val="bg2"/>
                </a:solidFill>
              </a:rPr>
              <a:t>{beer, diaper}</a:t>
            </a:r>
            <a:endParaRPr lang="en-US" altLang="en-US" sz="2400" dirty="0">
              <a:solidFill>
                <a:schemeClr val="bg2"/>
              </a:solidFill>
            </a:endParaRPr>
          </a:p>
          <a:p>
            <a:pPr lvl="1"/>
            <a:r>
              <a:rPr lang="en-US" altLang="en-US" sz="2400" dirty="0">
                <a:solidFill>
                  <a:schemeClr val="bg2"/>
                </a:solidFill>
              </a:rPr>
              <a:t>i.e., every transaction having {beer, diaper, nuts} also contains {beer, diaper} </a:t>
            </a:r>
          </a:p>
          <a:p>
            <a:r>
              <a:rPr lang="en-US" altLang="en-US" sz="2400" dirty="0">
                <a:solidFill>
                  <a:schemeClr val="bg2"/>
                </a:solidFill>
              </a:rPr>
              <a:t>Scalable mining methods: Three major approaches</a:t>
            </a:r>
          </a:p>
          <a:p>
            <a:pPr lvl="1"/>
            <a:r>
              <a:rPr lang="en-US" altLang="en-US" sz="2400" dirty="0" err="1">
                <a:solidFill>
                  <a:schemeClr val="bg2"/>
                </a:solidFill>
              </a:rPr>
              <a:t>Apriori</a:t>
            </a:r>
            <a:r>
              <a:rPr lang="en-US" altLang="en-US" sz="2400" dirty="0">
                <a:solidFill>
                  <a:schemeClr val="bg2"/>
                </a:solidFill>
              </a:rPr>
              <a:t> (Agrawal &amp; Srikant@VLDB’94)</a:t>
            </a:r>
          </a:p>
          <a:p>
            <a:pPr lvl="1"/>
            <a:r>
              <a:rPr lang="en-US" altLang="en-US" sz="2400" dirty="0">
                <a:solidFill>
                  <a:schemeClr val="bg2"/>
                </a:solidFill>
              </a:rPr>
              <a:t>Freq. pattern growth (</a:t>
            </a:r>
            <a:r>
              <a:rPr lang="en-US" altLang="en-US" sz="2400" dirty="0" err="1">
                <a:solidFill>
                  <a:schemeClr val="bg2"/>
                </a:solidFill>
              </a:rPr>
              <a:t>FPgrowth</a:t>
            </a:r>
            <a:r>
              <a:rPr lang="en-US" altLang="en-US" sz="2400" dirty="0">
                <a:solidFill>
                  <a:schemeClr val="bg2"/>
                </a:solidFill>
              </a:rPr>
              <a:t>—Han, Pei &amp; Yin @SIGMOD’00)</a:t>
            </a:r>
          </a:p>
          <a:p>
            <a:pPr lvl="1"/>
            <a:r>
              <a:rPr lang="en-US" altLang="en-US" sz="2400" dirty="0">
                <a:solidFill>
                  <a:schemeClr val="bg2"/>
                </a:solidFill>
              </a:rPr>
              <a:t>Vertical data format approach (Charm—</a:t>
            </a:r>
            <a:r>
              <a:rPr lang="en-US" altLang="en-US" sz="2400" dirty="0" err="1">
                <a:solidFill>
                  <a:schemeClr val="bg2"/>
                </a:solidFill>
              </a:rPr>
              <a:t>Zaki</a:t>
            </a:r>
            <a:r>
              <a:rPr lang="en-US" altLang="en-US" sz="2400" dirty="0">
                <a:solidFill>
                  <a:schemeClr val="bg2"/>
                </a:solidFill>
              </a:rPr>
              <a:t> &amp; Hsiao @SDM’02)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964E8-9377-0A48-8F4C-9FCE7F6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AB6B-2ACE-0C44-B3EE-1FD1FDF5361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E1FDF-1F86-F84D-8D6C-CE43937F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650F7-BB04-DF47-95BE-B4423FDC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EA94C-7291-B14B-BEF0-99017A09575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531906" name="Rectangle 2">
            <a:extLst>
              <a:ext uri="{FF2B5EF4-FFF2-40B4-BE49-F238E27FC236}">
                <a16:creationId xmlns:a16="http://schemas.microsoft.com/office/drawing/2014/main" id="{2C4587F1-D38D-A34C-86B1-8DAF2FB89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05800" cy="762000"/>
          </a:xfrm>
        </p:spPr>
        <p:txBody>
          <a:bodyPr/>
          <a:lstStyle/>
          <a:p>
            <a:pPr>
              <a:tabLst>
                <a:tab pos="2570163" algn="l"/>
              </a:tabLst>
            </a:pPr>
            <a:r>
              <a:rPr lang="en-US" altLang="en-US" sz="2800"/>
              <a:t>Apriori: A Candidate Generation-and-Test Approach</a:t>
            </a:r>
          </a:p>
        </p:txBody>
      </p:sp>
      <p:sp>
        <p:nvSpPr>
          <p:cNvPr id="1531907" name="Rectangle 3">
            <a:extLst>
              <a:ext uri="{FF2B5EF4-FFF2-40B4-BE49-F238E27FC236}">
                <a16:creationId xmlns:a16="http://schemas.microsoft.com/office/drawing/2014/main" id="{E4A48EFD-483B-A448-9A69-E3F1162F1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5181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u="sng" dirty="0" err="1">
                <a:solidFill>
                  <a:schemeClr val="hlink"/>
                </a:solidFill>
              </a:rPr>
              <a:t>Apriori</a:t>
            </a:r>
            <a:r>
              <a:rPr lang="en-US" altLang="en-US" sz="2400" u="sng" dirty="0">
                <a:solidFill>
                  <a:schemeClr val="hlink"/>
                </a:solidFill>
              </a:rPr>
              <a:t> pruning principle</a:t>
            </a:r>
            <a:r>
              <a:rPr lang="en-US" altLang="en-US" sz="2400" dirty="0">
                <a:solidFill>
                  <a:schemeClr val="hlink"/>
                </a:solidFill>
              </a:rPr>
              <a:t>: </a:t>
            </a:r>
            <a:r>
              <a:rPr lang="en-US" altLang="en-US" sz="2400" dirty="0">
                <a:solidFill>
                  <a:schemeClr val="tx2"/>
                </a:solidFill>
              </a:rPr>
              <a:t>If there is </a:t>
            </a:r>
            <a:r>
              <a:rPr lang="en-US" altLang="en-US" sz="2400" dirty="0">
                <a:solidFill>
                  <a:schemeClr val="hlink"/>
                </a:solidFill>
              </a:rPr>
              <a:t>any</a:t>
            </a:r>
            <a:r>
              <a:rPr lang="en-US" altLang="en-US" sz="2400" dirty="0">
                <a:solidFill>
                  <a:schemeClr val="tx2"/>
                </a:solidFill>
              </a:rPr>
              <a:t> itemset which is infrequent, its superset should not be generated/tested! (</a:t>
            </a:r>
            <a:r>
              <a:rPr lang="en-US" altLang="en-US" sz="2400" dirty="0">
                <a:solidFill>
                  <a:schemeClr val="bg2"/>
                </a:solidFill>
              </a:rPr>
              <a:t>Agrawal &amp; Srikant @VLDB’94, </a:t>
            </a:r>
            <a:r>
              <a:rPr lang="en-US" altLang="en-US" sz="2400" dirty="0" err="1">
                <a:solidFill>
                  <a:schemeClr val="bg2"/>
                </a:solidFill>
              </a:rPr>
              <a:t>Mannila</a:t>
            </a:r>
            <a:r>
              <a:rPr lang="en-US" altLang="en-US" sz="2400" dirty="0">
                <a:solidFill>
                  <a:schemeClr val="bg2"/>
                </a:solidFill>
              </a:rPr>
              <a:t>, et al. @ KDD’ 94)</a:t>
            </a:r>
            <a:endParaRPr lang="en-US" altLang="en-US" sz="24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Method: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Initially, scan DB once to get frequent 1-itemset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Generate</a:t>
            </a:r>
            <a:r>
              <a:rPr lang="en-US" altLang="en-US" sz="2400" dirty="0">
                <a:solidFill>
                  <a:schemeClr val="bg2"/>
                </a:solidFill>
              </a:rPr>
              <a:t> length (k+1) </a:t>
            </a:r>
            <a:r>
              <a:rPr lang="en-US" altLang="en-US" sz="2400" dirty="0">
                <a:solidFill>
                  <a:schemeClr val="hlink"/>
                </a:solidFill>
              </a:rPr>
              <a:t>candidate</a:t>
            </a:r>
            <a:r>
              <a:rPr lang="en-US" altLang="en-US" sz="2400" dirty="0">
                <a:solidFill>
                  <a:schemeClr val="bg2"/>
                </a:solidFill>
              </a:rPr>
              <a:t> </a:t>
            </a:r>
            <a:r>
              <a:rPr lang="en-US" altLang="en-US" sz="2400" dirty="0" err="1">
                <a:solidFill>
                  <a:schemeClr val="bg2"/>
                </a:solidFill>
              </a:rPr>
              <a:t>itemsets</a:t>
            </a:r>
            <a:r>
              <a:rPr lang="en-US" altLang="en-US" sz="2400" dirty="0">
                <a:solidFill>
                  <a:schemeClr val="bg2"/>
                </a:solidFill>
              </a:rPr>
              <a:t> from length k </a:t>
            </a:r>
            <a:r>
              <a:rPr lang="en-US" altLang="en-US" sz="2400" dirty="0">
                <a:solidFill>
                  <a:schemeClr val="hlink"/>
                </a:solidFill>
              </a:rPr>
              <a:t>frequent</a:t>
            </a:r>
            <a:r>
              <a:rPr lang="en-US" altLang="en-US" sz="2400" dirty="0">
                <a:solidFill>
                  <a:schemeClr val="bg2"/>
                </a:solidFill>
              </a:rPr>
              <a:t> </a:t>
            </a:r>
            <a:r>
              <a:rPr lang="en-US" altLang="en-US" sz="2400" dirty="0" err="1">
                <a:solidFill>
                  <a:schemeClr val="bg2"/>
                </a:solidFill>
              </a:rPr>
              <a:t>itemsets</a:t>
            </a:r>
            <a:endParaRPr lang="en-US" altLang="en-US" sz="2400" dirty="0">
              <a:solidFill>
                <a:schemeClr val="bg2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Test </a:t>
            </a:r>
            <a:r>
              <a:rPr lang="en-US" altLang="en-US" sz="2400" dirty="0">
                <a:solidFill>
                  <a:schemeClr val="bg2"/>
                </a:solidFill>
              </a:rPr>
              <a:t>the candidates against DB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Terminate when no frequent or candidate set can be generated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ate Placeholder 3">
            <a:extLst>
              <a:ext uri="{FF2B5EF4-FFF2-40B4-BE49-F238E27FC236}">
                <a16:creationId xmlns:a16="http://schemas.microsoft.com/office/drawing/2014/main" id="{7F66CD89-652C-9943-A726-7A1EEB39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AAFE-D321-5F4F-B423-3569E32F659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169" name="Footer Placeholder 4">
            <a:extLst>
              <a:ext uri="{FF2B5EF4-FFF2-40B4-BE49-F238E27FC236}">
                <a16:creationId xmlns:a16="http://schemas.microsoft.com/office/drawing/2014/main" id="{628FFCB6-79C9-A640-BF80-55005DD7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70" name="Slide Number Placeholder 5">
            <a:extLst>
              <a:ext uri="{FF2B5EF4-FFF2-40B4-BE49-F238E27FC236}">
                <a16:creationId xmlns:a16="http://schemas.microsoft.com/office/drawing/2014/main" id="{F32A41EE-EA4C-154C-B27C-461FFF83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53A1-27C4-3941-AC7E-5ED1F6224D30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532930" name="Rectangle 2">
            <a:extLst>
              <a:ext uri="{FF2B5EF4-FFF2-40B4-BE49-F238E27FC236}">
                <a16:creationId xmlns:a16="http://schemas.microsoft.com/office/drawing/2014/main" id="{C6903AB0-3361-5344-85DC-6B3D080D5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93038" cy="609600"/>
          </a:xfrm>
        </p:spPr>
        <p:txBody>
          <a:bodyPr/>
          <a:lstStyle/>
          <a:p>
            <a:r>
              <a:rPr lang="en-US" altLang="en-US" sz="3200"/>
              <a:t>The Apriori Algorithm—An Example </a:t>
            </a:r>
          </a:p>
        </p:txBody>
      </p:sp>
      <p:sp>
        <p:nvSpPr>
          <p:cNvPr id="1532931" name="Text Box 3">
            <a:extLst>
              <a:ext uri="{FF2B5EF4-FFF2-40B4-BE49-F238E27FC236}">
                <a16:creationId xmlns:a16="http://schemas.microsoft.com/office/drawing/2014/main" id="{9B57A6C3-E7A4-0944-AB64-55C5A1960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1600"/>
            <a:ext cx="1985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Database TDB</a:t>
            </a:r>
          </a:p>
        </p:txBody>
      </p:sp>
      <p:sp>
        <p:nvSpPr>
          <p:cNvPr id="1532932" name="Text Box 4">
            <a:extLst>
              <a:ext uri="{FF2B5EF4-FFF2-40B4-BE49-F238E27FC236}">
                <a16:creationId xmlns:a16="http://schemas.microsoft.com/office/drawing/2014/main" id="{D60A1A49-5C72-8C4D-905C-4599AFA8E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2273300"/>
            <a:ext cx="1090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1</a:t>
            </a:r>
            <a:r>
              <a:rPr lang="en-US" altLang="en-US" baseline="30000">
                <a:latin typeface="Times New Roman" panose="02020603050405020304" pitchFamily="18" charset="0"/>
              </a:rPr>
              <a:t>st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532933" name="Line 5">
            <a:extLst>
              <a:ext uri="{FF2B5EF4-FFF2-40B4-BE49-F238E27FC236}">
                <a16:creationId xmlns:a16="http://schemas.microsoft.com/office/drawing/2014/main" id="{0B085692-E1F0-8244-9D61-0EC8DCAC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34" name="Text Box 6">
            <a:extLst>
              <a:ext uri="{FF2B5EF4-FFF2-40B4-BE49-F238E27FC236}">
                <a16:creationId xmlns:a16="http://schemas.microsoft.com/office/drawing/2014/main" id="{7BE186DF-930C-3E48-A799-D9CE554C5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2935" name="Text Box 7">
            <a:extLst>
              <a:ext uri="{FF2B5EF4-FFF2-40B4-BE49-F238E27FC236}">
                <a16:creationId xmlns:a16="http://schemas.microsoft.com/office/drawing/2014/main" id="{49C35E96-1360-3A43-B9F4-91AD8FC92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2936" name="Text Box 8">
            <a:extLst>
              <a:ext uri="{FF2B5EF4-FFF2-40B4-BE49-F238E27FC236}">
                <a16:creationId xmlns:a16="http://schemas.microsoft.com/office/drawing/2014/main" id="{01260C5C-3956-7D4E-A366-A3B32070C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2937" name="Text Box 9">
            <a:extLst>
              <a:ext uri="{FF2B5EF4-FFF2-40B4-BE49-F238E27FC236}">
                <a16:creationId xmlns:a16="http://schemas.microsoft.com/office/drawing/2014/main" id="{2B0504AD-B495-A74F-AD64-7605002ED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2938" name="Text Box 10">
            <a:extLst>
              <a:ext uri="{FF2B5EF4-FFF2-40B4-BE49-F238E27FC236}">
                <a16:creationId xmlns:a16="http://schemas.microsoft.com/office/drawing/2014/main" id="{6221E593-EEEB-D343-A69A-C970E614C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2939" name="Line 11">
            <a:extLst>
              <a:ext uri="{FF2B5EF4-FFF2-40B4-BE49-F238E27FC236}">
                <a16:creationId xmlns:a16="http://schemas.microsoft.com/office/drawing/2014/main" id="{1BF5D053-5AD0-824E-80E0-73CF0A1E37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0" name="Text Box 12">
            <a:extLst>
              <a:ext uri="{FF2B5EF4-FFF2-40B4-BE49-F238E27FC236}">
                <a16:creationId xmlns:a16="http://schemas.microsoft.com/office/drawing/2014/main" id="{226368D4-705B-2A4B-9A35-84EDA58F6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3751263"/>
            <a:ext cx="1157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2</a:t>
            </a:r>
            <a:r>
              <a:rPr lang="en-US" altLang="en-US" baseline="30000">
                <a:latin typeface="Times New Roman" panose="02020603050405020304" pitchFamily="18" charset="0"/>
              </a:rPr>
              <a:t>nd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532941" name="AutoShape 13">
            <a:extLst>
              <a:ext uri="{FF2B5EF4-FFF2-40B4-BE49-F238E27FC236}">
                <a16:creationId xmlns:a16="http://schemas.microsoft.com/office/drawing/2014/main" id="{3E1A62A8-1FF0-7F4E-A4EA-DF99932C3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42" name="Line 14">
            <a:extLst>
              <a:ext uri="{FF2B5EF4-FFF2-40B4-BE49-F238E27FC236}">
                <a16:creationId xmlns:a16="http://schemas.microsoft.com/office/drawing/2014/main" id="{5370FEC7-EBB5-1348-B585-AEFA980EE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3" name="Text Box 15">
            <a:extLst>
              <a:ext uri="{FF2B5EF4-FFF2-40B4-BE49-F238E27FC236}">
                <a16:creationId xmlns:a16="http://schemas.microsoft.com/office/drawing/2014/main" id="{8DEBD97F-D0AA-8440-9040-EDDD3D6BA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32944" name="Text Box 16">
            <a:extLst>
              <a:ext uri="{FF2B5EF4-FFF2-40B4-BE49-F238E27FC236}">
                <a16:creationId xmlns:a16="http://schemas.microsoft.com/office/drawing/2014/main" id="{2AEFE8E6-0741-EE4B-A3E8-733381F7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32945" name="Text Box 17">
            <a:extLst>
              <a:ext uri="{FF2B5EF4-FFF2-40B4-BE49-F238E27FC236}">
                <a16:creationId xmlns:a16="http://schemas.microsoft.com/office/drawing/2014/main" id="{37576523-3563-D140-86A5-9F474A681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275" y="5881688"/>
            <a:ext cx="112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3</a:t>
            </a:r>
            <a:r>
              <a:rPr lang="en-US" altLang="en-US" baseline="30000">
                <a:latin typeface="Times New Roman" panose="02020603050405020304" pitchFamily="18" charset="0"/>
              </a:rPr>
              <a:t>rd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532946" name="AutoShape 18">
            <a:extLst>
              <a:ext uri="{FF2B5EF4-FFF2-40B4-BE49-F238E27FC236}">
                <a16:creationId xmlns:a16="http://schemas.microsoft.com/office/drawing/2014/main" id="{8EF1DF71-7E03-5E47-8870-E7DAF1F93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7" name="Line 19">
            <a:extLst>
              <a:ext uri="{FF2B5EF4-FFF2-40B4-BE49-F238E27FC236}">
                <a16:creationId xmlns:a16="http://schemas.microsoft.com/office/drawing/2014/main" id="{187E84A9-0032-C746-A8DB-6CEA1D218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48" name="Line 20">
            <a:extLst>
              <a:ext uri="{FF2B5EF4-FFF2-40B4-BE49-F238E27FC236}">
                <a16:creationId xmlns:a16="http://schemas.microsoft.com/office/drawing/2014/main" id="{96349DC6-83BE-8E42-8D9D-B1E42631D1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532949" name="Group 21">
            <a:extLst>
              <a:ext uri="{FF2B5EF4-FFF2-40B4-BE49-F238E27FC236}">
                <a16:creationId xmlns:a16="http://schemas.microsoft.com/office/drawing/2014/main" id="{F71E2BCA-8983-F04F-9A8E-7D30394D03D4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1905000" cy="15544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442327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2733620"/>
                    </a:ext>
                  </a:extLst>
                </a:gridCol>
              </a:tblGrid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621960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514986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53130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C,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912125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983732"/>
                  </a:ext>
                </a:extLst>
              </a:tr>
            </a:tbl>
          </a:graphicData>
        </a:graphic>
      </p:graphicFrame>
      <p:graphicFrame>
        <p:nvGraphicFramePr>
          <p:cNvPr id="1532969" name="Group 41">
            <a:extLst>
              <a:ext uri="{FF2B5EF4-FFF2-40B4-BE49-F238E27FC236}">
                <a16:creationId xmlns:a16="http://schemas.microsoft.com/office/drawing/2014/main" id="{9F2E44D0-4099-0E47-8AAD-32665C7B696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219200"/>
          <a:ext cx="1752600" cy="18653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7360024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040501"/>
                    </a:ext>
                  </a:extLst>
                </a:gridCol>
              </a:tblGrid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266613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235561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046057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637139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{D}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960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630873"/>
                  </a:ext>
                </a:extLst>
              </a:tr>
            </a:tbl>
          </a:graphicData>
        </a:graphic>
      </p:graphicFrame>
      <p:graphicFrame>
        <p:nvGraphicFramePr>
          <p:cNvPr id="1532992" name="Group 64">
            <a:extLst>
              <a:ext uri="{FF2B5EF4-FFF2-40B4-BE49-F238E27FC236}">
                <a16:creationId xmlns:a16="http://schemas.microsoft.com/office/drawing/2014/main" id="{E036A1A4-0D82-A54C-832D-64E2693B3C43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1371600"/>
          <a:ext cx="1752600" cy="15544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7138556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03991079"/>
                    </a:ext>
                  </a:extLst>
                </a:gridCol>
              </a:tblGrid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906733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066522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796759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147485"/>
                  </a:ext>
                </a:extLst>
              </a:tr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11535"/>
                  </a:ext>
                </a:extLst>
              </a:tr>
            </a:tbl>
          </a:graphicData>
        </a:graphic>
      </p:graphicFrame>
      <p:graphicFrame>
        <p:nvGraphicFramePr>
          <p:cNvPr id="1533012" name="Group 84">
            <a:extLst>
              <a:ext uri="{FF2B5EF4-FFF2-40B4-BE49-F238E27FC236}">
                <a16:creationId xmlns:a16="http://schemas.microsoft.com/office/drawing/2014/main" id="{6ABF2136-C99B-8340-B9CA-FD6472451339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581400"/>
          <a:ext cx="1143000" cy="217627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335773277"/>
                    </a:ext>
                  </a:extLst>
                </a:gridCol>
              </a:tblGrid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791219"/>
                  </a:ext>
                </a:extLst>
              </a:tr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401539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612920"/>
                  </a:ext>
                </a:extLst>
              </a:tr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02520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513802"/>
                  </a:ext>
                </a:extLst>
              </a:tr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35234"/>
                  </a:ext>
                </a:extLst>
              </a:tr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745393"/>
                  </a:ext>
                </a:extLst>
              </a:tr>
            </a:tbl>
          </a:graphicData>
        </a:graphic>
      </p:graphicFrame>
      <p:graphicFrame>
        <p:nvGraphicFramePr>
          <p:cNvPr id="1533030" name="Group 102">
            <a:extLst>
              <a:ext uri="{FF2B5EF4-FFF2-40B4-BE49-F238E27FC236}">
                <a16:creationId xmlns:a16="http://schemas.microsoft.com/office/drawing/2014/main" id="{080003B8-B3C2-474C-A82F-0FD5E3CA90FE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3429000"/>
          <a:ext cx="1752600" cy="20055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0367061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73323934"/>
                    </a:ext>
                  </a:extLst>
                </a:gridCol>
              </a:tblGrid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456509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33988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36949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21608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108004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37454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576025"/>
                  </a:ext>
                </a:extLst>
              </a:tr>
            </a:tbl>
          </a:graphicData>
        </a:graphic>
      </p:graphicFrame>
      <p:graphicFrame>
        <p:nvGraphicFramePr>
          <p:cNvPr id="1533056" name="Group 128">
            <a:extLst>
              <a:ext uri="{FF2B5EF4-FFF2-40B4-BE49-F238E27FC236}">
                <a16:creationId xmlns:a16="http://schemas.microsoft.com/office/drawing/2014/main" id="{7534730A-D0F3-6049-ADE5-A58D36B49DC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62388"/>
          <a:ext cx="1752600" cy="14325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4805981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1430643"/>
                    </a:ext>
                  </a:extLst>
                </a:gridCol>
              </a:tblGrid>
              <a:tr h="161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64194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174211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403057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397425"/>
                  </a:ext>
                </a:extLst>
              </a:tr>
              <a:tr h="16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959861"/>
                  </a:ext>
                </a:extLst>
              </a:tr>
            </a:tbl>
          </a:graphicData>
        </a:graphic>
      </p:graphicFrame>
      <p:graphicFrame>
        <p:nvGraphicFramePr>
          <p:cNvPr id="1533076" name="Group 148">
            <a:extLst>
              <a:ext uri="{FF2B5EF4-FFF2-40B4-BE49-F238E27FC236}">
                <a16:creationId xmlns:a16="http://schemas.microsoft.com/office/drawing/2014/main" id="{4A356002-7A06-DA46-8A5A-7546F72217F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5867400"/>
          <a:ext cx="1143000" cy="65855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829835103"/>
                    </a:ext>
                  </a:extLst>
                </a:gridCol>
              </a:tblGrid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5597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399949"/>
                  </a:ext>
                </a:extLst>
              </a:tr>
            </a:tbl>
          </a:graphicData>
        </a:graphic>
      </p:graphicFrame>
      <p:graphicFrame>
        <p:nvGraphicFramePr>
          <p:cNvPr id="1533084" name="Group 156">
            <a:extLst>
              <a:ext uri="{FF2B5EF4-FFF2-40B4-BE49-F238E27FC236}">
                <a16:creationId xmlns:a16="http://schemas.microsoft.com/office/drawing/2014/main" id="{373C9DCB-92C8-5F4D-A1B8-7E869F17592D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867400"/>
          <a:ext cx="1752600" cy="61912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41246037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00102837"/>
                    </a:ext>
                  </a:extLst>
                </a:gridCol>
              </a:tblGrid>
              <a:tr h="309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63709"/>
                  </a:ext>
                </a:extLst>
              </a:tr>
              <a:tr h="309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747877"/>
                  </a:ext>
                </a:extLst>
              </a:tr>
            </a:tbl>
          </a:graphicData>
        </a:graphic>
      </p:graphicFrame>
      <p:sp>
        <p:nvSpPr>
          <p:cNvPr id="1533095" name="Text Box 167">
            <a:extLst>
              <a:ext uri="{FF2B5EF4-FFF2-40B4-BE49-F238E27FC236}">
                <a16:creationId xmlns:a16="http://schemas.microsoft.com/office/drawing/2014/main" id="{F8D23136-BDE2-C047-8A50-87462B891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1430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Sup</a:t>
            </a:r>
            <a:r>
              <a:rPr lang="en-US" altLang="en-US" baseline="-25000"/>
              <a:t>min</a:t>
            </a:r>
            <a:r>
              <a:rPr lang="en-US" altLang="en-US"/>
              <a:t> =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7384C-1F9A-7C48-B9F2-9C3EC045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19D5-DF7F-594C-AF4A-8042EF0DEDC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D687-D44E-E846-8BBA-5D114DE3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FF336-6387-A548-BBD9-CF3BBDBA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DD30-6815-7D48-A9EE-2C8BD615026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367042" name="Rectangle 2">
            <a:extLst>
              <a:ext uri="{FF2B5EF4-FFF2-40B4-BE49-F238E27FC236}">
                <a16:creationId xmlns:a16="http://schemas.microsoft.com/office/drawing/2014/main" id="{AE65B76E-B1E7-A142-96B8-5C5DEFC54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543800" cy="762000"/>
          </a:xfrm>
        </p:spPr>
        <p:txBody>
          <a:bodyPr/>
          <a:lstStyle/>
          <a:p>
            <a:r>
              <a:rPr lang="en-US" altLang="en-US"/>
              <a:t>The Apriori Algorithm</a:t>
            </a:r>
          </a:p>
        </p:txBody>
      </p:sp>
      <p:sp>
        <p:nvSpPr>
          <p:cNvPr id="1367043" name="Rectangle 3">
            <a:extLst>
              <a:ext uri="{FF2B5EF4-FFF2-40B4-BE49-F238E27FC236}">
                <a16:creationId xmlns:a16="http://schemas.microsoft.com/office/drawing/2014/main" id="{A30F0BD8-5CBA-614A-A9C8-B285E48FD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5181600"/>
          </a:xfrm>
        </p:spPr>
        <p:txBody>
          <a:bodyPr/>
          <a:lstStyle/>
          <a:p>
            <a:r>
              <a:rPr lang="en-US" altLang="en-US" sz="2400" u="sng" dirty="0"/>
              <a:t>Pseudo-code</a:t>
            </a:r>
            <a:r>
              <a:rPr lang="en-US" altLang="en-US" sz="2400" dirty="0"/>
              <a:t>:</a:t>
            </a:r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i="1" dirty="0"/>
              <a:t>C</a:t>
            </a:r>
            <a:r>
              <a:rPr lang="en-US" altLang="en-US" i="1" baseline="-25000" dirty="0"/>
              <a:t>k</a:t>
            </a:r>
            <a:r>
              <a:rPr lang="en-US" altLang="en-US" dirty="0"/>
              <a:t>: Candidate itemset of size k</a:t>
            </a:r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: frequent itemset of size k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altLang="en-US" sz="1600" dirty="0"/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i="1" dirty="0"/>
              <a:t>L</a:t>
            </a:r>
            <a:r>
              <a:rPr lang="en-US" altLang="en-US" i="1" baseline="-25000" dirty="0"/>
              <a:t>1</a:t>
            </a:r>
            <a:r>
              <a:rPr lang="en-US" altLang="en-US" dirty="0"/>
              <a:t> = {frequent items};</a:t>
            </a:r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 dirty="0">
                <a:solidFill>
                  <a:srgbClr val="F83F24"/>
                </a:solidFill>
              </a:rPr>
              <a:t>for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k</a:t>
            </a:r>
            <a:r>
              <a:rPr lang="en-US" altLang="en-US" dirty="0"/>
              <a:t> = 1;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!=</a:t>
            </a:r>
            <a:r>
              <a:rPr lang="en-US" altLang="en-US" dirty="0">
                <a:sym typeface="Symbol" pitchFamily="2" charset="2"/>
              </a:rPr>
              <a:t></a:t>
            </a:r>
            <a:r>
              <a:rPr lang="en-US" altLang="en-US" dirty="0"/>
              <a:t>; </a:t>
            </a:r>
            <a:r>
              <a:rPr lang="en-US" altLang="en-US" i="1" dirty="0"/>
              <a:t>k</a:t>
            </a:r>
            <a:r>
              <a:rPr lang="en-US" altLang="en-US" dirty="0"/>
              <a:t>++) </a:t>
            </a:r>
            <a:r>
              <a:rPr lang="en-US" altLang="en-US" b="1" dirty="0">
                <a:solidFill>
                  <a:srgbClr val="F83F24"/>
                </a:solidFill>
              </a:rPr>
              <a:t>do begin</a:t>
            </a:r>
            <a:endParaRPr lang="en-US" altLang="en-US" dirty="0"/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   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= candidates generated from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   </a:t>
            </a:r>
            <a:r>
              <a:rPr lang="en-US" altLang="en-US" b="1" dirty="0">
                <a:solidFill>
                  <a:srgbClr val="F83F24"/>
                </a:solidFill>
              </a:rPr>
              <a:t>for each</a:t>
            </a:r>
            <a:r>
              <a:rPr lang="en-US" altLang="en-US" dirty="0"/>
              <a:t> transaction </a:t>
            </a:r>
            <a:r>
              <a:rPr lang="en-US" altLang="en-US" i="1" dirty="0"/>
              <a:t>t</a:t>
            </a:r>
            <a:r>
              <a:rPr lang="en-US" altLang="en-US" dirty="0"/>
              <a:t> in database do</a:t>
            </a:r>
          </a:p>
          <a:p>
            <a:pPr lvl="3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 dirty="0"/>
              <a:t>       </a:t>
            </a:r>
            <a:r>
              <a:rPr lang="en-US" altLang="en-US" sz="2400" dirty="0"/>
              <a:t>increment the count of all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                           that are contained in </a:t>
            </a:r>
            <a:r>
              <a:rPr lang="en-US" altLang="en-US" sz="2400" i="1" dirty="0"/>
              <a:t>t</a:t>
            </a:r>
            <a:endParaRPr lang="en-US" altLang="en-US" sz="2400" dirty="0"/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k+1</a:t>
            </a:r>
            <a:r>
              <a:rPr lang="en-US" altLang="en-US" dirty="0"/>
              <a:t>  = candidates in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with </a:t>
            </a:r>
            <a:r>
              <a:rPr lang="en-US" altLang="en-US" dirty="0" err="1"/>
              <a:t>min_support</a:t>
            </a:r>
            <a:endParaRPr lang="en-US" altLang="en-US" dirty="0"/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  </a:t>
            </a:r>
            <a:r>
              <a:rPr lang="en-US" altLang="en-US" b="1" dirty="0">
                <a:solidFill>
                  <a:srgbClr val="F83F24"/>
                </a:solidFill>
              </a:rPr>
              <a:t> end</a:t>
            </a:r>
            <a:endParaRPr lang="en-US" altLang="en-US" dirty="0"/>
          </a:p>
          <a:p>
            <a:pPr lvl="2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 dirty="0">
                <a:solidFill>
                  <a:srgbClr val="F83F24"/>
                </a:solidFill>
              </a:rPr>
              <a:t>return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2" charset="2"/>
              </a:rPr>
              <a:t></a:t>
            </a:r>
            <a:r>
              <a:rPr lang="en-US" altLang="en-US" i="1" baseline="-25000" dirty="0"/>
              <a:t>k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159C3-C6BB-CC4B-B52E-5E7369ED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35203-9C9B-8C4B-8106-E2277306C86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25FD9-F1CA-9F4C-B758-B727C4ED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A4C9-7AFE-954D-A3A4-3F4A107F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C3A80-6AF0-9C43-95D0-01246D9658EA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368066" name="Rectangle 2">
            <a:extLst>
              <a:ext uri="{FF2B5EF4-FFF2-40B4-BE49-F238E27FC236}">
                <a16:creationId xmlns:a16="http://schemas.microsoft.com/office/drawing/2014/main" id="{E62254BD-7B5A-EA43-B32B-692B43AEB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Important Details of Apriori</a:t>
            </a:r>
          </a:p>
        </p:txBody>
      </p:sp>
      <p:sp>
        <p:nvSpPr>
          <p:cNvPr id="1368067" name="Rectangle 3">
            <a:extLst>
              <a:ext uri="{FF2B5EF4-FFF2-40B4-BE49-F238E27FC236}">
                <a16:creationId xmlns:a16="http://schemas.microsoft.com/office/drawing/2014/main" id="{37A9314B-42BE-0A4D-900D-1C882AB29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/>
              <a:t>How to generate candidates?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Step 1: self-joining </a:t>
            </a:r>
            <a:r>
              <a:rPr lang="en-US" altLang="en-US" sz="2000" i="1"/>
              <a:t>L</a:t>
            </a:r>
            <a:r>
              <a:rPr lang="en-US" altLang="en-US" sz="2000" i="1" baseline="-25000"/>
              <a:t>k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Step 2: pruning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How to count supports of candidates?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Example of Candidate-generation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L</a:t>
            </a:r>
            <a:r>
              <a:rPr lang="en-US" altLang="en-US" sz="2000" i="1" baseline="-25000"/>
              <a:t>3</a:t>
            </a:r>
            <a:r>
              <a:rPr lang="en-US" altLang="en-US" sz="2000" i="1"/>
              <a:t>=</a:t>
            </a:r>
            <a:r>
              <a:rPr lang="en-US" altLang="en-US" sz="2000"/>
              <a:t>{</a:t>
            </a:r>
            <a:r>
              <a:rPr lang="en-US" altLang="en-US" sz="2000" i="1"/>
              <a:t>abc, abd, acd, ace, bcd</a:t>
            </a:r>
            <a:r>
              <a:rPr lang="en-US" altLang="en-US" sz="2000"/>
              <a:t>}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Self-joining: </a:t>
            </a:r>
            <a:r>
              <a:rPr lang="en-US" altLang="en-US" sz="2000" i="1"/>
              <a:t>L</a:t>
            </a:r>
            <a:r>
              <a:rPr lang="en-US" altLang="en-US" sz="2000" i="1" baseline="-25000"/>
              <a:t>3</a:t>
            </a:r>
            <a:r>
              <a:rPr lang="en-US" altLang="en-US" sz="2000" i="1"/>
              <a:t>*L</a:t>
            </a:r>
            <a:r>
              <a:rPr lang="en-US" altLang="en-US" sz="2000" i="1" baseline="-25000"/>
              <a:t>3</a:t>
            </a:r>
            <a:endParaRPr lang="en-US" altLang="en-US" sz="2000" i="1"/>
          </a:p>
          <a:p>
            <a:pPr lvl="2">
              <a:lnSpc>
                <a:spcPct val="110000"/>
              </a:lnSpc>
            </a:pPr>
            <a:r>
              <a:rPr lang="en-US" altLang="en-US" sz="1800" i="1"/>
              <a:t>abcd </a:t>
            </a:r>
            <a:r>
              <a:rPr lang="en-US" altLang="en-US" sz="1800"/>
              <a:t>from </a:t>
            </a:r>
            <a:r>
              <a:rPr lang="en-US" altLang="en-US" sz="1800" i="1"/>
              <a:t>abc</a:t>
            </a:r>
            <a:r>
              <a:rPr lang="en-US" altLang="en-US" sz="1800"/>
              <a:t> and </a:t>
            </a:r>
            <a:r>
              <a:rPr lang="en-US" altLang="en-US" sz="1800" i="1"/>
              <a:t>abd</a:t>
            </a:r>
          </a:p>
          <a:p>
            <a:pPr lvl="2">
              <a:lnSpc>
                <a:spcPct val="110000"/>
              </a:lnSpc>
            </a:pPr>
            <a:r>
              <a:rPr lang="en-US" altLang="en-US" sz="1800" i="1"/>
              <a:t>acde</a:t>
            </a:r>
            <a:r>
              <a:rPr lang="en-US" altLang="en-US" sz="1800"/>
              <a:t> from </a:t>
            </a:r>
            <a:r>
              <a:rPr lang="en-US" altLang="en-US" sz="1800" i="1"/>
              <a:t>acd</a:t>
            </a:r>
            <a:r>
              <a:rPr lang="en-US" altLang="en-US" sz="1800"/>
              <a:t> and </a:t>
            </a:r>
            <a:r>
              <a:rPr lang="en-US" altLang="en-US" sz="1800" i="1"/>
              <a:t>ace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Pruning:</a:t>
            </a:r>
          </a:p>
          <a:p>
            <a:pPr lvl="2">
              <a:lnSpc>
                <a:spcPct val="110000"/>
              </a:lnSpc>
            </a:pPr>
            <a:r>
              <a:rPr lang="en-US" altLang="en-US" sz="1800" i="1"/>
              <a:t>acde</a:t>
            </a:r>
            <a:r>
              <a:rPr lang="en-US" altLang="en-US" sz="1800"/>
              <a:t> is removed because </a:t>
            </a:r>
            <a:r>
              <a:rPr lang="en-US" altLang="en-US" sz="1800" i="1"/>
              <a:t>ade</a:t>
            </a:r>
            <a:r>
              <a:rPr lang="en-US" altLang="en-US" sz="1800"/>
              <a:t> is not in </a:t>
            </a:r>
            <a:r>
              <a:rPr lang="en-US" altLang="en-US" sz="1800" i="1"/>
              <a:t>L</a:t>
            </a:r>
            <a:r>
              <a:rPr lang="en-US" altLang="en-US" sz="1800" i="1" baseline="-25000"/>
              <a:t>3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C</a:t>
            </a:r>
            <a:r>
              <a:rPr lang="en-US" altLang="en-US" sz="2000" i="1" baseline="-25000"/>
              <a:t>4</a:t>
            </a:r>
            <a:r>
              <a:rPr lang="en-US" altLang="en-US" sz="2000"/>
              <a:t>={</a:t>
            </a:r>
            <a:r>
              <a:rPr lang="en-US" altLang="en-US" sz="2000" i="1"/>
              <a:t>abcd</a:t>
            </a:r>
            <a:r>
              <a:rPr lang="en-US" altLang="en-US" sz="2000"/>
              <a:t>}</a:t>
            </a:r>
          </a:p>
          <a:p>
            <a:pPr>
              <a:lnSpc>
                <a:spcPct val="11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89905-46AA-5C45-A94C-CB39EBD9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5647-0BC9-0848-96C3-4F362FB3410A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4FF2C-78DD-3C45-A019-68C96098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5995D-6A9F-124F-816B-DE281313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DAC9-5F7F-1E47-82FF-0A913A71612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371138" name="Rectangle 2">
            <a:extLst>
              <a:ext uri="{FF2B5EF4-FFF2-40B4-BE49-F238E27FC236}">
                <a16:creationId xmlns:a16="http://schemas.microsoft.com/office/drawing/2014/main" id="{C7BE3B07-D986-4743-BE81-0986B6161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53400" cy="685800"/>
          </a:xfrm>
        </p:spPr>
        <p:txBody>
          <a:bodyPr/>
          <a:lstStyle/>
          <a:p>
            <a:r>
              <a:rPr lang="en-US" altLang="en-US" sz="3200"/>
              <a:t>How to Count Supports of Candidates?</a:t>
            </a:r>
          </a:p>
        </p:txBody>
      </p:sp>
      <p:sp>
        <p:nvSpPr>
          <p:cNvPr id="1371139" name="Rectangle 3">
            <a:extLst>
              <a:ext uri="{FF2B5EF4-FFF2-40B4-BE49-F238E27FC236}">
                <a16:creationId xmlns:a16="http://schemas.microsoft.com/office/drawing/2014/main" id="{61F24B79-12CA-2249-9577-814B56231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Why counting supports of candidates a problem?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The total number of candidates can be very huge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 One transaction may contain many candidates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Method: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Candidate itemsets are stored in a </a:t>
            </a:r>
            <a:r>
              <a:rPr lang="en-US" altLang="en-US" sz="2400" i="1">
                <a:solidFill>
                  <a:schemeClr val="hlink"/>
                </a:solidFill>
              </a:rPr>
              <a:t>hash-tree</a:t>
            </a:r>
          </a:p>
          <a:p>
            <a:pPr lvl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Leaf </a:t>
            </a:r>
            <a:r>
              <a:rPr lang="en-US" altLang="en-US" sz="2400">
                <a:solidFill>
                  <a:schemeClr val="hlink"/>
                </a:solidFill>
              </a:rPr>
              <a:t>node </a:t>
            </a:r>
            <a:r>
              <a:rPr lang="en-US" altLang="en-US" sz="2400"/>
              <a:t>of hash-tree contains a list of itemsets and counts</a:t>
            </a:r>
          </a:p>
          <a:p>
            <a:pPr lvl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Interior </a:t>
            </a:r>
            <a:r>
              <a:rPr lang="en-US" altLang="en-US" sz="2400">
                <a:solidFill>
                  <a:schemeClr val="hlink"/>
                </a:solidFill>
              </a:rPr>
              <a:t>node</a:t>
            </a:r>
            <a:r>
              <a:rPr lang="en-US" altLang="en-US" sz="2400"/>
              <a:t> contains a hash table</a:t>
            </a:r>
          </a:p>
          <a:p>
            <a:pPr lvl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Subset function</a:t>
            </a:r>
            <a:r>
              <a:rPr lang="en-US" altLang="en-US" sz="2400"/>
              <a:t>: finds all the candidates contained in a transaction</a:t>
            </a:r>
            <a:endParaRPr lang="en-US" altLang="en-US" sz="2400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4C830-6194-DB4B-B252-034E175D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D2919-5822-0540-A066-A99711D6CE76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435EB-610E-5041-B1C7-4251A803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F6B4-1A69-EA49-B670-9AB72D01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7106-732E-9748-8FF3-E562C67DFB7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373186" name="Rectangle 2">
            <a:extLst>
              <a:ext uri="{FF2B5EF4-FFF2-40B4-BE49-F238E27FC236}">
                <a16:creationId xmlns:a16="http://schemas.microsoft.com/office/drawing/2014/main" id="{26D74521-36E7-A84C-96A4-3BF1CD4D4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609600"/>
          </a:xfrm>
        </p:spPr>
        <p:txBody>
          <a:bodyPr/>
          <a:lstStyle/>
          <a:p>
            <a:r>
              <a:rPr lang="en-US" altLang="en-US" sz="2800"/>
              <a:t>Efficient Implementation of Apriori in SQL</a:t>
            </a:r>
          </a:p>
        </p:txBody>
      </p:sp>
      <p:sp>
        <p:nvSpPr>
          <p:cNvPr id="1373187" name="Rectangle 3">
            <a:extLst>
              <a:ext uri="{FF2B5EF4-FFF2-40B4-BE49-F238E27FC236}">
                <a16:creationId xmlns:a16="http://schemas.microsoft.com/office/drawing/2014/main" id="{2024F7A8-CEF3-DB42-A93D-8EBF2DE4F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042275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/>
              <a:t>Hard to get good performance out of pure SQL (SQL-92) based approaches alone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Make use of object-relational extensions like UDFs, BLOBs, Table functions etc.</a:t>
            </a:r>
          </a:p>
          <a:p>
            <a:pPr lvl="1">
              <a:lnSpc>
                <a:spcPct val="150000"/>
              </a:lnSpc>
            </a:pPr>
            <a:r>
              <a:rPr lang="en-US" altLang="en-US" sz="2400"/>
              <a:t>Get orders of magnitude improvement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S. Sarawagi, S. Thomas, and R. Agrawal. </a:t>
            </a:r>
            <a:r>
              <a:rPr lang="en-US" altLang="en-US" sz="2400">
                <a:solidFill>
                  <a:schemeClr val="tx2"/>
                </a:solidFill>
              </a:rPr>
              <a:t>Integrating association rule mining with relational database systems: Alternatives and implications</a:t>
            </a:r>
            <a:r>
              <a:rPr lang="en-US" altLang="en-US" sz="2400"/>
              <a:t>. In </a:t>
            </a:r>
            <a:r>
              <a:rPr lang="en-US" altLang="en-US" sz="2400">
                <a:solidFill>
                  <a:schemeClr val="tx2"/>
                </a:solidFill>
              </a:rPr>
              <a:t>SIGMOD’98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E6312-D358-B145-9B1A-4F2B9428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10A3-3932-6B4A-97DC-5C50C0EF91D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40B1B-B592-914A-9668-CED97536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163E4-3704-414B-AE2E-023E1ECB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6463-E15E-2049-A6D5-522369893A6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374210" name="Rectangle 2">
            <a:extLst>
              <a:ext uri="{FF2B5EF4-FFF2-40B4-BE49-F238E27FC236}">
                <a16:creationId xmlns:a16="http://schemas.microsoft.com/office/drawing/2014/main" id="{61509137-E480-E04F-BBC0-050BD0DB5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381000"/>
            <a:ext cx="8062912" cy="609600"/>
          </a:xfrm>
        </p:spPr>
        <p:txBody>
          <a:bodyPr/>
          <a:lstStyle/>
          <a:p>
            <a:r>
              <a:rPr lang="en-US" altLang="en-US" sz="3200"/>
              <a:t>Challenges of Frequent Pattern Mining</a:t>
            </a:r>
          </a:p>
        </p:txBody>
      </p:sp>
      <p:sp>
        <p:nvSpPr>
          <p:cNvPr id="1374211" name="Rectangle 3">
            <a:extLst>
              <a:ext uri="{FF2B5EF4-FFF2-40B4-BE49-F238E27FC236}">
                <a16:creationId xmlns:a16="http://schemas.microsoft.com/office/drawing/2014/main" id="{66F9472E-0CE5-B841-B399-F6513016B1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97888" cy="5029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/>
              <a:t>Challenges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Multiple scans of transaction database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Huge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Tedious workload of support counting for candidates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Improving Apriori: general ideas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Reduce passes of transaction database scans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Shrink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Facilitate support counting of candidates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15EBB-6C98-604F-B178-8FC9C495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19EC8-BDA5-D142-B820-902EC6D46530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19B6-AA60-6B43-B069-91A6D2ED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A250-D89C-084F-B053-0B543A2E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9CD9B-45CB-0C42-899B-11A682AD28C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376258" name="Rectangle 2">
            <a:extLst>
              <a:ext uri="{FF2B5EF4-FFF2-40B4-BE49-F238E27FC236}">
                <a16:creationId xmlns:a16="http://schemas.microsoft.com/office/drawing/2014/main" id="{BF8B3828-683B-9B44-A6CB-85B6CEFC5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488238" cy="609600"/>
          </a:xfrm>
        </p:spPr>
        <p:txBody>
          <a:bodyPr/>
          <a:lstStyle/>
          <a:p>
            <a:r>
              <a:rPr lang="en-US" altLang="en-US" sz="3200"/>
              <a:t>Partition: Scan Database Only Twice</a:t>
            </a:r>
          </a:p>
        </p:txBody>
      </p:sp>
      <p:sp>
        <p:nvSpPr>
          <p:cNvPr id="1376259" name="Rectangle 3">
            <a:extLst>
              <a:ext uri="{FF2B5EF4-FFF2-40B4-BE49-F238E27FC236}">
                <a16:creationId xmlns:a16="http://schemas.microsoft.com/office/drawing/2014/main" id="{503D2802-F3F0-8546-8DA4-6BD0C082B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en-US" sz="2400" dirty="0"/>
              <a:t>Any itemset that is potentially frequent in DB must be frequent in at least one of the partitions of DB</a:t>
            </a:r>
          </a:p>
          <a:p>
            <a:pPr lvl="1">
              <a:lnSpc>
                <a:spcPct val="140000"/>
              </a:lnSpc>
            </a:pPr>
            <a:r>
              <a:rPr lang="en-US" altLang="en-US" sz="2400" dirty="0"/>
              <a:t>Scan 1: partition database and find local frequent patterns</a:t>
            </a:r>
          </a:p>
          <a:p>
            <a:pPr lvl="1">
              <a:lnSpc>
                <a:spcPct val="140000"/>
              </a:lnSpc>
            </a:pPr>
            <a:r>
              <a:rPr lang="en-US" altLang="en-US" sz="2400" dirty="0"/>
              <a:t>Scan 2: consolidate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zh-CN" altLang="en-US" sz="2400"/>
              <a:t>合并</a:t>
            </a:r>
            <a:r>
              <a:rPr lang="en-US" altLang="zh-CN" sz="2400"/>
              <a:t>)</a:t>
            </a:r>
            <a:r>
              <a:rPr lang="en-US" altLang="en-US" sz="2400"/>
              <a:t> </a:t>
            </a:r>
            <a:r>
              <a:rPr lang="en-US" altLang="en-US" sz="2400" dirty="0"/>
              <a:t>global frequent patterns</a:t>
            </a:r>
          </a:p>
          <a:p>
            <a:pPr>
              <a:lnSpc>
                <a:spcPct val="140000"/>
              </a:lnSpc>
            </a:pPr>
            <a:r>
              <a:rPr lang="en-US" altLang="en-US" sz="2400" dirty="0"/>
              <a:t>A. </a:t>
            </a:r>
            <a:r>
              <a:rPr lang="en-US" altLang="en-US" sz="2400" dirty="0" err="1"/>
              <a:t>Savasere</a:t>
            </a:r>
            <a:r>
              <a:rPr lang="en-US" altLang="en-US" sz="2400" dirty="0"/>
              <a:t>, E. </a:t>
            </a:r>
            <a:r>
              <a:rPr lang="en-US" altLang="en-US" sz="2400" dirty="0" err="1"/>
              <a:t>Omiecinski</a:t>
            </a:r>
            <a:r>
              <a:rPr lang="en-US" altLang="en-US" sz="2400" dirty="0"/>
              <a:t>, and S. </a:t>
            </a:r>
            <a:r>
              <a:rPr lang="en-US" altLang="en-US" sz="2400" dirty="0" err="1"/>
              <a:t>Navathe</a:t>
            </a:r>
            <a:r>
              <a:rPr lang="en-US" altLang="en-US" sz="2400" dirty="0"/>
              <a:t>. </a:t>
            </a:r>
            <a:r>
              <a:rPr lang="en-US" altLang="en-US" sz="2400" dirty="0">
                <a:solidFill>
                  <a:schemeClr val="tx2"/>
                </a:solidFill>
              </a:rPr>
              <a:t>An efficient algorithm for mining association in large databases</a:t>
            </a:r>
            <a:r>
              <a:rPr lang="en-US" altLang="en-US" sz="2400" dirty="0"/>
              <a:t>. In </a:t>
            </a:r>
            <a:r>
              <a:rPr lang="en-US" altLang="en-US" sz="2400" i="1" dirty="0">
                <a:solidFill>
                  <a:schemeClr val="tx2"/>
                </a:solidFill>
              </a:rPr>
              <a:t>VLDB’95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F7AE5-E4F4-F34D-BE85-CE18D0EF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7FB07-F0EA-4B45-A8E2-194CC660CCF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7FE9-0634-BB4F-A7E1-446C02E1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DE4B-5AB8-3549-A14B-96703DFD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4C57-EDD0-9247-A0C5-2EFD0248A93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378306" name="Rectangle 2">
            <a:extLst>
              <a:ext uri="{FF2B5EF4-FFF2-40B4-BE49-F238E27FC236}">
                <a16:creationId xmlns:a16="http://schemas.microsoft.com/office/drawing/2014/main" id="{E89D36B8-3FF8-7B40-B0BA-C42B4CA2A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DHP: Reduce the Number of Candidates</a:t>
            </a:r>
          </a:p>
        </p:txBody>
      </p:sp>
      <p:sp>
        <p:nvSpPr>
          <p:cNvPr id="1378307" name="Rectangle 3">
            <a:extLst>
              <a:ext uri="{FF2B5EF4-FFF2-40B4-BE49-F238E27FC236}">
                <a16:creationId xmlns:a16="http://schemas.microsoft.com/office/drawing/2014/main" id="{0786C237-8FB0-2B4E-9841-2F091AFC7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97888" cy="51054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/>
              <a:t>A </a:t>
            </a:r>
            <a:r>
              <a:rPr lang="en-US" altLang="en-US" sz="2400" i="1"/>
              <a:t>k</a:t>
            </a:r>
            <a:r>
              <a:rPr lang="en-US" altLang="en-US" sz="2400"/>
              <a:t>-itemset whose corresponding hashing bucket count is below the threshold cannot be frequent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Candidates: a, b, c, d, e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Hash entries: {ab, ad, ae} {bd, be, de} …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Frequent 1-itemset: a, b, d, e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ab is not a candidate 2-itemset if the sum of count of {ab, ad, ae} is below support threshold</a:t>
            </a:r>
            <a:endParaRPr lang="en-US" altLang="en-US" sz="3600"/>
          </a:p>
          <a:p>
            <a:pPr>
              <a:lnSpc>
                <a:spcPct val="130000"/>
              </a:lnSpc>
            </a:pPr>
            <a:r>
              <a:rPr lang="en-US" altLang="en-US" sz="2400"/>
              <a:t>J. Park, M. Chen, and P. Yu. </a:t>
            </a:r>
            <a:r>
              <a:rPr lang="en-US" altLang="en-US" sz="2400">
                <a:solidFill>
                  <a:schemeClr val="tx2"/>
                </a:solidFill>
              </a:rPr>
              <a:t>An effective hash-based algorithm for mining association rules</a:t>
            </a:r>
            <a:r>
              <a:rPr lang="en-US" altLang="en-US" sz="2400"/>
              <a:t>. In </a:t>
            </a:r>
            <a:r>
              <a:rPr lang="en-US" altLang="en-US" sz="2400" i="1">
                <a:solidFill>
                  <a:schemeClr val="tx2"/>
                </a:solidFill>
              </a:rPr>
              <a:t>SIGMOD’95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BFA19-7450-B249-8486-D834A362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B3-1FF5-384E-B2C2-EACE8DF49BD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733C-1F39-2E47-B537-54A6B3BB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81FD-E088-6844-B733-FBC8DAA5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C684-FAE3-FD4D-883C-6BD9F7A4465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377282" name="Rectangle 2">
            <a:extLst>
              <a:ext uri="{FF2B5EF4-FFF2-40B4-BE49-F238E27FC236}">
                <a16:creationId xmlns:a16="http://schemas.microsoft.com/office/drawing/2014/main" id="{87EF7F95-6478-F74E-BE60-A402E3C10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487363"/>
          </a:xfrm>
        </p:spPr>
        <p:txBody>
          <a:bodyPr/>
          <a:lstStyle/>
          <a:p>
            <a:r>
              <a:rPr lang="en-US" altLang="en-US" sz="3200"/>
              <a:t>Sampling for Frequent Patterns</a:t>
            </a:r>
          </a:p>
        </p:txBody>
      </p:sp>
      <p:sp>
        <p:nvSpPr>
          <p:cNvPr id="1377283" name="Rectangle 3">
            <a:extLst>
              <a:ext uri="{FF2B5EF4-FFF2-40B4-BE49-F238E27FC236}">
                <a16:creationId xmlns:a16="http://schemas.microsoft.com/office/drawing/2014/main" id="{7ABA8CBB-B2F2-2649-94CF-55C186EEE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/>
              <a:t>Select a sample of original database, mine frequent patterns within sample using Apriori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Scan database once to verify frequent itemsets found in sample, only </a:t>
            </a:r>
            <a:r>
              <a:rPr lang="en-US" altLang="en-US" sz="2400" i="1">
                <a:solidFill>
                  <a:schemeClr val="hlink"/>
                </a:solidFill>
              </a:rPr>
              <a:t>borders</a:t>
            </a:r>
            <a:r>
              <a:rPr lang="en-US" altLang="en-US" sz="2400" i="1"/>
              <a:t> </a:t>
            </a:r>
            <a:r>
              <a:rPr lang="en-US" altLang="en-US" sz="2400"/>
              <a:t>of closure of frequent patterns are checked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Example: check </a:t>
            </a:r>
            <a:r>
              <a:rPr lang="en-US" altLang="en-US" sz="2400" i="1"/>
              <a:t>abcd</a:t>
            </a:r>
            <a:r>
              <a:rPr lang="en-US" altLang="en-US" sz="2400"/>
              <a:t> instead of </a:t>
            </a:r>
            <a:r>
              <a:rPr lang="en-US" altLang="en-US" sz="2400" i="1"/>
              <a:t>ab, ac, …, etc.</a:t>
            </a:r>
            <a:endParaRPr lang="en-US" altLang="en-US" sz="2400"/>
          </a:p>
          <a:p>
            <a:pPr>
              <a:lnSpc>
                <a:spcPct val="130000"/>
              </a:lnSpc>
            </a:pPr>
            <a:r>
              <a:rPr lang="en-US" altLang="en-US" sz="2400"/>
              <a:t>Scan database again to find missed frequent patterns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H. Toivonen. </a:t>
            </a:r>
            <a:r>
              <a:rPr lang="en-US" altLang="en-US" sz="2400">
                <a:solidFill>
                  <a:schemeClr val="tx2"/>
                </a:solidFill>
              </a:rPr>
              <a:t>Sampling large databases for association rules</a:t>
            </a:r>
            <a:r>
              <a:rPr lang="en-US" altLang="en-US" sz="2400"/>
              <a:t>. In </a:t>
            </a:r>
            <a:r>
              <a:rPr lang="en-US" altLang="en-US" sz="2400" i="1">
                <a:solidFill>
                  <a:schemeClr val="tx2"/>
                </a:solidFill>
              </a:rPr>
              <a:t>VLDB’96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ate Placeholder 3">
            <a:extLst>
              <a:ext uri="{FF2B5EF4-FFF2-40B4-BE49-F238E27FC236}">
                <a16:creationId xmlns:a16="http://schemas.microsoft.com/office/drawing/2014/main" id="{4107CE9E-FA81-9941-824B-B1BEF18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1253-9350-CE46-8B09-11DDF23CCB6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75" name="Footer Placeholder 4">
            <a:extLst>
              <a:ext uri="{FF2B5EF4-FFF2-40B4-BE49-F238E27FC236}">
                <a16:creationId xmlns:a16="http://schemas.microsoft.com/office/drawing/2014/main" id="{D891FC01-BD92-874C-8B60-F8124FE6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6" name="Slide Number Placeholder 5">
            <a:extLst>
              <a:ext uri="{FF2B5EF4-FFF2-40B4-BE49-F238E27FC236}">
                <a16:creationId xmlns:a16="http://schemas.microsoft.com/office/drawing/2014/main" id="{4848AD24-66CC-0E4A-9CDA-13FDAAE7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4B2F-D912-8842-A4CE-8A999A31F5B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375234" name="Rectangle 2">
            <a:extLst>
              <a:ext uri="{FF2B5EF4-FFF2-40B4-BE49-F238E27FC236}">
                <a16:creationId xmlns:a16="http://schemas.microsoft.com/office/drawing/2014/main" id="{556C05C5-225E-0846-AE33-EA74D0CDF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406400"/>
          </a:xfrm>
        </p:spPr>
        <p:txBody>
          <a:bodyPr/>
          <a:lstStyle/>
          <a:p>
            <a:r>
              <a:rPr lang="en-US" altLang="en-US" sz="3200"/>
              <a:t>DIC: Reduce Number of Scans</a:t>
            </a:r>
          </a:p>
        </p:txBody>
      </p:sp>
      <p:sp>
        <p:nvSpPr>
          <p:cNvPr id="1375235" name="Text Box 3">
            <a:extLst>
              <a:ext uri="{FF2B5EF4-FFF2-40B4-BE49-F238E27FC236}">
                <a16:creationId xmlns:a16="http://schemas.microsoft.com/office/drawing/2014/main" id="{308F6F8A-FFEE-024E-8454-86C2C26D0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0"/>
            <a:ext cx="892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1375236" name="Text Box 4">
            <a:extLst>
              <a:ext uri="{FF2B5EF4-FFF2-40B4-BE49-F238E27FC236}">
                <a16:creationId xmlns:a16="http://schemas.microsoft.com/office/drawing/2014/main" id="{86491347-642F-F349-8CA0-EBE8203C4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0"/>
            <a:ext cx="71755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ABC</a:t>
            </a:r>
          </a:p>
        </p:txBody>
      </p:sp>
      <p:sp>
        <p:nvSpPr>
          <p:cNvPr id="1375237" name="Text Box 5">
            <a:extLst>
              <a:ext uri="{FF2B5EF4-FFF2-40B4-BE49-F238E27FC236}">
                <a16:creationId xmlns:a16="http://schemas.microsoft.com/office/drawing/2014/main" id="{06340893-C164-A44A-8061-8F8ADB5F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86000"/>
            <a:ext cx="722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ABD</a:t>
            </a:r>
          </a:p>
        </p:txBody>
      </p:sp>
      <p:sp>
        <p:nvSpPr>
          <p:cNvPr id="1375238" name="Text Box 6">
            <a:extLst>
              <a:ext uri="{FF2B5EF4-FFF2-40B4-BE49-F238E27FC236}">
                <a16:creationId xmlns:a16="http://schemas.microsoft.com/office/drawing/2014/main" id="{824EE89F-2CA4-574A-A890-3A5F54D16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00"/>
            <a:ext cx="722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ACD</a:t>
            </a:r>
          </a:p>
        </p:txBody>
      </p:sp>
      <p:sp>
        <p:nvSpPr>
          <p:cNvPr id="1375239" name="Text Box 7">
            <a:extLst>
              <a:ext uri="{FF2B5EF4-FFF2-40B4-BE49-F238E27FC236}">
                <a16:creationId xmlns:a16="http://schemas.microsoft.com/office/drawing/2014/main" id="{8675413B-02C2-774D-BB2F-D08725A7C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286000"/>
            <a:ext cx="736600" cy="425450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BCD</a:t>
            </a:r>
          </a:p>
        </p:txBody>
      </p:sp>
      <p:sp>
        <p:nvSpPr>
          <p:cNvPr id="1375240" name="Text Box 8">
            <a:extLst>
              <a:ext uri="{FF2B5EF4-FFF2-40B4-BE49-F238E27FC236}">
                <a16:creationId xmlns:a16="http://schemas.microsoft.com/office/drawing/2014/main" id="{7F5936FB-FC47-E04A-8FB5-F877ADE67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AB</a:t>
            </a:r>
          </a:p>
        </p:txBody>
      </p:sp>
      <p:sp>
        <p:nvSpPr>
          <p:cNvPr id="1375241" name="Text Box 9">
            <a:extLst>
              <a:ext uri="{FF2B5EF4-FFF2-40B4-BE49-F238E27FC236}">
                <a16:creationId xmlns:a16="http://schemas.microsoft.com/office/drawing/2014/main" id="{DF29B858-AEEF-A841-B193-27034B5CE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AC</a:t>
            </a:r>
          </a:p>
        </p:txBody>
      </p:sp>
      <p:sp>
        <p:nvSpPr>
          <p:cNvPr id="1375242" name="Text Box 10">
            <a:extLst>
              <a:ext uri="{FF2B5EF4-FFF2-40B4-BE49-F238E27FC236}">
                <a16:creationId xmlns:a16="http://schemas.microsoft.com/office/drawing/2014/main" id="{D12ED9A6-2D28-514F-B3DF-64D82A975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48000"/>
            <a:ext cx="5334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BC</a:t>
            </a:r>
          </a:p>
        </p:txBody>
      </p:sp>
      <p:sp>
        <p:nvSpPr>
          <p:cNvPr id="1375243" name="Text Box 11">
            <a:extLst>
              <a:ext uri="{FF2B5EF4-FFF2-40B4-BE49-F238E27FC236}">
                <a16:creationId xmlns:a16="http://schemas.microsoft.com/office/drawing/2014/main" id="{A2E03EDA-AB6F-8842-B526-FF05BD62B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0"/>
            <a:ext cx="581025" cy="425450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AD</a:t>
            </a:r>
          </a:p>
        </p:txBody>
      </p:sp>
      <p:sp>
        <p:nvSpPr>
          <p:cNvPr id="1375244" name="Text Box 12">
            <a:extLst>
              <a:ext uri="{FF2B5EF4-FFF2-40B4-BE49-F238E27FC236}">
                <a16:creationId xmlns:a16="http://schemas.microsoft.com/office/drawing/2014/main" id="{F592C563-5C55-4241-AEE7-F344BDAE2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BD</a:t>
            </a:r>
          </a:p>
        </p:txBody>
      </p:sp>
      <p:sp>
        <p:nvSpPr>
          <p:cNvPr id="1375245" name="Text Box 13">
            <a:extLst>
              <a:ext uri="{FF2B5EF4-FFF2-40B4-BE49-F238E27FC236}">
                <a16:creationId xmlns:a16="http://schemas.microsoft.com/office/drawing/2014/main" id="{CCCFFE47-83A5-9747-8CB2-213A11756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CD</a:t>
            </a:r>
          </a:p>
        </p:txBody>
      </p:sp>
      <p:sp>
        <p:nvSpPr>
          <p:cNvPr id="1375246" name="Text Box 14">
            <a:extLst>
              <a:ext uri="{FF2B5EF4-FFF2-40B4-BE49-F238E27FC236}">
                <a16:creationId xmlns:a16="http://schemas.microsoft.com/office/drawing/2014/main" id="{8BDDE33F-D55D-644E-81E2-50425AF80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900488"/>
            <a:ext cx="377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375247" name="Text Box 15">
            <a:extLst>
              <a:ext uri="{FF2B5EF4-FFF2-40B4-BE49-F238E27FC236}">
                <a16:creationId xmlns:a16="http://schemas.microsoft.com/office/drawing/2014/main" id="{2EDFA11C-D73A-F740-96E3-C0182BB9C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886200"/>
            <a:ext cx="3635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375248" name="Text Box 16">
            <a:extLst>
              <a:ext uri="{FF2B5EF4-FFF2-40B4-BE49-F238E27FC236}">
                <a16:creationId xmlns:a16="http://schemas.microsoft.com/office/drawing/2014/main" id="{6E0A88D6-F6BE-D541-A0F6-CAF5C6FDC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86200"/>
            <a:ext cx="3635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375249" name="Text Box 17">
            <a:extLst>
              <a:ext uri="{FF2B5EF4-FFF2-40B4-BE49-F238E27FC236}">
                <a16:creationId xmlns:a16="http://schemas.microsoft.com/office/drawing/2014/main" id="{C26C9646-B21D-E547-B6EE-73206130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86200"/>
            <a:ext cx="377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375250" name="Text Box 18">
            <a:extLst>
              <a:ext uri="{FF2B5EF4-FFF2-40B4-BE49-F238E27FC236}">
                <a16:creationId xmlns:a16="http://schemas.microsoft.com/office/drawing/2014/main" id="{720A8126-C9E0-3C4A-A1DB-132913033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4586288"/>
            <a:ext cx="43815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cxnSp>
        <p:nvCxnSpPr>
          <p:cNvPr id="1375251" name="AutoShape 19">
            <a:extLst>
              <a:ext uri="{FF2B5EF4-FFF2-40B4-BE49-F238E27FC236}">
                <a16:creationId xmlns:a16="http://schemas.microsoft.com/office/drawing/2014/main" id="{34DB6A53-1070-2E45-8950-AFE038965B6F}"/>
              </a:ext>
            </a:extLst>
          </p:cNvPr>
          <p:cNvCxnSpPr>
            <a:cxnSpLocks noChangeShapeType="1"/>
            <a:stCxn id="1375250" idx="0"/>
            <a:endCxn id="1375246" idx="2"/>
          </p:cNvCxnSpPr>
          <p:nvPr/>
        </p:nvCxnSpPr>
        <p:spPr bwMode="auto">
          <a:xfrm flipH="1" flipV="1">
            <a:off x="1011238" y="4306888"/>
            <a:ext cx="944562" cy="279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2" name="AutoShape 20">
            <a:extLst>
              <a:ext uri="{FF2B5EF4-FFF2-40B4-BE49-F238E27FC236}">
                <a16:creationId xmlns:a16="http://schemas.microsoft.com/office/drawing/2014/main" id="{D856B325-35E9-2B45-8417-240C3226634F}"/>
              </a:ext>
            </a:extLst>
          </p:cNvPr>
          <p:cNvCxnSpPr>
            <a:cxnSpLocks noChangeShapeType="1"/>
            <a:stCxn id="1375250" idx="0"/>
            <a:endCxn id="1375247" idx="2"/>
          </p:cNvCxnSpPr>
          <p:nvPr/>
        </p:nvCxnSpPr>
        <p:spPr bwMode="auto">
          <a:xfrm flipH="1" flipV="1">
            <a:off x="1554163" y="4292600"/>
            <a:ext cx="401637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3" name="AutoShape 21">
            <a:extLst>
              <a:ext uri="{FF2B5EF4-FFF2-40B4-BE49-F238E27FC236}">
                <a16:creationId xmlns:a16="http://schemas.microsoft.com/office/drawing/2014/main" id="{3DD23D42-E080-C541-B33A-975DD2E40347}"/>
              </a:ext>
            </a:extLst>
          </p:cNvPr>
          <p:cNvCxnSpPr>
            <a:cxnSpLocks noChangeShapeType="1"/>
            <a:stCxn id="1375250" idx="0"/>
            <a:endCxn id="1375248" idx="2"/>
          </p:cNvCxnSpPr>
          <p:nvPr/>
        </p:nvCxnSpPr>
        <p:spPr bwMode="auto">
          <a:xfrm flipV="1">
            <a:off x="1955800" y="4292600"/>
            <a:ext cx="131763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4" name="AutoShape 22">
            <a:extLst>
              <a:ext uri="{FF2B5EF4-FFF2-40B4-BE49-F238E27FC236}">
                <a16:creationId xmlns:a16="http://schemas.microsoft.com/office/drawing/2014/main" id="{EDABCA51-6A8D-4541-B4F2-4C02A8AC717B}"/>
              </a:ext>
            </a:extLst>
          </p:cNvPr>
          <p:cNvCxnSpPr>
            <a:cxnSpLocks noChangeShapeType="1"/>
            <a:stCxn id="1375250" idx="0"/>
            <a:endCxn id="1375249" idx="2"/>
          </p:cNvCxnSpPr>
          <p:nvPr/>
        </p:nvCxnSpPr>
        <p:spPr bwMode="auto">
          <a:xfrm flipV="1">
            <a:off x="1955800" y="4292600"/>
            <a:ext cx="671513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5" name="AutoShape 23">
            <a:extLst>
              <a:ext uri="{FF2B5EF4-FFF2-40B4-BE49-F238E27FC236}">
                <a16:creationId xmlns:a16="http://schemas.microsoft.com/office/drawing/2014/main" id="{E1950B6F-5F0D-F845-8E55-811B87C97720}"/>
              </a:ext>
            </a:extLst>
          </p:cNvPr>
          <p:cNvCxnSpPr>
            <a:cxnSpLocks noChangeShapeType="1"/>
            <a:stCxn id="1375246" idx="0"/>
            <a:endCxn id="1375240" idx="2"/>
          </p:cNvCxnSpPr>
          <p:nvPr/>
        </p:nvCxnSpPr>
        <p:spPr bwMode="auto">
          <a:xfrm flipH="1" flipV="1">
            <a:off x="579438" y="3454400"/>
            <a:ext cx="431800" cy="446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6" name="AutoShape 24">
            <a:extLst>
              <a:ext uri="{FF2B5EF4-FFF2-40B4-BE49-F238E27FC236}">
                <a16:creationId xmlns:a16="http://schemas.microsoft.com/office/drawing/2014/main" id="{7F380CA7-FB7C-2449-9E97-7799BCE116CD}"/>
              </a:ext>
            </a:extLst>
          </p:cNvPr>
          <p:cNvCxnSpPr>
            <a:cxnSpLocks noChangeShapeType="1"/>
            <a:stCxn id="1375246" idx="0"/>
            <a:endCxn id="1375241" idx="2"/>
          </p:cNvCxnSpPr>
          <p:nvPr/>
        </p:nvCxnSpPr>
        <p:spPr bwMode="auto">
          <a:xfrm flipV="1">
            <a:off x="1011238" y="3454400"/>
            <a:ext cx="177800" cy="446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7" name="AutoShape 25">
            <a:extLst>
              <a:ext uri="{FF2B5EF4-FFF2-40B4-BE49-F238E27FC236}">
                <a16:creationId xmlns:a16="http://schemas.microsoft.com/office/drawing/2014/main" id="{2F0871BE-14C0-964E-B294-374952893207}"/>
              </a:ext>
            </a:extLst>
          </p:cNvPr>
          <p:cNvCxnSpPr>
            <a:cxnSpLocks noChangeShapeType="1"/>
            <a:stCxn id="1375246" idx="0"/>
            <a:endCxn id="1375243" idx="2"/>
          </p:cNvCxnSpPr>
          <p:nvPr/>
        </p:nvCxnSpPr>
        <p:spPr bwMode="auto">
          <a:xfrm flipV="1">
            <a:off x="1011238" y="3487738"/>
            <a:ext cx="141287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8" name="AutoShape 26">
            <a:extLst>
              <a:ext uri="{FF2B5EF4-FFF2-40B4-BE49-F238E27FC236}">
                <a16:creationId xmlns:a16="http://schemas.microsoft.com/office/drawing/2014/main" id="{BBECA417-77D4-3646-999D-1B7D1D87B454}"/>
              </a:ext>
            </a:extLst>
          </p:cNvPr>
          <p:cNvCxnSpPr>
            <a:cxnSpLocks noChangeShapeType="1"/>
            <a:stCxn id="1375247" idx="0"/>
            <a:endCxn id="1375242" idx="2"/>
          </p:cNvCxnSpPr>
          <p:nvPr/>
        </p:nvCxnSpPr>
        <p:spPr bwMode="auto">
          <a:xfrm flipV="1">
            <a:off x="1554163" y="3454400"/>
            <a:ext cx="236537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59" name="AutoShape 27">
            <a:extLst>
              <a:ext uri="{FF2B5EF4-FFF2-40B4-BE49-F238E27FC236}">
                <a16:creationId xmlns:a16="http://schemas.microsoft.com/office/drawing/2014/main" id="{98D6DCD1-0FC1-A14D-83B0-1E881B21E282}"/>
              </a:ext>
            </a:extLst>
          </p:cNvPr>
          <p:cNvCxnSpPr>
            <a:cxnSpLocks noChangeShapeType="1"/>
            <a:stCxn id="1375247" idx="0"/>
            <a:endCxn id="1375240" idx="2"/>
          </p:cNvCxnSpPr>
          <p:nvPr/>
        </p:nvCxnSpPr>
        <p:spPr bwMode="auto">
          <a:xfrm flipH="1" flipV="1">
            <a:off x="579438" y="3454400"/>
            <a:ext cx="9747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0" name="AutoShape 28">
            <a:extLst>
              <a:ext uri="{FF2B5EF4-FFF2-40B4-BE49-F238E27FC236}">
                <a16:creationId xmlns:a16="http://schemas.microsoft.com/office/drawing/2014/main" id="{035C1225-010B-C64E-BBB8-D4B20F70A5AD}"/>
              </a:ext>
            </a:extLst>
          </p:cNvPr>
          <p:cNvCxnSpPr>
            <a:cxnSpLocks noChangeShapeType="1"/>
            <a:stCxn id="1375247" idx="0"/>
            <a:endCxn id="1375244" idx="2"/>
          </p:cNvCxnSpPr>
          <p:nvPr/>
        </p:nvCxnSpPr>
        <p:spPr bwMode="auto">
          <a:xfrm flipV="1">
            <a:off x="1554163" y="3454400"/>
            <a:ext cx="15398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1" name="AutoShape 29">
            <a:extLst>
              <a:ext uri="{FF2B5EF4-FFF2-40B4-BE49-F238E27FC236}">
                <a16:creationId xmlns:a16="http://schemas.microsoft.com/office/drawing/2014/main" id="{4B9B4DB8-0731-6444-B8D6-C9539C728EB1}"/>
              </a:ext>
            </a:extLst>
          </p:cNvPr>
          <p:cNvCxnSpPr>
            <a:cxnSpLocks noChangeShapeType="1"/>
            <a:stCxn id="1375248" idx="0"/>
            <a:endCxn id="1375241" idx="2"/>
          </p:cNvCxnSpPr>
          <p:nvPr/>
        </p:nvCxnSpPr>
        <p:spPr bwMode="auto">
          <a:xfrm flipH="1" flipV="1">
            <a:off x="1189038" y="3454400"/>
            <a:ext cx="8985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2" name="AutoShape 30">
            <a:extLst>
              <a:ext uri="{FF2B5EF4-FFF2-40B4-BE49-F238E27FC236}">
                <a16:creationId xmlns:a16="http://schemas.microsoft.com/office/drawing/2014/main" id="{A0BEAC7F-9A03-6046-9A47-1C377D7EB444}"/>
              </a:ext>
            </a:extLst>
          </p:cNvPr>
          <p:cNvCxnSpPr>
            <a:cxnSpLocks noChangeShapeType="1"/>
            <a:stCxn id="1375248" idx="0"/>
            <a:endCxn id="1375242" idx="2"/>
          </p:cNvCxnSpPr>
          <p:nvPr/>
        </p:nvCxnSpPr>
        <p:spPr bwMode="auto">
          <a:xfrm flipH="1" flipV="1">
            <a:off x="1790700" y="3454400"/>
            <a:ext cx="296863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3" name="AutoShape 31">
            <a:extLst>
              <a:ext uri="{FF2B5EF4-FFF2-40B4-BE49-F238E27FC236}">
                <a16:creationId xmlns:a16="http://schemas.microsoft.com/office/drawing/2014/main" id="{AD192CE1-FCA3-6A47-B529-B7AB94384965}"/>
              </a:ext>
            </a:extLst>
          </p:cNvPr>
          <p:cNvCxnSpPr>
            <a:cxnSpLocks noChangeShapeType="1"/>
            <a:stCxn id="1375248" idx="0"/>
            <a:endCxn id="1375245" idx="2"/>
          </p:cNvCxnSpPr>
          <p:nvPr/>
        </p:nvCxnSpPr>
        <p:spPr bwMode="auto">
          <a:xfrm flipV="1">
            <a:off x="2087563" y="3454400"/>
            <a:ext cx="16922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4" name="AutoShape 32">
            <a:extLst>
              <a:ext uri="{FF2B5EF4-FFF2-40B4-BE49-F238E27FC236}">
                <a16:creationId xmlns:a16="http://schemas.microsoft.com/office/drawing/2014/main" id="{9DBC834D-3A35-694C-A02F-8E67EFFF805C}"/>
              </a:ext>
            </a:extLst>
          </p:cNvPr>
          <p:cNvCxnSpPr>
            <a:cxnSpLocks noChangeShapeType="1"/>
            <a:stCxn id="1375249" idx="0"/>
            <a:endCxn id="1375243" idx="2"/>
          </p:cNvCxnSpPr>
          <p:nvPr/>
        </p:nvCxnSpPr>
        <p:spPr bwMode="auto">
          <a:xfrm flipH="1" flipV="1">
            <a:off x="2424113" y="3487738"/>
            <a:ext cx="203200" cy="398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5" name="AutoShape 33">
            <a:extLst>
              <a:ext uri="{FF2B5EF4-FFF2-40B4-BE49-F238E27FC236}">
                <a16:creationId xmlns:a16="http://schemas.microsoft.com/office/drawing/2014/main" id="{0614494E-C9E6-A447-88A3-2D1B9E784546}"/>
              </a:ext>
            </a:extLst>
          </p:cNvPr>
          <p:cNvCxnSpPr>
            <a:cxnSpLocks noChangeShapeType="1"/>
            <a:stCxn id="1375249" idx="0"/>
            <a:endCxn id="1375244" idx="2"/>
          </p:cNvCxnSpPr>
          <p:nvPr/>
        </p:nvCxnSpPr>
        <p:spPr bwMode="auto">
          <a:xfrm flipV="1">
            <a:off x="2627313" y="3454400"/>
            <a:ext cx="4667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6" name="AutoShape 34">
            <a:extLst>
              <a:ext uri="{FF2B5EF4-FFF2-40B4-BE49-F238E27FC236}">
                <a16:creationId xmlns:a16="http://schemas.microsoft.com/office/drawing/2014/main" id="{03E76792-C79B-3048-80DB-EBACF081FB59}"/>
              </a:ext>
            </a:extLst>
          </p:cNvPr>
          <p:cNvCxnSpPr>
            <a:cxnSpLocks noChangeShapeType="1"/>
            <a:stCxn id="1375249" idx="0"/>
            <a:endCxn id="1375245" idx="2"/>
          </p:cNvCxnSpPr>
          <p:nvPr/>
        </p:nvCxnSpPr>
        <p:spPr bwMode="auto">
          <a:xfrm flipV="1">
            <a:off x="2627313" y="3454400"/>
            <a:ext cx="11525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7" name="AutoShape 35">
            <a:extLst>
              <a:ext uri="{FF2B5EF4-FFF2-40B4-BE49-F238E27FC236}">
                <a16:creationId xmlns:a16="http://schemas.microsoft.com/office/drawing/2014/main" id="{1C40E026-54AD-4141-B165-DEEA208E70BD}"/>
              </a:ext>
            </a:extLst>
          </p:cNvPr>
          <p:cNvCxnSpPr>
            <a:cxnSpLocks noChangeShapeType="1"/>
            <a:stCxn id="1375240" idx="0"/>
            <a:endCxn id="1375236" idx="2"/>
          </p:cNvCxnSpPr>
          <p:nvPr/>
        </p:nvCxnSpPr>
        <p:spPr bwMode="auto">
          <a:xfrm flipV="1">
            <a:off x="579438" y="2692400"/>
            <a:ext cx="236537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8" name="AutoShape 36">
            <a:extLst>
              <a:ext uri="{FF2B5EF4-FFF2-40B4-BE49-F238E27FC236}">
                <a16:creationId xmlns:a16="http://schemas.microsoft.com/office/drawing/2014/main" id="{ED139A42-A8F4-844A-89F5-598242803706}"/>
              </a:ext>
            </a:extLst>
          </p:cNvPr>
          <p:cNvCxnSpPr>
            <a:cxnSpLocks noChangeShapeType="1"/>
            <a:stCxn id="1375240" idx="0"/>
            <a:endCxn id="1375237" idx="2"/>
          </p:cNvCxnSpPr>
          <p:nvPr/>
        </p:nvCxnSpPr>
        <p:spPr bwMode="auto">
          <a:xfrm flipV="1">
            <a:off x="579438" y="2682875"/>
            <a:ext cx="100171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69" name="AutoShape 37">
            <a:extLst>
              <a:ext uri="{FF2B5EF4-FFF2-40B4-BE49-F238E27FC236}">
                <a16:creationId xmlns:a16="http://schemas.microsoft.com/office/drawing/2014/main" id="{9E1C5AC0-6B6B-874B-991A-52960988B8C2}"/>
              </a:ext>
            </a:extLst>
          </p:cNvPr>
          <p:cNvCxnSpPr>
            <a:cxnSpLocks noChangeShapeType="1"/>
            <a:stCxn id="1375241" idx="0"/>
            <a:endCxn id="1375236" idx="2"/>
          </p:cNvCxnSpPr>
          <p:nvPr/>
        </p:nvCxnSpPr>
        <p:spPr bwMode="auto">
          <a:xfrm flipH="1" flipV="1">
            <a:off x="815975" y="2692400"/>
            <a:ext cx="373063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0" name="AutoShape 38">
            <a:extLst>
              <a:ext uri="{FF2B5EF4-FFF2-40B4-BE49-F238E27FC236}">
                <a16:creationId xmlns:a16="http://schemas.microsoft.com/office/drawing/2014/main" id="{A525AA36-8DB9-0049-9E2C-746F53156C41}"/>
              </a:ext>
            </a:extLst>
          </p:cNvPr>
          <p:cNvCxnSpPr>
            <a:cxnSpLocks noChangeShapeType="1"/>
            <a:stCxn id="1375241" idx="0"/>
            <a:endCxn id="1375238" idx="2"/>
          </p:cNvCxnSpPr>
          <p:nvPr/>
        </p:nvCxnSpPr>
        <p:spPr bwMode="auto">
          <a:xfrm flipV="1">
            <a:off x="1189038" y="2682875"/>
            <a:ext cx="115411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1" name="AutoShape 39">
            <a:extLst>
              <a:ext uri="{FF2B5EF4-FFF2-40B4-BE49-F238E27FC236}">
                <a16:creationId xmlns:a16="http://schemas.microsoft.com/office/drawing/2014/main" id="{6F9862EC-7A01-F440-A22D-AB18D8AFAE9E}"/>
              </a:ext>
            </a:extLst>
          </p:cNvPr>
          <p:cNvCxnSpPr>
            <a:cxnSpLocks noChangeShapeType="1"/>
            <a:stCxn id="1375242" idx="0"/>
            <a:endCxn id="1375236" idx="2"/>
          </p:cNvCxnSpPr>
          <p:nvPr/>
        </p:nvCxnSpPr>
        <p:spPr bwMode="auto">
          <a:xfrm flipH="1" flipV="1">
            <a:off x="815975" y="2692400"/>
            <a:ext cx="974725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2" name="AutoShape 40">
            <a:extLst>
              <a:ext uri="{FF2B5EF4-FFF2-40B4-BE49-F238E27FC236}">
                <a16:creationId xmlns:a16="http://schemas.microsoft.com/office/drawing/2014/main" id="{A41AE53A-D67C-0C49-9B0C-D9D7E2AAD5EE}"/>
              </a:ext>
            </a:extLst>
          </p:cNvPr>
          <p:cNvCxnSpPr>
            <a:cxnSpLocks noChangeShapeType="1"/>
            <a:stCxn id="1375242" idx="0"/>
            <a:endCxn id="1375239" idx="2"/>
          </p:cNvCxnSpPr>
          <p:nvPr/>
        </p:nvCxnSpPr>
        <p:spPr bwMode="auto">
          <a:xfrm flipV="1">
            <a:off x="1790700" y="2725738"/>
            <a:ext cx="1244600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3" name="AutoShape 41">
            <a:extLst>
              <a:ext uri="{FF2B5EF4-FFF2-40B4-BE49-F238E27FC236}">
                <a16:creationId xmlns:a16="http://schemas.microsoft.com/office/drawing/2014/main" id="{4B9C7B92-C352-1046-BA9A-6334B0E94339}"/>
              </a:ext>
            </a:extLst>
          </p:cNvPr>
          <p:cNvCxnSpPr>
            <a:cxnSpLocks noChangeShapeType="1"/>
            <a:stCxn id="1375244" idx="0"/>
            <a:endCxn id="1375237" idx="2"/>
          </p:cNvCxnSpPr>
          <p:nvPr/>
        </p:nvCxnSpPr>
        <p:spPr bwMode="auto">
          <a:xfrm flipH="1" flipV="1">
            <a:off x="1581150" y="2682875"/>
            <a:ext cx="151288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4" name="AutoShape 42">
            <a:extLst>
              <a:ext uri="{FF2B5EF4-FFF2-40B4-BE49-F238E27FC236}">
                <a16:creationId xmlns:a16="http://schemas.microsoft.com/office/drawing/2014/main" id="{65D38A69-C78F-F84A-BAE2-B31FCD50E698}"/>
              </a:ext>
            </a:extLst>
          </p:cNvPr>
          <p:cNvCxnSpPr>
            <a:cxnSpLocks noChangeShapeType="1"/>
            <a:stCxn id="1375242" idx="0"/>
            <a:endCxn id="1375239" idx="2"/>
          </p:cNvCxnSpPr>
          <p:nvPr/>
        </p:nvCxnSpPr>
        <p:spPr bwMode="auto">
          <a:xfrm flipV="1">
            <a:off x="1790700" y="2725738"/>
            <a:ext cx="1244600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5" name="AutoShape 43">
            <a:extLst>
              <a:ext uri="{FF2B5EF4-FFF2-40B4-BE49-F238E27FC236}">
                <a16:creationId xmlns:a16="http://schemas.microsoft.com/office/drawing/2014/main" id="{FB1E29C8-7844-B040-8422-3A6ED006F2FE}"/>
              </a:ext>
            </a:extLst>
          </p:cNvPr>
          <p:cNvCxnSpPr>
            <a:cxnSpLocks noChangeShapeType="1"/>
            <a:stCxn id="1375244" idx="0"/>
            <a:endCxn id="1375239" idx="2"/>
          </p:cNvCxnSpPr>
          <p:nvPr/>
        </p:nvCxnSpPr>
        <p:spPr bwMode="auto">
          <a:xfrm flipH="1" flipV="1">
            <a:off x="3035300" y="2725738"/>
            <a:ext cx="58738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6" name="AutoShape 44">
            <a:extLst>
              <a:ext uri="{FF2B5EF4-FFF2-40B4-BE49-F238E27FC236}">
                <a16:creationId xmlns:a16="http://schemas.microsoft.com/office/drawing/2014/main" id="{09ABA4B5-3944-2748-A2E0-C8B6D964DC66}"/>
              </a:ext>
            </a:extLst>
          </p:cNvPr>
          <p:cNvCxnSpPr>
            <a:cxnSpLocks noChangeShapeType="1"/>
            <a:stCxn id="1375245" idx="0"/>
            <a:endCxn id="1375238" idx="2"/>
          </p:cNvCxnSpPr>
          <p:nvPr/>
        </p:nvCxnSpPr>
        <p:spPr bwMode="auto">
          <a:xfrm flipH="1" flipV="1">
            <a:off x="2343150" y="2682875"/>
            <a:ext cx="143668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7" name="AutoShape 45">
            <a:extLst>
              <a:ext uri="{FF2B5EF4-FFF2-40B4-BE49-F238E27FC236}">
                <a16:creationId xmlns:a16="http://schemas.microsoft.com/office/drawing/2014/main" id="{920DEA02-57DB-9C44-AAC2-639C9888E998}"/>
              </a:ext>
            </a:extLst>
          </p:cNvPr>
          <p:cNvCxnSpPr>
            <a:cxnSpLocks noChangeShapeType="1"/>
            <a:stCxn id="1375245" idx="0"/>
            <a:endCxn id="1375239" idx="2"/>
          </p:cNvCxnSpPr>
          <p:nvPr/>
        </p:nvCxnSpPr>
        <p:spPr bwMode="auto">
          <a:xfrm flipH="1" flipV="1">
            <a:off x="3035300" y="2725738"/>
            <a:ext cx="744538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8" name="AutoShape 46">
            <a:extLst>
              <a:ext uri="{FF2B5EF4-FFF2-40B4-BE49-F238E27FC236}">
                <a16:creationId xmlns:a16="http://schemas.microsoft.com/office/drawing/2014/main" id="{9F76FF86-246E-0C40-A14C-C30EE502F3AF}"/>
              </a:ext>
            </a:extLst>
          </p:cNvPr>
          <p:cNvCxnSpPr>
            <a:cxnSpLocks noChangeShapeType="1"/>
            <a:stCxn id="1375236" idx="0"/>
            <a:endCxn id="1375235" idx="2"/>
          </p:cNvCxnSpPr>
          <p:nvPr/>
        </p:nvCxnSpPr>
        <p:spPr bwMode="auto">
          <a:xfrm flipV="1">
            <a:off x="815975" y="1920875"/>
            <a:ext cx="1154113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79" name="AutoShape 47">
            <a:extLst>
              <a:ext uri="{FF2B5EF4-FFF2-40B4-BE49-F238E27FC236}">
                <a16:creationId xmlns:a16="http://schemas.microsoft.com/office/drawing/2014/main" id="{2ED499A0-86EC-EF4D-9C5E-BC3882550979}"/>
              </a:ext>
            </a:extLst>
          </p:cNvPr>
          <p:cNvCxnSpPr>
            <a:cxnSpLocks noChangeShapeType="1"/>
            <a:stCxn id="1375237" idx="0"/>
            <a:endCxn id="1375235" idx="2"/>
          </p:cNvCxnSpPr>
          <p:nvPr/>
        </p:nvCxnSpPr>
        <p:spPr bwMode="auto">
          <a:xfrm flipV="1">
            <a:off x="1581150" y="1920875"/>
            <a:ext cx="38893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80" name="AutoShape 48">
            <a:extLst>
              <a:ext uri="{FF2B5EF4-FFF2-40B4-BE49-F238E27FC236}">
                <a16:creationId xmlns:a16="http://schemas.microsoft.com/office/drawing/2014/main" id="{BA2D2739-263A-DE45-AD99-BFBA9866883B}"/>
              </a:ext>
            </a:extLst>
          </p:cNvPr>
          <p:cNvCxnSpPr>
            <a:cxnSpLocks noChangeShapeType="1"/>
            <a:stCxn id="1375238" idx="0"/>
            <a:endCxn id="1375235" idx="2"/>
          </p:cNvCxnSpPr>
          <p:nvPr/>
        </p:nvCxnSpPr>
        <p:spPr bwMode="auto">
          <a:xfrm flipH="1" flipV="1">
            <a:off x="1970088" y="1920875"/>
            <a:ext cx="37306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81" name="AutoShape 49">
            <a:extLst>
              <a:ext uri="{FF2B5EF4-FFF2-40B4-BE49-F238E27FC236}">
                <a16:creationId xmlns:a16="http://schemas.microsoft.com/office/drawing/2014/main" id="{68C9A223-1F6B-6548-9746-F7C363076155}"/>
              </a:ext>
            </a:extLst>
          </p:cNvPr>
          <p:cNvCxnSpPr>
            <a:cxnSpLocks noChangeShapeType="1"/>
            <a:stCxn id="1375239" idx="0"/>
            <a:endCxn id="1375235" idx="2"/>
          </p:cNvCxnSpPr>
          <p:nvPr/>
        </p:nvCxnSpPr>
        <p:spPr bwMode="auto">
          <a:xfrm flipH="1" flipV="1">
            <a:off x="1970088" y="1920875"/>
            <a:ext cx="1065212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82" name="AutoShape 50">
            <a:extLst>
              <a:ext uri="{FF2B5EF4-FFF2-40B4-BE49-F238E27FC236}">
                <a16:creationId xmlns:a16="http://schemas.microsoft.com/office/drawing/2014/main" id="{30C16BF4-1C75-4C46-B6F4-976CF8E91BC3}"/>
              </a:ext>
            </a:extLst>
          </p:cNvPr>
          <p:cNvCxnSpPr>
            <a:cxnSpLocks noChangeShapeType="1"/>
            <a:stCxn id="1375243" idx="0"/>
            <a:endCxn id="1375238" idx="2"/>
          </p:cNvCxnSpPr>
          <p:nvPr/>
        </p:nvCxnSpPr>
        <p:spPr bwMode="auto">
          <a:xfrm flipH="1" flipV="1">
            <a:off x="2343150" y="2682875"/>
            <a:ext cx="80963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5283" name="AutoShape 51">
            <a:extLst>
              <a:ext uri="{FF2B5EF4-FFF2-40B4-BE49-F238E27FC236}">
                <a16:creationId xmlns:a16="http://schemas.microsoft.com/office/drawing/2014/main" id="{2E5D0D84-6E35-174A-9A71-7F2D350A42FF}"/>
              </a:ext>
            </a:extLst>
          </p:cNvPr>
          <p:cNvCxnSpPr>
            <a:cxnSpLocks noChangeShapeType="1"/>
            <a:stCxn id="1375243" idx="0"/>
            <a:endCxn id="1375237" idx="2"/>
          </p:cNvCxnSpPr>
          <p:nvPr/>
        </p:nvCxnSpPr>
        <p:spPr bwMode="auto">
          <a:xfrm flipH="1" flipV="1">
            <a:off x="1581150" y="2682875"/>
            <a:ext cx="842963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75284" name="Text Box 52">
            <a:extLst>
              <a:ext uri="{FF2B5EF4-FFF2-40B4-BE49-F238E27FC236}">
                <a16:creationId xmlns:a16="http://schemas.microsoft.com/office/drawing/2014/main" id="{8780DAA9-5D3E-B149-A1E9-B5AA23DB3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53000"/>
            <a:ext cx="160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Itemset lattice</a:t>
            </a:r>
          </a:p>
        </p:txBody>
      </p:sp>
      <p:sp>
        <p:nvSpPr>
          <p:cNvPr id="1375285" name="Rectangle 53">
            <a:extLst>
              <a:ext uri="{FF2B5EF4-FFF2-40B4-BE49-F238E27FC236}">
                <a16:creationId xmlns:a16="http://schemas.microsoft.com/office/drawing/2014/main" id="{725B82F2-8884-EE46-99EA-A9F73EEA1B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91000" y="1828800"/>
            <a:ext cx="4800600" cy="1447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/>
              <a:t>Once both A and D are determined frequent, the counting of AD begins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Once all length-2 subsets of BCD are determined frequent, the counting of BCD begins</a:t>
            </a:r>
          </a:p>
        </p:txBody>
      </p:sp>
      <p:sp>
        <p:nvSpPr>
          <p:cNvPr id="1375286" name="Rectangle 54">
            <a:extLst>
              <a:ext uri="{FF2B5EF4-FFF2-40B4-BE49-F238E27FC236}">
                <a16:creationId xmlns:a16="http://schemas.microsoft.com/office/drawing/2014/main" id="{DADBBDC7-0C3B-C543-B9F2-4FCA7DE50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352800"/>
            <a:ext cx="4495800" cy="3810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000">
                <a:solidFill>
                  <a:schemeClr val="bg1"/>
                </a:solidFill>
                <a:latin typeface="Times New Roman" panose="02020603050405020304" pitchFamily="18" charset="0"/>
              </a:rPr>
              <a:t>Transactions</a:t>
            </a:r>
          </a:p>
        </p:txBody>
      </p:sp>
      <p:sp>
        <p:nvSpPr>
          <p:cNvPr id="1375287" name="Line 55">
            <a:extLst>
              <a:ext uri="{FF2B5EF4-FFF2-40B4-BE49-F238E27FC236}">
                <a16:creationId xmlns:a16="http://schemas.microsoft.com/office/drawing/2014/main" id="{7E2A41CB-6344-6949-A592-206107853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132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288" name="Text Box 56">
            <a:extLst>
              <a:ext uri="{FF2B5EF4-FFF2-40B4-BE49-F238E27FC236}">
                <a16:creationId xmlns:a16="http://schemas.microsoft.com/office/drawing/2014/main" id="{8D826475-A38A-454F-9340-ADA894F89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3733800"/>
            <a:ext cx="1223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1-itemsets</a:t>
            </a:r>
          </a:p>
        </p:txBody>
      </p:sp>
      <p:sp>
        <p:nvSpPr>
          <p:cNvPr id="1375289" name="Line 57">
            <a:extLst>
              <a:ext uri="{FF2B5EF4-FFF2-40B4-BE49-F238E27FC236}">
                <a16:creationId xmlns:a16="http://schemas.microsoft.com/office/drawing/2014/main" id="{5F022754-82F3-D74B-8111-524295711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4180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290" name="Text Box 58">
            <a:extLst>
              <a:ext uri="{FF2B5EF4-FFF2-40B4-BE49-F238E27FC236}">
                <a16:creationId xmlns:a16="http://schemas.microsoft.com/office/drawing/2014/main" id="{03BF734A-98E8-6640-91F7-CD24C461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4038600"/>
            <a:ext cx="1223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2-itemsets</a:t>
            </a:r>
          </a:p>
        </p:txBody>
      </p:sp>
      <p:sp>
        <p:nvSpPr>
          <p:cNvPr id="1375291" name="Line 59">
            <a:extLst>
              <a:ext uri="{FF2B5EF4-FFF2-40B4-BE49-F238E27FC236}">
                <a16:creationId xmlns:a16="http://schemas.microsoft.com/office/drawing/2014/main" id="{2774C687-3910-D847-8111-EE42EB035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7228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292" name="Text Box 60">
            <a:extLst>
              <a:ext uri="{FF2B5EF4-FFF2-40B4-BE49-F238E27FC236}">
                <a16:creationId xmlns:a16="http://schemas.microsoft.com/office/drawing/2014/main" id="{8E6CD660-B320-7A4E-9403-194AD29E9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613" y="434340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1375293" name="Text Box 61">
            <a:extLst>
              <a:ext uri="{FF2B5EF4-FFF2-40B4-BE49-F238E27FC236}">
                <a16:creationId xmlns:a16="http://schemas.microsoft.com/office/drawing/2014/main" id="{DC6C8FE6-2775-514A-A8A9-6404FBA59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14800"/>
            <a:ext cx="930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Apriori</a:t>
            </a:r>
          </a:p>
        </p:txBody>
      </p:sp>
      <p:sp>
        <p:nvSpPr>
          <p:cNvPr id="1375294" name="Line 62">
            <a:extLst>
              <a:ext uri="{FF2B5EF4-FFF2-40B4-BE49-F238E27FC236}">
                <a16:creationId xmlns:a16="http://schemas.microsoft.com/office/drawing/2014/main" id="{41D20E0D-BAAF-B340-A245-DDA07A156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32413"/>
            <a:ext cx="4414838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295" name="Text Box 63">
            <a:extLst>
              <a:ext uri="{FF2B5EF4-FFF2-40B4-BE49-F238E27FC236}">
                <a16:creationId xmlns:a16="http://schemas.microsoft.com/office/drawing/2014/main" id="{82112204-AA50-7F41-B7B4-1BB5FA525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4953000"/>
            <a:ext cx="1223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1-itemsets</a:t>
            </a:r>
          </a:p>
        </p:txBody>
      </p:sp>
      <p:sp>
        <p:nvSpPr>
          <p:cNvPr id="1375296" name="Line 64">
            <a:extLst>
              <a:ext uri="{FF2B5EF4-FFF2-40B4-BE49-F238E27FC236}">
                <a16:creationId xmlns:a16="http://schemas.microsoft.com/office/drawing/2014/main" id="{C818ED2B-0E31-5149-BCC5-460AEF9C8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638800"/>
            <a:ext cx="3581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297" name="Line 65">
            <a:extLst>
              <a:ext uri="{FF2B5EF4-FFF2-40B4-BE49-F238E27FC236}">
                <a16:creationId xmlns:a16="http://schemas.microsoft.com/office/drawing/2014/main" id="{D827C735-4047-DC4B-A896-CDEEC4F2F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172200"/>
            <a:ext cx="838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75298" name="AutoShape 66">
            <a:extLst>
              <a:ext uri="{FF2B5EF4-FFF2-40B4-BE49-F238E27FC236}">
                <a16:creationId xmlns:a16="http://schemas.microsoft.com/office/drawing/2014/main" id="{45F03C76-05C1-F247-A1A4-56676A78AEC1}"/>
              </a:ext>
            </a:extLst>
          </p:cNvPr>
          <p:cNvCxnSpPr>
            <a:cxnSpLocks noChangeShapeType="1"/>
            <a:stCxn id="1375296" idx="1"/>
            <a:endCxn id="1375297" idx="0"/>
          </p:cNvCxnSpPr>
          <p:nvPr/>
        </p:nvCxnSpPr>
        <p:spPr bwMode="auto">
          <a:xfrm flipH="1">
            <a:off x="4343400" y="56388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75299" name="Text Box 67">
            <a:extLst>
              <a:ext uri="{FF2B5EF4-FFF2-40B4-BE49-F238E27FC236}">
                <a16:creationId xmlns:a16="http://schemas.microsoft.com/office/drawing/2014/main" id="{B9263A3E-F827-DA49-B2D6-32AA69B96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257800"/>
            <a:ext cx="94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2-items</a:t>
            </a:r>
          </a:p>
        </p:txBody>
      </p:sp>
      <p:sp>
        <p:nvSpPr>
          <p:cNvPr id="1375300" name="Line 68">
            <a:extLst>
              <a:ext uri="{FF2B5EF4-FFF2-40B4-BE49-F238E27FC236}">
                <a16:creationId xmlns:a16="http://schemas.microsoft.com/office/drawing/2014/main" id="{E8ECB1F3-9EF9-E846-91C2-2ED675452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943600"/>
            <a:ext cx="1676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301" name="Line 69">
            <a:extLst>
              <a:ext uri="{FF2B5EF4-FFF2-40B4-BE49-F238E27FC236}">
                <a16:creationId xmlns:a16="http://schemas.microsoft.com/office/drawing/2014/main" id="{78C45E24-88B7-114B-A5CE-9F257EE83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477000"/>
            <a:ext cx="2743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5302" name="Text Box 70">
            <a:extLst>
              <a:ext uri="{FF2B5EF4-FFF2-40B4-BE49-F238E27FC236}">
                <a16:creationId xmlns:a16="http://schemas.microsoft.com/office/drawing/2014/main" id="{E9811F26-D727-D247-A696-BE2917DE8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5576888"/>
            <a:ext cx="94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3-items</a:t>
            </a:r>
          </a:p>
        </p:txBody>
      </p:sp>
      <p:cxnSp>
        <p:nvCxnSpPr>
          <p:cNvPr id="1375303" name="AutoShape 71">
            <a:extLst>
              <a:ext uri="{FF2B5EF4-FFF2-40B4-BE49-F238E27FC236}">
                <a16:creationId xmlns:a16="http://schemas.microsoft.com/office/drawing/2014/main" id="{A5F215C1-10C2-A641-98E4-4F422D5E5B6F}"/>
              </a:ext>
            </a:extLst>
          </p:cNvPr>
          <p:cNvCxnSpPr>
            <a:cxnSpLocks noChangeShapeType="1"/>
            <a:stCxn id="1375300" idx="1"/>
            <a:endCxn id="1375301" idx="0"/>
          </p:cNvCxnSpPr>
          <p:nvPr/>
        </p:nvCxnSpPr>
        <p:spPr bwMode="auto">
          <a:xfrm flipH="1">
            <a:off x="4343400" y="59436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75304" name="Text Box 72">
            <a:extLst>
              <a:ext uri="{FF2B5EF4-FFF2-40B4-BE49-F238E27FC236}">
                <a16:creationId xmlns:a16="http://schemas.microsoft.com/office/drawing/2014/main" id="{CFFA1C90-0974-A44B-A2C2-CDFEB53EF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5576888"/>
            <a:ext cx="622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DIC</a:t>
            </a:r>
          </a:p>
        </p:txBody>
      </p:sp>
      <p:sp>
        <p:nvSpPr>
          <p:cNvPr id="1375305" name="Rectangle 73">
            <a:extLst>
              <a:ext uri="{FF2B5EF4-FFF2-40B4-BE49-F238E27FC236}">
                <a16:creationId xmlns:a16="http://schemas.microsoft.com/office/drawing/2014/main" id="{C7B435F4-21B2-4047-AE5C-EDFE01137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257800"/>
            <a:ext cx="35814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S. Brin R. Motwani, J. Ullman, and S. Tsur. </a:t>
            </a:r>
            <a:r>
              <a:rPr lang="en-US" altLang="en-US" sz="1800">
                <a:solidFill>
                  <a:schemeClr val="tx2"/>
                </a:solidFill>
              </a:rPr>
              <a:t>Dynamic itemset counting and implication rules for market basket data</a:t>
            </a:r>
            <a:r>
              <a:rPr lang="en-US" altLang="en-US" sz="1800"/>
              <a:t>. In </a:t>
            </a:r>
            <a:r>
              <a:rPr lang="en-US" altLang="en-US" sz="1800" i="1">
                <a:solidFill>
                  <a:schemeClr val="tx2"/>
                </a:solidFill>
              </a:rPr>
              <a:t>SIGMOD’97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6246-FAED-7449-9196-8C8D8A58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BC1B-6609-E647-B80E-79308C964C34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42DA9-D568-DC48-9065-C68E6151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D107A-1E67-304C-89A5-C46AB565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DB07-4A61-9B4C-9E06-9E5716D3CEB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380354" name="Rectangle 2">
            <a:extLst>
              <a:ext uri="{FF2B5EF4-FFF2-40B4-BE49-F238E27FC236}">
                <a16:creationId xmlns:a16="http://schemas.microsoft.com/office/drawing/2014/main" id="{43DFA565-6F02-FB48-8191-B1895EDF0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Bottleneck of Frequent-pattern Mining</a:t>
            </a:r>
          </a:p>
        </p:txBody>
      </p:sp>
      <p:sp>
        <p:nvSpPr>
          <p:cNvPr id="1380355" name="Rectangle 3">
            <a:extLst>
              <a:ext uri="{FF2B5EF4-FFF2-40B4-BE49-F238E27FC236}">
                <a16:creationId xmlns:a16="http://schemas.microsoft.com/office/drawing/2014/main" id="{A3F67594-1878-EE4E-B84E-A43A90A42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97888" cy="5029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/>
              <a:t>Multiple database scans are </a:t>
            </a:r>
            <a:r>
              <a:rPr lang="en-US" altLang="en-US">
                <a:solidFill>
                  <a:schemeClr val="hlink"/>
                </a:solidFill>
              </a:rPr>
              <a:t>costly</a:t>
            </a:r>
          </a:p>
          <a:p>
            <a:pPr>
              <a:lnSpc>
                <a:spcPct val="110000"/>
              </a:lnSpc>
            </a:pPr>
            <a:r>
              <a:rPr lang="en-US" altLang="en-US"/>
              <a:t>Mining long patterns needs many passes of scanning and generates lots of candidates</a:t>
            </a:r>
            <a:endParaRPr lang="en-US" altLang="en-US">
              <a:solidFill>
                <a:schemeClr val="hlink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en-US"/>
              <a:t>To find frequent itemset </a:t>
            </a:r>
            <a:r>
              <a:rPr lang="en-US" altLang="en-US" i="1"/>
              <a:t>i</a:t>
            </a:r>
            <a:r>
              <a:rPr lang="en-US" altLang="en-US" i="1" baseline="-25000"/>
              <a:t>1</a:t>
            </a:r>
            <a:r>
              <a:rPr lang="en-US" altLang="en-US" i="1"/>
              <a:t>i</a:t>
            </a:r>
            <a:r>
              <a:rPr lang="en-US" altLang="en-US" i="1" baseline="-25000"/>
              <a:t>2</a:t>
            </a:r>
            <a:r>
              <a:rPr lang="en-US" altLang="en-US" i="1"/>
              <a:t>…i</a:t>
            </a:r>
            <a:r>
              <a:rPr lang="en-US" altLang="en-US" i="1" baseline="-25000"/>
              <a:t>100</a:t>
            </a:r>
            <a:endParaRPr lang="en-US" altLang="en-US" i="1"/>
          </a:p>
          <a:p>
            <a:pPr lvl="2">
              <a:lnSpc>
                <a:spcPct val="110000"/>
              </a:lnSpc>
            </a:pPr>
            <a:r>
              <a:rPr lang="en-US" altLang="en-US"/>
              <a:t># of scans: </a:t>
            </a:r>
            <a:r>
              <a:rPr lang="en-US" altLang="en-US">
                <a:solidFill>
                  <a:schemeClr val="hlink"/>
                </a:solidFill>
              </a:rPr>
              <a:t>100</a:t>
            </a:r>
          </a:p>
          <a:p>
            <a:pPr lvl="2">
              <a:lnSpc>
                <a:spcPct val="110000"/>
              </a:lnSpc>
            </a:pPr>
            <a:r>
              <a:rPr lang="en-US" altLang="en-US"/>
              <a:t># of Candidates: (</a:t>
            </a:r>
            <a:r>
              <a:rPr lang="en-US" altLang="en-US" baseline="-25000"/>
              <a:t>100</a:t>
            </a:r>
            <a:r>
              <a:rPr lang="en-US" altLang="en-US" baseline="30000"/>
              <a:t>1</a:t>
            </a:r>
            <a:r>
              <a:rPr lang="en-US" altLang="en-US"/>
              <a:t>) + (</a:t>
            </a:r>
            <a:r>
              <a:rPr lang="en-US" altLang="en-US" baseline="-25000"/>
              <a:t>100</a:t>
            </a:r>
            <a:r>
              <a:rPr lang="en-US" altLang="en-US" baseline="30000"/>
              <a:t>2</a:t>
            </a:r>
            <a:r>
              <a:rPr lang="en-US" altLang="en-US"/>
              <a:t>) + … + (</a:t>
            </a:r>
            <a:r>
              <a:rPr lang="en-US" altLang="en-US" baseline="-25000"/>
              <a:t>1</a:t>
            </a:r>
            <a:r>
              <a:rPr lang="en-US" altLang="en-US" baseline="30000"/>
              <a:t>1</a:t>
            </a:r>
            <a:r>
              <a:rPr lang="en-US" altLang="en-US" baseline="-25000"/>
              <a:t>0</a:t>
            </a:r>
            <a:r>
              <a:rPr lang="en-US" altLang="en-US" baseline="30000"/>
              <a:t>0</a:t>
            </a:r>
            <a:r>
              <a:rPr lang="en-US" altLang="en-US" baseline="-25000"/>
              <a:t>0</a:t>
            </a:r>
            <a:r>
              <a:rPr lang="en-US" altLang="en-US" baseline="30000"/>
              <a:t>0</a:t>
            </a:r>
            <a:r>
              <a:rPr lang="en-US" altLang="en-US"/>
              <a:t>) = 2</a:t>
            </a:r>
            <a:r>
              <a:rPr lang="en-US" altLang="en-US" baseline="30000"/>
              <a:t>100</a:t>
            </a:r>
            <a:r>
              <a:rPr lang="en-US" altLang="en-US"/>
              <a:t>-1 = </a:t>
            </a:r>
            <a:r>
              <a:rPr lang="en-US" altLang="en-US">
                <a:solidFill>
                  <a:schemeClr val="hlink"/>
                </a:solidFill>
              </a:rPr>
              <a:t>1.27*10</a:t>
            </a:r>
            <a:r>
              <a:rPr lang="en-US" altLang="en-US" baseline="30000">
                <a:solidFill>
                  <a:schemeClr val="hlink"/>
                </a:solidFill>
              </a:rPr>
              <a:t>30 </a:t>
            </a:r>
            <a:r>
              <a:rPr lang="en-US" altLang="en-US">
                <a:solidFill>
                  <a:schemeClr val="hlink"/>
                </a:solidFill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en-US" altLang="en-US"/>
              <a:t>Bottleneck: candidate-generation-and-test</a:t>
            </a:r>
          </a:p>
          <a:p>
            <a:pPr>
              <a:lnSpc>
                <a:spcPct val="110000"/>
              </a:lnSpc>
            </a:pPr>
            <a:r>
              <a:rPr lang="en-US" altLang="en-US"/>
              <a:t>Can we avoid candidate generation?</a:t>
            </a:r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4DA1-F185-4A43-B0F5-6BF649EA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9150-E301-1D4E-A33C-89D286E8E4B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5858-C9B4-354C-B75A-1BEB1A98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8D0E-ADB2-C44B-828F-9F4EE1FF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98047-D381-7D41-B404-DBE2A7BBBDA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381378" name="Rectangle 2">
            <a:extLst>
              <a:ext uri="{FF2B5EF4-FFF2-40B4-BE49-F238E27FC236}">
                <a16:creationId xmlns:a16="http://schemas.microsoft.com/office/drawing/2014/main" id="{CC292711-96D8-B14B-B32D-E891AF1C8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924800" cy="914400"/>
          </a:xfrm>
        </p:spPr>
        <p:txBody>
          <a:bodyPr/>
          <a:lstStyle/>
          <a:p>
            <a:r>
              <a:rPr lang="en-US" altLang="en-US" sz="3200"/>
              <a:t>Mining Frequent Patterns Without</a:t>
            </a:r>
            <a:r>
              <a:rPr lang="en-US" altLang="en-US" sz="3200">
                <a:solidFill>
                  <a:schemeClr val="hlink"/>
                </a:solidFill>
              </a:rPr>
              <a:t> </a:t>
            </a:r>
            <a:r>
              <a:rPr lang="en-US" altLang="en-US" sz="3200">
                <a:solidFill>
                  <a:srgbClr val="000099"/>
                </a:solidFill>
              </a:rPr>
              <a:t>Candidate Generation</a:t>
            </a:r>
          </a:p>
        </p:txBody>
      </p:sp>
      <p:sp>
        <p:nvSpPr>
          <p:cNvPr id="1381379" name="Rectangle 3">
            <a:extLst>
              <a:ext uri="{FF2B5EF4-FFF2-40B4-BE49-F238E27FC236}">
                <a16:creationId xmlns:a16="http://schemas.microsoft.com/office/drawing/2014/main" id="{B7F8E36B-3652-BC45-AF7F-A88AE971C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97900" cy="5054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/>
              <a:t>Grow long patterns from short ones using local frequent items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“abc” is a frequent pattern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Get all transactions having “abc”: DB|abc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“d” is a local frequent item in DB|abc </a:t>
            </a:r>
            <a:r>
              <a:rPr lang="en-US" altLang="en-US">
                <a:sym typeface="Wingdings" pitchFamily="2" charset="2"/>
              </a:rPr>
              <a:t> abcd is a frequent pattern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5F26CEB4-D879-484A-9A01-E781A862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0616-0DAB-FE46-8000-AB4E55EF9B1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DF82F613-B51C-984B-B035-1BB0B2F2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262882BF-6792-0849-8E0F-8FF30389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BC560-8840-5448-90A1-DDD258C42F3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382402" name="Rectangle 2">
            <a:extLst>
              <a:ext uri="{FF2B5EF4-FFF2-40B4-BE49-F238E27FC236}">
                <a16:creationId xmlns:a16="http://schemas.microsoft.com/office/drawing/2014/main" id="{9D6A8ADB-89D7-6941-B008-5AA301F59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85800"/>
          </a:xfrm>
        </p:spPr>
        <p:txBody>
          <a:bodyPr/>
          <a:lstStyle/>
          <a:p>
            <a:r>
              <a:rPr lang="en-US" altLang="en-US" sz="3200"/>
              <a:t>Construct FP-tree from a Transaction Database</a:t>
            </a:r>
          </a:p>
        </p:txBody>
      </p:sp>
      <p:grpSp>
        <p:nvGrpSpPr>
          <p:cNvPr id="1382403" name="Group 3">
            <a:extLst>
              <a:ext uri="{FF2B5EF4-FFF2-40B4-BE49-F238E27FC236}">
                <a16:creationId xmlns:a16="http://schemas.microsoft.com/office/drawing/2014/main" id="{2A1ED937-0417-5A4F-BEDB-7AB71AB9A9D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971800"/>
            <a:ext cx="4579938" cy="3624263"/>
            <a:chOff x="2496" y="1772"/>
            <a:chExt cx="2926" cy="2218"/>
          </a:xfrm>
        </p:grpSpPr>
        <p:sp>
          <p:nvSpPr>
            <p:cNvPr id="1382404" name="Text Box 4">
              <a:extLst>
                <a:ext uri="{FF2B5EF4-FFF2-40B4-BE49-F238E27FC236}">
                  <a16:creationId xmlns:a16="http://schemas.microsoft.com/office/drawing/2014/main" id="{7D9A64C2-119E-9047-9E90-1F8CC1616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1772"/>
              <a:ext cx="28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1382405" name="Text Box 5">
              <a:extLst>
                <a:ext uri="{FF2B5EF4-FFF2-40B4-BE49-F238E27FC236}">
                  <a16:creationId xmlns:a16="http://schemas.microsoft.com/office/drawing/2014/main" id="{1133DE3B-A49C-0444-8E4B-6E6B9EA70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2205"/>
              <a:ext cx="305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1382406" name="Text Box 6">
              <a:extLst>
                <a:ext uri="{FF2B5EF4-FFF2-40B4-BE49-F238E27FC236}">
                  <a16:creationId xmlns:a16="http://schemas.microsoft.com/office/drawing/2014/main" id="{59541487-4B04-AD49-A324-E3909B6C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205"/>
              <a:ext cx="333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1382407" name="Text Box 7">
              <a:extLst>
                <a:ext uri="{FF2B5EF4-FFF2-40B4-BE49-F238E27FC236}">
                  <a16:creationId xmlns:a16="http://schemas.microsoft.com/office/drawing/2014/main" id="{B0D8D9EC-FF66-8447-816F-F103D4863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2408" name="Text Box 8">
              <a:extLst>
                <a:ext uri="{FF2B5EF4-FFF2-40B4-BE49-F238E27FC236}">
                  <a16:creationId xmlns:a16="http://schemas.microsoft.com/office/drawing/2014/main" id="{EF87E245-987D-1A4C-A14E-219F2139A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1382409" name="AutoShape 9">
              <a:extLst>
                <a:ext uri="{FF2B5EF4-FFF2-40B4-BE49-F238E27FC236}">
                  <a16:creationId xmlns:a16="http://schemas.microsoft.com/office/drawing/2014/main" id="{1EA96C92-D7A5-3146-9F7A-FEA1EDBF7500}"/>
                </a:ext>
              </a:extLst>
            </p:cNvPr>
            <p:cNvCxnSpPr>
              <a:cxnSpLocks noChangeShapeType="1"/>
              <a:stCxn id="1382406" idx="2"/>
              <a:endCxn id="1382407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10" name="AutoShape 10">
              <a:extLst>
                <a:ext uri="{FF2B5EF4-FFF2-40B4-BE49-F238E27FC236}">
                  <a16:creationId xmlns:a16="http://schemas.microsoft.com/office/drawing/2014/main" id="{A28962CD-1746-7840-9B4C-71C01064F51C}"/>
                </a:ext>
              </a:extLst>
            </p:cNvPr>
            <p:cNvCxnSpPr>
              <a:cxnSpLocks noChangeShapeType="1"/>
              <a:stCxn id="1382407" idx="2"/>
              <a:endCxn id="1382408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11" name="AutoShape 11">
              <a:extLst>
                <a:ext uri="{FF2B5EF4-FFF2-40B4-BE49-F238E27FC236}">
                  <a16:creationId xmlns:a16="http://schemas.microsoft.com/office/drawing/2014/main" id="{DA12D5CC-858C-0942-9F78-8507874A122F}"/>
                </a:ext>
              </a:extLst>
            </p:cNvPr>
            <p:cNvCxnSpPr>
              <a:cxnSpLocks noChangeShapeType="1"/>
              <a:stCxn id="1382404" idx="2"/>
              <a:endCxn id="1382406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12" name="AutoShape 12">
              <a:extLst>
                <a:ext uri="{FF2B5EF4-FFF2-40B4-BE49-F238E27FC236}">
                  <a16:creationId xmlns:a16="http://schemas.microsoft.com/office/drawing/2014/main" id="{7E19CF77-0DCA-2A46-B7B6-BC65D2E104F6}"/>
                </a:ext>
              </a:extLst>
            </p:cNvPr>
            <p:cNvCxnSpPr>
              <a:cxnSpLocks noChangeShapeType="1"/>
              <a:stCxn id="1382404" idx="2"/>
              <a:endCxn id="1382405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2413" name="Text Box 13">
              <a:extLst>
                <a:ext uri="{FF2B5EF4-FFF2-40B4-BE49-F238E27FC236}">
                  <a16:creationId xmlns:a16="http://schemas.microsoft.com/office/drawing/2014/main" id="{2D675CF0-2BCB-1A47-AD3D-E154AF181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2414" name="Text Box 14">
              <a:extLst>
                <a:ext uri="{FF2B5EF4-FFF2-40B4-BE49-F238E27FC236}">
                  <a16:creationId xmlns:a16="http://schemas.microsoft.com/office/drawing/2014/main" id="{D0D94CED-9E11-314D-A800-B4C67A216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2588"/>
              <a:ext cx="33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1382415" name="AutoShape 15">
              <a:extLst>
                <a:ext uri="{FF2B5EF4-FFF2-40B4-BE49-F238E27FC236}">
                  <a16:creationId xmlns:a16="http://schemas.microsoft.com/office/drawing/2014/main" id="{32DC9496-C083-D549-B878-64FC5B282996}"/>
                </a:ext>
              </a:extLst>
            </p:cNvPr>
            <p:cNvCxnSpPr>
              <a:cxnSpLocks noChangeShapeType="1"/>
              <a:stCxn id="1382405" idx="2"/>
              <a:endCxn id="1382414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16" name="AutoShape 16">
              <a:extLst>
                <a:ext uri="{FF2B5EF4-FFF2-40B4-BE49-F238E27FC236}">
                  <a16:creationId xmlns:a16="http://schemas.microsoft.com/office/drawing/2014/main" id="{6220BCE6-B3CB-734C-844E-8DC946790824}"/>
                </a:ext>
              </a:extLst>
            </p:cNvPr>
            <p:cNvCxnSpPr>
              <a:cxnSpLocks noChangeShapeType="1"/>
              <a:stCxn id="1382405" idx="2"/>
              <a:endCxn id="1382413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2417" name="Text Box 17">
              <a:extLst>
                <a:ext uri="{FF2B5EF4-FFF2-40B4-BE49-F238E27FC236}">
                  <a16:creationId xmlns:a16="http://schemas.microsoft.com/office/drawing/2014/main" id="{4162B49A-E4E6-9441-9907-D584541CF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5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1382418" name="Text Box 18">
              <a:extLst>
                <a:ext uri="{FF2B5EF4-FFF2-40B4-BE49-F238E27FC236}">
                  <a16:creationId xmlns:a16="http://schemas.microsoft.com/office/drawing/2014/main" id="{76F3AE3E-88BE-7D40-AB16-789616296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3356"/>
              <a:ext cx="342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2419" name="Text Box 19">
              <a:extLst>
                <a:ext uri="{FF2B5EF4-FFF2-40B4-BE49-F238E27FC236}">
                  <a16:creationId xmlns:a16="http://schemas.microsoft.com/office/drawing/2014/main" id="{5A6E9FE7-9348-0044-B517-69FB19348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" y="3356"/>
              <a:ext cx="378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1382420" name="Text Box 20">
              <a:extLst>
                <a:ext uri="{FF2B5EF4-FFF2-40B4-BE49-F238E27FC236}">
                  <a16:creationId xmlns:a16="http://schemas.microsoft.com/office/drawing/2014/main" id="{B68DBA50-BFF7-5A4F-91A5-10B15A3D9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739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1382421" name="AutoShape 21">
              <a:extLst>
                <a:ext uri="{FF2B5EF4-FFF2-40B4-BE49-F238E27FC236}">
                  <a16:creationId xmlns:a16="http://schemas.microsoft.com/office/drawing/2014/main" id="{718D3BCA-67B0-CB44-A5D9-5C6A4B776142}"/>
                </a:ext>
              </a:extLst>
            </p:cNvPr>
            <p:cNvCxnSpPr>
              <a:cxnSpLocks noChangeShapeType="1"/>
              <a:stCxn id="1382414" idx="2"/>
              <a:endCxn id="1382417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22" name="AutoShape 22">
              <a:extLst>
                <a:ext uri="{FF2B5EF4-FFF2-40B4-BE49-F238E27FC236}">
                  <a16:creationId xmlns:a16="http://schemas.microsoft.com/office/drawing/2014/main" id="{6F86D423-9120-BD47-8202-6EB4DDFC87A4}"/>
                </a:ext>
              </a:extLst>
            </p:cNvPr>
            <p:cNvCxnSpPr>
              <a:cxnSpLocks noChangeShapeType="1"/>
              <a:stCxn id="1382417" idx="2"/>
              <a:endCxn id="1382419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23" name="AutoShape 23">
              <a:extLst>
                <a:ext uri="{FF2B5EF4-FFF2-40B4-BE49-F238E27FC236}">
                  <a16:creationId xmlns:a16="http://schemas.microsoft.com/office/drawing/2014/main" id="{9A7A0719-CEF5-4546-A6C8-761D81A21F56}"/>
                </a:ext>
              </a:extLst>
            </p:cNvPr>
            <p:cNvCxnSpPr>
              <a:cxnSpLocks noChangeShapeType="1"/>
              <a:stCxn id="1382417" idx="2"/>
              <a:endCxn id="1382418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2424" name="AutoShape 24">
              <a:extLst>
                <a:ext uri="{FF2B5EF4-FFF2-40B4-BE49-F238E27FC236}">
                  <a16:creationId xmlns:a16="http://schemas.microsoft.com/office/drawing/2014/main" id="{B7B6B921-B9A2-4748-92F1-A28493D5FF55}"/>
                </a:ext>
              </a:extLst>
            </p:cNvPr>
            <p:cNvCxnSpPr>
              <a:cxnSpLocks noChangeShapeType="1"/>
              <a:stCxn id="1382419" idx="2"/>
              <a:endCxn id="1382420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2425" name="Text Box 25">
              <a:extLst>
                <a:ext uri="{FF2B5EF4-FFF2-40B4-BE49-F238E27FC236}">
                  <a16:creationId xmlns:a16="http://schemas.microsoft.com/office/drawing/2014/main" id="{52AAC8A2-F322-8040-A4A8-64D260717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739"/>
              <a:ext cx="378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1382426" name="AutoShape 26">
              <a:extLst>
                <a:ext uri="{FF2B5EF4-FFF2-40B4-BE49-F238E27FC236}">
                  <a16:creationId xmlns:a16="http://schemas.microsoft.com/office/drawing/2014/main" id="{F2AF778B-A56F-E14C-ADAF-D22C4C275BEB}"/>
                </a:ext>
              </a:extLst>
            </p:cNvPr>
            <p:cNvCxnSpPr>
              <a:cxnSpLocks noChangeShapeType="1"/>
              <a:stCxn id="1382418" idx="2"/>
              <a:endCxn id="1382425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2427" name="Text Box 27">
              <a:extLst>
                <a:ext uri="{FF2B5EF4-FFF2-40B4-BE49-F238E27FC236}">
                  <a16:creationId xmlns:a16="http://schemas.microsoft.com/office/drawing/2014/main" id="{AA9FB716-1D16-1A40-BC48-73B2AA423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35"/>
              <a:ext cx="1625" cy="157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en-US" sz="2000" b="1">
                  <a:latin typeface="Times New Roman" panose="02020603050405020304" pitchFamily="18" charset="0"/>
                </a:rPr>
                <a:t>Header Table</a:t>
              </a:r>
            </a:p>
            <a:p>
              <a:pPr eaLnBrk="0" hangingPunct="0">
                <a:lnSpc>
                  <a:spcPct val="90000"/>
                </a:lnSpc>
              </a:pPr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b="1" i="1" u="sng">
                  <a:latin typeface="Times New Roman" panose="02020603050405020304" pitchFamily="18" charset="0"/>
                </a:rPr>
                <a:t>Item  frequency  head 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 f	4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c	4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a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b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m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p	3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82428" name="Freeform 28">
              <a:extLst>
                <a:ext uri="{FF2B5EF4-FFF2-40B4-BE49-F238E27FC236}">
                  <a16:creationId xmlns:a16="http://schemas.microsoft.com/office/drawing/2014/main" id="{5FA8AD20-1F89-2C4B-A7BA-8645E3C57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29" name="Freeform 29">
              <a:extLst>
                <a:ext uri="{FF2B5EF4-FFF2-40B4-BE49-F238E27FC236}">
                  <a16:creationId xmlns:a16="http://schemas.microsoft.com/office/drawing/2014/main" id="{5FB35CA2-70CD-B043-8A39-0A9F36F2B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0" name="Freeform 30">
              <a:extLst>
                <a:ext uri="{FF2B5EF4-FFF2-40B4-BE49-F238E27FC236}">
                  <a16:creationId xmlns:a16="http://schemas.microsoft.com/office/drawing/2014/main" id="{369E1D3C-4D42-2C40-8CC9-1645395D0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1" name="Freeform 31">
              <a:extLst>
                <a:ext uri="{FF2B5EF4-FFF2-40B4-BE49-F238E27FC236}">
                  <a16:creationId xmlns:a16="http://schemas.microsoft.com/office/drawing/2014/main" id="{E9349335-1EE3-2346-8293-3DB415AE1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2" name="Freeform 32">
              <a:extLst>
                <a:ext uri="{FF2B5EF4-FFF2-40B4-BE49-F238E27FC236}">
                  <a16:creationId xmlns:a16="http://schemas.microsoft.com/office/drawing/2014/main" id="{746A1AC0-5337-A54C-87DB-0146CBB0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3" name="Freeform 33">
              <a:extLst>
                <a:ext uri="{FF2B5EF4-FFF2-40B4-BE49-F238E27FC236}">
                  <a16:creationId xmlns:a16="http://schemas.microsoft.com/office/drawing/2014/main" id="{9C57063B-4CCB-0546-97DA-C927965A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4" name="Line 34">
              <a:extLst>
                <a:ext uri="{FF2B5EF4-FFF2-40B4-BE49-F238E27FC236}">
                  <a16:creationId xmlns:a16="http://schemas.microsoft.com/office/drawing/2014/main" id="{A2FED0C2-4702-B24E-B8F6-AD5C99B2E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5" name="Freeform 35">
              <a:extLst>
                <a:ext uri="{FF2B5EF4-FFF2-40B4-BE49-F238E27FC236}">
                  <a16:creationId xmlns:a16="http://schemas.microsoft.com/office/drawing/2014/main" id="{866D73BB-DC0A-084F-AB50-90C8C02FE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6" name="Freeform 36">
              <a:extLst>
                <a:ext uri="{FF2B5EF4-FFF2-40B4-BE49-F238E27FC236}">
                  <a16:creationId xmlns:a16="http://schemas.microsoft.com/office/drawing/2014/main" id="{8E93679B-182C-2142-BD0B-82E51108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7" name="Freeform 37">
              <a:extLst>
                <a:ext uri="{FF2B5EF4-FFF2-40B4-BE49-F238E27FC236}">
                  <a16:creationId xmlns:a16="http://schemas.microsoft.com/office/drawing/2014/main" id="{DCBC1F46-E913-1447-BD84-C3A766927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438" name="Freeform 38">
              <a:extLst>
                <a:ext uri="{FF2B5EF4-FFF2-40B4-BE49-F238E27FC236}">
                  <a16:creationId xmlns:a16="http://schemas.microsoft.com/office/drawing/2014/main" id="{9F80DD17-6779-C441-BE79-5BB13A8F4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82439" name="Text Box 39">
            <a:extLst>
              <a:ext uri="{FF2B5EF4-FFF2-40B4-BE49-F238E27FC236}">
                <a16:creationId xmlns:a16="http://schemas.microsoft.com/office/drawing/2014/main" id="{74A13EF0-AAFE-F04B-8E19-AF32DB43B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970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min_support = 3</a:t>
            </a:r>
            <a:endParaRPr lang="en-US" altLang="en-US" b="1" u="sng">
              <a:latin typeface="Times New Roman" panose="02020603050405020304" pitchFamily="18" charset="0"/>
            </a:endParaRPr>
          </a:p>
        </p:txBody>
      </p:sp>
      <p:sp>
        <p:nvSpPr>
          <p:cNvPr id="1382440" name="Rectangle 40">
            <a:extLst>
              <a:ext uri="{FF2B5EF4-FFF2-40B4-BE49-F238E27FC236}">
                <a16:creationId xmlns:a16="http://schemas.microsoft.com/office/drawing/2014/main" id="{9B397851-8466-814B-BFCD-7B9CA4A1D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76400"/>
            <a:ext cx="59563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 i="1" u="sng"/>
              <a:t>TID		Items bought	  (ordered) frequent items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/>
              <a:t>100		{</a:t>
            </a:r>
            <a:r>
              <a:rPr lang="en-US" altLang="en-US" sz="2000" b="1" i="1"/>
              <a:t>f, a, c, d, g, i, m, p</a:t>
            </a:r>
            <a:r>
              <a:rPr lang="en-US" altLang="en-US" sz="2000" b="1"/>
              <a:t>}</a:t>
            </a:r>
            <a:r>
              <a:rPr lang="en-US" altLang="en-US" sz="2000" b="1" i="1"/>
              <a:t>	</a:t>
            </a:r>
            <a:r>
              <a:rPr lang="en-US" altLang="en-US" sz="2000" b="1"/>
              <a:t>{</a:t>
            </a:r>
            <a:r>
              <a:rPr lang="en-US" altLang="en-US" sz="2000" b="1" i="1"/>
              <a:t>f, c, a, m, p</a:t>
            </a:r>
            <a:r>
              <a:rPr lang="en-US" altLang="en-US" sz="2000" b="1"/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/>
              <a:t>200		{</a:t>
            </a:r>
            <a:r>
              <a:rPr lang="en-US" altLang="en-US" sz="2000" b="1" i="1"/>
              <a:t>a, b, c, f, l, m, o</a:t>
            </a:r>
            <a:r>
              <a:rPr lang="en-US" altLang="en-US" sz="2000" b="1"/>
              <a:t>}</a:t>
            </a:r>
            <a:r>
              <a:rPr lang="en-US" altLang="en-US" sz="2000" b="1" i="1"/>
              <a:t>		</a:t>
            </a:r>
            <a:r>
              <a:rPr lang="en-US" altLang="en-US" sz="2000" b="1"/>
              <a:t>{</a:t>
            </a:r>
            <a:r>
              <a:rPr lang="en-US" altLang="en-US" sz="2000" b="1" i="1"/>
              <a:t>f, c, a, b, m</a:t>
            </a:r>
            <a:r>
              <a:rPr lang="en-US" altLang="en-US" sz="2000" b="1"/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/>
              <a:t>300	</a:t>
            </a:r>
            <a:r>
              <a:rPr lang="en-US" altLang="en-US" sz="2000" b="1" i="1"/>
              <a:t> 	</a:t>
            </a:r>
            <a:r>
              <a:rPr lang="en-US" altLang="en-US" sz="2000" b="1"/>
              <a:t>{</a:t>
            </a:r>
            <a:r>
              <a:rPr lang="en-US" altLang="en-US" sz="2000" b="1" i="1"/>
              <a:t>b, f, h, j, o, w</a:t>
            </a:r>
            <a:r>
              <a:rPr lang="en-US" altLang="en-US" sz="2000" b="1"/>
              <a:t>}</a:t>
            </a:r>
            <a:r>
              <a:rPr lang="en-US" altLang="en-US" sz="2000" b="1" i="1"/>
              <a:t>		</a:t>
            </a:r>
            <a:r>
              <a:rPr lang="en-US" altLang="en-US" sz="2000" b="1"/>
              <a:t>{</a:t>
            </a:r>
            <a:r>
              <a:rPr lang="en-US" altLang="en-US" sz="2000" b="1" i="1"/>
              <a:t>f, b</a:t>
            </a:r>
            <a:r>
              <a:rPr lang="en-US" altLang="en-US" sz="2000" b="1"/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/>
              <a:t>400	</a:t>
            </a:r>
            <a:r>
              <a:rPr lang="en-US" altLang="en-US" sz="2000" b="1" i="1"/>
              <a:t> 	</a:t>
            </a:r>
            <a:r>
              <a:rPr lang="en-US" altLang="en-US" sz="2000" b="1"/>
              <a:t>{</a:t>
            </a:r>
            <a:r>
              <a:rPr lang="en-US" altLang="en-US" sz="2000" b="1" i="1"/>
              <a:t>b, c, k, s, p</a:t>
            </a:r>
            <a:r>
              <a:rPr lang="en-US" altLang="en-US" sz="2000" b="1"/>
              <a:t>}</a:t>
            </a:r>
            <a:r>
              <a:rPr lang="en-US" altLang="en-US" sz="2000" b="1" i="1"/>
              <a:t>		</a:t>
            </a:r>
            <a:r>
              <a:rPr lang="en-US" altLang="en-US" sz="2000" b="1"/>
              <a:t>{</a:t>
            </a:r>
            <a:r>
              <a:rPr lang="en-US" altLang="en-US" sz="2000" b="1" i="1"/>
              <a:t>c, b, p</a:t>
            </a:r>
            <a:r>
              <a:rPr lang="en-US" altLang="en-US" sz="2000" b="1"/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/>
              <a:t>500</a:t>
            </a:r>
            <a:r>
              <a:rPr lang="en-US" altLang="en-US" sz="2000" b="1" i="1"/>
              <a:t>	 	</a:t>
            </a:r>
            <a:r>
              <a:rPr lang="en-US" altLang="en-US" sz="2000" b="1"/>
              <a:t>{</a:t>
            </a:r>
            <a:r>
              <a:rPr lang="en-US" altLang="en-US" sz="2000" b="1" i="1"/>
              <a:t>a, f, c, e, l, p, m, n</a:t>
            </a:r>
            <a:r>
              <a:rPr lang="en-US" altLang="en-US" sz="2000" b="1"/>
              <a:t>}</a:t>
            </a:r>
            <a:r>
              <a:rPr lang="en-US" altLang="en-US" sz="2000" b="1" i="1"/>
              <a:t>	</a:t>
            </a:r>
            <a:r>
              <a:rPr lang="en-US" altLang="en-US" sz="2000" b="1"/>
              <a:t>{</a:t>
            </a:r>
            <a:r>
              <a:rPr lang="en-US" altLang="en-US" sz="2000" b="1" i="1"/>
              <a:t>f, c, a, m, p</a:t>
            </a:r>
            <a:r>
              <a:rPr lang="en-US" altLang="en-US" sz="2000" b="1"/>
              <a:t>}</a:t>
            </a:r>
          </a:p>
        </p:txBody>
      </p:sp>
      <p:sp>
        <p:nvSpPr>
          <p:cNvPr id="1382441" name="Text Box 41">
            <a:extLst>
              <a:ext uri="{FF2B5EF4-FFF2-40B4-BE49-F238E27FC236}">
                <a16:creationId xmlns:a16="http://schemas.microsoft.com/office/drawing/2014/main" id="{328617F2-F9C3-744B-9F1D-E3C6E2CA8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29000"/>
            <a:ext cx="3810000" cy="279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>
                <a:latin typeface="Tahoma" panose="020B0604030504040204" pitchFamily="34" charset="0"/>
              </a:rPr>
              <a:t>Scan DB once, find frequent 1-itemset (single item pattern)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>
                <a:latin typeface="Tahoma" panose="020B0604030504040204" pitchFamily="34" charset="0"/>
              </a:rPr>
              <a:t>Sort frequent items in frequency descending order, f-list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>
                <a:latin typeface="Tahoma" panose="020B0604030504040204" pitchFamily="34" charset="0"/>
              </a:rPr>
              <a:t>Scan DB again, construct FP-tree</a:t>
            </a:r>
          </a:p>
        </p:txBody>
      </p:sp>
      <p:sp>
        <p:nvSpPr>
          <p:cNvPr id="1382442" name="Text Box 42">
            <a:extLst>
              <a:ext uri="{FF2B5EF4-FFF2-40B4-BE49-F238E27FC236}">
                <a16:creationId xmlns:a16="http://schemas.microsoft.com/office/drawing/2014/main" id="{AFA34F03-EF46-7448-B54B-F860E5E94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6129338"/>
            <a:ext cx="2600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hlink"/>
                </a:solidFill>
              </a:rPr>
              <a:t>F-list</a:t>
            </a:r>
            <a:r>
              <a:rPr lang="en-US" altLang="en-US"/>
              <a:t>=f-c-a-b-m-p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3827D894-5B5D-3041-8D36-1407D3F47B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FP-Tree Definition (cont.)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E5B2D806-25C1-9A4E-8E53-C1555F0AB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Each node in the item prefix subtree consists of three fields:</a:t>
            </a:r>
          </a:p>
          <a:p>
            <a:pPr lvl="1" eaLnBrk="1" hangingPunct="1">
              <a:defRPr/>
            </a:pPr>
            <a:r>
              <a:rPr lang="en-US" altLang="zh-CN"/>
              <a:t>item-name</a:t>
            </a:r>
          </a:p>
          <a:p>
            <a:pPr lvl="1" eaLnBrk="1" hangingPunct="1">
              <a:defRPr/>
            </a:pPr>
            <a:r>
              <a:rPr lang="en-US" altLang="zh-CN"/>
              <a:t>node-link</a:t>
            </a:r>
          </a:p>
          <a:p>
            <a:pPr lvl="1" eaLnBrk="1" hangingPunct="1">
              <a:defRPr/>
            </a:pPr>
            <a:r>
              <a:rPr lang="en-US" altLang="zh-CN"/>
              <a:t>count</a:t>
            </a:r>
            <a:endParaRPr lang="en-US" altLang="zh-CN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altLang="zh-CN"/>
              <a:t>Each entry in the frequent-item header table consists of two fields:</a:t>
            </a:r>
          </a:p>
          <a:p>
            <a:pPr lvl="1" eaLnBrk="1" hangingPunct="1">
              <a:defRPr/>
            </a:pPr>
            <a:r>
              <a:rPr lang="en-US" altLang="zh-CN"/>
              <a:t>item-name</a:t>
            </a:r>
          </a:p>
          <a:p>
            <a:pPr lvl="1" eaLnBrk="1" hangingPunct="1">
              <a:defRPr/>
            </a:pPr>
            <a:r>
              <a:rPr lang="en-US" altLang="zh-CN"/>
              <a:t>head of node-link</a:t>
            </a:r>
          </a:p>
        </p:txBody>
      </p:sp>
    </p:spTree>
    <p:extLst>
      <p:ext uri="{BB962C8B-B14F-4D97-AF65-F5344CB8AC3E}">
        <p14:creationId xmlns:p14="http://schemas.microsoft.com/office/powerpoint/2010/main" val="2003890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9C135A65-2CB6-DE4D-89CC-3FADA4EE21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/>
              <a:t>Example 1: FP-Tree Construction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22674A29-C58A-7D41-9221-6DF60525AD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416925" cy="48529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/>
              <a:t>The transaction database used (first two column only):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i="1" dirty="0"/>
              <a:t>    minimum support threshold</a:t>
            </a:r>
            <a:r>
              <a:rPr lang="en-US" altLang="zh-CN" sz="2800" dirty="0"/>
              <a:t> </a:t>
            </a:r>
            <a:r>
              <a:rPr lang="en-US" altLang="zh-CN" sz="2800" dirty="0" err="1"/>
              <a:t>ξ</a:t>
            </a:r>
            <a:r>
              <a:rPr lang="en-US" altLang="zh-CN" sz="2800" dirty="0"/>
              <a:t>= 3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0EEF32-53F0-3C4F-9264-82FF20C2D0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23081537"/>
              </p:ext>
            </p:extLst>
          </p:nvPr>
        </p:nvGraphicFramePr>
        <p:xfrm>
          <a:off x="1562100" y="2971800"/>
          <a:ext cx="6019800" cy="1883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9574">
                  <a:extLst>
                    <a:ext uri="{9D8B030D-6E8A-4147-A177-3AD203B41FA5}">
                      <a16:colId xmlns:a16="http://schemas.microsoft.com/office/drawing/2014/main" val="3662417358"/>
                    </a:ext>
                  </a:extLst>
                </a:gridCol>
                <a:gridCol w="2360883">
                  <a:extLst>
                    <a:ext uri="{9D8B030D-6E8A-4147-A177-3AD203B41FA5}">
                      <a16:colId xmlns:a16="http://schemas.microsoft.com/office/drawing/2014/main" val="1798716845"/>
                    </a:ext>
                  </a:extLst>
                </a:gridCol>
                <a:gridCol w="2849343">
                  <a:extLst>
                    <a:ext uri="{9D8B030D-6E8A-4147-A177-3AD203B41FA5}">
                      <a16:colId xmlns:a16="http://schemas.microsoft.com/office/drawing/2014/main" val="286955656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Items Bought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(Ordered) Frequent Items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2741023660"/>
                  </a:ext>
                </a:extLst>
              </a:tr>
              <a:tr h="3156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f, a, c, d, g, i, m, 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f, c, a, m, 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1537934870"/>
                  </a:ext>
                </a:extLst>
              </a:tr>
              <a:tr h="3156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a, b, c, f, l, m, 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f, c, a, b, 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1605639637"/>
                  </a:ext>
                </a:extLst>
              </a:tr>
              <a:tr h="3156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b, f, h, j, 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f, b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1832916454"/>
                  </a:ext>
                </a:extLst>
              </a:tr>
              <a:tr h="3156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b, c, k, s, 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c, b, p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3514727326"/>
                  </a:ext>
                </a:extLst>
              </a:tr>
              <a:tr h="3156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a, f, c, e, l, p, m, 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f, c, a, m, p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77" marR="66777" marT="0" marB="0"/>
                </a:tc>
                <a:extLst>
                  <a:ext uri="{0D108BD9-81ED-4DB2-BD59-A6C34878D82A}">
                    <a16:rowId xmlns:a16="http://schemas.microsoft.com/office/drawing/2014/main" val="541960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05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D4DEF568-44BD-EA46-8759-DD1C59256A8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Example 1 (cont.)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92085291-8DDD-F24F-A9A6-9F1DD9A83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First Scan: //count and sort</a:t>
            </a:r>
          </a:p>
          <a:p>
            <a:pPr lvl="1" eaLnBrk="1" hangingPunct="1">
              <a:defRPr/>
            </a:pPr>
            <a:r>
              <a:rPr lang="en-US" altLang="zh-CN"/>
              <a:t>count the frequencies of each item</a:t>
            </a:r>
          </a:p>
          <a:p>
            <a:pPr lvl="1" eaLnBrk="1" hangingPunct="1">
              <a:defRPr/>
            </a:pPr>
            <a:r>
              <a:rPr lang="en-US" altLang="zh-CN"/>
              <a:t>collect length-1 frequent items, then sort them in support descending order into </a:t>
            </a:r>
            <a:r>
              <a:rPr lang="en-US" altLang="zh-CN" i="1"/>
              <a:t>L</a:t>
            </a:r>
            <a:r>
              <a:rPr lang="en-US" altLang="zh-CN"/>
              <a:t>, </a:t>
            </a:r>
            <a:r>
              <a:rPr lang="en-US" altLang="zh-CN" i="1"/>
              <a:t>frequent item list</a:t>
            </a:r>
            <a:r>
              <a:rPr lang="en-US" altLang="zh-CN"/>
              <a:t>.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/>
              <a:t>  </a:t>
            </a:r>
            <a:r>
              <a:rPr lang="en-US" altLang="zh-CN" i="1"/>
              <a:t> L</a:t>
            </a:r>
            <a:r>
              <a:rPr lang="en-US" altLang="zh-CN"/>
              <a:t> = {(</a:t>
            </a:r>
            <a:r>
              <a:rPr lang="en-US" altLang="zh-CN" i="1"/>
              <a:t>f:4</a:t>
            </a:r>
            <a:r>
              <a:rPr lang="en-US" altLang="zh-CN"/>
              <a:t>), (</a:t>
            </a:r>
            <a:r>
              <a:rPr lang="en-US" altLang="zh-CN" i="1"/>
              <a:t>c:4</a:t>
            </a:r>
            <a:r>
              <a:rPr lang="en-US" altLang="zh-CN"/>
              <a:t>), (</a:t>
            </a:r>
            <a:r>
              <a:rPr lang="en-US" altLang="zh-CN" i="1"/>
              <a:t>a:3</a:t>
            </a:r>
            <a:r>
              <a:rPr lang="en-US" altLang="zh-CN"/>
              <a:t>), (</a:t>
            </a:r>
            <a:r>
              <a:rPr lang="en-US" altLang="zh-CN" i="1"/>
              <a:t>b:3</a:t>
            </a:r>
            <a:r>
              <a:rPr lang="en-US" altLang="zh-CN"/>
              <a:t>), (</a:t>
            </a:r>
            <a:r>
              <a:rPr lang="en-US" altLang="zh-CN" i="1"/>
              <a:t>m:3</a:t>
            </a:r>
            <a:r>
              <a:rPr lang="en-US" altLang="zh-CN"/>
              <a:t>), (</a:t>
            </a:r>
            <a:r>
              <a:rPr lang="en-US" altLang="zh-CN" i="1"/>
              <a:t>p:3</a:t>
            </a:r>
            <a:r>
              <a:rPr lang="en-US" altLang="zh-CN"/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586784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6BFD8BFA-FF2F-EC4C-ADE2-FC7969B29CF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Example 1 (cont.)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73797050-BB1A-394B-A62C-E57E83C6A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Second Scan://create the tree and header table</a:t>
            </a:r>
          </a:p>
          <a:p>
            <a:pPr lvl="1" eaLnBrk="1" hangingPunct="1">
              <a:defRPr/>
            </a:pPr>
            <a:r>
              <a:rPr lang="en-US" altLang="zh-CN"/>
              <a:t>create the root, label it as “</a:t>
            </a:r>
            <a:r>
              <a:rPr lang="en-US" altLang="zh-CN" i="1"/>
              <a:t>null</a:t>
            </a:r>
            <a:r>
              <a:rPr lang="en-US" altLang="zh-CN"/>
              <a:t>”</a:t>
            </a:r>
          </a:p>
          <a:p>
            <a:pPr lvl="1" eaLnBrk="1" hangingPunct="1">
              <a:defRPr/>
            </a:pPr>
            <a:r>
              <a:rPr lang="en-US" altLang="zh-CN"/>
              <a:t>for each transaction </a:t>
            </a:r>
            <a:r>
              <a:rPr lang="en-US" altLang="zh-CN" i="1"/>
              <a:t>Trans</a:t>
            </a:r>
            <a:r>
              <a:rPr lang="en-US" altLang="zh-CN"/>
              <a:t>, do</a:t>
            </a:r>
          </a:p>
          <a:p>
            <a:pPr lvl="2" eaLnBrk="1" hangingPunct="1">
              <a:defRPr/>
            </a:pPr>
            <a:r>
              <a:rPr lang="en-US" altLang="zh-CN"/>
              <a:t>select and sort the frequent items in </a:t>
            </a:r>
            <a:r>
              <a:rPr lang="en-US" altLang="zh-CN" i="1"/>
              <a:t>Trans</a:t>
            </a:r>
          </a:p>
          <a:p>
            <a:pPr lvl="2" eaLnBrk="1" hangingPunct="1">
              <a:defRPr/>
            </a:pPr>
            <a:r>
              <a:rPr lang="en-US" altLang="zh-CN"/>
              <a:t>increase nodes count or create new nodes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i="1"/>
              <a:t>   If prefix nodes already exist, increase their counts by 1;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i="1"/>
              <a:t>  If no prefix nodes, create it and set count to 1.</a:t>
            </a:r>
          </a:p>
          <a:p>
            <a:pPr lvl="1" eaLnBrk="1" hangingPunct="1">
              <a:defRPr/>
            </a:pPr>
            <a:r>
              <a:rPr lang="en-US" altLang="zh-CN"/>
              <a:t>build the item header table</a:t>
            </a:r>
          </a:p>
          <a:p>
            <a:pPr lvl="2" eaLnBrk="1" hangingPunct="1">
              <a:defRPr/>
            </a:pPr>
            <a:r>
              <a:rPr lang="en-US" altLang="zh-CN"/>
              <a:t>nodes with the same item-name are linked in sequence via node-links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383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6C8BBB3C-1713-5344-A61F-07E582D37A0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Example 1 (cont.)</a:t>
            </a:r>
          </a:p>
        </p:txBody>
      </p:sp>
      <p:grpSp>
        <p:nvGrpSpPr>
          <p:cNvPr id="29698" name="Group 205">
            <a:extLst>
              <a:ext uri="{FF2B5EF4-FFF2-40B4-BE49-F238E27FC236}">
                <a16:creationId xmlns:a16="http://schemas.microsoft.com/office/drawing/2014/main" id="{3BD6959E-64F6-494A-9781-6F9A4AD81AED}"/>
              </a:ext>
            </a:extLst>
          </p:cNvPr>
          <p:cNvGrpSpPr>
            <a:grpSpLocks/>
          </p:cNvGrpSpPr>
          <p:nvPr/>
        </p:nvGrpSpPr>
        <p:grpSpPr bwMode="auto">
          <a:xfrm>
            <a:off x="149225" y="2174875"/>
            <a:ext cx="1273175" cy="4089400"/>
            <a:chOff x="-3" y="1370"/>
            <a:chExt cx="802" cy="2576"/>
          </a:xfrm>
        </p:grpSpPr>
        <p:grpSp>
          <p:nvGrpSpPr>
            <p:cNvPr id="29805" name="Group 4">
              <a:extLst>
                <a:ext uri="{FF2B5EF4-FFF2-40B4-BE49-F238E27FC236}">
                  <a16:creationId xmlns:a16="http://schemas.microsoft.com/office/drawing/2014/main" id="{F262328C-56E9-BC42-835A-5828B81B8B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" y="1370"/>
              <a:ext cx="454" cy="226"/>
              <a:chOff x="4649" y="1547"/>
              <a:chExt cx="454" cy="226"/>
            </a:xfrm>
          </p:grpSpPr>
          <p:sp>
            <p:nvSpPr>
              <p:cNvPr id="29807" name="Oval 5">
                <a:extLst>
                  <a:ext uri="{FF2B5EF4-FFF2-40B4-BE49-F238E27FC236}">
                    <a16:creationId xmlns:a16="http://schemas.microsoft.com/office/drawing/2014/main" id="{830D6308-98E2-8041-B320-C1D7AADDF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1547"/>
                <a:ext cx="454" cy="22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u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Ø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600">
                  <a:latin typeface="Garamond" panose="02020404030301010803" pitchFamily="18" charset="0"/>
                </a:endParaRPr>
              </a:p>
            </p:txBody>
          </p:sp>
          <p:sp>
            <p:nvSpPr>
              <p:cNvPr id="29808" name="Text Box 6">
                <a:extLst>
                  <a:ext uri="{FF2B5EF4-FFF2-40B4-BE49-F238E27FC236}">
                    <a16:creationId xmlns:a16="http://schemas.microsoft.com/office/drawing/2014/main" id="{95F36E27-F871-A944-B18C-6B37D3CD4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7" y="1579"/>
                <a:ext cx="29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u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Ø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Garamond" panose="02020404030301010803" pitchFamily="18" charset="0"/>
                  </a:rPr>
                  <a:t>root</a:t>
                </a:r>
              </a:p>
            </p:txBody>
          </p:sp>
        </p:grpSp>
        <p:sp>
          <p:nvSpPr>
            <p:cNvPr id="29806" name="Text Box 32">
              <a:extLst>
                <a:ext uri="{FF2B5EF4-FFF2-40B4-BE49-F238E27FC236}">
                  <a16:creationId xmlns:a16="http://schemas.microsoft.com/office/drawing/2014/main" id="{535CE541-8795-E04A-8B23-93C367B3F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" y="3715"/>
              <a:ext cx="80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Garamond" panose="02020404030301010803" pitchFamily="18" charset="0"/>
                </a:rPr>
                <a:t>Create root</a:t>
              </a:r>
            </a:p>
          </p:txBody>
        </p:sp>
      </p:grpSp>
      <p:grpSp>
        <p:nvGrpSpPr>
          <p:cNvPr id="29699" name="Group 204">
            <a:extLst>
              <a:ext uri="{FF2B5EF4-FFF2-40B4-BE49-F238E27FC236}">
                <a16:creationId xmlns:a16="http://schemas.microsoft.com/office/drawing/2014/main" id="{1039471F-9A23-6D49-93A0-A8A97D38ED9D}"/>
              </a:ext>
            </a:extLst>
          </p:cNvPr>
          <p:cNvGrpSpPr>
            <a:grpSpLocks/>
          </p:cNvGrpSpPr>
          <p:nvPr/>
        </p:nvGrpSpPr>
        <p:grpSpPr bwMode="auto">
          <a:xfrm>
            <a:off x="2098675" y="2198688"/>
            <a:ext cx="1666875" cy="4384675"/>
            <a:chOff x="769" y="1357"/>
            <a:chExt cx="1050" cy="2762"/>
          </a:xfrm>
        </p:grpSpPr>
        <p:grpSp>
          <p:nvGrpSpPr>
            <p:cNvPr id="29779" name="Group 7">
              <a:extLst>
                <a:ext uri="{FF2B5EF4-FFF2-40B4-BE49-F238E27FC236}">
                  <a16:creationId xmlns:a16="http://schemas.microsoft.com/office/drawing/2014/main" id="{1A1566FA-0B91-CE45-907D-BCD16C430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" y="1357"/>
              <a:ext cx="1044" cy="2223"/>
              <a:chOff x="2468" y="2282"/>
              <a:chExt cx="1044" cy="2223"/>
            </a:xfrm>
          </p:grpSpPr>
          <p:grpSp>
            <p:nvGrpSpPr>
              <p:cNvPr id="29781" name="Group 8">
                <a:extLst>
                  <a:ext uri="{FF2B5EF4-FFF2-40B4-BE49-F238E27FC236}">
                    <a16:creationId xmlns:a16="http://schemas.microsoft.com/office/drawing/2014/main" id="{05C844B2-516E-F346-8F5F-6448593498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8" y="2282"/>
                <a:ext cx="454" cy="226"/>
                <a:chOff x="4649" y="1547"/>
                <a:chExt cx="454" cy="226"/>
              </a:xfrm>
            </p:grpSpPr>
            <p:sp>
              <p:nvSpPr>
                <p:cNvPr id="29803" name="Oval 9">
                  <a:extLst>
                    <a:ext uri="{FF2B5EF4-FFF2-40B4-BE49-F238E27FC236}">
                      <a16:creationId xmlns:a16="http://schemas.microsoft.com/office/drawing/2014/main" id="{18259907-1A9E-F94B-A6CF-1DF777A60F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1547"/>
                  <a:ext cx="454" cy="226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endParaRPr lang="en-US" altLang="en-US" sz="16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9804" name="Text Box 10">
                  <a:extLst>
                    <a:ext uri="{FF2B5EF4-FFF2-40B4-BE49-F238E27FC236}">
                      <a16:creationId xmlns:a16="http://schemas.microsoft.com/office/drawing/2014/main" id="{6FFB881B-86EA-A041-85E5-9D364DB71A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7" y="1579"/>
                  <a:ext cx="290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root</a:t>
                  </a:r>
                </a:p>
              </p:txBody>
            </p:sp>
          </p:grpSp>
          <p:sp>
            <p:nvSpPr>
              <p:cNvPr id="29782" name="Line 11">
                <a:extLst>
                  <a:ext uri="{FF2B5EF4-FFF2-40B4-BE49-F238E27FC236}">
                    <a16:creationId xmlns:a16="http://schemas.microsoft.com/office/drawing/2014/main" id="{1F54E25D-8984-BF46-873C-70A78AAC9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4" y="2411"/>
                <a:ext cx="224" cy="2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29783" name="Group 12">
                <a:extLst>
                  <a:ext uri="{FF2B5EF4-FFF2-40B4-BE49-F238E27FC236}">
                    <a16:creationId xmlns:a16="http://schemas.microsoft.com/office/drawing/2014/main" id="{BDFE81CB-FEB5-5E45-9181-6C4DB8EEF5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2669"/>
                <a:ext cx="454" cy="1836"/>
                <a:chOff x="4059" y="1934"/>
                <a:chExt cx="454" cy="1836"/>
              </a:xfrm>
            </p:grpSpPr>
            <p:sp>
              <p:nvSpPr>
                <p:cNvPr id="29784" name="Line 13">
                  <a:extLst>
                    <a:ext uri="{FF2B5EF4-FFF2-40B4-BE49-F238E27FC236}">
                      <a16:creationId xmlns:a16="http://schemas.microsoft.com/office/drawing/2014/main" id="{4B1A3BC4-9F8A-8B42-BA4A-6E74FB7D12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155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85" name="Line 14">
                  <a:extLst>
                    <a:ext uri="{FF2B5EF4-FFF2-40B4-BE49-F238E27FC236}">
                      <a16:creationId xmlns:a16="http://schemas.microsoft.com/office/drawing/2014/main" id="{39D7F0AF-181A-F34A-BDB4-FEC4F0BAF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564"/>
                  <a:ext cx="0" cy="1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86" name="Line 15">
                  <a:extLst>
                    <a:ext uri="{FF2B5EF4-FFF2-40B4-BE49-F238E27FC236}">
                      <a16:creationId xmlns:a16="http://schemas.microsoft.com/office/drawing/2014/main" id="{22213AC4-7928-0747-BC4E-03A30D220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949"/>
                  <a:ext cx="0" cy="1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87" name="Line 16">
                  <a:extLst>
                    <a:ext uri="{FF2B5EF4-FFF2-40B4-BE49-F238E27FC236}">
                      <a16:creationId xmlns:a16="http://schemas.microsoft.com/office/drawing/2014/main" id="{CE22693B-FDF2-8144-9D73-7DFB269FBD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3362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9788" name="Group 17">
                  <a:extLst>
                    <a:ext uri="{FF2B5EF4-FFF2-40B4-BE49-F238E27FC236}">
                      <a16:creationId xmlns:a16="http://schemas.microsoft.com/office/drawing/2014/main" id="{AADCB48A-0ABC-3344-891B-BA9A78CB32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934"/>
                  <a:ext cx="454" cy="226"/>
                  <a:chOff x="4059" y="1934"/>
                  <a:chExt cx="454" cy="226"/>
                </a:xfrm>
              </p:grpSpPr>
              <p:sp>
                <p:nvSpPr>
                  <p:cNvPr id="29801" name="Oval 18">
                    <a:extLst>
                      <a:ext uri="{FF2B5EF4-FFF2-40B4-BE49-F238E27FC236}">
                        <a16:creationId xmlns:a16="http://schemas.microsoft.com/office/drawing/2014/main" id="{6894BF7F-52AD-5B47-AAC0-6F0B12052D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1934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802" name="Text Box 19">
                    <a:extLst>
                      <a:ext uri="{FF2B5EF4-FFF2-40B4-BE49-F238E27FC236}">
                        <a16:creationId xmlns:a16="http://schemas.microsoft.com/office/drawing/2014/main" id="{60F3D434-A4EF-1F4F-A010-1EEFE6B688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1963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f : 1</a:t>
                    </a:r>
                  </a:p>
                </p:txBody>
              </p:sp>
            </p:grpSp>
            <p:grpSp>
              <p:nvGrpSpPr>
                <p:cNvPr id="29789" name="Group 20">
                  <a:extLst>
                    <a:ext uri="{FF2B5EF4-FFF2-40B4-BE49-F238E27FC236}">
                      <a16:creationId xmlns:a16="http://schemas.microsoft.com/office/drawing/2014/main" id="{6A90391D-14D2-B94D-B4B1-BF2C331A57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2727"/>
                  <a:ext cx="454" cy="226"/>
                  <a:chOff x="4059" y="2727"/>
                  <a:chExt cx="454" cy="226"/>
                </a:xfrm>
              </p:grpSpPr>
              <p:sp>
                <p:nvSpPr>
                  <p:cNvPr id="29799" name="Oval 21">
                    <a:extLst>
                      <a:ext uri="{FF2B5EF4-FFF2-40B4-BE49-F238E27FC236}">
                        <a16:creationId xmlns:a16="http://schemas.microsoft.com/office/drawing/2014/main" id="{CE26414F-CB64-CB47-A02B-9F60DA8491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2727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800" name="Text Box 22">
                    <a:extLst>
                      <a:ext uri="{FF2B5EF4-FFF2-40B4-BE49-F238E27FC236}">
                        <a16:creationId xmlns:a16="http://schemas.microsoft.com/office/drawing/2014/main" id="{5D22CFD2-AEF2-5B45-8AB9-674D5369855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2761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a : 1</a:t>
                    </a:r>
                  </a:p>
                </p:txBody>
              </p:sp>
            </p:grpSp>
            <p:grpSp>
              <p:nvGrpSpPr>
                <p:cNvPr id="29790" name="Group 23">
                  <a:extLst>
                    <a:ext uri="{FF2B5EF4-FFF2-40B4-BE49-F238E27FC236}">
                      <a16:creationId xmlns:a16="http://schemas.microsoft.com/office/drawing/2014/main" id="{15FB8839-23FE-9243-A323-3787D41581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3136"/>
                  <a:ext cx="454" cy="226"/>
                  <a:chOff x="4059" y="3136"/>
                  <a:chExt cx="454" cy="226"/>
                </a:xfrm>
              </p:grpSpPr>
              <p:sp>
                <p:nvSpPr>
                  <p:cNvPr id="29797" name="Oval 24">
                    <a:extLst>
                      <a:ext uri="{FF2B5EF4-FFF2-40B4-BE49-F238E27FC236}">
                        <a16:creationId xmlns:a16="http://schemas.microsoft.com/office/drawing/2014/main" id="{45EABD8E-88D0-5B41-AEEC-1862F14849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3136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98" name="Text Box 25">
                    <a:extLst>
                      <a:ext uri="{FF2B5EF4-FFF2-40B4-BE49-F238E27FC236}">
                        <a16:creationId xmlns:a16="http://schemas.microsoft.com/office/drawing/2014/main" id="{34EB7CA4-88CF-344D-9F04-8C5B06CCC4F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3176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m : 1</a:t>
                    </a:r>
                  </a:p>
                </p:txBody>
              </p:sp>
            </p:grpSp>
            <p:grpSp>
              <p:nvGrpSpPr>
                <p:cNvPr id="29791" name="Group 26">
                  <a:extLst>
                    <a:ext uri="{FF2B5EF4-FFF2-40B4-BE49-F238E27FC236}">
                      <a16:creationId xmlns:a16="http://schemas.microsoft.com/office/drawing/2014/main" id="{F05B0713-4F4A-C743-B6CC-1FC6336894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3544"/>
                  <a:ext cx="454" cy="226"/>
                  <a:chOff x="4059" y="3544"/>
                  <a:chExt cx="454" cy="226"/>
                </a:xfrm>
              </p:grpSpPr>
              <p:sp>
                <p:nvSpPr>
                  <p:cNvPr id="29795" name="Oval 27">
                    <a:extLst>
                      <a:ext uri="{FF2B5EF4-FFF2-40B4-BE49-F238E27FC236}">
                        <a16:creationId xmlns:a16="http://schemas.microsoft.com/office/drawing/2014/main" id="{36A29295-42ED-BE47-BC43-313ED0F058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3544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96" name="Text Box 28">
                    <a:extLst>
                      <a:ext uri="{FF2B5EF4-FFF2-40B4-BE49-F238E27FC236}">
                        <a16:creationId xmlns:a16="http://schemas.microsoft.com/office/drawing/2014/main" id="{0BE8F6A5-2D77-F844-B57F-C1E62EC255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3584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p : 1</a:t>
                    </a:r>
                  </a:p>
                </p:txBody>
              </p:sp>
            </p:grpSp>
            <p:grpSp>
              <p:nvGrpSpPr>
                <p:cNvPr id="29792" name="Group 29">
                  <a:extLst>
                    <a:ext uri="{FF2B5EF4-FFF2-40B4-BE49-F238E27FC236}">
                      <a16:creationId xmlns:a16="http://schemas.microsoft.com/office/drawing/2014/main" id="{A5B2B615-9D46-734D-99E2-19329E3499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2338"/>
                  <a:ext cx="454" cy="226"/>
                  <a:chOff x="4059" y="2338"/>
                  <a:chExt cx="454" cy="226"/>
                </a:xfrm>
              </p:grpSpPr>
              <p:sp>
                <p:nvSpPr>
                  <p:cNvPr id="29793" name="Oval 30">
                    <a:extLst>
                      <a:ext uri="{FF2B5EF4-FFF2-40B4-BE49-F238E27FC236}">
                        <a16:creationId xmlns:a16="http://schemas.microsoft.com/office/drawing/2014/main" id="{9A55B2D9-4E2C-6143-944D-6BC1504386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2338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94" name="Text Box 31">
                    <a:extLst>
                      <a:ext uri="{FF2B5EF4-FFF2-40B4-BE49-F238E27FC236}">
                        <a16:creationId xmlns:a16="http://schemas.microsoft.com/office/drawing/2014/main" id="{779B775A-D786-4D48-97A5-761FD729F8B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2374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c : 1</a:t>
                    </a:r>
                  </a:p>
                </p:txBody>
              </p:sp>
            </p:grpSp>
          </p:grpSp>
        </p:grpSp>
        <p:sp>
          <p:nvSpPr>
            <p:cNvPr id="179233" name="Text Box 33">
              <a:extLst>
                <a:ext uri="{FF2B5EF4-FFF2-40B4-BE49-F238E27FC236}">
                  <a16:creationId xmlns:a16="http://schemas.microsoft.com/office/drawing/2014/main" id="{37EA0215-8DE6-9844-8226-6167B206D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" y="3715"/>
              <a:ext cx="853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/>
                <a:t>After trans 1 </a:t>
              </a:r>
              <a:r>
                <a:rPr lang="en-US" altLang="zh-CN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(f,c,a,m,p)</a:t>
              </a:r>
              <a:endParaRPr lang="en-US" altLang="zh-CN" sz="1800"/>
            </a:p>
          </p:txBody>
        </p:sp>
      </p:grpSp>
      <p:sp>
        <p:nvSpPr>
          <p:cNvPr id="29700" name="Text Box 89">
            <a:extLst>
              <a:ext uri="{FF2B5EF4-FFF2-40B4-BE49-F238E27FC236}">
                <a16:creationId xmlns:a16="http://schemas.microsoft.com/office/drawing/2014/main" id="{73B5FC57-3D60-0A49-A41C-115B48B21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392238"/>
            <a:ext cx="5837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The building process of the tree</a:t>
            </a:r>
          </a:p>
        </p:txBody>
      </p:sp>
      <p:grpSp>
        <p:nvGrpSpPr>
          <p:cNvPr id="29701" name="Group 203">
            <a:extLst>
              <a:ext uri="{FF2B5EF4-FFF2-40B4-BE49-F238E27FC236}">
                <a16:creationId xmlns:a16="http://schemas.microsoft.com/office/drawing/2014/main" id="{CA84B80B-FD8C-E949-8CB1-54841F82542A}"/>
              </a:ext>
            </a:extLst>
          </p:cNvPr>
          <p:cNvGrpSpPr>
            <a:grpSpLocks/>
          </p:cNvGrpSpPr>
          <p:nvPr/>
        </p:nvGrpSpPr>
        <p:grpSpPr bwMode="auto">
          <a:xfrm>
            <a:off x="4413250" y="2276475"/>
            <a:ext cx="1657350" cy="4338638"/>
            <a:chOff x="1646" y="1386"/>
            <a:chExt cx="1044" cy="2733"/>
          </a:xfrm>
        </p:grpSpPr>
        <p:grpSp>
          <p:nvGrpSpPr>
            <p:cNvPr id="29744" name="Group 88">
              <a:extLst>
                <a:ext uri="{FF2B5EF4-FFF2-40B4-BE49-F238E27FC236}">
                  <a16:creationId xmlns:a16="http://schemas.microsoft.com/office/drawing/2014/main" id="{5A196F93-BA07-904A-8592-D276E4FD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6" y="1386"/>
              <a:ext cx="1044" cy="2223"/>
              <a:chOff x="2783" y="1199"/>
              <a:chExt cx="1044" cy="2223"/>
            </a:xfrm>
          </p:grpSpPr>
          <p:grpSp>
            <p:nvGrpSpPr>
              <p:cNvPr id="29746" name="Group 35">
                <a:extLst>
                  <a:ext uri="{FF2B5EF4-FFF2-40B4-BE49-F238E27FC236}">
                    <a16:creationId xmlns:a16="http://schemas.microsoft.com/office/drawing/2014/main" id="{0BB4E229-15C2-EF48-B46B-ECD53C6977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3" y="1199"/>
                <a:ext cx="454" cy="226"/>
                <a:chOff x="4649" y="1547"/>
                <a:chExt cx="454" cy="226"/>
              </a:xfrm>
            </p:grpSpPr>
            <p:sp>
              <p:nvSpPr>
                <p:cNvPr id="29777" name="Oval 36">
                  <a:extLst>
                    <a:ext uri="{FF2B5EF4-FFF2-40B4-BE49-F238E27FC236}">
                      <a16:creationId xmlns:a16="http://schemas.microsoft.com/office/drawing/2014/main" id="{D3D8429D-FC41-CC44-A07B-2389F5D52D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1547"/>
                  <a:ext cx="454" cy="226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endParaRPr lang="en-US" altLang="en-US" sz="16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9778" name="Text Box 37">
                  <a:extLst>
                    <a:ext uri="{FF2B5EF4-FFF2-40B4-BE49-F238E27FC236}">
                      <a16:creationId xmlns:a16="http://schemas.microsoft.com/office/drawing/2014/main" id="{E710E572-0CA5-AA40-880F-DD9CC3F71A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7" y="1579"/>
                  <a:ext cx="290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root</a:t>
                  </a:r>
                </a:p>
              </p:txBody>
            </p:sp>
          </p:grpSp>
          <p:sp>
            <p:nvSpPr>
              <p:cNvPr id="29747" name="Line 53">
                <a:extLst>
                  <a:ext uri="{FF2B5EF4-FFF2-40B4-BE49-F238E27FC236}">
                    <a16:creationId xmlns:a16="http://schemas.microsoft.com/office/drawing/2014/main" id="{19ABD428-1A7D-7646-BA24-E68B62772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9" y="1328"/>
                <a:ext cx="224" cy="2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29748" name="Group 59">
                <a:extLst>
                  <a:ext uri="{FF2B5EF4-FFF2-40B4-BE49-F238E27FC236}">
                    <a16:creationId xmlns:a16="http://schemas.microsoft.com/office/drawing/2014/main" id="{916A7A8E-71D1-414E-8EB0-7F74757F34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7" y="2586"/>
                <a:ext cx="650" cy="836"/>
                <a:chOff x="4453" y="2934"/>
                <a:chExt cx="650" cy="836"/>
              </a:xfrm>
            </p:grpSpPr>
            <p:sp>
              <p:nvSpPr>
                <p:cNvPr id="29769" name="Line 60">
                  <a:extLst>
                    <a:ext uri="{FF2B5EF4-FFF2-40B4-BE49-F238E27FC236}">
                      <a16:creationId xmlns:a16="http://schemas.microsoft.com/office/drawing/2014/main" id="{AAE5715D-3DD2-5B4B-84B2-B84D0D08EC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453" y="2934"/>
                  <a:ext cx="29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70" name="Line 61">
                  <a:extLst>
                    <a:ext uri="{FF2B5EF4-FFF2-40B4-BE49-F238E27FC236}">
                      <a16:creationId xmlns:a16="http://schemas.microsoft.com/office/drawing/2014/main" id="{905A8F0B-BA0F-5C45-A15B-A641C11916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40" y="3362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9771" name="Group 62">
                  <a:extLst>
                    <a:ext uri="{FF2B5EF4-FFF2-40B4-BE49-F238E27FC236}">
                      <a16:creationId xmlns:a16="http://schemas.microsoft.com/office/drawing/2014/main" id="{09D63357-7770-2143-9189-917F723481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49" y="3136"/>
                  <a:ext cx="454" cy="226"/>
                  <a:chOff x="4649" y="3136"/>
                  <a:chExt cx="454" cy="226"/>
                </a:xfrm>
              </p:grpSpPr>
              <p:sp>
                <p:nvSpPr>
                  <p:cNvPr id="29775" name="Oval 63">
                    <a:extLst>
                      <a:ext uri="{FF2B5EF4-FFF2-40B4-BE49-F238E27FC236}">
                        <a16:creationId xmlns:a16="http://schemas.microsoft.com/office/drawing/2014/main" id="{658CD5CC-3785-1F4F-935D-B0C2A7EAA8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9" y="3136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76" name="Text Box 64">
                    <a:extLst>
                      <a:ext uri="{FF2B5EF4-FFF2-40B4-BE49-F238E27FC236}">
                        <a16:creationId xmlns:a16="http://schemas.microsoft.com/office/drawing/2014/main" id="{B395C4D2-25E7-C247-AFCA-40841A46931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7" y="3176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b : 1</a:t>
                    </a:r>
                  </a:p>
                </p:txBody>
              </p:sp>
            </p:grpSp>
            <p:grpSp>
              <p:nvGrpSpPr>
                <p:cNvPr id="29772" name="Group 65">
                  <a:extLst>
                    <a:ext uri="{FF2B5EF4-FFF2-40B4-BE49-F238E27FC236}">
                      <a16:creationId xmlns:a16="http://schemas.microsoft.com/office/drawing/2014/main" id="{6361C4B0-F8BD-3A4B-9A26-9E1AB70483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49" y="3544"/>
                  <a:ext cx="454" cy="226"/>
                  <a:chOff x="4649" y="3544"/>
                  <a:chExt cx="454" cy="226"/>
                </a:xfrm>
              </p:grpSpPr>
              <p:sp>
                <p:nvSpPr>
                  <p:cNvPr id="29773" name="Oval 66">
                    <a:extLst>
                      <a:ext uri="{FF2B5EF4-FFF2-40B4-BE49-F238E27FC236}">
                        <a16:creationId xmlns:a16="http://schemas.microsoft.com/office/drawing/2014/main" id="{F8B0D281-951B-0143-AA41-C1F579385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9" y="3544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74" name="Text Box 67">
                    <a:extLst>
                      <a:ext uri="{FF2B5EF4-FFF2-40B4-BE49-F238E27FC236}">
                        <a16:creationId xmlns:a16="http://schemas.microsoft.com/office/drawing/2014/main" id="{777825E4-9068-5E44-87C0-4B8642E7A4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7" y="3584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m : 1</a:t>
                    </a:r>
                  </a:p>
                </p:txBody>
              </p:sp>
            </p:grpSp>
          </p:grpSp>
          <p:grpSp>
            <p:nvGrpSpPr>
              <p:cNvPr id="29749" name="Group 68">
                <a:extLst>
                  <a:ext uri="{FF2B5EF4-FFF2-40B4-BE49-F238E27FC236}">
                    <a16:creationId xmlns:a16="http://schemas.microsoft.com/office/drawing/2014/main" id="{33AA67E6-C77A-EA4B-AE64-3B4F143543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3" y="1586"/>
                <a:ext cx="454" cy="1836"/>
                <a:chOff x="4059" y="1934"/>
                <a:chExt cx="454" cy="1836"/>
              </a:xfrm>
            </p:grpSpPr>
            <p:sp>
              <p:nvSpPr>
                <p:cNvPr id="29750" name="Line 69">
                  <a:extLst>
                    <a:ext uri="{FF2B5EF4-FFF2-40B4-BE49-F238E27FC236}">
                      <a16:creationId xmlns:a16="http://schemas.microsoft.com/office/drawing/2014/main" id="{DB119C32-BCF5-714A-811C-24AF930946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155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51" name="Line 70">
                  <a:extLst>
                    <a:ext uri="{FF2B5EF4-FFF2-40B4-BE49-F238E27FC236}">
                      <a16:creationId xmlns:a16="http://schemas.microsoft.com/office/drawing/2014/main" id="{8FB092AC-31A4-EB48-8C5E-1EA858B968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564"/>
                  <a:ext cx="0" cy="1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52" name="Line 71">
                  <a:extLst>
                    <a:ext uri="{FF2B5EF4-FFF2-40B4-BE49-F238E27FC236}">
                      <a16:creationId xmlns:a16="http://schemas.microsoft.com/office/drawing/2014/main" id="{5C709E30-B0D7-9A4D-BA6E-4B287A4532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2949"/>
                  <a:ext cx="0" cy="1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753" name="Line 72">
                  <a:extLst>
                    <a:ext uri="{FF2B5EF4-FFF2-40B4-BE49-F238E27FC236}">
                      <a16:creationId xmlns:a16="http://schemas.microsoft.com/office/drawing/2014/main" id="{ABF58B45-A402-6843-9963-4D09D50DD4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59" y="3362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9754" name="Group 73">
                  <a:extLst>
                    <a:ext uri="{FF2B5EF4-FFF2-40B4-BE49-F238E27FC236}">
                      <a16:creationId xmlns:a16="http://schemas.microsoft.com/office/drawing/2014/main" id="{221A218C-4E3F-FF49-B082-410539DD0A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934"/>
                  <a:ext cx="454" cy="226"/>
                  <a:chOff x="4059" y="1934"/>
                  <a:chExt cx="454" cy="226"/>
                </a:xfrm>
              </p:grpSpPr>
              <p:sp>
                <p:nvSpPr>
                  <p:cNvPr id="29767" name="Oval 74">
                    <a:extLst>
                      <a:ext uri="{FF2B5EF4-FFF2-40B4-BE49-F238E27FC236}">
                        <a16:creationId xmlns:a16="http://schemas.microsoft.com/office/drawing/2014/main" id="{8F522F18-9560-864F-B540-AABA8DB012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1934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68" name="Text Box 75">
                    <a:extLst>
                      <a:ext uri="{FF2B5EF4-FFF2-40B4-BE49-F238E27FC236}">
                        <a16:creationId xmlns:a16="http://schemas.microsoft.com/office/drawing/2014/main" id="{254F210D-60F8-E547-9B91-187D053286E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1963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f : 2</a:t>
                    </a:r>
                  </a:p>
                </p:txBody>
              </p:sp>
            </p:grpSp>
            <p:grpSp>
              <p:nvGrpSpPr>
                <p:cNvPr id="29755" name="Group 76">
                  <a:extLst>
                    <a:ext uri="{FF2B5EF4-FFF2-40B4-BE49-F238E27FC236}">
                      <a16:creationId xmlns:a16="http://schemas.microsoft.com/office/drawing/2014/main" id="{CCC3ED9A-67E5-C142-9325-4FC4661F29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2727"/>
                  <a:ext cx="454" cy="226"/>
                  <a:chOff x="4059" y="2727"/>
                  <a:chExt cx="454" cy="226"/>
                </a:xfrm>
              </p:grpSpPr>
              <p:sp>
                <p:nvSpPr>
                  <p:cNvPr id="29765" name="Oval 77">
                    <a:extLst>
                      <a:ext uri="{FF2B5EF4-FFF2-40B4-BE49-F238E27FC236}">
                        <a16:creationId xmlns:a16="http://schemas.microsoft.com/office/drawing/2014/main" id="{08169485-58DB-DF4A-A3F7-878381C5FB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2727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66" name="Text Box 78">
                    <a:extLst>
                      <a:ext uri="{FF2B5EF4-FFF2-40B4-BE49-F238E27FC236}">
                        <a16:creationId xmlns:a16="http://schemas.microsoft.com/office/drawing/2014/main" id="{9A321C2A-7746-F642-ADD1-CCF12633165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2761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a : 2</a:t>
                    </a:r>
                  </a:p>
                </p:txBody>
              </p:sp>
            </p:grpSp>
            <p:grpSp>
              <p:nvGrpSpPr>
                <p:cNvPr id="29756" name="Group 79">
                  <a:extLst>
                    <a:ext uri="{FF2B5EF4-FFF2-40B4-BE49-F238E27FC236}">
                      <a16:creationId xmlns:a16="http://schemas.microsoft.com/office/drawing/2014/main" id="{0F4C228B-F3C8-2F4D-BC94-C1B67F2BBB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3136"/>
                  <a:ext cx="454" cy="226"/>
                  <a:chOff x="4059" y="3136"/>
                  <a:chExt cx="454" cy="226"/>
                </a:xfrm>
              </p:grpSpPr>
              <p:sp>
                <p:nvSpPr>
                  <p:cNvPr id="29763" name="Oval 80">
                    <a:extLst>
                      <a:ext uri="{FF2B5EF4-FFF2-40B4-BE49-F238E27FC236}">
                        <a16:creationId xmlns:a16="http://schemas.microsoft.com/office/drawing/2014/main" id="{F18219BE-0C81-544A-A137-797520B1DA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3136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64" name="Text Box 81">
                    <a:extLst>
                      <a:ext uri="{FF2B5EF4-FFF2-40B4-BE49-F238E27FC236}">
                        <a16:creationId xmlns:a16="http://schemas.microsoft.com/office/drawing/2014/main" id="{66F9DCD1-6D3A-5941-8C22-5FDCF1C3F1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3176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m : 1</a:t>
                    </a:r>
                  </a:p>
                </p:txBody>
              </p:sp>
            </p:grpSp>
            <p:grpSp>
              <p:nvGrpSpPr>
                <p:cNvPr id="29757" name="Group 82">
                  <a:extLst>
                    <a:ext uri="{FF2B5EF4-FFF2-40B4-BE49-F238E27FC236}">
                      <a16:creationId xmlns:a16="http://schemas.microsoft.com/office/drawing/2014/main" id="{4824E6D2-F772-6C48-B6E6-8589972883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3544"/>
                  <a:ext cx="454" cy="226"/>
                  <a:chOff x="4059" y="3544"/>
                  <a:chExt cx="454" cy="226"/>
                </a:xfrm>
              </p:grpSpPr>
              <p:sp>
                <p:nvSpPr>
                  <p:cNvPr id="29761" name="Oval 83">
                    <a:extLst>
                      <a:ext uri="{FF2B5EF4-FFF2-40B4-BE49-F238E27FC236}">
                        <a16:creationId xmlns:a16="http://schemas.microsoft.com/office/drawing/2014/main" id="{B5FCD7E5-6D13-824F-80AB-1C58B684E6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3544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62" name="Text Box 84">
                    <a:extLst>
                      <a:ext uri="{FF2B5EF4-FFF2-40B4-BE49-F238E27FC236}">
                        <a16:creationId xmlns:a16="http://schemas.microsoft.com/office/drawing/2014/main" id="{C4B6E0B1-0C3A-074F-920F-A923D9379BA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3584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p : 1</a:t>
                    </a:r>
                  </a:p>
                </p:txBody>
              </p:sp>
            </p:grpSp>
            <p:grpSp>
              <p:nvGrpSpPr>
                <p:cNvPr id="29758" name="Group 85">
                  <a:extLst>
                    <a:ext uri="{FF2B5EF4-FFF2-40B4-BE49-F238E27FC236}">
                      <a16:creationId xmlns:a16="http://schemas.microsoft.com/office/drawing/2014/main" id="{FD53CC7D-CF59-2645-B8F5-64A85BB40A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2338"/>
                  <a:ext cx="454" cy="226"/>
                  <a:chOff x="4059" y="2338"/>
                  <a:chExt cx="454" cy="226"/>
                </a:xfrm>
              </p:grpSpPr>
              <p:sp>
                <p:nvSpPr>
                  <p:cNvPr id="29759" name="Oval 86">
                    <a:extLst>
                      <a:ext uri="{FF2B5EF4-FFF2-40B4-BE49-F238E27FC236}">
                        <a16:creationId xmlns:a16="http://schemas.microsoft.com/office/drawing/2014/main" id="{7EFD93DA-985F-C343-842F-C59C96551D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9" y="2338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29760" name="Text Box 87">
                    <a:extLst>
                      <a:ext uri="{FF2B5EF4-FFF2-40B4-BE49-F238E27FC236}">
                        <a16:creationId xmlns:a16="http://schemas.microsoft.com/office/drawing/2014/main" id="{9B90EBB6-BC53-0B41-BB83-E982B445BE9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3" y="2374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c : 2</a:t>
                    </a:r>
                  </a:p>
                </p:txBody>
              </p:sp>
            </p:grpSp>
          </p:grpSp>
        </p:grpSp>
        <p:sp>
          <p:nvSpPr>
            <p:cNvPr id="179290" name="Text Box 90">
              <a:extLst>
                <a:ext uri="{FF2B5EF4-FFF2-40B4-BE49-F238E27FC236}">
                  <a16:creationId xmlns:a16="http://schemas.microsoft.com/office/drawing/2014/main" id="{F6C3BE5A-35B4-CB45-973E-434CB205B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3715"/>
              <a:ext cx="853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/>
                <a:t>After trans 2 </a:t>
              </a:r>
              <a:r>
                <a:rPr lang="en-US" altLang="zh-CN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(f,c,a,b,m)</a:t>
              </a:r>
            </a:p>
          </p:txBody>
        </p:sp>
      </p:grpSp>
      <p:grpSp>
        <p:nvGrpSpPr>
          <p:cNvPr id="29702" name="Group 202">
            <a:extLst>
              <a:ext uri="{FF2B5EF4-FFF2-40B4-BE49-F238E27FC236}">
                <a16:creationId xmlns:a16="http://schemas.microsoft.com/office/drawing/2014/main" id="{0AADA985-DDE9-964E-971A-8BB56054FAB6}"/>
              </a:ext>
            </a:extLst>
          </p:cNvPr>
          <p:cNvGrpSpPr>
            <a:grpSpLocks/>
          </p:cNvGrpSpPr>
          <p:nvPr/>
        </p:nvGrpSpPr>
        <p:grpSpPr bwMode="auto">
          <a:xfrm>
            <a:off x="7029450" y="2289175"/>
            <a:ext cx="1657350" cy="4333875"/>
            <a:chOff x="2832" y="1389"/>
            <a:chExt cx="1044" cy="2730"/>
          </a:xfrm>
        </p:grpSpPr>
        <p:grpSp>
          <p:nvGrpSpPr>
            <p:cNvPr id="29703" name="Group 145">
              <a:extLst>
                <a:ext uri="{FF2B5EF4-FFF2-40B4-BE49-F238E27FC236}">
                  <a16:creationId xmlns:a16="http://schemas.microsoft.com/office/drawing/2014/main" id="{EA063EA5-FAEF-C346-AFFD-B41DA2798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389"/>
              <a:ext cx="1044" cy="2223"/>
              <a:chOff x="3005" y="1291"/>
              <a:chExt cx="1044" cy="2223"/>
            </a:xfrm>
          </p:grpSpPr>
          <p:grpSp>
            <p:nvGrpSpPr>
              <p:cNvPr id="29705" name="Group 92">
                <a:extLst>
                  <a:ext uri="{FF2B5EF4-FFF2-40B4-BE49-F238E27FC236}">
                    <a16:creationId xmlns:a16="http://schemas.microsoft.com/office/drawing/2014/main" id="{3C6822AD-B4C6-8A49-967D-40D0CAE0D8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5" y="1291"/>
                <a:ext cx="454" cy="226"/>
                <a:chOff x="4649" y="1547"/>
                <a:chExt cx="454" cy="226"/>
              </a:xfrm>
            </p:grpSpPr>
            <p:sp>
              <p:nvSpPr>
                <p:cNvPr id="29742" name="Oval 93">
                  <a:extLst>
                    <a:ext uri="{FF2B5EF4-FFF2-40B4-BE49-F238E27FC236}">
                      <a16:creationId xmlns:a16="http://schemas.microsoft.com/office/drawing/2014/main" id="{8CC47FDD-71B3-4D4E-B568-E73EBC995B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1547"/>
                  <a:ext cx="454" cy="226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endParaRPr lang="en-US" altLang="en-US" sz="16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9743" name="Text Box 94">
                  <a:extLst>
                    <a:ext uri="{FF2B5EF4-FFF2-40B4-BE49-F238E27FC236}">
                      <a16:creationId xmlns:a16="http://schemas.microsoft.com/office/drawing/2014/main" id="{2B39AD3C-CF0E-E54C-84EB-D6FBB0B8F2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7" y="1579"/>
                  <a:ext cx="290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root</a:t>
                  </a:r>
                </a:p>
              </p:txBody>
            </p:sp>
          </p:grpSp>
          <p:grpSp>
            <p:nvGrpSpPr>
              <p:cNvPr id="29706" name="Group 109">
                <a:extLst>
                  <a:ext uri="{FF2B5EF4-FFF2-40B4-BE49-F238E27FC236}">
                    <a16:creationId xmlns:a16="http://schemas.microsoft.com/office/drawing/2014/main" id="{C0AB8CAE-67B8-A648-ABD2-2E6724DCDF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5" y="1420"/>
                <a:ext cx="1044" cy="2094"/>
                <a:chOff x="4059" y="1676"/>
                <a:chExt cx="1044" cy="2094"/>
              </a:xfrm>
            </p:grpSpPr>
            <p:sp>
              <p:nvSpPr>
                <p:cNvPr id="29707" name="Line 110">
                  <a:extLst>
                    <a:ext uri="{FF2B5EF4-FFF2-40B4-BE49-F238E27FC236}">
                      <a16:creationId xmlns:a16="http://schemas.microsoft.com/office/drawing/2014/main" id="{14737D27-BC45-494F-A5F3-5A7519754D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25" y="1676"/>
                  <a:ext cx="224" cy="2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9708" name="Group 111">
                  <a:extLst>
                    <a:ext uri="{FF2B5EF4-FFF2-40B4-BE49-F238E27FC236}">
                      <a16:creationId xmlns:a16="http://schemas.microsoft.com/office/drawing/2014/main" id="{B42D9846-5506-064B-86A5-57762867BC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139"/>
                  <a:ext cx="650" cy="425"/>
                  <a:chOff x="4453" y="2139"/>
                  <a:chExt cx="650" cy="425"/>
                </a:xfrm>
              </p:grpSpPr>
              <p:sp>
                <p:nvSpPr>
                  <p:cNvPr id="29738" name="Line 112">
                    <a:extLst>
                      <a:ext uri="{FF2B5EF4-FFF2-40B4-BE49-F238E27FC236}">
                        <a16:creationId xmlns:a16="http://schemas.microsoft.com/office/drawing/2014/main" id="{381AF984-FA33-E049-A876-7B747ECFE9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139"/>
                    <a:ext cx="290" cy="1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9739" name="Group 113">
                    <a:extLst>
                      <a:ext uri="{FF2B5EF4-FFF2-40B4-BE49-F238E27FC236}">
                        <a16:creationId xmlns:a16="http://schemas.microsoft.com/office/drawing/2014/main" id="{52AB71E2-EFB4-4640-9F1A-729BD163ED3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2338"/>
                    <a:ext cx="454" cy="226"/>
                    <a:chOff x="4649" y="2338"/>
                    <a:chExt cx="454" cy="226"/>
                  </a:xfrm>
                </p:grpSpPr>
                <p:sp>
                  <p:nvSpPr>
                    <p:cNvPr id="29740" name="Oval 114">
                      <a:extLst>
                        <a:ext uri="{FF2B5EF4-FFF2-40B4-BE49-F238E27FC236}">
                          <a16:creationId xmlns:a16="http://schemas.microsoft.com/office/drawing/2014/main" id="{1E9F94E3-F8A3-9F4D-9E20-B6FCE6DA4B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41" name="Text Box 115">
                      <a:extLst>
                        <a:ext uri="{FF2B5EF4-FFF2-40B4-BE49-F238E27FC236}">
                          <a16:creationId xmlns:a16="http://schemas.microsoft.com/office/drawing/2014/main" id="{8F4CD304-963C-294D-842B-9D4B352B1F2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</p:grpSp>
            <p:grpSp>
              <p:nvGrpSpPr>
                <p:cNvPr id="29709" name="Group 116">
                  <a:extLst>
                    <a:ext uri="{FF2B5EF4-FFF2-40B4-BE49-F238E27FC236}">
                      <a16:creationId xmlns:a16="http://schemas.microsoft.com/office/drawing/2014/main" id="{1A104EF5-BEC4-FF43-A40F-F4EEBDA6B5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934"/>
                  <a:ext cx="650" cy="836"/>
                  <a:chOff x="4453" y="2934"/>
                  <a:chExt cx="650" cy="836"/>
                </a:xfrm>
              </p:grpSpPr>
              <p:sp>
                <p:nvSpPr>
                  <p:cNvPr id="29730" name="Line 117">
                    <a:extLst>
                      <a:ext uri="{FF2B5EF4-FFF2-40B4-BE49-F238E27FC236}">
                        <a16:creationId xmlns:a16="http://schemas.microsoft.com/office/drawing/2014/main" id="{C0AADBBF-0C68-3B4E-8DCF-901DF7167E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934"/>
                    <a:ext cx="290" cy="2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731" name="Line 118">
                    <a:extLst>
                      <a:ext uri="{FF2B5EF4-FFF2-40B4-BE49-F238E27FC236}">
                        <a16:creationId xmlns:a16="http://schemas.microsoft.com/office/drawing/2014/main" id="{B21E3B6F-A868-8946-9B67-D5A76EED46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40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9732" name="Group 119">
                    <a:extLst>
                      <a:ext uri="{FF2B5EF4-FFF2-40B4-BE49-F238E27FC236}">
                        <a16:creationId xmlns:a16="http://schemas.microsoft.com/office/drawing/2014/main" id="{A788DB3C-9232-6649-A23F-5D029CEA404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136"/>
                    <a:ext cx="454" cy="226"/>
                    <a:chOff x="4649" y="3136"/>
                    <a:chExt cx="454" cy="226"/>
                  </a:xfrm>
                </p:grpSpPr>
                <p:sp>
                  <p:nvSpPr>
                    <p:cNvPr id="29736" name="Oval 120">
                      <a:extLst>
                        <a:ext uri="{FF2B5EF4-FFF2-40B4-BE49-F238E27FC236}">
                          <a16:creationId xmlns:a16="http://schemas.microsoft.com/office/drawing/2014/main" id="{68B9AC36-26B5-044B-9891-EBACAD8953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37" name="Text Box 121">
                      <a:extLst>
                        <a:ext uri="{FF2B5EF4-FFF2-40B4-BE49-F238E27FC236}">
                          <a16:creationId xmlns:a16="http://schemas.microsoft.com/office/drawing/2014/main" id="{23344799-A394-3E4E-A6AD-DB963E777EA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  <p:grpSp>
                <p:nvGrpSpPr>
                  <p:cNvPr id="29733" name="Group 122">
                    <a:extLst>
                      <a:ext uri="{FF2B5EF4-FFF2-40B4-BE49-F238E27FC236}">
                        <a16:creationId xmlns:a16="http://schemas.microsoft.com/office/drawing/2014/main" id="{D2DA86AC-38B8-CE48-A980-338C090558D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544"/>
                    <a:ext cx="454" cy="226"/>
                    <a:chOff x="4649" y="3544"/>
                    <a:chExt cx="454" cy="226"/>
                  </a:xfrm>
                </p:grpSpPr>
                <p:sp>
                  <p:nvSpPr>
                    <p:cNvPr id="29734" name="Oval 123">
                      <a:extLst>
                        <a:ext uri="{FF2B5EF4-FFF2-40B4-BE49-F238E27FC236}">
                          <a16:creationId xmlns:a16="http://schemas.microsoft.com/office/drawing/2014/main" id="{B930848F-03E6-B445-981C-A82E1FAE11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35" name="Text Box 124">
                      <a:extLst>
                        <a:ext uri="{FF2B5EF4-FFF2-40B4-BE49-F238E27FC236}">
                          <a16:creationId xmlns:a16="http://schemas.microsoft.com/office/drawing/2014/main" id="{7D47B708-0F8C-2A4B-A198-C97CC21A835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1</a:t>
                      </a:r>
                    </a:p>
                  </p:txBody>
                </p:sp>
              </p:grpSp>
            </p:grpSp>
            <p:grpSp>
              <p:nvGrpSpPr>
                <p:cNvPr id="29710" name="Group 125">
                  <a:extLst>
                    <a:ext uri="{FF2B5EF4-FFF2-40B4-BE49-F238E27FC236}">
                      <a16:creationId xmlns:a16="http://schemas.microsoft.com/office/drawing/2014/main" id="{CC3618F9-A6B8-FC4F-A7DD-106178419A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934"/>
                  <a:ext cx="454" cy="1836"/>
                  <a:chOff x="4059" y="1934"/>
                  <a:chExt cx="454" cy="1836"/>
                </a:xfrm>
              </p:grpSpPr>
              <p:sp>
                <p:nvSpPr>
                  <p:cNvPr id="29711" name="Line 126">
                    <a:extLst>
                      <a:ext uri="{FF2B5EF4-FFF2-40B4-BE49-F238E27FC236}">
                        <a16:creationId xmlns:a16="http://schemas.microsoft.com/office/drawing/2014/main" id="{9DD5C131-8336-8845-A7E1-240EC7E18B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155"/>
                    <a:ext cx="0" cy="1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712" name="Line 127">
                    <a:extLst>
                      <a:ext uri="{FF2B5EF4-FFF2-40B4-BE49-F238E27FC236}">
                        <a16:creationId xmlns:a16="http://schemas.microsoft.com/office/drawing/2014/main" id="{2F0D6FCA-2C6B-0742-9352-4B93F8E274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564"/>
                    <a:ext cx="0" cy="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713" name="Line 128">
                    <a:extLst>
                      <a:ext uri="{FF2B5EF4-FFF2-40B4-BE49-F238E27FC236}">
                        <a16:creationId xmlns:a16="http://schemas.microsoft.com/office/drawing/2014/main" id="{72C92052-73B2-BF4E-8DB7-E28EF13B55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949"/>
                    <a:ext cx="0" cy="18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714" name="Line 129">
                    <a:extLst>
                      <a:ext uri="{FF2B5EF4-FFF2-40B4-BE49-F238E27FC236}">
                        <a16:creationId xmlns:a16="http://schemas.microsoft.com/office/drawing/2014/main" id="{4B998FC6-09BD-3445-B9B3-2FCAEF11C8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9715" name="Group 130">
                    <a:extLst>
                      <a:ext uri="{FF2B5EF4-FFF2-40B4-BE49-F238E27FC236}">
                        <a16:creationId xmlns:a16="http://schemas.microsoft.com/office/drawing/2014/main" id="{690BDAC3-8DAD-6241-BE6A-34FF23F7CF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1934"/>
                    <a:ext cx="454" cy="226"/>
                    <a:chOff x="4059" y="1934"/>
                    <a:chExt cx="454" cy="226"/>
                  </a:xfrm>
                </p:grpSpPr>
                <p:sp>
                  <p:nvSpPr>
                    <p:cNvPr id="29728" name="Oval 131">
                      <a:extLst>
                        <a:ext uri="{FF2B5EF4-FFF2-40B4-BE49-F238E27FC236}">
                          <a16:creationId xmlns:a16="http://schemas.microsoft.com/office/drawing/2014/main" id="{91F15D33-B778-1D4C-BF44-AA0F17FB46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193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29" name="Text Box 132">
                      <a:extLst>
                        <a:ext uri="{FF2B5EF4-FFF2-40B4-BE49-F238E27FC236}">
                          <a16:creationId xmlns:a16="http://schemas.microsoft.com/office/drawing/2014/main" id="{7A98E385-F8E5-2743-95AB-2BDD2CA3605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1963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f : 3</a:t>
                      </a:r>
                    </a:p>
                  </p:txBody>
                </p:sp>
              </p:grpSp>
              <p:grpSp>
                <p:nvGrpSpPr>
                  <p:cNvPr id="29716" name="Group 133">
                    <a:extLst>
                      <a:ext uri="{FF2B5EF4-FFF2-40B4-BE49-F238E27FC236}">
                        <a16:creationId xmlns:a16="http://schemas.microsoft.com/office/drawing/2014/main" id="{5D396BB1-0A38-D242-B14F-B0985AB7DF0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727"/>
                    <a:ext cx="454" cy="226"/>
                    <a:chOff x="4059" y="2727"/>
                    <a:chExt cx="454" cy="226"/>
                  </a:xfrm>
                </p:grpSpPr>
                <p:sp>
                  <p:nvSpPr>
                    <p:cNvPr id="29726" name="Oval 134">
                      <a:extLst>
                        <a:ext uri="{FF2B5EF4-FFF2-40B4-BE49-F238E27FC236}">
                          <a16:creationId xmlns:a16="http://schemas.microsoft.com/office/drawing/2014/main" id="{34DE57D7-B48B-8341-B213-2DCEBF8B156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727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27" name="Text Box 135">
                      <a:extLst>
                        <a:ext uri="{FF2B5EF4-FFF2-40B4-BE49-F238E27FC236}">
                          <a16:creationId xmlns:a16="http://schemas.microsoft.com/office/drawing/2014/main" id="{23953333-38F5-7746-BC87-44909BFF610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761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a : 2</a:t>
                      </a:r>
                    </a:p>
                  </p:txBody>
                </p:sp>
              </p:grpSp>
              <p:grpSp>
                <p:nvGrpSpPr>
                  <p:cNvPr id="29717" name="Group 136">
                    <a:extLst>
                      <a:ext uri="{FF2B5EF4-FFF2-40B4-BE49-F238E27FC236}">
                        <a16:creationId xmlns:a16="http://schemas.microsoft.com/office/drawing/2014/main" id="{A775F03E-CDB3-F040-BEC2-758015056C0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136"/>
                    <a:ext cx="454" cy="226"/>
                    <a:chOff x="4059" y="3136"/>
                    <a:chExt cx="454" cy="226"/>
                  </a:xfrm>
                </p:grpSpPr>
                <p:sp>
                  <p:nvSpPr>
                    <p:cNvPr id="29724" name="Oval 137">
                      <a:extLst>
                        <a:ext uri="{FF2B5EF4-FFF2-40B4-BE49-F238E27FC236}">
                          <a16:creationId xmlns:a16="http://schemas.microsoft.com/office/drawing/2014/main" id="{7E817646-D223-DB4C-99CD-6C306FD13B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25" name="Text Box 138">
                      <a:extLst>
                        <a:ext uri="{FF2B5EF4-FFF2-40B4-BE49-F238E27FC236}">
                          <a16:creationId xmlns:a16="http://schemas.microsoft.com/office/drawing/2014/main" id="{60E0D841-2F53-6547-8FE2-7B1DC14A98B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1</a:t>
                      </a:r>
                    </a:p>
                  </p:txBody>
                </p:sp>
              </p:grpSp>
              <p:grpSp>
                <p:nvGrpSpPr>
                  <p:cNvPr id="29718" name="Group 139">
                    <a:extLst>
                      <a:ext uri="{FF2B5EF4-FFF2-40B4-BE49-F238E27FC236}">
                        <a16:creationId xmlns:a16="http://schemas.microsoft.com/office/drawing/2014/main" id="{21924055-F3C1-E14D-9D43-3BC72EB33F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544"/>
                    <a:ext cx="454" cy="226"/>
                    <a:chOff x="4059" y="3544"/>
                    <a:chExt cx="454" cy="226"/>
                  </a:xfrm>
                </p:grpSpPr>
                <p:sp>
                  <p:nvSpPr>
                    <p:cNvPr id="29722" name="Oval 140">
                      <a:extLst>
                        <a:ext uri="{FF2B5EF4-FFF2-40B4-BE49-F238E27FC236}">
                          <a16:creationId xmlns:a16="http://schemas.microsoft.com/office/drawing/2014/main" id="{10FD89F3-22FF-2746-9AC9-8DE03AD2AD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23" name="Text Box 141">
                      <a:extLst>
                        <a:ext uri="{FF2B5EF4-FFF2-40B4-BE49-F238E27FC236}">
                          <a16:creationId xmlns:a16="http://schemas.microsoft.com/office/drawing/2014/main" id="{A20F62E2-5603-7647-B738-96764B7ED6D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p : 1</a:t>
                      </a:r>
                    </a:p>
                  </p:txBody>
                </p:sp>
              </p:grpSp>
              <p:grpSp>
                <p:nvGrpSpPr>
                  <p:cNvPr id="29719" name="Group 142">
                    <a:extLst>
                      <a:ext uri="{FF2B5EF4-FFF2-40B4-BE49-F238E27FC236}">
                        <a16:creationId xmlns:a16="http://schemas.microsoft.com/office/drawing/2014/main" id="{C6488D1B-18A9-AA44-9E6F-686AFBA8262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338"/>
                    <a:ext cx="454" cy="226"/>
                    <a:chOff x="4059" y="2338"/>
                    <a:chExt cx="454" cy="226"/>
                  </a:xfrm>
                </p:grpSpPr>
                <p:sp>
                  <p:nvSpPr>
                    <p:cNvPr id="29720" name="Oval 143">
                      <a:extLst>
                        <a:ext uri="{FF2B5EF4-FFF2-40B4-BE49-F238E27FC236}">
                          <a16:creationId xmlns:a16="http://schemas.microsoft.com/office/drawing/2014/main" id="{43E37B01-03B8-CC40-97B1-D79CF30EFC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29721" name="Text Box 144">
                      <a:extLst>
                        <a:ext uri="{FF2B5EF4-FFF2-40B4-BE49-F238E27FC236}">
                          <a16:creationId xmlns:a16="http://schemas.microsoft.com/office/drawing/2014/main" id="{700559C4-D9B0-4E44-BE11-F35B9560187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c : 2</a:t>
                      </a:r>
                    </a:p>
                  </p:txBody>
                </p:sp>
              </p:grpSp>
            </p:grpSp>
          </p:grpSp>
        </p:grpSp>
        <p:sp>
          <p:nvSpPr>
            <p:cNvPr id="179346" name="Text Box 146">
              <a:extLst>
                <a:ext uri="{FF2B5EF4-FFF2-40B4-BE49-F238E27FC236}">
                  <a16:creationId xmlns:a16="http://schemas.microsoft.com/office/drawing/2014/main" id="{B17175F9-213D-E94A-89B7-F2484FA24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715"/>
              <a:ext cx="853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/>
                <a:t>After trans 3 </a:t>
              </a:r>
              <a:r>
                <a:rPr lang="en-US" altLang="zh-CN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(f,b)</a:t>
              </a:r>
              <a:endParaRPr lang="en-US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3454706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02254588-EF80-9F46-8FFD-DDFBE385A9F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Example 1 (cont.)</a:t>
            </a:r>
          </a:p>
        </p:txBody>
      </p:sp>
      <p:sp>
        <p:nvSpPr>
          <p:cNvPr id="31746" name="Text Box 67">
            <a:extLst>
              <a:ext uri="{FF2B5EF4-FFF2-40B4-BE49-F238E27FC236}">
                <a16:creationId xmlns:a16="http://schemas.microsoft.com/office/drawing/2014/main" id="{6E31405B-F941-544D-AD5D-6EA96365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392238"/>
            <a:ext cx="5837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The building process of the tree (cont.)</a:t>
            </a:r>
          </a:p>
        </p:txBody>
      </p:sp>
      <p:grpSp>
        <p:nvGrpSpPr>
          <p:cNvPr id="31747" name="Group 165">
            <a:extLst>
              <a:ext uri="{FF2B5EF4-FFF2-40B4-BE49-F238E27FC236}">
                <a16:creationId xmlns:a16="http://schemas.microsoft.com/office/drawing/2014/main" id="{3969008D-14AD-2544-B7AA-47CF111C303E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2146300"/>
            <a:ext cx="2603500" cy="4575175"/>
            <a:chOff x="663" y="1352"/>
            <a:chExt cx="1640" cy="2882"/>
          </a:xfrm>
        </p:grpSpPr>
        <p:grpSp>
          <p:nvGrpSpPr>
            <p:cNvPr id="31804" name="Group 110">
              <a:extLst>
                <a:ext uri="{FF2B5EF4-FFF2-40B4-BE49-F238E27FC236}">
                  <a16:creationId xmlns:a16="http://schemas.microsoft.com/office/drawing/2014/main" id="{FF3CD9E4-BB34-5B42-A63B-3E33D46E5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" y="1352"/>
              <a:ext cx="1640" cy="2223"/>
              <a:chOff x="4059" y="1547"/>
              <a:chExt cx="1640" cy="2223"/>
            </a:xfrm>
          </p:grpSpPr>
          <p:grpSp>
            <p:nvGrpSpPr>
              <p:cNvPr id="31806" name="Group 111">
                <a:extLst>
                  <a:ext uri="{FF2B5EF4-FFF2-40B4-BE49-F238E27FC236}">
                    <a16:creationId xmlns:a16="http://schemas.microsoft.com/office/drawing/2014/main" id="{0E1520C1-F858-2541-B1E8-ADAF180977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1547"/>
                <a:ext cx="454" cy="226"/>
                <a:chOff x="4649" y="1547"/>
                <a:chExt cx="454" cy="226"/>
              </a:xfrm>
            </p:grpSpPr>
            <p:sp>
              <p:nvSpPr>
                <p:cNvPr id="31857" name="Oval 112">
                  <a:extLst>
                    <a:ext uri="{FF2B5EF4-FFF2-40B4-BE49-F238E27FC236}">
                      <a16:creationId xmlns:a16="http://schemas.microsoft.com/office/drawing/2014/main" id="{24143F0B-EC9C-0245-9BF2-5497EB1A8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1547"/>
                  <a:ext cx="454" cy="226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endParaRPr lang="en-US" altLang="en-US" sz="16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1858" name="Text Box 113">
                  <a:extLst>
                    <a:ext uri="{FF2B5EF4-FFF2-40B4-BE49-F238E27FC236}">
                      <a16:creationId xmlns:a16="http://schemas.microsoft.com/office/drawing/2014/main" id="{8B630BF5-E96C-AE4B-84B8-03177E99EA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7" y="1579"/>
                  <a:ext cx="290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root</a:t>
                  </a:r>
                </a:p>
              </p:txBody>
            </p:sp>
          </p:grpSp>
          <p:grpSp>
            <p:nvGrpSpPr>
              <p:cNvPr id="31807" name="Group 114">
                <a:extLst>
                  <a:ext uri="{FF2B5EF4-FFF2-40B4-BE49-F238E27FC236}">
                    <a16:creationId xmlns:a16="http://schemas.microsoft.com/office/drawing/2014/main" id="{85C94F26-7817-1046-81D7-728204FFC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3" y="1676"/>
                <a:ext cx="596" cy="1277"/>
                <a:chOff x="5103" y="1676"/>
                <a:chExt cx="596" cy="1277"/>
              </a:xfrm>
            </p:grpSpPr>
            <p:sp>
              <p:nvSpPr>
                <p:cNvPr id="31844" name="Line 115">
                  <a:extLst>
                    <a:ext uri="{FF2B5EF4-FFF2-40B4-BE49-F238E27FC236}">
                      <a16:creationId xmlns:a16="http://schemas.microsoft.com/office/drawing/2014/main" id="{E7B1F2C3-CB6F-9347-82F2-C778EF8B9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103" y="1676"/>
                  <a:ext cx="369" cy="2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31845" name="Group 116">
                  <a:extLst>
                    <a:ext uri="{FF2B5EF4-FFF2-40B4-BE49-F238E27FC236}">
                      <a16:creationId xmlns:a16="http://schemas.microsoft.com/office/drawing/2014/main" id="{DB5C57A7-847B-DC48-ADD5-65732DD4A8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45" y="1934"/>
                  <a:ext cx="454" cy="1019"/>
                  <a:chOff x="5245" y="1934"/>
                  <a:chExt cx="454" cy="1019"/>
                </a:xfrm>
              </p:grpSpPr>
              <p:sp>
                <p:nvSpPr>
                  <p:cNvPr id="31846" name="Line 117">
                    <a:extLst>
                      <a:ext uri="{FF2B5EF4-FFF2-40B4-BE49-F238E27FC236}">
                        <a16:creationId xmlns:a16="http://schemas.microsoft.com/office/drawing/2014/main" id="{BA880B03-E81C-6A41-B674-61978A4AAF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469" y="2155"/>
                    <a:ext cx="0" cy="1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847" name="Line 118">
                    <a:extLst>
                      <a:ext uri="{FF2B5EF4-FFF2-40B4-BE49-F238E27FC236}">
                        <a16:creationId xmlns:a16="http://schemas.microsoft.com/office/drawing/2014/main" id="{4A82388E-642A-F542-B3D4-667E75FC40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469" y="2562"/>
                    <a:ext cx="0" cy="1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848" name="Group 119">
                    <a:extLst>
                      <a:ext uri="{FF2B5EF4-FFF2-40B4-BE49-F238E27FC236}">
                        <a16:creationId xmlns:a16="http://schemas.microsoft.com/office/drawing/2014/main" id="{3F9BE66D-A0D4-FC41-B5F3-3593401CECF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2727"/>
                    <a:ext cx="454" cy="226"/>
                    <a:chOff x="5245" y="2727"/>
                    <a:chExt cx="454" cy="226"/>
                  </a:xfrm>
                </p:grpSpPr>
                <p:sp>
                  <p:nvSpPr>
                    <p:cNvPr id="31855" name="Oval 120">
                      <a:extLst>
                        <a:ext uri="{FF2B5EF4-FFF2-40B4-BE49-F238E27FC236}">
                          <a16:creationId xmlns:a16="http://schemas.microsoft.com/office/drawing/2014/main" id="{69553D5F-70EA-594B-B614-D9E637782A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2727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56" name="Text Box 121">
                      <a:extLst>
                        <a:ext uri="{FF2B5EF4-FFF2-40B4-BE49-F238E27FC236}">
                          <a16:creationId xmlns:a16="http://schemas.microsoft.com/office/drawing/2014/main" id="{ABAA6DA2-752B-4D45-AD26-731DFBDA710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48" y="2761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p : 1</a:t>
                      </a:r>
                    </a:p>
                  </p:txBody>
                </p:sp>
              </p:grpSp>
              <p:grpSp>
                <p:nvGrpSpPr>
                  <p:cNvPr id="31849" name="Group 122">
                    <a:extLst>
                      <a:ext uri="{FF2B5EF4-FFF2-40B4-BE49-F238E27FC236}">
                        <a16:creationId xmlns:a16="http://schemas.microsoft.com/office/drawing/2014/main" id="{A672F6EC-9BD7-8841-B825-E61FC69623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1934"/>
                    <a:ext cx="454" cy="226"/>
                    <a:chOff x="5245" y="1934"/>
                    <a:chExt cx="454" cy="226"/>
                  </a:xfrm>
                </p:grpSpPr>
                <p:sp>
                  <p:nvSpPr>
                    <p:cNvPr id="31853" name="Oval 123">
                      <a:extLst>
                        <a:ext uri="{FF2B5EF4-FFF2-40B4-BE49-F238E27FC236}">
                          <a16:creationId xmlns:a16="http://schemas.microsoft.com/office/drawing/2014/main" id="{A3592EBD-27B1-E54B-ABFC-E8BC4EA3CB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193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54" name="Text Box 124">
                      <a:extLst>
                        <a:ext uri="{FF2B5EF4-FFF2-40B4-BE49-F238E27FC236}">
                          <a16:creationId xmlns:a16="http://schemas.microsoft.com/office/drawing/2014/main" id="{D29428C3-F495-A840-83F7-B3E8BA0A5CB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72" y="196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c : 1</a:t>
                      </a:r>
                    </a:p>
                  </p:txBody>
                </p:sp>
              </p:grpSp>
              <p:grpSp>
                <p:nvGrpSpPr>
                  <p:cNvPr id="31850" name="Group 125">
                    <a:extLst>
                      <a:ext uri="{FF2B5EF4-FFF2-40B4-BE49-F238E27FC236}">
                        <a16:creationId xmlns:a16="http://schemas.microsoft.com/office/drawing/2014/main" id="{2F2231F6-47AD-9B40-B873-AFC866D3C95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2338"/>
                    <a:ext cx="454" cy="226"/>
                    <a:chOff x="5245" y="2338"/>
                    <a:chExt cx="454" cy="226"/>
                  </a:xfrm>
                </p:grpSpPr>
                <p:sp>
                  <p:nvSpPr>
                    <p:cNvPr id="31851" name="Oval 126">
                      <a:extLst>
                        <a:ext uri="{FF2B5EF4-FFF2-40B4-BE49-F238E27FC236}">
                          <a16:creationId xmlns:a16="http://schemas.microsoft.com/office/drawing/2014/main" id="{E599F587-0B52-144B-BAB4-7D05367661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52" name="Text Box 127">
                      <a:extLst>
                        <a:ext uri="{FF2B5EF4-FFF2-40B4-BE49-F238E27FC236}">
                          <a16:creationId xmlns:a16="http://schemas.microsoft.com/office/drawing/2014/main" id="{08C09F5F-3F80-7348-95B0-179A70527A5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72" y="2378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</p:grpSp>
          </p:grpSp>
          <p:grpSp>
            <p:nvGrpSpPr>
              <p:cNvPr id="31808" name="Group 128">
                <a:extLst>
                  <a:ext uri="{FF2B5EF4-FFF2-40B4-BE49-F238E27FC236}">
                    <a16:creationId xmlns:a16="http://schemas.microsoft.com/office/drawing/2014/main" id="{F86D4FD1-AE81-BF4E-8D9C-A4F1265B7D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9" y="1676"/>
                <a:ext cx="1044" cy="2094"/>
                <a:chOff x="4059" y="1676"/>
                <a:chExt cx="1044" cy="2094"/>
              </a:xfrm>
            </p:grpSpPr>
            <p:sp>
              <p:nvSpPr>
                <p:cNvPr id="31809" name="Line 129">
                  <a:extLst>
                    <a:ext uri="{FF2B5EF4-FFF2-40B4-BE49-F238E27FC236}">
                      <a16:creationId xmlns:a16="http://schemas.microsoft.com/office/drawing/2014/main" id="{AFB37818-69B6-1E45-888E-E753D6C149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25" y="1676"/>
                  <a:ext cx="224" cy="2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31810" name="Group 130">
                  <a:extLst>
                    <a:ext uri="{FF2B5EF4-FFF2-40B4-BE49-F238E27FC236}">
                      <a16:creationId xmlns:a16="http://schemas.microsoft.com/office/drawing/2014/main" id="{B809F3F0-F6FB-174F-AFEB-CB23A0CE92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139"/>
                  <a:ext cx="650" cy="425"/>
                  <a:chOff x="4453" y="2139"/>
                  <a:chExt cx="650" cy="425"/>
                </a:xfrm>
              </p:grpSpPr>
              <p:sp>
                <p:nvSpPr>
                  <p:cNvPr id="31840" name="Line 131">
                    <a:extLst>
                      <a:ext uri="{FF2B5EF4-FFF2-40B4-BE49-F238E27FC236}">
                        <a16:creationId xmlns:a16="http://schemas.microsoft.com/office/drawing/2014/main" id="{09EC8C09-E423-9B49-9D1E-A13BDB6D49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139"/>
                    <a:ext cx="290" cy="1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841" name="Group 132">
                    <a:extLst>
                      <a:ext uri="{FF2B5EF4-FFF2-40B4-BE49-F238E27FC236}">
                        <a16:creationId xmlns:a16="http://schemas.microsoft.com/office/drawing/2014/main" id="{90DC4D67-EC9E-1847-B1EF-14ABDD2AC4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2338"/>
                    <a:ext cx="454" cy="226"/>
                    <a:chOff x="4649" y="2338"/>
                    <a:chExt cx="454" cy="226"/>
                  </a:xfrm>
                </p:grpSpPr>
                <p:sp>
                  <p:nvSpPr>
                    <p:cNvPr id="31842" name="Oval 133">
                      <a:extLst>
                        <a:ext uri="{FF2B5EF4-FFF2-40B4-BE49-F238E27FC236}">
                          <a16:creationId xmlns:a16="http://schemas.microsoft.com/office/drawing/2014/main" id="{6C674811-180B-CE48-983E-B8C89330BC0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43" name="Text Box 134">
                      <a:extLst>
                        <a:ext uri="{FF2B5EF4-FFF2-40B4-BE49-F238E27FC236}">
                          <a16:creationId xmlns:a16="http://schemas.microsoft.com/office/drawing/2014/main" id="{31BCC352-1F79-794F-A57B-9069A50CFEB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</p:grpSp>
            <p:grpSp>
              <p:nvGrpSpPr>
                <p:cNvPr id="31811" name="Group 135">
                  <a:extLst>
                    <a:ext uri="{FF2B5EF4-FFF2-40B4-BE49-F238E27FC236}">
                      <a16:creationId xmlns:a16="http://schemas.microsoft.com/office/drawing/2014/main" id="{92BE6FC4-A4FE-6C44-9AF6-1548F8AA51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934"/>
                  <a:ext cx="650" cy="836"/>
                  <a:chOff x="4453" y="2934"/>
                  <a:chExt cx="650" cy="836"/>
                </a:xfrm>
              </p:grpSpPr>
              <p:sp>
                <p:nvSpPr>
                  <p:cNvPr id="31832" name="Line 136">
                    <a:extLst>
                      <a:ext uri="{FF2B5EF4-FFF2-40B4-BE49-F238E27FC236}">
                        <a16:creationId xmlns:a16="http://schemas.microsoft.com/office/drawing/2014/main" id="{E33FC424-87D9-594B-A393-A9B6EB5517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934"/>
                    <a:ext cx="290" cy="2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833" name="Line 137">
                    <a:extLst>
                      <a:ext uri="{FF2B5EF4-FFF2-40B4-BE49-F238E27FC236}">
                        <a16:creationId xmlns:a16="http://schemas.microsoft.com/office/drawing/2014/main" id="{E99C682C-1C55-4142-99D0-8E63156B5C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40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834" name="Group 138">
                    <a:extLst>
                      <a:ext uri="{FF2B5EF4-FFF2-40B4-BE49-F238E27FC236}">
                        <a16:creationId xmlns:a16="http://schemas.microsoft.com/office/drawing/2014/main" id="{E8B78E0E-5E75-AD42-AD57-C51959D0A4F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136"/>
                    <a:ext cx="454" cy="226"/>
                    <a:chOff x="4649" y="3136"/>
                    <a:chExt cx="454" cy="226"/>
                  </a:xfrm>
                </p:grpSpPr>
                <p:sp>
                  <p:nvSpPr>
                    <p:cNvPr id="31838" name="Oval 139">
                      <a:extLst>
                        <a:ext uri="{FF2B5EF4-FFF2-40B4-BE49-F238E27FC236}">
                          <a16:creationId xmlns:a16="http://schemas.microsoft.com/office/drawing/2014/main" id="{DB7ED21C-C54E-D640-8A43-A9F5099955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39" name="Text Box 140">
                      <a:extLst>
                        <a:ext uri="{FF2B5EF4-FFF2-40B4-BE49-F238E27FC236}">
                          <a16:creationId xmlns:a16="http://schemas.microsoft.com/office/drawing/2014/main" id="{9EB498F3-5EE5-7B48-B73B-18CAD45D2C7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  <p:grpSp>
                <p:nvGrpSpPr>
                  <p:cNvPr id="31835" name="Group 141">
                    <a:extLst>
                      <a:ext uri="{FF2B5EF4-FFF2-40B4-BE49-F238E27FC236}">
                        <a16:creationId xmlns:a16="http://schemas.microsoft.com/office/drawing/2014/main" id="{DB220216-CF0A-9840-A97C-45496A9371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544"/>
                    <a:ext cx="454" cy="226"/>
                    <a:chOff x="4649" y="3544"/>
                    <a:chExt cx="454" cy="226"/>
                  </a:xfrm>
                </p:grpSpPr>
                <p:sp>
                  <p:nvSpPr>
                    <p:cNvPr id="31836" name="Oval 142">
                      <a:extLst>
                        <a:ext uri="{FF2B5EF4-FFF2-40B4-BE49-F238E27FC236}">
                          <a16:creationId xmlns:a16="http://schemas.microsoft.com/office/drawing/2014/main" id="{B4ABF90A-87D0-C140-9939-D9DE63259A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37" name="Text Box 143">
                      <a:extLst>
                        <a:ext uri="{FF2B5EF4-FFF2-40B4-BE49-F238E27FC236}">
                          <a16:creationId xmlns:a16="http://schemas.microsoft.com/office/drawing/2014/main" id="{9C38E1D1-C046-4C45-9E84-BB4C7C9C1EF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1</a:t>
                      </a:r>
                    </a:p>
                  </p:txBody>
                </p:sp>
              </p:grpSp>
            </p:grpSp>
            <p:grpSp>
              <p:nvGrpSpPr>
                <p:cNvPr id="31812" name="Group 144">
                  <a:extLst>
                    <a:ext uri="{FF2B5EF4-FFF2-40B4-BE49-F238E27FC236}">
                      <a16:creationId xmlns:a16="http://schemas.microsoft.com/office/drawing/2014/main" id="{81712243-00A7-EA43-96A2-7D8133294C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934"/>
                  <a:ext cx="454" cy="1836"/>
                  <a:chOff x="4059" y="1934"/>
                  <a:chExt cx="454" cy="1836"/>
                </a:xfrm>
              </p:grpSpPr>
              <p:sp>
                <p:nvSpPr>
                  <p:cNvPr id="31813" name="Line 145">
                    <a:extLst>
                      <a:ext uri="{FF2B5EF4-FFF2-40B4-BE49-F238E27FC236}">
                        <a16:creationId xmlns:a16="http://schemas.microsoft.com/office/drawing/2014/main" id="{97DE1B3A-02A5-164B-8E52-158E0E10DD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155"/>
                    <a:ext cx="0" cy="1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814" name="Line 146">
                    <a:extLst>
                      <a:ext uri="{FF2B5EF4-FFF2-40B4-BE49-F238E27FC236}">
                        <a16:creationId xmlns:a16="http://schemas.microsoft.com/office/drawing/2014/main" id="{02F87BCD-DC9A-4D43-B0B0-CAFA6B3D6A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564"/>
                    <a:ext cx="0" cy="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815" name="Line 147">
                    <a:extLst>
                      <a:ext uri="{FF2B5EF4-FFF2-40B4-BE49-F238E27FC236}">
                        <a16:creationId xmlns:a16="http://schemas.microsoft.com/office/drawing/2014/main" id="{F1D3328A-5DAD-CD42-ADAC-1943C2B640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949"/>
                    <a:ext cx="0" cy="18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816" name="Line 148">
                    <a:extLst>
                      <a:ext uri="{FF2B5EF4-FFF2-40B4-BE49-F238E27FC236}">
                        <a16:creationId xmlns:a16="http://schemas.microsoft.com/office/drawing/2014/main" id="{8E07CD4C-1E01-D34D-B576-2E2291CEE0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817" name="Group 149">
                    <a:extLst>
                      <a:ext uri="{FF2B5EF4-FFF2-40B4-BE49-F238E27FC236}">
                        <a16:creationId xmlns:a16="http://schemas.microsoft.com/office/drawing/2014/main" id="{267CCC09-7D6A-BC46-A6E4-9D7A73EB77B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1934"/>
                    <a:ext cx="454" cy="226"/>
                    <a:chOff x="4059" y="1934"/>
                    <a:chExt cx="454" cy="226"/>
                  </a:xfrm>
                </p:grpSpPr>
                <p:sp>
                  <p:nvSpPr>
                    <p:cNvPr id="31830" name="Oval 150">
                      <a:extLst>
                        <a:ext uri="{FF2B5EF4-FFF2-40B4-BE49-F238E27FC236}">
                          <a16:creationId xmlns:a16="http://schemas.microsoft.com/office/drawing/2014/main" id="{5897D4CE-8D47-DE4A-93D0-47B07245FB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193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31" name="Text Box 151">
                      <a:extLst>
                        <a:ext uri="{FF2B5EF4-FFF2-40B4-BE49-F238E27FC236}">
                          <a16:creationId xmlns:a16="http://schemas.microsoft.com/office/drawing/2014/main" id="{9AF4BFCA-8B1F-0441-93FD-DDB430BCE2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1963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f : 3</a:t>
                      </a:r>
                    </a:p>
                  </p:txBody>
                </p:sp>
              </p:grpSp>
              <p:grpSp>
                <p:nvGrpSpPr>
                  <p:cNvPr id="31818" name="Group 152">
                    <a:extLst>
                      <a:ext uri="{FF2B5EF4-FFF2-40B4-BE49-F238E27FC236}">
                        <a16:creationId xmlns:a16="http://schemas.microsoft.com/office/drawing/2014/main" id="{73B29E17-23ED-F14C-8A62-EA92D7BC62A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727"/>
                    <a:ext cx="454" cy="226"/>
                    <a:chOff x="4059" y="2727"/>
                    <a:chExt cx="454" cy="226"/>
                  </a:xfrm>
                </p:grpSpPr>
                <p:sp>
                  <p:nvSpPr>
                    <p:cNvPr id="31828" name="Oval 153">
                      <a:extLst>
                        <a:ext uri="{FF2B5EF4-FFF2-40B4-BE49-F238E27FC236}">
                          <a16:creationId xmlns:a16="http://schemas.microsoft.com/office/drawing/2014/main" id="{184B436A-781E-5A4E-8928-3DFCF496AD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727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29" name="Text Box 154">
                      <a:extLst>
                        <a:ext uri="{FF2B5EF4-FFF2-40B4-BE49-F238E27FC236}">
                          <a16:creationId xmlns:a16="http://schemas.microsoft.com/office/drawing/2014/main" id="{A52C0E49-AEA3-3041-8424-0522B5D6DA1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761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a : 2</a:t>
                      </a:r>
                    </a:p>
                  </p:txBody>
                </p:sp>
              </p:grpSp>
              <p:grpSp>
                <p:nvGrpSpPr>
                  <p:cNvPr id="31819" name="Group 155">
                    <a:extLst>
                      <a:ext uri="{FF2B5EF4-FFF2-40B4-BE49-F238E27FC236}">
                        <a16:creationId xmlns:a16="http://schemas.microsoft.com/office/drawing/2014/main" id="{FA84BFDA-7B3A-8942-BF36-BC9F1B154C5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136"/>
                    <a:ext cx="454" cy="226"/>
                    <a:chOff x="4059" y="3136"/>
                    <a:chExt cx="454" cy="226"/>
                  </a:xfrm>
                </p:grpSpPr>
                <p:sp>
                  <p:nvSpPr>
                    <p:cNvPr id="31826" name="Oval 156">
                      <a:extLst>
                        <a:ext uri="{FF2B5EF4-FFF2-40B4-BE49-F238E27FC236}">
                          <a16:creationId xmlns:a16="http://schemas.microsoft.com/office/drawing/2014/main" id="{11F39D84-3136-5745-90AA-4654C47936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27" name="Text Box 157">
                      <a:extLst>
                        <a:ext uri="{FF2B5EF4-FFF2-40B4-BE49-F238E27FC236}">
                          <a16:creationId xmlns:a16="http://schemas.microsoft.com/office/drawing/2014/main" id="{9189EE74-5D92-A041-86AF-0FD9CB408D4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1</a:t>
                      </a:r>
                    </a:p>
                  </p:txBody>
                </p:sp>
              </p:grpSp>
              <p:grpSp>
                <p:nvGrpSpPr>
                  <p:cNvPr id="31820" name="Group 158">
                    <a:extLst>
                      <a:ext uri="{FF2B5EF4-FFF2-40B4-BE49-F238E27FC236}">
                        <a16:creationId xmlns:a16="http://schemas.microsoft.com/office/drawing/2014/main" id="{5F6E2013-30BD-AD44-ABE7-9F402FB893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544"/>
                    <a:ext cx="454" cy="226"/>
                    <a:chOff x="4059" y="3544"/>
                    <a:chExt cx="454" cy="226"/>
                  </a:xfrm>
                </p:grpSpPr>
                <p:sp>
                  <p:nvSpPr>
                    <p:cNvPr id="31824" name="Oval 159">
                      <a:extLst>
                        <a:ext uri="{FF2B5EF4-FFF2-40B4-BE49-F238E27FC236}">
                          <a16:creationId xmlns:a16="http://schemas.microsoft.com/office/drawing/2014/main" id="{EF8D08D8-81B0-E245-B11C-E687921F7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25" name="Text Box 160">
                      <a:extLst>
                        <a:ext uri="{FF2B5EF4-FFF2-40B4-BE49-F238E27FC236}">
                          <a16:creationId xmlns:a16="http://schemas.microsoft.com/office/drawing/2014/main" id="{E2294140-E3F7-0D45-9335-A8C3302922B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p : 1</a:t>
                      </a:r>
                    </a:p>
                  </p:txBody>
                </p:sp>
              </p:grpSp>
              <p:grpSp>
                <p:nvGrpSpPr>
                  <p:cNvPr id="31821" name="Group 161">
                    <a:extLst>
                      <a:ext uri="{FF2B5EF4-FFF2-40B4-BE49-F238E27FC236}">
                        <a16:creationId xmlns:a16="http://schemas.microsoft.com/office/drawing/2014/main" id="{411ECF2C-1930-8A42-86A5-524EDA68341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338"/>
                    <a:ext cx="454" cy="226"/>
                    <a:chOff x="4059" y="2338"/>
                    <a:chExt cx="454" cy="226"/>
                  </a:xfrm>
                </p:grpSpPr>
                <p:sp>
                  <p:nvSpPr>
                    <p:cNvPr id="31822" name="Oval 162">
                      <a:extLst>
                        <a:ext uri="{FF2B5EF4-FFF2-40B4-BE49-F238E27FC236}">
                          <a16:creationId xmlns:a16="http://schemas.microsoft.com/office/drawing/2014/main" id="{4F3C11CB-8126-574F-A26D-8EDCADBE53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23" name="Text Box 163">
                      <a:extLst>
                        <a:ext uri="{FF2B5EF4-FFF2-40B4-BE49-F238E27FC236}">
                          <a16:creationId xmlns:a16="http://schemas.microsoft.com/office/drawing/2014/main" id="{5DC3A18F-67E2-CC42-B9BC-4259B359122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c : 2</a:t>
                      </a:r>
                    </a:p>
                  </p:txBody>
                </p:sp>
              </p:grpSp>
            </p:grpSp>
          </p:grpSp>
        </p:grpSp>
        <p:sp>
          <p:nvSpPr>
            <p:cNvPr id="182436" name="Text Box 164">
              <a:extLst>
                <a:ext uri="{FF2B5EF4-FFF2-40B4-BE49-F238E27FC236}">
                  <a16:creationId xmlns:a16="http://schemas.microsoft.com/office/drawing/2014/main" id="{0D4A3129-EAE4-A74B-AC71-6154B8E9D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" y="3830"/>
              <a:ext cx="853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/>
                <a:t>After trans 4 (</a:t>
              </a:r>
              <a:r>
                <a:rPr lang="en-US" altLang="zh-CN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c,b,p</a:t>
              </a:r>
              <a:r>
                <a:rPr lang="en-US" altLang="zh-CN" sz="1800"/>
                <a:t>)</a:t>
              </a:r>
            </a:p>
          </p:txBody>
        </p:sp>
      </p:grpSp>
      <p:grpSp>
        <p:nvGrpSpPr>
          <p:cNvPr id="31748" name="Group 166">
            <a:extLst>
              <a:ext uri="{FF2B5EF4-FFF2-40B4-BE49-F238E27FC236}">
                <a16:creationId xmlns:a16="http://schemas.microsoft.com/office/drawing/2014/main" id="{0D956066-BB68-974E-B3EF-31ABE956C864}"/>
              </a:ext>
            </a:extLst>
          </p:cNvPr>
          <p:cNvGrpSpPr>
            <a:grpSpLocks/>
          </p:cNvGrpSpPr>
          <p:nvPr/>
        </p:nvGrpSpPr>
        <p:grpSpPr bwMode="auto">
          <a:xfrm>
            <a:off x="5262563" y="2146300"/>
            <a:ext cx="2603500" cy="4575175"/>
            <a:chOff x="663" y="1352"/>
            <a:chExt cx="1640" cy="2882"/>
          </a:xfrm>
        </p:grpSpPr>
        <p:grpSp>
          <p:nvGrpSpPr>
            <p:cNvPr id="31749" name="Group 167">
              <a:extLst>
                <a:ext uri="{FF2B5EF4-FFF2-40B4-BE49-F238E27FC236}">
                  <a16:creationId xmlns:a16="http://schemas.microsoft.com/office/drawing/2014/main" id="{2D443E6F-7AA7-7944-9672-4F45B87A66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" y="1352"/>
              <a:ext cx="1640" cy="2223"/>
              <a:chOff x="4059" y="1547"/>
              <a:chExt cx="1640" cy="2223"/>
            </a:xfrm>
          </p:grpSpPr>
          <p:grpSp>
            <p:nvGrpSpPr>
              <p:cNvPr id="31751" name="Group 168">
                <a:extLst>
                  <a:ext uri="{FF2B5EF4-FFF2-40B4-BE49-F238E27FC236}">
                    <a16:creationId xmlns:a16="http://schemas.microsoft.com/office/drawing/2014/main" id="{79DC4375-681D-6941-BB40-8387F8212F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1547"/>
                <a:ext cx="454" cy="226"/>
                <a:chOff x="4649" y="1547"/>
                <a:chExt cx="454" cy="226"/>
              </a:xfrm>
            </p:grpSpPr>
            <p:sp>
              <p:nvSpPr>
                <p:cNvPr id="31802" name="Oval 169">
                  <a:extLst>
                    <a:ext uri="{FF2B5EF4-FFF2-40B4-BE49-F238E27FC236}">
                      <a16:creationId xmlns:a16="http://schemas.microsoft.com/office/drawing/2014/main" id="{21B96F4E-3BBB-874D-931F-524033924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1547"/>
                  <a:ext cx="454" cy="226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endParaRPr lang="en-US" altLang="en-US" sz="16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1803" name="Text Box 170">
                  <a:extLst>
                    <a:ext uri="{FF2B5EF4-FFF2-40B4-BE49-F238E27FC236}">
                      <a16:creationId xmlns:a16="http://schemas.microsoft.com/office/drawing/2014/main" id="{3D80D0CE-8D25-134C-ADF6-484B01984C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7" y="1579"/>
                  <a:ext cx="290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root</a:t>
                  </a:r>
                </a:p>
              </p:txBody>
            </p:sp>
          </p:grpSp>
          <p:grpSp>
            <p:nvGrpSpPr>
              <p:cNvPr id="31752" name="Group 171">
                <a:extLst>
                  <a:ext uri="{FF2B5EF4-FFF2-40B4-BE49-F238E27FC236}">
                    <a16:creationId xmlns:a16="http://schemas.microsoft.com/office/drawing/2014/main" id="{9BD2B0B1-9599-EA43-811D-283DA11C94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3" y="1676"/>
                <a:ext cx="596" cy="1277"/>
                <a:chOff x="5103" y="1676"/>
                <a:chExt cx="596" cy="1277"/>
              </a:xfrm>
            </p:grpSpPr>
            <p:sp>
              <p:nvSpPr>
                <p:cNvPr id="31789" name="Line 172">
                  <a:extLst>
                    <a:ext uri="{FF2B5EF4-FFF2-40B4-BE49-F238E27FC236}">
                      <a16:creationId xmlns:a16="http://schemas.microsoft.com/office/drawing/2014/main" id="{2EDF5F9A-B31F-C24F-AE49-A9D0A0E73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103" y="1676"/>
                  <a:ext cx="369" cy="2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31790" name="Group 173">
                  <a:extLst>
                    <a:ext uri="{FF2B5EF4-FFF2-40B4-BE49-F238E27FC236}">
                      <a16:creationId xmlns:a16="http://schemas.microsoft.com/office/drawing/2014/main" id="{AECB431A-0CCD-A94B-B625-972E29542C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45" y="1934"/>
                  <a:ext cx="454" cy="1019"/>
                  <a:chOff x="5245" y="1934"/>
                  <a:chExt cx="454" cy="1019"/>
                </a:xfrm>
              </p:grpSpPr>
              <p:sp>
                <p:nvSpPr>
                  <p:cNvPr id="31791" name="Line 174">
                    <a:extLst>
                      <a:ext uri="{FF2B5EF4-FFF2-40B4-BE49-F238E27FC236}">
                        <a16:creationId xmlns:a16="http://schemas.microsoft.com/office/drawing/2014/main" id="{2E7815F3-05D1-5949-8851-52C9FA76F6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469" y="2155"/>
                    <a:ext cx="0" cy="1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792" name="Line 175">
                    <a:extLst>
                      <a:ext uri="{FF2B5EF4-FFF2-40B4-BE49-F238E27FC236}">
                        <a16:creationId xmlns:a16="http://schemas.microsoft.com/office/drawing/2014/main" id="{B6FA2837-4D3D-6F4B-854B-F0FD24D457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469" y="2562"/>
                    <a:ext cx="0" cy="1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793" name="Group 176">
                    <a:extLst>
                      <a:ext uri="{FF2B5EF4-FFF2-40B4-BE49-F238E27FC236}">
                        <a16:creationId xmlns:a16="http://schemas.microsoft.com/office/drawing/2014/main" id="{AF33A73A-3472-3942-B4E9-6AE66F98052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2727"/>
                    <a:ext cx="454" cy="226"/>
                    <a:chOff x="5245" y="2727"/>
                    <a:chExt cx="454" cy="226"/>
                  </a:xfrm>
                </p:grpSpPr>
                <p:sp>
                  <p:nvSpPr>
                    <p:cNvPr id="31800" name="Oval 177">
                      <a:extLst>
                        <a:ext uri="{FF2B5EF4-FFF2-40B4-BE49-F238E27FC236}">
                          <a16:creationId xmlns:a16="http://schemas.microsoft.com/office/drawing/2014/main" id="{D0B6AC62-FE45-664C-AF12-BE1D141926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2727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801" name="Text Box 178">
                      <a:extLst>
                        <a:ext uri="{FF2B5EF4-FFF2-40B4-BE49-F238E27FC236}">
                          <a16:creationId xmlns:a16="http://schemas.microsoft.com/office/drawing/2014/main" id="{9C1D9CC8-93EE-8D4E-B9E0-BD6C7E10320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48" y="2761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p : 1</a:t>
                      </a:r>
                    </a:p>
                  </p:txBody>
                </p:sp>
              </p:grpSp>
              <p:grpSp>
                <p:nvGrpSpPr>
                  <p:cNvPr id="31794" name="Group 179">
                    <a:extLst>
                      <a:ext uri="{FF2B5EF4-FFF2-40B4-BE49-F238E27FC236}">
                        <a16:creationId xmlns:a16="http://schemas.microsoft.com/office/drawing/2014/main" id="{2B79DA3F-1782-C143-907C-403D4C3FAA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1934"/>
                    <a:ext cx="454" cy="226"/>
                    <a:chOff x="5245" y="1934"/>
                    <a:chExt cx="454" cy="226"/>
                  </a:xfrm>
                </p:grpSpPr>
                <p:sp>
                  <p:nvSpPr>
                    <p:cNvPr id="31798" name="Oval 180">
                      <a:extLst>
                        <a:ext uri="{FF2B5EF4-FFF2-40B4-BE49-F238E27FC236}">
                          <a16:creationId xmlns:a16="http://schemas.microsoft.com/office/drawing/2014/main" id="{1BD19229-1680-254B-9B36-FBD3BFAF52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193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99" name="Text Box 181">
                      <a:extLst>
                        <a:ext uri="{FF2B5EF4-FFF2-40B4-BE49-F238E27FC236}">
                          <a16:creationId xmlns:a16="http://schemas.microsoft.com/office/drawing/2014/main" id="{044BC63E-E13B-AE4F-9EF1-63388A29436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72" y="196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c : 1</a:t>
                      </a:r>
                    </a:p>
                  </p:txBody>
                </p:sp>
              </p:grpSp>
              <p:grpSp>
                <p:nvGrpSpPr>
                  <p:cNvPr id="31795" name="Group 182">
                    <a:extLst>
                      <a:ext uri="{FF2B5EF4-FFF2-40B4-BE49-F238E27FC236}">
                        <a16:creationId xmlns:a16="http://schemas.microsoft.com/office/drawing/2014/main" id="{A6361C38-ACF0-2C4E-8315-32D6B15952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2338"/>
                    <a:ext cx="454" cy="226"/>
                    <a:chOff x="5245" y="2338"/>
                    <a:chExt cx="454" cy="226"/>
                  </a:xfrm>
                </p:grpSpPr>
                <p:sp>
                  <p:nvSpPr>
                    <p:cNvPr id="31796" name="Oval 183">
                      <a:extLst>
                        <a:ext uri="{FF2B5EF4-FFF2-40B4-BE49-F238E27FC236}">
                          <a16:creationId xmlns:a16="http://schemas.microsoft.com/office/drawing/2014/main" id="{9EF89106-7890-DF4C-B0B2-EE3A2EAC228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5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97" name="Text Box 184">
                      <a:extLst>
                        <a:ext uri="{FF2B5EF4-FFF2-40B4-BE49-F238E27FC236}">
                          <a16:creationId xmlns:a16="http://schemas.microsoft.com/office/drawing/2014/main" id="{1DFADE6D-81D6-384C-9FEB-6A4E5CCC82A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72" y="2378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</p:grpSp>
          </p:grpSp>
          <p:grpSp>
            <p:nvGrpSpPr>
              <p:cNvPr id="31753" name="Group 185">
                <a:extLst>
                  <a:ext uri="{FF2B5EF4-FFF2-40B4-BE49-F238E27FC236}">
                    <a16:creationId xmlns:a16="http://schemas.microsoft.com/office/drawing/2014/main" id="{27C025FB-3C09-054B-B3FE-B46FD8DE3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9" y="1676"/>
                <a:ext cx="1044" cy="2094"/>
                <a:chOff x="4059" y="1676"/>
                <a:chExt cx="1044" cy="2094"/>
              </a:xfrm>
            </p:grpSpPr>
            <p:sp>
              <p:nvSpPr>
                <p:cNvPr id="31754" name="Line 186">
                  <a:extLst>
                    <a:ext uri="{FF2B5EF4-FFF2-40B4-BE49-F238E27FC236}">
                      <a16:creationId xmlns:a16="http://schemas.microsoft.com/office/drawing/2014/main" id="{2F488C31-CA64-F549-8B2D-3876D0738E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25" y="1676"/>
                  <a:ext cx="224" cy="2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31755" name="Group 187">
                  <a:extLst>
                    <a:ext uri="{FF2B5EF4-FFF2-40B4-BE49-F238E27FC236}">
                      <a16:creationId xmlns:a16="http://schemas.microsoft.com/office/drawing/2014/main" id="{25EB2EB2-1C44-3F4C-BD51-32E24322AE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139"/>
                  <a:ext cx="650" cy="425"/>
                  <a:chOff x="4453" y="2139"/>
                  <a:chExt cx="650" cy="425"/>
                </a:xfrm>
              </p:grpSpPr>
              <p:sp>
                <p:nvSpPr>
                  <p:cNvPr id="31785" name="Line 188">
                    <a:extLst>
                      <a:ext uri="{FF2B5EF4-FFF2-40B4-BE49-F238E27FC236}">
                        <a16:creationId xmlns:a16="http://schemas.microsoft.com/office/drawing/2014/main" id="{3ECCA8CD-9E70-9841-8594-61928BC646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139"/>
                    <a:ext cx="290" cy="1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786" name="Group 189">
                    <a:extLst>
                      <a:ext uri="{FF2B5EF4-FFF2-40B4-BE49-F238E27FC236}">
                        <a16:creationId xmlns:a16="http://schemas.microsoft.com/office/drawing/2014/main" id="{F05FCD15-74C2-2747-9002-5F59A1B164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2338"/>
                    <a:ext cx="454" cy="226"/>
                    <a:chOff x="4649" y="2338"/>
                    <a:chExt cx="454" cy="226"/>
                  </a:xfrm>
                </p:grpSpPr>
                <p:sp>
                  <p:nvSpPr>
                    <p:cNvPr id="31787" name="Oval 190">
                      <a:extLst>
                        <a:ext uri="{FF2B5EF4-FFF2-40B4-BE49-F238E27FC236}">
                          <a16:creationId xmlns:a16="http://schemas.microsoft.com/office/drawing/2014/main" id="{6A349EB6-E037-6B44-B50F-50A4F93012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88" name="Text Box 191">
                      <a:extLst>
                        <a:ext uri="{FF2B5EF4-FFF2-40B4-BE49-F238E27FC236}">
                          <a16:creationId xmlns:a16="http://schemas.microsoft.com/office/drawing/2014/main" id="{C846BF5F-65EC-404F-992A-30E466E692A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</p:grpSp>
            <p:grpSp>
              <p:nvGrpSpPr>
                <p:cNvPr id="31756" name="Group 192">
                  <a:extLst>
                    <a:ext uri="{FF2B5EF4-FFF2-40B4-BE49-F238E27FC236}">
                      <a16:creationId xmlns:a16="http://schemas.microsoft.com/office/drawing/2014/main" id="{3580DCFB-F682-1245-A771-15A937A7C5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3" y="2934"/>
                  <a:ext cx="650" cy="836"/>
                  <a:chOff x="4453" y="2934"/>
                  <a:chExt cx="650" cy="836"/>
                </a:xfrm>
              </p:grpSpPr>
              <p:sp>
                <p:nvSpPr>
                  <p:cNvPr id="31777" name="Line 193">
                    <a:extLst>
                      <a:ext uri="{FF2B5EF4-FFF2-40B4-BE49-F238E27FC236}">
                        <a16:creationId xmlns:a16="http://schemas.microsoft.com/office/drawing/2014/main" id="{5961475D-824B-AC44-AD6C-96520100AA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3" y="2934"/>
                    <a:ext cx="290" cy="2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778" name="Line 194">
                    <a:extLst>
                      <a:ext uri="{FF2B5EF4-FFF2-40B4-BE49-F238E27FC236}">
                        <a16:creationId xmlns:a16="http://schemas.microsoft.com/office/drawing/2014/main" id="{B1CB5E7B-E710-4F4F-B909-00066E5BBF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40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779" name="Group 195">
                    <a:extLst>
                      <a:ext uri="{FF2B5EF4-FFF2-40B4-BE49-F238E27FC236}">
                        <a16:creationId xmlns:a16="http://schemas.microsoft.com/office/drawing/2014/main" id="{5F27CC7F-197F-5443-B9EF-3F70F52FB4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136"/>
                    <a:ext cx="454" cy="226"/>
                    <a:chOff x="4649" y="3136"/>
                    <a:chExt cx="454" cy="226"/>
                  </a:xfrm>
                </p:grpSpPr>
                <p:sp>
                  <p:nvSpPr>
                    <p:cNvPr id="31783" name="Oval 196">
                      <a:extLst>
                        <a:ext uri="{FF2B5EF4-FFF2-40B4-BE49-F238E27FC236}">
                          <a16:creationId xmlns:a16="http://schemas.microsoft.com/office/drawing/2014/main" id="{D37297FC-69BA-5443-9159-BEFABD729B2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84" name="Text Box 197">
                      <a:extLst>
                        <a:ext uri="{FF2B5EF4-FFF2-40B4-BE49-F238E27FC236}">
                          <a16:creationId xmlns:a16="http://schemas.microsoft.com/office/drawing/2014/main" id="{0494F964-7CC9-FB46-AA25-698B4D096CB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b : 1</a:t>
                      </a:r>
                    </a:p>
                  </p:txBody>
                </p:sp>
              </p:grpSp>
              <p:grpSp>
                <p:nvGrpSpPr>
                  <p:cNvPr id="31780" name="Group 198">
                    <a:extLst>
                      <a:ext uri="{FF2B5EF4-FFF2-40B4-BE49-F238E27FC236}">
                        <a16:creationId xmlns:a16="http://schemas.microsoft.com/office/drawing/2014/main" id="{183F0C52-FDC5-E349-9EFB-023747C487B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49" y="3544"/>
                    <a:ext cx="454" cy="226"/>
                    <a:chOff x="4649" y="3544"/>
                    <a:chExt cx="454" cy="226"/>
                  </a:xfrm>
                </p:grpSpPr>
                <p:sp>
                  <p:nvSpPr>
                    <p:cNvPr id="31781" name="Oval 199">
                      <a:extLst>
                        <a:ext uri="{FF2B5EF4-FFF2-40B4-BE49-F238E27FC236}">
                          <a16:creationId xmlns:a16="http://schemas.microsoft.com/office/drawing/2014/main" id="{894693BD-AD67-5C43-A936-D6089FB565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82" name="Text Box 200">
                      <a:extLst>
                        <a:ext uri="{FF2B5EF4-FFF2-40B4-BE49-F238E27FC236}">
                          <a16:creationId xmlns:a16="http://schemas.microsoft.com/office/drawing/2014/main" id="{A713A367-304C-A444-B313-7EB77DE6B1F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67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1</a:t>
                      </a:r>
                    </a:p>
                  </p:txBody>
                </p:sp>
              </p:grpSp>
            </p:grpSp>
            <p:grpSp>
              <p:nvGrpSpPr>
                <p:cNvPr id="31757" name="Group 201">
                  <a:extLst>
                    <a:ext uri="{FF2B5EF4-FFF2-40B4-BE49-F238E27FC236}">
                      <a16:creationId xmlns:a16="http://schemas.microsoft.com/office/drawing/2014/main" id="{A1CB70EB-B308-284E-8713-45198CFE63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934"/>
                  <a:ext cx="454" cy="1836"/>
                  <a:chOff x="4059" y="1934"/>
                  <a:chExt cx="454" cy="1836"/>
                </a:xfrm>
              </p:grpSpPr>
              <p:sp>
                <p:nvSpPr>
                  <p:cNvPr id="31758" name="Line 202">
                    <a:extLst>
                      <a:ext uri="{FF2B5EF4-FFF2-40B4-BE49-F238E27FC236}">
                        <a16:creationId xmlns:a16="http://schemas.microsoft.com/office/drawing/2014/main" id="{3732139B-DD3B-2740-B53F-81385C4051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155"/>
                    <a:ext cx="0" cy="1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759" name="Line 203">
                    <a:extLst>
                      <a:ext uri="{FF2B5EF4-FFF2-40B4-BE49-F238E27FC236}">
                        <a16:creationId xmlns:a16="http://schemas.microsoft.com/office/drawing/2014/main" id="{660C6CC5-5A65-864B-88C5-1217D3B0C1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564"/>
                    <a:ext cx="0" cy="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760" name="Line 204">
                    <a:extLst>
                      <a:ext uri="{FF2B5EF4-FFF2-40B4-BE49-F238E27FC236}">
                        <a16:creationId xmlns:a16="http://schemas.microsoft.com/office/drawing/2014/main" id="{419511DB-B186-AA49-A620-4EB7BBF741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2949"/>
                    <a:ext cx="0" cy="18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761" name="Line 205">
                    <a:extLst>
                      <a:ext uri="{FF2B5EF4-FFF2-40B4-BE49-F238E27FC236}">
                        <a16:creationId xmlns:a16="http://schemas.microsoft.com/office/drawing/2014/main" id="{EE4F4579-2882-BB4F-9171-5A4BC9A853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259" y="3362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1762" name="Group 206">
                    <a:extLst>
                      <a:ext uri="{FF2B5EF4-FFF2-40B4-BE49-F238E27FC236}">
                        <a16:creationId xmlns:a16="http://schemas.microsoft.com/office/drawing/2014/main" id="{4A079441-D41B-D64B-AD3A-1D55D14F3D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1934"/>
                    <a:ext cx="454" cy="226"/>
                    <a:chOff x="4059" y="1934"/>
                    <a:chExt cx="454" cy="226"/>
                  </a:xfrm>
                </p:grpSpPr>
                <p:sp>
                  <p:nvSpPr>
                    <p:cNvPr id="31775" name="Oval 207">
                      <a:extLst>
                        <a:ext uri="{FF2B5EF4-FFF2-40B4-BE49-F238E27FC236}">
                          <a16:creationId xmlns:a16="http://schemas.microsoft.com/office/drawing/2014/main" id="{590E6B9C-9C9E-C245-85C6-EC3DE6EA3E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193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76" name="Text Box 208">
                      <a:extLst>
                        <a:ext uri="{FF2B5EF4-FFF2-40B4-BE49-F238E27FC236}">
                          <a16:creationId xmlns:a16="http://schemas.microsoft.com/office/drawing/2014/main" id="{62E2D01B-8DF3-1744-BF0E-32FA1482C1A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1963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f : 4</a:t>
                      </a:r>
                    </a:p>
                  </p:txBody>
                </p:sp>
              </p:grpSp>
              <p:grpSp>
                <p:nvGrpSpPr>
                  <p:cNvPr id="31763" name="Group 209">
                    <a:extLst>
                      <a:ext uri="{FF2B5EF4-FFF2-40B4-BE49-F238E27FC236}">
                        <a16:creationId xmlns:a16="http://schemas.microsoft.com/office/drawing/2014/main" id="{10CF4CFB-755F-3C49-B561-DA9935BC628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727"/>
                    <a:ext cx="454" cy="226"/>
                    <a:chOff x="4059" y="2727"/>
                    <a:chExt cx="454" cy="226"/>
                  </a:xfrm>
                </p:grpSpPr>
                <p:sp>
                  <p:nvSpPr>
                    <p:cNvPr id="31773" name="Oval 210">
                      <a:extLst>
                        <a:ext uri="{FF2B5EF4-FFF2-40B4-BE49-F238E27FC236}">
                          <a16:creationId xmlns:a16="http://schemas.microsoft.com/office/drawing/2014/main" id="{937F7560-4FF5-FA4F-BF52-8886CBDB0D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727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74" name="Text Box 211">
                      <a:extLst>
                        <a:ext uri="{FF2B5EF4-FFF2-40B4-BE49-F238E27FC236}">
                          <a16:creationId xmlns:a16="http://schemas.microsoft.com/office/drawing/2014/main" id="{55E47A61-956C-FF48-865C-942FE85A2A6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761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a : 3</a:t>
                      </a:r>
                    </a:p>
                  </p:txBody>
                </p:sp>
              </p:grpSp>
              <p:grpSp>
                <p:nvGrpSpPr>
                  <p:cNvPr id="31764" name="Group 212">
                    <a:extLst>
                      <a:ext uri="{FF2B5EF4-FFF2-40B4-BE49-F238E27FC236}">
                        <a16:creationId xmlns:a16="http://schemas.microsoft.com/office/drawing/2014/main" id="{A7C69F64-2536-084D-AD36-F5DC6AF517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136"/>
                    <a:ext cx="454" cy="226"/>
                    <a:chOff x="4059" y="3136"/>
                    <a:chExt cx="454" cy="226"/>
                  </a:xfrm>
                </p:grpSpPr>
                <p:sp>
                  <p:nvSpPr>
                    <p:cNvPr id="31771" name="Oval 213">
                      <a:extLst>
                        <a:ext uri="{FF2B5EF4-FFF2-40B4-BE49-F238E27FC236}">
                          <a16:creationId xmlns:a16="http://schemas.microsoft.com/office/drawing/2014/main" id="{45411724-31FE-1742-B1A1-19D435CD83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136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72" name="Text Box 214">
                      <a:extLst>
                        <a:ext uri="{FF2B5EF4-FFF2-40B4-BE49-F238E27FC236}">
                          <a16:creationId xmlns:a16="http://schemas.microsoft.com/office/drawing/2014/main" id="{1B1D732D-A2BD-5B41-BCBD-891B0F22501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176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m : 2</a:t>
                      </a:r>
                    </a:p>
                  </p:txBody>
                </p:sp>
              </p:grpSp>
              <p:grpSp>
                <p:nvGrpSpPr>
                  <p:cNvPr id="31765" name="Group 215">
                    <a:extLst>
                      <a:ext uri="{FF2B5EF4-FFF2-40B4-BE49-F238E27FC236}">
                        <a16:creationId xmlns:a16="http://schemas.microsoft.com/office/drawing/2014/main" id="{128DB287-78C0-8141-9394-AE1837BF07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3544"/>
                    <a:ext cx="454" cy="226"/>
                    <a:chOff x="4059" y="3544"/>
                    <a:chExt cx="454" cy="226"/>
                  </a:xfrm>
                </p:grpSpPr>
                <p:sp>
                  <p:nvSpPr>
                    <p:cNvPr id="31769" name="Oval 216">
                      <a:extLst>
                        <a:ext uri="{FF2B5EF4-FFF2-40B4-BE49-F238E27FC236}">
                          <a16:creationId xmlns:a16="http://schemas.microsoft.com/office/drawing/2014/main" id="{4379A8DC-70DB-3D4E-9021-8FC7A3A23E5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3544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70" name="Text Box 217">
                      <a:extLst>
                        <a:ext uri="{FF2B5EF4-FFF2-40B4-BE49-F238E27FC236}">
                          <a16:creationId xmlns:a16="http://schemas.microsoft.com/office/drawing/2014/main" id="{098D3465-E9B8-6A49-8BA2-C4A1FAEB9E1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358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p : 2</a:t>
                      </a:r>
                    </a:p>
                  </p:txBody>
                </p:sp>
              </p:grpSp>
              <p:grpSp>
                <p:nvGrpSpPr>
                  <p:cNvPr id="31766" name="Group 218">
                    <a:extLst>
                      <a:ext uri="{FF2B5EF4-FFF2-40B4-BE49-F238E27FC236}">
                        <a16:creationId xmlns:a16="http://schemas.microsoft.com/office/drawing/2014/main" id="{E2AF542E-FA3F-6A49-9CF4-F422F8B411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2338"/>
                    <a:ext cx="454" cy="226"/>
                    <a:chOff x="4059" y="2338"/>
                    <a:chExt cx="454" cy="226"/>
                  </a:xfrm>
                </p:grpSpPr>
                <p:sp>
                  <p:nvSpPr>
                    <p:cNvPr id="31767" name="Oval 219">
                      <a:extLst>
                        <a:ext uri="{FF2B5EF4-FFF2-40B4-BE49-F238E27FC236}">
                          <a16:creationId xmlns:a16="http://schemas.microsoft.com/office/drawing/2014/main" id="{EDF3DF5E-2F19-FE42-90B7-BDA84CCD04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9" y="2338"/>
                      <a:ext cx="454" cy="226"/>
                    </a:xfrm>
                    <a:prstGeom prst="ellips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31768" name="Text Box 220">
                      <a:extLst>
                        <a:ext uri="{FF2B5EF4-FFF2-40B4-BE49-F238E27FC236}">
                          <a16:creationId xmlns:a16="http://schemas.microsoft.com/office/drawing/2014/main" id="{E91C06D5-4C8C-9941-B152-A2CF349BA98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63" y="2374"/>
                      <a:ext cx="290" cy="1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u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Char char="Ø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Garamond" panose="02020404030301010803" pitchFamily="18" charset="0"/>
                        </a:rPr>
                        <a:t>c : 3</a:t>
                      </a:r>
                    </a:p>
                  </p:txBody>
                </p:sp>
              </p:grpSp>
            </p:grpSp>
          </p:grpSp>
        </p:grpSp>
        <p:sp>
          <p:nvSpPr>
            <p:cNvPr id="182493" name="Text Box 221">
              <a:extLst>
                <a:ext uri="{FF2B5EF4-FFF2-40B4-BE49-F238E27FC236}">
                  <a16:creationId xmlns:a16="http://schemas.microsoft.com/office/drawing/2014/main" id="{C14A6D21-3DDE-FE49-9EE1-FA1D9EF46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" y="3830"/>
              <a:ext cx="853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/>
                <a:t>After trans 5 (</a:t>
              </a:r>
              <a:r>
                <a:rPr lang="en-US" altLang="zh-CN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f,c,a,m,p)</a:t>
              </a:r>
              <a:endParaRPr lang="en-US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290986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892373D9-69A0-474A-B187-3CE4E4990F9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Example 1 (cont.)</a:t>
            </a:r>
          </a:p>
        </p:txBody>
      </p:sp>
      <p:sp>
        <p:nvSpPr>
          <p:cNvPr id="33794" name="Text Box 3">
            <a:extLst>
              <a:ext uri="{FF2B5EF4-FFF2-40B4-BE49-F238E27FC236}">
                <a16:creationId xmlns:a16="http://schemas.microsoft.com/office/drawing/2014/main" id="{9AF0D19B-7A95-7046-94B0-2E2120D06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392238"/>
            <a:ext cx="5837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Build the item header table</a:t>
            </a:r>
          </a:p>
        </p:txBody>
      </p:sp>
      <p:grpSp>
        <p:nvGrpSpPr>
          <p:cNvPr id="33795" name="Group 116">
            <a:extLst>
              <a:ext uri="{FF2B5EF4-FFF2-40B4-BE49-F238E27FC236}">
                <a16:creationId xmlns:a16="http://schemas.microsoft.com/office/drawing/2014/main" id="{3C3384DB-B8D9-1640-8935-F9A4EBC8C353}"/>
              </a:ext>
            </a:extLst>
          </p:cNvPr>
          <p:cNvGrpSpPr>
            <a:grpSpLocks/>
          </p:cNvGrpSpPr>
          <p:nvPr/>
        </p:nvGrpSpPr>
        <p:grpSpPr bwMode="auto">
          <a:xfrm>
            <a:off x="2028825" y="1798638"/>
            <a:ext cx="5781675" cy="4229100"/>
            <a:chOff x="2057" y="1547"/>
            <a:chExt cx="3642" cy="2664"/>
          </a:xfrm>
        </p:grpSpPr>
        <p:grpSp>
          <p:nvGrpSpPr>
            <p:cNvPr id="33796" name="Group 117">
              <a:extLst>
                <a:ext uri="{FF2B5EF4-FFF2-40B4-BE49-F238E27FC236}">
                  <a16:creationId xmlns:a16="http://schemas.microsoft.com/office/drawing/2014/main" id="{ECB0354E-89EA-694F-81AC-EB67308D8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7" y="2160"/>
              <a:ext cx="2637" cy="2051"/>
              <a:chOff x="2057" y="2160"/>
              <a:chExt cx="2637" cy="2051"/>
            </a:xfrm>
          </p:grpSpPr>
          <p:sp>
            <p:nvSpPr>
              <p:cNvPr id="33858" name="Text Box 118">
                <a:extLst>
                  <a:ext uri="{FF2B5EF4-FFF2-40B4-BE49-F238E27FC236}">
                    <a16:creationId xmlns:a16="http://schemas.microsoft.com/office/drawing/2014/main" id="{DA7B7992-1283-9941-BD2D-B910B1D14A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6" y="2741"/>
                <a:ext cx="871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u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Ø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Garamond" panose="02020404030301010803" pitchFamily="18" charset="0"/>
                  </a:rPr>
                  <a:t>Header Table</a:t>
                </a:r>
              </a:p>
            </p:txBody>
          </p:sp>
          <p:grpSp>
            <p:nvGrpSpPr>
              <p:cNvPr id="33859" name="Group 119">
                <a:extLst>
                  <a:ext uri="{FF2B5EF4-FFF2-40B4-BE49-F238E27FC236}">
                    <a16:creationId xmlns:a16="http://schemas.microsoft.com/office/drawing/2014/main" id="{6939A179-1FD8-B64F-922A-38803B1FC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7" y="2934"/>
                <a:ext cx="1567" cy="1277"/>
                <a:chOff x="2057" y="2934"/>
                <a:chExt cx="1567" cy="1277"/>
              </a:xfrm>
            </p:grpSpPr>
            <p:sp>
              <p:nvSpPr>
                <p:cNvPr id="33867" name="Line 120">
                  <a:extLst>
                    <a:ext uri="{FF2B5EF4-FFF2-40B4-BE49-F238E27FC236}">
                      <a16:creationId xmlns:a16="http://schemas.microsoft.com/office/drawing/2014/main" id="{3D1EEAC0-213D-1B42-B670-D1F26D88B9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7" y="3136"/>
                  <a:ext cx="14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8" name="Line 121">
                  <a:extLst>
                    <a:ext uri="{FF2B5EF4-FFF2-40B4-BE49-F238E27FC236}">
                      <a16:creationId xmlns:a16="http://schemas.microsoft.com/office/drawing/2014/main" id="{9D85BFB7-392B-F548-A334-F2779B46BF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2" y="2934"/>
                  <a:ext cx="0" cy="12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9" name="Text Box 122">
                  <a:extLst>
                    <a:ext uri="{FF2B5EF4-FFF2-40B4-BE49-F238E27FC236}">
                      <a16:creationId xmlns:a16="http://schemas.microsoft.com/office/drawing/2014/main" id="{8ECC2E0E-5C30-5C47-8489-E4347F607B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0" y="2934"/>
                  <a:ext cx="266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item</a:t>
                  </a:r>
                </a:p>
              </p:txBody>
            </p:sp>
            <p:sp>
              <p:nvSpPr>
                <p:cNvPr id="33870" name="Text Box 123">
                  <a:extLst>
                    <a:ext uri="{FF2B5EF4-FFF2-40B4-BE49-F238E27FC236}">
                      <a16:creationId xmlns:a16="http://schemas.microsoft.com/office/drawing/2014/main" id="{0F30F65A-34D1-F446-9710-A19221F28A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3" y="2949"/>
                  <a:ext cx="1131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u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Ø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latin typeface="Garamond" panose="02020404030301010803" pitchFamily="18" charset="0"/>
                    </a:rPr>
                    <a:t>head of node-links</a:t>
                  </a:r>
                </a:p>
              </p:txBody>
            </p:sp>
            <p:grpSp>
              <p:nvGrpSpPr>
                <p:cNvPr id="33871" name="Group 124">
                  <a:extLst>
                    <a:ext uri="{FF2B5EF4-FFF2-40B4-BE49-F238E27FC236}">
                      <a16:creationId xmlns:a16="http://schemas.microsoft.com/office/drawing/2014/main" id="{48D10FEF-2367-D040-9FF1-7F130DEC9C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42" y="3189"/>
                  <a:ext cx="151" cy="886"/>
                  <a:chOff x="2142" y="3189"/>
                  <a:chExt cx="151" cy="886"/>
                </a:xfrm>
              </p:grpSpPr>
              <p:sp>
                <p:nvSpPr>
                  <p:cNvPr id="33872" name="Text Box 125">
                    <a:extLst>
                      <a:ext uri="{FF2B5EF4-FFF2-40B4-BE49-F238E27FC236}">
                        <a16:creationId xmlns:a16="http://schemas.microsoft.com/office/drawing/2014/main" id="{C800B44E-44EF-724C-9ACA-5742B7050C1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0" y="3189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f</a:t>
                    </a:r>
                  </a:p>
                </p:txBody>
              </p:sp>
              <p:sp>
                <p:nvSpPr>
                  <p:cNvPr id="33873" name="Text Box 126">
                    <a:extLst>
                      <a:ext uri="{FF2B5EF4-FFF2-40B4-BE49-F238E27FC236}">
                        <a16:creationId xmlns:a16="http://schemas.microsoft.com/office/drawing/2014/main" id="{E8652706-4E95-C14C-84F6-8011FE1BECC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4" y="3342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c</a:t>
                    </a:r>
                  </a:p>
                </p:txBody>
              </p:sp>
              <p:sp>
                <p:nvSpPr>
                  <p:cNvPr id="33874" name="Text Box 127">
                    <a:extLst>
                      <a:ext uri="{FF2B5EF4-FFF2-40B4-BE49-F238E27FC236}">
                        <a16:creationId xmlns:a16="http://schemas.microsoft.com/office/drawing/2014/main" id="{3EE6796A-2000-9E40-8BA4-FF2E8DBB45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42" y="3487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33875" name="Text Box 128">
                    <a:extLst>
                      <a:ext uri="{FF2B5EF4-FFF2-40B4-BE49-F238E27FC236}">
                        <a16:creationId xmlns:a16="http://schemas.microsoft.com/office/drawing/2014/main" id="{222B6558-E264-8B4B-A463-841BBE16805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42" y="3636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33876" name="Text Box 129">
                    <a:extLst>
                      <a:ext uri="{FF2B5EF4-FFF2-40B4-BE49-F238E27FC236}">
                        <a16:creationId xmlns:a16="http://schemas.microsoft.com/office/drawing/2014/main" id="{6457FC61-B06C-2548-BDB1-24D466A1D4A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42" y="3777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33877" name="Text Box 130">
                    <a:extLst>
                      <a:ext uri="{FF2B5EF4-FFF2-40B4-BE49-F238E27FC236}">
                        <a16:creationId xmlns:a16="http://schemas.microsoft.com/office/drawing/2014/main" id="{6DC9FFB3-0D28-BF47-93A8-B5E88D5028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42" y="3902"/>
                    <a:ext cx="133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p</a:t>
                    </a:r>
                  </a:p>
                </p:txBody>
              </p:sp>
            </p:grpSp>
          </p:grpSp>
          <p:grpSp>
            <p:nvGrpSpPr>
              <p:cNvPr id="33860" name="Group 131">
                <a:extLst>
                  <a:ext uri="{FF2B5EF4-FFF2-40B4-BE49-F238E27FC236}">
                    <a16:creationId xmlns:a16="http://schemas.microsoft.com/office/drawing/2014/main" id="{CFB13660-4517-5244-957F-B9D3F22C5D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5" y="2160"/>
                <a:ext cx="1669" cy="1931"/>
                <a:chOff x="3025" y="2160"/>
                <a:chExt cx="1669" cy="1931"/>
              </a:xfrm>
            </p:grpSpPr>
            <p:sp>
              <p:nvSpPr>
                <p:cNvPr id="33861" name="Freeform 132">
                  <a:extLst>
                    <a:ext uri="{FF2B5EF4-FFF2-40B4-BE49-F238E27FC236}">
                      <a16:creationId xmlns:a16="http://schemas.microsoft.com/office/drawing/2014/main" id="{A7EABDF6-99CE-0B44-A204-9BC2B0B21E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2160"/>
                  <a:ext cx="1040" cy="1096"/>
                </a:xfrm>
                <a:custGeom>
                  <a:avLst/>
                  <a:gdLst>
                    <a:gd name="T0" fmla="*/ 0 w 1040"/>
                    <a:gd name="T1" fmla="*/ 1089 h 1096"/>
                    <a:gd name="T2" fmla="*/ 411 w 1040"/>
                    <a:gd name="T3" fmla="*/ 1064 h 1096"/>
                    <a:gd name="T4" fmla="*/ 629 w 1040"/>
                    <a:gd name="T5" fmla="*/ 895 h 1096"/>
                    <a:gd name="T6" fmla="*/ 847 w 1040"/>
                    <a:gd name="T7" fmla="*/ 363 h 1096"/>
                    <a:gd name="T8" fmla="*/ 1040 w 1040"/>
                    <a:gd name="T9" fmla="*/ 0 h 109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40" h="1096">
                      <a:moveTo>
                        <a:pt x="0" y="1089"/>
                      </a:moveTo>
                      <a:cubicBezTo>
                        <a:pt x="153" y="1092"/>
                        <a:pt x="306" y="1096"/>
                        <a:pt x="411" y="1064"/>
                      </a:cubicBezTo>
                      <a:cubicBezTo>
                        <a:pt x="516" y="1032"/>
                        <a:pt x="556" y="1012"/>
                        <a:pt x="629" y="895"/>
                      </a:cubicBezTo>
                      <a:cubicBezTo>
                        <a:pt x="702" y="778"/>
                        <a:pt x="779" y="512"/>
                        <a:pt x="847" y="363"/>
                      </a:cubicBezTo>
                      <a:cubicBezTo>
                        <a:pt x="915" y="214"/>
                        <a:pt x="977" y="107"/>
                        <a:pt x="104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2" name="Freeform 133">
                  <a:extLst>
                    <a:ext uri="{FF2B5EF4-FFF2-40B4-BE49-F238E27FC236}">
                      <a16:creationId xmlns:a16="http://schemas.microsoft.com/office/drawing/2014/main" id="{1A6C6E35-32A2-254C-8B91-5CED24C7B3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9" y="2547"/>
                  <a:ext cx="992" cy="875"/>
                </a:xfrm>
                <a:custGeom>
                  <a:avLst/>
                  <a:gdLst>
                    <a:gd name="T0" fmla="*/ 0 w 992"/>
                    <a:gd name="T1" fmla="*/ 847 h 875"/>
                    <a:gd name="T2" fmla="*/ 363 w 992"/>
                    <a:gd name="T3" fmla="*/ 847 h 875"/>
                    <a:gd name="T4" fmla="*/ 654 w 992"/>
                    <a:gd name="T5" fmla="*/ 677 h 875"/>
                    <a:gd name="T6" fmla="*/ 992 w 992"/>
                    <a:gd name="T7" fmla="*/ 0 h 87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92" h="875">
                      <a:moveTo>
                        <a:pt x="0" y="847"/>
                      </a:moveTo>
                      <a:cubicBezTo>
                        <a:pt x="127" y="861"/>
                        <a:pt x="254" y="875"/>
                        <a:pt x="363" y="847"/>
                      </a:cubicBezTo>
                      <a:cubicBezTo>
                        <a:pt x="472" y="819"/>
                        <a:pt x="549" y="818"/>
                        <a:pt x="654" y="677"/>
                      </a:cubicBezTo>
                      <a:cubicBezTo>
                        <a:pt x="759" y="536"/>
                        <a:pt x="936" y="113"/>
                        <a:pt x="99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3" name="Freeform 134">
                  <a:extLst>
                    <a:ext uri="{FF2B5EF4-FFF2-40B4-BE49-F238E27FC236}">
                      <a16:creationId xmlns:a16="http://schemas.microsoft.com/office/drawing/2014/main" id="{FB06B6D6-2189-B144-AEEA-A66BBE762B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9" y="2958"/>
                  <a:ext cx="1016" cy="629"/>
                </a:xfrm>
                <a:custGeom>
                  <a:avLst/>
                  <a:gdLst>
                    <a:gd name="T0" fmla="*/ 0 w 1016"/>
                    <a:gd name="T1" fmla="*/ 605 h 629"/>
                    <a:gd name="T2" fmla="*/ 436 w 1016"/>
                    <a:gd name="T3" fmla="*/ 605 h 629"/>
                    <a:gd name="T4" fmla="*/ 702 w 1016"/>
                    <a:gd name="T5" fmla="*/ 460 h 629"/>
                    <a:gd name="T6" fmla="*/ 1016 w 1016"/>
                    <a:gd name="T7" fmla="*/ 0 h 62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016" h="629">
                      <a:moveTo>
                        <a:pt x="0" y="605"/>
                      </a:moveTo>
                      <a:cubicBezTo>
                        <a:pt x="159" y="617"/>
                        <a:pt x="319" y="629"/>
                        <a:pt x="436" y="605"/>
                      </a:cubicBezTo>
                      <a:cubicBezTo>
                        <a:pt x="553" y="581"/>
                        <a:pt x="605" y="561"/>
                        <a:pt x="702" y="460"/>
                      </a:cubicBezTo>
                      <a:cubicBezTo>
                        <a:pt x="799" y="359"/>
                        <a:pt x="907" y="179"/>
                        <a:pt x="1016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4" name="Freeform 135">
                  <a:extLst>
                    <a:ext uri="{FF2B5EF4-FFF2-40B4-BE49-F238E27FC236}">
                      <a16:creationId xmlns:a16="http://schemas.microsoft.com/office/drawing/2014/main" id="{C625DA74-C0E7-2D4C-9F57-A09C5DD92D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9" y="3345"/>
                  <a:ext cx="1645" cy="456"/>
                </a:xfrm>
                <a:custGeom>
                  <a:avLst/>
                  <a:gdLst>
                    <a:gd name="T0" fmla="*/ 0 w 1645"/>
                    <a:gd name="T1" fmla="*/ 412 h 456"/>
                    <a:gd name="T2" fmla="*/ 460 w 1645"/>
                    <a:gd name="T3" fmla="*/ 412 h 456"/>
                    <a:gd name="T4" fmla="*/ 1041 w 1645"/>
                    <a:gd name="T5" fmla="*/ 146 h 456"/>
                    <a:gd name="T6" fmla="*/ 1645 w 1645"/>
                    <a:gd name="T7" fmla="*/ 0 h 45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45" h="456">
                      <a:moveTo>
                        <a:pt x="0" y="412"/>
                      </a:moveTo>
                      <a:cubicBezTo>
                        <a:pt x="143" y="434"/>
                        <a:pt x="287" y="456"/>
                        <a:pt x="460" y="412"/>
                      </a:cubicBezTo>
                      <a:cubicBezTo>
                        <a:pt x="633" y="368"/>
                        <a:pt x="844" y="215"/>
                        <a:pt x="1041" y="146"/>
                      </a:cubicBezTo>
                      <a:cubicBezTo>
                        <a:pt x="1238" y="77"/>
                        <a:pt x="1441" y="38"/>
                        <a:pt x="1645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5" name="Freeform 136">
                  <a:extLst>
                    <a:ext uri="{FF2B5EF4-FFF2-40B4-BE49-F238E27FC236}">
                      <a16:creationId xmlns:a16="http://schemas.microsoft.com/office/drawing/2014/main" id="{FBB6F1A9-44FC-B942-98B0-A9384922FA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" y="3345"/>
                  <a:ext cx="1064" cy="597"/>
                </a:xfrm>
                <a:custGeom>
                  <a:avLst/>
                  <a:gdLst>
                    <a:gd name="T0" fmla="*/ 0 w 1064"/>
                    <a:gd name="T1" fmla="*/ 581 h 597"/>
                    <a:gd name="T2" fmla="*/ 435 w 1064"/>
                    <a:gd name="T3" fmla="*/ 581 h 597"/>
                    <a:gd name="T4" fmla="*/ 725 w 1064"/>
                    <a:gd name="T5" fmla="*/ 484 h 597"/>
                    <a:gd name="T6" fmla="*/ 1064 w 1064"/>
                    <a:gd name="T7" fmla="*/ 0 h 59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064" h="597">
                      <a:moveTo>
                        <a:pt x="0" y="581"/>
                      </a:moveTo>
                      <a:cubicBezTo>
                        <a:pt x="157" y="589"/>
                        <a:pt x="314" y="597"/>
                        <a:pt x="435" y="581"/>
                      </a:cubicBezTo>
                      <a:cubicBezTo>
                        <a:pt x="556" y="565"/>
                        <a:pt x="620" y="581"/>
                        <a:pt x="725" y="484"/>
                      </a:cubicBezTo>
                      <a:cubicBezTo>
                        <a:pt x="830" y="387"/>
                        <a:pt x="947" y="193"/>
                        <a:pt x="1064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66" name="Freeform 137">
                  <a:extLst>
                    <a:ext uri="{FF2B5EF4-FFF2-40B4-BE49-F238E27FC236}">
                      <a16:creationId xmlns:a16="http://schemas.microsoft.com/office/drawing/2014/main" id="{527909EC-A123-1345-85AB-D5DAE9E7F1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" y="3781"/>
                  <a:ext cx="1088" cy="310"/>
                </a:xfrm>
                <a:custGeom>
                  <a:avLst/>
                  <a:gdLst>
                    <a:gd name="T0" fmla="*/ 0 w 1088"/>
                    <a:gd name="T1" fmla="*/ 266 h 310"/>
                    <a:gd name="T2" fmla="*/ 629 w 1088"/>
                    <a:gd name="T3" fmla="*/ 266 h 310"/>
                    <a:gd name="T4" fmla="*/ 1088 w 1088"/>
                    <a:gd name="T5" fmla="*/ 0 h 31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088" h="310">
                      <a:moveTo>
                        <a:pt x="0" y="266"/>
                      </a:moveTo>
                      <a:cubicBezTo>
                        <a:pt x="224" y="288"/>
                        <a:pt x="448" y="310"/>
                        <a:pt x="629" y="266"/>
                      </a:cubicBezTo>
                      <a:cubicBezTo>
                        <a:pt x="810" y="222"/>
                        <a:pt x="949" y="111"/>
                        <a:pt x="1088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33797" name="Group 138">
              <a:extLst>
                <a:ext uri="{FF2B5EF4-FFF2-40B4-BE49-F238E27FC236}">
                  <a16:creationId xmlns:a16="http://schemas.microsoft.com/office/drawing/2014/main" id="{B443A60B-885B-4141-AE4D-EAAD0F5F7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" y="1547"/>
              <a:ext cx="1640" cy="2487"/>
              <a:chOff x="4059" y="1547"/>
              <a:chExt cx="1640" cy="2487"/>
            </a:xfrm>
          </p:grpSpPr>
          <p:grpSp>
            <p:nvGrpSpPr>
              <p:cNvPr id="33798" name="Group 139">
                <a:extLst>
                  <a:ext uri="{FF2B5EF4-FFF2-40B4-BE49-F238E27FC236}">
                    <a16:creationId xmlns:a16="http://schemas.microsoft.com/office/drawing/2014/main" id="{3A7BF7C0-60E5-F543-A148-7F4B8DD82C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9" y="1547"/>
                <a:ext cx="1640" cy="2223"/>
                <a:chOff x="4059" y="1547"/>
                <a:chExt cx="1640" cy="2223"/>
              </a:xfrm>
            </p:grpSpPr>
            <p:grpSp>
              <p:nvGrpSpPr>
                <p:cNvPr id="33805" name="Group 140">
                  <a:extLst>
                    <a:ext uri="{FF2B5EF4-FFF2-40B4-BE49-F238E27FC236}">
                      <a16:creationId xmlns:a16="http://schemas.microsoft.com/office/drawing/2014/main" id="{6C18F6F4-F7FE-694F-8436-C7BB5CB102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49" y="1547"/>
                  <a:ext cx="454" cy="226"/>
                  <a:chOff x="4649" y="1547"/>
                  <a:chExt cx="454" cy="226"/>
                </a:xfrm>
              </p:grpSpPr>
              <p:sp>
                <p:nvSpPr>
                  <p:cNvPr id="33856" name="Oval 141">
                    <a:extLst>
                      <a:ext uri="{FF2B5EF4-FFF2-40B4-BE49-F238E27FC236}">
                        <a16:creationId xmlns:a16="http://schemas.microsoft.com/office/drawing/2014/main" id="{6E8BBB9D-824F-0A4B-BA52-E5A50BA3A0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9" y="1547"/>
                    <a:ext cx="454" cy="226"/>
                  </a:xfrm>
                  <a:prstGeom prst="ellips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en-US" altLang="en-US" sz="16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33857" name="Text Box 142">
                    <a:extLst>
                      <a:ext uri="{FF2B5EF4-FFF2-40B4-BE49-F238E27FC236}">
                        <a16:creationId xmlns:a16="http://schemas.microsoft.com/office/drawing/2014/main" id="{26ABB50A-7843-AF4D-95EB-C3680C625F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7" y="1579"/>
                    <a:ext cx="290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u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Ø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>
                        <a:latin typeface="Garamond" panose="02020404030301010803" pitchFamily="18" charset="0"/>
                      </a:rPr>
                      <a:t>root</a:t>
                    </a:r>
                  </a:p>
                </p:txBody>
              </p:sp>
            </p:grpSp>
            <p:grpSp>
              <p:nvGrpSpPr>
                <p:cNvPr id="33806" name="Group 143">
                  <a:extLst>
                    <a:ext uri="{FF2B5EF4-FFF2-40B4-BE49-F238E27FC236}">
                      <a16:creationId xmlns:a16="http://schemas.microsoft.com/office/drawing/2014/main" id="{500D55B6-769B-4F42-8842-AC39762829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03" y="1676"/>
                  <a:ext cx="596" cy="1277"/>
                  <a:chOff x="5103" y="1676"/>
                  <a:chExt cx="596" cy="1277"/>
                </a:xfrm>
              </p:grpSpPr>
              <p:sp>
                <p:nvSpPr>
                  <p:cNvPr id="33843" name="Line 144">
                    <a:extLst>
                      <a:ext uri="{FF2B5EF4-FFF2-40B4-BE49-F238E27FC236}">
                        <a16:creationId xmlns:a16="http://schemas.microsoft.com/office/drawing/2014/main" id="{201EBE16-DFDD-C84A-A13C-F2C3E84AAF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103" y="1676"/>
                    <a:ext cx="369" cy="25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3844" name="Group 145">
                    <a:extLst>
                      <a:ext uri="{FF2B5EF4-FFF2-40B4-BE49-F238E27FC236}">
                        <a16:creationId xmlns:a16="http://schemas.microsoft.com/office/drawing/2014/main" id="{390E5C59-B68D-5048-BDBE-F631654D48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45" y="1934"/>
                    <a:ext cx="454" cy="1019"/>
                    <a:chOff x="5245" y="1934"/>
                    <a:chExt cx="454" cy="1019"/>
                  </a:xfrm>
                </p:grpSpPr>
                <p:sp>
                  <p:nvSpPr>
                    <p:cNvPr id="33845" name="Line 146">
                      <a:extLst>
                        <a:ext uri="{FF2B5EF4-FFF2-40B4-BE49-F238E27FC236}">
                          <a16:creationId xmlns:a16="http://schemas.microsoft.com/office/drawing/2014/main" id="{8B56E4F2-C3BF-DB42-BE81-A6FC5E41AC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5469" y="2155"/>
                      <a:ext cx="0" cy="18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46" name="Line 147">
                      <a:extLst>
                        <a:ext uri="{FF2B5EF4-FFF2-40B4-BE49-F238E27FC236}">
                          <a16:creationId xmlns:a16="http://schemas.microsoft.com/office/drawing/2014/main" id="{C55993CC-CFCB-9040-B6A1-9E61EB92FCE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5469" y="2562"/>
                      <a:ext cx="0" cy="16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3847" name="Group 148">
                      <a:extLst>
                        <a:ext uri="{FF2B5EF4-FFF2-40B4-BE49-F238E27FC236}">
                          <a16:creationId xmlns:a16="http://schemas.microsoft.com/office/drawing/2014/main" id="{A3E1D698-F0F5-114E-8E84-4D777333C3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45" y="2727"/>
                      <a:ext cx="454" cy="226"/>
                      <a:chOff x="5245" y="2727"/>
                      <a:chExt cx="454" cy="226"/>
                    </a:xfrm>
                  </p:grpSpPr>
                  <p:sp>
                    <p:nvSpPr>
                      <p:cNvPr id="33854" name="Oval 149">
                        <a:extLst>
                          <a:ext uri="{FF2B5EF4-FFF2-40B4-BE49-F238E27FC236}">
                            <a16:creationId xmlns:a16="http://schemas.microsoft.com/office/drawing/2014/main" id="{D2D9CA2B-F9C2-EE48-AF31-437B6E14B3F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45" y="2727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55" name="Text Box 150">
                        <a:extLst>
                          <a:ext uri="{FF2B5EF4-FFF2-40B4-BE49-F238E27FC236}">
                            <a16:creationId xmlns:a16="http://schemas.microsoft.com/office/drawing/2014/main" id="{9768062D-630C-D24F-BC4C-1DA431576E3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348" y="2761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p : 1</a:t>
                        </a:r>
                      </a:p>
                    </p:txBody>
                  </p:sp>
                </p:grpSp>
                <p:grpSp>
                  <p:nvGrpSpPr>
                    <p:cNvPr id="33848" name="Group 151">
                      <a:extLst>
                        <a:ext uri="{FF2B5EF4-FFF2-40B4-BE49-F238E27FC236}">
                          <a16:creationId xmlns:a16="http://schemas.microsoft.com/office/drawing/2014/main" id="{00AB5E02-0B84-6844-A81A-9EAC7B78F45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45" y="1934"/>
                      <a:ext cx="454" cy="226"/>
                      <a:chOff x="5245" y="1934"/>
                      <a:chExt cx="454" cy="226"/>
                    </a:xfrm>
                  </p:grpSpPr>
                  <p:sp>
                    <p:nvSpPr>
                      <p:cNvPr id="33852" name="Oval 152">
                        <a:extLst>
                          <a:ext uri="{FF2B5EF4-FFF2-40B4-BE49-F238E27FC236}">
                            <a16:creationId xmlns:a16="http://schemas.microsoft.com/office/drawing/2014/main" id="{AB4D9C6D-FAC0-0B41-8B82-E88046E4E78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45" y="1934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53" name="Text Box 153">
                        <a:extLst>
                          <a:ext uri="{FF2B5EF4-FFF2-40B4-BE49-F238E27FC236}">
                            <a16:creationId xmlns:a16="http://schemas.microsoft.com/office/drawing/2014/main" id="{D570F77E-2ED0-BC4E-8896-D5720704DE0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372" y="1966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c : 1</a:t>
                        </a:r>
                      </a:p>
                    </p:txBody>
                  </p:sp>
                </p:grpSp>
                <p:grpSp>
                  <p:nvGrpSpPr>
                    <p:cNvPr id="33849" name="Group 154">
                      <a:extLst>
                        <a:ext uri="{FF2B5EF4-FFF2-40B4-BE49-F238E27FC236}">
                          <a16:creationId xmlns:a16="http://schemas.microsoft.com/office/drawing/2014/main" id="{70BF613F-7707-004D-BA9B-E2CE1C67214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45" y="2338"/>
                      <a:ext cx="454" cy="226"/>
                      <a:chOff x="5245" y="2338"/>
                      <a:chExt cx="454" cy="226"/>
                    </a:xfrm>
                  </p:grpSpPr>
                  <p:sp>
                    <p:nvSpPr>
                      <p:cNvPr id="33850" name="Oval 155">
                        <a:extLst>
                          <a:ext uri="{FF2B5EF4-FFF2-40B4-BE49-F238E27FC236}">
                            <a16:creationId xmlns:a16="http://schemas.microsoft.com/office/drawing/2014/main" id="{A0C53455-6B4A-354F-AC54-36A3496F939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45" y="2338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51" name="Text Box 156">
                        <a:extLst>
                          <a:ext uri="{FF2B5EF4-FFF2-40B4-BE49-F238E27FC236}">
                            <a16:creationId xmlns:a16="http://schemas.microsoft.com/office/drawing/2014/main" id="{EAE4AFBC-3D77-ED49-AF0B-C9ED5D568D0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372" y="2378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b : 1</a:t>
                        </a:r>
                      </a:p>
                    </p:txBody>
                  </p:sp>
                </p:grpSp>
              </p:grpSp>
            </p:grpSp>
            <p:grpSp>
              <p:nvGrpSpPr>
                <p:cNvPr id="33807" name="Group 157">
                  <a:extLst>
                    <a:ext uri="{FF2B5EF4-FFF2-40B4-BE49-F238E27FC236}">
                      <a16:creationId xmlns:a16="http://schemas.microsoft.com/office/drawing/2014/main" id="{93C78582-182E-454B-887D-941D6A0981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9" y="1676"/>
                  <a:ext cx="1044" cy="2094"/>
                  <a:chOff x="4059" y="1676"/>
                  <a:chExt cx="1044" cy="2094"/>
                </a:xfrm>
              </p:grpSpPr>
              <p:sp>
                <p:nvSpPr>
                  <p:cNvPr id="33808" name="Line 158">
                    <a:extLst>
                      <a:ext uri="{FF2B5EF4-FFF2-40B4-BE49-F238E27FC236}">
                        <a16:creationId xmlns:a16="http://schemas.microsoft.com/office/drawing/2014/main" id="{CEC68965-8FFF-8446-AB5A-2EEF7605CA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25" y="1676"/>
                    <a:ext cx="224" cy="25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3809" name="Group 159">
                    <a:extLst>
                      <a:ext uri="{FF2B5EF4-FFF2-40B4-BE49-F238E27FC236}">
                        <a16:creationId xmlns:a16="http://schemas.microsoft.com/office/drawing/2014/main" id="{24F07166-F805-D04F-B228-FEACA47465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53" y="2139"/>
                    <a:ext cx="650" cy="425"/>
                    <a:chOff x="4453" y="2139"/>
                    <a:chExt cx="650" cy="425"/>
                  </a:xfrm>
                </p:grpSpPr>
                <p:sp>
                  <p:nvSpPr>
                    <p:cNvPr id="33839" name="Line 160">
                      <a:extLst>
                        <a:ext uri="{FF2B5EF4-FFF2-40B4-BE49-F238E27FC236}">
                          <a16:creationId xmlns:a16="http://schemas.microsoft.com/office/drawing/2014/main" id="{63627934-D829-A740-9F4F-CB7C3FC33DD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453" y="2139"/>
                      <a:ext cx="290" cy="19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3840" name="Group 161">
                      <a:extLst>
                        <a:ext uri="{FF2B5EF4-FFF2-40B4-BE49-F238E27FC236}">
                          <a16:creationId xmlns:a16="http://schemas.microsoft.com/office/drawing/2014/main" id="{F325A26D-1DBD-124D-9084-B97BF0F3D1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49" y="2338"/>
                      <a:ext cx="454" cy="226"/>
                      <a:chOff x="4649" y="2338"/>
                      <a:chExt cx="454" cy="226"/>
                    </a:xfrm>
                  </p:grpSpPr>
                  <p:sp>
                    <p:nvSpPr>
                      <p:cNvPr id="33841" name="Oval 162">
                        <a:extLst>
                          <a:ext uri="{FF2B5EF4-FFF2-40B4-BE49-F238E27FC236}">
                            <a16:creationId xmlns:a16="http://schemas.microsoft.com/office/drawing/2014/main" id="{ECD7DC7E-4E73-0C4C-9CCC-E13266DA282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49" y="2338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42" name="Text Box 163">
                        <a:extLst>
                          <a:ext uri="{FF2B5EF4-FFF2-40B4-BE49-F238E27FC236}">
                            <a16:creationId xmlns:a16="http://schemas.microsoft.com/office/drawing/2014/main" id="{4A5542A4-E03D-3E40-BD67-364BF8E5EC7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67" y="2374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b : 1</a:t>
                        </a:r>
                      </a:p>
                    </p:txBody>
                  </p:sp>
                </p:grpSp>
              </p:grpSp>
              <p:grpSp>
                <p:nvGrpSpPr>
                  <p:cNvPr id="33810" name="Group 164">
                    <a:extLst>
                      <a:ext uri="{FF2B5EF4-FFF2-40B4-BE49-F238E27FC236}">
                        <a16:creationId xmlns:a16="http://schemas.microsoft.com/office/drawing/2014/main" id="{E4DFEB27-0588-574C-B1CF-31D29B272D4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53" y="2934"/>
                    <a:ext cx="650" cy="836"/>
                    <a:chOff x="4453" y="2934"/>
                    <a:chExt cx="650" cy="836"/>
                  </a:xfrm>
                </p:grpSpPr>
                <p:sp>
                  <p:nvSpPr>
                    <p:cNvPr id="33831" name="Line 165">
                      <a:extLst>
                        <a:ext uri="{FF2B5EF4-FFF2-40B4-BE49-F238E27FC236}">
                          <a16:creationId xmlns:a16="http://schemas.microsoft.com/office/drawing/2014/main" id="{10BA7896-4080-DA4D-9925-0C58656DD5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453" y="2934"/>
                      <a:ext cx="290" cy="2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32" name="Line 166">
                      <a:extLst>
                        <a:ext uri="{FF2B5EF4-FFF2-40B4-BE49-F238E27FC236}">
                          <a16:creationId xmlns:a16="http://schemas.microsoft.com/office/drawing/2014/main" id="{FBD89F6E-2092-DD4D-8625-741836FB95D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840" y="3362"/>
                      <a:ext cx="0" cy="18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3833" name="Group 167">
                      <a:extLst>
                        <a:ext uri="{FF2B5EF4-FFF2-40B4-BE49-F238E27FC236}">
                          <a16:creationId xmlns:a16="http://schemas.microsoft.com/office/drawing/2014/main" id="{1082F7A6-79CB-FC43-88DE-EB547AF99BE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49" y="3136"/>
                      <a:ext cx="454" cy="226"/>
                      <a:chOff x="4649" y="3136"/>
                      <a:chExt cx="454" cy="226"/>
                    </a:xfrm>
                  </p:grpSpPr>
                  <p:sp>
                    <p:nvSpPr>
                      <p:cNvPr id="33837" name="Oval 168">
                        <a:extLst>
                          <a:ext uri="{FF2B5EF4-FFF2-40B4-BE49-F238E27FC236}">
                            <a16:creationId xmlns:a16="http://schemas.microsoft.com/office/drawing/2014/main" id="{3DCA4F35-9AFC-8F4D-960B-AE8937BFE0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49" y="3136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38" name="Text Box 169">
                        <a:extLst>
                          <a:ext uri="{FF2B5EF4-FFF2-40B4-BE49-F238E27FC236}">
                            <a16:creationId xmlns:a16="http://schemas.microsoft.com/office/drawing/2014/main" id="{04EF058C-C5AC-D04C-9656-7904FDE4D7B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67" y="3176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b : 1</a:t>
                        </a:r>
                      </a:p>
                    </p:txBody>
                  </p:sp>
                </p:grpSp>
                <p:grpSp>
                  <p:nvGrpSpPr>
                    <p:cNvPr id="33834" name="Group 170">
                      <a:extLst>
                        <a:ext uri="{FF2B5EF4-FFF2-40B4-BE49-F238E27FC236}">
                          <a16:creationId xmlns:a16="http://schemas.microsoft.com/office/drawing/2014/main" id="{58C7A6AC-6026-B141-8932-715BD761D55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49" y="3544"/>
                      <a:ext cx="454" cy="226"/>
                      <a:chOff x="4649" y="3544"/>
                      <a:chExt cx="454" cy="226"/>
                    </a:xfrm>
                  </p:grpSpPr>
                  <p:sp>
                    <p:nvSpPr>
                      <p:cNvPr id="33835" name="Oval 171">
                        <a:extLst>
                          <a:ext uri="{FF2B5EF4-FFF2-40B4-BE49-F238E27FC236}">
                            <a16:creationId xmlns:a16="http://schemas.microsoft.com/office/drawing/2014/main" id="{170926C3-6A9E-6940-A189-9A22EBCFB0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49" y="3544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36" name="Text Box 172">
                        <a:extLst>
                          <a:ext uri="{FF2B5EF4-FFF2-40B4-BE49-F238E27FC236}">
                            <a16:creationId xmlns:a16="http://schemas.microsoft.com/office/drawing/2014/main" id="{09ACC0E0-486E-DF4D-8AAA-7DB761E2E50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67" y="3584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m : 1</a:t>
                        </a:r>
                      </a:p>
                    </p:txBody>
                  </p:sp>
                </p:grpSp>
              </p:grpSp>
              <p:grpSp>
                <p:nvGrpSpPr>
                  <p:cNvPr id="33811" name="Group 173">
                    <a:extLst>
                      <a:ext uri="{FF2B5EF4-FFF2-40B4-BE49-F238E27FC236}">
                        <a16:creationId xmlns:a16="http://schemas.microsoft.com/office/drawing/2014/main" id="{9F55FA79-3F42-1B45-97FF-3E6FBC1929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59" y="1934"/>
                    <a:ext cx="454" cy="1836"/>
                    <a:chOff x="4059" y="1934"/>
                    <a:chExt cx="454" cy="1836"/>
                  </a:xfrm>
                </p:grpSpPr>
                <p:sp>
                  <p:nvSpPr>
                    <p:cNvPr id="33812" name="Line 174">
                      <a:extLst>
                        <a:ext uri="{FF2B5EF4-FFF2-40B4-BE49-F238E27FC236}">
                          <a16:creationId xmlns:a16="http://schemas.microsoft.com/office/drawing/2014/main" id="{17831FD9-1157-FC4E-86AD-EEEBCD4F04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259" y="2155"/>
                      <a:ext cx="0" cy="18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13" name="Line 175">
                      <a:extLst>
                        <a:ext uri="{FF2B5EF4-FFF2-40B4-BE49-F238E27FC236}">
                          <a16:creationId xmlns:a16="http://schemas.microsoft.com/office/drawing/2014/main" id="{36797E04-9596-B44A-8DD6-76024E516A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259" y="2564"/>
                      <a:ext cx="0" cy="16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14" name="Line 176">
                      <a:extLst>
                        <a:ext uri="{FF2B5EF4-FFF2-40B4-BE49-F238E27FC236}">
                          <a16:creationId xmlns:a16="http://schemas.microsoft.com/office/drawing/2014/main" id="{C547BDF1-CFBA-0947-A749-2F446E43DC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259" y="2949"/>
                      <a:ext cx="0" cy="18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15" name="Line 177">
                      <a:extLst>
                        <a:ext uri="{FF2B5EF4-FFF2-40B4-BE49-F238E27FC236}">
                          <a16:creationId xmlns:a16="http://schemas.microsoft.com/office/drawing/2014/main" id="{95C39F06-A72E-A14E-B1B8-CFBF20A087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259" y="3362"/>
                      <a:ext cx="0" cy="18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3816" name="Group 178">
                      <a:extLst>
                        <a:ext uri="{FF2B5EF4-FFF2-40B4-BE49-F238E27FC236}">
                          <a16:creationId xmlns:a16="http://schemas.microsoft.com/office/drawing/2014/main" id="{E837A4D5-C413-9D4E-BCB3-33B95ED5B18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9" y="1934"/>
                      <a:ext cx="454" cy="226"/>
                      <a:chOff x="4059" y="1934"/>
                      <a:chExt cx="454" cy="226"/>
                    </a:xfrm>
                  </p:grpSpPr>
                  <p:sp>
                    <p:nvSpPr>
                      <p:cNvPr id="33829" name="Oval 179">
                        <a:extLst>
                          <a:ext uri="{FF2B5EF4-FFF2-40B4-BE49-F238E27FC236}">
                            <a16:creationId xmlns:a16="http://schemas.microsoft.com/office/drawing/2014/main" id="{C8E4AC34-A7E7-B646-B9FB-349D2C236EB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9" y="1934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30" name="Text Box 180">
                        <a:extLst>
                          <a:ext uri="{FF2B5EF4-FFF2-40B4-BE49-F238E27FC236}">
                            <a16:creationId xmlns:a16="http://schemas.microsoft.com/office/drawing/2014/main" id="{B03BEA40-80EF-1645-9F7D-4C6803518DD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63" y="1963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f : 4</a:t>
                        </a:r>
                      </a:p>
                    </p:txBody>
                  </p:sp>
                </p:grpSp>
                <p:grpSp>
                  <p:nvGrpSpPr>
                    <p:cNvPr id="33817" name="Group 181">
                      <a:extLst>
                        <a:ext uri="{FF2B5EF4-FFF2-40B4-BE49-F238E27FC236}">
                          <a16:creationId xmlns:a16="http://schemas.microsoft.com/office/drawing/2014/main" id="{A524A462-6165-6946-98D2-8D3605018C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9" y="2727"/>
                      <a:ext cx="454" cy="226"/>
                      <a:chOff x="4059" y="2727"/>
                      <a:chExt cx="454" cy="226"/>
                    </a:xfrm>
                  </p:grpSpPr>
                  <p:sp>
                    <p:nvSpPr>
                      <p:cNvPr id="33827" name="Oval 182">
                        <a:extLst>
                          <a:ext uri="{FF2B5EF4-FFF2-40B4-BE49-F238E27FC236}">
                            <a16:creationId xmlns:a16="http://schemas.microsoft.com/office/drawing/2014/main" id="{EC0CD9F8-50C7-144D-AE6A-45624C27F1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9" y="2727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28" name="Text Box 183">
                        <a:extLst>
                          <a:ext uri="{FF2B5EF4-FFF2-40B4-BE49-F238E27FC236}">
                            <a16:creationId xmlns:a16="http://schemas.microsoft.com/office/drawing/2014/main" id="{130101B4-25E3-2042-8B1A-11B1111E63F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63" y="2761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a : 3</a:t>
                        </a:r>
                      </a:p>
                    </p:txBody>
                  </p:sp>
                </p:grpSp>
                <p:grpSp>
                  <p:nvGrpSpPr>
                    <p:cNvPr id="33818" name="Group 184">
                      <a:extLst>
                        <a:ext uri="{FF2B5EF4-FFF2-40B4-BE49-F238E27FC236}">
                          <a16:creationId xmlns:a16="http://schemas.microsoft.com/office/drawing/2014/main" id="{6D688B38-10AF-8B4D-A7A6-2974409B1EA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9" y="3136"/>
                      <a:ext cx="454" cy="226"/>
                      <a:chOff x="4059" y="3136"/>
                      <a:chExt cx="454" cy="226"/>
                    </a:xfrm>
                  </p:grpSpPr>
                  <p:sp>
                    <p:nvSpPr>
                      <p:cNvPr id="33825" name="Oval 185">
                        <a:extLst>
                          <a:ext uri="{FF2B5EF4-FFF2-40B4-BE49-F238E27FC236}">
                            <a16:creationId xmlns:a16="http://schemas.microsoft.com/office/drawing/2014/main" id="{E6D273DA-DEBA-404B-8FF2-E2C44A5FCB0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9" y="3136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26" name="Text Box 186">
                        <a:extLst>
                          <a:ext uri="{FF2B5EF4-FFF2-40B4-BE49-F238E27FC236}">
                            <a16:creationId xmlns:a16="http://schemas.microsoft.com/office/drawing/2014/main" id="{71460135-4A80-EF40-8A58-7FA6F713317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63" y="3176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m : 2</a:t>
                        </a:r>
                      </a:p>
                    </p:txBody>
                  </p:sp>
                </p:grpSp>
                <p:grpSp>
                  <p:nvGrpSpPr>
                    <p:cNvPr id="33819" name="Group 187">
                      <a:extLst>
                        <a:ext uri="{FF2B5EF4-FFF2-40B4-BE49-F238E27FC236}">
                          <a16:creationId xmlns:a16="http://schemas.microsoft.com/office/drawing/2014/main" id="{8CD1C0EF-0C32-594E-AD4B-CC77BB04458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9" y="3544"/>
                      <a:ext cx="454" cy="226"/>
                      <a:chOff x="4059" y="3544"/>
                      <a:chExt cx="454" cy="226"/>
                    </a:xfrm>
                  </p:grpSpPr>
                  <p:sp>
                    <p:nvSpPr>
                      <p:cNvPr id="33823" name="Oval 188">
                        <a:extLst>
                          <a:ext uri="{FF2B5EF4-FFF2-40B4-BE49-F238E27FC236}">
                            <a16:creationId xmlns:a16="http://schemas.microsoft.com/office/drawing/2014/main" id="{29BDB6B2-9AD2-6A4A-B28C-58AB278BE8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9" y="3544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24" name="Text Box 189">
                        <a:extLst>
                          <a:ext uri="{FF2B5EF4-FFF2-40B4-BE49-F238E27FC236}">
                            <a16:creationId xmlns:a16="http://schemas.microsoft.com/office/drawing/2014/main" id="{E7944A35-F933-4E43-A79E-7D2E36D5861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63" y="3584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p : 2</a:t>
                        </a:r>
                      </a:p>
                    </p:txBody>
                  </p:sp>
                </p:grpSp>
                <p:grpSp>
                  <p:nvGrpSpPr>
                    <p:cNvPr id="33820" name="Group 190">
                      <a:extLst>
                        <a:ext uri="{FF2B5EF4-FFF2-40B4-BE49-F238E27FC236}">
                          <a16:creationId xmlns:a16="http://schemas.microsoft.com/office/drawing/2014/main" id="{745AB965-5156-1740-995E-6C90039744B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9" y="2338"/>
                      <a:ext cx="454" cy="226"/>
                      <a:chOff x="4059" y="2338"/>
                      <a:chExt cx="454" cy="226"/>
                    </a:xfrm>
                  </p:grpSpPr>
                  <p:sp>
                    <p:nvSpPr>
                      <p:cNvPr id="33821" name="Oval 191">
                        <a:extLst>
                          <a:ext uri="{FF2B5EF4-FFF2-40B4-BE49-F238E27FC236}">
                            <a16:creationId xmlns:a16="http://schemas.microsoft.com/office/drawing/2014/main" id="{612325A2-750B-8E43-BCE3-5D9FC95D63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9" y="2338"/>
                        <a:ext cx="454" cy="226"/>
                      </a:xfrm>
                      <a:prstGeom prst="ellipse">
                        <a:avLst/>
                      </a:prstGeom>
                      <a:noFill/>
                      <a:ln w="9525" algn="ctr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en-US" sz="16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33822" name="Text Box 192">
                        <a:extLst>
                          <a:ext uri="{FF2B5EF4-FFF2-40B4-BE49-F238E27FC236}">
                            <a16:creationId xmlns:a16="http://schemas.microsoft.com/office/drawing/2014/main" id="{6F8CB4F9-9517-F04D-A8F4-99BA92586EC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63" y="2374"/>
                        <a:ext cx="290" cy="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lIns="0" tIns="0" rIns="0" bIns="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Font typeface="Wingdings" pitchFamily="2" charset="2"/>
                          <a:buChar char="n"/>
                          <a:defRPr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l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70000"/>
                          <a:buFont typeface="Wingdings" pitchFamily="2" charset="2"/>
                          <a:buChar char="u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70000"/>
                          <a:buFont typeface="Wingdings" pitchFamily="2" charset="2"/>
                          <a:buChar char="Ø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70000"/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800">
                            <a:latin typeface="Garamond" panose="02020404030301010803" pitchFamily="18" charset="0"/>
                          </a:rPr>
                          <a:t>c : 3</a:t>
                        </a:r>
                      </a:p>
                    </p:txBody>
                  </p:sp>
                </p:grpSp>
              </p:grpSp>
            </p:grpSp>
          </p:grpSp>
          <p:grpSp>
            <p:nvGrpSpPr>
              <p:cNvPr id="33799" name="Group 193">
                <a:extLst>
                  <a:ext uri="{FF2B5EF4-FFF2-40B4-BE49-F238E27FC236}">
                    <a16:creationId xmlns:a16="http://schemas.microsoft.com/office/drawing/2014/main" id="{9F5521F7-0B35-934A-9EFB-5C17F24F0D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8" y="2061"/>
                <a:ext cx="1041" cy="1973"/>
                <a:chOff x="4428" y="2061"/>
                <a:chExt cx="1041" cy="1973"/>
              </a:xfrm>
            </p:grpSpPr>
            <p:sp>
              <p:nvSpPr>
                <p:cNvPr id="33800" name="Freeform 194">
                  <a:extLst>
                    <a:ext uri="{FF2B5EF4-FFF2-40B4-BE49-F238E27FC236}">
                      <a16:creationId xmlns:a16="http://schemas.microsoft.com/office/drawing/2014/main" id="{18EB6303-1644-E346-A032-D3D39414C5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8" y="2061"/>
                  <a:ext cx="774" cy="291"/>
                </a:xfrm>
                <a:custGeom>
                  <a:avLst/>
                  <a:gdLst>
                    <a:gd name="T0" fmla="*/ 0 w 774"/>
                    <a:gd name="T1" fmla="*/ 291 h 291"/>
                    <a:gd name="T2" fmla="*/ 412 w 774"/>
                    <a:gd name="T3" fmla="*/ 121 h 291"/>
                    <a:gd name="T4" fmla="*/ 774 w 774"/>
                    <a:gd name="T5" fmla="*/ 0 h 29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74" h="291">
                      <a:moveTo>
                        <a:pt x="0" y="291"/>
                      </a:moveTo>
                      <a:cubicBezTo>
                        <a:pt x="141" y="230"/>
                        <a:pt x="283" y="170"/>
                        <a:pt x="412" y="121"/>
                      </a:cubicBezTo>
                      <a:cubicBezTo>
                        <a:pt x="541" y="72"/>
                        <a:pt x="657" y="36"/>
                        <a:pt x="774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01" name="Freeform 195">
                  <a:extLst>
                    <a:ext uri="{FF2B5EF4-FFF2-40B4-BE49-F238E27FC236}">
                      <a16:creationId xmlns:a16="http://schemas.microsoft.com/office/drawing/2014/main" id="{B913CFA6-3341-FC40-ABAB-33694CB12A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1" y="3297"/>
                  <a:ext cx="218" cy="266"/>
                </a:xfrm>
                <a:custGeom>
                  <a:avLst/>
                  <a:gdLst>
                    <a:gd name="T0" fmla="*/ 0 w 218"/>
                    <a:gd name="T1" fmla="*/ 0 h 242"/>
                    <a:gd name="T2" fmla="*/ 218 w 218"/>
                    <a:gd name="T3" fmla="*/ 353 h 24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18" h="242">
                      <a:moveTo>
                        <a:pt x="0" y="0"/>
                      </a:moveTo>
                      <a:cubicBezTo>
                        <a:pt x="0" y="0"/>
                        <a:pt x="109" y="121"/>
                        <a:pt x="218" y="242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02" name="Freeform 196">
                  <a:extLst>
                    <a:ext uri="{FF2B5EF4-FFF2-40B4-BE49-F238E27FC236}">
                      <a16:creationId xmlns:a16="http://schemas.microsoft.com/office/drawing/2014/main" id="{D53DBEC2-BC1C-0947-BDBC-A6F56FA7A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983"/>
                  <a:ext cx="1016" cy="1051"/>
                </a:xfrm>
                <a:custGeom>
                  <a:avLst/>
                  <a:gdLst>
                    <a:gd name="T0" fmla="*/ 0 w 1016"/>
                    <a:gd name="T1" fmla="*/ 774 h 1051"/>
                    <a:gd name="T2" fmla="*/ 96 w 1016"/>
                    <a:gd name="T3" fmla="*/ 991 h 1051"/>
                    <a:gd name="T4" fmla="*/ 556 w 1016"/>
                    <a:gd name="T5" fmla="*/ 1016 h 1051"/>
                    <a:gd name="T6" fmla="*/ 798 w 1016"/>
                    <a:gd name="T7" fmla="*/ 991 h 1051"/>
                    <a:gd name="T8" fmla="*/ 919 w 1016"/>
                    <a:gd name="T9" fmla="*/ 653 h 1051"/>
                    <a:gd name="T10" fmla="*/ 1016 w 1016"/>
                    <a:gd name="T11" fmla="*/ 0 h 105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16" h="1051">
                      <a:moveTo>
                        <a:pt x="0" y="774"/>
                      </a:moveTo>
                      <a:cubicBezTo>
                        <a:pt x="1" y="862"/>
                        <a:pt x="3" y="951"/>
                        <a:pt x="96" y="991"/>
                      </a:cubicBezTo>
                      <a:cubicBezTo>
                        <a:pt x="189" y="1031"/>
                        <a:pt x="439" y="1016"/>
                        <a:pt x="556" y="1016"/>
                      </a:cubicBezTo>
                      <a:cubicBezTo>
                        <a:pt x="673" y="1016"/>
                        <a:pt x="738" y="1051"/>
                        <a:pt x="798" y="991"/>
                      </a:cubicBezTo>
                      <a:cubicBezTo>
                        <a:pt x="858" y="931"/>
                        <a:pt x="883" y="818"/>
                        <a:pt x="919" y="653"/>
                      </a:cubicBezTo>
                      <a:cubicBezTo>
                        <a:pt x="955" y="488"/>
                        <a:pt x="985" y="244"/>
                        <a:pt x="1016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03" name="Freeform 197">
                  <a:extLst>
                    <a:ext uri="{FF2B5EF4-FFF2-40B4-BE49-F238E27FC236}">
                      <a16:creationId xmlns:a16="http://schemas.microsoft.com/office/drawing/2014/main" id="{C6126F63-050C-1C45-9D7C-C1A32B90B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2571"/>
                  <a:ext cx="1" cy="557"/>
                </a:xfrm>
                <a:custGeom>
                  <a:avLst/>
                  <a:gdLst>
                    <a:gd name="T0" fmla="*/ 0 w 1"/>
                    <a:gd name="T1" fmla="*/ 557 h 557"/>
                    <a:gd name="T2" fmla="*/ 0 w 1"/>
                    <a:gd name="T3" fmla="*/ 0 h 55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557">
                      <a:moveTo>
                        <a:pt x="0" y="557"/>
                      </a:moveTo>
                      <a:cubicBezTo>
                        <a:pt x="0" y="557"/>
                        <a:pt x="0" y="27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04" name="Freeform 198">
                  <a:extLst>
                    <a:ext uri="{FF2B5EF4-FFF2-40B4-BE49-F238E27FC236}">
                      <a16:creationId xmlns:a16="http://schemas.microsoft.com/office/drawing/2014/main" id="{B9C5A4EB-1A73-8247-988C-8413558BD6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6" y="2450"/>
                  <a:ext cx="121" cy="1"/>
                </a:xfrm>
                <a:custGeom>
                  <a:avLst/>
                  <a:gdLst>
                    <a:gd name="T0" fmla="*/ 0 w 121"/>
                    <a:gd name="T1" fmla="*/ 0 h 1"/>
                    <a:gd name="T2" fmla="*/ 121 w 121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21" h="1">
                      <a:moveTo>
                        <a:pt x="0" y="0"/>
                      </a:moveTo>
                      <a:cubicBezTo>
                        <a:pt x="50" y="0"/>
                        <a:pt x="101" y="0"/>
                        <a:pt x="121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arrow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653109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6C8E-D655-9048-801C-2C130D57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A4AF-BAC6-A14F-A120-2B25BFA0DD3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79868-088E-1B4F-9C27-0F8878A6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B5BA3-6AD5-6C45-A659-250DFB87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B553-2D03-0D4F-9084-4D5FBCE2F4CA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383426" name="Rectangle 2">
            <a:extLst>
              <a:ext uri="{FF2B5EF4-FFF2-40B4-BE49-F238E27FC236}">
                <a16:creationId xmlns:a16="http://schemas.microsoft.com/office/drawing/2014/main" id="{028B25B9-5BE1-FD4E-AACA-A80FA3C2F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422275"/>
            <a:ext cx="7989887" cy="568325"/>
          </a:xfrm>
        </p:spPr>
        <p:txBody>
          <a:bodyPr/>
          <a:lstStyle/>
          <a:p>
            <a:r>
              <a:rPr lang="en-US" altLang="en-US" sz="3200"/>
              <a:t>Benefits of the FP-tree Structure</a:t>
            </a:r>
          </a:p>
        </p:txBody>
      </p:sp>
      <p:sp>
        <p:nvSpPr>
          <p:cNvPr id="1383427" name="Rectangle 3">
            <a:extLst>
              <a:ext uri="{FF2B5EF4-FFF2-40B4-BE49-F238E27FC236}">
                <a16:creationId xmlns:a16="http://schemas.microsoft.com/office/drawing/2014/main" id="{134C38BF-73A3-D548-A2E5-25C58A3CE7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  <a:noFill/>
          <a:ln/>
        </p:spPr>
        <p:txBody>
          <a:bodyPr/>
          <a:lstStyle/>
          <a:p>
            <a:r>
              <a:rPr lang="en-US" altLang="en-US" sz="2400" dirty="0"/>
              <a:t>Completeness </a:t>
            </a:r>
          </a:p>
          <a:p>
            <a:pPr lvl="1"/>
            <a:r>
              <a:rPr lang="en-US" altLang="en-US" sz="2400" dirty="0"/>
              <a:t>Preserve complete information for frequent pattern mining</a:t>
            </a:r>
          </a:p>
          <a:p>
            <a:pPr lvl="1"/>
            <a:r>
              <a:rPr lang="en-US" altLang="en-US" sz="2400" dirty="0"/>
              <a:t>Never break a long pattern of any transaction</a:t>
            </a:r>
          </a:p>
          <a:p>
            <a:r>
              <a:rPr lang="en-US" altLang="en-US" sz="2400" dirty="0"/>
              <a:t>Compactness</a:t>
            </a:r>
          </a:p>
          <a:p>
            <a:pPr lvl="1"/>
            <a:r>
              <a:rPr lang="en-US" altLang="en-US" sz="2400" dirty="0"/>
              <a:t>Reduce irrelevant info—infrequent items are gone</a:t>
            </a:r>
          </a:p>
          <a:p>
            <a:pPr lvl="1"/>
            <a:r>
              <a:rPr lang="en-US" altLang="en-US" sz="2400" dirty="0"/>
              <a:t>Items in frequency descending order: the more frequently occurring, the more likely to be shared</a:t>
            </a:r>
          </a:p>
          <a:p>
            <a:pPr lvl="1"/>
            <a:r>
              <a:rPr lang="en-US" altLang="en-US" sz="2400" dirty="0"/>
              <a:t>Never be larger than the original database (not count node-links and the </a:t>
            </a:r>
            <a:r>
              <a:rPr lang="en-US" altLang="en-US" sz="2400" i="1" dirty="0"/>
              <a:t>count</a:t>
            </a:r>
            <a:r>
              <a:rPr lang="en-US" altLang="en-US" sz="2400" dirty="0"/>
              <a:t> field)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C502-1A1E-E44D-A60B-A5F04766F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71A-D24C-ED40-968E-67B02F5DF11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E1BFE-11F8-6149-B758-B7D4F2B6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8406B-576E-114A-B47E-40E63DE9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E608-84A6-0C41-BB30-FF47D5A6478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384450" name="Rectangle 2">
            <a:extLst>
              <a:ext uri="{FF2B5EF4-FFF2-40B4-BE49-F238E27FC236}">
                <a16:creationId xmlns:a16="http://schemas.microsoft.com/office/drawing/2014/main" id="{663618EB-EBAD-A54A-AE19-67A61DE74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 Patterns and Databases</a:t>
            </a:r>
          </a:p>
        </p:txBody>
      </p:sp>
      <p:sp>
        <p:nvSpPr>
          <p:cNvPr id="1384451" name="Rectangle 3">
            <a:extLst>
              <a:ext uri="{FF2B5EF4-FFF2-40B4-BE49-F238E27FC236}">
                <a16:creationId xmlns:a16="http://schemas.microsoft.com/office/drawing/2014/main" id="{73139587-6BB5-E348-AFA5-534A1CAF8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953000"/>
          </a:xfrm>
        </p:spPr>
        <p:txBody>
          <a:bodyPr/>
          <a:lstStyle/>
          <a:p>
            <a:r>
              <a:rPr lang="en-US" altLang="en-US"/>
              <a:t>Frequent patterns can be partitioned into subsets according to f-list</a:t>
            </a:r>
          </a:p>
          <a:p>
            <a:pPr lvl="1"/>
            <a:r>
              <a:rPr lang="en-US" altLang="en-US"/>
              <a:t>F-list=f-c-a-b-m-p</a:t>
            </a:r>
          </a:p>
          <a:p>
            <a:pPr lvl="1"/>
            <a:r>
              <a:rPr lang="en-US" altLang="en-US"/>
              <a:t>Patterns containing p</a:t>
            </a:r>
          </a:p>
          <a:p>
            <a:pPr lvl="1"/>
            <a:r>
              <a:rPr lang="en-US" altLang="en-US"/>
              <a:t>Patterns having m but no p</a:t>
            </a:r>
          </a:p>
          <a:p>
            <a:pPr lvl="1"/>
            <a:r>
              <a:rPr lang="en-US" altLang="en-US"/>
              <a:t>…</a:t>
            </a:r>
          </a:p>
          <a:p>
            <a:pPr lvl="1"/>
            <a:r>
              <a:rPr lang="en-US" altLang="en-US"/>
              <a:t>Patterns having c but no a nor b, m, p</a:t>
            </a:r>
          </a:p>
          <a:p>
            <a:pPr lvl="1"/>
            <a:r>
              <a:rPr lang="en-US" altLang="en-US"/>
              <a:t>Pattern f</a:t>
            </a:r>
          </a:p>
          <a:p>
            <a:r>
              <a:rPr lang="en-US" altLang="en-US"/>
              <a:t>Completeness and non-redundency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6B4C6AC-C9FE-DC43-BE83-C112DDFC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F5F8-F3F4-3F42-A8D4-C7ADF5AF768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39A3578E-01B2-404F-A000-41F31816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8C9683CC-B590-F542-B551-B3E754A3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05B3-5984-674E-B510-5B074FD91E4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385474" name="Rectangle 2">
            <a:extLst>
              <a:ext uri="{FF2B5EF4-FFF2-40B4-BE49-F238E27FC236}">
                <a16:creationId xmlns:a16="http://schemas.microsoft.com/office/drawing/2014/main" id="{2B978415-C017-3646-B27C-36306EC68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Find Patterns Having P From P-conditional Database</a:t>
            </a:r>
          </a:p>
        </p:txBody>
      </p:sp>
      <p:sp>
        <p:nvSpPr>
          <p:cNvPr id="1385475" name="Rectangle 3">
            <a:extLst>
              <a:ext uri="{FF2B5EF4-FFF2-40B4-BE49-F238E27FC236}">
                <a16:creationId xmlns:a16="http://schemas.microsoft.com/office/drawing/2014/main" id="{3B69DD4E-894B-894C-A9E4-8CEBE0005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1524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/>
              <a:t>Starting at the frequent item header table in the FP-tree</a:t>
            </a:r>
          </a:p>
          <a:p>
            <a:pPr>
              <a:lnSpc>
                <a:spcPct val="80000"/>
              </a:lnSpc>
            </a:pPr>
            <a:r>
              <a:rPr lang="en-US" altLang="en-US" sz="2100"/>
              <a:t>Traverse the FP-tree by following the link of each frequent item </a:t>
            </a:r>
            <a:r>
              <a:rPr lang="en-US" altLang="en-US" sz="2100" i="1"/>
              <a:t>p</a:t>
            </a:r>
          </a:p>
          <a:p>
            <a:pPr>
              <a:lnSpc>
                <a:spcPct val="80000"/>
              </a:lnSpc>
            </a:pPr>
            <a:r>
              <a:rPr lang="en-US" altLang="en-US" sz="2100"/>
              <a:t>Accumulate all of </a:t>
            </a:r>
            <a:r>
              <a:rPr lang="en-US" altLang="en-US" sz="2100" i="1">
                <a:solidFill>
                  <a:schemeClr val="hlink"/>
                </a:solidFill>
              </a:rPr>
              <a:t>transformed prefix paths</a:t>
            </a:r>
            <a:r>
              <a:rPr lang="en-US" altLang="en-US" sz="2100"/>
              <a:t> of item </a:t>
            </a:r>
            <a:r>
              <a:rPr lang="en-US" altLang="en-US" sz="2100" i="1"/>
              <a:t>p </a:t>
            </a:r>
            <a:r>
              <a:rPr lang="en-US" altLang="en-US" sz="2100"/>
              <a:t>to form </a:t>
            </a:r>
            <a:r>
              <a:rPr lang="en-US" altLang="en-US" sz="2100" i="1"/>
              <a:t>p’</a:t>
            </a:r>
            <a:r>
              <a:rPr lang="en-US" altLang="en-US" sz="2100"/>
              <a:t>s conditional pattern base</a:t>
            </a:r>
          </a:p>
        </p:txBody>
      </p:sp>
      <p:sp>
        <p:nvSpPr>
          <p:cNvPr id="1385476" name="Rectangle 4">
            <a:extLst>
              <a:ext uri="{FF2B5EF4-FFF2-40B4-BE49-F238E27FC236}">
                <a16:creationId xmlns:a16="http://schemas.microsoft.com/office/drawing/2014/main" id="{98FE1214-ADF6-D446-90FA-E6E7DB3E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3667125"/>
            <a:ext cx="3327400" cy="277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Conditional </a:t>
            </a:r>
            <a:r>
              <a:rPr lang="en-US" altLang="en-US" sz="2000" b="1">
                <a:latin typeface="Times New Roman" panose="02020603050405020304" pitchFamily="18" charset="0"/>
              </a:rPr>
              <a:t>pattern bases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 u="sng">
                <a:latin typeface="Times New Roman" panose="02020603050405020304" pitchFamily="18" charset="0"/>
              </a:rPr>
              <a:t>item	cond. pattern base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c	f:3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a	fc:3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b	fca:1, f:1, c:1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m	fca:2, fcab:1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p	fcam:2, cb:1</a:t>
            </a:r>
          </a:p>
        </p:txBody>
      </p:sp>
      <p:grpSp>
        <p:nvGrpSpPr>
          <p:cNvPr id="1385477" name="Group 5">
            <a:extLst>
              <a:ext uri="{FF2B5EF4-FFF2-40B4-BE49-F238E27FC236}">
                <a16:creationId xmlns:a16="http://schemas.microsoft.com/office/drawing/2014/main" id="{6008FEAA-9668-8646-858B-BAF757C4198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48000"/>
            <a:ext cx="4637088" cy="3525838"/>
            <a:chOff x="2496" y="1772"/>
            <a:chExt cx="2921" cy="2226"/>
          </a:xfrm>
        </p:grpSpPr>
        <p:sp>
          <p:nvSpPr>
            <p:cNvPr id="1385478" name="Text Box 6">
              <a:extLst>
                <a:ext uri="{FF2B5EF4-FFF2-40B4-BE49-F238E27FC236}">
                  <a16:creationId xmlns:a16="http://schemas.microsoft.com/office/drawing/2014/main" id="{88D0340A-1315-4544-86BA-D5BD3DD72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1772"/>
              <a:ext cx="27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1385479" name="Text Box 7">
              <a:extLst>
                <a:ext uri="{FF2B5EF4-FFF2-40B4-BE49-F238E27FC236}">
                  <a16:creationId xmlns:a16="http://schemas.microsoft.com/office/drawing/2014/main" id="{1A15179D-DA1F-2C4C-8D44-89BA274B8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2205"/>
              <a:ext cx="301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1385480" name="Text Box 8">
              <a:extLst>
                <a:ext uri="{FF2B5EF4-FFF2-40B4-BE49-F238E27FC236}">
                  <a16:creationId xmlns:a16="http://schemas.microsoft.com/office/drawing/2014/main" id="{616C19B3-1A08-284A-8CC3-07B5BF6EE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1385481" name="Text Box 9">
              <a:extLst>
                <a:ext uri="{FF2B5EF4-FFF2-40B4-BE49-F238E27FC236}">
                  <a16:creationId xmlns:a16="http://schemas.microsoft.com/office/drawing/2014/main" id="{0B22C7A4-4E43-B24E-9EA6-A3AE3F34F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5482" name="Text Box 10">
              <a:extLst>
                <a:ext uri="{FF2B5EF4-FFF2-40B4-BE49-F238E27FC236}">
                  <a16:creationId xmlns:a16="http://schemas.microsoft.com/office/drawing/2014/main" id="{5C794523-5186-2D46-AC09-FC073F828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1385483" name="AutoShape 11">
              <a:extLst>
                <a:ext uri="{FF2B5EF4-FFF2-40B4-BE49-F238E27FC236}">
                  <a16:creationId xmlns:a16="http://schemas.microsoft.com/office/drawing/2014/main" id="{DE78EE6B-A153-8A4F-9127-887EFB28C7CE}"/>
                </a:ext>
              </a:extLst>
            </p:cNvPr>
            <p:cNvCxnSpPr>
              <a:cxnSpLocks noChangeShapeType="1"/>
              <a:stCxn id="1385480" idx="2"/>
              <a:endCxn id="1385481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84" name="AutoShape 12">
              <a:extLst>
                <a:ext uri="{FF2B5EF4-FFF2-40B4-BE49-F238E27FC236}">
                  <a16:creationId xmlns:a16="http://schemas.microsoft.com/office/drawing/2014/main" id="{F32F1CDA-AD90-AA47-9AEF-9943A463DDED}"/>
                </a:ext>
              </a:extLst>
            </p:cNvPr>
            <p:cNvCxnSpPr>
              <a:cxnSpLocks noChangeShapeType="1"/>
              <a:stCxn id="1385481" idx="2"/>
              <a:endCxn id="1385482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85" name="AutoShape 13">
              <a:extLst>
                <a:ext uri="{FF2B5EF4-FFF2-40B4-BE49-F238E27FC236}">
                  <a16:creationId xmlns:a16="http://schemas.microsoft.com/office/drawing/2014/main" id="{A33E37EB-54A8-DA44-8291-A2026C051041}"/>
                </a:ext>
              </a:extLst>
            </p:cNvPr>
            <p:cNvCxnSpPr>
              <a:cxnSpLocks noChangeShapeType="1"/>
              <a:stCxn id="1385478" idx="2"/>
              <a:endCxn id="1385480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86" name="AutoShape 14">
              <a:extLst>
                <a:ext uri="{FF2B5EF4-FFF2-40B4-BE49-F238E27FC236}">
                  <a16:creationId xmlns:a16="http://schemas.microsoft.com/office/drawing/2014/main" id="{105F0197-8397-0A4A-BDD8-9AA831A98929}"/>
                </a:ext>
              </a:extLst>
            </p:cNvPr>
            <p:cNvCxnSpPr>
              <a:cxnSpLocks noChangeShapeType="1"/>
              <a:stCxn id="1385478" idx="2"/>
              <a:endCxn id="1385479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5487" name="Text Box 15">
              <a:extLst>
                <a:ext uri="{FF2B5EF4-FFF2-40B4-BE49-F238E27FC236}">
                  <a16:creationId xmlns:a16="http://schemas.microsoft.com/office/drawing/2014/main" id="{A42FC45B-FC3F-0447-BED4-96CB95B5F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5488" name="Text Box 16">
              <a:extLst>
                <a:ext uri="{FF2B5EF4-FFF2-40B4-BE49-F238E27FC236}">
                  <a16:creationId xmlns:a16="http://schemas.microsoft.com/office/drawing/2014/main" id="{1C6F3E15-8384-894D-B7C4-4F45C02D9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1385489" name="AutoShape 17">
              <a:extLst>
                <a:ext uri="{FF2B5EF4-FFF2-40B4-BE49-F238E27FC236}">
                  <a16:creationId xmlns:a16="http://schemas.microsoft.com/office/drawing/2014/main" id="{ED7DBAAA-0A7C-4649-A58D-071AB9FAA0E9}"/>
                </a:ext>
              </a:extLst>
            </p:cNvPr>
            <p:cNvCxnSpPr>
              <a:cxnSpLocks noChangeShapeType="1"/>
              <a:stCxn id="1385479" idx="2"/>
              <a:endCxn id="1385488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90" name="AutoShape 18">
              <a:extLst>
                <a:ext uri="{FF2B5EF4-FFF2-40B4-BE49-F238E27FC236}">
                  <a16:creationId xmlns:a16="http://schemas.microsoft.com/office/drawing/2014/main" id="{814AA630-5478-5045-B22C-6C0B5EEE73AA}"/>
                </a:ext>
              </a:extLst>
            </p:cNvPr>
            <p:cNvCxnSpPr>
              <a:cxnSpLocks noChangeShapeType="1"/>
              <a:stCxn id="1385479" idx="2"/>
              <a:endCxn id="1385487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5491" name="Text Box 19">
              <a:extLst>
                <a:ext uri="{FF2B5EF4-FFF2-40B4-BE49-F238E27FC236}">
                  <a16:creationId xmlns:a16="http://schemas.microsoft.com/office/drawing/2014/main" id="{90EA0ADB-5B0C-8641-993A-93635ABBC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1385492" name="Text Box 20">
              <a:extLst>
                <a:ext uri="{FF2B5EF4-FFF2-40B4-BE49-F238E27FC236}">
                  <a16:creationId xmlns:a16="http://schemas.microsoft.com/office/drawing/2014/main" id="{47DA1DD3-8608-0E46-86B6-69B9B2ED9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3356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1385493" name="Text Box 21">
              <a:extLst>
                <a:ext uri="{FF2B5EF4-FFF2-40B4-BE49-F238E27FC236}">
                  <a16:creationId xmlns:a16="http://schemas.microsoft.com/office/drawing/2014/main" id="{64B900ED-5658-1043-94A3-E5A4D5094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" y="3356"/>
              <a:ext cx="373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1385494" name="Text Box 22">
              <a:extLst>
                <a:ext uri="{FF2B5EF4-FFF2-40B4-BE49-F238E27FC236}">
                  <a16:creationId xmlns:a16="http://schemas.microsoft.com/office/drawing/2014/main" id="{5B9ACC4F-87E4-7B4B-B553-C79DC7B09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739"/>
              <a:ext cx="337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1385495" name="AutoShape 23">
              <a:extLst>
                <a:ext uri="{FF2B5EF4-FFF2-40B4-BE49-F238E27FC236}">
                  <a16:creationId xmlns:a16="http://schemas.microsoft.com/office/drawing/2014/main" id="{EF45AECF-0CC9-464C-8AD8-B0E8013EFE08}"/>
                </a:ext>
              </a:extLst>
            </p:cNvPr>
            <p:cNvCxnSpPr>
              <a:cxnSpLocks noChangeShapeType="1"/>
              <a:stCxn id="1385488" idx="2"/>
              <a:endCxn id="1385491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96" name="AutoShape 24">
              <a:extLst>
                <a:ext uri="{FF2B5EF4-FFF2-40B4-BE49-F238E27FC236}">
                  <a16:creationId xmlns:a16="http://schemas.microsoft.com/office/drawing/2014/main" id="{1C37CB1D-107E-2C45-8DB5-A130431E4D62}"/>
                </a:ext>
              </a:extLst>
            </p:cNvPr>
            <p:cNvCxnSpPr>
              <a:cxnSpLocks noChangeShapeType="1"/>
              <a:stCxn id="1385491" idx="2"/>
              <a:endCxn id="1385493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97" name="AutoShape 25">
              <a:extLst>
                <a:ext uri="{FF2B5EF4-FFF2-40B4-BE49-F238E27FC236}">
                  <a16:creationId xmlns:a16="http://schemas.microsoft.com/office/drawing/2014/main" id="{78B2E63E-B652-AF46-B65F-B02513289B50}"/>
                </a:ext>
              </a:extLst>
            </p:cNvPr>
            <p:cNvCxnSpPr>
              <a:cxnSpLocks noChangeShapeType="1"/>
              <a:stCxn id="1385491" idx="2"/>
              <a:endCxn id="1385492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5498" name="AutoShape 26">
              <a:extLst>
                <a:ext uri="{FF2B5EF4-FFF2-40B4-BE49-F238E27FC236}">
                  <a16:creationId xmlns:a16="http://schemas.microsoft.com/office/drawing/2014/main" id="{C537242E-10FA-F44E-B374-586BDD4FA9BB}"/>
                </a:ext>
              </a:extLst>
            </p:cNvPr>
            <p:cNvCxnSpPr>
              <a:cxnSpLocks noChangeShapeType="1"/>
              <a:stCxn id="1385493" idx="2"/>
              <a:endCxn id="1385494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5499" name="Text Box 27">
              <a:extLst>
                <a:ext uri="{FF2B5EF4-FFF2-40B4-BE49-F238E27FC236}">
                  <a16:creationId xmlns:a16="http://schemas.microsoft.com/office/drawing/2014/main" id="{E88FB328-FEC9-D24E-84FF-76BE5DCB7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739"/>
              <a:ext cx="373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1385500" name="AutoShape 28">
              <a:extLst>
                <a:ext uri="{FF2B5EF4-FFF2-40B4-BE49-F238E27FC236}">
                  <a16:creationId xmlns:a16="http://schemas.microsoft.com/office/drawing/2014/main" id="{B938B33A-0565-934F-9644-ECAF34C7B1CA}"/>
                </a:ext>
              </a:extLst>
            </p:cNvPr>
            <p:cNvCxnSpPr>
              <a:cxnSpLocks noChangeShapeType="1"/>
              <a:stCxn id="1385492" idx="2"/>
              <a:endCxn id="1385499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5501" name="Text Box 29">
              <a:extLst>
                <a:ext uri="{FF2B5EF4-FFF2-40B4-BE49-F238E27FC236}">
                  <a16:creationId xmlns:a16="http://schemas.microsoft.com/office/drawing/2014/main" id="{E3095203-E248-9148-A3D7-8D0D72771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35"/>
              <a:ext cx="1602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en-US" sz="2000" b="1">
                  <a:latin typeface="Times New Roman" panose="02020603050405020304" pitchFamily="18" charset="0"/>
                </a:rPr>
                <a:t>Header Table</a:t>
              </a:r>
            </a:p>
            <a:p>
              <a:pPr eaLnBrk="0" hangingPunct="0">
                <a:lnSpc>
                  <a:spcPct val="90000"/>
                </a:lnSpc>
              </a:pPr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b="1" i="1" u="sng">
                  <a:latin typeface="Times New Roman" panose="02020603050405020304" pitchFamily="18" charset="0"/>
                </a:rPr>
                <a:t>Item  frequency  head 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 f	4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c	4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a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b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m	3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p	3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85502" name="Freeform 30">
              <a:extLst>
                <a:ext uri="{FF2B5EF4-FFF2-40B4-BE49-F238E27FC236}">
                  <a16:creationId xmlns:a16="http://schemas.microsoft.com/office/drawing/2014/main" id="{D21E6F2E-87B8-E840-BF19-296766C3F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3" name="Freeform 31">
              <a:extLst>
                <a:ext uri="{FF2B5EF4-FFF2-40B4-BE49-F238E27FC236}">
                  <a16:creationId xmlns:a16="http://schemas.microsoft.com/office/drawing/2014/main" id="{CE5DC8B0-0A65-D741-9BC2-8FC6644D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4" name="Freeform 32">
              <a:extLst>
                <a:ext uri="{FF2B5EF4-FFF2-40B4-BE49-F238E27FC236}">
                  <a16:creationId xmlns:a16="http://schemas.microsoft.com/office/drawing/2014/main" id="{81EC58A2-855C-1646-88E0-B0DE780F1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5" name="Freeform 33">
              <a:extLst>
                <a:ext uri="{FF2B5EF4-FFF2-40B4-BE49-F238E27FC236}">
                  <a16:creationId xmlns:a16="http://schemas.microsoft.com/office/drawing/2014/main" id="{70E2CE0C-673D-7541-B325-A9495DE53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6" name="Freeform 34">
              <a:extLst>
                <a:ext uri="{FF2B5EF4-FFF2-40B4-BE49-F238E27FC236}">
                  <a16:creationId xmlns:a16="http://schemas.microsoft.com/office/drawing/2014/main" id="{4FD2B358-D987-A946-93B1-74255153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7" name="Freeform 35">
              <a:extLst>
                <a:ext uri="{FF2B5EF4-FFF2-40B4-BE49-F238E27FC236}">
                  <a16:creationId xmlns:a16="http://schemas.microsoft.com/office/drawing/2014/main" id="{FFEE33B6-4702-E245-99BB-A7B6FEDE8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8" name="Line 36">
              <a:extLst>
                <a:ext uri="{FF2B5EF4-FFF2-40B4-BE49-F238E27FC236}">
                  <a16:creationId xmlns:a16="http://schemas.microsoft.com/office/drawing/2014/main" id="{14294B90-51CA-6D45-9A9C-EE21B7F14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09" name="Freeform 37">
              <a:extLst>
                <a:ext uri="{FF2B5EF4-FFF2-40B4-BE49-F238E27FC236}">
                  <a16:creationId xmlns:a16="http://schemas.microsoft.com/office/drawing/2014/main" id="{F0A45307-F10E-EC41-BAE0-FAFB4CA92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10" name="Freeform 38">
              <a:extLst>
                <a:ext uri="{FF2B5EF4-FFF2-40B4-BE49-F238E27FC236}">
                  <a16:creationId xmlns:a16="http://schemas.microsoft.com/office/drawing/2014/main" id="{E4F869CF-856D-8944-B47C-7CB7C77DC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11" name="Freeform 39">
              <a:extLst>
                <a:ext uri="{FF2B5EF4-FFF2-40B4-BE49-F238E27FC236}">
                  <a16:creationId xmlns:a16="http://schemas.microsoft.com/office/drawing/2014/main" id="{D0554B90-6B6E-FB44-B8B6-7FA02AE71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5512" name="Freeform 40">
              <a:extLst>
                <a:ext uri="{FF2B5EF4-FFF2-40B4-BE49-F238E27FC236}">
                  <a16:creationId xmlns:a16="http://schemas.microsoft.com/office/drawing/2014/main" id="{40D1683F-C68C-B946-BAF3-DBC9A2860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4AD8CE28-2ABD-4D4C-8C91-50C21C2E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C321-9F8F-5443-BA09-4FC4EDC8EAB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C62E92B8-533A-7C4E-865E-6217265D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9399AE2B-D1A7-634F-9DCB-5F471BE8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7815-B713-7142-8E8E-24703BFAB251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386498" name="Rectangle 2">
            <a:extLst>
              <a:ext uri="{FF2B5EF4-FFF2-40B4-BE49-F238E27FC236}">
                <a16:creationId xmlns:a16="http://schemas.microsoft.com/office/drawing/2014/main" id="{21A959C9-BF95-CD43-BFAE-913B514EB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From Conditional Pattern-bases to Conditional FP-trees</a:t>
            </a:r>
            <a:r>
              <a:rPr lang="en-US" altLang="en-US"/>
              <a:t> </a:t>
            </a:r>
          </a:p>
        </p:txBody>
      </p:sp>
      <p:sp>
        <p:nvSpPr>
          <p:cNvPr id="1386499" name="Rectangle 3">
            <a:extLst>
              <a:ext uri="{FF2B5EF4-FFF2-40B4-BE49-F238E27FC236}">
                <a16:creationId xmlns:a16="http://schemas.microsoft.com/office/drawing/2014/main" id="{ECCEED11-5796-A344-B64A-05F9F5B18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371600"/>
            <a:ext cx="8048625" cy="1957388"/>
          </a:xfrm>
        </p:spPr>
        <p:txBody>
          <a:bodyPr/>
          <a:lstStyle/>
          <a:p>
            <a:r>
              <a:rPr lang="en-US" altLang="en-US" sz="2400"/>
              <a:t>For each pattern-base</a:t>
            </a:r>
          </a:p>
          <a:p>
            <a:pPr lvl="1"/>
            <a:r>
              <a:rPr lang="en-US" altLang="en-US" sz="2400"/>
              <a:t>Accumulate the count for each item in the base</a:t>
            </a:r>
          </a:p>
          <a:p>
            <a:pPr lvl="1"/>
            <a:r>
              <a:rPr lang="en-US" altLang="en-US" sz="2400"/>
              <a:t>Construct the FP-tree for the frequent items of the pattern base</a:t>
            </a:r>
          </a:p>
        </p:txBody>
      </p:sp>
      <p:sp>
        <p:nvSpPr>
          <p:cNvPr id="1386500" name="Rectangle 4">
            <a:extLst>
              <a:ext uri="{FF2B5EF4-FFF2-40B4-BE49-F238E27FC236}">
                <a16:creationId xmlns:a16="http://schemas.microsoft.com/office/drawing/2014/main" id="{C6E08915-AF57-6746-ABC8-552B2AEE3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1800" b="1" i="1">
                <a:latin typeface="Times New Roman" panose="02020603050405020304" pitchFamily="18" charset="0"/>
              </a:rPr>
              <a:t>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pattern base:</a:t>
            </a:r>
          </a:p>
          <a:p>
            <a:pPr lvl="1" eaLnBrk="0" hangingPunct="0"/>
            <a:r>
              <a:rPr lang="en-US" altLang="en-US" sz="1800" b="1" i="1">
                <a:latin typeface="Times New Roman" panose="02020603050405020304" pitchFamily="18" charset="0"/>
              </a:rPr>
              <a:t>fca:2, fcab:1</a:t>
            </a:r>
          </a:p>
        </p:txBody>
      </p:sp>
      <p:grpSp>
        <p:nvGrpSpPr>
          <p:cNvPr id="1386501" name="Group 5">
            <a:extLst>
              <a:ext uri="{FF2B5EF4-FFF2-40B4-BE49-F238E27FC236}">
                <a16:creationId xmlns:a16="http://schemas.microsoft.com/office/drawing/2014/main" id="{AA7AB46B-2034-A749-886E-A5C67748C11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343400"/>
            <a:ext cx="2298700" cy="2324100"/>
            <a:chOff x="3312" y="2736"/>
            <a:chExt cx="1448" cy="1464"/>
          </a:xfrm>
        </p:grpSpPr>
        <p:grpSp>
          <p:nvGrpSpPr>
            <p:cNvPr id="1386502" name="Group 6">
              <a:extLst>
                <a:ext uri="{FF2B5EF4-FFF2-40B4-BE49-F238E27FC236}">
                  <a16:creationId xmlns:a16="http://schemas.microsoft.com/office/drawing/2014/main" id="{5C8382C6-3B90-B44D-9854-D9895BC14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1386503" name="Text Box 7">
                <a:extLst>
                  <a:ext uri="{FF2B5EF4-FFF2-40B4-BE49-F238E27FC236}">
                    <a16:creationId xmlns:a16="http://schemas.microsoft.com/office/drawing/2014/main" id="{39EA05FB-AD5F-BB4F-92FF-FEC7E690B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1386504" name="Text Box 8">
                <a:extLst>
                  <a:ext uri="{FF2B5EF4-FFF2-40B4-BE49-F238E27FC236}">
                    <a16:creationId xmlns:a16="http://schemas.microsoft.com/office/drawing/2014/main" id="{5C86CD16-B77E-FE49-8BF7-5CBD86125E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f:3</a:t>
                </a:r>
              </a:p>
            </p:txBody>
          </p:sp>
          <p:sp>
            <p:nvSpPr>
              <p:cNvPr id="1386505" name="Text Box 9">
                <a:extLst>
                  <a:ext uri="{FF2B5EF4-FFF2-40B4-BE49-F238E27FC236}">
                    <a16:creationId xmlns:a16="http://schemas.microsoft.com/office/drawing/2014/main" id="{73713D8C-4D6D-B541-97BE-11D21C32C6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c:3</a:t>
                </a:r>
              </a:p>
            </p:txBody>
          </p:sp>
          <p:sp>
            <p:nvSpPr>
              <p:cNvPr id="1386506" name="Text Box 10">
                <a:extLst>
                  <a:ext uri="{FF2B5EF4-FFF2-40B4-BE49-F238E27FC236}">
                    <a16:creationId xmlns:a16="http://schemas.microsoft.com/office/drawing/2014/main" id="{D94FD51B-27C3-2E45-8E30-2767549CF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a:3</a:t>
                </a:r>
              </a:p>
            </p:txBody>
          </p:sp>
          <p:cxnSp>
            <p:nvCxnSpPr>
              <p:cNvPr id="1386507" name="AutoShape 11">
                <a:extLst>
                  <a:ext uri="{FF2B5EF4-FFF2-40B4-BE49-F238E27FC236}">
                    <a16:creationId xmlns:a16="http://schemas.microsoft.com/office/drawing/2014/main" id="{38DD043A-535B-9E41-B4D5-FBC982E58BD6}"/>
                  </a:ext>
                </a:extLst>
              </p:cNvPr>
              <p:cNvCxnSpPr>
                <a:cxnSpLocks noChangeShapeType="1"/>
                <a:stCxn id="1386503" idx="2"/>
                <a:endCxn id="1386504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6508" name="AutoShape 12">
                <a:extLst>
                  <a:ext uri="{FF2B5EF4-FFF2-40B4-BE49-F238E27FC236}">
                    <a16:creationId xmlns:a16="http://schemas.microsoft.com/office/drawing/2014/main" id="{D43FEC1E-7869-9747-8944-43F5E622D504}"/>
                  </a:ext>
                </a:extLst>
              </p:cNvPr>
              <p:cNvCxnSpPr>
                <a:cxnSpLocks noChangeShapeType="1"/>
                <a:stCxn id="1386504" idx="2"/>
                <a:endCxn id="1386505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6509" name="AutoShape 13">
                <a:extLst>
                  <a:ext uri="{FF2B5EF4-FFF2-40B4-BE49-F238E27FC236}">
                    <a16:creationId xmlns:a16="http://schemas.microsoft.com/office/drawing/2014/main" id="{38697442-D367-7648-AB60-3813D4EBA529}"/>
                  </a:ext>
                </a:extLst>
              </p:cNvPr>
              <p:cNvCxnSpPr>
                <a:cxnSpLocks noChangeShapeType="1"/>
                <a:stCxn id="1386505" idx="2"/>
                <a:endCxn id="1386506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86510" name="Text Box 14">
              <a:extLst>
                <a:ext uri="{FF2B5EF4-FFF2-40B4-BE49-F238E27FC236}">
                  <a16:creationId xmlns:a16="http://schemas.microsoft.com/office/drawing/2014/main" id="{A9CB2831-F83A-B246-8FA3-C01C3771D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 i="1">
                  <a:latin typeface="Times New Roman" panose="02020603050405020304" pitchFamily="18" charset="0"/>
                </a:rPr>
                <a:t>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386511" name="Rectangle 15">
            <a:extLst>
              <a:ext uri="{FF2B5EF4-FFF2-40B4-BE49-F238E27FC236}">
                <a16:creationId xmlns:a16="http://schemas.microsoft.com/office/drawing/2014/main" id="{02865810-B296-B84A-BF4C-95A62286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2209800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>
                <a:latin typeface="Times New Roman" panose="02020603050405020304" pitchFamily="18" charset="0"/>
              </a:rPr>
              <a:t>All frequent patterns relate to</a:t>
            </a:r>
            <a:r>
              <a:rPr lang="en-US" altLang="en-US" sz="1800" b="1" i="1">
                <a:latin typeface="Times New Roman" panose="02020603050405020304" pitchFamily="18" charset="0"/>
              </a:rPr>
              <a:t> m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m,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fm, cm, am,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fcm, fam, cam,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fcam</a:t>
            </a:r>
          </a:p>
        </p:txBody>
      </p:sp>
      <p:sp>
        <p:nvSpPr>
          <p:cNvPr id="1386512" name="Text Box 16">
            <a:extLst>
              <a:ext uri="{FF2B5EF4-FFF2-40B4-BE49-F238E27FC236}">
                <a16:creationId xmlns:a16="http://schemas.microsoft.com/office/drawing/2014/main" id="{3FA9A16D-1FE8-2540-801A-4EE786E6D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itchFamily="2" charset="2"/>
              </a:rPr>
              <a:t>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1386513" name="Rectangle 17">
            <a:extLst>
              <a:ext uri="{FF2B5EF4-FFF2-40B4-BE49-F238E27FC236}">
                <a16:creationId xmlns:a16="http://schemas.microsoft.com/office/drawing/2014/main" id="{FD679481-9248-7E4D-99CB-CB786A3C8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76800"/>
            <a:ext cx="49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itchFamily="2" charset="2"/>
              </a:rPr>
              <a:t></a:t>
            </a:r>
          </a:p>
        </p:txBody>
      </p:sp>
      <p:sp>
        <p:nvSpPr>
          <p:cNvPr id="1386514" name="Text Box 18">
            <a:extLst>
              <a:ext uri="{FF2B5EF4-FFF2-40B4-BE49-F238E27FC236}">
                <a16:creationId xmlns:a16="http://schemas.microsoft.com/office/drawing/2014/main" id="{73290E1E-C395-EE4C-BFFD-2F697C6C6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1386515" name="Text Box 19">
            <a:extLst>
              <a:ext uri="{FF2B5EF4-FFF2-40B4-BE49-F238E27FC236}">
                <a16:creationId xmlns:a16="http://schemas.microsoft.com/office/drawing/2014/main" id="{24DFA4CE-3341-8B4E-9938-E4584B763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f:4</a:t>
            </a:r>
          </a:p>
        </p:txBody>
      </p:sp>
      <p:sp>
        <p:nvSpPr>
          <p:cNvPr id="1386516" name="Text Box 20">
            <a:extLst>
              <a:ext uri="{FF2B5EF4-FFF2-40B4-BE49-F238E27FC236}">
                <a16:creationId xmlns:a16="http://schemas.microsoft.com/office/drawing/2014/main" id="{A6C5AF2E-0B5D-234E-9F10-4121C305C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1386517" name="Text Box 21">
            <a:extLst>
              <a:ext uri="{FF2B5EF4-FFF2-40B4-BE49-F238E27FC236}">
                <a16:creationId xmlns:a16="http://schemas.microsoft.com/office/drawing/2014/main" id="{1C33709D-1011-E348-8B97-FF2850FF3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1386518" name="Text Box 22">
            <a:extLst>
              <a:ext uri="{FF2B5EF4-FFF2-40B4-BE49-F238E27FC236}">
                <a16:creationId xmlns:a16="http://schemas.microsoft.com/office/drawing/2014/main" id="{FE2294D3-F66D-D84A-9919-943F040F6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p:1</a:t>
            </a:r>
          </a:p>
        </p:txBody>
      </p:sp>
      <p:cxnSp>
        <p:nvCxnSpPr>
          <p:cNvPr id="1386519" name="AutoShape 23">
            <a:extLst>
              <a:ext uri="{FF2B5EF4-FFF2-40B4-BE49-F238E27FC236}">
                <a16:creationId xmlns:a16="http://schemas.microsoft.com/office/drawing/2014/main" id="{5963C00D-0591-9C42-BDF4-DD63D3118F40}"/>
              </a:ext>
            </a:extLst>
          </p:cNvPr>
          <p:cNvCxnSpPr>
            <a:cxnSpLocks noChangeShapeType="1"/>
            <a:stCxn id="1386516" idx="2"/>
            <a:endCxn id="1386517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20" name="AutoShape 24">
            <a:extLst>
              <a:ext uri="{FF2B5EF4-FFF2-40B4-BE49-F238E27FC236}">
                <a16:creationId xmlns:a16="http://schemas.microsoft.com/office/drawing/2014/main" id="{B5E9FCD4-98CA-6E49-B255-894751386BF9}"/>
              </a:ext>
            </a:extLst>
          </p:cNvPr>
          <p:cNvCxnSpPr>
            <a:cxnSpLocks noChangeShapeType="1"/>
            <a:stCxn id="1386517" idx="2"/>
            <a:endCxn id="1386518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21" name="AutoShape 25">
            <a:extLst>
              <a:ext uri="{FF2B5EF4-FFF2-40B4-BE49-F238E27FC236}">
                <a16:creationId xmlns:a16="http://schemas.microsoft.com/office/drawing/2014/main" id="{3808389F-49D1-9C47-93AB-70C562D9929E}"/>
              </a:ext>
            </a:extLst>
          </p:cNvPr>
          <p:cNvCxnSpPr>
            <a:cxnSpLocks noChangeShapeType="1"/>
            <a:stCxn id="1386514" idx="2"/>
            <a:endCxn id="1386516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22" name="AutoShape 26">
            <a:extLst>
              <a:ext uri="{FF2B5EF4-FFF2-40B4-BE49-F238E27FC236}">
                <a16:creationId xmlns:a16="http://schemas.microsoft.com/office/drawing/2014/main" id="{70EEE044-9604-2D45-9083-9032CAD4E15E}"/>
              </a:ext>
            </a:extLst>
          </p:cNvPr>
          <p:cNvCxnSpPr>
            <a:cxnSpLocks noChangeShapeType="1"/>
            <a:stCxn id="1386514" idx="2"/>
            <a:endCxn id="1386515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6523" name="Text Box 27">
            <a:extLst>
              <a:ext uri="{FF2B5EF4-FFF2-40B4-BE49-F238E27FC236}">
                <a16:creationId xmlns:a16="http://schemas.microsoft.com/office/drawing/2014/main" id="{0D4129A5-1755-7C42-9122-722B5C1CD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1386524" name="Text Box 28">
            <a:extLst>
              <a:ext uri="{FF2B5EF4-FFF2-40B4-BE49-F238E27FC236}">
                <a16:creationId xmlns:a16="http://schemas.microsoft.com/office/drawing/2014/main" id="{9D493B1D-9D8A-0A4E-821E-70C05ADE2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c:3</a:t>
            </a:r>
          </a:p>
        </p:txBody>
      </p:sp>
      <p:cxnSp>
        <p:nvCxnSpPr>
          <p:cNvPr id="1386525" name="AutoShape 29">
            <a:extLst>
              <a:ext uri="{FF2B5EF4-FFF2-40B4-BE49-F238E27FC236}">
                <a16:creationId xmlns:a16="http://schemas.microsoft.com/office/drawing/2014/main" id="{C45B961B-6314-3648-B5CE-A30172C08454}"/>
              </a:ext>
            </a:extLst>
          </p:cNvPr>
          <p:cNvCxnSpPr>
            <a:cxnSpLocks noChangeShapeType="1"/>
            <a:stCxn id="1386515" idx="2"/>
            <a:endCxn id="1386524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26" name="AutoShape 30">
            <a:extLst>
              <a:ext uri="{FF2B5EF4-FFF2-40B4-BE49-F238E27FC236}">
                <a16:creationId xmlns:a16="http://schemas.microsoft.com/office/drawing/2014/main" id="{213618DD-7477-D743-A395-A732F36EF8A5}"/>
              </a:ext>
            </a:extLst>
          </p:cNvPr>
          <p:cNvCxnSpPr>
            <a:cxnSpLocks noChangeShapeType="1"/>
            <a:stCxn id="1386515" idx="2"/>
            <a:endCxn id="1386523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6527" name="Text Box 31">
            <a:extLst>
              <a:ext uri="{FF2B5EF4-FFF2-40B4-BE49-F238E27FC236}">
                <a16:creationId xmlns:a16="http://schemas.microsoft.com/office/drawing/2014/main" id="{E37AAF5B-5EFE-4C4B-BC13-343F0ED69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a:3</a:t>
            </a:r>
          </a:p>
        </p:txBody>
      </p:sp>
      <p:sp>
        <p:nvSpPr>
          <p:cNvPr id="1386528" name="Text Box 32">
            <a:extLst>
              <a:ext uri="{FF2B5EF4-FFF2-40B4-BE49-F238E27FC236}">
                <a16:creationId xmlns:a16="http://schemas.microsoft.com/office/drawing/2014/main" id="{1A4F1B5F-CA89-514A-B3F3-7A8A521FA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1386529" name="Text Box 33">
            <a:extLst>
              <a:ext uri="{FF2B5EF4-FFF2-40B4-BE49-F238E27FC236}">
                <a16:creationId xmlns:a16="http://schemas.microsoft.com/office/drawing/2014/main" id="{050FCF54-F98B-5740-AEE2-0CEDCC24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m:2</a:t>
            </a:r>
          </a:p>
        </p:txBody>
      </p:sp>
      <p:sp>
        <p:nvSpPr>
          <p:cNvPr id="1386530" name="Text Box 34">
            <a:extLst>
              <a:ext uri="{FF2B5EF4-FFF2-40B4-BE49-F238E27FC236}">
                <a16:creationId xmlns:a16="http://schemas.microsoft.com/office/drawing/2014/main" id="{F4061560-27DF-6E42-94F5-3889257F7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p:2</a:t>
            </a:r>
          </a:p>
        </p:txBody>
      </p:sp>
      <p:cxnSp>
        <p:nvCxnSpPr>
          <p:cNvPr id="1386531" name="AutoShape 35">
            <a:extLst>
              <a:ext uri="{FF2B5EF4-FFF2-40B4-BE49-F238E27FC236}">
                <a16:creationId xmlns:a16="http://schemas.microsoft.com/office/drawing/2014/main" id="{122FFD0E-6464-5A41-A0EA-30092D20DE42}"/>
              </a:ext>
            </a:extLst>
          </p:cNvPr>
          <p:cNvCxnSpPr>
            <a:cxnSpLocks noChangeShapeType="1"/>
            <a:stCxn id="1386524" idx="2"/>
            <a:endCxn id="1386527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32" name="AutoShape 36">
            <a:extLst>
              <a:ext uri="{FF2B5EF4-FFF2-40B4-BE49-F238E27FC236}">
                <a16:creationId xmlns:a16="http://schemas.microsoft.com/office/drawing/2014/main" id="{36FEEADA-29F0-EB4F-8FDB-A3B7A41EC5EB}"/>
              </a:ext>
            </a:extLst>
          </p:cNvPr>
          <p:cNvCxnSpPr>
            <a:cxnSpLocks noChangeShapeType="1"/>
            <a:stCxn id="1386527" idx="2"/>
            <a:endCxn id="1386529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33" name="AutoShape 37">
            <a:extLst>
              <a:ext uri="{FF2B5EF4-FFF2-40B4-BE49-F238E27FC236}">
                <a16:creationId xmlns:a16="http://schemas.microsoft.com/office/drawing/2014/main" id="{30118B37-0FDE-DD4A-97B9-370954CC31E2}"/>
              </a:ext>
            </a:extLst>
          </p:cNvPr>
          <p:cNvCxnSpPr>
            <a:cxnSpLocks noChangeShapeType="1"/>
            <a:stCxn id="1386527" idx="2"/>
            <a:endCxn id="1386528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6534" name="AutoShape 38">
            <a:extLst>
              <a:ext uri="{FF2B5EF4-FFF2-40B4-BE49-F238E27FC236}">
                <a16:creationId xmlns:a16="http://schemas.microsoft.com/office/drawing/2014/main" id="{DA887A83-689D-CB4D-87F2-A85C915339D5}"/>
              </a:ext>
            </a:extLst>
          </p:cNvPr>
          <p:cNvCxnSpPr>
            <a:cxnSpLocks noChangeShapeType="1"/>
            <a:stCxn id="1386529" idx="2"/>
            <a:endCxn id="1386530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6535" name="Text Box 39">
            <a:extLst>
              <a:ext uri="{FF2B5EF4-FFF2-40B4-BE49-F238E27FC236}">
                <a16:creationId xmlns:a16="http://schemas.microsoft.com/office/drawing/2014/main" id="{C65EB6B5-E6DF-A24C-B132-CFD625DC1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m:1</a:t>
            </a:r>
          </a:p>
        </p:txBody>
      </p:sp>
      <p:cxnSp>
        <p:nvCxnSpPr>
          <p:cNvPr id="1386536" name="AutoShape 40">
            <a:extLst>
              <a:ext uri="{FF2B5EF4-FFF2-40B4-BE49-F238E27FC236}">
                <a16:creationId xmlns:a16="http://schemas.microsoft.com/office/drawing/2014/main" id="{514DCBF5-6362-464D-8D81-38BC57A04AFE}"/>
              </a:ext>
            </a:extLst>
          </p:cNvPr>
          <p:cNvCxnSpPr>
            <a:cxnSpLocks noChangeShapeType="1"/>
            <a:stCxn id="1386528" idx="2"/>
            <a:endCxn id="1386535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6537" name="Text Box 41">
            <a:extLst>
              <a:ext uri="{FF2B5EF4-FFF2-40B4-BE49-F238E27FC236}">
                <a16:creationId xmlns:a16="http://schemas.microsoft.com/office/drawing/2014/main" id="{C5FCD045-7EA8-1849-BA91-07607CE0A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</a:rPr>
              <a:t>Header Table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b="1" i="1" u="sng">
                <a:latin typeface="Times New Roman" panose="02020603050405020304" pitchFamily="18" charset="0"/>
              </a:rPr>
              <a:t>Item  frequency  head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 f	4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c	4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a	3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b	3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m	3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p	3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386538" name="Freeform 42">
            <a:extLst>
              <a:ext uri="{FF2B5EF4-FFF2-40B4-BE49-F238E27FC236}">
                <a16:creationId xmlns:a16="http://schemas.microsoft.com/office/drawing/2014/main" id="{D9DAEA82-C764-2045-97C9-534ADF190482}"/>
              </a:ext>
            </a:extLst>
          </p:cNvPr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240 h 240"/>
              <a:gd name="T2" fmla="*/ 288 w 672"/>
              <a:gd name="T3" fmla="*/ 192 h 240"/>
              <a:gd name="T4" fmla="*/ 432 w 672"/>
              <a:gd name="T5" fmla="*/ 48 h 240"/>
              <a:gd name="T6" fmla="*/ 672 w 672"/>
              <a:gd name="T7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39" name="Freeform 43">
            <a:extLst>
              <a:ext uri="{FF2B5EF4-FFF2-40B4-BE49-F238E27FC236}">
                <a16:creationId xmlns:a16="http://schemas.microsoft.com/office/drawing/2014/main" id="{471E5DFB-0467-5045-B197-C4FEF96FD50B}"/>
              </a:ext>
            </a:extLst>
          </p:cNvPr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432 w 432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0" name="Freeform 44">
            <a:extLst>
              <a:ext uri="{FF2B5EF4-FFF2-40B4-BE49-F238E27FC236}">
                <a16:creationId xmlns:a16="http://schemas.microsoft.com/office/drawing/2014/main" id="{DA1A1FB4-DC33-3B49-AB34-6DB5EC3727A5}"/>
              </a:ext>
            </a:extLst>
          </p:cNvPr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384 h 384"/>
              <a:gd name="T2" fmla="*/ 48 w 480"/>
              <a:gd name="T3" fmla="*/ 336 h 384"/>
              <a:gd name="T4" fmla="*/ 240 w 480"/>
              <a:gd name="T5" fmla="*/ 96 h 384"/>
              <a:gd name="T6" fmla="*/ 480 w 480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1" name="Freeform 45">
            <a:extLst>
              <a:ext uri="{FF2B5EF4-FFF2-40B4-BE49-F238E27FC236}">
                <a16:creationId xmlns:a16="http://schemas.microsoft.com/office/drawing/2014/main" id="{59E24FBF-533B-C44E-A5DD-0B7256C92A0C}"/>
              </a:ext>
            </a:extLst>
          </p:cNvPr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144 w 432"/>
              <a:gd name="T3" fmla="*/ 48 h 192"/>
              <a:gd name="T4" fmla="*/ 288 w 432"/>
              <a:gd name="T5" fmla="*/ 144 h 192"/>
              <a:gd name="T6" fmla="*/ 432 w 432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2" name="Freeform 46">
            <a:extLst>
              <a:ext uri="{FF2B5EF4-FFF2-40B4-BE49-F238E27FC236}">
                <a16:creationId xmlns:a16="http://schemas.microsoft.com/office/drawing/2014/main" id="{EBBD337C-E37E-AF41-A82F-AD2A17179C71}"/>
              </a:ext>
            </a:extLst>
          </p:cNvPr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240 w 720"/>
              <a:gd name="T3" fmla="*/ 48 h 384"/>
              <a:gd name="T4" fmla="*/ 528 w 720"/>
              <a:gd name="T5" fmla="*/ 288 h 384"/>
              <a:gd name="T6" fmla="*/ 720 w 720"/>
              <a:gd name="T7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3" name="Freeform 47">
            <a:extLst>
              <a:ext uri="{FF2B5EF4-FFF2-40B4-BE49-F238E27FC236}">
                <a16:creationId xmlns:a16="http://schemas.microsoft.com/office/drawing/2014/main" id="{E28FF71F-4D47-754F-86FD-7ED816D1D1FF}"/>
              </a:ext>
            </a:extLst>
          </p:cNvPr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672 h 672"/>
              <a:gd name="T2" fmla="*/ 48 w 56"/>
              <a:gd name="T3" fmla="*/ 432 h 672"/>
              <a:gd name="T4" fmla="*/ 48 w 56"/>
              <a:gd name="T5" fmla="*/ 0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4" name="Line 48">
            <a:extLst>
              <a:ext uri="{FF2B5EF4-FFF2-40B4-BE49-F238E27FC236}">
                <a16:creationId xmlns:a16="http://schemas.microsoft.com/office/drawing/2014/main" id="{5A8B7B7F-08A4-204A-B8F1-5FA9ACAC70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5" name="Freeform 49">
            <a:extLst>
              <a:ext uri="{FF2B5EF4-FFF2-40B4-BE49-F238E27FC236}">
                <a16:creationId xmlns:a16="http://schemas.microsoft.com/office/drawing/2014/main" id="{82702907-B097-3246-82F5-F5C39DB6E2EE}"/>
              </a:ext>
            </a:extLst>
          </p:cNvPr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144 w 288"/>
              <a:gd name="T3" fmla="*/ 48 h 240"/>
              <a:gd name="T4" fmla="*/ 192 w 288"/>
              <a:gd name="T5" fmla="*/ 192 h 240"/>
              <a:gd name="T6" fmla="*/ 288 w 288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6" name="Freeform 50">
            <a:extLst>
              <a:ext uri="{FF2B5EF4-FFF2-40B4-BE49-F238E27FC236}">
                <a16:creationId xmlns:a16="http://schemas.microsoft.com/office/drawing/2014/main" id="{60F7243E-F20F-6042-97AD-3010BC2E5AB2}"/>
              </a:ext>
            </a:extLst>
          </p:cNvPr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48 w 96"/>
              <a:gd name="T3" fmla="*/ 96 h 384"/>
              <a:gd name="T4" fmla="*/ 48 w 96"/>
              <a:gd name="T5" fmla="*/ 288 h 384"/>
              <a:gd name="T6" fmla="*/ 96 w 96"/>
              <a:gd name="T7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7" name="Freeform 51">
            <a:extLst>
              <a:ext uri="{FF2B5EF4-FFF2-40B4-BE49-F238E27FC236}">
                <a16:creationId xmlns:a16="http://schemas.microsoft.com/office/drawing/2014/main" id="{24C283ED-FBAB-C445-AECA-E35021545D64}"/>
              </a:ext>
            </a:extLst>
          </p:cNvPr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96 w 288"/>
              <a:gd name="T3" fmla="*/ 144 h 432"/>
              <a:gd name="T4" fmla="*/ 144 w 288"/>
              <a:gd name="T5" fmla="*/ 336 h 432"/>
              <a:gd name="T6" fmla="*/ 288 w 288"/>
              <a:gd name="T7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6548" name="Freeform 52">
            <a:extLst>
              <a:ext uri="{FF2B5EF4-FFF2-40B4-BE49-F238E27FC236}">
                <a16:creationId xmlns:a16="http://schemas.microsoft.com/office/drawing/2014/main" id="{592465E2-5C0D-0342-BB3C-28C466DB4422}"/>
              </a:ext>
            </a:extLst>
          </p:cNvPr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672 h 672"/>
              <a:gd name="T2" fmla="*/ 96 w 768"/>
              <a:gd name="T3" fmla="*/ 528 h 672"/>
              <a:gd name="T4" fmla="*/ 528 w 768"/>
              <a:gd name="T5" fmla="*/ 384 h 672"/>
              <a:gd name="T6" fmla="*/ 768 w 768"/>
              <a:gd name="T7" fmla="*/ 0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F0F59DBB-9E7A-054F-95BC-FD13DCEB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62F1-E585-A84A-8D04-5AE72852B24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0D95910A-0D99-7748-A016-6E018AD9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A16F595-6DA9-BF4E-93AE-64B65652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C824-EF1E-8B40-9179-6EAFFFC67B2C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387522" name="Rectangle 2">
            <a:extLst>
              <a:ext uri="{FF2B5EF4-FFF2-40B4-BE49-F238E27FC236}">
                <a16:creationId xmlns:a16="http://schemas.microsoft.com/office/drawing/2014/main" id="{59461591-3F8D-5846-8A24-CF8AEAD21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42338" cy="685800"/>
          </a:xfrm>
        </p:spPr>
        <p:txBody>
          <a:bodyPr/>
          <a:lstStyle/>
          <a:p>
            <a:r>
              <a:rPr lang="en-US" altLang="en-US" sz="3200"/>
              <a:t>Recursion: Mining Each Conditional FP-tree</a:t>
            </a:r>
          </a:p>
        </p:txBody>
      </p:sp>
      <p:grpSp>
        <p:nvGrpSpPr>
          <p:cNvPr id="1387523" name="Group 3">
            <a:extLst>
              <a:ext uri="{FF2B5EF4-FFF2-40B4-BE49-F238E27FC236}">
                <a16:creationId xmlns:a16="http://schemas.microsoft.com/office/drawing/2014/main" id="{897B07B0-7F9A-5540-87BA-62C178540AF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57400"/>
            <a:ext cx="2298700" cy="2324100"/>
            <a:chOff x="3312" y="2736"/>
            <a:chExt cx="1448" cy="1464"/>
          </a:xfrm>
        </p:grpSpPr>
        <p:grpSp>
          <p:nvGrpSpPr>
            <p:cNvPr id="1387524" name="Group 4">
              <a:extLst>
                <a:ext uri="{FF2B5EF4-FFF2-40B4-BE49-F238E27FC236}">
                  <a16:creationId xmlns:a16="http://schemas.microsoft.com/office/drawing/2014/main" id="{AB24260B-81D7-3442-A363-D395B5F31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1387525" name="Text Box 5">
                <a:extLst>
                  <a:ext uri="{FF2B5EF4-FFF2-40B4-BE49-F238E27FC236}">
                    <a16:creationId xmlns:a16="http://schemas.microsoft.com/office/drawing/2014/main" id="{75E8C152-5C8B-7E40-B536-DF406EFDC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1387526" name="Text Box 6">
                <a:extLst>
                  <a:ext uri="{FF2B5EF4-FFF2-40B4-BE49-F238E27FC236}">
                    <a16:creationId xmlns:a16="http://schemas.microsoft.com/office/drawing/2014/main" id="{0602E421-4477-5B42-8436-1C4D6CAFD2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f:3</a:t>
                </a:r>
              </a:p>
            </p:txBody>
          </p:sp>
          <p:sp>
            <p:nvSpPr>
              <p:cNvPr id="1387527" name="Text Box 7">
                <a:extLst>
                  <a:ext uri="{FF2B5EF4-FFF2-40B4-BE49-F238E27FC236}">
                    <a16:creationId xmlns:a16="http://schemas.microsoft.com/office/drawing/2014/main" id="{9CC7B6F3-DCD8-EE40-BBC4-9407AD582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c:3</a:t>
                </a:r>
              </a:p>
            </p:txBody>
          </p:sp>
          <p:sp>
            <p:nvSpPr>
              <p:cNvPr id="1387528" name="Text Box 8">
                <a:extLst>
                  <a:ext uri="{FF2B5EF4-FFF2-40B4-BE49-F238E27FC236}">
                    <a16:creationId xmlns:a16="http://schemas.microsoft.com/office/drawing/2014/main" id="{F128DAFF-0370-2744-A466-97690C4F6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a:3</a:t>
                </a:r>
              </a:p>
            </p:txBody>
          </p:sp>
          <p:cxnSp>
            <p:nvCxnSpPr>
              <p:cNvPr id="1387529" name="AutoShape 9">
                <a:extLst>
                  <a:ext uri="{FF2B5EF4-FFF2-40B4-BE49-F238E27FC236}">
                    <a16:creationId xmlns:a16="http://schemas.microsoft.com/office/drawing/2014/main" id="{C514CD03-86F9-A942-AC9B-D3A34BC05F1D}"/>
                  </a:ext>
                </a:extLst>
              </p:cNvPr>
              <p:cNvCxnSpPr>
                <a:cxnSpLocks noChangeShapeType="1"/>
                <a:stCxn id="1387525" idx="2"/>
                <a:endCxn id="1387526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7530" name="AutoShape 10">
                <a:extLst>
                  <a:ext uri="{FF2B5EF4-FFF2-40B4-BE49-F238E27FC236}">
                    <a16:creationId xmlns:a16="http://schemas.microsoft.com/office/drawing/2014/main" id="{CD973F65-93B1-284B-8E16-4E2DF2ADE6A2}"/>
                  </a:ext>
                </a:extLst>
              </p:cNvPr>
              <p:cNvCxnSpPr>
                <a:cxnSpLocks noChangeShapeType="1"/>
                <a:stCxn id="1387526" idx="2"/>
                <a:endCxn id="1387527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7531" name="AutoShape 11">
                <a:extLst>
                  <a:ext uri="{FF2B5EF4-FFF2-40B4-BE49-F238E27FC236}">
                    <a16:creationId xmlns:a16="http://schemas.microsoft.com/office/drawing/2014/main" id="{35230014-33F2-F04F-8EAE-963211E0D5B8}"/>
                  </a:ext>
                </a:extLst>
              </p:cNvPr>
              <p:cNvCxnSpPr>
                <a:cxnSpLocks noChangeShapeType="1"/>
                <a:stCxn id="1387527" idx="2"/>
                <a:endCxn id="1387528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87532" name="Text Box 12">
              <a:extLst>
                <a:ext uri="{FF2B5EF4-FFF2-40B4-BE49-F238E27FC236}">
                  <a16:creationId xmlns:a16="http://schemas.microsoft.com/office/drawing/2014/main" id="{AD97D12C-A710-2643-B820-AA19981D2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 i="1">
                  <a:latin typeface="Times New Roman" panose="02020603050405020304" pitchFamily="18" charset="0"/>
                </a:rPr>
                <a:t>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387533" name="Text Box 13">
            <a:extLst>
              <a:ext uri="{FF2B5EF4-FFF2-40B4-BE49-F238E27FC236}">
                <a16:creationId xmlns:a16="http://schemas.microsoft.com/office/drawing/2014/main" id="{4FA58432-BDE4-B548-9FCF-7DE55F23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81200"/>
            <a:ext cx="481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Cond. pattern base of “am”: (fc:3)</a:t>
            </a:r>
          </a:p>
        </p:txBody>
      </p:sp>
      <p:grpSp>
        <p:nvGrpSpPr>
          <p:cNvPr id="1387534" name="Group 14">
            <a:extLst>
              <a:ext uri="{FF2B5EF4-FFF2-40B4-BE49-F238E27FC236}">
                <a16:creationId xmlns:a16="http://schemas.microsoft.com/office/drawing/2014/main" id="{CEB2E0F2-319A-8D4E-8F12-F6303F5B3DA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371600"/>
            <a:ext cx="2413000" cy="1866900"/>
            <a:chOff x="4393" y="1248"/>
            <a:chExt cx="1520" cy="1176"/>
          </a:xfrm>
        </p:grpSpPr>
        <p:sp>
          <p:nvSpPr>
            <p:cNvPr id="1387535" name="Text Box 15">
              <a:extLst>
                <a:ext uri="{FF2B5EF4-FFF2-40B4-BE49-F238E27FC236}">
                  <a16:creationId xmlns:a16="http://schemas.microsoft.com/office/drawing/2014/main" id="{3749EAA8-CB2E-9345-AF73-216B153AB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248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1387536" name="Text Box 16">
              <a:extLst>
                <a:ext uri="{FF2B5EF4-FFF2-40B4-BE49-F238E27FC236}">
                  <a16:creationId xmlns:a16="http://schemas.microsoft.com/office/drawing/2014/main" id="{CDD918CB-4B77-1944-91E3-7FD076F13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" y="1632"/>
              <a:ext cx="2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f:3</a:t>
              </a:r>
            </a:p>
          </p:txBody>
        </p:sp>
        <p:sp>
          <p:nvSpPr>
            <p:cNvPr id="1387537" name="Text Box 17">
              <a:extLst>
                <a:ext uri="{FF2B5EF4-FFF2-40B4-BE49-F238E27FC236}">
                  <a16:creationId xmlns:a16="http://schemas.microsoft.com/office/drawing/2014/main" id="{9775D7E3-9C89-754D-BE0A-325095387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1959"/>
              <a:ext cx="3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1387538" name="AutoShape 18">
              <a:extLst>
                <a:ext uri="{FF2B5EF4-FFF2-40B4-BE49-F238E27FC236}">
                  <a16:creationId xmlns:a16="http://schemas.microsoft.com/office/drawing/2014/main" id="{81A14B4E-EE66-8D48-86D4-7E507EB4A033}"/>
                </a:ext>
              </a:extLst>
            </p:cNvPr>
            <p:cNvCxnSpPr>
              <a:cxnSpLocks noChangeShapeType="1"/>
              <a:stCxn id="1387535" idx="2"/>
              <a:endCxn id="1387536" idx="0"/>
            </p:cNvCxnSpPr>
            <p:nvPr/>
          </p:nvCxnSpPr>
          <p:spPr bwMode="auto">
            <a:xfrm>
              <a:off x="5013" y="1498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7539" name="AutoShape 19">
              <a:extLst>
                <a:ext uri="{FF2B5EF4-FFF2-40B4-BE49-F238E27FC236}">
                  <a16:creationId xmlns:a16="http://schemas.microsoft.com/office/drawing/2014/main" id="{4C6B20B8-D37E-9245-A292-E31306D2CDA1}"/>
                </a:ext>
              </a:extLst>
            </p:cNvPr>
            <p:cNvCxnSpPr>
              <a:cxnSpLocks noChangeShapeType="1"/>
              <a:stCxn id="1387536" idx="2"/>
              <a:endCxn id="1387537" idx="0"/>
            </p:cNvCxnSpPr>
            <p:nvPr/>
          </p:nvCxnSpPr>
          <p:spPr bwMode="auto">
            <a:xfrm>
              <a:off x="5013" y="1882"/>
              <a:ext cx="0" cy="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7540" name="Text Box 20">
              <a:extLst>
                <a:ext uri="{FF2B5EF4-FFF2-40B4-BE49-F238E27FC236}">
                  <a16:creationId xmlns:a16="http://schemas.microsoft.com/office/drawing/2014/main" id="{BDE74A7B-77C4-CA47-9059-C6EC9BC09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3" y="2193"/>
              <a:ext cx="15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 i="1">
                  <a:latin typeface="Times New Roman" panose="02020603050405020304" pitchFamily="18" charset="0"/>
                </a:rPr>
                <a:t>am-conditional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387541" name="Text Box 21">
            <a:extLst>
              <a:ext uri="{FF2B5EF4-FFF2-40B4-BE49-F238E27FC236}">
                <a16:creationId xmlns:a16="http://schemas.microsoft.com/office/drawing/2014/main" id="{9B219E0E-0DB2-1945-A1BB-35F884368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429000"/>
            <a:ext cx="465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Cond. pattern base of “cm”: (f:3)</a:t>
            </a:r>
          </a:p>
        </p:txBody>
      </p:sp>
      <p:sp>
        <p:nvSpPr>
          <p:cNvPr id="1387542" name="Text Box 22">
            <a:extLst>
              <a:ext uri="{FF2B5EF4-FFF2-40B4-BE49-F238E27FC236}">
                <a16:creationId xmlns:a16="http://schemas.microsoft.com/office/drawing/2014/main" id="{21913CC1-D31A-3849-82DE-FEDC48973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738" y="3200400"/>
            <a:ext cx="428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1387543" name="Text Box 23">
            <a:extLst>
              <a:ext uri="{FF2B5EF4-FFF2-40B4-BE49-F238E27FC236}">
                <a16:creationId xmlns:a16="http://schemas.microsoft.com/office/drawing/2014/main" id="{7ADF26B6-7BBE-384A-8200-A49BAEA24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688" y="3810000"/>
            <a:ext cx="465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f:3</a:t>
            </a:r>
          </a:p>
        </p:txBody>
      </p:sp>
      <p:cxnSp>
        <p:nvCxnSpPr>
          <p:cNvPr id="1387544" name="AutoShape 24">
            <a:extLst>
              <a:ext uri="{FF2B5EF4-FFF2-40B4-BE49-F238E27FC236}">
                <a16:creationId xmlns:a16="http://schemas.microsoft.com/office/drawing/2014/main" id="{47825503-20C1-2C4C-915C-24FDDC91623F}"/>
              </a:ext>
            </a:extLst>
          </p:cNvPr>
          <p:cNvCxnSpPr>
            <a:cxnSpLocks noChangeShapeType="1"/>
            <a:stCxn id="1387542" idx="2"/>
            <a:endCxn id="1387543" idx="0"/>
          </p:cNvCxnSpPr>
          <p:nvPr/>
        </p:nvCxnSpPr>
        <p:spPr bwMode="auto">
          <a:xfrm>
            <a:off x="7766050" y="35972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7545" name="Text Box 25">
            <a:extLst>
              <a:ext uri="{FF2B5EF4-FFF2-40B4-BE49-F238E27FC236}">
                <a16:creationId xmlns:a16="http://schemas.microsoft.com/office/drawing/2014/main" id="{BD9111C1-D21B-8349-A92B-934E188AC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243388"/>
            <a:ext cx="2400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 b="1" i="1">
                <a:latin typeface="Times New Roman" panose="02020603050405020304" pitchFamily="18" charset="0"/>
              </a:rPr>
              <a:t>cm-conditional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FP-tree</a:t>
            </a: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1387546" name="Text Box 26">
            <a:extLst>
              <a:ext uri="{FF2B5EF4-FFF2-40B4-BE49-F238E27FC236}">
                <a16:creationId xmlns:a16="http://schemas.microsoft.com/office/drawing/2014/main" id="{C4F31A0E-619F-334D-A4CA-5BA6D9B01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0"/>
            <a:ext cx="481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Cond. pattern base of “cam”: (f:3)</a:t>
            </a:r>
          </a:p>
        </p:txBody>
      </p:sp>
      <p:sp>
        <p:nvSpPr>
          <p:cNvPr id="1387547" name="Text Box 27">
            <a:extLst>
              <a:ext uri="{FF2B5EF4-FFF2-40B4-BE49-F238E27FC236}">
                <a16:creationId xmlns:a16="http://schemas.microsoft.com/office/drawing/2014/main" id="{43B65834-3DE0-DB4B-94F0-A5CDB7D1D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876800"/>
            <a:ext cx="428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1387548" name="Text Box 28">
            <a:extLst>
              <a:ext uri="{FF2B5EF4-FFF2-40B4-BE49-F238E27FC236}">
                <a16:creationId xmlns:a16="http://schemas.microsoft.com/office/drawing/2014/main" id="{3EFBA998-43CD-854D-8FB0-AFD60AAF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688" y="5486400"/>
            <a:ext cx="465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i="1">
                <a:latin typeface="Times New Roman" panose="02020603050405020304" pitchFamily="18" charset="0"/>
              </a:rPr>
              <a:t>f:3</a:t>
            </a:r>
          </a:p>
        </p:txBody>
      </p:sp>
      <p:cxnSp>
        <p:nvCxnSpPr>
          <p:cNvPr id="1387549" name="AutoShape 29">
            <a:extLst>
              <a:ext uri="{FF2B5EF4-FFF2-40B4-BE49-F238E27FC236}">
                <a16:creationId xmlns:a16="http://schemas.microsoft.com/office/drawing/2014/main" id="{3D7A0944-A511-924B-A7D4-8181EEA0B2FD}"/>
              </a:ext>
            </a:extLst>
          </p:cNvPr>
          <p:cNvCxnSpPr>
            <a:cxnSpLocks noChangeShapeType="1"/>
            <a:stCxn id="1387547" idx="2"/>
            <a:endCxn id="1387548" idx="0"/>
          </p:cNvCxnSpPr>
          <p:nvPr/>
        </p:nvCxnSpPr>
        <p:spPr bwMode="auto">
          <a:xfrm>
            <a:off x="5861050" y="52736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7550" name="Text Box 30">
            <a:extLst>
              <a:ext uri="{FF2B5EF4-FFF2-40B4-BE49-F238E27FC236}">
                <a16:creationId xmlns:a16="http://schemas.microsoft.com/office/drawing/2014/main" id="{07959C64-28BF-4644-85CD-239E8A538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919788"/>
            <a:ext cx="251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 b="1" i="1">
                <a:latin typeface="Times New Roman" panose="02020603050405020304" pitchFamily="18" charset="0"/>
              </a:rPr>
              <a:t>cam-conditional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FP-tree</a:t>
            </a:r>
            <a:endParaRPr lang="en-US" altLang="en-US" sz="18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5D2FBA3F-4941-3D48-B6C1-12E41E7B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2568C-A5B5-C846-A4F8-359AFA77E50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8E30F262-5589-0D4B-955C-1112CB45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35AD74EE-92AD-8947-9F83-E942501D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F954-9677-BD4F-99CC-258BAC7F37E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400834" name="Rectangle 2">
            <a:extLst>
              <a:ext uri="{FF2B5EF4-FFF2-40B4-BE49-F238E27FC236}">
                <a16:creationId xmlns:a16="http://schemas.microsoft.com/office/drawing/2014/main" id="{C0163099-137C-D545-BA45-CD6737C17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458200" cy="5286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/>
              <a:t>A Special Case: Single Prefix Path in FP-tree</a:t>
            </a:r>
          </a:p>
        </p:txBody>
      </p:sp>
      <p:sp>
        <p:nvSpPr>
          <p:cNvPr id="1400835" name="Rectangle 3">
            <a:extLst>
              <a:ext uri="{FF2B5EF4-FFF2-40B4-BE49-F238E27FC236}">
                <a16:creationId xmlns:a16="http://schemas.microsoft.com/office/drawing/2014/main" id="{1B134FA6-4D54-9C44-AD1D-931131A19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696200" cy="2743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Suppose a (conditional) FP-tree T has a shared single prefix-path P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Mining can be decomposed into two parts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Reduction of the single prefix path into one node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Concatenation of the mining results of the two parts</a:t>
            </a:r>
          </a:p>
        </p:txBody>
      </p:sp>
      <p:sp>
        <p:nvSpPr>
          <p:cNvPr id="1400836" name="Rectangle 4">
            <a:extLst>
              <a:ext uri="{FF2B5EF4-FFF2-40B4-BE49-F238E27FC236}">
                <a16:creationId xmlns:a16="http://schemas.microsoft.com/office/drawing/2014/main" id="{1B900959-396D-AC47-83C8-1899A46FB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86400"/>
            <a:ext cx="49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itchFamily="2" charset="2"/>
              </a:rPr>
              <a:t></a:t>
            </a:r>
          </a:p>
        </p:txBody>
      </p:sp>
      <p:grpSp>
        <p:nvGrpSpPr>
          <p:cNvPr id="1400837" name="Group 5">
            <a:extLst>
              <a:ext uri="{FF2B5EF4-FFF2-40B4-BE49-F238E27FC236}">
                <a16:creationId xmlns:a16="http://schemas.microsoft.com/office/drawing/2014/main" id="{B732DD99-66F2-6745-A9CC-0DEFAE59BFE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819400"/>
            <a:ext cx="2128838" cy="3643313"/>
            <a:chOff x="0" y="1824"/>
            <a:chExt cx="1341" cy="2295"/>
          </a:xfrm>
        </p:grpSpPr>
        <p:grpSp>
          <p:nvGrpSpPr>
            <p:cNvPr id="1400838" name="Group 6">
              <a:extLst>
                <a:ext uri="{FF2B5EF4-FFF2-40B4-BE49-F238E27FC236}">
                  <a16:creationId xmlns:a16="http://schemas.microsoft.com/office/drawing/2014/main" id="{36E1B177-8F77-8B49-B71A-CCBE7F11B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824"/>
              <a:ext cx="438" cy="1251"/>
              <a:chOff x="144" y="1824"/>
              <a:chExt cx="438" cy="1251"/>
            </a:xfrm>
          </p:grpSpPr>
          <p:sp>
            <p:nvSpPr>
              <p:cNvPr id="1400839" name="Text Box 7">
                <a:extLst>
                  <a:ext uri="{FF2B5EF4-FFF2-40B4-BE49-F238E27FC236}">
                    <a16:creationId xmlns:a16="http://schemas.microsoft.com/office/drawing/2014/main" id="{0D9C0306-D686-3C42-94AE-949D1570E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400840" name="Text Box 8">
                <a:extLst>
                  <a:ext uri="{FF2B5EF4-FFF2-40B4-BE49-F238E27FC236}">
                    <a16:creationId xmlns:a16="http://schemas.microsoft.com/office/drawing/2014/main" id="{5426686D-8CB6-994D-B139-53C25688E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00841" name="Text Box 9">
                <a:extLst>
                  <a:ext uri="{FF2B5EF4-FFF2-40B4-BE49-F238E27FC236}">
                    <a16:creationId xmlns:a16="http://schemas.microsoft.com/office/drawing/2014/main" id="{43DE9DB0-743D-7743-8707-976A83BA5D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400842" name="Group 10">
                <a:extLst>
                  <a:ext uri="{FF2B5EF4-FFF2-40B4-BE49-F238E27FC236}">
                    <a16:creationId xmlns:a16="http://schemas.microsoft.com/office/drawing/2014/main" id="{C4E28360-904D-3A4B-8A10-3CE9C35E77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" y="1824"/>
                <a:ext cx="270" cy="1001"/>
                <a:chOff x="2312" y="2456"/>
                <a:chExt cx="290" cy="1047"/>
              </a:xfrm>
            </p:grpSpPr>
            <p:sp>
              <p:nvSpPr>
                <p:cNvPr id="1400843" name="Text Box 11">
                  <a:extLst>
                    <a:ext uri="{FF2B5EF4-FFF2-40B4-BE49-F238E27FC236}">
                      <a16:creationId xmlns:a16="http://schemas.microsoft.com/office/drawing/2014/main" id="{63B941D9-CAB0-CE43-A139-036C1BC098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90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cxnSp>
              <p:nvCxnSpPr>
                <p:cNvPr id="1400844" name="AutoShape 12">
                  <a:extLst>
                    <a:ext uri="{FF2B5EF4-FFF2-40B4-BE49-F238E27FC236}">
                      <a16:creationId xmlns:a16="http://schemas.microsoft.com/office/drawing/2014/main" id="{EE761933-644F-3548-88D3-45CDE42B8BDF}"/>
                    </a:ext>
                  </a:extLst>
                </p:cNvPr>
                <p:cNvCxnSpPr>
                  <a:cxnSpLocks noChangeShapeType="1"/>
                  <a:stCxn id="1400843" idx="2"/>
                  <a:endCxn id="1400841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00845" name="AutoShape 13">
                  <a:extLst>
                    <a:ext uri="{FF2B5EF4-FFF2-40B4-BE49-F238E27FC236}">
                      <a16:creationId xmlns:a16="http://schemas.microsoft.com/office/drawing/2014/main" id="{6A2704ED-4DB6-8B40-97CC-08E2B1BC2FED}"/>
                    </a:ext>
                  </a:extLst>
                </p:cNvPr>
                <p:cNvCxnSpPr>
                  <a:cxnSpLocks noChangeShapeType="1"/>
                  <a:stCxn id="1400841" idx="2"/>
                  <a:endCxn id="1400839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00846" name="AutoShape 14">
                  <a:extLst>
                    <a:ext uri="{FF2B5EF4-FFF2-40B4-BE49-F238E27FC236}">
                      <a16:creationId xmlns:a16="http://schemas.microsoft.com/office/drawing/2014/main" id="{3A05D81A-06F9-1544-8E5E-04424362630A}"/>
                    </a:ext>
                  </a:extLst>
                </p:cNvPr>
                <p:cNvCxnSpPr>
                  <a:cxnSpLocks noChangeShapeType="1"/>
                  <a:stCxn id="1400839" idx="2"/>
                  <a:endCxn id="1400840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1400847" name="Group 15">
              <a:extLst>
                <a:ext uri="{FF2B5EF4-FFF2-40B4-BE49-F238E27FC236}">
                  <a16:creationId xmlns:a16="http://schemas.microsoft.com/office/drawing/2014/main" id="{A83B70C8-8C67-1C40-A1CA-BA5D984172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20"/>
              <a:ext cx="1341" cy="999"/>
              <a:chOff x="0" y="3120"/>
              <a:chExt cx="1341" cy="999"/>
            </a:xfrm>
          </p:grpSpPr>
          <p:sp>
            <p:nvSpPr>
              <p:cNvPr id="1400848" name="Line 16">
                <a:extLst>
                  <a:ext uri="{FF2B5EF4-FFF2-40B4-BE49-F238E27FC236}">
                    <a16:creationId xmlns:a16="http://schemas.microsoft.com/office/drawing/2014/main" id="{1FCF12D5-9FF9-DE40-AF92-735587B58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49" name="Line 17">
                <a:extLst>
                  <a:ext uri="{FF2B5EF4-FFF2-40B4-BE49-F238E27FC236}">
                    <a16:creationId xmlns:a16="http://schemas.microsoft.com/office/drawing/2014/main" id="{E7C53C14-3567-EC49-97ED-3C7135DC9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50" name="Text Box 18">
                <a:extLst>
                  <a:ext uri="{FF2B5EF4-FFF2-40B4-BE49-F238E27FC236}">
                    <a16:creationId xmlns:a16="http://schemas.microsoft.com/office/drawing/2014/main" id="{540A9D01-5E31-794F-9535-24F1876014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4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b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:m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1400851" name="Text Box 19">
                <a:extLst>
                  <a:ext uri="{FF2B5EF4-FFF2-40B4-BE49-F238E27FC236}">
                    <a16:creationId xmlns:a16="http://schemas.microsoft.com/office/drawing/2014/main" id="{1A558542-7804-9340-9A9E-3B4928502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1400852" name="Line 20">
                <a:extLst>
                  <a:ext uri="{FF2B5EF4-FFF2-40B4-BE49-F238E27FC236}">
                    <a16:creationId xmlns:a16="http://schemas.microsoft.com/office/drawing/2014/main" id="{A48C0248-1CC4-6A45-8351-C282955BE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53" name="Line 21">
                <a:extLst>
                  <a:ext uri="{FF2B5EF4-FFF2-40B4-BE49-F238E27FC236}">
                    <a16:creationId xmlns:a16="http://schemas.microsoft.com/office/drawing/2014/main" id="{4B4B6324-691F-2843-BA5B-1F9C7B514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54" name="Rectangle 22">
                <a:extLst>
                  <a:ext uri="{FF2B5EF4-FFF2-40B4-BE49-F238E27FC236}">
                    <a16:creationId xmlns:a16="http://schemas.microsoft.com/office/drawing/2014/main" id="{8B2AC8DD-C884-4A4F-85D4-0A3BA8B5F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2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2</a:t>
                </a:r>
              </a:p>
            </p:txBody>
          </p:sp>
          <p:sp>
            <p:nvSpPr>
              <p:cNvPr id="1400855" name="Rectangle 23">
                <a:extLst>
                  <a:ext uri="{FF2B5EF4-FFF2-40B4-BE49-F238E27FC236}">
                    <a16:creationId xmlns:a16="http://schemas.microsoft.com/office/drawing/2014/main" id="{4A10B580-848C-9C47-BBD9-FCC5D0AE6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3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3</a:t>
                </a:r>
              </a:p>
            </p:txBody>
          </p:sp>
        </p:grpSp>
      </p:grpSp>
      <p:grpSp>
        <p:nvGrpSpPr>
          <p:cNvPr id="1400856" name="Group 24">
            <a:extLst>
              <a:ext uri="{FF2B5EF4-FFF2-40B4-BE49-F238E27FC236}">
                <a16:creationId xmlns:a16="http://schemas.microsoft.com/office/drawing/2014/main" id="{08DAE405-DBA7-4549-AC27-D3FD769DD664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572000"/>
            <a:ext cx="2128838" cy="2043113"/>
            <a:chOff x="2304" y="2880"/>
            <a:chExt cx="1341" cy="1287"/>
          </a:xfrm>
        </p:grpSpPr>
        <p:grpSp>
          <p:nvGrpSpPr>
            <p:cNvPr id="1400857" name="Group 25">
              <a:extLst>
                <a:ext uri="{FF2B5EF4-FFF2-40B4-BE49-F238E27FC236}">
                  <a16:creationId xmlns:a16="http://schemas.microsoft.com/office/drawing/2014/main" id="{D31631FB-F76A-B643-B082-FBE5E1BD7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168"/>
              <a:ext cx="1341" cy="999"/>
              <a:chOff x="0" y="3120"/>
              <a:chExt cx="1341" cy="999"/>
            </a:xfrm>
          </p:grpSpPr>
          <p:sp>
            <p:nvSpPr>
              <p:cNvPr id="1400858" name="Line 26">
                <a:extLst>
                  <a:ext uri="{FF2B5EF4-FFF2-40B4-BE49-F238E27FC236}">
                    <a16:creationId xmlns:a16="http://schemas.microsoft.com/office/drawing/2014/main" id="{663697FB-EE64-8841-9293-0C6744DDD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59" name="Line 27">
                <a:extLst>
                  <a:ext uri="{FF2B5EF4-FFF2-40B4-BE49-F238E27FC236}">
                    <a16:creationId xmlns:a16="http://schemas.microsoft.com/office/drawing/2014/main" id="{87E0DFA9-56F8-4E43-AA6D-182AAC681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60" name="Text Box 28">
                <a:extLst>
                  <a:ext uri="{FF2B5EF4-FFF2-40B4-BE49-F238E27FC236}">
                    <a16:creationId xmlns:a16="http://schemas.microsoft.com/office/drawing/2014/main" id="{5AE4E47A-04C6-5148-A84A-229663E2E9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4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b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:m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1400861" name="Text Box 29">
                <a:extLst>
                  <a:ext uri="{FF2B5EF4-FFF2-40B4-BE49-F238E27FC236}">
                    <a16:creationId xmlns:a16="http://schemas.microsoft.com/office/drawing/2014/main" id="{55B03A5D-8D05-F04D-8EC6-8A93479B3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1400862" name="Line 30">
                <a:extLst>
                  <a:ext uri="{FF2B5EF4-FFF2-40B4-BE49-F238E27FC236}">
                    <a16:creationId xmlns:a16="http://schemas.microsoft.com/office/drawing/2014/main" id="{93C8456A-FA90-B649-9E61-02A778B83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63" name="Line 31">
                <a:extLst>
                  <a:ext uri="{FF2B5EF4-FFF2-40B4-BE49-F238E27FC236}">
                    <a16:creationId xmlns:a16="http://schemas.microsoft.com/office/drawing/2014/main" id="{F8F3DDD7-E95C-3546-94F0-8C8EC0DE5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00864" name="Rectangle 32">
                <a:extLst>
                  <a:ext uri="{FF2B5EF4-FFF2-40B4-BE49-F238E27FC236}">
                    <a16:creationId xmlns:a16="http://schemas.microsoft.com/office/drawing/2014/main" id="{3C12B43A-1122-8B4D-8381-51821AB44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2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2</a:t>
                </a:r>
              </a:p>
            </p:txBody>
          </p:sp>
          <p:sp>
            <p:nvSpPr>
              <p:cNvPr id="1400865" name="Rectangle 33">
                <a:extLst>
                  <a:ext uri="{FF2B5EF4-FFF2-40B4-BE49-F238E27FC236}">
                    <a16:creationId xmlns:a16="http://schemas.microsoft.com/office/drawing/2014/main" id="{E93AF459-2B60-9843-9937-25B7164EE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3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3</a:t>
                </a:r>
              </a:p>
            </p:txBody>
          </p:sp>
        </p:grpSp>
        <p:sp>
          <p:nvSpPr>
            <p:cNvPr id="1400866" name="Text Box 34">
              <a:extLst>
                <a:ext uri="{FF2B5EF4-FFF2-40B4-BE49-F238E27FC236}">
                  <a16:creationId xmlns:a16="http://schemas.microsoft.com/office/drawing/2014/main" id="{6BA94B2E-EC32-E141-8FD9-8B6851B41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880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/>
                <a:t>r</a:t>
              </a:r>
              <a:r>
                <a:rPr lang="en-US" altLang="en-US" sz="1800" i="1" baseline="-25000"/>
                <a:t>1</a:t>
              </a:r>
            </a:p>
          </p:txBody>
        </p:sp>
      </p:grpSp>
      <p:sp>
        <p:nvSpPr>
          <p:cNvPr id="1400867" name="Rectangle 35">
            <a:extLst>
              <a:ext uri="{FF2B5EF4-FFF2-40B4-BE49-F238E27FC236}">
                <a16:creationId xmlns:a16="http://schemas.microsoft.com/office/drawing/2014/main" id="{F7D53455-E30F-2945-9A35-BFB94B1D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334000"/>
            <a:ext cx="444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3600" b="1">
                <a:latin typeface="Times New Roman" panose="02020603050405020304" pitchFamily="18" charset="0"/>
                <a:sym typeface="Wingdings 3" pitchFamily="2" charset="2"/>
              </a:rPr>
              <a:t>+</a:t>
            </a:r>
          </a:p>
        </p:txBody>
      </p:sp>
      <p:grpSp>
        <p:nvGrpSpPr>
          <p:cNvPr id="1400868" name="Group 36">
            <a:extLst>
              <a:ext uri="{FF2B5EF4-FFF2-40B4-BE49-F238E27FC236}">
                <a16:creationId xmlns:a16="http://schemas.microsoft.com/office/drawing/2014/main" id="{92BE32AE-C3F3-5748-8ED8-92ECF9742020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648200"/>
            <a:ext cx="1609725" cy="1985963"/>
            <a:chOff x="2112" y="2928"/>
            <a:chExt cx="1014" cy="1251"/>
          </a:xfrm>
        </p:grpSpPr>
        <p:grpSp>
          <p:nvGrpSpPr>
            <p:cNvPr id="1400869" name="Group 37">
              <a:extLst>
                <a:ext uri="{FF2B5EF4-FFF2-40B4-BE49-F238E27FC236}">
                  <a16:creationId xmlns:a16="http://schemas.microsoft.com/office/drawing/2014/main" id="{17360A0F-6FF2-7F41-B804-07DB1189A9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2928"/>
              <a:ext cx="438" cy="1251"/>
              <a:chOff x="144" y="1824"/>
              <a:chExt cx="438" cy="1251"/>
            </a:xfrm>
          </p:grpSpPr>
          <p:sp>
            <p:nvSpPr>
              <p:cNvPr id="1400870" name="Text Box 38">
                <a:extLst>
                  <a:ext uri="{FF2B5EF4-FFF2-40B4-BE49-F238E27FC236}">
                    <a16:creationId xmlns:a16="http://schemas.microsoft.com/office/drawing/2014/main" id="{90670E57-B784-2A4D-A8B1-36F58E006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400871" name="Text Box 39">
                <a:extLst>
                  <a:ext uri="{FF2B5EF4-FFF2-40B4-BE49-F238E27FC236}">
                    <a16:creationId xmlns:a16="http://schemas.microsoft.com/office/drawing/2014/main" id="{B0C29184-64FC-994A-88E6-FD36030B18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00872" name="Text Box 40">
                <a:extLst>
                  <a:ext uri="{FF2B5EF4-FFF2-40B4-BE49-F238E27FC236}">
                    <a16:creationId xmlns:a16="http://schemas.microsoft.com/office/drawing/2014/main" id="{215C07AF-63BB-554C-992F-057D5E58B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400873" name="Group 41">
                <a:extLst>
                  <a:ext uri="{FF2B5EF4-FFF2-40B4-BE49-F238E27FC236}">
                    <a16:creationId xmlns:a16="http://schemas.microsoft.com/office/drawing/2014/main" id="{729991E0-C513-E645-9F2F-C0282BAA10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" y="1824"/>
                <a:ext cx="270" cy="1001"/>
                <a:chOff x="2312" y="2456"/>
                <a:chExt cx="290" cy="1047"/>
              </a:xfrm>
            </p:grpSpPr>
            <p:sp>
              <p:nvSpPr>
                <p:cNvPr id="1400874" name="Text Box 42">
                  <a:extLst>
                    <a:ext uri="{FF2B5EF4-FFF2-40B4-BE49-F238E27FC236}">
                      <a16:creationId xmlns:a16="http://schemas.microsoft.com/office/drawing/2014/main" id="{2825EE6E-E1BD-F942-BB8B-6055EC4116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90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cxnSp>
              <p:nvCxnSpPr>
                <p:cNvPr id="1400875" name="AutoShape 43">
                  <a:extLst>
                    <a:ext uri="{FF2B5EF4-FFF2-40B4-BE49-F238E27FC236}">
                      <a16:creationId xmlns:a16="http://schemas.microsoft.com/office/drawing/2014/main" id="{1550F315-08F3-3442-A095-9CD689DC7B14}"/>
                    </a:ext>
                  </a:extLst>
                </p:cNvPr>
                <p:cNvCxnSpPr>
                  <a:cxnSpLocks noChangeShapeType="1"/>
                  <a:stCxn id="1400874" idx="2"/>
                  <a:endCxn id="1400872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00876" name="AutoShape 44">
                  <a:extLst>
                    <a:ext uri="{FF2B5EF4-FFF2-40B4-BE49-F238E27FC236}">
                      <a16:creationId xmlns:a16="http://schemas.microsoft.com/office/drawing/2014/main" id="{BF1E5DA0-F745-AE48-AFEE-9E21DAD7173B}"/>
                    </a:ext>
                  </a:extLst>
                </p:cNvPr>
                <p:cNvCxnSpPr>
                  <a:cxnSpLocks noChangeShapeType="1"/>
                  <a:stCxn id="1400872" idx="2"/>
                  <a:endCxn id="1400870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00877" name="AutoShape 45">
                  <a:extLst>
                    <a:ext uri="{FF2B5EF4-FFF2-40B4-BE49-F238E27FC236}">
                      <a16:creationId xmlns:a16="http://schemas.microsoft.com/office/drawing/2014/main" id="{9D9F6174-6F0F-EB48-B39A-FD20815799E4}"/>
                    </a:ext>
                  </a:extLst>
                </p:cNvPr>
                <p:cNvCxnSpPr>
                  <a:cxnSpLocks noChangeShapeType="1"/>
                  <a:stCxn id="1400870" idx="2"/>
                  <a:endCxn id="1400871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400878" name="Text Box 46">
              <a:extLst>
                <a:ext uri="{FF2B5EF4-FFF2-40B4-BE49-F238E27FC236}">
                  <a16:creationId xmlns:a16="http://schemas.microsoft.com/office/drawing/2014/main" id="{F634C1E5-5EF9-6E4C-B5FD-C90DE3D36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408"/>
              <a:ext cx="23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i="1"/>
                <a:t>r</a:t>
              </a:r>
              <a:r>
                <a:rPr lang="en-US" altLang="en-US" sz="2000" i="1" baseline="-25000"/>
                <a:t>1</a:t>
              </a:r>
            </a:p>
          </p:txBody>
        </p:sp>
        <p:sp>
          <p:nvSpPr>
            <p:cNvPr id="1400879" name="Rectangle 47">
              <a:extLst>
                <a:ext uri="{FF2B5EF4-FFF2-40B4-BE49-F238E27FC236}">
                  <a16:creationId xmlns:a16="http://schemas.microsoft.com/office/drawing/2014/main" id="{89B32665-6D8A-604E-992D-691DD60D4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408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800" b="1">
                  <a:latin typeface="Times New Roman" panose="02020603050405020304" pitchFamily="18" charset="0"/>
                  <a:sym typeface="Wingdings 3" pitchFamily="2" charset="2"/>
                </a:rPr>
                <a:t>=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FEF20-C785-EE43-8D85-CA681590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2538-3761-2F4C-9E63-D0915A5D51E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E418F-3577-B247-8327-DFB2CACE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0FB7-31C8-0C4F-B764-D0A04A94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BFB8E-8D06-BC48-A5C6-7E05EC0B243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388546" name="Rectangle 2">
            <a:extLst>
              <a:ext uri="{FF2B5EF4-FFF2-40B4-BE49-F238E27FC236}">
                <a16:creationId xmlns:a16="http://schemas.microsoft.com/office/drawing/2014/main" id="{5155F6B3-95EF-3E44-83AD-289ED320C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315200" cy="762000"/>
          </a:xfrm>
        </p:spPr>
        <p:txBody>
          <a:bodyPr/>
          <a:lstStyle/>
          <a:p>
            <a:r>
              <a:rPr lang="en-US" altLang="en-US" sz="3200"/>
              <a:t>Mining Frequent Patterns With FP-trees</a:t>
            </a:r>
            <a:endParaRPr lang="en-US" altLang="en-US" sz="3200" u="sng">
              <a:solidFill>
                <a:srgbClr val="5FA180"/>
              </a:solidFill>
            </a:endParaRPr>
          </a:p>
        </p:txBody>
      </p:sp>
      <p:sp>
        <p:nvSpPr>
          <p:cNvPr id="1388547" name="Rectangle 3">
            <a:extLst>
              <a:ext uri="{FF2B5EF4-FFF2-40B4-BE49-F238E27FC236}">
                <a16:creationId xmlns:a16="http://schemas.microsoft.com/office/drawing/2014/main" id="{4CFB6CB7-DA0C-2B4D-A513-9574B9589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283200"/>
          </a:xfrm>
        </p:spPr>
        <p:txBody>
          <a:bodyPr/>
          <a:lstStyle/>
          <a:p>
            <a:r>
              <a:rPr lang="en-US" altLang="en-US" sz="2400"/>
              <a:t>Idea: Frequent pattern growth</a:t>
            </a:r>
          </a:p>
          <a:p>
            <a:pPr lvl="1"/>
            <a:r>
              <a:rPr lang="en-US" altLang="en-US" sz="2400"/>
              <a:t>Recursively grow frequent patterns by pattern and database partition</a:t>
            </a:r>
          </a:p>
          <a:p>
            <a:r>
              <a:rPr lang="en-US" altLang="en-US" sz="2400"/>
              <a:t>Method </a:t>
            </a:r>
          </a:p>
          <a:p>
            <a:pPr lvl="1"/>
            <a:r>
              <a:rPr lang="en-US" altLang="en-US" sz="2400"/>
              <a:t>For each frequent item, construct its conditional pattern-base, and then its conditional FP-tree</a:t>
            </a:r>
          </a:p>
          <a:p>
            <a:pPr lvl="1"/>
            <a:r>
              <a:rPr lang="en-US" altLang="en-US" sz="2400"/>
              <a:t>Repeat the process on each newly created conditional FP-tree </a:t>
            </a:r>
          </a:p>
          <a:p>
            <a:pPr lvl="1"/>
            <a:r>
              <a:rPr lang="en-US" altLang="en-US" sz="2400"/>
              <a:t>Until the resulting FP-tree is empty, or it contains only one path—single path will generate all the combinations of its sub-paths, each of which is a frequent pattern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979E-2FA4-E147-B4AB-AC2905DF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51F-7F67-E941-9D2B-683114C82ED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16C73-BC1F-D94E-8CCE-A5C00E9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E66AB-5DCD-ED48-8A84-98941DC6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8EED-3240-4840-AADD-4FEF59BEACB2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401858" name="Rectangle 2">
            <a:extLst>
              <a:ext uri="{FF2B5EF4-FFF2-40B4-BE49-F238E27FC236}">
                <a16:creationId xmlns:a16="http://schemas.microsoft.com/office/drawing/2014/main" id="{C3D5D013-A9D2-8047-93FF-B8B6ED490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121650" cy="601663"/>
          </a:xfrm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Scaling FP-growth by DB Projection</a:t>
            </a:r>
            <a:endParaRPr lang="en-US" altLang="en-US" sz="3200" b="1"/>
          </a:p>
        </p:txBody>
      </p:sp>
      <p:sp>
        <p:nvSpPr>
          <p:cNvPr id="1401859" name="Rectangle 3">
            <a:extLst>
              <a:ext uri="{FF2B5EF4-FFF2-40B4-BE49-F238E27FC236}">
                <a16:creationId xmlns:a16="http://schemas.microsoft.com/office/drawing/2014/main" id="{119F44D5-3D69-7143-85D6-9761CD8C2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05800" cy="495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2400"/>
              <a:t>FP-tree cannot fit in memory?—DB projection</a:t>
            </a:r>
          </a:p>
          <a:p>
            <a:r>
              <a:rPr lang="en-US" altLang="en-US" sz="2400"/>
              <a:t>First partition a database into a set of projected DBs</a:t>
            </a:r>
          </a:p>
          <a:p>
            <a:r>
              <a:rPr lang="en-US" altLang="en-US" sz="2400"/>
              <a:t>Then construct and mine FP-tree for each projected DB</a:t>
            </a:r>
          </a:p>
          <a:p>
            <a:r>
              <a:rPr lang="en-US" altLang="en-US" sz="2400">
                <a:solidFill>
                  <a:schemeClr val="hlink"/>
                </a:solidFill>
              </a:rPr>
              <a:t>Parallel projection</a:t>
            </a:r>
            <a:r>
              <a:rPr lang="en-US" altLang="en-US" sz="2400"/>
              <a:t> vs. </a:t>
            </a:r>
            <a:r>
              <a:rPr lang="en-US" altLang="en-US" sz="2400">
                <a:solidFill>
                  <a:schemeClr val="hlink"/>
                </a:solidFill>
              </a:rPr>
              <a:t>Partition projection</a:t>
            </a:r>
            <a:r>
              <a:rPr lang="en-US" altLang="en-US" sz="2400"/>
              <a:t> techniques</a:t>
            </a:r>
          </a:p>
          <a:p>
            <a:pPr lvl="1"/>
            <a:r>
              <a:rPr lang="en-US" altLang="en-US" sz="2400"/>
              <a:t>Parallel projection is space costly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EF2DBA01-6174-9C42-BF89-F338E619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0E5A-9055-CD4C-9DA9-01B8B80D2ED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89E8B2F0-A6C3-6F43-9BBA-D20AF34D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6F6A3D7F-B7EF-2349-B7E0-6CCB9CB3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5D841-224B-9A4D-8397-42B59B929FBB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402882" name="Rectangle 2">
            <a:extLst>
              <a:ext uri="{FF2B5EF4-FFF2-40B4-BE49-F238E27FC236}">
                <a16:creationId xmlns:a16="http://schemas.microsoft.com/office/drawing/2014/main" id="{64B5D311-DC79-ED42-BE09-FA46BC0D6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856538" cy="609600"/>
          </a:xfrm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Partition-based Projection</a:t>
            </a:r>
          </a:p>
        </p:txBody>
      </p:sp>
      <p:sp>
        <p:nvSpPr>
          <p:cNvPr id="1402883" name="Rectangle 3">
            <a:extLst>
              <a:ext uri="{FF2B5EF4-FFF2-40B4-BE49-F238E27FC236}">
                <a16:creationId xmlns:a16="http://schemas.microsoft.com/office/drawing/2014/main" id="{000AA2C2-C6AB-0D40-BB69-5C4F2B74E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3886200" cy="1600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Parallel projection </a:t>
            </a:r>
            <a:r>
              <a:rPr lang="en-US" altLang="en-US" sz="2000"/>
              <a:t>needs a lot of disk space 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Partition projection </a:t>
            </a:r>
            <a:r>
              <a:rPr lang="en-US" altLang="en-US" sz="2000"/>
              <a:t>saves it</a:t>
            </a:r>
          </a:p>
        </p:txBody>
      </p:sp>
      <p:grpSp>
        <p:nvGrpSpPr>
          <p:cNvPr id="1402884" name="Group 4">
            <a:extLst>
              <a:ext uri="{FF2B5EF4-FFF2-40B4-BE49-F238E27FC236}">
                <a16:creationId xmlns:a16="http://schemas.microsoft.com/office/drawing/2014/main" id="{274ED67B-11F4-B74B-B51E-5BF2D7C2EF3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905000"/>
            <a:ext cx="8134350" cy="4641850"/>
            <a:chOff x="480" y="1200"/>
            <a:chExt cx="5124" cy="2924"/>
          </a:xfrm>
        </p:grpSpPr>
        <p:sp>
          <p:nvSpPr>
            <p:cNvPr id="1402885" name="Text Box 5">
              <a:extLst>
                <a:ext uri="{FF2B5EF4-FFF2-40B4-BE49-F238E27FC236}">
                  <a16:creationId xmlns:a16="http://schemas.microsoft.com/office/drawing/2014/main" id="{1DD8E206-4851-CC42-8998-3DEF46E37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" y="1200"/>
              <a:ext cx="716" cy="9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 b="1" i="1" u="sng"/>
                <a:t>Tran. DB </a:t>
              </a:r>
            </a:p>
            <a:p>
              <a:r>
                <a:rPr lang="en-US" altLang="en-US" sz="1600"/>
                <a:t>fcamp</a:t>
              </a:r>
            </a:p>
            <a:p>
              <a:r>
                <a:rPr lang="en-US" altLang="en-US" sz="1600"/>
                <a:t>fcabm</a:t>
              </a:r>
            </a:p>
            <a:p>
              <a:r>
                <a:rPr lang="en-US" altLang="en-US" sz="1600"/>
                <a:t>fb</a:t>
              </a:r>
            </a:p>
            <a:p>
              <a:r>
                <a:rPr lang="en-US" altLang="en-US" sz="1600"/>
                <a:t>cbp</a:t>
              </a:r>
            </a:p>
            <a:p>
              <a:r>
                <a:rPr lang="en-US" altLang="en-US" sz="1600"/>
                <a:t>fcamp</a:t>
              </a:r>
            </a:p>
          </p:txBody>
        </p:sp>
        <p:sp>
          <p:nvSpPr>
            <p:cNvPr id="1402886" name="Text Box 6">
              <a:extLst>
                <a:ext uri="{FF2B5EF4-FFF2-40B4-BE49-F238E27FC236}">
                  <a16:creationId xmlns:a16="http://schemas.microsoft.com/office/drawing/2014/main" id="{5A83B3D6-2868-EC4D-9B27-28F0D11DC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374"/>
              <a:ext cx="861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p-proj DB </a:t>
              </a:r>
            </a:p>
            <a:p>
              <a:r>
                <a:rPr lang="en-US" altLang="en-US" sz="1800"/>
                <a:t>fcam</a:t>
              </a:r>
            </a:p>
            <a:p>
              <a:r>
                <a:rPr lang="en-US" altLang="en-US" sz="1800"/>
                <a:t>cb</a:t>
              </a:r>
            </a:p>
            <a:p>
              <a:r>
                <a:rPr lang="en-US" altLang="en-US" sz="1800"/>
                <a:t>fcam</a:t>
              </a:r>
            </a:p>
          </p:txBody>
        </p:sp>
        <p:sp>
          <p:nvSpPr>
            <p:cNvPr id="1402887" name="Text Box 7">
              <a:extLst>
                <a:ext uri="{FF2B5EF4-FFF2-40B4-BE49-F238E27FC236}">
                  <a16:creationId xmlns:a16="http://schemas.microsoft.com/office/drawing/2014/main" id="{E1AE4242-354A-494F-9803-C08E42C3F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" y="2374"/>
              <a:ext cx="906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m-proj DB </a:t>
              </a:r>
            </a:p>
            <a:p>
              <a:r>
                <a:rPr lang="en-US" altLang="en-US" sz="1800"/>
                <a:t>fcab</a:t>
              </a:r>
            </a:p>
            <a:p>
              <a:r>
                <a:rPr lang="en-US" altLang="en-US" sz="1800">
                  <a:solidFill>
                    <a:schemeClr val="hlink"/>
                  </a:solidFill>
                </a:rPr>
                <a:t>fca</a:t>
              </a:r>
            </a:p>
            <a:p>
              <a:r>
                <a:rPr lang="en-US" altLang="en-US" sz="1800">
                  <a:solidFill>
                    <a:schemeClr val="hlink"/>
                  </a:solidFill>
                </a:rPr>
                <a:t>fca</a:t>
              </a:r>
            </a:p>
          </p:txBody>
        </p:sp>
        <p:sp>
          <p:nvSpPr>
            <p:cNvPr id="1402888" name="Text Box 8">
              <a:extLst>
                <a:ext uri="{FF2B5EF4-FFF2-40B4-BE49-F238E27FC236}">
                  <a16:creationId xmlns:a16="http://schemas.microsoft.com/office/drawing/2014/main" id="{735648F2-2DEA-1948-9A39-BCEF0381C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374"/>
              <a:ext cx="861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b-proj DB </a:t>
              </a:r>
            </a:p>
            <a:p>
              <a:r>
                <a:rPr lang="en-US" altLang="en-US" sz="1800"/>
                <a:t>f</a:t>
              </a:r>
            </a:p>
            <a:p>
              <a:r>
                <a:rPr lang="en-US" altLang="en-US" sz="1800">
                  <a:solidFill>
                    <a:schemeClr val="hlink"/>
                  </a:solidFill>
                </a:rPr>
                <a:t>cb</a:t>
              </a:r>
            </a:p>
            <a:p>
              <a:r>
                <a:rPr lang="en-US" altLang="en-US" sz="1800"/>
                <a:t>…</a:t>
              </a:r>
            </a:p>
          </p:txBody>
        </p:sp>
        <p:sp>
          <p:nvSpPr>
            <p:cNvPr id="1402889" name="Text Box 9">
              <a:extLst>
                <a:ext uri="{FF2B5EF4-FFF2-40B4-BE49-F238E27FC236}">
                  <a16:creationId xmlns:a16="http://schemas.microsoft.com/office/drawing/2014/main" id="{03D3BB62-A8DF-574C-AAE0-C9590E7D0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2374"/>
              <a:ext cx="813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a-proj DB</a:t>
              </a:r>
            </a:p>
            <a:p>
              <a:r>
                <a:rPr lang="en-US" altLang="en-US" sz="1800">
                  <a:solidFill>
                    <a:schemeClr val="hlink"/>
                  </a:solidFill>
                </a:rPr>
                <a:t>fc</a:t>
              </a:r>
            </a:p>
            <a:p>
              <a:r>
                <a:rPr lang="en-US" altLang="en-US" sz="1800"/>
                <a:t>…</a:t>
              </a:r>
            </a:p>
          </p:txBody>
        </p:sp>
        <p:sp>
          <p:nvSpPr>
            <p:cNvPr id="1402890" name="Text Box 10">
              <a:extLst>
                <a:ext uri="{FF2B5EF4-FFF2-40B4-BE49-F238E27FC236}">
                  <a16:creationId xmlns:a16="http://schemas.microsoft.com/office/drawing/2014/main" id="{C3C30095-E8D3-934D-BEA0-BD2D64C57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2374"/>
              <a:ext cx="804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c-proj DB</a:t>
              </a:r>
            </a:p>
            <a:p>
              <a:r>
                <a:rPr lang="en-US" altLang="en-US" sz="1800">
                  <a:solidFill>
                    <a:schemeClr val="hlink"/>
                  </a:solidFill>
                </a:rPr>
                <a:t>f</a:t>
              </a:r>
            </a:p>
            <a:p>
              <a:r>
                <a:rPr lang="en-US" altLang="en-US" sz="1800"/>
                <a:t>…</a:t>
              </a:r>
            </a:p>
          </p:txBody>
        </p:sp>
        <p:sp>
          <p:nvSpPr>
            <p:cNvPr id="1402891" name="Text Box 11">
              <a:extLst>
                <a:ext uri="{FF2B5EF4-FFF2-40B4-BE49-F238E27FC236}">
                  <a16:creationId xmlns:a16="http://schemas.microsoft.com/office/drawing/2014/main" id="{F4A5F950-77D6-E744-800C-880724B1D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9" y="2374"/>
              <a:ext cx="825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f-proj DB </a:t>
              </a:r>
            </a:p>
            <a:p>
              <a:r>
                <a:rPr lang="en-US" altLang="en-US" sz="1800"/>
                <a:t>…</a:t>
              </a:r>
            </a:p>
          </p:txBody>
        </p:sp>
        <p:sp>
          <p:nvSpPr>
            <p:cNvPr id="1402892" name="Freeform 12">
              <a:extLst>
                <a:ext uri="{FF2B5EF4-FFF2-40B4-BE49-F238E27FC236}">
                  <a16:creationId xmlns:a16="http://schemas.microsoft.com/office/drawing/2014/main" id="{857E3E3F-F22F-CF4F-8ACF-5E60D1B70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2646"/>
              <a:ext cx="538" cy="180"/>
            </a:xfrm>
            <a:custGeom>
              <a:avLst/>
              <a:gdLst>
                <a:gd name="T0" fmla="*/ 0 w 576"/>
                <a:gd name="T1" fmla="*/ 0 h 240"/>
                <a:gd name="T2" fmla="*/ 192 w 576"/>
                <a:gd name="T3" fmla="*/ 192 h 240"/>
                <a:gd name="T4" fmla="*/ 576 w 57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240">
                  <a:moveTo>
                    <a:pt x="0" y="0"/>
                  </a:moveTo>
                  <a:cubicBezTo>
                    <a:pt x="48" y="76"/>
                    <a:pt x="96" y="152"/>
                    <a:pt x="192" y="192"/>
                  </a:cubicBezTo>
                  <a:cubicBezTo>
                    <a:pt x="288" y="232"/>
                    <a:pt x="432" y="236"/>
                    <a:pt x="576" y="24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3" name="Freeform 13">
              <a:extLst>
                <a:ext uri="{FF2B5EF4-FFF2-40B4-BE49-F238E27FC236}">
                  <a16:creationId xmlns:a16="http://schemas.microsoft.com/office/drawing/2014/main" id="{93654DD6-51BA-394E-AF26-7A781F64E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2691"/>
              <a:ext cx="1523" cy="414"/>
            </a:xfrm>
            <a:custGeom>
              <a:avLst/>
              <a:gdLst>
                <a:gd name="T0" fmla="*/ 0 w 1632"/>
                <a:gd name="T1" fmla="*/ 144 h 440"/>
                <a:gd name="T2" fmla="*/ 384 w 1632"/>
                <a:gd name="T3" fmla="*/ 336 h 440"/>
                <a:gd name="T4" fmla="*/ 1104 w 1632"/>
                <a:gd name="T5" fmla="*/ 384 h 440"/>
                <a:gd name="T6" fmla="*/ 1632 w 1632"/>
                <a:gd name="T7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440">
                  <a:moveTo>
                    <a:pt x="0" y="144"/>
                  </a:moveTo>
                  <a:cubicBezTo>
                    <a:pt x="100" y="220"/>
                    <a:pt x="200" y="296"/>
                    <a:pt x="384" y="336"/>
                  </a:cubicBezTo>
                  <a:cubicBezTo>
                    <a:pt x="568" y="376"/>
                    <a:pt x="896" y="440"/>
                    <a:pt x="1104" y="384"/>
                  </a:cubicBezTo>
                  <a:cubicBezTo>
                    <a:pt x="1312" y="328"/>
                    <a:pt x="1472" y="164"/>
                    <a:pt x="1632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4" name="Freeform 14">
              <a:extLst>
                <a:ext uri="{FF2B5EF4-FFF2-40B4-BE49-F238E27FC236}">
                  <a16:creationId xmlns:a16="http://schemas.microsoft.com/office/drawing/2014/main" id="{62829112-8FE6-6948-9D9E-8A9B2C081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646"/>
              <a:ext cx="716" cy="52"/>
            </a:xfrm>
            <a:custGeom>
              <a:avLst/>
              <a:gdLst>
                <a:gd name="T0" fmla="*/ 0 w 672"/>
                <a:gd name="T1" fmla="*/ 0 h 104"/>
                <a:gd name="T2" fmla="*/ 384 w 672"/>
                <a:gd name="T3" fmla="*/ 96 h 104"/>
                <a:gd name="T4" fmla="*/ 672 w 672"/>
                <a:gd name="T5" fmla="*/ 4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104">
                  <a:moveTo>
                    <a:pt x="0" y="0"/>
                  </a:moveTo>
                  <a:cubicBezTo>
                    <a:pt x="136" y="44"/>
                    <a:pt x="272" y="88"/>
                    <a:pt x="384" y="96"/>
                  </a:cubicBezTo>
                  <a:cubicBezTo>
                    <a:pt x="496" y="104"/>
                    <a:pt x="584" y="76"/>
                    <a:pt x="672" y="48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5" name="Line 15">
              <a:extLst>
                <a:ext uri="{FF2B5EF4-FFF2-40B4-BE49-F238E27FC236}">
                  <a16:creationId xmlns:a16="http://schemas.microsoft.com/office/drawing/2014/main" id="{982A8B36-0817-1D41-A161-3AC7EEA6F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3" y="2149"/>
              <a:ext cx="2149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6" name="Line 16">
              <a:extLst>
                <a:ext uri="{FF2B5EF4-FFF2-40B4-BE49-F238E27FC236}">
                  <a16:creationId xmlns:a16="http://schemas.microsoft.com/office/drawing/2014/main" id="{C845DC5B-43DB-D148-B69A-52576E373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4" y="2149"/>
              <a:ext cx="1298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7" name="Line 17">
              <a:extLst>
                <a:ext uri="{FF2B5EF4-FFF2-40B4-BE49-F238E27FC236}">
                  <a16:creationId xmlns:a16="http://schemas.microsoft.com/office/drawing/2014/main" id="{F8132739-4518-AD4A-A947-73E22AD5C4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9" y="2149"/>
              <a:ext cx="403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8" name="Line 18">
              <a:extLst>
                <a:ext uri="{FF2B5EF4-FFF2-40B4-BE49-F238E27FC236}">
                  <a16:creationId xmlns:a16="http://schemas.microsoft.com/office/drawing/2014/main" id="{B09555B3-66C5-8F40-8F5F-4A7EBA9A0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448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899" name="Line 19">
              <a:extLst>
                <a:ext uri="{FF2B5EF4-FFF2-40B4-BE49-F238E27FC236}">
                  <a16:creationId xmlns:a16="http://schemas.microsoft.com/office/drawing/2014/main" id="{7B21A112-32CD-CE4B-8DE6-DD9C9EDF2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1299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0" name="Line 20">
              <a:extLst>
                <a:ext uri="{FF2B5EF4-FFF2-40B4-BE49-F238E27FC236}">
                  <a16:creationId xmlns:a16="http://schemas.microsoft.com/office/drawing/2014/main" id="{D90E5AD2-17CD-114A-9E5C-EAF48C66F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2194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1" name="Text Box 21">
              <a:extLst>
                <a:ext uri="{FF2B5EF4-FFF2-40B4-BE49-F238E27FC236}">
                  <a16:creationId xmlns:a16="http://schemas.microsoft.com/office/drawing/2014/main" id="{CB47A176-4167-4F45-BAFE-2C38058AE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3368"/>
              <a:ext cx="992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am-proj DB </a:t>
              </a:r>
            </a:p>
            <a:p>
              <a:r>
                <a:rPr lang="en-US" altLang="en-US" sz="1800"/>
                <a:t>fc</a:t>
              </a:r>
            </a:p>
            <a:p>
              <a:r>
                <a:rPr lang="en-US" altLang="en-US" sz="1800"/>
                <a:t>fc</a:t>
              </a:r>
            </a:p>
            <a:p>
              <a:r>
                <a:rPr lang="en-US" altLang="en-US" sz="1800"/>
                <a:t>fc</a:t>
              </a:r>
            </a:p>
          </p:txBody>
        </p:sp>
        <p:sp>
          <p:nvSpPr>
            <p:cNvPr id="1402902" name="Freeform 22">
              <a:extLst>
                <a:ext uri="{FF2B5EF4-FFF2-40B4-BE49-F238E27FC236}">
                  <a16:creationId xmlns:a16="http://schemas.microsoft.com/office/drawing/2014/main" id="{C39A855B-286C-DE4F-861A-A8BDF98AB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3007"/>
              <a:ext cx="538" cy="53"/>
            </a:xfrm>
            <a:custGeom>
              <a:avLst/>
              <a:gdLst>
                <a:gd name="T0" fmla="*/ 0 w 576"/>
                <a:gd name="T1" fmla="*/ 0 h 56"/>
                <a:gd name="T2" fmla="*/ 192 w 576"/>
                <a:gd name="T3" fmla="*/ 48 h 56"/>
                <a:gd name="T4" fmla="*/ 432 w 576"/>
                <a:gd name="T5" fmla="*/ 48 h 56"/>
                <a:gd name="T6" fmla="*/ 576 w 576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56">
                  <a:moveTo>
                    <a:pt x="0" y="0"/>
                  </a:moveTo>
                  <a:cubicBezTo>
                    <a:pt x="60" y="20"/>
                    <a:pt x="120" y="40"/>
                    <a:pt x="192" y="48"/>
                  </a:cubicBezTo>
                  <a:cubicBezTo>
                    <a:pt x="264" y="56"/>
                    <a:pt x="368" y="56"/>
                    <a:pt x="432" y="48"/>
                  </a:cubicBezTo>
                  <a:cubicBezTo>
                    <a:pt x="496" y="40"/>
                    <a:pt x="536" y="20"/>
                    <a:pt x="57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3" name="Line 23">
              <a:extLst>
                <a:ext uri="{FF2B5EF4-FFF2-40B4-BE49-F238E27FC236}">
                  <a16:creationId xmlns:a16="http://schemas.microsoft.com/office/drawing/2014/main" id="{60668988-27DE-CA4F-929C-571D8DFAD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3097"/>
              <a:ext cx="0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4" name="Freeform 24">
              <a:extLst>
                <a:ext uri="{FF2B5EF4-FFF2-40B4-BE49-F238E27FC236}">
                  <a16:creationId xmlns:a16="http://schemas.microsoft.com/office/drawing/2014/main" id="{B24B46D8-6672-694B-929C-D4742D367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3007"/>
              <a:ext cx="761" cy="632"/>
            </a:xfrm>
            <a:custGeom>
              <a:avLst/>
              <a:gdLst>
                <a:gd name="T0" fmla="*/ 592 w 776"/>
                <a:gd name="T1" fmla="*/ 0 h 672"/>
                <a:gd name="T2" fmla="*/ 688 w 776"/>
                <a:gd name="T3" fmla="*/ 192 h 672"/>
                <a:gd name="T4" fmla="*/ 64 w 776"/>
                <a:gd name="T5" fmla="*/ 432 h 672"/>
                <a:gd name="T6" fmla="*/ 304 w 776"/>
                <a:gd name="T7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5" name="Freeform 25">
              <a:extLst>
                <a:ext uri="{FF2B5EF4-FFF2-40B4-BE49-F238E27FC236}">
                  <a16:creationId xmlns:a16="http://schemas.microsoft.com/office/drawing/2014/main" id="{540E2A95-2A16-6C4D-ADAA-CEDA459AB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826"/>
              <a:ext cx="761" cy="994"/>
            </a:xfrm>
            <a:custGeom>
              <a:avLst/>
              <a:gdLst>
                <a:gd name="T0" fmla="*/ 592 w 776"/>
                <a:gd name="T1" fmla="*/ 0 h 672"/>
                <a:gd name="T2" fmla="*/ 688 w 776"/>
                <a:gd name="T3" fmla="*/ 192 h 672"/>
                <a:gd name="T4" fmla="*/ 64 w 776"/>
                <a:gd name="T5" fmla="*/ 432 h 672"/>
                <a:gd name="T6" fmla="*/ 304 w 776"/>
                <a:gd name="T7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6" name="Freeform 26">
              <a:extLst>
                <a:ext uri="{FF2B5EF4-FFF2-40B4-BE49-F238E27FC236}">
                  <a16:creationId xmlns:a16="http://schemas.microsoft.com/office/drawing/2014/main" id="{689E73A8-E151-9249-B4EC-52EDD87A4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2646"/>
              <a:ext cx="850" cy="1355"/>
            </a:xfrm>
            <a:custGeom>
              <a:avLst/>
              <a:gdLst>
                <a:gd name="T0" fmla="*/ 592 w 776"/>
                <a:gd name="T1" fmla="*/ 0 h 672"/>
                <a:gd name="T2" fmla="*/ 688 w 776"/>
                <a:gd name="T3" fmla="*/ 192 h 672"/>
                <a:gd name="T4" fmla="*/ 64 w 776"/>
                <a:gd name="T5" fmla="*/ 432 h 672"/>
                <a:gd name="T6" fmla="*/ 304 w 776"/>
                <a:gd name="T7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7" name="Text Box 27">
              <a:extLst>
                <a:ext uri="{FF2B5EF4-FFF2-40B4-BE49-F238E27FC236}">
                  <a16:creationId xmlns:a16="http://schemas.microsoft.com/office/drawing/2014/main" id="{C688D7C7-5F36-0741-879B-E5F93F563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6" y="3368"/>
              <a:ext cx="983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b="1" i="1" u="sng"/>
                <a:t>cm-proj DB </a:t>
              </a:r>
            </a:p>
            <a:p>
              <a:r>
                <a:rPr lang="en-US" altLang="en-US" sz="1800"/>
                <a:t>f</a:t>
              </a:r>
            </a:p>
            <a:p>
              <a:r>
                <a:rPr lang="en-US" altLang="en-US" sz="1800"/>
                <a:t>f</a:t>
              </a:r>
            </a:p>
            <a:p>
              <a:r>
                <a:rPr lang="en-US" altLang="en-US" sz="1800"/>
                <a:t>f</a:t>
              </a:r>
            </a:p>
          </p:txBody>
        </p:sp>
        <p:sp>
          <p:nvSpPr>
            <p:cNvPr id="1402908" name="Line 28">
              <a:extLst>
                <a:ext uri="{FF2B5EF4-FFF2-40B4-BE49-F238E27FC236}">
                  <a16:creationId xmlns:a16="http://schemas.microsoft.com/office/drawing/2014/main" id="{F8CE2CD9-917E-5B46-AA1E-E0452BCC2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639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09" name="Line 29">
              <a:extLst>
                <a:ext uri="{FF2B5EF4-FFF2-40B4-BE49-F238E27FC236}">
                  <a16:creationId xmlns:a16="http://schemas.microsoft.com/office/drawing/2014/main" id="{5BEBBA06-425A-4C49-BBF9-B4B7110EE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820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10" name="Line 30">
              <a:extLst>
                <a:ext uri="{FF2B5EF4-FFF2-40B4-BE49-F238E27FC236}">
                  <a16:creationId xmlns:a16="http://schemas.microsoft.com/office/drawing/2014/main" id="{FBE0682D-E491-9648-8856-38483288C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956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11" name="Line 31">
              <a:extLst>
                <a:ext uri="{FF2B5EF4-FFF2-40B4-BE49-F238E27FC236}">
                  <a16:creationId xmlns:a16="http://schemas.microsoft.com/office/drawing/2014/main" id="{FFB12182-FB74-7F41-935C-2ED460B95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3097"/>
              <a:ext cx="1030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02912" name="Text Box 32">
              <a:extLst>
                <a:ext uri="{FF2B5EF4-FFF2-40B4-BE49-F238E27FC236}">
                  <a16:creationId xmlns:a16="http://schemas.microsoft.com/office/drawing/2014/main" id="{9E3404E1-7873-2E4C-B5A2-3B2A371C2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3448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/>
                <a:t>…</a:t>
              </a:r>
            </a:p>
          </p:txBody>
        </p:sp>
        <p:sp>
          <p:nvSpPr>
            <p:cNvPr id="1402913" name="Freeform 33">
              <a:extLst>
                <a:ext uri="{FF2B5EF4-FFF2-40B4-BE49-F238E27FC236}">
                  <a16:creationId xmlns:a16="http://schemas.microsoft.com/office/drawing/2014/main" id="{C246B804-FE6C-8A4E-911F-6CE9FEF9D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832"/>
              <a:ext cx="1440" cy="101"/>
            </a:xfrm>
            <a:custGeom>
              <a:avLst/>
              <a:gdLst>
                <a:gd name="T0" fmla="*/ 0 w 576"/>
                <a:gd name="T1" fmla="*/ 0 h 56"/>
                <a:gd name="T2" fmla="*/ 192 w 576"/>
                <a:gd name="T3" fmla="*/ 48 h 56"/>
                <a:gd name="T4" fmla="*/ 432 w 576"/>
                <a:gd name="T5" fmla="*/ 48 h 56"/>
                <a:gd name="T6" fmla="*/ 576 w 576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56">
                  <a:moveTo>
                    <a:pt x="0" y="0"/>
                  </a:moveTo>
                  <a:cubicBezTo>
                    <a:pt x="60" y="20"/>
                    <a:pt x="120" y="40"/>
                    <a:pt x="192" y="48"/>
                  </a:cubicBezTo>
                  <a:cubicBezTo>
                    <a:pt x="264" y="56"/>
                    <a:pt x="368" y="56"/>
                    <a:pt x="432" y="48"/>
                  </a:cubicBezTo>
                  <a:cubicBezTo>
                    <a:pt x="496" y="40"/>
                    <a:pt x="536" y="20"/>
                    <a:pt x="57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53150D-0EA5-FB42-9E54-BD475FDB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F4C0-FE71-364A-9C82-3D65EE579A82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E70F07-AFE4-9C4B-A283-95AE8632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770B0-BD60-9B44-AFB0-C2C99CCC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082C-B54B-0A49-ACE5-9D91AE41F136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389570" name="Rectangle 2">
            <a:extLst>
              <a:ext uri="{FF2B5EF4-FFF2-40B4-BE49-F238E27FC236}">
                <a16:creationId xmlns:a16="http://schemas.microsoft.com/office/drawing/2014/main" id="{4D6CB5A3-F4DB-B942-AFE7-A113475B0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8163" cy="83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FP-Growth vs. Apriori: Scalability With the Support Threshold</a:t>
            </a:r>
          </a:p>
        </p:txBody>
      </p:sp>
      <p:graphicFrame>
        <p:nvGraphicFramePr>
          <p:cNvPr id="1389571" name="Object 3">
            <a:extLst>
              <a:ext uri="{FF2B5EF4-FFF2-40B4-BE49-F238E27FC236}">
                <a16:creationId xmlns:a16="http://schemas.microsoft.com/office/drawing/2014/main" id="{E43A16E5-1668-B642-AC3F-993F406D9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981200"/>
          <a:ext cx="7620000" cy="455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589" name="Chart" r:id="rId3" imgW="4597400" imgH="3289300" progId="Excel.Chart.8">
                  <p:embed/>
                </p:oleObj>
              </mc:Choice>
              <mc:Fallback>
                <p:oleObj name="Chart" r:id="rId3" imgW="4597400" imgH="3289300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620000" cy="455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9572" name="Text Box 4">
            <a:extLst>
              <a:ext uri="{FF2B5EF4-FFF2-40B4-BE49-F238E27FC236}">
                <a16:creationId xmlns:a16="http://schemas.microsoft.com/office/drawing/2014/main" id="{BF426CB3-7CC0-DB4F-BE8C-9AA12EF10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81200"/>
            <a:ext cx="289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Data set T25I20D10K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869B8B-5591-904F-9C73-81E908B7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197F-3DEE-D34B-AA8B-68A1B1FC27C4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A87FBF-028D-CF4E-9948-AE6DAD79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351F6C-3EED-A243-AA50-DA2B5F49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287D-BB11-134F-B522-1FC4B6330B33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390594" name="Rectangle 2">
            <a:extLst>
              <a:ext uri="{FF2B5EF4-FFF2-40B4-BE49-F238E27FC236}">
                <a16:creationId xmlns:a16="http://schemas.microsoft.com/office/drawing/2014/main" id="{9BAB8432-8BE0-7F48-A692-D6D0EB55A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935038"/>
          </a:xfrm>
        </p:spPr>
        <p:txBody>
          <a:bodyPr/>
          <a:lstStyle/>
          <a:p>
            <a:r>
              <a:rPr lang="en-US" altLang="en-US" sz="2800"/>
              <a:t>FP-Growth vs. Tree-Projection: Scalability with the Support Threshold</a:t>
            </a:r>
          </a:p>
        </p:txBody>
      </p:sp>
      <p:graphicFrame>
        <p:nvGraphicFramePr>
          <p:cNvPr id="1390595" name="Object 3">
            <a:extLst>
              <a:ext uri="{FF2B5EF4-FFF2-40B4-BE49-F238E27FC236}">
                <a16:creationId xmlns:a16="http://schemas.microsoft.com/office/drawing/2014/main" id="{63CFC5E4-158A-AE4F-9A2B-876D2B696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905000"/>
          <a:ext cx="8382000" cy="504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613" name="Chart" r:id="rId3" imgW="5753100" imgH="3302000" progId="Excel.Chart.8">
                  <p:embed/>
                </p:oleObj>
              </mc:Choice>
              <mc:Fallback>
                <p:oleObj name="Chart" r:id="rId3" imgW="5753100" imgH="3302000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8382000" cy="504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0596" name="Text Box 4">
            <a:extLst>
              <a:ext uri="{FF2B5EF4-FFF2-40B4-BE49-F238E27FC236}">
                <a16:creationId xmlns:a16="http://schemas.microsoft.com/office/drawing/2014/main" id="{95A47BDB-FFC7-A34F-9955-263DEB0A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304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Data set T25I20D100K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ACF81-71FA-6B40-BB5B-53036A2E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993E-BFD8-764D-A56F-C45E804B163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68B89-AF39-6D45-8ABD-275F8B6E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230B6-0707-C74E-AA07-8DA53228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E99D-A18D-3B47-8FC6-5BBB225E368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391618" name="Rectangle 2">
            <a:extLst>
              <a:ext uri="{FF2B5EF4-FFF2-40B4-BE49-F238E27FC236}">
                <a16:creationId xmlns:a16="http://schemas.microsoft.com/office/drawing/2014/main" id="{40AE2053-93E0-5143-83AF-D41358EF9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422275"/>
            <a:ext cx="8121650" cy="492125"/>
          </a:xfrm>
        </p:spPr>
        <p:txBody>
          <a:bodyPr/>
          <a:lstStyle/>
          <a:p>
            <a:r>
              <a:rPr lang="en-US" altLang="en-US" sz="3200"/>
              <a:t>Why Is FP-Growth the Winner?</a:t>
            </a:r>
          </a:p>
        </p:txBody>
      </p:sp>
      <p:sp>
        <p:nvSpPr>
          <p:cNvPr id="1391619" name="Rectangle 3">
            <a:extLst>
              <a:ext uri="{FF2B5EF4-FFF2-40B4-BE49-F238E27FC236}">
                <a16:creationId xmlns:a16="http://schemas.microsoft.com/office/drawing/2014/main" id="{31CAF907-3AB8-3745-828F-2CCC82CBA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Divide-and-conquer: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decompose both the mining task and DB according to the frequent patterns obtained so far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leads to focused search of smaller databases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Other factors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no candidate generation, no candidate test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compressed database: FP-tree structure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no repeated scan of entire database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basic ops—counting local freq items and building sub FP-tree, no pattern search and matching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5C84-05BA-E64A-8B73-B68D69BB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8CDB-5235-1846-9421-61D438BC1B9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D8A94-D7D3-FF44-97D7-DB25B6BE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66D1E-727E-0C4D-9689-90414BA8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B139C-0310-5244-961B-FF07248FB018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392642" name="Rectangle 2">
            <a:extLst>
              <a:ext uri="{FF2B5EF4-FFF2-40B4-BE49-F238E27FC236}">
                <a16:creationId xmlns:a16="http://schemas.microsoft.com/office/drawing/2014/main" id="{11A61454-B3C7-404B-9D84-95EA29B37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513" y="381000"/>
            <a:ext cx="7958137" cy="568325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Implications of the Methodology </a:t>
            </a:r>
          </a:p>
        </p:txBody>
      </p:sp>
      <p:sp>
        <p:nvSpPr>
          <p:cNvPr id="1392643" name="Rectangle 3">
            <a:extLst>
              <a:ext uri="{FF2B5EF4-FFF2-40B4-BE49-F238E27FC236}">
                <a16:creationId xmlns:a16="http://schemas.microsoft.com/office/drawing/2014/main" id="{1297014C-8BEF-6D4D-88B1-8DF8D9582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610600" cy="4953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 altLang="en-US" sz="2000"/>
              <a:t>Mining closed frequent itemsets and max-patterns</a:t>
            </a:r>
          </a:p>
          <a:p>
            <a:pPr lvl="1">
              <a:lnSpc>
                <a:spcPct val="14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CLOSET (DMKD’00)</a:t>
            </a:r>
          </a:p>
          <a:p>
            <a:pPr>
              <a:lnSpc>
                <a:spcPct val="140000"/>
              </a:lnSpc>
            </a:pPr>
            <a:r>
              <a:rPr lang="en-US" altLang="en-US" sz="2000"/>
              <a:t>Mining sequential patterns</a:t>
            </a:r>
          </a:p>
          <a:p>
            <a:pPr lvl="1">
              <a:lnSpc>
                <a:spcPct val="14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FreeSpan (KDD’00), PrefixSpan (ICDE’01)</a:t>
            </a:r>
          </a:p>
          <a:p>
            <a:pPr>
              <a:lnSpc>
                <a:spcPct val="140000"/>
              </a:lnSpc>
            </a:pPr>
            <a:r>
              <a:rPr lang="en-US" altLang="en-US" sz="2000"/>
              <a:t>Constraint-based mining of frequent patterns</a:t>
            </a:r>
          </a:p>
          <a:p>
            <a:pPr lvl="1">
              <a:lnSpc>
                <a:spcPct val="14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Convertible constraints (KDD’00, ICDE’01)</a:t>
            </a:r>
          </a:p>
          <a:p>
            <a:pPr>
              <a:lnSpc>
                <a:spcPct val="140000"/>
              </a:lnSpc>
            </a:pPr>
            <a:r>
              <a:rPr lang="en-US" altLang="en-US" sz="2000"/>
              <a:t>Computing iceberg data cubes with complex measures </a:t>
            </a:r>
            <a:endParaRPr lang="en-US" altLang="en-US" sz="1800"/>
          </a:p>
          <a:p>
            <a:pPr lvl="1">
              <a:lnSpc>
                <a:spcPct val="14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H-tree and H-cubing algorithm (SIGMOD’01)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5D914E56-2303-314F-A43E-9214D1ED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44A7-1C21-5D41-801D-942290CB4F9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2271E6EC-8617-8F48-AB50-094EE7D1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9B3809F-82C1-3D42-A6FE-941E8FF4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D7EB-12A8-CA48-960C-A4DF0AB25B0E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394690" name="Rectangle 2">
            <a:extLst>
              <a:ext uri="{FF2B5EF4-FFF2-40B4-BE49-F238E27FC236}">
                <a16:creationId xmlns:a16="http://schemas.microsoft.com/office/drawing/2014/main" id="{2039E29B-FC71-DB4E-8CF2-414821E91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762000"/>
          </a:xfrm>
        </p:spPr>
        <p:txBody>
          <a:bodyPr/>
          <a:lstStyle/>
          <a:p>
            <a:r>
              <a:rPr lang="en-US" altLang="en-US"/>
              <a:t>MaxMiner: Mining Max-patterns</a:t>
            </a:r>
          </a:p>
        </p:txBody>
      </p:sp>
      <p:sp>
        <p:nvSpPr>
          <p:cNvPr id="1394691" name="Rectangle 3">
            <a:extLst>
              <a:ext uri="{FF2B5EF4-FFF2-40B4-BE49-F238E27FC236}">
                <a16:creationId xmlns:a16="http://schemas.microsoft.com/office/drawing/2014/main" id="{E59EF661-B722-2046-9C5E-6ED62CED8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97888" cy="5181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1</a:t>
            </a:r>
            <a:r>
              <a:rPr lang="en-US" altLang="en-US" sz="2400" baseline="30000"/>
              <a:t>st</a:t>
            </a:r>
            <a:r>
              <a:rPr lang="en-US" altLang="en-US" sz="2400"/>
              <a:t> scan: find frequent items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A, B, C, D, E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2</a:t>
            </a:r>
            <a:r>
              <a:rPr lang="en-US" altLang="en-US" sz="2400" baseline="30000"/>
              <a:t>nd</a:t>
            </a:r>
            <a:r>
              <a:rPr lang="en-US" altLang="en-US" sz="2400"/>
              <a:t> scan: find support for 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AB, AC, AD, AE, </a:t>
            </a:r>
            <a:r>
              <a:rPr lang="en-US" altLang="en-US" sz="2400">
                <a:solidFill>
                  <a:schemeClr val="folHlink"/>
                </a:solidFill>
              </a:rPr>
              <a:t>ABCDE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BC, BD, BE, </a:t>
            </a:r>
            <a:r>
              <a:rPr lang="en-US" altLang="en-US" sz="2400">
                <a:solidFill>
                  <a:schemeClr val="folHlink"/>
                </a:solidFill>
              </a:rPr>
              <a:t>BCDE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CD, CE, </a:t>
            </a:r>
            <a:r>
              <a:rPr lang="en-US" altLang="en-US" sz="2400">
                <a:solidFill>
                  <a:schemeClr val="folHlink"/>
                </a:solidFill>
              </a:rPr>
              <a:t>CDE</a:t>
            </a:r>
            <a:r>
              <a:rPr lang="en-US" altLang="en-US" sz="2400"/>
              <a:t>, DE,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Since BCDE is a max-pattern, no need to check BCD, BDE, CDE in later scan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R. Bayardo. </a:t>
            </a:r>
            <a:r>
              <a:rPr lang="en-US" altLang="en-US" sz="2400">
                <a:solidFill>
                  <a:schemeClr val="folHlink"/>
                </a:solidFill>
              </a:rPr>
              <a:t>Efficiently mining long patterns from databases</a:t>
            </a:r>
            <a:r>
              <a:rPr lang="en-US" altLang="en-US" sz="2400"/>
              <a:t>. In </a:t>
            </a:r>
            <a:r>
              <a:rPr lang="en-US" altLang="en-US" sz="2400" i="1">
                <a:solidFill>
                  <a:schemeClr val="tx2"/>
                </a:solidFill>
              </a:rPr>
              <a:t>SIGMOD’98</a:t>
            </a:r>
          </a:p>
        </p:txBody>
      </p:sp>
      <p:graphicFrame>
        <p:nvGraphicFramePr>
          <p:cNvPr id="1394692" name="Group 4">
            <a:extLst>
              <a:ext uri="{FF2B5EF4-FFF2-40B4-BE49-F238E27FC236}">
                <a16:creationId xmlns:a16="http://schemas.microsoft.com/office/drawing/2014/main" id="{44097FFC-6691-7542-B61A-97C38CAD6B6E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1524000"/>
          <a:ext cx="2286000" cy="14630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30515816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729529369"/>
                    </a:ext>
                  </a:extLst>
                </a:gridCol>
              </a:tblGrid>
              <a:tr h="184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261214"/>
                  </a:ext>
                </a:extLst>
              </a:tr>
              <a:tr h="184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A,B,C,D,E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89264"/>
                  </a:ext>
                </a:extLst>
              </a:tr>
              <a:tr h="184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B,C,D,E,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41350"/>
                  </a:ext>
                </a:extLst>
              </a:tr>
              <a:tr h="184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A,C,D,F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834533"/>
                  </a:ext>
                </a:extLst>
              </a:tr>
            </a:tbl>
          </a:graphicData>
        </a:graphic>
      </p:graphicFrame>
      <p:sp>
        <p:nvSpPr>
          <p:cNvPr id="1394709" name="Text Box 21">
            <a:extLst>
              <a:ext uri="{FF2B5EF4-FFF2-40B4-BE49-F238E27FC236}">
                <a16:creationId xmlns:a16="http://schemas.microsoft.com/office/drawing/2014/main" id="{2AA02409-85C5-474E-A594-9E58B4FD1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581400"/>
            <a:ext cx="2425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>
                <a:solidFill>
                  <a:schemeClr val="folHlink"/>
                </a:solidFill>
              </a:rPr>
              <a:t>Potential max-patterns</a:t>
            </a:r>
          </a:p>
        </p:txBody>
      </p:sp>
      <p:sp>
        <p:nvSpPr>
          <p:cNvPr id="1394710" name="Line 22">
            <a:extLst>
              <a:ext uri="{FF2B5EF4-FFF2-40B4-BE49-F238E27FC236}">
                <a16:creationId xmlns:a16="http://schemas.microsoft.com/office/drawing/2014/main" id="{E906977C-A5AA-E843-9C47-A826A34CA5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3429000"/>
            <a:ext cx="1676400" cy="3810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94711" name="Line 23">
            <a:extLst>
              <a:ext uri="{FF2B5EF4-FFF2-40B4-BE49-F238E27FC236}">
                <a16:creationId xmlns:a16="http://schemas.microsoft.com/office/drawing/2014/main" id="{764CDE67-7B5E-A640-AE6F-B7D0AF023C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3886200"/>
            <a:ext cx="2362200" cy="762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94712" name="Line 24">
            <a:extLst>
              <a:ext uri="{FF2B5EF4-FFF2-40B4-BE49-F238E27FC236}">
                <a16:creationId xmlns:a16="http://schemas.microsoft.com/office/drawing/2014/main" id="{7263D07F-9CD1-C64D-A2B0-82979284BB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114800"/>
            <a:ext cx="2895600" cy="1524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D7639509-5AF6-0F4E-976D-4611C95B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747C-31FC-3D42-A0AF-336B567344A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E58E4F62-EA1D-EE4E-B6E1-468DB15C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EB85FC8-2F45-3242-8564-12A63709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C860-1058-E743-83E4-60B276129F8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396738" name="Rectangle 2">
            <a:extLst>
              <a:ext uri="{FF2B5EF4-FFF2-40B4-BE49-F238E27FC236}">
                <a16:creationId xmlns:a16="http://schemas.microsoft.com/office/drawing/2014/main" id="{C97B6AE5-185D-2245-993E-F02C52BD4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58200" cy="685800"/>
          </a:xfrm>
        </p:spPr>
        <p:txBody>
          <a:bodyPr/>
          <a:lstStyle/>
          <a:p>
            <a:r>
              <a:rPr lang="en-US" altLang="en-US" sz="3200"/>
              <a:t>Mining Frequent Closed Patterns: CLOSET</a:t>
            </a:r>
          </a:p>
        </p:txBody>
      </p:sp>
      <p:sp>
        <p:nvSpPr>
          <p:cNvPr id="1396739" name="Rectangle 3">
            <a:extLst>
              <a:ext uri="{FF2B5EF4-FFF2-40B4-BE49-F238E27FC236}">
                <a16:creationId xmlns:a16="http://schemas.microsoft.com/office/drawing/2014/main" id="{EE61EBFC-132C-7849-A820-3C720AF5F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26488" cy="5105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Flist: list of all frequent items in support ascending order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Flist: d-a-f-e-c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Divide search space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Patterns having d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Patterns having d but no a, etc.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Find frequent closed pattern recursively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Every transaction having d also has cfa </a:t>
            </a:r>
            <a:r>
              <a:rPr lang="en-US" altLang="en-US" sz="2400">
                <a:sym typeface="Wingdings" pitchFamily="2" charset="2"/>
              </a:rPr>
              <a:t> cfad is a frequent closed pattern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J. Pei, J. Han &amp; R. Mao. CLOSET: An Efficient Algorithm for Mining Frequent Closed Itemsets", DMKD'00.</a:t>
            </a:r>
          </a:p>
        </p:txBody>
      </p:sp>
      <p:graphicFrame>
        <p:nvGraphicFramePr>
          <p:cNvPr id="1396740" name="Group 4">
            <a:extLst>
              <a:ext uri="{FF2B5EF4-FFF2-40B4-BE49-F238E27FC236}">
                <a16:creationId xmlns:a16="http://schemas.microsoft.com/office/drawing/2014/main" id="{69428B6F-F1E1-2D40-A4E1-D1AD997AA9C1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2609850"/>
          <a:ext cx="1905000" cy="171907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2634387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8931882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20943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01383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74693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4469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019302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350582"/>
                  </a:ext>
                </a:extLst>
              </a:tr>
            </a:tbl>
          </a:graphicData>
        </a:graphic>
      </p:graphicFrame>
      <p:sp>
        <p:nvSpPr>
          <p:cNvPr id="1396763" name="Text Box 27">
            <a:extLst>
              <a:ext uri="{FF2B5EF4-FFF2-40B4-BE49-F238E27FC236}">
                <a16:creationId xmlns:a16="http://schemas.microsoft.com/office/drawing/2014/main" id="{822ABC2B-34F3-C84C-B80A-7DA5780A6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33600"/>
            <a:ext cx="168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Min_sup=2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9FC1E-0F10-3D4D-BB41-ADD1287C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B53-9F45-0D47-80CE-BA69530F0F32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4E620-4535-784F-BC88-BDC8B38E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A9ED5-297A-4E42-B825-13380CFA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692B-FC74-7646-970F-45B2676D50F5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542146" name="Rectangle 2">
            <a:extLst>
              <a:ext uri="{FF2B5EF4-FFF2-40B4-BE49-F238E27FC236}">
                <a16:creationId xmlns:a16="http://schemas.microsoft.com/office/drawing/2014/main" id="{21DA391E-557C-344C-BAB5-96702138C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924800" cy="838200"/>
          </a:xfrm>
        </p:spPr>
        <p:txBody>
          <a:bodyPr/>
          <a:lstStyle/>
          <a:p>
            <a:r>
              <a:rPr lang="en-US" altLang="en-US" sz="3200">
                <a:solidFill>
                  <a:srgbClr val="000099"/>
                </a:solidFill>
              </a:rPr>
              <a:t>CLOSET+: Mining Closed Itemsets by Pattern-Growth</a:t>
            </a:r>
          </a:p>
        </p:txBody>
      </p:sp>
      <p:sp>
        <p:nvSpPr>
          <p:cNvPr id="1542147" name="Rectangle 3">
            <a:extLst>
              <a:ext uri="{FF2B5EF4-FFF2-40B4-BE49-F238E27FC236}">
                <a16:creationId xmlns:a16="http://schemas.microsoft.com/office/drawing/2014/main" id="{9C8D8FAB-946A-D042-B07E-983B10985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5130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200"/>
              <a:t>Itemset merging: if Y appears in every occurrence of X, then Y is merged with X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Sub-itemset pruning: if Y </a:t>
            </a:r>
            <a:r>
              <a:rPr lang="he-IL" altLang="en-US" sz="2200"/>
              <a:t>כ</a:t>
            </a:r>
            <a:r>
              <a:rPr lang="en-US" altLang="en-US" sz="2200"/>
              <a:t> X, and sup(X) = sup(Y), X and all of X’s descendants in the set enumeration tree can be pruned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Hybrid tree projection</a:t>
            </a:r>
          </a:p>
          <a:p>
            <a:pPr lvl="1">
              <a:lnSpc>
                <a:spcPct val="120000"/>
              </a:lnSpc>
            </a:pPr>
            <a:r>
              <a:rPr lang="en-US" altLang="en-US" sz="2200"/>
              <a:t>Bottom-up physical tree-projection</a:t>
            </a:r>
          </a:p>
          <a:p>
            <a:pPr lvl="1">
              <a:lnSpc>
                <a:spcPct val="120000"/>
              </a:lnSpc>
            </a:pPr>
            <a:r>
              <a:rPr lang="en-US" altLang="en-US" sz="2200"/>
              <a:t>Top-down pseudo tree-projection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Item skipping: if a local frequent item has the same support in several header tables at different levels, one can prune it from the header table at higher levels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Efficient subset checking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5C34-467A-7240-8605-47CC209A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33CB-8B30-BC4E-A379-D6731AD8CC3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5916-CFD2-8148-92F5-478E9527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928C-7ABC-5A46-91E4-33331221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29A5-C737-0542-9EBB-5C6FB533D7B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543170" name="Rectangle 2">
            <a:extLst>
              <a:ext uri="{FF2B5EF4-FFF2-40B4-BE49-F238E27FC236}">
                <a16:creationId xmlns:a16="http://schemas.microsoft.com/office/drawing/2014/main" id="{50C59E76-941E-CE4D-8A3D-C329DD2DC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r>
              <a:rPr lang="en-US" altLang="en-US" sz="3200"/>
              <a:t>CHARM: Mining by Exploring Vertical Data Format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D42E6D6E-F9F7-2249-A394-BD986DAB8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Vertical format: t(AB) = {T</a:t>
            </a:r>
            <a:r>
              <a:rPr lang="en-US" altLang="en-US" sz="2400" baseline="-25000"/>
              <a:t>11</a:t>
            </a:r>
            <a:r>
              <a:rPr lang="en-US" altLang="en-US" sz="2400"/>
              <a:t>, T</a:t>
            </a:r>
            <a:r>
              <a:rPr lang="en-US" altLang="en-US" sz="2400" baseline="-25000"/>
              <a:t>25</a:t>
            </a:r>
            <a:r>
              <a:rPr lang="en-US" altLang="en-US" sz="2400"/>
              <a:t>, …}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tid-list: list of trans.-ids containing an itemset 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Deriving closed patterns based on vertical intersections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t(X) = t(Y): X and Y always happen together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t(X) </a:t>
            </a:r>
            <a:r>
              <a:rPr lang="en-US" altLang="en-US" sz="2400">
                <a:sym typeface="Symbol" pitchFamily="2" charset="2"/>
              </a:rPr>
              <a:t> t(Y): transaction having X always has Y</a:t>
            </a:r>
          </a:p>
          <a:p>
            <a:pPr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Using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diffset</a:t>
            </a:r>
            <a:r>
              <a:rPr lang="en-US" altLang="en-US" sz="2400">
                <a:sym typeface="Symbol" pitchFamily="2" charset="2"/>
              </a:rPr>
              <a:t> to accelerate mining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Only keep track of differences of tids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t(X) = {T</a:t>
            </a:r>
            <a:r>
              <a:rPr lang="en-US" altLang="en-US" sz="2400" baseline="-25000">
                <a:sym typeface="Symbol" pitchFamily="2" charset="2"/>
              </a:rPr>
              <a:t>1</a:t>
            </a:r>
            <a:r>
              <a:rPr lang="en-US" altLang="en-US" sz="2400">
                <a:sym typeface="Symbol" pitchFamily="2" charset="2"/>
              </a:rPr>
              <a:t>, T</a:t>
            </a:r>
            <a:r>
              <a:rPr lang="en-US" altLang="en-US" sz="2400" baseline="-25000">
                <a:sym typeface="Symbol" pitchFamily="2" charset="2"/>
              </a:rPr>
              <a:t>2</a:t>
            </a:r>
            <a:r>
              <a:rPr lang="en-US" altLang="en-US" sz="2400">
                <a:sym typeface="Symbol" pitchFamily="2" charset="2"/>
              </a:rPr>
              <a:t>, T</a:t>
            </a:r>
            <a:r>
              <a:rPr lang="en-US" altLang="en-US" sz="2400" baseline="-25000">
                <a:sym typeface="Symbol" pitchFamily="2" charset="2"/>
              </a:rPr>
              <a:t>3</a:t>
            </a:r>
            <a:r>
              <a:rPr lang="en-US" altLang="en-US" sz="2400">
                <a:sym typeface="Symbol" pitchFamily="2" charset="2"/>
              </a:rPr>
              <a:t>},  t(XY) = {T</a:t>
            </a:r>
            <a:r>
              <a:rPr lang="en-US" altLang="en-US" sz="2400" baseline="-25000">
                <a:sym typeface="Symbol" pitchFamily="2" charset="2"/>
              </a:rPr>
              <a:t>1</a:t>
            </a:r>
            <a:r>
              <a:rPr lang="en-US" altLang="en-US" sz="2400">
                <a:sym typeface="Symbol" pitchFamily="2" charset="2"/>
              </a:rPr>
              <a:t>, T</a:t>
            </a:r>
            <a:r>
              <a:rPr lang="en-US" altLang="en-US" sz="2400" baseline="-25000">
                <a:sym typeface="Symbol" pitchFamily="2" charset="2"/>
              </a:rPr>
              <a:t>3</a:t>
            </a:r>
            <a:r>
              <a:rPr lang="en-US" altLang="en-US" sz="2400">
                <a:sym typeface="Symbol" pitchFamily="2" charset="2"/>
              </a:rPr>
              <a:t>} 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Diffset (XY, X) = {T</a:t>
            </a:r>
            <a:r>
              <a:rPr lang="en-US" altLang="en-US" sz="2400" baseline="-25000">
                <a:sym typeface="Symbol" pitchFamily="2" charset="2"/>
              </a:rPr>
              <a:t>2</a:t>
            </a:r>
            <a:r>
              <a:rPr lang="en-US" altLang="en-US" sz="2400">
                <a:sym typeface="Symbol" pitchFamily="2" charset="2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Eclat/MaxEclat (Zaki et al. @KDD’97), VIPER(P. Shenoy et al.@SIGMOD’00), CHARM (Zaki &amp; Hsiao@SDM’02)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3AB57-1A61-7540-9D69-5CBCF82B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EABE-AA59-8C47-B31C-D27BD5C42B71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C382C-C152-294B-9273-7B1D15C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7E655-AC00-C34E-B5A2-B93C9C6B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2312-ED22-BE45-BE95-735D989807FD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544194" name="Rectangle 2">
            <a:extLst>
              <a:ext uri="{FF2B5EF4-FFF2-40B4-BE49-F238E27FC236}">
                <a16:creationId xmlns:a16="http://schemas.microsoft.com/office/drawing/2014/main" id="{E3AF2170-66BB-B84C-ACED-334E88FCF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381000"/>
            <a:ext cx="7845425" cy="609600"/>
          </a:xfrm>
        </p:spPr>
        <p:txBody>
          <a:bodyPr/>
          <a:lstStyle/>
          <a:p>
            <a:r>
              <a:rPr lang="en-US" altLang="en-US" sz="3200"/>
              <a:t>Further Improvements of Mining Methods</a:t>
            </a:r>
          </a:p>
        </p:txBody>
      </p:sp>
      <p:sp>
        <p:nvSpPr>
          <p:cNvPr id="1544195" name="Rectangle 3">
            <a:extLst>
              <a:ext uri="{FF2B5EF4-FFF2-40B4-BE49-F238E27FC236}">
                <a16:creationId xmlns:a16="http://schemas.microsoft.com/office/drawing/2014/main" id="{21C8A664-FED3-6D41-BCD3-083B9DE54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05400"/>
          </a:xfrm>
        </p:spPr>
        <p:txBody>
          <a:bodyPr/>
          <a:lstStyle/>
          <a:p>
            <a:r>
              <a:rPr lang="en-US" altLang="en-US" sz="2400"/>
              <a:t>AFOPT (Liu, et al. @ KDD’03)</a:t>
            </a:r>
          </a:p>
          <a:p>
            <a:pPr lvl="1"/>
            <a:r>
              <a:rPr lang="en-US" altLang="en-US" sz="2400"/>
              <a:t>A “push-right” method for mining condensed frequent pattern (CFP) tree </a:t>
            </a:r>
          </a:p>
          <a:p>
            <a:r>
              <a:rPr lang="en-US" altLang="en-US" sz="2400"/>
              <a:t>Carpenter (Pan, et al. @ KDD’03)</a:t>
            </a:r>
          </a:p>
          <a:p>
            <a:pPr lvl="1"/>
            <a:r>
              <a:rPr lang="en-US" altLang="en-US" sz="2400"/>
              <a:t>Mine data sets with small rows but numerous columns</a:t>
            </a:r>
          </a:p>
          <a:p>
            <a:pPr lvl="1"/>
            <a:r>
              <a:rPr lang="en-US" altLang="en-US" sz="2400"/>
              <a:t>Construct a row-enumeration tree for efficient mining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2B0BA87-ED86-004B-B072-D4F37AFC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17AA-446D-7D4E-9323-6DD7424AF46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CA1431E-AC26-B947-AA2D-92A1F537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EE30737-CEAB-834E-84CF-826D0650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AF69-B5F3-8243-8580-27B6D913A37A}" type="slidenum">
              <a:rPr lang="en-US" altLang="en-US"/>
              <a:pPr/>
              <a:t>48</a:t>
            </a:fld>
            <a:endParaRPr lang="en-US" altLang="en-US"/>
          </a:p>
        </p:txBody>
      </p:sp>
      <p:pic>
        <p:nvPicPr>
          <p:cNvPr id="1398786" name="Picture 2">
            <a:extLst>
              <a:ext uri="{FF2B5EF4-FFF2-40B4-BE49-F238E27FC236}">
                <a16:creationId xmlns:a16="http://schemas.microsoft.com/office/drawing/2014/main" id="{EEDE8719-4F15-B64D-8E2A-F6191D46E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382000" cy="543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8787" name="Rectangle 3">
            <a:extLst>
              <a:ext uri="{FF2B5EF4-FFF2-40B4-BE49-F238E27FC236}">
                <a16:creationId xmlns:a16="http://schemas.microsoft.com/office/drawing/2014/main" id="{5698DFED-FD75-CA4A-8728-4B7E6C06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868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>
                <a:solidFill>
                  <a:schemeClr val="tx2"/>
                </a:solidFill>
                <a:latin typeface="Tahoma" panose="020B0604030504040204" pitchFamily="34" charset="0"/>
              </a:rPr>
              <a:t>Visualization of Association Rules: Plane Graph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3EB93CB-47D8-9844-A3BB-5560D4C1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4E95C-2E2B-B74B-87C7-B97D8BB9BF8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D6B777-DC83-FC47-9189-02C1A960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04D8679-1C2E-1246-B4E4-696E5030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7790-4BC8-9449-81EC-5CF9BA5B746D}" type="slidenum">
              <a:rPr lang="en-US" altLang="en-US"/>
              <a:pPr/>
              <a:t>49</a:t>
            </a:fld>
            <a:endParaRPr lang="en-US" altLang="en-US"/>
          </a:p>
        </p:txBody>
      </p:sp>
      <p:pic>
        <p:nvPicPr>
          <p:cNvPr id="1399810" name="Picture 1026">
            <a:extLst>
              <a:ext uri="{FF2B5EF4-FFF2-40B4-BE49-F238E27FC236}">
                <a16:creationId xmlns:a16="http://schemas.microsoft.com/office/drawing/2014/main" id="{D193E113-2FCA-2A42-A741-535E52D6C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82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9811" name="Rectangle 1027">
            <a:extLst>
              <a:ext uri="{FF2B5EF4-FFF2-40B4-BE49-F238E27FC236}">
                <a16:creationId xmlns:a16="http://schemas.microsoft.com/office/drawing/2014/main" id="{E67628DD-8C51-5C4E-B193-01AE871CC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>
                <a:solidFill>
                  <a:schemeClr val="tx2"/>
                </a:solidFill>
                <a:latin typeface="Tahoma" panose="020B0604030504040204" pitchFamily="34" charset="0"/>
              </a:rPr>
              <a:t>Visualization of Association Rules: Rule Graph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DA6365B-3D35-804A-9398-76B6E54F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3413-647B-6A48-AEE3-10FEFA562B0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4CC0FFD-8788-6045-8D84-9FF500DD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F68E83B-AB37-7D43-A7D5-4E7F6902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65A89-9FA4-4341-9629-069E8BF68D60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545218" name="Rectangle 2">
            <a:extLst>
              <a:ext uri="{FF2B5EF4-FFF2-40B4-BE49-F238E27FC236}">
                <a16:creationId xmlns:a16="http://schemas.microsoft.com/office/drawing/2014/main" id="{803C9D44-9D4B-D643-817D-69BD0740A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391400" cy="1066800"/>
          </a:xfrm>
        </p:spPr>
        <p:txBody>
          <a:bodyPr/>
          <a:lstStyle/>
          <a:p>
            <a:r>
              <a:rPr lang="en-US" altLang="en-US"/>
              <a:t>Visualization of Association Rules </a:t>
            </a:r>
            <a:br>
              <a:rPr lang="en-US" altLang="en-US"/>
            </a:br>
            <a:r>
              <a:rPr lang="en-US" altLang="en-US"/>
              <a:t>(SGI/MineSet 3.0)</a:t>
            </a:r>
            <a:endParaRPr lang="en-US" altLang="en-US" b="1"/>
          </a:p>
        </p:txBody>
      </p:sp>
      <p:pic>
        <p:nvPicPr>
          <p:cNvPr id="1545219" name="Picture 3">
            <a:extLst>
              <a:ext uri="{FF2B5EF4-FFF2-40B4-BE49-F238E27FC236}">
                <a16:creationId xmlns:a16="http://schemas.microsoft.com/office/drawing/2014/main" id="{DFDF34EE-E53A-D54B-8A86-880652467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809D7-0872-2D4A-9CFE-31F4966B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5C74-3C38-5640-9BFA-B1E96B83048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373D6-36A4-EF4E-A2FF-61237099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52840-1623-AF43-BE65-8FE9F963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F0AA9-14DF-7541-A179-B50D0D3DD3D6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627138" name="Rectangle 2">
            <a:extLst>
              <a:ext uri="{FF2B5EF4-FFF2-40B4-BE49-F238E27FC236}">
                <a16:creationId xmlns:a16="http://schemas.microsoft.com/office/drawing/2014/main" id="{95182CC6-53D5-EF44-A29E-23643D942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 dirty="0"/>
              <a:t>Mining Frequent Patterns, Association and Correlations</a:t>
            </a:r>
          </a:p>
        </p:txBody>
      </p:sp>
      <p:sp>
        <p:nvSpPr>
          <p:cNvPr id="1627139" name="Rectangle 3">
            <a:extLst>
              <a:ext uri="{FF2B5EF4-FFF2-40B4-BE49-F238E27FC236}">
                <a16:creationId xmlns:a16="http://schemas.microsoft.com/office/drawing/2014/main" id="{FFB369A2-2907-104A-89BB-C87FF3FD39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79248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627141" name="AutoShape 5">
            <a:extLst>
              <a:ext uri="{FF2B5EF4-FFF2-40B4-BE49-F238E27FC236}">
                <a16:creationId xmlns:a16="http://schemas.microsoft.com/office/drawing/2014/main" id="{17F98670-3A43-F144-B9E7-43536C4A7FC1}"/>
              </a:ext>
            </a:extLst>
          </p:cNvPr>
          <p:cNvSpPr>
            <a:spLocks noChangeArrowheads="1"/>
          </p:cNvSpPr>
          <p:nvPr/>
        </p:nvSpPr>
        <p:spPr bwMode="auto">
          <a:xfrm rot="635239">
            <a:off x="7620000" y="373380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84F95-5A1E-9849-85DF-0DC0EEC6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DAAD-7235-3341-A5F8-922DBA8257E4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2363-DE8A-B441-9B22-7EFF8C42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E6FFF-9922-5F4B-91AB-4C378394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84F0-57F4-CF45-9C00-4C9C2F34B325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551362" name="Rectangle 2">
            <a:extLst>
              <a:ext uri="{FF2B5EF4-FFF2-40B4-BE49-F238E27FC236}">
                <a16:creationId xmlns:a16="http://schemas.microsoft.com/office/drawing/2014/main" id="{E5DC0B9D-93AF-D644-87C0-6997967E1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7620000" cy="685800"/>
          </a:xfrm>
        </p:spPr>
        <p:txBody>
          <a:bodyPr/>
          <a:lstStyle/>
          <a:p>
            <a:r>
              <a:rPr lang="en-US" altLang="en-US" sz="3200"/>
              <a:t>Mining Various Kinds of Association Rules</a:t>
            </a:r>
          </a:p>
        </p:txBody>
      </p:sp>
      <p:sp>
        <p:nvSpPr>
          <p:cNvPr id="1551363" name="Rectangle 3">
            <a:extLst>
              <a:ext uri="{FF2B5EF4-FFF2-40B4-BE49-F238E27FC236}">
                <a16:creationId xmlns:a16="http://schemas.microsoft.com/office/drawing/2014/main" id="{A8B10112-A14C-3F47-9540-D668A74E8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105400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US" altLang="en-US"/>
              <a:t>Mining multilevel association</a:t>
            </a:r>
          </a:p>
          <a:p>
            <a:pPr>
              <a:lnSpc>
                <a:spcPct val="170000"/>
              </a:lnSpc>
            </a:pPr>
            <a:r>
              <a:rPr lang="en-US" altLang="en-US"/>
              <a:t>Miming multidimensional association</a:t>
            </a:r>
          </a:p>
          <a:p>
            <a:pPr>
              <a:lnSpc>
                <a:spcPct val="170000"/>
              </a:lnSpc>
            </a:pPr>
            <a:r>
              <a:rPr lang="en-US" altLang="en-US"/>
              <a:t>Mining quantitative association </a:t>
            </a:r>
          </a:p>
          <a:p>
            <a:pPr>
              <a:lnSpc>
                <a:spcPct val="170000"/>
              </a:lnSpc>
            </a:pPr>
            <a:r>
              <a:rPr lang="en-US" altLang="en-US"/>
              <a:t>Mining interesting correlation patterns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EFE4403-AB8C-BC40-A48B-AE59D2B5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11F7-8BA4-F346-BA6E-31C1CAD4DEF0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E259C46F-8CEC-C04E-92C6-43DE66D9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2179473-F59E-884D-8347-ECBDC8E6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9C3-3E19-0646-B474-7719FD48D662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552386" name="Rectangle 2">
            <a:extLst>
              <a:ext uri="{FF2B5EF4-FFF2-40B4-BE49-F238E27FC236}">
                <a16:creationId xmlns:a16="http://schemas.microsoft.com/office/drawing/2014/main" id="{41D0C359-320C-324C-9B32-2A516B0F6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381000"/>
            <a:ext cx="7845425" cy="609600"/>
          </a:xfrm>
        </p:spPr>
        <p:txBody>
          <a:bodyPr/>
          <a:lstStyle/>
          <a:p>
            <a:r>
              <a:rPr lang="en-US" altLang="en-US" sz="3200"/>
              <a:t>Mining Multiple-Level Association Rules</a:t>
            </a:r>
          </a:p>
        </p:txBody>
      </p:sp>
      <p:sp>
        <p:nvSpPr>
          <p:cNvPr id="1552387" name="Rectangle 3">
            <a:extLst>
              <a:ext uri="{FF2B5EF4-FFF2-40B4-BE49-F238E27FC236}">
                <a16:creationId xmlns:a16="http://schemas.microsoft.com/office/drawing/2014/main" id="{571D4FE5-C206-544C-B5CD-8AE939064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236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Items often form hierarchies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Flexible support settings 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Items at the lower level are expected to have lower support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Exploration of </a:t>
            </a:r>
            <a:r>
              <a:rPr lang="en-US" altLang="en-US" sz="2400" i="1">
                <a:solidFill>
                  <a:schemeClr val="folHlink"/>
                </a:solidFill>
              </a:rPr>
              <a:t>shared</a:t>
            </a:r>
            <a:r>
              <a:rPr lang="en-US" altLang="en-US" sz="2400"/>
              <a:t> multi-level mining (Agrawal &amp; Srikant@VLB’95, Han &amp; Fu@VLDB’95)</a:t>
            </a:r>
          </a:p>
        </p:txBody>
      </p:sp>
      <p:grpSp>
        <p:nvGrpSpPr>
          <p:cNvPr id="1552388" name="Group 4">
            <a:extLst>
              <a:ext uri="{FF2B5EF4-FFF2-40B4-BE49-F238E27FC236}">
                <a16:creationId xmlns:a16="http://schemas.microsoft.com/office/drawing/2014/main" id="{14E88221-A13D-0C46-A96C-01649EEEF22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962400"/>
            <a:ext cx="7253288" cy="2249488"/>
            <a:chOff x="384" y="1392"/>
            <a:chExt cx="4569" cy="1230"/>
          </a:xfrm>
        </p:grpSpPr>
        <p:sp>
          <p:nvSpPr>
            <p:cNvPr id="1552389" name="Rectangle 5">
              <a:extLst>
                <a:ext uri="{FF2B5EF4-FFF2-40B4-BE49-F238E27FC236}">
                  <a16:creationId xmlns:a16="http://schemas.microsoft.com/office/drawing/2014/main" id="{9FBCDD24-AAC7-B546-85EC-44FCC09F2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9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uniform support</a:t>
              </a:r>
              <a:endParaRPr lang="en-US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552390" name="Text Box 6">
              <a:extLst>
                <a:ext uri="{FF2B5EF4-FFF2-40B4-BE49-F238E27FC236}">
                  <a16:creationId xmlns:a16="http://schemas.microsoft.com/office/drawing/2014/main" id="{8DAD71F6-0461-5A46-A8A5-879AE1C6F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776"/>
              <a:ext cx="120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Milk</a:t>
              </a:r>
            </a:p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[support = 10%]</a:t>
              </a:r>
            </a:p>
          </p:txBody>
        </p:sp>
        <p:sp>
          <p:nvSpPr>
            <p:cNvPr id="1552391" name="Text Box 7">
              <a:extLst>
                <a:ext uri="{FF2B5EF4-FFF2-40B4-BE49-F238E27FC236}">
                  <a16:creationId xmlns:a16="http://schemas.microsoft.com/office/drawing/2014/main" id="{4F4BE645-DBB2-E64B-ACA4-C74D8190D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304"/>
              <a:ext cx="1152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2% Milk </a:t>
              </a:r>
            </a:p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[support = 6%]</a:t>
              </a:r>
            </a:p>
          </p:txBody>
        </p:sp>
        <p:sp>
          <p:nvSpPr>
            <p:cNvPr id="1552392" name="Text Box 8">
              <a:extLst>
                <a:ext uri="{FF2B5EF4-FFF2-40B4-BE49-F238E27FC236}">
                  <a16:creationId xmlns:a16="http://schemas.microsoft.com/office/drawing/2014/main" id="{D467A637-9881-144C-882E-F7AB75CC1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304"/>
              <a:ext cx="1104" cy="311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Skim Milk </a:t>
              </a:r>
            </a:p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[support = 4%]</a:t>
              </a:r>
              <a:endParaRPr lang="en-US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552393" name="Text Box 9">
              <a:extLst>
                <a:ext uri="{FF2B5EF4-FFF2-40B4-BE49-F238E27FC236}">
                  <a16:creationId xmlns:a16="http://schemas.microsoft.com/office/drawing/2014/main" id="{7C622F77-AB4F-D347-927C-B0ABD31C0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91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Level 1</a:t>
              </a:r>
            </a:p>
            <a:p>
              <a:pPr eaLnBrk="0" hangingPunct="0"/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1552394" name="Text Box 10">
              <a:extLst>
                <a:ext uri="{FF2B5EF4-FFF2-40B4-BE49-F238E27FC236}">
                  <a16:creationId xmlns:a16="http://schemas.microsoft.com/office/drawing/2014/main" id="{6866BF65-AEB0-0947-94A3-22F899161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Level 2</a:t>
              </a:r>
            </a:p>
            <a:p>
              <a:pPr eaLnBrk="0" hangingPunct="0"/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1552395" name="Text Box 11">
              <a:extLst>
                <a:ext uri="{FF2B5EF4-FFF2-40B4-BE49-F238E27FC236}">
                  <a16:creationId xmlns:a16="http://schemas.microsoft.com/office/drawing/2014/main" id="{2E5D424B-B262-B44D-A52D-E4DB83D7B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776"/>
              <a:ext cx="81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4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Level 1</a:t>
              </a:r>
            </a:p>
            <a:p>
              <a:pPr eaLnBrk="0" hangingPunct="0"/>
              <a:r>
                <a:rPr lang="en-US" altLang="en-US" sz="14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1552396" name="Text Box 12">
              <a:extLst>
                <a:ext uri="{FF2B5EF4-FFF2-40B4-BE49-F238E27FC236}">
                  <a16:creationId xmlns:a16="http://schemas.microsoft.com/office/drawing/2014/main" id="{FDBC3906-F299-214A-A64D-38CE215F3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04"/>
              <a:ext cx="81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4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Level 2</a:t>
              </a:r>
            </a:p>
            <a:p>
              <a:pPr eaLnBrk="0" hangingPunct="0"/>
              <a:r>
                <a:rPr lang="en-US" altLang="en-US" sz="14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min_sup = 3%</a:t>
              </a:r>
            </a:p>
          </p:txBody>
        </p:sp>
        <p:sp>
          <p:nvSpPr>
            <p:cNvPr id="1552397" name="Rectangle 13">
              <a:extLst>
                <a:ext uri="{FF2B5EF4-FFF2-40B4-BE49-F238E27FC236}">
                  <a16:creationId xmlns:a16="http://schemas.microsoft.com/office/drawing/2014/main" id="{552CDD07-E139-1244-8CBD-00F225215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1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chemeClr val="folHlink"/>
                  </a:solidFill>
                </a:rPr>
                <a:t>reduced support</a:t>
              </a:r>
            </a:p>
          </p:txBody>
        </p:sp>
        <p:cxnSp>
          <p:nvCxnSpPr>
            <p:cNvPr id="1552398" name="AutoShape 14">
              <a:extLst>
                <a:ext uri="{FF2B5EF4-FFF2-40B4-BE49-F238E27FC236}">
                  <a16:creationId xmlns:a16="http://schemas.microsoft.com/office/drawing/2014/main" id="{D15234FE-D138-2644-A901-2590EBA1441D}"/>
                </a:ext>
              </a:extLst>
            </p:cNvPr>
            <p:cNvCxnSpPr>
              <a:cxnSpLocks noChangeShapeType="1"/>
              <a:stCxn id="1552390" idx="2"/>
              <a:endCxn id="1552391" idx="0"/>
            </p:cNvCxnSpPr>
            <p:nvPr/>
          </p:nvCxnSpPr>
          <p:spPr bwMode="auto">
            <a:xfrm flipH="1">
              <a:off x="2112" y="2135"/>
              <a:ext cx="600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52399" name="AutoShape 15">
              <a:extLst>
                <a:ext uri="{FF2B5EF4-FFF2-40B4-BE49-F238E27FC236}">
                  <a16:creationId xmlns:a16="http://schemas.microsoft.com/office/drawing/2014/main" id="{B769DA0C-FFA2-774C-B8C8-56347FCFA6BD}"/>
                </a:ext>
              </a:extLst>
            </p:cNvPr>
            <p:cNvCxnSpPr>
              <a:cxnSpLocks noChangeShapeType="1"/>
              <a:stCxn id="1552390" idx="2"/>
              <a:endCxn id="1552392" idx="0"/>
            </p:cNvCxnSpPr>
            <p:nvPr/>
          </p:nvCxnSpPr>
          <p:spPr bwMode="auto">
            <a:xfrm>
              <a:off x="2712" y="2135"/>
              <a:ext cx="624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2C8B33-D50B-5840-B567-99FB22EF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B5D5-B0B6-0F46-BFE0-3FC475A1F72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FB83FB-6BFA-244B-9789-651BF290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3683A8-500E-064C-A09B-8F98282A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FDA3-59C9-EF49-93BE-4FB62D412FBD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1188866" name="Rectangle 2">
            <a:extLst>
              <a:ext uri="{FF2B5EF4-FFF2-40B4-BE49-F238E27FC236}">
                <a16:creationId xmlns:a16="http://schemas.microsoft.com/office/drawing/2014/main" id="{7B39FBCB-C124-6946-95A9-F7DA4217E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58200" cy="609600"/>
          </a:xfrm>
        </p:spPr>
        <p:txBody>
          <a:bodyPr/>
          <a:lstStyle/>
          <a:p>
            <a:r>
              <a:rPr lang="en-US" altLang="en-US" sz="3200"/>
              <a:t>Multi-level Association: Redundancy Filtering</a:t>
            </a:r>
          </a:p>
        </p:txBody>
      </p:sp>
      <p:sp>
        <p:nvSpPr>
          <p:cNvPr id="1188867" name="Rectangle 3">
            <a:extLst>
              <a:ext uri="{FF2B5EF4-FFF2-40B4-BE49-F238E27FC236}">
                <a16:creationId xmlns:a16="http://schemas.microsoft.com/office/drawing/2014/main" id="{2126DEF8-0417-0A40-BE51-053CB0982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48148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Some rules may be redundant due to “ancestor” relationships between items.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Example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solidFill>
                  <a:schemeClr val="folHlink"/>
                </a:solidFill>
              </a:rPr>
              <a:t>milk </a:t>
            </a:r>
            <a:r>
              <a:rPr lang="en-US" altLang="en-US" sz="2400">
                <a:solidFill>
                  <a:schemeClr val="folHlink"/>
                </a:solidFill>
                <a:sym typeface="Symbol" pitchFamily="2" charset="2"/>
              </a:rPr>
              <a:t> wheat bread   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[support = 8%, confidence = 70%]</a:t>
            </a:r>
            <a:endParaRPr lang="en-US" altLang="en-US" sz="2400"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400">
                <a:solidFill>
                  <a:schemeClr val="folHlink"/>
                </a:solidFill>
                <a:sym typeface="Symbol" pitchFamily="2" charset="2"/>
              </a:rPr>
              <a:t>2% milk  wheat bread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[support = 2%, confidence = 72%]</a:t>
            </a:r>
          </a:p>
          <a:p>
            <a:pPr>
              <a:lnSpc>
                <a:spcPct val="120000"/>
              </a:lnSpc>
            </a:pPr>
            <a:r>
              <a:rPr lang="en-US" altLang="en-US" sz="2400">
                <a:sym typeface="Symbol" pitchFamily="2" charset="2"/>
              </a:rPr>
              <a:t>We say the first rule is an ancestor of the second rule.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A rule is redundant if its support is close to the “expected” value, based on the rule’s ancestor.</a:t>
            </a:r>
            <a:endParaRPr lang="en-US" altLang="en-US" sz="2400">
              <a:sym typeface="Symbol" pitchFamily="2" charset="2"/>
            </a:endParaRPr>
          </a:p>
        </p:txBody>
      </p:sp>
      <p:sp>
        <p:nvSpPr>
          <p:cNvPr id="1188868" name="Rectangle 4">
            <a:extLst>
              <a:ext uri="{FF2B5EF4-FFF2-40B4-BE49-F238E27FC236}">
                <a16:creationId xmlns:a16="http://schemas.microsoft.com/office/drawing/2014/main" id="{880F883C-6A69-F54E-A084-F5C22339E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10200"/>
            <a:ext cx="8382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868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5DE0D7D-5907-F445-93A2-7E4CB387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EF280-901B-824D-8F8F-003FF45D516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CD4505-CFF5-6341-9FF4-117FFD0B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4E885D-126D-1946-A11B-4EB0EFC3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3745-ED79-5D4F-8E76-358C8AEEC2FE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1553410" name="Rectangle 2">
            <a:extLst>
              <a:ext uri="{FF2B5EF4-FFF2-40B4-BE49-F238E27FC236}">
                <a16:creationId xmlns:a16="http://schemas.microsoft.com/office/drawing/2014/main" id="{C24EFED0-0825-B44A-A6BF-E23F3CC2B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564438" cy="685800"/>
          </a:xfrm>
        </p:spPr>
        <p:txBody>
          <a:bodyPr/>
          <a:lstStyle/>
          <a:p>
            <a:r>
              <a:rPr lang="en-US" altLang="en-US" sz="3200"/>
              <a:t>Mining Multi-Dimensional Association</a:t>
            </a:r>
          </a:p>
        </p:txBody>
      </p:sp>
      <p:sp>
        <p:nvSpPr>
          <p:cNvPr id="1553411" name="Rectangle 3">
            <a:extLst>
              <a:ext uri="{FF2B5EF4-FFF2-40B4-BE49-F238E27FC236}">
                <a16:creationId xmlns:a16="http://schemas.microsoft.com/office/drawing/2014/main" id="{6BC0E3F9-CABD-9447-83D8-B07EB3A2B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Single-dimensional rules:</a:t>
            </a:r>
          </a:p>
          <a:p>
            <a:pPr lvl="2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buys(X, “milk”)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 buys(X, “bread”)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Multi-dimensional rules: </a:t>
            </a:r>
            <a:r>
              <a:rPr lang="en-US" altLang="en-US" sz="2400">
                <a:sym typeface="Symbol" pitchFamily="2" charset="2"/>
              </a:rPr>
              <a:t></a:t>
            </a:r>
            <a:r>
              <a:rPr lang="en-US" altLang="en-US" sz="2400">
                <a:sym typeface="Math B" pitchFamily="2" charset="2"/>
              </a:rPr>
              <a:t> </a:t>
            </a:r>
            <a:r>
              <a:rPr lang="en-US" altLang="en-US" sz="2400"/>
              <a:t>2 dimensions or predicates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Inter-dimension assoc. rules (</a:t>
            </a:r>
            <a:r>
              <a:rPr lang="en-US" altLang="en-US" sz="2400" i="1"/>
              <a:t>no repeated predicates</a:t>
            </a:r>
            <a:r>
              <a:rPr lang="en-US" altLang="en-US" sz="2400"/>
              <a:t>)</a:t>
            </a:r>
          </a:p>
          <a:p>
            <a:pPr lvl="2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age(X,”19-25”)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 </a:t>
            </a:r>
            <a:r>
              <a:rPr lang="en-US" altLang="en-US" sz="2000">
                <a:solidFill>
                  <a:schemeClr val="folHlink"/>
                </a:solidFill>
              </a:rPr>
              <a:t>occupation(X,“student”)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 buys(X, “coke”)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hybrid-dimension assoc. rules (</a:t>
            </a:r>
            <a:r>
              <a:rPr lang="en-US" altLang="en-US" sz="2400" i="1">
                <a:sym typeface="Symbol" pitchFamily="2" charset="2"/>
              </a:rPr>
              <a:t>repeated predicates</a:t>
            </a:r>
            <a:r>
              <a:rPr lang="en-US" altLang="en-US" sz="2400">
                <a:sym typeface="Symbol" pitchFamily="2" charset="2"/>
              </a:rPr>
              <a:t>)</a:t>
            </a:r>
          </a:p>
          <a:p>
            <a:pPr lvl="2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age(X,”19-25”)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  </a:t>
            </a:r>
            <a:r>
              <a:rPr lang="en-US" altLang="en-US" sz="2000">
                <a:solidFill>
                  <a:schemeClr val="folHlink"/>
                </a:solidFill>
              </a:rPr>
              <a:t>buys(X, “popcorn”) </a:t>
            </a:r>
            <a:r>
              <a:rPr lang="en-US" altLang="en-US" sz="2000">
                <a:solidFill>
                  <a:schemeClr val="folHlink"/>
                </a:solidFill>
                <a:sym typeface="Symbol" pitchFamily="2" charset="2"/>
              </a:rPr>
              <a:t> buys(X, “coke”)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Categorical Attributes: finite number of possible values, no ordering among values—data cube approach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Quantitative Attributes: numeric, implicit ordering among values—discretization, clustering, and gradient approaches</a:t>
            </a:r>
          </a:p>
          <a:p>
            <a:pPr>
              <a:lnSpc>
                <a:spcPct val="110000"/>
              </a:lnSpc>
            </a:pPr>
            <a:endParaRPr lang="en-US" altLang="en-US" sz="2400">
              <a:solidFill>
                <a:schemeClr val="folHlink"/>
              </a:solidFill>
              <a:sym typeface="Symbol" pitchFamily="2" charset="2"/>
            </a:endParaRPr>
          </a:p>
        </p:txBody>
      </p:sp>
      <p:sp>
        <p:nvSpPr>
          <p:cNvPr id="1553412" name="Rectangle 4">
            <a:extLst>
              <a:ext uri="{FF2B5EF4-FFF2-40B4-BE49-F238E27FC236}">
                <a16:creationId xmlns:a16="http://schemas.microsoft.com/office/drawing/2014/main" id="{8B65FFD8-2CCD-6049-A53E-8A8B7C12C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>
              <a:solidFill>
                <a:schemeClr val="folHlink"/>
              </a:solidFill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41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F972E-A0E9-4149-B0CB-47C54ED5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BA7C5-257C-9345-94FF-2555860D126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C2991-CEAB-1C4E-AF4B-31C62ED8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E5B9A-D4DB-814F-9C9E-F3986773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656F-501A-694D-9CB9-74E872C32A7D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554434" name="Rectangle 2">
            <a:extLst>
              <a:ext uri="{FF2B5EF4-FFF2-40B4-BE49-F238E27FC236}">
                <a16:creationId xmlns:a16="http://schemas.microsoft.com/office/drawing/2014/main" id="{CC6617AB-AEAC-1B4F-968E-895EDE8E4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762000"/>
          </a:xfrm>
        </p:spPr>
        <p:txBody>
          <a:bodyPr/>
          <a:lstStyle/>
          <a:p>
            <a:r>
              <a:rPr lang="en-US" altLang="en-US" sz="3200"/>
              <a:t>Mining Quantitative Associations</a:t>
            </a:r>
          </a:p>
        </p:txBody>
      </p:sp>
      <p:sp>
        <p:nvSpPr>
          <p:cNvPr id="1554435" name="Rectangle 3">
            <a:extLst>
              <a:ext uri="{FF2B5EF4-FFF2-40B4-BE49-F238E27FC236}">
                <a16:creationId xmlns:a16="http://schemas.microsoft.com/office/drawing/2014/main" id="{56489D69-D94D-AC40-9BB4-85F4DE649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029200"/>
          </a:xfrm>
        </p:spPr>
        <p:txBody>
          <a:bodyPr/>
          <a:lstStyle/>
          <a:p>
            <a:pPr marL="533400" indent="-533400"/>
            <a:r>
              <a:rPr lang="en-US" altLang="en-US" sz="2400"/>
              <a:t>Techniques can be categorized by how numerical attributes, such as </a:t>
            </a:r>
            <a:r>
              <a:rPr lang="en-US" altLang="en-US" sz="2400">
                <a:solidFill>
                  <a:schemeClr val="folHlink"/>
                </a:solidFill>
              </a:rPr>
              <a:t>age </a:t>
            </a:r>
            <a:r>
              <a:rPr lang="en-US" altLang="en-US" sz="2400"/>
              <a:t>or</a:t>
            </a:r>
            <a:r>
              <a:rPr lang="en-US" altLang="en-US" sz="2400">
                <a:solidFill>
                  <a:schemeClr val="folHlink"/>
                </a:solidFill>
              </a:rPr>
              <a:t> salary</a:t>
            </a:r>
            <a:r>
              <a:rPr lang="en-US" altLang="en-US" sz="2400"/>
              <a:t> are treated</a:t>
            </a:r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arabicPeriod"/>
            </a:pPr>
            <a:r>
              <a:rPr lang="en-US" altLang="en-US" sz="2400"/>
              <a:t>Static discretization based on predefined concept hierarchies (data cube methods)</a:t>
            </a:r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arabicPeriod"/>
            </a:pPr>
            <a:r>
              <a:rPr lang="en-US" altLang="en-US" sz="2400"/>
              <a:t>Dynamic discretization based on data distribution (quantitative rules, e.g., Agrawal &amp; Srikant@SIGMOD96) </a:t>
            </a:r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arabicPeriod"/>
            </a:pPr>
            <a:r>
              <a:rPr lang="en-US" altLang="en-US" sz="2400"/>
              <a:t>Clustering: Distance-based association (e.g., Yang &amp; Miller@SIGMOD97) </a:t>
            </a:r>
          </a:p>
          <a:p>
            <a:pPr marL="990600" lvl="1" indent="-533400">
              <a:lnSpc>
                <a:spcPct val="110000"/>
              </a:lnSpc>
              <a:buSzTx/>
            </a:pPr>
            <a:r>
              <a:rPr lang="en-US" altLang="en-US" sz="2400"/>
              <a:t>one dimensional clustering then association</a:t>
            </a:r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arabicPeriod"/>
            </a:pPr>
            <a:r>
              <a:rPr lang="en-US" altLang="en-US" sz="2400"/>
              <a:t>Deviation: (such as Aumann and Lindell@KDD99)</a:t>
            </a:r>
          </a:p>
          <a:p>
            <a:pPr marL="990600" lvl="1" indent="-533400">
              <a:lnSpc>
                <a:spcPct val="110000"/>
              </a:lnSpc>
              <a:buSzTx/>
              <a:buFont typeface="Wingdings" pitchFamily="2" charset="2"/>
              <a:buNone/>
            </a:pPr>
            <a:r>
              <a:rPr lang="en-US" altLang="en-US" sz="2000"/>
              <a:t>Sex = female =&gt; Wage: mean=$7/hr (overall mean = $9)</a:t>
            </a:r>
          </a:p>
          <a:p>
            <a:pPr marL="533400" indent="-533400">
              <a:buSzTx/>
            </a:pPr>
            <a:endParaRPr lang="en-US" altLang="en-US" sz="2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AA239108-6407-3C47-AE9A-A2D77D8C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C24A-8E58-CF46-A057-F7D56FBD0B59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242D95FC-C63A-F24C-BCF1-06840CFF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DCE6C866-6CE5-E847-8C93-1D771710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C630-C1E6-654B-8560-0C3F26B0C289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1198082" name="Rectangle 1026">
            <a:extLst>
              <a:ext uri="{FF2B5EF4-FFF2-40B4-BE49-F238E27FC236}">
                <a16:creationId xmlns:a16="http://schemas.microsoft.com/office/drawing/2014/main" id="{58ED7B75-5DB6-034B-8EF9-61A54F3DF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85800"/>
          </a:xfrm>
        </p:spPr>
        <p:txBody>
          <a:bodyPr/>
          <a:lstStyle/>
          <a:p>
            <a:r>
              <a:rPr lang="en-US" altLang="en-US" sz="3200"/>
              <a:t>Static Discretization of Quantitative Attributes</a:t>
            </a:r>
            <a:endParaRPr lang="en-US" altLang="en-US" sz="4000"/>
          </a:p>
        </p:txBody>
      </p:sp>
      <p:sp>
        <p:nvSpPr>
          <p:cNvPr id="1198083" name="Rectangle 1027">
            <a:extLst>
              <a:ext uri="{FF2B5EF4-FFF2-40B4-BE49-F238E27FC236}">
                <a16:creationId xmlns:a16="http://schemas.microsoft.com/office/drawing/2014/main" id="{083596EB-3953-584D-ACAF-8F5A1C75D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400"/>
              <a:t>Discretized prior to mining using concept hierarchy.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Numeric values are replaced by ranges.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In relational database, finding all frequent k-predicate sets will require </a:t>
            </a:r>
            <a:r>
              <a:rPr lang="en-US" altLang="en-US" sz="2400" i="1"/>
              <a:t>k</a:t>
            </a:r>
            <a:r>
              <a:rPr lang="en-US" altLang="en-US" sz="2400"/>
              <a:t> or </a:t>
            </a:r>
            <a:r>
              <a:rPr lang="en-US" altLang="en-US" sz="2400" i="1"/>
              <a:t>k</a:t>
            </a:r>
            <a:r>
              <a:rPr lang="en-US" altLang="en-US" sz="2400"/>
              <a:t>+1 table scans.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Data cube is well suited for mining.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The cells of an n-dimensional 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3366"/>
                </a:solidFill>
              </a:rPr>
              <a:t>cuboid correspond to the 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3366"/>
                </a:solidFill>
              </a:rPr>
              <a:t>predicate sets.</a:t>
            </a:r>
            <a:endParaRPr lang="en-US" altLang="en-US" sz="2000">
              <a:solidFill>
                <a:srgbClr val="003366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400"/>
              <a:t>Mining from data cubes</a:t>
            </a:r>
            <a:br>
              <a:rPr lang="en-US" altLang="en-US" sz="2400"/>
            </a:br>
            <a:r>
              <a:rPr lang="en-US" altLang="en-US" sz="2400"/>
              <a:t>can be much faster.</a:t>
            </a:r>
          </a:p>
        </p:txBody>
      </p:sp>
      <p:grpSp>
        <p:nvGrpSpPr>
          <p:cNvPr id="1198084" name="Group 1028">
            <a:extLst>
              <a:ext uri="{FF2B5EF4-FFF2-40B4-BE49-F238E27FC236}">
                <a16:creationId xmlns:a16="http://schemas.microsoft.com/office/drawing/2014/main" id="{C8F0BDDF-9BF9-3340-A513-4ED4E68F13FC}"/>
              </a:ext>
            </a:extLst>
          </p:cNvPr>
          <p:cNvGrpSpPr>
            <a:grpSpLocks/>
          </p:cNvGrpSpPr>
          <p:nvPr/>
        </p:nvGrpSpPr>
        <p:grpSpPr bwMode="auto">
          <a:xfrm>
            <a:off x="4610100" y="3429000"/>
            <a:ext cx="4229100" cy="3094038"/>
            <a:chOff x="2904" y="2160"/>
            <a:chExt cx="2664" cy="1949"/>
          </a:xfrm>
        </p:grpSpPr>
        <p:sp>
          <p:nvSpPr>
            <p:cNvPr id="1198085" name="Line 1029">
              <a:extLst>
                <a:ext uri="{FF2B5EF4-FFF2-40B4-BE49-F238E27FC236}">
                  <a16:creationId xmlns:a16="http://schemas.microsoft.com/office/drawing/2014/main" id="{577067CD-4790-5741-A504-979250407E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3408"/>
              <a:ext cx="672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86" name="Line 1030">
              <a:extLst>
                <a:ext uri="{FF2B5EF4-FFF2-40B4-BE49-F238E27FC236}">
                  <a16:creationId xmlns:a16="http://schemas.microsoft.com/office/drawing/2014/main" id="{E71FC5EE-AFBC-4849-B81A-796E3D91B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6" y="3384"/>
              <a:ext cx="1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87" name="Freeform 1031">
              <a:extLst>
                <a:ext uri="{FF2B5EF4-FFF2-40B4-BE49-F238E27FC236}">
                  <a16:creationId xmlns:a16="http://schemas.microsoft.com/office/drawing/2014/main" id="{854D2F07-5F9C-0A4F-BC6D-DB8B83EC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432"/>
              <a:ext cx="664" cy="480"/>
            </a:xfrm>
            <a:custGeom>
              <a:avLst/>
              <a:gdLst>
                <a:gd name="T0" fmla="*/ 664 w 664"/>
                <a:gd name="T1" fmla="*/ 480 h 480"/>
                <a:gd name="T2" fmla="*/ 0 w 664"/>
                <a:gd name="T3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4" h="480">
                  <a:moveTo>
                    <a:pt x="664" y="48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88" name="Text Box 1032">
              <a:extLst>
                <a:ext uri="{FF2B5EF4-FFF2-40B4-BE49-F238E27FC236}">
                  <a16:creationId xmlns:a16="http://schemas.microsoft.com/office/drawing/2014/main" id="{C9CE380E-CCB4-D04D-903D-8C7665915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88"/>
              <a:ext cx="5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r"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(income)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089" name="Line 1033">
              <a:extLst>
                <a:ext uri="{FF2B5EF4-FFF2-40B4-BE49-F238E27FC236}">
                  <a16:creationId xmlns:a16="http://schemas.microsoft.com/office/drawing/2014/main" id="{01F6E0F6-2B9E-AA48-ADEE-0B7AA87BE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08"/>
              <a:ext cx="1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0" name="Line 1034">
              <a:extLst>
                <a:ext uri="{FF2B5EF4-FFF2-40B4-BE49-F238E27FC236}">
                  <a16:creationId xmlns:a16="http://schemas.microsoft.com/office/drawing/2014/main" id="{2BB77F6B-E4B5-8F44-A9E3-F921A4254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08"/>
              <a:ext cx="672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1" name="Line 1035">
              <a:extLst>
                <a:ext uri="{FF2B5EF4-FFF2-40B4-BE49-F238E27FC236}">
                  <a16:creationId xmlns:a16="http://schemas.microsoft.com/office/drawing/2014/main" id="{F11CFE87-59B0-FB4F-BE6F-E36CCC586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2856"/>
              <a:ext cx="1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2" name="Line 1036">
              <a:extLst>
                <a:ext uri="{FF2B5EF4-FFF2-40B4-BE49-F238E27FC236}">
                  <a16:creationId xmlns:a16="http://schemas.microsoft.com/office/drawing/2014/main" id="{E67D440D-79AF-324A-87E6-957BD15C7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6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3" name="Line 1037">
              <a:extLst>
                <a:ext uri="{FF2B5EF4-FFF2-40B4-BE49-F238E27FC236}">
                  <a16:creationId xmlns:a16="http://schemas.microsoft.com/office/drawing/2014/main" id="{1783C42A-BA8B-CD4B-B115-0CFA2FFA8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4" y="2376"/>
              <a:ext cx="624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4" name="Line 1038">
              <a:extLst>
                <a:ext uri="{FF2B5EF4-FFF2-40B4-BE49-F238E27FC236}">
                  <a16:creationId xmlns:a16="http://schemas.microsoft.com/office/drawing/2014/main" id="{2F1DAC2E-D5D6-9846-B9B8-16E48A8D76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2376"/>
              <a:ext cx="720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5" name="Line 1039">
              <a:extLst>
                <a:ext uri="{FF2B5EF4-FFF2-40B4-BE49-F238E27FC236}">
                  <a16:creationId xmlns:a16="http://schemas.microsoft.com/office/drawing/2014/main" id="{98DA8604-CA83-F34B-A76B-3EC014C7F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6" y="2376"/>
              <a:ext cx="48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6" name="Text Box 1040">
              <a:extLst>
                <a:ext uri="{FF2B5EF4-FFF2-40B4-BE49-F238E27FC236}">
                  <a16:creationId xmlns:a16="http://schemas.microsoft.com/office/drawing/2014/main" id="{5A570E1F-B21F-E040-B2FB-064963510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2688"/>
              <a:ext cx="2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097" name="Text Box 1041">
              <a:extLst>
                <a:ext uri="{FF2B5EF4-FFF2-40B4-BE49-F238E27FC236}">
                  <a16:creationId xmlns:a16="http://schemas.microsoft.com/office/drawing/2014/main" id="{B39AD5CD-989E-454C-A322-ADBC8CFF0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216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098" name="Line 1042">
              <a:extLst>
                <a:ext uri="{FF2B5EF4-FFF2-40B4-BE49-F238E27FC236}">
                  <a16:creationId xmlns:a16="http://schemas.microsoft.com/office/drawing/2014/main" id="{D8045D0A-5B3B-EB41-AD92-EB55A4C09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099" name="Line 1043">
              <a:extLst>
                <a:ext uri="{FF2B5EF4-FFF2-40B4-BE49-F238E27FC236}">
                  <a16:creationId xmlns:a16="http://schemas.microsoft.com/office/drawing/2014/main" id="{68999511-D247-F244-8A91-A8498767F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" y="2856"/>
              <a:ext cx="672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00" name="Text Box 1044">
              <a:extLst>
                <a:ext uri="{FF2B5EF4-FFF2-40B4-BE49-F238E27FC236}">
                  <a16:creationId xmlns:a16="http://schemas.microsoft.com/office/drawing/2014/main" id="{53581A6A-30BD-1D40-8610-5CC8A5300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8" y="2688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101" name="Text Box 1045">
              <a:extLst>
                <a:ext uri="{FF2B5EF4-FFF2-40B4-BE49-F238E27FC236}">
                  <a16:creationId xmlns:a16="http://schemas.microsoft.com/office/drawing/2014/main" id="{434B3D15-259C-294A-86E5-88AF7EA76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" y="3360"/>
              <a:ext cx="79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 income)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102" name="Text Box 1046">
              <a:extLst>
                <a:ext uri="{FF2B5EF4-FFF2-40B4-BE49-F238E27FC236}">
                  <a16:creationId xmlns:a16="http://schemas.microsoft.com/office/drawing/2014/main" id="{C87A6743-ABB3-5C40-91E0-F4CEE589E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3360"/>
              <a:ext cx="60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103" name="Text Box 1047">
              <a:extLst>
                <a:ext uri="{FF2B5EF4-FFF2-40B4-BE49-F238E27FC236}">
                  <a16:creationId xmlns:a16="http://schemas.microsoft.com/office/drawing/2014/main" id="{9F58FD88-B8F7-9646-BF2A-0C220D5E8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360"/>
              <a:ext cx="82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(income,buys)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104" name="Text Box 1048">
              <a:extLst>
                <a:ext uri="{FF2B5EF4-FFF2-40B4-BE49-F238E27FC236}">
                  <a16:creationId xmlns:a16="http://schemas.microsoft.com/office/drawing/2014/main" id="{C8D2E88F-2B30-E241-976B-15DB8B4CF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" y="3936"/>
              <a:ext cx="10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0" hangingPunct="0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(age,income,buys)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8429846-A021-814B-A1E3-28B5B8A5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4CC-B0E8-C247-A17D-30F1F1D4B49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CC7EA87-292C-3C49-AED8-8816D305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050D4B-F92D-B943-BEEA-6668D3B2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2760-C867-204C-89F5-B92934CCF309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1660930" name="Rectangle 2">
            <a:extLst>
              <a:ext uri="{FF2B5EF4-FFF2-40B4-BE49-F238E27FC236}">
                <a16:creationId xmlns:a16="http://schemas.microsoft.com/office/drawing/2014/main" id="{C78F465C-B38F-2042-852D-54D9C6F7B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651750" cy="609600"/>
          </a:xfrm>
        </p:spPr>
        <p:txBody>
          <a:bodyPr/>
          <a:lstStyle/>
          <a:p>
            <a:r>
              <a:rPr lang="en-US" altLang="en-US" sz="4000"/>
              <a:t>Quantitative Association Rules</a:t>
            </a:r>
            <a:endParaRPr lang="en-US" altLang="en-US"/>
          </a:p>
        </p:txBody>
      </p:sp>
      <p:graphicFrame>
        <p:nvGraphicFramePr>
          <p:cNvPr id="1660931" name="Object 3">
            <a:extLst>
              <a:ext uri="{FF2B5EF4-FFF2-40B4-BE49-F238E27FC236}">
                <a16:creationId xmlns:a16="http://schemas.microsoft.com/office/drawing/2014/main" id="{A6D0F1D3-DB82-BE40-ABD1-DE87F06B3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316288"/>
          <a:ext cx="5715000" cy="355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950" name="Image" r:id="rId3" imgW="2686050" imgH="1492250" progId="Photoshop.Image.5">
                  <p:embed/>
                </p:oleObj>
              </mc:Choice>
              <mc:Fallback>
                <p:oleObj name="Image" r:id="rId3" imgW="2686050" imgH="1492250" progId="Photoshop.Image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316288"/>
                        <a:ext cx="5715000" cy="355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0932" name="Text Box 4">
            <a:extLst>
              <a:ext uri="{FF2B5EF4-FFF2-40B4-BE49-F238E27FC236}">
                <a16:creationId xmlns:a16="http://schemas.microsoft.com/office/drawing/2014/main" id="{16F4F094-BF40-0A4C-A9EF-D49FF03C5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257800"/>
            <a:ext cx="4648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>
                <a:solidFill>
                  <a:schemeClr val="folHlink"/>
                </a:solidFill>
                <a:latin typeface="Times New Roman" panose="02020603050405020304" pitchFamily="18" charset="0"/>
              </a:rPr>
              <a:t>age(X,”34-35”) </a:t>
            </a:r>
            <a:r>
              <a:rPr lang="en-US" altLang="en-US" sz="2000" b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 income(X,”30-50K”) </a:t>
            </a:r>
          </a:p>
          <a:p>
            <a:pPr eaLnBrk="0" hangingPunct="0"/>
            <a:r>
              <a:rPr lang="en-US" altLang="en-US" sz="2000" b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       buys(X,”high resolution TV”)</a:t>
            </a:r>
            <a:endParaRPr lang="en-US" altLang="en-US" sz="1800">
              <a:solidFill>
                <a:schemeClr val="folHlink"/>
              </a:solidFill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1660933" name="Rectangle 5">
            <a:extLst>
              <a:ext uri="{FF2B5EF4-FFF2-40B4-BE49-F238E27FC236}">
                <a16:creationId xmlns:a16="http://schemas.microsoft.com/office/drawing/2014/main" id="{62BC553E-D4B4-2547-AE0E-23E5BC3ED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1600"/>
            <a:ext cx="8382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/>
              <a:t>Proposed by Lent, Swami and Widom ICDE’97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Numeric attributes are </a:t>
            </a:r>
            <a:r>
              <a:rPr lang="en-US" altLang="en-US" sz="2400" i="1"/>
              <a:t>dynamically</a:t>
            </a:r>
            <a:r>
              <a:rPr lang="en-US" altLang="en-US" sz="2400"/>
              <a:t> discretized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Such that the confidence or compactness of the rules mined is maximized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2-D quantitative association rules: A</a:t>
            </a:r>
            <a:r>
              <a:rPr lang="en-US" altLang="en-US" sz="2400" baseline="-25000"/>
              <a:t>quan1</a:t>
            </a:r>
            <a:r>
              <a:rPr lang="en-US" altLang="en-US" sz="2400"/>
              <a:t> </a:t>
            </a:r>
            <a:r>
              <a:rPr lang="en-US" altLang="en-US" sz="2400">
                <a:sym typeface="Symbol" pitchFamily="2" charset="2"/>
              </a:rPr>
              <a:t> A</a:t>
            </a:r>
            <a:r>
              <a:rPr lang="en-US" altLang="en-US" sz="2400" baseline="-25000">
                <a:sym typeface="Symbol" pitchFamily="2" charset="2"/>
              </a:rPr>
              <a:t>quan2 </a:t>
            </a:r>
            <a:r>
              <a:rPr lang="en-US" altLang="en-US" sz="2400">
                <a:sym typeface="Symbol" pitchFamily="2" charset="2"/>
              </a:rPr>
              <a:t> A</a:t>
            </a:r>
            <a:r>
              <a:rPr lang="en-US" altLang="en-US" sz="2400" baseline="-25000">
                <a:sym typeface="Symbol" pitchFamily="2" charset="2"/>
              </a:rPr>
              <a:t>cat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Cluster </a:t>
            </a:r>
            <a:r>
              <a:rPr lang="en-US" altLang="en-US" sz="2400" i="1"/>
              <a:t>adjacent   </a:t>
            </a:r>
            <a:r>
              <a:rPr lang="en-US" altLang="en-US" sz="2400"/>
              <a:t>                                          </a:t>
            </a:r>
            <a:r>
              <a:rPr lang="en-US" altLang="en-US" sz="2400">
                <a:solidFill>
                  <a:srgbClr val="003366"/>
                </a:solidFill>
              </a:rPr>
              <a:t>association rules                                                         to form general                                                             rules using a 2-D grid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CB7CB-599F-A545-979A-06D075CE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3614-6745-D94C-9A2E-BB3127FC092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DCB31-7A34-5947-9786-C9B44FC4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E014-1BF2-704A-8C1A-DA5D97E6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4B36C-292F-8B4C-A8F7-32A06BF412CD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1556482" name="Rectangle 2">
            <a:extLst>
              <a:ext uri="{FF2B5EF4-FFF2-40B4-BE49-F238E27FC236}">
                <a16:creationId xmlns:a16="http://schemas.microsoft.com/office/drawing/2014/main" id="{BD4BC0D9-2D59-4041-8E04-FFD1A88F2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381000"/>
            <a:ext cx="7981950" cy="609600"/>
          </a:xfrm>
        </p:spPr>
        <p:txBody>
          <a:bodyPr/>
          <a:lstStyle/>
          <a:p>
            <a:r>
              <a:rPr lang="en-US" altLang="en-US" sz="3200"/>
              <a:t>Mining Other Interesting Patterns</a:t>
            </a:r>
          </a:p>
        </p:txBody>
      </p:sp>
      <p:sp>
        <p:nvSpPr>
          <p:cNvPr id="1556483" name="Rectangle 3">
            <a:extLst>
              <a:ext uri="{FF2B5EF4-FFF2-40B4-BE49-F238E27FC236}">
                <a16:creationId xmlns:a16="http://schemas.microsoft.com/office/drawing/2014/main" id="{38CB5A85-E1E3-C041-877E-8AB218B6E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05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Flexible support constraints (Wang et al. @ VLDB’02)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Some items (e.g., diamond) may occur rarely but are valuable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Customized sup</a:t>
            </a:r>
            <a:r>
              <a:rPr lang="en-US" altLang="en-US" sz="2400" baseline="-25000"/>
              <a:t>min </a:t>
            </a:r>
            <a:r>
              <a:rPr lang="en-US" altLang="en-US" sz="2400"/>
              <a:t>specification and application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Top-K closed frequent patterns (Han, et al. @ ICDM’02)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Hard to specify sup</a:t>
            </a:r>
            <a:r>
              <a:rPr lang="en-US" altLang="en-US" sz="2400" baseline="-25000"/>
              <a:t>min</a:t>
            </a:r>
            <a:r>
              <a:rPr lang="en-US" altLang="en-US" sz="2400"/>
              <a:t>, but top-k</a:t>
            </a:r>
            <a:r>
              <a:rPr lang="en-US" altLang="en-US" sz="2400" baseline="-25000"/>
              <a:t> </a:t>
            </a:r>
            <a:r>
              <a:rPr lang="en-US" altLang="en-US" sz="2400"/>
              <a:t>with length</a:t>
            </a:r>
            <a:r>
              <a:rPr lang="en-US" altLang="en-US" sz="2400" baseline="-25000"/>
              <a:t>min </a:t>
            </a:r>
            <a:r>
              <a:rPr lang="en-US" altLang="en-US" sz="2400"/>
              <a:t>is more desirable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Dynamically raise sup</a:t>
            </a:r>
            <a:r>
              <a:rPr lang="en-US" altLang="en-US" sz="2400" baseline="-25000"/>
              <a:t>min</a:t>
            </a:r>
            <a:r>
              <a:rPr lang="en-US" altLang="en-US" sz="2400"/>
              <a:t> in FP-tree construction and mining, and select most promising path to mine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02FC6-7EA6-374F-8CE2-C0AEB498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76AD-5916-8240-94D7-3799C6ADE25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5CD21-D090-1E44-83C7-B8060F23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1DCC2-FB5F-CA45-AFC2-524D181D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4C8BC-396B-3040-B070-591529FD5874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1628162" name="Rectangle 2">
            <a:extLst>
              <a:ext uri="{FF2B5EF4-FFF2-40B4-BE49-F238E27FC236}">
                <a16:creationId xmlns:a16="http://schemas.microsoft.com/office/drawing/2014/main" id="{BD9B3D03-B3D7-E344-813C-D5F2C39C5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 dirty="0"/>
              <a:t>Mining Frequent Patterns, Association and Correlations</a:t>
            </a:r>
          </a:p>
        </p:txBody>
      </p:sp>
      <p:sp>
        <p:nvSpPr>
          <p:cNvPr id="1628163" name="Rectangle 3">
            <a:extLst>
              <a:ext uri="{FF2B5EF4-FFF2-40B4-BE49-F238E27FC236}">
                <a16:creationId xmlns:a16="http://schemas.microsoft.com/office/drawing/2014/main" id="{BECC3ED9-821A-FD44-9D3C-C875DFED73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1534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628165" name="AutoShape 5">
            <a:extLst>
              <a:ext uri="{FF2B5EF4-FFF2-40B4-BE49-F238E27FC236}">
                <a16:creationId xmlns:a16="http://schemas.microsoft.com/office/drawing/2014/main" id="{AB3D7E1F-382B-034A-BF86-68476B4BF38D}"/>
              </a:ext>
            </a:extLst>
          </p:cNvPr>
          <p:cNvSpPr>
            <a:spLocks noChangeArrowheads="1"/>
          </p:cNvSpPr>
          <p:nvPr/>
        </p:nvSpPr>
        <p:spPr bwMode="auto">
          <a:xfrm rot="-2175944">
            <a:off x="8305800" y="373380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5">
            <a:extLst>
              <a:ext uri="{FF2B5EF4-FFF2-40B4-BE49-F238E27FC236}">
                <a16:creationId xmlns:a16="http://schemas.microsoft.com/office/drawing/2014/main" id="{A2F91F80-6B60-8E40-9566-7F7834D8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2FE1-5F7E-694E-998E-68C8B8FBAD24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5" name="Footer Placeholder 6">
            <a:extLst>
              <a:ext uri="{FF2B5EF4-FFF2-40B4-BE49-F238E27FC236}">
                <a16:creationId xmlns:a16="http://schemas.microsoft.com/office/drawing/2014/main" id="{F64A8CF5-E1FA-4D4B-A35B-127D3449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6" name="Slide Number Placeholder 7">
            <a:extLst>
              <a:ext uri="{FF2B5EF4-FFF2-40B4-BE49-F238E27FC236}">
                <a16:creationId xmlns:a16="http://schemas.microsoft.com/office/drawing/2014/main" id="{C74EFDB7-8C71-D94E-8556-1FDABA9C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9CBE-364D-0E42-B8FC-9EE09C1ED8F4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1408002" name="Rectangle 2">
            <a:extLst>
              <a:ext uri="{FF2B5EF4-FFF2-40B4-BE49-F238E27FC236}">
                <a16:creationId xmlns:a16="http://schemas.microsoft.com/office/drawing/2014/main" id="{301B8758-929F-0C47-B048-D5E90B03B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Interestingness Measure: Correlations (Lift)</a:t>
            </a:r>
          </a:p>
        </p:txBody>
      </p:sp>
      <p:sp>
        <p:nvSpPr>
          <p:cNvPr id="1408003" name="Rectangle 3">
            <a:extLst>
              <a:ext uri="{FF2B5EF4-FFF2-40B4-BE49-F238E27FC236}">
                <a16:creationId xmlns:a16="http://schemas.microsoft.com/office/drawing/2014/main" id="{BEC5BE33-4C06-B348-97B9-26E947DF11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534400" cy="2895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i="1"/>
              <a:t>play basketball</a:t>
            </a:r>
            <a:r>
              <a:rPr lang="en-US" altLang="en-US" sz="2000"/>
              <a:t>  </a:t>
            </a:r>
            <a:r>
              <a:rPr lang="en-US" altLang="en-US" sz="2000">
                <a:sym typeface="Symbol" pitchFamily="2" charset="2"/>
              </a:rPr>
              <a:t> </a:t>
            </a:r>
            <a:r>
              <a:rPr lang="en-US" altLang="en-US" sz="2000" i="1">
                <a:sym typeface="Symbol" pitchFamily="2" charset="2"/>
              </a:rPr>
              <a:t>eat cereal</a:t>
            </a:r>
            <a:r>
              <a:rPr lang="en-US" altLang="en-US" sz="2000">
                <a:sym typeface="Symbol" pitchFamily="2" charset="2"/>
              </a:rPr>
              <a:t> [40%, 66.7%]  is misleading</a:t>
            </a:r>
          </a:p>
          <a:p>
            <a:pPr lvl="1">
              <a:lnSpc>
                <a:spcPct val="130000"/>
              </a:lnSpc>
            </a:pPr>
            <a:r>
              <a:rPr lang="en-US" altLang="en-US" sz="2000">
                <a:sym typeface="Symbol" pitchFamily="2" charset="2"/>
              </a:rPr>
              <a:t>The overall % of students eating cereal is 75% &gt; 66.7%.</a:t>
            </a:r>
          </a:p>
          <a:p>
            <a:pPr>
              <a:lnSpc>
                <a:spcPct val="130000"/>
              </a:lnSpc>
            </a:pPr>
            <a:r>
              <a:rPr lang="en-US" altLang="en-US" sz="2000" i="1"/>
              <a:t>play basketball</a:t>
            </a:r>
            <a:r>
              <a:rPr lang="en-US" altLang="en-US" sz="2000"/>
              <a:t>  </a:t>
            </a:r>
            <a:r>
              <a:rPr lang="en-US" altLang="en-US" sz="2000">
                <a:sym typeface="Symbol" pitchFamily="2" charset="2"/>
              </a:rPr>
              <a:t> </a:t>
            </a:r>
            <a:r>
              <a:rPr lang="en-US" altLang="en-US" sz="2000" i="1">
                <a:sym typeface="Symbol" pitchFamily="2" charset="2"/>
              </a:rPr>
              <a:t>not eat cereal</a:t>
            </a:r>
            <a:r>
              <a:rPr lang="en-US" altLang="en-US" sz="2000">
                <a:sym typeface="Symbol" pitchFamily="2" charset="2"/>
              </a:rPr>
              <a:t> [20%, 33.3%] is more accurate, although with lower support and confidence</a:t>
            </a:r>
          </a:p>
          <a:p>
            <a:pPr>
              <a:lnSpc>
                <a:spcPct val="130000"/>
              </a:lnSpc>
            </a:pPr>
            <a:r>
              <a:rPr lang="en-US" altLang="en-US" sz="2000">
                <a:sym typeface="Symbol" pitchFamily="2" charset="2"/>
              </a:rPr>
              <a:t>Measure of dependent/correlated events: </a:t>
            </a:r>
            <a:r>
              <a:rPr lang="en-US" altLang="en-US" sz="2000">
                <a:solidFill>
                  <a:schemeClr val="hlink"/>
                </a:solidFill>
                <a:sym typeface="Symbol" pitchFamily="2" charset="2"/>
              </a:rPr>
              <a:t>lift</a:t>
            </a:r>
          </a:p>
        </p:txBody>
      </p:sp>
      <p:graphicFrame>
        <p:nvGraphicFramePr>
          <p:cNvPr id="1408036" name="Object 36">
            <a:extLst>
              <a:ext uri="{FF2B5EF4-FFF2-40B4-BE49-F238E27FC236}">
                <a16:creationId xmlns:a16="http://schemas.microsoft.com/office/drawing/2014/main" id="{AC1C3439-3960-464A-8768-C0357A579E0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8600" y="5562600"/>
          <a:ext cx="4038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089" name="Equation" r:id="rId3" imgW="61734700" imgH="9067800" progId="Equation.3">
                  <p:embed/>
                </p:oleObj>
              </mc:Choice>
              <mc:Fallback>
                <p:oleObj name="Equation" r:id="rId3" imgW="61734700" imgH="9067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562600"/>
                        <a:ext cx="4038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8004" name="Group 4">
            <a:extLst>
              <a:ext uri="{FF2B5EF4-FFF2-40B4-BE49-F238E27FC236}">
                <a16:creationId xmlns:a16="http://schemas.microsoft.com/office/drawing/2014/main" id="{89D1A6A5-AD41-214D-8598-9E0777CDD65C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657600"/>
          <a:ext cx="5029200" cy="1671639"/>
        </p:xfrm>
        <a:graphic>
          <a:graphicData uri="http://schemas.openxmlformats.org/drawingml/2006/table">
            <a:tbl>
              <a:tblPr/>
              <a:tblGrid>
                <a:gridCol w="1173163">
                  <a:extLst>
                    <a:ext uri="{9D8B030D-6E8A-4147-A177-3AD203B41FA5}">
                      <a16:colId xmlns:a16="http://schemas.microsoft.com/office/drawing/2014/main" val="3830251618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1396822815"/>
                    </a:ext>
                  </a:extLst>
                </a:gridCol>
                <a:gridCol w="1592263">
                  <a:extLst>
                    <a:ext uri="{9D8B030D-6E8A-4147-A177-3AD203B41FA5}">
                      <a16:colId xmlns:a16="http://schemas.microsoft.com/office/drawing/2014/main" val="3733174808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3153335261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Not 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739328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331240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Not 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646829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539364"/>
                  </a:ext>
                </a:extLst>
              </a:tr>
            </a:tbl>
          </a:graphicData>
        </a:graphic>
      </p:graphicFrame>
      <p:graphicFrame>
        <p:nvGraphicFramePr>
          <p:cNvPr id="1408031" name="Object 31">
            <a:extLst>
              <a:ext uri="{FF2B5EF4-FFF2-40B4-BE49-F238E27FC236}">
                <a16:creationId xmlns:a16="http://schemas.microsoft.com/office/drawing/2014/main" id="{6462F5FC-E7EC-2343-9DA2-3A1DC212E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962400"/>
          <a:ext cx="2592388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090" name="Equation" r:id="rId5" imgW="23698200" imgH="9652000" progId="Equation.3">
                  <p:embed/>
                </p:oleObj>
              </mc:Choice>
              <mc:Fallback>
                <p:oleObj name="Equation" r:id="rId5" imgW="23698200" imgH="96520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962400"/>
                        <a:ext cx="2592388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8039" name="Object 39">
            <a:extLst>
              <a:ext uri="{FF2B5EF4-FFF2-40B4-BE49-F238E27FC236}">
                <a16:creationId xmlns:a16="http://schemas.microsoft.com/office/drawing/2014/main" id="{7734A845-E9AA-BF44-BC4D-1397E1C2602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72000" y="5486400"/>
          <a:ext cx="4572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091" name="Equation" r:id="rId7" imgW="63487300" imgH="9067800" progId="Equation.3">
                  <p:embed/>
                </p:oleObj>
              </mc:Choice>
              <mc:Fallback>
                <p:oleObj name="Equation" r:id="rId7" imgW="63487300" imgH="90678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86400"/>
                        <a:ext cx="45720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ate Placeholder 3">
            <a:extLst>
              <a:ext uri="{FF2B5EF4-FFF2-40B4-BE49-F238E27FC236}">
                <a16:creationId xmlns:a16="http://schemas.microsoft.com/office/drawing/2014/main" id="{8A4E7CBF-34A7-3F48-92DF-BE0DE4C5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E00E7-F484-F849-B987-875165766BF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101" name="Footer Placeholder 4">
            <a:extLst>
              <a:ext uri="{FF2B5EF4-FFF2-40B4-BE49-F238E27FC236}">
                <a16:creationId xmlns:a16="http://schemas.microsoft.com/office/drawing/2014/main" id="{060C2D08-7963-D248-A9D5-03257CA8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02" name="Slide Number Placeholder 5">
            <a:extLst>
              <a:ext uri="{FF2B5EF4-FFF2-40B4-BE49-F238E27FC236}">
                <a16:creationId xmlns:a16="http://schemas.microsoft.com/office/drawing/2014/main" id="{F9D3F0FA-A515-6D4D-93C5-39DF8A48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C3C97-883D-7A4E-9F51-E18203522ABF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1557506" name="Rectangle 2">
            <a:extLst>
              <a:ext uri="{FF2B5EF4-FFF2-40B4-BE49-F238E27FC236}">
                <a16:creationId xmlns:a16="http://schemas.microsoft.com/office/drawing/2014/main" id="{A1F15FFA-94F4-524D-9200-99962F1BF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62000"/>
          </a:xfrm>
        </p:spPr>
        <p:txBody>
          <a:bodyPr/>
          <a:lstStyle/>
          <a:p>
            <a:r>
              <a:rPr lang="en-US" altLang="en-US" sz="3200"/>
              <a:t>Are </a:t>
            </a:r>
            <a:r>
              <a:rPr lang="en-US" altLang="en-US" sz="3200" i="1"/>
              <a:t>lift</a:t>
            </a:r>
            <a:r>
              <a:rPr lang="en-US" altLang="en-US" sz="3200"/>
              <a:t> and </a:t>
            </a:r>
            <a:r>
              <a:rPr lang="en-US" altLang="en-US">
                <a:sym typeface="Symbol" pitchFamily="2" charset="2"/>
              </a:rPr>
              <a:t></a:t>
            </a:r>
            <a:r>
              <a:rPr lang="en-US" altLang="en-US" baseline="30000">
                <a:sym typeface="Symbol" pitchFamily="2" charset="2"/>
              </a:rPr>
              <a:t>2</a:t>
            </a:r>
            <a:r>
              <a:rPr lang="en-US" altLang="en-US" sz="3200"/>
              <a:t>  Good Measures of Correlation?</a:t>
            </a:r>
          </a:p>
        </p:txBody>
      </p:sp>
      <p:sp>
        <p:nvSpPr>
          <p:cNvPr id="1557507" name="Rectangle 3">
            <a:extLst>
              <a:ext uri="{FF2B5EF4-FFF2-40B4-BE49-F238E27FC236}">
                <a16:creationId xmlns:a16="http://schemas.microsoft.com/office/drawing/2014/main" id="{E85DEEAA-1A9D-554B-B282-282DB2768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1981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i="1"/>
              <a:t>“Buy walnuts  </a:t>
            </a:r>
            <a:r>
              <a:rPr lang="en-US" altLang="en-US" sz="2000">
                <a:sym typeface="Symbol" pitchFamily="2" charset="2"/>
              </a:rPr>
              <a:t> </a:t>
            </a:r>
            <a:r>
              <a:rPr lang="en-US" altLang="en-US" sz="2000" i="1">
                <a:sym typeface="Symbol" pitchFamily="2" charset="2"/>
              </a:rPr>
              <a:t>buy milk</a:t>
            </a:r>
            <a:r>
              <a:rPr lang="en-US" altLang="en-US" sz="2000">
                <a:sym typeface="Symbol" pitchFamily="2" charset="2"/>
              </a:rPr>
              <a:t> [1%, 80%]”  is misleading</a:t>
            </a:r>
          </a:p>
          <a:p>
            <a:pPr lvl="1">
              <a:lnSpc>
                <a:spcPct val="130000"/>
              </a:lnSpc>
            </a:pPr>
            <a:r>
              <a:rPr lang="en-US" altLang="en-US" sz="2000">
                <a:sym typeface="Symbol" pitchFamily="2" charset="2"/>
              </a:rPr>
              <a:t>if 85% of customers buy milk</a:t>
            </a:r>
          </a:p>
          <a:p>
            <a:pPr>
              <a:lnSpc>
                <a:spcPct val="130000"/>
              </a:lnSpc>
            </a:pPr>
            <a:r>
              <a:rPr lang="en-US" altLang="en-US" sz="2000">
                <a:sym typeface="Symbol" pitchFamily="2" charset="2"/>
              </a:rPr>
              <a:t>Support and confidence are not good to represent correlations</a:t>
            </a:r>
          </a:p>
          <a:p>
            <a:pPr>
              <a:lnSpc>
                <a:spcPct val="130000"/>
              </a:lnSpc>
            </a:pPr>
            <a:r>
              <a:rPr lang="en-US" altLang="en-US" sz="2000">
                <a:sym typeface="Symbol" pitchFamily="2" charset="2"/>
              </a:rPr>
              <a:t>So many interestingness measures?  (Tan, Kumar, Sritastava @KDD’02)</a:t>
            </a:r>
          </a:p>
        </p:txBody>
      </p:sp>
      <p:graphicFrame>
        <p:nvGraphicFramePr>
          <p:cNvPr id="1557508" name="Group 4">
            <a:extLst>
              <a:ext uri="{FF2B5EF4-FFF2-40B4-BE49-F238E27FC236}">
                <a16:creationId xmlns:a16="http://schemas.microsoft.com/office/drawing/2014/main" id="{6395483A-32E2-B549-A180-A583630997F0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733800"/>
          <a:ext cx="3886200" cy="12192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6245949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825232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6235033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262090995"/>
                    </a:ext>
                  </a:extLst>
                </a:gridCol>
              </a:tblGrid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Milk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 Milk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660916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Coffee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601097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 Coffee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m, 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~m, 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252962"/>
                  </a:ext>
                </a:extLst>
              </a:tr>
              <a:tr h="227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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705938"/>
                  </a:ext>
                </a:extLst>
              </a:tr>
            </a:tbl>
          </a:graphicData>
        </a:graphic>
      </p:graphicFrame>
      <p:graphicFrame>
        <p:nvGraphicFramePr>
          <p:cNvPr id="1557535" name="Object 31">
            <a:extLst>
              <a:ext uri="{FF2B5EF4-FFF2-40B4-BE49-F238E27FC236}">
                <a16:creationId xmlns:a16="http://schemas.microsoft.com/office/drawing/2014/main" id="{A1F487AC-D6C6-DA4F-AA40-CC2775DE44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429000"/>
          <a:ext cx="17526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52" name="Equation" r:id="rId3" imgW="23698200" imgH="9652000" progId="Equation.3">
                  <p:embed/>
                </p:oleObj>
              </mc:Choice>
              <mc:Fallback>
                <p:oleObj name="Equation" r:id="rId3" imgW="23698200" imgH="96520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429000"/>
                        <a:ext cx="17526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7536" name="Group 32">
            <a:extLst>
              <a:ext uri="{FF2B5EF4-FFF2-40B4-BE49-F238E27FC236}">
                <a16:creationId xmlns:a16="http://schemas.microsoft.com/office/drawing/2014/main" id="{1F740626-5394-9047-A36A-8E45BF953E7A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5105400"/>
          <a:ext cx="6019800" cy="152400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321406293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46842649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526445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827559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55963668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1112414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918890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810387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32249431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~m~c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all-conf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2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29882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9055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771711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82802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8172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253293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194790"/>
                  </a:ext>
                </a:extLst>
              </a:tr>
            </a:tbl>
          </a:graphicData>
        </a:graphic>
      </p:graphicFrame>
      <p:graphicFrame>
        <p:nvGraphicFramePr>
          <p:cNvPr id="1557602" name="Object 98">
            <a:extLst>
              <a:ext uri="{FF2B5EF4-FFF2-40B4-BE49-F238E27FC236}">
                <a16:creationId xmlns:a16="http://schemas.microsoft.com/office/drawing/2014/main" id="{D0B2CA7C-CF9A-DE40-81F6-668C45A63B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343400"/>
          <a:ext cx="2971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53" name="Equation" r:id="rId5" imgW="46520100" imgH="9652000" progId="Equation.3">
                  <p:embed/>
                </p:oleObj>
              </mc:Choice>
              <mc:Fallback>
                <p:oleObj name="Equation" r:id="rId5" imgW="46520100" imgH="96520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43400"/>
                        <a:ext cx="2971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7603" name="Object 99">
            <a:extLst>
              <a:ext uri="{FF2B5EF4-FFF2-40B4-BE49-F238E27FC236}">
                <a16:creationId xmlns:a16="http://schemas.microsoft.com/office/drawing/2014/main" id="{4157C068-0386-6E43-9A9C-910C34F4C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410200"/>
          <a:ext cx="23098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54" name="Equation" r:id="rId7" imgW="29845000" imgH="9652000" progId="Equation.3">
                  <p:embed/>
                </p:oleObj>
              </mc:Choice>
              <mc:Fallback>
                <p:oleObj name="Equation" r:id="rId7" imgW="29845000" imgH="965200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10200"/>
                        <a:ext cx="23098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E226E-F6D2-2243-930C-62F4A639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86A0-D5BA-C143-AED3-8763280BC639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FAB27-1AD5-814C-B303-57910D94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F91F4-A0D0-5C49-9A87-385A197E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5A87-434D-DD47-B6E6-121938D9D1C7}" type="slidenum">
              <a:rPr lang="en-US" altLang="en-US"/>
              <a:pPr/>
              <a:t>63</a:t>
            </a:fld>
            <a:endParaRPr lang="en-US" altLang="en-US"/>
          </a:p>
        </p:txBody>
      </p:sp>
      <p:pic>
        <p:nvPicPr>
          <p:cNvPr id="1558600" name="Picture 72">
            <a:extLst>
              <a:ext uri="{FF2B5EF4-FFF2-40B4-BE49-F238E27FC236}">
                <a16:creationId xmlns:a16="http://schemas.microsoft.com/office/drawing/2014/main" id="{D6E65B62-5E3F-2740-A333-14B6710DFD1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1331913"/>
            <a:ext cx="6400800" cy="5145087"/>
          </a:xfrm>
          <a:noFill/>
          <a:ln/>
        </p:spPr>
      </p:pic>
      <p:sp>
        <p:nvSpPr>
          <p:cNvPr id="1558530" name="Rectangle 2">
            <a:extLst>
              <a:ext uri="{FF2B5EF4-FFF2-40B4-BE49-F238E27FC236}">
                <a16:creationId xmlns:a16="http://schemas.microsoft.com/office/drawing/2014/main" id="{365A28A3-029C-1E43-9CA1-2E484691B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81000"/>
            <a:ext cx="9525000" cy="609600"/>
          </a:xfrm>
        </p:spPr>
        <p:txBody>
          <a:bodyPr/>
          <a:lstStyle/>
          <a:p>
            <a:r>
              <a:rPr lang="en-US" altLang="en-US"/>
              <a:t>Which Measures Should Be Used?</a:t>
            </a:r>
          </a:p>
        </p:txBody>
      </p:sp>
      <p:sp>
        <p:nvSpPr>
          <p:cNvPr id="1558531" name="Rectangle 3">
            <a:extLst>
              <a:ext uri="{FF2B5EF4-FFF2-40B4-BE49-F238E27FC236}">
                <a16:creationId xmlns:a16="http://schemas.microsoft.com/office/drawing/2014/main" id="{51C09AD9-1575-1742-8BE6-FA47C213AD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447800"/>
            <a:ext cx="29718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/>
              <a:t>lift </a:t>
            </a:r>
            <a:r>
              <a:rPr lang="en-US" altLang="en-US" sz="2000" i="1"/>
              <a:t>and </a:t>
            </a:r>
            <a:r>
              <a:rPr lang="en-US" altLang="en-US" sz="2000" b="1">
                <a:sym typeface="Symbol" pitchFamily="2" charset="2"/>
              </a:rPr>
              <a:t></a:t>
            </a:r>
            <a:r>
              <a:rPr lang="en-US" altLang="en-US" sz="2000" b="1" baseline="30000">
                <a:sym typeface="Symbol" pitchFamily="2" charset="2"/>
              </a:rPr>
              <a:t>2</a:t>
            </a:r>
            <a:r>
              <a:rPr lang="en-US" altLang="en-US" sz="2000" b="1">
                <a:sym typeface="Symbol" pitchFamily="2" charset="2"/>
              </a:rPr>
              <a:t> </a:t>
            </a:r>
            <a:r>
              <a:rPr lang="en-US" altLang="en-US" sz="2000">
                <a:sym typeface="Symbol" pitchFamily="2" charset="2"/>
              </a:rPr>
              <a:t>are not good measures for correlations in large transactional DBs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sym typeface="Symbol" pitchFamily="2" charset="2"/>
              </a:rPr>
              <a:t>all-conf</a:t>
            </a:r>
            <a:r>
              <a:rPr lang="en-US" altLang="en-US" sz="2000">
                <a:sym typeface="Symbol" pitchFamily="2" charset="2"/>
              </a:rPr>
              <a:t> or </a:t>
            </a:r>
            <a:r>
              <a:rPr lang="en-US" altLang="en-US" sz="2000" b="1">
                <a:sym typeface="Symbol" pitchFamily="2" charset="2"/>
              </a:rPr>
              <a:t>coherence </a:t>
            </a:r>
            <a:r>
              <a:rPr lang="en-US" altLang="en-US" sz="2000">
                <a:sym typeface="Symbol" pitchFamily="2" charset="2"/>
              </a:rPr>
              <a:t>could be good measures </a:t>
            </a:r>
            <a:r>
              <a:rPr lang="en-US" altLang="en-US" sz="1800">
                <a:sym typeface="Symbol" pitchFamily="2" charset="2"/>
              </a:rPr>
              <a:t>(Omiecinski@TKDE’03)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ym typeface="Symbol" pitchFamily="2" charset="2"/>
              </a:rPr>
              <a:t>Both </a:t>
            </a:r>
            <a:r>
              <a:rPr lang="en-US" altLang="en-US" sz="2000" b="1">
                <a:sym typeface="Symbol" pitchFamily="2" charset="2"/>
              </a:rPr>
              <a:t>all-conf</a:t>
            </a:r>
            <a:r>
              <a:rPr lang="en-US" altLang="en-US" sz="2000">
                <a:sym typeface="Symbol" pitchFamily="2" charset="2"/>
              </a:rPr>
              <a:t> and </a:t>
            </a:r>
            <a:r>
              <a:rPr lang="en-US" altLang="en-US" sz="2000" b="1">
                <a:sym typeface="Symbol" pitchFamily="2" charset="2"/>
              </a:rPr>
              <a:t>coherence </a:t>
            </a:r>
            <a:r>
              <a:rPr lang="en-US" altLang="en-US" sz="2000">
                <a:sym typeface="Symbol" pitchFamily="2" charset="2"/>
              </a:rPr>
              <a:t>have the downward closure property 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ym typeface="Symbol" pitchFamily="2" charset="2"/>
              </a:rPr>
              <a:t>Efficient algorithms can be derived for mining (Lee et al. @ICDM’03sub)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CBCBD-FD77-3B43-AC88-7C1C30C3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A7EF7-7FBD-DB4A-AB00-6DCFC9B1CDD9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1C9B7-4C5E-4749-8385-1355524F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9C703-5C2D-2841-BCD4-A64EA129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4DB70-7890-F040-B54F-76BEF38EA0CE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1629186" name="Rectangle 2">
            <a:extLst>
              <a:ext uri="{FF2B5EF4-FFF2-40B4-BE49-F238E27FC236}">
                <a16:creationId xmlns:a16="http://schemas.microsoft.com/office/drawing/2014/main" id="{076AA7F5-B80B-E64C-A589-0576D25AA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/>
              <a:t>Mining </a:t>
            </a:r>
            <a:r>
              <a:rPr lang="en-US" altLang="en-US" dirty="0"/>
              <a:t>Frequent Patterns, Association and Correlations</a:t>
            </a:r>
          </a:p>
        </p:txBody>
      </p:sp>
      <p:sp>
        <p:nvSpPr>
          <p:cNvPr id="1629187" name="Rectangle 3">
            <a:extLst>
              <a:ext uri="{FF2B5EF4-FFF2-40B4-BE49-F238E27FC236}">
                <a16:creationId xmlns:a16="http://schemas.microsoft.com/office/drawing/2014/main" id="{B343DED4-9110-814B-B2D3-6C2E9CBF54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3820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629189" name="AutoShape 5">
            <a:extLst>
              <a:ext uri="{FF2B5EF4-FFF2-40B4-BE49-F238E27FC236}">
                <a16:creationId xmlns:a16="http://schemas.microsoft.com/office/drawing/2014/main" id="{9B17C88A-3BB2-CB49-AD41-3092D523A9FF}"/>
              </a:ext>
            </a:extLst>
          </p:cNvPr>
          <p:cNvSpPr>
            <a:spLocks noChangeArrowheads="1"/>
          </p:cNvSpPr>
          <p:nvPr/>
        </p:nvSpPr>
        <p:spPr bwMode="auto">
          <a:xfrm rot="912386">
            <a:off x="6781800" y="495300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B71A5-8245-8E40-A0DD-F6E1B2F8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875D-FF09-374E-96BB-DF2B95FFF28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EEB5-A4FF-9047-AA73-1E2E8F7E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5CFC0-FADD-1A41-B269-F81F2FD5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B501-6BD8-C14D-8CD8-4EADD48C8F99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1560578" name="Rectangle 2">
            <a:extLst>
              <a:ext uri="{FF2B5EF4-FFF2-40B4-BE49-F238E27FC236}">
                <a16:creationId xmlns:a16="http://schemas.microsoft.com/office/drawing/2014/main" id="{D836EEA0-EAB6-D74A-A633-7BB1DEB95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31238" cy="685800"/>
          </a:xfrm>
        </p:spPr>
        <p:txBody>
          <a:bodyPr/>
          <a:lstStyle/>
          <a:p>
            <a:r>
              <a:rPr lang="en-US" altLang="en-US" sz="3200"/>
              <a:t>Constraint-based (Query-Directed) Mining</a:t>
            </a:r>
            <a:endParaRPr lang="en-GB" altLang="en-US" sz="3200"/>
          </a:p>
        </p:txBody>
      </p:sp>
      <p:sp>
        <p:nvSpPr>
          <p:cNvPr id="1560579" name="Rectangle 3">
            <a:extLst>
              <a:ext uri="{FF2B5EF4-FFF2-40B4-BE49-F238E27FC236}">
                <a16:creationId xmlns:a16="http://schemas.microsoft.com/office/drawing/2014/main" id="{001697A8-125B-9749-B653-B36F19EC9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95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Finding </a:t>
            </a:r>
            <a:r>
              <a:rPr lang="en-US" altLang="en-US" sz="2400">
                <a:solidFill>
                  <a:schemeClr val="hlink"/>
                </a:solidFill>
              </a:rPr>
              <a:t>all</a:t>
            </a:r>
            <a:r>
              <a:rPr lang="en-US" altLang="en-US" sz="2400"/>
              <a:t> the patterns in a database </a:t>
            </a:r>
            <a:r>
              <a:rPr lang="en-US" altLang="en-US" sz="2400">
                <a:solidFill>
                  <a:schemeClr val="hlink"/>
                </a:solidFill>
              </a:rPr>
              <a:t>autonomously</a:t>
            </a:r>
            <a:r>
              <a:rPr lang="en-US" altLang="en-US" sz="2400"/>
              <a:t>? — unrealistic!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The patterns could be too many but not focused!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Data mining should be an </a:t>
            </a:r>
            <a:r>
              <a:rPr lang="en-US" altLang="en-US" sz="2400">
                <a:solidFill>
                  <a:schemeClr val="hlink"/>
                </a:solidFill>
              </a:rPr>
              <a:t>interactive </a:t>
            </a:r>
            <a:r>
              <a:rPr lang="en-US" altLang="en-US" sz="2400"/>
              <a:t>process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User directs what to be mined using a </a:t>
            </a:r>
            <a:r>
              <a:rPr lang="en-US" altLang="en-US" sz="2400">
                <a:solidFill>
                  <a:schemeClr val="hlink"/>
                </a:solidFill>
              </a:rPr>
              <a:t>data mining query language </a:t>
            </a:r>
            <a:r>
              <a:rPr lang="en-US" altLang="en-US" sz="2400"/>
              <a:t>(or a graphical user interface)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Constraint-based mining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User flexibility: provides</a:t>
            </a:r>
            <a:r>
              <a:rPr lang="en-US" altLang="en-US" sz="2400">
                <a:solidFill>
                  <a:schemeClr val="hlink"/>
                </a:solidFill>
              </a:rPr>
              <a:t> constraints</a:t>
            </a:r>
            <a:r>
              <a:rPr lang="en-US" altLang="en-US" sz="2400"/>
              <a:t> on what to be mined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System optimization: explores such constraints for efficient mining—</a:t>
            </a:r>
            <a:r>
              <a:rPr lang="en-US" altLang="en-US" sz="2400">
                <a:solidFill>
                  <a:schemeClr val="hlink"/>
                </a:solidFill>
              </a:rPr>
              <a:t>constraint-based mining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9332E-B317-2247-9E2B-8E5A1AB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9CDE-07AC-8B41-8E25-6E39395E7BF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34B9D-E638-C143-BCE9-3E8E4103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A1C84-FC8E-3C41-A0C1-C5738CD0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6D1D-6CC4-FB47-8D9D-7DF6CE317D46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1561602" name="Rectangle 2">
            <a:extLst>
              <a:ext uri="{FF2B5EF4-FFF2-40B4-BE49-F238E27FC236}">
                <a16:creationId xmlns:a16="http://schemas.microsoft.com/office/drawing/2014/main" id="{460A2541-F58B-5F4E-B3EB-F8B88C49D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50" y="422275"/>
            <a:ext cx="7797800" cy="568325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Constraints in Data Mining</a:t>
            </a:r>
            <a:endParaRPr lang="en-US" altLang="en-US" sz="4400"/>
          </a:p>
        </p:txBody>
      </p:sp>
      <p:sp>
        <p:nvSpPr>
          <p:cNvPr id="1561603" name="Rectangle 3">
            <a:extLst>
              <a:ext uri="{FF2B5EF4-FFF2-40B4-BE49-F238E27FC236}">
                <a16:creationId xmlns:a16="http://schemas.microsoft.com/office/drawing/2014/main" id="{A6122F69-BF34-EF40-A7DF-4C2EE2F2F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01050" cy="4953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Knowledge type constraint</a:t>
            </a:r>
            <a:r>
              <a:rPr lang="en-US" altLang="en-US" sz="2400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classification, association, etc.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Data constraint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sz="2400">
                <a:cs typeface="Times New Roman" panose="02020603050405020304" pitchFamily="18" charset="0"/>
              </a:rPr>
              <a:t>— using</a:t>
            </a:r>
            <a:r>
              <a:rPr lang="en-US" altLang="en-US" sz="2400"/>
              <a:t> SQL-like queries 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find product pairs sold together in stores in </a:t>
            </a:r>
            <a:r>
              <a:rPr lang="en-US" altLang="en-US" sz="2400">
                <a:solidFill>
                  <a:srgbClr val="170981"/>
                </a:solidFill>
              </a:rPr>
              <a:t>Chicago</a:t>
            </a:r>
            <a:r>
              <a:rPr lang="en-US" altLang="en-US" sz="2400"/>
              <a:t> in </a:t>
            </a:r>
            <a:r>
              <a:rPr lang="en-US" altLang="en-US" sz="2400">
                <a:solidFill>
                  <a:srgbClr val="170981"/>
                </a:solidFill>
              </a:rPr>
              <a:t>Dec.’02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Dimension/level constraint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in relevance to </a:t>
            </a:r>
            <a:r>
              <a:rPr lang="en-US" altLang="en-US" sz="2400">
                <a:solidFill>
                  <a:srgbClr val="170981"/>
                </a:solidFill>
              </a:rPr>
              <a:t>region, price, brand, customer category</a:t>
            </a:r>
          </a:p>
          <a:p>
            <a:pPr>
              <a:lnSpc>
                <a:spcPct val="90000"/>
              </a:lnSpc>
            </a:pPr>
            <a:r>
              <a:rPr lang="en-US" altLang="en-US" sz="2400" u="sng">
                <a:solidFill>
                  <a:schemeClr val="hlink"/>
                </a:solidFill>
              </a:rPr>
              <a:t>Rule (or pattern) constraint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small sales (price  &lt; $10) triggers big sales (sum &gt; $200)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Interestingness constraint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strong rules: min_support </a:t>
            </a:r>
            <a:r>
              <a:rPr lang="en-US" altLang="en-US" sz="2400">
                <a:sym typeface="Symbol" pitchFamily="2" charset="2"/>
              </a:rPr>
              <a:t> </a:t>
            </a:r>
            <a:r>
              <a:rPr lang="en-US" altLang="en-US" sz="2400"/>
              <a:t>  3%, min_confidence </a:t>
            </a:r>
            <a:r>
              <a:rPr lang="en-US" altLang="en-US" sz="2400">
                <a:sym typeface="Symbol" pitchFamily="2" charset="2"/>
              </a:rPr>
              <a:t> </a:t>
            </a:r>
            <a:r>
              <a:rPr lang="en-US" altLang="en-US" sz="2400"/>
              <a:t> 60%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DCE0-8AE6-D945-9288-887E4E5B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D9F8-C1A6-A340-9C09-4F25E265ED1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34297-3DB5-EA45-BBFF-AE615BF6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4978-8BEB-F540-A5E2-C2D16684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5E796-D14E-DB41-93D6-A14911BEEA54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1413122" name="Rectangle 2">
            <a:extLst>
              <a:ext uri="{FF2B5EF4-FFF2-40B4-BE49-F238E27FC236}">
                <a16:creationId xmlns:a16="http://schemas.microsoft.com/office/drawing/2014/main" id="{01BA59B5-3F98-0F4A-A2A9-8BFD6D70E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01000" cy="838200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2800"/>
              <a:t>Constrained Mining vs. Constraint-Based Search</a:t>
            </a:r>
            <a:endParaRPr lang="en-US" altLang="en-US" sz="4000"/>
          </a:p>
        </p:txBody>
      </p:sp>
      <p:sp>
        <p:nvSpPr>
          <p:cNvPr id="1413123" name="Rectangle 3">
            <a:extLst>
              <a:ext uri="{FF2B5EF4-FFF2-40B4-BE49-F238E27FC236}">
                <a16:creationId xmlns:a16="http://schemas.microsoft.com/office/drawing/2014/main" id="{5640C385-5D5E-084C-897A-9F8A9F993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1600200"/>
            <a:ext cx="8572500" cy="48006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2400"/>
              <a:t>Constrained mining vs. constraint-based search/reasoning</a:t>
            </a:r>
          </a:p>
          <a:p>
            <a:pPr lvl="1"/>
            <a:r>
              <a:rPr lang="en-US" altLang="en-US" sz="2400"/>
              <a:t>Both are aimed at reducing search space</a:t>
            </a:r>
          </a:p>
          <a:p>
            <a:pPr lvl="1"/>
            <a:r>
              <a:rPr lang="en-US" altLang="en-US" sz="2400"/>
              <a:t>Finding </a:t>
            </a:r>
            <a:r>
              <a:rPr lang="en-US" altLang="en-US" sz="2400">
                <a:solidFill>
                  <a:schemeClr val="hlink"/>
                </a:solidFill>
              </a:rPr>
              <a:t>all patterns</a:t>
            </a:r>
            <a:r>
              <a:rPr lang="en-US" altLang="en-US" sz="2400"/>
              <a:t> satisfying constraints vs. finding </a:t>
            </a:r>
            <a:r>
              <a:rPr lang="en-US" altLang="en-US" sz="2400">
                <a:solidFill>
                  <a:schemeClr val="hlink"/>
                </a:solidFill>
              </a:rPr>
              <a:t>some (or one) answer</a:t>
            </a:r>
            <a:r>
              <a:rPr lang="en-US" altLang="en-US" sz="2400"/>
              <a:t> in constraint-based search in AI</a:t>
            </a:r>
          </a:p>
          <a:p>
            <a:pPr lvl="1"/>
            <a:r>
              <a:rPr lang="en-US" altLang="en-US" sz="2400">
                <a:solidFill>
                  <a:schemeClr val="hlink"/>
                </a:solidFill>
              </a:rPr>
              <a:t>Constraint-pushing</a:t>
            </a:r>
            <a:r>
              <a:rPr lang="en-US" altLang="en-US" sz="2400"/>
              <a:t> vs. </a:t>
            </a:r>
            <a:r>
              <a:rPr lang="en-US" altLang="en-US" sz="2400">
                <a:solidFill>
                  <a:schemeClr val="hlink"/>
                </a:solidFill>
              </a:rPr>
              <a:t>heuristic search</a:t>
            </a:r>
          </a:p>
          <a:p>
            <a:pPr lvl="1"/>
            <a:r>
              <a:rPr lang="en-US" altLang="en-US" sz="2400"/>
              <a:t>It is an interesting research problem on how to integrate them</a:t>
            </a:r>
          </a:p>
          <a:p>
            <a:r>
              <a:rPr lang="en-US" altLang="en-US" sz="2400"/>
              <a:t>Constrained mining vs. query processing in DBMS</a:t>
            </a:r>
          </a:p>
          <a:p>
            <a:pPr lvl="1"/>
            <a:r>
              <a:rPr lang="en-US" altLang="en-US" sz="2400"/>
              <a:t>Database query processing requires to find all</a:t>
            </a:r>
          </a:p>
          <a:p>
            <a:pPr lvl="1"/>
            <a:r>
              <a:rPr lang="en-US" altLang="en-US" sz="2400"/>
              <a:t>Constrained pattern mining shares a similar philosophy as pushing selections deeply in query processing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AEB87DE2-082C-1C42-94E3-DCEB902C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4C1B-8E1A-4C45-ADA5-D6379BBA8B38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0F35AB69-B7B1-8849-929C-50CC30AA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2CE1F6F-C93E-4D4B-8F0D-452CDD94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5D89-9F38-E44C-A8BC-8C9AE1EB51E1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1562626" name="Rectangle 2">
            <a:extLst>
              <a:ext uri="{FF2B5EF4-FFF2-40B4-BE49-F238E27FC236}">
                <a16:creationId xmlns:a16="http://schemas.microsoft.com/office/drawing/2014/main" id="{4E40C562-5888-1A45-8FD9-8F075300B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153400" cy="492125"/>
          </a:xfrm>
        </p:spPr>
        <p:txBody>
          <a:bodyPr/>
          <a:lstStyle/>
          <a:p>
            <a:r>
              <a:rPr lang="en-US" altLang="en-US" sz="3200"/>
              <a:t>Anti-Monotonicity in Constraint Pushing</a:t>
            </a:r>
          </a:p>
        </p:txBody>
      </p:sp>
      <p:sp>
        <p:nvSpPr>
          <p:cNvPr id="1562627" name="Rectangle 3">
            <a:extLst>
              <a:ext uri="{FF2B5EF4-FFF2-40B4-BE49-F238E27FC236}">
                <a16:creationId xmlns:a16="http://schemas.microsoft.com/office/drawing/2014/main" id="{71B9AA03-30D7-DB4F-9B42-2D104FE03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6172200" cy="4902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Anti-monotonicity</a:t>
            </a:r>
          </a:p>
          <a:p>
            <a:pPr lvl="1">
              <a:lnSpc>
                <a:spcPct val="110000"/>
              </a:lnSpc>
            </a:pPr>
            <a:r>
              <a:rPr lang="en-US" altLang="en-US" sz="2400" i="1"/>
              <a:t>When an intemset S </a:t>
            </a:r>
            <a:r>
              <a:rPr lang="en-US" altLang="en-US" sz="2400" b="1" i="1"/>
              <a:t>violates</a:t>
            </a:r>
            <a:r>
              <a:rPr lang="en-US" altLang="en-US" sz="2400" i="1"/>
              <a:t> the constraint, so does any of its superset </a:t>
            </a:r>
            <a:endParaRPr lang="en-US" altLang="en-US" sz="2400">
              <a:sym typeface="Symbol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 i="1">
                <a:sym typeface="Symbol" pitchFamily="2" charset="2"/>
              </a:rPr>
              <a:t>sum(S.Price)</a:t>
            </a:r>
            <a:r>
              <a:rPr lang="en-US" altLang="en-US" sz="2400">
                <a:sym typeface="Symbol" pitchFamily="2" charset="2"/>
              </a:rPr>
              <a:t>  </a:t>
            </a:r>
            <a:r>
              <a:rPr lang="en-US" altLang="en-US" sz="2400" i="1">
                <a:sym typeface="Symbol" pitchFamily="2" charset="2"/>
              </a:rPr>
              <a:t>v</a:t>
            </a:r>
            <a:r>
              <a:rPr lang="en-US" altLang="en-US" sz="2400">
                <a:sym typeface="Symbol" pitchFamily="2" charset="2"/>
              </a:rPr>
              <a:t>  is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anti-monotone</a:t>
            </a:r>
            <a:endParaRPr lang="en-US" altLang="en-US" sz="2400">
              <a:sym typeface="Symbol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 i="1">
                <a:sym typeface="Symbol" pitchFamily="2" charset="2"/>
              </a:rPr>
              <a:t>sum(S.Price) </a:t>
            </a:r>
            <a:r>
              <a:rPr lang="en-US" altLang="en-US" sz="2400">
                <a:sym typeface="Symbol" pitchFamily="2" charset="2"/>
              </a:rPr>
              <a:t> </a:t>
            </a:r>
            <a:r>
              <a:rPr lang="en-US" altLang="en-US" sz="2400" i="1">
                <a:sym typeface="Symbol" pitchFamily="2" charset="2"/>
              </a:rPr>
              <a:t>v</a:t>
            </a:r>
            <a:r>
              <a:rPr lang="en-US" altLang="en-US" sz="2400">
                <a:sym typeface="Symbol" pitchFamily="2" charset="2"/>
              </a:rPr>
              <a:t>  is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not anti-monotone</a:t>
            </a:r>
          </a:p>
          <a:p>
            <a:pPr>
              <a:lnSpc>
                <a:spcPct val="110000"/>
              </a:lnSpc>
            </a:pPr>
            <a:r>
              <a:rPr lang="en-US" altLang="en-US" sz="2400">
                <a:sym typeface="Symbol" pitchFamily="2" charset="2"/>
              </a:rPr>
              <a:t>Example</a:t>
            </a:r>
            <a:r>
              <a:rPr lang="en-US" altLang="en-US" sz="2400">
                <a:sym typeface="Wingdings" pitchFamily="2" charset="2"/>
              </a:rPr>
              <a:t>. C: range(S.profit) </a:t>
            </a:r>
            <a:r>
              <a:rPr lang="en-US" altLang="en-US" sz="2400">
                <a:sym typeface="Symbol" pitchFamily="2" charset="2"/>
              </a:rPr>
              <a:t></a:t>
            </a:r>
            <a:r>
              <a:rPr lang="en-US" altLang="en-US" sz="2400">
                <a:sym typeface="Wingdings" pitchFamily="2" charset="2"/>
              </a:rPr>
              <a:t> 15 </a:t>
            </a:r>
            <a:r>
              <a:rPr lang="en-US" altLang="en-US" sz="2400">
                <a:sym typeface="Symbol" pitchFamily="2" charset="2"/>
              </a:rPr>
              <a:t>is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anti-monotone</a:t>
            </a:r>
            <a:endParaRPr lang="en-US" altLang="en-US" sz="2400">
              <a:sym typeface="Wingdings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/>
              <a:t>Itemset </a:t>
            </a:r>
            <a:r>
              <a:rPr lang="en-US" altLang="en-US" sz="2400" i="1"/>
              <a:t>ab </a:t>
            </a:r>
            <a:r>
              <a:rPr lang="en-US" altLang="en-US" sz="2400"/>
              <a:t>violates C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Wingdings" pitchFamily="2" charset="2"/>
              </a:rPr>
              <a:t>So does every superset of </a:t>
            </a:r>
            <a:r>
              <a:rPr lang="en-US" altLang="en-US" sz="2400" i="1">
                <a:sym typeface="Wingdings" pitchFamily="2" charset="2"/>
              </a:rPr>
              <a:t>ab</a:t>
            </a:r>
          </a:p>
        </p:txBody>
      </p:sp>
      <p:graphicFrame>
        <p:nvGraphicFramePr>
          <p:cNvPr id="1562628" name="Group 4">
            <a:extLst>
              <a:ext uri="{FF2B5EF4-FFF2-40B4-BE49-F238E27FC236}">
                <a16:creationId xmlns:a16="http://schemas.microsoft.com/office/drawing/2014/main" id="{50839C2E-1623-E743-A373-359297C03915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76400"/>
          <a:ext cx="2465388" cy="1690180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3967798805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154003077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Transaction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878934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c, d,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595827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d, f, 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2367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1664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c, e, f, 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47766"/>
                  </a:ext>
                </a:extLst>
              </a:tr>
            </a:tbl>
          </a:graphicData>
        </a:graphic>
      </p:graphicFrame>
      <p:sp>
        <p:nvSpPr>
          <p:cNvPr id="1562648" name="Text Box 24">
            <a:extLst>
              <a:ext uri="{FF2B5EF4-FFF2-40B4-BE49-F238E27FC236}">
                <a16:creationId xmlns:a16="http://schemas.microsoft.com/office/drawing/2014/main" id="{68376106-2CE4-B04D-AEC1-FB42A2C29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219200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2649" name="Group 25">
            <a:extLst>
              <a:ext uri="{FF2B5EF4-FFF2-40B4-BE49-F238E27FC236}">
                <a16:creationId xmlns:a16="http://schemas.microsoft.com/office/drawing/2014/main" id="{F0A5747B-0989-8644-AF47-66E9A4034E2A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3581400"/>
          <a:ext cx="1752600" cy="305054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80338399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92616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7894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8674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84249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0016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51259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5337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51684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325593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0374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30A8BF0A-FAC0-E24F-8870-560D55A6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74E7-A1EF-FE44-B9F0-AAF6861F8E6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48B5A920-2146-674F-AE3C-D0D8457B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E6F90AC1-92F4-C947-9A92-0D4F98BA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8F7-5B28-6546-98AE-CAD1DC91162A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1563650" name="Rectangle 2">
            <a:extLst>
              <a:ext uri="{FF2B5EF4-FFF2-40B4-BE49-F238E27FC236}">
                <a16:creationId xmlns:a16="http://schemas.microsoft.com/office/drawing/2014/main" id="{76BB39FA-8B94-1248-8AC0-6FFB83040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175" y="381000"/>
            <a:ext cx="7440613" cy="609600"/>
          </a:xfrm>
        </p:spPr>
        <p:txBody>
          <a:bodyPr/>
          <a:lstStyle/>
          <a:p>
            <a:r>
              <a:rPr lang="en-US" altLang="en-US" sz="3200"/>
              <a:t>Monotonicity for Constraint Pushing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D509CA85-A908-AE4E-974D-49A0CE489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943600" cy="4800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Monotonicity</a:t>
            </a:r>
          </a:p>
          <a:p>
            <a:pPr lvl="1">
              <a:lnSpc>
                <a:spcPct val="120000"/>
              </a:lnSpc>
            </a:pPr>
            <a:r>
              <a:rPr lang="en-US" altLang="en-US" sz="2400" i="1"/>
              <a:t>When an intemset S </a:t>
            </a:r>
            <a:r>
              <a:rPr lang="en-US" altLang="en-US" sz="2400" b="1" i="1"/>
              <a:t>satisfies</a:t>
            </a:r>
            <a:r>
              <a:rPr lang="en-US" altLang="en-US" sz="2400" i="1"/>
              <a:t> the constraint, so does any of its superset </a:t>
            </a:r>
            <a:endParaRPr lang="en-US" altLang="en-US" sz="2400"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400" i="1">
                <a:sym typeface="Symbol" pitchFamily="2" charset="2"/>
              </a:rPr>
              <a:t>sum(S.Price)</a:t>
            </a:r>
            <a:r>
              <a:rPr lang="en-US" altLang="en-US" sz="2400">
                <a:sym typeface="Symbol" pitchFamily="2" charset="2"/>
              </a:rPr>
              <a:t>  </a:t>
            </a:r>
            <a:r>
              <a:rPr lang="en-US" altLang="en-US" sz="2400" i="1">
                <a:sym typeface="Symbol" pitchFamily="2" charset="2"/>
              </a:rPr>
              <a:t>v</a:t>
            </a:r>
            <a:r>
              <a:rPr lang="en-US" altLang="en-US" sz="2400">
                <a:sym typeface="Symbol" pitchFamily="2" charset="2"/>
              </a:rPr>
              <a:t>  is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monotone</a:t>
            </a:r>
            <a:endParaRPr lang="en-US" altLang="en-US" sz="2400"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400" i="1">
                <a:sym typeface="Wingdings" pitchFamily="2" charset="2"/>
              </a:rPr>
              <a:t>min(S.Price) </a:t>
            </a:r>
            <a:r>
              <a:rPr lang="en-US" altLang="en-US" sz="2400">
                <a:sym typeface="Symbol" pitchFamily="2" charset="2"/>
              </a:rPr>
              <a:t></a:t>
            </a:r>
            <a:r>
              <a:rPr lang="en-US" altLang="en-US" sz="2400" i="1">
                <a:sym typeface="Wingdings" pitchFamily="2" charset="2"/>
              </a:rPr>
              <a:t> v  </a:t>
            </a:r>
            <a:r>
              <a:rPr lang="en-US" altLang="en-US" sz="2400">
                <a:sym typeface="Symbol" pitchFamily="2" charset="2"/>
              </a:rPr>
              <a:t>is </a:t>
            </a:r>
            <a:r>
              <a:rPr lang="en-US" altLang="en-US" sz="2400">
                <a:solidFill>
                  <a:schemeClr val="hlink"/>
                </a:solidFill>
                <a:sym typeface="Symbol" pitchFamily="2" charset="2"/>
              </a:rPr>
              <a:t>monotone</a:t>
            </a:r>
          </a:p>
          <a:p>
            <a:pPr>
              <a:lnSpc>
                <a:spcPct val="120000"/>
              </a:lnSpc>
            </a:pPr>
            <a:r>
              <a:rPr lang="en-US" altLang="en-US" sz="2400">
                <a:sym typeface="Wingdings" pitchFamily="2" charset="2"/>
              </a:rPr>
              <a:t>Example. C: range(S.profit) </a:t>
            </a:r>
            <a:r>
              <a:rPr lang="en-US" altLang="en-US" sz="2400">
                <a:sym typeface="Symbol" pitchFamily="2" charset="2"/>
              </a:rPr>
              <a:t></a:t>
            </a:r>
            <a:r>
              <a:rPr lang="en-US" altLang="en-US" sz="2400">
                <a:sym typeface="Wingdings" pitchFamily="2" charset="2"/>
              </a:rPr>
              <a:t> 15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Itemset </a:t>
            </a:r>
            <a:r>
              <a:rPr lang="en-US" altLang="en-US" sz="2400" i="1"/>
              <a:t>ab </a:t>
            </a:r>
            <a:r>
              <a:rPr lang="en-US" altLang="en-US" sz="2400"/>
              <a:t>satisfies C</a:t>
            </a:r>
            <a:endParaRPr lang="en-US" altLang="en-US" sz="2400">
              <a:sym typeface="Wingdings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400">
                <a:sym typeface="Wingdings" pitchFamily="2" charset="2"/>
              </a:rPr>
              <a:t>So does every superset of </a:t>
            </a:r>
            <a:r>
              <a:rPr lang="en-US" altLang="en-US" sz="2400" i="1">
                <a:sym typeface="Wingdings" pitchFamily="2" charset="2"/>
              </a:rPr>
              <a:t>ab</a:t>
            </a:r>
          </a:p>
        </p:txBody>
      </p:sp>
      <p:graphicFrame>
        <p:nvGraphicFramePr>
          <p:cNvPr id="1563652" name="Group 4">
            <a:extLst>
              <a:ext uri="{FF2B5EF4-FFF2-40B4-BE49-F238E27FC236}">
                <a16:creationId xmlns:a16="http://schemas.microsoft.com/office/drawing/2014/main" id="{95913BBF-6B66-D04A-9E8A-78CDA3B55415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600200"/>
          <a:ext cx="2514600" cy="1722120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1046483702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79041237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Transaction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29683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c, d,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9737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d, f, 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55788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97478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c, e, f, 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49382"/>
                  </a:ext>
                </a:extLst>
              </a:tr>
            </a:tbl>
          </a:graphicData>
        </a:graphic>
      </p:graphicFrame>
      <p:sp>
        <p:nvSpPr>
          <p:cNvPr id="1563672" name="Text Box 24">
            <a:extLst>
              <a:ext uri="{FF2B5EF4-FFF2-40B4-BE49-F238E27FC236}">
                <a16:creationId xmlns:a16="http://schemas.microsoft.com/office/drawing/2014/main" id="{E69864BD-5474-1C4E-9F1C-E13397AD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066800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3673" name="Group 25">
            <a:extLst>
              <a:ext uri="{FF2B5EF4-FFF2-40B4-BE49-F238E27FC236}">
                <a16:creationId xmlns:a16="http://schemas.microsoft.com/office/drawing/2014/main" id="{CE94D677-A039-B948-8B2A-71E413C47E82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581400"/>
          <a:ext cx="1600200" cy="301752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50244844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301019957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88965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71987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43986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14719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8036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7602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63038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4004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2814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22E87-9F1E-104E-84C0-BD224C02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F518-5B92-A54A-B2F2-ECF242D0277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58950-122E-9846-A2E9-21303888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EC4EF-31E1-A64C-93D6-12A17039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6C69-823E-2143-894D-10F89F647049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1564674" name="Rectangle 2">
            <a:extLst>
              <a:ext uri="{FF2B5EF4-FFF2-40B4-BE49-F238E27FC236}">
                <a16:creationId xmlns:a16="http://schemas.microsoft.com/office/drawing/2014/main" id="{9A0D4603-89D0-7648-803D-6C4104E3F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325" y="457200"/>
            <a:ext cx="7356475" cy="533400"/>
          </a:xfrm>
        </p:spPr>
        <p:txBody>
          <a:bodyPr/>
          <a:lstStyle/>
          <a:p>
            <a:r>
              <a:rPr lang="en-US" altLang="en-US"/>
              <a:t>Succinctness</a:t>
            </a:r>
          </a:p>
        </p:txBody>
      </p:sp>
      <p:sp>
        <p:nvSpPr>
          <p:cNvPr id="1564675" name="Rectangle 3">
            <a:extLst>
              <a:ext uri="{FF2B5EF4-FFF2-40B4-BE49-F238E27FC236}">
                <a16:creationId xmlns:a16="http://schemas.microsoft.com/office/drawing/2014/main" id="{1BBA8AF9-4CF9-C34B-B3CF-F23548AC2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5181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Succinctness: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Given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1, </a:t>
            </a:r>
            <a:r>
              <a:rPr lang="en-US" altLang="en-US" sz="2400"/>
              <a:t>the set of items satisfying a succinctness constraint </a:t>
            </a:r>
            <a:r>
              <a:rPr lang="en-US" altLang="en-US" sz="2400" i="1"/>
              <a:t>C</a:t>
            </a:r>
            <a:r>
              <a:rPr lang="en-US" altLang="en-US" sz="2400"/>
              <a:t>, then any set </a:t>
            </a:r>
            <a:r>
              <a:rPr lang="en-US" altLang="en-US" sz="2400" i="1"/>
              <a:t>S </a:t>
            </a:r>
            <a:r>
              <a:rPr lang="en-US" altLang="en-US" sz="2400"/>
              <a:t>satisfying </a:t>
            </a:r>
            <a:r>
              <a:rPr lang="en-US" altLang="en-US" sz="2400" i="1"/>
              <a:t>C</a:t>
            </a:r>
            <a:r>
              <a:rPr lang="en-US" altLang="en-US" sz="2400"/>
              <a:t> is based on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</a:t>
            </a:r>
            <a:r>
              <a:rPr lang="en-US" altLang="en-US" sz="2400"/>
              <a:t> , i.e., </a:t>
            </a:r>
            <a:r>
              <a:rPr lang="en-US" altLang="en-US" sz="2400" i="1"/>
              <a:t>S</a:t>
            </a:r>
            <a:r>
              <a:rPr lang="en-US" altLang="en-US" sz="2400"/>
              <a:t> contains a subset belonging to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Idea: Without looking at the transaction database, whether an itemset </a:t>
            </a:r>
            <a:r>
              <a:rPr lang="en-US" altLang="en-US" sz="2400" i="1"/>
              <a:t>S </a:t>
            </a:r>
            <a:r>
              <a:rPr lang="en-US" altLang="en-US" sz="2400"/>
              <a:t>satisfies constraint C can be determined based on the selection of items</a:t>
            </a:r>
            <a:r>
              <a:rPr lang="en-US" altLang="en-US" sz="2400">
                <a:sym typeface="Symbol" pitchFamily="2" charset="2"/>
              </a:rPr>
              <a:t>  </a:t>
            </a:r>
          </a:p>
          <a:p>
            <a:pPr lvl="1">
              <a:lnSpc>
                <a:spcPct val="120000"/>
              </a:lnSpc>
            </a:pPr>
            <a:r>
              <a:rPr lang="en-US" altLang="en-US" sz="2400" i="1">
                <a:sym typeface="Symbol" pitchFamily="2" charset="2"/>
              </a:rPr>
              <a:t>min</a:t>
            </a:r>
            <a:r>
              <a:rPr lang="en-US" altLang="en-US" sz="2400">
                <a:sym typeface="Symbol" pitchFamily="2" charset="2"/>
              </a:rPr>
              <a:t>(</a:t>
            </a:r>
            <a:r>
              <a:rPr lang="en-US" altLang="en-US" sz="2400" i="1">
                <a:sym typeface="Symbol" pitchFamily="2" charset="2"/>
              </a:rPr>
              <a:t>S.Price</a:t>
            </a:r>
            <a:r>
              <a:rPr lang="en-US" altLang="en-US" sz="2400">
                <a:sym typeface="Symbol" pitchFamily="2" charset="2"/>
              </a:rPr>
              <a:t>)</a:t>
            </a:r>
            <a:r>
              <a:rPr lang="en-US" altLang="en-US" sz="2400" i="1">
                <a:sym typeface="Symbol" pitchFamily="2" charset="2"/>
              </a:rPr>
              <a:t> </a:t>
            </a:r>
            <a:r>
              <a:rPr lang="en-US" altLang="en-US" sz="2400">
                <a:sym typeface="Symbol" pitchFamily="2" charset="2"/>
              </a:rPr>
              <a:t> </a:t>
            </a:r>
            <a:r>
              <a:rPr lang="en-US" altLang="en-US" sz="2400" i="1">
                <a:sym typeface="Symbol" pitchFamily="2" charset="2"/>
              </a:rPr>
              <a:t>v</a:t>
            </a:r>
            <a:r>
              <a:rPr lang="en-US" altLang="en-US" sz="2400">
                <a:sym typeface="Symbol" pitchFamily="2" charset="2"/>
              </a:rPr>
              <a:t>  is succinct</a:t>
            </a:r>
          </a:p>
          <a:p>
            <a:pPr lvl="1">
              <a:lnSpc>
                <a:spcPct val="120000"/>
              </a:lnSpc>
            </a:pPr>
            <a:r>
              <a:rPr lang="en-US" altLang="en-US" sz="2400" i="1">
                <a:sym typeface="Symbol" pitchFamily="2" charset="2"/>
              </a:rPr>
              <a:t>sum</a:t>
            </a:r>
            <a:r>
              <a:rPr lang="en-US" altLang="en-US" sz="2400">
                <a:sym typeface="Symbol" pitchFamily="2" charset="2"/>
              </a:rPr>
              <a:t>(</a:t>
            </a:r>
            <a:r>
              <a:rPr lang="en-US" altLang="en-US" sz="2400" i="1">
                <a:sym typeface="Symbol" pitchFamily="2" charset="2"/>
              </a:rPr>
              <a:t>S.Price</a:t>
            </a:r>
            <a:r>
              <a:rPr lang="en-US" altLang="en-US" sz="2400">
                <a:sym typeface="Symbol" pitchFamily="2" charset="2"/>
              </a:rPr>
              <a:t>)  </a:t>
            </a:r>
            <a:r>
              <a:rPr lang="en-US" altLang="en-US" sz="2400" i="1">
                <a:sym typeface="Symbol" pitchFamily="2" charset="2"/>
              </a:rPr>
              <a:t>v</a:t>
            </a:r>
            <a:r>
              <a:rPr lang="en-US" altLang="en-US" sz="2400">
                <a:sym typeface="Symbol" pitchFamily="2" charset="2"/>
              </a:rPr>
              <a:t>  is not succinct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Optimization: If </a:t>
            </a:r>
            <a:r>
              <a:rPr lang="en-US" altLang="en-US" sz="2400" i="1"/>
              <a:t>C</a:t>
            </a:r>
            <a:r>
              <a:rPr lang="en-US" altLang="en-US" sz="2400"/>
              <a:t> is succinct, </a:t>
            </a:r>
            <a:r>
              <a:rPr lang="en-US" altLang="en-US" sz="2400" i="1"/>
              <a:t>C</a:t>
            </a:r>
            <a:r>
              <a:rPr lang="en-US" altLang="en-US" sz="2400"/>
              <a:t> is pre-counting pushable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C17842EE-C8AF-9849-9EAA-DECAF826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DE1D-4E19-964F-B73C-3B48F6B35A4B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C290AFC2-CF18-694F-8300-312D3EAF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5646B022-BA7A-834C-8571-A2633A97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A976-5BA1-8343-B6DB-9C5639E6071B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1570818" name="Rectangle 2">
            <a:extLst>
              <a:ext uri="{FF2B5EF4-FFF2-40B4-BE49-F238E27FC236}">
                <a16:creationId xmlns:a16="http://schemas.microsoft.com/office/drawing/2014/main" id="{C99BCBE3-8E44-DA4C-BD86-6E3888C9B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924800" cy="609600"/>
          </a:xfrm>
        </p:spPr>
        <p:txBody>
          <a:bodyPr/>
          <a:lstStyle/>
          <a:p>
            <a:r>
              <a:rPr lang="en-US" altLang="en-US"/>
              <a:t>The Apriori Algorithm — Example</a:t>
            </a:r>
          </a:p>
        </p:txBody>
      </p:sp>
      <p:graphicFrame>
        <p:nvGraphicFramePr>
          <p:cNvPr id="1570819" name="Object 3">
            <a:extLst>
              <a:ext uri="{FF2B5EF4-FFF2-40B4-BE49-F238E27FC236}">
                <a16:creationId xmlns:a16="http://schemas.microsoft.com/office/drawing/2014/main" id="{87E19340-A867-8F47-BC72-B464F195C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3"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20" name="Text Box 4">
            <a:extLst>
              <a:ext uri="{FF2B5EF4-FFF2-40B4-BE49-F238E27FC236}">
                <a16:creationId xmlns:a16="http://schemas.microsoft.com/office/drawing/2014/main" id="{FD7B93F0-F13F-9346-9E82-373E1EA97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1570821" name="Object 5">
            <a:extLst>
              <a:ext uri="{FF2B5EF4-FFF2-40B4-BE49-F238E27FC236}">
                <a16:creationId xmlns:a16="http://schemas.microsoft.com/office/drawing/2014/main" id="{88898E92-2939-4D47-A697-394C70075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4"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0822" name="Object 6">
            <a:extLst>
              <a:ext uri="{FF2B5EF4-FFF2-40B4-BE49-F238E27FC236}">
                <a16:creationId xmlns:a16="http://schemas.microsoft.com/office/drawing/2014/main" id="{1F2A0252-3FD4-3C4D-8EEE-B8E6D4EE9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5"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23" name="Text Box 7">
            <a:extLst>
              <a:ext uri="{FF2B5EF4-FFF2-40B4-BE49-F238E27FC236}">
                <a16:creationId xmlns:a16="http://schemas.microsoft.com/office/drawing/2014/main" id="{497F8645-3C73-B340-9444-C620DD4FB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0824" name="Line 8">
            <a:extLst>
              <a:ext uri="{FF2B5EF4-FFF2-40B4-BE49-F238E27FC236}">
                <a16:creationId xmlns:a16="http://schemas.microsoft.com/office/drawing/2014/main" id="{12D1D264-82EC-0945-AD94-230C6FE9A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0825" name="Text Box 9">
            <a:extLst>
              <a:ext uri="{FF2B5EF4-FFF2-40B4-BE49-F238E27FC236}">
                <a16:creationId xmlns:a16="http://schemas.microsoft.com/office/drawing/2014/main" id="{01A19263-27AE-3A43-AE76-C3D2A0DFD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70826" name="Text Box 10">
            <a:extLst>
              <a:ext uri="{FF2B5EF4-FFF2-40B4-BE49-F238E27FC236}">
                <a16:creationId xmlns:a16="http://schemas.microsoft.com/office/drawing/2014/main" id="{D2F8A4D1-5F4E-1644-B3F1-187B18AAE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70827" name="Object 11">
            <a:extLst>
              <a:ext uri="{FF2B5EF4-FFF2-40B4-BE49-F238E27FC236}">
                <a16:creationId xmlns:a16="http://schemas.microsoft.com/office/drawing/2014/main" id="{A977D53C-828A-6543-B3DC-8E21FF808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6"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0828" name="Object 12">
            <a:extLst>
              <a:ext uri="{FF2B5EF4-FFF2-40B4-BE49-F238E27FC236}">
                <a16:creationId xmlns:a16="http://schemas.microsoft.com/office/drawing/2014/main" id="{30FCB8E0-08EB-7248-BFFE-32FD785D34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7"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0829" name="Object 13">
            <a:extLst>
              <a:ext uri="{FF2B5EF4-FFF2-40B4-BE49-F238E27FC236}">
                <a16:creationId xmlns:a16="http://schemas.microsoft.com/office/drawing/2014/main" id="{8CFE3ACA-6D5B-5843-8E5F-BA30FF84F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8"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30" name="Text Box 14">
            <a:extLst>
              <a:ext uri="{FF2B5EF4-FFF2-40B4-BE49-F238E27FC236}">
                <a16:creationId xmlns:a16="http://schemas.microsoft.com/office/drawing/2014/main" id="{DC2B20D4-9B75-B449-8C26-503D114D4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0831" name="Text Box 15">
            <a:extLst>
              <a:ext uri="{FF2B5EF4-FFF2-40B4-BE49-F238E27FC236}">
                <a16:creationId xmlns:a16="http://schemas.microsoft.com/office/drawing/2014/main" id="{1262447F-6E42-5D4B-A58C-0C9E60126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0832" name="Text Box 16">
            <a:extLst>
              <a:ext uri="{FF2B5EF4-FFF2-40B4-BE49-F238E27FC236}">
                <a16:creationId xmlns:a16="http://schemas.microsoft.com/office/drawing/2014/main" id="{58EBCBD8-912C-6445-90D4-B7033A94D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0833" name="Line 17">
            <a:extLst>
              <a:ext uri="{FF2B5EF4-FFF2-40B4-BE49-F238E27FC236}">
                <a16:creationId xmlns:a16="http://schemas.microsoft.com/office/drawing/2014/main" id="{7BA920BE-910F-2343-91AC-9EDBA69263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0834" name="Text Box 18">
            <a:extLst>
              <a:ext uri="{FF2B5EF4-FFF2-40B4-BE49-F238E27FC236}">
                <a16:creationId xmlns:a16="http://schemas.microsoft.com/office/drawing/2014/main" id="{102A7171-BA97-6541-8585-FF62C3EC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0835" name="AutoShape 19">
            <a:extLst>
              <a:ext uri="{FF2B5EF4-FFF2-40B4-BE49-F238E27FC236}">
                <a16:creationId xmlns:a16="http://schemas.microsoft.com/office/drawing/2014/main" id="{707168CD-7504-CC43-86D2-1BD86EDCF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0836" name="Line 20">
            <a:extLst>
              <a:ext uri="{FF2B5EF4-FFF2-40B4-BE49-F238E27FC236}">
                <a16:creationId xmlns:a16="http://schemas.microsoft.com/office/drawing/2014/main" id="{8B276B1B-F3E0-6842-B25A-359FB1D80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0837" name="Text Box 21">
            <a:extLst>
              <a:ext uri="{FF2B5EF4-FFF2-40B4-BE49-F238E27FC236}">
                <a16:creationId xmlns:a16="http://schemas.microsoft.com/office/drawing/2014/main" id="{4728B0C6-4F91-414B-9182-AD2A7AF6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70838" name="Text Box 22">
            <a:extLst>
              <a:ext uri="{FF2B5EF4-FFF2-40B4-BE49-F238E27FC236}">
                <a16:creationId xmlns:a16="http://schemas.microsoft.com/office/drawing/2014/main" id="{A703F43F-726D-9949-9527-438A0C5E2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1570839" name="Object 23">
            <a:extLst>
              <a:ext uri="{FF2B5EF4-FFF2-40B4-BE49-F238E27FC236}">
                <a16:creationId xmlns:a16="http://schemas.microsoft.com/office/drawing/2014/main" id="{41A8B167-F6EF-7644-8ACA-DCC1D1A9C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79"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40" name="Text Box 24">
            <a:extLst>
              <a:ext uri="{FF2B5EF4-FFF2-40B4-BE49-F238E27FC236}">
                <a16:creationId xmlns:a16="http://schemas.microsoft.com/office/drawing/2014/main" id="{2812DBBC-17A4-5749-83FD-87D4AD7D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1570841" name="Object 25">
            <a:extLst>
              <a:ext uri="{FF2B5EF4-FFF2-40B4-BE49-F238E27FC236}">
                <a16:creationId xmlns:a16="http://schemas.microsoft.com/office/drawing/2014/main" id="{9583008A-11F8-7D4E-B678-4AC7AE2A1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80"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42" name="AutoShape 26">
            <a:extLst>
              <a:ext uri="{FF2B5EF4-FFF2-40B4-BE49-F238E27FC236}">
                <a16:creationId xmlns:a16="http://schemas.microsoft.com/office/drawing/2014/main" id="{4E6CA64B-5EFC-6242-821C-CE565DC8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0843" name="Line 27">
            <a:extLst>
              <a:ext uri="{FF2B5EF4-FFF2-40B4-BE49-F238E27FC236}">
                <a16:creationId xmlns:a16="http://schemas.microsoft.com/office/drawing/2014/main" id="{FA80DC42-7C3A-0B47-9682-6A2A3DC55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0844" name="Line 28">
            <a:extLst>
              <a:ext uri="{FF2B5EF4-FFF2-40B4-BE49-F238E27FC236}">
                <a16:creationId xmlns:a16="http://schemas.microsoft.com/office/drawing/2014/main" id="{9F143B02-3C38-CF42-B7A3-09C342173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91D3F2DC-F36D-7347-988A-D1753326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D18-A790-2E4B-AAB3-9DCE140BCD6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6" name="Footer Placeholder 4">
            <a:extLst>
              <a:ext uri="{FF2B5EF4-FFF2-40B4-BE49-F238E27FC236}">
                <a16:creationId xmlns:a16="http://schemas.microsoft.com/office/drawing/2014/main" id="{CC522D75-1C7E-E342-8679-C9FBE58E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68CF3EDC-51E7-B941-9F54-63FF98F3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FEE6C-DE0E-984C-B85F-8C980E41CED5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1571842" name="Rectangle 2">
            <a:extLst>
              <a:ext uri="{FF2B5EF4-FFF2-40B4-BE49-F238E27FC236}">
                <a16:creationId xmlns:a16="http://schemas.microsoft.com/office/drawing/2014/main" id="{A6822CC5-3454-5745-9CD7-00C8D89B0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altLang="en-US"/>
              <a:t>Naïve Algorithm: Apriori + Constraint </a:t>
            </a:r>
          </a:p>
        </p:txBody>
      </p:sp>
      <p:graphicFrame>
        <p:nvGraphicFramePr>
          <p:cNvPr id="1571843" name="Object 3">
            <a:extLst>
              <a:ext uri="{FF2B5EF4-FFF2-40B4-BE49-F238E27FC236}">
                <a16:creationId xmlns:a16="http://schemas.microsoft.com/office/drawing/2014/main" id="{86AABDB6-9A1B-BE45-8F5F-B078750A00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3"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44" name="Text Box 4">
            <a:extLst>
              <a:ext uri="{FF2B5EF4-FFF2-40B4-BE49-F238E27FC236}">
                <a16:creationId xmlns:a16="http://schemas.microsoft.com/office/drawing/2014/main" id="{8DDF4FAE-6C46-1346-8D29-E6DD9A0C7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1571845" name="Object 5">
            <a:extLst>
              <a:ext uri="{FF2B5EF4-FFF2-40B4-BE49-F238E27FC236}">
                <a16:creationId xmlns:a16="http://schemas.microsoft.com/office/drawing/2014/main" id="{40075F16-854C-6E43-98C4-89101A0CE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4"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1846" name="Object 6">
            <a:extLst>
              <a:ext uri="{FF2B5EF4-FFF2-40B4-BE49-F238E27FC236}">
                <a16:creationId xmlns:a16="http://schemas.microsoft.com/office/drawing/2014/main" id="{27712886-6B52-774C-8BB2-D9A37508C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5"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47" name="Text Box 7">
            <a:extLst>
              <a:ext uri="{FF2B5EF4-FFF2-40B4-BE49-F238E27FC236}">
                <a16:creationId xmlns:a16="http://schemas.microsoft.com/office/drawing/2014/main" id="{585AF917-C8C5-004A-9D05-A68898DB9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1848" name="Line 8">
            <a:extLst>
              <a:ext uri="{FF2B5EF4-FFF2-40B4-BE49-F238E27FC236}">
                <a16:creationId xmlns:a16="http://schemas.microsoft.com/office/drawing/2014/main" id="{85B9BDD1-15D6-E341-8A65-54B4B5A41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1849" name="Text Box 9">
            <a:extLst>
              <a:ext uri="{FF2B5EF4-FFF2-40B4-BE49-F238E27FC236}">
                <a16:creationId xmlns:a16="http://schemas.microsoft.com/office/drawing/2014/main" id="{3754B972-045E-5344-BE66-73B33C4E9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71850" name="Text Box 10">
            <a:extLst>
              <a:ext uri="{FF2B5EF4-FFF2-40B4-BE49-F238E27FC236}">
                <a16:creationId xmlns:a16="http://schemas.microsoft.com/office/drawing/2014/main" id="{1FB445F0-0172-7D48-9CD2-9E6AA1BA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71851" name="Object 11">
            <a:extLst>
              <a:ext uri="{FF2B5EF4-FFF2-40B4-BE49-F238E27FC236}">
                <a16:creationId xmlns:a16="http://schemas.microsoft.com/office/drawing/2014/main" id="{5F3970C4-CBE8-DA4C-829D-EA99F29ED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6"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1852" name="Object 12">
            <a:extLst>
              <a:ext uri="{FF2B5EF4-FFF2-40B4-BE49-F238E27FC236}">
                <a16:creationId xmlns:a16="http://schemas.microsoft.com/office/drawing/2014/main" id="{F11ED29D-156B-5E40-A571-139AC4915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7"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1853" name="Object 13">
            <a:extLst>
              <a:ext uri="{FF2B5EF4-FFF2-40B4-BE49-F238E27FC236}">
                <a16:creationId xmlns:a16="http://schemas.microsoft.com/office/drawing/2014/main" id="{0905722A-D908-9243-8415-55899F03B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8"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54" name="Text Box 14">
            <a:extLst>
              <a:ext uri="{FF2B5EF4-FFF2-40B4-BE49-F238E27FC236}">
                <a16:creationId xmlns:a16="http://schemas.microsoft.com/office/drawing/2014/main" id="{0FCF8622-7142-DA43-A44A-AC10EB14F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1855" name="Text Box 15">
            <a:extLst>
              <a:ext uri="{FF2B5EF4-FFF2-40B4-BE49-F238E27FC236}">
                <a16:creationId xmlns:a16="http://schemas.microsoft.com/office/drawing/2014/main" id="{5F7CD6AA-096A-7D47-B7E3-BB972E9CC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1856" name="Text Box 16">
            <a:extLst>
              <a:ext uri="{FF2B5EF4-FFF2-40B4-BE49-F238E27FC236}">
                <a16:creationId xmlns:a16="http://schemas.microsoft.com/office/drawing/2014/main" id="{5132C6FA-D807-9E44-98BD-617B1DE54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1857" name="Line 17">
            <a:extLst>
              <a:ext uri="{FF2B5EF4-FFF2-40B4-BE49-F238E27FC236}">
                <a16:creationId xmlns:a16="http://schemas.microsoft.com/office/drawing/2014/main" id="{0F47A57D-4C97-4442-B597-7FF0442429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1858" name="Text Box 18">
            <a:extLst>
              <a:ext uri="{FF2B5EF4-FFF2-40B4-BE49-F238E27FC236}">
                <a16:creationId xmlns:a16="http://schemas.microsoft.com/office/drawing/2014/main" id="{0CC97953-3216-0C4B-884D-52787D4B3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1859" name="AutoShape 19">
            <a:extLst>
              <a:ext uri="{FF2B5EF4-FFF2-40B4-BE49-F238E27FC236}">
                <a16:creationId xmlns:a16="http://schemas.microsoft.com/office/drawing/2014/main" id="{EF798531-51D2-7F4D-B20D-FC171AAB1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1860" name="Line 20">
            <a:extLst>
              <a:ext uri="{FF2B5EF4-FFF2-40B4-BE49-F238E27FC236}">
                <a16:creationId xmlns:a16="http://schemas.microsoft.com/office/drawing/2014/main" id="{A2095F6B-C994-4846-8BDF-0F7FB19E5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1861" name="Text Box 21">
            <a:extLst>
              <a:ext uri="{FF2B5EF4-FFF2-40B4-BE49-F238E27FC236}">
                <a16:creationId xmlns:a16="http://schemas.microsoft.com/office/drawing/2014/main" id="{1D87595B-7752-394E-9662-F0C33ED31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71862" name="Text Box 22">
            <a:extLst>
              <a:ext uri="{FF2B5EF4-FFF2-40B4-BE49-F238E27FC236}">
                <a16:creationId xmlns:a16="http://schemas.microsoft.com/office/drawing/2014/main" id="{8BBA83D2-7422-0A41-8B0A-A361C8A0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1571863" name="Object 23">
            <a:extLst>
              <a:ext uri="{FF2B5EF4-FFF2-40B4-BE49-F238E27FC236}">
                <a16:creationId xmlns:a16="http://schemas.microsoft.com/office/drawing/2014/main" id="{5A9C6821-C2B7-CD4A-A7D2-2053B2260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19"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64" name="Text Box 24">
            <a:extLst>
              <a:ext uri="{FF2B5EF4-FFF2-40B4-BE49-F238E27FC236}">
                <a16:creationId xmlns:a16="http://schemas.microsoft.com/office/drawing/2014/main" id="{26089A4C-0E86-1A4D-91CD-843D3ED76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1571865" name="Object 25">
            <a:extLst>
              <a:ext uri="{FF2B5EF4-FFF2-40B4-BE49-F238E27FC236}">
                <a16:creationId xmlns:a16="http://schemas.microsoft.com/office/drawing/2014/main" id="{50129B12-6B35-D443-AEA5-A965F0CE3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20"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66" name="AutoShape 26">
            <a:extLst>
              <a:ext uri="{FF2B5EF4-FFF2-40B4-BE49-F238E27FC236}">
                <a16:creationId xmlns:a16="http://schemas.microsoft.com/office/drawing/2014/main" id="{E213A88F-4993-8D4C-9201-A05CDFD8B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1867" name="Line 27">
            <a:extLst>
              <a:ext uri="{FF2B5EF4-FFF2-40B4-BE49-F238E27FC236}">
                <a16:creationId xmlns:a16="http://schemas.microsoft.com/office/drawing/2014/main" id="{0DEB8DF3-9EF6-9F45-AB42-BC8FACE49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1868" name="Line 28">
            <a:extLst>
              <a:ext uri="{FF2B5EF4-FFF2-40B4-BE49-F238E27FC236}">
                <a16:creationId xmlns:a16="http://schemas.microsoft.com/office/drawing/2014/main" id="{072473AF-BBA1-EA41-B66B-69474D040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1869" name="Text Box 29">
            <a:extLst>
              <a:ext uri="{FF2B5EF4-FFF2-40B4-BE49-F238E27FC236}">
                <a16:creationId xmlns:a16="http://schemas.microsoft.com/office/drawing/2014/main" id="{C8408156-7F91-7740-A612-07D743A2C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Sum{S.price} &lt; 5</a:t>
            </a:r>
          </a:p>
        </p:txBody>
      </p:sp>
      <p:grpSp>
        <p:nvGrpSpPr>
          <p:cNvPr id="1571870" name="Group 30">
            <a:extLst>
              <a:ext uri="{FF2B5EF4-FFF2-40B4-BE49-F238E27FC236}">
                <a16:creationId xmlns:a16="http://schemas.microsoft.com/office/drawing/2014/main" id="{8E44C1EA-88F4-5E40-8C7D-3DF0ADC53C2F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971800"/>
            <a:ext cx="1524000" cy="152400"/>
            <a:chOff x="2160" y="2016"/>
            <a:chExt cx="960" cy="96"/>
          </a:xfrm>
        </p:grpSpPr>
        <p:sp>
          <p:nvSpPr>
            <p:cNvPr id="1571871" name="Line 31">
              <a:extLst>
                <a:ext uri="{FF2B5EF4-FFF2-40B4-BE49-F238E27FC236}">
                  <a16:creationId xmlns:a16="http://schemas.microsoft.com/office/drawing/2014/main" id="{76F286C9-7F7F-7C44-8E60-6CF202D85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1872" name="Line 32">
              <a:extLst>
                <a:ext uri="{FF2B5EF4-FFF2-40B4-BE49-F238E27FC236}">
                  <a16:creationId xmlns:a16="http://schemas.microsoft.com/office/drawing/2014/main" id="{49C988AF-1081-124B-8CA0-AE2CF489E4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1873" name="Group 33">
            <a:extLst>
              <a:ext uri="{FF2B5EF4-FFF2-40B4-BE49-F238E27FC236}">
                <a16:creationId xmlns:a16="http://schemas.microsoft.com/office/drawing/2014/main" id="{62FCA4CE-5433-1742-ACAB-D9C169BFE9A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572000"/>
            <a:ext cx="1524000" cy="152400"/>
            <a:chOff x="2160" y="2016"/>
            <a:chExt cx="960" cy="96"/>
          </a:xfrm>
        </p:grpSpPr>
        <p:sp>
          <p:nvSpPr>
            <p:cNvPr id="1571874" name="Line 34">
              <a:extLst>
                <a:ext uri="{FF2B5EF4-FFF2-40B4-BE49-F238E27FC236}">
                  <a16:creationId xmlns:a16="http://schemas.microsoft.com/office/drawing/2014/main" id="{668BF50D-3043-2540-8FFC-6AC4D4E90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1875" name="Line 35">
              <a:extLst>
                <a:ext uri="{FF2B5EF4-FFF2-40B4-BE49-F238E27FC236}">
                  <a16:creationId xmlns:a16="http://schemas.microsoft.com/office/drawing/2014/main" id="{B676C061-EBA5-404D-9E73-C7BE76475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1876" name="Group 36">
            <a:extLst>
              <a:ext uri="{FF2B5EF4-FFF2-40B4-BE49-F238E27FC236}">
                <a16:creationId xmlns:a16="http://schemas.microsoft.com/office/drawing/2014/main" id="{A8A5F7E4-1F52-4D4E-997F-65D6BA6569B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953000"/>
            <a:ext cx="1524000" cy="152400"/>
            <a:chOff x="2160" y="2016"/>
            <a:chExt cx="960" cy="96"/>
          </a:xfrm>
        </p:grpSpPr>
        <p:sp>
          <p:nvSpPr>
            <p:cNvPr id="1571877" name="Line 37">
              <a:extLst>
                <a:ext uri="{FF2B5EF4-FFF2-40B4-BE49-F238E27FC236}">
                  <a16:creationId xmlns:a16="http://schemas.microsoft.com/office/drawing/2014/main" id="{A962FA68-CB28-8C4A-B3B3-92480E72E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1878" name="Line 38">
              <a:extLst>
                <a:ext uri="{FF2B5EF4-FFF2-40B4-BE49-F238E27FC236}">
                  <a16:creationId xmlns:a16="http://schemas.microsoft.com/office/drawing/2014/main" id="{7BD7522C-623F-524B-8BC0-DA21C8675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1879" name="Group 39">
            <a:extLst>
              <a:ext uri="{FF2B5EF4-FFF2-40B4-BE49-F238E27FC236}">
                <a16:creationId xmlns:a16="http://schemas.microsoft.com/office/drawing/2014/main" id="{0A6A0242-7E34-774C-B46A-7DA072DB51B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257800"/>
            <a:ext cx="1524000" cy="152400"/>
            <a:chOff x="2160" y="2016"/>
            <a:chExt cx="960" cy="96"/>
          </a:xfrm>
        </p:grpSpPr>
        <p:sp>
          <p:nvSpPr>
            <p:cNvPr id="1571880" name="Line 40">
              <a:extLst>
                <a:ext uri="{FF2B5EF4-FFF2-40B4-BE49-F238E27FC236}">
                  <a16:creationId xmlns:a16="http://schemas.microsoft.com/office/drawing/2014/main" id="{23A49E78-FB55-8543-8E1E-B5CD4A9DA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1881" name="Line 41">
              <a:extLst>
                <a:ext uri="{FF2B5EF4-FFF2-40B4-BE49-F238E27FC236}">
                  <a16:creationId xmlns:a16="http://schemas.microsoft.com/office/drawing/2014/main" id="{A1621D22-59FA-BC4A-B757-D1E025299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1882" name="Group 42">
            <a:extLst>
              <a:ext uri="{FF2B5EF4-FFF2-40B4-BE49-F238E27FC236}">
                <a16:creationId xmlns:a16="http://schemas.microsoft.com/office/drawing/2014/main" id="{F9DF3256-4361-CA45-A322-1D074F389747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6400800"/>
            <a:ext cx="1524000" cy="152400"/>
            <a:chOff x="2160" y="2016"/>
            <a:chExt cx="960" cy="96"/>
          </a:xfrm>
        </p:grpSpPr>
        <p:sp>
          <p:nvSpPr>
            <p:cNvPr id="1571883" name="Line 43">
              <a:extLst>
                <a:ext uri="{FF2B5EF4-FFF2-40B4-BE49-F238E27FC236}">
                  <a16:creationId xmlns:a16="http://schemas.microsoft.com/office/drawing/2014/main" id="{14E38AEF-7386-084A-A53F-19D4B4497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1884" name="Line 44">
              <a:extLst>
                <a:ext uri="{FF2B5EF4-FFF2-40B4-BE49-F238E27FC236}">
                  <a16:creationId xmlns:a16="http://schemas.microsoft.com/office/drawing/2014/main" id="{32F30F6F-39B5-2A46-9120-ADAC15BC6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9246B5DC-6337-844E-8F4B-F89FED95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0FC0-EC45-2847-9472-7396A88B1F56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4ECE4E5E-DE9C-2E4F-9D69-C78EA7B2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8AFBB610-C9CD-EA40-8638-03E73B1B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6E64-A32F-AD4D-B11A-B3D0970DBB2D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1572866" name="Rectangle 2">
            <a:extLst>
              <a:ext uri="{FF2B5EF4-FFF2-40B4-BE49-F238E27FC236}">
                <a16:creationId xmlns:a16="http://schemas.microsoft.com/office/drawing/2014/main" id="{6579F4FE-D728-1B4B-89D9-070C73799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69238" cy="1066800"/>
          </a:xfrm>
        </p:spPr>
        <p:txBody>
          <a:bodyPr/>
          <a:lstStyle/>
          <a:p>
            <a:r>
              <a:rPr lang="en-US" altLang="en-US" sz="3200"/>
              <a:t>The Constrained Apriori Algorithm: Push an Anti-monotone Constraint Deep</a:t>
            </a:r>
            <a:r>
              <a:rPr lang="en-US" altLang="en-US"/>
              <a:t> </a:t>
            </a:r>
          </a:p>
        </p:txBody>
      </p:sp>
      <p:graphicFrame>
        <p:nvGraphicFramePr>
          <p:cNvPr id="1572867" name="Object 3">
            <a:extLst>
              <a:ext uri="{FF2B5EF4-FFF2-40B4-BE49-F238E27FC236}">
                <a16:creationId xmlns:a16="http://schemas.microsoft.com/office/drawing/2014/main" id="{5668E0FD-F674-2B49-9FDE-5EE902273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0"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2868" name="Text Box 4">
            <a:extLst>
              <a:ext uri="{FF2B5EF4-FFF2-40B4-BE49-F238E27FC236}">
                <a16:creationId xmlns:a16="http://schemas.microsoft.com/office/drawing/2014/main" id="{EB6D6316-849B-0C4C-A43D-D152533D6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1572869" name="Object 5">
            <a:extLst>
              <a:ext uri="{FF2B5EF4-FFF2-40B4-BE49-F238E27FC236}">
                <a16:creationId xmlns:a16="http://schemas.microsoft.com/office/drawing/2014/main" id="{BD8980D1-7644-A64D-B9C1-2EE21C80A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1"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2870" name="Object 6">
            <a:extLst>
              <a:ext uri="{FF2B5EF4-FFF2-40B4-BE49-F238E27FC236}">
                <a16:creationId xmlns:a16="http://schemas.microsoft.com/office/drawing/2014/main" id="{5B942B1B-7871-1049-B8C6-60C5D28DF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2"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2871" name="Text Box 7">
            <a:extLst>
              <a:ext uri="{FF2B5EF4-FFF2-40B4-BE49-F238E27FC236}">
                <a16:creationId xmlns:a16="http://schemas.microsoft.com/office/drawing/2014/main" id="{1C10DFC4-1265-EB47-915A-C40A44035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2872" name="Line 8">
            <a:extLst>
              <a:ext uri="{FF2B5EF4-FFF2-40B4-BE49-F238E27FC236}">
                <a16:creationId xmlns:a16="http://schemas.microsoft.com/office/drawing/2014/main" id="{D709754B-BFA8-9946-B112-C6CCED3AE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2873" name="Text Box 9">
            <a:extLst>
              <a:ext uri="{FF2B5EF4-FFF2-40B4-BE49-F238E27FC236}">
                <a16:creationId xmlns:a16="http://schemas.microsoft.com/office/drawing/2014/main" id="{4335FA1E-DACC-CB4A-91B0-3D0A17324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72874" name="Text Box 10">
            <a:extLst>
              <a:ext uri="{FF2B5EF4-FFF2-40B4-BE49-F238E27FC236}">
                <a16:creationId xmlns:a16="http://schemas.microsoft.com/office/drawing/2014/main" id="{1A842DA8-3927-EC4C-93C1-69A25C2D4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72875" name="Object 11">
            <a:extLst>
              <a:ext uri="{FF2B5EF4-FFF2-40B4-BE49-F238E27FC236}">
                <a16:creationId xmlns:a16="http://schemas.microsoft.com/office/drawing/2014/main" id="{BD30E060-650F-FF47-864B-5E58D075C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3"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2876" name="Object 12">
            <a:extLst>
              <a:ext uri="{FF2B5EF4-FFF2-40B4-BE49-F238E27FC236}">
                <a16:creationId xmlns:a16="http://schemas.microsoft.com/office/drawing/2014/main" id="{FBE6613E-EBC3-DF48-8EB7-3841D99B45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4"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2877" name="Object 13">
            <a:extLst>
              <a:ext uri="{FF2B5EF4-FFF2-40B4-BE49-F238E27FC236}">
                <a16:creationId xmlns:a16="http://schemas.microsoft.com/office/drawing/2014/main" id="{26546645-A433-8C46-A323-CE93F526A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5"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2878" name="Text Box 14">
            <a:extLst>
              <a:ext uri="{FF2B5EF4-FFF2-40B4-BE49-F238E27FC236}">
                <a16:creationId xmlns:a16="http://schemas.microsoft.com/office/drawing/2014/main" id="{EAF45333-463A-A94A-A945-CB6C0EE24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2879" name="Text Box 15">
            <a:extLst>
              <a:ext uri="{FF2B5EF4-FFF2-40B4-BE49-F238E27FC236}">
                <a16:creationId xmlns:a16="http://schemas.microsoft.com/office/drawing/2014/main" id="{A836FEA2-856A-D34A-9440-3906A2DE5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2880" name="Text Box 16">
            <a:extLst>
              <a:ext uri="{FF2B5EF4-FFF2-40B4-BE49-F238E27FC236}">
                <a16:creationId xmlns:a16="http://schemas.microsoft.com/office/drawing/2014/main" id="{9002D1AE-EBF0-9C46-84C9-7D20F7B47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2881" name="Line 17">
            <a:extLst>
              <a:ext uri="{FF2B5EF4-FFF2-40B4-BE49-F238E27FC236}">
                <a16:creationId xmlns:a16="http://schemas.microsoft.com/office/drawing/2014/main" id="{1B43B794-625C-EA46-AEEF-45331EF9A1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2882" name="Text Box 18">
            <a:extLst>
              <a:ext uri="{FF2B5EF4-FFF2-40B4-BE49-F238E27FC236}">
                <a16:creationId xmlns:a16="http://schemas.microsoft.com/office/drawing/2014/main" id="{1C72070C-86E6-B74C-9C44-5970A3E7D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2883" name="AutoShape 19">
            <a:extLst>
              <a:ext uri="{FF2B5EF4-FFF2-40B4-BE49-F238E27FC236}">
                <a16:creationId xmlns:a16="http://schemas.microsoft.com/office/drawing/2014/main" id="{65B2AD55-884E-3B44-803F-BBDDFBA04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2884" name="Line 20">
            <a:extLst>
              <a:ext uri="{FF2B5EF4-FFF2-40B4-BE49-F238E27FC236}">
                <a16:creationId xmlns:a16="http://schemas.microsoft.com/office/drawing/2014/main" id="{EC0C9F61-6583-3C4A-B5ED-A1C9FD606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2885" name="Text Box 21">
            <a:extLst>
              <a:ext uri="{FF2B5EF4-FFF2-40B4-BE49-F238E27FC236}">
                <a16:creationId xmlns:a16="http://schemas.microsoft.com/office/drawing/2014/main" id="{B12DA934-8EE5-7D45-B174-7693D1180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72886" name="Text Box 22">
            <a:extLst>
              <a:ext uri="{FF2B5EF4-FFF2-40B4-BE49-F238E27FC236}">
                <a16:creationId xmlns:a16="http://schemas.microsoft.com/office/drawing/2014/main" id="{3FE500F0-9BDB-E446-9944-BCE20023E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1572887" name="Object 23">
            <a:extLst>
              <a:ext uri="{FF2B5EF4-FFF2-40B4-BE49-F238E27FC236}">
                <a16:creationId xmlns:a16="http://schemas.microsoft.com/office/drawing/2014/main" id="{33B9ABE9-5361-B747-AB39-F2911014F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6"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2888" name="Text Box 24">
            <a:extLst>
              <a:ext uri="{FF2B5EF4-FFF2-40B4-BE49-F238E27FC236}">
                <a16:creationId xmlns:a16="http://schemas.microsoft.com/office/drawing/2014/main" id="{6366DC22-E561-B944-AE31-35C7E396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1572889" name="Object 25">
            <a:extLst>
              <a:ext uri="{FF2B5EF4-FFF2-40B4-BE49-F238E27FC236}">
                <a16:creationId xmlns:a16="http://schemas.microsoft.com/office/drawing/2014/main" id="{9E8B98E3-BFFC-E24B-A32A-7625E858DF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47"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2890" name="AutoShape 26">
            <a:extLst>
              <a:ext uri="{FF2B5EF4-FFF2-40B4-BE49-F238E27FC236}">
                <a16:creationId xmlns:a16="http://schemas.microsoft.com/office/drawing/2014/main" id="{5F304174-AB0D-3A49-BBF2-C29355DD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2891" name="Line 27">
            <a:extLst>
              <a:ext uri="{FF2B5EF4-FFF2-40B4-BE49-F238E27FC236}">
                <a16:creationId xmlns:a16="http://schemas.microsoft.com/office/drawing/2014/main" id="{90578D77-8FCC-004F-B75C-086532726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2892" name="Line 28">
            <a:extLst>
              <a:ext uri="{FF2B5EF4-FFF2-40B4-BE49-F238E27FC236}">
                <a16:creationId xmlns:a16="http://schemas.microsoft.com/office/drawing/2014/main" id="{6C387AD2-7AE3-1B46-9D38-E6CF07AADF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2893" name="Text Box 29">
            <a:extLst>
              <a:ext uri="{FF2B5EF4-FFF2-40B4-BE49-F238E27FC236}">
                <a16:creationId xmlns:a16="http://schemas.microsoft.com/office/drawing/2014/main" id="{86CB26A4-0FCA-AF47-9188-19BB814E5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Sum{S.price} &lt; 5</a:t>
            </a:r>
          </a:p>
        </p:txBody>
      </p:sp>
      <p:grpSp>
        <p:nvGrpSpPr>
          <p:cNvPr id="1572894" name="Group 30">
            <a:extLst>
              <a:ext uri="{FF2B5EF4-FFF2-40B4-BE49-F238E27FC236}">
                <a16:creationId xmlns:a16="http://schemas.microsoft.com/office/drawing/2014/main" id="{CC50A785-0677-4842-B7AA-89013D5282B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200400"/>
            <a:ext cx="1524000" cy="152400"/>
            <a:chOff x="2160" y="2016"/>
            <a:chExt cx="960" cy="96"/>
          </a:xfrm>
        </p:grpSpPr>
        <p:sp>
          <p:nvSpPr>
            <p:cNvPr id="1572895" name="Line 31">
              <a:extLst>
                <a:ext uri="{FF2B5EF4-FFF2-40B4-BE49-F238E27FC236}">
                  <a16:creationId xmlns:a16="http://schemas.microsoft.com/office/drawing/2014/main" id="{17C263A4-B33E-6A44-9388-02687065A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2896" name="Line 32">
              <a:extLst>
                <a:ext uri="{FF2B5EF4-FFF2-40B4-BE49-F238E27FC236}">
                  <a16:creationId xmlns:a16="http://schemas.microsoft.com/office/drawing/2014/main" id="{5C2272E1-B132-3E4C-9AC4-2D667A504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72897" name="Line 33">
            <a:extLst>
              <a:ext uri="{FF2B5EF4-FFF2-40B4-BE49-F238E27FC236}">
                <a16:creationId xmlns:a16="http://schemas.microsoft.com/office/drawing/2014/main" id="{6FCAE80E-1270-3D4F-9757-A1BD3F0DE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048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898" name="Line 34">
            <a:extLst>
              <a:ext uri="{FF2B5EF4-FFF2-40B4-BE49-F238E27FC236}">
                <a16:creationId xmlns:a16="http://schemas.microsoft.com/office/drawing/2014/main" id="{BD71BECE-A481-E340-8F73-79B07DB37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570413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899" name="Line 35">
            <a:extLst>
              <a:ext uri="{FF2B5EF4-FFF2-40B4-BE49-F238E27FC236}">
                <a16:creationId xmlns:a16="http://schemas.microsoft.com/office/drawing/2014/main" id="{1F9111EA-CADA-9B4E-BBC1-E462C8B64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25780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0" name="Line 36">
            <a:extLst>
              <a:ext uri="{FF2B5EF4-FFF2-40B4-BE49-F238E27FC236}">
                <a16:creationId xmlns:a16="http://schemas.microsoft.com/office/drawing/2014/main" id="{6FCFC4D8-AAF8-A148-8024-257329E73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56260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1" name="Line 37">
            <a:extLst>
              <a:ext uri="{FF2B5EF4-FFF2-40B4-BE49-F238E27FC236}">
                <a16:creationId xmlns:a16="http://schemas.microsoft.com/office/drawing/2014/main" id="{83E66775-66FE-D04A-8507-587295C43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5626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2" name="Line 38">
            <a:extLst>
              <a:ext uri="{FF2B5EF4-FFF2-40B4-BE49-F238E27FC236}">
                <a16:creationId xmlns:a16="http://schemas.microsoft.com/office/drawing/2014/main" id="{BCDAC3AC-1A07-6D46-A86B-2F7BBFF7D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257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3" name="Line 39">
            <a:extLst>
              <a:ext uri="{FF2B5EF4-FFF2-40B4-BE49-F238E27FC236}">
                <a16:creationId xmlns:a16="http://schemas.microsoft.com/office/drawing/2014/main" id="{C28D3D60-D441-4749-A86F-BE8A0FFE4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48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72904" name="Group 40">
            <a:extLst>
              <a:ext uri="{FF2B5EF4-FFF2-40B4-BE49-F238E27FC236}">
                <a16:creationId xmlns:a16="http://schemas.microsoft.com/office/drawing/2014/main" id="{7203E8E0-1B63-FB4C-B464-A8EA93AFAB37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876800"/>
            <a:ext cx="1524000" cy="152400"/>
            <a:chOff x="2160" y="2016"/>
            <a:chExt cx="960" cy="96"/>
          </a:xfrm>
        </p:grpSpPr>
        <p:sp>
          <p:nvSpPr>
            <p:cNvPr id="1572905" name="Line 41">
              <a:extLst>
                <a:ext uri="{FF2B5EF4-FFF2-40B4-BE49-F238E27FC236}">
                  <a16:creationId xmlns:a16="http://schemas.microsoft.com/office/drawing/2014/main" id="{BB15E3F1-32AE-F148-98AF-F86932969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2906" name="Line 42">
              <a:extLst>
                <a:ext uri="{FF2B5EF4-FFF2-40B4-BE49-F238E27FC236}">
                  <a16:creationId xmlns:a16="http://schemas.microsoft.com/office/drawing/2014/main" id="{84C3BF4D-5A75-2A40-BECC-A2C071CEF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72907" name="Line 43">
            <a:extLst>
              <a:ext uri="{FF2B5EF4-FFF2-40B4-BE49-F238E27FC236}">
                <a16:creationId xmlns:a16="http://schemas.microsoft.com/office/drawing/2014/main" id="{0B3275F8-644E-A14E-A2DB-BAD4FB2C3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8" name="Line 44">
            <a:extLst>
              <a:ext uri="{FF2B5EF4-FFF2-40B4-BE49-F238E27FC236}">
                <a16:creationId xmlns:a16="http://schemas.microsoft.com/office/drawing/2014/main" id="{4654FB0F-29A1-CD4F-A907-2ED492AEA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029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09" name="Line 45">
            <a:extLst>
              <a:ext uri="{FF2B5EF4-FFF2-40B4-BE49-F238E27FC236}">
                <a16:creationId xmlns:a16="http://schemas.microsoft.com/office/drawing/2014/main" id="{30A9635F-22CB-CB4A-A94A-1AE7CE1AE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334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10" name="Line 46">
            <a:extLst>
              <a:ext uri="{FF2B5EF4-FFF2-40B4-BE49-F238E27FC236}">
                <a16:creationId xmlns:a16="http://schemas.microsoft.com/office/drawing/2014/main" id="{FBDA713E-016E-AE48-9DB3-414CB3A81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400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2911" name="Line 47">
            <a:extLst>
              <a:ext uri="{FF2B5EF4-FFF2-40B4-BE49-F238E27FC236}">
                <a16:creationId xmlns:a16="http://schemas.microsoft.com/office/drawing/2014/main" id="{C16E8AD9-5048-8847-A526-3DF26AC76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647700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Date Placeholder 3">
            <a:extLst>
              <a:ext uri="{FF2B5EF4-FFF2-40B4-BE49-F238E27FC236}">
                <a16:creationId xmlns:a16="http://schemas.microsoft.com/office/drawing/2014/main" id="{8E995B4E-893C-7D40-9E4B-A830662C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89D6D-4D7D-F640-A43C-9864538A90A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941A4152-5A42-234D-AD21-E52E4964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A356ED74-39D3-8847-94D7-DDBD02C3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7DCD-57D1-3740-A5D7-84B7AA5423EB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1573890" name="Rectangle 2">
            <a:extLst>
              <a:ext uri="{FF2B5EF4-FFF2-40B4-BE49-F238E27FC236}">
                <a16:creationId xmlns:a16="http://schemas.microsoft.com/office/drawing/2014/main" id="{6E53C9BE-73B4-7240-AA49-A05002D4B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869238" cy="990600"/>
          </a:xfrm>
        </p:spPr>
        <p:txBody>
          <a:bodyPr/>
          <a:lstStyle/>
          <a:p>
            <a:r>
              <a:rPr lang="en-US" altLang="en-US" sz="3200"/>
              <a:t>The Constrained Apriori Algorithm: Push a Succinct Constraint Deep</a:t>
            </a:r>
            <a:r>
              <a:rPr lang="en-US" altLang="en-US"/>
              <a:t> </a:t>
            </a:r>
          </a:p>
        </p:txBody>
      </p:sp>
      <p:graphicFrame>
        <p:nvGraphicFramePr>
          <p:cNvPr id="1573891" name="Object 3">
            <a:extLst>
              <a:ext uri="{FF2B5EF4-FFF2-40B4-BE49-F238E27FC236}">
                <a16:creationId xmlns:a16="http://schemas.microsoft.com/office/drawing/2014/main" id="{A23AF914-F627-CA44-B9B7-59BAD4CA0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68"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892" name="Text Box 4">
            <a:extLst>
              <a:ext uri="{FF2B5EF4-FFF2-40B4-BE49-F238E27FC236}">
                <a16:creationId xmlns:a16="http://schemas.microsoft.com/office/drawing/2014/main" id="{623DFD02-3B21-9C46-B691-7D8D1F779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1573893" name="Object 5">
            <a:extLst>
              <a:ext uri="{FF2B5EF4-FFF2-40B4-BE49-F238E27FC236}">
                <a16:creationId xmlns:a16="http://schemas.microsoft.com/office/drawing/2014/main" id="{2CC66525-68DF-4B4F-8447-B95802853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69"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3894" name="Object 6">
            <a:extLst>
              <a:ext uri="{FF2B5EF4-FFF2-40B4-BE49-F238E27FC236}">
                <a16:creationId xmlns:a16="http://schemas.microsoft.com/office/drawing/2014/main" id="{19100DDC-9BFB-554D-A00D-0F1267466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0"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895" name="Text Box 7">
            <a:extLst>
              <a:ext uri="{FF2B5EF4-FFF2-40B4-BE49-F238E27FC236}">
                <a16:creationId xmlns:a16="http://schemas.microsoft.com/office/drawing/2014/main" id="{03ED203A-A105-504F-AE34-15A70569A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3896" name="Line 8">
            <a:extLst>
              <a:ext uri="{FF2B5EF4-FFF2-40B4-BE49-F238E27FC236}">
                <a16:creationId xmlns:a16="http://schemas.microsoft.com/office/drawing/2014/main" id="{976072EF-123F-E44A-867D-17D5AD95B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3897" name="Text Box 9">
            <a:extLst>
              <a:ext uri="{FF2B5EF4-FFF2-40B4-BE49-F238E27FC236}">
                <a16:creationId xmlns:a16="http://schemas.microsoft.com/office/drawing/2014/main" id="{13BAC813-389C-FC42-9EDE-71A3D69AD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73898" name="Text Box 10">
            <a:extLst>
              <a:ext uri="{FF2B5EF4-FFF2-40B4-BE49-F238E27FC236}">
                <a16:creationId xmlns:a16="http://schemas.microsoft.com/office/drawing/2014/main" id="{0E7EE716-EB61-F442-921D-CA9BEB85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73899" name="Object 11">
            <a:extLst>
              <a:ext uri="{FF2B5EF4-FFF2-40B4-BE49-F238E27FC236}">
                <a16:creationId xmlns:a16="http://schemas.microsoft.com/office/drawing/2014/main" id="{EBF6BEA5-7E0F-D344-BB95-880F584FB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352800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1"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52800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3900" name="Object 12">
            <a:extLst>
              <a:ext uri="{FF2B5EF4-FFF2-40B4-BE49-F238E27FC236}">
                <a16:creationId xmlns:a16="http://schemas.microsoft.com/office/drawing/2014/main" id="{64B1CDBA-4D50-E14E-B9C1-5C1E34AAF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2"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3901" name="Object 13">
            <a:extLst>
              <a:ext uri="{FF2B5EF4-FFF2-40B4-BE49-F238E27FC236}">
                <a16:creationId xmlns:a16="http://schemas.microsoft.com/office/drawing/2014/main" id="{41D56DDD-5711-B144-B18E-DF607B871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3"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902" name="Text Box 14">
            <a:extLst>
              <a:ext uri="{FF2B5EF4-FFF2-40B4-BE49-F238E27FC236}">
                <a16:creationId xmlns:a16="http://schemas.microsoft.com/office/drawing/2014/main" id="{FC56AC13-FE4A-7448-8481-B303EB57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3903" name="Text Box 15">
            <a:extLst>
              <a:ext uri="{FF2B5EF4-FFF2-40B4-BE49-F238E27FC236}">
                <a16:creationId xmlns:a16="http://schemas.microsoft.com/office/drawing/2014/main" id="{B5D82075-F902-2540-9D8C-7E1CEDCC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3904" name="Text Box 16">
            <a:extLst>
              <a:ext uri="{FF2B5EF4-FFF2-40B4-BE49-F238E27FC236}">
                <a16:creationId xmlns:a16="http://schemas.microsoft.com/office/drawing/2014/main" id="{6E78B656-DCC4-1940-858F-97C2DADF7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73905" name="Line 17">
            <a:extLst>
              <a:ext uri="{FF2B5EF4-FFF2-40B4-BE49-F238E27FC236}">
                <a16:creationId xmlns:a16="http://schemas.microsoft.com/office/drawing/2014/main" id="{3F00B2A8-D8AF-2B49-A118-E7B626FA03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3906" name="Text Box 18">
            <a:extLst>
              <a:ext uri="{FF2B5EF4-FFF2-40B4-BE49-F238E27FC236}">
                <a16:creationId xmlns:a16="http://schemas.microsoft.com/office/drawing/2014/main" id="{31CDFA9A-5A41-664D-AA7E-5CC0263A4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1573907" name="AutoShape 19">
            <a:extLst>
              <a:ext uri="{FF2B5EF4-FFF2-40B4-BE49-F238E27FC236}">
                <a16:creationId xmlns:a16="http://schemas.microsoft.com/office/drawing/2014/main" id="{91B73D2F-5DDB-704A-B1AF-B7545C1A1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3908" name="Line 20">
            <a:extLst>
              <a:ext uri="{FF2B5EF4-FFF2-40B4-BE49-F238E27FC236}">
                <a16:creationId xmlns:a16="http://schemas.microsoft.com/office/drawing/2014/main" id="{F00D749E-0A25-7743-9B7D-81A9A9DF1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3909" name="Text Box 21">
            <a:extLst>
              <a:ext uri="{FF2B5EF4-FFF2-40B4-BE49-F238E27FC236}">
                <a16:creationId xmlns:a16="http://schemas.microsoft.com/office/drawing/2014/main" id="{B9A7C5F3-DFFA-574B-A6DB-7C4B295C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73910" name="Text Box 22">
            <a:extLst>
              <a:ext uri="{FF2B5EF4-FFF2-40B4-BE49-F238E27FC236}">
                <a16:creationId xmlns:a16="http://schemas.microsoft.com/office/drawing/2014/main" id="{146F23D2-5B13-1545-98C6-E67366440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1573911" name="Object 23">
            <a:extLst>
              <a:ext uri="{FF2B5EF4-FFF2-40B4-BE49-F238E27FC236}">
                <a16:creationId xmlns:a16="http://schemas.microsoft.com/office/drawing/2014/main" id="{A60B3B8A-2B72-A148-BBA6-0E2D37403B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4"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912" name="Text Box 24">
            <a:extLst>
              <a:ext uri="{FF2B5EF4-FFF2-40B4-BE49-F238E27FC236}">
                <a16:creationId xmlns:a16="http://schemas.microsoft.com/office/drawing/2014/main" id="{6B6D8A0D-5A87-934E-90A4-B7C718074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1573913" name="Object 25">
            <a:extLst>
              <a:ext uri="{FF2B5EF4-FFF2-40B4-BE49-F238E27FC236}">
                <a16:creationId xmlns:a16="http://schemas.microsoft.com/office/drawing/2014/main" id="{B586DFB9-89A6-7248-BC7B-425E6B870F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75"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914" name="AutoShape 26">
            <a:extLst>
              <a:ext uri="{FF2B5EF4-FFF2-40B4-BE49-F238E27FC236}">
                <a16:creationId xmlns:a16="http://schemas.microsoft.com/office/drawing/2014/main" id="{608AEFCF-A7E3-8E49-B234-A0354D9B6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73915" name="Line 27">
            <a:extLst>
              <a:ext uri="{FF2B5EF4-FFF2-40B4-BE49-F238E27FC236}">
                <a16:creationId xmlns:a16="http://schemas.microsoft.com/office/drawing/2014/main" id="{F0D3B2C3-42FE-B842-B867-115833DD4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3916" name="Line 28">
            <a:extLst>
              <a:ext uri="{FF2B5EF4-FFF2-40B4-BE49-F238E27FC236}">
                <a16:creationId xmlns:a16="http://schemas.microsoft.com/office/drawing/2014/main" id="{9280E5A0-144E-A04B-AC9D-9581A3143A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73917" name="Text Box 29">
            <a:extLst>
              <a:ext uri="{FF2B5EF4-FFF2-40B4-BE49-F238E27FC236}">
                <a16:creationId xmlns:a16="http://schemas.microsoft.com/office/drawing/2014/main" id="{7C44C60B-0323-3046-BD0E-15D402287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min{S.price } &lt;= 1</a:t>
            </a:r>
          </a:p>
        </p:txBody>
      </p:sp>
      <p:sp>
        <p:nvSpPr>
          <p:cNvPr id="1573918" name="Line 30">
            <a:extLst>
              <a:ext uri="{FF2B5EF4-FFF2-40B4-BE49-F238E27FC236}">
                <a16:creationId xmlns:a16="http://schemas.microsoft.com/office/drawing/2014/main" id="{EDE9F123-36E6-0144-8FF5-7AB49AD85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5626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19" name="Line 31">
            <a:extLst>
              <a:ext uri="{FF2B5EF4-FFF2-40B4-BE49-F238E27FC236}">
                <a16:creationId xmlns:a16="http://schemas.microsoft.com/office/drawing/2014/main" id="{A9B76343-2F17-3748-9F8F-C7E1825D2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257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0" name="Line 32">
            <a:extLst>
              <a:ext uri="{FF2B5EF4-FFF2-40B4-BE49-F238E27FC236}">
                <a16:creationId xmlns:a16="http://schemas.microsoft.com/office/drawing/2014/main" id="{BAF37E19-8A70-6241-8F14-6C545FE39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953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1" name="Line 33">
            <a:extLst>
              <a:ext uri="{FF2B5EF4-FFF2-40B4-BE49-F238E27FC236}">
                <a16:creationId xmlns:a16="http://schemas.microsoft.com/office/drawing/2014/main" id="{A328C73E-6936-1D46-8A15-BB505A3616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2" name="Line 34">
            <a:extLst>
              <a:ext uri="{FF2B5EF4-FFF2-40B4-BE49-F238E27FC236}">
                <a16:creationId xmlns:a16="http://schemas.microsoft.com/office/drawing/2014/main" id="{78E8F0F6-82A8-8942-948B-B783A77AA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029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3" name="Line 35">
            <a:extLst>
              <a:ext uri="{FF2B5EF4-FFF2-40B4-BE49-F238E27FC236}">
                <a16:creationId xmlns:a16="http://schemas.microsoft.com/office/drawing/2014/main" id="{327986F5-AD41-C54B-8A43-8ED3B0BA5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334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4" name="Line 36">
            <a:extLst>
              <a:ext uri="{FF2B5EF4-FFF2-40B4-BE49-F238E27FC236}">
                <a16:creationId xmlns:a16="http://schemas.microsoft.com/office/drawing/2014/main" id="{9E3DD84D-9CFC-064E-BC65-8B72370F6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400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25" name="Line 37">
            <a:extLst>
              <a:ext uri="{FF2B5EF4-FFF2-40B4-BE49-F238E27FC236}">
                <a16:creationId xmlns:a16="http://schemas.microsoft.com/office/drawing/2014/main" id="{2BBB81E6-5A14-3049-AD23-15400FA5B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647700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73926" name="Group 38">
            <a:extLst>
              <a:ext uri="{FF2B5EF4-FFF2-40B4-BE49-F238E27FC236}">
                <a16:creationId xmlns:a16="http://schemas.microsoft.com/office/drawing/2014/main" id="{E74224FF-BE13-5247-9A1C-C2AD332A6F98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800600"/>
            <a:ext cx="762000" cy="152400"/>
            <a:chOff x="4272" y="3024"/>
            <a:chExt cx="480" cy="96"/>
          </a:xfrm>
        </p:grpSpPr>
        <p:sp>
          <p:nvSpPr>
            <p:cNvPr id="1573927" name="Line 39">
              <a:extLst>
                <a:ext uri="{FF2B5EF4-FFF2-40B4-BE49-F238E27FC236}">
                  <a16:creationId xmlns:a16="http://schemas.microsoft.com/office/drawing/2014/main" id="{86A27A2C-54A7-3743-A562-7D8281906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3928" name="Line 40">
              <a:extLst>
                <a:ext uri="{FF2B5EF4-FFF2-40B4-BE49-F238E27FC236}">
                  <a16:creationId xmlns:a16="http://schemas.microsoft.com/office/drawing/2014/main" id="{6D8F4895-C8D4-254E-9B55-5F4759E09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3929" name="Group 41">
            <a:extLst>
              <a:ext uri="{FF2B5EF4-FFF2-40B4-BE49-F238E27FC236}">
                <a16:creationId xmlns:a16="http://schemas.microsoft.com/office/drawing/2014/main" id="{65A8BE91-8748-A34D-B396-BE8090E84197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105400"/>
            <a:ext cx="762000" cy="152400"/>
            <a:chOff x="4272" y="3024"/>
            <a:chExt cx="480" cy="96"/>
          </a:xfrm>
        </p:grpSpPr>
        <p:sp>
          <p:nvSpPr>
            <p:cNvPr id="1573930" name="Line 42">
              <a:extLst>
                <a:ext uri="{FF2B5EF4-FFF2-40B4-BE49-F238E27FC236}">
                  <a16:creationId xmlns:a16="http://schemas.microsoft.com/office/drawing/2014/main" id="{1184A6A8-7479-C64F-9222-2E5C1E963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3931" name="Line 43">
              <a:extLst>
                <a:ext uri="{FF2B5EF4-FFF2-40B4-BE49-F238E27FC236}">
                  <a16:creationId xmlns:a16="http://schemas.microsoft.com/office/drawing/2014/main" id="{9430B0DA-599C-3242-A21F-7930A2D36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73932" name="Group 44">
            <a:extLst>
              <a:ext uri="{FF2B5EF4-FFF2-40B4-BE49-F238E27FC236}">
                <a16:creationId xmlns:a16="http://schemas.microsoft.com/office/drawing/2014/main" id="{705166C1-70EE-1242-9A24-1536F52C634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486400"/>
            <a:ext cx="762000" cy="152400"/>
            <a:chOff x="4272" y="3024"/>
            <a:chExt cx="480" cy="96"/>
          </a:xfrm>
        </p:grpSpPr>
        <p:sp>
          <p:nvSpPr>
            <p:cNvPr id="1573933" name="Line 45">
              <a:extLst>
                <a:ext uri="{FF2B5EF4-FFF2-40B4-BE49-F238E27FC236}">
                  <a16:creationId xmlns:a16="http://schemas.microsoft.com/office/drawing/2014/main" id="{6A366B35-AD62-244A-9713-DCD92135F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3934" name="Line 46">
              <a:extLst>
                <a:ext uri="{FF2B5EF4-FFF2-40B4-BE49-F238E27FC236}">
                  <a16:creationId xmlns:a16="http://schemas.microsoft.com/office/drawing/2014/main" id="{D89F9477-FDA8-E14B-85EF-390B4AF6F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73935" name="Rectangle 47">
            <a:extLst>
              <a:ext uri="{FF2B5EF4-FFF2-40B4-BE49-F238E27FC236}">
                <a16:creationId xmlns:a16="http://schemas.microsoft.com/office/drawing/2014/main" id="{48EF7094-716C-734F-95F7-08049121E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724400"/>
            <a:ext cx="914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3936" name="Rectangle 48">
            <a:extLst>
              <a:ext uri="{FF2B5EF4-FFF2-40B4-BE49-F238E27FC236}">
                <a16:creationId xmlns:a16="http://schemas.microsoft.com/office/drawing/2014/main" id="{D14F3FFE-560C-1346-A9F8-8F0BEB07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267200"/>
            <a:ext cx="1143000" cy="4572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3937" name="Text Box 49">
            <a:extLst>
              <a:ext uri="{FF2B5EF4-FFF2-40B4-BE49-F238E27FC236}">
                <a16:creationId xmlns:a16="http://schemas.microsoft.com/office/drawing/2014/main" id="{E2894D01-C38C-014C-9338-41E19AB37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8" y="4267200"/>
            <a:ext cx="1312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solidFill>
                  <a:schemeClr val="hlink"/>
                </a:solidFill>
              </a:rPr>
              <a:t>not immediately </a:t>
            </a:r>
          </a:p>
          <a:p>
            <a:r>
              <a:rPr lang="en-US" altLang="en-US" sz="1200">
                <a:solidFill>
                  <a:schemeClr val="hlink"/>
                </a:solidFill>
              </a:rPr>
              <a:t>to be used</a:t>
            </a:r>
          </a:p>
        </p:txBody>
      </p:sp>
      <p:sp>
        <p:nvSpPr>
          <p:cNvPr id="1573938" name="Line 50">
            <a:extLst>
              <a:ext uri="{FF2B5EF4-FFF2-40B4-BE49-F238E27FC236}">
                <a16:creationId xmlns:a16="http://schemas.microsoft.com/office/drawing/2014/main" id="{4785A24E-AC37-684F-80A3-1C307F89BC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0" y="4724400"/>
            <a:ext cx="68580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3939" name="Rectangle 51">
            <a:extLst>
              <a:ext uri="{FF2B5EF4-FFF2-40B4-BE49-F238E27FC236}">
                <a16:creationId xmlns:a16="http://schemas.microsoft.com/office/drawing/2014/main" id="{9D523499-C4FF-8B47-987A-E8C3E2353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00600"/>
            <a:ext cx="1676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3B9F7AE5-6F76-9543-84CD-E41EEC23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AEB0-A391-1A43-A150-AE52474499C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465484E6-AB21-6B49-B7B1-20404113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0134238C-4E37-D74B-AE69-E87BD359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DA9A-59B2-1940-8D9E-BB895F90E7F9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1565698" name="Rectangle 2">
            <a:extLst>
              <a:ext uri="{FF2B5EF4-FFF2-40B4-BE49-F238E27FC236}">
                <a16:creationId xmlns:a16="http://schemas.microsoft.com/office/drawing/2014/main" id="{380E9238-F3BB-8841-9090-1D72469D4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50" y="381000"/>
            <a:ext cx="7739063" cy="447675"/>
          </a:xfrm>
        </p:spPr>
        <p:txBody>
          <a:bodyPr/>
          <a:lstStyle/>
          <a:p>
            <a:r>
              <a:rPr lang="en-US" altLang="en-US" sz="3200"/>
              <a:t>Converting “Tough” Constraints</a:t>
            </a:r>
          </a:p>
        </p:txBody>
      </p:sp>
      <p:sp>
        <p:nvSpPr>
          <p:cNvPr id="1565699" name="Rectangle 3">
            <a:extLst>
              <a:ext uri="{FF2B5EF4-FFF2-40B4-BE49-F238E27FC236}">
                <a16:creationId xmlns:a16="http://schemas.microsoft.com/office/drawing/2014/main" id="{1664F457-D465-5540-9877-983C8D280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6019800" cy="4876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Convert tough constraints into anti-monotone or monotone by properly ordering items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Examine C: avg(</a:t>
            </a:r>
            <a:r>
              <a:rPr lang="en-US" altLang="en-US" sz="2400" i="1"/>
              <a:t>S</a:t>
            </a:r>
            <a:r>
              <a:rPr lang="en-US" altLang="en-US" sz="2400"/>
              <a:t>.profit) </a:t>
            </a:r>
            <a:r>
              <a:rPr lang="en-US" altLang="en-US" sz="2400" b="1">
                <a:sym typeface="Symbol" pitchFamily="2" charset="2"/>
              </a:rPr>
              <a:t></a:t>
            </a:r>
            <a:r>
              <a:rPr lang="en-US" altLang="en-US" sz="2400"/>
              <a:t> 25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Order items in value-descending order</a:t>
            </a:r>
          </a:p>
          <a:p>
            <a:pPr lvl="2">
              <a:lnSpc>
                <a:spcPct val="110000"/>
              </a:lnSpc>
            </a:pPr>
            <a:r>
              <a:rPr lang="en-US" altLang="en-US"/>
              <a:t>&lt;</a:t>
            </a:r>
            <a:r>
              <a:rPr lang="en-US" altLang="en-US" i="1"/>
              <a:t>a, f, g, d, b, h, c, e</a:t>
            </a:r>
            <a:r>
              <a:rPr lang="en-US" altLang="en-US"/>
              <a:t>&gt;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afb</a:t>
            </a:r>
            <a:r>
              <a:rPr lang="en-US" altLang="en-US" sz="2400"/>
              <a:t> violates C</a:t>
            </a:r>
            <a:endParaRPr lang="en-US" altLang="en-US" sz="2400">
              <a:sym typeface="Wingdings" pitchFamily="2" charset="2"/>
            </a:endParaRPr>
          </a:p>
          <a:p>
            <a:pPr lvl="2">
              <a:lnSpc>
                <a:spcPct val="110000"/>
              </a:lnSpc>
            </a:pPr>
            <a:r>
              <a:rPr lang="en-US" altLang="en-US"/>
              <a:t>So does </a:t>
            </a:r>
            <a:r>
              <a:rPr lang="en-US" altLang="en-US" i="1"/>
              <a:t>afbh, afb*</a:t>
            </a:r>
          </a:p>
          <a:p>
            <a:pPr lvl="2">
              <a:lnSpc>
                <a:spcPct val="110000"/>
              </a:lnSpc>
            </a:pPr>
            <a:r>
              <a:rPr lang="en-US" altLang="en-US"/>
              <a:t>It becomes </a:t>
            </a:r>
            <a:r>
              <a:rPr lang="en-US" altLang="en-US">
                <a:solidFill>
                  <a:schemeClr val="hlink"/>
                </a:solidFill>
              </a:rPr>
              <a:t>anti-monotone!</a:t>
            </a:r>
          </a:p>
        </p:txBody>
      </p:sp>
      <p:graphicFrame>
        <p:nvGraphicFramePr>
          <p:cNvPr id="1565700" name="Group 4">
            <a:extLst>
              <a:ext uri="{FF2B5EF4-FFF2-40B4-BE49-F238E27FC236}">
                <a16:creationId xmlns:a16="http://schemas.microsoft.com/office/drawing/2014/main" id="{8BF174CC-6B57-C24C-9B87-3F26F7810E74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00200"/>
          <a:ext cx="2438400" cy="184150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3202130145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885905595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Transaction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546036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c, d,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9756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d, f, 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79436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373895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c, e, f, 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665857"/>
                  </a:ext>
                </a:extLst>
              </a:tr>
            </a:tbl>
          </a:graphicData>
        </a:graphic>
      </p:graphicFrame>
      <p:sp>
        <p:nvSpPr>
          <p:cNvPr id="1565720" name="Text Box 24">
            <a:extLst>
              <a:ext uri="{FF2B5EF4-FFF2-40B4-BE49-F238E27FC236}">
                <a16:creationId xmlns:a16="http://schemas.microsoft.com/office/drawing/2014/main" id="{A5D180A2-B547-AA4A-AF19-2BB301B47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219200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5721" name="Group 25">
            <a:extLst>
              <a:ext uri="{FF2B5EF4-FFF2-40B4-BE49-F238E27FC236}">
                <a16:creationId xmlns:a16="http://schemas.microsoft.com/office/drawing/2014/main" id="{9950B838-1F30-9B48-BBA5-29AA05B71C06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581400"/>
          <a:ext cx="2209800" cy="2798064"/>
        </p:xfrm>
        <a:graphic>
          <a:graphicData uri="http://schemas.openxmlformats.org/drawingml/2006/table">
            <a:tbl>
              <a:tblPr/>
              <a:tblGrid>
                <a:gridCol w="1243013">
                  <a:extLst>
                    <a:ext uri="{9D8B030D-6E8A-4147-A177-3AD203B41FA5}">
                      <a16:colId xmlns:a16="http://schemas.microsoft.com/office/drawing/2014/main" val="1472340113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926925404"/>
                    </a:ext>
                  </a:extLst>
                </a:gridCol>
              </a:tblGrid>
              <a:tr h="182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1783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5868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62676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0368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1767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58180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375817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16081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3640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F042335E-DB3B-4F48-AF4F-04D8F402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1652-A842-EA41-8E18-89A553BEBA34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D65A7C24-5339-164C-A362-AA43D69B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608D90CD-0921-844B-808A-978B0B48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EB9C-350D-A24E-8864-78AD559E4CD0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1566722" name="Rectangle 2">
            <a:extLst>
              <a:ext uri="{FF2B5EF4-FFF2-40B4-BE49-F238E27FC236}">
                <a16:creationId xmlns:a16="http://schemas.microsoft.com/office/drawing/2014/main" id="{D498AFB8-DEB2-164A-8DAE-A8F41624A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924800" cy="609600"/>
          </a:xfrm>
        </p:spPr>
        <p:txBody>
          <a:bodyPr/>
          <a:lstStyle/>
          <a:p>
            <a:r>
              <a:rPr lang="en-US" altLang="en-US" sz="3200"/>
              <a:t>Strongly Convertible Constraints</a:t>
            </a:r>
          </a:p>
        </p:txBody>
      </p:sp>
      <p:sp>
        <p:nvSpPr>
          <p:cNvPr id="1566723" name="Rectangle 3">
            <a:extLst>
              <a:ext uri="{FF2B5EF4-FFF2-40B4-BE49-F238E27FC236}">
                <a16:creationId xmlns:a16="http://schemas.microsoft.com/office/drawing/2014/main" id="{82292FC5-AC55-124B-9A2F-4DE2E00D2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69342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avg(X) </a:t>
            </a:r>
            <a:r>
              <a:rPr lang="en-US" altLang="en-US" sz="2400" b="1">
                <a:sym typeface="Symbol" pitchFamily="2" charset="2"/>
              </a:rPr>
              <a:t></a:t>
            </a:r>
            <a:r>
              <a:rPr lang="en-US" altLang="en-US" sz="2400"/>
              <a:t> 25 is convertible anti-monotone w.r.t. item </a:t>
            </a:r>
            <a:r>
              <a:rPr lang="en-US" altLang="en-US" sz="2400">
                <a:solidFill>
                  <a:srgbClr val="170981"/>
                </a:solidFill>
              </a:rPr>
              <a:t>value descending</a:t>
            </a:r>
            <a:r>
              <a:rPr lang="en-US" altLang="en-US" sz="2400"/>
              <a:t> order R: &lt;</a:t>
            </a:r>
            <a:r>
              <a:rPr lang="en-US" altLang="en-US" sz="2400" i="1"/>
              <a:t>a, f, g,</a:t>
            </a:r>
            <a:r>
              <a:rPr lang="en-US" altLang="en-US" sz="2400"/>
              <a:t> </a:t>
            </a:r>
            <a:r>
              <a:rPr lang="en-US" altLang="en-US" sz="2400" i="1"/>
              <a:t>d, b, h, c, e</a:t>
            </a:r>
            <a:r>
              <a:rPr lang="en-US" altLang="en-US" sz="2400"/>
              <a:t>&gt;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af </a:t>
            </a:r>
            <a:r>
              <a:rPr lang="en-US" altLang="en-US" sz="2400"/>
              <a:t>violates a constraint C, so does every itemset with</a:t>
            </a:r>
            <a:r>
              <a:rPr lang="en-US" altLang="en-US" sz="2400" i="1"/>
              <a:t> af </a:t>
            </a:r>
            <a:r>
              <a:rPr lang="en-US" altLang="en-US" sz="2400"/>
              <a:t>as prefix, such as </a:t>
            </a:r>
            <a:r>
              <a:rPr lang="en-US" altLang="en-US" sz="2400" i="1"/>
              <a:t>afd 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avg(X) </a:t>
            </a:r>
            <a:r>
              <a:rPr lang="en-US" altLang="en-US" sz="2400" b="1">
                <a:sym typeface="Symbol" pitchFamily="2" charset="2"/>
              </a:rPr>
              <a:t></a:t>
            </a:r>
            <a:r>
              <a:rPr lang="en-US" altLang="en-US" sz="2400"/>
              <a:t> 25 is convertible monotone w.r.t. item </a:t>
            </a:r>
            <a:r>
              <a:rPr lang="en-US" altLang="en-US" sz="2400">
                <a:solidFill>
                  <a:srgbClr val="170981"/>
                </a:solidFill>
              </a:rPr>
              <a:t>value ascending</a:t>
            </a:r>
            <a:r>
              <a:rPr lang="en-US" altLang="en-US" sz="2400"/>
              <a:t> order R</a:t>
            </a:r>
            <a:r>
              <a:rPr lang="en-US" altLang="en-US" sz="2400" baseline="30000"/>
              <a:t>-1</a:t>
            </a:r>
            <a:r>
              <a:rPr lang="en-US" altLang="en-US" sz="2400"/>
              <a:t>: &lt;</a:t>
            </a:r>
            <a:r>
              <a:rPr lang="en-US" altLang="en-US" sz="2400" i="1"/>
              <a:t>e, c, h, b, d, g, f, a</a:t>
            </a:r>
            <a:r>
              <a:rPr lang="en-US" altLang="en-US" sz="2400"/>
              <a:t>&gt;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d</a:t>
            </a:r>
            <a:r>
              <a:rPr lang="en-US" altLang="en-US" sz="2400"/>
              <a:t> satisfies a constraint </a:t>
            </a:r>
            <a:r>
              <a:rPr lang="en-US" altLang="en-US" sz="2400" i="1">
                <a:sym typeface="Wingdings" pitchFamily="2" charset="2"/>
              </a:rPr>
              <a:t>C</a:t>
            </a:r>
            <a:r>
              <a:rPr lang="en-US" altLang="en-US" sz="2400">
                <a:sym typeface="Wingdings" pitchFamily="2" charset="2"/>
              </a:rPr>
              <a:t>, so does itemsets </a:t>
            </a:r>
            <a:r>
              <a:rPr lang="en-US" altLang="en-US" sz="2400" i="1">
                <a:sym typeface="Wingdings" pitchFamily="2" charset="2"/>
              </a:rPr>
              <a:t>df</a:t>
            </a:r>
            <a:r>
              <a:rPr lang="en-US" altLang="en-US" sz="2400">
                <a:sym typeface="Wingdings" pitchFamily="2" charset="2"/>
              </a:rPr>
              <a:t> and </a:t>
            </a:r>
            <a:r>
              <a:rPr lang="en-US" altLang="en-US" sz="2400" i="1">
                <a:sym typeface="Wingdings" pitchFamily="2" charset="2"/>
              </a:rPr>
              <a:t>dfa</a:t>
            </a:r>
            <a:r>
              <a:rPr lang="en-US" altLang="en-US" sz="2400">
                <a:sym typeface="Wingdings" pitchFamily="2" charset="2"/>
              </a:rPr>
              <a:t>, which having </a:t>
            </a:r>
            <a:r>
              <a:rPr lang="en-US" altLang="en-US" sz="2400" i="1">
                <a:sym typeface="Wingdings" pitchFamily="2" charset="2"/>
              </a:rPr>
              <a:t>d</a:t>
            </a:r>
            <a:r>
              <a:rPr lang="en-US" altLang="en-US" sz="2400">
                <a:sym typeface="Wingdings" pitchFamily="2" charset="2"/>
              </a:rPr>
              <a:t> as a prefix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Thus, avg(X) </a:t>
            </a:r>
            <a:r>
              <a:rPr lang="en-US" altLang="en-US" sz="2400" b="1">
                <a:sym typeface="Symbol" pitchFamily="2" charset="2"/>
              </a:rPr>
              <a:t></a:t>
            </a:r>
            <a:r>
              <a:rPr lang="en-US" altLang="en-US" sz="2400"/>
              <a:t> 25 is </a:t>
            </a:r>
            <a:r>
              <a:rPr lang="en-US" altLang="en-US" sz="2400">
                <a:solidFill>
                  <a:schemeClr val="hlink"/>
                </a:solidFill>
              </a:rPr>
              <a:t>strongly convertible</a:t>
            </a:r>
          </a:p>
        </p:txBody>
      </p:sp>
      <p:graphicFrame>
        <p:nvGraphicFramePr>
          <p:cNvPr id="1566724" name="Group 4">
            <a:extLst>
              <a:ext uri="{FF2B5EF4-FFF2-40B4-BE49-F238E27FC236}">
                <a16:creationId xmlns:a16="http://schemas.microsoft.com/office/drawing/2014/main" id="{EA415248-ABEF-EC4B-8276-FFAF885AD924}"/>
              </a:ext>
            </a:extLst>
          </p:cNvPr>
          <p:cNvGraphicFramePr>
            <a:graphicFrameLocks noGrp="1"/>
          </p:cNvGraphicFramePr>
          <p:nvPr/>
        </p:nvGraphicFramePr>
        <p:xfrm>
          <a:off x="7391400" y="2514600"/>
          <a:ext cx="1676400" cy="301752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86045046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22789133"/>
                    </a:ext>
                  </a:extLst>
                </a:gridCol>
              </a:tblGrid>
              <a:tr h="123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8232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57529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758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38944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3041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49299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61527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469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825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AADEF993-705F-6249-9F03-595ED39C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FC5E-A4B9-FA43-AB1F-04AE4D8527BC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C056281D-D40C-1F4B-B31E-F73EF34E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73B34246-3A8E-3746-9C61-618BD40B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A2C4-9658-4E44-B2A5-2B4EE1739CD8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1428482" name="Rectangle 1026">
            <a:extLst>
              <a:ext uri="{FF2B5EF4-FFF2-40B4-BE49-F238E27FC236}">
                <a16:creationId xmlns:a16="http://schemas.microsoft.com/office/drawing/2014/main" id="{99872ED9-6FFB-174F-84D7-03B77DC69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945438" cy="685800"/>
          </a:xfrm>
        </p:spPr>
        <p:txBody>
          <a:bodyPr/>
          <a:lstStyle/>
          <a:p>
            <a:r>
              <a:rPr lang="en-US" altLang="en-US" sz="3200"/>
              <a:t>Can Apriori Handle Convertible Constraint?</a:t>
            </a:r>
          </a:p>
        </p:txBody>
      </p:sp>
      <p:sp>
        <p:nvSpPr>
          <p:cNvPr id="1428483" name="Rectangle 1027">
            <a:extLst>
              <a:ext uri="{FF2B5EF4-FFF2-40B4-BE49-F238E27FC236}">
                <a16:creationId xmlns:a16="http://schemas.microsoft.com/office/drawing/2014/main" id="{9F2E0B60-4DE2-C741-863C-65350BC5B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7162800" cy="4572000"/>
          </a:xfrm>
        </p:spPr>
        <p:txBody>
          <a:bodyPr/>
          <a:lstStyle/>
          <a:p>
            <a:r>
              <a:rPr lang="en-US" altLang="en-US" sz="2400"/>
              <a:t>A convertible, not monotone nor anti-monotone nor succinct constraint cannot be pushed deep into the an Apriori mining algorithm</a:t>
            </a:r>
          </a:p>
          <a:p>
            <a:pPr lvl="1"/>
            <a:r>
              <a:rPr lang="en-US" altLang="en-US" sz="2400"/>
              <a:t>Within the level wise framework, no direct pruning based on the constraint can be made</a:t>
            </a:r>
          </a:p>
          <a:p>
            <a:pPr lvl="1"/>
            <a:r>
              <a:rPr lang="en-US" altLang="en-US" sz="2400"/>
              <a:t>Itemset df violates constraint C: avg(X)&gt;=25</a:t>
            </a:r>
          </a:p>
          <a:p>
            <a:pPr lvl="1"/>
            <a:r>
              <a:rPr lang="en-US" altLang="en-US" sz="2400"/>
              <a:t>Since adf satisfies C, Apriori needs df to assemble adf, df cannot be pruned</a:t>
            </a:r>
          </a:p>
          <a:p>
            <a:r>
              <a:rPr lang="en-US" altLang="en-US" sz="2400"/>
              <a:t>But it can be pushed into frequent-pattern growth framework!</a:t>
            </a:r>
          </a:p>
        </p:txBody>
      </p:sp>
      <p:graphicFrame>
        <p:nvGraphicFramePr>
          <p:cNvPr id="1428484" name="Group 1028">
            <a:extLst>
              <a:ext uri="{FF2B5EF4-FFF2-40B4-BE49-F238E27FC236}">
                <a16:creationId xmlns:a16="http://schemas.microsoft.com/office/drawing/2014/main" id="{9B0E0064-85F8-B240-8CDD-61D43A40A6BE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3124200"/>
          <a:ext cx="1676400" cy="301752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96990435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670756898"/>
                    </a:ext>
                  </a:extLst>
                </a:gridCol>
              </a:tblGrid>
              <a:tr h="200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32614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87264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7894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81277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1658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719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74030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62416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9205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C56BCFAD-C151-6E41-A591-322C94F0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AD1E-2F4A-5E42-B88D-884CFD4A596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658BA8AD-7F3F-9A48-8828-84F74F111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0640E3A-2C41-9A42-8A0D-0C4B8F15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9F7C-CD83-5F4E-B6A4-9307E96E4F06}" type="slidenum">
              <a:rPr lang="en-US" altLang="en-US"/>
              <a:pPr/>
              <a:t>78</a:t>
            </a:fld>
            <a:endParaRPr lang="en-US" altLang="en-US"/>
          </a:p>
        </p:txBody>
      </p:sp>
      <p:sp>
        <p:nvSpPr>
          <p:cNvPr id="1429506" name="Rectangle 2">
            <a:extLst>
              <a:ext uri="{FF2B5EF4-FFF2-40B4-BE49-F238E27FC236}">
                <a16:creationId xmlns:a16="http://schemas.microsoft.com/office/drawing/2014/main" id="{68BFF596-0AA3-FF4C-B2FE-A131970B6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altLang="en-US" sz="3200"/>
              <a:t>Mining With Convertible Constraints</a:t>
            </a:r>
          </a:p>
        </p:txBody>
      </p:sp>
      <p:sp>
        <p:nvSpPr>
          <p:cNvPr id="1429507" name="Rectangle 3">
            <a:extLst>
              <a:ext uri="{FF2B5EF4-FFF2-40B4-BE49-F238E27FC236}">
                <a16:creationId xmlns:a16="http://schemas.microsoft.com/office/drawing/2014/main" id="{0916DD1A-DCAD-D94A-8884-A183277FC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6705600" cy="495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/>
              <a:t>C: avg(X) &gt;= 25, min_sup=2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List items in every transaction in value descending order R: &lt;a, f, g, d, b, h, c, e&gt;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C is convertible anti-monotone w.r.t. R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Scan TDB once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remove infrequent items</a:t>
            </a:r>
          </a:p>
          <a:p>
            <a:pPr lvl="2">
              <a:lnSpc>
                <a:spcPct val="110000"/>
              </a:lnSpc>
            </a:pPr>
            <a:r>
              <a:rPr lang="en-US" altLang="en-US" sz="2000"/>
              <a:t>Item h is dropped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Itemsets a and f are good, …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Projection-based mining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Imposing an appropriate order on item projection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Many tough constraints can be converted into (anti)-monotone</a:t>
            </a:r>
          </a:p>
        </p:txBody>
      </p:sp>
      <p:graphicFrame>
        <p:nvGraphicFramePr>
          <p:cNvPr id="1429508" name="Group 4">
            <a:extLst>
              <a:ext uri="{FF2B5EF4-FFF2-40B4-BE49-F238E27FC236}">
                <a16:creationId xmlns:a16="http://schemas.microsoft.com/office/drawing/2014/main" id="{490100B0-0192-6440-813F-89BAB4678F3E}"/>
              </a:ext>
            </a:extLst>
          </p:cNvPr>
          <p:cNvGraphicFramePr>
            <a:graphicFrameLocks noGrp="1"/>
          </p:cNvGraphicFramePr>
          <p:nvPr/>
        </p:nvGraphicFramePr>
        <p:xfrm>
          <a:off x="6945313" y="4876800"/>
          <a:ext cx="2057400" cy="1524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59440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530435476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Transaction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70531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f, d, b,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43932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f, g, d, b,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7365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a, f, d, c,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1372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f, g, h, c,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18233"/>
                  </a:ext>
                </a:extLst>
              </a:tr>
            </a:tbl>
          </a:graphicData>
        </a:graphic>
      </p:graphicFrame>
      <p:sp>
        <p:nvSpPr>
          <p:cNvPr id="1429528" name="Text Box 24">
            <a:extLst>
              <a:ext uri="{FF2B5EF4-FFF2-40B4-BE49-F238E27FC236}">
                <a16:creationId xmlns:a16="http://schemas.microsoft.com/office/drawing/2014/main" id="{075B3221-8B70-7D45-833C-C33CEBEEF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419600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429529" name="Group 25">
            <a:extLst>
              <a:ext uri="{FF2B5EF4-FFF2-40B4-BE49-F238E27FC236}">
                <a16:creationId xmlns:a16="http://schemas.microsoft.com/office/drawing/2014/main" id="{6F29EB71-557A-2F48-B316-362B0C4D0304}"/>
              </a:ext>
            </a:extLst>
          </p:cNvPr>
          <p:cNvGraphicFramePr>
            <a:graphicFrameLocks noGrp="1"/>
          </p:cNvGraphicFramePr>
          <p:nvPr/>
        </p:nvGraphicFramePr>
        <p:xfrm>
          <a:off x="7391400" y="1295400"/>
          <a:ext cx="1600200" cy="274320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105572919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8469122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046979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28513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037320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51911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02127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95082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67184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7738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831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3D3D6-AA8C-0848-AF6F-46C46499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C6270-F128-F24E-8B9C-97457D556D62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EA84-976A-4842-ADC7-39F68D8A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8359-E52A-1B46-833C-EBE4EF2F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D9BD-C3E9-AF4C-9FCF-EDF2812EA6CA}" type="slidenum">
              <a:rPr lang="en-US" altLang="en-US"/>
              <a:pPr/>
              <a:t>79</a:t>
            </a:fld>
            <a:endParaRPr lang="en-US" altLang="en-US"/>
          </a:p>
        </p:txBody>
      </p:sp>
      <p:sp>
        <p:nvSpPr>
          <p:cNvPr id="1356802" name="Rectangle 2">
            <a:extLst>
              <a:ext uri="{FF2B5EF4-FFF2-40B4-BE49-F238E27FC236}">
                <a16:creationId xmlns:a16="http://schemas.microsoft.com/office/drawing/2014/main" id="{D897620B-12DE-B245-9593-0076214AA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381000"/>
            <a:ext cx="7996237" cy="609600"/>
          </a:xfrm>
        </p:spPr>
        <p:txBody>
          <a:bodyPr/>
          <a:lstStyle/>
          <a:p>
            <a:r>
              <a:rPr lang="en-US" altLang="en-US" sz="3200"/>
              <a:t>Handling Multiple Constraints</a:t>
            </a:r>
          </a:p>
        </p:txBody>
      </p:sp>
      <p:sp>
        <p:nvSpPr>
          <p:cNvPr id="1356803" name="Rectangle 3">
            <a:extLst>
              <a:ext uri="{FF2B5EF4-FFF2-40B4-BE49-F238E27FC236}">
                <a16:creationId xmlns:a16="http://schemas.microsoft.com/office/drawing/2014/main" id="{42EED820-BB7D-794A-B41B-D0C831AB4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05763" cy="47275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Different constraints may require different or even conflicting item-ordering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If there exists an order </a:t>
            </a:r>
            <a:r>
              <a:rPr lang="en-US" altLang="en-US" sz="2400" i="1"/>
              <a:t>R</a:t>
            </a:r>
            <a:r>
              <a:rPr lang="en-US" altLang="en-US" sz="2400"/>
              <a:t> s.t. both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1</a:t>
            </a:r>
            <a:r>
              <a:rPr lang="en-US" altLang="en-US" sz="2400"/>
              <a:t> and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2</a:t>
            </a:r>
            <a:r>
              <a:rPr lang="en-US" altLang="en-US" sz="2400"/>
              <a:t> are convertible w.r.t. </a:t>
            </a:r>
            <a:r>
              <a:rPr lang="en-US" altLang="en-US" sz="2400" i="1"/>
              <a:t>R, </a:t>
            </a:r>
            <a:r>
              <a:rPr lang="en-US" altLang="en-US" sz="2400"/>
              <a:t>then there</a:t>
            </a:r>
            <a:r>
              <a:rPr lang="en-US" altLang="en-US" sz="2400" i="1"/>
              <a:t> </a:t>
            </a:r>
            <a:r>
              <a:rPr lang="en-US" altLang="en-US" sz="2400"/>
              <a:t>is no conflict between the two convertible constraints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If there exists conflict on order of items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Try to satisfy one constraint first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Then using the order for the other constraint to mine frequent itemsets in the corresponding projected database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09156950-F110-D449-BCE4-5A204906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C08C-7516-834E-89C9-3279F471269E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1301A258-D201-8440-A46F-FAA5CEB0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D7928AE6-7287-C44A-AA59-CA3EA931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6FB0-0E93-264B-9666-96D94BA7F221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1567746" name="Rectangle 2">
            <a:extLst>
              <a:ext uri="{FF2B5EF4-FFF2-40B4-BE49-F238E27FC236}">
                <a16:creationId xmlns:a16="http://schemas.microsoft.com/office/drawing/2014/main" id="{504AA2B3-34BC-854F-B4A1-1517778ED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335838" cy="593725"/>
          </a:xfrm>
        </p:spPr>
        <p:txBody>
          <a:bodyPr/>
          <a:lstStyle/>
          <a:p>
            <a:r>
              <a:rPr lang="en-US" altLang="en-US" sz="3200"/>
              <a:t>What Constraints Are Convertible?</a:t>
            </a:r>
          </a:p>
        </p:txBody>
      </p:sp>
      <p:graphicFrame>
        <p:nvGraphicFramePr>
          <p:cNvPr id="1567747" name="Group 3">
            <a:extLst>
              <a:ext uri="{FF2B5EF4-FFF2-40B4-BE49-F238E27FC236}">
                <a16:creationId xmlns:a16="http://schemas.microsoft.com/office/drawing/2014/main" id="{E7C6E522-062F-034F-AB2A-4734A793F55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28800"/>
          <a:ext cx="8458200" cy="4402456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61909751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49971938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84007963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00218883"/>
                    </a:ext>
                  </a:extLst>
                </a:gridCol>
              </a:tblGrid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Constraint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Convertible anti-monotone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Convertible monotone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Strongly convertible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738172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avg(S)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,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10057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median(S)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,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66997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(items could be of any value, v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0)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95101"/>
                  </a:ext>
                </a:extLst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(items could be of any value, v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290836"/>
                  </a:ext>
                </a:extLst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 (items could be of any value, v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0)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966449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 (items could be of any value, v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995893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……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053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ate Placeholder 2">
            <a:extLst>
              <a:ext uri="{FF2B5EF4-FFF2-40B4-BE49-F238E27FC236}">
                <a16:creationId xmlns:a16="http://schemas.microsoft.com/office/drawing/2014/main" id="{AE3095DF-3213-E64C-B7D9-FA4D84071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6EF43-441F-7F46-BCC6-9C4495FF0343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98" name="Footer Placeholder 3">
            <a:extLst>
              <a:ext uri="{FF2B5EF4-FFF2-40B4-BE49-F238E27FC236}">
                <a16:creationId xmlns:a16="http://schemas.microsoft.com/office/drawing/2014/main" id="{0CB88898-8068-0D44-A163-F7A32CF4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99" name="Slide Number Placeholder 4">
            <a:extLst>
              <a:ext uri="{FF2B5EF4-FFF2-40B4-BE49-F238E27FC236}">
                <a16:creationId xmlns:a16="http://schemas.microsoft.com/office/drawing/2014/main" id="{1964D134-0A78-034D-939D-38C7DFE3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99EF7-88D0-0E46-989D-053589C01CAD}" type="slidenum">
              <a:rPr lang="en-US" altLang="en-US"/>
              <a:pPr/>
              <a:t>81</a:t>
            </a:fld>
            <a:endParaRPr lang="en-US" altLang="en-US"/>
          </a:p>
        </p:txBody>
      </p:sp>
      <p:sp>
        <p:nvSpPr>
          <p:cNvPr id="1568770" name="Rectangle 2">
            <a:extLst>
              <a:ext uri="{FF2B5EF4-FFF2-40B4-BE49-F238E27FC236}">
                <a16:creationId xmlns:a16="http://schemas.microsoft.com/office/drawing/2014/main" id="{8DB20638-EC8C-9546-A3F5-781EFC434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10600" cy="685800"/>
          </a:xfrm>
        </p:spPr>
        <p:txBody>
          <a:bodyPr/>
          <a:lstStyle/>
          <a:p>
            <a:r>
              <a:rPr lang="en-US" altLang="en-US" sz="3200"/>
              <a:t>Constraint-Based Mining—A General Picture</a:t>
            </a:r>
          </a:p>
        </p:txBody>
      </p:sp>
      <p:graphicFrame>
        <p:nvGraphicFramePr>
          <p:cNvPr id="1568771" name="Group 3">
            <a:extLst>
              <a:ext uri="{FF2B5EF4-FFF2-40B4-BE49-F238E27FC236}">
                <a16:creationId xmlns:a16="http://schemas.microsoft.com/office/drawing/2014/main" id="{A2681756-D54F-5C40-ABB0-0C122A96AB4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447800"/>
          <a:ext cx="8229600" cy="4867278"/>
        </p:xfrm>
        <a:graphic>
          <a:graphicData uri="http://schemas.openxmlformats.org/drawingml/2006/table">
            <a:tbl>
              <a:tblPr/>
              <a:tblGrid>
                <a:gridCol w="2606675">
                  <a:extLst>
                    <a:ext uri="{9D8B030D-6E8A-4147-A177-3AD203B41FA5}">
                      <a16:colId xmlns:a16="http://schemas.microsoft.com/office/drawing/2014/main" val="686187192"/>
                    </a:ext>
                  </a:extLst>
                </a:gridCol>
                <a:gridCol w="1874838">
                  <a:extLst>
                    <a:ext uri="{9D8B030D-6E8A-4147-A177-3AD203B41FA5}">
                      <a16:colId xmlns:a16="http://schemas.microsoft.com/office/drawing/2014/main" val="4199296765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406164176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691230021"/>
                    </a:ext>
                  </a:extLst>
                </a:gridCol>
              </a:tblGrid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Constraint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Antimonotone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Monotone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Succinct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3338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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612695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S 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111755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S 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91118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min(S) 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247871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min(S) 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913167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max(S) 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020159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max(S) 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77943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count(S) 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weakly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49322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count(S) 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weakly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156854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 ( a 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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S, a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0 )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64760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sum(S)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 ( a 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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S, a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0 )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880029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range(S)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499959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range(S)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7302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avg(S)  v,   { ,  ,   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convertible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convertible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75397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support(S)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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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86124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support(S)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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sym typeface="Symbol" pitchFamily="2" charset="2"/>
                        </a:rPr>
                        <a:t>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487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B6CE2749-EE00-6C44-955D-3D7F0620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53AD5-B04A-F447-8849-778B81922609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1B8BAA3-5A37-DB42-8579-71BFDDBB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896D6E3-F286-8340-B5D9-72EF140D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A4B1-4509-9B4C-9BCD-93489BEFCF6E}" type="slidenum">
              <a:rPr lang="en-US" altLang="en-US"/>
              <a:pPr/>
              <a:t>82</a:t>
            </a:fld>
            <a:endParaRPr lang="en-US" altLang="en-US"/>
          </a:p>
        </p:txBody>
      </p:sp>
      <p:sp>
        <p:nvSpPr>
          <p:cNvPr id="1569794" name="Rectangle 2">
            <a:extLst>
              <a:ext uri="{FF2B5EF4-FFF2-40B4-BE49-F238E27FC236}">
                <a16:creationId xmlns:a16="http://schemas.microsoft.com/office/drawing/2014/main" id="{8C0D5F89-8E36-C04A-ADBD-93623F4AC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93038" cy="609600"/>
          </a:xfrm>
        </p:spPr>
        <p:txBody>
          <a:bodyPr/>
          <a:lstStyle/>
          <a:p>
            <a:r>
              <a:rPr lang="en-US" altLang="en-US" sz="3200"/>
              <a:t>A Classification of Constraints</a:t>
            </a:r>
          </a:p>
        </p:txBody>
      </p:sp>
      <p:grpSp>
        <p:nvGrpSpPr>
          <p:cNvPr id="1569795" name="Group 3">
            <a:extLst>
              <a:ext uri="{FF2B5EF4-FFF2-40B4-BE49-F238E27FC236}">
                <a16:creationId xmlns:a16="http://schemas.microsoft.com/office/drawing/2014/main" id="{FB25D6EA-BE72-C144-8E97-0B5D33B5BB5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76400"/>
            <a:ext cx="8153400" cy="4572000"/>
            <a:chOff x="480" y="1200"/>
            <a:chExt cx="5136" cy="2880"/>
          </a:xfrm>
        </p:grpSpPr>
        <p:sp>
          <p:nvSpPr>
            <p:cNvPr id="1569796" name="Text Box 4">
              <a:extLst>
                <a:ext uri="{FF2B5EF4-FFF2-40B4-BE49-F238E27FC236}">
                  <a16:creationId xmlns:a16="http://schemas.microsoft.com/office/drawing/2014/main" id="{EC24665C-B4FD-674A-A498-20B087876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20"/>
              <a:ext cx="155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Convertible</a:t>
              </a:r>
            </a:p>
            <a:p>
              <a:r>
                <a:rPr lang="en-US" altLang="en-US" b="1"/>
                <a:t>anti-monotone</a:t>
              </a:r>
            </a:p>
          </p:txBody>
        </p:sp>
        <p:sp>
          <p:nvSpPr>
            <p:cNvPr id="1569797" name="Text Box 5">
              <a:extLst>
                <a:ext uri="{FF2B5EF4-FFF2-40B4-BE49-F238E27FC236}">
                  <a16:creationId xmlns:a16="http://schemas.microsoft.com/office/drawing/2014/main" id="{85E5FA52-028F-BF43-81AF-5A0300B48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120"/>
              <a:ext cx="122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Convertible</a:t>
              </a:r>
            </a:p>
            <a:p>
              <a:r>
                <a:rPr lang="en-US" altLang="en-US" b="1"/>
                <a:t>monotone</a:t>
              </a:r>
            </a:p>
          </p:txBody>
        </p:sp>
        <p:sp>
          <p:nvSpPr>
            <p:cNvPr id="1569798" name="Text Box 6">
              <a:extLst>
                <a:ext uri="{FF2B5EF4-FFF2-40B4-BE49-F238E27FC236}">
                  <a16:creationId xmlns:a16="http://schemas.microsoft.com/office/drawing/2014/main" id="{268AD1E6-02CC-5141-9B80-5BF2FD38B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256"/>
              <a:ext cx="9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600" b="1"/>
                <a:t>Strongly</a:t>
              </a:r>
            </a:p>
            <a:p>
              <a:r>
                <a:rPr lang="en-US" altLang="en-US" sz="1600" b="1"/>
                <a:t>convertible</a:t>
              </a:r>
            </a:p>
          </p:txBody>
        </p:sp>
        <p:sp>
          <p:nvSpPr>
            <p:cNvPr id="1569799" name="Rectangle 7">
              <a:extLst>
                <a:ext uri="{FF2B5EF4-FFF2-40B4-BE49-F238E27FC236}">
                  <a16:creationId xmlns:a16="http://schemas.microsoft.com/office/drawing/2014/main" id="{054D4C3B-615F-754B-80BA-46574124D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200"/>
              <a:ext cx="5136" cy="2880"/>
            </a:xfrm>
            <a:prstGeom prst="rect">
              <a:avLst/>
            </a:prstGeom>
            <a:noFill/>
            <a:ln w="635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0" name="Text Box 8">
              <a:extLst>
                <a:ext uri="{FF2B5EF4-FFF2-40B4-BE49-F238E27FC236}">
                  <a16:creationId xmlns:a16="http://schemas.microsoft.com/office/drawing/2014/main" id="{78C7B774-28EA-124A-A448-40F0E989E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744"/>
              <a:ext cx="1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Inconvertible</a:t>
              </a:r>
            </a:p>
          </p:txBody>
        </p:sp>
        <p:sp>
          <p:nvSpPr>
            <p:cNvPr id="1569801" name="Oval 9">
              <a:extLst>
                <a:ext uri="{FF2B5EF4-FFF2-40B4-BE49-F238E27FC236}">
                  <a16:creationId xmlns:a16="http://schemas.microsoft.com/office/drawing/2014/main" id="{E7F8FF96-D09F-884A-9D97-8DC2D453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6"/>
              <a:ext cx="2592" cy="25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2" name="Oval 10">
              <a:extLst>
                <a:ext uri="{FF2B5EF4-FFF2-40B4-BE49-F238E27FC236}">
                  <a16:creationId xmlns:a16="http://schemas.microsoft.com/office/drawing/2014/main" id="{62E22B13-EFE4-9C47-A5CB-D59730A30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344"/>
              <a:ext cx="2592" cy="25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3" name="Oval 11">
              <a:extLst>
                <a:ext uri="{FF2B5EF4-FFF2-40B4-BE49-F238E27FC236}">
                  <a16:creationId xmlns:a16="http://schemas.microsoft.com/office/drawing/2014/main" id="{8E28D13E-C0D8-604B-9A6B-96DFB0FF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968"/>
              <a:ext cx="3024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4" name="Oval 12">
              <a:extLst>
                <a:ext uri="{FF2B5EF4-FFF2-40B4-BE49-F238E27FC236}">
                  <a16:creationId xmlns:a16="http://schemas.microsoft.com/office/drawing/2014/main" id="{CA463E89-8346-6740-A36F-CC0F02E0E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392"/>
              <a:ext cx="1488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5" name="Oval 13">
              <a:extLst>
                <a:ext uri="{FF2B5EF4-FFF2-40B4-BE49-F238E27FC236}">
                  <a16:creationId xmlns:a16="http://schemas.microsoft.com/office/drawing/2014/main" id="{DB75036A-93D0-7F4C-B8CE-87267D8D9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44"/>
              <a:ext cx="1488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9806" name="Text Box 14">
              <a:extLst>
                <a:ext uri="{FF2B5EF4-FFF2-40B4-BE49-F238E27FC236}">
                  <a16:creationId xmlns:a16="http://schemas.microsoft.com/office/drawing/2014/main" id="{E5407CAB-0067-9741-B699-275D487A8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96"/>
              <a:ext cx="9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Succinct</a:t>
              </a:r>
            </a:p>
          </p:txBody>
        </p:sp>
        <p:sp>
          <p:nvSpPr>
            <p:cNvPr id="1569807" name="Text Box 15">
              <a:extLst>
                <a:ext uri="{FF2B5EF4-FFF2-40B4-BE49-F238E27FC236}">
                  <a16:creationId xmlns:a16="http://schemas.microsoft.com/office/drawing/2014/main" id="{35C76C48-BBC6-0F4E-A45A-5B6792A0F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728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/>
                <a:t>Antimonotone</a:t>
              </a:r>
            </a:p>
          </p:txBody>
        </p:sp>
        <p:sp>
          <p:nvSpPr>
            <p:cNvPr id="1569808" name="Text Box 16">
              <a:extLst>
                <a:ext uri="{FF2B5EF4-FFF2-40B4-BE49-F238E27FC236}">
                  <a16:creationId xmlns:a16="http://schemas.microsoft.com/office/drawing/2014/main" id="{224311EB-34BC-304E-BBA3-52EBC2925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66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/>
            </a:p>
          </p:txBody>
        </p:sp>
        <p:sp>
          <p:nvSpPr>
            <p:cNvPr id="1569809" name="Text Box 17">
              <a:extLst>
                <a:ext uri="{FF2B5EF4-FFF2-40B4-BE49-F238E27FC236}">
                  <a16:creationId xmlns:a16="http://schemas.microsoft.com/office/drawing/2014/main" id="{C0905BEA-3F07-DF49-959E-85D02B863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32"/>
              <a:ext cx="10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Monotone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95C07-1D4A-EB44-B132-4A9F5130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C027-9A3C-AD47-870A-85DC4694CCDD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9D910-CD20-2F47-8444-19667916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07940-11DC-4642-81F1-4D8137D5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096CA-0B0D-ED47-887E-1E311FBF0DB2}" type="slidenum">
              <a:rPr lang="en-US" altLang="en-US"/>
              <a:pPr/>
              <a:t>83</a:t>
            </a:fld>
            <a:endParaRPr lang="en-US" altLang="en-US"/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3A435507-4261-2A40-8853-7A2D293E0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en-US"/>
              <a:t>Chapter 5: Mining Frequent Patterns, Association and Correlations</a:t>
            </a:r>
          </a:p>
        </p:txBody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E135C9E6-29A8-4443-9A25-A14AABE5AD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382000" cy="49530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Basic concepts and a road map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Efficient and scalable frequent itemset mining methods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Mining various kinds of association rules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From association mining to correlation analysis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Constraint-based association mining</a:t>
            </a: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650692" name="AutoShape 4">
            <a:extLst>
              <a:ext uri="{FF2B5EF4-FFF2-40B4-BE49-F238E27FC236}">
                <a16:creationId xmlns:a16="http://schemas.microsoft.com/office/drawing/2014/main" id="{15CF4876-10C8-5D48-925F-F0B66829061F}"/>
              </a:ext>
            </a:extLst>
          </p:cNvPr>
          <p:cNvSpPr>
            <a:spLocks noChangeArrowheads="1"/>
          </p:cNvSpPr>
          <p:nvPr/>
        </p:nvSpPr>
        <p:spPr bwMode="auto">
          <a:xfrm rot="912386">
            <a:off x="2743200" y="556260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91BD1-2E4D-6E40-B79D-BA5CBB89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C3EB-3F3C-FE4A-B8CD-CC6FF4B55C1F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0128C-13B9-C043-9592-5CF1BF0C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2775-1AAD-3948-9AB3-AD298F2C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1328-4E87-D34B-984B-1C7126DC8B98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1631234" name="Rectangle 2">
            <a:extLst>
              <a:ext uri="{FF2B5EF4-FFF2-40B4-BE49-F238E27FC236}">
                <a16:creationId xmlns:a16="http://schemas.microsoft.com/office/drawing/2014/main" id="{A8348EB7-DA08-874D-AE9A-3FB9D6739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6629400" cy="762000"/>
          </a:xfrm>
          <a:noFill/>
          <a:ln/>
        </p:spPr>
        <p:txBody>
          <a:bodyPr lIns="92075" tIns="46038" rIns="92075" bIns="46038" anchor="ctr"/>
          <a:lstStyle/>
          <a:p>
            <a:pPr marL="1117600" indent="-1117600"/>
            <a:r>
              <a:rPr lang="en-US" altLang="en-US" sz="3200"/>
              <a:t>Frequent-Pattern Mining: Summary</a:t>
            </a:r>
          </a:p>
        </p:txBody>
      </p:sp>
      <p:sp>
        <p:nvSpPr>
          <p:cNvPr id="1631235" name="Rectangle 3">
            <a:extLst>
              <a:ext uri="{FF2B5EF4-FFF2-40B4-BE49-F238E27FC236}">
                <a16:creationId xmlns:a16="http://schemas.microsoft.com/office/drawing/2014/main" id="{9B497BBD-27FE-534C-BD7E-427D86A9C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839200" cy="5029200"/>
          </a:xfrm>
          <a:noFill/>
          <a:ln/>
        </p:spPr>
        <p:txBody>
          <a:bodyPr lIns="92075" tIns="46038" rIns="92075" bIns="46038"/>
          <a:lstStyle/>
          <a:p>
            <a:pPr marL="457200" indent="-457200">
              <a:lnSpc>
                <a:spcPct val="130000"/>
              </a:lnSpc>
            </a:pPr>
            <a:r>
              <a:rPr lang="en-US" altLang="en-US" sz="2400"/>
              <a:t>Frequent pattern mining—an important task in data mining</a:t>
            </a:r>
          </a:p>
          <a:p>
            <a:pPr marL="457200" indent="-457200">
              <a:lnSpc>
                <a:spcPct val="130000"/>
              </a:lnSpc>
            </a:pPr>
            <a:r>
              <a:rPr lang="en-US" altLang="en-US" sz="2400"/>
              <a:t>Scalable frequent pattern mining methods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400">
                <a:solidFill>
                  <a:schemeClr val="folHlink"/>
                </a:solidFill>
              </a:rPr>
              <a:t>Apriori (Candidate generation &amp; test)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400">
                <a:solidFill>
                  <a:schemeClr val="folHlink"/>
                </a:solidFill>
              </a:rPr>
              <a:t>Projection-based (FPgrowth, CLOSET+, ...)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400">
                <a:solidFill>
                  <a:schemeClr val="folHlink"/>
                </a:solidFill>
              </a:rPr>
              <a:t>Vertical format approach (CHARM, ...)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§"/>
            </a:pPr>
            <a:r>
              <a:rPr lang="en-US" altLang="en-US" sz="2400"/>
              <a:t>Mining a variety of rules and interesting patterns 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§"/>
            </a:pPr>
            <a:r>
              <a:rPr lang="en-US" altLang="en-US" sz="2400"/>
              <a:t>Constraint-based mining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§"/>
            </a:pPr>
            <a:r>
              <a:rPr lang="en-US" altLang="en-US" sz="2400"/>
              <a:t>Mining sequential and structured patterns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§"/>
            </a:pPr>
            <a:r>
              <a:rPr lang="en-US" altLang="en-US" sz="2400"/>
              <a:t>Extensions and applications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737B6-5A4A-0D47-AF00-ABDF0336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98BF-1BF4-8745-A10F-6BC4F7FB53D5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113B5-5295-A84D-B336-94FCD597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584A6-9E19-D845-95BA-049D7DB9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3A06-870B-924B-AE9E-B7422BB95291}" type="slidenum">
              <a:rPr lang="en-US" altLang="en-US"/>
              <a:pPr/>
              <a:t>85</a:t>
            </a:fld>
            <a:endParaRPr lang="en-US" altLang="en-US"/>
          </a:p>
        </p:txBody>
      </p:sp>
      <p:sp>
        <p:nvSpPr>
          <p:cNvPr id="1632258" name="Rectangle 2">
            <a:extLst>
              <a:ext uri="{FF2B5EF4-FFF2-40B4-BE49-F238E27FC236}">
                <a16:creationId xmlns:a16="http://schemas.microsoft.com/office/drawing/2014/main" id="{A3836803-7708-004D-AE5A-E13ABEB8B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762000"/>
          </a:xfrm>
          <a:noFill/>
          <a:ln/>
        </p:spPr>
        <p:txBody>
          <a:bodyPr lIns="92075" tIns="46038" rIns="92075" bIns="46038" anchor="ctr"/>
          <a:lstStyle/>
          <a:p>
            <a:pPr marL="1117600" indent="-1117600"/>
            <a:r>
              <a:rPr lang="en-US" altLang="en-US" sz="3200"/>
              <a:t>Frequent-Pattern Mining: Research Problems</a:t>
            </a:r>
          </a:p>
        </p:txBody>
      </p:sp>
      <p:sp>
        <p:nvSpPr>
          <p:cNvPr id="1632259" name="Rectangle 3">
            <a:extLst>
              <a:ext uri="{FF2B5EF4-FFF2-40B4-BE49-F238E27FC236}">
                <a16:creationId xmlns:a16="http://schemas.microsoft.com/office/drawing/2014/main" id="{1A19343B-7719-FF48-BEE7-8EDE6F0EE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51054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400"/>
              <a:t>Mining fault-tolerant frequent, sequential and structured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Patterns allows limited faults (insertion, deletion, mutation)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Mining truly interesting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Surprising, novel, concise, …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Application exploration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E.g., DNA sequence analysis and bio-pattern classification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“Invisible” data mining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618F7-5EBF-DA41-978D-ADDCDEEC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3E13-237A-3446-92BC-597824160BC7}" type="datetime4">
              <a:rPr lang="en-US" altLang="en-US"/>
              <a:pPr/>
              <a:t>November 20, 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051AB-0819-B247-90E3-762338003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8C7A8-4941-154F-BD1A-71C75D8A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C3E96-E4C3-1144-85E3-AF8E103324DB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1633282" name="Rectangle 2">
            <a:extLst>
              <a:ext uri="{FF2B5EF4-FFF2-40B4-BE49-F238E27FC236}">
                <a16:creationId xmlns:a16="http://schemas.microsoft.com/office/drawing/2014/main" id="{6DCC28A0-B97E-AC4D-8195-FF39D6435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4988" y="381000"/>
            <a:ext cx="8131175" cy="609600"/>
          </a:xfrm>
        </p:spPr>
        <p:txBody>
          <a:bodyPr/>
          <a:lstStyle/>
          <a:p>
            <a:r>
              <a:rPr lang="en-US" altLang="en-US" sz="2800"/>
              <a:t>Ref: Basic Concepts of Frequent Pattern Mining</a:t>
            </a:r>
          </a:p>
        </p:txBody>
      </p:sp>
      <p:sp>
        <p:nvSpPr>
          <p:cNvPr id="1633283" name="Rectangle 3">
            <a:extLst>
              <a:ext uri="{FF2B5EF4-FFF2-40B4-BE49-F238E27FC236}">
                <a16:creationId xmlns:a16="http://schemas.microsoft.com/office/drawing/2014/main" id="{A372A92E-3509-3249-8B14-42A2B0233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5105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Association Rules</a:t>
            </a:r>
            <a:r>
              <a:rPr lang="en-US" altLang="en-US" sz="2000"/>
              <a:t>) R. Agrawal, T. Imielinski, and A. Swami.  Mining association rules between sets of items in large databases.  SIGMOD'93.</a:t>
            </a:r>
          </a:p>
          <a:p>
            <a:pPr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Max-pattern</a:t>
            </a:r>
            <a:r>
              <a:rPr lang="en-US" altLang="en-US" sz="2000"/>
              <a:t>) R. J. Bayardo. Efficiently mining long patterns from databases. SIGMOD'98. </a:t>
            </a:r>
          </a:p>
          <a:p>
            <a:pPr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Closed-pattern</a:t>
            </a:r>
            <a:r>
              <a:rPr lang="en-US" altLang="en-US" sz="2000"/>
              <a:t>) N. Pasquier, Y. Bastide, R. Taouil, and L. Lakhal. Discovering frequent closed itemsets for association rules. ICDT'99.</a:t>
            </a:r>
          </a:p>
          <a:p>
            <a:pPr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Sequential pattern</a:t>
            </a:r>
            <a:r>
              <a:rPr lang="en-US" altLang="en-US" sz="2000"/>
              <a:t>) R. Agrawal and R. Srikant. Mining sequential patterns. ICDE'95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13919</TotalTime>
  <Words>7719</Words>
  <Application>Microsoft Macintosh PowerPoint</Application>
  <PresentationFormat>On-screen Show (4:3)</PresentationFormat>
  <Paragraphs>1595</Paragraphs>
  <Slides>86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86</vt:i4>
      </vt:variant>
    </vt:vector>
  </HeadingPairs>
  <TitlesOfParts>
    <vt:vector size="98" baseType="lpstr">
      <vt:lpstr>Arial</vt:lpstr>
      <vt:lpstr>Calibri</vt:lpstr>
      <vt:lpstr>Garamond</vt:lpstr>
      <vt:lpstr>Tahoma</vt:lpstr>
      <vt:lpstr>Times New Roman</vt:lpstr>
      <vt:lpstr>Wingdings</vt:lpstr>
      <vt:lpstr>Blends</vt:lpstr>
      <vt:lpstr>SmartDraw</vt:lpstr>
      <vt:lpstr>Chart</vt:lpstr>
      <vt:lpstr>Image</vt:lpstr>
      <vt:lpstr>Equation</vt:lpstr>
      <vt:lpstr>Worksheet</vt:lpstr>
      <vt:lpstr>Mining Frequent Patterns, Associations, and Correlations</vt:lpstr>
      <vt:lpstr>Mining Frequent Patterns, Association and Correlations</vt:lpstr>
      <vt:lpstr>What Is Frequent Pattern Analysis?</vt:lpstr>
      <vt:lpstr>Why Is Freq. Pattern Mining Important?</vt:lpstr>
      <vt:lpstr>Basic Concepts: Frequent Patterns and Association Rules</vt:lpstr>
      <vt:lpstr>Closed Patterns and Max-Patterns</vt:lpstr>
      <vt:lpstr>Mining Frequent Patterns, Association and Correlations</vt:lpstr>
      <vt:lpstr>Scalable Methods for Mining Frequent Patterns</vt:lpstr>
      <vt:lpstr>Apriori: A Candidate Generation-and-Test Approach</vt:lpstr>
      <vt:lpstr>The Apriori Algorithm—An Example </vt:lpstr>
      <vt:lpstr>The Apriori Algorithm</vt:lpstr>
      <vt:lpstr>Important Details of Apriori</vt:lpstr>
      <vt:lpstr>How to Count Supports of Candidates?</vt:lpstr>
      <vt:lpstr>Efficient Implementation of Apriori in SQL</vt:lpstr>
      <vt:lpstr>Challenges of Frequent Pattern Mining</vt:lpstr>
      <vt:lpstr>Partition: Scan Database Only Twice</vt:lpstr>
      <vt:lpstr>DHP: Reduce the Number of Candidates</vt:lpstr>
      <vt:lpstr>Sampling for Frequent Patterns</vt:lpstr>
      <vt:lpstr>DIC: Reduce Number of Scans</vt:lpstr>
      <vt:lpstr>Bottleneck of Frequent-pattern Mining</vt:lpstr>
      <vt:lpstr>Mining Frequent Patterns Without Candidate Generation</vt:lpstr>
      <vt:lpstr>Construct FP-tree from a Transaction Database</vt:lpstr>
      <vt:lpstr>FP-Tree Definition (cont.)</vt:lpstr>
      <vt:lpstr>Example 1: FP-Tree Construction</vt:lpstr>
      <vt:lpstr>Example 1 (cont.)</vt:lpstr>
      <vt:lpstr>Example 1 (cont.)</vt:lpstr>
      <vt:lpstr>Example 1 (cont.)</vt:lpstr>
      <vt:lpstr>Example 1 (cont.)</vt:lpstr>
      <vt:lpstr>Example 1 (cont.)</vt:lpstr>
      <vt:lpstr>Benefits of the FP-tree Structure</vt:lpstr>
      <vt:lpstr>Partition Patterns and Databases</vt:lpstr>
      <vt:lpstr>Find Patterns Having P From P-conditional Database</vt:lpstr>
      <vt:lpstr>From Conditional Pattern-bases to Conditional FP-trees </vt:lpstr>
      <vt:lpstr>Recursion: Mining Each Conditional FP-tree</vt:lpstr>
      <vt:lpstr>A Special Case: Single Prefix Path in FP-tree</vt:lpstr>
      <vt:lpstr>Mining Frequent Patterns With FP-trees</vt:lpstr>
      <vt:lpstr>Scaling FP-growth by DB Projection</vt:lpstr>
      <vt:lpstr>Partition-based Projection</vt:lpstr>
      <vt:lpstr>FP-Growth vs. Apriori: Scalability With the Support Threshold</vt:lpstr>
      <vt:lpstr>FP-Growth vs. Tree-Projection: Scalability with the Support Threshold</vt:lpstr>
      <vt:lpstr>Why Is FP-Growth the Winner?</vt:lpstr>
      <vt:lpstr>Implications of the Methodology </vt:lpstr>
      <vt:lpstr>MaxMiner: Mining Max-patterns</vt:lpstr>
      <vt:lpstr>Mining Frequent Closed Patterns: CLOSET</vt:lpstr>
      <vt:lpstr>CLOSET+: Mining Closed Itemsets by Pattern-Growth</vt:lpstr>
      <vt:lpstr>CHARM: Mining by Exploring Vertical Data Format</vt:lpstr>
      <vt:lpstr>Further Improvements of Mining Methods</vt:lpstr>
      <vt:lpstr>PowerPoint Presentation</vt:lpstr>
      <vt:lpstr>PowerPoint Presentation</vt:lpstr>
      <vt:lpstr>Visualization of Association Rules  (SGI/MineSet 3.0)</vt:lpstr>
      <vt:lpstr>Mining Frequent Patterns, Association and Correlations</vt:lpstr>
      <vt:lpstr>Mining Various Kinds of Association Rules</vt:lpstr>
      <vt:lpstr>Mining Multiple-Level Association Rules</vt:lpstr>
      <vt:lpstr>Multi-level Association: Redundancy Filtering</vt:lpstr>
      <vt:lpstr>Mining Multi-Dimensional Association</vt:lpstr>
      <vt:lpstr>Mining Quantitative Associations</vt:lpstr>
      <vt:lpstr>Static Discretization of Quantitative Attributes</vt:lpstr>
      <vt:lpstr>Quantitative Association Rules</vt:lpstr>
      <vt:lpstr>Mining Other Interesting Patterns</vt:lpstr>
      <vt:lpstr>Mining Frequent Patterns, Association and Correlations</vt:lpstr>
      <vt:lpstr>Interestingness Measure: Correlations (Lift)</vt:lpstr>
      <vt:lpstr>Are lift and 2  Good Measures of Correlation?</vt:lpstr>
      <vt:lpstr>Which Measures Should Be Used?</vt:lpstr>
      <vt:lpstr>Mining Frequent Patterns, Association and Correlations</vt:lpstr>
      <vt:lpstr>Constraint-based (Query-Directed) Mining</vt:lpstr>
      <vt:lpstr>Constraints in Data Mining</vt:lpstr>
      <vt:lpstr>Constrained Mining vs. Constraint-Based Search</vt:lpstr>
      <vt:lpstr>Anti-Monotonicity in Constraint Pushing</vt:lpstr>
      <vt:lpstr>Monotonicity for Constraint Pushing</vt:lpstr>
      <vt:lpstr>Succinctness</vt:lpstr>
      <vt:lpstr>The Apriori Algorithm — Example</vt:lpstr>
      <vt:lpstr>Naïve Algorithm: Apriori + Constraint </vt:lpstr>
      <vt:lpstr>The Constrained Apriori Algorithm: Push an Anti-monotone Constraint Deep </vt:lpstr>
      <vt:lpstr>The Constrained Apriori Algorithm: Push a Succinct Constraint Deep </vt:lpstr>
      <vt:lpstr>Converting “Tough” Constraints</vt:lpstr>
      <vt:lpstr>Strongly Convertible Constraints</vt:lpstr>
      <vt:lpstr>Can Apriori Handle Convertible Constraint?</vt:lpstr>
      <vt:lpstr>Mining With Convertible Constraints</vt:lpstr>
      <vt:lpstr>Handling Multiple Constraints</vt:lpstr>
      <vt:lpstr>What Constraints Are Convertible?</vt:lpstr>
      <vt:lpstr>Constraint-Based Mining—A General Picture</vt:lpstr>
      <vt:lpstr>A Classification of Constraints</vt:lpstr>
      <vt:lpstr>Chapter 5: Mining Frequent Patterns, Association and Correlations</vt:lpstr>
      <vt:lpstr>Frequent-Pattern Mining: Summary</vt:lpstr>
      <vt:lpstr>Frequent-Pattern Mining: Research Problems</vt:lpstr>
      <vt:lpstr>Ref: Basic Concepts of Frequent Pattern Mining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Dr. Shangsong Liang</cp:lastModifiedBy>
  <cp:revision>377</cp:revision>
  <cp:lastPrinted>1999-09-10T20:38:56Z</cp:lastPrinted>
  <dcterms:created xsi:type="dcterms:W3CDTF">1998-06-19T04:38:52Z</dcterms:created>
  <dcterms:modified xsi:type="dcterms:W3CDTF">2025-11-20T11:09:54Z</dcterms:modified>
</cp:coreProperties>
</file>