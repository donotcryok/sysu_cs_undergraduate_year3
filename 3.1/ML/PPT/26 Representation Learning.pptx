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34"/>
  </p:notesMasterIdLst>
  <p:sldIdLst>
    <p:sldId id="335" r:id="rId2"/>
    <p:sldId id="265" r:id="rId3"/>
    <p:sldId id="633" r:id="rId4"/>
    <p:sldId id="634" r:id="rId5"/>
    <p:sldId id="344" r:id="rId6"/>
    <p:sldId id="636" r:id="rId7"/>
    <p:sldId id="648" r:id="rId8"/>
    <p:sldId id="657" r:id="rId9"/>
    <p:sldId id="338" r:id="rId10"/>
    <p:sldId id="656" r:id="rId11"/>
    <p:sldId id="652" r:id="rId12"/>
    <p:sldId id="659" r:id="rId13"/>
    <p:sldId id="660" r:id="rId14"/>
    <p:sldId id="653" r:id="rId15"/>
    <p:sldId id="383" r:id="rId16"/>
    <p:sldId id="391" r:id="rId17"/>
    <p:sldId id="424" r:id="rId18"/>
    <p:sldId id="418" r:id="rId19"/>
    <p:sldId id="666" r:id="rId20"/>
    <p:sldId id="419" r:id="rId21"/>
    <p:sldId id="420" r:id="rId22"/>
    <p:sldId id="661" r:id="rId23"/>
    <p:sldId id="415" r:id="rId24"/>
    <p:sldId id="416" r:id="rId25"/>
    <p:sldId id="417" r:id="rId26"/>
    <p:sldId id="664" r:id="rId27"/>
    <p:sldId id="396" r:id="rId28"/>
    <p:sldId id="401" r:id="rId29"/>
    <p:sldId id="662" r:id="rId30"/>
    <p:sldId id="400" r:id="rId31"/>
    <p:sldId id="663" r:id="rId32"/>
    <p:sldId id="66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泽鑫 袁" initials="泽鑫" lastIdx="1" clrIdx="0">
    <p:extLst>
      <p:ext uri="{19B8F6BF-5375-455C-9EA6-DF929625EA0E}">
        <p15:presenceInfo xmlns:p15="http://schemas.microsoft.com/office/powerpoint/2012/main" userId="2349bd2b02f8fd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4FF"/>
    <a:srgbClr val="34C93C"/>
    <a:srgbClr val="FFE5EF"/>
    <a:srgbClr val="34ACAD"/>
    <a:srgbClr val="E3516F"/>
    <a:srgbClr val="9172F5"/>
    <a:srgbClr val="42672B"/>
    <a:srgbClr val="6FE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 autoAdjust="0"/>
    <p:restoredTop sz="95939" autoAdjust="0"/>
  </p:normalViewPr>
  <p:slideViewPr>
    <p:cSldViewPr snapToGrid="0" snapToObjects="1">
      <p:cViewPr varScale="1">
        <p:scale>
          <a:sx n="125" d="100"/>
          <a:sy n="125" d="100"/>
        </p:scale>
        <p:origin x="3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8DF57-99F5-A345-95F1-374F3F5821B3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C2682-CAF6-B345-94CF-89C0ABFA7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4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C2682-CAF6-B345-94CF-89C0ABFA75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3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C2682-CAF6-B345-94CF-89C0ABFA75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8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238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47008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buNone/>
              <a:defRPr sz="2200" b="0" i="0" baseline="0">
                <a:latin typeface="Helvetica" charset="0"/>
                <a:ea typeface="Helvetica" charset="0"/>
                <a:cs typeface="Helvetic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1" t="2500" r="8874" b="6231"/>
          <a:stretch/>
        </p:blipFill>
        <p:spPr>
          <a:xfrm>
            <a:off x="123339" y="30488"/>
            <a:ext cx="1133856" cy="1077393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D65E-FD51-5544-A79F-61A106A6E2AA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4038600" y="651351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STKaiti" panose="02010600040101010101" pitchFamily="2" charset="-122"/>
              </a:defRPr>
            </a:lvl1pPr>
          </a:lstStyle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42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46307"/>
            <a:ext cx="11261971" cy="5659901"/>
          </a:xfrm>
        </p:spPr>
        <p:txBody>
          <a:bodyPr/>
          <a:lstStyle>
            <a:lvl1pPr marL="91440" marR="0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 sz="240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320040" indent="-228600">
              <a:lnSpc>
                <a:spcPct val="150000"/>
              </a:lnSpc>
              <a:spcBef>
                <a:spcPts val="1200"/>
              </a:spcBef>
              <a:buClr>
                <a:schemeClr val="accent2"/>
              </a:buClr>
              <a:buSzPct val="125000"/>
              <a:buFont typeface="Arial" charset="0"/>
              <a:buChar char="•"/>
              <a:defRPr sz="220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640080" marR="0" indent="-27432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charset="2"/>
              <a:buChar char="Ø"/>
              <a:tabLst/>
              <a:defRPr sz="180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82880">
              <a:buSzPct val="100000"/>
              <a:buFont typeface="Arial" charset="0"/>
              <a:buChar char="•"/>
              <a:defRPr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82880">
              <a:buSzPct val="100000"/>
              <a:buFont typeface="Arial" charset="0"/>
              <a:buChar char="•"/>
              <a:defRPr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marL="457200" marR="0" lvl="0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 dirty="0"/>
              <a:t>Click to edit Master text styles</a:t>
            </a:r>
          </a:p>
          <a:p>
            <a:pPr marL="457200" marR="0" lvl="1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 dirty="0"/>
              <a:t>Second level</a:t>
            </a:r>
          </a:p>
          <a:p>
            <a:pPr marL="457200" marR="0" lvl="2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 dirty="0"/>
              <a:t>Third level</a:t>
            </a:r>
          </a:p>
          <a:p>
            <a:pPr marL="457200" marR="0" lvl="3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 dirty="0"/>
              <a:t>Fourth level</a:t>
            </a:r>
          </a:p>
          <a:p>
            <a:pPr marL="457200" marR="0" lvl="4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 dirty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9250236" y="6526853"/>
            <a:ext cx="2539277" cy="351791"/>
          </a:xfrm>
        </p:spPr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08000" y="50105"/>
            <a:ext cx="11261971" cy="695037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 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 flipV="1">
            <a:off x="508000" y="782625"/>
            <a:ext cx="11261971" cy="1146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350">
              <a:ea typeface="宋体" pitchFamily="2" charset="-122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4038600" y="651351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《</a:t>
            </a:r>
            <a:r>
              <a:rPr 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9042523" y="6513519"/>
            <a:ext cx="2685284" cy="351791"/>
          </a:xfrm>
        </p:spPr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4038600" y="651351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6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9CAED-34F3-ED47-9D5D-C9E9829F0D0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005009" y="6513519"/>
            <a:ext cx="2685284" cy="351791"/>
          </a:xfrm>
        </p:spPr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899532" y="1092384"/>
            <a:ext cx="10691445" cy="1545309"/>
          </a:xfrm>
        </p:spPr>
        <p:txBody>
          <a:bodyPr anchor="b">
            <a:normAutofit/>
          </a:bodyPr>
          <a:lstStyle>
            <a:lvl1pPr algn="l">
              <a:defRPr sz="360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9529" y="2898164"/>
            <a:ext cx="10691448" cy="3608044"/>
          </a:xfrm>
        </p:spPr>
        <p:txBody>
          <a:bodyPr>
            <a:normAutofit/>
          </a:bodyPr>
          <a:lstStyle>
            <a:lvl1pPr marL="704088" marR="0" indent="-704088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 i="0" baseline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1.1. Click to edit Master subtitle style Click to edit Master subtitle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4038600" y="651351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9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>
            <a:extLst>
              <a:ext uri="{FF2B5EF4-FFF2-40B4-BE49-F238E27FC236}">
                <a16:creationId xmlns:a16="http://schemas.microsoft.com/office/drawing/2014/main" id="{3B8BCFD1-FC58-45D9-AACF-803814D9DFBE}"/>
              </a:ext>
            </a:extLst>
          </p:cNvPr>
          <p:cNvSpPr/>
          <p:nvPr userDrawn="1"/>
        </p:nvSpPr>
        <p:spPr>
          <a:xfrm>
            <a:off x="1" y="6506208"/>
            <a:ext cx="12192620" cy="351792"/>
          </a:xfrm>
          <a:prstGeom prst="rect">
            <a:avLst/>
          </a:prstGeom>
          <a:solidFill>
            <a:srgbClr val="0058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noProof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3" y="73684"/>
            <a:ext cx="11178477" cy="671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2" y="927100"/>
            <a:ext cx="11178477" cy="5579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7408" y="6505884"/>
            <a:ext cx="2748776" cy="35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7880DB94-E6E2-EE4E-9B66-EC2C3BFC606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381" y="6506371"/>
            <a:ext cx="2685284" cy="3517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2AEAD966-1EF9-3A44-9B11-0C8090371A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038600" y="65135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STKaiti" panose="02010600040101010101" pitchFamily="2" charset="-122"/>
              </a:defRPr>
            </a:lvl1pPr>
          </a:lstStyle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3" r:id="rId4"/>
  </p:sldLayoutIdLst>
  <p:hf hdr="0"/>
  <p:txStyles>
    <p:titleStyle>
      <a:lvl1pPr marL="713232" indent="-713232"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rgbClr val="42672B"/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</a:defRPr>
      </a:lvl1pPr>
    </p:titleStyle>
    <p:bodyStyle>
      <a:lvl1pPr marL="411480" indent="-411480" algn="l" defTabSz="914400" rtl="0" eaLnBrk="1" latinLnBrk="0" hangingPunct="1">
        <a:lnSpc>
          <a:spcPct val="125000"/>
        </a:lnSpc>
        <a:spcBef>
          <a:spcPts val="1000"/>
        </a:spcBef>
        <a:buFont typeface="Arial" charset="0"/>
        <a:buChar char="•"/>
        <a:defRPr sz="2800" kern="1200" baseline="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charset="2"/>
        <a:buChar char="Ø"/>
        <a:defRPr sz="2400" kern="1200" baseline="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iff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png"/><Relationship Id="rId13" Type="http://schemas.openxmlformats.org/officeDocument/2006/relationships/image" Target="../media/image360.png"/><Relationship Id="rId3" Type="http://schemas.openxmlformats.org/officeDocument/2006/relationships/image" Target="../media/image262.png"/><Relationship Id="rId7" Type="http://schemas.openxmlformats.org/officeDocument/2006/relationships/image" Target="../media/image321.png"/><Relationship Id="rId12" Type="http://schemas.openxmlformats.org/officeDocument/2006/relationships/image" Target="../media/image35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1.png"/><Relationship Id="rId11" Type="http://schemas.openxmlformats.org/officeDocument/2006/relationships/image" Target="../media/image340.png"/><Relationship Id="rId5" Type="http://schemas.openxmlformats.org/officeDocument/2006/relationships/image" Target="../media/image281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png"/><Relationship Id="rId7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44.png"/><Relationship Id="rId10" Type="http://schemas.openxmlformats.org/officeDocument/2006/relationships/image" Target="../media/image21.png"/><Relationship Id="rId4" Type="http://schemas.openxmlformats.org/officeDocument/2006/relationships/image" Target="../media/image45.png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9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9.png"/><Relationship Id="rId7" Type="http://schemas.openxmlformats.org/officeDocument/2006/relationships/image" Target="../media/image3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4.png"/><Relationship Id="rId4" Type="http://schemas.openxmlformats.org/officeDocument/2006/relationships/image" Target="../media/image50.png"/><Relationship Id="rId9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590AA56-2678-1DDC-1ED7-F3B72A1BCFA0}"/>
              </a:ext>
            </a:extLst>
          </p:cNvPr>
          <p:cNvSpPr/>
          <p:nvPr/>
        </p:nvSpPr>
        <p:spPr>
          <a:xfrm>
            <a:off x="-1" y="21563"/>
            <a:ext cx="124418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B6FCBBF-DAE8-8C26-69E6-14EE613D3D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05"/>
          <a:stretch/>
        </p:blipFill>
        <p:spPr>
          <a:xfrm>
            <a:off x="1244184" y="14259"/>
            <a:ext cx="10947816" cy="6843741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401F32E9-EDDA-796C-F0B6-3D0E7826519A}"/>
              </a:ext>
            </a:extLst>
          </p:cNvPr>
          <p:cNvSpPr/>
          <p:nvPr/>
        </p:nvSpPr>
        <p:spPr>
          <a:xfrm>
            <a:off x="1244184" y="0"/>
            <a:ext cx="10478126" cy="6872259"/>
          </a:xfrm>
          <a:prstGeom prst="rect">
            <a:avLst/>
          </a:prstGeom>
          <a:gradFill>
            <a:gsLst>
              <a:gs pos="6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A52A0A-715C-9293-8D45-EFE3EAD51641}"/>
              </a:ext>
            </a:extLst>
          </p:cNvPr>
          <p:cNvSpPr txBox="1"/>
          <p:nvPr/>
        </p:nvSpPr>
        <p:spPr>
          <a:xfrm>
            <a:off x="752853" y="4240059"/>
            <a:ext cx="73141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0156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表示学习</a:t>
            </a:r>
            <a:endParaRPr kumimoji="0" lang="zh-CN" altLang="en-US" sz="4400" b="1" u="none" strike="noStrike" kern="1200" cap="none" spc="0" normalizeH="0" baseline="0" noProof="0" dirty="0">
              <a:ln>
                <a:noFill/>
              </a:ln>
              <a:solidFill>
                <a:srgbClr val="01561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10" descr="中山大学- 维基百科，自由的百科全书">
            <a:extLst>
              <a:ext uri="{FF2B5EF4-FFF2-40B4-BE49-F238E27FC236}">
                <a16:creationId xmlns:a16="http://schemas.microsoft.com/office/drawing/2014/main" id="{34BA7FFE-FE9A-C500-5F03-CDABEC906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38" y="650070"/>
            <a:ext cx="1555700" cy="15557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67E4834-3BF7-8A06-A204-6487BD0DA86A}"/>
              </a:ext>
            </a:extLst>
          </p:cNvPr>
          <p:cNvSpPr/>
          <p:nvPr/>
        </p:nvSpPr>
        <p:spPr>
          <a:xfrm>
            <a:off x="773874" y="5462243"/>
            <a:ext cx="2569106" cy="473528"/>
          </a:xfrm>
          <a:prstGeom prst="roundRect">
            <a:avLst>
              <a:gd name="adj" fmla="val 50000"/>
            </a:avLst>
          </a:prstGeom>
          <a:solidFill>
            <a:srgbClr val="01561F"/>
          </a:solidFill>
          <a:ln>
            <a:noFill/>
          </a:ln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1EABB2-3700-BD80-BE6C-12E733B32C57}"/>
              </a:ext>
            </a:extLst>
          </p:cNvPr>
          <p:cNvSpPr txBox="1"/>
          <p:nvPr/>
        </p:nvSpPr>
        <p:spPr>
          <a:xfrm>
            <a:off x="773873" y="5507188"/>
            <a:ext cx="2569106" cy="379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 Semibold" panose="020B0402040204020203" pitchFamily="34" charset="-122"/>
                <a:ea typeface="Microsoft YaHei Semibold" panose="020B0402040204020203" pitchFamily="34" charset="-122"/>
              </a:rPr>
              <a:t>主讲人： 梁上松</a:t>
            </a:r>
          </a:p>
        </p:txBody>
      </p:sp>
    </p:spTree>
    <p:extLst>
      <p:ext uri="{BB962C8B-B14F-4D97-AF65-F5344CB8AC3E}">
        <p14:creationId xmlns:p14="http://schemas.microsoft.com/office/powerpoint/2010/main" val="172257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24">
            <a:extLst>
              <a:ext uri="{FF2B5EF4-FFF2-40B4-BE49-F238E27FC236}">
                <a16:creationId xmlns:a16="http://schemas.microsoft.com/office/drawing/2014/main" id="{D2CF96D9-27E6-4ACE-A4AD-69F421B5640C}"/>
              </a:ext>
            </a:extLst>
          </p:cNvPr>
          <p:cNvSpPr/>
          <p:nvPr/>
        </p:nvSpPr>
        <p:spPr>
          <a:xfrm>
            <a:off x="4050423" y="5556396"/>
            <a:ext cx="4114800" cy="572911"/>
          </a:xfrm>
          <a:prstGeom prst="roundRect">
            <a:avLst>
              <a:gd name="adj" fmla="val 1417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什么是表示学习？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pic>
        <p:nvPicPr>
          <p:cNvPr id="1026" name="Picture 2" descr="The process for turning raw data into embeddings and placing them into the vector space">
            <a:extLst>
              <a:ext uri="{FF2B5EF4-FFF2-40B4-BE49-F238E27FC236}">
                <a16:creationId xmlns:a16="http://schemas.microsoft.com/office/drawing/2014/main" id="{39220C49-BA12-2ACC-C844-B899FB5C30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2" t="6763" r="3389" b="6692"/>
          <a:stretch/>
        </p:blipFill>
        <p:spPr bwMode="auto">
          <a:xfrm>
            <a:off x="1770442" y="1880618"/>
            <a:ext cx="8651115" cy="367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236B22-EDB5-83ED-60B0-5F9264E343FE}"/>
              </a:ext>
            </a:extLst>
          </p:cNvPr>
          <p:cNvSpPr txBox="1"/>
          <p:nvPr/>
        </p:nvSpPr>
        <p:spPr>
          <a:xfrm>
            <a:off x="4172608" y="5639195"/>
            <a:ext cx="3844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关键在于如何得到这个映射</a:t>
            </a:r>
            <a:r>
              <a:rPr 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!!!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B9D7360-7EAD-758B-63C0-CD135CECA8FC}"/>
              </a:ext>
            </a:extLst>
          </p:cNvPr>
          <p:cNvGrpSpPr/>
          <p:nvPr/>
        </p:nvGrpSpPr>
        <p:grpSpPr>
          <a:xfrm>
            <a:off x="431552" y="1121989"/>
            <a:ext cx="11487731" cy="517819"/>
            <a:chOff x="431552" y="1025820"/>
            <a:chExt cx="11487731" cy="517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31552" y="1065223"/>
                  <a:ext cx="11487731" cy="4435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Clr>
                      <a:schemeClr val="accent2"/>
                    </a:buClr>
                  </a:pPr>
                  <a:r>
                    <a:rPr lang="zh-CN" altLang="en-US" sz="22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表示学习旨在将每个数据实例映射到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charset="0"/>
                            </a:rPr>
                            <m:t>𝑑</m:t>
                          </m:r>
                        </m:sup>
                      </m:sSup>
                    </m:oMath>
                  </a14:m>
                  <a:r>
                    <a:rPr lang="en-US" altLang="zh-CN" sz="22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 </a:t>
                  </a:r>
                  <a:r>
                    <a:rPr lang="zh-CN" altLang="en-US" sz="22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空间中</a:t>
                  </a:r>
                  <a:r>
                    <a:rPr lang="zh-CN" altLang="en-US" sz="2200" dirty="0">
                      <a:solidFill>
                        <a:srgbClr val="C00000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  <a:cs typeface="Cambria Math" charset="0"/>
                    </a:rPr>
                    <a:t>紧凑的向量 </a:t>
                  </a:r>
                  <a:endParaRPr lang="en-US" sz="2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Cambria Math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52" y="1065223"/>
                  <a:ext cx="11487731" cy="443519"/>
                </a:xfrm>
                <a:prstGeom prst="rect">
                  <a:avLst/>
                </a:prstGeom>
                <a:blipFill>
                  <a:blip r:embed="rId3"/>
                  <a:stretch>
                    <a:fillRect t="-5556" b="-25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67FCAE0-D8B7-4398-9D7C-E0E72C42E330}"/>
                </a:ext>
              </a:extLst>
            </p:cNvPr>
            <p:cNvSpPr/>
            <p:nvPr/>
          </p:nvSpPr>
          <p:spPr>
            <a:xfrm>
              <a:off x="2305474" y="1025820"/>
              <a:ext cx="7660162" cy="517819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348C971-A39A-2061-FFCD-530099DAF646}"/>
              </a:ext>
            </a:extLst>
          </p:cNvPr>
          <p:cNvSpPr txBox="1"/>
          <p:nvPr/>
        </p:nvSpPr>
        <p:spPr>
          <a:xfrm>
            <a:off x="1884948" y="2551459"/>
            <a:ext cx="100263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9172F5"/>
                </a:solidFill>
                <a:latin typeface="+mn-ea"/>
              </a:rPr>
              <a:t>图像</a:t>
            </a:r>
            <a:endParaRPr lang="zh-CN" altLang="en-US" sz="1600" dirty="0">
              <a:solidFill>
                <a:srgbClr val="9172F5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F8CCDD-E88B-FF6F-B6A9-5E6E90D4FE72}"/>
              </a:ext>
            </a:extLst>
          </p:cNvPr>
          <p:cNvSpPr txBox="1"/>
          <p:nvPr/>
        </p:nvSpPr>
        <p:spPr>
          <a:xfrm>
            <a:off x="1884948" y="3820535"/>
            <a:ext cx="100263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E3516F"/>
                </a:solidFill>
                <a:latin typeface="+mn-ea"/>
              </a:rPr>
              <a:t>文档</a:t>
            </a:r>
            <a:endParaRPr lang="zh-CN" altLang="en-US" sz="1600" dirty="0">
              <a:solidFill>
                <a:srgbClr val="E3516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863BCA-C682-6801-96D7-3F375497D8B1}"/>
              </a:ext>
            </a:extLst>
          </p:cNvPr>
          <p:cNvSpPr txBox="1"/>
          <p:nvPr/>
        </p:nvSpPr>
        <p:spPr>
          <a:xfrm>
            <a:off x="1884948" y="5075757"/>
            <a:ext cx="100263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34ACAD"/>
                </a:solidFill>
                <a:latin typeface="+mn-ea"/>
              </a:rPr>
              <a:t>音频</a:t>
            </a:r>
            <a:endParaRPr lang="zh-CN" altLang="en-US" sz="1600" dirty="0">
              <a:solidFill>
                <a:srgbClr val="34ACAD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937CF9-37AC-AD71-0F8D-E8BCA647A163}"/>
              </a:ext>
            </a:extLst>
          </p:cNvPr>
          <p:cNvSpPr txBox="1"/>
          <p:nvPr/>
        </p:nvSpPr>
        <p:spPr>
          <a:xfrm>
            <a:off x="3647245" y="3546215"/>
            <a:ext cx="1672899" cy="338554"/>
          </a:xfrm>
          <a:prstGeom prst="rect">
            <a:avLst/>
          </a:prstGeom>
          <a:solidFill>
            <a:srgbClr val="FFE5EF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E3516F"/>
                </a:solidFill>
                <a:latin typeface="+mn-ea"/>
              </a:rPr>
              <a:t>嵌入模型</a:t>
            </a:r>
            <a:endParaRPr lang="zh-CN" altLang="en-US" sz="1600" dirty="0">
              <a:solidFill>
                <a:srgbClr val="E3516F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480B8E-6587-2D2F-C25D-DA20C9A88F51}"/>
              </a:ext>
            </a:extLst>
          </p:cNvPr>
          <p:cNvSpPr txBox="1"/>
          <p:nvPr/>
        </p:nvSpPr>
        <p:spPr>
          <a:xfrm>
            <a:off x="5926975" y="4651808"/>
            <a:ext cx="177892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输入对应的向量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340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76147-FB53-11AF-20C4-5F95E638B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E60796-7521-5F66-ADBC-E8A8B261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3200" dirty="0"/>
              <a:t>表示学习的目标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75B34-6485-018B-0977-4DBC0BC3BF0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885E0-00F6-693A-69BF-53C0DE6E6D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p:sp>
        <p:nvSpPr>
          <p:cNvPr id="7" name="圆角矩形 24">
            <a:extLst>
              <a:ext uri="{FF2B5EF4-FFF2-40B4-BE49-F238E27FC236}">
                <a16:creationId xmlns:a16="http://schemas.microsoft.com/office/drawing/2014/main" id="{427414AC-5AAA-5E7B-DA28-E2C107537237}"/>
              </a:ext>
            </a:extLst>
          </p:cNvPr>
          <p:cNvSpPr/>
          <p:nvPr/>
        </p:nvSpPr>
        <p:spPr>
          <a:xfrm>
            <a:off x="3486150" y="1335052"/>
            <a:ext cx="4838700" cy="572911"/>
          </a:xfrm>
          <a:prstGeom prst="roundRect">
            <a:avLst>
              <a:gd name="adj" fmla="val 1417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ACB7B-8479-E802-9338-F28F694DC2A0}"/>
              </a:ext>
            </a:extLst>
          </p:cNvPr>
          <p:cNvSpPr txBox="1"/>
          <p:nvPr/>
        </p:nvSpPr>
        <p:spPr>
          <a:xfrm>
            <a:off x="1013791" y="1406065"/>
            <a:ext cx="9802795" cy="430887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.AppleSystemUIFont" charset="-120"/>
              <a:buChar char="−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0" indent="0" algn="ctr">
              <a:buNone/>
            </a:pPr>
            <a:r>
              <a:rPr lang="zh-CN" altLang="en-US" b="0" i="0" dirty="0">
                <a:solidFill>
                  <a:srgbClr val="1A1C1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尽可能多地保留原始数据的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语义信息</a:t>
            </a:r>
            <a:endParaRPr lang="en-US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ACABC7-907D-7610-6B76-34B51119A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69"/>
          <a:stretch/>
        </p:blipFill>
        <p:spPr>
          <a:xfrm>
            <a:off x="1389605" y="2565112"/>
            <a:ext cx="1634814" cy="2225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3E0D03-1D54-C526-0546-E678C6259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47"/>
          <a:stretch/>
        </p:blipFill>
        <p:spPr>
          <a:xfrm>
            <a:off x="4859839" y="2628673"/>
            <a:ext cx="1558011" cy="2225595"/>
          </a:xfrm>
          <a:prstGeom prst="rect">
            <a:avLst/>
          </a:prstGeom>
        </p:spPr>
      </p:pic>
      <p:pic>
        <p:nvPicPr>
          <p:cNvPr id="11" name="Picture 2" descr="maltese-portrait">
            <a:extLst>
              <a:ext uri="{FF2B5EF4-FFF2-40B4-BE49-F238E27FC236}">
                <a16:creationId xmlns:a16="http://schemas.microsoft.com/office/drawing/2014/main" id="{AF5311A8-63CC-EB96-F61F-9D73920789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2" t="-1" r="30584" b="-277"/>
          <a:stretch/>
        </p:blipFill>
        <p:spPr bwMode="auto">
          <a:xfrm>
            <a:off x="8532712" y="2565112"/>
            <a:ext cx="1558011" cy="222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5F5D98-9EC8-1EE6-9BF6-B4298BBB8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605" y="5213928"/>
            <a:ext cx="1706851" cy="4156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384B53-3F17-E801-1C87-0A5198230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839" y="5237442"/>
            <a:ext cx="1706851" cy="3856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EC5CC0-0462-A82C-BC43-E1E89F87CC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143" y="5208038"/>
            <a:ext cx="1703148" cy="39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7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76147-FB53-11AF-20C4-5F95E638B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E60796-7521-5F66-ADBC-E8A8B261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3200" dirty="0"/>
              <a:t>表示学习的目标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75B34-6485-018B-0977-4DBC0BC3BF0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885E0-00F6-693A-69BF-53C0DE6E6D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p:sp>
        <p:nvSpPr>
          <p:cNvPr id="2" name="圆角矩形 24">
            <a:extLst>
              <a:ext uri="{FF2B5EF4-FFF2-40B4-BE49-F238E27FC236}">
                <a16:creationId xmlns:a16="http://schemas.microsoft.com/office/drawing/2014/main" id="{20CDF95C-0D16-FEC3-73A9-DE1AB1407AF0}"/>
              </a:ext>
            </a:extLst>
          </p:cNvPr>
          <p:cNvSpPr/>
          <p:nvPr/>
        </p:nvSpPr>
        <p:spPr>
          <a:xfrm>
            <a:off x="3486150" y="1275625"/>
            <a:ext cx="4838700" cy="572911"/>
          </a:xfrm>
          <a:prstGeom prst="roundRect">
            <a:avLst>
              <a:gd name="adj" fmla="val 1417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latin typeface="Kaiti SC" panose="02010600040101010101" pitchFamily="2" charset="-122"/>
              <a:ea typeface="Kaiti SC" panose="02010600040101010101" pitchFamily="2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54BD65-5FB3-34E0-73B2-AAA60209DF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69"/>
          <a:stretch/>
        </p:blipFill>
        <p:spPr>
          <a:xfrm>
            <a:off x="1021377" y="2342581"/>
            <a:ext cx="1703148" cy="23186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BDE56B-EC4F-AF5F-A19C-37C4F579DC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47"/>
          <a:stretch/>
        </p:blipFill>
        <p:spPr>
          <a:xfrm>
            <a:off x="6965316" y="2340992"/>
            <a:ext cx="1623135" cy="2318623"/>
          </a:xfrm>
          <a:prstGeom prst="rect">
            <a:avLst/>
          </a:prstGeom>
        </p:spPr>
      </p:pic>
      <p:pic>
        <p:nvPicPr>
          <p:cNvPr id="17" name="Picture 2" descr="maltese-portrait">
            <a:extLst>
              <a:ext uri="{FF2B5EF4-FFF2-40B4-BE49-F238E27FC236}">
                <a16:creationId xmlns:a16="http://schemas.microsoft.com/office/drawing/2014/main" id="{3A14591A-EE27-4D8C-1C52-0E1AAACA50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2" t="-1" r="30584" b="-277"/>
          <a:stretch/>
        </p:blipFill>
        <p:spPr bwMode="auto">
          <a:xfrm>
            <a:off x="8942371" y="2346451"/>
            <a:ext cx="1623135" cy="231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2A3ADD-9A26-79F1-A102-88F1A12C3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77" y="4992123"/>
            <a:ext cx="1706851" cy="4156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8D8361-063E-6C29-5BD5-05432C5D4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316" y="5021052"/>
            <a:ext cx="1706851" cy="3856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C197C3-F535-5E94-EA87-5A1E180FB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2300" y="4992123"/>
            <a:ext cx="1703148" cy="397401"/>
          </a:xfrm>
          <a:prstGeom prst="rect">
            <a:avLst/>
          </a:prstGeom>
        </p:spPr>
      </p:pic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FDCDA4C-BAD4-9A64-83E8-6134AB8ECEBC}"/>
              </a:ext>
            </a:extLst>
          </p:cNvPr>
          <p:cNvCxnSpPr>
            <a:cxnSpLocks/>
            <a:stCxn id="19" idx="2"/>
            <a:endCxn id="20" idx="2"/>
          </p:cNvCxnSpPr>
          <p:nvPr/>
        </p:nvCxnSpPr>
        <p:spPr>
          <a:xfrm rot="5400000" flipH="1" flipV="1">
            <a:off x="8832733" y="4375533"/>
            <a:ext cx="17150" cy="2045132"/>
          </a:xfrm>
          <a:prstGeom prst="curvedConnector3">
            <a:avLst>
              <a:gd name="adj1" fmla="val -2979522"/>
            </a:avLst>
          </a:prstGeom>
          <a:ln w="3492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E1F396-A7D8-5F73-EC42-0E0FB78FAF5C}"/>
              </a:ext>
            </a:extLst>
          </p:cNvPr>
          <p:cNvSpPr txBox="1"/>
          <p:nvPr/>
        </p:nvSpPr>
        <p:spPr>
          <a:xfrm>
            <a:off x="8516809" y="6037029"/>
            <a:ext cx="15550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/>
            <a:r>
              <a:rPr lang="zh-CN" altLang="en-US" sz="2200" dirty="0">
                <a:latin typeface="SimHei" panose="02010609060101010101" pitchFamily="49" charset="-122"/>
                <a:ea typeface="SimHei" panose="02010609060101010101" pitchFamily="49" charset="-122"/>
                <a:cs typeface="Helvetica" charset="0"/>
              </a:rPr>
              <a:t>拉近</a:t>
            </a:r>
            <a:endParaRPr lang="en-CN" sz="2200" dirty="0">
              <a:latin typeface="SimHei" panose="02010609060101010101" pitchFamily="49" charset="-122"/>
              <a:ea typeface="SimHei" panose="02010609060101010101" pitchFamily="49" charset="-122"/>
              <a:cs typeface="Helvetica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B5919-0591-36E6-917C-0E3F9B5C879D}"/>
              </a:ext>
            </a:extLst>
          </p:cNvPr>
          <p:cNvSpPr txBox="1"/>
          <p:nvPr/>
        </p:nvSpPr>
        <p:spPr>
          <a:xfrm>
            <a:off x="4078942" y="6037029"/>
            <a:ext cx="15550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/>
            <a:r>
              <a:rPr lang="zh-CN" altLang="en-US" sz="2200" dirty="0">
                <a:latin typeface="SimHei" panose="02010609060101010101" pitchFamily="49" charset="-122"/>
                <a:ea typeface="SimHei" panose="02010609060101010101" pitchFamily="49" charset="-122"/>
                <a:cs typeface="Helvetica" charset="0"/>
              </a:rPr>
              <a:t>推远</a:t>
            </a:r>
            <a:endParaRPr lang="en-CN" sz="2200" dirty="0">
              <a:latin typeface="SimHei" panose="02010609060101010101" pitchFamily="49" charset="-122"/>
              <a:ea typeface="SimHei" panose="02010609060101010101" pitchFamily="49" charset="-122"/>
              <a:cs typeface="Helvetica" charset="0"/>
            </a:endParaRP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00CD00E9-06F6-B97A-6775-566EBF414C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1427" y="3175858"/>
            <a:ext cx="30069" cy="4525990"/>
          </a:xfrm>
          <a:prstGeom prst="curvedConnector3">
            <a:avLst>
              <a:gd name="adj1" fmla="val -1565230"/>
            </a:avLst>
          </a:prstGeom>
          <a:ln w="34925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7F05932-DEB1-2B73-5F3C-48B922227867}"/>
              </a:ext>
            </a:extLst>
          </p:cNvPr>
          <p:cNvSpPr txBox="1"/>
          <p:nvPr/>
        </p:nvSpPr>
        <p:spPr>
          <a:xfrm>
            <a:off x="3578487" y="1346636"/>
            <a:ext cx="4676018" cy="430887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.AppleSystemUIFont" charset="-120"/>
              <a:buChar char="−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0" indent="0" algn="ctr">
              <a:buNone/>
            </a:pPr>
            <a:r>
              <a:rPr lang="zh-CN" altLang="en-US" b="0" i="0" dirty="0">
                <a:solidFill>
                  <a:srgbClr val="1A1C1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尽可能多地保留原始数据的</a:t>
            </a:r>
            <a:r>
              <a:rPr lang="zh-CN" altLang="en-US" b="0" i="0" dirty="0">
                <a:solidFill>
                  <a:schemeClr val="accent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语义信息</a:t>
            </a:r>
            <a:endParaRPr lang="en-US" altLang="zh-CN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4336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6" name="TextBox 5"/>
          <p:cNvSpPr txBox="1"/>
          <p:nvPr/>
        </p:nvSpPr>
        <p:spPr>
          <a:xfrm>
            <a:off x="1654363" y="889117"/>
            <a:ext cx="8883273" cy="430887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.AppleSystemUIFont" charset="-120"/>
              <a:buChar char="−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0" indent="0" algn="ctr">
              <a:buNone/>
            </a:pPr>
            <a:r>
              <a:rPr lang="zh-CN" altLang="en-US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好的表示应该尽可能保留原始数据的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语义信息</a:t>
            </a:r>
            <a:r>
              <a:rPr lang="zh-CN" altLang="en-US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，而不是所有信息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904" y="223164"/>
            <a:ext cx="8237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什么样的表示才算好？</a:t>
            </a:r>
            <a:endParaRPr lang="en-US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7408" y="1891247"/>
                <a:ext cx="1155219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例子：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中的向量表示手写数字，为了获得良好的表示，来自同一数字的图像的表示应该彼此接近。</a:t>
                </a:r>
                <a:endParaRPr lang="en-US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8" y="1891247"/>
                <a:ext cx="11552192" cy="769441"/>
              </a:xfrm>
              <a:prstGeom prst="rect">
                <a:avLst/>
              </a:prstGeom>
              <a:blipFill>
                <a:blip r:embed="rId2"/>
                <a:stretch>
                  <a:fillRect l="-659" t="-4839" b="-145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919" y="2938563"/>
            <a:ext cx="6800048" cy="331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97D35-1F43-FD97-74B4-C6CA9BC4CF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B6DE83-CFC5-F69F-26F2-1DCD9774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3200" dirty="0"/>
              <a:t>为什么需要表示学习</a:t>
            </a:r>
            <a:r>
              <a:rPr lang="zh-CN" altLang="en-US" sz="3200" dirty="0"/>
              <a:t>？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FF35C-2D82-2798-1A47-F24FC2D7330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9AF17-F561-52FC-FE97-CD645DBC7A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9589C-DB7D-0FB4-A353-EBB067264340}"/>
              </a:ext>
            </a:extLst>
          </p:cNvPr>
          <p:cNvSpPr txBox="1"/>
          <p:nvPr/>
        </p:nvSpPr>
        <p:spPr>
          <a:xfrm>
            <a:off x="446992" y="1002824"/>
            <a:ext cx="10742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zh-CN" altLang="en-US" sz="2200" b="0" i="0" dirty="0">
                <a:solidFill>
                  <a:srgbClr val="1A1C1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与原始数据相比，表示</a:t>
            </a:r>
            <a:r>
              <a:rPr lang="zh-CN" altLang="en-US" sz="2200" i="0" dirty="0">
                <a:solidFill>
                  <a:schemeClr val="accent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对于下游应用更加友好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，这是</a:t>
            </a:r>
            <a:r>
              <a:rPr lang="zh-CN" altLang="en-US" sz="2200" b="0" i="0" dirty="0">
                <a:solidFill>
                  <a:srgbClr val="1A1C1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因为表示具有以下</a:t>
            </a: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特点</a:t>
            </a:r>
            <a:r>
              <a:rPr lang="zh-CN" altLang="en-US" sz="2200" b="0" i="0" dirty="0">
                <a:solidFill>
                  <a:srgbClr val="1A1C1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sz="22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6CB13-DBCD-03E9-FD5B-8C08233B8D76}"/>
              </a:ext>
            </a:extLst>
          </p:cNvPr>
          <p:cNvSpPr txBox="1"/>
          <p:nvPr/>
        </p:nvSpPr>
        <p:spPr>
          <a:xfrm>
            <a:off x="832624" y="2203205"/>
            <a:ext cx="8103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更加</a:t>
            </a:r>
            <a:r>
              <a:rPr lang="zh-CN" altLang="en-US" sz="2200" dirty="0">
                <a:solidFill>
                  <a:schemeClr val="accent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紧凑</a:t>
            </a:r>
            <a:endParaRPr lang="en-US" sz="2200" dirty="0">
              <a:solidFill>
                <a:schemeClr val="accent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6F888-B198-94C8-D151-DE454D668846}"/>
              </a:ext>
            </a:extLst>
          </p:cNvPr>
          <p:cNvSpPr txBox="1"/>
          <p:nvPr/>
        </p:nvSpPr>
        <p:spPr>
          <a:xfrm>
            <a:off x="832625" y="1625807"/>
            <a:ext cx="10742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丢弃无关信息，同时保留重要的</a:t>
            </a:r>
            <a:r>
              <a:rPr lang="zh-CN" altLang="en-US" sz="2200" dirty="0">
                <a:solidFill>
                  <a:schemeClr val="accent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语义信息</a:t>
            </a:r>
            <a:endParaRPr lang="en-US" sz="2200" dirty="0">
              <a:solidFill>
                <a:schemeClr val="accent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BDF93-2B72-A234-B5F8-E7F8A4E5E0E7}"/>
              </a:ext>
            </a:extLst>
          </p:cNvPr>
          <p:cNvSpPr txBox="1"/>
          <p:nvPr/>
        </p:nvSpPr>
        <p:spPr>
          <a:xfrm>
            <a:off x="446992" y="3048679"/>
            <a:ext cx="110664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表示可以应用于各种下游应用，例如：</a:t>
            </a:r>
            <a:endParaRPr lang="en-US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7C78E-DB59-1434-6613-640E8920532F}"/>
              </a:ext>
            </a:extLst>
          </p:cNvPr>
          <p:cNvSpPr txBox="1"/>
          <p:nvPr/>
        </p:nvSpPr>
        <p:spPr>
          <a:xfrm>
            <a:off x="882730" y="3654111"/>
            <a:ext cx="8103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分类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37998-31E5-9BD8-C812-5960AE690B53}"/>
              </a:ext>
            </a:extLst>
          </p:cNvPr>
          <p:cNvSpPr txBox="1"/>
          <p:nvPr/>
        </p:nvSpPr>
        <p:spPr>
          <a:xfrm>
            <a:off x="882730" y="4237816"/>
            <a:ext cx="8103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聚类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9E769-BDC3-2C41-D655-0E6A0EC381C1}"/>
              </a:ext>
            </a:extLst>
          </p:cNvPr>
          <p:cNvSpPr txBox="1"/>
          <p:nvPr/>
        </p:nvSpPr>
        <p:spPr>
          <a:xfrm>
            <a:off x="882729" y="4796327"/>
            <a:ext cx="8103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相似性搜索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F3C10-408D-AAEF-41AC-A7D6C4249BF9}"/>
              </a:ext>
            </a:extLst>
          </p:cNvPr>
          <p:cNvSpPr txBox="1"/>
          <p:nvPr/>
        </p:nvSpPr>
        <p:spPr>
          <a:xfrm>
            <a:off x="882729" y="5362764"/>
            <a:ext cx="8103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>
              <a:buClr>
                <a:schemeClr val="accent6">
                  <a:lumMod val="75000"/>
                </a:schemeClr>
              </a:buClr>
              <a:buFont typeface="Zapf Dingbats"/>
              <a:buChar char="✤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异常检测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0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F67E-F87F-794C-8B83-62C6FFF19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45EA25-73B4-3BD5-4F6C-E4D3B2AA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大纲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96B35-88B5-01F8-5C7E-94DEB4A4FBE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D781-BBFF-2AEA-58EF-A13BECFD2D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F71A3-4EAC-3982-1147-F70BC6142B7D}"/>
              </a:ext>
            </a:extLst>
          </p:cNvPr>
          <p:cNvSpPr txBox="1"/>
          <p:nvPr/>
        </p:nvSpPr>
        <p:spPr>
          <a:xfrm>
            <a:off x="508000" y="1008393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基于迁移学习的方法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F378F-6DD4-1FD0-B201-66F3B8515C83}"/>
              </a:ext>
            </a:extLst>
          </p:cNvPr>
          <p:cNvSpPr txBox="1"/>
          <p:nvPr/>
        </p:nvSpPr>
        <p:spPr>
          <a:xfrm>
            <a:off x="508000" y="1569354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自编码器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1B0B6-28C7-AC60-9FC7-E4F2ACB7E1A0}"/>
              </a:ext>
            </a:extLst>
          </p:cNvPr>
          <p:cNvSpPr txBox="1"/>
          <p:nvPr/>
        </p:nvSpPr>
        <p:spPr>
          <a:xfrm>
            <a:off x="508000" y="2130315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对比学习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88AB3-2A8F-C267-B825-DB02D87E8ECB}"/>
              </a:ext>
            </a:extLst>
          </p:cNvPr>
          <p:cNvSpPr txBox="1"/>
          <p:nvPr/>
        </p:nvSpPr>
        <p:spPr>
          <a:xfrm>
            <a:off x="1016000" y="269127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75000"/>
                  </a:schemeClr>
                </a:solidFill>
                <a:latin typeface="Helvetica" charset="0"/>
                <a:cs typeface="Helvetica" charset="0"/>
              </a:rPr>
              <a:t>SimCLR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BFF25-8C7B-79D0-B8E3-CA15BB375D78}"/>
              </a:ext>
            </a:extLst>
          </p:cNvPr>
          <p:cNvSpPr txBox="1"/>
          <p:nvPr/>
        </p:nvSpPr>
        <p:spPr>
          <a:xfrm>
            <a:off x="1016000" y="321355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75000"/>
                  </a:schemeClr>
                </a:solidFill>
                <a:latin typeface="Helvetica" charset="0"/>
                <a:cs typeface="Helvetica" charset="0"/>
              </a:rPr>
              <a:t>MoCo</a:t>
            </a:r>
          </a:p>
        </p:txBody>
      </p:sp>
    </p:spTree>
    <p:extLst>
      <p:ext uri="{BB962C8B-B14F-4D97-AF65-F5344CB8AC3E}">
        <p14:creationId xmlns:p14="http://schemas.microsoft.com/office/powerpoint/2010/main" val="196574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3EE79-485B-9F15-EBF6-D149E306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9456E-F44B-AED5-7FEF-A0336ED02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42807-0816-B0B0-510C-B7552A403F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83FAD2-1736-6FFA-2FAA-D62562BC2C91}"/>
                  </a:ext>
                </a:extLst>
              </p:cNvPr>
              <p:cNvSpPr txBox="1"/>
              <p:nvPr/>
            </p:nvSpPr>
            <p:spPr>
              <a:xfrm>
                <a:off x="367323" y="370104"/>
                <a:ext cx="11261971" cy="44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给定一组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图像</a:t>
                </a:r>
                <a:r>
                  <a:rPr lang="en-US" altLang="zh-CN" sz="2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-</a:t>
                </a:r>
                <a:r>
                  <a:rPr lang="zh-CN" altLang="en-US" sz="22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标签对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  <m:r>
                          <a:rPr lang="en-US" altLang="zh-CN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，我们在给定的图像</a:t>
                </a:r>
                <a:r>
                  <a:rPr lang="en-US" altLang="zh-CN" sz="22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-</a:t>
                </a: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标签对上训练一个分类器</a:t>
                </a:r>
                <a:endParaRPr lang="en-US" sz="22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83FAD2-1736-6FFA-2FAA-D62562BC2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23" y="370104"/>
                <a:ext cx="11261971" cy="449482"/>
              </a:xfrm>
              <a:prstGeom prst="rect">
                <a:avLst/>
              </a:prstGeom>
              <a:blipFill>
                <a:blip r:embed="rId2"/>
                <a:stretch>
                  <a:fillRect l="-563" t="-8333" b="-2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A5C7A23-11AE-B667-7853-F1B4116F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58" y="1441484"/>
            <a:ext cx="7378729" cy="2459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7770F3-722E-1E69-889D-C1D15FE061D9}"/>
              </a:ext>
            </a:extLst>
          </p:cNvPr>
          <p:cNvSpPr txBox="1"/>
          <p:nvPr/>
        </p:nvSpPr>
        <p:spPr>
          <a:xfrm>
            <a:off x="367323" y="4656677"/>
            <a:ext cx="11261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最后一个卷积层输出的特征图可以看作是输入图像的表示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FD9F2-7091-6808-27FF-547800753882}"/>
              </a:ext>
            </a:extLst>
          </p:cNvPr>
          <p:cNvSpPr txBox="1"/>
          <p:nvPr/>
        </p:nvSpPr>
        <p:spPr>
          <a:xfrm>
            <a:off x="5318106" y="5588465"/>
            <a:ext cx="1335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为什么</a:t>
            </a:r>
            <a:r>
              <a:rPr 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??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8CF2DD-A2E2-B702-1EDB-0F919407C0C7}"/>
              </a:ext>
            </a:extLst>
          </p:cNvPr>
          <p:cNvSpPr/>
          <p:nvPr/>
        </p:nvSpPr>
        <p:spPr>
          <a:xfrm>
            <a:off x="5165615" y="1999013"/>
            <a:ext cx="1011383" cy="8035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5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861796" y="630449"/>
            <a:ext cx="7465804" cy="3278910"/>
            <a:chOff x="748945" y="513366"/>
            <a:chExt cx="7465804" cy="327891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8945" y="513366"/>
              <a:ext cx="7465804" cy="2706354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584878" y="1299871"/>
              <a:ext cx="592428" cy="1288783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881092" y="2614413"/>
              <a:ext cx="0" cy="721217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252514" y="3361389"/>
              <a:ext cx="29621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zh-CN" altLang="en-US" sz="22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" charset="0"/>
                </a:rPr>
                <a:t>特征提取</a:t>
              </a:r>
              <a:endParaRPr 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473554" y="4691702"/>
            <a:ext cx="9662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除了卷积特征图，</a:t>
            </a:r>
            <a:r>
              <a:rPr lang="zh-CN" alt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全连接倒数第二层的输出</a:t>
            </a: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有时也被用作表示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C46CDC81-20CA-E90C-35A0-89BE18C704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513519"/>
            <a:ext cx="4114800" cy="365125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5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E7B4E-825D-670E-52E4-4396331A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5BD8BA-9DB0-6531-43D6-1B90835384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55F95-B92F-9AE0-FEBD-6B9B18F221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p:pic>
        <p:nvPicPr>
          <p:cNvPr id="9" name="Picture 2" descr="ig. 1">
            <a:extLst>
              <a:ext uri="{FF2B5EF4-FFF2-40B4-BE49-F238E27FC236}">
                <a16:creationId xmlns:a16="http://schemas.microsoft.com/office/drawing/2014/main" id="{2DD2E630-CAFB-8258-E0B5-2B4E5937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85" y="2240300"/>
            <a:ext cx="7329055" cy="291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97D395-D276-CA6E-88F3-4C64E66B8307}"/>
              </a:ext>
            </a:extLst>
          </p:cNvPr>
          <p:cNvSpPr txBox="1"/>
          <p:nvPr/>
        </p:nvSpPr>
        <p:spPr>
          <a:xfrm>
            <a:off x="391992" y="341088"/>
            <a:ext cx="11020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当给定的数据集</a:t>
            </a:r>
            <a:r>
              <a:rPr lang="zh-CN" altLang="en-US" sz="22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不包含标签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sz="22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标签非常少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endParaRPr lang="en-US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E59E0-6B47-CC75-F499-B99F453488C8}"/>
              </a:ext>
            </a:extLst>
          </p:cNvPr>
          <p:cNvSpPr txBox="1"/>
          <p:nvPr/>
        </p:nvSpPr>
        <p:spPr>
          <a:xfrm>
            <a:off x="609159" y="941601"/>
            <a:ext cx="11146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+mj-lt"/>
              <a:buAutoNum type="arabicParenR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在一个带有标签的</a:t>
            </a:r>
            <a:r>
              <a:rPr lang="zh-CN" alt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辅助数据集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（例如，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ImageNet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上训练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CNN)</a:t>
            </a:r>
            <a:endParaRPr lang="en-US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E6E70-86C5-6AEA-969F-335221E45473}"/>
              </a:ext>
            </a:extLst>
          </p:cNvPr>
          <p:cNvSpPr txBox="1"/>
          <p:nvPr/>
        </p:nvSpPr>
        <p:spPr>
          <a:xfrm>
            <a:off x="609159" y="1547410"/>
            <a:ext cx="108031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+mj-lt"/>
              <a:buAutoNum type="arabicParenR" startAt="2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将新数据集的图像输入预训练的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CNN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来获得图像的表示</a:t>
            </a:r>
            <a:endParaRPr lang="en-US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6A66A-7BFE-6F9D-C587-C6232E888A35}"/>
              </a:ext>
            </a:extLst>
          </p:cNvPr>
          <p:cNvSpPr txBox="1"/>
          <p:nvPr/>
        </p:nvSpPr>
        <p:spPr>
          <a:xfrm>
            <a:off x="1755923" y="5618109"/>
            <a:ext cx="8722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ImageNet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上训练好的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CNN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可以被看作是一个通用的</a:t>
            </a:r>
            <a:r>
              <a:rPr lang="zh-CN" alt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特征提取器</a:t>
            </a:r>
            <a:endParaRPr lang="en-US" sz="2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46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529D-62DF-6A6A-FCCE-DEC0898AE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0B80B-2764-2024-03A2-E43FFB06B2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9B93D0-6372-07C6-843D-8563727F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大纲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64D3E-1C30-A6B3-446A-999C4135DBD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4237B-C98C-D388-6966-610604283C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DC8E2-4F07-F3A5-EE13-1E69CE23A0ED}"/>
              </a:ext>
            </a:extLst>
          </p:cNvPr>
          <p:cNvSpPr txBox="1"/>
          <p:nvPr/>
        </p:nvSpPr>
        <p:spPr>
          <a:xfrm>
            <a:off x="508000" y="1008393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基于迁移学习的方法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9C892-4CDD-950D-1E81-71CB6A680E3C}"/>
              </a:ext>
            </a:extLst>
          </p:cNvPr>
          <p:cNvSpPr txBox="1"/>
          <p:nvPr/>
        </p:nvSpPr>
        <p:spPr>
          <a:xfrm>
            <a:off x="508000" y="1569354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自编码器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0B41F-FBF8-2A1C-9C7F-3CB5D6CA9120}"/>
              </a:ext>
            </a:extLst>
          </p:cNvPr>
          <p:cNvSpPr txBox="1"/>
          <p:nvPr/>
        </p:nvSpPr>
        <p:spPr>
          <a:xfrm>
            <a:off x="508000" y="2130315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7AAC0-16C2-EB28-2F1A-AFA61013FE98}"/>
              </a:ext>
            </a:extLst>
          </p:cNvPr>
          <p:cNvSpPr txBox="1"/>
          <p:nvPr/>
        </p:nvSpPr>
        <p:spPr>
          <a:xfrm>
            <a:off x="1016000" y="269127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75000"/>
                  </a:schemeClr>
                </a:solidFill>
                <a:latin typeface="Helvetica" charset="0"/>
                <a:cs typeface="Helvetica" charset="0"/>
              </a:rPr>
              <a:t>SimCLR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D867C-442E-96AD-C7D2-4B6D55922513}"/>
              </a:ext>
            </a:extLst>
          </p:cNvPr>
          <p:cNvSpPr txBox="1"/>
          <p:nvPr/>
        </p:nvSpPr>
        <p:spPr>
          <a:xfrm>
            <a:off x="1016000" y="321355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75000"/>
                  </a:schemeClr>
                </a:solidFill>
                <a:latin typeface="Helvetica" charset="0"/>
                <a:cs typeface="Helvetica" charset="0"/>
              </a:rPr>
              <a:t>MoCo</a:t>
            </a:r>
          </a:p>
        </p:txBody>
      </p:sp>
    </p:spTree>
    <p:extLst>
      <p:ext uri="{BB962C8B-B14F-4D97-AF65-F5344CB8AC3E}">
        <p14:creationId xmlns:p14="http://schemas.microsoft.com/office/powerpoint/2010/main" val="535450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49578-7B3E-CABD-C0A2-F7A2DB0BEF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710FE2-8F96-2712-7470-99AF601B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PCA</a:t>
            </a:r>
            <a:r>
              <a:rPr lang="en-US" dirty="0"/>
              <a:t>的</a:t>
            </a:r>
            <a:r>
              <a:rPr lang="en-CN" dirty="0"/>
              <a:t>线性自编码器视角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90805-4A0C-CD44-E149-4B6D7BEB3E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9875D-3011-3796-C828-3F519CA299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022064-9466-8F70-B212-00A228F41126}"/>
                  </a:ext>
                </a:extLst>
              </p:cNvPr>
              <p:cNvSpPr txBox="1"/>
              <p:nvPr/>
            </p:nvSpPr>
            <p:spPr>
              <a:xfrm>
                <a:off x="370344" y="912295"/>
                <a:ext cx="11451312" cy="899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5000"/>
                  </a:lnSpc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对于数据集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𝑿</m:t>
                    </m:r>
                    <m:r>
                      <a:rPr lang="en-US" sz="2200" b="1" i="1" smtClean="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b="1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 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 b="1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假设它的两个最主要主成分为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𝑼</m:t>
                    </m:r>
                    <m:r>
                      <a:rPr lang="en-US" altLang="zh-CN" sz="2200" i="1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200" b="1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 b="1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 b="1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200" b="1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200" b="1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1A1C1E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 b="1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在主成分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b="1" i="1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200" b="1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上的系数为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𝑼</m:t>
                        </m:r>
                      </m:e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200" b="1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022064-9466-8F70-B212-00A228F41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44" y="912295"/>
                <a:ext cx="11451312" cy="899349"/>
              </a:xfrm>
              <a:prstGeom prst="rect">
                <a:avLst/>
              </a:prstGeom>
              <a:blipFill>
                <a:blip r:embed="rId3"/>
                <a:stretch>
                  <a:fillRect l="-665" r="-665" b="-1267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602220-674D-4A95-77F8-64BC36D9D764}"/>
                  </a:ext>
                </a:extLst>
              </p:cNvPr>
              <p:cNvSpPr txBox="1"/>
              <p:nvPr/>
            </p:nvSpPr>
            <p:spPr>
              <a:xfrm>
                <a:off x="370343" y="1907808"/>
                <a:ext cx="10910275" cy="439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sz="2200" b="1" i="1" dirty="0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在新方向下的表示为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′</m:t>
                        </m:r>
                      </m:sup>
                    </m:sSubSup>
                    <m:r>
                      <a:rPr lang="en-US" sz="2200" b="1" i="1" smtClean="0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altLang="zh-CN" sz="2200" b="1" i="1" smtClean="0">
                        <a:solidFill>
                          <a:srgbClr val="2534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𝑼</m:t>
                    </m:r>
                    <m:sSup>
                      <m:sSupPr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𝑼</m:t>
                        </m:r>
                      </m:e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</a:t>
                </a:r>
                <a:r>
                  <a:rPr lang="en-US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与原样本值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会比较接近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，即：</a:t>
                </a:r>
                <a:r>
                  <a:rPr lang="en-US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  <m:r>
                      <a:rPr lang="en-US" sz="22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≈</m:t>
                    </m:r>
                    <m:sSubSup>
                      <m:sSubSup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2200" b="1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602220-674D-4A95-77F8-64BC36D9D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43" y="1907808"/>
                <a:ext cx="10910275" cy="439416"/>
              </a:xfrm>
              <a:prstGeom prst="rect">
                <a:avLst/>
              </a:prstGeom>
              <a:blipFill>
                <a:blip r:embed="rId4"/>
                <a:stretch>
                  <a:fillRect l="-698" t="-11429" b="-22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08A7A7-C9D4-758F-57D6-476F159692D3}"/>
                  </a:ext>
                </a:extLst>
              </p:cNvPr>
              <p:cNvSpPr txBox="1"/>
              <p:nvPr/>
            </p:nvSpPr>
            <p:spPr>
              <a:xfrm>
                <a:off x="370342" y="5495677"/>
                <a:ext cx="11451311" cy="9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5000"/>
                  </a:lnSpc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PCA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可以看作是用编码器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𝑔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𝑼</m:t>
                        </m:r>
                      </m:e>
                      <m:sup>
                        <m:r>
                          <a:rPr lang="en-US" altLang="zh-CN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𝑇</m:t>
                        </m:r>
                      </m:sup>
                    </m:sSup>
                    <m:r>
                      <a:rPr lang="en-US" altLang="zh-CN" sz="2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𝒙</m:t>
                    </m:r>
                  </m:oMath>
                </a14:m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将数据压缩为低维向量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𝒛</m:t>
                    </m:r>
                    <m:r>
                      <a:rPr lang="en-US" altLang="zh-CN" sz="2200" b="1" i="1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，然后用解码器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solidFill>
                          <a:srgbClr val="2534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2534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 b="1" i="1">
                            <a:solidFill>
                              <a:srgbClr val="2534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2200" i="1">
                        <a:solidFill>
                          <a:srgbClr val="2534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lang="en-US" altLang="zh-CN" sz="2200" b="1" i="1">
                        <a:solidFill>
                          <a:srgbClr val="2534FF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𝑼𝒛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将其重构为原数据，希望重构数据与原数据尽可能接近</a:t>
                </a:r>
                <a:endParaRPr lang="en-US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08A7A7-C9D4-758F-57D6-476F15969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42" y="5495677"/>
                <a:ext cx="11451311" cy="900055"/>
              </a:xfrm>
              <a:prstGeom prst="rect">
                <a:avLst/>
              </a:prstGeom>
              <a:blipFill>
                <a:blip r:embed="rId5"/>
                <a:stretch>
                  <a:fillRect l="-665"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5112EF8-A728-5C09-E3DF-CF4345F39544}"/>
              </a:ext>
            </a:extLst>
          </p:cNvPr>
          <p:cNvGrpSpPr/>
          <p:nvPr/>
        </p:nvGrpSpPr>
        <p:grpSpPr>
          <a:xfrm>
            <a:off x="3136116" y="2702512"/>
            <a:ext cx="5378728" cy="2505854"/>
            <a:chOff x="3136116" y="2702512"/>
            <a:chExt cx="5378728" cy="25058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16F413F-9ED1-8AAA-FFFC-3D849C213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6116" y="2702512"/>
              <a:ext cx="5378728" cy="25058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252CBDD-CC6A-6C51-CD00-1EDFE59A2907}"/>
                    </a:ext>
                  </a:extLst>
                </p:cNvPr>
                <p:cNvSpPr txBox="1"/>
                <p:nvPr/>
              </p:nvSpPr>
              <p:spPr>
                <a:xfrm>
                  <a:off x="4716966" y="3917779"/>
                  <a:ext cx="33176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𝑼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252CBDD-CC6A-6C51-CD00-1EDFE59A2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966" y="3917779"/>
                  <a:ext cx="331762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E754FB9-BF94-2642-85CB-B72FD0120F91}"/>
                    </a:ext>
                  </a:extLst>
                </p:cNvPr>
                <p:cNvSpPr txBox="1"/>
                <p:nvPr/>
              </p:nvSpPr>
              <p:spPr>
                <a:xfrm>
                  <a:off x="6700009" y="3908463"/>
                  <a:ext cx="26578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rgbClr val="2534FF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𝑼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E754FB9-BF94-2642-85CB-B72FD0120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0009" y="3908463"/>
                  <a:ext cx="265786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454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99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CE676-A613-1CD4-DB1D-BD146EA2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A315D1-8005-4CFD-1790-66BC7A3379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4281A-3CF8-C23A-4952-96CFE2E244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机器学习与数据挖掘</a:t>
            </a:r>
            <a:r>
              <a:rPr lang="en-US" altLang="zh-CN" dirty="0"/>
              <a:t>》@</a:t>
            </a:r>
            <a:r>
              <a:rPr lang="zh-CN" altLang="en-US" dirty="0"/>
              <a:t>中山大学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0BF5F-5093-F8FD-E430-F7AFC52B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141" y="917520"/>
            <a:ext cx="5815718" cy="2709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2D381-2DC9-9FEE-8AD0-33A6B55B68CE}"/>
              </a:ext>
            </a:extLst>
          </p:cNvPr>
          <p:cNvSpPr txBox="1"/>
          <p:nvPr/>
        </p:nvSpPr>
        <p:spPr>
          <a:xfrm>
            <a:off x="680792" y="4138060"/>
            <a:ext cx="10001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编码器</a:t>
            </a:r>
            <a:r>
              <a:rPr lang="en-US" altLang="zh-CN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&amp;</a:t>
            </a: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解码器一般设为多层</a:t>
            </a:r>
            <a:r>
              <a:rPr lang="en-CN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360386-3507-A9FB-44CF-C0E5249F1320}"/>
                  </a:ext>
                </a:extLst>
              </p:cNvPr>
              <p:cNvSpPr txBox="1"/>
              <p:nvPr/>
            </p:nvSpPr>
            <p:spPr>
              <a:xfrm>
                <a:off x="3728094" y="5249684"/>
                <a:ext cx="4831897" cy="1044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𝐿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𝜙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CN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360386-3507-A9FB-44CF-C0E5249F1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094" y="5249684"/>
                <a:ext cx="4831897" cy="1044260"/>
              </a:xfrm>
              <a:prstGeom prst="rect">
                <a:avLst/>
              </a:prstGeom>
              <a:blipFill>
                <a:blip r:embed="rId3"/>
                <a:stretch>
                  <a:fillRect t="-100000" b="-1566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D014238-720E-E454-90DC-E07A5016F325}"/>
              </a:ext>
            </a:extLst>
          </p:cNvPr>
          <p:cNvSpPr txBox="1"/>
          <p:nvPr/>
        </p:nvSpPr>
        <p:spPr>
          <a:xfrm>
            <a:off x="211636" y="267058"/>
            <a:ext cx="116639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编码器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解码器不限定为线性，放松为一般变换，得到</a:t>
            </a:r>
            <a:r>
              <a:rPr lang="zh-CN" alt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自编码器（</a:t>
            </a:r>
            <a:r>
              <a:rPr lang="en-US" altLang="zh-CN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autoencoder, AE</a:t>
            </a:r>
            <a:r>
              <a:rPr lang="zh-CN" altLang="en-US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sz="2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E01FB-179B-F45B-1F60-035CF7CAA3A6}"/>
              </a:ext>
            </a:extLst>
          </p:cNvPr>
          <p:cNvSpPr txBox="1"/>
          <p:nvPr/>
        </p:nvSpPr>
        <p:spPr>
          <a:xfrm>
            <a:off x="680792" y="4693941"/>
            <a:ext cx="10001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网络参数值通过最小化重构误差来学习得到</a:t>
            </a:r>
            <a:endParaRPr lang="en-CN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732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4CE4-96B1-2238-4727-008BDC81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CEB6F-23E5-85DC-1DE5-56A42440F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D9B82-F873-BB95-7035-B2DCB870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大纲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83C89-71FF-B929-3E60-775127FFF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BE71A-F086-CEB3-C302-2FFB4036E8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88531-8D69-52F0-10B0-3E36500BFA5A}"/>
              </a:ext>
            </a:extLst>
          </p:cNvPr>
          <p:cNvSpPr txBox="1"/>
          <p:nvPr/>
        </p:nvSpPr>
        <p:spPr>
          <a:xfrm>
            <a:off x="508000" y="1008393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基于迁移学习的方法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F3ADE-C9BC-6882-D3BB-38D89CEBDB8C}"/>
              </a:ext>
            </a:extLst>
          </p:cNvPr>
          <p:cNvSpPr txBox="1"/>
          <p:nvPr/>
        </p:nvSpPr>
        <p:spPr>
          <a:xfrm>
            <a:off x="508000" y="1569354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自编码器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6DC3E-627B-5AB4-210B-13E2FA7B7B46}"/>
              </a:ext>
            </a:extLst>
          </p:cNvPr>
          <p:cNvSpPr txBox="1"/>
          <p:nvPr/>
        </p:nvSpPr>
        <p:spPr>
          <a:xfrm>
            <a:off x="508000" y="2130315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3C639-BF59-65AD-20D8-2F240A15C4AF}"/>
              </a:ext>
            </a:extLst>
          </p:cNvPr>
          <p:cNvSpPr txBox="1"/>
          <p:nvPr/>
        </p:nvSpPr>
        <p:spPr>
          <a:xfrm>
            <a:off x="1016000" y="269127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latin typeface="Helvetica" charset="0"/>
                <a:cs typeface="Helvetica" charset="0"/>
              </a:rPr>
              <a:t>SimCLR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F145D-6734-65A7-B161-7E3AFEF7D2E8}"/>
              </a:ext>
            </a:extLst>
          </p:cNvPr>
          <p:cNvSpPr txBox="1"/>
          <p:nvPr/>
        </p:nvSpPr>
        <p:spPr>
          <a:xfrm>
            <a:off x="1016000" y="321355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75000"/>
                  </a:schemeClr>
                </a:solidFill>
                <a:latin typeface="Helvetica" charset="0"/>
                <a:cs typeface="Helvetica" charset="0"/>
              </a:rPr>
              <a:t>MoCo</a:t>
            </a:r>
          </a:p>
        </p:txBody>
      </p:sp>
    </p:spTree>
    <p:extLst>
      <p:ext uri="{BB962C8B-B14F-4D97-AF65-F5344CB8AC3E}">
        <p14:creationId xmlns:p14="http://schemas.microsoft.com/office/powerpoint/2010/main" val="1483263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B2A7D-B9D1-3C45-4FB0-2FBA694AEE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DEB0B1-D99A-602F-8A4A-0F534178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对比学习：</a:t>
            </a:r>
            <a:r>
              <a:rPr lang="en-CN" sz="3200" dirty="0"/>
              <a:t>SimCLR [Chen et al., 2020]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873A7-0F6B-2217-9886-DA548C152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13C34-CE64-D188-EB0B-DA345ECF7A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677A2-D1EC-CC58-6409-AADCC896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504" y="1453963"/>
            <a:ext cx="5197856" cy="2297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568A64-B1F4-30DA-FE7F-B1AD60F46318}"/>
              </a:ext>
            </a:extLst>
          </p:cNvPr>
          <p:cNvSpPr txBox="1"/>
          <p:nvPr/>
        </p:nvSpPr>
        <p:spPr>
          <a:xfrm>
            <a:off x="487408" y="849817"/>
            <a:ext cx="3904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数据增强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9292B8-318A-BE67-5387-C98C661420B7}"/>
                  </a:ext>
                </a:extLst>
              </p:cNvPr>
              <p:cNvSpPr txBox="1"/>
              <p:nvPr/>
            </p:nvSpPr>
            <p:spPr>
              <a:xfrm>
                <a:off x="4605495" y="4739063"/>
                <a:ext cx="3065930" cy="43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+</m:t>
                          </m:r>
                        </m:sup>
                      </m:sSubSup>
                      <m:r>
                        <a:rPr lang="en-US" sz="2200" b="1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𝑎𝑢𝑔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9292B8-318A-BE67-5387-C98C66142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495" y="4739063"/>
                <a:ext cx="3065930" cy="437749"/>
              </a:xfrm>
              <a:prstGeom prst="rect">
                <a:avLst/>
              </a:prstGeom>
              <a:blipFill>
                <a:blip r:embed="rId3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619FBD-A6D8-15A1-F0D0-42E84C6D733E}"/>
                  </a:ext>
                </a:extLst>
              </p:cNvPr>
              <p:cNvSpPr txBox="1"/>
              <p:nvPr/>
            </p:nvSpPr>
            <p:spPr>
              <a:xfrm>
                <a:off x="984775" y="4024321"/>
                <a:ext cx="1080473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通过应用上述一种或多种数据增强方法来扩增原始图像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，得到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619FBD-A6D8-15A1-F0D0-42E84C6D7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75" y="4024321"/>
                <a:ext cx="10804737" cy="430887"/>
              </a:xfrm>
              <a:prstGeom prst="rect">
                <a:avLst/>
              </a:prstGeom>
              <a:blipFill>
                <a:blip r:embed="rId4"/>
                <a:stretch>
                  <a:fillRect l="-621" t="-9859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A910F-B95E-9E76-3604-82C69FCC794F}"/>
                  </a:ext>
                </a:extLst>
              </p:cNvPr>
              <p:cNvSpPr txBox="1"/>
              <p:nvPr/>
            </p:nvSpPr>
            <p:spPr>
              <a:xfrm>
                <a:off x="487408" y="5406370"/>
                <a:ext cx="11302104" cy="84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SimCLR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的基本思想是拉近</a:t>
                </a:r>
                <a:r>
                  <a:rPr lang="en-US" altLang="zh-CN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altLang="zh-CN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bSup>
                    <m:r>
                      <a:rPr lang="en-US" altLang="zh-CN" sz="22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的表示，同时将</a:t>
                </a:r>
                <a:r>
                  <a:rPr lang="en-US" altLang="zh-CN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altLang="zh-CN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的表示推离其他样本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N" altLang="zh-CN" sz="22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的表示，其中 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𝑗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≠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𝑖</m:t>
                    </m:r>
                  </m:oMath>
                </a14:m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DA910F-B95E-9E76-3604-82C69FCC7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8" y="5406370"/>
                <a:ext cx="11302104" cy="844205"/>
              </a:xfrm>
              <a:prstGeom prst="rect">
                <a:avLst/>
              </a:prstGeom>
              <a:blipFill>
                <a:blip r:embed="rId5"/>
                <a:stretch>
                  <a:fillRect l="-647" t="-4348" r="-431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15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9AA3A-34E8-1499-EE86-22A533FF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BDEAB-E9B8-4BC7-B267-47ED78A03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F6F53-A335-ECE6-6B27-C6DF3CDBC7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514326-AF2F-D2E4-A75E-0046044AB5AF}"/>
                  </a:ext>
                </a:extLst>
              </p:cNvPr>
              <p:cNvSpPr txBox="1"/>
              <p:nvPr/>
            </p:nvSpPr>
            <p:spPr>
              <a:xfrm>
                <a:off x="3147440" y="4577897"/>
                <a:ext cx="6744670" cy="97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en-US" sz="2200" i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𝐿</m:t>
                    </m:r>
                    <m:r>
                      <a:rPr lang="en-US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𝑜𝑠𝑠</m:t>
                    </m:r>
                    <m:r>
                      <a:rPr lang="en-US" sz="220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−</m:t>
                    </m:r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𝑠𝑖𝑚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/</m:t>
                                </m:r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𝜏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𝑠𝑖𝑚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, </m:t>
                                    </m:r>
                                    <m:sSubSup>
                                      <m:sSubSupPr>
                                        <m:ctrlP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/</m:t>
                                </m:r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𝜏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  <m:t>𝑗</m:t>
                                </m:r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𝑠𝑖𝑚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,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/</m:t>
                                    </m:r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𝜏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  <m:t>𝑗</m:t>
                                </m:r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𝑠𝑖𝑚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, 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+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/</m:t>
                                    </m:r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𝜏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 </m:t>
                            </m:r>
                          </m:den>
                        </m:f>
                      </m:e>
                    </m:func>
                  </m:oMath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514326-AF2F-D2E4-A75E-0046044AB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40" y="4577897"/>
                <a:ext cx="6744670" cy="976870"/>
              </a:xfrm>
              <a:prstGeom prst="rect">
                <a:avLst/>
              </a:prstGeom>
              <a:blipFill>
                <a:blip r:embed="rId2"/>
                <a:stretch>
                  <a:fillRect b="-5641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CDD530-FED4-8961-FB54-38EE73BE0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75" y="580951"/>
            <a:ext cx="3960249" cy="1917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BCF344-61E4-ADE4-B26A-B82CA4D9FD03}"/>
                  </a:ext>
                </a:extLst>
              </p:cNvPr>
              <p:cNvSpPr txBox="1"/>
              <p:nvPr/>
            </p:nvSpPr>
            <p:spPr>
              <a:xfrm>
                <a:off x="660917" y="5836239"/>
                <a:ext cx="6093761" cy="446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:r>
                  <a:rPr 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𝒛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Helvetica" charset="0"/>
                    <a:ea typeface="Helvetica" charset="0"/>
                    <a:cs typeface="Helvetica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𝑠𝑖𝑚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</m:t>
                    </m:r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/</m:t>
                    </m:r>
                    <m:d>
                      <m:dPr>
                        <m:begChr m:val="‖"/>
                        <m:endChr m:val="‖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BCF344-61E4-ADE4-B26A-B82CA4D9F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17" y="5836239"/>
                <a:ext cx="6093761" cy="446917"/>
              </a:xfrm>
              <a:prstGeom prst="rect">
                <a:avLst/>
              </a:prstGeom>
              <a:blipFill>
                <a:blip r:embed="rId4"/>
                <a:stretch>
                  <a:fillRect l="-1300" t="-9459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Callout 1 4">
            <a:extLst>
              <a:ext uri="{FF2B5EF4-FFF2-40B4-BE49-F238E27FC236}">
                <a16:creationId xmlns:a16="http://schemas.microsoft.com/office/drawing/2014/main" id="{FB307314-F6A0-51B3-10EE-C6B8D781EFF5}"/>
              </a:ext>
            </a:extLst>
          </p:cNvPr>
          <p:cNvSpPr/>
          <p:nvPr/>
        </p:nvSpPr>
        <p:spPr>
          <a:xfrm>
            <a:off x="8496157" y="5606250"/>
            <a:ext cx="2451937" cy="804303"/>
          </a:xfrm>
          <a:prstGeom prst="borderCallout1">
            <a:avLst>
              <a:gd name="adj1" fmla="val 30448"/>
              <a:gd name="adj2" fmla="val -2160"/>
              <a:gd name="adj3" fmla="val 1367"/>
              <a:gd name="adj4" fmla="val -358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InfoNCE loss,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和互信息紧密相关</a:t>
            </a:r>
            <a:endParaRPr lang="en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20E0B-5E13-9DA3-6E30-B6B86A86499D}"/>
                  </a:ext>
                </a:extLst>
              </p:cNvPr>
              <p:cNvSpPr txBox="1"/>
              <p:nvPr/>
            </p:nvSpPr>
            <p:spPr>
              <a:xfrm>
                <a:off x="6244894" y="3274965"/>
                <a:ext cx="559525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所有的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200" b="0" i="0" smtClean="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都来自同一个神经网络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20E0B-5E13-9DA3-6E30-B6B86A864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894" y="3274965"/>
                <a:ext cx="5595257" cy="430887"/>
              </a:xfrm>
              <a:prstGeom prst="rect">
                <a:avLst/>
              </a:prstGeom>
              <a:blipFill>
                <a:blip r:embed="rId5"/>
                <a:stretch>
                  <a:fillRect l="-1198" t="-9859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684B923-18B1-78B1-92D5-E27B6D19F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08" y="581856"/>
            <a:ext cx="4279189" cy="327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8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5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E9DCE-C949-595E-1353-A5067963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C4784-B11A-26BB-E0AD-4B17C8800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5A8BA-3D70-8AFE-2388-EF2D2C1291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053FA-7696-0527-EFCD-AB99DD732763}"/>
                  </a:ext>
                </a:extLst>
              </p:cNvPr>
              <p:cNvSpPr txBox="1"/>
              <p:nvPr/>
            </p:nvSpPr>
            <p:spPr>
              <a:xfrm>
                <a:off x="299610" y="197914"/>
                <a:ext cx="114281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训练之后，编码器函数</a:t>
                </a:r>
                <a:r>
                  <a:rPr lang="en-US" altLang="zh-CN" sz="22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𝑓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的输出可以被看作是输入图像</a:t>
                </a:r>
                <a:r>
                  <a:rPr lang="en-US" altLang="zh-CN" sz="22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𝒙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的表示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053FA-7696-0527-EFCD-AB99DD732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0" y="197914"/>
                <a:ext cx="11428197" cy="430887"/>
              </a:xfrm>
              <a:prstGeom prst="rect">
                <a:avLst/>
              </a:prstGeom>
              <a:blipFill>
                <a:blip r:embed="rId2"/>
                <a:stretch>
                  <a:fillRect l="-587"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787819-0AC6-5A3C-4A47-D7C1E446CAD7}"/>
                  </a:ext>
                </a:extLst>
              </p:cNvPr>
              <p:cNvSpPr txBox="1"/>
              <p:nvPr/>
            </p:nvSpPr>
            <p:spPr>
              <a:xfrm>
                <a:off x="4424539" y="963825"/>
                <a:ext cx="279964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𝒉</m:t>
                      </m:r>
                      <m:r>
                        <a:rPr lang="en-US" sz="2200" b="1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CN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787819-0AC6-5A3C-4A47-D7C1E446C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9" y="963825"/>
                <a:ext cx="2799645" cy="430887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13EC6-C6D4-6BD9-CFCF-6F5A0145B2D7}"/>
                  </a:ext>
                </a:extLst>
              </p:cNvPr>
              <p:cNvSpPr txBox="1"/>
              <p:nvPr/>
            </p:nvSpPr>
            <p:spPr>
              <a:xfrm>
                <a:off x="605499" y="1733267"/>
                <a:ext cx="1081641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𝑔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(⋅)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被称为投影头，它通常由浅 </a:t>
                </a: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MLP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实现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13EC6-C6D4-6BD9-CFCF-6F5A0145B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99" y="1733267"/>
                <a:ext cx="10816417" cy="430887"/>
              </a:xfrm>
              <a:prstGeom prst="rect">
                <a:avLst/>
              </a:prstGeom>
              <a:blipFill>
                <a:blip r:embed="rId4"/>
                <a:stretch>
                  <a:fillRect t="-8571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4F68B64-3EA0-C117-FEB7-842349CF8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114" y="2499178"/>
            <a:ext cx="4737492" cy="362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0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0FA4F-72C7-71DA-195A-5E73348095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C35CB-6676-6A4A-582D-C9D39F20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表示质量评估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7064E-D7A6-E405-5530-F2D9112752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52B25-116A-794E-4106-4CDDE5BB87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D38FA-434E-CA12-4701-670A1AB0C8B3}"/>
              </a:ext>
            </a:extLst>
          </p:cNvPr>
          <p:cNvSpPr txBox="1"/>
          <p:nvPr/>
        </p:nvSpPr>
        <p:spPr>
          <a:xfrm>
            <a:off x="310077" y="958264"/>
            <a:ext cx="7649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SimCLR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预训练的半监督学习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E836B-B754-C8CF-A47E-08FBD6599833}"/>
              </a:ext>
            </a:extLst>
          </p:cNvPr>
          <p:cNvSpPr txBox="1"/>
          <p:nvPr/>
        </p:nvSpPr>
        <p:spPr>
          <a:xfrm>
            <a:off x="821213" y="1470777"/>
            <a:ext cx="5835589" cy="9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ImageNet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的训练集上先采用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SimCLR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训练特征提取器，即：</a:t>
            </a:r>
            <a:endParaRPr lang="en-CN" sz="2200" b="1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BAEE3D-9547-0684-0F14-FAD17516BE4F}"/>
                  </a:ext>
                </a:extLst>
              </p:cNvPr>
              <p:cNvSpPr txBox="1"/>
              <p:nvPr/>
            </p:nvSpPr>
            <p:spPr>
              <a:xfrm>
                <a:off x="821213" y="4823161"/>
                <a:ext cx="569044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半监督学习：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 </a:t>
                </a: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1% / 10%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的标记数据微调整个模型参数，包括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𝜽</m:t>
                    </m:r>
                  </m:oMath>
                </a14:m>
                <a:r>
                  <a:rPr lang="en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和线性分类头参数</a:t>
                </a:r>
                <a:r>
                  <a:rPr lang="en-US" sz="2000" b="1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h𝑒𝑎𝑑</m:t>
                        </m:r>
                      </m:sub>
                    </m:sSub>
                  </m:oMath>
                </a14:m>
                <a:endParaRPr lang="en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BAEE3D-9547-0684-0F14-FAD17516B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13" y="4823161"/>
                <a:ext cx="5690446" cy="1077218"/>
              </a:xfrm>
              <a:prstGeom prst="rect">
                <a:avLst/>
              </a:prstGeom>
              <a:blipFill>
                <a:blip r:embed="rId2"/>
                <a:stretch>
                  <a:fillRect l="-1114" t="-34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990B32C-3806-5C16-AB55-38961380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065" y="1132142"/>
            <a:ext cx="5059448" cy="47337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4C7369-654F-50B7-FC67-F9A8612E3ACF}"/>
              </a:ext>
            </a:extLst>
          </p:cNvPr>
          <p:cNvSpPr txBox="1"/>
          <p:nvPr/>
        </p:nvSpPr>
        <p:spPr>
          <a:xfrm>
            <a:off x="821213" y="3294542"/>
            <a:ext cx="58355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在特征提取器外接一个线性分类头</a:t>
            </a:r>
            <a:endParaRPr lang="en-CN" sz="2000" dirty="0">
              <a:latin typeface="Helvetica" charset="0"/>
              <a:ea typeface="Helvetica" charset="0"/>
              <a:cs typeface="Helvetic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41AFC0-C92E-C9D4-8EF8-A848A7E04BE4}"/>
                  </a:ext>
                </a:extLst>
              </p:cNvPr>
              <p:cNvSpPr txBox="1"/>
              <p:nvPr/>
            </p:nvSpPr>
            <p:spPr>
              <a:xfrm>
                <a:off x="1828377" y="3867554"/>
                <a:ext cx="4420446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h𝑒𝑎𝑑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1A1C1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1A1C1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1A1C1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rgbClr val="1A1C1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rgbClr val="1A1C1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CN" sz="20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41AFC0-C92E-C9D4-8EF8-A848A7E0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377" y="3867554"/>
                <a:ext cx="4420446" cy="439736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0A96C1-9EB5-ED35-8150-4B0A79187033}"/>
                  </a:ext>
                </a:extLst>
              </p:cNvPr>
              <p:cNvSpPr txBox="1"/>
              <p:nvPr/>
            </p:nvSpPr>
            <p:spPr>
              <a:xfrm>
                <a:off x="2767861" y="2507791"/>
                <a:ext cx="259947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solidFill>
                            <a:srgbClr val="1A1C1E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𝒉</m:t>
                      </m:r>
                      <m:r>
                        <a:rPr lang="en-US" altLang="zh-CN" sz="2200" b="1" i="1" smtClean="0">
                          <a:solidFill>
                            <a:srgbClr val="1A1C1E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i="1" smtClean="0">
                              <a:solidFill>
                                <a:srgbClr val="1A1C1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rgbClr val="1A1C1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1A1C1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altLang="zh-CN" sz="2200" b="1" i="1" smtClean="0">
                              <a:solidFill>
                                <a:srgbClr val="1A1C1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smtClean="0">
                              <a:solidFill>
                                <a:srgbClr val="1A1C1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C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0A96C1-9EB5-ED35-8150-4B0A79187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861" y="2507791"/>
                <a:ext cx="2599471" cy="430887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3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C6683-8CA1-2658-766C-60F15131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33F478-5258-695C-328B-26FB26593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5D148-EA6C-B1AD-6CBE-1C66BA8EAF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3FACC-E802-DF8B-F646-5E0814DA9C25}"/>
              </a:ext>
            </a:extLst>
          </p:cNvPr>
          <p:cNvSpPr txBox="1"/>
          <p:nvPr/>
        </p:nvSpPr>
        <p:spPr>
          <a:xfrm>
            <a:off x="342717" y="278826"/>
            <a:ext cx="77865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SimCLR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学习到的表征线性探测性能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DC374-209C-F012-96AE-049D4E715FE1}"/>
              </a:ext>
            </a:extLst>
          </p:cNvPr>
          <p:cNvSpPr txBox="1"/>
          <p:nvPr/>
        </p:nvSpPr>
        <p:spPr>
          <a:xfrm>
            <a:off x="596044" y="834477"/>
            <a:ext cx="111317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ImageNet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的所有数据按用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SimCLR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的方式训练特征提取器（无需使用标签）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B8212-CEA1-407A-FC5D-B1AD2FE7E434}"/>
              </a:ext>
            </a:extLst>
          </p:cNvPr>
          <p:cNvSpPr txBox="1"/>
          <p:nvPr/>
        </p:nvSpPr>
        <p:spPr>
          <a:xfrm>
            <a:off x="4917114" y="2400523"/>
            <a:ext cx="195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n-CN" dirty="0">
                <a:solidFill>
                  <a:srgbClr val="2534FF"/>
                </a:solidFill>
                <a:latin typeface="Helvetica" charset="0"/>
                <a:ea typeface="Helvetica" charset="0"/>
                <a:cs typeface="Helvetica" charset="0"/>
              </a:rPr>
              <a:t>Top-1 accuracy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0B9C05-DD65-06D3-4791-922B9EE8A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852" y="2869882"/>
            <a:ext cx="4841021" cy="3476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FC357-5214-7848-D556-82FF4C64B9EB}"/>
                  </a:ext>
                </a:extLst>
              </p:cNvPr>
              <p:cNvSpPr txBox="1"/>
              <p:nvPr/>
            </p:nvSpPr>
            <p:spPr>
              <a:xfrm>
                <a:off x="626484" y="1448223"/>
                <a:ext cx="993068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en-US" altLang="zh-CN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Linear Probing</a:t>
                </a:r>
                <a:r>
                  <a:rPr lang="zh-CN" altLang="en-US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：</a:t>
                </a: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特征提取器上加一个分类头，并使用</a:t>
                </a:r>
                <a:r>
                  <a:rPr lang="en-US" altLang="zh-CN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ImageNet</a:t>
                </a: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所有标签来训练该分类头的参数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h𝑒𝑎𝑑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，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 charset="0"/>
                  </a:rPr>
                  <a:t>保持特征提取器的参数不变</a:t>
                </a:r>
                <a:endParaRPr lang="en-CN" sz="20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4FC357-5214-7848-D556-82FF4C64B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84" y="1448223"/>
                <a:ext cx="9930680" cy="769441"/>
              </a:xfrm>
              <a:prstGeom prst="rect">
                <a:avLst/>
              </a:prstGeom>
              <a:blipFill>
                <a:blip r:embed="rId3"/>
                <a:stretch>
                  <a:fillRect l="-639" t="-6557" b="-1475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3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FC038B-E166-653C-A6B8-E57D890CB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77" y="1359650"/>
            <a:ext cx="3364718" cy="25755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DBC29-D3BD-DA69-AF96-57C3241FED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2481B8-961E-6B6D-BCDF-7E2FDCA5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SimCLR </a:t>
            </a:r>
            <a:r>
              <a:rPr lang="zh-CN" altLang="en-US" sz="3200" dirty="0"/>
              <a:t>的设计选择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E1773-ABC2-3153-6B0B-1F71B83ED8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C5A38-3E35-89E4-CCD8-34B7AD4A258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62777-3135-E179-E3CA-38340562CBFE}"/>
              </a:ext>
            </a:extLst>
          </p:cNvPr>
          <p:cNvSpPr txBox="1"/>
          <p:nvPr/>
        </p:nvSpPr>
        <p:spPr>
          <a:xfrm>
            <a:off x="487408" y="863099"/>
            <a:ext cx="7485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投影头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788261-C3E1-512B-0265-A754B46AA7A4}"/>
              </a:ext>
            </a:extLst>
          </p:cNvPr>
          <p:cNvSpPr/>
          <p:nvPr/>
        </p:nvSpPr>
        <p:spPr>
          <a:xfrm>
            <a:off x="7567876" y="1362670"/>
            <a:ext cx="3364717" cy="1151467"/>
          </a:xfrm>
          <a:prstGeom prst="roundRect">
            <a:avLst/>
          </a:prstGeom>
          <a:noFill/>
          <a:ln w="25400">
            <a:solidFill>
              <a:srgbClr val="253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9C7B9-F5E1-DAB3-35DC-28236B9CF7BF}"/>
              </a:ext>
            </a:extLst>
          </p:cNvPr>
          <p:cNvSpPr txBox="1"/>
          <p:nvPr/>
        </p:nvSpPr>
        <p:spPr>
          <a:xfrm>
            <a:off x="884935" y="4549710"/>
            <a:ext cx="10422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非线性投影头大幅提高了表示质量。</a:t>
            </a:r>
            <a:r>
              <a:rPr lang="zh-CN" altLang="en-US" sz="22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可能的原因是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-CN" sz="2200" dirty="0">
              <a:solidFill>
                <a:schemeClr val="accent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E6C99F-5786-3080-E5BE-2509DDAB0224}"/>
                  </a:ext>
                </a:extLst>
              </p:cNvPr>
              <p:cNvSpPr txBox="1"/>
              <p:nvPr/>
            </p:nvSpPr>
            <p:spPr>
              <a:xfrm>
                <a:off x="1010603" y="5143130"/>
                <a:ext cx="10604454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+mj-lt"/>
                  <a:buAutoNum type="arabicParenR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空间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𝒛</m:t>
                    </m:r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更像是一个专门为 </a:t>
                </a: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SimCLR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代理任务优化的空间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E6C99F-5786-3080-E5BE-2509DDAB0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03" y="5143130"/>
                <a:ext cx="10604454" cy="453137"/>
              </a:xfrm>
              <a:prstGeom prst="rect">
                <a:avLst/>
              </a:prstGeom>
              <a:blipFill>
                <a:blip r:embed="rId4"/>
                <a:stretch>
                  <a:fillRect l="-920" t="-13514" b="-3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78CBE8-88DF-9D96-B384-440724315B10}"/>
                  </a:ext>
                </a:extLst>
              </p:cNvPr>
              <p:cNvSpPr txBox="1"/>
              <p:nvPr/>
            </p:nvSpPr>
            <p:spPr>
              <a:xfrm>
                <a:off x="1010603" y="5700188"/>
                <a:ext cx="106044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+mj-lt"/>
                  <a:buAutoNum type="arabicParenR" startAt="2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通过利用投影头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𝑔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，更多的信息可以保留在表示空间 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𝒉</m:t>
                    </m:r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</a:t>
                </a:r>
                <a:endParaRPr lang="en-CN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78CBE8-88DF-9D96-B384-440724315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03" y="5700188"/>
                <a:ext cx="10604454" cy="461665"/>
              </a:xfrm>
              <a:prstGeom prst="rect">
                <a:avLst/>
              </a:prstGeom>
              <a:blipFill>
                <a:blip r:embed="rId5"/>
                <a:stretch>
                  <a:fillRect l="-920" t="-10526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E6FE4EC-B862-6B6B-AEA8-995844BBA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405" y="1456907"/>
            <a:ext cx="4316140" cy="262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47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ED19B-7F2F-CDD3-6B00-6DBF423F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1DD266-9367-EA9F-78A1-2A82196661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FA792-FAF3-AE5E-1B10-2DCE15DD65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C297E-AF8D-A65E-6B8A-9D81DF007D4E}"/>
              </a:ext>
            </a:extLst>
          </p:cNvPr>
          <p:cNvSpPr txBox="1"/>
          <p:nvPr/>
        </p:nvSpPr>
        <p:spPr>
          <a:xfrm>
            <a:off x="257944" y="194996"/>
            <a:ext cx="72224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使用大批量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B8B97-CBB5-B12B-5FA5-6B58E3F1442C}"/>
              </a:ext>
            </a:extLst>
          </p:cNvPr>
          <p:cNvSpPr txBox="1"/>
          <p:nvPr/>
        </p:nvSpPr>
        <p:spPr>
          <a:xfrm>
            <a:off x="657125" y="738335"/>
            <a:ext cx="79753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训练批量的大小对于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SimCLR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性能至关重要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25D82-5CF0-43E8-F905-1665EB7E26B1}"/>
              </a:ext>
            </a:extLst>
          </p:cNvPr>
          <p:cNvSpPr txBox="1"/>
          <p:nvPr/>
        </p:nvSpPr>
        <p:spPr>
          <a:xfrm>
            <a:off x="657124" y="1244462"/>
            <a:ext cx="10772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但是大的训练批量也会导致大的内存占用，从而对硬件提出更高的要求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42BDD-B137-3B9D-D5F5-9C1BB4BD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86" y="1899315"/>
            <a:ext cx="6542314" cy="439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70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EAD50-1539-8DF9-2803-B8EC8B85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7D2B1A-4957-D112-B314-C15771E08A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3043D-DF88-CB4C-54A4-229673A039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DA7AA-1FC8-58C6-1F90-EE042970F733}"/>
              </a:ext>
            </a:extLst>
          </p:cNvPr>
          <p:cNvSpPr txBox="1"/>
          <p:nvPr/>
        </p:nvSpPr>
        <p:spPr>
          <a:xfrm>
            <a:off x="316870" y="260086"/>
            <a:ext cx="794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CN" sz="28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补充知识</a:t>
            </a:r>
            <a:r>
              <a:rPr lang="en-US" altLang="zh-CN" sz="28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——</a:t>
            </a:r>
            <a:r>
              <a:rPr lang="zh-CN" altLang="en-US" sz="28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对比损失</a:t>
            </a:r>
            <a:r>
              <a:rPr lang="en-US" altLang="zh-CN" sz="28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InfoNCE</a:t>
            </a:r>
            <a:r>
              <a:rPr lang="zh-CN" altLang="en-US" sz="28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与互信息的关系</a:t>
            </a:r>
            <a:endParaRPr lang="en-CN" sz="2800" dirty="0">
              <a:solidFill>
                <a:srgbClr val="2534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B17AF9-BCEA-27EA-56F2-D1AEAB4535A1}"/>
                  </a:ext>
                </a:extLst>
              </p:cNvPr>
              <p:cNvSpPr txBox="1"/>
              <p:nvPr/>
            </p:nvSpPr>
            <p:spPr>
              <a:xfrm>
                <a:off x="479791" y="1179625"/>
                <a:ext cx="112901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对于服从联合分布</a:t>
                </a:r>
                <a:r>
                  <a:rPr lang="en-US" altLang="zh-CN" sz="22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𝑥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𝑦</m:t>
                        </m:r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的两个随机变量</a:t>
                </a:r>
                <a:r>
                  <a:rPr lang="en-US" altLang="zh-CN" sz="22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𝑋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 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𝑌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，它们之间的互信息定义为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B17AF9-BCEA-27EA-56F2-D1AEAB453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1" y="1179625"/>
                <a:ext cx="11290180" cy="430887"/>
              </a:xfrm>
              <a:prstGeom prst="rect">
                <a:avLst/>
              </a:prstGeom>
              <a:blipFill>
                <a:blip r:embed="rId2"/>
                <a:stretch>
                  <a:fillRect l="-562" t="-11765" b="-264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C566C0-46AC-3440-6118-1CCCEFB2876A}"/>
                  </a:ext>
                </a:extLst>
              </p:cNvPr>
              <p:cNvSpPr txBox="1"/>
              <p:nvPr/>
            </p:nvSpPr>
            <p:spPr>
              <a:xfrm>
                <a:off x="2466335" y="1932172"/>
                <a:ext cx="4711807" cy="7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≜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,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C566C0-46AC-3440-6118-1CCCEFB28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335" y="1932172"/>
                <a:ext cx="4711807" cy="758669"/>
              </a:xfrm>
              <a:prstGeom prst="rect">
                <a:avLst/>
              </a:prstGeom>
              <a:blipFill>
                <a:blip r:embed="rId3"/>
                <a:stretch>
                  <a:fillRect t="-163333" b="-241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B492EB-E944-93F6-2906-4B00403D1F3F}"/>
                  </a:ext>
                </a:extLst>
              </p:cNvPr>
              <p:cNvSpPr txBox="1"/>
              <p:nvPr/>
            </p:nvSpPr>
            <p:spPr>
              <a:xfrm>
                <a:off x="3043383" y="2846144"/>
                <a:ext cx="4073512" cy="7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|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B492EB-E944-93F6-2906-4B00403D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383" y="2846144"/>
                <a:ext cx="4073512" cy="758669"/>
              </a:xfrm>
              <a:prstGeom prst="rect">
                <a:avLst/>
              </a:prstGeom>
              <a:blipFill>
                <a:blip r:embed="rId4"/>
                <a:stretch>
                  <a:fillRect l="-7143" t="-163333" b="-24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D545EB-5722-707E-F4B3-0B2455D895A7}"/>
                  </a:ext>
                </a:extLst>
              </p:cNvPr>
              <p:cNvSpPr txBox="1"/>
              <p:nvPr/>
            </p:nvSpPr>
            <p:spPr>
              <a:xfrm>
                <a:off x="3043383" y="3841558"/>
                <a:ext cx="4073512" cy="7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|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D545EB-5722-707E-F4B3-0B2455D8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383" y="3841558"/>
                <a:ext cx="4073512" cy="758669"/>
              </a:xfrm>
              <a:prstGeom prst="rect">
                <a:avLst/>
              </a:prstGeom>
              <a:blipFill>
                <a:blip r:embed="rId5"/>
                <a:stretch>
                  <a:fillRect l="-7143" t="-160656" b="-23606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23EC71C-E652-C753-A72A-E00C02A355FC}"/>
                  </a:ext>
                </a:extLst>
              </p:cNvPr>
              <p:cNvSpPr/>
              <p:nvPr/>
            </p:nvSpPr>
            <p:spPr>
              <a:xfrm>
                <a:off x="7838714" y="2080151"/>
                <a:ext cx="2493534" cy="462708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23EC71C-E652-C753-A72A-E00C02A355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714" y="2080151"/>
                <a:ext cx="2493534" cy="462708"/>
              </a:xfrm>
              <a:prstGeom prst="roundRect">
                <a:avLst/>
              </a:prstGeom>
              <a:blipFill>
                <a:blip r:embed="rId6"/>
                <a:stretch>
                  <a:fillRect l="-2513" t="-89474" b="-14473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A8BFB5D-C3EE-5102-8076-1C383C9EE216}"/>
                  </a:ext>
                </a:extLst>
              </p:cNvPr>
              <p:cNvSpPr/>
              <p:nvPr/>
            </p:nvSpPr>
            <p:spPr>
              <a:xfrm>
                <a:off x="7838714" y="3002784"/>
                <a:ext cx="2493534" cy="46270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A8BFB5D-C3EE-5102-8076-1C383C9EE2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714" y="3002784"/>
                <a:ext cx="2493534" cy="4627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6066B33-3A45-858E-0D6E-E9B3FF47FF19}"/>
                  </a:ext>
                </a:extLst>
              </p:cNvPr>
              <p:cNvSpPr/>
              <p:nvPr/>
            </p:nvSpPr>
            <p:spPr>
              <a:xfrm>
                <a:off x="7838714" y="4022912"/>
                <a:ext cx="2493533" cy="462708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6066B33-3A45-858E-0D6E-E9B3FF47F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714" y="4022912"/>
                <a:ext cx="2493533" cy="46270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3179C0E5-1F10-3BED-CB9B-0052E7A67484}"/>
              </a:ext>
            </a:extLst>
          </p:cNvPr>
          <p:cNvSpPr/>
          <p:nvPr/>
        </p:nvSpPr>
        <p:spPr>
          <a:xfrm>
            <a:off x="7087200" y="2266751"/>
            <a:ext cx="496417" cy="195579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/>
          </a:p>
        </p:txBody>
      </p:sp>
      <p:sp>
        <p:nvSpPr>
          <p:cNvPr id="14" name="Left-Right Arrow 13">
            <a:extLst>
              <a:ext uri="{FF2B5EF4-FFF2-40B4-BE49-F238E27FC236}">
                <a16:creationId xmlns:a16="http://schemas.microsoft.com/office/drawing/2014/main" id="{6CB0FCAC-502D-8501-5133-809090923B91}"/>
              </a:ext>
            </a:extLst>
          </p:cNvPr>
          <p:cNvSpPr/>
          <p:nvPr/>
        </p:nvSpPr>
        <p:spPr>
          <a:xfrm>
            <a:off x="7088350" y="4175888"/>
            <a:ext cx="496417" cy="195579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2CFAB5E0-807E-4D89-F69D-A989700C3EFE}"/>
              </a:ext>
            </a:extLst>
          </p:cNvPr>
          <p:cNvSpPr/>
          <p:nvPr/>
        </p:nvSpPr>
        <p:spPr>
          <a:xfrm>
            <a:off x="7087199" y="3180587"/>
            <a:ext cx="496417" cy="195579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6F607-8E5C-4A19-A763-1129C99D8559}"/>
              </a:ext>
            </a:extLst>
          </p:cNvPr>
          <p:cNvGrpSpPr/>
          <p:nvPr/>
        </p:nvGrpSpPr>
        <p:grpSpPr>
          <a:xfrm>
            <a:off x="4390685" y="4825245"/>
            <a:ext cx="3475108" cy="1478168"/>
            <a:chOff x="2866685" y="4672845"/>
            <a:chExt cx="3475108" cy="14781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906562C-867A-3596-249F-487DDF198605}"/>
                </a:ext>
              </a:extLst>
            </p:cNvPr>
            <p:cNvSpPr/>
            <p:nvPr/>
          </p:nvSpPr>
          <p:spPr>
            <a:xfrm>
              <a:off x="2866685" y="5072840"/>
              <a:ext cx="1828800" cy="107817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  <a:alpha val="9812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D8DFD9-A1D0-A65E-6B6A-4AAF050AC298}"/>
                </a:ext>
              </a:extLst>
            </p:cNvPr>
            <p:cNvSpPr/>
            <p:nvPr/>
          </p:nvSpPr>
          <p:spPr>
            <a:xfrm>
              <a:off x="3834485" y="5064700"/>
              <a:ext cx="2507308" cy="107817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3816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EF3C201-9035-21EB-FD47-E94078248F40}"/>
                    </a:ext>
                  </a:extLst>
                </p:cNvPr>
                <p:cNvSpPr txBox="1"/>
                <p:nvPr/>
              </p:nvSpPr>
              <p:spPr>
                <a:xfrm>
                  <a:off x="3126814" y="4682298"/>
                  <a:ext cx="1064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2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𝑋</m:t>
                            </m:r>
                          </m:e>
                        </m:d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47DC6C4-5001-0D26-7FCE-C1A0B0170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814" y="4682298"/>
                  <a:ext cx="106452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F13908-0AA3-1EAD-9951-B56F8D5D96CF}"/>
                    </a:ext>
                  </a:extLst>
                </p:cNvPr>
                <p:cNvSpPr txBox="1"/>
                <p:nvPr/>
              </p:nvSpPr>
              <p:spPr>
                <a:xfrm>
                  <a:off x="4737433" y="4672845"/>
                  <a:ext cx="1064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2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𝑌</m:t>
                            </m:r>
                          </m:e>
                        </m:d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3BD9AB5-32F2-8F84-6917-3F8B59B9D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7433" y="4672845"/>
                  <a:ext cx="106452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8A19954-0AC9-CC6F-C175-FA54EF1EEEB6}"/>
                    </a:ext>
                  </a:extLst>
                </p:cNvPr>
                <p:cNvSpPr txBox="1"/>
                <p:nvPr/>
              </p:nvSpPr>
              <p:spPr>
                <a:xfrm>
                  <a:off x="3769501" y="5403731"/>
                  <a:ext cx="1064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2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𝐼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𝑌</m:t>
                            </m:r>
                          </m:e>
                        </m:d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ED4E0C9-56F5-2A0C-A283-C890C3C36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9501" y="5403731"/>
                  <a:ext cx="106452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729A8D-8083-23AC-E102-2971102FCBE0}"/>
                    </a:ext>
                  </a:extLst>
                </p:cNvPr>
                <p:cNvSpPr txBox="1"/>
                <p:nvPr/>
              </p:nvSpPr>
              <p:spPr>
                <a:xfrm>
                  <a:off x="4921913" y="5403731"/>
                  <a:ext cx="1064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2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𝑋</m:t>
                            </m:r>
                          </m:e>
                        </m:d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FB42058-E0F0-C204-81A7-3D2AF99B7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1913" y="5403731"/>
                  <a:ext cx="1064525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C0D749F-3ABA-4B2D-FAC0-1F01A398E4CD}"/>
                    </a:ext>
                  </a:extLst>
                </p:cNvPr>
                <p:cNvSpPr txBox="1"/>
                <p:nvPr/>
              </p:nvSpPr>
              <p:spPr>
                <a:xfrm>
                  <a:off x="2866685" y="5394361"/>
                  <a:ext cx="1064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chemeClr val="accent2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𝑌</m:t>
                            </m:r>
                          </m:e>
                        </m:d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F23AF49-3379-0C74-6948-B18E7DB27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6685" y="5394361"/>
                  <a:ext cx="1064525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02733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6865E-0BA0-0A87-57BB-1DFA4AC0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8CC20-C7EF-6CF3-826C-C2C080E18E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9D686-0EA4-0457-1057-9CC13206F0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61464-E02B-4CA7-A789-60DF012F4FDE}"/>
              </a:ext>
            </a:extLst>
          </p:cNvPr>
          <p:cNvSpPr txBox="1"/>
          <p:nvPr/>
        </p:nvSpPr>
        <p:spPr>
          <a:xfrm>
            <a:off x="317986" y="220097"/>
            <a:ext cx="8174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互信息的下界被证明为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49F492-98EF-C54F-487E-D762FBEF093E}"/>
                  </a:ext>
                </a:extLst>
              </p:cNvPr>
              <p:cNvSpPr txBox="1"/>
              <p:nvPr/>
            </p:nvSpPr>
            <p:spPr>
              <a:xfrm>
                <a:off x="2344975" y="987114"/>
                <a:ext cx="7650050" cy="81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𝑌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≥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𝐾</m:t>
                          </m:r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𝑦</m:t>
                              </m:r>
                            </m:e>
                          </m:d>
                          <m:nary>
                            <m:naryPr>
                              <m:chr m:val="∏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𝐾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≜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49F492-98EF-C54F-487E-D762FBEF0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975" y="987114"/>
                <a:ext cx="7650050" cy="813428"/>
              </a:xfrm>
              <a:prstGeom prst="rect">
                <a:avLst/>
              </a:prstGeom>
              <a:blipFill>
                <a:blip r:embed="rId2"/>
                <a:stretch>
                  <a:fillRect t="-9231" b="-876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43879-F620-3C16-959F-C66D150025D4}"/>
                  </a:ext>
                </a:extLst>
              </p:cNvPr>
              <p:cNvSpPr txBox="1"/>
              <p:nvPr/>
            </p:nvSpPr>
            <p:spPr>
              <a:xfrm>
                <a:off x="757399" y="1924779"/>
                <a:ext cx="11078764" cy="443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</m:d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=∫</m:t>
                    </m:r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</m:d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𝑑𝑥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的边缘分布；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𝑥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𝑦</m:t>
                        </m:r>
                      </m:e>
                    </m:d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可以是任何形式。</a:t>
                </a:r>
                <a:r>
                  <a:rPr lang="en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43879-F620-3C16-959F-C66D15002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99" y="1924779"/>
                <a:ext cx="11078764" cy="443839"/>
              </a:xfrm>
              <a:prstGeom prst="rect">
                <a:avLst/>
              </a:prstGeom>
              <a:blipFill>
                <a:blip r:embed="rId3"/>
                <a:stretch>
                  <a:fillRect l="-715" t="-6849" b="-26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2C2539-1C2C-240C-FF33-3E9FC949AFDC}"/>
                  </a:ext>
                </a:extLst>
              </p:cNvPr>
              <p:cNvSpPr txBox="1"/>
              <p:nvPr/>
            </p:nvSpPr>
            <p:spPr>
              <a:xfrm>
                <a:off x="317986" y="3665083"/>
                <a:ext cx="11322736" cy="783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𝑥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中抽取一个样本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𝑥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，并从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中抽取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𝐾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−1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个独立样本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𝑘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𝐾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−1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，我们可以将下界估计为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2C2539-1C2C-240C-FF33-3E9FC949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86" y="3665083"/>
                <a:ext cx="11322736" cy="783099"/>
              </a:xfrm>
              <a:prstGeom prst="rect">
                <a:avLst/>
              </a:prstGeom>
              <a:blipFill>
                <a:blip r:embed="rId4"/>
                <a:stretch>
                  <a:fillRect l="-592" t="-3876" b="-14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E783F-FE65-BCBD-BB80-4463A446D54F}"/>
                  </a:ext>
                </a:extLst>
              </p:cNvPr>
              <p:cNvSpPr txBox="1"/>
              <p:nvPr/>
            </p:nvSpPr>
            <p:spPr>
              <a:xfrm>
                <a:off x="3274256" y="4511867"/>
                <a:ext cx="5643487" cy="81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𝐿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≈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𝐾</m:t>
                          </m:r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+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5E783F-FE65-BCBD-BB80-4463A446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56" y="4511867"/>
                <a:ext cx="5643487" cy="8134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427A755-A55D-87E0-701D-64BEC1081698}"/>
              </a:ext>
            </a:extLst>
          </p:cNvPr>
          <p:cNvSpPr txBox="1"/>
          <p:nvPr/>
        </p:nvSpPr>
        <p:spPr>
          <a:xfrm>
            <a:off x="624689" y="5693039"/>
            <a:ext cx="1101603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Poole, Ben, </a:t>
            </a:r>
            <a:r>
              <a:rPr lang="en-US" sz="1200" dirty="0" err="1">
                <a:solidFill>
                  <a:srgbClr val="222222"/>
                </a:solidFill>
                <a:latin typeface="Helvetica" pitchFamily="2" charset="0"/>
              </a:rPr>
              <a:t>Sherjil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Helvetica" pitchFamily="2" charset="0"/>
              </a:rPr>
              <a:t>Ozair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, Aaron Van Den Oord, Alex Alemi, and George Tucker. "On variational bounds of mutual information." In </a:t>
            </a:r>
            <a:r>
              <a:rPr lang="en-US" sz="1200" i="1" dirty="0">
                <a:solidFill>
                  <a:srgbClr val="222222"/>
                </a:solidFill>
                <a:latin typeface="Helvetica" pitchFamily="2" charset="0"/>
              </a:rPr>
              <a:t>International Conference on Machine Learning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, pp. 5171-5180, 2019.</a:t>
            </a:r>
          </a:p>
          <a:p>
            <a:pPr>
              <a:spcBef>
                <a:spcPts val="600"/>
              </a:spcBef>
              <a:buClr>
                <a:schemeClr val="accent2"/>
              </a:buClr>
            </a:pP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Oord, Aaron van den, </a:t>
            </a:r>
            <a:r>
              <a:rPr lang="en-US" sz="1200" dirty="0" err="1">
                <a:solidFill>
                  <a:srgbClr val="222222"/>
                </a:solidFill>
                <a:latin typeface="Helvetica" pitchFamily="2" charset="0"/>
              </a:rPr>
              <a:t>Yazhe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 Li, and Oriol </a:t>
            </a:r>
            <a:r>
              <a:rPr lang="en-US" sz="1200" dirty="0" err="1">
                <a:solidFill>
                  <a:srgbClr val="222222"/>
                </a:solidFill>
                <a:latin typeface="Helvetica" pitchFamily="2" charset="0"/>
              </a:rPr>
              <a:t>Vinyals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. "Representation learning with contrastive predictive coding." </a:t>
            </a:r>
            <a:r>
              <a:rPr lang="en-US" sz="1200" i="1" dirty="0" err="1">
                <a:solidFill>
                  <a:srgbClr val="222222"/>
                </a:solidFill>
                <a:latin typeface="Helvetica" pitchFamily="2" charset="0"/>
              </a:rPr>
              <a:t>arXiv</a:t>
            </a:r>
            <a:r>
              <a:rPr lang="en-US" sz="1200" i="1" dirty="0">
                <a:solidFill>
                  <a:srgbClr val="222222"/>
                </a:solidFill>
                <a:latin typeface="Helvetica" pitchFamily="2" charset="0"/>
              </a:rPr>
              <a:t> preprint arXiv:1807.03748</a:t>
            </a:r>
            <a:r>
              <a:rPr lang="en-US" sz="1200" dirty="0">
                <a:solidFill>
                  <a:srgbClr val="222222"/>
                </a:solidFill>
                <a:latin typeface="Helvetica" pitchFamily="2" charset="0"/>
              </a:rPr>
              <a:t> (2018).</a:t>
            </a:r>
            <a:endParaRPr lang="en-CN" sz="1200" dirty="0">
              <a:latin typeface="Helvetica" pitchFamily="2" charset="0"/>
              <a:ea typeface="Helvetica" charset="0"/>
              <a:cs typeface="Helvetica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DE933-5560-06DB-8523-1F52AAD2C19E}"/>
              </a:ext>
            </a:extLst>
          </p:cNvPr>
          <p:cNvSpPr txBox="1"/>
          <p:nvPr/>
        </p:nvSpPr>
        <p:spPr>
          <a:xfrm>
            <a:off x="3179260" y="2816795"/>
            <a:ext cx="5924399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实践中，𝑠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𝑥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𝑦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被训练以获得尽可能紧的下界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794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82067-EE2A-28DA-FCF2-82BFDECB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EED16-B4E1-84A9-5EE4-65685B1ABD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0DE16-BB4D-CED0-1AD8-AF7EC9822F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70D68-80B6-4E00-F360-281096DE7E14}"/>
              </a:ext>
            </a:extLst>
          </p:cNvPr>
          <p:cNvSpPr txBox="1"/>
          <p:nvPr/>
        </p:nvSpPr>
        <p:spPr>
          <a:xfrm>
            <a:off x="328079" y="240030"/>
            <a:ext cx="7578090" cy="445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InfoNCE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损失的联系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47B86C-B979-E52B-B92D-51DB9F07E9C4}"/>
                  </a:ext>
                </a:extLst>
              </p:cNvPr>
              <p:cNvSpPr txBox="1"/>
              <p:nvPr/>
            </p:nvSpPr>
            <p:spPr>
              <a:xfrm>
                <a:off x="586787" y="918836"/>
                <a:ext cx="5255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定义两个随机变量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𝑍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 和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如下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47B86C-B979-E52B-B92D-51DB9F07E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87" y="918836"/>
                <a:ext cx="5255336" cy="461665"/>
              </a:xfrm>
              <a:prstGeom prst="rect">
                <a:avLst/>
              </a:prstGeom>
              <a:blipFill>
                <a:blip r:embed="rId3"/>
                <a:stretch>
                  <a:fillRect l="-1276" t="-2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98FC7-783E-2E9E-8B39-4AF33AA9AB93}"/>
                  </a:ext>
                </a:extLst>
              </p:cNvPr>
              <p:cNvSpPr txBox="1"/>
              <p:nvPr/>
            </p:nvSpPr>
            <p:spPr>
              <a:xfrm>
                <a:off x="2798420" y="1583719"/>
                <a:ext cx="4441486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charset="0"/>
                                    </a:rPr>
                                    <m:t>𝒯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charset="0"/>
                                    </a:rPr>
                                    <m:t>𝒯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98FC7-783E-2E9E-8B39-4AF33AA9A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420" y="1583719"/>
                <a:ext cx="4441486" cy="552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934B2B-A469-969E-2BDF-D0DB2DAFA2BB}"/>
                  </a:ext>
                </a:extLst>
              </p:cNvPr>
              <p:cNvSpPr txBox="1"/>
              <p:nvPr/>
            </p:nvSpPr>
            <p:spPr>
              <a:xfrm>
                <a:off x="957039" y="2631402"/>
                <a:ext cx="9770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∼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，表示训练样本的分布；而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𝒯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随机增强算子</a:t>
                </a:r>
                <a:endParaRPr lang="en-CN" sz="220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934B2B-A469-969E-2BDF-D0DB2DAFA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39" y="2631402"/>
                <a:ext cx="9770168" cy="461665"/>
              </a:xfrm>
              <a:prstGeom prst="rect">
                <a:avLst/>
              </a:prstGeom>
              <a:blipFill>
                <a:blip r:embed="rId5"/>
                <a:stretch>
                  <a:fillRect l="-779" t="-5405" b="-243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7DEEDB-F9E8-33CF-FFAB-C85DA346C807}"/>
                  </a:ext>
                </a:extLst>
              </p:cNvPr>
              <p:cNvSpPr txBox="1"/>
              <p:nvPr/>
            </p:nvSpPr>
            <p:spPr>
              <a:xfrm>
                <a:off x="586787" y="4324065"/>
                <a:ext cx="8455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那么，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𝑍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之间的互信息可以被限制为如下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7DEEDB-F9E8-33CF-FFAB-C85DA346C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87" y="4324065"/>
                <a:ext cx="8455736" cy="461665"/>
              </a:xfrm>
              <a:prstGeom prst="rect">
                <a:avLst/>
              </a:prstGeom>
              <a:blipFill>
                <a:blip r:embed="rId6"/>
                <a:stretch>
                  <a:fillRect l="-793" t="-263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E529F7-DB61-1AB5-6232-1426FB43EFFD}"/>
                  </a:ext>
                </a:extLst>
              </p:cNvPr>
              <p:cNvSpPr txBox="1"/>
              <p:nvPr/>
            </p:nvSpPr>
            <p:spPr>
              <a:xfrm>
                <a:off x="3139927" y="4858782"/>
                <a:ext cx="5912146" cy="88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𝑍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≥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𝑠𝑖𝑚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E529F7-DB61-1AB5-6232-1426FB43E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927" y="4858782"/>
                <a:ext cx="5912146" cy="883447"/>
              </a:xfrm>
              <a:prstGeom prst="rect">
                <a:avLst/>
              </a:prstGeom>
              <a:blipFill>
                <a:blip r:embed="rId7"/>
                <a:stretch>
                  <a:fillRect b="-788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F23889-5C53-0D38-235A-596E203C0171}"/>
                  </a:ext>
                </a:extLst>
              </p:cNvPr>
              <p:cNvSpPr txBox="1"/>
              <p:nvPr/>
            </p:nvSpPr>
            <p:spPr>
              <a:xfrm>
                <a:off x="586787" y="3513659"/>
                <a:ext cx="84557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将样本 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𝑧</m:t>
                    </m:r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200">
                            <a:solidFill>
                              <a:srgbClr val="1A1C1E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</m:sup>
                    </m:sSup>
                    <m:r>
                      <a:rPr lang="en-US" altLang="zh-CN" sz="220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的分布表示为 </a:t>
                </a: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  <m:r>
                          <a:rPr lang="en-US" altLang="zh-CN" sz="22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2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F23889-5C53-0D38-235A-596E203C0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87" y="3513659"/>
                <a:ext cx="8455736" cy="430887"/>
              </a:xfrm>
              <a:prstGeom prst="rect">
                <a:avLst/>
              </a:prstGeom>
              <a:blipFill>
                <a:blip r:embed="rId8"/>
                <a:stretch>
                  <a:fillRect l="-793"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54DA64-374D-5B14-6265-D2862422246E}"/>
                  </a:ext>
                </a:extLst>
              </p:cNvPr>
              <p:cNvSpPr txBox="1"/>
              <p:nvPr/>
            </p:nvSpPr>
            <p:spPr>
              <a:xfrm>
                <a:off x="1111488" y="5943600"/>
                <a:ext cx="7104742" cy="43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∼</m:t>
                    </m:r>
                    <m:r>
                      <a:rPr lang="en-US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𝑧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CN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𝑧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𝑘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bSup>
                    <m:r>
                      <a:rPr lang="en-US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∼</m:t>
                    </m:r>
                    <m:r>
                      <a:rPr lang="en-US" sz="22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CN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54DA64-374D-5B14-6265-D28624222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488" y="5943600"/>
                <a:ext cx="7104742" cy="435312"/>
              </a:xfrm>
              <a:prstGeom prst="rect">
                <a:avLst/>
              </a:prstGeom>
              <a:blipFill>
                <a:blip r:embed="rId9"/>
                <a:stretch>
                  <a:fillRect l="-1115"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EFB8305-49EC-0BB0-6E6B-781A57A4BB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473" y="234516"/>
            <a:ext cx="3012334" cy="230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33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8F442-6D47-45FF-8111-A94AECDF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40464-3BDD-7289-DC1C-9D7C069E2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93872-92FA-7D4A-37B7-0BCC11B1C2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517661-3A48-369A-DD2E-C880D02F30EB}"/>
                  </a:ext>
                </a:extLst>
              </p:cNvPr>
              <p:cNvSpPr txBox="1"/>
              <p:nvPr/>
            </p:nvSpPr>
            <p:spPr>
              <a:xfrm>
                <a:off x="306196" y="246532"/>
                <a:ext cx="8255683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边缘分布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是相同的，因此我们可以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517661-3A48-369A-DD2E-C880D02F3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96" y="246532"/>
                <a:ext cx="8255683" cy="453137"/>
              </a:xfrm>
              <a:prstGeom prst="rect">
                <a:avLst/>
              </a:prstGeom>
              <a:blipFill>
                <a:blip r:embed="rId2"/>
                <a:stretch>
                  <a:fillRect l="-812" t="-2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7BAA-7E56-9383-723C-76396E75F7C3}"/>
                  </a:ext>
                </a:extLst>
              </p:cNvPr>
              <p:cNvSpPr txBox="1"/>
              <p:nvPr/>
            </p:nvSpPr>
            <p:spPr>
              <a:xfrm>
                <a:off x="790528" y="927878"/>
                <a:ext cx="81677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System Font Regular"/>
                  <a:buChar char="−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视为从联合分布 </a:t>
                </a:r>
                <a:r>
                  <a:rPr lang="en-US" altLang="zh-CN" sz="20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中抽取的样本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857BAA-7E56-9383-723C-76396E75F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28" y="927878"/>
                <a:ext cx="8167756" cy="430887"/>
              </a:xfrm>
              <a:prstGeom prst="rect">
                <a:avLst/>
              </a:prstGeom>
              <a:blipFill>
                <a:blip r:embed="rId3"/>
                <a:stretch>
                  <a:fillRect l="-1045" t="-9859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6779DB-38ED-4670-8F9E-E31B80757E2F}"/>
                  </a:ext>
                </a:extLst>
              </p:cNvPr>
              <p:cNvSpPr txBox="1"/>
              <p:nvPr/>
            </p:nvSpPr>
            <p:spPr>
              <a:xfrm>
                <a:off x="790529" y="1446214"/>
                <a:ext cx="8167756" cy="622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System Font Regular"/>
                  <a:buChar char="−"/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将所有其他样本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视为从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中独立抽取的样本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6779DB-38ED-4670-8F9E-E31B80757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29" y="1446214"/>
                <a:ext cx="8167756" cy="622093"/>
              </a:xfrm>
              <a:prstGeom prst="rect">
                <a:avLst/>
              </a:prstGeom>
              <a:blipFill>
                <a:blip r:embed="rId4"/>
                <a:stretch>
                  <a:fillRect l="-1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CBD2782-5F1D-74A6-C566-F3BE3ED2F640}"/>
              </a:ext>
            </a:extLst>
          </p:cNvPr>
          <p:cNvSpPr txBox="1"/>
          <p:nvPr/>
        </p:nvSpPr>
        <p:spPr>
          <a:xfrm>
            <a:off x="678896" y="2493967"/>
            <a:ext cx="697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那么，下界可以写成如下形式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9ADC60-8672-7C06-97EE-361A83451BAF}"/>
                  </a:ext>
                </a:extLst>
              </p:cNvPr>
              <p:cNvSpPr txBox="1"/>
              <p:nvPr/>
            </p:nvSpPr>
            <p:spPr>
              <a:xfrm>
                <a:off x="2260100" y="3227285"/>
                <a:ext cx="7687490" cy="915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≥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𝑠𝑖𝑚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𝑠𝑖𝑚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p>
                                  </m:sSup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, 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CN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9ADC60-8672-7C06-97EE-361A83451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100" y="3227285"/>
                <a:ext cx="7687490" cy="915122"/>
              </a:xfrm>
              <a:prstGeom prst="rect">
                <a:avLst/>
              </a:prstGeom>
              <a:blipFill>
                <a:blip r:embed="rId5"/>
                <a:stretch>
                  <a:fillRect b="-621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837D39-1694-B8C1-C338-20FED2991E3A}"/>
              </a:ext>
            </a:extLst>
          </p:cNvPr>
          <p:cNvSpPr/>
          <p:nvPr/>
        </p:nvSpPr>
        <p:spPr>
          <a:xfrm>
            <a:off x="4969163" y="3181466"/>
            <a:ext cx="4849092" cy="103638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AFCF42-86A0-806D-626C-C01D3A3333B8}"/>
              </a:ext>
            </a:extLst>
          </p:cNvPr>
          <p:cNvCxnSpPr/>
          <p:nvPr/>
        </p:nvCxnSpPr>
        <p:spPr>
          <a:xfrm flipH="1">
            <a:off x="6571990" y="4217848"/>
            <a:ext cx="626301" cy="54165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F725E2-17D2-3E8E-5FBA-D765E0B9BFA6}"/>
              </a:ext>
            </a:extLst>
          </p:cNvPr>
          <p:cNvSpPr txBox="1"/>
          <p:nvPr/>
        </p:nvSpPr>
        <p:spPr>
          <a:xfrm>
            <a:off x="4842385" y="4687461"/>
            <a:ext cx="4411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它是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InfoNCE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损失的负数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E639B2-DC9A-0DB1-53E7-EF61ECB5BE5A}"/>
                  </a:ext>
                </a:extLst>
              </p:cNvPr>
              <p:cNvSpPr txBox="1"/>
              <p:nvPr/>
            </p:nvSpPr>
            <p:spPr>
              <a:xfrm>
                <a:off x="1574300" y="5461990"/>
                <a:ext cx="9291265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因此，最小化 </a:t>
                </a:r>
                <a:r>
                  <a:rPr lang="en-US" altLang="zh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InfoNCE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损失可以理解为最大化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𝑍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24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CN" altLang="zh-CN" sz="24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zh-CN" altLang="en-US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之间的互信息</a:t>
                </a:r>
                <a:endParaRPr lang="en-CN" sz="2200" dirty="0">
                  <a:solidFill>
                    <a:srgbClr val="1A1C1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E639B2-DC9A-0DB1-53E7-EF61ECB5B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300" y="5461990"/>
                <a:ext cx="9291265" cy="461665"/>
              </a:xfrm>
              <a:prstGeom prst="rect">
                <a:avLst/>
              </a:prstGeom>
              <a:blipFill>
                <a:blip r:embed="rId6"/>
                <a:stretch>
                  <a:fillRect l="-853" t="-263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43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4CE4-96B1-2238-4727-008BDC81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CEB6F-23E5-85DC-1DE5-56A42440F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D9B82-F873-BB95-7035-B2DCB870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大纲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83C89-71FF-B929-3E60-775127FFF6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BE71A-F086-CEB3-C302-2FFB4036E8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88531-8D69-52F0-10B0-3E36500BFA5A}"/>
              </a:ext>
            </a:extLst>
          </p:cNvPr>
          <p:cNvSpPr txBox="1"/>
          <p:nvPr/>
        </p:nvSpPr>
        <p:spPr>
          <a:xfrm>
            <a:off x="508000" y="1008393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基于迁移学习的方法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F3ADE-C9BC-6882-D3BB-38D89CEBDB8C}"/>
              </a:ext>
            </a:extLst>
          </p:cNvPr>
          <p:cNvSpPr txBox="1"/>
          <p:nvPr/>
        </p:nvSpPr>
        <p:spPr>
          <a:xfrm>
            <a:off x="508000" y="1569354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自编码器</a:t>
            </a:r>
            <a:endParaRPr lang="en-CN" sz="2200" dirty="0">
              <a:solidFill>
                <a:schemeClr val="bg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6DC3E-627B-5AB4-210B-13E2FA7B7B46}"/>
              </a:ext>
            </a:extLst>
          </p:cNvPr>
          <p:cNvSpPr txBox="1"/>
          <p:nvPr/>
        </p:nvSpPr>
        <p:spPr>
          <a:xfrm>
            <a:off x="508000" y="2130315"/>
            <a:ext cx="6642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3C639-BF59-65AD-20D8-2F240A15C4AF}"/>
              </a:ext>
            </a:extLst>
          </p:cNvPr>
          <p:cNvSpPr txBox="1"/>
          <p:nvPr/>
        </p:nvSpPr>
        <p:spPr>
          <a:xfrm>
            <a:off x="1016000" y="269127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chemeClr val="bg1">
                    <a:lumMod val="65000"/>
                  </a:schemeClr>
                </a:solidFill>
                <a:latin typeface="Helvetica" charset="0"/>
                <a:cs typeface="Helvetica" charset="0"/>
              </a:rPr>
              <a:t>SimCLR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F145D-6734-65A7-B161-7E3AFEF7D2E8}"/>
              </a:ext>
            </a:extLst>
          </p:cNvPr>
          <p:cNvSpPr txBox="1"/>
          <p:nvPr/>
        </p:nvSpPr>
        <p:spPr>
          <a:xfrm>
            <a:off x="1016000" y="3213556"/>
            <a:ext cx="3180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latin typeface="Helvetica" charset="0"/>
                <a:cs typeface="Helvetica" charset="0"/>
              </a:rPr>
              <a:t>MoCo</a:t>
            </a:r>
          </a:p>
        </p:txBody>
      </p:sp>
    </p:spTree>
    <p:extLst>
      <p:ext uri="{BB962C8B-B14F-4D97-AF65-F5344CB8AC3E}">
        <p14:creationId xmlns:p14="http://schemas.microsoft.com/office/powerpoint/2010/main" val="3674593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0B2AF7-BB11-0E86-611D-CA5A784441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9C8BFF-72C4-A38F-D6D8-58321A6F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3200" dirty="0"/>
              <a:t>MoCo</a:t>
            </a:r>
            <a:r>
              <a:rPr lang="en-US" altLang="zh-CN" sz="3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dirty="0">
                <a:solidFill>
                  <a:schemeClr val="accent6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n-CN" sz="3200" dirty="0">
                <a:latin typeface="Helvetica" charset="0"/>
                <a:ea typeface="Helvetica" charset="0"/>
                <a:cs typeface="Helvetica" charset="0"/>
              </a:rPr>
              <a:t>He et al., 2019]</a:t>
            </a:r>
            <a:endParaRPr lang="en-CN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67635-FC4D-C8D1-1DBB-BFE34FB65C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15CA6D-515E-7740-BA3C-3A8618DF4FD4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710F0-141B-BFDA-4E6F-BACE0F1003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77B5B-C24E-3474-E763-02178162C146}"/>
              </a:ext>
            </a:extLst>
          </p:cNvPr>
          <p:cNvSpPr txBox="1"/>
          <p:nvPr/>
        </p:nvSpPr>
        <p:spPr>
          <a:xfrm>
            <a:off x="487408" y="905473"/>
            <a:ext cx="8351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在对比学习中，使用大负样本对学习到的高质量的表示至关重要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95426-DB64-B299-F124-7C82A94AE1A5}"/>
              </a:ext>
            </a:extLst>
          </p:cNvPr>
          <p:cNvSpPr txBox="1"/>
          <p:nvPr/>
        </p:nvSpPr>
        <p:spPr>
          <a:xfrm>
            <a:off x="809567" y="1431183"/>
            <a:ext cx="82072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但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大量的负样本对存储提出很高的要求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D2439-DDDD-3B55-E665-792442EF2E2D}"/>
                  </a:ext>
                </a:extLst>
              </p:cNvPr>
              <p:cNvSpPr txBox="1"/>
              <p:nvPr/>
            </p:nvSpPr>
            <p:spPr>
              <a:xfrm>
                <a:off x="1997597" y="3403408"/>
                <a:ext cx="6029608" cy="700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⋅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𝑘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/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𝑞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⋅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𝑘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/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⋅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−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CN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D2439-DDDD-3B55-E665-792442EF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597" y="3403408"/>
                <a:ext cx="6029608" cy="700961"/>
              </a:xfrm>
              <a:prstGeom prst="rect">
                <a:avLst/>
              </a:prstGeom>
              <a:blipFill>
                <a:blip r:embed="rId2"/>
                <a:stretch>
                  <a:fillRect t="-14035" b="-842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8F6C70F-C37C-A256-A229-1CA0893950DB}"/>
              </a:ext>
            </a:extLst>
          </p:cNvPr>
          <p:cNvSpPr txBox="1"/>
          <p:nvPr/>
        </p:nvSpPr>
        <p:spPr>
          <a:xfrm>
            <a:off x="487408" y="2176973"/>
            <a:ext cx="8031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en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MoCo提出采用两种编码器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encoder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&amp; </a:t>
            </a:r>
            <a:r>
              <a:rPr lang="zh-CN" altLang="en-US" sz="22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动量</a:t>
            </a:r>
            <a:r>
              <a:rPr lang="en-US" altLang="zh-CN" sz="2200" dirty="0">
                <a:solidFill>
                  <a:srgbClr val="2534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encoder</a:t>
            </a:r>
            <a:endParaRPr lang="en-CN" sz="2200" dirty="0">
              <a:solidFill>
                <a:srgbClr val="2534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4E704B-2355-9AE1-F570-67A99CAB8E40}"/>
                  </a:ext>
                </a:extLst>
              </p:cNvPr>
              <p:cNvSpPr txBox="1"/>
              <p:nvPr/>
            </p:nvSpPr>
            <p:spPr>
              <a:xfrm>
                <a:off x="812351" y="2773464"/>
                <a:ext cx="77069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en-US" altLang="zh-CN" sz="2200" dirty="0">
                    <a:solidFill>
                      <a:srgbClr val="C00000"/>
                    </a:solidFill>
                    <a:latin typeface="Helvetica" pitchFamily="2" charset="0"/>
                    <a:ea typeface="STKaiti" panose="02010600040101010101" pitchFamily="2" charset="-122"/>
                  </a:rPr>
                  <a:t>encoder</a:t>
                </a:r>
                <a:r>
                  <a:rPr lang="zh-CN" altLang="en-US" sz="2200" dirty="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的参数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𝜃</m:t>
                    </m:r>
                  </m:oMath>
                </a14:m>
                <a:r>
                  <a:rPr lang="en-CN" sz="2200" dirty="0">
                    <a:latin typeface="STKaiti" panose="02010600040101010101" pitchFamily="2" charset="-122"/>
                    <a:ea typeface="STKaiti" panose="02010600040101010101" pitchFamily="2" charset="-122"/>
                  </a:rPr>
                  <a:t>通过最小化对比损失来更新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4E704B-2355-9AE1-F570-67A99CAB8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51" y="2773464"/>
                <a:ext cx="7706960" cy="430887"/>
              </a:xfrm>
              <a:prstGeom prst="rect">
                <a:avLst/>
              </a:prstGeom>
              <a:blipFill>
                <a:blip r:embed="rId3"/>
                <a:stretch>
                  <a:fillRect l="-657" t="-14286" b="-2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A6E001-79C4-7510-3792-985602E5AF25}"/>
                  </a:ext>
                </a:extLst>
              </p:cNvPr>
              <p:cNvSpPr txBox="1"/>
              <p:nvPr/>
            </p:nvSpPr>
            <p:spPr>
              <a:xfrm>
                <a:off x="3078179" y="5134472"/>
                <a:ext cx="52419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𝑚𝑜𝑚𝑒𝑛𝑡𝑢𝑚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charset="0"/>
                        </a:rPr>
                        <m:t>𝑚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𝑚𝑜𝑚𝑒𝑛𝑡𝑢𝑚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charset="0"/>
                            </a:rPr>
                            <m:t>𝑚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charset="0"/>
                        </a:rPr>
                        <m:t>𝜃</m:t>
                      </m:r>
                    </m:oMath>
                  </m:oMathPara>
                </a14:m>
                <a:endParaRPr lang="en-CN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A6E001-79C4-7510-3792-985602E5A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179" y="5134472"/>
                <a:ext cx="524195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BA499E-4807-4F81-7FA9-FA3CE7459571}"/>
                  </a:ext>
                </a:extLst>
              </p:cNvPr>
              <p:cNvSpPr txBox="1"/>
              <p:nvPr/>
            </p:nvSpPr>
            <p:spPr>
              <a:xfrm>
                <a:off x="809567" y="4478141"/>
                <a:ext cx="85245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pitchFamily="2" charset="2"/>
                  <a:buChar char="Ø"/>
                </a:pPr>
                <a:r>
                  <a:rPr lang="zh-CN" altLang="en-US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动量</a:t>
                </a:r>
                <a:r>
                  <a:rPr lang="en-US" altLang="zh-CN" sz="2200" dirty="0">
                    <a:solidFill>
                      <a:srgbClr val="2534FF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encoder</a:t>
                </a:r>
                <a:r>
                  <a:rPr lang="zh-CN" altLang="en-US" sz="2200" dirty="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𝑚𝑜𝑚𝑒𝑛𝑡𝑢𝑚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STKaiti" panose="02010600040101010101" pitchFamily="2" charset="-122"/>
                    <a:ea typeface="STKaiti" panose="02010600040101010101" pitchFamily="2" charset="-122"/>
                  </a:rPr>
                  <a:t>直接通过滑动平均来更新</a:t>
                </a:r>
                <a:endParaRPr lang="en-CN" sz="2200" dirty="0"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BA499E-4807-4F81-7FA9-FA3CE7459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67" y="4478141"/>
                <a:ext cx="8524556" cy="430887"/>
              </a:xfrm>
              <a:prstGeom prst="rect">
                <a:avLst/>
              </a:prstGeom>
              <a:blipFill>
                <a:blip r:embed="rId5"/>
                <a:stretch>
                  <a:fillRect l="-744" t="-14286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933F44-D763-921F-6B99-C36BE7645DC4}"/>
                  </a:ext>
                </a:extLst>
              </p:cNvPr>
              <p:cNvSpPr txBox="1"/>
              <p:nvPr/>
            </p:nvSpPr>
            <p:spPr>
              <a:xfrm>
                <a:off x="487407" y="5851355"/>
                <a:ext cx="1130210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en-CN" sz="2200" dirty="0">
                    <a:solidFill>
                      <a:srgbClr val="1A1C1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把当前数据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1A1C1E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𝑥</m:t>
                    </m:r>
                  </m:oMath>
                </a14:m>
                <a:r>
                  <a:rPr lang="en-CN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产生的</a:t>
                </a:r>
                <a:r>
                  <a:rPr 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键值</a:t>
                </a: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CN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加入到队列</a:t>
                </a:r>
                <a:r>
                  <a:rPr lang="zh-CN" altLang="en-US" sz="2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（通过先进先出方式来维护一个设定大小的队列）</a:t>
                </a:r>
                <a:endParaRPr lang="en-CN" sz="22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933F44-D763-921F-6B99-C36BE7645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7" y="5851355"/>
                <a:ext cx="11302106" cy="430887"/>
              </a:xfrm>
              <a:prstGeom prst="rect">
                <a:avLst/>
              </a:prstGeom>
              <a:blipFill>
                <a:blip r:embed="rId6"/>
                <a:stretch>
                  <a:fillRect l="-673" t="-8571" r="-3143" b="-25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77BCA10-38C7-1C87-C438-831658CCA4B3}"/>
              </a:ext>
            </a:extLst>
          </p:cNvPr>
          <p:cNvGrpSpPr/>
          <p:nvPr/>
        </p:nvGrpSpPr>
        <p:grpSpPr>
          <a:xfrm>
            <a:off x="8414595" y="1067476"/>
            <a:ext cx="3559616" cy="3416811"/>
            <a:chOff x="8519311" y="1006641"/>
            <a:chExt cx="3559616" cy="3416811"/>
          </a:xfrm>
        </p:grpSpPr>
        <p:pic>
          <p:nvPicPr>
            <p:cNvPr id="1026" name="Picture 2" descr="Refer to caption">
              <a:extLst>
                <a:ext uri="{FF2B5EF4-FFF2-40B4-BE49-F238E27FC236}">
                  <a16:creationId xmlns:a16="http://schemas.microsoft.com/office/drawing/2014/main" id="{38C4B765-B16B-3C60-4C88-E8F2D217E5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86"/>
            <a:stretch/>
          </p:blipFill>
          <p:spPr bwMode="auto">
            <a:xfrm>
              <a:off x="8519311" y="1006641"/>
              <a:ext cx="3559616" cy="3416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CC39C59-7E47-9E6C-CAFD-7A751DA7D7C6}"/>
                    </a:ext>
                  </a:extLst>
                </p:cNvPr>
                <p:cNvSpPr txBox="1"/>
                <p:nvPr/>
              </p:nvSpPr>
              <p:spPr>
                <a:xfrm>
                  <a:off x="10076962" y="2400044"/>
                  <a:ext cx="37486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CC39C59-7E47-9E6C-CAFD-7A751DA7D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6962" y="2400044"/>
                  <a:ext cx="374864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645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E961D98-A492-25C1-76F6-7663862BCDDF}"/>
                    </a:ext>
                  </a:extLst>
                </p:cNvPr>
                <p:cNvSpPr txBox="1"/>
                <p:nvPr/>
              </p:nvSpPr>
              <p:spPr>
                <a:xfrm>
                  <a:off x="11379649" y="2895531"/>
                  <a:ext cx="37486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en-CN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E961D98-A492-25C1-76F6-7663862BC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9649" y="2895531"/>
                  <a:ext cx="374864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835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C7E11-28D4-6FCE-C9FE-FC90C722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77E36-EE68-6640-A1EF-497CC70AB6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84BC8-DA5D-F5DB-4A1C-8DDA003219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B27CDA-6740-DD1A-F44B-6C12C1392691}"/>
              </a:ext>
            </a:extLst>
          </p:cNvPr>
          <p:cNvGrpSpPr/>
          <p:nvPr/>
        </p:nvGrpSpPr>
        <p:grpSpPr>
          <a:xfrm>
            <a:off x="7009070" y="609168"/>
            <a:ext cx="4718737" cy="4596816"/>
            <a:chOff x="773469" y="663574"/>
            <a:chExt cx="3659636" cy="34168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BC3FBB6-8458-04B6-2C5C-D4E790F992F3}"/>
                </a:ext>
              </a:extLst>
            </p:cNvPr>
            <p:cNvGrpSpPr/>
            <p:nvPr/>
          </p:nvGrpSpPr>
          <p:grpSpPr>
            <a:xfrm>
              <a:off x="773469" y="663574"/>
              <a:ext cx="3559616" cy="3416811"/>
              <a:chOff x="8519311" y="1006641"/>
              <a:chExt cx="3559616" cy="3416811"/>
            </a:xfrm>
          </p:grpSpPr>
          <p:pic>
            <p:nvPicPr>
              <p:cNvPr id="7" name="Picture 2" descr="Refer to caption">
                <a:extLst>
                  <a:ext uri="{FF2B5EF4-FFF2-40B4-BE49-F238E27FC236}">
                    <a16:creationId xmlns:a16="http://schemas.microsoft.com/office/drawing/2014/main" id="{9579F274-70D0-8E33-AA7D-C3AEE8989D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186"/>
              <a:stretch/>
            </p:blipFill>
            <p:spPr bwMode="auto">
              <a:xfrm>
                <a:off x="8519311" y="1006641"/>
                <a:ext cx="3559616" cy="34168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BB82472-E818-68E4-0103-16D7F56CBD6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76962" y="2400044"/>
                    <a:ext cx="37486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en-CN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BB82472-E818-68E4-0103-16D7F56CBD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76962" y="2400044"/>
                    <a:ext cx="37486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E099D01-9920-C379-F665-CEB91F7DFE4E}"/>
                      </a:ext>
                    </a:extLst>
                  </p:cNvPr>
                  <p:cNvSpPr txBox="1"/>
                  <p:nvPr/>
                </p:nvSpPr>
                <p:spPr>
                  <a:xfrm>
                    <a:off x="11379649" y="2895531"/>
                    <a:ext cx="37486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en-CN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E099D01-9920-C379-F665-CEB91F7DF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79649" y="2895531"/>
                    <a:ext cx="37486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B45F656-FC00-3005-F2C6-DDD71FF629EC}"/>
                </a:ext>
              </a:extLst>
            </p:cNvPr>
            <p:cNvCxnSpPr/>
            <p:nvPr/>
          </p:nvCxnSpPr>
          <p:spPr>
            <a:xfrm flipH="1">
              <a:off x="2518552" y="891251"/>
              <a:ext cx="560314" cy="6366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EC0DBD-8D43-34CC-D430-DAB40D774496}"/>
                </a:ext>
              </a:extLst>
            </p:cNvPr>
            <p:cNvSpPr txBox="1"/>
            <p:nvPr/>
          </p:nvSpPr>
          <p:spPr>
            <a:xfrm>
              <a:off x="3145621" y="838825"/>
              <a:ext cx="1287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/>
              <a:r>
                <a:rPr lang="en-US" sz="1600" dirty="0">
                  <a:solidFill>
                    <a:srgbClr val="FF0000"/>
                  </a:solidFill>
                  <a:latin typeface="Helvetica" charset="0"/>
                  <a:ea typeface="Helvetica" charset="0"/>
                  <a:cs typeface="Helvetica" charset="0"/>
                </a:rPr>
                <a:t>no gradient</a:t>
              </a:r>
              <a:endParaRPr lang="en-CN" sz="1600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C49DE40-C70D-12E4-3A57-B13259ACB719}"/>
              </a:ext>
            </a:extLst>
          </p:cNvPr>
          <p:cNvSpPr txBox="1"/>
          <p:nvPr/>
        </p:nvSpPr>
        <p:spPr>
          <a:xfrm>
            <a:off x="373505" y="452891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MoCo与SimCLR的主要不同点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1CF05-4361-B7E9-1A4F-ED21D3AEF510}"/>
              </a:ext>
            </a:extLst>
          </p:cNvPr>
          <p:cNvSpPr txBox="1"/>
          <p:nvPr/>
        </p:nvSpPr>
        <p:spPr>
          <a:xfrm>
            <a:off x="705848" y="1187436"/>
            <a:ext cx="556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动态更新负样本队列（先进先出</a:t>
            </a:r>
            <a:r>
              <a:rPr lang="en-US" altLang="zh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FIFO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67D24-0508-C226-58B8-E4C1A0BF5522}"/>
              </a:ext>
            </a:extLst>
          </p:cNvPr>
          <p:cNvSpPr txBox="1"/>
          <p:nvPr/>
        </p:nvSpPr>
        <p:spPr>
          <a:xfrm>
            <a:off x="705848" y="1886487"/>
            <a:ext cx="5566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只更新query编码器的参数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5BEF4-5EFF-2319-C243-AF344F61E3E5}"/>
              </a:ext>
            </a:extLst>
          </p:cNvPr>
          <p:cNvSpPr txBox="1"/>
          <p:nvPr/>
        </p:nvSpPr>
        <p:spPr>
          <a:xfrm>
            <a:off x="705848" y="2638358"/>
            <a:ext cx="59129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解耦minibatch的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大小与负样本数量，支持在较小存储下使用超大数量的负样本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9387A-F57E-A4A1-CAB7-C136D078EBE5}"/>
              </a:ext>
            </a:extLst>
          </p:cNvPr>
          <p:cNvSpPr txBox="1"/>
          <p:nvPr/>
        </p:nvSpPr>
        <p:spPr>
          <a:xfrm>
            <a:off x="705848" y="3635888"/>
            <a:ext cx="59129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动量编码器通过滑动平均的方式渐进更新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，不计算梯度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233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EB511-8E1A-5792-67A8-89759302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1096F-B0BC-AD59-7080-2CB7D39A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E2F24-BACB-FD3B-FB04-3CB304EF38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8B44E-F142-47DE-C0D6-E65892431694}"/>
              </a:ext>
            </a:extLst>
          </p:cNvPr>
          <p:cNvSpPr txBox="1"/>
          <p:nvPr/>
        </p:nvSpPr>
        <p:spPr>
          <a:xfrm>
            <a:off x="487408" y="245872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MoCo的改进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8A800-D48E-F170-78CE-7F52B5B98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366" y="1691015"/>
            <a:ext cx="5866482" cy="1043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822F63-4727-577E-09DC-326CE34B2AAD}"/>
              </a:ext>
            </a:extLst>
          </p:cNvPr>
          <p:cNvSpPr txBox="1"/>
          <p:nvPr/>
        </p:nvSpPr>
        <p:spPr>
          <a:xfrm>
            <a:off x="800941" y="820628"/>
            <a:ext cx="9489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CN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将SimCLR的部分技术融入原始MoCo中</a:t>
            </a:r>
            <a:r>
              <a:rPr lang="zh-CN" altLang="en-US" sz="2200" dirty="0">
                <a:latin typeface="Microsoft YaHei" panose="020B0503020204020204" pitchFamily="34" charset="-122"/>
                <a:ea typeface="Microsoft YaHei" panose="020B0503020204020204" pitchFamily="34" charset="-122"/>
                <a:cs typeface="Helvetica" charset="0"/>
              </a:rPr>
              <a:t>，得到</a:t>
            </a:r>
            <a:r>
              <a:rPr lang="en-US" altLang="zh-CN" sz="2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MoCo v2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[He et al, 2020]</a:t>
            </a:r>
            <a:endParaRPr lang="en-CN" sz="2200" dirty="0">
              <a:latin typeface="Microsoft YaHei" panose="020B0503020204020204" pitchFamily="34" charset="-122"/>
              <a:ea typeface="Microsoft YaHei" panose="020B0503020204020204" pitchFamily="34" charset="-122"/>
              <a:cs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E6BD8-E378-F54A-B647-2D2CA64AD614}"/>
              </a:ext>
            </a:extLst>
          </p:cNvPr>
          <p:cNvSpPr txBox="1"/>
          <p:nvPr/>
        </p:nvSpPr>
        <p:spPr>
          <a:xfrm>
            <a:off x="800941" y="4417684"/>
            <a:ext cx="8049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在MoCo v2中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，使用类似</a:t>
            </a:r>
            <a:r>
              <a:rPr lang="en-US" altLang="zh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SimCLR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的强数据增强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1132-8A42-7095-4D9C-04CB8B4EC10B}"/>
              </a:ext>
            </a:extLst>
          </p:cNvPr>
          <p:cNvSpPr txBox="1"/>
          <p:nvPr/>
        </p:nvSpPr>
        <p:spPr>
          <a:xfrm>
            <a:off x="800941" y="5034408"/>
            <a:ext cx="74804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在MoCo v2中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，类似于</a:t>
            </a:r>
            <a:r>
              <a:rPr lang="en-US" altLang="zh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SimCLR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</a:t>
            </a:r>
            <a:r>
              <a:rPr lang="zh-CN" altLang="en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增加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非线性映射头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A3572-78E3-12F7-38D4-8CA118E879CB}"/>
              </a:ext>
            </a:extLst>
          </p:cNvPr>
          <p:cNvSpPr txBox="1"/>
          <p:nvPr/>
        </p:nvSpPr>
        <p:spPr>
          <a:xfrm>
            <a:off x="800941" y="5617154"/>
            <a:ext cx="10505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保留MoCo的总体结构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，包括：两种</a:t>
            </a:r>
            <a:r>
              <a:rPr lang="en-US" altLang="zh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encoder</a:t>
            </a: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、负样本队列、滑动平均更新动量编码器、梯度下降更新另一个</a:t>
            </a:r>
            <a:r>
              <a:rPr lang="en-US" altLang="zh-CN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encoder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3C22C83-6BE0-7491-A5FD-EF026AB15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21" y="1537057"/>
            <a:ext cx="10447508" cy="265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30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FDA62-6ACA-C090-7888-242C5D0D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853D-8C1A-524E-8384-DC290A0060EC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7627C-D731-04B7-118D-422A498A6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A45A3-81C1-97EA-3218-D35DA6BB14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dirty="0"/>
              <a:t>《机器学习与数据挖掘》@</a:t>
            </a:r>
            <a:r>
              <a:rPr lang="zh-CN" altLang="en-US" dirty="0"/>
              <a:t>中山大学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78A2E-D4B0-F2B1-07EF-E06C5CFCDD8B}"/>
              </a:ext>
            </a:extLst>
          </p:cNvPr>
          <p:cNvSpPr txBox="1"/>
          <p:nvPr/>
        </p:nvSpPr>
        <p:spPr>
          <a:xfrm>
            <a:off x="241743" y="327310"/>
            <a:ext cx="117085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charset="0"/>
              <a:buChar char="•"/>
            </a:pP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消融实验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探究非线性投影头、强数据增强和训练轮数的影响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8DD68-74E0-F202-3C1F-5BEB056A5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8" y="2111245"/>
            <a:ext cx="5308254" cy="3049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116185-7735-805A-DDB6-33C16C26BB04}"/>
              </a:ext>
            </a:extLst>
          </p:cNvPr>
          <p:cNvSpPr txBox="1"/>
          <p:nvPr/>
        </p:nvSpPr>
        <p:spPr>
          <a:xfrm>
            <a:off x="1153077" y="1375703"/>
            <a:ext cx="4541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n-US" altLang="zh-CN" sz="2000" dirty="0" err="1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MoCO</a:t>
            </a:r>
            <a:r>
              <a:rPr lang="en-US" altLang="zh-CN" sz="20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vs SimCLR vs MoCo v2</a:t>
            </a:r>
            <a:endParaRPr lang="en-CN" sz="20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287C3-B969-C0EE-B406-9C7E72E65721}"/>
              </a:ext>
            </a:extLst>
          </p:cNvPr>
          <p:cNvSpPr txBox="1"/>
          <p:nvPr/>
        </p:nvSpPr>
        <p:spPr>
          <a:xfrm>
            <a:off x="6457096" y="2972799"/>
            <a:ext cx="51708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2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非线性投影头和强数据增强能带来显著性能提升</a:t>
            </a:r>
            <a:endParaRPr lang="en-CN" sz="22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138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4E2E6-7346-EE19-AF70-0A1133C8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E795-97B8-A741-99F4-16F4E0CB4313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9EE1C-8047-8F61-C19D-57CD73228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F4A48-38C8-2284-DB3F-51B6106603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B9BBB-7875-F7B8-DA30-B3C9C5C84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6" y="780588"/>
            <a:ext cx="4725671" cy="28703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F2DBA8-866B-1683-0B79-8EAA59BB9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46" y="4383589"/>
            <a:ext cx="4903639" cy="13972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A640C0-651B-B8FD-AEEE-18CE1B654281}"/>
              </a:ext>
            </a:extLst>
          </p:cNvPr>
          <p:cNvSpPr txBox="1"/>
          <p:nvPr/>
        </p:nvSpPr>
        <p:spPr>
          <a:xfrm>
            <a:off x="5779698" y="1702429"/>
            <a:ext cx="60775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解耦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minibatch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大小与负样本大小。在小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batch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的情况下，仍然能实现大负样本的对比学习，取得与大负样本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SimCLR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相当或更好的性能</a:t>
            </a:r>
            <a:endParaRPr lang="en-CN" sz="20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F26B7B-1FC3-14B8-7377-EFFD94D81AC1}"/>
              </a:ext>
            </a:extLst>
          </p:cNvPr>
          <p:cNvSpPr txBox="1"/>
          <p:nvPr/>
        </p:nvSpPr>
        <p:spPr>
          <a:xfrm>
            <a:off x="5779698" y="4485185"/>
            <a:ext cx="5769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MoCo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的内存占用比类似规模的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SimCLR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要小很多（这里的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end-to-end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指</a:t>
            </a:r>
            <a:r>
              <a:rPr lang="en-US" altLang="zh-CN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SimCLR</a:t>
            </a:r>
            <a:r>
              <a:rPr lang="zh-CN" alt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  <a:endParaRPr lang="en-CN" sz="20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64D01C-B952-86D2-3F94-855FF61EC7B6}"/>
              </a:ext>
            </a:extLst>
          </p:cNvPr>
          <p:cNvSpPr/>
          <p:nvPr/>
        </p:nvSpPr>
        <p:spPr>
          <a:xfrm>
            <a:off x="3094965" y="4614532"/>
            <a:ext cx="408523" cy="22459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A6F92-D943-0A08-7F88-6F05ABD5E5D2}"/>
              </a:ext>
            </a:extLst>
          </p:cNvPr>
          <p:cNvSpPr txBox="1"/>
          <p:nvPr/>
        </p:nvSpPr>
        <p:spPr>
          <a:xfrm>
            <a:off x="5779698" y="5253130"/>
            <a:ext cx="5769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2000" dirty="0">
                <a:solidFill>
                  <a:srgbClr val="1A1C1E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对硬件资源稀缺场景非常友好</a:t>
            </a:r>
            <a:endParaRPr lang="en-CN" sz="2000" dirty="0">
              <a:solidFill>
                <a:srgbClr val="1A1C1E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737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3DD037-5CF5-0BAB-B59E-8BE575C8E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8ED0C0-4EE2-6E1F-A711-37A58BD7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课堂小结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93495-8B5D-F3C1-AFF6-80DDA31812C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A3374D-A516-D642-916B-144D08F3C079}" type="datetime1">
              <a:rPr lang="en-US" smtClean="0"/>
              <a:t>12/26/25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02FDC-5EA2-2C1D-E9FC-8A5EAAC5A9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en-US"/>
              <a:t>机器学习与数据挖掘</a:t>
            </a:r>
            <a:r>
              <a:rPr lang="en-US" altLang="zh-CN"/>
              <a:t>》@</a:t>
            </a:r>
            <a:r>
              <a:rPr lang="zh-CN" altLang="en-US"/>
              <a:t>中山大学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5DF88-B659-6878-BC33-CDB34A319105}"/>
              </a:ext>
            </a:extLst>
          </p:cNvPr>
          <p:cNvSpPr txBox="1"/>
          <p:nvPr/>
        </p:nvSpPr>
        <p:spPr>
          <a:xfrm>
            <a:off x="487408" y="946912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表示学习的目标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8F7E7-309F-A1CF-F016-0BE15BC6015E}"/>
              </a:ext>
            </a:extLst>
          </p:cNvPr>
          <p:cNvSpPr txBox="1"/>
          <p:nvPr/>
        </p:nvSpPr>
        <p:spPr>
          <a:xfrm>
            <a:off x="487408" y="1505712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基于迁移学习的表示学习方法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E65A5-0104-B953-BA5A-C4A75D1821AA}"/>
              </a:ext>
            </a:extLst>
          </p:cNvPr>
          <p:cNvSpPr txBox="1"/>
          <p:nvPr/>
        </p:nvSpPr>
        <p:spPr>
          <a:xfrm>
            <a:off x="508000" y="2064512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——SimCLR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8E2B3-447F-52D0-61F2-938080C47B63}"/>
              </a:ext>
            </a:extLst>
          </p:cNvPr>
          <p:cNvSpPr txBox="1"/>
          <p:nvPr/>
        </p:nvSpPr>
        <p:spPr>
          <a:xfrm>
            <a:off x="508000" y="2662728"/>
            <a:ext cx="5882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r>
              <a:rPr lang="en-US" altLang="zh-CN" sz="2200" dirty="0">
                <a:solidFill>
                  <a:srgbClr val="1A1C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——MoCo &amp; MoCo v2</a:t>
            </a:r>
            <a:endParaRPr lang="en-CN" sz="2200" dirty="0">
              <a:solidFill>
                <a:srgbClr val="1A1C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324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>
          <a:defRPr sz="2200" dirty="0">
            <a:latin typeface="Helvetica" charset="0"/>
            <a:ea typeface="Helvetica" charset="0"/>
            <a:cs typeface="Helvetic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6-Neural Networks" id="{3383C3DD-2FB0-F045-8EB5-49ACD2E5693F}" vid="{41CCD843-D35A-3745-A205-51C34435B6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SYSU_Class_v2</Template>
  <TotalTime>14041</TotalTime>
  <Words>1767</Words>
  <Application>Microsoft Macintosh PowerPoint</Application>
  <PresentationFormat>Widescreen</PresentationFormat>
  <Paragraphs>268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.AppleSystemUIFont</vt:lpstr>
      <vt:lpstr>Kaiti SC</vt:lpstr>
      <vt:lpstr>微软雅黑</vt:lpstr>
      <vt:lpstr>微软雅黑</vt:lpstr>
      <vt:lpstr>Microsoft YaHei Semibold</vt:lpstr>
      <vt:lpstr>黑体</vt:lpstr>
      <vt:lpstr>黑体</vt:lpstr>
      <vt:lpstr>STKaiti</vt:lpstr>
      <vt:lpstr>System Font Regular</vt:lpstr>
      <vt:lpstr>Zapf Dingbats</vt:lpstr>
      <vt:lpstr>Arial</vt:lpstr>
      <vt:lpstr>Calibri</vt:lpstr>
      <vt:lpstr>Cambria Math</vt:lpstr>
      <vt:lpstr>Helvetica</vt:lpstr>
      <vt:lpstr>Wingdings</vt:lpstr>
      <vt:lpstr>Office Theme</vt:lpstr>
      <vt:lpstr>PowerPoint Presentation</vt:lpstr>
      <vt:lpstr>什么是表示学习？</vt:lpstr>
      <vt:lpstr>表示学习的目标</vt:lpstr>
      <vt:lpstr>表示学习的目标</vt:lpstr>
      <vt:lpstr>PowerPoint Presentation</vt:lpstr>
      <vt:lpstr>为什么需要表示学习？</vt:lpstr>
      <vt:lpstr>大纲</vt:lpstr>
      <vt:lpstr>PowerPoint Presentation</vt:lpstr>
      <vt:lpstr>PowerPoint Presentation</vt:lpstr>
      <vt:lpstr>PowerPoint Presentation</vt:lpstr>
      <vt:lpstr>大纲</vt:lpstr>
      <vt:lpstr>PCA的线性自编码器视角</vt:lpstr>
      <vt:lpstr>PowerPoint Presentation</vt:lpstr>
      <vt:lpstr>大纲</vt:lpstr>
      <vt:lpstr>对比学习：SimCLR [Chen et al., 2020]</vt:lpstr>
      <vt:lpstr>PowerPoint Presentation</vt:lpstr>
      <vt:lpstr>PowerPoint Presentation</vt:lpstr>
      <vt:lpstr>表示质量评估</vt:lpstr>
      <vt:lpstr>PowerPoint Presentation</vt:lpstr>
      <vt:lpstr>SimCLR 的设计选择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大纲</vt:lpstr>
      <vt:lpstr>MoCo [He et al., 2019]</vt:lpstr>
      <vt:lpstr>PowerPoint Presentation</vt:lpstr>
      <vt:lpstr>PowerPoint Presentation</vt:lpstr>
      <vt:lpstr>PowerPoint Presentation</vt:lpstr>
      <vt:lpstr>PowerPoint Presentation</vt:lpstr>
      <vt:lpstr>课堂小结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Qinliang Su, Ph.D.</dc:creator>
  <cp:lastModifiedBy>Dr. Shangsong Liang</cp:lastModifiedBy>
  <cp:revision>339</cp:revision>
  <cp:lastPrinted>2021-03-23T06:04:01Z</cp:lastPrinted>
  <dcterms:created xsi:type="dcterms:W3CDTF">2020-02-28T14:05:04Z</dcterms:created>
  <dcterms:modified xsi:type="dcterms:W3CDTF">2025-12-26T01:52:23Z</dcterms:modified>
</cp:coreProperties>
</file>