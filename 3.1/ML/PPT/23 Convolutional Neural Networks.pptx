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0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6" r:id="rId51"/>
    <p:sldId id="307" r:id="rId52"/>
    <p:sldId id="308" r:id="rId53"/>
    <p:sldId id="309" r:id="rId54"/>
    <p:sldId id="310" r:id="rId55"/>
    <p:sldId id="311" r:id="rId56"/>
    <p:sldId id="312" r:id="rId57"/>
    <p:sldId id="313" r:id="rId58"/>
    <p:sldId id="314" r:id="rId59"/>
    <p:sldId id="315" r:id="rId60"/>
    <p:sldId id="316" r:id="rId61"/>
    <p:sldId id="317" r:id="rId62"/>
    <p:sldId id="318" r:id="rId63"/>
    <p:sldId id="319" r:id="rId64"/>
    <p:sldId id="320" r:id="rId65"/>
    <p:sldId id="321" r:id="rId66"/>
    <p:sldId id="322" r:id="rId67"/>
    <p:sldId id="323" r:id="rId68"/>
    <p:sldId id="324" r:id="rId69"/>
    <p:sldId id="325" r:id="rId70"/>
    <p:sldId id="326" r:id="rId71"/>
    <p:sldId id="327" r:id="rId72"/>
    <p:sldId id="328" r:id="rId73"/>
    <p:sldId id="329" r:id="rId74"/>
    <p:sldId id="330" r:id="rId75"/>
    <p:sldId id="331" r:id="rId76"/>
    <p:sldId id="332" r:id="rId77"/>
    <p:sldId id="333" r:id="rId78"/>
    <p:sldId id="334" r:id="rId79"/>
    <p:sldId id="335" r:id="rId80"/>
    <p:sldId id="336" r:id="rId81"/>
    <p:sldId id="337" r:id="rId82"/>
    <p:sldId id="338" r:id="rId83"/>
    <p:sldId id="339" r:id="rId84"/>
    <p:sldId id="340" r:id="rId85"/>
    <p:sldId id="341" r:id="rId86"/>
    <p:sldId id="342" r:id="rId87"/>
    <p:sldId id="343" r:id="rId88"/>
    <p:sldId id="344" r:id="rId89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41"/>
    <p:restoredTop sz="94662"/>
  </p:normalViewPr>
  <p:slideViewPr>
    <p:cSldViewPr>
      <p:cViewPr varScale="1">
        <p:scale>
          <a:sx n="162" d="100"/>
          <a:sy n="162" d="100"/>
        </p:scale>
        <p:origin x="904" y="19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notesMaster" Target="notesMasters/notesMaster1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viewProps" Target="viewProps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0F7BF8-014D-8346-BD75-7703DB18CED7}" type="datetimeFigureOut">
              <a:rPr lang="en-US" smtClean="0"/>
              <a:t>12/12/24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942F36-4842-9A49-91A8-134B7C30E8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13606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pc="-10" dirty="0"/>
              <a:t>Produced</a:t>
            </a:r>
            <a:r>
              <a:rPr lang="zh-CN" altLang="en-US" spc="-10" dirty="0"/>
              <a:t> </a:t>
            </a:r>
            <a:r>
              <a:rPr lang="en-US" altLang="zh-CN" spc="-10" dirty="0"/>
              <a:t>by</a:t>
            </a:r>
            <a:r>
              <a:rPr lang="zh-CN" altLang="en-US" spc="-10" dirty="0"/>
              <a:t> </a:t>
            </a:r>
            <a:r>
              <a:rPr lang="en-US" spc="-10" dirty="0"/>
              <a:t>Fei-</a:t>
            </a:r>
            <a:r>
              <a:rPr lang="en-US" dirty="0"/>
              <a:t>Fei</a:t>
            </a:r>
            <a:r>
              <a:rPr lang="en-US" spc="-15" dirty="0"/>
              <a:t> </a:t>
            </a:r>
            <a:r>
              <a:rPr lang="en-US" dirty="0"/>
              <a:t>Li</a:t>
            </a:r>
            <a:r>
              <a:rPr lang="en-US" spc="-10" dirty="0"/>
              <a:t> </a:t>
            </a:r>
            <a:r>
              <a:rPr lang="en-US" dirty="0"/>
              <a:t>&amp;</a:t>
            </a:r>
            <a:r>
              <a:rPr lang="en-US" spc="-10" dirty="0"/>
              <a:t> </a:t>
            </a:r>
            <a:r>
              <a:rPr lang="en-US" dirty="0"/>
              <a:t>Andrej</a:t>
            </a:r>
            <a:r>
              <a:rPr lang="en-US" spc="-15" dirty="0"/>
              <a:t> </a:t>
            </a:r>
            <a:r>
              <a:rPr lang="en-US" dirty="0" err="1"/>
              <a:t>Karpathy</a:t>
            </a:r>
            <a:r>
              <a:rPr lang="en-US" spc="-10" dirty="0"/>
              <a:t> </a:t>
            </a:r>
            <a:r>
              <a:rPr lang="en-US" dirty="0"/>
              <a:t>&amp;</a:t>
            </a:r>
            <a:r>
              <a:rPr lang="en-US" spc="-10" dirty="0"/>
              <a:t> </a:t>
            </a:r>
            <a:r>
              <a:rPr lang="en-US" dirty="0"/>
              <a:t>Justin</a:t>
            </a:r>
            <a:r>
              <a:rPr lang="en-US" spc="-10" dirty="0"/>
              <a:t> Johnson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942F36-4842-9A49-91A8-134B7C30E85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2033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54997" y="240540"/>
            <a:ext cx="5608320" cy="100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425575">
              <a:lnSpc>
                <a:spcPts val="231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  <p:sp>
        <p:nvSpPr>
          <p:cNvPr id="7" name="object 10">
            <a:extLst>
              <a:ext uri="{FF2B5EF4-FFF2-40B4-BE49-F238E27FC236}">
                <a16:creationId xmlns:a16="http://schemas.microsoft.com/office/drawing/2014/main" id="{271D44B5-0980-8C49-9A68-87243BC5342B}"/>
              </a:ext>
            </a:extLst>
          </p:cNvPr>
          <p:cNvSpPr txBox="1">
            <a:spLocks noGrp="1"/>
          </p:cNvSpPr>
          <p:nvPr>
            <p:ph type="dt" sz="half" idx="4294967295"/>
          </p:nvPr>
        </p:nvSpPr>
        <p:spPr>
          <a:xfrm>
            <a:off x="145224" y="4740846"/>
            <a:ext cx="4699000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12700">
              <a:lnSpc>
                <a:spcPts val="2090"/>
              </a:lnSpc>
            </a:pPr>
            <a:r>
              <a:rPr lang="en-US" altLang="zh-CN" spc="-10" dirty="0"/>
              <a:t>Convolutional Neural Networks</a:t>
            </a:r>
            <a:endParaRPr lang="en-US" spc="-1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425575">
              <a:lnSpc>
                <a:spcPts val="231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  <p:sp>
        <p:nvSpPr>
          <p:cNvPr id="7" name="object 10">
            <a:extLst>
              <a:ext uri="{FF2B5EF4-FFF2-40B4-BE49-F238E27FC236}">
                <a16:creationId xmlns:a16="http://schemas.microsoft.com/office/drawing/2014/main" id="{E9172E9F-F8CC-5C4B-A936-E0F881326261}"/>
              </a:ext>
            </a:extLst>
          </p:cNvPr>
          <p:cNvSpPr txBox="1">
            <a:spLocks noGrp="1"/>
          </p:cNvSpPr>
          <p:nvPr>
            <p:ph type="dt" sz="half" idx="4294967295"/>
          </p:nvPr>
        </p:nvSpPr>
        <p:spPr>
          <a:xfrm>
            <a:off x="145224" y="4740846"/>
            <a:ext cx="4699000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12700">
              <a:lnSpc>
                <a:spcPts val="2090"/>
              </a:lnSpc>
            </a:pPr>
            <a:r>
              <a:rPr lang="en-US" altLang="zh-CN" spc="-10" dirty="0"/>
              <a:t>Convolutional Neural Networks</a:t>
            </a:r>
            <a:endParaRPr lang="en-US" spc="-1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425575">
              <a:lnSpc>
                <a:spcPts val="231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  <p:sp>
        <p:nvSpPr>
          <p:cNvPr id="8" name="object 10">
            <a:extLst>
              <a:ext uri="{FF2B5EF4-FFF2-40B4-BE49-F238E27FC236}">
                <a16:creationId xmlns:a16="http://schemas.microsoft.com/office/drawing/2014/main" id="{C41DC848-BFE5-CB49-8EE2-3AF9DD0247F1}"/>
              </a:ext>
            </a:extLst>
          </p:cNvPr>
          <p:cNvSpPr txBox="1">
            <a:spLocks noGrp="1"/>
          </p:cNvSpPr>
          <p:nvPr>
            <p:ph type="dt" sz="half" idx="4294967295"/>
          </p:nvPr>
        </p:nvSpPr>
        <p:spPr>
          <a:xfrm>
            <a:off x="145224" y="4740846"/>
            <a:ext cx="4699000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12700">
              <a:lnSpc>
                <a:spcPts val="2090"/>
              </a:lnSpc>
            </a:pPr>
            <a:r>
              <a:rPr lang="en-US" altLang="zh-CN" spc="-10" dirty="0"/>
              <a:t>Convolutional Neural Networks</a:t>
            </a:r>
            <a:endParaRPr lang="en-US" spc="-1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425575">
              <a:lnSpc>
                <a:spcPts val="231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  <p:sp>
        <p:nvSpPr>
          <p:cNvPr id="6" name="object 10">
            <a:extLst>
              <a:ext uri="{FF2B5EF4-FFF2-40B4-BE49-F238E27FC236}">
                <a16:creationId xmlns:a16="http://schemas.microsoft.com/office/drawing/2014/main" id="{70DA758A-F389-B74A-8A47-46509CB52D7C}"/>
              </a:ext>
            </a:extLst>
          </p:cNvPr>
          <p:cNvSpPr txBox="1">
            <a:spLocks noGrp="1"/>
          </p:cNvSpPr>
          <p:nvPr>
            <p:ph type="dt" sz="half" idx="4294967295"/>
          </p:nvPr>
        </p:nvSpPr>
        <p:spPr>
          <a:xfrm>
            <a:off x="145224" y="4740846"/>
            <a:ext cx="4699000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12700">
              <a:lnSpc>
                <a:spcPts val="2090"/>
              </a:lnSpc>
            </a:pPr>
            <a:r>
              <a:rPr lang="en-US" altLang="zh-CN" spc="-10" dirty="0"/>
              <a:t>Convolutional Neural Networks</a:t>
            </a:r>
            <a:endParaRPr lang="en-US" spc="-1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425575">
              <a:lnSpc>
                <a:spcPts val="231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  <p:sp>
        <p:nvSpPr>
          <p:cNvPr id="6" name="object 10">
            <a:extLst>
              <a:ext uri="{FF2B5EF4-FFF2-40B4-BE49-F238E27FC236}">
                <a16:creationId xmlns:a16="http://schemas.microsoft.com/office/drawing/2014/main" id="{178245C2-0CF1-6543-ABA2-E4A35D6A7FA7}"/>
              </a:ext>
            </a:extLst>
          </p:cNvPr>
          <p:cNvSpPr txBox="1">
            <a:spLocks noGrp="1"/>
          </p:cNvSpPr>
          <p:nvPr>
            <p:ph type="dt" sz="half" idx="4294967295"/>
          </p:nvPr>
        </p:nvSpPr>
        <p:spPr>
          <a:xfrm>
            <a:off x="145224" y="4740846"/>
            <a:ext cx="4699000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12700">
              <a:lnSpc>
                <a:spcPts val="2090"/>
              </a:lnSpc>
            </a:pPr>
            <a:r>
              <a:rPr lang="en-US" altLang="zh-CN" spc="-10" dirty="0"/>
              <a:t>Convolutional Neural Networks</a:t>
            </a:r>
            <a:endParaRPr lang="en-US" spc="-1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4624120"/>
            <a:ext cx="9144000" cy="519430"/>
          </a:xfrm>
          <a:custGeom>
            <a:avLst/>
            <a:gdLst/>
            <a:ahLst/>
            <a:cxnLst/>
            <a:rect l="l" t="t" r="r" b="b"/>
            <a:pathLst>
              <a:path w="9144000" h="519429">
                <a:moveTo>
                  <a:pt x="9143975" y="0"/>
                </a:moveTo>
                <a:lnTo>
                  <a:pt x="0" y="0"/>
                </a:lnTo>
                <a:lnTo>
                  <a:pt x="0" y="519379"/>
                </a:lnTo>
                <a:lnTo>
                  <a:pt x="9143975" y="519379"/>
                </a:lnTo>
                <a:lnTo>
                  <a:pt x="9143975" y="0"/>
                </a:lnTo>
                <a:close/>
              </a:path>
            </a:pathLst>
          </a:custGeom>
          <a:solidFill>
            <a:srgbClr val="8C141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25099" y="-46830"/>
            <a:ext cx="8693800" cy="965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58149" y="1896315"/>
            <a:ext cx="5396865" cy="19570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399118" y="4704893"/>
            <a:ext cx="1618329" cy="318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425575">
              <a:lnSpc>
                <a:spcPts val="231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7" Type="http://schemas.openxmlformats.org/officeDocument/2006/relationships/image" Target="../media/image16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jpg"/><Relationship Id="rId4" Type="http://schemas.openxmlformats.org/officeDocument/2006/relationships/image" Target="../media/image13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5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5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5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4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hyperlink" Target="http://cs.stanford.edu/people/karpathy/convnetjs/demo/cifar10.html" TargetMode="Externa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3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g"/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g"/><Relationship Id="rId2" Type="http://schemas.openxmlformats.org/officeDocument/2006/relationships/hyperlink" Target="https://www.youtube.com/watch?v=1PGLj-uKT1w" TargetMode="Externa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5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5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g"/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4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g"/><Relationship Id="rId1" Type="http://schemas.openxmlformats.org/officeDocument/2006/relationships/slideLayout" Target="../slideLayouts/slideLayout4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g"/><Relationship Id="rId2" Type="http://schemas.openxmlformats.org/officeDocument/2006/relationships/image" Target="../media/image47.jp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g"/><Relationship Id="rId2" Type="http://schemas.openxmlformats.org/officeDocument/2006/relationships/image" Target="../media/image48.jpg"/><Relationship Id="rId1" Type="http://schemas.openxmlformats.org/officeDocument/2006/relationships/slideLayout" Target="../slideLayouts/slideLayout4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jpg"/><Relationship Id="rId2" Type="http://schemas.openxmlformats.org/officeDocument/2006/relationships/image" Target="../media/image50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2.jpg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jpg"/><Relationship Id="rId1" Type="http://schemas.openxmlformats.org/officeDocument/2006/relationships/slideLayout" Target="../slideLayouts/slideLayout5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xfrm>
            <a:off x="457200" y="2876550"/>
            <a:ext cx="6476999" cy="11823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85289" algn="ctr">
              <a:lnSpc>
                <a:spcPct val="100000"/>
              </a:lnSpc>
              <a:spcBef>
                <a:spcPts val="100"/>
              </a:spcBef>
            </a:pPr>
            <a:r>
              <a:rPr lang="en-US" altLang="zh-CN" sz="3800" spc="-260" dirty="0">
                <a:latin typeface="Verdana"/>
                <a:cs typeface="Verdana"/>
              </a:rPr>
              <a:t>Shangsong</a:t>
            </a:r>
            <a:r>
              <a:rPr lang="zh-CN" altLang="en-US" sz="3800" spc="-260" dirty="0">
                <a:latin typeface="Verdana"/>
                <a:cs typeface="Verdana"/>
              </a:rPr>
              <a:t> </a:t>
            </a:r>
            <a:r>
              <a:rPr lang="en-US" altLang="zh-CN" sz="3800" spc="-260" dirty="0">
                <a:latin typeface="Verdana"/>
                <a:cs typeface="Verdana"/>
              </a:rPr>
              <a:t>Liang</a:t>
            </a:r>
            <a:br>
              <a:rPr lang="en-US" altLang="zh-CN" sz="3800" spc="-260" dirty="0">
                <a:latin typeface="Verdana"/>
                <a:cs typeface="Verdana"/>
              </a:rPr>
            </a:br>
            <a:r>
              <a:rPr lang="en-US" altLang="zh-CN" sz="3800" spc="-260" dirty="0">
                <a:latin typeface="Verdana"/>
                <a:cs typeface="Verdana"/>
              </a:rPr>
              <a:t>SYSU</a:t>
            </a:r>
            <a:endParaRPr sz="3800" dirty="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399118" y="4704893"/>
            <a:ext cx="1238885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Lecture</a:t>
            </a:r>
            <a:r>
              <a:rPr sz="20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7</a:t>
            </a:r>
            <a:r>
              <a:rPr sz="20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50" dirty="0">
                <a:solidFill>
                  <a:srgbClr val="FFFFFF"/>
                </a:solidFill>
                <a:latin typeface="Arial"/>
                <a:cs typeface="Arial"/>
              </a:rPr>
              <a:t>-</a:t>
            </a:r>
            <a:endParaRPr sz="2000">
              <a:latin typeface="Arial"/>
              <a:cs typeface="Arial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25575">
              <a:lnSpc>
                <a:spcPts val="2310"/>
              </a:lnSpc>
            </a:pPr>
            <a:fld id="{81D60167-4931-47E6-BA6A-407CBD079E47}" type="slidenum">
              <a:rPr spc="-50" dirty="0"/>
              <a:t>1</a:t>
            </a:fld>
            <a:endParaRPr spc="-50" dirty="0"/>
          </a:p>
        </p:txBody>
      </p:sp>
      <p:sp>
        <p:nvSpPr>
          <p:cNvPr id="4" name="object 4"/>
          <p:cNvSpPr txBox="1"/>
          <p:nvPr/>
        </p:nvSpPr>
        <p:spPr>
          <a:xfrm>
            <a:off x="371973" y="1707387"/>
            <a:ext cx="846772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285" dirty="0">
                <a:latin typeface="Verdana"/>
                <a:cs typeface="Verdana"/>
              </a:rPr>
              <a:t>Convolutional</a:t>
            </a:r>
            <a:r>
              <a:rPr sz="4800" spc="-340" dirty="0">
                <a:latin typeface="Verdana"/>
                <a:cs typeface="Verdana"/>
              </a:rPr>
              <a:t> </a:t>
            </a:r>
            <a:r>
              <a:rPr sz="4800" spc="-320" dirty="0">
                <a:latin typeface="Verdana"/>
                <a:cs typeface="Verdana"/>
              </a:rPr>
              <a:t>Neural</a:t>
            </a:r>
            <a:r>
              <a:rPr sz="4800" spc="-335" dirty="0">
                <a:latin typeface="Verdana"/>
                <a:cs typeface="Verdana"/>
              </a:rPr>
              <a:t> </a:t>
            </a:r>
            <a:r>
              <a:rPr sz="4800" spc="-295" dirty="0">
                <a:latin typeface="Verdana"/>
                <a:cs typeface="Verdana"/>
              </a:rPr>
              <a:t>Networks</a:t>
            </a:r>
            <a:endParaRPr sz="4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0424" y="155536"/>
            <a:ext cx="3424554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30" dirty="0">
                <a:latin typeface="Arial"/>
                <a:cs typeface="Arial"/>
              </a:rPr>
              <a:t>Mini-</a:t>
            </a:r>
            <a:r>
              <a:rPr b="1" dirty="0">
                <a:latin typeface="Arial"/>
                <a:cs typeface="Arial"/>
              </a:rPr>
              <a:t>batch</a:t>
            </a:r>
            <a:r>
              <a:rPr b="1" spc="-85" dirty="0">
                <a:latin typeface="Arial"/>
                <a:cs typeface="Arial"/>
              </a:rPr>
              <a:t> </a:t>
            </a:r>
            <a:r>
              <a:rPr b="1" spc="-25" dirty="0">
                <a:latin typeface="Arial"/>
                <a:cs typeface="Arial"/>
              </a:rPr>
              <a:t>SGD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66949" y="867830"/>
            <a:ext cx="6348095" cy="1838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ts val="2865"/>
              </a:lnSpc>
              <a:spcBef>
                <a:spcPts val="100"/>
              </a:spcBef>
            </a:pPr>
            <a:r>
              <a:rPr sz="2400" spc="-10" dirty="0">
                <a:latin typeface="Arial"/>
                <a:cs typeface="Arial"/>
              </a:rPr>
              <a:t>Loop:</a:t>
            </a:r>
            <a:endParaRPr sz="2400">
              <a:latin typeface="Arial"/>
              <a:cs typeface="Arial"/>
            </a:endParaRPr>
          </a:p>
          <a:p>
            <a:pPr marL="495300" indent="-482600">
              <a:lnSpc>
                <a:spcPts val="2850"/>
              </a:lnSpc>
              <a:buFont typeface="Arial"/>
              <a:buAutoNum type="arabicPeriod"/>
              <a:tabLst>
                <a:tab pos="495300" algn="l"/>
              </a:tabLst>
            </a:pPr>
            <a:r>
              <a:rPr sz="2400" b="1" dirty="0">
                <a:latin typeface="Arial"/>
                <a:cs typeface="Arial"/>
              </a:rPr>
              <a:t>Sample</a:t>
            </a:r>
            <a:r>
              <a:rPr sz="2400" b="1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batch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data</a:t>
            </a:r>
            <a:endParaRPr sz="2400">
              <a:latin typeface="Arial"/>
              <a:cs typeface="Arial"/>
            </a:endParaRPr>
          </a:p>
          <a:p>
            <a:pPr marL="495300" indent="-482600">
              <a:lnSpc>
                <a:spcPts val="2850"/>
              </a:lnSpc>
              <a:buFont typeface="Arial"/>
              <a:buAutoNum type="arabicPeriod"/>
              <a:tabLst>
                <a:tab pos="495300" algn="l"/>
              </a:tabLst>
            </a:pPr>
            <a:r>
              <a:rPr sz="2400" b="1" dirty="0">
                <a:latin typeface="Arial"/>
                <a:cs typeface="Arial"/>
              </a:rPr>
              <a:t>Forward</a:t>
            </a:r>
            <a:r>
              <a:rPr sz="2400" b="1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prop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it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through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graph,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get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loss</a:t>
            </a:r>
            <a:endParaRPr sz="2400">
              <a:latin typeface="Arial"/>
              <a:cs typeface="Arial"/>
            </a:endParaRPr>
          </a:p>
          <a:p>
            <a:pPr marL="495300" indent="-482600">
              <a:lnSpc>
                <a:spcPts val="2850"/>
              </a:lnSpc>
              <a:buFont typeface="Arial"/>
              <a:buAutoNum type="arabicPeriod"/>
              <a:tabLst>
                <a:tab pos="495300" algn="l"/>
              </a:tabLst>
            </a:pPr>
            <a:r>
              <a:rPr sz="2400" b="1" dirty="0">
                <a:latin typeface="Arial"/>
                <a:cs typeface="Arial"/>
              </a:rPr>
              <a:t>Backprop</a:t>
            </a:r>
            <a:r>
              <a:rPr sz="2400" b="1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-9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calculate</a:t>
            </a:r>
            <a:r>
              <a:rPr sz="2400" spc="-8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8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gradients</a:t>
            </a:r>
            <a:endParaRPr sz="2400">
              <a:latin typeface="Arial"/>
              <a:cs typeface="Arial"/>
            </a:endParaRPr>
          </a:p>
          <a:p>
            <a:pPr marL="495300" indent="-482600">
              <a:lnSpc>
                <a:spcPts val="2865"/>
              </a:lnSpc>
              <a:buFont typeface="Arial"/>
              <a:buAutoNum type="arabicPeriod"/>
              <a:tabLst>
                <a:tab pos="495300" algn="l"/>
              </a:tabLst>
            </a:pPr>
            <a:r>
              <a:rPr sz="2400" b="1" dirty="0">
                <a:latin typeface="Arial"/>
                <a:cs typeface="Arial"/>
              </a:rPr>
              <a:t>Update</a:t>
            </a:r>
            <a:r>
              <a:rPr sz="2400" b="1" spc="-8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8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parameters</a:t>
            </a:r>
            <a:r>
              <a:rPr sz="2400" spc="-8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using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8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gradient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431995" y="2817081"/>
            <a:ext cx="3301365" cy="1629410"/>
            <a:chOff x="2431995" y="2817081"/>
            <a:chExt cx="3301365" cy="162941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41520" y="2826619"/>
              <a:ext cx="3282018" cy="159744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2436757" y="2821844"/>
              <a:ext cx="3291840" cy="1619885"/>
            </a:xfrm>
            <a:custGeom>
              <a:avLst/>
              <a:gdLst/>
              <a:ahLst/>
              <a:cxnLst/>
              <a:rect l="l" t="t" r="r" b="b"/>
              <a:pathLst>
                <a:path w="3291840" h="1619885">
                  <a:moveTo>
                    <a:pt x="0" y="0"/>
                  </a:moveTo>
                  <a:lnTo>
                    <a:pt x="3291530" y="0"/>
                  </a:lnTo>
                  <a:lnTo>
                    <a:pt x="3291530" y="1619446"/>
                  </a:lnTo>
                  <a:lnTo>
                    <a:pt x="0" y="1619446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0">
            <a:extLst>
              <a:ext uri="{FF2B5EF4-FFF2-40B4-BE49-F238E27FC236}">
                <a16:creationId xmlns:a16="http://schemas.microsoft.com/office/drawing/2014/main" id="{E54C7C07-3910-3C45-8B17-0E1B71856F16}"/>
              </a:ext>
            </a:extLst>
          </p:cNvPr>
          <p:cNvSpPr txBox="1">
            <a:spLocks noGrp="1"/>
          </p:cNvSpPr>
          <p:nvPr>
            <p:ph type="dt" sz="half" idx="4294967295"/>
          </p:nvPr>
        </p:nvSpPr>
        <p:spPr>
          <a:xfrm>
            <a:off x="145224" y="4740846"/>
            <a:ext cx="4699000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lang="en-US" altLang="zh-CN" spc="-10" dirty="0">
                <a:solidFill>
                  <a:schemeClr val="bg1"/>
                </a:solidFill>
              </a:rPr>
              <a:t>Convolutional</a:t>
            </a:r>
            <a:r>
              <a:rPr lang="zh-CN" altLang="en-US" spc="-10" dirty="0">
                <a:solidFill>
                  <a:schemeClr val="bg1"/>
                </a:solidFill>
              </a:rPr>
              <a:t> </a:t>
            </a:r>
            <a:r>
              <a:rPr lang="en-US" altLang="zh-CN" spc="-10" dirty="0">
                <a:solidFill>
                  <a:schemeClr val="bg1"/>
                </a:solidFill>
              </a:rPr>
              <a:t>Neural</a:t>
            </a:r>
            <a:r>
              <a:rPr lang="zh-CN" altLang="en-US" spc="-10" dirty="0">
                <a:solidFill>
                  <a:schemeClr val="bg1"/>
                </a:solidFill>
              </a:rPr>
              <a:t> </a:t>
            </a:r>
            <a:r>
              <a:rPr lang="en-US" altLang="zh-CN" spc="-10" dirty="0">
                <a:solidFill>
                  <a:schemeClr val="bg1"/>
                </a:solidFill>
              </a:rPr>
              <a:t>Networks</a:t>
            </a:r>
            <a:endParaRPr spc="-1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53619" y="507998"/>
            <a:ext cx="3636742" cy="3629667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737615" y="4285679"/>
            <a:ext cx="221742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"/>
                <a:cs typeface="Arial"/>
              </a:rPr>
              <a:t>Image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credits: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Alec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Radford</a:t>
            </a:r>
            <a:endParaRPr sz="1400">
              <a:latin typeface="Arial"/>
              <a:cs typeface="Arial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dt" sz="half" idx="4294967295"/>
          </p:nvPr>
        </p:nvSpPr>
        <p:spPr>
          <a:xfrm>
            <a:off x="145224" y="4740846"/>
            <a:ext cx="4699000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lang="en-US" altLang="zh-CN" spc="-10" dirty="0"/>
              <a:t>Convolutional</a:t>
            </a:r>
            <a:r>
              <a:rPr lang="zh-CN" altLang="en-US" spc="-10" dirty="0"/>
              <a:t> </a:t>
            </a:r>
            <a:r>
              <a:rPr lang="en-US" altLang="zh-CN" spc="-10" dirty="0"/>
              <a:t>Neural</a:t>
            </a:r>
            <a:r>
              <a:rPr lang="zh-CN" altLang="en-US" spc="-10" dirty="0"/>
              <a:t> </a:t>
            </a:r>
            <a:r>
              <a:rPr lang="en-US" altLang="zh-CN" spc="-10" dirty="0"/>
              <a:t>Networks</a:t>
            </a:r>
            <a:endParaRPr spc="-10" dirty="0"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12399" y="321083"/>
            <a:ext cx="180467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3000" spc="-10" dirty="0"/>
              <a:t>Parameter updates</a:t>
            </a:r>
            <a:endParaRPr sz="3000"/>
          </a:p>
        </p:txBody>
      </p:sp>
      <p:sp>
        <p:nvSpPr>
          <p:cNvPr id="5" name="object 5"/>
          <p:cNvSpPr txBox="1"/>
          <p:nvPr/>
        </p:nvSpPr>
        <p:spPr>
          <a:xfrm>
            <a:off x="6671684" y="576560"/>
            <a:ext cx="1713230" cy="149606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635635">
              <a:lnSpc>
                <a:spcPts val="1650"/>
              </a:lnSpc>
              <a:spcBef>
                <a:spcPts val="180"/>
              </a:spcBef>
            </a:pPr>
            <a:r>
              <a:rPr sz="1400" b="1" dirty="0">
                <a:latin typeface="Arial"/>
                <a:cs typeface="Arial"/>
              </a:rPr>
              <a:t>We</a:t>
            </a:r>
            <a:r>
              <a:rPr sz="1400" b="1" spc="-10" dirty="0">
                <a:latin typeface="Arial"/>
                <a:cs typeface="Arial"/>
              </a:rPr>
              <a:t> covered: </a:t>
            </a:r>
            <a:r>
              <a:rPr sz="1400" spc="-20" dirty="0">
                <a:latin typeface="Arial"/>
                <a:cs typeface="Arial"/>
              </a:rPr>
              <a:t>sgd, </a:t>
            </a:r>
            <a:r>
              <a:rPr sz="1400" spc="-10" dirty="0">
                <a:latin typeface="Arial"/>
                <a:cs typeface="Arial"/>
              </a:rPr>
              <a:t>momentum, </a:t>
            </a:r>
            <a:r>
              <a:rPr sz="1400" spc="-20" dirty="0">
                <a:latin typeface="Arial"/>
                <a:cs typeface="Arial"/>
              </a:rPr>
              <a:t>nag,</a:t>
            </a:r>
            <a:r>
              <a:rPr sz="1400" spc="50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adagrad, rmsprop,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ts val="1600"/>
              </a:lnSpc>
            </a:pPr>
            <a:r>
              <a:rPr sz="1400" dirty="0">
                <a:latin typeface="Arial"/>
                <a:cs typeface="Arial"/>
              </a:rPr>
              <a:t>adam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(not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in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this</a:t>
            </a:r>
            <a:r>
              <a:rPr sz="1400" spc="-10" dirty="0">
                <a:latin typeface="Arial"/>
                <a:cs typeface="Arial"/>
              </a:rPr>
              <a:t> vis),</a:t>
            </a:r>
            <a:endParaRPr sz="1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671684" y="2252957"/>
            <a:ext cx="2050414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"/>
                <a:cs typeface="Arial"/>
              </a:rPr>
              <a:t>we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did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not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cover</a:t>
            </a:r>
            <a:r>
              <a:rPr sz="1400" spc="-10" dirty="0">
                <a:latin typeface="Arial"/>
                <a:cs typeface="Arial"/>
              </a:rPr>
              <a:t> adadelta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7824" y="1575274"/>
            <a:ext cx="2421045" cy="2723641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3173872" y="1587877"/>
            <a:ext cx="56489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000FF"/>
                </a:solidFill>
                <a:latin typeface="Arial"/>
                <a:cs typeface="Arial"/>
              </a:rPr>
              <a:t>Forces</a:t>
            </a:r>
            <a:r>
              <a:rPr sz="1800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00FF"/>
                </a:solidFill>
                <a:latin typeface="Arial"/>
                <a:cs typeface="Arial"/>
              </a:rPr>
              <a:t>the</a:t>
            </a:r>
            <a:r>
              <a:rPr sz="1800" spc="-1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00FF"/>
                </a:solidFill>
                <a:latin typeface="Arial"/>
                <a:cs typeface="Arial"/>
              </a:rPr>
              <a:t>network</a:t>
            </a:r>
            <a:r>
              <a:rPr sz="1800" spc="-1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00FF"/>
                </a:solidFill>
                <a:latin typeface="Arial"/>
                <a:cs typeface="Arial"/>
              </a:rPr>
              <a:t>to</a:t>
            </a:r>
            <a:r>
              <a:rPr sz="1800" spc="-1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00FF"/>
                </a:solidFill>
                <a:latin typeface="Arial"/>
                <a:cs typeface="Arial"/>
              </a:rPr>
              <a:t>have</a:t>
            </a:r>
            <a:r>
              <a:rPr sz="1800" spc="-1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00FF"/>
                </a:solidFill>
                <a:latin typeface="Arial"/>
                <a:cs typeface="Arial"/>
              </a:rPr>
              <a:t>a</a:t>
            </a:r>
            <a:r>
              <a:rPr sz="1800" spc="-1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00FF"/>
                </a:solidFill>
                <a:latin typeface="Arial"/>
                <a:cs typeface="Arial"/>
              </a:rPr>
              <a:t>redundant</a:t>
            </a:r>
            <a:r>
              <a:rPr sz="1800" spc="-1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0000FF"/>
                </a:solidFill>
                <a:latin typeface="Arial"/>
                <a:cs typeface="Arial"/>
              </a:rPr>
              <a:t>representation.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783204" y="2127083"/>
            <a:ext cx="1133475" cy="2141855"/>
            <a:chOff x="3783204" y="2127083"/>
            <a:chExt cx="1133475" cy="2141855"/>
          </a:xfrm>
        </p:grpSpPr>
        <p:sp>
          <p:nvSpPr>
            <p:cNvPr id="5" name="object 5"/>
            <p:cNvSpPr/>
            <p:nvPr/>
          </p:nvSpPr>
          <p:spPr>
            <a:xfrm>
              <a:off x="3787967" y="2131845"/>
              <a:ext cx="393700" cy="393700"/>
            </a:xfrm>
            <a:custGeom>
              <a:avLst/>
              <a:gdLst/>
              <a:ahLst/>
              <a:cxnLst/>
              <a:rect l="l" t="t" r="r" b="b"/>
              <a:pathLst>
                <a:path w="393700" h="393700">
                  <a:moveTo>
                    <a:pt x="196799" y="393599"/>
                  </a:moveTo>
                  <a:lnTo>
                    <a:pt x="151672" y="388401"/>
                  </a:lnTo>
                  <a:lnTo>
                    <a:pt x="110247" y="373596"/>
                  </a:lnTo>
                  <a:lnTo>
                    <a:pt x="73707" y="350364"/>
                  </a:lnTo>
                  <a:lnTo>
                    <a:pt x="43231" y="319887"/>
                  </a:lnTo>
                  <a:lnTo>
                    <a:pt x="20001" y="283347"/>
                  </a:lnTo>
                  <a:lnTo>
                    <a:pt x="5197" y="241924"/>
                  </a:lnTo>
                  <a:lnTo>
                    <a:pt x="0" y="196799"/>
                  </a:lnTo>
                  <a:lnTo>
                    <a:pt x="5197" y="151675"/>
                  </a:lnTo>
                  <a:lnTo>
                    <a:pt x="20001" y="110251"/>
                  </a:lnTo>
                  <a:lnTo>
                    <a:pt x="43231" y="73711"/>
                  </a:lnTo>
                  <a:lnTo>
                    <a:pt x="73707" y="43234"/>
                  </a:lnTo>
                  <a:lnTo>
                    <a:pt x="110247" y="20002"/>
                  </a:lnTo>
                  <a:lnTo>
                    <a:pt x="151672" y="5197"/>
                  </a:lnTo>
                  <a:lnTo>
                    <a:pt x="196799" y="0"/>
                  </a:lnTo>
                  <a:lnTo>
                    <a:pt x="235374" y="3816"/>
                  </a:lnTo>
                  <a:lnTo>
                    <a:pt x="272111" y="14980"/>
                  </a:lnTo>
                  <a:lnTo>
                    <a:pt x="305980" y="33065"/>
                  </a:lnTo>
                  <a:lnTo>
                    <a:pt x="335949" y="57642"/>
                  </a:lnTo>
                  <a:lnTo>
                    <a:pt x="360534" y="87615"/>
                  </a:lnTo>
                  <a:lnTo>
                    <a:pt x="378621" y="121487"/>
                  </a:lnTo>
                  <a:lnTo>
                    <a:pt x="389783" y="158226"/>
                  </a:lnTo>
                  <a:lnTo>
                    <a:pt x="393599" y="196799"/>
                  </a:lnTo>
                  <a:lnTo>
                    <a:pt x="388402" y="241924"/>
                  </a:lnTo>
                  <a:lnTo>
                    <a:pt x="373598" y="283347"/>
                  </a:lnTo>
                  <a:lnTo>
                    <a:pt x="350367" y="319887"/>
                  </a:lnTo>
                  <a:lnTo>
                    <a:pt x="319892" y="350364"/>
                  </a:lnTo>
                  <a:lnTo>
                    <a:pt x="283351" y="373596"/>
                  </a:lnTo>
                  <a:lnTo>
                    <a:pt x="241927" y="388401"/>
                  </a:lnTo>
                  <a:lnTo>
                    <a:pt x="196799" y="393599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787967" y="2131845"/>
              <a:ext cx="393700" cy="393700"/>
            </a:xfrm>
            <a:custGeom>
              <a:avLst/>
              <a:gdLst/>
              <a:ahLst/>
              <a:cxnLst/>
              <a:rect l="l" t="t" r="r" b="b"/>
              <a:pathLst>
                <a:path w="393700" h="393700">
                  <a:moveTo>
                    <a:pt x="0" y="196799"/>
                  </a:moveTo>
                  <a:lnTo>
                    <a:pt x="5197" y="151675"/>
                  </a:lnTo>
                  <a:lnTo>
                    <a:pt x="20001" y="110251"/>
                  </a:lnTo>
                  <a:lnTo>
                    <a:pt x="43231" y="73711"/>
                  </a:lnTo>
                  <a:lnTo>
                    <a:pt x="73707" y="43234"/>
                  </a:lnTo>
                  <a:lnTo>
                    <a:pt x="110247" y="20002"/>
                  </a:lnTo>
                  <a:lnTo>
                    <a:pt x="151671" y="5197"/>
                  </a:lnTo>
                  <a:lnTo>
                    <a:pt x="196799" y="0"/>
                  </a:lnTo>
                  <a:lnTo>
                    <a:pt x="235374" y="3816"/>
                  </a:lnTo>
                  <a:lnTo>
                    <a:pt x="272111" y="14980"/>
                  </a:lnTo>
                  <a:lnTo>
                    <a:pt x="305980" y="33065"/>
                  </a:lnTo>
                  <a:lnTo>
                    <a:pt x="335949" y="57642"/>
                  </a:lnTo>
                  <a:lnTo>
                    <a:pt x="360534" y="87615"/>
                  </a:lnTo>
                  <a:lnTo>
                    <a:pt x="378621" y="121487"/>
                  </a:lnTo>
                  <a:lnTo>
                    <a:pt x="389783" y="158226"/>
                  </a:lnTo>
                  <a:lnTo>
                    <a:pt x="393599" y="196799"/>
                  </a:lnTo>
                  <a:lnTo>
                    <a:pt x="388402" y="241924"/>
                  </a:lnTo>
                  <a:lnTo>
                    <a:pt x="373598" y="283347"/>
                  </a:lnTo>
                  <a:lnTo>
                    <a:pt x="350367" y="319887"/>
                  </a:lnTo>
                  <a:lnTo>
                    <a:pt x="319892" y="350364"/>
                  </a:lnTo>
                  <a:lnTo>
                    <a:pt x="283351" y="373596"/>
                  </a:lnTo>
                  <a:lnTo>
                    <a:pt x="241927" y="388401"/>
                  </a:lnTo>
                  <a:lnTo>
                    <a:pt x="196799" y="393599"/>
                  </a:lnTo>
                  <a:lnTo>
                    <a:pt x="151671" y="388401"/>
                  </a:lnTo>
                  <a:lnTo>
                    <a:pt x="110247" y="373596"/>
                  </a:lnTo>
                  <a:lnTo>
                    <a:pt x="73707" y="350364"/>
                  </a:lnTo>
                  <a:lnTo>
                    <a:pt x="43231" y="319887"/>
                  </a:lnTo>
                  <a:lnTo>
                    <a:pt x="20001" y="283347"/>
                  </a:lnTo>
                  <a:lnTo>
                    <a:pt x="5197" y="241924"/>
                  </a:lnTo>
                  <a:lnTo>
                    <a:pt x="0" y="196799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787967" y="2563444"/>
              <a:ext cx="393700" cy="393700"/>
            </a:xfrm>
            <a:custGeom>
              <a:avLst/>
              <a:gdLst/>
              <a:ahLst/>
              <a:cxnLst/>
              <a:rect l="l" t="t" r="r" b="b"/>
              <a:pathLst>
                <a:path w="393700" h="393700">
                  <a:moveTo>
                    <a:pt x="196799" y="393599"/>
                  </a:moveTo>
                  <a:lnTo>
                    <a:pt x="151672" y="388402"/>
                  </a:lnTo>
                  <a:lnTo>
                    <a:pt x="110247" y="373598"/>
                  </a:lnTo>
                  <a:lnTo>
                    <a:pt x="73707" y="350367"/>
                  </a:lnTo>
                  <a:lnTo>
                    <a:pt x="43231" y="319892"/>
                  </a:lnTo>
                  <a:lnTo>
                    <a:pt x="20001" y="283351"/>
                  </a:lnTo>
                  <a:lnTo>
                    <a:pt x="5197" y="241927"/>
                  </a:lnTo>
                  <a:lnTo>
                    <a:pt x="0" y="196799"/>
                  </a:lnTo>
                  <a:lnTo>
                    <a:pt x="5197" y="151672"/>
                  </a:lnTo>
                  <a:lnTo>
                    <a:pt x="20001" y="110247"/>
                  </a:lnTo>
                  <a:lnTo>
                    <a:pt x="43231" y="73707"/>
                  </a:lnTo>
                  <a:lnTo>
                    <a:pt x="73707" y="43231"/>
                  </a:lnTo>
                  <a:lnTo>
                    <a:pt x="110247" y="20001"/>
                  </a:lnTo>
                  <a:lnTo>
                    <a:pt x="151672" y="5197"/>
                  </a:lnTo>
                  <a:lnTo>
                    <a:pt x="196799" y="0"/>
                  </a:lnTo>
                  <a:lnTo>
                    <a:pt x="235374" y="3815"/>
                  </a:lnTo>
                  <a:lnTo>
                    <a:pt x="272111" y="14978"/>
                  </a:lnTo>
                  <a:lnTo>
                    <a:pt x="305980" y="33064"/>
                  </a:lnTo>
                  <a:lnTo>
                    <a:pt x="335949" y="57649"/>
                  </a:lnTo>
                  <a:lnTo>
                    <a:pt x="360534" y="87618"/>
                  </a:lnTo>
                  <a:lnTo>
                    <a:pt x="378621" y="121487"/>
                  </a:lnTo>
                  <a:lnTo>
                    <a:pt x="389783" y="158224"/>
                  </a:lnTo>
                  <a:lnTo>
                    <a:pt x="393599" y="196799"/>
                  </a:lnTo>
                  <a:lnTo>
                    <a:pt x="388402" y="241927"/>
                  </a:lnTo>
                  <a:lnTo>
                    <a:pt x="373598" y="283351"/>
                  </a:lnTo>
                  <a:lnTo>
                    <a:pt x="350367" y="319892"/>
                  </a:lnTo>
                  <a:lnTo>
                    <a:pt x="319892" y="350367"/>
                  </a:lnTo>
                  <a:lnTo>
                    <a:pt x="283351" y="373598"/>
                  </a:lnTo>
                  <a:lnTo>
                    <a:pt x="241927" y="388402"/>
                  </a:lnTo>
                  <a:lnTo>
                    <a:pt x="196799" y="393599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787967" y="2563444"/>
              <a:ext cx="393700" cy="393700"/>
            </a:xfrm>
            <a:custGeom>
              <a:avLst/>
              <a:gdLst/>
              <a:ahLst/>
              <a:cxnLst/>
              <a:rect l="l" t="t" r="r" b="b"/>
              <a:pathLst>
                <a:path w="393700" h="393700">
                  <a:moveTo>
                    <a:pt x="0" y="196799"/>
                  </a:moveTo>
                  <a:lnTo>
                    <a:pt x="5197" y="151671"/>
                  </a:lnTo>
                  <a:lnTo>
                    <a:pt x="20001" y="110247"/>
                  </a:lnTo>
                  <a:lnTo>
                    <a:pt x="43231" y="73707"/>
                  </a:lnTo>
                  <a:lnTo>
                    <a:pt x="73707" y="43231"/>
                  </a:lnTo>
                  <a:lnTo>
                    <a:pt x="110247" y="20001"/>
                  </a:lnTo>
                  <a:lnTo>
                    <a:pt x="151671" y="5197"/>
                  </a:lnTo>
                  <a:lnTo>
                    <a:pt x="196799" y="0"/>
                  </a:lnTo>
                  <a:lnTo>
                    <a:pt x="235374" y="3815"/>
                  </a:lnTo>
                  <a:lnTo>
                    <a:pt x="272111" y="14978"/>
                  </a:lnTo>
                  <a:lnTo>
                    <a:pt x="305980" y="33064"/>
                  </a:lnTo>
                  <a:lnTo>
                    <a:pt x="335949" y="57649"/>
                  </a:lnTo>
                  <a:lnTo>
                    <a:pt x="360534" y="87618"/>
                  </a:lnTo>
                  <a:lnTo>
                    <a:pt x="378621" y="121487"/>
                  </a:lnTo>
                  <a:lnTo>
                    <a:pt x="389783" y="158224"/>
                  </a:lnTo>
                  <a:lnTo>
                    <a:pt x="393599" y="196799"/>
                  </a:lnTo>
                  <a:lnTo>
                    <a:pt x="388402" y="241927"/>
                  </a:lnTo>
                  <a:lnTo>
                    <a:pt x="373598" y="283351"/>
                  </a:lnTo>
                  <a:lnTo>
                    <a:pt x="350367" y="319892"/>
                  </a:lnTo>
                  <a:lnTo>
                    <a:pt x="319892" y="350367"/>
                  </a:lnTo>
                  <a:lnTo>
                    <a:pt x="283351" y="373598"/>
                  </a:lnTo>
                  <a:lnTo>
                    <a:pt x="241927" y="388402"/>
                  </a:lnTo>
                  <a:lnTo>
                    <a:pt x="196799" y="393599"/>
                  </a:lnTo>
                  <a:lnTo>
                    <a:pt x="151671" y="388402"/>
                  </a:lnTo>
                  <a:lnTo>
                    <a:pt x="110247" y="373598"/>
                  </a:lnTo>
                  <a:lnTo>
                    <a:pt x="73707" y="350367"/>
                  </a:lnTo>
                  <a:lnTo>
                    <a:pt x="43231" y="319892"/>
                  </a:lnTo>
                  <a:lnTo>
                    <a:pt x="20001" y="283351"/>
                  </a:lnTo>
                  <a:lnTo>
                    <a:pt x="5197" y="241927"/>
                  </a:lnTo>
                  <a:lnTo>
                    <a:pt x="0" y="196799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787967" y="2995044"/>
              <a:ext cx="393700" cy="393700"/>
            </a:xfrm>
            <a:custGeom>
              <a:avLst/>
              <a:gdLst/>
              <a:ahLst/>
              <a:cxnLst/>
              <a:rect l="l" t="t" r="r" b="b"/>
              <a:pathLst>
                <a:path w="393700" h="393700">
                  <a:moveTo>
                    <a:pt x="196799" y="393599"/>
                  </a:moveTo>
                  <a:lnTo>
                    <a:pt x="151672" y="388402"/>
                  </a:lnTo>
                  <a:lnTo>
                    <a:pt x="110247" y="373598"/>
                  </a:lnTo>
                  <a:lnTo>
                    <a:pt x="73707" y="350367"/>
                  </a:lnTo>
                  <a:lnTo>
                    <a:pt x="43231" y="319892"/>
                  </a:lnTo>
                  <a:lnTo>
                    <a:pt x="20001" y="283351"/>
                  </a:lnTo>
                  <a:lnTo>
                    <a:pt x="5197" y="241927"/>
                  </a:lnTo>
                  <a:lnTo>
                    <a:pt x="0" y="196799"/>
                  </a:lnTo>
                  <a:lnTo>
                    <a:pt x="5197" y="151672"/>
                  </a:lnTo>
                  <a:lnTo>
                    <a:pt x="20001" y="110247"/>
                  </a:lnTo>
                  <a:lnTo>
                    <a:pt x="43231" y="73707"/>
                  </a:lnTo>
                  <a:lnTo>
                    <a:pt x="73707" y="43231"/>
                  </a:lnTo>
                  <a:lnTo>
                    <a:pt x="110247" y="20001"/>
                  </a:lnTo>
                  <a:lnTo>
                    <a:pt x="151672" y="5197"/>
                  </a:lnTo>
                  <a:lnTo>
                    <a:pt x="196799" y="0"/>
                  </a:lnTo>
                  <a:lnTo>
                    <a:pt x="235374" y="3815"/>
                  </a:lnTo>
                  <a:lnTo>
                    <a:pt x="272111" y="14978"/>
                  </a:lnTo>
                  <a:lnTo>
                    <a:pt x="305980" y="33064"/>
                  </a:lnTo>
                  <a:lnTo>
                    <a:pt x="335949" y="57649"/>
                  </a:lnTo>
                  <a:lnTo>
                    <a:pt x="360534" y="87618"/>
                  </a:lnTo>
                  <a:lnTo>
                    <a:pt x="378621" y="121487"/>
                  </a:lnTo>
                  <a:lnTo>
                    <a:pt x="389783" y="158224"/>
                  </a:lnTo>
                  <a:lnTo>
                    <a:pt x="393599" y="196799"/>
                  </a:lnTo>
                  <a:lnTo>
                    <a:pt x="388402" y="241927"/>
                  </a:lnTo>
                  <a:lnTo>
                    <a:pt x="373598" y="283351"/>
                  </a:lnTo>
                  <a:lnTo>
                    <a:pt x="350367" y="319892"/>
                  </a:lnTo>
                  <a:lnTo>
                    <a:pt x="319892" y="350367"/>
                  </a:lnTo>
                  <a:lnTo>
                    <a:pt x="283351" y="373598"/>
                  </a:lnTo>
                  <a:lnTo>
                    <a:pt x="241927" y="388402"/>
                  </a:lnTo>
                  <a:lnTo>
                    <a:pt x="196799" y="393599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787967" y="2995043"/>
              <a:ext cx="393700" cy="393700"/>
            </a:xfrm>
            <a:custGeom>
              <a:avLst/>
              <a:gdLst/>
              <a:ahLst/>
              <a:cxnLst/>
              <a:rect l="l" t="t" r="r" b="b"/>
              <a:pathLst>
                <a:path w="393700" h="393700">
                  <a:moveTo>
                    <a:pt x="0" y="196799"/>
                  </a:moveTo>
                  <a:lnTo>
                    <a:pt x="5197" y="151671"/>
                  </a:lnTo>
                  <a:lnTo>
                    <a:pt x="20001" y="110247"/>
                  </a:lnTo>
                  <a:lnTo>
                    <a:pt x="43231" y="73707"/>
                  </a:lnTo>
                  <a:lnTo>
                    <a:pt x="73707" y="43231"/>
                  </a:lnTo>
                  <a:lnTo>
                    <a:pt x="110247" y="20001"/>
                  </a:lnTo>
                  <a:lnTo>
                    <a:pt x="151671" y="5197"/>
                  </a:lnTo>
                  <a:lnTo>
                    <a:pt x="196799" y="0"/>
                  </a:lnTo>
                  <a:lnTo>
                    <a:pt x="235374" y="3815"/>
                  </a:lnTo>
                  <a:lnTo>
                    <a:pt x="272111" y="14978"/>
                  </a:lnTo>
                  <a:lnTo>
                    <a:pt x="305980" y="33064"/>
                  </a:lnTo>
                  <a:lnTo>
                    <a:pt x="335949" y="57649"/>
                  </a:lnTo>
                  <a:lnTo>
                    <a:pt x="360534" y="87618"/>
                  </a:lnTo>
                  <a:lnTo>
                    <a:pt x="378621" y="121487"/>
                  </a:lnTo>
                  <a:lnTo>
                    <a:pt x="389783" y="158224"/>
                  </a:lnTo>
                  <a:lnTo>
                    <a:pt x="393599" y="196799"/>
                  </a:lnTo>
                  <a:lnTo>
                    <a:pt x="388402" y="241927"/>
                  </a:lnTo>
                  <a:lnTo>
                    <a:pt x="373598" y="283351"/>
                  </a:lnTo>
                  <a:lnTo>
                    <a:pt x="350367" y="319892"/>
                  </a:lnTo>
                  <a:lnTo>
                    <a:pt x="319892" y="350367"/>
                  </a:lnTo>
                  <a:lnTo>
                    <a:pt x="283351" y="373598"/>
                  </a:lnTo>
                  <a:lnTo>
                    <a:pt x="241927" y="388402"/>
                  </a:lnTo>
                  <a:lnTo>
                    <a:pt x="196799" y="393599"/>
                  </a:lnTo>
                  <a:lnTo>
                    <a:pt x="151671" y="388402"/>
                  </a:lnTo>
                  <a:lnTo>
                    <a:pt x="110247" y="373598"/>
                  </a:lnTo>
                  <a:lnTo>
                    <a:pt x="73707" y="350367"/>
                  </a:lnTo>
                  <a:lnTo>
                    <a:pt x="43231" y="319892"/>
                  </a:lnTo>
                  <a:lnTo>
                    <a:pt x="20001" y="283351"/>
                  </a:lnTo>
                  <a:lnTo>
                    <a:pt x="5197" y="241927"/>
                  </a:lnTo>
                  <a:lnTo>
                    <a:pt x="0" y="196799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787967" y="3441668"/>
              <a:ext cx="393700" cy="393700"/>
            </a:xfrm>
            <a:custGeom>
              <a:avLst/>
              <a:gdLst/>
              <a:ahLst/>
              <a:cxnLst/>
              <a:rect l="l" t="t" r="r" b="b"/>
              <a:pathLst>
                <a:path w="393700" h="393700">
                  <a:moveTo>
                    <a:pt x="196799" y="393599"/>
                  </a:moveTo>
                  <a:lnTo>
                    <a:pt x="151672" y="388400"/>
                  </a:lnTo>
                  <a:lnTo>
                    <a:pt x="110247" y="373593"/>
                  </a:lnTo>
                  <a:lnTo>
                    <a:pt x="73707" y="350359"/>
                  </a:lnTo>
                  <a:lnTo>
                    <a:pt x="43231" y="319881"/>
                  </a:lnTo>
                  <a:lnTo>
                    <a:pt x="20001" y="283340"/>
                  </a:lnTo>
                  <a:lnTo>
                    <a:pt x="5197" y="241919"/>
                  </a:lnTo>
                  <a:lnTo>
                    <a:pt x="0" y="196799"/>
                  </a:lnTo>
                  <a:lnTo>
                    <a:pt x="5197" y="151672"/>
                  </a:lnTo>
                  <a:lnTo>
                    <a:pt x="20001" y="110247"/>
                  </a:lnTo>
                  <a:lnTo>
                    <a:pt x="43231" y="73707"/>
                  </a:lnTo>
                  <a:lnTo>
                    <a:pt x="73707" y="43231"/>
                  </a:lnTo>
                  <a:lnTo>
                    <a:pt x="110247" y="20001"/>
                  </a:lnTo>
                  <a:lnTo>
                    <a:pt x="151672" y="5197"/>
                  </a:lnTo>
                  <a:lnTo>
                    <a:pt x="196799" y="0"/>
                  </a:lnTo>
                  <a:lnTo>
                    <a:pt x="235374" y="3814"/>
                  </a:lnTo>
                  <a:lnTo>
                    <a:pt x="272111" y="14974"/>
                  </a:lnTo>
                  <a:lnTo>
                    <a:pt x="305980" y="33053"/>
                  </a:lnTo>
                  <a:lnTo>
                    <a:pt x="335949" y="57624"/>
                  </a:lnTo>
                  <a:lnTo>
                    <a:pt x="360534" y="87597"/>
                  </a:lnTo>
                  <a:lnTo>
                    <a:pt x="378621" y="121474"/>
                  </a:lnTo>
                  <a:lnTo>
                    <a:pt x="389783" y="158220"/>
                  </a:lnTo>
                  <a:lnTo>
                    <a:pt x="393599" y="196799"/>
                  </a:lnTo>
                  <a:lnTo>
                    <a:pt x="388402" y="241919"/>
                  </a:lnTo>
                  <a:lnTo>
                    <a:pt x="373598" y="283340"/>
                  </a:lnTo>
                  <a:lnTo>
                    <a:pt x="350367" y="319881"/>
                  </a:lnTo>
                  <a:lnTo>
                    <a:pt x="319892" y="350359"/>
                  </a:lnTo>
                  <a:lnTo>
                    <a:pt x="283351" y="373593"/>
                  </a:lnTo>
                  <a:lnTo>
                    <a:pt x="241927" y="388400"/>
                  </a:lnTo>
                  <a:lnTo>
                    <a:pt x="196799" y="393599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787967" y="3441668"/>
              <a:ext cx="393700" cy="393700"/>
            </a:xfrm>
            <a:custGeom>
              <a:avLst/>
              <a:gdLst/>
              <a:ahLst/>
              <a:cxnLst/>
              <a:rect l="l" t="t" r="r" b="b"/>
              <a:pathLst>
                <a:path w="393700" h="393700">
                  <a:moveTo>
                    <a:pt x="0" y="196799"/>
                  </a:moveTo>
                  <a:lnTo>
                    <a:pt x="5197" y="151671"/>
                  </a:lnTo>
                  <a:lnTo>
                    <a:pt x="20001" y="110247"/>
                  </a:lnTo>
                  <a:lnTo>
                    <a:pt x="43231" y="73707"/>
                  </a:lnTo>
                  <a:lnTo>
                    <a:pt x="73707" y="43231"/>
                  </a:lnTo>
                  <a:lnTo>
                    <a:pt x="110247" y="20001"/>
                  </a:lnTo>
                  <a:lnTo>
                    <a:pt x="151671" y="5197"/>
                  </a:lnTo>
                  <a:lnTo>
                    <a:pt x="196799" y="0"/>
                  </a:lnTo>
                  <a:lnTo>
                    <a:pt x="235374" y="3814"/>
                  </a:lnTo>
                  <a:lnTo>
                    <a:pt x="272111" y="14974"/>
                  </a:lnTo>
                  <a:lnTo>
                    <a:pt x="305980" y="33053"/>
                  </a:lnTo>
                  <a:lnTo>
                    <a:pt x="335949" y="57624"/>
                  </a:lnTo>
                  <a:lnTo>
                    <a:pt x="360534" y="87597"/>
                  </a:lnTo>
                  <a:lnTo>
                    <a:pt x="378621" y="121474"/>
                  </a:lnTo>
                  <a:lnTo>
                    <a:pt x="389783" y="158220"/>
                  </a:lnTo>
                  <a:lnTo>
                    <a:pt x="393599" y="196799"/>
                  </a:lnTo>
                  <a:lnTo>
                    <a:pt x="388402" y="241919"/>
                  </a:lnTo>
                  <a:lnTo>
                    <a:pt x="373598" y="283340"/>
                  </a:lnTo>
                  <a:lnTo>
                    <a:pt x="350367" y="319881"/>
                  </a:lnTo>
                  <a:lnTo>
                    <a:pt x="319892" y="350359"/>
                  </a:lnTo>
                  <a:lnTo>
                    <a:pt x="283351" y="373593"/>
                  </a:lnTo>
                  <a:lnTo>
                    <a:pt x="241927" y="388400"/>
                  </a:lnTo>
                  <a:lnTo>
                    <a:pt x="196799" y="393599"/>
                  </a:lnTo>
                  <a:lnTo>
                    <a:pt x="151671" y="388400"/>
                  </a:lnTo>
                  <a:lnTo>
                    <a:pt x="110247" y="373593"/>
                  </a:lnTo>
                  <a:lnTo>
                    <a:pt x="73707" y="350359"/>
                  </a:lnTo>
                  <a:lnTo>
                    <a:pt x="43231" y="319881"/>
                  </a:lnTo>
                  <a:lnTo>
                    <a:pt x="20001" y="283340"/>
                  </a:lnTo>
                  <a:lnTo>
                    <a:pt x="5197" y="241919"/>
                  </a:lnTo>
                  <a:lnTo>
                    <a:pt x="0" y="196799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787967" y="3870092"/>
              <a:ext cx="393700" cy="393700"/>
            </a:xfrm>
            <a:custGeom>
              <a:avLst/>
              <a:gdLst/>
              <a:ahLst/>
              <a:cxnLst/>
              <a:rect l="l" t="t" r="r" b="b"/>
              <a:pathLst>
                <a:path w="393700" h="393700">
                  <a:moveTo>
                    <a:pt x="196799" y="393599"/>
                  </a:moveTo>
                  <a:lnTo>
                    <a:pt x="151672" y="388400"/>
                  </a:lnTo>
                  <a:lnTo>
                    <a:pt x="110247" y="373593"/>
                  </a:lnTo>
                  <a:lnTo>
                    <a:pt x="73707" y="350359"/>
                  </a:lnTo>
                  <a:lnTo>
                    <a:pt x="43231" y="319881"/>
                  </a:lnTo>
                  <a:lnTo>
                    <a:pt x="20001" y="283340"/>
                  </a:lnTo>
                  <a:lnTo>
                    <a:pt x="5197" y="241919"/>
                  </a:lnTo>
                  <a:lnTo>
                    <a:pt x="0" y="196799"/>
                  </a:lnTo>
                  <a:lnTo>
                    <a:pt x="5197" y="151672"/>
                  </a:lnTo>
                  <a:lnTo>
                    <a:pt x="20001" y="110247"/>
                  </a:lnTo>
                  <a:lnTo>
                    <a:pt x="43231" y="73707"/>
                  </a:lnTo>
                  <a:lnTo>
                    <a:pt x="73707" y="43231"/>
                  </a:lnTo>
                  <a:lnTo>
                    <a:pt x="110247" y="20001"/>
                  </a:lnTo>
                  <a:lnTo>
                    <a:pt x="151672" y="5197"/>
                  </a:lnTo>
                  <a:lnTo>
                    <a:pt x="196799" y="0"/>
                  </a:lnTo>
                  <a:lnTo>
                    <a:pt x="235374" y="3814"/>
                  </a:lnTo>
                  <a:lnTo>
                    <a:pt x="272111" y="14974"/>
                  </a:lnTo>
                  <a:lnTo>
                    <a:pt x="305980" y="33053"/>
                  </a:lnTo>
                  <a:lnTo>
                    <a:pt x="335949" y="57624"/>
                  </a:lnTo>
                  <a:lnTo>
                    <a:pt x="360534" y="87597"/>
                  </a:lnTo>
                  <a:lnTo>
                    <a:pt x="378621" y="121474"/>
                  </a:lnTo>
                  <a:lnTo>
                    <a:pt x="389783" y="158220"/>
                  </a:lnTo>
                  <a:lnTo>
                    <a:pt x="393599" y="196799"/>
                  </a:lnTo>
                  <a:lnTo>
                    <a:pt x="388402" y="241919"/>
                  </a:lnTo>
                  <a:lnTo>
                    <a:pt x="373598" y="283340"/>
                  </a:lnTo>
                  <a:lnTo>
                    <a:pt x="350367" y="319881"/>
                  </a:lnTo>
                  <a:lnTo>
                    <a:pt x="319892" y="350359"/>
                  </a:lnTo>
                  <a:lnTo>
                    <a:pt x="283351" y="373593"/>
                  </a:lnTo>
                  <a:lnTo>
                    <a:pt x="241927" y="388400"/>
                  </a:lnTo>
                  <a:lnTo>
                    <a:pt x="196799" y="393599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787967" y="2328645"/>
              <a:ext cx="1044575" cy="1935480"/>
            </a:xfrm>
            <a:custGeom>
              <a:avLst/>
              <a:gdLst/>
              <a:ahLst/>
              <a:cxnLst/>
              <a:rect l="l" t="t" r="r" b="b"/>
              <a:pathLst>
                <a:path w="1044575" h="1935479">
                  <a:moveTo>
                    <a:pt x="0" y="1738246"/>
                  </a:moveTo>
                  <a:lnTo>
                    <a:pt x="5197" y="1693118"/>
                  </a:lnTo>
                  <a:lnTo>
                    <a:pt x="20001" y="1651694"/>
                  </a:lnTo>
                  <a:lnTo>
                    <a:pt x="43231" y="1615154"/>
                  </a:lnTo>
                  <a:lnTo>
                    <a:pt x="73707" y="1584678"/>
                  </a:lnTo>
                  <a:lnTo>
                    <a:pt x="110247" y="1561448"/>
                  </a:lnTo>
                  <a:lnTo>
                    <a:pt x="151671" y="1546643"/>
                  </a:lnTo>
                  <a:lnTo>
                    <a:pt x="196799" y="1541446"/>
                  </a:lnTo>
                  <a:lnTo>
                    <a:pt x="235374" y="1545261"/>
                  </a:lnTo>
                  <a:lnTo>
                    <a:pt x="272111" y="1556421"/>
                  </a:lnTo>
                  <a:lnTo>
                    <a:pt x="305980" y="1574500"/>
                  </a:lnTo>
                  <a:lnTo>
                    <a:pt x="335949" y="1599071"/>
                  </a:lnTo>
                  <a:lnTo>
                    <a:pt x="360534" y="1629044"/>
                  </a:lnTo>
                  <a:lnTo>
                    <a:pt x="378621" y="1662921"/>
                  </a:lnTo>
                  <a:lnTo>
                    <a:pt x="389783" y="1699667"/>
                  </a:lnTo>
                  <a:lnTo>
                    <a:pt x="393599" y="1738246"/>
                  </a:lnTo>
                  <a:lnTo>
                    <a:pt x="388402" y="1783366"/>
                  </a:lnTo>
                  <a:lnTo>
                    <a:pt x="373598" y="1824787"/>
                  </a:lnTo>
                  <a:lnTo>
                    <a:pt x="350367" y="1861328"/>
                  </a:lnTo>
                  <a:lnTo>
                    <a:pt x="319892" y="1891806"/>
                  </a:lnTo>
                  <a:lnTo>
                    <a:pt x="283351" y="1915040"/>
                  </a:lnTo>
                  <a:lnTo>
                    <a:pt x="241927" y="1929847"/>
                  </a:lnTo>
                  <a:lnTo>
                    <a:pt x="196799" y="1935046"/>
                  </a:lnTo>
                  <a:lnTo>
                    <a:pt x="151671" y="1929847"/>
                  </a:lnTo>
                  <a:lnTo>
                    <a:pt x="110247" y="1915040"/>
                  </a:lnTo>
                  <a:lnTo>
                    <a:pt x="73707" y="1891806"/>
                  </a:lnTo>
                  <a:lnTo>
                    <a:pt x="43231" y="1861328"/>
                  </a:lnTo>
                  <a:lnTo>
                    <a:pt x="20001" y="1824787"/>
                  </a:lnTo>
                  <a:lnTo>
                    <a:pt x="5197" y="1783366"/>
                  </a:lnTo>
                  <a:lnTo>
                    <a:pt x="0" y="1738246"/>
                  </a:lnTo>
                  <a:close/>
                </a:path>
                <a:path w="1044575" h="1935479">
                  <a:moveTo>
                    <a:pt x="393599" y="0"/>
                  </a:moveTo>
                  <a:lnTo>
                    <a:pt x="1044147" y="0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832115" y="231291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4"/>
                  </a:moveTo>
                  <a:lnTo>
                    <a:pt x="0" y="0"/>
                  </a:lnTo>
                  <a:lnTo>
                    <a:pt x="43224" y="15732"/>
                  </a:lnTo>
                  <a:lnTo>
                    <a:pt x="0" y="31464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832115" y="231291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4"/>
                  </a:moveTo>
                  <a:lnTo>
                    <a:pt x="43224" y="15732"/>
                  </a:lnTo>
                  <a:lnTo>
                    <a:pt x="0" y="0"/>
                  </a:lnTo>
                  <a:lnTo>
                    <a:pt x="0" y="31464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218141" y="2760244"/>
              <a:ext cx="650875" cy="0"/>
            </a:xfrm>
            <a:custGeom>
              <a:avLst/>
              <a:gdLst/>
              <a:ahLst/>
              <a:cxnLst/>
              <a:rect l="l" t="t" r="r" b="b"/>
              <a:pathLst>
                <a:path w="650875">
                  <a:moveTo>
                    <a:pt x="0" y="0"/>
                  </a:moveTo>
                  <a:lnTo>
                    <a:pt x="650548" y="0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868690" y="2744519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49"/>
                  </a:moveTo>
                  <a:lnTo>
                    <a:pt x="0" y="0"/>
                  </a:lnTo>
                  <a:lnTo>
                    <a:pt x="43224" y="15724"/>
                  </a:lnTo>
                  <a:lnTo>
                    <a:pt x="0" y="31449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868690" y="2744519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49"/>
                  </a:moveTo>
                  <a:lnTo>
                    <a:pt x="43224" y="15724"/>
                  </a:lnTo>
                  <a:lnTo>
                    <a:pt x="0" y="0"/>
                  </a:lnTo>
                  <a:lnTo>
                    <a:pt x="0" y="31449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181566" y="3191843"/>
              <a:ext cx="650875" cy="0"/>
            </a:xfrm>
            <a:custGeom>
              <a:avLst/>
              <a:gdLst/>
              <a:ahLst/>
              <a:cxnLst/>
              <a:rect l="l" t="t" r="r" b="b"/>
              <a:pathLst>
                <a:path w="650875">
                  <a:moveTo>
                    <a:pt x="0" y="0"/>
                  </a:moveTo>
                  <a:lnTo>
                    <a:pt x="650548" y="0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832115" y="3176118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49"/>
                  </a:moveTo>
                  <a:lnTo>
                    <a:pt x="0" y="0"/>
                  </a:lnTo>
                  <a:lnTo>
                    <a:pt x="43224" y="15724"/>
                  </a:lnTo>
                  <a:lnTo>
                    <a:pt x="0" y="31449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832115" y="3176118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49"/>
                  </a:moveTo>
                  <a:lnTo>
                    <a:pt x="43224" y="15724"/>
                  </a:lnTo>
                  <a:lnTo>
                    <a:pt x="0" y="0"/>
                  </a:lnTo>
                  <a:lnTo>
                    <a:pt x="0" y="31449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181566" y="3638467"/>
              <a:ext cx="650875" cy="0"/>
            </a:xfrm>
            <a:custGeom>
              <a:avLst/>
              <a:gdLst/>
              <a:ahLst/>
              <a:cxnLst/>
              <a:rect l="l" t="t" r="r" b="b"/>
              <a:pathLst>
                <a:path w="650875">
                  <a:moveTo>
                    <a:pt x="0" y="0"/>
                  </a:moveTo>
                  <a:lnTo>
                    <a:pt x="650548" y="0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832115" y="362274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49"/>
                  </a:moveTo>
                  <a:lnTo>
                    <a:pt x="0" y="0"/>
                  </a:lnTo>
                  <a:lnTo>
                    <a:pt x="43224" y="15724"/>
                  </a:lnTo>
                  <a:lnTo>
                    <a:pt x="0" y="31449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832115" y="362274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49"/>
                  </a:moveTo>
                  <a:lnTo>
                    <a:pt x="43224" y="15724"/>
                  </a:lnTo>
                  <a:lnTo>
                    <a:pt x="0" y="0"/>
                  </a:lnTo>
                  <a:lnTo>
                    <a:pt x="0" y="31449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181566" y="4066891"/>
              <a:ext cx="650875" cy="0"/>
            </a:xfrm>
            <a:custGeom>
              <a:avLst/>
              <a:gdLst/>
              <a:ahLst/>
              <a:cxnLst/>
              <a:rect l="l" t="t" r="r" b="b"/>
              <a:pathLst>
                <a:path w="650875">
                  <a:moveTo>
                    <a:pt x="0" y="0"/>
                  </a:moveTo>
                  <a:lnTo>
                    <a:pt x="650548" y="0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832115" y="4051166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49"/>
                  </a:moveTo>
                  <a:lnTo>
                    <a:pt x="0" y="0"/>
                  </a:lnTo>
                  <a:lnTo>
                    <a:pt x="43224" y="15724"/>
                  </a:lnTo>
                  <a:lnTo>
                    <a:pt x="0" y="31449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832115" y="4051166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49"/>
                  </a:moveTo>
                  <a:lnTo>
                    <a:pt x="43224" y="15724"/>
                  </a:lnTo>
                  <a:lnTo>
                    <a:pt x="0" y="0"/>
                  </a:lnTo>
                  <a:lnTo>
                    <a:pt x="0" y="31449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5111911" y="2154747"/>
            <a:ext cx="1283335" cy="23285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000FF"/>
                </a:solidFill>
                <a:latin typeface="Arial"/>
                <a:cs typeface="Arial"/>
              </a:rPr>
              <a:t>has</a:t>
            </a:r>
            <a:r>
              <a:rPr sz="1800" spc="-1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00FF"/>
                </a:solidFill>
                <a:latin typeface="Arial"/>
                <a:cs typeface="Arial"/>
              </a:rPr>
              <a:t>an</a:t>
            </a:r>
            <a:r>
              <a:rPr sz="1800" spc="-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spc="-25" dirty="0">
                <a:solidFill>
                  <a:srgbClr val="0000FF"/>
                </a:solidFill>
                <a:latin typeface="Arial"/>
                <a:cs typeface="Arial"/>
              </a:rPr>
              <a:t>ear</a:t>
            </a:r>
            <a:endParaRPr sz="1800">
              <a:latin typeface="Arial"/>
              <a:cs typeface="Arial"/>
            </a:endParaRPr>
          </a:p>
          <a:p>
            <a:pPr marL="12700" marR="259079">
              <a:lnSpc>
                <a:spcPct val="166700"/>
              </a:lnSpc>
            </a:pPr>
            <a:r>
              <a:rPr sz="1800" dirty="0">
                <a:solidFill>
                  <a:srgbClr val="0000FF"/>
                </a:solidFill>
                <a:latin typeface="Arial"/>
                <a:cs typeface="Arial"/>
              </a:rPr>
              <a:t>has</a:t>
            </a:r>
            <a:r>
              <a:rPr sz="1800" spc="-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00FF"/>
                </a:solidFill>
                <a:latin typeface="Arial"/>
                <a:cs typeface="Arial"/>
              </a:rPr>
              <a:t>a</a:t>
            </a:r>
            <a:r>
              <a:rPr sz="1800" spc="-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rgbClr val="0000FF"/>
                </a:solidFill>
                <a:latin typeface="Arial"/>
                <a:cs typeface="Arial"/>
              </a:rPr>
              <a:t>tail </a:t>
            </a:r>
            <a:r>
              <a:rPr sz="1800" dirty="0">
                <a:solidFill>
                  <a:srgbClr val="0000FF"/>
                </a:solidFill>
                <a:latin typeface="Arial"/>
                <a:cs typeface="Arial"/>
              </a:rPr>
              <a:t>is</a:t>
            </a:r>
            <a:r>
              <a:rPr sz="1800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rgbClr val="0000FF"/>
                </a:solidFill>
                <a:latin typeface="Arial"/>
                <a:cs typeface="Arial"/>
              </a:rPr>
              <a:t>furry </a:t>
            </a:r>
            <a:r>
              <a:rPr sz="1800" dirty="0">
                <a:solidFill>
                  <a:srgbClr val="0000FF"/>
                </a:solidFill>
                <a:latin typeface="Arial"/>
                <a:cs typeface="Arial"/>
              </a:rPr>
              <a:t>has</a:t>
            </a:r>
            <a:r>
              <a:rPr sz="1800" spc="-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0000FF"/>
                </a:solidFill>
                <a:latin typeface="Arial"/>
                <a:cs typeface="Arial"/>
              </a:rPr>
              <a:t>claws</a:t>
            </a:r>
            <a:endParaRPr sz="1800">
              <a:latin typeface="Arial"/>
              <a:cs typeface="Arial"/>
            </a:endParaRPr>
          </a:p>
          <a:p>
            <a:pPr marL="12700" marR="5080">
              <a:lnSpc>
                <a:spcPct val="100699"/>
              </a:lnSpc>
              <a:spcBef>
                <a:spcPts val="825"/>
              </a:spcBef>
            </a:pPr>
            <a:r>
              <a:rPr sz="1800" spc="-10" dirty="0">
                <a:solidFill>
                  <a:srgbClr val="0000FF"/>
                </a:solidFill>
                <a:latin typeface="Arial"/>
                <a:cs typeface="Arial"/>
              </a:rPr>
              <a:t>mischievous </a:t>
            </a:r>
            <a:r>
              <a:rPr sz="1800" spc="-20" dirty="0">
                <a:solidFill>
                  <a:srgbClr val="0000FF"/>
                </a:solidFill>
                <a:latin typeface="Arial"/>
                <a:cs typeface="Arial"/>
              </a:rPr>
              <a:t>look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6619961" y="2320882"/>
            <a:ext cx="1652270" cy="753745"/>
            <a:chOff x="6619961" y="2320882"/>
            <a:chExt cx="1652270" cy="753745"/>
          </a:xfrm>
        </p:grpSpPr>
        <p:sp>
          <p:nvSpPr>
            <p:cNvPr id="31" name="object 31"/>
            <p:cNvSpPr/>
            <p:nvPr/>
          </p:nvSpPr>
          <p:spPr>
            <a:xfrm>
              <a:off x="7329285" y="2325645"/>
              <a:ext cx="901700" cy="568960"/>
            </a:xfrm>
            <a:custGeom>
              <a:avLst/>
              <a:gdLst/>
              <a:ahLst/>
              <a:cxnLst/>
              <a:rect l="l" t="t" r="r" b="b"/>
              <a:pathLst>
                <a:path w="901700" h="568960">
                  <a:moveTo>
                    <a:pt x="0" y="0"/>
                  </a:moveTo>
                  <a:lnTo>
                    <a:pt x="901173" y="568598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8222058" y="2880944"/>
              <a:ext cx="45085" cy="36830"/>
            </a:xfrm>
            <a:custGeom>
              <a:avLst/>
              <a:gdLst/>
              <a:ahLst/>
              <a:cxnLst/>
              <a:rect l="l" t="t" r="r" b="b"/>
              <a:pathLst>
                <a:path w="45084" h="36830">
                  <a:moveTo>
                    <a:pt x="44949" y="36374"/>
                  </a:moveTo>
                  <a:lnTo>
                    <a:pt x="0" y="26599"/>
                  </a:lnTo>
                  <a:lnTo>
                    <a:pt x="16774" y="0"/>
                  </a:lnTo>
                  <a:lnTo>
                    <a:pt x="44949" y="36374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8222058" y="2880944"/>
              <a:ext cx="45085" cy="36830"/>
            </a:xfrm>
            <a:custGeom>
              <a:avLst/>
              <a:gdLst/>
              <a:ahLst/>
              <a:cxnLst/>
              <a:rect l="l" t="t" r="r" b="b"/>
              <a:pathLst>
                <a:path w="45084" h="36830">
                  <a:moveTo>
                    <a:pt x="0" y="26599"/>
                  </a:moveTo>
                  <a:lnTo>
                    <a:pt x="44949" y="36374"/>
                  </a:lnTo>
                  <a:lnTo>
                    <a:pt x="16774" y="0"/>
                  </a:lnTo>
                  <a:lnTo>
                    <a:pt x="0" y="26599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7355710" y="2757294"/>
              <a:ext cx="799465" cy="297815"/>
            </a:xfrm>
            <a:custGeom>
              <a:avLst/>
              <a:gdLst/>
              <a:ahLst/>
              <a:cxnLst/>
              <a:rect l="l" t="t" r="r" b="b"/>
              <a:pathLst>
                <a:path w="799465" h="297814">
                  <a:moveTo>
                    <a:pt x="0" y="0"/>
                  </a:moveTo>
                  <a:lnTo>
                    <a:pt x="799048" y="297449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8149258" y="3039993"/>
              <a:ext cx="46355" cy="29845"/>
            </a:xfrm>
            <a:custGeom>
              <a:avLst/>
              <a:gdLst/>
              <a:ahLst/>
              <a:cxnLst/>
              <a:rect l="l" t="t" r="r" b="b"/>
              <a:pathLst>
                <a:path w="46354" h="29844">
                  <a:moveTo>
                    <a:pt x="45999" y="29824"/>
                  </a:moveTo>
                  <a:lnTo>
                    <a:pt x="0" y="29499"/>
                  </a:lnTo>
                  <a:lnTo>
                    <a:pt x="10974" y="0"/>
                  </a:lnTo>
                  <a:lnTo>
                    <a:pt x="45999" y="29824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8149258" y="3039993"/>
              <a:ext cx="46355" cy="29845"/>
            </a:xfrm>
            <a:custGeom>
              <a:avLst/>
              <a:gdLst/>
              <a:ahLst/>
              <a:cxnLst/>
              <a:rect l="l" t="t" r="r" b="b"/>
              <a:pathLst>
                <a:path w="46354" h="29844">
                  <a:moveTo>
                    <a:pt x="0" y="29499"/>
                  </a:moveTo>
                  <a:lnTo>
                    <a:pt x="45999" y="29824"/>
                  </a:lnTo>
                  <a:lnTo>
                    <a:pt x="10974" y="0"/>
                  </a:lnTo>
                  <a:lnTo>
                    <a:pt x="0" y="29499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6619961" y="2328645"/>
              <a:ext cx="744855" cy="431800"/>
            </a:xfrm>
            <a:custGeom>
              <a:avLst/>
              <a:gdLst/>
              <a:ahLst/>
              <a:cxnLst/>
              <a:rect l="l" t="t" r="r" b="b"/>
              <a:pathLst>
                <a:path w="744854" h="431800">
                  <a:moveTo>
                    <a:pt x="0" y="0"/>
                  </a:moveTo>
                  <a:lnTo>
                    <a:pt x="707698" y="0"/>
                  </a:lnTo>
                </a:path>
                <a:path w="744854" h="431800">
                  <a:moveTo>
                    <a:pt x="36574" y="431599"/>
                  </a:moveTo>
                  <a:lnTo>
                    <a:pt x="744273" y="431599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8" name="object 38"/>
          <p:cNvGrpSpPr/>
          <p:nvPr/>
        </p:nvGrpSpPr>
        <p:grpSpPr>
          <a:xfrm>
            <a:off x="6619961" y="3184181"/>
            <a:ext cx="1509395" cy="99695"/>
            <a:chOff x="6619961" y="3184181"/>
            <a:chExt cx="1509395" cy="99695"/>
          </a:xfrm>
        </p:grpSpPr>
        <p:sp>
          <p:nvSpPr>
            <p:cNvPr id="39" name="object 39"/>
            <p:cNvSpPr/>
            <p:nvPr/>
          </p:nvSpPr>
          <p:spPr>
            <a:xfrm>
              <a:off x="7311660" y="3188943"/>
              <a:ext cx="769620" cy="74295"/>
            </a:xfrm>
            <a:custGeom>
              <a:avLst/>
              <a:gdLst/>
              <a:ahLst/>
              <a:cxnLst/>
              <a:rect l="l" t="t" r="r" b="b"/>
              <a:pathLst>
                <a:path w="769620" h="74295">
                  <a:moveTo>
                    <a:pt x="0" y="0"/>
                  </a:moveTo>
                  <a:lnTo>
                    <a:pt x="769598" y="74024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8079758" y="3247318"/>
              <a:ext cx="45085" cy="31750"/>
            </a:xfrm>
            <a:custGeom>
              <a:avLst/>
              <a:gdLst/>
              <a:ahLst/>
              <a:cxnLst/>
              <a:rect l="l" t="t" r="r" b="b"/>
              <a:pathLst>
                <a:path w="45084" h="31750">
                  <a:moveTo>
                    <a:pt x="0" y="31324"/>
                  </a:moveTo>
                  <a:lnTo>
                    <a:pt x="3024" y="0"/>
                  </a:lnTo>
                  <a:lnTo>
                    <a:pt x="44549" y="19799"/>
                  </a:lnTo>
                  <a:lnTo>
                    <a:pt x="0" y="31324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8079758" y="3247318"/>
              <a:ext cx="45085" cy="31750"/>
            </a:xfrm>
            <a:custGeom>
              <a:avLst/>
              <a:gdLst/>
              <a:ahLst/>
              <a:cxnLst/>
              <a:rect l="l" t="t" r="r" b="b"/>
              <a:pathLst>
                <a:path w="45084" h="31750">
                  <a:moveTo>
                    <a:pt x="0" y="31324"/>
                  </a:moveTo>
                  <a:lnTo>
                    <a:pt x="44549" y="19799"/>
                  </a:lnTo>
                  <a:lnTo>
                    <a:pt x="3024" y="0"/>
                  </a:lnTo>
                  <a:lnTo>
                    <a:pt x="0" y="31324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6619961" y="3191843"/>
              <a:ext cx="708025" cy="0"/>
            </a:xfrm>
            <a:custGeom>
              <a:avLst/>
              <a:gdLst/>
              <a:ahLst/>
              <a:cxnLst/>
              <a:rect l="l" t="t" r="r" b="b"/>
              <a:pathLst>
                <a:path w="708025">
                  <a:moveTo>
                    <a:pt x="0" y="0"/>
                  </a:moveTo>
                  <a:lnTo>
                    <a:pt x="707698" y="0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3" name="object 43"/>
          <p:cNvGrpSpPr/>
          <p:nvPr/>
        </p:nvGrpSpPr>
        <p:grpSpPr>
          <a:xfrm>
            <a:off x="6619961" y="3445505"/>
            <a:ext cx="1554480" cy="629285"/>
            <a:chOff x="6619961" y="3445505"/>
            <a:chExt cx="1554480" cy="629285"/>
          </a:xfrm>
        </p:grpSpPr>
        <p:sp>
          <p:nvSpPr>
            <p:cNvPr id="44" name="object 44"/>
            <p:cNvSpPr/>
            <p:nvPr/>
          </p:nvSpPr>
          <p:spPr>
            <a:xfrm>
              <a:off x="7320460" y="3465643"/>
              <a:ext cx="788670" cy="172720"/>
            </a:xfrm>
            <a:custGeom>
              <a:avLst/>
              <a:gdLst/>
              <a:ahLst/>
              <a:cxnLst/>
              <a:rect l="l" t="t" r="r" b="b"/>
              <a:pathLst>
                <a:path w="788670" h="172720">
                  <a:moveTo>
                    <a:pt x="0" y="172574"/>
                  </a:moveTo>
                  <a:lnTo>
                    <a:pt x="788073" y="0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8105158" y="3450268"/>
              <a:ext cx="45720" cy="31115"/>
            </a:xfrm>
            <a:custGeom>
              <a:avLst/>
              <a:gdLst/>
              <a:ahLst/>
              <a:cxnLst/>
              <a:rect l="l" t="t" r="r" b="b"/>
              <a:pathLst>
                <a:path w="45720" h="31114">
                  <a:moveTo>
                    <a:pt x="6749" y="30724"/>
                  </a:moveTo>
                  <a:lnTo>
                    <a:pt x="0" y="0"/>
                  </a:lnTo>
                  <a:lnTo>
                    <a:pt x="45599" y="6124"/>
                  </a:lnTo>
                  <a:lnTo>
                    <a:pt x="6749" y="30724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8105158" y="3450268"/>
              <a:ext cx="45720" cy="31115"/>
            </a:xfrm>
            <a:custGeom>
              <a:avLst/>
              <a:gdLst/>
              <a:ahLst/>
              <a:cxnLst/>
              <a:rect l="l" t="t" r="r" b="b"/>
              <a:pathLst>
                <a:path w="45720" h="31114">
                  <a:moveTo>
                    <a:pt x="6749" y="30724"/>
                  </a:moveTo>
                  <a:lnTo>
                    <a:pt x="45599" y="6124"/>
                  </a:lnTo>
                  <a:lnTo>
                    <a:pt x="0" y="0"/>
                  </a:lnTo>
                  <a:lnTo>
                    <a:pt x="6749" y="30724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7320460" y="3697142"/>
              <a:ext cx="810260" cy="372745"/>
            </a:xfrm>
            <a:custGeom>
              <a:avLst/>
              <a:gdLst/>
              <a:ahLst/>
              <a:cxnLst/>
              <a:rect l="l" t="t" r="r" b="b"/>
              <a:pathLst>
                <a:path w="810259" h="372745">
                  <a:moveTo>
                    <a:pt x="0" y="372724"/>
                  </a:moveTo>
                  <a:lnTo>
                    <a:pt x="809673" y="0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8123558" y="3679092"/>
              <a:ext cx="46355" cy="32384"/>
            </a:xfrm>
            <a:custGeom>
              <a:avLst/>
              <a:gdLst/>
              <a:ahLst/>
              <a:cxnLst/>
              <a:rect l="l" t="t" r="r" b="b"/>
              <a:pathLst>
                <a:path w="46354" h="32385">
                  <a:moveTo>
                    <a:pt x="13174" y="32349"/>
                  </a:moveTo>
                  <a:lnTo>
                    <a:pt x="0" y="3774"/>
                  </a:lnTo>
                  <a:lnTo>
                    <a:pt x="45849" y="0"/>
                  </a:lnTo>
                  <a:lnTo>
                    <a:pt x="13174" y="32349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8123558" y="3679092"/>
              <a:ext cx="46355" cy="32384"/>
            </a:xfrm>
            <a:custGeom>
              <a:avLst/>
              <a:gdLst/>
              <a:ahLst/>
              <a:cxnLst/>
              <a:rect l="l" t="t" r="r" b="b"/>
              <a:pathLst>
                <a:path w="46354" h="32385">
                  <a:moveTo>
                    <a:pt x="13174" y="32349"/>
                  </a:moveTo>
                  <a:lnTo>
                    <a:pt x="45849" y="0"/>
                  </a:lnTo>
                  <a:lnTo>
                    <a:pt x="0" y="3774"/>
                  </a:lnTo>
                  <a:lnTo>
                    <a:pt x="13174" y="32349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6619961" y="3638467"/>
              <a:ext cx="708025" cy="428625"/>
            </a:xfrm>
            <a:custGeom>
              <a:avLst/>
              <a:gdLst/>
              <a:ahLst/>
              <a:cxnLst/>
              <a:rect l="l" t="t" r="r" b="b"/>
              <a:pathLst>
                <a:path w="708025" h="428625">
                  <a:moveTo>
                    <a:pt x="0" y="0"/>
                  </a:moveTo>
                  <a:lnTo>
                    <a:pt x="707698" y="0"/>
                  </a:lnTo>
                </a:path>
                <a:path w="708025" h="428625">
                  <a:moveTo>
                    <a:pt x="0" y="428424"/>
                  </a:moveTo>
                  <a:lnTo>
                    <a:pt x="707698" y="428424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1" name="object 51"/>
          <p:cNvSpPr txBox="1"/>
          <p:nvPr/>
        </p:nvSpPr>
        <p:spPr>
          <a:xfrm>
            <a:off x="8314333" y="3045028"/>
            <a:ext cx="584835" cy="57594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>
              <a:lnSpc>
                <a:spcPct val="100699"/>
              </a:lnSpc>
              <a:spcBef>
                <a:spcPts val="85"/>
              </a:spcBef>
            </a:pPr>
            <a:r>
              <a:rPr sz="1800" spc="-25" dirty="0">
                <a:solidFill>
                  <a:srgbClr val="0000FF"/>
                </a:solidFill>
                <a:latin typeface="Arial"/>
                <a:cs typeface="Arial"/>
              </a:rPr>
              <a:t>cat </a:t>
            </a:r>
            <a:r>
              <a:rPr sz="1800" spc="-10" dirty="0">
                <a:solidFill>
                  <a:srgbClr val="0000FF"/>
                </a:solidFill>
                <a:latin typeface="Arial"/>
                <a:cs typeface="Arial"/>
              </a:rPr>
              <a:t>score</a:t>
            </a:r>
            <a:endParaRPr sz="1800">
              <a:latin typeface="Arial"/>
              <a:cs typeface="Arial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6825836" y="2188389"/>
            <a:ext cx="1784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solidFill>
                  <a:srgbClr val="FF0000"/>
                </a:solidFill>
                <a:latin typeface="Arial"/>
                <a:cs typeface="Arial"/>
              </a:rPr>
              <a:t>X</a:t>
            </a:r>
            <a:endParaRPr sz="1800">
              <a:latin typeface="Arial"/>
              <a:cs typeface="Arial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6854401" y="3016129"/>
            <a:ext cx="1784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solidFill>
                  <a:srgbClr val="FF0000"/>
                </a:solidFill>
                <a:latin typeface="Arial"/>
                <a:cs typeface="Arial"/>
              </a:rPr>
              <a:t>X</a:t>
            </a:r>
            <a:endParaRPr sz="1800">
              <a:latin typeface="Arial"/>
              <a:cs typeface="Arial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6863212" y="3900342"/>
            <a:ext cx="1784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solidFill>
                  <a:srgbClr val="FF0000"/>
                </a:solidFill>
                <a:latin typeface="Arial"/>
                <a:cs typeface="Arial"/>
              </a:rPr>
              <a:t>X</a:t>
            </a:r>
            <a:endParaRPr sz="1800">
              <a:latin typeface="Arial"/>
              <a:cs typeface="Arial"/>
            </a:endParaRPr>
          </a:p>
        </p:txBody>
      </p:sp>
      <p:sp>
        <p:nvSpPr>
          <p:cNvPr id="55" name="object 5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60916" rIns="0" bIns="0" rtlCol="0">
            <a:spAutoFit/>
          </a:bodyPr>
          <a:lstStyle/>
          <a:p>
            <a:pPr marL="230504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Dropout</a:t>
            </a:r>
          </a:p>
        </p:txBody>
      </p:sp>
      <p:sp>
        <p:nvSpPr>
          <p:cNvPr id="61" name="object 10">
            <a:extLst>
              <a:ext uri="{FF2B5EF4-FFF2-40B4-BE49-F238E27FC236}">
                <a16:creationId xmlns:a16="http://schemas.microsoft.com/office/drawing/2014/main" id="{46B7AC4A-BAEC-6E4F-A1C6-6C8953E63CF7}"/>
              </a:ext>
            </a:extLst>
          </p:cNvPr>
          <p:cNvSpPr txBox="1">
            <a:spLocks noGrp="1"/>
          </p:cNvSpPr>
          <p:nvPr>
            <p:ph type="dt" sz="half" idx="4294967295"/>
          </p:nvPr>
        </p:nvSpPr>
        <p:spPr>
          <a:xfrm>
            <a:off x="145224" y="4740846"/>
            <a:ext cx="4699000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lang="en-US" altLang="zh-CN" spc="-10" dirty="0">
                <a:solidFill>
                  <a:schemeClr val="bg1"/>
                </a:solidFill>
              </a:rPr>
              <a:t>Convolutional</a:t>
            </a:r>
            <a:r>
              <a:rPr lang="zh-CN" altLang="en-US" spc="-10" dirty="0">
                <a:solidFill>
                  <a:schemeClr val="bg1"/>
                </a:solidFill>
              </a:rPr>
              <a:t> </a:t>
            </a:r>
            <a:r>
              <a:rPr lang="en-US" altLang="zh-CN" spc="-10" dirty="0">
                <a:solidFill>
                  <a:schemeClr val="bg1"/>
                </a:solidFill>
              </a:rPr>
              <a:t>Neural</a:t>
            </a:r>
            <a:r>
              <a:rPr lang="zh-CN" altLang="en-US" spc="-10" dirty="0">
                <a:solidFill>
                  <a:schemeClr val="bg1"/>
                </a:solidFill>
              </a:rPr>
              <a:t> </a:t>
            </a:r>
            <a:r>
              <a:rPr lang="en-US" altLang="zh-CN" spc="-10" dirty="0">
                <a:solidFill>
                  <a:schemeClr val="bg1"/>
                </a:solidFill>
              </a:rPr>
              <a:t>Networks</a:t>
            </a:r>
            <a:endParaRPr spc="-1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1973" y="364365"/>
            <a:ext cx="846772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285" dirty="0">
                <a:latin typeface="Verdana"/>
                <a:cs typeface="Verdana"/>
              </a:rPr>
              <a:t>Convolutional</a:t>
            </a:r>
            <a:r>
              <a:rPr sz="4800" spc="-340" dirty="0">
                <a:latin typeface="Verdana"/>
                <a:cs typeface="Verdana"/>
              </a:rPr>
              <a:t> </a:t>
            </a:r>
            <a:r>
              <a:rPr sz="4800" spc="-320" dirty="0">
                <a:latin typeface="Verdana"/>
                <a:cs typeface="Verdana"/>
              </a:rPr>
              <a:t>Neural</a:t>
            </a:r>
            <a:r>
              <a:rPr sz="4800" spc="-335" dirty="0">
                <a:latin typeface="Verdana"/>
                <a:cs typeface="Verdana"/>
              </a:rPr>
              <a:t> </a:t>
            </a:r>
            <a:r>
              <a:rPr sz="4800" spc="-295" dirty="0">
                <a:latin typeface="Verdana"/>
                <a:cs typeface="Verdana"/>
              </a:rPr>
              <a:t>Networks</a:t>
            </a:r>
            <a:endParaRPr sz="4800">
              <a:latin typeface="Verdana"/>
              <a:cs typeface="Verdan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52259" y="1703671"/>
            <a:ext cx="7010373" cy="190499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727138" y="4276725"/>
            <a:ext cx="182245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i="1" spc="-10" dirty="0">
                <a:latin typeface="Arial"/>
                <a:cs typeface="Arial"/>
              </a:rPr>
              <a:t>[LeNet-</a:t>
            </a:r>
            <a:r>
              <a:rPr sz="1400" i="1" dirty="0">
                <a:latin typeface="Arial"/>
                <a:cs typeface="Arial"/>
              </a:rPr>
              <a:t>5, LeCun </a:t>
            </a:r>
            <a:r>
              <a:rPr sz="1400" i="1" spc="-10" dirty="0">
                <a:latin typeface="Arial"/>
                <a:cs typeface="Arial"/>
              </a:rPr>
              <a:t>1980]</a:t>
            </a:r>
            <a:endParaRPr sz="1400">
              <a:latin typeface="Arial"/>
              <a:cs typeface="Arial"/>
            </a:endParaRPr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B45B45C1-077D-1E42-BA83-C78CDE4BA17C}"/>
              </a:ext>
            </a:extLst>
          </p:cNvPr>
          <p:cNvSpPr txBox="1">
            <a:spLocks noGrp="1"/>
          </p:cNvSpPr>
          <p:nvPr>
            <p:ph type="dt" sz="half" idx="4294967295"/>
          </p:nvPr>
        </p:nvSpPr>
        <p:spPr>
          <a:xfrm>
            <a:off x="145224" y="4740846"/>
            <a:ext cx="4699000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lang="en-US" altLang="zh-CN" spc="-10" dirty="0">
                <a:solidFill>
                  <a:schemeClr val="bg1"/>
                </a:solidFill>
              </a:rPr>
              <a:t>Convolutional</a:t>
            </a:r>
            <a:r>
              <a:rPr lang="zh-CN" altLang="en-US" spc="-10" dirty="0">
                <a:solidFill>
                  <a:schemeClr val="bg1"/>
                </a:solidFill>
              </a:rPr>
              <a:t> </a:t>
            </a:r>
            <a:r>
              <a:rPr lang="en-US" altLang="zh-CN" spc="-10" dirty="0">
                <a:solidFill>
                  <a:schemeClr val="bg1"/>
                </a:solidFill>
              </a:rPr>
              <a:t>Neural</a:t>
            </a:r>
            <a:r>
              <a:rPr lang="zh-CN" altLang="en-US" spc="-10" dirty="0">
                <a:solidFill>
                  <a:schemeClr val="bg1"/>
                </a:solidFill>
              </a:rPr>
              <a:t> </a:t>
            </a:r>
            <a:r>
              <a:rPr lang="en-US" altLang="zh-CN" spc="-10" dirty="0">
                <a:solidFill>
                  <a:schemeClr val="bg1"/>
                </a:solidFill>
              </a:rPr>
              <a:t>Networks</a:t>
            </a:r>
            <a:endParaRPr spc="-1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3" name="object 3"/>
            <p:cNvSpPr/>
            <p:nvPr/>
          </p:nvSpPr>
          <p:spPr>
            <a:xfrm>
              <a:off x="3661242" y="0"/>
              <a:ext cx="0" cy="4617720"/>
            </a:xfrm>
            <a:custGeom>
              <a:avLst/>
              <a:gdLst/>
              <a:ahLst/>
              <a:cxnLst/>
              <a:rect l="l" t="t" r="r" b="b"/>
              <a:pathLst>
                <a:path h="4617720">
                  <a:moveTo>
                    <a:pt x="0" y="0"/>
                  </a:moveTo>
                  <a:lnTo>
                    <a:pt x="0" y="461759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27265" y="89474"/>
              <a:ext cx="2887019" cy="191189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196166" y="2125445"/>
              <a:ext cx="4528890" cy="2418320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6789" rIns="0" bIns="0" rtlCol="0">
            <a:spAutoFit/>
          </a:bodyPr>
          <a:lstStyle/>
          <a:p>
            <a:pPr marL="30480">
              <a:lnSpc>
                <a:spcPct val="100000"/>
              </a:lnSpc>
              <a:spcBef>
                <a:spcPts val="100"/>
              </a:spcBef>
            </a:pPr>
            <a:r>
              <a:rPr sz="3000" dirty="0"/>
              <a:t>A</a:t>
            </a:r>
            <a:r>
              <a:rPr sz="3000" spc="-25" dirty="0"/>
              <a:t> </a:t>
            </a:r>
            <a:r>
              <a:rPr sz="3000" dirty="0"/>
              <a:t>bit</a:t>
            </a:r>
            <a:r>
              <a:rPr sz="3000" spc="-10" dirty="0"/>
              <a:t> </a:t>
            </a:r>
            <a:r>
              <a:rPr sz="3000" dirty="0"/>
              <a:t>of</a:t>
            </a:r>
            <a:r>
              <a:rPr sz="3000" spc="-10" dirty="0"/>
              <a:t> history:</a:t>
            </a:r>
            <a:endParaRPr sz="3000"/>
          </a:p>
        </p:txBody>
      </p:sp>
      <p:sp>
        <p:nvSpPr>
          <p:cNvPr id="7" name="object 7"/>
          <p:cNvSpPr txBox="1"/>
          <p:nvPr/>
        </p:nvSpPr>
        <p:spPr>
          <a:xfrm>
            <a:off x="243024" y="1061657"/>
            <a:ext cx="3253104" cy="33210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74015">
              <a:lnSpc>
                <a:spcPct val="100000"/>
              </a:lnSpc>
              <a:spcBef>
                <a:spcPts val="100"/>
              </a:spcBef>
            </a:pPr>
            <a:r>
              <a:rPr sz="3000" b="1" dirty="0">
                <a:latin typeface="Arial"/>
                <a:cs typeface="Arial"/>
              </a:rPr>
              <a:t>Hubel</a:t>
            </a:r>
            <a:r>
              <a:rPr sz="3000" b="1" spc="-60" dirty="0">
                <a:latin typeface="Arial"/>
                <a:cs typeface="Arial"/>
              </a:rPr>
              <a:t> </a:t>
            </a:r>
            <a:r>
              <a:rPr sz="3000" b="1" dirty="0">
                <a:latin typeface="Arial"/>
                <a:cs typeface="Arial"/>
              </a:rPr>
              <a:t>&amp;</a:t>
            </a:r>
            <a:r>
              <a:rPr sz="3000" b="1" spc="-55" dirty="0">
                <a:latin typeface="Arial"/>
                <a:cs typeface="Arial"/>
              </a:rPr>
              <a:t> </a:t>
            </a:r>
            <a:r>
              <a:rPr sz="3000" b="1" spc="-10" dirty="0">
                <a:latin typeface="Arial"/>
                <a:cs typeface="Arial"/>
              </a:rPr>
              <a:t>Wiesel</a:t>
            </a:r>
            <a:r>
              <a:rPr sz="3000" spc="-10" dirty="0">
                <a:latin typeface="Arial"/>
                <a:cs typeface="Arial"/>
              </a:rPr>
              <a:t>, </a:t>
            </a:r>
            <a:r>
              <a:rPr sz="3000" spc="-20" dirty="0">
                <a:latin typeface="Arial"/>
                <a:cs typeface="Arial"/>
              </a:rPr>
              <a:t>1959</a:t>
            </a:r>
            <a:endParaRPr sz="3000">
              <a:latin typeface="Arial"/>
              <a:cs typeface="Arial"/>
            </a:endParaRPr>
          </a:p>
          <a:p>
            <a:pPr marL="12700" marR="558800">
              <a:lnSpc>
                <a:spcPts val="1650"/>
              </a:lnSpc>
              <a:spcBef>
                <a:spcPts val="140"/>
              </a:spcBef>
            </a:pPr>
            <a:r>
              <a:rPr sz="1400" spc="-10" dirty="0">
                <a:latin typeface="Arial"/>
                <a:cs typeface="Arial"/>
              </a:rPr>
              <a:t>RECEPTIVE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FIELDS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OF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SINGLE NEURONES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IN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ts val="1555"/>
              </a:lnSpc>
            </a:pPr>
            <a:r>
              <a:rPr sz="1400" dirty="0">
                <a:latin typeface="Arial"/>
                <a:cs typeface="Arial"/>
              </a:rPr>
              <a:t>THE</a:t>
            </a:r>
            <a:r>
              <a:rPr sz="1400" spc="-4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CAT'S</a:t>
            </a:r>
            <a:r>
              <a:rPr sz="1400" spc="-4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STRIATE</a:t>
            </a:r>
            <a:r>
              <a:rPr sz="1400" spc="-4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CORTEX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ts val="3554"/>
              </a:lnSpc>
            </a:pPr>
            <a:r>
              <a:rPr sz="3000" spc="-20" dirty="0">
                <a:latin typeface="Arial"/>
                <a:cs typeface="Arial"/>
              </a:rPr>
              <a:t>1962</a:t>
            </a:r>
            <a:endParaRPr sz="3000">
              <a:latin typeface="Arial"/>
              <a:cs typeface="Arial"/>
            </a:endParaRPr>
          </a:p>
          <a:p>
            <a:pPr marL="12700" marR="419100">
              <a:lnSpc>
                <a:spcPts val="1650"/>
              </a:lnSpc>
              <a:spcBef>
                <a:spcPts val="145"/>
              </a:spcBef>
            </a:pPr>
            <a:r>
              <a:rPr sz="1400" spc="-10" dirty="0">
                <a:latin typeface="Arial"/>
                <a:cs typeface="Arial"/>
              </a:rPr>
              <a:t>RECEPTIVE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FIELDS,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BINOCULAR INTERACTION</a:t>
            </a:r>
            <a:endParaRPr sz="1400">
              <a:latin typeface="Arial"/>
              <a:cs typeface="Arial"/>
            </a:endParaRPr>
          </a:p>
          <a:p>
            <a:pPr marL="12700" marR="5080">
              <a:lnSpc>
                <a:spcPts val="1650"/>
              </a:lnSpc>
            </a:pPr>
            <a:r>
              <a:rPr sz="1400" dirty="0">
                <a:latin typeface="Arial"/>
                <a:cs typeface="Arial"/>
              </a:rPr>
              <a:t>AND</a:t>
            </a:r>
            <a:r>
              <a:rPr sz="1400" spc="-5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FUNCTIONAL</a:t>
            </a:r>
            <a:r>
              <a:rPr sz="1400" spc="-5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ARCHITECTURE</a:t>
            </a:r>
            <a:r>
              <a:rPr sz="1400" spc="-45" dirty="0">
                <a:latin typeface="Arial"/>
                <a:cs typeface="Arial"/>
              </a:rPr>
              <a:t> </a:t>
            </a:r>
            <a:r>
              <a:rPr sz="1400" spc="-35" dirty="0">
                <a:latin typeface="Arial"/>
                <a:cs typeface="Arial"/>
              </a:rPr>
              <a:t>IN </a:t>
            </a:r>
            <a:r>
              <a:rPr sz="1400" dirty="0">
                <a:latin typeface="Arial"/>
                <a:cs typeface="Arial"/>
              </a:rPr>
              <a:t>THE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CAT'S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VISUAL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CORTEX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ts val="3454"/>
              </a:lnSpc>
            </a:pPr>
            <a:r>
              <a:rPr sz="3000" spc="-10" dirty="0">
                <a:latin typeface="Arial"/>
                <a:cs typeface="Arial"/>
              </a:rPr>
              <a:t>1968...</a:t>
            </a:r>
            <a:endParaRPr sz="3000">
              <a:latin typeface="Arial"/>
              <a:cs typeface="Arial"/>
            </a:endParaRPr>
          </a:p>
        </p:txBody>
      </p:sp>
      <p:sp>
        <p:nvSpPr>
          <p:cNvPr id="13" name="object 10">
            <a:extLst>
              <a:ext uri="{FF2B5EF4-FFF2-40B4-BE49-F238E27FC236}">
                <a16:creationId xmlns:a16="http://schemas.microsoft.com/office/drawing/2014/main" id="{9EB7F7E9-F1A5-8541-B7E2-F4A3AB41521C}"/>
              </a:ext>
            </a:extLst>
          </p:cNvPr>
          <p:cNvSpPr txBox="1">
            <a:spLocks noGrp="1"/>
          </p:cNvSpPr>
          <p:nvPr>
            <p:ph type="dt" sz="half" idx="4294967295"/>
          </p:nvPr>
        </p:nvSpPr>
        <p:spPr>
          <a:xfrm>
            <a:off x="145224" y="4740846"/>
            <a:ext cx="4699000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lang="en-US" altLang="zh-CN" spc="-10" dirty="0">
                <a:solidFill>
                  <a:schemeClr val="bg1"/>
                </a:solidFill>
              </a:rPr>
              <a:t>Convolutional</a:t>
            </a:r>
            <a:r>
              <a:rPr lang="zh-CN" altLang="en-US" spc="-10" dirty="0">
                <a:solidFill>
                  <a:schemeClr val="bg1"/>
                </a:solidFill>
              </a:rPr>
              <a:t> </a:t>
            </a:r>
            <a:r>
              <a:rPr lang="en-US" altLang="zh-CN" spc="-10" dirty="0">
                <a:solidFill>
                  <a:schemeClr val="bg1"/>
                </a:solidFill>
              </a:rPr>
              <a:t>Neural</a:t>
            </a:r>
            <a:r>
              <a:rPr lang="zh-CN" altLang="en-US" spc="-10" dirty="0">
                <a:solidFill>
                  <a:schemeClr val="bg1"/>
                </a:solidFill>
              </a:rPr>
              <a:t> </a:t>
            </a:r>
            <a:r>
              <a:rPr lang="en-US" altLang="zh-CN" spc="-10" dirty="0">
                <a:solidFill>
                  <a:schemeClr val="bg1"/>
                </a:solidFill>
              </a:rPr>
              <a:t>Networks</a:t>
            </a:r>
            <a:endParaRPr spc="-1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83097" y="1492571"/>
            <a:ext cx="5916438" cy="194894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6789" rIns="0" bIns="0" rtlCol="0">
            <a:spAutoFit/>
          </a:bodyPr>
          <a:lstStyle/>
          <a:p>
            <a:pPr marL="30480">
              <a:lnSpc>
                <a:spcPct val="100000"/>
              </a:lnSpc>
              <a:spcBef>
                <a:spcPts val="100"/>
              </a:spcBef>
            </a:pPr>
            <a:r>
              <a:rPr sz="3000" dirty="0"/>
              <a:t>Hierarchical</a:t>
            </a:r>
            <a:r>
              <a:rPr sz="3000" spc="-60" dirty="0"/>
              <a:t> </a:t>
            </a:r>
            <a:r>
              <a:rPr sz="3000" spc="-10" dirty="0"/>
              <a:t>organization</a:t>
            </a:r>
            <a:endParaRPr sz="3000"/>
          </a:p>
        </p:txBody>
      </p:sp>
      <p:sp>
        <p:nvSpPr>
          <p:cNvPr id="9" name="object 10">
            <a:extLst>
              <a:ext uri="{FF2B5EF4-FFF2-40B4-BE49-F238E27FC236}">
                <a16:creationId xmlns:a16="http://schemas.microsoft.com/office/drawing/2014/main" id="{89559AC1-F85E-B740-B9C3-5418763218C4}"/>
              </a:ext>
            </a:extLst>
          </p:cNvPr>
          <p:cNvSpPr txBox="1">
            <a:spLocks noGrp="1"/>
          </p:cNvSpPr>
          <p:nvPr>
            <p:ph type="dt" sz="half" idx="4294967295"/>
          </p:nvPr>
        </p:nvSpPr>
        <p:spPr>
          <a:xfrm>
            <a:off x="145224" y="4740846"/>
            <a:ext cx="4699000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lang="en-US" altLang="zh-CN" spc="-10" dirty="0">
                <a:solidFill>
                  <a:schemeClr val="bg1"/>
                </a:solidFill>
              </a:rPr>
              <a:t>Convolutional</a:t>
            </a:r>
            <a:r>
              <a:rPr lang="zh-CN" altLang="en-US" spc="-10" dirty="0">
                <a:solidFill>
                  <a:schemeClr val="bg1"/>
                </a:solidFill>
              </a:rPr>
              <a:t> </a:t>
            </a:r>
            <a:r>
              <a:rPr lang="en-US" altLang="zh-CN" spc="-10" dirty="0">
                <a:solidFill>
                  <a:schemeClr val="bg1"/>
                </a:solidFill>
              </a:rPr>
              <a:t>Neural</a:t>
            </a:r>
            <a:r>
              <a:rPr lang="zh-CN" altLang="en-US" spc="-10" dirty="0">
                <a:solidFill>
                  <a:schemeClr val="bg1"/>
                </a:solidFill>
              </a:rPr>
              <a:t> </a:t>
            </a:r>
            <a:r>
              <a:rPr lang="en-US" altLang="zh-CN" spc="-10" dirty="0">
                <a:solidFill>
                  <a:schemeClr val="bg1"/>
                </a:solidFill>
              </a:rPr>
              <a:t>Networks</a:t>
            </a:r>
            <a:endParaRPr spc="-1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60049" y="1524736"/>
            <a:ext cx="839152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10" dirty="0">
                <a:latin typeface="Arial"/>
                <a:cs typeface="Arial"/>
              </a:rPr>
              <a:t>Convolutional</a:t>
            </a:r>
            <a:r>
              <a:rPr sz="4800" spc="-200" dirty="0">
                <a:latin typeface="Arial"/>
                <a:cs typeface="Arial"/>
              </a:rPr>
              <a:t> </a:t>
            </a:r>
            <a:r>
              <a:rPr sz="4800" dirty="0">
                <a:latin typeface="Arial"/>
                <a:cs typeface="Arial"/>
              </a:rPr>
              <a:t>Neural</a:t>
            </a:r>
            <a:r>
              <a:rPr sz="4800" spc="-200" dirty="0">
                <a:latin typeface="Arial"/>
                <a:cs typeface="Arial"/>
              </a:rPr>
              <a:t> </a:t>
            </a:r>
            <a:r>
              <a:rPr sz="4800" spc="-10" dirty="0">
                <a:latin typeface="Arial"/>
                <a:cs typeface="Arial"/>
              </a:rPr>
              <a:t>Networks</a:t>
            </a:r>
            <a:endParaRPr sz="48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205772" y="2426676"/>
            <a:ext cx="37985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"/>
                <a:cs typeface="Arial"/>
              </a:rPr>
              <a:t>(First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without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brain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stuff)</a:t>
            </a:r>
            <a:endParaRPr sz="2400">
              <a:latin typeface="Arial"/>
              <a:cs typeface="Arial"/>
            </a:endParaRPr>
          </a:p>
        </p:txBody>
      </p:sp>
      <p:sp>
        <p:nvSpPr>
          <p:cNvPr id="9" name="object 10">
            <a:extLst>
              <a:ext uri="{FF2B5EF4-FFF2-40B4-BE49-F238E27FC236}">
                <a16:creationId xmlns:a16="http://schemas.microsoft.com/office/drawing/2014/main" id="{E946E86D-3F78-864D-B734-510ED0DF25B8}"/>
              </a:ext>
            </a:extLst>
          </p:cNvPr>
          <p:cNvSpPr txBox="1">
            <a:spLocks noGrp="1"/>
          </p:cNvSpPr>
          <p:nvPr>
            <p:ph type="dt" sz="half" idx="4294967295"/>
          </p:nvPr>
        </p:nvSpPr>
        <p:spPr>
          <a:xfrm>
            <a:off x="145224" y="4740846"/>
            <a:ext cx="4699000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lang="en-US" altLang="zh-CN" spc="-10" dirty="0">
                <a:solidFill>
                  <a:schemeClr val="bg1"/>
                </a:solidFill>
              </a:rPr>
              <a:t>Convolutional</a:t>
            </a:r>
            <a:r>
              <a:rPr lang="zh-CN" altLang="en-US" spc="-10" dirty="0">
                <a:solidFill>
                  <a:schemeClr val="bg1"/>
                </a:solidFill>
              </a:rPr>
              <a:t> </a:t>
            </a:r>
            <a:r>
              <a:rPr lang="en-US" altLang="zh-CN" spc="-10" dirty="0">
                <a:solidFill>
                  <a:schemeClr val="bg1"/>
                </a:solidFill>
              </a:rPr>
              <a:t>Neural</a:t>
            </a:r>
            <a:r>
              <a:rPr lang="zh-CN" altLang="en-US" spc="-10" dirty="0">
                <a:solidFill>
                  <a:schemeClr val="bg1"/>
                </a:solidFill>
              </a:rPr>
              <a:t> </a:t>
            </a:r>
            <a:r>
              <a:rPr lang="en-US" altLang="zh-CN" spc="-10" dirty="0">
                <a:solidFill>
                  <a:schemeClr val="bg1"/>
                </a:solidFill>
              </a:rPr>
              <a:t>Networks</a:t>
            </a:r>
            <a:endParaRPr spc="-1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056922" y="1416234"/>
            <a:ext cx="975994" cy="2777490"/>
            <a:chOff x="1056922" y="1416234"/>
            <a:chExt cx="975994" cy="2777490"/>
          </a:xfrm>
        </p:grpSpPr>
        <p:sp>
          <p:nvSpPr>
            <p:cNvPr id="3" name="object 3"/>
            <p:cNvSpPr/>
            <p:nvPr/>
          </p:nvSpPr>
          <p:spPr>
            <a:xfrm>
              <a:off x="1066447" y="2168985"/>
              <a:ext cx="213360" cy="2014855"/>
            </a:xfrm>
            <a:custGeom>
              <a:avLst/>
              <a:gdLst/>
              <a:ahLst/>
              <a:cxnLst/>
              <a:rect l="l" t="t" r="r" b="b"/>
              <a:pathLst>
                <a:path w="213359" h="2014854">
                  <a:moveTo>
                    <a:pt x="213172" y="2014680"/>
                  </a:moveTo>
                  <a:lnTo>
                    <a:pt x="0" y="2014680"/>
                  </a:lnTo>
                  <a:lnTo>
                    <a:pt x="0" y="0"/>
                  </a:lnTo>
                  <a:lnTo>
                    <a:pt x="213172" y="0"/>
                  </a:lnTo>
                  <a:lnTo>
                    <a:pt x="213172" y="2014680"/>
                  </a:lnTo>
                  <a:close/>
                </a:path>
              </a:pathLst>
            </a:custGeom>
            <a:solidFill>
              <a:srgbClr val="F4CCCC">
                <a:alpha val="5191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279619" y="1425759"/>
              <a:ext cx="743585" cy="2758440"/>
            </a:xfrm>
            <a:custGeom>
              <a:avLst/>
              <a:gdLst/>
              <a:ahLst/>
              <a:cxnLst/>
              <a:rect l="l" t="t" r="r" b="b"/>
              <a:pathLst>
                <a:path w="743585" h="2758440">
                  <a:moveTo>
                    <a:pt x="0" y="2757906"/>
                  </a:moveTo>
                  <a:lnTo>
                    <a:pt x="0" y="743226"/>
                  </a:lnTo>
                  <a:lnTo>
                    <a:pt x="743226" y="0"/>
                  </a:lnTo>
                  <a:lnTo>
                    <a:pt x="743226" y="2014658"/>
                  </a:lnTo>
                  <a:lnTo>
                    <a:pt x="0" y="2757906"/>
                  </a:lnTo>
                  <a:close/>
                </a:path>
              </a:pathLst>
            </a:custGeom>
            <a:solidFill>
              <a:srgbClr val="C3A3A3">
                <a:alpha val="5191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066447" y="1425759"/>
              <a:ext cx="956944" cy="743585"/>
            </a:xfrm>
            <a:custGeom>
              <a:avLst/>
              <a:gdLst/>
              <a:ahLst/>
              <a:cxnLst/>
              <a:rect l="l" t="t" r="r" b="b"/>
              <a:pathLst>
                <a:path w="956944" h="743585">
                  <a:moveTo>
                    <a:pt x="213172" y="743226"/>
                  </a:moveTo>
                  <a:lnTo>
                    <a:pt x="0" y="743226"/>
                  </a:lnTo>
                  <a:lnTo>
                    <a:pt x="743226" y="0"/>
                  </a:lnTo>
                  <a:lnTo>
                    <a:pt x="956398" y="0"/>
                  </a:lnTo>
                  <a:lnTo>
                    <a:pt x="213172" y="743226"/>
                  </a:lnTo>
                  <a:close/>
                </a:path>
              </a:pathLst>
            </a:custGeom>
            <a:solidFill>
              <a:srgbClr val="F6D6D6">
                <a:alpha val="5191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066447" y="1425759"/>
              <a:ext cx="956944" cy="2758440"/>
            </a:xfrm>
            <a:custGeom>
              <a:avLst/>
              <a:gdLst/>
              <a:ahLst/>
              <a:cxnLst/>
              <a:rect l="l" t="t" r="r" b="b"/>
              <a:pathLst>
                <a:path w="956944" h="2758440">
                  <a:moveTo>
                    <a:pt x="0" y="743226"/>
                  </a:moveTo>
                  <a:lnTo>
                    <a:pt x="743226" y="0"/>
                  </a:lnTo>
                  <a:lnTo>
                    <a:pt x="956398" y="0"/>
                  </a:lnTo>
                  <a:lnTo>
                    <a:pt x="956398" y="2014658"/>
                  </a:lnTo>
                  <a:lnTo>
                    <a:pt x="213172" y="2757906"/>
                  </a:lnTo>
                  <a:lnTo>
                    <a:pt x="0" y="2757906"/>
                  </a:lnTo>
                  <a:lnTo>
                    <a:pt x="0" y="743226"/>
                  </a:lnTo>
                  <a:close/>
                </a:path>
                <a:path w="956944" h="2758440">
                  <a:moveTo>
                    <a:pt x="0" y="743226"/>
                  </a:moveTo>
                  <a:lnTo>
                    <a:pt x="213172" y="743226"/>
                  </a:lnTo>
                  <a:lnTo>
                    <a:pt x="956398" y="0"/>
                  </a:lnTo>
                </a:path>
                <a:path w="956944" h="2758440">
                  <a:moveTo>
                    <a:pt x="213172" y="743226"/>
                  </a:moveTo>
                  <a:lnTo>
                    <a:pt x="213172" y="2757906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2095873" y="2248368"/>
            <a:ext cx="280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Arial"/>
                <a:cs typeface="Arial"/>
              </a:rPr>
              <a:t>32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81482" y="4181263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Arial"/>
                <a:cs typeface="Arial"/>
              </a:rPr>
              <a:t>3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78423" y="3729023"/>
            <a:ext cx="597535" cy="695325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R="24765" algn="r">
              <a:lnSpc>
                <a:spcPct val="100000"/>
              </a:lnSpc>
              <a:spcBef>
                <a:spcPts val="575"/>
              </a:spcBef>
            </a:pPr>
            <a:r>
              <a:rPr sz="1800" spc="-25" dirty="0">
                <a:latin typeface="Arial"/>
                <a:cs typeface="Arial"/>
              </a:rPr>
              <a:t>32</a:t>
            </a:r>
            <a:endParaRPr sz="1800">
              <a:latin typeface="Arial"/>
              <a:cs typeface="Arial"/>
            </a:endParaRPr>
          </a:p>
          <a:p>
            <a:pPr marR="5080" algn="r">
              <a:lnSpc>
                <a:spcPct val="100000"/>
              </a:lnSpc>
              <a:spcBef>
                <a:spcPts val="480"/>
              </a:spcBef>
            </a:pPr>
            <a:r>
              <a:rPr sz="1800" spc="-10" dirty="0">
                <a:solidFill>
                  <a:srgbClr val="0000FF"/>
                </a:solidFill>
                <a:latin typeface="Arial"/>
                <a:cs typeface="Arial"/>
              </a:rPr>
              <a:t>depth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73024" y="54736"/>
            <a:ext cx="37096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Convolution</a:t>
            </a:r>
            <a:r>
              <a:rPr spc="-65" dirty="0"/>
              <a:t> </a:t>
            </a:r>
            <a:r>
              <a:rPr spc="-10" dirty="0"/>
              <a:t>Layer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824248" y="904843"/>
            <a:ext cx="20923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"/>
                <a:cs typeface="Arial"/>
              </a:rPr>
              <a:t>32x32x3</a:t>
            </a:r>
            <a:r>
              <a:rPr sz="2400" spc="-13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image</a:t>
            </a:r>
            <a:endParaRPr sz="24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091396" y="3704121"/>
            <a:ext cx="5594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0000FF"/>
                </a:solidFill>
                <a:latin typeface="Arial"/>
                <a:cs typeface="Arial"/>
              </a:rPr>
              <a:t>width</a:t>
            </a:r>
            <a:endParaRPr sz="18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511372" y="2188697"/>
            <a:ext cx="647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0000FF"/>
                </a:solidFill>
                <a:latin typeface="Arial"/>
                <a:cs typeface="Arial"/>
              </a:rPr>
              <a:t>height</a:t>
            </a:r>
            <a:endParaRPr sz="1800">
              <a:latin typeface="Arial"/>
              <a:cs typeface="Arial"/>
            </a:endParaRPr>
          </a:p>
        </p:txBody>
      </p:sp>
      <p:sp>
        <p:nvSpPr>
          <p:cNvPr id="18" name="object 10">
            <a:extLst>
              <a:ext uri="{FF2B5EF4-FFF2-40B4-BE49-F238E27FC236}">
                <a16:creationId xmlns:a16="http://schemas.microsoft.com/office/drawing/2014/main" id="{9E95523F-686D-DC43-914D-32FE36673FCC}"/>
              </a:ext>
            </a:extLst>
          </p:cNvPr>
          <p:cNvSpPr txBox="1">
            <a:spLocks noGrp="1"/>
          </p:cNvSpPr>
          <p:nvPr>
            <p:ph type="dt" sz="half" idx="4294967295"/>
          </p:nvPr>
        </p:nvSpPr>
        <p:spPr>
          <a:xfrm>
            <a:off x="145224" y="4740846"/>
            <a:ext cx="4699000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lang="en-US" altLang="zh-CN" spc="-10" dirty="0">
                <a:solidFill>
                  <a:schemeClr val="bg1"/>
                </a:solidFill>
              </a:rPr>
              <a:t>Convolutional</a:t>
            </a:r>
            <a:r>
              <a:rPr lang="zh-CN" altLang="en-US" spc="-10" dirty="0">
                <a:solidFill>
                  <a:schemeClr val="bg1"/>
                </a:solidFill>
              </a:rPr>
              <a:t> </a:t>
            </a:r>
            <a:r>
              <a:rPr lang="en-US" altLang="zh-CN" spc="-10" dirty="0">
                <a:solidFill>
                  <a:schemeClr val="bg1"/>
                </a:solidFill>
              </a:rPr>
              <a:t>Neural</a:t>
            </a:r>
            <a:r>
              <a:rPr lang="zh-CN" altLang="en-US" spc="-10" dirty="0">
                <a:solidFill>
                  <a:schemeClr val="bg1"/>
                </a:solidFill>
              </a:rPr>
              <a:t> </a:t>
            </a:r>
            <a:r>
              <a:rPr lang="en-US" altLang="zh-CN" spc="-10" dirty="0">
                <a:solidFill>
                  <a:schemeClr val="bg1"/>
                </a:solidFill>
              </a:rPr>
              <a:t>Networks</a:t>
            </a:r>
            <a:endParaRPr spc="-1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056922" y="1416234"/>
            <a:ext cx="975994" cy="2777490"/>
            <a:chOff x="1056922" y="1416234"/>
            <a:chExt cx="975994" cy="2777490"/>
          </a:xfrm>
        </p:grpSpPr>
        <p:sp>
          <p:nvSpPr>
            <p:cNvPr id="3" name="object 3"/>
            <p:cNvSpPr/>
            <p:nvPr/>
          </p:nvSpPr>
          <p:spPr>
            <a:xfrm>
              <a:off x="1066447" y="2168985"/>
              <a:ext cx="213360" cy="2014855"/>
            </a:xfrm>
            <a:custGeom>
              <a:avLst/>
              <a:gdLst/>
              <a:ahLst/>
              <a:cxnLst/>
              <a:rect l="l" t="t" r="r" b="b"/>
              <a:pathLst>
                <a:path w="213359" h="2014854">
                  <a:moveTo>
                    <a:pt x="213172" y="2014680"/>
                  </a:moveTo>
                  <a:lnTo>
                    <a:pt x="0" y="2014680"/>
                  </a:lnTo>
                  <a:lnTo>
                    <a:pt x="0" y="0"/>
                  </a:lnTo>
                  <a:lnTo>
                    <a:pt x="213172" y="0"/>
                  </a:lnTo>
                  <a:lnTo>
                    <a:pt x="213172" y="2014680"/>
                  </a:lnTo>
                  <a:close/>
                </a:path>
              </a:pathLst>
            </a:custGeom>
            <a:solidFill>
              <a:srgbClr val="F4CCCC">
                <a:alpha val="5191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279619" y="1425759"/>
              <a:ext cx="743585" cy="2758440"/>
            </a:xfrm>
            <a:custGeom>
              <a:avLst/>
              <a:gdLst/>
              <a:ahLst/>
              <a:cxnLst/>
              <a:rect l="l" t="t" r="r" b="b"/>
              <a:pathLst>
                <a:path w="743585" h="2758440">
                  <a:moveTo>
                    <a:pt x="0" y="2757906"/>
                  </a:moveTo>
                  <a:lnTo>
                    <a:pt x="0" y="743226"/>
                  </a:lnTo>
                  <a:lnTo>
                    <a:pt x="743226" y="0"/>
                  </a:lnTo>
                  <a:lnTo>
                    <a:pt x="743226" y="2014658"/>
                  </a:lnTo>
                  <a:lnTo>
                    <a:pt x="0" y="2757906"/>
                  </a:lnTo>
                  <a:close/>
                </a:path>
              </a:pathLst>
            </a:custGeom>
            <a:solidFill>
              <a:srgbClr val="C3A3A3">
                <a:alpha val="5191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066447" y="1425759"/>
              <a:ext cx="956944" cy="743585"/>
            </a:xfrm>
            <a:custGeom>
              <a:avLst/>
              <a:gdLst/>
              <a:ahLst/>
              <a:cxnLst/>
              <a:rect l="l" t="t" r="r" b="b"/>
              <a:pathLst>
                <a:path w="956944" h="743585">
                  <a:moveTo>
                    <a:pt x="213172" y="743226"/>
                  </a:moveTo>
                  <a:lnTo>
                    <a:pt x="0" y="743226"/>
                  </a:lnTo>
                  <a:lnTo>
                    <a:pt x="743226" y="0"/>
                  </a:lnTo>
                  <a:lnTo>
                    <a:pt x="956398" y="0"/>
                  </a:lnTo>
                  <a:lnTo>
                    <a:pt x="213172" y="743226"/>
                  </a:lnTo>
                  <a:close/>
                </a:path>
              </a:pathLst>
            </a:custGeom>
            <a:solidFill>
              <a:srgbClr val="F6D6D6">
                <a:alpha val="5191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066447" y="1425759"/>
              <a:ext cx="956944" cy="2758440"/>
            </a:xfrm>
            <a:custGeom>
              <a:avLst/>
              <a:gdLst/>
              <a:ahLst/>
              <a:cxnLst/>
              <a:rect l="l" t="t" r="r" b="b"/>
              <a:pathLst>
                <a:path w="956944" h="2758440">
                  <a:moveTo>
                    <a:pt x="0" y="743226"/>
                  </a:moveTo>
                  <a:lnTo>
                    <a:pt x="743226" y="0"/>
                  </a:lnTo>
                  <a:lnTo>
                    <a:pt x="956398" y="0"/>
                  </a:lnTo>
                  <a:lnTo>
                    <a:pt x="956398" y="2014658"/>
                  </a:lnTo>
                  <a:lnTo>
                    <a:pt x="213172" y="2757906"/>
                  </a:lnTo>
                  <a:lnTo>
                    <a:pt x="0" y="2757906"/>
                  </a:lnTo>
                  <a:lnTo>
                    <a:pt x="0" y="743226"/>
                  </a:lnTo>
                  <a:close/>
                </a:path>
                <a:path w="956944" h="2758440">
                  <a:moveTo>
                    <a:pt x="0" y="743226"/>
                  </a:moveTo>
                  <a:lnTo>
                    <a:pt x="213172" y="743226"/>
                  </a:lnTo>
                  <a:lnTo>
                    <a:pt x="956398" y="0"/>
                  </a:lnTo>
                </a:path>
                <a:path w="956944" h="2758440">
                  <a:moveTo>
                    <a:pt x="213172" y="743226"/>
                  </a:moveTo>
                  <a:lnTo>
                    <a:pt x="213172" y="2757906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73024" y="54736"/>
            <a:ext cx="37096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Convolution</a:t>
            </a:r>
            <a:r>
              <a:rPr spc="-65" dirty="0"/>
              <a:t> </a:t>
            </a:r>
            <a:r>
              <a:rPr spc="-10" dirty="0"/>
              <a:t>Layer</a:t>
            </a:r>
          </a:p>
        </p:txBody>
      </p:sp>
      <p:grpSp>
        <p:nvGrpSpPr>
          <p:cNvPr id="8" name="object 8"/>
          <p:cNvGrpSpPr/>
          <p:nvPr/>
        </p:nvGrpSpPr>
        <p:grpSpPr>
          <a:xfrm>
            <a:off x="4136366" y="2295207"/>
            <a:ext cx="301625" cy="833119"/>
            <a:chOff x="4136366" y="2295207"/>
            <a:chExt cx="301625" cy="833119"/>
          </a:xfrm>
        </p:grpSpPr>
        <p:sp>
          <p:nvSpPr>
            <p:cNvPr id="9" name="object 9"/>
            <p:cNvSpPr/>
            <p:nvPr/>
          </p:nvSpPr>
          <p:spPr>
            <a:xfrm>
              <a:off x="4145891" y="2455430"/>
              <a:ext cx="132080" cy="663575"/>
            </a:xfrm>
            <a:custGeom>
              <a:avLst/>
              <a:gdLst/>
              <a:ahLst/>
              <a:cxnLst/>
              <a:rect l="l" t="t" r="r" b="b"/>
              <a:pathLst>
                <a:path w="132079" h="663575">
                  <a:moveTo>
                    <a:pt x="131599" y="663213"/>
                  </a:moveTo>
                  <a:lnTo>
                    <a:pt x="0" y="663213"/>
                  </a:lnTo>
                  <a:lnTo>
                    <a:pt x="0" y="0"/>
                  </a:lnTo>
                  <a:lnTo>
                    <a:pt x="131599" y="0"/>
                  </a:lnTo>
                  <a:lnTo>
                    <a:pt x="131599" y="663213"/>
                  </a:lnTo>
                  <a:close/>
                </a:path>
              </a:pathLst>
            </a:custGeom>
            <a:solidFill>
              <a:srgbClr val="C8D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277491" y="2304732"/>
              <a:ext cx="151130" cy="814069"/>
            </a:xfrm>
            <a:custGeom>
              <a:avLst/>
              <a:gdLst/>
              <a:ahLst/>
              <a:cxnLst/>
              <a:rect l="l" t="t" r="r" b="b"/>
              <a:pathLst>
                <a:path w="151129" h="814069">
                  <a:moveTo>
                    <a:pt x="0" y="813910"/>
                  </a:moveTo>
                  <a:lnTo>
                    <a:pt x="0" y="150697"/>
                  </a:lnTo>
                  <a:lnTo>
                    <a:pt x="150699" y="0"/>
                  </a:lnTo>
                  <a:lnTo>
                    <a:pt x="150699" y="663211"/>
                  </a:lnTo>
                  <a:lnTo>
                    <a:pt x="0" y="813910"/>
                  </a:lnTo>
                  <a:close/>
                </a:path>
              </a:pathLst>
            </a:custGeom>
            <a:solidFill>
              <a:srgbClr val="A0AE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145891" y="2304732"/>
              <a:ext cx="282575" cy="151130"/>
            </a:xfrm>
            <a:custGeom>
              <a:avLst/>
              <a:gdLst/>
              <a:ahLst/>
              <a:cxnLst/>
              <a:rect l="l" t="t" r="r" b="b"/>
              <a:pathLst>
                <a:path w="282575" h="151130">
                  <a:moveTo>
                    <a:pt x="131599" y="150697"/>
                  </a:moveTo>
                  <a:lnTo>
                    <a:pt x="0" y="150697"/>
                  </a:lnTo>
                  <a:lnTo>
                    <a:pt x="150699" y="0"/>
                  </a:lnTo>
                  <a:lnTo>
                    <a:pt x="282299" y="0"/>
                  </a:lnTo>
                  <a:lnTo>
                    <a:pt x="131599" y="150697"/>
                  </a:lnTo>
                  <a:close/>
                </a:path>
              </a:pathLst>
            </a:custGeom>
            <a:solidFill>
              <a:srgbClr val="D3E1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145891" y="2304732"/>
              <a:ext cx="282575" cy="814069"/>
            </a:xfrm>
            <a:custGeom>
              <a:avLst/>
              <a:gdLst/>
              <a:ahLst/>
              <a:cxnLst/>
              <a:rect l="l" t="t" r="r" b="b"/>
              <a:pathLst>
                <a:path w="282575" h="814069">
                  <a:moveTo>
                    <a:pt x="0" y="150697"/>
                  </a:moveTo>
                  <a:lnTo>
                    <a:pt x="150699" y="0"/>
                  </a:lnTo>
                  <a:lnTo>
                    <a:pt x="282299" y="0"/>
                  </a:lnTo>
                  <a:lnTo>
                    <a:pt x="282299" y="663211"/>
                  </a:lnTo>
                  <a:lnTo>
                    <a:pt x="131599" y="813910"/>
                  </a:lnTo>
                  <a:lnTo>
                    <a:pt x="0" y="813910"/>
                  </a:lnTo>
                  <a:lnTo>
                    <a:pt x="0" y="150697"/>
                  </a:lnTo>
                  <a:close/>
                </a:path>
                <a:path w="282575" h="814069">
                  <a:moveTo>
                    <a:pt x="0" y="150697"/>
                  </a:moveTo>
                  <a:lnTo>
                    <a:pt x="131599" y="150697"/>
                  </a:lnTo>
                  <a:lnTo>
                    <a:pt x="282299" y="0"/>
                  </a:lnTo>
                </a:path>
                <a:path w="282575" h="814069">
                  <a:moveTo>
                    <a:pt x="131599" y="150697"/>
                  </a:moveTo>
                  <a:lnTo>
                    <a:pt x="131599" y="813910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824248" y="904843"/>
            <a:ext cx="7914005" cy="26708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"/>
                <a:cs typeface="Arial"/>
              </a:rPr>
              <a:t>32x32x3</a:t>
            </a:r>
            <a:r>
              <a:rPr sz="2400" spc="-13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image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9"/>
              </a:spcBef>
            </a:pPr>
            <a:endParaRPr sz="2400">
              <a:latin typeface="Arial"/>
              <a:cs typeface="Arial"/>
            </a:endParaRPr>
          </a:p>
          <a:p>
            <a:pPr marR="69215" algn="ctr">
              <a:lnSpc>
                <a:spcPct val="100000"/>
              </a:lnSpc>
            </a:pPr>
            <a:r>
              <a:rPr sz="2400" dirty="0">
                <a:latin typeface="Arial"/>
                <a:cs typeface="Arial"/>
              </a:rPr>
              <a:t>5x5x3</a:t>
            </a:r>
            <a:r>
              <a:rPr sz="2400" spc="-9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filter</a:t>
            </a:r>
            <a:endParaRPr sz="2400">
              <a:latin typeface="Arial"/>
              <a:cs typeface="Arial"/>
            </a:endParaRPr>
          </a:p>
          <a:p>
            <a:pPr marL="1283970">
              <a:lnSpc>
                <a:spcPct val="100000"/>
              </a:lnSpc>
              <a:spcBef>
                <a:spcPts val="1550"/>
              </a:spcBef>
            </a:pPr>
            <a:r>
              <a:rPr sz="1800" spc="-25" dirty="0">
                <a:latin typeface="Arial"/>
                <a:cs typeface="Arial"/>
              </a:rPr>
              <a:t>32</a:t>
            </a:r>
            <a:endParaRPr sz="1800">
              <a:latin typeface="Arial"/>
              <a:cs typeface="Arial"/>
            </a:endParaRPr>
          </a:p>
          <a:p>
            <a:pPr marL="4458970">
              <a:lnSpc>
                <a:spcPct val="100000"/>
              </a:lnSpc>
              <a:spcBef>
                <a:spcPts val="1575"/>
              </a:spcBef>
            </a:pPr>
            <a:r>
              <a:rPr sz="1800" b="1" dirty="0">
                <a:latin typeface="Arial"/>
                <a:cs typeface="Arial"/>
              </a:rPr>
              <a:t>Convolve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filter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with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image</a:t>
            </a:r>
            <a:endParaRPr sz="1800">
              <a:latin typeface="Arial"/>
              <a:cs typeface="Arial"/>
            </a:endParaRPr>
          </a:p>
          <a:p>
            <a:pPr marL="4458970" marR="7620">
              <a:lnSpc>
                <a:spcPct val="100699"/>
              </a:lnSpc>
            </a:pPr>
            <a:r>
              <a:rPr sz="1800" dirty="0">
                <a:latin typeface="Arial"/>
                <a:cs typeface="Arial"/>
              </a:rPr>
              <a:t>i.e.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“slide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over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image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spatially, </a:t>
            </a:r>
            <a:r>
              <a:rPr sz="1800" dirty="0">
                <a:latin typeface="Arial"/>
                <a:cs typeface="Arial"/>
              </a:rPr>
              <a:t>computing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dot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products”</a:t>
            </a:r>
            <a:endParaRPr sz="18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675898" y="3811288"/>
            <a:ext cx="280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25" dirty="0">
                <a:latin typeface="Arial"/>
                <a:cs typeface="Arial"/>
              </a:rPr>
              <a:t>32</a:t>
            </a:r>
            <a:endParaRPr sz="18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081482" y="4202917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0" dirty="0">
                <a:latin typeface="Arial"/>
                <a:cs typeface="Arial"/>
              </a:rPr>
              <a:t>3</a:t>
            </a:r>
            <a:endParaRPr sz="1800">
              <a:latin typeface="Arial"/>
              <a:cs typeface="Arial"/>
            </a:endParaRPr>
          </a:p>
        </p:txBody>
      </p:sp>
      <p:sp>
        <p:nvSpPr>
          <p:cNvPr id="20" name="object 10">
            <a:extLst>
              <a:ext uri="{FF2B5EF4-FFF2-40B4-BE49-F238E27FC236}">
                <a16:creationId xmlns:a16="http://schemas.microsoft.com/office/drawing/2014/main" id="{965C3538-C102-E949-A0F2-6CD909840702}"/>
              </a:ext>
            </a:extLst>
          </p:cNvPr>
          <p:cNvSpPr txBox="1">
            <a:spLocks noGrp="1"/>
          </p:cNvSpPr>
          <p:nvPr>
            <p:ph type="dt" sz="half" idx="4294967295"/>
          </p:nvPr>
        </p:nvSpPr>
        <p:spPr>
          <a:xfrm>
            <a:off x="145224" y="4740846"/>
            <a:ext cx="4699000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lang="en-US" altLang="zh-CN" spc="-10" dirty="0">
                <a:solidFill>
                  <a:schemeClr val="bg1"/>
                </a:solidFill>
              </a:rPr>
              <a:t>Convolutional</a:t>
            </a:r>
            <a:r>
              <a:rPr lang="zh-CN" altLang="en-US" spc="-10" dirty="0">
                <a:solidFill>
                  <a:schemeClr val="bg1"/>
                </a:solidFill>
              </a:rPr>
              <a:t> </a:t>
            </a:r>
            <a:r>
              <a:rPr lang="en-US" altLang="zh-CN" spc="-10" dirty="0">
                <a:solidFill>
                  <a:schemeClr val="bg1"/>
                </a:solidFill>
              </a:rPr>
              <a:t>Neural</a:t>
            </a:r>
            <a:r>
              <a:rPr lang="zh-CN" altLang="en-US" spc="-10" dirty="0">
                <a:solidFill>
                  <a:schemeClr val="bg1"/>
                </a:solidFill>
              </a:rPr>
              <a:t> </a:t>
            </a:r>
            <a:r>
              <a:rPr lang="en-US" altLang="zh-CN" spc="-10" dirty="0">
                <a:solidFill>
                  <a:schemeClr val="bg1"/>
                </a:solidFill>
              </a:rPr>
              <a:t>Networks</a:t>
            </a:r>
            <a:endParaRPr spc="-1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056922" y="1416234"/>
            <a:ext cx="975994" cy="2777490"/>
            <a:chOff x="1056922" y="1416234"/>
            <a:chExt cx="975994" cy="2777490"/>
          </a:xfrm>
        </p:grpSpPr>
        <p:sp>
          <p:nvSpPr>
            <p:cNvPr id="3" name="object 3"/>
            <p:cNvSpPr/>
            <p:nvPr/>
          </p:nvSpPr>
          <p:spPr>
            <a:xfrm>
              <a:off x="1066447" y="2168985"/>
              <a:ext cx="213360" cy="2014855"/>
            </a:xfrm>
            <a:custGeom>
              <a:avLst/>
              <a:gdLst/>
              <a:ahLst/>
              <a:cxnLst/>
              <a:rect l="l" t="t" r="r" b="b"/>
              <a:pathLst>
                <a:path w="213359" h="2014854">
                  <a:moveTo>
                    <a:pt x="213172" y="2014680"/>
                  </a:moveTo>
                  <a:lnTo>
                    <a:pt x="0" y="2014680"/>
                  </a:lnTo>
                  <a:lnTo>
                    <a:pt x="0" y="0"/>
                  </a:lnTo>
                  <a:lnTo>
                    <a:pt x="213172" y="0"/>
                  </a:lnTo>
                  <a:lnTo>
                    <a:pt x="213172" y="2014680"/>
                  </a:lnTo>
                  <a:close/>
                </a:path>
              </a:pathLst>
            </a:custGeom>
            <a:solidFill>
              <a:srgbClr val="F4CCCC">
                <a:alpha val="5191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279619" y="1425759"/>
              <a:ext cx="743585" cy="2758440"/>
            </a:xfrm>
            <a:custGeom>
              <a:avLst/>
              <a:gdLst/>
              <a:ahLst/>
              <a:cxnLst/>
              <a:rect l="l" t="t" r="r" b="b"/>
              <a:pathLst>
                <a:path w="743585" h="2758440">
                  <a:moveTo>
                    <a:pt x="0" y="2757906"/>
                  </a:moveTo>
                  <a:lnTo>
                    <a:pt x="0" y="743226"/>
                  </a:lnTo>
                  <a:lnTo>
                    <a:pt x="743226" y="0"/>
                  </a:lnTo>
                  <a:lnTo>
                    <a:pt x="743226" y="2014658"/>
                  </a:lnTo>
                  <a:lnTo>
                    <a:pt x="0" y="2757906"/>
                  </a:lnTo>
                  <a:close/>
                </a:path>
              </a:pathLst>
            </a:custGeom>
            <a:solidFill>
              <a:srgbClr val="C3A3A3">
                <a:alpha val="5191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066447" y="1425759"/>
              <a:ext cx="956944" cy="743585"/>
            </a:xfrm>
            <a:custGeom>
              <a:avLst/>
              <a:gdLst/>
              <a:ahLst/>
              <a:cxnLst/>
              <a:rect l="l" t="t" r="r" b="b"/>
              <a:pathLst>
                <a:path w="956944" h="743585">
                  <a:moveTo>
                    <a:pt x="213172" y="743226"/>
                  </a:moveTo>
                  <a:lnTo>
                    <a:pt x="0" y="743226"/>
                  </a:lnTo>
                  <a:lnTo>
                    <a:pt x="743226" y="0"/>
                  </a:lnTo>
                  <a:lnTo>
                    <a:pt x="956398" y="0"/>
                  </a:lnTo>
                  <a:lnTo>
                    <a:pt x="213172" y="743226"/>
                  </a:lnTo>
                  <a:close/>
                </a:path>
              </a:pathLst>
            </a:custGeom>
            <a:solidFill>
              <a:srgbClr val="F6D6D6">
                <a:alpha val="5191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066447" y="1425759"/>
              <a:ext cx="956944" cy="2758440"/>
            </a:xfrm>
            <a:custGeom>
              <a:avLst/>
              <a:gdLst/>
              <a:ahLst/>
              <a:cxnLst/>
              <a:rect l="l" t="t" r="r" b="b"/>
              <a:pathLst>
                <a:path w="956944" h="2758440">
                  <a:moveTo>
                    <a:pt x="0" y="743226"/>
                  </a:moveTo>
                  <a:lnTo>
                    <a:pt x="743226" y="0"/>
                  </a:lnTo>
                  <a:lnTo>
                    <a:pt x="956398" y="0"/>
                  </a:lnTo>
                  <a:lnTo>
                    <a:pt x="956398" y="2014658"/>
                  </a:lnTo>
                  <a:lnTo>
                    <a:pt x="213172" y="2757906"/>
                  </a:lnTo>
                  <a:lnTo>
                    <a:pt x="0" y="2757906"/>
                  </a:lnTo>
                  <a:lnTo>
                    <a:pt x="0" y="743226"/>
                  </a:lnTo>
                  <a:close/>
                </a:path>
                <a:path w="956944" h="2758440">
                  <a:moveTo>
                    <a:pt x="0" y="743226"/>
                  </a:moveTo>
                  <a:lnTo>
                    <a:pt x="213172" y="743226"/>
                  </a:lnTo>
                  <a:lnTo>
                    <a:pt x="956398" y="0"/>
                  </a:lnTo>
                </a:path>
                <a:path w="956944" h="2758440">
                  <a:moveTo>
                    <a:pt x="213172" y="743226"/>
                  </a:moveTo>
                  <a:lnTo>
                    <a:pt x="213172" y="2757906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73024" y="54736"/>
            <a:ext cx="37096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Convolution</a:t>
            </a:r>
            <a:r>
              <a:rPr spc="-65" dirty="0"/>
              <a:t> </a:t>
            </a:r>
            <a:r>
              <a:rPr spc="-10" dirty="0"/>
              <a:t>Layer</a:t>
            </a:r>
          </a:p>
        </p:txBody>
      </p:sp>
      <p:grpSp>
        <p:nvGrpSpPr>
          <p:cNvPr id="8" name="object 8"/>
          <p:cNvGrpSpPr/>
          <p:nvPr/>
        </p:nvGrpSpPr>
        <p:grpSpPr>
          <a:xfrm>
            <a:off x="4136366" y="2295207"/>
            <a:ext cx="301625" cy="833119"/>
            <a:chOff x="4136366" y="2295207"/>
            <a:chExt cx="301625" cy="833119"/>
          </a:xfrm>
        </p:grpSpPr>
        <p:sp>
          <p:nvSpPr>
            <p:cNvPr id="9" name="object 9"/>
            <p:cNvSpPr/>
            <p:nvPr/>
          </p:nvSpPr>
          <p:spPr>
            <a:xfrm>
              <a:off x="4145891" y="2455430"/>
              <a:ext cx="132080" cy="663575"/>
            </a:xfrm>
            <a:custGeom>
              <a:avLst/>
              <a:gdLst/>
              <a:ahLst/>
              <a:cxnLst/>
              <a:rect l="l" t="t" r="r" b="b"/>
              <a:pathLst>
                <a:path w="132079" h="663575">
                  <a:moveTo>
                    <a:pt x="131599" y="663213"/>
                  </a:moveTo>
                  <a:lnTo>
                    <a:pt x="0" y="663213"/>
                  </a:lnTo>
                  <a:lnTo>
                    <a:pt x="0" y="0"/>
                  </a:lnTo>
                  <a:lnTo>
                    <a:pt x="131599" y="0"/>
                  </a:lnTo>
                  <a:lnTo>
                    <a:pt x="131599" y="663213"/>
                  </a:lnTo>
                  <a:close/>
                </a:path>
              </a:pathLst>
            </a:custGeom>
            <a:solidFill>
              <a:srgbClr val="C8D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277491" y="2304732"/>
              <a:ext cx="151130" cy="814069"/>
            </a:xfrm>
            <a:custGeom>
              <a:avLst/>
              <a:gdLst/>
              <a:ahLst/>
              <a:cxnLst/>
              <a:rect l="l" t="t" r="r" b="b"/>
              <a:pathLst>
                <a:path w="151129" h="814069">
                  <a:moveTo>
                    <a:pt x="0" y="813910"/>
                  </a:moveTo>
                  <a:lnTo>
                    <a:pt x="0" y="150697"/>
                  </a:lnTo>
                  <a:lnTo>
                    <a:pt x="150699" y="0"/>
                  </a:lnTo>
                  <a:lnTo>
                    <a:pt x="150699" y="663211"/>
                  </a:lnTo>
                  <a:lnTo>
                    <a:pt x="0" y="813910"/>
                  </a:lnTo>
                  <a:close/>
                </a:path>
              </a:pathLst>
            </a:custGeom>
            <a:solidFill>
              <a:srgbClr val="A0AE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145891" y="2304732"/>
              <a:ext cx="282575" cy="151130"/>
            </a:xfrm>
            <a:custGeom>
              <a:avLst/>
              <a:gdLst/>
              <a:ahLst/>
              <a:cxnLst/>
              <a:rect l="l" t="t" r="r" b="b"/>
              <a:pathLst>
                <a:path w="282575" h="151130">
                  <a:moveTo>
                    <a:pt x="131599" y="150697"/>
                  </a:moveTo>
                  <a:lnTo>
                    <a:pt x="0" y="150697"/>
                  </a:lnTo>
                  <a:lnTo>
                    <a:pt x="150699" y="0"/>
                  </a:lnTo>
                  <a:lnTo>
                    <a:pt x="282299" y="0"/>
                  </a:lnTo>
                  <a:lnTo>
                    <a:pt x="131599" y="150697"/>
                  </a:lnTo>
                  <a:close/>
                </a:path>
              </a:pathLst>
            </a:custGeom>
            <a:solidFill>
              <a:srgbClr val="D3E1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145891" y="2304732"/>
              <a:ext cx="282575" cy="814069"/>
            </a:xfrm>
            <a:custGeom>
              <a:avLst/>
              <a:gdLst/>
              <a:ahLst/>
              <a:cxnLst/>
              <a:rect l="l" t="t" r="r" b="b"/>
              <a:pathLst>
                <a:path w="282575" h="814069">
                  <a:moveTo>
                    <a:pt x="0" y="150697"/>
                  </a:moveTo>
                  <a:lnTo>
                    <a:pt x="150699" y="0"/>
                  </a:lnTo>
                  <a:lnTo>
                    <a:pt x="282299" y="0"/>
                  </a:lnTo>
                  <a:lnTo>
                    <a:pt x="282299" y="663211"/>
                  </a:lnTo>
                  <a:lnTo>
                    <a:pt x="131599" y="813910"/>
                  </a:lnTo>
                  <a:lnTo>
                    <a:pt x="0" y="813910"/>
                  </a:lnTo>
                  <a:lnTo>
                    <a:pt x="0" y="150697"/>
                  </a:lnTo>
                  <a:close/>
                </a:path>
                <a:path w="282575" h="814069">
                  <a:moveTo>
                    <a:pt x="0" y="150697"/>
                  </a:moveTo>
                  <a:lnTo>
                    <a:pt x="131599" y="150697"/>
                  </a:lnTo>
                  <a:lnTo>
                    <a:pt x="282299" y="0"/>
                  </a:lnTo>
                </a:path>
                <a:path w="282575" h="814069">
                  <a:moveTo>
                    <a:pt x="131599" y="150697"/>
                  </a:moveTo>
                  <a:lnTo>
                    <a:pt x="131599" y="813910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824248" y="904843"/>
            <a:ext cx="7914005" cy="26708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"/>
                <a:cs typeface="Arial"/>
              </a:rPr>
              <a:t>32x32x</a:t>
            </a:r>
            <a:r>
              <a:rPr sz="2400" dirty="0">
                <a:solidFill>
                  <a:srgbClr val="0000FF"/>
                </a:solidFill>
                <a:latin typeface="Arial"/>
                <a:cs typeface="Arial"/>
              </a:rPr>
              <a:t>3</a:t>
            </a:r>
            <a:r>
              <a:rPr sz="2400" spc="-10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image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9"/>
              </a:spcBef>
            </a:pPr>
            <a:endParaRPr sz="2400">
              <a:latin typeface="Arial"/>
              <a:cs typeface="Arial"/>
            </a:endParaRPr>
          </a:p>
          <a:p>
            <a:pPr marR="69215" algn="ctr">
              <a:lnSpc>
                <a:spcPct val="100000"/>
              </a:lnSpc>
            </a:pPr>
            <a:r>
              <a:rPr sz="2400" dirty="0">
                <a:latin typeface="Arial"/>
                <a:cs typeface="Arial"/>
              </a:rPr>
              <a:t>5x5x</a:t>
            </a:r>
            <a:r>
              <a:rPr sz="2400" dirty="0">
                <a:solidFill>
                  <a:srgbClr val="0000FF"/>
                </a:solidFill>
                <a:latin typeface="Arial"/>
                <a:cs typeface="Arial"/>
              </a:rPr>
              <a:t>3</a:t>
            </a:r>
            <a:r>
              <a:rPr sz="2400" spc="-7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filter</a:t>
            </a:r>
            <a:endParaRPr sz="2400">
              <a:latin typeface="Arial"/>
              <a:cs typeface="Arial"/>
            </a:endParaRPr>
          </a:p>
          <a:p>
            <a:pPr marL="1283970">
              <a:lnSpc>
                <a:spcPct val="100000"/>
              </a:lnSpc>
              <a:spcBef>
                <a:spcPts val="1550"/>
              </a:spcBef>
            </a:pPr>
            <a:r>
              <a:rPr sz="1800" spc="-25" dirty="0">
                <a:latin typeface="Arial"/>
                <a:cs typeface="Arial"/>
              </a:rPr>
              <a:t>32</a:t>
            </a:r>
            <a:endParaRPr sz="1800">
              <a:latin typeface="Arial"/>
              <a:cs typeface="Arial"/>
            </a:endParaRPr>
          </a:p>
          <a:p>
            <a:pPr marL="4458970">
              <a:lnSpc>
                <a:spcPct val="100000"/>
              </a:lnSpc>
              <a:spcBef>
                <a:spcPts val="1575"/>
              </a:spcBef>
            </a:pPr>
            <a:r>
              <a:rPr sz="1800" b="1" dirty="0">
                <a:latin typeface="Arial"/>
                <a:cs typeface="Arial"/>
              </a:rPr>
              <a:t>Convolve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filter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with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image</a:t>
            </a:r>
            <a:endParaRPr sz="1800">
              <a:latin typeface="Arial"/>
              <a:cs typeface="Arial"/>
            </a:endParaRPr>
          </a:p>
          <a:p>
            <a:pPr marL="4458970" marR="7620">
              <a:lnSpc>
                <a:spcPct val="100699"/>
              </a:lnSpc>
            </a:pPr>
            <a:r>
              <a:rPr sz="1800" dirty="0">
                <a:latin typeface="Arial"/>
                <a:cs typeface="Arial"/>
              </a:rPr>
              <a:t>i.e.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“slide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over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image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spatially, </a:t>
            </a:r>
            <a:r>
              <a:rPr sz="1800" dirty="0">
                <a:latin typeface="Arial"/>
                <a:cs typeface="Arial"/>
              </a:rPr>
              <a:t>computing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dot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products”</a:t>
            </a:r>
            <a:endParaRPr sz="18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036539" y="339880"/>
            <a:ext cx="2896235" cy="57594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>
              <a:lnSpc>
                <a:spcPct val="100699"/>
              </a:lnSpc>
              <a:spcBef>
                <a:spcPts val="85"/>
              </a:spcBef>
            </a:pPr>
            <a:r>
              <a:rPr sz="1800" dirty="0">
                <a:solidFill>
                  <a:srgbClr val="0000FF"/>
                </a:solidFill>
                <a:latin typeface="Arial"/>
                <a:cs typeface="Arial"/>
              </a:rPr>
              <a:t>Filters</a:t>
            </a:r>
            <a:r>
              <a:rPr sz="1800" spc="-3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00FF"/>
                </a:solidFill>
                <a:latin typeface="Arial"/>
                <a:cs typeface="Arial"/>
              </a:rPr>
              <a:t>always</a:t>
            </a:r>
            <a:r>
              <a:rPr sz="1800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00FF"/>
                </a:solidFill>
                <a:latin typeface="Arial"/>
                <a:cs typeface="Arial"/>
              </a:rPr>
              <a:t>extend</a:t>
            </a:r>
            <a:r>
              <a:rPr sz="1800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00FF"/>
                </a:solidFill>
                <a:latin typeface="Arial"/>
                <a:cs typeface="Arial"/>
              </a:rPr>
              <a:t>the</a:t>
            </a:r>
            <a:r>
              <a:rPr sz="1800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rgbClr val="0000FF"/>
                </a:solidFill>
                <a:latin typeface="Arial"/>
                <a:cs typeface="Arial"/>
              </a:rPr>
              <a:t>full </a:t>
            </a:r>
            <a:r>
              <a:rPr sz="1800" dirty="0">
                <a:solidFill>
                  <a:srgbClr val="0000FF"/>
                </a:solidFill>
                <a:latin typeface="Arial"/>
                <a:cs typeface="Arial"/>
              </a:rPr>
              <a:t>depth</a:t>
            </a:r>
            <a:r>
              <a:rPr sz="1800" spc="-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00FF"/>
                </a:solidFill>
                <a:latin typeface="Arial"/>
                <a:cs typeface="Arial"/>
              </a:rPr>
              <a:t>of</a:t>
            </a:r>
            <a:r>
              <a:rPr sz="1800" spc="-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00FF"/>
                </a:solidFill>
                <a:latin typeface="Arial"/>
                <a:cs typeface="Arial"/>
              </a:rPr>
              <a:t>the</a:t>
            </a:r>
            <a:r>
              <a:rPr sz="1800" spc="-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00FF"/>
                </a:solidFill>
                <a:latin typeface="Arial"/>
                <a:cs typeface="Arial"/>
              </a:rPr>
              <a:t>input</a:t>
            </a:r>
            <a:r>
              <a:rPr sz="1800" spc="-1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0000FF"/>
                </a:solidFill>
                <a:latin typeface="Arial"/>
                <a:cs typeface="Arial"/>
              </a:rPr>
              <a:t>volume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4983527" y="1094422"/>
            <a:ext cx="589280" cy="526415"/>
            <a:chOff x="4983527" y="1094422"/>
            <a:chExt cx="589280" cy="526415"/>
          </a:xfrm>
        </p:grpSpPr>
        <p:sp>
          <p:nvSpPr>
            <p:cNvPr id="16" name="object 16"/>
            <p:cNvSpPr/>
            <p:nvPr/>
          </p:nvSpPr>
          <p:spPr>
            <a:xfrm>
              <a:off x="5020540" y="1099185"/>
              <a:ext cx="547370" cy="488315"/>
            </a:xfrm>
            <a:custGeom>
              <a:avLst/>
              <a:gdLst/>
              <a:ahLst/>
              <a:cxnLst/>
              <a:rect l="l" t="t" r="r" b="b"/>
              <a:pathLst>
                <a:path w="547370" h="488315">
                  <a:moveTo>
                    <a:pt x="547148" y="0"/>
                  </a:moveTo>
                  <a:lnTo>
                    <a:pt x="0" y="487864"/>
                  </a:lnTo>
                </a:path>
              </a:pathLst>
            </a:custGeom>
            <a:ln w="9524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988290" y="1575306"/>
              <a:ext cx="43180" cy="40640"/>
            </a:xfrm>
            <a:custGeom>
              <a:avLst/>
              <a:gdLst/>
              <a:ahLst/>
              <a:cxnLst/>
              <a:rect l="l" t="t" r="r" b="b"/>
              <a:pathLst>
                <a:path w="43179" h="40640">
                  <a:moveTo>
                    <a:pt x="0" y="40509"/>
                  </a:moveTo>
                  <a:lnTo>
                    <a:pt x="21774" y="0"/>
                  </a:lnTo>
                  <a:lnTo>
                    <a:pt x="42724" y="23484"/>
                  </a:lnTo>
                  <a:lnTo>
                    <a:pt x="0" y="40509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988290" y="1575306"/>
              <a:ext cx="43180" cy="40640"/>
            </a:xfrm>
            <a:custGeom>
              <a:avLst/>
              <a:gdLst/>
              <a:ahLst/>
              <a:cxnLst/>
              <a:rect l="l" t="t" r="r" b="b"/>
              <a:pathLst>
                <a:path w="43179" h="40640">
                  <a:moveTo>
                    <a:pt x="21774" y="0"/>
                  </a:moveTo>
                  <a:lnTo>
                    <a:pt x="0" y="40509"/>
                  </a:lnTo>
                  <a:lnTo>
                    <a:pt x="42724" y="23484"/>
                  </a:lnTo>
                  <a:lnTo>
                    <a:pt x="21774" y="0"/>
                  </a:lnTo>
                  <a:close/>
                </a:path>
              </a:pathLst>
            </a:custGeom>
            <a:ln w="9524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9" name="object 19"/>
          <p:cNvGrpSpPr/>
          <p:nvPr/>
        </p:nvGrpSpPr>
        <p:grpSpPr>
          <a:xfrm>
            <a:off x="2107853" y="723336"/>
            <a:ext cx="2580005" cy="248920"/>
            <a:chOff x="2107853" y="723336"/>
            <a:chExt cx="2580005" cy="248920"/>
          </a:xfrm>
        </p:grpSpPr>
        <p:sp>
          <p:nvSpPr>
            <p:cNvPr id="20" name="object 20"/>
            <p:cNvSpPr/>
            <p:nvPr/>
          </p:nvSpPr>
          <p:spPr>
            <a:xfrm>
              <a:off x="2155673" y="728098"/>
              <a:ext cx="2527300" cy="223520"/>
            </a:xfrm>
            <a:custGeom>
              <a:avLst/>
              <a:gdLst/>
              <a:ahLst/>
              <a:cxnLst/>
              <a:rect l="l" t="t" r="r" b="b"/>
              <a:pathLst>
                <a:path w="2527300" h="223519">
                  <a:moveTo>
                    <a:pt x="2526967" y="0"/>
                  </a:moveTo>
                  <a:lnTo>
                    <a:pt x="0" y="223269"/>
                  </a:lnTo>
                </a:path>
              </a:pathLst>
            </a:custGeom>
            <a:ln w="9524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112615" y="935695"/>
              <a:ext cx="44450" cy="31750"/>
            </a:xfrm>
            <a:custGeom>
              <a:avLst/>
              <a:gdLst/>
              <a:ahLst/>
              <a:cxnLst/>
              <a:rect l="l" t="t" r="r" b="b"/>
              <a:pathLst>
                <a:path w="44450" h="31750">
                  <a:moveTo>
                    <a:pt x="44442" y="31344"/>
                  </a:moveTo>
                  <a:lnTo>
                    <a:pt x="0" y="19477"/>
                  </a:lnTo>
                  <a:lnTo>
                    <a:pt x="41672" y="0"/>
                  </a:lnTo>
                  <a:lnTo>
                    <a:pt x="44442" y="31344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112615" y="935695"/>
              <a:ext cx="44450" cy="31750"/>
            </a:xfrm>
            <a:custGeom>
              <a:avLst/>
              <a:gdLst/>
              <a:ahLst/>
              <a:cxnLst/>
              <a:rect l="l" t="t" r="r" b="b"/>
              <a:pathLst>
                <a:path w="44450" h="31750">
                  <a:moveTo>
                    <a:pt x="41672" y="0"/>
                  </a:moveTo>
                  <a:lnTo>
                    <a:pt x="0" y="19477"/>
                  </a:lnTo>
                  <a:lnTo>
                    <a:pt x="44442" y="31344"/>
                  </a:lnTo>
                  <a:lnTo>
                    <a:pt x="41672" y="0"/>
                  </a:lnTo>
                  <a:close/>
                </a:path>
              </a:pathLst>
            </a:custGeom>
            <a:ln w="9524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1675898" y="3811288"/>
            <a:ext cx="280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25" dirty="0">
                <a:latin typeface="Arial"/>
                <a:cs typeface="Arial"/>
              </a:rPr>
              <a:t>32</a:t>
            </a:r>
            <a:endParaRPr sz="18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081482" y="4202917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0" dirty="0">
                <a:latin typeface="Arial"/>
                <a:cs typeface="Arial"/>
              </a:rPr>
              <a:t>3</a:t>
            </a:r>
            <a:endParaRPr sz="1800">
              <a:latin typeface="Arial"/>
              <a:cs typeface="Arial"/>
            </a:endParaRPr>
          </a:p>
        </p:txBody>
      </p:sp>
      <p:sp>
        <p:nvSpPr>
          <p:cNvPr id="29" name="object 10">
            <a:extLst>
              <a:ext uri="{FF2B5EF4-FFF2-40B4-BE49-F238E27FC236}">
                <a16:creationId xmlns:a16="http://schemas.microsoft.com/office/drawing/2014/main" id="{B8AB886D-6FC9-B142-9153-50E8DE9471CC}"/>
              </a:ext>
            </a:extLst>
          </p:cNvPr>
          <p:cNvSpPr txBox="1">
            <a:spLocks noGrp="1"/>
          </p:cNvSpPr>
          <p:nvPr>
            <p:ph type="dt" sz="half" idx="4294967295"/>
          </p:nvPr>
        </p:nvSpPr>
        <p:spPr>
          <a:xfrm>
            <a:off x="145224" y="4740846"/>
            <a:ext cx="4699000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lang="en-US" altLang="zh-CN" spc="-10" dirty="0">
                <a:solidFill>
                  <a:schemeClr val="bg1"/>
                </a:solidFill>
              </a:rPr>
              <a:t>Convolutional</a:t>
            </a:r>
            <a:r>
              <a:rPr lang="zh-CN" altLang="en-US" spc="-10" dirty="0">
                <a:solidFill>
                  <a:schemeClr val="bg1"/>
                </a:solidFill>
              </a:rPr>
              <a:t> </a:t>
            </a:r>
            <a:r>
              <a:rPr lang="en-US" altLang="zh-CN" spc="-10" dirty="0">
                <a:solidFill>
                  <a:schemeClr val="bg1"/>
                </a:solidFill>
              </a:rPr>
              <a:t>Neural</a:t>
            </a:r>
            <a:r>
              <a:rPr lang="zh-CN" altLang="en-US" spc="-10" dirty="0">
                <a:solidFill>
                  <a:schemeClr val="bg1"/>
                </a:solidFill>
              </a:rPr>
              <a:t> </a:t>
            </a:r>
            <a:r>
              <a:rPr lang="en-US" altLang="zh-CN" spc="-10" dirty="0">
                <a:solidFill>
                  <a:schemeClr val="bg1"/>
                </a:solidFill>
              </a:rPr>
              <a:t>Networks</a:t>
            </a:r>
            <a:endParaRPr spc="-1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628871" y="2153320"/>
            <a:ext cx="1898014" cy="833119"/>
            <a:chOff x="1628871" y="2153320"/>
            <a:chExt cx="1898014" cy="833119"/>
          </a:xfrm>
        </p:grpSpPr>
        <p:sp>
          <p:nvSpPr>
            <p:cNvPr id="3" name="object 3"/>
            <p:cNvSpPr/>
            <p:nvPr/>
          </p:nvSpPr>
          <p:spPr>
            <a:xfrm>
              <a:off x="1638396" y="2313542"/>
              <a:ext cx="132080" cy="663575"/>
            </a:xfrm>
            <a:custGeom>
              <a:avLst/>
              <a:gdLst/>
              <a:ahLst/>
              <a:cxnLst/>
              <a:rect l="l" t="t" r="r" b="b"/>
              <a:pathLst>
                <a:path w="132080" h="663575">
                  <a:moveTo>
                    <a:pt x="131602" y="663201"/>
                  </a:moveTo>
                  <a:lnTo>
                    <a:pt x="0" y="663201"/>
                  </a:lnTo>
                  <a:lnTo>
                    <a:pt x="0" y="0"/>
                  </a:lnTo>
                  <a:lnTo>
                    <a:pt x="131602" y="0"/>
                  </a:lnTo>
                  <a:lnTo>
                    <a:pt x="131602" y="663201"/>
                  </a:lnTo>
                  <a:close/>
                </a:path>
              </a:pathLst>
            </a:custGeom>
            <a:solidFill>
              <a:srgbClr val="C8D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769998" y="2162845"/>
              <a:ext cx="151130" cy="814069"/>
            </a:xfrm>
            <a:custGeom>
              <a:avLst/>
              <a:gdLst/>
              <a:ahLst/>
              <a:cxnLst/>
              <a:rect l="l" t="t" r="r" b="b"/>
              <a:pathLst>
                <a:path w="151130" h="814069">
                  <a:moveTo>
                    <a:pt x="0" y="813898"/>
                  </a:moveTo>
                  <a:lnTo>
                    <a:pt x="0" y="150697"/>
                  </a:lnTo>
                  <a:lnTo>
                    <a:pt x="150697" y="0"/>
                  </a:lnTo>
                  <a:lnTo>
                    <a:pt x="150697" y="663198"/>
                  </a:lnTo>
                  <a:lnTo>
                    <a:pt x="0" y="813898"/>
                  </a:lnTo>
                  <a:close/>
                </a:path>
              </a:pathLst>
            </a:custGeom>
            <a:solidFill>
              <a:srgbClr val="A0AE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638396" y="2162845"/>
              <a:ext cx="282575" cy="151130"/>
            </a:xfrm>
            <a:custGeom>
              <a:avLst/>
              <a:gdLst/>
              <a:ahLst/>
              <a:cxnLst/>
              <a:rect l="l" t="t" r="r" b="b"/>
              <a:pathLst>
                <a:path w="282575" h="151130">
                  <a:moveTo>
                    <a:pt x="131602" y="150697"/>
                  </a:moveTo>
                  <a:lnTo>
                    <a:pt x="0" y="150697"/>
                  </a:lnTo>
                  <a:lnTo>
                    <a:pt x="150697" y="0"/>
                  </a:lnTo>
                  <a:lnTo>
                    <a:pt x="282299" y="0"/>
                  </a:lnTo>
                  <a:lnTo>
                    <a:pt x="131602" y="150697"/>
                  </a:lnTo>
                  <a:close/>
                </a:path>
              </a:pathLst>
            </a:custGeom>
            <a:solidFill>
              <a:srgbClr val="D3E1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638396" y="2162845"/>
              <a:ext cx="282575" cy="814069"/>
            </a:xfrm>
            <a:custGeom>
              <a:avLst/>
              <a:gdLst/>
              <a:ahLst/>
              <a:cxnLst/>
              <a:rect l="l" t="t" r="r" b="b"/>
              <a:pathLst>
                <a:path w="282575" h="814069">
                  <a:moveTo>
                    <a:pt x="0" y="150697"/>
                  </a:moveTo>
                  <a:lnTo>
                    <a:pt x="150697" y="0"/>
                  </a:lnTo>
                  <a:lnTo>
                    <a:pt x="282299" y="0"/>
                  </a:lnTo>
                  <a:lnTo>
                    <a:pt x="282299" y="663198"/>
                  </a:lnTo>
                  <a:lnTo>
                    <a:pt x="131602" y="813898"/>
                  </a:lnTo>
                  <a:lnTo>
                    <a:pt x="0" y="813898"/>
                  </a:lnTo>
                  <a:lnTo>
                    <a:pt x="0" y="150697"/>
                  </a:lnTo>
                  <a:close/>
                </a:path>
                <a:path w="282575" h="814069">
                  <a:moveTo>
                    <a:pt x="0" y="150697"/>
                  </a:moveTo>
                  <a:lnTo>
                    <a:pt x="131602" y="150697"/>
                  </a:lnTo>
                  <a:lnTo>
                    <a:pt x="282299" y="0"/>
                  </a:lnTo>
                </a:path>
                <a:path w="282575" h="814069">
                  <a:moveTo>
                    <a:pt x="131602" y="150697"/>
                  </a:moveTo>
                  <a:lnTo>
                    <a:pt x="131602" y="813898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234643" y="2428645"/>
              <a:ext cx="282575" cy="282575"/>
            </a:xfrm>
            <a:custGeom>
              <a:avLst/>
              <a:gdLst/>
              <a:ahLst/>
              <a:cxnLst/>
              <a:rect l="l" t="t" r="r" b="b"/>
              <a:pathLst>
                <a:path w="282575" h="282575">
                  <a:moveTo>
                    <a:pt x="141149" y="282299"/>
                  </a:moveTo>
                  <a:lnTo>
                    <a:pt x="96537" y="275103"/>
                  </a:lnTo>
                  <a:lnTo>
                    <a:pt x="57790" y="255064"/>
                  </a:lnTo>
                  <a:lnTo>
                    <a:pt x="27235" y="224508"/>
                  </a:lnTo>
                  <a:lnTo>
                    <a:pt x="7196" y="185762"/>
                  </a:lnTo>
                  <a:lnTo>
                    <a:pt x="0" y="141149"/>
                  </a:lnTo>
                  <a:lnTo>
                    <a:pt x="7196" y="96535"/>
                  </a:lnTo>
                  <a:lnTo>
                    <a:pt x="27235" y="57788"/>
                  </a:lnTo>
                  <a:lnTo>
                    <a:pt x="57790" y="27233"/>
                  </a:lnTo>
                  <a:lnTo>
                    <a:pt x="96537" y="7195"/>
                  </a:lnTo>
                  <a:lnTo>
                    <a:pt x="141149" y="0"/>
                  </a:lnTo>
                  <a:lnTo>
                    <a:pt x="168812" y="2737"/>
                  </a:lnTo>
                  <a:lnTo>
                    <a:pt x="219460" y="23714"/>
                  </a:lnTo>
                  <a:lnTo>
                    <a:pt x="258579" y="62841"/>
                  </a:lnTo>
                  <a:lnTo>
                    <a:pt x="279561" y="113488"/>
                  </a:lnTo>
                  <a:lnTo>
                    <a:pt x="282299" y="141149"/>
                  </a:lnTo>
                  <a:lnTo>
                    <a:pt x="275103" y="185762"/>
                  </a:lnTo>
                  <a:lnTo>
                    <a:pt x="255064" y="224508"/>
                  </a:lnTo>
                  <a:lnTo>
                    <a:pt x="224508" y="255064"/>
                  </a:lnTo>
                  <a:lnTo>
                    <a:pt x="185762" y="275103"/>
                  </a:lnTo>
                  <a:lnTo>
                    <a:pt x="141149" y="282299"/>
                  </a:lnTo>
                  <a:close/>
                </a:path>
              </a:pathLst>
            </a:custGeom>
            <a:solidFill>
              <a:srgbClr val="C8D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745146" y="2183095"/>
              <a:ext cx="1772285" cy="786130"/>
            </a:xfrm>
            <a:custGeom>
              <a:avLst/>
              <a:gdLst/>
              <a:ahLst/>
              <a:cxnLst/>
              <a:rect l="l" t="t" r="r" b="b"/>
              <a:pathLst>
                <a:path w="1772285" h="786130">
                  <a:moveTo>
                    <a:pt x="1489496" y="386699"/>
                  </a:moveTo>
                  <a:lnTo>
                    <a:pt x="1496693" y="342084"/>
                  </a:lnTo>
                  <a:lnTo>
                    <a:pt x="1516732" y="303338"/>
                  </a:lnTo>
                  <a:lnTo>
                    <a:pt x="1547287" y="272783"/>
                  </a:lnTo>
                  <a:lnTo>
                    <a:pt x="1586034" y="252745"/>
                  </a:lnTo>
                  <a:lnTo>
                    <a:pt x="1630646" y="245549"/>
                  </a:lnTo>
                  <a:lnTo>
                    <a:pt x="1684662" y="256293"/>
                  </a:lnTo>
                  <a:lnTo>
                    <a:pt x="1730446" y="286891"/>
                  </a:lnTo>
                  <a:lnTo>
                    <a:pt x="1761049" y="332687"/>
                  </a:lnTo>
                  <a:lnTo>
                    <a:pt x="1771796" y="386699"/>
                  </a:lnTo>
                  <a:lnTo>
                    <a:pt x="1764600" y="431311"/>
                  </a:lnTo>
                  <a:lnTo>
                    <a:pt x="1744561" y="470058"/>
                  </a:lnTo>
                  <a:lnTo>
                    <a:pt x="1714005" y="500613"/>
                  </a:lnTo>
                  <a:lnTo>
                    <a:pt x="1675259" y="520652"/>
                  </a:lnTo>
                  <a:lnTo>
                    <a:pt x="1630646" y="527848"/>
                  </a:lnTo>
                  <a:lnTo>
                    <a:pt x="1586034" y="520652"/>
                  </a:lnTo>
                  <a:lnTo>
                    <a:pt x="1547287" y="500613"/>
                  </a:lnTo>
                  <a:lnTo>
                    <a:pt x="1516732" y="470058"/>
                  </a:lnTo>
                  <a:lnTo>
                    <a:pt x="1496693" y="431311"/>
                  </a:lnTo>
                  <a:lnTo>
                    <a:pt x="1489496" y="386699"/>
                  </a:lnTo>
                  <a:close/>
                </a:path>
                <a:path w="1772285" h="786130">
                  <a:moveTo>
                    <a:pt x="0" y="785698"/>
                  </a:moveTo>
                  <a:lnTo>
                    <a:pt x="1489496" y="386699"/>
                  </a:lnTo>
                </a:path>
                <a:path w="1772285" h="786130">
                  <a:moveTo>
                    <a:pt x="19499" y="149399"/>
                  </a:moveTo>
                  <a:lnTo>
                    <a:pt x="1489496" y="386699"/>
                  </a:lnTo>
                </a:path>
                <a:path w="1772285" h="786130">
                  <a:moveTo>
                    <a:pt x="155699" y="0"/>
                  </a:moveTo>
                  <a:lnTo>
                    <a:pt x="1489496" y="386699"/>
                  </a:lnTo>
                </a:path>
                <a:path w="1772285" h="786130">
                  <a:moveTo>
                    <a:pt x="181799" y="636298"/>
                  </a:moveTo>
                  <a:lnTo>
                    <a:pt x="1489496" y="386699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907517" y="3554719"/>
            <a:ext cx="280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Arial"/>
                <a:cs typeface="Arial"/>
              </a:rPr>
              <a:t>32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193899" y="127734"/>
            <a:ext cx="309562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/>
              <a:t>Convolution</a:t>
            </a:r>
            <a:r>
              <a:rPr sz="3000" spc="-55" dirty="0"/>
              <a:t> </a:t>
            </a:r>
            <a:r>
              <a:rPr sz="3000" spc="-10" dirty="0"/>
              <a:t>Layer</a:t>
            </a:r>
            <a:endParaRPr sz="3000"/>
          </a:p>
        </p:txBody>
      </p:sp>
      <p:grpSp>
        <p:nvGrpSpPr>
          <p:cNvPr id="11" name="object 11"/>
          <p:cNvGrpSpPr/>
          <p:nvPr/>
        </p:nvGrpSpPr>
        <p:grpSpPr>
          <a:xfrm>
            <a:off x="1212347" y="1181322"/>
            <a:ext cx="975994" cy="2777490"/>
            <a:chOff x="1212347" y="1181322"/>
            <a:chExt cx="975994" cy="2777490"/>
          </a:xfrm>
        </p:grpSpPr>
        <p:sp>
          <p:nvSpPr>
            <p:cNvPr id="12" name="object 12"/>
            <p:cNvSpPr/>
            <p:nvPr/>
          </p:nvSpPr>
          <p:spPr>
            <a:xfrm>
              <a:off x="1221872" y="1934073"/>
              <a:ext cx="213360" cy="2014855"/>
            </a:xfrm>
            <a:custGeom>
              <a:avLst/>
              <a:gdLst/>
              <a:ahLst/>
              <a:cxnLst/>
              <a:rect l="l" t="t" r="r" b="b"/>
              <a:pathLst>
                <a:path w="213359" h="2014854">
                  <a:moveTo>
                    <a:pt x="213172" y="2014668"/>
                  </a:moveTo>
                  <a:lnTo>
                    <a:pt x="0" y="2014668"/>
                  </a:lnTo>
                  <a:lnTo>
                    <a:pt x="0" y="0"/>
                  </a:lnTo>
                  <a:lnTo>
                    <a:pt x="213172" y="0"/>
                  </a:lnTo>
                  <a:lnTo>
                    <a:pt x="213172" y="2014668"/>
                  </a:lnTo>
                  <a:close/>
                </a:path>
              </a:pathLst>
            </a:custGeom>
            <a:solidFill>
              <a:srgbClr val="F4CCCC">
                <a:alpha val="5191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435044" y="1190847"/>
              <a:ext cx="743585" cy="2758440"/>
            </a:xfrm>
            <a:custGeom>
              <a:avLst/>
              <a:gdLst/>
              <a:ahLst/>
              <a:cxnLst/>
              <a:rect l="l" t="t" r="r" b="b"/>
              <a:pathLst>
                <a:path w="743585" h="2758440">
                  <a:moveTo>
                    <a:pt x="0" y="2757894"/>
                  </a:moveTo>
                  <a:lnTo>
                    <a:pt x="0" y="743226"/>
                  </a:lnTo>
                  <a:lnTo>
                    <a:pt x="743226" y="0"/>
                  </a:lnTo>
                  <a:lnTo>
                    <a:pt x="743226" y="2014670"/>
                  </a:lnTo>
                  <a:lnTo>
                    <a:pt x="0" y="2757894"/>
                  </a:lnTo>
                  <a:close/>
                </a:path>
              </a:pathLst>
            </a:custGeom>
            <a:solidFill>
              <a:srgbClr val="C3A3A3">
                <a:alpha val="5191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221872" y="1190847"/>
              <a:ext cx="956944" cy="743585"/>
            </a:xfrm>
            <a:custGeom>
              <a:avLst/>
              <a:gdLst/>
              <a:ahLst/>
              <a:cxnLst/>
              <a:rect l="l" t="t" r="r" b="b"/>
              <a:pathLst>
                <a:path w="956944" h="743585">
                  <a:moveTo>
                    <a:pt x="213172" y="743226"/>
                  </a:moveTo>
                  <a:lnTo>
                    <a:pt x="0" y="743226"/>
                  </a:lnTo>
                  <a:lnTo>
                    <a:pt x="743226" y="0"/>
                  </a:lnTo>
                  <a:lnTo>
                    <a:pt x="956398" y="0"/>
                  </a:lnTo>
                  <a:lnTo>
                    <a:pt x="213172" y="743226"/>
                  </a:lnTo>
                  <a:close/>
                </a:path>
              </a:pathLst>
            </a:custGeom>
            <a:solidFill>
              <a:srgbClr val="F6D6D6">
                <a:alpha val="5191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221872" y="1190847"/>
              <a:ext cx="956944" cy="2758440"/>
            </a:xfrm>
            <a:custGeom>
              <a:avLst/>
              <a:gdLst/>
              <a:ahLst/>
              <a:cxnLst/>
              <a:rect l="l" t="t" r="r" b="b"/>
              <a:pathLst>
                <a:path w="956944" h="2758440">
                  <a:moveTo>
                    <a:pt x="0" y="743226"/>
                  </a:moveTo>
                  <a:lnTo>
                    <a:pt x="743226" y="0"/>
                  </a:lnTo>
                  <a:lnTo>
                    <a:pt x="956398" y="0"/>
                  </a:lnTo>
                  <a:lnTo>
                    <a:pt x="956398" y="2014670"/>
                  </a:lnTo>
                  <a:lnTo>
                    <a:pt x="213172" y="2757894"/>
                  </a:lnTo>
                  <a:lnTo>
                    <a:pt x="0" y="2757894"/>
                  </a:lnTo>
                  <a:lnTo>
                    <a:pt x="0" y="743226"/>
                  </a:lnTo>
                  <a:close/>
                </a:path>
                <a:path w="956944" h="2758440">
                  <a:moveTo>
                    <a:pt x="0" y="743226"/>
                  </a:moveTo>
                  <a:lnTo>
                    <a:pt x="213172" y="743226"/>
                  </a:lnTo>
                  <a:lnTo>
                    <a:pt x="956398" y="0"/>
                  </a:lnTo>
                </a:path>
                <a:path w="956944" h="2758440">
                  <a:moveTo>
                    <a:pt x="213172" y="743226"/>
                  </a:moveTo>
                  <a:lnTo>
                    <a:pt x="213172" y="2757894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2271819" y="829306"/>
            <a:ext cx="3373120" cy="952500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1293495" marR="5080">
              <a:lnSpc>
                <a:spcPts val="2850"/>
              </a:lnSpc>
              <a:spcBef>
                <a:spcPts val="219"/>
              </a:spcBef>
            </a:pP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32x32x3</a:t>
            </a:r>
            <a:r>
              <a:rPr sz="2400" spc="-1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Arial"/>
                <a:cs typeface="Arial"/>
              </a:rPr>
              <a:t>image </a:t>
            </a:r>
            <a:r>
              <a:rPr sz="2400" dirty="0">
                <a:solidFill>
                  <a:srgbClr val="0000FF"/>
                </a:solidFill>
                <a:latin typeface="Arial"/>
                <a:cs typeface="Arial"/>
              </a:rPr>
              <a:t>5x5x3</a:t>
            </a:r>
            <a:r>
              <a:rPr sz="2400" spc="-9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0000FF"/>
                </a:solidFill>
                <a:latin typeface="Arial"/>
                <a:cs typeface="Arial"/>
              </a:rPr>
              <a:t>filter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ts val="1475"/>
              </a:lnSpc>
            </a:pPr>
            <a:r>
              <a:rPr sz="1800" spc="-25" dirty="0">
                <a:latin typeface="Arial"/>
                <a:cs typeface="Arial"/>
              </a:rPr>
              <a:t>32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2045860" y="1005485"/>
            <a:ext cx="1395730" cy="1032510"/>
            <a:chOff x="2045860" y="1005485"/>
            <a:chExt cx="1395730" cy="1032510"/>
          </a:xfrm>
        </p:grpSpPr>
        <p:sp>
          <p:nvSpPr>
            <p:cNvPr id="18" name="object 18"/>
            <p:cNvSpPr/>
            <p:nvPr/>
          </p:nvSpPr>
          <p:spPr>
            <a:xfrm>
              <a:off x="2404257" y="1010247"/>
              <a:ext cx="929005" cy="220345"/>
            </a:xfrm>
            <a:custGeom>
              <a:avLst/>
              <a:gdLst/>
              <a:ahLst/>
              <a:cxnLst/>
              <a:rect l="l" t="t" r="r" b="b"/>
              <a:pathLst>
                <a:path w="929004" h="220344">
                  <a:moveTo>
                    <a:pt x="928685" y="0"/>
                  </a:moveTo>
                  <a:lnTo>
                    <a:pt x="0" y="219929"/>
                  </a:lnTo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362195" y="1214867"/>
              <a:ext cx="45720" cy="31115"/>
            </a:xfrm>
            <a:custGeom>
              <a:avLst/>
              <a:gdLst/>
              <a:ahLst/>
              <a:cxnLst/>
              <a:rect l="l" t="t" r="r" b="b"/>
              <a:pathLst>
                <a:path w="45719" h="31115">
                  <a:moveTo>
                    <a:pt x="45687" y="30619"/>
                  </a:moveTo>
                  <a:lnTo>
                    <a:pt x="0" y="25269"/>
                  </a:lnTo>
                  <a:lnTo>
                    <a:pt x="38434" y="0"/>
                  </a:lnTo>
                  <a:lnTo>
                    <a:pt x="45687" y="30619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362195" y="1214867"/>
              <a:ext cx="45720" cy="31115"/>
            </a:xfrm>
            <a:custGeom>
              <a:avLst/>
              <a:gdLst/>
              <a:ahLst/>
              <a:cxnLst/>
              <a:rect l="l" t="t" r="r" b="b"/>
              <a:pathLst>
                <a:path w="45719" h="31115">
                  <a:moveTo>
                    <a:pt x="38434" y="0"/>
                  </a:moveTo>
                  <a:lnTo>
                    <a:pt x="0" y="25269"/>
                  </a:lnTo>
                  <a:lnTo>
                    <a:pt x="45687" y="30619"/>
                  </a:lnTo>
                  <a:lnTo>
                    <a:pt x="38434" y="0"/>
                  </a:lnTo>
                  <a:close/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090910" y="1493771"/>
              <a:ext cx="1346200" cy="523240"/>
            </a:xfrm>
            <a:custGeom>
              <a:avLst/>
              <a:gdLst/>
              <a:ahLst/>
              <a:cxnLst/>
              <a:rect l="l" t="t" r="r" b="b"/>
              <a:pathLst>
                <a:path w="1346200" h="523239">
                  <a:moveTo>
                    <a:pt x="1345632" y="0"/>
                  </a:moveTo>
                  <a:lnTo>
                    <a:pt x="0" y="523188"/>
                  </a:lnTo>
                </a:path>
              </a:pathLst>
            </a:custGeom>
            <a:ln w="9524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050623" y="2002298"/>
              <a:ext cx="46355" cy="30480"/>
            </a:xfrm>
            <a:custGeom>
              <a:avLst/>
              <a:gdLst/>
              <a:ahLst/>
              <a:cxnLst/>
              <a:rect l="l" t="t" r="r" b="b"/>
              <a:pathLst>
                <a:path w="46355" h="30480">
                  <a:moveTo>
                    <a:pt x="0" y="30327"/>
                  </a:moveTo>
                  <a:lnTo>
                    <a:pt x="34587" y="0"/>
                  </a:lnTo>
                  <a:lnTo>
                    <a:pt x="45989" y="29324"/>
                  </a:lnTo>
                  <a:lnTo>
                    <a:pt x="0" y="30327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050623" y="2002298"/>
              <a:ext cx="46355" cy="30480"/>
            </a:xfrm>
            <a:custGeom>
              <a:avLst/>
              <a:gdLst/>
              <a:ahLst/>
              <a:cxnLst/>
              <a:rect l="l" t="t" r="r" b="b"/>
              <a:pathLst>
                <a:path w="46355" h="30480">
                  <a:moveTo>
                    <a:pt x="34587" y="0"/>
                  </a:moveTo>
                  <a:lnTo>
                    <a:pt x="0" y="30327"/>
                  </a:lnTo>
                  <a:lnTo>
                    <a:pt x="45989" y="29324"/>
                  </a:lnTo>
                  <a:lnTo>
                    <a:pt x="34587" y="0"/>
                  </a:lnTo>
                  <a:close/>
                </a:path>
              </a:pathLst>
            </a:custGeom>
            <a:ln w="9524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4" name="object 24"/>
          <p:cNvGrpSpPr/>
          <p:nvPr/>
        </p:nvGrpSpPr>
        <p:grpSpPr>
          <a:xfrm>
            <a:off x="3583155" y="2866131"/>
            <a:ext cx="405130" cy="151130"/>
            <a:chOff x="3583155" y="2866131"/>
            <a:chExt cx="405130" cy="151130"/>
          </a:xfrm>
        </p:grpSpPr>
        <p:sp>
          <p:nvSpPr>
            <p:cNvPr id="25" name="object 25"/>
            <p:cNvSpPr/>
            <p:nvPr/>
          </p:nvSpPr>
          <p:spPr>
            <a:xfrm>
              <a:off x="3628617" y="2885719"/>
              <a:ext cx="354965" cy="127000"/>
            </a:xfrm>
            <a:custGeom>
              <a:avLst/>
              <a:gdLst/>
              <a:ahLst/>
              <a:cxnLst/>
              <a:rect l="l" t="t" r="r" b="b"/>
              <a:pathLst>
                <a:path w="354964" h="127000">
                  <a:moveTo>
                    <a:pt x="354474" y="126574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587917" y="2870894"/>
              <a:ext cx="46355" cy="29845"/>
            </a:xfrm>
            <a:custGeom>
              <a:avLst/>
              <a:gdLst/>
              <a:ahLst/>
              <a:cxnLst/>
              <a:rect l="l" t="t" r="r" b="b"/>
              <a:pathLst>
                <a:path w="46354" h="29844">
                  <a:moveTo>
                    <a:pt x="35399" y="29624"/>
                  </a:moveTo>
                  <a:lnTo>
                    <a:pt x="0" y="274"/>
                  </a:lnTo>
                  <a:lnTo>
                    <a:pt x="45974" y="0"/>
                  </a:lnTo>
                  <a:lnTo>
                    <a:pt x="35399" y="296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587917" y="2870894"/>
              <a:ext cx="46355" cy="29845"/>
            </a:xfrm>
            <a:custGeom>
              <a:avLst/>
              <a:gdLst/>
              <a:ahLst/>
              <a:cxnLst/>
              <a:rect l="l" t="t" r="r" b="b"/>
              <a:pathLst>
                <a:path w="46354" h="29844">
                  <a:moveTo>
                    <a:pt x="45974" y="0"/>
                  </a:moveTo>
                  <a:lnTo>
                    <a:pt x="0" y="274"/>
                  </a:lnTo>
                  <a:lnTo>
                    <a:pt x="35399" y="29624"/>
                  </a:lnTo>
                  <a:lnTo>
                    <a:pt x="45974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4143992" y="2813123"/>
            <a:ext cx="4798695" cy="1128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Arial"/>
                <a:cs typeface="Arial"/>
              </a:rPr>
              <a:t>1</a:t>
            </a:r>
            <a:r>
              <a:rPr sz="1800" b="1" spc="-5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number:</a:t>
            </a:r>
            <a:endParaRPr sz="1800">
              <a:latin typeface="Arial"/>
              <a:cs typeface="Arial"/>
            </a:endParaRPr>
          </a:p>
          <a:p>
            <a:pPr marL="12700" marR="5080">
              <a:lnSpc>
                <a:spcPct val="100699"/>
              </a:lnSpc>
            </a:pPr>
            <a:r>
              <a:rPr sz="1800" dirty="0">
                <a:latin typeface="Arial"/>
                <a:cs typeface="Arial"/>
              </a:rPr>
              <a:t>the</a:t>
            </a:r>
            <a:r>
              <a:rPr sz="1800" spc="-3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result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of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taking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dot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product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between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the </a:t>
            </a:r>
            <a:r>
              <a:rPr sz="1800" dirty="0">
                <a:latin typeface="Arial"/>
                <a:cs typeface="Arial"/>
              </a:rPr>
              <a:t>filter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and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small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5x5x3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chunk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of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-10" dirty="0">
                <a:latin typeface="Arial"/>
                <a:cs typeface="Arial"/>
              </a:rPr>
              <a:t> image</a:t>
            </a:r>
            <a:r>
              <a:rPr sz="1800" spc="50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(i.e.</a:t>
            </a:r>
            <a:r>
              <a:rPr sz="1800" spc="-3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5*5*3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=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75-</a:t>
            </a:r>
            <a:r>
              <a:rPr sz="1800" dirty="0">
                <a:latin typeface="Arial"/>
                <a:cs typeface="Arial"/>
              </a:rPr>
              <a:t>dimensional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dot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product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+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bias)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29" name="object 2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59064" y="1325297"/>
            <a:ext cx="282300" cy="235249"/>
          </a:xfrm>
          <a:prstGeom prst="rect">
            <a:avLst/>
          </a:prstGeom>
        </p:spPr>
      </p:pic>
      <p:pic>
        <p:nvPicPr>
          <p:cNvPr id="30" name="object 3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16691" y="4035816"/>
            <a:ext cx="1195743" cy="393599"/>
          </a:xfrm>
          <a:prstGeom prst="rect">
            <a:avLst/>
          </a:prstGeom>
        </p:spPr>
      </p:pic>
      <p:sp>
        <p:nvSpPr>
          <p:cNvPr id="32" name="object 32"/>
          <p:cNvSpPr txBox="1"/>
          <p:nvPr/>
        </p:nvSpPr>
        <p:spPr>
          <a:xfrm>
            <a:off x="1236910" y="3968012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0" dirty="0">
                <a:latin typeface="Arial"/>
                <a:cs typeface="Arial"/>
              </a:rPr>
              <a:t>3</a:t>
            </a:r>
            <a:endParaRPr sz="1800">
              <a:latin typeface="Arial"/>
              <a:cs typeface="Arial"/>
            </a:endParaRPr>
          </a:p>
        </p:txBody>
      </p:sp>
      <p:sp>
        <p:nvSpPr>
          <p:cNvPr id="36" name="object 10">
            <a:extLst>
              <a:ext uri="{FF2B5EF4-FFF2-40B4-BE49-F238E27FC236}">
                <a16:creationId xmlns:a16="http://schemas.microsoft.com/office/drawing/2014/main" id="{DD86E256-067B-F740-86FF-EA095CC5DFE7}"/>
              </a:ext>
            </a:extLst>
          </p:cNvPr>
          <p:cNvSpPr txBox="1">
            <a:spLocks noGrp="1"/>
          </p:cNvSpPr>
          <p:nvPr>
            <p:ph type="dt" sz="half" idx="4294967295"/>
          </p:nvPr>
        </p:nvSpPr>
        <p:spPr>
          <a:xfrm>
            <a:off x="145224" y="4740846"/>
            <a:ext cx="4699000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lang="en-US" altLang="zh-CN" spc="-10" dirty="0">
                <a:solidFill>
                  <a:schemeClr val="bg1"/>
                </a:solidFill>
              </a:rPr>
              <a:t>Convolutional</a:t>
            </a:r>
            <a:r>
              <a:rPr lang="zh-CN" altLang="en-US" spc="-10" dirty="0">
                <a:solidFill>
                  <a:schemeClr val="bg1"/>
                </a:solidFill>
              </a:rPr>
              <a:t> </a:t>
            </a:r>
            <a:r>
              <a:rPr lang="en-US" altLang="zh-CN" spc="-10" dirty="0">
                <a:solidFill>
                  <a:schemeClr val="bg1"/>
                </a:solidFill>
              </a:rPr>
              <a:t>Neural</a:t>
            </a:r>
            <a:r>
              <a:rPr lang="zh-CN" altLang="en-US" spc="-10" dirty="0">
                <a:solidFill>
                  <a:schemeClr val="bg1"/>
                </a:solidFill>
              </a:rPr>
              <a:t> </a:t>
            </a:r>
            <a:r>
              <a:rPr lang="en-US" altLang="zh-CN" spc="-10" dirty="0">
                <a:solidFill>
                  <a:schemeClr val="bg1"/>
                </a:solidFill>
              </a:rPr>
              <a:t>Networks</a:t>
            </a:r>
            <a:endParaRPr spc="-1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628871" y="2153320"/>
            <a:ext cx="1898014" cy="833119"/>
            <a:chOff x="1628871" y="2153320"/>
            <a:chExt cx="1898014" cy="833119"/>
          </a:xfrm>
        </p:grpSpPr>
        <p:sp>
          <p:nvSpPr>
            <p:cNvPr id="3" name="object 3"/>
            <p:cNvSpPr/>
            <p:nvPr/>
          </p:nvSpPr>
          <p:spPr>
            <a:xfrm>
              <a:off x="1638396" y="2313542"/>
              <a:ext cx="132080" cy="663575"/>
            </a:xfrm>
            <a:custGeom>
              <a:avLst/>
              <a:gdLst/>
              <a:ahLst/>
              <a:cxnLst/>
              <a:rect l="l" t="t" r="r" b="b"/>
              <a:pathLst>
                <a:path w="132080" h="663575">
                  <a:moveTo>
                    <a:pt x="131602" y="663201"/>
                  </a:moveTo>
                  <a:lnTo>
                    <a:pt x="0" y="663201"/>
                  </a:lnTo>
                  <a:lnTo>
                    <a:pt x="0" y="0"/>
                  </a:lnTo>
                  <a:lnTo>
                    <a:pt x="131602" y="0"/>
                  </a:lnTo>
                  <a:lnTo>
                    <a:pt x="131602" y="663201"/>
                  </a:lnTo>
                  <a:close/>
                </a:path>
              </a:pathLst>
            </a:custGeom>
            <a:solidFill>
              <a:srgbClr val="C8D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769998" y="2162845"/>
              <a:ext cx="151130" cy="814069"/>
            </a:xfrm>
            <a:custGeom>
              <a:avLst/>
              <a:gdLst/>
              <a:ahLst/>
              <a:cxnLst/>
              <a:rect l="l" t="t" r="r" b="b"/>
              <a:pathLst>
                <a:path w="151130" h="814069">
                  <a:moveTo>
                    <a:pt x="0" y="813898"/>
                  </a:moveTo>
                  <a:lnTo>
                    <a:pt x="0" y="150697"/>
                  </a:lnTo>
                  <a:lnTo>
                    <a:pt x="150697" y="0"/>
                  </a:lnTo>
                  <a:lnTo>
                    <a:pt x="150697" y="663198"/>
                  </a:lnTo>
                  <a:lnTo>
                    <a:pt x="0" y="813898"/>
                  </a:lnTo>
                  <a:close/>
                </a:path>
              </a:pathLst>
            </a:custGeom>
            <a:solidFill>
              <a:srgbClr val="A0AE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638396" y="2162845"/>
              <a:ext cx="282575" cy="151130"/>
            </a:xfrm>
            <a:custGeom>
              <a:avLst/>
              <a:gdLst/>
              <a:ahLst/>
              <a:cxnLst/>
              <a:rect l="l" t="t" r="r" b="b"/>
              <a:pathLst>
                <a:path w="282575" h="151130">
                  <a:moveTo>
                    <a:pt x="131602" y="150697"/>
                  </a:moveTo>
                  <a:lnTo>
                    <a:pt x="0" y="150697"/>
                  </a:lnTo>
                  <a:lnTo>
                    <a:pt x="150697" y="0"/>
                  </a:lnTo>
                  <a:lnTo>
                    <a:pt x="282299" y="0"/>
                  </a:lnTo>
                  <a:lnTo>
                    <a:pt x="131602" y="150697"/>
                  </a:lnTo>
                  <a:close/>
                </a:path>
              </a:pathLst>
            </a:custGeom>
            <a:solidFill>
              <a:srgbClr val="D3E1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638396" y="2162845"/>
              <a:ext cx="282575" cy="814069"/>
            </a:xfrm>
            <a:custGeom>
              <a:avLst/>
              <a:gdLst/>
              <a:ahLst/>
              <a:cxnLst/>
              <a:rect l="l" t="t" r="r" b="b"/>
              <a:pathLst>
                <a:path w="282575" h="814069">
                  <a:moveTo>
                    <a:pt x="0" y="150697"/>
                  </a:moveTo>
                  <a:lnTo>
                    <a:pt x="150697" y="0"/>
                  </a:lnTo>
                  <a:lnTo>
                    <a:pt x="282299" y="0"/>
                  </a:lnTo>
                  <a:lnTo>
                    <a:pt x="282299" y="663198"/>
                  </a:lnTo>
                  <a:lnTo>
                    <a:pt x="131602" y="813898"/>
                  </a:lnTo>
                  <a:lnTo>
                    <a:pt x="0" y="813898"/>
                  </a:lnTo>
                  <a:lnTo>
                    <a:pt x="0" y="150697"/>
                  </a:lnTo>
                  <a:close/>
                </a:path>
                <a:path w="282575" h="814069">
                  <a:moveTo>
                    <a:pt x="0" y="150697"/>
                  </a:moveTo>
                  <a:lnTo>
                    <a:pt x="131602" y="150697"/>
                  </a:lnTo>
                  <a:lnTo>
                    <a:pt x="282299" y="0"/>
                  </a:lnTo>
                </a:path>
                <a:path w="282575" h="814069">
                  <a:moveTo>
                    <a:pt x="131602" y="150697"/>
                  </a:moveTo>
                  <a:lnTo>
                    <a:pt x="131602" y="813898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234643" y="2428645"/>
              <a:ext cx="282575" cy="282575"/>
            </a:xfrm>
            <a:custGeom>
              <a:avLst/>
              <a:gdLst/>
              <a:ahLst/>
              <a:cxnLst/>
              <a:rect l="l" t="t" r="r" b="b"/>
              <a:pathLst>
                <a:path w="282575" h="282575">
                  <a:moveTo>
                    <a:pt x="141149" y="282299"/>
                  </a:moveTo>
                  <a:lnTo>
                    <a:pt x="96537" y="275103"/>
                  </a:lnTo>
                  <a:lnTo>
                    <a:pt x="57790" y="255064"/>
                  </a:lnTo>
                  <a:lnTo>
                    <a:pt x="27235" y="224508"/>
                  </a:lnTo>
                  <a:lnTo>
                    <a:pt x="7196" y="185762"/>
                  </a:lnTo>
                  <a:lnTo>
                    <a:pt x="0" y="141149"/>
                  </a:lnTo>
                  <a:lnTo>
                    <a:pt x="7196" y="96535"/>
                  </a:lnTo>
                  <a:lnTo>
                    <a:pt x="27235" y="57788"/>
                  </a:lnTo>
                  <a:lnTo>
                    <a:pt x="57790" y="27233"/>
                  </a:lnTo>
                  <a:lnTo>
                    <a:pt x="96537" y="7195"/>
                  </a:lnTo>
                  <a:lnTo>
                    <a:pt x="141149" y="0"/>
                  </a:lnTo>
                  <a:lnTo>
                    <a:pt x="168812" y="2737"/>
                  </a:lnTo>
                  <a:lnTo>
                    <a:pt x="219460" y="23714"/>
                  </a:lnTo>
                  <a:lnTo>
                    <a:pt x="258579" y="62841"/>
                  </a:lnTo>
                  <a:lnTo>
                    <a:pt x="279561" y="113488"/>
                  </a:lnTo>
                  <a:lnTo>
                    <a:pt x="282299" y="141149"/>
                  </a:lnTo>
                  <a:lnTo>
                    <a:pt x="275103" y="185762"/>
                  </a:lnTo>
                  <a:lnTo>
                    <a:pt x="255064" y="224508"/>
                  </a:lnTo>
                  <a:lnTo>
                    <a:pt x="224508" y="255064"/>
                  </a:lnTo>
                  <a:lnTo>
                    <a:pt x="185762" y="275103"/>
                  </a:lnTo>
                  <a:lnTo>
                    <a:pt x="141149" y="282299"/>
                  </a:lnTo>
                  <a:close/>
                </a:path>
              </a:pathLst>
            </a:custGeom>
            <a:solidFill>
              <a:srgbClr val="C8D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745146" y="2183095"/>
              <a:ext cx="1772285" cy="786130"/>
            </a:xfrm>
            <a:custGeom>
              <a:avLst/>
              <a:gdLst/>
              <a:ahLst/>
              <a:cxnLst/>
              <a:rect l="l" t="t" r="r" b="b"/>
              <a:pathLst>
                <a:path w="1772285" h="786130">
                  <a:moveTo>
                    <a:pt x="1489496" y="386699"/>
                  </a:moveTo>
                  <a:lnTo>
                    <a:pt x="1496693" y="342084"/>
                  </a:lnTo>
                  <a:lnTo>
                    <a:pt x="1516732" y="303338"/>
                  </a:lnTo>
                  <a:lnTo>
                    <a:pt x="1547287" y="272783"/>
                  </a:lnTo>
                  <a:lnTo>
                    <a:pt x="1586034" y="252745"/>
                  </a:lnTo>
                  <a:lnTo>
                    <a:pt x="1630646" y="245549"/>
                  </a:lnTo>
                  <a:lnTo>
                    <a:pt x="1684662" y="256293"/>
                  </a:lnTo>
                  <a:lnTo>
                    <a:pt x="1730446" y="286891"/>
                  </a:lnTo>
                  <a:lnTo>
                    <a:pt x="1761049" y="332687"/>
                  </a:lnTo>
                  <a:lnTo>
                    <a:pt x="1771796" y="386699"/>
                  </a:lnTo>
                  <a:lnTo>
                    <a:pt x="1764600" y="431311"/>
                  </a:lnTo>
                  <a:lnTo>
                    <a:pt x="1744561" y="470058"/>
                  </a:lnTo>
                  <a:lnTo>
                    <a:pt x="1714005" y="500613"/>
                  </a:lnTo>
                  <a:lnTo>
                    <a:pt x="1675259" y="520652"/>
                  </a:lnTo>
                  <a:lnTo>
                    <a:pt x="1630646" y="527848"/>
                  </a:lnTo>
                  <a:lnTo>
                    <a:pt x="1586034" y="520652"/>
                  </a:lnTo>
                  <a:lnTo>
                    <a:pt x="1547287" y="500613"/>
                  </a:lnTo>
                  <a:lnTo>
                    <a:pt x="1516732" y="470058"/>
                  </a:lnTo>
                  <a:lnTo>
                    <a:pt x="1496693" y="431311"/>
                  </a:lnTo>
                  <a:lnTo>
                    <a:pt x="1489496" y="386699"/>
                  </a:lnTo>
                  <a:close/>
                </a:path>
                <a:path w="1772285" h="786130">
                  <a:moveTo>
                    <a:pt x="0" y="785698"/>
                  </a:moveTo>
                  <a:lnTo>
                    <a:pt x="1489496" y="386699"/>
                  </a:lnTo>
                </a:path>
                <a:path w="1772285" h="786130">
                  <a:moveTo>
                    <a:pt x="19499" y="149399"/>
                  </a:moveTo>
                  <a:lnTo>
                    <a:pt x="1489496" y="386699"/>
                  </a:lnTo>
                </a:path>
                <a:path w="1772285" h="786130">
                  <a:moveTo>
                    <a:pt x="155699" y="0"/>
                  </a:moveTo>
                  <a:lnTo>
                    <a:pt x="1489496" y="386699"/>
                  </a:lnTo>
                </a:path>
                <a:path w="1772285" h="786130">
                  <a:moveTo>
                    <a:pt x="181799" y="636298"/>
                  </a:moveTo>
                  <a:lnTo>
                    <a:pt x="1489496" y="386699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907517" y="3554719"/>
            <a:ext cx="280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Arial"/>
                <a:cs typeface="Arial"/>
              </a:rPr>
              <a:t>32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193899" y="127734"/>
            <a:ext cx="309562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/>
              <a:t>Convolution</a:t>
            </a:r>
            <a:r>
              <a:rPr sz="3000" spc="-55" dirty="0"/>
              <a:t> </a:t>
            </a:r>
            <a:r>
              <a:rPr sz="3000" spc="-10" dirty="0"/>
              <a:t>Layer</a:t>
            </a:r>
            <a:endParaRPr sz="3000"/>
          </a:p>
        </p:txBody>
      </p:sp>
      <p:grpSp>
        <p:nvGrpSpPr>
          <p:cNvPr id="11" name="object 11"/>
          <p:cNvGrpSpPr/>
          <p:nvPr/>
        </p:nvGrpSpPr>
        <p:grpSpPr>
          <a:xfrm>
            <a:off x="1212347" y="1181322"/>
            <a:ext cx="975994" cy="2777490"/>
            <a:chOff x="1212347" y="1181322"/>
            <a:chExt cx="975994" cy="2777490"/>
          </a:xfrm>
        </p:grpSpPr>
        <p:sp>
          <p:nvSpPr>
            <p:cNvPr id="12" name="object 12"/>
            <p:cNvSpPr/>
            <p:nvPr/>
          </p:nvSpPr>
          <p:spPr>
            <a:xfrm>
              <a:off x="1221872" y="1934073"/>
              <a:ext cx="213360" cy="2014855"/>
            </a:xfrm>
            <a:custGeom>
              <a:avLst/>
              <a:gdLst/>
              <a:ahLst/>
              <a:cxnLst/>
              <a:rect l="l" t="t" r="r" b="b"/>
              <a:pathLst>
                <a:path w="213359" h="2014854">
                  <a:moveTo>
                    <a:pt x="213172" y="2014668"/>
                  </a:moveTo>
                  <a:lnTo>
                    <a:pt x="0" y="2014668"/>
                  </a:lnTo>
                  <a:lnTo>
                    <a:pt x="0" y="0"/>
                  </a:lnTo>
                  <a:lnTo>
                    <a:pt x="213172" y="0"/>
                  </a:lnTo>
                  <a:lnTo>
                    <a:pt x="213172" y="2014668"/>
                  </a:lnTo>
                  <a:close/>
                </a:path>
              </a:pathLst>
            </a:custGeom>
            <a:solidFill>
              <a:srgbClr val="F4CCCC">
                <a:alpha val="5191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435044" y="1190847"/>
              <a:ext cx="743585" cy="2758440"/>
            </a:xfrm>
            <a:custGeom>
              <a:avLst/>
              <a:gdLst/>
              <a:ahLst/>
              <a:cxnLst/>
              <a:rect l="l" t="t" r="r" b="b"/>
              <a:pathLst>
                <a:path w="743585" h="2758440">
                  <a:moveTo>
                    <a:pt x="0" y="2757894"/>
                  </a:moveTo>
                  <a:lnTo>
                    <a:pt x="0" y="743226"/>
                  </a:lnTo>
                  <a:lnTo>
                    <a:pt x="743226" y="0"/>
                  </a:lnTo>
                  <a:lnTo>
                    <a:pt x="743226" y="2014670"/>
                  </a:lnTo>
                  <a:lnTo>
                    <a:pt x="0" y="2757894"/>
                  </a:lnTo>
                  <a:close/>
                </a:path>
              </a:pathLst>
            </a:custGeom>
            <a:solidFill>
              <a:srgbClr val="C3A3A3">
                <a:alpha val="5191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221872" y="1190847"/>
              <a:ext cx="956944" cy="743585"/>
            </a:xfrm>
            <a:custGeom>
              <a:avLst/>
              <a:gdLst/>
              <a:ahLst/>
              <a:cxnLst/>
              <a:rect l="l" t="t" r="r" b="b"/>
              <a:pathLst>
                <a:path w="956944" h="743585">
                  <a:moveTo>
                    <a:pt x="213172" y="743226"/>
                  </a:moveTo>
                  <a:lnTo>
                    <a:pt x="0" y="743226"/>
                  </a:lnTo>
                  <a:lnTo>
                    <a:pt x="743226" y="0"/>
                  </a:lnTo>
                  <a:lnTo>
                    <a:pt x="956398" y="0"/>
                  </a:lnTo>
                  <a:lnTo>
                    <a:pt x="213172" y="743226"/>
                  </a:lnTo>
                  <a:close/>
                </a:path>
              </a:pathLst>
            </a:custGeom>
            <a:solidFill>
              <a:srgbClr val="F6D6D6">
                <a:alpha val="5191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221872" y="1190847"/>
              <a:ext cx="956944" cy="2758440"/>
            </a:xfrm>
            <a:custGeom>
              <a:avLst/>
              <a:gdLst/>
              <a:ahLst/>
              <a:cxnLst/>
              <a:rect l="l" t="t" r="r" b="b"/>
              <a:pathLst>
                <a:path w="956944" h="2758440">
                  <a:moveTo>
                    <a:pt x="0" y="743226"/>
                  </a:moveTo>
                  <a:lnTo>
                    <a:pt x="743226" y="0"/>
                  </a:lnTo>
                  <a:lnTo>
                    <a:pt x="956398" y="0"/>
                  </a:lnTo>
                  <a:lnTo>
                    <a:pt x="956398" y="2014670"/>
                  </a:lnTo>
                  <a:lnTo>
                    <a:pt x="213172" y="2757894"/>
                  </a:lnTo>
                  <a:lnTo>
                    <a:pt x="0" y="2757894"/>
                  </a:lnTo>
                  <a:lnTo>
                    <a:pt x="0" y="743226"/>
                  </a:lnTo>
                  <a:close/>
                </a:path>
                <a:path w="956944" h="2758440">
                  <a:moveTo>
                    <a:pt x="0" y="743226"/>
                  </a:moveTo>
                  <a:lnTo>
                    <a:pt x="213172" y="743226"/>
                  </a:lnTo>
                  <a:lnTo>
                    <a:pt x="956398" y="0"/>
                  </a:lnTo>
                </a:path>
                <a:path w="956944" h="2758440">
                  <a:moveTo>
                    <a:pt x="213172" y="743226"/>
                  </a:moveTo>
                  <a:lnTo>
                    <a:pt x="213172" y="2757894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2271819" y="829306"/>
            <a:ext cx="3373120" cy="952500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1293495" marR="5080">
              <a:lnSpc>
                <a:spcPts val="2850"/>
              </a:lnSpc>
              <a:spcBef>
                <a:spcPts val="219"/>
              </a:spcBef>
            </a:pP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32x32x3</a:t>
            </a:r>
            <a:r>
              <a:rPr sz="2400" spc="-1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Arial"/>
                <a:cs typeface="Arial"/>
              </a:rPr>
              <a:t>image </a:t>
            </a:r>
            <a:r>
              <a:rPr sz="2400" dirty="0">
                <a:solidFill>
                  <a:srgbClr val="0000FF"/>
                </a:solidFill>
                <a:latin typeface="Arial"/>
                <a:cs typeface="Arial"/>
              </a:rPr>
              <a:t>5x5x3</a:t>
            </a:r>
            <a:r>
              <a:rPr sz="2400" spc="-9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0000FF"/>
                </a:solidFill>
                <a:latin typeface="Arial"/>
                <a:cs typeface="Arial"/>
              </a:rPr>
              <a:t>filter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ts val="1475"/>
              </a:lnSpc>
            </a:pPr>
            <a:r>
              <a:rPr sz="1800" spc="-25" dirty="0">
                <a:latin typeface="Arial"/>
                <a:cs typeface="Arial"/>
              </a:rPr>
              <a:t>32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2045860" y="1005485"/>
            <a:ext cx="1395730" cy="1032510"/>
            <a:chOff x="2045860" y="1005485"/>
            <a:chExt cx="1395730" cy="1032510"/>
          </a:xfrm>
        </p:grpSpPr>
        <p:sp>
          <p:nvSpPr>
            <p:cNvPr id="18" name="object 18"/>
            <p:cNvSpPr/>
            <p:nvPr/>
          </p:nvSpPr>
          <p:spPr>
            <a:xfrm>
              <a:off x="2404257" y="1010247"/>
              <a:ext cx="929005" cy="220345"/>
            </a:xfrm>
            <a:custGeom>
              <a:avLst/>
              <a:gdLst/>
              <a:ahLst/>
              <a:cxnLst/>
              <a:rect l="l" t="t" r="r" b="b"/>
              <a:pathLst>
                <a:path w="929004" h="220344">
                  <a:moveTo>
                    <a:pt x="928685" y="0"/>
                  </a:moveTo>
                  <a:lnTo>
                    <a:pt x="0" y="219929"/>
                  </a:lnTo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362195" y="1214867"/>
              <a:ext cx="45720" cy="31115"/>
            </a:xfrm>
            <a:custGeom>
              <a:avLst/>
              <a:gdLst/>
              <a:ahLst/>
              <a:cxnLst/>
              <a:rect l="l" t="t" r="r" b="b"/>
              <a:pathLst>
                <a:path w="45719" h="31115">
                  <a:moveTo>
                    <a:pt x="45687" y="30619"/>
                  </a:moveTo>
                  <a:lnTo>
                    <a:pt x="0" y="25269"/>
                  </a:lnTo>
                  <a:lnTo>
                    <a:pt x="38434" y="0"/>
                  </a:lnTo>
                  <a:lnTo>
                    <a:pt x="45687" y="30619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362195" y="1214867"/>
              <a:ext cx="45720" cy="31115"/>
            </a:xfrm>
            <a:custGeom>
              <a:avLst/>
              <a:gdLst/>
              <a:ahLst/>
              <a:cxnLst/>
              <a:rect l="l" t="t" r="r" b="b"/>
              <a:pathLst>
                <a:path w="45719" h="31115">
                  <a:moveTo>
                    <a:pt x="38434" y="0"/>
                  </a:moveTo>
                  <a:lnTo>
                    <a:pt x="0" y="25269"/>
                  </a:lnTo>
                  <a:lnTo>
                    <a:pt x="45687" y="30619"/>
                  </a:lnTo>
                  <a:lnTo>
                    <a:pt x="38434" y="0"/>
                  </a:lnTo>
                  <a:close/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090910" y="1493771"/>
              <a:ext cx="1346200" cy="523240"/>
            </a:xfrm>
            <a:custGeom>
              <a:avLst/>
              <a:gdLst/>
              <a:ahLst/>
              <a:cxnLst/>
              <a:rect l="l" t="t" r="r" b="b"/>
              <a:pathLst>
                <a:path w="1346200" h="523239">
                  <a:moveTo>
                    <a:pt x="1345632" y="0"/>
                  </a:moveTo>
                  <a:lnTo>
                    <a:pt x="0" y="523188"/>
                  </a:lnTo>
                </a:path>
              </a:pathLst>
            </a:custGeom>
            <a:ln w="9524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050623" y="2002298"/>
              <a:ext cx="46355" cy="30480"/>
            </a:xfrm>
            <a:custGeom>
              <a:avLst/>
              <a:gdLst/>
              <a:ahLst/>
              <a:cxnLst/>
              <a:rect l="l" t="t" r="r" b="b"/>
              <a:pathLst>
                <a:path w="46355" h="30480">
                  <a:moveTo>
                    <a:pt x="0" y="30327"/>
                  </a:moveTo>
                  <a:lnTo>
                    <a:pt x="34587" y="0"/>
                  </a:lnTo>
                  <a:lnTo>
                    <a:pt x="45989" y="29324"/>
                  </a:lnTo>
                  <a:lnTo>
                    <a:pt x="0" y="30327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050623" y="2002298"/>
              <a:ext cx="46355" cy="30480"/>
            </a:xfrm>
            <a:custGeom>
              <a:avLst/>
              <a:gdLst/>
              <a:ahLst/>
              <a:cxnLst/>
              <a:rect l="l" t="t" r="r" b="b"/>
              <a:pathLst>
                <a:path w="46355" h="30480">
                  <a:moveTo>
                    <a:pt x="34587" y="0"/>
                  </a:moveTo>
                  <a:lnTo>
                    <a:pt x="0" y="30327"/>
                  </a:lnTo>
                  <a:lnTo>
                    <a:pt x="45989" y="29324"/>
                  </a:lnTo>
                  <a:lnTo>
                    <a:pt x="34587" y="0"/>
                  </a:lnTo>
                  <a:close/>
                </a:path>
              </a:pathLst>
            </a:custGeom>
            <a:ln w="9524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4" name="object 24"/>
          <p:cNvGrpSpPr/>
          <p:nvPr/>
        </p:nvGrpSpPr>
        <p:grpSpPr>
          <a:xfrm>
            <a:off x="3971892" y="2552607"/>
            <a:ext cx="2357120" cy="41275"/>
            <a:chOff x="3971892" y="2552607"/>
            <a:chExt cx="2357120" cy="41275"/>
          </a:xfrm>
        </p:grpSpPr>
        <p:sp>
          <p:nvSpPr>
            <p:cNvPr id="25" name="object 25"/>
            <p:cNvSpPr/>
            <p:nvPr/>
          </p:nvSpPr>
          <p:spPr>
            <a:xfrm>
              <a:off x="3971892" y="2573094"/>
              <a:ext cx="2308860" cy="0"/>
            </a:xfrm>
            <a:custGeom>
              <a:avLst/>
              <a:gdLst/>
              <a:ahLst/>
              <a:cxnLst/>
              <a:rect l="l" t="t" r="r" b="b"/>
              <a:pathLst>
                <a:path w="2308860">
                  <a:moveTo>
                    <a:pt x="0" y="0"/>
                  </a:moveTo>
                  <a:lnTo>
                    <a:pt x="2308645" y="0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280537" y="2557369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49"/>
                  </a:moveTo>
                  <a:lnTo>
                    <a:pt x="0" y="0"/>
                  </a:lnTo>
                  <a:lnTo>
                    <a:pt x="43224" y="15724"/>
                  </a:lnTo>
                  <a:lnTo>
                    <a:pt x="0" y="31449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6280537" y="2557369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49"/>
                  </a:moveTo>
                  <a:lnTo>
                    <a:pt x="43224" y="15724"/>
                  </a:lnTo>
                  <a:lnTo>
                    <a:pt x="0" y="0"/>
                  </a:lnTo>
                  <a:lnTo>
                    <a:pt x="0" y="31449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3915440" y="2774823"/>
            <a:ext cx="2413000" cy="57594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>
              <a:lnSpc>
                <a:spcPct val="100699"/>
              </a:lnSpc>
              <a:spcBef>
                <a:spcPts val="85"/>
              </a:spcBef>
            </a:pPr>
            <a:r>
              <a:rPr sz="1800" dirty="0">
                <a:latin typeface="Arial"/>
                <a:cs typeface="Arial"/>
              </a:rPr>
              <a:t>convolve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(slide)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over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all </a:t>
            </a:r>
            <a:r>
              <a:rPr sz="1800" dirty="0">
                <a:latin typeface="Arial"/>
                <a:cs typeface="Arial"/>
              </a:rPr>
              <a:t>spatial</a:t>
            </a:r>
            <a:r>
              <a:rPr sz="1800" spc="-3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locations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7065410" y="1181322"/>
            <a:ext cx="975994" cy="2777490"/>
            <a:chOff x="7065410" y="1181322"/>
            <a:chExt cx="975994" cy="2777490"/>
          </a:xfrm>
        </p:grpSpPr>
        <p:sp>
          <p:nvSpPr>
            <p:cNvPr id="30" name="object 30"/>
            <p:cNvSpPr/>
            <p:nvPr/>
          </p:nvSpPr>
          <p:spPr>
            <a:xfrm>
              <a:off x="7074935" y="2055020"/>
              <a:ext cx="92710" cy="1894205"/>
            </a:xfrm>
            <a:custGeom>
              <a:avLst/>
              <a:gdLst/>
              <a:ahLst/>
              <a:cxnLst/>
              <a:rect l="l" t="t" r="r" b="b"/>
              <a:pathLst>
                <a:path w="92709" h="1894204">
                  <a:moveTo>
                    <a:pt x="92224" y="1893721"/>
                  </a:moveTo>
                  <a:lnTo>
                    <a:pt x="0" y="1893721"/>
                  </a:lnTo>
                  <a:lnTo>
                    <a:pt x="0" y="0"/>
                  </a:lnTo>
                  <a:lnTo>
                    <a:pt x="92224" y="0"/>
                  </a:lnTo>
                  <a:lnTo>
                    <a:pt x="92224" y="1893721"/>
                  </a:lnTo>
                  <a:close/>
                </a:path>
              </a:pathLst>
            </a:custGeom>
            <a:solidFill>
              <a:srgbClr val="C8D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7167160" y="1190847"/>
              <a:ext cx="864235" cy="2758440"/>
            </a:xfrm>
            <a:custGeom>
              <a:avLst/>
              <a:gdLst/>
              <a:ahLst/>
              <a:cxnLst/>
              <a:rect l="l" t="t" r="r" b="b"/>
              <a:pathLst>
                <a:path w="864234" h="2758440">
                  <a:moveTo>
                    <a:pt x="0" y="2757894"/>
                  </a:moveTo>
                  <a:lnTo>
                    <a:pt x="0" y="864173"/>
                  </a:lnTo>
                  <a:lnTo>
                    <a:pt x="864173" y="0"/>
                  </a:lnTo>
                  <a:lnTo>
                    <a:pt x="864173" y="1893721"/>
                  </a:lnTo>
                  <a:lnTo>
                    <a:pt x="0" y="2757894"/>
                  </a:lnTo>
                  <a:close/>
                </a:path>
              </a:pathLst>
            </a:custGeom>
            <a:solidFill>
              <a:srgbClr val="A0AE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7074935" y="1190847"/>
              <a:ext cx="956944" cy="864235"/>
            </a:xfrm>
            <a:custGeom>
              <a:avLst/>
              <a:gdLst/>
              <a:ahLst/>
              <a:cxnLst/>
              <a:rect l="l" t="t" r="r" b="b"/>
              <a:pathLst>
                <a:path w="956945" h="864235">
                  <a:moveTo>
                    <a:pt x="92224" y="864173"/>
                  </a:moveTo>
                  <a:lnTo>
                    <a:pt x="0" y="864173"/>
                  </a:lnTo>
                  <a:lnTo>
                    <a:pt x="864173" y="0"/>
                  </a:lnTo>
                  <a:lnTo>
                    <a:pt x="956398" y="0"/>
                  </a:lnTo>
                  <a:lnTo>
                    <a:pt x="92224" y="864173"/>
                  </a:lnTo>
                  <a:close/>
                </a:path>
              </a:pathLst>
            </a:custGeom>
            <a:solidFill>
              <a:srgbClr val="D3E1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7074935" y="1190847"/>
              <a:ext cx="956944" cy="2758440"/>
            </a:xfrm>
            <a:custGeom>
              <a:avLst/>
              <a:gdLst/>
              <a:ahLst/>
              <a:cxnLst/>
              <a:rect l="l" t="t" r="r" b="b"/>
              <a:pathLst>
                <a:path w="956945" h="2758440">
                  <a:moveTo>
                    <a:pt x="0" y="864173"/>
                  </a:moveTo>
                  <a:lnTo>
                    <a:pt x="864173" y="0"/>
                  </a:lnTo>
                  <a:lnTo>
                    <a:pt x="956398" y="0"/>
                  </a:lnTo>
                  <a:lnTo>
                    <a:pt x="956398" y="1893721"/>
                  </a:lnTo>
                  <a:lnTo>
                    <a:pt x="92224" y="2757894"/>
                  </a:lnTo>
                  <a:lnTo>
                    <a:pt x="0" y="2757894"/>
                  </a:lnTo>
                  <a:lnTo>
                    <a:pt x="0" y="864173"/>
                  </a:lnTo>
                  <a:close/>
                </a:path>
                <a:path w="956945" h="2758440">
                  <a:moveTo>
                    <a:pt x="0" y="864173"/>
                  </a:moveTo>
                  <a:lnTo>
                    <a:pt x="92224" y="864173"/>
                  </a:lnTo>
                  <a:lnTo>
                    <a:pt x="956398" y="0"/>
                  </a:lnTo>
                </a:path>
                <a:path w="956945" h="2758440">
                  <a:moveTo>
                    <a:pt x="92224" y="864173"/>
                  </a:moveTo>
                  <a:lnTo>
                    <a:pt x="92224" y="2757894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7153362" y="587554"/>
            <a:ext cx="16236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0000FF"/>
                </a:solidFill>
                <a:latin typeface="Arial"/>
                <a:cs typeface="Arial"/>
              </a:rPr>
              <a:t>activation</a:t>
            </a:r>
            <a:r>
              <a:rPr sz="1800" b="1" spc="-5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b="1" spc="-25" dirty="0">
                <a:solidFill>
                  <a:srgbClr val="0000FF"/>
                </a:solidFill>
                <a:latin typeface="Arial"/>
                <a:cs typeface="Arial"/>
              </a:rPr>
              <a:t>map</a:t>
            </a:r>
            <a:endParaRPr sz="180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236910" y="3968012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0" dirty="0">
                <a:latin typeface="Arial"/>
                <a:cs typeface="Arial"/>
              </a:rPr>
              <a:t>3</a:t>
            </a:r>
            <a:endParaRPr sz="180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7032452" y="3989853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0" dirty="0"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7699962" y="3512523"/>
            <a:ext cx="280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Arial"/>
                <a:cs typeface="Arial"/>
              </a:rPr>
              <a:t>28</a:t>
            </a:r>
            <a:endParaRPr sz="180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8104365" y="2101540"/>
            <a:ext cx="280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Arial"/>
                <a:cs typeface="Arial"/>
              </a:rPr>
              <a:t>28</a:t>
            </a:r>
            <a:endParaRPr sz="1800">
              <a:latin typeface="Arial"/>
              <a:cs typeface="Arial"/>
            </a:endParaRPr>
          </a:p>
        </p:txBody>
      </p:sp>
      <p:sp>
        <p:nvSpPr>
          <p:cNvPr id="43" name="object 10">
            <a:extLst>
              <a:ext uri="{FF2B5EF4-FFF2-40B4-BE49-F238E27FC236}">
                <a16:creationId xmlns:a16="http://schemas.microsoft.com/office/drawing/2014/main" id="{00DAC1BE-9B46-A248-9ECD-A065AB7A1F1D}"/>
              </a:ext>
            </a:extLst>
          </p:cNvPr>
          <p:cNvSpPr txBox="1">
            <a:spLocks noGrp="1"/>
          </p:cNvSpPr>
          <p:nvPr>
            <p:ph type="dt" sz="half" idx="4294967295"/>
          </p:nvPr>
        </p:nvSpPr>
        <p:spPr>
          <a:xfrm>
            <a:off x="145224" y="4740846"/>
            <a:ext cx="4699000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lang="en-US" altLang="zh-CN" spc="-10" dirty="0">
                <a:solidFill>
                  <a:schemeClr val="bg1"/>
                </a:solidFill>
              </a:rPr>
              <a:t>Convolutional</a:t>
            </a:r>
            <a:r>
              <a:rPr lang="zh-CN" altLang="en-US" spc="-10" dirty="0">
                <a:solidFill>
                  <a:schemeClr val="bg1"/>
                </a:solidFill>
              </a:rPr>
              <a:t> </a:t>
            </a:r>
            <a:r>
              <a:rPr lang="en-US" altLang="zh-CN" spc="-10" dirty="0">
                <a:solidFill>
                  <a:schemeClr val="bg1"/>
                </a:solidFill>
              </a:rPr>
              <a:t>Neural</a:t>
            </a:r>
            <a:r>
              <a:rPr lang="zh-CN" altLang="en-US" spc="-10" dirty="0">
                <a:solidFill>
                  <a:schemeClr val="bg1"/>
                </a:solidFill>
              </a:rPr>
              <a:t> </a:t>
            </a:r>
            <a:r>
              <a:rPr lang="en-US" altLang="zh-CN" spc="-10" dirty="0">
                <a:solidFill>
                  <a:schemeClr val="bg1"/>
                </a:solidFill>
              </a:rPr>
              <a:t>Networks</a:t>
            </a:r>
            <a:endParaRPr spc="-1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065410" y="1181322"/>
            <a:ext cx="1353820" cy="2777490"/>
            <a:chOff x="7065410" y="1181322"/>
            <a:chExt cx="1353820" cy="2777490"/>
          </a:xfrm>
        </p:grpSpPr>
        <p:sp>
          <p:nvSpPr>
            <p:cNvPr id="3" name="object 3"/>
            <p:cNvSpPr/>
            <p:nvPr/>
          </p:nvSpPr>
          <p:spPr>
            <a:xfrm>
              <a:off x="7074935" y="2055020"/>
              <a:ext cx="92710" cy="1894205"/>
            </a:xfrm>
            <a:custGeom>
              <a:avLst/>
              <a:gdLst/>
              <a:ahLst/>
              <a:cxnLst/>
              <a:rect l="l" t="t" r="r" b="b"/>
              <a:pathLst>
                <a:path w="92709" h="1894204">
                  <a:moveTo>
                    <a:pt x="92224" y="1893721"/>
                  </a:moveTo>
                  <a:lnTo>
                    <a:pt x="0" y="1893721"/>
                  </a:lnTo>
                  <a:lnTo>
                    <a:pt x="0" y="0"/>
                  </a:lnTo>
                  <a:lnTo>
                    <a:pt x="92224" y="0"/>
                  </a:lnTo>
                  <a:lnTo>
                    <a:pt x="92224" y="1893721"/>
                  </a:lnTo>
                  <a:close/>
                </a:path>
              </a:pathLst>
            </a:custGeom>
            <a:solidFill>
              <a:srgbClr val="C8D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167160" y="1190847"/>
              <a:ext cx="864235" cy="2758440"/>
            </a:xfrm>
            <a:custGeom>
              <a:avLst/>
              <a:gdLst/>
              <a:ahLst/>
              <a:cxnLst/>
              <a:rect l="l" t="t" r="r" b="b"/>
              <a:pathLst>
                <a:path w="864234" h="2758440">
                  <a:moveTo>
                    <a:pt x="0" y="2757894"/>
                  </a:moveTo>
                  <a:lnTo>
                    <a:pt x="0" y="864173"/>
                  </a:lnTo>
                  <a:lnTo>
                    <a:pt x="864173" y="0"/>
                  </a:lnTo>
                  <a:lnTo>
                    <a:pt x="864173" y="1893721"/>
                  </a:lnTo>
                  <a:lnTo>
                    <a:pt x="0" y="2757894"/>
                  </a:lnTo>
                  <a:close/>
                </a:path>
              </a:pathLst>
            </a:custGeom>
            <a:solidFill>
              <a:srgbClr val="A0AE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074935" y="1190847"/>
              <a:ext cx="956944" cy="864235"/>
            </a:xfrm>
            <a:custGeom>
              <a:avLst/>
              <a:gdLst/>
              <a:ahLst/>
              <a:cxnLst/>
              <a:rect l="l" t="t" r="r" b="b"/>
              <a:pathLst>
                <a:path w="956945" h="864235">
                  <a:moveTo>
                    <a:pt x="92224" y="864173"/>
                  </a:moveTo>
                  <a:lnTo>
                    <a:pt x="0" y="864173"/>
                  </a:lnTo>
                  <a:lnTo>
                    <a:pt x="864173" y="0"/>
                  </a:lnTo>
                  <a:lnTo>
                    <a:pt x="956398" y="0"/>
                  </a:lnTo>
                  <a:lnTo>
                    <a:pt x="92224" y="864173"/>
                  </a:lnTo>
                  <a:close/>
                </a:path>
              </a:pathLst>
            </a:custGeom>
            <a:solidFill>
              <a:srgbClr val="D3E1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074935" y="1190847"/>
              <a:ext cx="956944" cy="2758440"/>
            </a:xfrm>
            <a:custGeom>
              <a:avLst/>
              <a:gdLst/>
              <a:ahLst/>
              <a:cxnLst/>
              <a:rect l="l" t="t" r="r" b="b"/>
              <a:pathLst>
                <a:path w="956945" h="2758440">
                  <a:moveTo>
                    <a:pt x="0" y="864173"/>
                  </a:moveTo>
                  <a:lnTo>
                    <a:pt x="864173" y="0"/>
                  </a:lnTo>
                  <a:lnTo>
                    <a:pt x="956398" y="0"/>
                  </a:lnTo>
                  <a:lnTo>
                    <a:pt x="956398" y="1893721"/>
                  </a:lnTo>
                  <a:lnTo>
                    <a:pt x="92224" y="2757894"/>
                  </a:lnTo>
                  <a:lnTo>
                    <a:pt x="0" y="2757894"/>
                  </a:lnTo>
                  <a:lnTo>
                    <a:pt x="0" y="864173"/>
                  </a:lnTo>
                  <a:close/>
                </a:path>
                <a:path w="956945" h="2758440">
                  <a:moveTo>
                    <a:pt x="0" y="864173"/>
                  </a:moveTo>
                  <a:lnTo>
                    <a:pt x="92224" y="864173"/>
                  </a:lnTo>
                  <a:lnTo>
                    <a:pt x="956398" y="0"/>
                  </a:lnTo>
                </a:path>
                <a:path w="956945" h="2758440">
                  <a:moveTo>
                    <a:pt x="92224" y="864173"/>
                  </a:moveTo>
                  <a:lnTo>
                    <a:pt x="92224" y="2757894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452909" y="2055020"/>
              <a:ext cx="92710" cy="1894205"/>
            </a:xfrm>
            <a:custGeom>
              <a:avLst/>
              <a:gdLst/>
              <a:ahLst/>
              <a:cxnLst/>
              <a:rect l="l" t="t" r="r" b="b"/>
              <a:pathLst>
                <a:path w="92709" h="1894204">
                  <a:moveTo>
                    <a:pt x="92224" y="1893721"/>
                  </a:moveTo>
                  <a:lnTo>
                    <a:pt x="0" y="1893721"/>
                  </a:lnTo>
                  <a:lnTo>
                    <a:pt x="0" y="0"/>
                  </a:lnTo>
                  <a:lnTo>
                    <a:pt x="92224" y="0"/>
                  </a:lnTo>
                  <a:lnTo>
                    <a:pt x="92224" y="1893721"/>
                  </a:lnTo>
                  <a:close/>
                </a:path>
              </a:pathLst>
            </a:custGeom>
            <a:solidFill>
              <a:srgbClr val="D8E9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545134" y="1190847"/>
              <a:ext cx="864235" cy="2758440"/>
            </a:xfrm>
            <a:custGeom>
              <a:avLst/>
              <a:gdLst/>
              <a:ahLst/>
              <a:cxnLst/>
              <a:rect l="l" t="t" r="r" b="b"/>
              <a:pathLst>
                <a:path w="864234" h="2758440">
                  <a:moveTo>
                    <a:pt x="0" y="2757894"/>
                  </a:moveTo>
                  <a:lnTo>
                    <a:pt x="0" y="864173"/>
                  </a:lnTo>
                  <a:lnTo>
                    <a:pt x="864173" y="0"/>
                  </a:lnTo>
                  <a:lnTo>
                    <a:pt x="864173" y="1893721"/>
                  </a:lnTo>
                  <a:lnTo>
                    <a:pt x="0" y="2757894"/>
                  </a:lnTo>
                  <a:close/>
                </a:path>
              </a:pathLst>
            </a:custGeom>
            <a:solidFill>
              <a:srgbClr val="ACBA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452909" y="1190847"/>
              <a:ext cx="956944" cy="864235"/>
            </a:xfrm>
            <a:custGeom>
              <a:avLst/>
              <a:gdLst/>
              <a:ahLst/>
              <a:cxnLst/>
              <a:rect l="l" t="t" r="r" b="b"/>
              <a:pathLst>
                <a:path w="956945" h="864235">
                  <a:moveTo>
                    <a:pt x="92224" y="864173"/>
                  </a:moveTo>
                  <a:lnTo>
                    <a:pt x="0" y="864173"/>
                  </a:lnTo>
                  <a:lnTo>
                    <a:pt x="864173" y="0"/>
                  </a:lnTo>
                  <a:lnTo>
                    <a:pt x="956398" y="0"/>
                  </a:lnTo>
                  <a:lnTo>
                    <a:pt x="92224" y="864173"/>
                  </a:lnTo>
                  <a:close/>
                </a:path>
              </a:pathLst>
            </a:custGeom>
            <a:solidFill>
              <a:srgbClr val="DFEDD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452909" y="1190847"/>
              <a:ext cx="956944" cy="2758440"/>
            </a:xfrm>
            <a:custGeom>
              <a:avLst/>
              <a:gdLst/>
              <a:ahLst/>
              <a:cxnLst/>
              <a:rect l="l" t="t" r="r" b="b"/>
              <a:pathLst>
                <a:path w="956945" h="2758440">
                  <a:moveTo>
                    <a:pt x="0" y="864173"/>
                  </a:moveTo>
                  <a:lnTo>
                    <a:pt x="864173" y="0"/>
                  </a:lnTo>
                  <a:lnTo>
                    <a:pt x="956398" y="0"/>
                  </a:lnTo>
                  <a:lnTo>
                    <a:pt x="956398" y="1893721"/>
                  </a:lnTo>
                  <a:lnTo>
                    <a:pt x="92224" y="2757894"/>
                  </a:lnTo>
                  <a:lnTo>
                    <a:pt x="0" y="2757894"/>
                  </a:lnTo>
                  <a:lnTo>
                    <a:pt x="0" y="864173"/>
                  </a:lnTo>
                  <a:close/>
                </a:path>
                <a:path w="956945" h="2758440">
                  <a:moveTo>
                    <a:pt x="0" y="864173"/>
                  </a:moveTo>
                  <a:lnTo>
                    <a:pt x="92224" y="864173"/>
                  </a:lnTo>
                  <a:lnTo>
                    <a:pt x="956398" y="0"/>
                  </a:lnTo>
                </a:path>
                <a:path w="956945" h="2758440">
                  <a:moveTo>
                    <a:pt x="92224" y="864173"/>
                  </a:moveTo>
                  <a:lnTo>
                    <a:pt x="92224" y="2757894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1628871" y="2153320"/>
            <a:ext cx="1898014" cy="833119"/>
            <a:chOff x="1628871" y="2153320"/>
            <a:chExt cx="1898014" cy="833119"/>
          </a:xfrm>
        </p:grpSpPr>
        <p:sp>
          <p:nvSpPr>
            <p:cNvPr id="12" name="object 12"/>
            <p:cNvSpPr/>
            <p:nvPr/>
          </p:nvSpPr>
          <p:spPr>
            <a:xfrm>
              <a:off x="1638396" y="2313542"/>
              <a:ext cx="132080" cy="663575"/>
            </a:xfrm>
            <a:custGeom>
              <a:avLst/>
              <a:gdLst/>
              <a:ahLst/>
              <a:cxnLst/>
              <a:rect l="l" t="t" r="r" b="b"/>
              <a:pathLst>
                <a:path w="132080" h="663575">
                  <a:moveTo>
                    <a:pt x="131602" y="663201"/>
                  </a:moveTo>
                  <a:lnTo>
                    <a:pt x="0" y="663201"/>
                  </a:lnTo>
                  <a:lnTo>
                    <a:pt x="0" y="0"/>
                  </a:lnTo>
                  <a:lnTo>
                    <a:pt x="131602" y="0"/>
                  </a:lnTo>
                  <a:lnTo>
                    <a:pt x="131602" y="663201"/>
                  </a:lnTo>
                  <a:close/>
                </a:path>
              </a:pathLst>
            </a:custGeom>
            <a:solidFill>
              <a:srgbClr val="D8E9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769998" y="2162845"/>
              <a:ext cx="151130" cy="814069"/>
            </a:xfrm>
            <a:custGeom>
              <a:avLst/>
              <a:gdLst/>
              <a:ahLst/>
              <a:cxnLst/>
              <a:rect l="l" t="t" r="r" b="b"/>
              <a:pathLst>
                <a:path w="151130" h="814069">
                  <a:moveTo>
                    <a:pt x="0" y="813898"/>
                  </a:moveTo>
                  <a:lnTo>
                    <a:pt x="0" y="150697"/>
                  </a:lnTo>
                  <a:lnTo>
                    <a:pt x="150697" y="0"/>
                  </a:lnTo>
                  <a:lnTo>
                    <a:pt x="150697" y="663198"/>
                  </a:lnTo>
                  <a:lnTo>
                    <a:pt x="0" y="813898"/>
                  </a:lnTo>
                  <a:close/>
                </a:path>
              </a:pathLst>
            </a:custGeom>
            <a:solidFill>
              <a:srgbClr val="ACBA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638396" y="2162845"/>
              <a:ext cx="282575" cy="151130"/>
            </a:xfrm>
            <a:custGeom>
              <a:avLst/>
              <a:gdLst/>
              <a:ahLst/>
              <a:cxnLst/>
              <a:rect l="l" t="t" r="r" b="b"/>
              <a:pathLst>
                <a:path w="282575" h="151130">
                  <a:moveTo>
                    <a:pt x="131602" y="150697"/>
                  </a:moveTo>
                  <a:lnTo>
                    <a:pt x="0" y="150697"/>
                  </a:lnTo>
                  <a:lnTo>
                    <a:pt x="150697" y="0"/>
                  </a:lnTo>
                  <a:lnTo>
                    <a:pt x="282299" y="0"/>
                  </a:lnTo>
                  <a:lnTo>
                    <a:pt x="131602" y="150697"/>
                  </a:lnTo>
                  <a:close/>
                </a:path>
              </a:pathLst>
            </a:custGeom>
            <a:solidFill>
              <a:srgbClr val="DFEDD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638396" y="2162845"/>
              <a:ext cx="282575" cy="814069"/>
            </a:xfrm>
            <a:custGeom>
              <a:avLst/>
              <a:gdLst/>
              <a:ahLst/>
              <a:cxnLst/>
              <a:rect l="l" t="t" r="r" b="b"/>
              <a:pathLst>
                <a:path w="282575" h="814069">
                  <a:moveTo>
                    <a:pt x="0" y="150697"/>
                  </a:moveTo>
                  <a:lnTo>
                    <a:pt x="150697" y="0"/>
                  </a:lnTo>
                  <a:lnTo>
                    <a:pt x="282299" y="0"/>
                  </a:lnTo>
                  <a:lnTo>
                    <a:pt x="282299" y="663198"/>
                  </a:lnTo>
                  <a:lnTo>
                    <a:pt x="131602" y="813898"/>
                  </a:lnTo>
                  <a:lnTo>
                    <a:pt x="0" y="813898"/>
                  </a:lnTo>
                  <a:lnTo>
                    <a:pt x="0" y="150697"/>
                  </a:lnTo>
                  <a:close/>
                </a:path>
                <a:path w="282575" h="814069">
                  <a:moveTo>
                    <a:pt x="0" y="150697"/>
                  </a:moveTo>
                  <a:lnTo>
                    <a:pt x="131602" y="150697"/>
                  </a:lnTo>
                  <a:lnTo>
                    <a:pt x="282299" y="0"/>
                  </a:lnTo>
                </a:path>
                <a:path w="282575" h="814069">
                  <a:moveTo>
                    <a:pt x="131602" y="150697"/>
                  </a:moveTo>
                  <a:lnTo>
                    <a:pt x="131602" y="813898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234643" y="2428645"/>
              <a:ext cx="282575" cy="282575"/>
            </a:xfrm>
            <a:custGeom>
              <a:avLst/>
              <a:gdLst/>
              <a:ahLst/>
              <a:cxnLst/>
              <a:rect l="l" t="t" r="r" b="b"/>
              <a:pathLst>
                <a:path w="282575" h="282575">
                  <a:moveTo>
                    <a:pt x="141149" y="282299"/>
                  </a:moveTo>
                  <a:lnTo>
                    <a:pt x="96537" y="275103"/>
                  </a:lnTo>
                  <a:lnTo>
                    <a:pt x="57790" y="255064"/>
                  </a:lnTo>
                  <a:lnTo>
                    <a:pt x="27235" y="224508"/>
                  </a:lnTo>
                  <a:lnTo>
                    <a:pt x="7196" y="185762"/>
                  </a:lnTo>
                  <a:lnTo>
                    <a:pt x="0" y="141149"/>
                  </a:lnTo>
                  <a:lnTo>
                    <a:pt x="7196" y="96535"/>
                  </a:lnTo>
                  <a:lnTo>
                    <a:pt x="27235" y="57788"/>
                  </a:lnTo>
                  <a:lnTo>
                    <a:pt x="57790" y="27233"/>
                  </a:lnTo>
                  <a:lnTo>
                    <a:pt x="96537" y="7195"/>
                  </a:lnTo>
                  <a:lnTo>
                    <a:pt x="141149" y="0"/>
                  </a:lnTo>
                  <a:lnTo>
                    <a:pt x="168812" y="2737"/>
                  </a:lnTo>
                  <a:lnTo>
                    <a:pt x="219460" y="23714"/>
                  </a:lnTo>
                  <a:lnTo>
                    <a:pt x="258579" y="62841"/>
                  </a:lnTo>
                  <a:lnTo>
                    <a:pt x="279561" y="113488"/>
                  </a:lnTo>
                  <a:lnTo>
                    <a:pt x="282299" y="141149"/>
                  </a:lnTo>
                  <a:lnTo>
                    <a:pt x="275103" y="185762"/>
                  </a:lnTo>
                  <a:lnTo>
                    <a:pt x="255064" y="224508"/>
                  </a:lnTo>
                  <a:lnTo>
                    <a:pt x="224508" y="255064"/>
                  </a:lnTo>
                  <a:lnTo>
                    <a:pt x="185762" y="275103"/>
                  </a:lnTo>
                  <a:lnTo>
                    <a:pt x="141149" y="282299"/>
                  </a:lnTo>
                  <a:close/>
                </a:path>
              </a:pathLst>
            </a:custGeom>
            <a:solidFill>
              <a:srgbClr val="D8E9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745146" y="2183095"/>
              <a:ext cx="1772285" cy="786130"/>
            </a:xfrm>
            <a:custGeom>
              <a:avLst/>
              <a:gdLst/>
              <a:ahLst/>
              <a:cxnLst/>
              <a:rect l="l" t="t" r="r" b="b"/>
              <a:pathLst>
                <a:path w="1772285" h="786130">
                  <a:moveTo>
                    <a:pt x="1489496" y="386699"/>
                  </a:moveTo>
                  <a:lnTo>
                    <a:pt x="1496693" y="342084"/>
                  </a:lnTo>
                  <a:lnTo>
                    <a:pt x="1516732" y="303338"/>
                  </a:lnTo>
                  <a:lnTo>
                    <a:pt x="1547287" y="272783"/>
                  </a:lnTo>
                  <a:lnTo>
                    <a:pt x="1586034" y="252745"/>
                  </a:lnTo>
                  <a:lnTo>
                    <a:pt x="1630646" y="245549"/>
                  </a:lnTo>
                  <a:lnTo>
                    <a:pt x="1684662" y="256293"/>
                  </a:lnTo>
                  <a:lnTo>
                    <a:pt x="1730446" y="286891"/>
                  </a:lnTo>
                  <a:lnTo>
                    <a:pt x="1761049" y="332687"/>
                  </a:lnTo>
                  <a:lnTo>
                    <a:pt x="1771796" y="386699"/>
                  </a:lnTo>
                  <a:lnTo>
                    <a:pt x="1764600" y="431311"/>
                  </a:lnTo>
                  <a:lnTo>
                    <a:pt x="1744561" y="470058"/>
                  </a:lnTo>
                  <a:lnTo>
                    <a:pt x="1714005" y="500613"/>
                  </a:lnTo>
                  <a:lnTo>
                    <a:pt x="1675259" y="520652"/>
                  </a:lnTo>
                  <a:lnTo>
                    <a:pt x="1630646" y="527848"/>
                  </a:lnTo>
                  <a:lnTo>
                    <a:pt x="1586034" y="520652"/>
                  </a:lnTo>
                  <a:lnTo>
                    <a:pt x="1547287" y="500613"/>
                  </a:lnTo>
                  <a:lnTo>
                    <a:pt x="1516732" y="470058"/>
                  </a:lnTo>
                  <a:lnTo>
                    <a:pt x="1496693" y="431311"/>
                  </a:lnTo>
                  <a:lnTo>
                    <a:pt x="1489496" y="386699"/>
                  </a:lnTo>
                  <a:close/>
                </a:path>
                <a:path w="1772285" h="786130">
                  <a:moveTo>
                    <a:pt x="0" y="785698"/>
                  </a:moveTo>
                  <a:lnTo>
                    <a:pt x="1489496" y="386699"/>
                  </a:lnTo>
                </a:path>
                <a:path w="1772285" h="786130">
                  <a:moveTo>
                    <a:pt x="19499" y="149399"/>
                  </a:moveTo>
                  <a:lnTo>
                    <a:pt x="1489496" y="386699"/>
                  </a:lnTo>
                </a:path>
                <a:path w="1772285" h="786130">
                  <a:moveTo>
                    <a:pt x="155699" y="0"/>
                  </a:moveTo>
                  <a:lnTo>
                    <a:pt x="1489496" y="386699"/>
                  </a:lnTo>
                </a:path>
                <a:path w="1772285" h="786130">
                  <a:moveTo>
                    <a:pt x="181799" y="636298"/>
                  </a:moveTo>
                  <a:lnTo>
                    <a:pt x="1489496" y="386699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1907517" y="3554719"/>
            <a:ext cx="280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Arial"/>
                <a:cs typeface="Arial"/>
              </a:rPr>
              <a:t>32</a:t>
            </a:r>
            <a:endParaRPr sz="18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271819" y="1481550"/>
            <a:ext cx="280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Arial"/>
                <a:cs typeface="Arial"/>
              </a:rPr>
              <a:t>32</a:t>
            </a:r>
            <a:endParaRPr sz="18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236910" y="3946358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Arial"/>
                <a:cs typeface="Arial"/>
              </a:rPr>
              <a:t>3</a:t>
            </a:r>
            <a:endParaRPr sz="18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93899" y="127734"/>
            <a:ext cx="309562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>
                <a:latin typeface="Arial"/>
                <a:cs typeface="Arial"/>
              </a:rPr>
              <a:t>Convolution</a:t>
            </a:r>
            <a:r>
              <a:rPr sz="3000" spc="-55" dirty="0">
                <a:latin typeface="Arial"/>
                <a:cs typeface="Arial"/>
              </a:rPr>
              <a:t> </a:t>
            </a:r>
            <a:r>
              <a:rPr sz="3000" spc="-10" dirty="0">
                <a:latin typeface="Arial"/>
                <a:cs typeface="Arial"/>
              </a:rPr>
              <a:t>Layer</a:t>
            </a:r>
            <a:endParaRPr sz="30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552738" y="829306"/>
            <a:ext cx="2092325" cy="753110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12700" marR="5080">
              <a:lnSpc>
                <a:spcPts val="2850"/>
              </a:lnSpc>
              <a:spcBef>
                <a:spcPts val="219"/>
              </a:spcBef>
            </a:pP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32x32x3</a:t>
            </a:r>
            <a:r>
              <a:rPr sz="2400" spc="-1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Arial"/>
                <a:cs typeface="Arial"/>
              </a:rPr>
              <a:t>image </a:t>
            </a:r>
            <a:r>
              <a:rPr sz="2400" dirty="0">
                <a:solidFill>
                  <a:srgbClr val="38751C"/>
                </a:solidFill>
                <a:latin typeface="Arial"/>
                <a:cs typeface="Arial"/>
              </a:rPr>
              <a:t>5x5x3</a:t>
            </a:r>
            <a:r>
              <a:rPr sz="2400" spc="-90" dirty="0">
                <a:solidFill>
                  <a:srgbClr val="38751C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38751C"/>
                </a:solidFill>
                <a:latin typeface="Arial"/>
                <a:cs typeface="Arial"/>
              </a:rPr>
              <a:t>filter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2357432" y="1005485"/>
            <a:ext cx="980440" cy="245110"/>
            <a:chOff x="2357432" y="1005485"/>
            <a:chExt cx="980440" cy="245110"/>
          </a:xfrm>
        </p:grpSpPr>
        <p:sp>
          <p:nvSpPr>
            <p:cNvPr id="24" name="object 24"/>
            <p:cNvSpPr/>
            <p:nvPr/>
          </p:nvSpPr>
          <p:spPr>
            <a:xfrm>
              <a:off x="2404257" y="1010247"/>
              <a:ext cx="929005" cy="220345"/>
            </a:xfrm>
            <a:custGeom>
              <a:avLst/>
              <a:gdLst/>
              <a:ahLst/>
              <a:cxnLst/>
              <a:rect l="l" t="t" r="r" b="b"/>
              <a:pathLst>
                <a:path w="929004" h="220344">
                  <a:moveTo>
                    <a:pt x="928685" y="0"/>
                  </a:moveTo>
                  <a:lnTo>
                    <a:pt x="0" y="219929"/>
                  </a:lnTo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362195" y="1214867"/>
              <a:ext cx="45720" cy="31115"/>
            </a:xfrm>
            <a:custGeom>
              <a:avLst/>
              <a:gdLst/>
              <a:ahLst/>
              <a:cxnLst/>
              <a:rect l="l" t="t" r="r" b="b"/>
              <a:pathLst>
                <a:path w="45719" h="31115">
                  <a:moveTo>
                    <a:pt x="45687" y="30619"/>
                  </a:moveTo>
                  <a:lnTo>
                    <a:pt x="0" y="25269"/>
                  </a:lnTo>
                  <a:lnTo>
                    <a:pt x="38434" y="0"/>
                  </a:lnTo>
                  <a:lnTo>
                    <a:pt x="45687" y="30619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362195" y="1214867"/>
              <a:ext cx="45720" cy="31115"/>
            </a:xfrm>
            <a:custGeom>
              <a:avLst/>
              <a:gdLst/>
              <a:ahLst/>
              <a:cxnLst/>
              <a:rect l="l" t="t" r="r" b="b"/>
              <a:pathLst>
                <a:path w="45719" h="31115">
                  <a:moveTo>
                    <a:pt x="38434" y="0"/>
                  </a:moveTo>
                  <a:lnTo>
                    <a:pt x="0" y="25269"/>
                  </a:lnTo>
                  <a:lnTo>
                    <a:pt x="45687" y="30619"/>
                  </a:lnTo>
                  <a:lnTo>
                    <a:pt x="38434" y="0"/>
                  </a:lnTo>
                  <a:close/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7" name="object 27"/>
          <p:cNvGrpSpPr/>
          <p:nvPr/>
        </p:nvGrpSpPr>
        <p:grpSpPr>
          <a:xfrm>
            <a:off x="1212347" y="1181322"/>
            <a:ext cx="2229485" cy="2777490"/>
            <a:chOff x="1212347" y="1181322"/>
            <a:chExt cx="2229485" cy="2777490"/>
          </a:xfrm>
        </p:grpSpPr>
        <p:sp>
          <p:nvSpPr>
            <p:cNvPr id="28" name="object 28"/>
            <p:cNvSpPr/>
            <p:nvPr/>
          </p:nvSpPr>
          <p:spPr>
            <a:xfrm>
              <a:off x="2090910" y="1493772"/>
              <a:ext cx="1346200" cy="523240"/>
            </a:xfrm>
            <a:custGeom>
              <a:avLst/>
              <a:gdLst/>
              <a:ahLst/>
              <a:cxnLst/>
              <a:rect l="l" t="t" r="r" b="b"/>
              <a:pathLst>
                <a:path w="1346200" h="523239">
                  <a:moveTo>
                    <a:pt x="1345632" y="0"/>
                  </a:moveTo>
                  <a:lnTo>
                    <a:pt x="0" y="523188"/>
                  </a:lnTo>
                </a:path>
              </a:pathLst>
            </a:custGeom>
            <a:ln w="9524">
              <a:solidFill>
                <a:srgbClr val="38751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2050623" y="2002298"/>
              <a:ext cx="46355" cy="30480"/>
            </a:xfrm>
            <a:custGeom>
              <a:avLst/>
              <a:gdLst/>
              <a:ahLst/>
              <a:cxnLst/>
              <a:rect l="l" t="t" r="r" b="b"/>
              <a:pathLst>
                <a:path w="46355" h="30480">
                  <a:moveTo>
                    <a:pt x="0" y="30327"/>
                  </a:moveTo>
                  <a:lnTo>
                    <a:pt x="34587" y="0"/>
                  </a:lnTo>
                  <a:lnTo>
                    <a:pt x="45989" y="29324"/>
                  </a:lnTo>
                  <a:lnTo>
                    <a:pt x="0" y="30327"/>
                  </a:lnTo>
                  <a:close/>
                </a:path>
              </a:pathLst>
            </a:custGeom>
            <a:solidFill>
              <a:srgbClr val="3875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050623" y="2002298"/>
              <a:ext cx="46355" cy="30480"/>
            </a:xfrm>
            <a:custGeom>
              <a:avLst/>
              <a:gdLst/>
              <a:ahLst/>
              <a:cxnLst/>
              <a:rect l="l" t="t" r="r" b="b"/>
              <a:pathLst>
                <a:path w="46355" h="30480">
                  <a:moveTo>
                    <a:pt x="34587" y="0"/>
                  </a:moveTo>
                  <a:lnTo>
                    <a:pt x="0" y="30327"/>
                  </a:lnTo>
                  <a:lnTo>
                    <a:pt x="45989" y="29324"/>
                  </a:lnTo>
                  <a:lnTo>
                    <a:pt x="34587" y="0"/>
                  </a:lnTo>
                  <a:close/>
                </a:path>
              </a:pathLst>
            </a:custGeom>
            <a:ln w="9524">
              <a:solidFill>
                <a:srgbClr val="38751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221872" y="1934073"/>
              <a:ext cx="213360" cy="2014855"/>
            </a:xfrm>
            <a:custGeom>
              <a:avLst/>
              <a:gdLst/>
              <a:ahLst/>
              <a:cxnLst/>
              <a:rect l="l" t="t" r="r" b="b"/>
              <a:pathLst>
                <a:path w="213359" h="2014854">
                  <a:moveTo>
                    <a:pt x="213172" y="2014668"/>
                  </a:moveTo>
                  <a:lnTo>
                    <a:pt x="0" y="2014668"/>
                  </a:lnTo>
                  <a:lnTo>
                    <a:pt x="0" y="0"/>
                  </a:lnTo>
                  <a:lnTo>
                    <a:pt x="213172" y="0"/>
                  </a:lnTo>
                  <a:lnTo>
                    <a:pt x="213172" y="2014668"/>
                  </a:lnTo>
                  <a:close/>
                </a:path>
              </a:pathLst>
            </a:custGeom>
            <a:solidFill>
              <a:srgbClr val="F4CCCC">
                <a:alpha val="5191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435044" y="1190847"/>
              <a:ext cx="743585" cy="2758440"/>
            </a:xfrm>
            <a:custGeom>
              <a:avLst/>
              <a:gdLst/>
              <a:ahLst/>
              <a:cxnLst/>
              <a:rect l="l" t="t" r="r" b="b"/>
              <a:pathLst>
                <a:path w="743585" h="2758440">
                  <a:moveTo>
                    <a:pt x="0" y="2757894"/>
                  </a:moveTo>
                  <a:lnTo>
                    <a:pt x="0" y="743226"/>
                  </a:lnTo>
                  <a:lnTo>
                    <a:pt x="743226" y="0"/>
                  </a:lnTo>
                  <a:lnTo>
                    <a:pt x="743226" y="2014670"/>
                  </a:lnTo>
                  <a:lnTo>
                    <a:pt x="0" y="2757894"/>
                  </a:lnTo>
                  <a:close/>
                </a:path>
              </a:pathLst>
            </a:custGeom>
            <a:solidFill>
              <a:srgbClr val="C3A3A3">
                <a:alpha val="5191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221872" y="1190847"/>
              <a:ext cx="956944" cy="743585"/>
            </a:xfrm>
            <a:custGeom>
              <a:avLst/>
              <a:gdLst/>
              <a:ahLst/>
              <a:cxnLst/>
              <a:rect l="l" t="t" r="r" b="b"/>
              <a:pathLst>
                <a:path w="956944" h="743585">
                  <a:moveTo>
                    <a:pt x="213172" y="743226"/>
                  </a:moveTo>
                  <a:lnTo>
                    <a:pt x="0" y="743226"/>
                  </a:lnTo>
                  <a:lnTo>
                    <a:pt x="743226" y="0"/>
                  </a:lnTo>
                  <a:lnTo>
                    <a:pt x="956398" y="0"/>
                  </a:lnTo>
                  <a:lnTo>
                    <a:pt x="213172" y="743226"/>
                  </a:lnTo>
                  <a:close/>
                </a:path>
              </a:pathLst>
            </a:custGeom>
            <a:solidFill>
              <a:srgbClr val="F6D6D6">
                <a:alpha val="5191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221872" y="1190847"/>
              <a:ext cx="956944" cy="2758440"/>
            </a:xfrm>
            <a:custGeom>
              <a:avLst/>
              <a:gdLst/>
              <a:ahLst/>
              <a:cxnLst/>
              <a:rect l="l" t="t" r="r" b="b"/>
              <a:pathLst>
                <a:path w="956944" h="2758440">
                  <a:moveTo>
                    <a:pt x="0" y="743226"/>
                  </a:moveTo>
                  <a:lnTo>
                    <a:pt x="743226" y="0"/>
                  </a:lnTo>
                  <a:lnTo>
                    <a:pt x="956398" y="0"/>
                  </a:lnTo>
                  <a:lnTo>
                    <a:pt x="956398" y="2014670"/>
                  </a:lnTo>
                  <a:lnTo>
                    <a:pt x="213172" y="2757894"/>
                  </a:lnTo>
                  <a:lnTo>
                    <a:pt x="0" y="2757894"/>
                  </a:lnTo>
                  <a:lnTo>
                    <a:pt x="0" y="743226"/>
                  </a:lnTo>
                  <a:close/>
                </a:path>
                <a:path w="956944" h="2758440">
                  <a:moveTo>
                    <a:pt x="0" y="743226"/>
                  </a:moveTo>
                  <a:lnTo>
                    <a:pt x="213172" y="743226"/>
                  </a:lnTo>
                  <a:lnTo>
                    <a:pt x="956398" y="0"/>
                  </a:lnTo>
                </a:path>
                <a:path w="956944" h="2758440">
                  <a:moveTo>
                    <a:pt x="213172" y="743226"/>
                  </a:moveTo>
                  <a:lnTo>
                    <a:pt x="213172" y="2757894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5" name="object 35"/>
          <p:cNvGrpSpPr/>
          <p:nvPr/>
        </p:nvGrpSpPr>
        <p:grpSpPr>
          <a:xfrm>
            <a:off x="3971892" y="2552607"/>
            <a:ext cx="2357120" cy="41275"/>
            <a:chOff x="3971892" y="2552607"/>
            <a:chExt cx="2357120" cy="41275"/>
          </a:xfrm>
        </p:grpSpPr>
        <p:sp>
          <p:nvSpPr>
            <p:cNvPr id="36" name="object 36"/>
            <p:cNvSpPr/>
            <p:nvPr/>
          </p:nvSpPr>
          <p:spPr>
            <a:xfrm>
              <a:off x="3971892" y="2573094"/>
              <a:ext cx="2308860" cy="0"/>
            </a:xfrm>
            <a:custGeom>
              <a:avLst/>
              <a:gdLst/>
              <a:ahLst/>
              <a:cxnLst/>
              <a:rect l="l" t="t" r="r" b="b"/>
              <a:pathLst>
                <a:path w="2308860">
                  <a:moveTo>
                    <a:pt x="0" y="0"/>
                  </a:moveTo>
                  <a:lnTo>
                    <a:pt x="2308645" y="0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6280537" y="2557369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49"/>
                  </a:moveTo>
                  <a:lnTo>
                    <a:pt x="0" y="0"/>
                  </a:lnTo>
                  <a:lnTo>
                    <a:pt x="43224" y="15724"/>
                  </a:lnTo>
                  <a:lnTo>
                    <a:pt x="0" y="31449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6280537" y="2557369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49"/>
                  </a:moveTo>
                  <a:lnTo>
                    <a:pt x="43224" y="15724"/>
                  </a:lnTo>
                  <a:lnTo>
                    <a:pt x="0" y="0"/>
                  </a:lnTo>
                  <a:lnTo>
                    <a:pt x="0" y="31449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3915440" y="2774823"/>
            <a:ext cx="2413000" cy="57594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>
              <a:lnSpc>
                <a:spcPct val="100699"/>
              </a:lnSpc>
              <a:spcBef>
                <a:spcPts val="85"/>
              </a:spcBef>
            </a:pPr>
            <a:r>
              <a:rPr sz="1800" dirty="0">
                <a:latin typeface="Arial"/>
                <a:cs typeface="Arial"/>
              </a:rPr>
              <a:t>convolve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(slide)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over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all </a:t>
            </a:r>
            <a:r>
              <a:rPr sz="1800" dirty="0">
                <a:latin typeface="Arial"/>
                <a:cs typeface="Arial"/>
              </a:rPr>
              <a:t>spatial</a:t>
            </a:r>
            <a:r>
              <a:rPr sz="1800" spc="-3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locations</a:t>
            </a:r>
            <a:endParaRPr sz="180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7122910" y="816154"/>
            <a:ext cx="17513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Arial"/>
                <a:cs typeface="Arial"/>
              </a:rPr>
              <a:t>activation</a:t>
            </a:r>
            <a:r>
              <a:rPr sz="1800" b="1" spc="-50" dirty="0">
                <a:latin typeface="Arial"/>
                <a:cs typeface="Arial"/>
              </a:rPr>
              <a:t> </a:t>
            </a:r>
            <a:r>
              <a:rPr sz="1800" b="1" spc="-20" dirty="0">
                <a:latin typeface="Arial"/>
                <a:cs typeface="Arial"/>
              </a:rPr>
              <a:t>maps</a:t>
            </a:r>
            <a:endParaRPr sz="180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7410432" y="3968199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8077942" y="3512523"/>
            <a:ext cx="280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Arial"/>
                <a:cs typeface="Arial"/>
              </a:rPr>
              <a:t>28</a:t>
            </a:r>
            <a:endParaRPr sz="1800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8482334" y="2101540"/>
            <a:ext cx="280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Arial"/>
                <a:cs typeface="Arial"/>
              </a:rPr>
              <a:t>28</a:t>
            </a:r>
            <a:endParaRPr sz="1800">
              <a:latin typeface="Arial"/>
              <a:cs typeface="Arial"/>
            </a:endParaRPr>
          </a:p>
        </p:txBody>
      </p:sp>
      <p:sp>
        <p:nvSpPr>
          <p:cNvPr id="44" name="object 44"/>
          <p:cNvSpPr txBox="1">
            <a:spLocks noGrp="1"/>
          </p:cNvSpPr>
          <p:nvPr>
            <p:ph type="title"/>
          </p:nvPr>
        </p:nvSpPr>
        <p:spPr>
          <a:xfrm>
            <a:off x="4184568" y="4932"/>
            <a:ext cx="41090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/>
              <a:t>consider</a:t>
            </a:r>
            <a:r>
              <a:rPr sz="2400" spc="-80" dirty="0"/>
              <a:t> </a:t>
            </a:r>
            <a:r>
              <a:rPr sz="2400" dirty="0"/>
              <a:t>a</a:t>
            </a:r>
            <a:r>
              <a:rPr sz="2400" spc="-80" dirty="0"/>
              <a:t> </a:t>
            </a:r>
            <a:r>
              <a:rPr sz="2400" dirty="0"/>
              <a:t>second,</a:t>
            </a:r>
            <a:r>
              <a:rPr sz="2400" spc="-60" dirty="0"/>
              <a:t> </a:t>
            </a:r>
            <a:r>
              <a:rPr sz="2400" dirty="0">
                <a:solidFill>
                  <a:srgbClr val="38751C"/>
                </a:solidFill>
              </a:rPr>
              <a:t>green</a:t>
            </a:r>
            <a:r>
              <a:rPr sz="2400" spc="-75" dirty="0">
                <a:solidFill>
                  <a:srgbClr val="38751C"/>
                </a:solidFill>
              </a:rPr>
              <a:t> </a:t>
            </a:r>
            <a:r>
              <a:rPr sz="2400" spc="-10" dirty="0"/>
              <a:t>filter</a:t>
            </a:r>
            <a:endParaRPr sz="2400"/>
          </a:p>
        </p:txBody>
      </p:sp>
      <p:sp>
        <p:nvSpPr>
          <p:cNvPr id="49" name="object 10">
            <a:extLst>
              <a:ext uri="{FF2B5EF4-FFF2-40B4-BE49-F238E27FC236}">
                <a16:creationId xmlns:a16="http://schemas.microsoft.com/office/drawing/2014/main" id="{89DB1722-5E75-8945-BEB6-87C0D7B5A344}"/>
              </a:ext>
            </a:extLst>
          </p:cNvPr>
          <p:cNvSpPr txBox="1">
            <a:spLocks noGrp="1"/>
          </p:cNvSpPr>
          <p:nvPr>
            <p:ph type="dt" sz="half" idx="4294967295"/>
          </p:nvPr>
        </p:nvSpPr>
        <p:spPr>
          <a:xfrm>
            <a:off x="145224" y="4740846"/>
            <a:ext cx="4699000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lang="en-US" altLang="zh-CN" spc="-10" dirty="0">
                <a:solidFill>
                  <a:schemeClr val="bg1"/>
                </a:solidFill>
              </a:rPr>
              <a:t>Convolutional</a:t>
            </a:r>
            <a:r>
              <a:rPr lang="zh-CN" altLang="en-US" spc="-10" dirty="0">
                <a:solidFill>
                  <a:schemeClr val="bg1"/>
                </a:solidFill>
              </a:rPr>
              <a:t> </a:t>
            </a:r>
            <a:r>
              <a:rPr lang="en-US" altLang="zh-CN" spc="-10" dirty="0">
                <a:solidFill>
                  <a:schemeClr val="bg1"/>
                </a:solidFill>
              </a:rPr>
              <a:t>Neural</a:t>
            </a:r>
            <a:r>
              <a:rPr lang="zh-CN" altLang="en-US" spc="-10" dirty="0">
                <a:solidFill>
                  <a:schemeClr val="bg1"/>
                </a:solidFill>
              </a:rPr>
              <a:t> </a:t>
            </a:r>
            <a:r>
              <a:rPr lang="en-US" altLang="zh-CN" spc="-10" dirty="0">
                <a:solidFill>
                  <a:schemeClr val="bg1"/>
                </a:solidFill>
              </a:rPr>
              <a:t>Networks</a:t>
            </a:r>
            <a:endParaRPr spc="-1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212347" y="952723"/>
            <a:ext cx="975994" cy="2777490"/>
            <a:chOff x="1212347" y="952723"/>
            <a:chExt cx="975994" cy="2777490"/>
          </a:xfrm>
        </p:grpSpPr>
        <p:sp>
          <p:nvSpPr>
            <p:cNvPr id="3" name="object 3"/>
            <p:cNvSpPr/>
            <p:nvPr/>
          </p:nvSpPr>
          <p:spPr>
            <a:xfrm>
              <a:off x="1221872" y="1705474"/>
              <a:ext cx="213360" cy="2014855"/>
            </a:xfrm>
            <a:custGeom>
              <a:avLst/>
              <a:gdLst/>
              <a:ahLst/>
              <a:cxnLst/>
              <a:rect l="l" t="t" r="r" b="b"/>
              <a:pathLst>
                <a:path w="213359" h="2014854">
                  <a:moveTo>
                    <a:pt x="213172" y="2014668"/>
                  </a:moveTo>
                  <a:lnTo>
                    <a:pt x="0" y="2014668"/>
                  </a:lnTo>
                  <a:lnTo>
                    <a:pt x="0" y="0"/>
                  </a:lnTo>
                  <a:lnTo>
                    <a:pt x="213172" y="0"/>
                  </a:lnTo>
                  <a:lnTo>
                    <a:pt x="213172" y="2014668"/>
                  </a:lnTo>
                  <a:close/>
                </a:path>
              </a:pathLst>
            </a:custGeom>
            <a:solidFill>
              <a:srgbClr val="F4CCCC">
                <a:alpha val="5191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435044" y="962248"/>
              <a:ext cx="743585" cy="2758440"/>
            </a:xfrm>
            <a:custGeom>
              <a:avLst/>
              <a:gdLst/>
              <a:ahLst/>
              <a:cxnLst/>
              <a:rect l="l" t="t" r="r" b="b"/>
              <a:pathLst>
                <a:path w="743585" h="2758440">
                  <a:moveTo>
                    <a:pt x="0" y="2757894"/>
                  </a:moveTo>
                  <a:lnTo>
                    <a:pt x="0" y="743226"/>
                  </a:lnTo>
                  <a:lnTo>
                    <a:pt x="743226" y="0"/>
                  </a:lnTo>
                  <a:lnTo>
                    <a:pt x="743226" y="2014670"/>
                  </a:lnTo>
                  <a:lnTo>
                    <a:pt x="0" y="2757894"/>
                  </a:lnTo>
                  <a:close/>
                </a:path>
              </a:pathLst>
            </a:custGeom>
            <a:solidFill>
              <a:srgbClr val="C3A3A3">
                <a:alpha val="5191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221872" y="962248"/>
              <a:ext cx="956944" cy="743585"/>
            </a:xfrm>
            <a:custGeom>
              <a:avLst/>
              <a:gdLst/>
              <a:ahLst/>
              <a:cxnLst/>
              <a:rect l="l" t="t" r="r" b="b"/>
              <a:pathLst>
                <a:path w="956944" h="743585">
                  <a:moveTo>
                    <a:pt x="213172" y="743226"/>
                  </a:moveTo>
                  <a:lnTo>
                    <a:pt x="0" y="743226"/>
                  </a:lnTo>
                  <a:lnTo>
                    <a:pt x="743226" y="0"/>
                  </a:lnTo>
                  <a:lnTo>
                    <a:pt x="956398" y="0"/>
                  </a:lnTo>
                  <a:lnTo>
                    <a:pt x="213172" y="743226"/>
                  </a:lnTo>
                  <a:close/>
                </a:path>
              </a:pathLst>
            </a:custGeom>
            <a:solidFill>
              <a:srgbClr val="F6D6D6">
                <a:alpha val="5191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221872" y="962248"/>
              <a:ext cx="956944" cy="2758440"/>
            </a:xfrm>
            <a:custGeom>
              <a:avLst/>
              <a:gdLst/>
              <a:ahLst/>
              <a:cxnLst/>
              <a:rect l="l" t="t" r="r" b="b"/>
              <a:pathLst>
                <a:path w="956944" h="2758440">
                  <a:moveTo>
                    <a:pt x="0" y="743226"/>
                  </a:moveTo>
                  <a:lnTo>
                    <a:pt x="743226" y="0"/>
                  </a:lnTo>
                  <a:lnTo>
                    <a:pt x="956398" y="0"/>
                  </a:lnTo>
                  <a:lnTo>
                    <a:pt x="956398" y="2014670"/>
                  </a:lnTo>
                  <a:lnTo>
                    <a:pt x="213172" y="2757894"/>
                  </a:lnTo>
                  <a:lnTo>
                    <a:pt x="0" y="2757894"/>
                  </a:lnTo>
                  <a:lnTo>
                    <a:pt x="0" y="743226"/>
                  </a:lnTo>
                  <a:close/>
                </a:path>
                <a:path w="956944" h="2758440">
                  <a:moveTo>
                    <a:pt x="0" y="743226"/>
                  </a:moveTo>
                  <a:lnTo>
                    <a:pt x="213172" y="743226"/>
                  </a:lnTo>
                  <a:lnTo>
                    <a:pt x="956398" y="0"/>
                  </a:lnTo>
                </a:path>
                <a:path w="956944" h="2758440">
                  <a:moveTo>
                    <a:pt x="213172" y="743226"/>
                  </a:moveTo>
                  <a:lnTo>
                    <a:pt x="213172" y="2757894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5693813" y="952723"/>
            <a:ext cx="1125220" cy="2777490"/>
            <a:chOff x="5693813" y="952723"/>
            <a:chExt cx="1125220" cy="2777490"/>
          </a:xfrm>
        </p:grpSpPr>
        <p:sp>
          <p:nvSpPr>
            <p:cNvPr id="8" name="object 8"/>
            <p:cNvSpPr/>
            <p:nvPr/>
          </p:nvSpPr>
          <p:spPr>
            <a:xfrm>
              <a:off x="5703338" y="1826421"/>
              <a:ext cx="92710" cy="1894205"/>
            </a:xfrm>
            <a:custGeom>
              <a:avLst/>
              <a:gdLst/>
              <a:ahLst/>
              <a:cxnLst/>
              <a:rect l="l" t="t" r="r" b="b"/>
              <a:pathLst>
                <a:path w="92710" h="1894204">
                  <a:moveTo>
                    <a:pt x="92224" y="1893721"/>
                  </a:moveTo>
                  <a:lnTo>
                    <a:pt x="0" y="1893721"/>
                  </a:lnTo>
                  <a:lnTo>
                    <a:pt x="0" y="0"/>
                  </a:lnTo>
                  <a:lnTo>
                    <a:pt x="92224" y="0"/>
                  </a:lnTo>
                  <a:lnTo>
                    <a:pt x="92224" y="1893721"/>
                  </a:lnTo>
                  <a:close/>
                </a:path>
              </a:pathLst>
            </a:custGeom>
            <a:solidFill>
              <a:srgbClr val="C8D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795563" y="962248"/>
              <a:ext cx="864235" cy="2758440"/>
            </a:xfrm>
            <a:custGeom>
              <a:avLst/>
              <a:gdLst/>
              <a:ahLst/>
              <a:cxnLst/>
              <a:rect l="l" t="t" r="r" b="b"/>
              <a:pathLst>
                <a:path w="864234" h="2758440">
                  <a:moveTo>
                    <a:pt x="0" y="2757894"/>
                  </a:moveTo>
                  <a:lnTo>
                    <a:pt x="0" y="864173"/>
                  </a:lnTo>
                  <a:lnTo>
                    <a:pt x="864173" y="0"/>
                  </a:lnTo>
                  <a:lnTo>
                    <a:pt x="864173" y="1893721"/>
                  </a:lnTo>
                  <a:lnTo>
                    <a:pt x="0" y="2757894"/>
                  </a:lnTo>
                  <a:close/>
                </a:path>
              </a:pathLst>
            </a:custGeom>
            <a:solidFill>
              <a:srgbClr val="A0AE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703338" y="962248"/>
              <a:ext cx="956944" cy="864235"/>
            </a:xfrm>
            <a:custGeom>
              <a:avLst/>
              <a:gdLst/>
              <a:ahLst/>
              <a:cxnLst/>
              <a:rect l="l" t="t" r="r" b="b"/>
              <a:pathLst>
                <a:path w="956945" h="864235">
                  <a:moveTo>
                    <a:pt x="92224" y="864173"/>
                  </a:moveTo>
                  <a:lnTo>
                    <a:pt x="0" y="864173"/>
                  </a:lnTo>
                  <a:lnTo>
                    <a:pt x="864173" y="0"/>
                  </a:lnTo>
                  <a:lnTo>
                    <a:pt x="956398" y="0"/>
                  </a:lnTo>
                  <a:lnTo>
                    <a:pt x="92224" y="864173"/>
                  </a:lnTo>
                  <a:close/>
                </a:path>
              </a:pathLst>
            </a:custGeom>
            <a:solidFill>
              <a:srgbClr val="D3E1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703338" y="962248"/>
              <a:ext cx="956944" cy="2758440"/>
            </a:xfrm>
            <a:custGeom>
              <a:avLst/>
              <a:gdLst/>
              <a:ahLst/>
              <a:cxnLst/>
              <a:rect l="l" t="t" r="r" b="b"/>
              <a:pathLst>
                <a:path w="956945" h="2758440">
                  <a:moveTo>
                    <a:pt x="0" y="864173"/>
                  </a:moveTo>
                  <a:lnTo>
                    <a:pt x="864173" y="0"/>
                  </a:lnTo>
                  <a:lnTo>
                    <a:pt x="956398" y="0"/>
                  </a:lnTo>
                  <a:lnTo>
                    <a:pt x="956398" y="1893721"/>
                  </a:lnTo>
                  <a:lnTo>
                    <a:pt x="92224" y="2757894"/>
                  </a:lnTo>
                  <a:lnTo>
                    <a:pt x="0" y="2757894"/>
                  </a:lnTo>
                  <a:lnTo>
                    <a:pt x="0" y="864173"/>
                  </a:lnTo>
                  <a:close/>
                </a:path>
                <a:path w="956945" h="2758440">
                  <a:moveTo>
                    <a:pt x="0" y="864173"/>
                  </a:moveTo>
                  <a:lnTo>
                    <a:pt x="92224" y="864173"/>
                  </a:lnTo>
                  <a:lnTo>
                    <a:pt x="956398" y="0"/>
                  </a:lnTo>
                </a:path>
                <a:path w="956945" h="2758440">
                  <a:moveTo>
                    <a:pt x="92224" y="864173"/>
                  </a:moveTo>
                  <a:lnTo>
                    <a:pt x="92224" y="2757894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852713" y="1826421"/>
              <a:ext cx="92710" cy="1894205"/>
            </a:xfrm>
            <a:custGeom>
              <a:avLst/>
              <a:gdLst/>
              <a:ahLst/>
              <a:cxnLst/>
              <a:rect l="l" t="t" r="r" b="b"/>
              <a:pathLst>
                <a:path w="92710" h="1894204">
                  <a:moveTo>
                    <a:pt x="92224" y="1893721"/>
                  </a:moveTo>
                  <a:lnTo>
                    <a:pt x="0" y="1893721"/>
                  </a:lnTo>
                  <a:lnTo>
                    <a:pt x="0" y="0"/>
                  </a:lnTo>
                  <a:lnTo>
                    <a:pt x="92224" y="0"/>
                  </a:lnTo>
                  <a:lnTo>
                    <a:pt x="92224" y="1893721"/>
                  </a:lnTo>
                  <a:close/>
                </a:path>
              </a:pathLst>
            </a:custGeom>
            <a:solidFill>
              <a:srgbClr val="D8E9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944938" y="962248"/>
              <a:ext cx="864235" cy="2758440"/>
            </a:xfrm>
            <a:custGeom>
              <a:avLst/>
              <a:gdLst/>
              <a:ahLst/>
              <a:cxnLst/>
              <a:rect l="l" t="t" r="r" b="b"/>
              <a:pathLst>
                <a:path w="864234" h="2758440">
                  <a:moveTo>
                    <a:pt x="0" y="2757894"/>
                  </a:moveTo>
                  <a:lnTo>
                    <a:pt x="0" y="864173"/>
                  </a:lnTo>
                  <a:lnTo>
                    <a:pt x="864173" y="0"/>
                  </a:lnTo>
                  <a:lnTo>
                    <a:pt x="864173" y="1893721"/>
                  </a:lnTo>
                  <a:lnTo>
                    <a:pt x="0" y="2757894"/>
                  </a:lnTo>
                  <a:close/>
                </a:path>
              </a:pathLst>
            </a:custGeom>
            <a:solidFill>
              <a:srgbClr val="ACBA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852713" y="962248"/>
              <a:ext cx="956944" cy="864235"/>
            </a:xfrm>
            <a:custGeom>
              <a:avLst/>
              <a:gdLst/>
              <a:ahLst/>
              <a:cxnLst/>
              <a:rect l="l" t="t" r="r" b="b"/>
              <a:pathLst>
                <a:path w="956945" h="864235">
                  <a:moveTo>
                    <a:pt x="92224" y="864173"/>
                  </a:moveTo>
                  <a:lnTo>
                    <a:pt x="0" y="864173"/>
                  </a:lnTo>
                  <a:lnTo>
                    <a:pt x="864173" y="0"/>
                  </a:lnTo>
                  <a:lnTo>
                    <a:pt x="956398" y="0"/>
                  </a:lnTo>
                  <a:lnTo>
                    <a:pt x="92224" y="864173"/>
                  </a:lnTo>
                  <a:close/>
                </a:path>
              </a:pathLst>
            </a:custGeom>
            <a:solidFill>
              <a:srgbClr val="DFEDD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852713" y="962248"/>
              <a:ext cx="956944" cy="2758440"/>
            </a:xfrm>
            <a:custGeom>
              <a:avLst/>
              <a:gdLst/>
              <a:ahLst/>
              <a:cxnLst/>
              <a:rect l="l" t="t" r="r" b="b"/>
              <a:pathLst>
                <a:path w="956945" h="2758440">
                  <a:moveTo>
                    <a:pt x="0" y="864173"/>
                  </a:moveTo>
                  <a:lnTo>
                    <a:pt x="864173" y="0"/>
                  </a:lnTo>
                  <a:lnTo>
                    <a:pt x="956398" y="0"/>
                  </a:lnTo>
                  <a:lnTo>
                    <a:pt x="956398" y="1893721"/>
                  </a:lnTo>
                  <a:lnTo>
                    <a:pt x="92224" y="2757894"/>
                  </a:lnTo>
                  <a:lnTo>
                    <a:pt x="0" y="2757894"/>
                  </a:lnTo>
                  <a:lnTo>
                    <a:pt x="0" y="864173"/>
                  </a:lnTo>
                  <a:close/>
                </a:path>
                <a:path w="956945" h="2758440">
                  <a:moveTo>
                    <a:pt x="0" y="864173"/>
                  </a:moveTo>
                  <a:lnTo>
                    <a:pt x="92224" y="864173"/>
                  </a:lnTo>
                  <a:lnTo>
                    <a:pt x="956398" y="0"/>
                  </a:lnTo>
                </a:path>
                <a:path w="956945" h="2758440">
                  <a:moveTo>
                    <a:pt x="92224" y="864173"/>
                  </a:moveTo>
                  <a:lnTo>
                    <a:pt x="92224" y="2757894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1907517" y="3326120"/>
            <a:ext cx="280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Arial"/>
                <a:cs typeface="Arial"/>
              </a:rPr>
              <a:t>32</a:t>
            </a:r>
            <a:endParaRPr sz="18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271819" y="1252950"/>
            <a:ext cx="280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Arial"/>
                <a:cs typeface="Arial"/>
              </a:rPr>
              <a:t>32</a:t>
            </a:r>
            <a:endParaRPr sz="18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236910" y="3717758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Arial"/>
                <a:cs typeface="Arial"/>
              </a:rPr>
              <a:t>3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2828894" y="2324000"/>
            <a:ext cx="2357120" cy="41275"/>
            <a:chOff x="2828894" y="2324000"/>
            <a:chExt cx="2357120" cy="41275"/>
          </a:xfrm>
        </p:grpSpPr>
        <p:sp>
          <p:nvSpPr>
            <p:cNvPr id="20" name="object 20"/>
            <p:cNvSpPr/>
            <p:nvPr/>
          </p:nvSpPr>
          <p:spPr>
            <a:xfrm>
              <a:off x="2828894" y="2344495"/>
              <a:ext cx="2308860" cy="0"/>
            </a:xfrm>
            <a:custGeom>
              <a:avLst/>
              <a:gdLst/>
              <a:ahLst/>
              <a:cxnLst/>
              <a:rect l="l" t="t" r="r" b="b"/>
              <a:pathLst>
                <a:path w="2308860">
                  <a:moveTo>
                    <a:pt x="0" y="0"/>
                  </a:moveTo>
                  <a:lnTo>
                    <a:pt x="2308645" y="0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137539" y="232876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4"/>
                  </a:moveTo>
                  <a:lnTo>
                    <a:pt x="0" y="0"/>
                  </a:lnTo>
                  <a:lnTo>
                    <a:pt x="43224" y="15732"/>
                  </a:lnTo>
                  <a:lnTo>
                    <a:pt x="0" y="31464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137539" y="232876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4"/>
                  </a:moveTo>
                  <a:lnTo>
                    <a:pt x="43224" y="15732"/>
                  </a:lnTo>
                  <a:lnTo>
                    <a:pt x="0" y="0"/>
                  </a:lnTo>
                  <a:lnTo>
                    <a:pt x="0" y="31464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2924842" y="2393824"/>
            <a:ext cx="1867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Convolution</a:t>
            </a:r>
            <a:r>
              <a:rPr sz="1800" spc="-5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Layer</a:t>
            </a:r>
            <a:endParaRPr sz="18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903713" y="587554"/>
            <a:ext cx="17513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Arial"/>
                <a:cs typeface="Arial"/>
              </a:rPr>
              <a:t>activation</a:t>
            </a:r>
            <a:r>
              <a:rPr sz="1800" b="1" spc="-50" dirty="0">
                <a:latin typeface="Arial"/>
                <a:cs typeface="Arial"/>
              </a:rPr>
              <a:t> </a:t>
            </a:r>
            <a:r>
              <a:rPr sz="1800" b="1" spc="-20" dirty="0">
                <a:latin typeface="Arial"/>
                <a:cs typeface="Arial"/>
              </a:rPr>
              <a:t>maps</a:t>
            </a:r>
            <a:endParaRPr sz="18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038834" y="3739599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Arial"/>
                <a:cs typeface="Arial"/>
              </a:rPr>
              <a:t>6</a:t>
            </a:r>
            <a:endParaRPr sz="18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094411" y="3303146"/>
            <a:ext cx="280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Arial"/>
                <a:cs typeface="Arial"/>
              </a:rPr>
              <a:t>28</a:t>
            </a:r>
            <a:endParaRPr sz="18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586110" y="1722837"/>
            <a:ext cx="280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Arial"/>
                <a:cs typeface="Arial"/>
              </a:rPr>
              <a:t>28</a:t>
            </a:r>
            <a:endParaRPr sz="1800">
              <a:latin typeface="Arial"/>
              <a:cs typeface="Arial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title"/>
          </p:nvPr>
        </p:nvSpPr>
        <p:spPr>
          <a:xfrm>
            <a:off x="349349" y="157839"/>
            <a:ext cx="819023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/>
              <a:t>For</a:t>
            </a:r>
            <a:r>
              <a:rPr sz="2000" spc="-35" dirty="0"/>
              <a:t> </a:t>
            </a:r>
            <a:r>
              <a:rPr sz="2000" dirty="0"/>
              <a:t>example,</a:t>
            </a:r>
            <a:r>
              <a:rPr sz="2000" spc="-35" dirty="0"/>
              <a:t> </a:t>
            </a:r>
            <a:r>
              <a:rPr sz="2000" dirty="0"/>
              <a:t>if</a:t>
            </a:r>
            <a:r>
              <a:rPr sz="2000" spc="-30" dirty="0"/>
              <a:t> </a:t>
            </a:r>
            <a:r>
              <a:rPr sz="2000" dirty="0"/>
              <a:t>we</a:t>
            </a:r>
            <a:r>
              <a:rPr sz="2000" spc="-35" dirty="0"/>
              <a:t> </a:t>
            </a:r>
            <a:r>
              <a:rPr sz="2000" dirty="0"/>
              <a:t>had</a:t>
            </a:r>
            <a:r>
              <a:rPr sz="2000" spc="-30" dirty="0"/>
              <a:t> </a:t>
            </a:r>
            <a:r>
              <a:rPr sz="2000" dirty="0"/>
              <a:t>6</a:t>
            </a:r>
            <a:r>
              <a:rPr sz="2000" spc="-35" dirty="0"/>
              <a:t> </a:t>
            </a:r>
            <a:r>
              <a:rPr sz="2000" dirty="0"/>
              <a:t>5x5</a:t>
            </a:r>
            <a:r>
              <a:rPr sz="2000" spc="-35" dirty="0"/>
              <a:t> </a:t>
            </a:r>
            <a:r>
              <a:rPr sz="2000" dirty="0"/>
              <a:t>filters,</a:t>
            </a:r>
            <a:r>
              <a:rPr sz="2000" spc="-30" dirty="0"/>
              <a:t> </a:t>
            </a:r>
            <a:r>
              <a:rPr sz="2000" dirty="0"/>
              <a:t>we’ll</a:t>
            </a:r>
            <a:r>
              <a:rPr sz="2000" spc="-35" dirty="0"/>
              <a:t> </a:t>
            </a:r>
            <a:r>
              <a:rPr sz="2000" dirty="0"/>
              <a:t>get</a:t>
            </a:r>
            <a:r>
              <a:rPr sz="2000" spc="-30" dirty="0"/>
              <a:t> </a:t>
            </a:r>
            <a:r>
              <a:rPr sz="2000" dirty="0"/>
              <a:t>6</a:t>
            </a:r>
            <a:r>
              <a:rPr sz="2000" spc="-35" dirty="0"/>
              <a:t> </a:t>
            </a:r>
            <a:r>
              <a:rPr sz="2000" dirty="0"/>
              <a:t>separate</a:t>
            </a:r>
            <a:r>
              <a:rPr sz="2000" spc="-30" dirty="0"/>
              <a:t> </a:t>
            </a:r>
            <a:r>
              <a:rPr sz="2000" dirty="0"/>
              <a:t>activation</a:t>
            </a:r>
            <a:r>
              <a:rPr sz="2000" spc="-35" dirty="0"/>
              <a:t> </a:t>
            </a:r>
            <a:r>
              <a:rPr sz="2000" spc="-10" dirty="0"/>
              <a:t>maps:</a:t>
            </a:r>
            <a:endParaRPr sz="2000"/>
          </a:p>
        </p:txBody>
      </p:sp>
      <p:grpSp>
        <p:nvGrpSpPr>
          <p:cNvPr id="29" name="object 29"/>
          <p:cNvGrpSpPr/>
          <p:nvPr/>
        </p:nvGrpSpPr>
        <p:grpSpPr>
          <a:xfrm>
            <a:off x="5995587" y="952723"/>
            <a:ext cx="1433195" cy="2777490"/>
            <a:chOff x="5995587" y="952723"/>
            <a:chExt cx="1433195" cy="2777490"/>
          </a:xfrm>
        </p:grpSpPr>
        <p:sp>
          <p:nvSpPr>
            <p:cNvPr id="30" name="object 30"/>
            <p:cNvSpPr/>
            <p:nvPr/>
          </p:nvSpPr>
          <p:spPr>
            <a:xfrm>
              <a:off x="6005112" y="1826421"/>
              <a:ext cx="92710" cy="1894205"/>
            </a:xfrm>
            <a:custGeom>
              <a:avLst/>
              <a:gdLst/>
              <a:ahLst/>
              <a:cxnLst/>
              <a:rect l="l" t="t" r="r" b="b"/>
              <a:pathLst>
                <a:path w="92710" h="1894204">
                  <a:moveTo>
                    <a:pt x="92224" y="1893721"/>
                  </a:moveTo>
                  <a:lnTo>
                    <a:pt x="0" y="1893721"/>
                  </a:lnTo>
                  <a:lnTo>
                    <a:pt x="0" y="0"/>
                  </a:lnTo>
                  <a:lnTo>
                    <a:pt x="92224" y="0"/>
                  </a:lnTo>
                  <a:lnTo>
                    <a:pt x="92224" y="1893721"/>
                  </a:lnTo>
                  <a:close/>
                </a:path>
              </a:pathLst>
            </a:custGeom>
            <a:solidFill>
              <a:srgbClr val="F4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097337" y="962248"/>
              <a:ext cx="864235" cy="2758440"/>
            </a:xfrm>
            <a:custGeom>
              <a:avLst/>
              <a:gdLst/>
              <a:ahLst/>
              <a:cxnLst/>
              <a:rect l="l" t="t" r="r" b="b"/>
              <a:pathLst>
                <a:path w="864234" h="2758440">
                  <a:moveTo>
                    <a:pt x="0" y="2757894"/>
                  </a:moveTo>
                  <a:lnTo>
                    <a:pt x="0" y="864173"/>
                  </a:lnTo>
                  <a:lnTo>
                    <a:pt x="864173" y="0"/>
                  </a:lnTo>
                  <a:lnTo>
                    <a:pt x="864173" y="1893721"/>
                  </a:lnTo>
                  <a:lnTo>
                    <a:pt x="0" y="2757894"/>
                  </a:lnTo>
                  <a:close/>
                </a:path>
              </a:pathLst>
            </a:custGeom>
            <a:solidFill>
              <a:srgbClr val="C3A3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005112" y="962248"/>
              <a:ext cx="956944" cy="864235"/>
            </a:xfrm>
            <a:custGeom>
              <a:avLst/>
              <a:gdLst/>
              <a:ahLst/>
              <a:cxnLst/>
              <a:rect l="l" t="t" r="r" b="b"/>
              <a:pathLst>
                <a:path w="956945" h="864235">
                  <a:moveTo>
                    <a:pt x="92224" y="864173"/>
                  </a:moveTo>
                  <a:lnTo>
                    <a:pt x="0" y="864173"/>
                  </a:lnTo>
                  <a:lnTo>
                    <a:pt x="864173" y="0"/>
                  </a:lnTo>
                  <a:lnTo>
                    <a:pt x="956398" y="0"/>
                  </a:lnTo>
                  <a:lnTo>
                    <a:pt x="92224" y="864173"/>
                  </a:lnTo>
                  <a:close/>
                </a:path>
              </a:pathLst>
            </a:custGeom>
            <a:solidFill>
              <a:srgbClr val="F6D6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6005112" y="962248"/>
              <a:ext cx="956944" cy="2758440"/>
            </a:xfrm>
            <a:custGeom>
              <a:avLst/>
              <a:gdLst/>
              <a:ahLst/>
              <a:cxnLst/>
              <a:rect l="l" t="t" r="r" b="b"/>
              <a:pathLst>
                <a:path w="956945" h="2758440">
                  <a:moveTo>
                    <a:pt x="0" y="864173"/>
                  </a:moveTo>
                  <a:lnTo>
                    <a:pt x="864173" y="0"/>
                  </a:lnTo>
                  <a:lnTo>
                    <a:pt x="956398" y="0"/>
                  </a:lnTo>
                  <a:lnTo>
                    <a:pt x="956398" y="1893721"/>
                  </a:lnTo>
                  <a:lnTo>
                    <a:pt x="92224" y="2757894"/>
                  </a:lnTo>
                  <a:lnTo>
                    <a:pt x="0" y="2757894"/>
                  </a:lnTo>
                  <a:lnTo>
                    <a:pt x="0" y="864173"/>
                  </a:lnTo>
                  <a:close/>
                </a:path>
                <a:path w="956945" h="2758440">
                  <a:moveTo>
                    <a:pt x="0" y="864173"/>
                  </a:moveTo>
                  <a:lnTo>
                    <a:pt x="92224" y="864173"/>
                  </a:lnTo>
                  <a:lnTo>
                    <a:pt x="956398" y="0"/>
                  </a:lnTo>
                </a:path>
                <a:path w="956945" h="2758440">
                  <a:moveTo>
                    <a:pt x="92224" y="864173"/>
                  </a:moveTo>
                  <a:lnTo>
                    <a:pt x="92224" y="2757894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6157512" y="1826421"/>
              <a:ext cx="92710" cy="1894205"/>
            </a:xfrm>
            <a:custGeom>
              <a:avLst/>
              <a:gdLst/>
              <a:ahLst/>
              <a:cxnLst/>
              <a:rect l="l" t="t" r="r" b="b"/>
              <a:pathLst>
                <a:path w="92710" h="1894204">
                  <a:moveTo>
                    <a:pt x="92224" y="1893721"/>
                  </a:moveTo>
                  <a:lnTo>
                    <a:pt x="0" y="1893721"/>
                  </a:lnTo>
                  <a:lnTo>
                    <a:pt x="0" y="0"/>
                  </a:lnTo>
                  <a:lnTo>
                    <a:pt x="92224" y="0"/>
                  </a:lnTo>
                  <a:lnTo>
                    <a:pt x="92224" y="1893721"/>
                  </a:lnTo>
                  <a:close/>
                </a:path>
              </a:pathLst>
            </a:custGeom>
            <a:solidFill>
              <a:srgbClr val="FFF2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6249737" y="962248"/>
              <a:ext cx="864235" cy="2758440"/>
            </a:xfrm>
            <a:custGeom>
              <a:avLst/>
              <a:gdLst/>
              <a:ahLst/>
              <a:cxnLst/>
              <a:rect l="l" t="t" r="r" b="b"/>
              <a:pathLst>
                <a:path w="864234" h="2758440">
                  <a:moveTo>
                    <a:pt x="0" y="2757894"/>
                  </a:moveTo>
                  <a:lnTo>
                    <a:pt x="0" y="864173"/>
                  </a:lnTo>
                  <a:lnTo>
                    <a:pt x="864173" y="0"/>
                  </a:lnTo>
                  <a:lnTo>
                    <a:pt x="864173" y="1893721"/>
                  </a:lnTo>
                  <a:lnTo>
                    <a:pt x="0" y="2757894"/>
                  </a:lnTo>
                  <a:close/>
                </a:path>
              </a:pathLst>
            </a:custGeom>
            <a:solidFill>
              <a:srgbClr val="CAC1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6157512" y="962248"/>
              <a:ext cx="956944" cy="864235"/>
            </a:xfrm>
            <a:custGeom>
              <a:avLst/>
              <a:gdLst/>
              <a:ahLst/>
              <a:cxnLst/>
              <a:rect l="l" t="t" r="r" b="b"/>
              <a:pathLst>
                <a:path w="956945" h="864235">
                  <a:moveTo>
                    <a:pt x="92224" y="864173"/>
                  </a:moveTo>
                  <a:lnTo>
                    <a:pt x="0" y="864173"/>
                  </a:lnTo>
                  <a:lnTo>
                    <a:pt x="864173" y="0"/>
                  </a:lnTo>
                  <a:lnTo>
                    <a:pt x="956398" y="0"/>
                  </a:lnTo>
                  <a:lnTo>
                    <a:pt x="92224" y="864173"/>
                  </a:lnTo>
                  <a:close/>
                </a:path>
              </a:pathLst>
            </a:custGeom>
            <a:solidFill>
              <a:srgbClr val="FFF4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6157512" y="962248"/>
              <a:ext cx="956944" cy="2758440"/>
            </a:xfrm>
            <a:custGeom>
              <a:avLst/>
              <a:gdLst/>
              <a:ahLst/>
              <a:cxnLst/>
              <a:rect l="l" t="t" r="r" b="b"/>
              <a:pathLst>
                <a:path w="956945" h="2758440">
                  <a:moveTo>
                    <a:pt x="0" y="864173"/>
                  </a:moveTo>
                  <a:lnTo>
                    <a:pt x="864173" y="0"/>
                  </a:lnTo>
                  <a:lnTo>
                    <a:pt x="956398" y="0"/>
                  </a:lnTo>
                  <a:lnTo>
                    <a:pt x="956398" y="1893721"/>
                  </a:lnTo>
                  <a:lnTo>
                    <a:pt x="92224" y="2757894"/>
                  </a:lnTo>
                  <a:lnTo>
                    <a:pt x="0" y="2757894"/>
                  </a:lnTo>
                  <a:lnTo>
                    <a:pt x="0" y="864173"/>
                  </a:lnTo>
                  <a:close/>
                </a:path>
                <a:path w="956945" h="2758440">
                  <a:moveTo>
                    <a:pt x="0" y="864173"/>
                  </a:moveTo>
                  <a:lnTo>
                    <a:pt x="92224" y="864173"/>
                  </a:lnTo>
                  <a:lnTo>
                    <a:pt x="956398" y="0"/>
                  </a:lnTo>
                </a:path>
                <a:path w="956945" h="2758440">
                  <a:moveTo>
                    <a:pt x="92224" y="864173"/>
                  </a:moveTo>
                  <a:lnTo>
                    <a:pt x="92224" y="2757894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6309912" y="1826421"/>
              <a:ext cx="92710" cy="1894205"/>
            </a:xfrm>
            <a:custGeom>
              <a:avLst/>
              <a:gdLst/>
              <a:ahLst/>
              <a:cxnLst/>
              <a:rect l="l" t="t" r="r" b="b"/>
              <a:pathLst>
                <a:path w="92710" h="1894204">
                  <a:moveTo>
                    <a:pt x="92224" y="1893721"/>
                  </a:moveTo>
                  <a:lnTo>
                    <a:pt x="0" y="1893721"/>
                  </a:lnTo>
                  <a:lnTo>
                    <a:pt x="0" y="0"/>
                  </a:lnTo>
                  <a:lnTo>
                    <a:pt x="92224" y="0"/>
                  </a:lnTo>
                  <a:lnTo>
                    <a:pt x="92224" y="1893721"/>
                  </a:lnTo>
                  <a:close/>
                </a:path>
              </a:pathLst>
            </a:custGeom>
            <a:solidFill>
              <a:srgbClr val="D8D1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6402137" y="962248"/>
              <a:ext cx="864235" cy="2758440"/>
            </a:xfrm>
            <a:custGeom>
              <a:avLst/>
              <a:gdLst/>
              <a:ahLst/>
              <a:cxnLst/>
              <a:rect l="l" t="t" r="r" b="b"/>
              <a:pathLst>
                <a:path w="864234" h="2758440">
                  <a:moveTo>
                    <a:pt x="0" y="2757894"/>
                  </a:moveTo>
                  <a:lnTo>
                    <a:pt x="0" y="864173"/>
                  </a:lnTo>
                  <a:lnTo>
                    <a:pt x="864173" y="0"/>
                  </a:lnTo>
                  <a:lnTo>
                    <a:pt x="864173" y="1893721"/>
                  </a:lnTo>
                  <a:lnTo>
                    <a:pt x="0" y="2757894"/>
                  </a:lnTo>
                  <a:close/>
                </a:path>
              </a:pathLst>
            </a:custGeom>
            <a:solidFill>
              <a:srgbClr val="ACA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6309912" y="962248"/>
              <a:ext cx="956944" cy="864235"/>
            </a:xfrm>
            <a:custGeom>
              <a:avLst/>
              <a:gdLst/>
              <a:ahLst/>
              <a:cxnLst/>
              <a:rect l="l" t="t" r="r" b="b"/>
              <a:pathLst>
                <a:path w="956945" h="864235">
                  <a:moveTo>
                    <a:pt x="92224" y="864173"/>
                  </a:moveTo>
                  <a:lnTo>
                    <a:pt x="0" y="864173"/>
                  </a:lnTo>
                  <a:lnTo>
                    <a:pt x="864173" y="0"/>
                  </a:lnTo>
                  <a:lnTo>
                    <a:pt x="956398" y="0"/>
                  </a:lnTo>
                  <a:lnTo>
                    <a:pt x="92224" y="864173"/>
                  </a:lnTo>
                  <a:close/>
                </a:path>
              </a:pathLst>
            </a:custGeom>
            <a:solidFill>
              <a:srgbClr val="DFDB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6309912" y="962248"/>
              <a:ext cx="956944" cy="2758440"/>
            </a:xfrm>
            <a:custGeom>
              <a:avLst/>
              <a:gdLst/>
              <a:ahLst/>
              <a:cxnLst/>
              <a:rect l="l" t="t" r="r" b="b"/>
              <a:pathLst>
                <a:path w="956945" h="2758440">
                  <a:moveTo>
                    <a:pt x="0" y="864173"/>
                  </a:moveTo>
                  <a:lnTo>
                    <a:pt x="864173" y="0"/>
                  </a:lnTo>
                  <a:lnTo>
                    <a:pt x="956398" y="0"/>
                  </a:lnTo>
                  <a:lnTo>
                    <a:pt x="956398" y="1893721"/>
                  </a:lnTo>
                  <a:lnTo>
                    <a:pt x="92224" y="2757894"/>
                  </a:lnTo>
                  <a:lnTo>
                    <a:pt x="0" y="2757894"/>
                  </a:lnTo>
                  <a:lnTo>
                    <a:pt x="0" y="864173"/>
                  </a:lnTo>
                  <a:close/>
                </a:path>
                <a:path w="956945" h="2758440">
                  <a:moveTo>
                    <a:pt x="0" y="864173"/>
                  </a:moveTo>
                  <a:lnTo>
                    <a:pt x="92224" y="864173"/>
                  </a:lnTo>
                  <a:lnTo>
                    <a:pt x="956398" y="0"/>
                  </a:lnTo>
                </a:path>
                <a:path w="956945" h="2758440">
                  <a:moveTo>
                    <a:pt x="92224" y="864173"/>
                  </a:moveTo>
                  <a:lnTo>
                    <a:pt x="92224" y="2757894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6462311" y="1826421"/>
              <a:ext cx="92710" cy="1894205"/>
            </a:xfrm>
            <a:custGeom>
              <a:avLst/>
              <a:gdLst/>
              <a:ahLst/>
              <a:cxnLst/>
              <a:rect l="l" t="t" r="r" b="b"/>
              <a:pathLst>
                <a:path w="92709" h="1894204">
                  <a:moveTo>
                    <a:pt x="92224" y="1893721"/>
                  </a:moveTo>
                  <a:lnTo>
                    <a:pt x="0" y="1893721"/>
                  </a:lnTo>
                  <a:lnTo>
                    <a:pt x="0" y="0"/>
                  </a:lnTo>
                  <a:lnTo>
                    <a:pt x="92224" y="0"/>
                  </a:lnTo>
                  <a:lnTo>
                    <a:pt x="92224" y="1893721"/>
                  </a:lnTo>
                  <a:close/>
                </a:path>
              </a:pathLst>
            </a:custGeom>
            <a:solidFill>
              <a:srgbClr val="FBE4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6554536" y="962248"/>
              <a:ext cx="864235" cy="2758440"/>
            </a:xfrm>
            <a:custGeom>
              <a:avLst/>
              <a:gdLst/>
              <a:ahLst/>
              <a:cxnLst/>
              <a:rect l="l" t="t" r="r" b="b"/>
              <a:pathLst>
                <a:path w="864234" h="2758440">
                  <a:moveTo>
                    <a:pt x="0" y="2757894"/>
                  </a:moveTo>
                  <a:lnTo>
                    <a:pt x="0" y="864173"/>
                  </a:lnTo>
                  <a:lnTo>
                    <a:pt x="864173" y="0"/>
                  </a:lnTo>
                  <a:lnTo>
                    <a:pt x="864173" y="1893721"/>
                  </a:lnTo>
                  <a:lnTo>
                    <a:pt x="0" y="2757894"/>
                  </a:lnTo>
                  <a:close/>
                </a:path>
              </a:pathLst>
            </a:custGeom>
            <a:solidFill>
              <a:srgbClr val="C8B6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6462311" y="962248"/>
              <a:ext cx="956944" cy="864235"/>
            </a:xfrm>
            <a:custGeom>
              <a:avLst/>
              <a:gdLst/>
              <a:ahLst/>
              <a:cxnLst/>
              <a:rect l="l" t="t" r="r" b="b"/>
              <a:pathLst>
                <a:path w="956945" h="864235">
                  <a:moveTo>
                    <a:pt x="92224" y="864173"/>
                  </a:moveTo>
                  <a:lnTo>
                    <a:pt x="0" y="864173"/>
                  </a:lnTo>
                  <a:lnTo>
                    <a:pt x="864173" y="0"/>
                  </a:lnTo>
                  <a:lnTo>
                    <a:pt x="956398" y="0"/>
                  </a:lnTo>
                  <a:lnTo>
                    <a:pt x="92224" y="864173"/>
                  </a:lnTo>
                  <a:close/>
                </a:path>
              </a:pathLst>
            </a:custGeom>
            <a:solidFill>
              <a:srgbClr val="FBE9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6462311" y="962248"/>
              <a:ext cx="956944" cy="2758440"/>
            </a:xfrm>
            <a:custGeom>
              <a:avLst/>
              <a:gdLst/>
              <a:ahLst/>
              <a:cxnLst/>
              <a:rect l="l" t="t" r="r" b="b"/>
              <a:pathLst>
                <a:path w="956945" h="2758440">
                  <a:moveTo>
                    <a:pt x="0" y="864173"/>
                  </a:moveTo>
                  <a:lnTo>
                    <a:pt x="864173" y="0"/>
                  </a:lnTo>
                  <a:lnTo>
                    <a:pt x="956398" y="0"/>
                  </a:lnTo>
                  <a:lnTo>
                    <a:pt x="956398" y="1893721"/>
                  </a:lnTo>
                  <a:lnTo>
                    <a:pt x="92224" y="2757894"/>
                  </a:lnTo>
                  <a:lnTo>
                    <a:pt x="0" y="2757894"/>
                  </a:lnTo>
                  <a:lnTo>
                    <a:pt x="0" y="864173"/>
                  </a:lnTo>
                  <a:close/>
                </a:path>
                <a:path w="956945" h="2758440">
                  <a:moveTo>
                    <a:pt x="0" y="864173"/>
                  </a:moveTo>
                  <a:lnTo>
                    <a:pt x="92224" y="864173"/>
                  </a:lnTo>
                  <a:lnTo>
                    <a:pt x="956398" y="0"/>
                  </a:lnTo>
                </a:path>
                <a:path w="956945" h="2758440">
                  <a:moveTo>
                    <a:pt x="92224" y="864173"/>
                  </a:moveTo>
                  <a:lnTo>
                    <a:pt x="92224" y="2757894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892673" y="4173617"/>
            <a:ext cx="640143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Arial"/>
                <a:cs typeface="Arial"/>
              </a:rPr>
              <a:t>We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stack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these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up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to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get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“new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image”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of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size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28x28x6!</a:t>
            </a:r>
            <a:endParaRPr sz="2000">
              <a:latin typeface="Arial"/>
              <a:cs typeface="Arial"/>
            </a:endParaRPr>
          </a:p>
        </p:txBody>
      </p:sp>
      <p:sp>
        <p:nvSpPr>
          <p:cNvPr id="51" name="object 10">
            <a:extLst>
              <a:ext uri="{FF2B5EF4-FFF2-40B4-BE49-F238E27FC236}">
                <a16:creationId xmlns:a16="http://schemas.microsoft.com/office/drawing/2014/main" id="{4019C3F9-5F3A-1947-8972-306FEF16C97F}"/>
              </a:ext>
            </a:extLst>
          </p:cNvPr>
          <p:cNvSpPr txBox="1">
            <a:spLocks noGrp="1"/>
          </p:cNvSpPr>
          <p:nvPr>
            <p:ph type="dt" sz="half" idx="4294967295"/>
          </p:nvPr>
        </p:nvSpPr>
        <p:spPr>
          <a:xfrm>
            <a:off x="145224" y="4740846"/>
            <a:ext cx="4699000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lang="en-US" altLang="zh-CN" spc="-10" dirty="0">
                <a:solidFill>
                  <a:schemeClr val="bg1"/>
                </a:solidFill>
              </a:rPr>
              <a:t>Convolutional</a:t>
            </a:r>
            <a:r>
              <a:rPr lang="zh-CN" altLang="en-US" spc="-10" dirty="0">
                <a:solidFill>
                  <a:schemeClr val="bg1"/>
                </a:solidFill>
              </a:rPr>
              <a:t> </a:t>
            </a:r>
            <a:r>
              <a:rPr lang="en-US" altLang="zh-CN" spc="-10" dirty="0">
                <a:solidFill>
                  <a:schemeClr val="bg1"/>
                </a:solidFill>
              </a:rPr>
              <a:t>Neural</a:t>
            </a:r>
            <a:r>
              <a:rPr lang="zh-CN" altLang="en-US" spc="-10" dirty="0">
                <a:solidFill>
                  <a:schemeClr val="bg1"/>
                </a:solidFill>
              </a:rPr>
              <a:t> </a:t>
            </a:r>
            <a:r>
              <a:rPr lang="en-US" altLang="zh-CN" spc="-10" dirty="0">
                <a:solidFill>
                  <a:schemeClr val="bg1"/>
                </a:solidFill>
              </a:rPr>
              <a:t>Networks</a:t>
            </a:r>
            <a:endParaRPr spc="-1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8249" y="219305"/>
            <a:ext cx="7517130" cy="57594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>
              <a:lnSpc>
                <a:spcPct val="100699"/>
              </a:lnSpc>
              <a:spcBef>
                <a:spcPts val="85"/>
              </a:spcBef>
            </a:pPr>
            <a:r>
              <a:rPr sz="1800" b="1" dirty="0">
                <a:latin typeface="Arial"/>
                <a:cs typeface="Arial"/>
              </a:rPr>
              <a:t>Preview: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dirty="0"/>
              <a:t>ConvNet</a:t>
            </a:r>
            <a:r>
              <a:rPr sz="1800" spc="-30" dirty="0"/>
              <a:t> </a:t>
            </a:r>
            <a:r>
              <a:rPr sz="1800" dirty="0"/>
              <a:t>is</a:t>
            </a:r>
            <a:r>
              <a:rPr sz="1800" spc="-25" dirty="0"/>
              <a:t> </a:t>
            </a:r>
            <a:r>
              <a:rPr sz="1800" dirty="0"/>
              <a:t>a</a:t>
            </a:r>
            <a:r>
              <a:rPr sz="1800" spc="-30" dirty="0"/>
              <a:t> </a:t>
            </a:r>
            <a:r>
              <a:rPr sz="1800" dirty="0"/>
              <a:t>sequence</a:t>
            </a:r>
            <a:r>
              <a:rPr sz="1800" spc="-25" dirty="0"/>
              <a:t> </a:t>
            </a:r>
            <a:r>
              <a:rPr sz="1800" dirty="0"/>
              <a:t>of</a:t>
            </a:r>
            <a:r>
              <a:rPr sz="1800" spc="-30" dirty="0"/>
              <a:t> </a:t>
            </a:r>
            <a:r>
              <a:rPr sz="1800" dirty="0"/>
              <a:t>Convolution</a:t>
            </a:r>
            <a:r>
              <a:rPr sz="1800" spc="-25" dirty="0"/>
              <a:t> </a:t>
            </a:r>
            <a:r>
              <a:rPr sz="1800" dirty="0"/>
              <a:t>Layers,</a:t>
            </a:r>
            <a:r>
              <a:rPr sz="1800" spc="-30" dirty="0"/>
              <a:t> </a:t>
            </a:r>
            <a:r>
              <a:rPr sz="1800" dirty="0"/>
              <a:t>interspersed</a:t>
            </a:r>
            <a:r>
              <a:rPr sz="1800" spc="-25" dirty="0"/>
              <a:t> </a:t>
            </a:r>
            <a:r>
              <a:rPr sz="1800" spc="-20" dirty="0"/>
              <a:t>with </a:t>
            </a:r>
            <a:r>
              <a:rPr sz="1800" dirty="0"/>
              <a:t>activation</a:t>
            </a:r>
            <a:r>
              <a:rPr sz="1800" spc="-50" dirty="0"/>
              <a:t> </a:t>
            </a:r>
            <a:r>
              <a:rPr sz="1800" spc="-10" dirty="0"/>
              <a:t>functions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67549" y="1116772"/>
            <a:ext cx="975994" cy="2777490"/>
            <a:chOff x="167549" y="1116772"/>
            <a:chExt cx="975994" cy="2777490"/>
          </a:xfrm>
        </p:grpSpPr>
        <p:sp>
          <p:nvSpPr>
            <p:cNvPr id="4" name="object 4"/>
            <p:cNvSpPr/>
            <p:nvPr/>
          </p:nvSpPr>
          <p:spPr>
            <a:xfrm>
              <a:off x="177074" y="1869523"/>
              <a:ext cx="213360" cy="2014855"/>
            </a:xfrm>
            <a:custGeom>
              <a:avLst/>
              <a:gdLst/>
              <a:ahLst/>
              <a:cxnLst/>
              <a:rect l="l" t="t" r="r" b="b"/>
              <a:pathLst>
                <a:path w="213360" h="2014854">
                  <a:moveTo>
                    <a:pt x="213172" y="2014668"/>
                  </a:moveTo>
                  <a:lnTo>
                    <a:pt x="0" y="2014668"/>
                  </a:lnTo>
                  <a:lnTo>
                    <a:pt x="0" y="0"/>
                  </a:lnTo>
                  <a:lnTo>
                    <a:pt x="213172" y="0"/>
                  </a:lnTo>
                  <a:lnTo>
                    <a:pt x="213172" y="2014668"/>
                  </a:lnTo>
                  <a:close/>
                </a:path>
              </a:pathLst>
            </a:custGeom>
            <a:solidFill>
              <a:srgbClr val="F4CCCC">
                <a:alpha val="5191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90246" y="1126297"/>
              <a:ext cx="743585" cy="2758440"/>
            </a:xfrm>
            <a:custGeom>
              <a:avLst/>
              <a:gdLst/>
              <a:ahLst/>
              <a:cxnLst/>
              <a:rect l="l" t="t" r="r" b="b"/>
              <a:pathLst>
                <a:path w="743585" h="2758440">
                  <a:moveTo>
                    <a:pt x="0" y="2757894"/>
                  </a:moveTo>
                  <a:lnTo>
                    <a:pt x="0" y="743226"/>
                  </a:lnTo>
                  <a:lnTo>
                    <a:pt x="743226" y="0"/>
                  </a:lnTo>
                  <a:lnTo>
                    <a:pt x="743226" y="2014670"/>
                  </a:lnTo>
                  <a:lnTo>
                    <a:pt x="0" y="2757894"/>
                  </a:lnTo>
                  <a:close/>
                </a:path>
              </a:pathLst>
            </a:custGeom>
            <a:solidFill>
              <a:srgbClr val="C3A3A3">
                <a:alpha val="5191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77074" y="1126297"/>
              <a:ext cx="956944" cy="743585"/>
            </a:xfrm>
            <a:custGeom>
              <a:avLst/>
              <a:gdLst/>
              <a:ahLst/>
              <a:cxnLst/>
              <a:rect l="l" t="t" r="r" b="b"/>
              <a:pathLst>
                <a:path w="956944" h="743585">
                  <a:moveTo>
                    <a:pt x="213172" y="743226"/>
                  </a:moveTo>
                  <a:lnTo>
                    <a:pt x="0" y="743226"/>
                  </a:lnTo>
                  <a:lnTo>
                    <a:pt x="743226" y="0"/>
                  </a:lnTo>
                  <a:lnTo>
                    <a:pt x="956398" y="0"/>
                  </a:lnTo>
                  <a:lnTo>
                    <a:pt x="213172" y="743226"/>
                  </a:lnTo>
                  <a:close/>
                </a:path>
              </a:pathLst>
            </a:custGeom>
            <a:solidFill>
              <a:srgbClr val="F6D6D6">
                <a:alpha val="5191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77074" y="1126297"/>
              <a:ext cx="956944" cy="2758440"/>
            </a:xfrm>
            <a:custGeom>
              <a:avLst/>
              <a:gdLst/>
              <a:ahLst/>
              <a:cxnLst/>
              <a:rect l="l" t="t" r="r" b="b"/>
              <a:pathLst>
                <a:path w="956944" h="2758440">
                  <a:moveTo>
                    <a:pt x="0" y="743226"/>
                  </a:moveTo>
                  <a:lnTo>
                    <a:pt x="743226" y="0"/>
                  </a:lnTo>
                  <a:lnTo>
                    <a:pt x="956398" y="0"/>
                  </a:lnTo>
                  <a:lnTo>
                    <a:pt x="956398" y="2014670"/>
                  </a:lnTo>
                  <a:lnTo>
                    <a:pt x="213172" y="2757894"/>
                  </a:lnTo>
                  <a:lnTo>
                    <a:pt x="0" y="2757894"/>
                  </a:lnTo>
                  <a:lnTo>
                    <a:pt x="0" y="743226"/>
                  </a:lnTo>
                  <a:close/>
                </a:path>
                <a:path w="956944" h="2758440">
                  <a:moveTo>
                    <a:pt x="0" y="743226"/>
                  </a:moveTo>
                  <a:lnTo>
                    <a:pt x="213172" y="743226"/>
                  </a:lnTo>
                  <a:lnTo>
                    <a:pt x="956398" y="0"/>
                  </a:lnTo>
                </a:path>
                <a:path w="956944" h="2758440">
                  <a:moveTo>
                    <a:pt x="213172" y="743226"/>
                  </a:moveTo>
                  <a:lnTo>
                    <a:pt x="213172" y="2757894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862722" y="3490178"/>
            <a:ext cx="280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Arial"/>
                <a:cs typeface="Arial"/>
              </a:rPr>
              <a:t>32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27023" y="1416999"/>
            <a:ext cx="280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Arial"/>
                <a:cs typeface="Arial"/>
              </a:rPr>
              <a:t>32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92112" y="3881807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Arial"/>
                <a:cs typeface="Arial"/>
              </a:rPr>
              <a:t>3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481872" y="2384450"/>
            <a:ext cx="978535" cy="41275"/>
            <a:chOff x="1481872" y="2384450"/>
            <a:chExt cx="978535" cy="41275"/>
          </a:xfrm>
        </p:grpSpPr>
        <p:sp>
          <p:nvSpPr>
            <p:cNvPr id="12" name="object 12"/>
            <p:cNvSpPr/>
            <p:nvPr/>
          </p:nvSpPr>
          <p:spPr>
            <a:xfrm>
              <a:off x="1481872" y="2404945"/>
              <a:ext cx="930910" cy="0"/>
            </a:xfrm>
            <a:custGeom>
              <a:avLst/>
              <a:gdLst/>
              <a:ahLst/>
              <a:cxnLst/>
              <a:rect l="l" t="t" r="r" b="b"/>
              <a:pathLst>
                <a:path w="930910">
                  <a:moveTo>
                    <a:pt x="0" y="0"/>
                  </a:moveTo>
                  <a:lnTo>
                    <a:pt x="930448" y="0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412320" y="238921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4"/>
                  </a:moveTo>
                  <a:lnTo>
                    <a:pt x="0" y="0"/>
                  </a:lnTo>
                  <a:lnTo>
                    <a:pt x="43224" y="15732"/>
                  </a:lnTo>
                  <a:lnTo>
                    <a:pt x="0" y="31464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412320" y="238921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4"/>
                  </a:moveTo>
                  <a:lnTo>
                    <a:pt x="43224" y="15732"/>
                  </a:lnTo>
                  <a:lnTo>
                    <a:pt x="0" y="0"/>
                  </a:lnTo>
                  <a:lnTo>
                    <a:pt x="0" y="31464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2682144" y="1116772"/>
            <a:ext cx="975994" cy="2777490"/>
            <a:chOff x="2682144" y="1116772"/>
            <a:chExt cx="975994" cy="2777490"/>
          </a:xfrm>
        </p:grpSpPr>
        <p:sp>
          <p:nvSpPr>
            <p:cNvPr id="16" name="object 16"/>
            <p:cNvSpPr/>
            <p:nvPr/>
          </p:nvSpPr>
          <p:spPr>
            <a:xfrm>
              <a:off x="2691669" y="1869523"/>
              <a:ext cx="213360" cy="2014855"/>
            </a:xfrm>
            <a:custGeom>
              <a:avLst/>
              <a:gdLst/>
              <a:ahLst/>
              <a:cxnLst/>
              <a:rect l="l" t="t" r="r" b="b"/>
              <a:pathLst>
                <a:path w="213360" h="2014854">
                  <a:moveTo>
                    <a:pt x="213174" y="2014668"/>
                  </a:moveTo>
                  <a:lnTo>
                    <a:pt x="0" y="2014668"/>
                  </a:lnTo>
                  <a:lnTo>
                    <a:pt x="0" y="0"/>
                  </a:lnTo>
                  <a:lnTo>
                    <a:pt x="213174" y="0"/>
                  </a:lnTo>
                  <a:lnTo>
                    <a:pt x="213174" y="2014668"/>
                  </a:lnTo>
                  <a:close/>
                </a:path>
              </a:pathLst>
            </a:custGeom>
            <a:solidFill>
              <a:srgbClr val="C8D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904844" y="1126297"/>
              <a:ext cx="743585" cy="2758440"/>
            </a:xfrm>
            <a:custGeom>
              <a:avLst/>
              <a:gdLst/>
              <a:ahLst/>
              <a:cxnLst/>
              <a:rect l="l" t="t" r="r" b="b"/>
              <a:pathLst>
                <a:path w="743585" h="2758440">
                  <a:moveTo>
                    <a:pt x="0" y="2757894"/>
                  </a:moveTo>
                  <a:lnTo>
                    <a:pt x="0" y="743226"/>
                  </a:lnTo>
                  <a:lnTo>
                    <a:pt x="743223" y="0"/>
                  </a:lnTo>
                  <a:lnTo>
                    <a:pt x="743223" y="2014670"/>
                  </a:lnTo>
                  <a:lnTo>
                    <a:pt x="0" y="2757894"/>
                  </a:lnTo>
                  <a:close/>
                </a:path>
              </a:pathLst>
            </a:custGeom>
            <a:solidFill>
              <a:srgbClr val="A0AE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691669" y="1126297"/>
              <a:ext cx="956944" cy="743585"/>
            </a:xfrm>
            <a:custGeom>
              <a:avLst/>
              <a:gdLst/>
              <a:ahLst/>
              <a:cxnLst/>
              <a:rect l="l" t="t" r="r" b="b"/>
              <a:pathLst>
                <a:path w="956945" h="743585">
                  <a:moveTo>
                    <a:pt x="213174" y="743226"/>
                  </a:moveTo>
                  <a:lnTo>
                    <a:pt x="0" y="743226"/>
                  </a:lnTo>
                  <a:lnTo>
                    <a:pt x="743223" y="0"/>
                  </a:lnTo>
                  <a:lnTo>
                    <a:pt x="956398" y="0"/>
                  </a:lnTo>
                  <a:lnTo>
                    <a:pt x="213174" y="743226"/>
                  </a:lnTo>
                  <a:close/>
                </a:path>
              </a:pathLst>
            </a:custGeom>
            <a:solidFill>
              <a:srgbClr val="D3E1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691669" y="1126297"/>
              <a:ext cx="956944" cy="2758440"/>
            </a:xfrm>
            <a:custGeom>
              <a:avLst/>
              <a:gdLst/>
              <a:ahLst/>
              <a:cxnLst/>
              <a:rect l="l" t="t" r="r" b="b"/>
              <a:pathLst>
                <a:path w="956945" h="2758440">
                  <a:moveTo>
                    <a:pt x="0" y="743226"/>
                  </a:moveTo>
                  <a:lnTo>
                    <a:pt x="743223" y="0"/>
                  </a:lnTo>
                  <a:lnTo>
                    <a:pt x="956398" y="0"/>
                  </a:lnTo>
                  <a:lnTo>
                    <a:pt x="956398" y="2014670"/>
                  </a:lnTo>
                  <a:lnTo>
                    <a:pt x="213174" y="2757894"/>
                  </a:lnTo>
                  <a:lnTo>
                    <a:pt x="0" y="2757894"/>
                  </a:lnTo>
                  <a:lnTo>
                    <a:pt x="0" y="743226"/>
                  </a:lnTo>
                  <a:close/>
                </a:path>
                <a:path w="956945" h="2758440">
                  <a:moveTo>
                    <a:pt x="0" y="743226"/>
                  </a:moveTo>
                  <a:lnTo>
                    <a:pt x="213174" y="743226"/>
                  </a:lnTo>
                  <a:lnTo>
                    <a:pt x="956398" y="0"/>
                  </a:lnTo>
                </a:path>
                <a:path w="956945" h="2758440">
                  <a:moveTo>
                    <a:pt x="213174" y="743226"/>
                  </a:moveTo>
                  <a:lnTo>
                    <a:pt x="213174" y="2757894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3377317" y="3490178"/>
            <a:ext cx="280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Arial"/>
                <a:cs typeface="Arial"/>
              </a:rPr>
              <a:t>28</a:t>
            </a:r>
            <a:endParaRPr sz="18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741618" y="1416999"/>
            <a:ext cx="280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Arial"/>
                <a:cs typeface="Arial"/>
              </a:rPr>
              <a:t>28</a:t>
            </a:r>
            <a:endParaRPr sz="18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706710" y="3881807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Arial"/>
                <a:cs typeface="Arial"/>
              </a:rPr>
              <a:t>6</a:t>
            </a:r>
            <a:endParaRPr sz="18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594221" y="2483073"/>
            <a:ext cx="748665" cy="140462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>
              <a:lnSpc>
                <a:spcPct val="100699"/>
              </a:lnSpc>
              <a:spcBef>
                <a:spcPts val="85"/>
              </a:spcBef>
            </a:pPr>
            <a:r>
              <a:rPr sz="1800" spc="-10" dirty="0">
                <a:latin typeface="Arial"/>
                <a:cs typeface="Arial"/>
              </a:rPr>
              <a:t>CONV, </a:t>
            </a:r>
            <a:r>
              <a:rPr sz="1800" spc="-20" dirty="0">
                <a:latin typeface="Arial"/>
                <a:cs typeface="Arial"/>
              </a:rPr>
              <a:t>ReLU</a:t>
            </a:r>
            <a:endParaRPr sz="1800">
              <a:latin typeface="Arial"/>
              <a:cs typeface="Arial"/>
            </a:endParaRPr>
          </a:p>
          <a:p>
            <a:pPr marL="12700" marR="118110" algn="just">
              <a:lnSpc>
                <a:spcPct val="100699"/>
              </a:lnSpc>
            </a:pPr>
            <a:r>
              <a:rPr sz="1800" dirty="0">
                <a:solidFill>
                  <a:srgbClr val="0000FF"/>
                </a:solidFill>
                <a:latin typeface="Arial"/>
                <a:cs typeface="Arial"/>
              </a:rPr>
              <a:t>e.g.</a:t>
            </a:r>
            <a:r>
              <a:rPr sz="1800" spc="-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spc="-50" dirty="0">
                <a:solidFill>
                  <a:srgbClr val="0000FF"/>
                </a:solidFill>
                <a:latin typeface="Arial"/>
                <a:cs typeface="Arial"/>
              </a:rPr>
              <a:t>6 </a:t>
            </a:r>
            <a:r>
              <a:rPr sz="1800" spc="-10" dirty="0">
                <a:solidFill>
                  <a:srgbClr val="0000FF"/>
                </a:solidFill>
                <a:latin typeface="Arial"/>
                <a:cs typeface="Arial"/>
              </a:rPr>
              <a:t>5x5x3 filters</a:t>
            </a:r>
            <a:endParaRPr sz="1800">
              <a:latin typeface="Arial"/>
              <a:cs typeface="Arial"/>
            </a:endParaRPr>
          </a:p>
        </p:txBody>
      </p:sp>
      <p:sp>
        <p:nvSpPr>
          <p:cNvPr id="28" name="object 10">
            <a:extLst>
              <a:ext uri="{FF2B5EF4-FFF2-40B4-BE49-F238E27FC236}">
                <a16:creationId xmlns:a16="http://schemas.microsoft.com/office/drawing/2014/main" id="{2AD08337-2BB6-A24A-AFEE-4E02BB3EF488}"/>
              </a:ext>
            </a:extLst>
          </p:cNvPr>
          <p:cNvSpPr txBox="1">
            <a:spLocks noGrp="1"/>
          </p:cNvSpPr>
          <p:nvPr>
            <p:ph type="dt" sz="half" idx="4294967295"/>
          </p:nvPr>
        </p:nvSpPr>
        <p:spPr>
          <a:xfrm>
            <a:off x="145224" y="4740846"/>
            <a:ext cx="4699000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lang="en-US" altLang="zh-CN" spc="-10" dirty="0">
                <a:solidFill>
                  <a:schemeClr val="bg1"/>
                </a:solidFill>
              </a:rPr>
              <a:t>Convolutional</a:t>
            </a:r>
            <a:r>
              <a:rPr lang="zh-CN" altLang="en-US" spc="-10" dirty="0">
                <a:solidFill>
                  <a:schemeClr val="bg1"/>
                </a:solidFill>
              </a:rPr>
              <a:t> </a:t>
            </a:r>
            <a:r>
              <a:rPr lang="en-US" altLang="zh-CN" spc="-10" dirty="0">
                <a:solidFill>
                  <a:schemeClr val="bg1"/>
                </a:solidFill>
              </a:rPr>
              <a:t>Neural</a:t>
            </a:r>
            <a:r>
              <a:rPr lang="zh-CN" altLang="en-US" spc="-10" dirty="0">
                <a:solidFill>
                  <a:schemeClr val="bg1"/>
                </a:solidFill>
              </a:rPr>
              <a:t> </a:t>
            </a:r>
            <a:r>
              <a:rPr lang="en-US" altLang="zh-CN" spc="-10" dirty="0">
                <a:solidFill>
                  <a:schemeClr val="bg1"/>
                </a:solidFill>
              </a:rPr>
              <a:t>Networks</a:t>
            </a:r>
            <a:endParaRPr spc="-1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6930" rIns="0" bIns="0" rtlCol="0">
            <a:spAutoFit/>
          </a:bodyPr>
          <a:lstStyle/>
          <a:p>
            <a:pPr marL="165735" marR="5080">
              <a:lnSpc>
                <a:spcPct val="100699"/>
              </a:lnSpc>
              <a:spcBef>
                <a:spcPts val="85"/>
              </a:spcBef>
            </a:pPr>
            <a:r>
              <a:rPr sz="1800" b="1" dirty="0">
                <a:latin typeface="Arial"/>
                <a:cs typeface="Arial"/>
              </a:rPr>
              <a:t>Preview: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dirty="0"/>
              <a:t>ConvNet</a:t>
            </a:r>
            <a:r>
              <a:rPr sz="1800" spc="-30" dirty="0"/>
              <a:t> </a:t>
            </a:r>
            <a:r>
              <a:rPr sz="1800" dirty="0"/>
              <a:t>is</a:t>
            </a:r>
            <a:r>
              <a:rPr sz="1800" spc="-30" dirty="0"/>
              <a:t> </a:t>
            </a:r>
            <a:r>
              <a:rPr sz="1800" dirty="0"/>
              <a:t>a</a:t>
            </a:r>
            <a:r>
              <a:rPr sz="1800" spc="-30" dirty="0"/>
              <a:t> </a:t>
            </a:r>
            <a:r>
              <a:rPr sz="1800" dirty="0"/>
              <a:t>sequence</a:t>
            </a:r>
            <a:r>
              <a:rPr sz="1800" spc="-25" dirty="0"/>
              <a:t> </a:t>
            </a:r>
            <a:r>
              <a:rPr sz="1800" dirty="0"/>
              <a:t>of</a:t>
            </a:r>
            <a:r>
              <a:rPr sz="1800" spc="-30" dirty="0"/>
              <a:t> </a:t>
            </a:r>
            <a:r>
              <a:rPr sz="1800" dirty="0"/>
              <a:t>Convolutional</a:t>
            </a:r>
            <a:r>
              <a:rPr sz="1800" spc="-30" dirty="0"/>
              <a:t> </a:t>
            </a:r>
            <a:r>
              <a:rPr sz="1800" dirty="0"/>
              <a:t>Layers,</a:t>
            </a:r>
            <a:r>
              <a:rPr sz="1800" spc="-30" dirty="0"/>
              <a:t> </a:t>
            </a:r>
            <a:r>
              <a:rPr sz="1800" dirty="0"/>
              <a:t>interspersed</a:t>
            </a:r>
            <a:r>
              <a:rPr sz="1800" spc="-25" dirty="0"/>
              <a:t> </a:t>
            </a:r>
            <a:r>
              <a:rPr sz="1800" spc="-20" dirty="0"/>
              <a:t>with </a:t>
            </a:r>
            <a:r>
              <a:rPr sz="1800" dirty="0"/>
              <a:t>activation</a:t>
            </a:r>
            <a:r>
              <a:rPr sz="1800" spc="-50" dirty="0"/>
              <a:t> </a:t>
            </a:r>
            <a:r>
              <a:rPr sz="1800" spc="-10" dirty="0"/>
              <a:t>functions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67549" y="1116772"/>
            <a:ext cx="975994" cy="2777490"/>
            <a:chOff x="167549" y="1116772"/>
            <a:chExt cx="975994" cy="2777490"/>
          </a:xfrm>
        </p:grpSpPr>
        <p:sp>
          <p:nvSpPr>
            <p:cNvPr id="4" name="object 4"/>
            <p:cNvSpPr/>
            <p:nvPr/>
          </p:nvSpPr>
          <p:spPr>
            <a:xfrm>
              <a:off x="177074" y="1869523"/>
              <a:ext cx="213360" cy="2014855"/>
            </a:xfrm>
            <a:custGeom>
              <a:avLst/>
              <a:gdLst/>
              <a:ahLst/>
              <a:cxnLst/>
              <a:rect l="l" t="t" r="r" b="b"/>
              <a:pathLst>
                <a:path w="213360" h="2014854">
                  <a:moveTo>
                    <a:pt x="213172" y="2014668"/>
                  </a:moveTo>
                  <a:lnTo>
                    <a:pt x="0" y="2014668"/>
                  </a:lnTo>
                  <a:lnTo>
                    <a:pt x="0" y="0"/>
                  </a:lnTo>
                  <a:lnTo>
                    <a:pt x="213172" y="0"/>
                  </a:lnTo>
                  <a:lnTo>
                    <a:pt x="213172" y="2014668"/>
                  </a:lnTo>
                  <a:close/>
                </a:path>
              </a:pathLst>
            </a:custGeom>
            <a:solidFill>
              <a:srgbClr val="F4CCCC">
                <a:alpha val="5191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90246" y="1126297"/>
              <a:ext cx="743585" cy="2758440"/>
            </a:xfrm>
            <a:custGeom>
              <a:avLst/>
              <a:gdLst/>
              <a:ahLst/>
              <a:cxnLst/>
              <a:rect l="l" t="t" r="r" b="b"/>
              <a:pathLst>
                <a:path w="743585" h="2758440">
                  <a:moveTo>
                    <a:pt x="0" y="2757894"/>
                  </a:moveTo>
                  <a:lnTo>
                    <a:pt x="0" y="743226"/>
                  </a:lnTo>
                  <a:lnTo>
                    <a:pt x="743226" y="0"/>
                  </a:lnTo>
                  <a:lnTo>
                    <a:pt x="743226" y="2014670"/>
                  </a:lnTo>
                  <a:lnTo>
                    <a:pt x="0" y="2757894"/>
                  </a:lnTo>
                  <a:close/>
                </a:path>
              </a:pathLst>
            </a:custGeom>
            <a:solidFill>
              <a:srgbClr val="C3A3A3">
                <a:alpha val="5191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77074" y="1126297"/>
              <a:ext cx="956944" cy="743585"/>
            </a:xfrm>
            <a:custGeom>
              <a:avLst/>
              <a:gdLst/>
              <a:ahLst/>
              <a:cxnLst/>
              <a:rect l="l" t="t" r="r" b="b"/>
              <a:pathLst>
                <a:path w="956944" h="743585">
                  <a:moveTo>
                    <a:pt x="213172" y="743226"/>
                  </a:moveTo>
                  <a:lnTo>
                    <a:pt x="0" y="743226"/>
                  </a:lnTo>
                  <a:lnTo>
                    <a:pt x="743226" y="0"/>
                  </a:lnTo>
                  <a:lnTo>
                    <a:pt x="956398" y="0"/>
                  </a:lnTo>
                  <a:lnTo>
                    <a:pt x="213172" y="743226"/>
                  </a:lnTo>
                  <a:close/>
                </a:path>
              </a:pathLst>
            </a:custGeom>
            <a:solidFill>
              <a:srgbClr val="F6D6D6">
                <a:alpha val="5191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77074" y="1126297"/>
              <a:ext cx="956944" cy="2758440"/>
            </a:xfrm>
            <a:custGeom>
              <a:avLst/>
              <a:gdLst/>
              <a:ahLst/>
              <a:cxnLst/>
              <a:rect l="l" t="t" r="r" b="b"/>
              <a:pathLst>
                <a:path w="956944" h="2758440">
                  <a:moveTo>
                    <a:pt x="0" y="743226"/>
                  </a:moveTo>
                  <a:lnTo>
                    <a:pt x="743226" y="0"/>
                  </a:lnTo>
                  <a:lnTo>
                    <a:pt x="956398" y="0"/>
                  </a:lnTo>
                  <a:lnTo>
                    <a:pt x="956398" y="2014670"/>
                  </a:lnTo>
                  <a:lnTo>
                    <a:pt x="213172" y="2757894"/>
                  </a:lnTo>
                  <a:lnTo>
                    <a:pt x="0" y="2757894"/>
                  </a:lnTo>
                  <a:lnTo>
                    <a:pt x="0" y="743226"/>
                  </a:lnTo>
                  <a:close/>
                </a:path>
                <a:path w="956944" h="2758440">
                  <a:moveTo>
                    <a:pt x="0" y="743226"/>
                  </a:moveTo>
                  <a:lnTo>
                    <a:pt x="213172" y="743226"/>
                  </a:lnTo>
                  <a:lnTo>
                    <a:pt x="956398" y="0"/>
                  </a:lnTo>
                </a:path>
                <a:path w="956944" h="2758440">
                  <a:moveTo>
                    <a:pt x="213172" y="743226"/>
                  </a:moveTo>
                  <a:lnTo>
                    <a:pt x="213172" y="2757894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862722" y="3490178"/>
            <a:ext cx="280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Arial"/>
                <a:cs typeface="Arial"/>
              </a:rPr>
              <a:t>32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27023" y="1416999"/>
            <a:ext cx="280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Arial"/>
                <a:cs typeface="Arial"/>
              </a:rPr>
              <a:t>32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92112" y="3881807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Arial"/>
                <a:cs typeface="Arial"/>
              </a:rPr>
              <a:t>3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481872" y="2384450"/>
            <a:ext cx="978535" cy="41275"/>
            <a:chOff x="1481872" y="2384450"/>
            <a:chExt cx="978535" cy="41275"/>
          </a:xfrm>
        </p:grpSpPr>
        <p:sp>
          <p:nvSpPr>
            <p:cNvPr id="12" name="object 12"/>
            <p:cNvSpPr/>
            <p:nvPr/>
          </p:nvSpPr>
          <p:spPr>
            <a:xfrm>
              <a:off x="1481872" y="2404945"/>
              <a:ext cx="930910" cy="0"/>
            </a:xfrm>
            <a:custGeom>
              <a:avLst/>
              <a:gdLst/>
              <a:ahLst/>
              <a:cxnLst/>
              <a:rect l="l" t="t" r="r" b="b"/>
              <a:pathLst>
                <a:path w="930910">
                  <a:moveTo>
                    <a:pt x="0" y="0"/>
                  </a:moveTo>
                  <a:lnTo>
                    <a:pt x="930448" y="0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412320" y="238921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4"/>
                  </a:moveTo>
                  <a:lnTo>
                    <a:pt x="0" y="0"/>
                  </a:lnTo>
                  <a:lnTo>
                    <a:pt x="43224" y="15732"/>
                  </a:lnTo>
                  <a:lnTo>
                    <a:pt x="0" y="31464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412320" y="238921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4"/>
                  </a:moveTo>
                  <a:lnTo>
                    <a:pt x="43224" y="15732"/>
                  </a:lnTo>
                  <a:lnTo>
                    <a:pt x="0" y="0"/>
                  </a:lnTo>
                  <a:lnTo>
                    <a:pt x="0" y="31464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1594221" y="2483073"/>
            <a:ext cx="748665" cy="140462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>
              <a:lnSpc>
                <a:spcPct val="100699"/>
              </a:lnSpc>
              <a:spcBef>
                <a:spcPts val="85"/>
              </a:spcBef>
            </a:pPr>
            <a:r>
              <a:rPr sz="1800" spc="-10" dirty="0">
                <a:latin typeface="Arial"/>
                <a:cs typeface="Arial"/>
              </a:rPr>
              <a:t>CONV, </a:t>
            </a:r>
            <a:r>
              <a:rPr sz="1800" spc="-20" dirty="0">
                <a:latin typeface="Arial"/>
                <a:cs typeface="Arial"/>
              </a:rPr>
              <a:t>ReLU</a:t>
            </a:r>
            <a:endParaRPr sz="1800">
              <a:latin typeface="Arial"/>
              <a:cs typeface="Arial"/>
            </a:endParaRPr>
          </a:p>
          <a:p>
            <a:pPr marL="12700" marR="118110" algn="just">
              <a:lnSpc>
                <a:spcPct val="100699"/>
              </a:lnSpc>
            </a:pPr>
            <a:r>
              <a:rPr sz="1800" dirty="0">
                <a:solidFill>
                  <a:srgbClr val="0000FF"/>
                </a:solidFill>
                <a:latin typeface="Arial"/>
                <a:cs typeface="Arial"/>
              </a:rPr>
              <a:t>e.g.</a:t>
            </a:r>
            <a:r>
              <a:rPr sz="1800" spc="-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spc="-50" dirty="0">
                <a:solidFill>
                  <a:srgbClr val="0000FF"/>
                </a:solidFill>
                <a:latin typeface="Arial"/>
                <a:cs typeface="Arial"/>
              </a:rPr>
              <a:t>6 </a:t>
            </a:r>
            <a:r>
              <a:rPr sz="1800" spc="-10" dirty="0">
                <a:solidFill>
                  <a:srgbClr val="0000FF"/>
                </a:solidFill>
                <a:latin typeface="Arial"/>
                <a:cs typeface="Arial"/>
              </a:rPr>
              <a:t>5x5x3 filters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2682144" y="1116772"/>
            <a:ext cx="975994" cy="2777490"/>
            <a:chOff x="2682144" y="1116772"/>
            <a:chExt cx="975994" cy="2777490"/>
          </a:xfrm>
        </p:grpSpPr>
        <p:sp>
          <p:nvSpPr>
            <p:cNvPr id="17" name="object 17"/>
            <p:cNvSpPr/>
            <p:nvPr/>
          </p:nvSpPr>
          <p:spPr>
            <a:xfrm>
              <a:off x="2691669" y="1869523"/>
              <a:ext cx="213360" cy="2014855"/>
            </a:xfrm>
            <a:custGeom>
              <a:avLst/>
              <a:gdLst/>
              <a:ahLst/>
              <a:cxnLst/>
              <a:rect l="l" t="t" r="r" b="b"/>
              <a:pathLst>
                <a:path w="213360" h="2014854">
                  <a:moveTo>
                    <a:pt x="213174" y="2014668"/>
                  </a:moveTo>
                  <a:lnTo>
                    <a:pt x="0" y="2014668"/>
                  </a:lnTo>
                  <a:lnTo>
                    <a:pt x="0" y="0"/>
                  </a:lnTo>
                  <a:lnTo>
                    <a:pt x="213174" y="0"/>
                  </a:lnTo>
                  <a:lnTo>
                    <a:pt x="213174" y="2014668"/>
                  </a:lnTo>
                  <a:close/>
                </a:path>
              </a:pathLst>
            </a:custGeom>
            <a:solidFill>
              <a:srgbClr val="C8D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904844" y="1126297"/>
              <a:ext cx="743585" cy="2758440"/>
            </a:xfrm>
            <a:custGeom>
              <a:avLst/>
              <a:gdLst/>
              <a:ahLst/>
              <a:cxnLst/>
              <a:rect l="l" t="t" r="r" b="b"/>
              <a:pathLst>
                <a:path w="743585" h="2758440">
                  <a:moveTo>
                    <a:pt x="0" y="2757894"/>
                  </a:moveTo>
                  <a:lnTo>
                    <a:pt x="0" y="743226"/>
                  </a:lnTo>
                  <a:lnTo>
                    <a:pt x="743223" y="0"/>
                  </a:lnTo>
                  <a:lnTo>
                    <a:pt x="743223" y="2014670"/>
                  </a:lnTo>
                  <a:lnTo>
                    <a:pt x="0" y="2757894"/>
                  </a:lnTo>
                  <a:close/>
                </a:path>
              </a:pathLst>
            </a:custGeom>
            <a:solidFill>
              <a:srgbClr val="A0AE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691669" y="1126297"/>
              <a:ext cx="956944" cy="743585"/>
            </a:xfrm>
            <a:custGeom>
              <a:avLst/>
              <a:gdLst/>
              <a:ahLst/>
              <a:cxnLst/>
              <a:rect l="l" t="t" r="r" b="b"/>
              <a:pathLst>
                <a:path w="956945" h="743585">
                  <a:moveTo>
                    <a:pt x="213174" y="743226"/>
                  </a:moveTo>
                  <a:lnTo>
                    <a:pt x="0" y="743226"/>
                  </a:lnTo>
                  <a:lnTo>
                    <a:pt x="743223" y="0"/>
                  </a:lnTo>
                  <a:lnTo>
                    <a:pt x="956398" y="0"/>
                  </a:lnTo>
                  <a:lnTo>
                    <a:pt x="213174" y="743226"/>
                  </a:lnTo>
                  <a:close/>
                </a:path>
              </a:pathLst>
            </a:custGeom>
            <a:solidFill>
              <a:srgbClr val="D3E1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691669" y="1126297"/>
              <a:ext cx="956944" cy="2758440"/>
            </a:xfrm>
            <a:custGeom>
              <a:avLst/>
              <a:gdLst/>
              <a:ahLst/>
              <a:cxnLst/>
              <a:rect l="l" t="t" r="r" b="b"/>
              <a:pathLst>
                <a:path w="956945" h="2758440">
                  <a:moveTo>
                    <a:pt x="0" y="743226"/>
                  </a:moveTo>
                  <a:lnTo>
                    <a:pt x="743223" y="0"/>
                  </a:lnTo>
                  <a:lnTo>
                    <a:pt x="956398" y="0"/>
                  </a:lnTo>
                  <a:lnTo>
                    <a:pt x="956398" y="2014670"/>
                  </a:lnTo>
                  <a:lnTo>
                    <a:pt x="213174" y="2757894"/>
                  </a:lnTo>
                  <a:lnTo>
                    <a:pt x="0" y="2757894"/>
                  </a:lnTo>
                  <a:lnTo>
                    <a:pt x="0" y="743226"/>
                  </a:lnTo>
                  <a:close/>
                </a:path>
                <a:path w="956945" h="2758440">
                  <a:moveTo>
                    <a:pt x="0" y="743226"/>
                  </a:moveTo>
                  <a:lnTo>
                    <a:pt x="213174" y="743226"/>
                  </a:lnTo>
                  <a:lnTo>
                    <a:pt x="956398" y="0"/>
                  </a:lnTo>
                </a:path>
                <a:path w="956945" h="2758440">
                  <a:moveTo>
                    <a:pt x="213174" y="743226"/>
                  </a:moveTo>
                  <a:lnTo>
                    <a:pt x="213174" y="2757894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3377317" y="3490178"/>
            <a:ext cx="280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Arial"/>
                <a:cs typeface="Arial"/>
              </a:rPr>
              <a:t>28</a:t>
            </a:r>
            <a:endParaRPr sz="18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741618" y="1416999"/>
            <a:ext cx="280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Arial"/>
                <a:cs typeface="Arial"/>
              </a:rPr>
              <a:t>28</a:t>
            </a:r>
            <a:endParaRPr sz="18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706710" y="3881807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Arial"/>
                <a:cs typeface="Arial"/>
              </a:rPr>
              <a:t>6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4225066" y="2384450"/>
            <a:ext cx="978535" cy="41275"/>
            <a:chOff x="4225066" y="2384450"/>
            <a:chExt cx="978535" cy="41275"/>
          </a:xfrm>
        </p:grpSpPr>
        <p:sp>
          <p:nvSpPr>
            <p:cNvPr id="25" name="object 25"/>
            <p:cNvSpPr/>
            <p:nvPr/>
          </p:nvSpPr>
          <p:spPr>
            <a:xfrm>
              <a:off x="4225066" y="2404945"/>
              <a:ext cx="930910" cy="0"/>
            </a:xfrm>
            <a:custGeom>
              <a:avLst/>
              <a:gdLst/>
              <a:ahLst/>
              <a:cxnLst/>
              <a:rect l="l" t="t" r="r" b="b"/>
              <a:pathLst>
                <a:path w="930910">
                  <a:moveTo>
                    <a:pt x="0" y="0"/>
                  </a:moveTo>
                  <a:lnTo>
                    <a:pt x="930448" y="0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155514" y="238921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4"/>
                  </a:moveTo>
                  <a:lnTo>
                    <a:pt x="0" y="0"/>
                  </a:lnTo>
                  <a:lnTo>
                    <a:pt x="43224" y="15732"/>
                  </a:lnTo>
                  <a:lnTo>
                    <a:pt x="0" y="31464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5155514" y="238921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4"/>
                  </a:moveTo>
                  <a:lnTo>
                    <a:pt x="43224" y="15732"/>
                  </a:lnTo>
                  <a:lnTo>
                    <a:pt x="0" y="0"/>
                  </a:lnTo>
                  <a:lnTo>
                    <a:pt x="0" y="31464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4337415" y="2483073"/>
            <a:ext cx="748665" cy="140462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>
              <a:lnSpc>
                <a:spcPct val="100699"/>
              </a:lnSpc>
              <a:spcBef>
                <a:spcPts val="85"/>
              </a:spcBef>
            </a:pPr>
            <a:r>
              <a:rPr sz="1800" spc="-10" dirty="0">
                <a:latin typeface="Arial"/>
                <a:cs typeface="Arial"/>
              </a:rPr>
              <a:t>CONV, </a:t>
            </a:r>
            <a:r>
              <a:rPr sz="1800" spc="-20" dirty="0">
                <a:latin typeface="Arial"/>
                <a:cs typeface="Arial"/>
              </a:rPr>
              <a:t>ReLU</a:t>
            </a:r>
            <a:endParaRPr sz="1800">
              <a:latin typeface="Arial"/>
              <a:cs typeface="Arial"/>
            </a:endParaRPr>
          </a:p>
          <a:p>
            <a:pPr marL="12700" marR="29845">
              <a:lnSpc>
                <a:spcPct val="100699"/>
              </a:lnSpc>
            </a:pPr>
            <a:r>
              <a:rPr sz="1800" dirty="0">
                <a:solidFill>
                  <a:srgbClr val="38751C"/>
                </a:solidFill>
                <a:latin typeface="Arial"/>
                <a:cs typeface="Arial"/>
              </a:rPr>
              <a:t>e.g.</a:t>
            </a:r>
            <a:r>
              <a:rPr sz="1800" spc="-20" dirty="0">
                <a:solidFill>
                  <a:srgbClr val="38751C"/>
                </a:solidFill>
                <a:latin typeface="Arial"/>
                <a:cs typeface="Arial"/>
              </a:rPr>
              <a:t> </a:t>
            </a:r>
            <a:r>
              <a:rPr sz="1800" spc="-25" dirty="0">
                <a:solidFill>
                  <a:srgbClr val="38751C"/>
                </a:solidFill>
                <a:latin typeface="Arial"/>
                <a:cs typeface="Arial"/>
              </a:rPr>
              <a:t>10 </a:t>
            </a:r>
            <a:r>
              <a:rPr sz="1800" spc="-10" dirty="0">
                <a:solidFill>
                  <a:srgbClr val="38751C"/>
                </a:solidFill>
                <a:latin typeface="Arial"/>
                <a:cs typeface="Arial"/>
              </a:rPr>
              <a:t>5x5x</a:t>
            </a:r>
            <a:r>
              <a:rPr sz="1800" b="1" spc="-10" dirty="0">
                <a:solidFill>
                  <a:srgbClr val="38751C"/>
                </a:solidFill>
                <a:latin typeface="Arial"/>
                <a:cs typeface="Arial"/>
              </a:rPr>
              <a:t>6 </a:t>
            </a:r>
            <a:r>
              <a:rPr sz="1800" spc="-10" dirty="0">
                <a:solidFill>
                  <a:srgbClr val="38751C"/>
                </a:solidFill>
                <a:latin typeface="Arial"/>
                <a:cs typeface="Arial"/>
              </a:rPr>
              <a:t>filters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5425338" y="1116772"/>
            <a:ext cx="975994" cy="2777490"/>
            <a:chOff x="5425338" y="1116772"/>
            <a:chExt cx="975994" cy="2777490"/>
          </a:xfrm>
        </p:grpSpPr>
        <p:sp>
          <p:nvSpPr>
            <p:cNvPr id="30" name="object 30"/>
            <p:cNvSpPr/>
            <p:nvPr/>
          </p:nvSpPr>
          <p:spPr>
            <a:xfrm>
              <a:off x="5434863" y="1869523"/>
              <a:ext cx="213360" cy="2014855"/>
            </a:xfrm>
            <a:custGeom>
              <a:avLst/>
              <a:gdLst/>
              <a:ahLst/>
              <a:cxnLst/>
              <a:rect l="l" t="t" r="r" b="b"/>
              <a:pathLst>
                <a:path w="213360" h="2014854">
                  <a:moveTo>
                    <a:pt x="213174" y="2014668"/>
                  </a:moveTo>
                  <a:lnTo>
                    <a:pt x="0" y="2014668"/>
                  </a:lnTo>
                  <a:lnTo>
                    <a:pt x="0" y="0"/>
                  </a:lnTo>
                  <a:lnTo>
                    <a:pt x="213174" y="0"/>
                  </a:lnTo>
                  <a:lnTo>
                    <a:pt x="213174" y="2014668"/>
                  </a:lnTo>
                  <a:close/>
                </a:path>
              </a:pathLst>
            </a:custGeom>
            <a:solidFill>
              <a:srgbClr val="D8E9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5648038" y="1126297"/>
              <a:ext cx="743585" cy="2758440"/>
            </a:xfrm>
            <a:custGeom>
              <a:avLst/>
              <a:gdLst/>
              <a:ahLst/>
              <a:cxnLst/>
              <a:rect l="l" t="t" r="r" b="b"/>
              <a:pathLst>
                <a:path w="743585" h="2758440">
                  <a:moveTo>
                    <a:pt x="0" y="2757894"/>
                  </a:moveTo>
                  <a:lnTo>
                    <a:pt x="0" y="743226"/>
                  </a:lnTo>
                  <a:lnTo>
                    <a:pt x="743223" y="0"/>
                  </a:lnTo>
                  <a:lnTo>
                    <a:pt x="743223" y="2014670"/>
                  </a:lnTo>
                  <a:lnTo>
                    <a:pt x="0" y="2757894"/>
                  </a:lnTo>
                  <a:close/>
                </a:path>
              </a:pathLst>
            </a:custGeom>
            <a:solidFill>
              <a:srgbClr val="ACBA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5434863" y="1126297"/>
              <a:ext cx="956944" cy="743585"/>
            </a:xfrm>
            <a:custGeom>
              <a:avLst/>
              <a:gdLst/>
              <a:ahLst/>
              <a:cxnLst/>
              <a:rect l="l" t="t" r="r" b="b"/>
              <a:pathLst>
                <a:path w="956945" h="743585">
                  <a:moveTo>
                    <a:pt x="213174" y="743226"/>
                  </a:moveTo>
                  <a:lnTo>
                    <a:pt x="0" y="743226"/>
                  </a:lnTo>
                  <a:lnTo>
                    <a:pt x="743223" y="0"/>
                  </a:lnTo>
                  <a:lnTo>
                    <a:pt x="956398" y="0"/>
                  </a:lnTo>
                  <a:lnTo>
                    <a:pt x="213174" y="743226"/>
                  </a:lnTo>
                  <a:close/>
                </a:path>
              </a:pathLst>
            </a:custGeom>
            <a:solidFill>
              <a:srgbClr val="DFEDD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5434863" y="1126297"/>
              <a:ext cx="956944" cy="2758440"/>
            </a:xfrm>
            <a:custGeom>
              <a:avLst/>
              <a:gdLst/>
              <a:ahLst/>
              <a:cxnLst/>
              <a:rect l="l" t="t" r="r" b="b"/>
              <a:pathLst>
                <a:path w="956945" h="2758440">
                  <a:moveTo>
                    <a:pt x="0" y="743226"/>
                  </a:moveTo>
                  <a:lnTo>
                    <a:pt x="743223" y="0"/>
                  </a:lnTo>
                  <a:lnTo>
                    <a:pt x="956398" y="0"/>
                  </a:lnTo>
                  <a:lnTo>
                    <a:pt x="956398" y="2014670"/>
                  </a:lnTo>
                  <a:lnTo>
                    <a:pt x="213174" y="2757894"/>
                  </a:lnTo>
                  <a:lnTo>
                    <a:pt x="0" y="2757894"/>
                  </a:lnTo>
                  <a:lnTo>
                    <a:pt x="0" y="743226"/>
                  </a:lnTo>
                  <a:close/>
                </a:path>
                <a:path w="956945" h="2758440">
                  <a:moveTo>
                    <a:pt x="0" y="743226"/>
                  </a:moveTo>
                  <a:lnTo>
                    <a:pt x="213174" y="743226"/>
                  </a:lnTo>
                  <a:lnTo>
                    <a:pt x="956398" y="0"/>
                  </a:lnTo>
                </a:path>
                <a:path w="956945" h="2758440">
                  <a:moveTo>
                    <a:pt x="213174" y="743226"/>
                  </a:moveTo>
                  <a:lnTo>
                    <a:pt x="213174" y="2757894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4" name="object 34"/>
          <p:cNvGrpSpPr/>
          <p:nvPr/>
        </p:nvGrpSpPr>
        <p:grpSpPr>
          <a:xfrm>
            <a:off x="6815861" y="2384450"/>
            <a:ext cx="978535" cy="41275"/>
            <a:chOff x="6815861" y="2384450"/>
            <a:chExt cx="978535" cy="41275"/>
          </a:xfrm>
        </p:grpSpPr>
        <p:sp>
          <p:nvSpPr>
            <p:cNvPr id="35" name="object 35"/>
            <p:cNvSpPr/>
            <p:nvPr/>
          </p:nvSpPr>
          <p:spPr>
            <a:xfrm>
              <a:off x="6815861" y="2404945"/>
              <a:ext cx="930910" cy="0"/>
            </a:xfrm>
            <a:custGeom>
              <a:avLst/>
              <a:gdLst/>
              <a:ahLst/>
              <a:cxnLst/>
              <a:rect l="l" t="t" r="r" b="b"/>
              <a:pathLst>
                <a:path w="930909">
                  <a:moveTo>
                    <a:pt x="0" y="0"/>
                  </a:moveTo>
                  <a:lnTo>
                    <a:pt x="930448" y="0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7746309" y="238921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0" y="31464"/>
                  </a:moveTo>
                  <a:lnTo>
                    <a:pt x="0" y="0"/>
                  </a:lnTo>
                  <a:lnTo>
                    <a:pt x="43224" y="15732"/>
                  </a:lnTo>
                  <a:lnTo>
                    <a:pt x="0" y="31464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7746309" y="238921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0" y="31464"/>
                  </a:moveTo>
                  <a:lnTo>
                    <a:pt x="43224" y="15732"/>
                  </a:lnTo>
                  <a:lnTo>
                    <a:pt x="0" y="0"/>
                  </a:lnTo>
                  <a:lnTo>
                    <a:pt x="0" y="31464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6928210" y="2483073"/>
            <a:ext cx="748665" cy="57594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>
              <a:lnSpc>
                <a:spcPct val="100699"/>
              </a:lnSpc>
              <a:spcBef>
                <a:spcPts val="85"/>
              </a:spcBef>
            </a:pPr>
            <a:r>
              <a:rPr sz="1800" spc="-10" dirty="0">
                <a:latin typeface="Arial"/>
                <a:cs typeface="Arial"/>
              </a:rPr>
              <a:t>CONV, </a:t>
            </a:r>
            <a:r>
              <a:rPr sz="1800" spc="-20" dirty="0">
                <a:latin typeface="Arial"/>
                <a:cs typeface="Arial"/>
              </a:rPr>
              <a:t>ReLU</a:t>
            </a:r>
            <a:endParaRPr sz="180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8144808" y="2220974"/>
            <a:ext cx="4146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Arial"/>
                <a:cs typeface="Arial"/>
              </a:rPr>
              <a:t>….</a:t>
            </a:r>
            <a:endParaRPr sz="240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5373705" y="3881807"/>
            <a:ext cx="280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Arial"/>
                <a:cs typeface="Arial"/>
              </a:rPr>
              <a:t>10</a:t>
            </a:r>
            <a:endParaRPr sz="180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6120511" y="3490178"/>
            <a:ext cx="280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Arial"/>
                <a:cs typeface="Arial"/>
              </a:rPr>
              <a:t>24</a:t>
            </a:r>
            <a:endParaRPr sz="1800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6484813" y="1416999"/>
            <a:ext cx="280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Arial"/>
                <a:cs typeface="Arial"/>
              </a:rPr>
              <a:t>24</a:t>
            </a:r>
            <a:endParaRPr sz="1800">
              <a:latin typeface="Arial"/>
              <a:cs typeface="Arial"/>
            </a:endParaRPr>
          </a:p>
        </p:txBody>
      </p:sp>
      <p:sp>
        <p:nvSpPr>
          <p:cNvPr id="47" name="object 10">
            <a:extLst>
              <a:ext uri="{FF2B5EF4-FFF2-40B4-BE49-F238E27FC236}">
                <a16:creationId xmlns:a16="http://schemas.microsoft.com/office/drawing/2014/main" id="{FE065528-9F60-E840-B8C4-712174617B0D}"/>
              </a:ext>
            </a:extLst>
          </p:cNvPr>
          <p:cNvSpPr txBox="1">
            <a:spLocks noGrp="1"/>
          </p:cNvSpPr>
          <p:nvPr>
            <p:ph type="dt" sz="half" idx="4294967295"/>
          </p:nvPr>
        </p:nvSpPr>
        <p:spPr>
          <a:xfrm>
            <a:off x="145224" y="4740846"/>
            <a:ext cx="4699000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lang="en-US" altLang="zh-CN" spc="-10" dirty="0">
                <a:solidFill>
                  <a:schemeClr val="bg1"/>
                </a:solidFill>
              </a:rPr>
              <a:t>Convolutional</a:t>
            </a:r>
            <a:r>
              <a:rPr lang="zh-CN" altLang="en-US" spc="-10" dirty="0">
                <a:solidFill>
                  <a:schemeClr val="bg1"/>
                </a:solidFill>
              </a:rPr>
              <a:t> </a:t>
            </a:r>
            <a:r>
              <a:rPr lang="en-US" altLang="zh-CN" spc="-10" dirty="0">
                <a:solidFill>
                  <a:schemeClr val="bg1"/>
                </a:solidFill>
              </a:rPr>
              <a:t>Neural</a:t>
            </a:r>
            <a:r>
              <a:rPr lang="zh-CN" altLang="en-US" spc="-10" dirty="0">
                <a:solidFill>
                  <a:schemeClr val="bg1"/>
                </a:solidFill>
              </a:rPr>
              <a:t> </a:t>
            </a:r>
            <a:r>
              <a:rPr lang="en-US" altLang="zh-CN" spc="-10" dirty="0">
                <a:solidFill>
                  <a:schemeClr val="bg1"/>
                </a:solidFill>
              </a:rPr>
              <a:t>Networks</a:t>
            </a:r>
            <a:endParaRPr spc="-1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7899" y="109405"/>
            <a:ext cx="8883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Arial"/>
                <a:cs typeface="Arial"/>
              </a:rPr>
              <a:t>Preview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14622" y="665223"/>
            <a:ext cx="6501233" cy="3907092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157181" y="111437"/>
            <a:ext cx="1496695" cy="44830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>
              <a:lnSpc>
                <a:spcPts val="1650"/>
              </a:lnSpc>
              <a:spcBef>
                <a:spcPts val="180"/>
              </a:spcBef>
            </a:pPr>
            <a:r>
              <a:rPr sz="1400" i="1" dirty="0">
                <a:latin typeface="Arial"/>
                <a:cs typeface="Arial"/>
              </a:rPr>
              <a:t>[From</a:t>
            </a:r>
            <a:r>
              <a:rPr sz="1400" i="1" spc="-20" dirty="0">
                <a:latin typeface="Arial"/>
                <a:cs typeface="Arial"/>
              </a:rPr>
              <a:t> </a:t>
            </a:r>
            <a:r>
              <a:rPr sz="1400" i="1" dirty="0">
                <a:latin typeface="Arial"/>
                <a:cs typeface="Arial"/>
              </a:rPr>
              <a:t>recent</a:t>
            </a:r>
            <a:r>
              <a:rPr sz="1400" i="1" spc="-15" dirty="0">
                <a:latin typeface="Arial"/>
                <a:cs typeface="Arial"/>
              </a:rPr>
              <a:t> </a:t>
            </a:r>
            <a:r>
              <a:rPr sz="1400" i="1" spc="-20" dirty="0">
                <a:latin typeface="Arial"/>
                <a:cs typeface="Arial"/>
              </a:rPr>
              <a:t>Yann </a:t>
            </a:r>
            <a:r>
              <a:rPr sz="1400" i="1" dirty="0">
                <a:latin typeface="Arial"/>
                <a:cs typeface="Arial"/>
              </a:rPr>
              <a:t>LeCun</a:t>
            </a:r>
            <a:r>
              <a:rPr sz="1400" i="1" spc="-25" dirty="0">
                <a:latin typeface="Arial"/>
                <a:cs typeface="Arial"/>
              </a:rPr>
              <a:t> </a:t>
            </a:r>
            <a:r>
              <a:rPr sz="1400" i="1" spc="-10" dirty="0">
                <a:latin typeface="Arial"/>
                <a:cs typeface="Arial"/>
              </a:rPr>
              <a:t>slides]</a:t>
            </a:r>
            <a:endParaRPr sz="1400">
              <a:latin typeface="Arial"/>
              <a:cs typeface="Arial"/>
            </a:endParaRPr>
          </a:p>
        </p:txBody>
      </p:sp>
      <p:sp>
        <p:nvSpPr>
          <p:cNvPr id="9" name="object 10">
            <a:extLst>
              <a:ext uri="{FF2B5EF4-FFF2-40B4-BE49-F238E27FC236}">
                <a16:creationId xmlns:a16="http://schemas.microsoft.com/office/drawing/2014/main" id="{2E46CB32-4948-1148-8E58-8852784026E6}"/>
              </a:ext>
            </a:extLst>
          </p:cNvPr>
          <p:cNvSpPr txBox="1">
            <a:spLocks noGrp="1"/>
          </p:cNvSpPr>
          <p:nvPr>
            <p:ph type="dt" sz="half" idx="4294967295"/>
          </p:nvPr>
        </p:nvSpPr>
        <p:spPr>
          <a:xfrm>
            <a:off x="145224" y="4740846"/>
            <a:ext cx="4699000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lang="en-US" altLang="zh-CN" spc="-10" dirty="0">
                <a:solidFill>
                  <a:schemeClr val="bg1"/>
                </a:solidFill>
              </a:rPr>
              <a:t>Convolutional</a:t>
            </a:r>
            <a:r>
              <a:rPr lang="zh-CN" altLang="en-US" spc="-10" dirty="0">
                <a:solidFill>
                  <a:schemeClr val="bg1"/>
                </a:solidFill>
              </a:rPr>
              <a:t> </a:t>
            </a:r>
            <a:r>
              <a:rPr lang="en-US" altLang="zh-CN" spc="-10" dirty="0">
                <a:solidFill>
                  <a:schemeClr val="bg1"/>
                </a:solidFill>
              </a:rPr>
              <a:t>Neural</a:t>
            </a:r>
            <a:r>
              <a:rPr lang="zh-CN" altLang="en-US" spc="-10" dirty="0">
                <a:solidFill>
                  <a:schemeClr val="bg1"/>
                </a:solidFill>
              </a:rPr>
              <a:t> </a:t>
            </a:r>
            <a:r>
              <a:rPr lang="en-US" altLang="zh-CN" spc="-10" dirty="0">
                <a:solidFill>
                  <a:schemeClr val="bg1"/>
                </a:solidFill>
              </a:rPr>
              <a:t>Networks</a:t>
            </a:r>
            <a:endParaRPr spc="-1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7899" y="109405"/>
            <a:ext cx="8883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Arial"/>
                <a:cs typeface="Arial"/>
              </a:rPr>
              <a:t>Preview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51308" y="93099"/>
            <a:ext cx="4899250" cy="294431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157181" y="111437"/>
            <a:ext cx="1496695" cy="44830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>
              <a:lnSpc>
                <a:spcPts val="1650"/>
              </a:lnSpc>
              <a:spcBef>
                <a:spcPts val="180"/>
              </a:spcBef>
            </a:pPr>
            <a:r>
              <a:rPr sz="1400" i="1" dirty="0">
                <a:latin typeface="Arial"/>
                <a:cs typeface="Arial"/>
              </a:rPr>
              <a:t>[From</a:t>
            </a:r>
            <a:r>
              <a:rPr sz="1400" i="1" spc="-20" dirty="0">
                <a:latin typeface="Arial"/>
                <a:cs typeface="Arial"/>
              </a:rPr>
              <a:t> </a:t>
            </a:r>
            <a:r>
              <a:rPr sz="1400" i="1" dirty="0">
                <a:latin typeface="Arial"/>
                <a:cs typeface="Arial"/>
              </a:rPr>
              <a:t>recent</a:t>
            </a:r>
            <a:r>
              <a:rPr sz="1400" i="1" spc="-15" dirty="0">
                <a:latin typeface="Arial"/>
                <a:cs typeface="Arial"/>
              </a:rPr>
              <a:t> </a:t>
            </a:r>
            <a:r>
              <a:rPr sz="1400" i="1" spc="-20" dirty="0">
                <a:latin typeface="Arial"/>
                <a:cs typeface="Arial"/>
              </a:rPr>
              <a:t>Yann </a:t>
            </a:r>
            <a:r>
              <a:rPr sz="1400" i="1" dirty="0">
                <a:latin typeface="Arial"/>
                <a:cs typeface="Arial"/>
              </a:rPr>
              <a:t>LeCun</a:t>
            </a:r>
            <a:r>
              <a:rPr sz="1400" i="1" spc="-25" dirty="0">
                <a:latin typeface="Arial"/>
                <a:cs typeface="Arial"/>
              </a:rPr>
              <a:t> </a:t>
            </a:r>
            <a:r>
              <a:rPr sz="1400" i="1" spc="-10" dirty="0">
                <a:latin typeface="Arial"/>
                <a:cs typeface="Arial"/>
              </a:rPr>
              <a:t>slides]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200290" y="3137981"/>
            <a:ext cx="3980815" cy="1332230"/>
            <a:chOff x="2200290" y="3137981"/>
            <a:chExt cx="3980815" cy="1332230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209815" y="3147518"/>
              <a:ext cx="3961767" cy="1305054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2205052" y="3142743"/>
              <a:ext cx="3971290" cy="1322705"/>
            </a:xfrm>
            <a:custGeom>
              <a:avLst/>
              <a:gdLst/>
              <a:ahLst/>
              <a:cxnLst/>
              <a:rect l="l" t="t" r="r" b="b"/>
              <a:pathLst>
                <a:path w="3971290" h="1322704">
                  <a:moveTo>
                    <a:pt x="0" y="0"/>
                  </a:moveTo>
                  <a:lnTo>
                    <a:pt x="3971284" y="0"/>
                  </a:lnTo>
                  <a:lnTo>
                    <a:pt x="3971284" y="1322372"/>
                  </a:lnTo>
                  <a:lnTo>
                    <a:pt x="0" y="1322372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0">
            <a:extLst>
              <a:ext uri="{FF2B5EF4-FFF2-40B4-BE49-F238E27FC236}">
                <a16:creationId xmlns:a16="http://schemas.microsoft.com/office/drawing/2014/main" id="{58E10665-8B38-8846-8887-4F243258A946}"/>
              </a:ext>
            </a:extLst>
          </p:cNvPr>
          <p:cNvSpPr txBox="1">
            <a:spLocks noGrp="1"/>
          </p:cNvSpPr>
          <p:nvPr>
            <p:ph type="dt" sz="half" idx="4294967295"/>
          </p:nvPr>
        </p:nvSpPr>
        <p:spPr>
          <a:xfrm>
            <a:off x="145224" y="4740846"/>
            <a:ext cx="4699000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lang="en-US" altLang="zh-CN" spc="-10" dirty="0">
                <a:solidFill>
                  <a:schemeClr val="bg1"/>
                </a:solidFill>
              </a:rPr>
              <a:t>Convolutional</a:t>
            </a:r>
            <a:r>
              <a:rPr lang="zh-CN" altLang="en-US" spc="-10" dirty="0">
                <a:solidFill>
                  <a:schemeClr val="bg1"/>
                </a:solidFill>
              </a:rPr>
              <a:t> </a:t>
            </a:r>
            <a:r>
              <a:rPr lang="en-US" altLang="zh-CN" spc="-10" dirty="0">
                <a:solidFill>
                  <a:schemeClr val="bg1"/>
                </a:solidFill>
              </a:rPr>
              <a:t>Neural</a:t>
            </a:r>
            <a:r>
              <a:rPr lang="zh-CN" altLang="en-US" spc="-10" dirty="0">
                <a:solidFill>
                  <a:schemeClr val="bg1"/>
                </a:solidFill>
              </a:rPr>
              <a:t> </a:t>
            </a:r>
            <a:r>
              <a:rPr lang="en-US" altLang="zh-CN" spc="-10" dirty="0">
                <a:solidFill>
                  <a:schemeClr val="bg1"/>
                </a:solidFill>
              </a:rPr>
              <a:t>Networks</a:t>
            </a:r>
            <a:endParaRPr spc="-1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10199" y="0"/>
            <a:ext cx="8581390" cy="4533265"/>
            <a:chOff x="410199" y="0"/>
            <a:chExt cx="8581390" cy="453326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0049" y="76899"/>
              <a:ext cx="4308841" cy="4455841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410197" y="0"/>
              <a:ext cx="1341755" cy="889000"/>
            </a:xfrm>
            <a:custGeom>
              <a:avLst/>
              <a:gdLst/>
              <a:ahLst/>
              <a:cxnLst/>
              <a:rect l="l" t="t" r="r" b="b"/>
              <a:pathLst>
                <a:path w="1341755" h="889000">
                  <a:moveTo>
                    <a:pt x="1341704" y="256374"/>
                  </a:moveTo>
                  <a:lnTo>
                    <a:pt x="957287" y="256374"/>
                  </a:lnTo>
                  <a:lnTo>
                    <a:pt x="957287" y="0"/>
                  </a:lnTo>
                  <a:lnTo>
                    <a:pt x="0" y="0"/>
                  </a:lnTo>
                  <a:lnTo>
                    <a:pt x="0" y="256374"/>
                  </a:lnTo>
                  <a:lnTo>
                    <a:pt x="658012" y="256374"/>
                  </a:lnTo>
                  <a:lnTo>
                    <a:pt x="658012" y="888784"/>
                  </a:lnTo>
                  <a:lnTo>
                    <a:pt x="1341704" y="888784"/>
                  </a:lnTo>
                  <a:lnTo>
                    <a:pt x="1341704" y="25637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51921" y="170029"/>
              <a:ext cx="7163135" cy="25779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502823" y="170125"/>
              <a:ext cx="1548765" cy="1777364"/>
            </a:xfrm>
            <a:custGeom>
              <a:avLst/>
              <a:gdLst/>
              <a:ahLst/>
              <a:cxnLst/>
              <a:rect l="l" t="t" r="r" b="b"/>
              <a:pathLst>
                <a:path w="1548764" h="1777364">
                  <a:moveTo>
                    <a:pt x="1300339" y="0"/>
                  </a:moveTo>
                  <a:lnTo>
                    <a:pt x="1548139" y="0"/>
                  </a:lnTo>
                  <a:lnTo>
                    <a:pt x="1548139" y="257700"/>
                  </a:lnTo>
                  <a:lnTo>
                    <a:pt x="1300339" y="257700"/>
                  </a:lnTo>
                  <a:lnTo>
                    <a:pt x="1300339" y="0"/>
                  </a:lnTo>
                  <a:close/>
                </a:path>
                <a:path w="1548764" h="1777364">
                  <a:moveTo>
                    <a:pt x="0" y="1144471"/>
                  </a:moveTo>
                  <a:lnTo>
                    <a:pt x="565498" y="1144471"/>
                  </a:lnTo>
                  <a:lnTo>
                    <a:pt x="565498" y="1776870"/>
                  </a:lnTo>
                  <a:lnTo>
                    <a:pt x="0" y="1776870"/>
                  </a:lnTo>
                  <a:lnTo>
                    <a:pt x="0" y="1144471"/>
                  </a:lnTo>
                  <a:close/>
                </a:path>
                <a:path w="1548764" h="1777364">
                  <a:moveTo>
                    <a:pt x="1424239" y="257700"/>
                  </a:moveTo>
                  <a:lnTo>
                    <a:pt x="632041" y="1367663"/>
                  </a:lnTo>
                </a:path>
              </a:pathLst>
            </a:custGeom>
            <a:ln w="190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75117" y="1509984"/>
              <a:ext cx="94882" cy="10769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982165" y="2908094"/>
              <a:ext cx="4009048" cy="453839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7674109" y="3438543"/>
              <a:ext cx="0" cy="339090"/>
            </a:xfrm>
            <a:custGeom>
              <a:avLst/>
              <a:gdLst/>
              <a:ahLst/>
              <a:cxnLst/>
              <a:rect l="l" t="t" r="r" b="b"/>
              <a:pathLst>
                <a:path h="339089">
                  <a:moveTo>
                    <a:pt x="0" y="338699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633109" y="3342568"/>
              <a:ext cx="81999" cy="105499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6339757" y="523731"/>
            <a:ext cx="2566035" cy="6648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875"/>
              </a:lnSpc>
              <a:spcBef>
                <a:spcPts val="100"/>
              </a:spcBef>
            </a:pPr>
            <a:r>
              <a:rPr sz="2400" dirty="0">
                <a:latin typeface="Arial"/>
                <a:cs typeface="Arial"/>
              </a:rPr>
              <a:t>example</a:t>
            </a:r>
            <a:r>
              <a:rPr sz="2400" spc="-9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5x5</a:t>
            </a:r>
            <a:r>
              <a:rPr sz="2400" spc="-9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filters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ts val="2155"/>
              </a:lnSpc>
            </a:pPr>
            <a:r>
              <a:rPr sz="1800" dirty="0">
                <a:latin typeface="Arial"/>
                <a:cs typeface="Arial"/>
              </a:rPr>
              <a:t>(32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total)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278141" y="1856301"/>
            <a:ext cx="3530600" cy="852169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>
              <a:lnSpc>
                <a:spcPct val="100699"/>
              </a:lnSpc>
              <a:spcBef>
                <a:spcPts val="85"/>
              </a:spcBef>
            </a:pPr>
            <a:r>
              <a:rPr sz="1800" dirty="0">
                <a:latin typeface="Arial"/>
                <a:cs typeface="Arial"/>
              </a:rPr>
              <a:t>We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call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layer</a:t>
            </a:r>
            <a:r>
              <a:rPr sz="1800" spc="-10" dirty="0">
                <a:latin typeface="Arial"/>
                <a:cs typeface="Arial"/>
              </a:rPr>
              <a:t> convolutional </a:t>
            </a:r>
            <a:r>
              <a:rPr sz="1800" dirty="0">
                <a:latin typeface="Arial"/>
                <a:cs typeface="Arial"/>
              </a:rPr>
              <a:t>because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it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is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related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to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convolution </a:t>
            </a:r>
            <a:r>
              <a:rPr sz="1800" dirty="0">
                <a:latin typeface="Arial"/>
                <a:cs typeface="Arial"/>
              </a:rPr>
              <a:t>of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two</a:t>
            </a:r>
            <a:r>
              <a:rPr sz="1800" spc="-10" dirty="0">
                <a:latin typeface="Arial"/>
                <a:cs typeface="Arial"/>
              </a:rPr>
              <a:t> signals:</a:t>
            </a:r>
            <a:endParaRPr sz="18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968188" y="3810382"/>
            <a:ext cx="3018155" cy="44830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>
              <a:lnSpc>
                <a:spcPts val="1650"/>
              </a:lnSpc>
              <a:spcBef>
                <a:spcPts val="180"/>
              </a:spcBef>
            </a:pPr>
            <a:r>
              <a:rPr sz="1400" dirty="0">
                <a:latin typeface="Arial"/>
                <a:cs typeface="Arial"/>
              </a:rPr>
              <a:t>elementwise</a:t>
            </a:r>
            <a:r>
              <a:rPr sz="1400" spc="-5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multiplication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and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sum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of </a:t>
            </a:r>
            <a:r>
              <a:rPr sz="1400" dirty="0">
                <a:latin typeface="Arial"/>
                <a:cs typeface="Arial"/>
              </a:rPr>
              <a:t>a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filter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and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the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signal</a:t>
            </a:r>
            <a:r>
              <a:rPr sz="1400" spc="-10" dirty="0">
                <a:latin typeface="Arial"/>
                <a:cs typeface="Arial"/>
              </a:rPr>
              <a:t> (image)</a:t>
            </a:r>
            <a:endParaRPr sz="1400">
              <a:latin typeface="Arial"/>
              <a:cs typeface="Arial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2104798" y="381841"/>
            <a:ext cx="1943735" cy="5759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0000"/>
                </a:solidFill>
              </a:rPr>
              <a:t>one</a:t>
            </a:r>
            <a:r>
              <a:rPr sz="1800" spc="-20" dirty="0">
                <a:solidFill>
                  <a:srgbClr val="FF0000"/>
                </a:solidFill>
              </a:rPr>
              <a:t> </a:t>
            </a:r>
            <a:r>
              <a:rPr sz="1800" dirty="0">
                <a:solidFill>
                  <a:srgbClr val="FF0000"/>
                </a:solidFill>
              </a:rPr>
              <a:t>filter</a:t>
            </a:r>
            <a:r>
              <a:rPr sz="1800" spc="-10" dirty="0">
                <a:solidFill>
                  <a:srgbClr val="FF0000"/>
                </a:solidFill>
              </a:rPr>
              <a:t> </a:t>
            </a:r>
            <a:r>
              <a:rPr sz="1800" spc="-25" dirty="0">
                <a:solidFill>
                  <a:srgbClr val="FF0000"/>
                </a:solidFill>
              </a:rPr>
              <a:t>=&gt;</a:t>
            </a:r>
            <a:endParaRPr sz="1800"/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dirty="0">
                <a:solidFill>
                  <a:srgbClr val="FF0000"/>
                </a:solidFill>
              </a:rPr>
              <a:t>one</a:t>
            </a:r>
            <a:r>
              <a:rPr sz="1800" spc="-35" dirty="0">
                <a:solidFill>
                  <a:srgbClr val="FF0000"/>
                </a:solidFill>
              </a:rPr>
              <a:t> </a:t>
            </a:r>
            <a:r>
              <a:rPr sz="1800" dirty="0">
                <a:solidFill>
                  <a:srgbClr val="FF0000"/>
                </a:solidFill>
              </a:rPr>
              <a:t>activation</a:t>
            </a:r>
            <a:r>
              <a:rPr sz="1800" spc="-30" dirty="0">
                <a:solidFill>
                  <a:srgbClr val="FF0000"/>
                </a:solidFill>
              </a:rPr>
              <a:t> </a:t>
            </a:r>
            <a:r>
              <a:rPr sz="1800" spc="-25" dirty="0">
                <a:solidFill>
                  <a:srgbClr val="FF0000"/>
                </a:solidFill>
              </a:rPr>
              <a:t>map</a:t>
            </a:r>
            <a:endParaRPr sz="1800"/>
          </a:p>
        </p:txBody>
      </p:sp>
      <p:grpSp>
        <p:nvGrpSpPr>
          <p:cNvPr id="15" name="object 15"/>
          <p:cNvGrpSpPr/>
          <p:nvPr/>
        </p:nvGrpSpPr>
        <p:grpSpPr>
          <a:xfrm>
            <a:off x="493299" y="169200"/>
            <a:ext cx="4672965" cy="3074670"/>
            <a:chOff x="493299" y="169200"/>
            <a:chExt cx="4672965" cy="3074670"/>
          </a:xfrm>
        </p:grpSpPr>
        <p:sp>
          <p:nvSpPr>
            <p:cNvPr id="16" name="object 16"/>
            <p:cNvSpPr/>
            <p:nvPr/>
          </p:nvSpPr>
          <p:spPr>
            <a:xfrm>
              <a:off x="1153260" y="178725"/>
              <a:ext cx="4003675" cy="2407920"/>
            </a:xfrm>
            <a:custGeom>
              <a:avLst/>
              <a:gdLst/>
              <a:ahLst/>
              <a:cxnLst/>
              <a:rect l="l" t="t" r="r" b="b"/>
              <a:pathLst>
                <a:path w="4003675" h="2407920">
                  <a:moveTo>
                    <a:pt x="3755329" y="0"/>
                  </a:moveTo>
                  <a:lnTo>
                    <a:pt x="4003129" y="0"/>
                  </a:lnTo>
                  <a:lnTo>
                    <a:pt x="4003129" y="257700"/>
                  </a:lnTo>
                  <a:lnTo>
                    <a:pt x="3755329" y="257700"/>
                  </a:lnTo>
                  <a:lnTo>
                    <a:pt x="3755329" y="0"/>
                  </a:lnTo>
                  <a:close/>
                </a:path>
                <a:path w="4003675" h="2407920">
                  <a:moveTo>
                    <a:pt x="3879229" y="257700"/>
                  </a:moveTo>
                  <a:lnTo>
                    <a:pt x="0" y="2407893"/>
                  </a:lnTo>
                </a:path>
              </a:pathLst>
            </a:custGeom>
            <a:ln w="19049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68122" y="2549569"/>
              <a:ext cx="109917" cy="88474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502823" y="2601369"/>
              <a:ext cx="565785" cy="632460"/>
            </a:xfrm>
            <a:custGeom>
              <a:avLst/>
              <a:gdLst/>
              <a:ahLst/>
              <a:cxnLst/>
              <a:rect l="l" t="t" r="r" b="b"/>
              <a:pathLst>
                <a:path w="565785" h="632460">
                  <a:moveTo>
                    <a:pt x="0" y="0"/>
                  </a:moveTo>
                  <a:lnTo>
                    <a:pt x="565498" y="0"/>
                  </a:lnTo>
                  <a:lnTo>
                    <a:pt x="565498" y="632398"/>
                  </a:lnTo>
                  <a:lnTo>
                    <a:pt x="0" y="632398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10">
            <a:extLst>
              <a:ext uri="{FF2B5EF4-FFF2-40B4-BE49-F238E27FC236}">
                <a16:creationId xmlns:a16="http://schemas.microsoft.com/office/drawing/2014/main" id="{185C8713-CA22-084B-B4AC-ECDB1B18BED6}"/>
              </a:ext>
            </a:extLst>
          </p:cNvPr>
          <p:cNvSpPr txBox="1">
            <a:spLocks noGrp="1"/>
          </p:cNvSpPr>
          <p:nvPr>
            <p:ph type="dt" sz="half" idx="4294967295"/>
          </p:nvPr>
        </p:nvSpPr>
        <p:spPr>
          <a:xfrm>
            <a:off x="145224" y="4740846"/>
            <a:ext cx="4699000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lang="en-US" altLang="zh-CN" spc="-10" dirty="0">
                <a:solidFill>
                  <a:schemeClr val="bg1"/>
                </a:solidFill>
              </a:rPr>
              <a:t>Convolutional</a:t>
            </a:r>
            <a:r>
              <a:rPr lang="zh-CN" altLang="en-US" spc="-10" dirty="0">
                <a:solidFill>
                  <a:schemeClr val="bg1"/>
                </a:solidFill>
              </a:rPr>
              <a:t> </a:t>
            </a:r>
            <a:r>
              <a:rPr lang="en-US" altLang="zh-CN" spc="-10" dirty="0">
                <a:solidFill>
                  <a:schemeClr val="bg1"/>
                </a:solidFill>
              </a:rPr>
              <a:t>Neural</a:t>
            </a:r>
            <a:r>
              <a:rPr lang="zh-CN" altLang="en-US" spc="-10" dirty="0">
                <a:solidFill>
                  <a:schemeClr val="bg1"/>
                </a:solidFill>
              </a:rPr>
              <a:t> </a:t>
            </a:r>
            <a:r>
              <a:rPr lang="en-US" altLang="zh-CN" spc="-10" dirty="0">
                <a:solidFill>
                  <a:schemeClr val="bg1"/>
                </a:solidFill>
              </a:rPr>
              <a:t>Networks</a:t>
            </a:r>
            <a:endParaRPr spc="-1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44149"/>
            <a:ext cx="9143981" cy="4378916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16199" y="-27550"/>
            <a:ext cx="68643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Arial"/>
                <a:cs typeface="Arial"/>
              </a:rPr>
              <a:t>preview:</a:t>
            </a:r>
            <a:endParaRPr sz="1400">
              <a:latin typeface="Arial"/>
              <a:cs typeface="Arial"/>
            </a:endParaRPr>
          </a:p>
        </p:txBody>
      </p:sp>
      <p:sp>
        <p:nvSpPr>
          <p:cNvPr id="8" name="object 10">
            <a:extLst>
              <a:ext uri="{FF2B5EF4-FFF2-40B4-BE49-F238E27FC236}">
                <a16:creationId xmlns:a16="http://schemas.microsoft.com/office/drawing/2014/main" id="{8826DBE6-CD2F-0947-B697-7E99137430ED}"/>
              </a:ext>
            </a:extLst>
          </p:cNvPr>
          <p:cNvSpPr txBox="1">
            <a:spLocks noGrp="1"/>
          </p:cNvSpPr>
          <p:nvPr>
            <p:ph type="dt" sz="half" idx="4294967295"/>
          </p:nvPr>
        </p:nvSpPr>
        <p:spPr>
          <a:xfrm>
            <a:off x="145224" y="4740846"/>
            <a:ext cx="4699000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lang="en-US" altLang="zh-CN" spc="-10" dirty="0">
                <a:solidFill>
                  <a:schemeClr val="bg1"/>
                </a:solidFill>
              </a:rPr>
              <a:t>Convolutional</a:t>
            </a:r>
            <a:r>
              <a:rPr lang="zh-CN" altLang="en-US" spc="-10" dirty="0">
                <a:solidFill>
                  <a:schemeClr val="bg1"/>
                </a:solidFill>
              </a:rPr>
              <a:t> </a:t>
            </a:r>
            <a:r>
              <a:rPr lang="en-US" altLang="zh-CN" spc="-10" dirty="0">
                <a:solidFill>
                  <a:schemeClr val="bg1"/>
                </a:solidFill>
              </a:rPr>
              <a:t>Neural</a:t>
            </a:r>
            <a:r>
              <a:rPr lang="zh-CN" altLang="en-US" spc="-10" dirty="0">
                <a:solidFill>
                  <a:schemeClr val="bg1"/>
                </a:solidFill>
              </a:rPr>
              <a:t> </a:t>
            </a:r>
            <a:r>
              <a:rPr lang="en-US" altLang="zh-CN" spc="-10" dirty="0">
                <a:solidFill>
                  <a:schemeClr val="bg1"/>
                </a:solidFill>
              </a:rPr>
              <a:t>Networks</a:t>
            </a:r>
            <a:endParaRPr spc="-1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1174" y="122299"/>
            <a:ext cx="4384675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dirty="0"/>
              <a:t>A</a:t>
            </a:r>
            <a:r>
              <a:rPr sz="2200" spc="-50" dirty="0"/>
              <a:t> </a:t>
            </a:r>
            <a:r>
              <a:rPr sz="2200" dirty="0"/>
              <a:t>closer</a:t>
            </a:r>
            <a:r>
              <a:rPr sz="2200" spc="-50" dirty="0"/>
              <a:t> </a:t>
            </a:r>
            <a:r>
              <a:rPr sz="2200" dirty="0"/>
              <a:t>look</a:t>
            </a:r>
            <a:r>
              <a:rPr sz="2200" spc="-45" dirty="0"/>
              <a:t> </a:t>
            </a:r>
            <a:r>
              <a:rPr sz="2200" dirty="0"/>
              <a:t>at</a:t>
            </a:r>
            <a:r>
              <a:rPr sz="2200" spc="-50" dirty="0"/>
              <a:t> </a:t>
            </a:r>
            <a:r>
              <a:rPr sz="2200" dirty="0"/>
              <a:t>spatial</a:t>
            </a:r>
            <a:r>
              <a:rPr sz="2200" spc="-50" dirty="0"/>
              <a:t> </a:t>
            </a:r>
            <a:r>
              <a:rPr sz="2200" spc="-10" dirty="0"/>
              <a:t>dimensions:</a:t>
            </a:r>
            <a:endParaRPr sz="2200"/>
          </a:p>
        </p:txBody>
      </p:sp>
      <p:grpSp>
        <p:nvGrpSpPr>
          <p:cNvPr id="3" name="object 3"/>
          <p:cNvGrpSpPr/>
          <p:nvPr/>
        </p:nvGrpSpPr>
        <p:grpSpPr>
          <a:xfrm>
            <a:off x="1257572" y="2294595"/>
            <a:ext cx="1898014" cy="833119"/>
            <a:chOff x="1257572" y="2294595"/>
            <a:chExt cx="1898014" cy="833119"/>
          </a:xfrm>
        </p:grpSpPr>
        <p:sp>
          <p:nvSpPr>
            <p:cNvPr id="4" name="object 4"/>
            <p:cNvSpPr/>
            <p:nvPr/>
          </p:nvSpPr>
          <p:spPr>
            <a:xfrm>
              <a:off x="1267097" y="2454817"/>
              <a:ext cx="132080" cy="663575"/>
            </a:xfrm>
            <a:custGeom>
              <a:avLst/>
              <a:gdLst/>
              <a:ahLst/>
              <a:cxnLst/>
              <a:rect l="l" t="t" r="r" b="b"/>
              <a:pathLst>
                <a:path w="132080" h="663575">
                  <a:moveTo>
                    <a:pt x="131602" y="663201"/>
                  </a:moveTo>
                  <a:lnTo>
                    <a:pt x="0" y="663201"/>
                  </a:lnTo>
                  <a:lnTo>
                    <a:pt x="0" y="0"/>
                  </a:lnTo>
                  <a:lnTo>
                    <a:pt x="131602" y="0"/>
                  </a:lnTo>
                  <a:lnTo>
                    <a:pt x="131602" y="663201"/>
                  </a:lnTo>
                  <a:close/>
                </a:path>
              </a:pathLst>
            </a:custGeom>
            <a:solidFill>
              <a:srgbClr val="C8D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398699" y="2304120"/>
              <a:ext cx="151130" cy="814069"/>
            </a:xfrm>
            <a:custGeom>
              <a:avLst/>
              <a:gdLst/>
              <a:ahLst/>
              <a:cxnLst/>
              <a:rect l="l" t="t" r="r" b="b"/>
              <a:pathLst>
                <a:path w="151130" h="814069">
                  <a:moveTo>
                    <a:pt x="0" y="813898"/>
                  </a:moveTo>
                  <a:lnTo>
                    <a:pt x="0" y="150697"/>
                  </a:lnTo>
                  <a:lnTo>
                    <a:pt x="150697" y="0"/>
                  </a:lnTo>
                  <a:lnTo>
                    <a:pt x="150697" y="663198"/>
                  </a:lnTo>
                  <a:lnTo>
                    <a:pt x="0" y="813898"/>
                  </a:lnTo>
                  <a:close/>
                </a:path>
              </a:pathLst>
            </a:custGeom>
            <a:solidFill>
              <a:srgbClr val="A0AE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267097" y="2304120"/>
              <a:ext cx="282575" cy="151130"/>
            </a:xfrm>
            <a:custGeom>
              <a:avLst/>
              <a:gdLst/>
              <a:ahLst/>
              <a:cxnLst/>
              <a:rect l="l" t="t" r="r" b="b"/>
              <a:pathLst>
                <a:path w="282575" h="151130">
                  <a:moveTo>
                    <a:pt x="131602" y="150697"/>
                  </a:moveTo>
                  <a:lnTo>
                    <a:pt x="0" y="150697"/>
                  </a:lnTo>
                  <a:lnTo>
                    <a:pt x="150697" y="0"/>
                  </a:lnTo>
                  <a:lnTo>
                    <a:pt x="282299" y="0"/>
                  </a:lnTo>
                  <a:lnTo>
                    <a:pt x="131602" y="150697"/>
                  </a:lnTo>
                  <a:close/>
                </a:path>
              </a:pathLst>
            </a:custGeom>
            <a:solidFill>
              <a:srgbClr val="D3E1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267097" y="2304120"/>
              <a:ext cx="282575" cy="814069"/>
            </a:xfrm>
            <a:custGeom>
              <a:avLst/>
              <a:gdLst/>
              <a:ahLst/>
              <a:cxnLst/>
              <a:rect l="l" t="t" r="r" b="b"/>
              <a:pathLst>
                <a:path w="282575" h="814069">
                  <a:moveTo>
                    <a:pt x="0" y="150697"/>
                  </a:moveTo>
                  <a:lnTo>
                    <a:pt x="150697" y="0"/>
                  </a:lnTo>
                  <a:lnTo>
                    <a:pt x="282299" y="0"/>
                  </a:lnTo>
                  <a:lnTo>
                    <a:pt x="282299" y="663198"/>
                  </a:lnTo>
                  <a:lnTo>
                    <a:pt x="131602" y="813898"/>
                  </a:lnTo>
                  <a:lnTo>
                    <a:pt x="0" y="813898"/>
                  </a:lnTo>
                  <a:lnTo>
                    <a:pt x="0" y="150697"/>
                  </a:lnTo>
                  <a:close/>
                </a:path>
                <a:path w="282575" h="814069">
                  <a:moveTo>
                    <a:pt x="0" y="150697"/>
                  </a:moveTo>
                  <a:lnTo>
                    <a:pt x="131602" y="150697"/>
                  </a:lnTo>
                  <a:lnTo>
                    <a:pt x="282299" y="0"/>
                  </a:lnTo>
                </a:path>
                <a:path w="282575" h="814069">
                  <a:moveTo>
                    <a:pt x="131602" y="150697"/>
                  </a:moveTo>
                  <a:lnTo>
                    <a:pt x="131602" y="813898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863344" y="2569919"/>
              <a:ext cx="282575" cy="282575"/>
            </a:xfrm>
            <a:custGeom>
              <a:avLst/>
              <a:gdLst/>
              <a:ahLst/>
              <a:cxnLst/>
              <a:rect l="l" t="t" r="r" b="b"/>
              <a:pathLst>
                <a:path w="282575" h="282575">
                  <a:moveTo>
                    <a:pt x="141149" y="282299"/>
                  </a:moveTo>
                  <a:lnTo>
                    <a:pt x="96537" y="275103"/>
                  </a:lnTo>
                  <a:lnTo>
                    <a:pt x="57790" y="255064"/>
                  </a:lnTo>
                  <a:lnTo>
                    <a:pt x="27235" y="224508"/>
                  </a:lnTo>
                  <a:lnTo>
                    <a:pt x="7196" y="185762"/>
                  </a:lnTo>
                  <a:lnTo>
                    <a:pt x="0" y="141149"/>
                  </a:lnTo>
                  <a:lnTo>
                    <a:pt x="7196" y="96537"/>
                  </a:lnTo>
                  <a:lnTo>
                    <a:pt x="27235" y="57790"/>
                  </a:lnTo>
                  <a:lnTo>
                    <a:pt x="57790" y="27235"/>
                  </a:lnTo>
                  <a:lnTo>
                    <a:pt x="96537" y="7196"/>
                  </a:lnTo>
                  <a:lnTo>
                    <a:pt x="141149" y="0"/>
                  </a:lnTo>
                  <a:lnTo>
                    <a:pt x="168809" y="2737"/>
                  </a:lnTo>
                  <a:lnTo>
                    <a:pt x="219449" y="23719"/>
                  </a:lnTo>
                  <a:lnTo>
                    <a:pt x="258579" y="62849"/>
                  </a:lnTo>
                  <a:lnTo>
                    <a:pt x="279561" y="113490"/>
                  </a:lnTo>
                  <a:lnTo>
                    <a:pt x="282299" y="141149"/>
                  </a:lnTo>
                  <a:lnTo>
                    <a:pt x="275103" y="185762"/>
                  </a:lnTo>
                  <a:lnTo>
                    <a:pt x="255064" y="224508"/>
                  </a:lnTo>
                  <a:lnTo>
                    <a:pt x="224508" y="255064"/>
                  </a:lnTo>
                  <a:lnTo>
                    <a:pt x="185762" y="275103"/>
                  </a:lnTo>
                  <a:lnTo>
                    <a:pt x="141149" y="282299"/>
                  </a:lnTo>
                  <a:close/>
                </a:path>
              </a:pathLst>
            </a:custGeom>
            <a:solidFill>
              <a:srgbClr val="C8D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373847" y="2324370"/>
              <a:ext cx="1772285" cy="786130"/>
            </a:xfrm>
            <a:custGeom>
              <a:avLst/>
              <a:gdLst/>
              <a:ahLst/>
              <a:cxnLst/>
              <a:rect l="l" t="t" r="r" b="b"/>
              <a:pathLst>
                <a:path w="1772285" h="786130">
                  <a:moveTo>
                    <a:pt x="1489496" y="386699"/>
                  </a:moveTo>
                  <a:lnTo>
                    <a:pt x="1496693" y="342086"/>
                  </a:lnTo>
                  <a:lnTo>
                    <a:pt x="1516732" y="303340"/>
                  </a:lnTo>
                  <a:lnTo>
                    <a:pt x="1547287" y="272784"/>
                  </a:lnTo>
                  <a:lnTo>
                    <a:pt x="1586034" y="252745"/>
                  </a:lnTo>
                  <a:lnTo>
                    <a:pt x="1630646" y="245549"/>
                  </a:lnTo>
                  <a:lnTo>
                    <a:pt x="1684652" y="256296"/>
                  </a:lnTo>
                  <a:lnTo>
                    <a:pt x="1730446" y="286899"/>
                  </a:lnTo>
                  <a:lnTo>
                    <a:pt x="1761049" y="332693"/>
                  </a:lnTo>
                  <a:lnTo>
                    <a:pt x="1771796" y="386699"/>
                  </a:lnTo>
                  <a:lnTo>
                    <a:pt x="1764600" y="431311"/>
                  </a:lnTo>
                  <a:lnTo>
                    <a:pt x="1744561" y="470058"/>
                  </a:lnTo>
                  <a:lnTo>
                    <a:pt x="1714005" y="500613"/>
                  </a:lnTo>
                  <a:lnTo>
                    <a:pt x="1675259" y="520652"/>
                  </a:lnTo>
                  <a:lnTo>
                    <a:pt x="1630646" y="527848"/>
                  </a:lnTo>
                  <a:lnTo>
                    <a:pt x="1586034" y="520652"/>
                  </a:lnTo>
                  <a:lnTo>
                    <a:pt x="1547287" y="500613"/>
                  </a:lnTo>
                  <a:lnTo>
                    <a:pt x="1516732" y="470058"/>
                  </a:lnTo>
                  <a:lnTo>
                    <a:pt x="1496693" y="431311"/>
                  </a:lnTo>
                  <a:lnTo>
                    <a:pt x="1489496" y="386699"/>
                  </a:lnTo>
                  <a:close/>
                </a:path>
                <a:path w="1772285" h="786130">
                  <a:moveTo>
                    <a:pt x="0" y="785698"/>
                  </a:moveTo>
                  <a:lnTo>
                    <a:pt x="1489496" y="386699"/>
                  </a:lnTo>
                </a:path>
                <a:path w="1772285" h="786130">
                  <a:moveTo>
                    <a:pt x="19499" y="149399"/>
                  </a:moveTo>
                  <a:lnTo>
                    <a:pt x="1489496" y="386699"/>
                  </a:lnTo>
                </a:path>
                <a:path w="1772285" h="786130">
                  <a:moveTo>
                    <a:pt x="155699" y="0"/>
                  </a:moveTo>
                  <a:lnTo>
                    <a:pt x="1489496" y="386699"/>
                  </a:lnTo>
                </a:path>
                <a:path w="1772285" h="786130">
                  <a:moveTo>
                    <a:pt x="181799" y="636298"/>
                  </a:moveTo>
                  <a:lnTo>
                    <a:pt x="1489496" y="386699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536223" y="3695994"/>
            <a:ext cx="280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Arial"/>
                <a:cs typeface="Arial"/>
              </a:rPr>
              <a:t>32</a:t>
            </a:r>
            <a:endParaRPr sz="18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65610" y="4087632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Arial"/>
                <a:cs typeface="Arial"/>
              </a:rPr>
              <a:t>3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841048" y="1322597"/>
            <a:ext cx="975994" cy="2777490"/>
            <a:chOff x="841048" y="1322597"/>
            <a:chExt cx="975994" cy="2777490"/>
          </a:xfrm>
        </p:grpSpPr>
        <p:sp>
          <p:nvSpPr>
            <p:cNvPr id="13" name="object 13"/>
            <p:cNvSpPr/>
            <p:nvPr/>
          </p:nvSpPr>
          <p:spPr>
            <a:xfrm>
              <a:off x="850573" y="2075348"/>
              <a:ext cx="213360" cy="2014855"/>
            </a:xfrm>
            <a:custGeom>
              <a:avLst/>
              <a:gdLst/>
              <a:ahLst/>
              <a:cxnLst/>
              <a:rect l="l" t="t" r="r" b="b"/>
              <a:pathLst>
                <a:path w="213359" h="2014854">
                  <a:moveTo>
                    <a:pt x="213172" y="2014668"/>
                  </a:moveTo>
                  <a:lnTo>
                    <a:pt x="0" y="2014668"/>
                  </a:lnTo>
                  <a:lnTo>
                    <a:pt x="0" y="0"/>
                  </a:lnTo>
                  <a:lnTo>
                    <a:pt x="213172" y="0"/>
                  </a:lnTo>
                  <a:lnTo>
                    <a:pt x="213172" y="2014668"/>
                  </a:lnTo>
                  <a:close/>
                </a:path>
              </a:pathLst>
            </a:custGeom>
            <a:solidFill>
              <a:srgbClr val="F4CCCC">
                <a:alpha val="5191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063745" y="1332122"/>
              <a:ext cx="743585" cy="2758440"/>
            </a:xfrm>
            <a:custGeom>
              <a:avLst/>
              <a:gdLst/>
              <a:ahLst/>
              <a:cxnLst/>
              <a:rect l="l" t="t" r="r" b="b"/>
              <a:pathLst>
                <a:path w="743585" h="2758440">
                  <a:moveTo>
                    <a:pt x="0" y="2757894"/>
                  </a:moveTo>
                  <a:lnTo>
                    <a:pt x="0" y="743226"/>
                  </a:lnTo>
                  <a:lnTo>
                    <a:pt x="743226" y="0"/>
                  </a:lnTo>
                  <a:lnTo>
                    <a:pt x="743226" y="2014670"/>
                  </a:lnTo>
                  <a:lnTo>
                    <a:pt x="0" y="2757894"/>
                  </a:lnTo>
                  <a:close/>
                </a:path>
              </a:pathLst>
            </a:custGeom>
            <a:solidFill>
              <a:srgbClr val="C3A3A3">
                <a:alpha val="5191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50573" y="1332122"/>
              <a:ext cx="956944" cy="743585"/>
            </a:xfrm>
            <a:custGeom>
              <a:avLst/>
              <a:gdLst/>
              <a:ahLst/>
              <a:cxnLst/>
              <a:rect l="l" t="t" r="r" b="b"/>
              <a:pathLst>
                <a:path w="956944" h="743585">
                  <a:moveTo>
                    <a:pt x="213172" y="743226"/>
                  </a:moveTo>
                  <a:lnTo>
                    <a:pt x="0" y="743226"/>
                  </a:lnTo>
                  <a:lnTo>
                    <a:pt x="743226" y="0"/>
                  </a:lnTo>
                  <a:lnTo>
                    <a:pt x="956398" y="0"/>
                  </a:lnTo>
                  <a:lnTo>
                    <a:pt x="213172" y="743226"/>
                  </a:lnTo>
                  <a:close/>
                </a:path>
              </a:pathLst>
            </a:custGeom>
            <a:solidFill>
              <a:srgbClr val="F6D6D6">
                <a:alpha val="5191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50573" y="1332122"/>
              <a:ext cx="956944" cy="2758440"/>
            </a:xfrm>
            <a:custGeom>
              <a:avLst/>
              <a:gdLst/>
              <a:ahLst/>
              <a:cxnLst/>
              <a:rect l="l" t="t" r="r" b="b"/>
              <a:pathLst>
                <a:path w="956944" h="2758440">
                  <a:moveTo>
                    <a:pt x="0" y="743226"/>
                  </a:moveTo>
                  <a:lnTo>
                    <a:pt x="743226" y="0"/>
                  </a:lnTo>
                  <a:lnTo>
                    <a:pt x="956398" y="0"/>
                  </a:lnTo>
                  <a:lnTo>
                    <a:pt x="956398" y="2014670"/>
                  </a:lnTo>
                  <a:lnTo>
                    <a:pt x="213172" y="2757894"/>
                  </a:lnTo>
                  <a:lnTo>
                    <a:pt x="0" y="2757894"/>
                  </a:lnTo>
                  <a:lnTo>
                    <a:pt x="0" y="743226"/>
                  </a:lnTo>
                  <a:close/>
                </a:path>
                <a:path w="956944" h="2758440">
                  <a:moveTo>
                    <a:pt x="0" y="743226"/>
                  </a:moveTo>
                  <a:lnTo>
                    <a:pt x="213172" y="743226"/>
                  </a:lnTo>
                  <a:lnTo>
                    <a:pt x="956398" y="0"/>
                  </a:lnTo>
                </a:path>
                <a:path w="956944" h="2758440">
                  <a:moveTo>
                    <a:pt x="213172" y="743226"/>
                  </a:moveTo>
                  <a:lnTo>
                    <a:pt x="213172" y="2757894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1900525" y="970580"/>
            <a:ext cx="3373120" cy="952500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1293495" marR="5080">
              <a:lnSpc>
                <a:spcPts val="2850"/>
              </a:lnSpc>
              <a:spcBef>
                <a:spcPts val="219"/>
              </a:spcBef>
            </a:pP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32x32x3</a:t>
            </a:r>
            <a:r>
              <a:rPr sz="2400" spc="-1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Arial"/>
                <a:cs typeface="Arial"/>
              </a:rPr>
              <a:t>image </a:t>
            </a:r>
            <a:r>
              <a:rPr sz="2400" dirty="0">
                <a:solidFill>
                  <a:srgbClr val="0000FF"/>
                </a:solidFill>
                <a:latin typeface="Arial"/>
                <a:cs typeface="Arial"/>
              </a:rPr>
              <a:t>5x5x3</a:t>
            </a:r>
            <a:r>
              <a:rPr sz="2400" spc="-9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0000FF"/>
                </a:solidFill>
                <a:latin typeface="Arial"/>
                <a:cs typeface="Arial"/>
              </a:rPr>
              <a:t>filter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ts val="1475"/>
              </a:lnSpc>
            </a:pPr>
            <a:r>
              <a:rPr sz="1800" spc="-25" dirty="0">
                <a:latin typeface="Arial"/>
                <a:cs typeface="Arial"/>
              </a:rPr>
              <a:t>32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1674561" y="1146760"/>
            <a:ext cx="1395730" cy="1032510"/>
            <a:chOff x="1674561" y="1146760"/>
            <a:chExt cx="1395730" cy="1032510"/>
          </a:xfrm>
        </p:grpSpPr>
        <p:sp>
          <p:nvSpPr>
            <p:cNvPr id="19" name="object 19"/>
            <p:cNvSpPr/>
            <p:nvPr/>
          </p:nvSpPr>
          <p:spPr>
            <a:xfrm>
              <a:off x="2032958" y="1151522"/>
              <a:ext cx="929005" cy="220345"/>
            </a:xfrm>
            <a:custGeom>
              <a:avLst/>
              <a:gdLst/>
              <a:ahLst/>
              <a:cxnLst/>
              <a:rect l="l" t="t" r="r" b="b"/>
              <a:pathLst>
                <a:path w="929005" h="220344">
                  <a:moveTo>
                    <a:pt x="928685" y="0"/>
                  </a:moveTo>
                  <a:lnTo>
                    <a:pt x="0" y="219929"/>
                  </a:lnTo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990895" y="1356142"/>
              <a:ext cx="45720" cy="31115"/>
            </a:xfrm>
            <a:custGeom>
              <a:avLst/>
              <a:gdLst/>
              <a:ahLst/>
              <a:cxnLst/>
              <a:rect l="l" t="t" r="r" b="b"/>
              <a:pathLst>
                <a:path w="45719" h="31115">
                  <a:moveTo>
                    <a:pt x="45687" y="30619"/>
                  </a:moveTo>
                  <a:lnTo>
                    <a:pt x="0" y="25269"/>
                  </a:lnTo>
                  <a:lnTo>
                    <a:pt x="38437" y="0"/>
                  </a:lnTo>
                  <a:lnTo>
                    <a:pt x="45687" y="30619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990895" y="1356142"/>
              <a:ext cx="45720" cy="31115"/>
            </a:xfrm>
            <a:custGeom>
              <a:avLst/>
              <a:gdLst/>
              <a:ahLst/>
              <a:cxnLst/>
              <a:rect l="l" t="t" r="r" b="b"/>
              <a:pathLst>
                <a:path w="45719" h="31115">
                  <a:moveTo>
                    <a:pt x="38437" y="0"/>
                  </a:moveTo>
                  <a:lnTo>
                    <a:pt x="0" y="25269"/>
                  </a:lnTo>
                  <a:lnTo>
                    <a:pt x="45687" y="30619"/>
                  </a:lnTo>
                  <a:lnTo>
                    <a:pt x="38437" y="0"/>
                  </a:lnTo>
                  <a:close/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719611" y="1635046"/>
              <a:ext cx="1346200" cy="523240"/>
            </a:xfrm>
            <a:custGeom>
              <a:avLst/>
              <a:gdLst/>
              <a:ahLst/>
              <a:cxnLst/>
              <a:rect l="l" t="t" r="r" b="b"/>
              <a:pathLst>
                <a:path w="1346200" h="523239">
                  <a:moveTo>
                    <a:pt x="1345632" y="0"/>
                  </a:moveTo>
                  <a:lnTo>
                    <a:pt x="0" y="523188"/>
                  </a:lnTo>
                </a:path>
              </a:pathLst>
            </a:custGeom>
            <a:ln w="9524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679324" y="2143573"/>
              <a:ext cx="46355" cy="30480"/>
            </a:xfrm>
            <a:custGeom>
              <a:avLst/>
              <a:gdLst/>
              <a:ahLst/>
              <a:cxnLst/>
              <a:rect l="l" t="t" r="r" b="b"/>
              <a:pathLst>
                <a:path w="46355" h="30480">
                  <a:moveTo>
                    <a:pt x="0" y="30327"/>
                  </a:moveTo>
                  <a:lnTo>
                    <a:pt x="34587" y="0"/>
                  </a:lnTo>
                  <a:lnTo>
                    <a:pt x="45989" y="29324"/>
                  </a:lnTo>
                  <a:lnTo>
                    <a:pt x="0" y="30327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679324" y="2143573"/>
              <a:ext cx="46355" cy="30480"/>
            </a:xfrm>
            <a:custGeom>
              <a:avLst/>
              <a:gdLst/>
              <a:ahLst/>
              <a:cxnLst/>
              <a:rect l="l" t="t" r="r" b="b"/>
              <a:pathLst>
                <a:path w="46355" h="30480">
                  <a:moveTo>
                    <a:pt x="34587" y="0"/>
                  </a:moveTo>
                  <a:lnTo>
                    <a:pt x="0" y="30327"/>
                  </a:lnTo>
                  <a:lnTo>
                    <a:pt x="45989" y="29324"/>
                  </a:lnTo>
                  <a:lnTo>
                    <a:pt x="34587" y="0"/>
                  </a:lnTo>
                  <a:close/>
                </a:path>
              </a:pathLst>
            </a:custGeom>
            <a:ln w="9524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5" name="object 25"/>
          <p:cNvGrpSpPr/>
          <p:nvPr/>
        </p:nvGrpSpPr>
        <p:grpSpPr>
          <a:xfrm>
            <a:off x="3600592" y="2693882"/>
            <a:ext cx="2357120" cy="41275"/>
            <a:chOff x="3600592" y="2693882"/>
            <a:chExt cx="2357120" cy="41275"/>
          </a:xfrm>
        </p:grpSpPr>
        <p:sp>
          <p:nvSpPr>
            <p:cNvPr id="26" name="object 26"/>
            <p:cNvSpPr/>
            <p:nvPr/>
          </p:nvSpPr>
          <p:spPr>
            <a:xfrm>
              <a:off x="3600592" y="2714369"/>
              <a:ext cx="2308860" cy="0"/>
            </a:xfrm>
            <a:custGeom>
              <a:avLst/>
              <a:gdLst/>
              <a:ahLst/>
              <a:cxnLst/>
              <a:rect l="l" t="t" r="r" b="b"/>
              <a:pathLst>
                <a:path w="2308860">
                  <a:moveTo>
                    <a:pt x="0" y="0"/>
                  </a:moveTo>
                  <a:lnTo>
                    <a:pt x="2308645" y="0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5909237" y="2698644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49"/>
                  </a:moveTo>
                  <a:lnTo>
                    <a:pt x="0" y="0"/>
                  </a:lnTo>
                  <a:lnTo>
                    <a:pt x="43224" y="15724"/>
                  </a:lnTo>
                  <a:lnTo>
                    <a:pt x="0" y="31449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5909237" y="2698644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49"/>
                  </a:moveTo>
                  <a:lnTo>
                    <a:pt x="43224" y="15724"/>
                  </a:lnTo>
                  <a:lnTo>
                    <a:pt x="0" y="0"/>
                  </a:lnTo>
                  <a:lnTo>
                    <a:pt x="0" y="31449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3544146" y="2916098"/>
            <a:ext cx="2413000" cy="57594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>
              <a:lnSpc>
                <a:spcPct val="100699"/>
              </a:lnSpc>
              <a:spcBef>
                <a:spcPts val="85"/>
              </a:spcBef>
            </a:pPr>
            <a:r>
              <a:rPr sz="1800" dirty="0">
                <a:latin typeface="Arial"/>
                <a:cs typeface="Arial"/>
              </a:rPr>
              <a:t>convolve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(slide)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over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all </a:t>
            </a:r>
            <a:r>
              <a:rPr sz="1800" dirty="0">
                <a:latin typeface="Arial"/>
                <a:cs typeface="Arial"/>
              </a:rPr>
              <a:t>spatial</a:t>
            </a:r>
            <a:r>
              <a:rPr sz="1800" spc="-3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locations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6694111" y="1322597"/>
            <a:ext cx="975994" cy="2777490"/>
            <a:chOff x="6694111" y="1322597"/>
            <a:chExt cx="975994" cy="2777490"/>
          </a:xfrm>
        </p:grpSpPr>
        <p:sp>
          <p:nvSpPr>
            <p:cNvPr id="31" name="object 31"/>
            <p:cNvSpPr/>
            <p:nvPr/>
          </p:nvSpPr>
          <p:spPr>
            <a:xfrm>
              <a:off x="6703636" y="2196295"/>
              <a:ext cx="92710" cy="1894205"/>
            </a:xfrm>
            <a:custGeom>
              <a:avLst/>
              <a:gdLst/>
              <a:ahLst/>
              <a:cxnLst/>
              <a:rect l="l" t="t" r="r" b="b"/>
              <a:pathLst>
                <a:path w="92709" h="1894204">
                  <a:moveTo>
                    <a:pt x="92224" y="1893721"/>
                  </a:moveTo>
                  <a:lnTo>
                    <a:pt x="0" y="1893721"/>
                  </a:lnTo>
                  <a:lnTo>
                    <a:pt x="0" y="0"/>
                  </a:lnTo>
                  <a:lnTo>
                    <a:pt x="92224" y="0"/>
                  </a:lnTo>
                  <a:lnTo>
                    <a:pt x="92224" y="1893721"/>
                  </a:lnTo>
                  <a:close/>
                </a:path>
              </a:pathLst>
            </a:custGeom>
            <a:solidFill>
              <a:srgbClr val="C8D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795861" y="1332122"/>
              <a:ext cx="864235" cy="2758440"/>
            </a:xfrm>
            <a:custGeom>
              <a:avLst/>
              <a:gdLst/>
              <a:ahLst/>
              <a:cxnLst/>
              <a:rect l="l" t="t" r="r" b="b"/>
              <a:pathLst>
                <a:path w="864234" h="2758440">
                  <a:moveTo>
                    <a:pt x="0" y="2757894"/>
                  </a:moveTo>
                  <a:lnTo>
                    <a:pt x="0" y="864173"/>
                  </a:lnTo>
                  <a:lnTo>
                    <a:pt x="864173" y="0"/>
                  </a:lnTo>
                  <a:lnTo>
                    <a:pt x="864173" y="1893721"/>
                  </a:lnTo>
                  <a:lnTo>
                    <a:pt x="0" y="2757894"/>
                  </a:lnTo>
                  <a:close/>
                </a:path>
              </a:pathLst>
            </a:custGeom>
            <a:solidFill>
              <a:srgbClr val="A0AE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6703636" y="1332122"/>
              <a:ext cx="956944" cy="864235"/>
            </a:xfrm>
            <a:custGeom>
              <a:avLst/>
              <a:gdLst/>
              <a:ahLst/>
              <a:cxnLst/>
              <a:rect l="l" t="t" r="r" b="b"/>
              <a:pathLst>
                <a:path w="956945" h="864235">
                  <a:moveTo>
                    <a:pt x="92224" y="864173"/>
                  </a:moveTo>
                  <a:lnTo>
                    <a:pt x="0" y="864173"/>
                  </a:lnTo>
                  <a:lnTo>
                    <a:pt x="864173" y="0"/>
                  </a:lnTo>
                  <a:lnTo>
                    <a:pt x="956398" y="0"/>
                  </a:lnTo>
                  <a:lnTo>
                    <a:pt x="92224" y="864173"/>
                  </a:lnTo>
                  <a:close/>
                </a:path>
              </a:pathLst>
            </a:custGeom>
            <a:solidFill>
              <a:srgbClr val="D3E1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6703636" y="1332122"/>
              <a:ext cx="956944" cy="2758440"/>
            </a:xfrm>
            <a:custGeom>
              <a:avLst/>
              <a:gdLst/>
              <a:ahLst/>
              <a:cxnLst/>
              <a:rect l="l" t="t" r="r" b="b"/>
              <a:pathLst>
                <a:path w="956945" h="2758440">
                  <a:moveTo>
                    <a:pt x="0" y="864173"/>
                  </a:moveTo>
                  <a:lnTo>
                    <a:pt x="864173" y="0"/>
                  </a:lnTo>
                  <a:lnTo>
                    <a:pt x="956398" y="0"/>
                  </a:lnTo>
                  <a:lnTo>
                    <a:pt x="956398" y="1893721"/>
                  </a:lnTo>
                  <a:lnTo>
                    <a:pt x="92224" y="2757894"/>
                  </a:lnTo>
                  <a:lnTo>
                    <a:pt x="0" y="2757894"/>
                  </a:lnTo>
                  <a:lnTo>
                    <a:pt x="0" y="864173"/>
                  </a:lnTo>
                  <a:close/>
                </a:path>
                <a:path w="956945" h="2758440">
                  <a:moveTo>
                    <a:pt x="0" y="864173"/>
                  </a:moveTo>
                  <a:lnTo>
                    <a:pt x="92224" y="864173"/>
                  </a:lnTo>
                  <a:lnTo>
                    <a:pt x="956398" y="0"/>
                  </a:lnTo>
                </a:path>
                <a:path w="956945" h="2758440">
                  <a:moveTo>
                    <a:pt x="92224" y="864173"/>
                  </a:moveTo>
                  <a:lnTo>
                    <a:pt x="92224" y="2757894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6782059" y="728829"/>
            <a:ext cx="16236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0000FF"/>
                </a:solidFill>
                <a:latin typeface="Arial"/>
                <a:cs typeface="Arial"/>
              </a:rPr>
              <a:t>activation</a:t>
            </a:r>
            <a:r>
              <a:rPr sz="1800" b="1" spc="-5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b="1" spc="-25" dirty="0">
                <a:solidFill>
                  <a:srgbClr val="0000FF"/>
                </a:solidFill>
                <a:latin typeface="Arial"/>
                <a:cs typeface="Arial"/>
              </a:rPr>
              <a:t>map</a:t>
            </a:r>
            <a:endParaRPr sz="180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6661158" y="4109473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7328659" y="3653798"/>
            <a:ext cx="280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latin typeface="Arial"/>
                <a:cs typeface="Arial"/>
              </a:rPr>
              <a:t>28</a:t>
            </a:r>
            <a:endParaRPr sz="180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7733062" y="2242815"/>
            <a:ext cx="280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latin typeface="Arial"/>
                <a:cs typeface="Arial"/>
              </a:rPr>
              <a:t>28</a:t>
            </a:r>
            <a:endParaRPr sz="1800">
              <a:latin typeface="Arial"/>
              <a:cs typeface="Arial"/>
            </a:endParaRPr>
          </a:p>
        </p:txBody>
      </p:sp>
      <p:sp>
        <p:nvSpPr>
          <p:cNvPr id="43" name="object 10">
            <a:extLst>
              <a:ext uri="{FF2B5EF4-FFF2-40B4-BE49-F238E27FC236}">
                <a16:creationId xmlns:a16="http://schemas.microsoft.com/office/drawing/2014/main" id="{84670A94-028F-3242-B584-3876FDD7010A}"/>
              </a:ext>
            </a:extLst>
          </p:cNvPr>
          <p:cNvSpPr txBox="1">
            <a:spLocks noGrp="1"/>
          </p:cNvSpPr>
          <p:nvPr>
            <p:ph type="dt" sz="half" idx="4294967295"/>
          </p:nvPr>
        </p:nvSpPr>
        <p:spPr>
          <a:xfrm>
            <a:off x="145224" y="4740846"/>
            <a:ext cx="4699000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lang="en-US" altLang="zh-CN" spc="-10" dirty="0">
                <a:solidFill>
                  <a:schemeClr val="bg1"/>
                </a:solidFill>
              </a:rPr>
              <a:t>Convolutional</a:t>
            </a:r>
            <a:r>
              <a:rPr lang="zh-CN" altLang="en-US" spc="-10" dirty="0">
                <a:solidFill>
                  <a:schemeClr val="bg1"/>
                </a:solidFill>
              </a:rPr>
              <a:t> </a:t>
            </a:r>
            <a:r>
              <a:rPr lang="en-US" altLang="zh-CN" spc="-10" dirty="0">
                <a:solidFill>
                  <a:schemeClr val="bg1"/>
                </a:solidFill>
              </a:rPr>
              <a:t>Neural</a:t>
            </a:r>
            <a:r>
              <a:rPr lang="zh-CN" altLang="en-US" spc="-10" dirty="0">
                <a:solidFill>
                  <a:schemeClr val="bg1"/>
                </a:solidFill>
              </a:rPr>
              <a:t> </a:t>
            </a:r>
            <a:r>
              <a:rPr lang="en-US" altLang="zh-CN" spc="-10" dirty="0">
                <a:solidFill>
                  <a:schemeClr val="bg1"/>
                </a:solidFill>
              </a:rPr>
              <a:t>Networks</a:t>
            </a:r>
            <a:endParaRPr spc="-1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297761" y="1370034"/>
          <a:ext cx="2680334" cy="27425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29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9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9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9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29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90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290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917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8E9D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8E9D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8E9D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17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8E9D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8E9D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8E9D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17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8E9D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8E9D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8E9D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17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17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17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17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3168719" y="1399654"/>
            <a:ext cx="3288029" cy="1716405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650875" marR="5080">
              <a:lnSpc>
                <a:spcPts val="2850"/>
              </a:lnSpc>
              <a:spcBef>
                <a:spcPts val="219"/>
              </a:spcBef>
            </a:pPr>
            <a:r>
              <a:rPr sz="2400" dirty="0">
                <a:latin typeface="Arial"/>
                <a:cs typeface="Arial"/>
              </a:rPr>
              <a:t>7x7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input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(spatially) </a:t>
            </a:r>
            <a:r>
              <a:rPr sz="2400" dirty="0">
                <a:latin typeface="Arial"/>
                <a:cs typeface="Arial"/>
              </a:rPr>
              <a:t>assume</a:t>
            </a:r>
            <a:r>
              <a:rPr sz="2400" spc="-8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3x3</a:t>
            </a:r>
            <a:r>
              <a:rPr sz="2400" spc="-8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filter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850"/>
              </a:spcBef>
            </a:pP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spc="-50" dirty="0">
                <a:latin typeface="Arial"/>
                <a:cs typeface="Arial"/>
              </a:rPr>
              <a:t>7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63195" y="855206"/>
            <a:ext cx="1949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Arial"/>
                <a:cs typeface="Arial"/>
              </a:rPr>
              <a:t>7</a:t>
            </a:r>
            <a:endParaRPr sz="240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11174" y="122299"/>
            <a:ext cx="4384675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dirty="0"/>
              <a:t>A</a:t>
            </a:r>
            <a:r>
              <a:rPr sz="2200" spc="-50" dirty="0"/>
              <a:t> </a:t>
            </a:r>
            <a:r>
              <a:rPr sz="2200" dirty="0"/>
              <a:t>closer</a:t>
            </a:r>
            <a:r>
              <a:rPr sz="2200" spc="-50" dirty="0"/>
              <a:t> </a:t>
            </a:r>
            <a:r>
              <a:rPr sz="2200" dirty="0"/>
              <a:t>look</a:t>
            </a:r>
            <a:r>
              <a:rPr sz="2200" spc="-45" dirty="0"/>
              <a:t> </a:t>
            </a:r>
            <a:r>
              <a:rPr sz="2200" dirty="0"/>
              <a:t>at</a:t>
            </a:r>
            <a:r>
              <a:rPr sz="2200" spc="-50" dirty="0"/>
              <a:t> </a:t>
            </a:r>
            <a:r>
              <a:rPr sz="2200" dirty="0"/>
              <a:t>spatial</a:t>
            </a:r>
            <a:r>
              <a:rPr sz="2200" spc="-50" dirty="0"/>
              <a:t> </a:t>
            </a:r>
            <a:r>
              <a:rPr sz="2200" spc="-10" dirty="0"/>
              <a:t>dimensions:</a:t>
            </a:r>
            <a:endParaRPr sz="2200"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F1DEC68C-0894-E847-983F-0FF5C2C53349}"/>
              </a:ext>
            </a:extLst>
          </p:cNvPr>
          <p:cNvSpPr txBox="1">
            <a:spLocks noGrp="1"/>
          </p:cNvSpPr>
          <p:nvPr>
            <p:ph type="dt" sz="half" idx="4294967295"/>
          </p:nvPr>
        </p:nvSpPr>
        <p:spPr>
          <a:xfrm>
            <a:off x="145224" y="4740846"/>
            <a:ext cx="4699000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lang="en-US" altLang="zh-CN" spc="-10" dirty="0">
                <a:solidFill>
                  <a:schemeClr val="bg1"/>
                </a:solidFill>
              </a:rPr>
              <a:t>Convolutional</a:t>
            </a:r>
            <a:r>
              <a:rPr lang="zh-CN" altLang="en-US" spc="-10" dirty="0">
                <a:solidFill>
                  <a:schemeClr val="bg1"/>
                </a:solidFill>
              </a:rPr>
              <a:t> </a:t>
            </a:r>
            <a:r>
              <a:rPr lang="en-US" altLang="zh-CN" spc="-10" dirty="0">
                <a:solidFill>
                  <a:schemeClr val="bg1"/>
                </a:solidFill>
              </a:rPr>
              <a:t>Neural</a:t>
            </a:r>
            <a:r>
              <a:rPr lang="zh-CN" altLang="en-US" spc="-10" dirty="0">
                <a:solidFill>
                  <a:schemeClr val="bg1"/>
                </a:solidFill>
              </a:rPr>
              <a:t> </a:t>
            </a:r>
            <a:r>
              <a:rPr lang="en-US" altLang="zh-CN" spc="-10" dirty="0">
                <a:solidFill>
                  <a:schemeClr val="bg1"/>
                </a:solidFill>
              </a:rPr>
              <a:t>Networks</a:t>
            </a:r>
            <a:endParaRPr spc="-1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297761" y="1370034"/>
          <a:ext cx="2680334" cy="27425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29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9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9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9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29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90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290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917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8E9D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8E9D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8E9D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17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8E9D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8E9D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8E9D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17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8E9D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8E9D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8E9D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17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17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17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17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3168719" y="1399654"/>
            <a:ext cx="3288029" cy="1716405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650875" marR="5080">
              <a:lnSpc>
                <a:spcPts val="2850"/>
              </a:lnSpc>
              <a:spcBef>
                <a:spcPts val="219"/>
              </a:spcBef>
            </a:pPr>
            <a:r>
              <a:rPr sz="2400" dirty="0">
                <a:latin typeface="Arial"/>
                <a:cs typeface="Arial"/>
              </a:rPr>
              <a:t>7x7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input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(spatially) </a:t>
            </a:r>
            <a:r>
              <a:rPr sz="2400" dirty="0">
                <a:latin typeface="Arial"/>
                <a:cs typeface="Arial"/>
              </a:rPr>
              <a:t>assume</a:t>
            </a:r>
            <a:r>
              <a:rPr sz="2400" spc="-8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3x3</a:t>
            </a:r>
            <a:r>
              <a:rPr sz="2400" spc="-8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filter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850"/>
              </a:spcBef>
            </a:pP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spc="-50" dirty="0">
                <a:latin typeface="Arial"/>
                <a:cs typeface="Arial"/>
              </a:rPr>
              <a:t>7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63195" y="855206"/>
            <a:ext cx="1949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Arial"/>
                <a:cs typeface="Arial"/>
              </a:rPr>
              <a:t>7</a:t>
            </a:r>
            <a:endParaRPr sz="240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11174" y="122299"/>
            <a:ext cx="4384675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dirty="0"/>
              <a:t>A</a:t>
            </a:r>
            <a:r>
              <a:rPr sz="2200" spc="-50" dirty="0"/>
              <a:t> </a:t>
            </a:r>
            <a:r>
              <a:rPr sz="2200" dirty="0"/>
              <a:t>closer</a:t>
            </a:r>
            <a:r>
              <a:rPr sz="2200" spc="-50" dirty="0"/>
              <a:t> </a:t>
            </a:r>
            <a:r>
              <a:rPr sz="2200" dirty="0"/>
              <a:t>look</a:t>
            </a:r>
            <a:r>
              <a:rPr sz="2200" spc="-45" dirty="0"/>
              <a:t> </a:t>
            </a:r>
            <a:r>
              <a:rPr sz="2200" dirty="0"/>
              <a:t>at</a:t>
            </a:r>
            <a:r>
              <a:rPr sz="2200" spc="-50" dirty="0"/>
              <a:t> </a:t>
            </a:r>
            <a:r>
              <a:rPr sz="2200" dirty="0"/>
              <a:t>spatial</a:t>
            </a:r>
            <a:r>
              <a:rPr sz="2200" spc="-50" dirty="0"/>
              <a:t> </a:t>
            </a:r>
            <a:r>
              <a:rPr sz="2200" spc="-10" dirty="0"/>
              <a:t>dimensions:</a:t>
            </a:r>
            <a:endParaRPr sz="2200"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9641AD66-73DB-C74D-B610-E4B631340A44}"/>
              </a:ext>
            </a:extLst>
          </p:cNvPr>
          <p:cNvSpPr txBox="1">
            <a:spLocks noGrp="1"/>
          </p:cNvSpPr>
          <p:nvPr>
            <p:ph type="dt" sz="half" idx="4294967295"/>
          </p:nvPr>
        </p:nvSpPr>
        <p:spPr>
          <a:xfrm>
            <a:off x="145224" y="4740846"/>
            <a:ext cx="4699000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lang="en-US" altLang="zh-CN" spc="-10" dirty="0">
                <a:solidFill>
                  <a:schemeClr val="bg1"/>
                </a:solidFill>
              </a:rPr>
              <a:t>Convolutional</a:t>
            </a:r>
            <a:r>
              <a:rPr lang="zh-CN" altLang="en-US" spc="-10" dirty="0">
                <a:solidFill>
                  <a:schemeClr val="bg1"/>
                </a:solidFill>
              </a:rPr>
              <a:t> </a:t>
            </a:r>
            <a:r>
              <a:rPr lang="en-US" altLang="zh-CN" spc="-10" dirty="0">
                <a:solidFill>
                  <a:schemeClr val="bg1"/>
                </a:solidFill>
              </a:rPr>
              <a:t>Neural</a:t>
            </a:r>
            <a:r>
              <a:rPr lang="zh-CN" altLang="en-US" spc="-10" dirty="0">
                <a:solidFill>
                  <a:schemeClr val="bg1"/>
                </a:solidFill>
              </a:rPr>
              <a:t> </a:t>
            </a:r>
            <a:r>
              <a:rPr lang="en-US" altLang="zh-CN" spc="-10" dirty="0">
                <a:solidFill>
                  <a:schemeClr val="bg1"/>
                </a:solidFill>
              </a:rPr>
              <a:t>Networks</a:t>
            </a:r>
            <a:endParaRPr spc="-1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68719" y="1399654"/>
            <a:ext cx="3288029" cy="1716405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650875" marR="5080">
              <a:lnSpc>
                <a:spcPts val="2850"/>
              </a:lnSpc>
              <a:spcBef>
                <a:spcPts val="219"/>
              </a:spcBef>
            </a:pPr>
            <a:r>
              <a:rPr sz="2400" dirty="0">
                <a:latin typeface="Arial"/>
                <a:cs typeface="Arial"/>
              </a:rPr>
              <a:t>7x7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input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(spatially) </a:t>
            </a:r>
            <a:r>
              <a:rPr sz="2400" dirty="0">
                <a:latin typeface="Arial"/>
                <a:cs typeface="Arial"/>
              </a:rPr>
              <a:t>assume</a:t>
            </a:r>
            <a:r>
              <a:rPr sz="2400" spc="-8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3x3</a:t>
            </a:r>
            <a:r>
              <a:rPr sz="2400" spc="-8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filter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850"/>
              </a:spcBef>
            </a:pP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spc="-50" dirty="0">
                <a:latin typeface="Arial"/>
                <a:cs typeface="Arial"/>
              </a:rPr>
              <a:t>7</a:t>
            </a:r>
            <a:endParaRPr sz="2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463195" y="855206"/>
            <a:ext cx="1949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Arial"/>
                <a:cs typeface="Arial"/>
              </a:rPr>
              <a:t>7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11174" y="122299"/>
            <a:ext cx="4384675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dirty="0"/>
              <a:t>A</a:t>
            </a:r>
            <a:r>
              <a:rPr sz="2200" spc="-50" dirty="0"/>
              <a:t> </a:t>
            </a:r>
            <a:r>
              <a:rPr sz="2200" dirty="0"/>
              <a:t>closer</a:t>
            </a:r>
            <a:r>
              <a:rPr sz="2200" spc="-50" dirty="0"/>
              <a:t> </a:t>
            </a:r>
            <a:r>
              <a:rPr sz="2200" dirty="0"/>
              <a:t>look</a:t>
            </a:r>
            <a:r>
              <a:rPr sz="2200" spc="-45" dirty="0"/>
              <a:t> </a:t>
            </a:r>
            <a:r>
              <a:rPr sz="2200" dirty="0"/>
              <a:t>at</a:t>
            </a:r>
            <a:r>
              <a:rPr sz="2200" spc="-50" dirty="0"/>
              <a:t> </a:t>
            </a:r>
            <a:r>
              <a:rPr sz="2200" dirty="0"/>
              <a:t>spatial</a:t>
            </a:r>
            <a:r>
              <a:rPr sz="2200" spc="-50" dirty="0"/>
              <a:t> </a:t>
            </a:r>
            <a:r>
              <a:rPr sz="2200" spc="-10" dirty="0"/>
              <a:t>dimensions:</a:t>
            </a:r>
            <a:endParaRPr sz="2200"/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297761" y="1370034"/>
          <a:ext cx="2680334" cy="27425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29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9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9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9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29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90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290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917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8E9D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8E9D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8E9D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17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8E9D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8E9D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8E9D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17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8E9D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8E9D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8E9D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17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17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17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17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object 10">
            <a:extLst>
              <a:ext uri="{FF2B5EF4-FFF2-40B4-BE49-F238E27FC236}">
                <a16:creationId xmlns:a16="http://schemas.microsoft.com/office/drawing/2014/main" id="{2F4C9AF1-FE6A-6140-804B-8BEF0ED3D275}"/>
              </a:ext>
            </a:extLst>
          </p:cNvPr>
          <p:cNvSpPr txBox="1">
            <a:spLocks noGrp="1"/>
          </p:cNvSpPr>
          <p:nvPr>
            <p:ph type="dt" sz="half" idx="4294967295"/>
          </p:nvPr>
        </p:nvSpPr>
        <p:spPr>
          <a:xfrm>
            <a:off x="145224" y="4740846"/>
            <a:ext cx="4699000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lang="en-US" altLang="zh-CN" spc="-10" dirty="0">
                <a:solidFill>
                  <a:schemeClr val="bg1"/>
                </a:solidFill>
              </a:rPr>
              <a:t>Convolutional</a:t>
            </a:r>
            <a:r>
              <a:rPr lang="zh-CN" altLang="en-US" spc="-10" dirty="0">
                <a:solidFill>
                  <a:schemeClr val="bg1"/>
                </a:solidFill>
              </a:rPr>
              <a:t> </a:t>
            </a:r>
            <a:r>
              <a:rPr lang="en-US" altLang="zh-CN" spc="-10" dirty="0">
                <a:solidFill>
                  <a:schemeClr val="bg1"/>
                </a:solidFill>
              </a:rPr>
              <a:t>Neural</a:t>
            </a:r>
            <a:r>
              <a:rPr lang="zh-CN" altLang="en-US" spc="-10" dirty="0">
                <a:solidFill>
                  <a:schemeClr val="bg1"/>
                </a:solidFill>
              </a:rPr>
              <a:t> </a:t>
            </a:r>
            <a:r>
              <a:rPr lang="en-US" altLang="zh-CN" spc="-10" dirty="0">
                <a:solidFill>
                  <a:schemeClr val="bg1"/>
                </a:solidFill>
              </a:rPr>
              <a:t>Networks</a:t>
            </a:r>
            <a:endParaRPr spc="-1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68719" y="1399654"/>
            <a:ext cx="3288029" cy="1716405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650875" marR="5080">
              <a:lnSpc>
                <a:spcPts val="2850"/>
              </a:lnSpc>
              <a:spcBef>
                <a:spcPts val="219"/>
              </a:spcBef>
            </a:pPr>
            <a:r>
              <a:rPr sz="2400" dirty="0">
                <a:latin typeface="Arial"/>
                <a:cs typeface="Arial"/>
              </a:rPr>
              <a:t>7x7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input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(spatially) </a:t>
            </a:r>
            <a:r>
              <a:rPr sz="2400" dirty="0">
                <a:latin typeface="Arial"/>
                <a:cs typeface="Arial"/>
              </a:rPr>
              <a:t>assume</a:t>
            </a:r>
            <a:r>
              <a:rPr sz="2400" spc="-8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3x3</a:t>
            </a:r>
            <a:r>
              <a:rPr sz="2400" spc="-8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filter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850"/>
              </a:spcBef>
            </a:pP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spc="-50" dirty="0">
                <a:latin typeface="Arial"/>
                <a:cs typeface="Arial"/>
              </a:rPr>
              <a:t>7</a:t>
            </a:r>
            <a:endParaRPr sz="2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463195" y="855206"/>
            <a:ext cx="1949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Arial"/>
                <a:cs typeface="Arial"/>
              </a:rPr>
              <a:t>7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11174" y="122299"/>
            <a:ext cx="4384675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dirty="0"/>
              <a:t>A</a:t>
            </a:r>
            <a:r>
              <a:rPr sz="2200" spc="-50" dirty="0"/>
              <a:t> </a:t>
            </a:r>
            <a:r>
              <a:rPr sz="2200" dirty="0"/>
              <a:t>closer</a:t>
            </a:r>
            <a:r>
              <a:rPr sz="2200" spc="-50" dirty="0"/>
              <a:t> </a:t>
            </a:r>
            <a:r>
              <a:rPr sz="2200" dirty="0"/>
              <a:t>look</a:t>
            </a:r>
            <a:r>
              <a:rPr sz="2200" spc="-45" dirty="0"/>
              <a:t> </a:t>
            </a:r>
            <a:r>
              <a:rPr sz="2200" dirty="0"/>
              <a:t>at</a:t>
            </a:r>
            <a:r>
              <a:rPr sz="2200" spc="-50" dirty="0"/>
              <a:t> </a:t>
            </a:r>
            <a:r>
              <a:rPr sz="2200" dirty="0"/>
              <a:t>spatial</a:t>
            </a:r>
            <a:r>
              <a:rPr sz="2200" spc="-50" dirty="0"/>
              <a:t> </a:t>
            </a:r>
            <a:r>
              <a:rPr sz="2200" spc="-10" dirty="0"/>
              <a:t>dimensions:</a:t>
            </a:r>
            <a:endParaRPr sz="2200"/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297761" y="1370034"/>
          <a:ext cx="2680334" cy="27425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29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9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9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9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29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90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290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917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8E9D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8E9D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8E9D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17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8E9D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8E9D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8E9D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17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8E9D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8E9D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8E9D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17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17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17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17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object 10">
            <a:extLst>
              <a:ext uri="{FF2B5EF4-FFF2-40B4-BE49-F238E27FC236}">
                <a16:creationId xmlns:a16="http://schemas.microsoft.com/office/drawing/2014/main" id="{079ADF64-F6A7-4941-A14D-2EF7A8388DE3}"/>
              </a:ext>
            </a:extLst>
          </p:cNvPr>
          <p:cNvSpPr txBox="1">
            <a:spLocks noGrp="1"/>
          </p:cNvSpPr>
          <p:nvPr>
            <p:ph type="dt" sz="half" idx="4294967295"/>
          </p:nvPr>
        </p:nvSpPr>
        <p:spPr>
          <a:xfrm>
            <a:off x="145224" y="4740846"/>
            <a:ext cx="4699000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lang="en-US" altLang="zh-CN" spc="-10" dirty="0">
                <a:solidFill>
                  <a:schemeClr val="bg1"/>
                </a:solidFill>
              </a:rPr>
              <a:t>Convolutional</a:t>
            </a:r>
            <a:r>
              <a:rPr lang="zh-CN" altLang="en-US" spc="-10" dirty="0">
                <a:solidFill>
                  <a:schemeClr val="bg1"/>
                </a:solidFill>
              </a:rPr>
              <a:t> </a:t>
            </a:r>
            <a:r>
              <a:rPr lang="en-US" altLang="zh-CN" spc="-10" dirty="0">
                <a:solidFill>
                  <a:schemeClr val="bg1"/>
                </a:solidFill>
              </a:rPr>
              <a:t>Neural</a:t>
            </a:r>
            <a:r>
              <a:rPr lang="zh-CN" altLang="en-US" spc="-10" dirty="0">
                <a:solidFill>
                  <a:schemeClr val="bg1"/>
                </a:solidFill>
              </a:rPr>
              <a:t> </a:t>
            </a:r>
            <a:r>
              <a:rPr lang="en-US" altLang="zh-CN" spc="-10" dirty="0">
                <a:solidFill>
                  <a:schemeClr val="bg1"/>
                </a:solidFill>
              </a:rPr>
              <a:t>Networks</a:t>
            </a:r>
            <a:endParaRPr spc="-1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07112" y="1399654"/>
            <a:ext cx="2649855" cy="753110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12700" marR="5080">
              <a:lnSpc>
                <a:spcPts val="2850"/>
              </a:lnSpc>
              <a:spcBef>
                <a:spcPts val="219"/>
              </a:spcBef>
            </a:pPr>
            <a:r>
              <a:rPr sz="2400" dirty="0">
                <a:latin typeface="Arial"/>
                <a:cs typeface="Arial"/>
              </a:rPr>
              <a:t>7x7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input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(spatially) </a:t>
            </a:r>
            <a:r>
              <a:rPr sz="2400" dirty="0">
                <a:latin typeface="Arial"/>
                <a:cs typeface="Arial"/>
              </a:rPr>
              <a:t>assume</a:t>
            </a:r>
            <a:r>
              <a:rPr sz="2400" spc="-8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3x3</a:t>
            </a:r>
            <a:r>
              <a:rPr sz="2400" spc="-8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filter</a:t>
            </a:r>
            <a:endParaRPr sz="2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07112" y="2485502"/>
            <a:ext cx="200596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Arial"/>
                <a:cs typeface="Arial"/>
              </a:rPr>
              <a:t>=&gt;</a:t>
            </a:r>
            <a:r>
              <a:rPr sz="2400" b="1" spc="-3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5x5</a:t>
            </a:r>
            <a:r>
              <a:rPr sz="2400" b="1" spc="-35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output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63195" y="855206"/>
            <a:ext cx="1949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Arial"/>
                <a:cs typeface="Arial"/>
              </a:rPr>
              <a:t>7</a:t>
            </a:r>
            <a:endParaRPr sz="2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168719" y="2724798"/>
            <a:ext cx="1949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Arial"/>
                <a:cs typeface="Arial"/>
              </a:rPr>
              <a:t>7</a:t>
            </a:r>
            <a:endParaRPr sz="24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11174" y="122299"/>
            <a:ext cx="4384675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dirty="0"/>
              <a:t>A</a:t>
            </a:r>
            <a:r>
              <a:rPr sz="2200" spc="-50" dirty="0"/>
              <a:t> </a:t>
            </a:r>
            <a:r>
              <a:rPr sz="2200" dirty="0"/>
              <a:t>closer</a:t>
            </a:r>
            <a:r>
              <a:rPr sz="2200" spc="-50" dirty="0"/>
              <a:t> </a:t>
            </a:r>
            <a:r>
              <a:rPr sz="2200" dirty="0"/>
              <a:t>look</a:t>
            </a:r>
            <a:r>
              <a:rPr sz="2200" spc="-45" dirty="0"/>
              <a:t> </a:t>
            </a:r>
            <a:r>
              <a:rPr sz="2200" dirty="0"/>
              <a:t>at</a:t>
            </a:r>
            <a:r>
              <a:rPr sz="2200" spc="-50" dirty="0"/>
              <a:t> </a:t>
            </a:r>
            <a:r>
              <a:rPr sz="2200" dirty="0"/>
              <a:t>spatial</a:t>
            </a:r>
            <a:r>
              <a:rPr sz="2200" spc="-50" dirty="0"/>
              <a:t> </a:t>
            </a:r>
            <a:r>
              <a:rPr sz="2200" spc="-10" dirty="0"/>
              <a:t>dimensions:</a:t>
            </a:r>
            <a:endParaRPr sz="2200"/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297761" y="1370034"/>
          <a:ext cx="2680334" cy="27425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29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9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9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9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29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90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290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917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8E9D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8E9D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8E9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17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8E9D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8E9D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8E9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17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8E9D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8E9D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8E9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17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17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17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17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2" name="object 10">
            <a:extLst>
              <a:ext uri="{FF2B5EF4-FFF2-40B4-BE49-F238E27FC236}">
                <a16:creationId xmlns:a16="http://schemas.microsoft.com/office/drawing/2014/main" id="{59686860-83E2-1743-A64F-41C1AB11F153}"/>
              </a:ext>
            </a:extLst>
          </p:cNvPr>
          <p:cNvSpPr txBox="1">
            <a:spLocks noGrp="1"/>
          </p:cNvSpPr>
          <p:nvPr>
            <p:ph type="dt" sz="half" idx="4294967295"/>
          </p:nvPr>
        </p:nvSpPr>
        <p:spPr>
          <a:xfrm>
            <a:off x="145224" y="4740846"/>
            <a:ext cx="4699000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lang="en-US" altLang="zh-CN" spc="-10" dirty="0">
                <a:solidFill>
                  <a:schemeClr val="bg1"/>
                </a:solidFill>
              </a:rPr>
              <a:t>Convolutional</a:t>
            </a:r>
            <a:r>
              <a:rPr lang="zh-CN" altLang="en-US" spc="-10" dirty="0">
                <a:solidFill>
                  <a:schemeClr val="bg1"/>
                </a:solidFill>
              </a:rPr>
              <a:t> </a:t>
            </a:r>
            <a:r>
              <a:rPr lang="en-US" altLang="zh-CN" spc="-10" dirty="0">
                <a:solidFill>
                  <a:schemeClr val="bg1"/>
                </a:solidFill>
              </a:rPr>
              <a:t>Neural</a:t>
            </a:r>
            <a:r>
              <a:rPr lang="zh-CN" altLang="en-US" spc="-10" dirty="0">
                <a:solidFill>
                  <a:schemeClr val="bg1"/>
                </a:solidFill>
              </a:rPr>
              <a:t> </a:t>
            </a:r>
            <a:r>
              <a:rPr lang="en-US" altLang="zh-CN" spc="-10" dirty="0">
                <a:solidFill>
                  <a:schemeClr val="bg1"/>
                </a:solidFill>
              </a:rPr>
              <a:t>Networks</a:t>
            </a:r>
            <a:endParaRPr spc="-1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645311" y="1094855"/>
            <a:ext cx="2870200" cy="1115060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12700" marR="5080">
              <a:lnSpc>
                <a:spcPts val="2850"/>
              </a:lnSpc>
              <a:spcBef>
                <a:spcPts val="219"/>
              </a:spcBef>
            </a:pPr>
            <a:r>
              <a:rPr sz="2400" dirty="0">
                <a:latin typeface="Arial"/>
                <a:cs typeface="Arial"/>
              </a:rPr>
              <a:t>7x7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input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(spatially) </a:t>
            </a:r>
            <a:r>
              <a:rPr sz="2400" dirty="0">
                <a:latin typeface="Arial"/>
                <a:cs typeface="Arial"/>
              </a:rPr>
              <a:t>assume</a:t>
            </a:r>
            <a:r>
              <a:rPr sz="2400" spc="-8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3x3</a:t>
            </a:r>
            <a:r>
              <a:rPr sz="2400" spc="-8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filter </a:t>
            </a:r>
            <a:r>
              <a:rPr sz="2400" dirty="0">
                <a:latin typeface="Arial"/>
                <a:cs typeface="Arial"/>
              </a:rPr>
              <a:t>applied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with</a:t>
            </a:r>
            <a:r>
              <a:rPr sz="2400" b="1" spc="-7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stride</a:t>
            </a:r>
            <a:r>
              <a:rPr sz="2400" b="1" spc="-75" dirty="0">
                <a:latin typeface="Arial"/>
                <a:cs typeface="Arial"/>
              </a:rPr>
              <a:t> </a:t>
            </a:r>
            <a:r>
              <a:rPr sz="2400" b="1" spc="-50" dirty="0">
                <a:latin typeface="Arial"/>
                <a:cs typeface="Arial"/>
              </a:rPr>
              <a:t>2</a:t>
            </a:r>
            <a:endParaRPr sz="2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463195" y="855206"/>
            <a:ext cx="1949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Arial"/>
                <a:cs typeface="Arial"/>
              </a:rPr>
              <a:t>7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168719" y="2724798"/>
            <a:ext cx="1949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Arial"/>
                <a:cs typeface="Arial"/>
              </a:rPr>
              <a:t>7</a:t>
            </a:r>
            <a:endParaRPr sz="240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11174" y="122299"/>
            <a:ext cx="4384675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dirty="0"/>
              <a:t>A</a:t>
            </a:r>
            <a:r>
              <a:rPr sz="2200" spc="-50" dirty="0"/>
              <a:t> </a:t>
            </a:r>
            <a:r>
              <a:rPr sz="2200" dirty="0"/>
              <a:t>closer</a:t>
            </a:r>
            <a:r>
              <a:rPr sz="2200" spc="-50" dirty="0"/>
              <a:t> </a:t>
            </a:r>
            <a:r>
              <a:rPr sz="2200" dirty="0"/>
              <a:t>look</a:t>
            </a:r>
            <a:r>
              <a:rPr sz="2200" spc="-45" dirty="0"/>
              <a:t> </a:t>
            </a:r>
            <a:r>
              <a:rPr sz="2200" dirty="0"/>
              <a:t>at</a:t>
            </a:r>
            <a:r>
              <a:rPr sz="2200" spc="-50" dirty="0"/>
              <a:t> </a:t>
            </a:r>
            <a:r>
              <a:rPr sz="2200" dirty="0"/>
              <a:t>spatial</a:t>
            </a:r>
            <a:r>
              <a:rPr sz="2200" spc="-50" dirty="0"/>
              <a:t> </a:t>
            </a:r>
            <a:r>
              <a:rPr sz="2200" spc="-10" dirty="0"/>
              <a:t>dimensions:</a:t>
            </a:r>
            <a:endParaRPr sz="2200"/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297761" y="1370034"/>
          <a:ext cx="2680334" cy="27425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29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9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9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9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29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90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290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917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8E9D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8E9D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8E9D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17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8E9D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8E9D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8E9D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17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8E9D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8E9D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8E9D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17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17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17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17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1" name="object 10">
            <a:extLst>
              <a:ext uri="{FF2B5EF4-FFF2-40B4-BE49-F238E27FC236}">
                <a16:creationId xmlns:a16="http://schemas.microsoft.com/office/drawing/2014/main" id="{395F2889-9359-3442-B25D-C31B52FAF0AD}"/>
              </a:ext>
            </a:extLst>
          </p:cNvPr>
          <p:cNvSpPr txBox="1">
            <a:spLocks noGrp="1"/>
          </p:cNvSpPr>
          <p:nvPr>
            <p:ph type="dt" sz="half" idx="4294967295"/>
          </p:nvPr>
        </p:nvSpPr>
        <p:spPr>
          <a:xfrm>
            <a:off x="145224" y="4740846"/>
            <a:ext cx="4699000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lang="en-US" altLang="zh-CN" spc="-10" dirty="0">
                <a:solidFill>
                  <a:schemeClr val="bg1"/>
                </a:solidFill>
              </a:rPr>
              <a:t>Convolutional</a:t>
            </a:r>
            <a:r>
              <a:rPr lang="zh-CN" altLang="en-US" spc="-10" dirty="0">
                <a:solidFill>
                  <a:schemeClr val="bg1"/>
                </a:solidFill>
              </a:rPr>
              <a:t> </a:t>
            </a:r>
            <a:r>
              <a:rPr lang="en-US" altLang="zh-CN" spc="-10" dirty="0">
                <a:solidFill>
                  <a:schemeClr val="bg1"/>
                </a:solidFill>
              </a:rPr>
              <a:t>Neural</a:t>
            </a:r>
            <a:r>
              <a:rPr lang="zh-CN" altLang="en-US" spc="-10" dirty="0">
                <a:solidFill>
                  <a:schemeClr val="bg1"/>
                </a:solidFill>
              </a:rPr>
              <a:t> </a:t>
            </a:r>
            <a:r>
              <a:rPr lang="en-US" altLang="zh-CN" spc="-10" dirty="0">
                <a:solidFill>
                  <a:schemeClr val="bg1"/>
                </a:solidFill>
              </a:rPr>
              <a:t>Networks</a:t>
            </a:r>
            <a:endParaRPr spc="-1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645311" y="1094855"/>
            <a:ext cx="2870200" cy="1115060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12700" marR="5080">
              <a:lnSpc>
                <a:spcPts val="2850"/>
              </a:lnSpc>
              <a:spcBef>
                <a:spcPts val="219"/>
              </a:spcBef>
            </a:pPr>
            <a:r>
              <a:rPr sz="2400" dirty="0">
                <a:latin typeface="Arial"/>
                <a:cs typeface="Arial"/>
              </a:rPr>
              <a:t>7x7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input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(spatially) </a:t>
            </a:r>
            <a:r>
              <a:rPr sz="2400" dirty="0">
                <a:latin typeface="Arial"/>
                <a:cs typeface="Arial"/>
              </a:rPr>
              <a:t>assume</a:t>
            </a:r>
            <a:r>
              <a:rPr sz="2400" spc="-8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3x3</a:t>
            </a:r>
            <a:r>
              <a:rPr sz="2400" spc="-8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filter </a:t>
            </a:r>
            <a:r>
              <a:rPr sz="2400" dirty="0">
                <a:latin typeface="Arial"/>
                <a:cs typeface="Arial"/>
              </a:rPr>
              <a:t>applied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with</a:t>
            </a:r>
            <a:r>
              <a:rPr sz="2400" b="1" spc="-7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stride</a:t>
            </a:r>
            <a:r>
              <a:rPr sz="2400" b="1" spc="-75" dirty="0">
                <a:latin typeface="Arial"/>
                <a:cs typeface="Arial"/>
              </a:rPr>
              <a:t> </a:t>
            </a:r>
            <a:r>
              <a:rPr sz="2400" b="1" spc="-50" dirty="0">
                <a:latin typeface="Arial"/>
                <a:cs typeface="Arial"/>
              </a:rPr>
              <a:t>2</a:t>
            </a:r>
            <a:endParaRPr sz="2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463195" y="855206"/>
            <a:ext cx="1949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Arial"/>
                <a:cs typeface="Arial"/>
              </a:rPr>
              <a:t>7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168719" y="2724798"/>
            <a:ext cx="1949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Arial"/>
                <a:cs typeface="Arial"/>
              </a:rPr>
              <a:t>7</a:t>
            </a:r>
            <a:endParaRPr sz="240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11174" y="122299"/>
            <a:ext cx="4384675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dirty="0"/>
              <a:t>A</a:t>
            </a:r>
            <a:r>
              <a:rPr sz="2200" spc="-50" dirty="0"/>
              <a:t> </a:t>
            </a:r>
            <a:r>
              <a:rPr sz="2200" dirty="0"/>
              <a:t>closer</a:t>
            </a:r>
            <a:r>
              <a:rPr sz="2200" spc="-50" dirty="0"/>
              <a:t> </a:t>
            </a:r>
            <a:r>
              <a:rPr sz="2200" dirty="0"/>
              <a:t>look</a:t>
            </a:r>
            <a:r>
              <a:rPr sz="2200" spc="-45" dirty="0"/>
              <a:t> </a:t>
            </a:r>
            <a:r>
              <a:rPr sz="2200" dirty="0"/>
              <a:t>at</a:t>
            </a:r>
            <a:r>
              <a:rPr sz="2200" spc="-50" dirty="0"/>
              <a:t> </a:t>
            </a:r>
            <a:r>
              <a:rPr sz="2200" dirty="0"/>
              <a:t>spatial</a:t>
            </a:r>
            <a:r>
              <a:rPr sz="2200" spc="-50" dirty="0"/>
              <a:t> </a:t>
            </a:r>
            <a:r>
              <a:rPr sz="2200" spc="-10" dirty="0"/>
              <a:t>dimensions:</a:t>
            </a:r>
            <a:endParaRPr sz="2200"/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297761" y="1370034"/>
          <a:ext cx="2680334" cy="27425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29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9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9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9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29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90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290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917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8E9D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8E9D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8E9D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17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8E9D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8E9D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8E9D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17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8E9D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8E9D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8E9D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17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17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17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17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1" name="object 10">
            <a:extLst>
              <a:ext uri="{FF2B5EF4-FFF2-40B4-BE49-F238E27FC236}">
                <a16:creationId xmlns:a16="http://schemas.microsoft.com/office/drawing/2014/main" id="{5FAB7257-674E-4747-835A-01B44202D984}"/>
              </a:ext>
            </a:extLst>
          </p:cNvPr>
          <p:cNvSpPr txBox="1">
            <a:spLocks noGrp="1"/>
          </p:cNvSpPr>
          <p:nvPr>
            <p:ph type="dt" sz="half" idx="4294967295"/>
          </p:nvPr>
        </p:nvSpPr>
        <p:spPr>
          <a:xfrm>
            <a:off x="145224" y="4740846"/>
            <a:ext cx="4699000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lang="en-US" altLang="zh-CN" spc="-10" dirty="0">
                <a:solidFill>
                  <a:schemeClr val="bg1"/>
                </a:solidFill>
              </a:rPr>
              <a:t>Convolutional</a:t>
            </a:r>
            <a:r>
              <a:rPr lang="zh-CN" altLang="en-US" spc="-10" dirty="0">
                <a:solidFill>
                  <a:schemeClr val="bg1"/>
                </a:solidFill>
              </a:rPr>
              <a:t> </a:t>
            </a:r>
            <a:r>
              <a:rPr lang="en-US" altLang="zh-CN" spc="-10" dirty="0">
                <a:solidFill>
                  <a:schemeClr val="bg1"/>
                </a:solidFill>
              </a:rPr>
              <a:t>Neural</a:t>
            </a:r>
            <a:r>
              <a:rPr lang="zh-CN" altLang="en-US" spc="-10" dirty="0">
                <a:solidFill>
                  <a:schemeClr val="bg1"/>
                </a:solidFill>
              </a:rPr>
              <a:t> </a:t>
            </a:r>
            <a:r>
              <a:rPr lang="en-US" altLang="zh-CN" spc="-10" dirty="0">
                <a:solidFill>
                  <a:schemeClr val="bg1"/>
                </a:solidFill>
              </a:rPr>
              <a:t>Networks</a:t>
            </a:r>
            <a:endParaRPr spc="-1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645311" y="1094855"/>
            <a:ext cx="2870200" cy="1477010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12700" marR="5080">
              <a:lnSpc>
                <a:spcPts val="2850"/>
              </a:lnSpc>
              <a:spcBef>
                <a:spcPts val="219"/>
              </a:spcBef>
            </a:pPr>
            <a:r>
              <a:rPr sz="2400" dirty="0">
                <a:latin typeface="Arial"/>
                <a:cs typeface="Arial"/>
              </a:rPr>
              <a:t>7x7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input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(spatially) </a:t>
            </a:r>
            <a:r>
              <a:rPr sz="2400" dirty="0">
                <a:latin typeface="Arial"/>
                <a:cs typeface="Arial"/>
              </a:rPr>
              <a:t>assume</a:t>
            </a:r>
            <a:r>
              <a:rPr sz="2400" spc="-8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3x3</a:t>
            </a:r>
            <a:r>
              <a:rPr sz="2400" spc="-8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filter </a:t>
            </a:r>
            <a:r>
              <a:rPr sz="2400" dirty="0">
                <a:latin typeface="Arial"/>
                <a:cs typeface="Arial"/>
              </a:rPr>
              <a:t>applied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with</a:t>
            </a:r>
            <a:r>
              <a:rPr sz="2400" b="1" spc="-7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stride</a:t>
            </a:r>
            <a:r>
              <a:rPr sz="2400" b="1" spc="-75" dirty="0">
                <a:latin typeface="Arial"/>
                <a:cs typeface="Arial"/>
              </a:rPr>
              <a:t> </a:t>
            </a:r>
            <a:r>
              <a:rPr sz="2400" b="1" spc="-50" dirty="0">
                <a:latin typeface="Arial"/>
                <a:cs typeface="Arial"/>
              </a:rPr>
              <a:t>2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ts val="2760"/>
              </a:lnSpc>
            </a:pPr>
            <a:r>
              <a:rPr sz="2400" b="1" dirty="0">
                <a:latin typeface="Arial"/>
                <a:cs typeface="Arial"/>
              </a:rPr>
              <a:t>=&gt;</a:t>
            </a:r>
            <a:r>
              <a:rPr sz="2400" b="1" spc="-3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3x3</a:t>
            </a:r>
            <a:r>
              <a:rPr sz="2400" b="1" spc="-35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output!</a:t>
            </a:r>
            <a:endParaRPr sz="2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463195" y="855206"/>
            <a:ext cx="1949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Arial"/>
                <a:cs typeface="Arial"/>
              </a:rPr>
              <a:t>7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168719" y="2724798"/>
            <a:ext cx="1949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Arial"/>
                <a:cs typeface="Arial"/>
              </a:rPr>
              <a:t>7</a:t>
            </a:r>
            <a:endParaRPr sz="240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11174" y="122299"/>
            <a:ext cx="4384675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dirty="0"/>
              <a:t>A</a:t>
            </a:r>
            <a:r>
              <a:rPr sz="2200" spc="-50" dirty="0"/>
              <a:t> </a:t>
            </a:r>
            <a:r>
              <a:rPr sz="2200" dirty="0"/>
              <a:t>closer</a:t>
            </a:r>
            <a:r>
              <a:rPr sz="2200" spc="-50" dirty="0"/>
              <a:t> </a:t>
            </a:r>
            <a:r>
              <a:rPr sz="2200" dirty="0"/>
              <a:t>look</a:t>
            </a:r>
            <a:r>
              <a:rPr sz="2200" spc="-45" dirty="0"/>
              <a:t> </a:t>
            </a:r>
            <a:r>
              <a:rPr sz="2200" dirty="0"/>
              <a:t>at</a:t>
            </a:r>
            <a:r>
              <a:rPr sz="2200" spc="-50" dirty="0"/>
              <a:t> </a:t>
            </a:r>
            <a:r>
              <a:rPr sz="2200" dirty="0"/>
              <a:t>spatial</a:t>
            </a:r>
            <a:r>
              <a:rPr sz="2200" spc="-50" dirty="0"/>
              <a:t> </a:t>
            </a:r>
            <a:r>
              <a:rPr sz="2200" spc="-10" dirty="0"/>
              <a:t>dimensions:</a:t>
            </a:r>
            <a:endParaRPr sz="2200"/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297761" y="1370034"/>
          <a:ext cx="2680334" cy="27425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29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9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9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9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29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90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290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917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8E9D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8E9D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8E9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17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8E9D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8E9D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8E9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17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8E9D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8E9D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8E9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17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17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17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17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1" name="object 10">
            <a:extLst>
              <a:ext uri="{FF2B5EF4-FFF2-40B4-BE49-F238E27FC236}">
                <a16:creationId xmlns:a16="http://schemas.microsoft.com/office/drawing/2014/main" id="{B1044126-15B2-A743-B029-B08AA5FE114B}"/>
              </a:ext>
            </a:extLst>
          </p:cNvPr>
          <p:cNvSpPr txBox="1">
            <a:spLocks noGrp="1"/>
          </p:cNvSpPr>
          <p:nvPr>
            <p:ph type="dt" sz="half" idx="4294967295"/>
          </p:nvPr>
        </p:nvSpPr>
        <p:spPr>
          <a:xfrm>
            <a:off x="145224" y="4740846"/>
            <a:ext cx="4699000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lang="en-US" altLang="zh-CN" spc="-10" dirty="0">
                <a:solidFill>
                  <a:schemeClr val="bg1"/>
                </a:solidFill>
              </a:rPr>
              <a:t>Convolutional</a:t>
            </a:r>
            <a:r>
              <a:rPr lang="zh-CN" altLang="en-US" spc="-10" dirty="0">
                <a:solidFill>
                  <a:schemeClr val="bg1"/>
                </a:solidFill>
              </a:rPr>
              <a:t> </a:t>
            </a:r>
            <a:r>
              <a:rPr lang="en-US" altLang="zh-CN" spc="-10" dirty="0">
                <a:solidFill>
                  <a:schemeClr val="bg1"/>
                </a:solidFill>
              </a:rPr>
              <a:t>Neural</a:t>
            </a:r>
            <a:r>
              <a:rPr lang="zh-CN" altLang="en-US" spc="-10" dirty="0">
                <a:solidFill>
                  <a:schemeClr val="bg1"/>
                </a:solidFill>
              </a:rPr>
              <a:t> </a:t>
            </a:r>
            <a:r>
              <a:rPr lang="en-US" altLang="zh-CN" spc="-10" dirty="0">
                <a:solidFill>
                  <a:schemeClr val="bg1"/>
                </a:solidFill>
              </a:rPr>
              <a:t>Networks</a:t>
            </a:r>
            <a:endParaRPr spc="-1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645311" y="1094855"/>
            <a:ext cx="3055620" cy="1115060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12700" marR="5080">
              <a:lnSpc>
                <a:spcPts val="2850"/>
              </a:lnSpc>
              <a:spcBef>
                <a:spcPts val="219"/>
              </a:spcBef>
            </a:pPr>
            <a:r>
              <a:rPr sz="2400" dirty="0">
                <a:latin typeface="Arial"/>
                <a:cs typeface="Arial"/>
              </a:rPr>
              <a:t>7x7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input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(spatially) </a:t>
            </a:r>
            <a:r>
              <a:rPr sz="2400" dirty="0">
                <a:latin typeface="Arial"/>
                <a:cs typeface="Arial"/>
              </a:rPr>
              <a:t>assume</a:t>
            </a:r>
            <a:r>
              <a:rPr sz="2400" spc="-8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3x3</a:t>
            </a:r>
            <a:r>
              <a:rPr sz="2400" spc="-8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filter </a:t>
            </a:r>
            <a:r>
              <a:rPr sz="2400" dirty="0">
                <a:latin typeface="Arial"/>
                <a:cs typeface="Arial"/>
              </a:rPr>
              <a:t>applied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with</a:t>
            </a:r>
            <a:r>
              <a:rPr sz="2400" b="1" spc="-7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stride</a:t>
            </a:r>
            <a:r>
              <a:rPr sz="2400" b="1" spc="-75" dirty="0">
                <a:latin typeface="Arial"/>
                <a:cs typeface="Arial"/>
              </a:rPr>
              <a:t> </a:t>
            </a:r>
            <a:r>
              <a:rPr sz="2400" b="1" spc="-25" dirty="0">
                <a:latin typeface="Arial"/>
                <a:cs typeface="Arial"/>
              </a:rPr>
              <a:t>3?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463195" y="855206"/>
            <a:ext cx="1949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Arial"/>
                <a:cs typeface="Arial"/>
              </a:rPr>
              <a:t>7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168719" y="2724798"/>
            <a:ext cx="1949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Arial"/>
                <a:cs typeface="Arial"/>
              </a:rPr>
              <a:t>7</a:t>
            </a:r>
            <a:endParaRPr sz="240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11174" y="122299"/>
            <a:ext cx="4384675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dirty="0"/>
              <a:t>A</a:t>
            </a:r>
            <a:r>
              <a:rPr sz="2200" spc="-50" dirty="0"/>
              <a:t> </a:t>
            </a:r>
            <a:r>
              <a:rPr sz="2200" dirty="0"/>
              <a:t>closer</a:t>
            </a:r>
            <a:r>
              <a:rPr sz="2200" spc="-50" dirty="0"/>
              <a:t> </a:t>
            </a:r>
            <a:r>
              <a:rPr sz="2200" dirty="0"/>
              <a:t>look</a:t>
            </a:r>
            <a:r>
              <a:rPr sz="2200" spc="-45" dirty="0"/>
              <a:t> </a:t>
            </a:r>
            <a:r>
              <a:rPr sz="2200" dirty="0"/>
              <a:t>at</a:t>
            </a:r>
            <a:r>
              <a:rPr sz="2200" spc="-50" dirty="0"/>
              <a:t> </a:t>
            </a:r>
            <a:r>
              <a:rPr sz="2200" dirty="0"/>
              <a:t>spatial</a:t>
            </a:r>
            <a:r>
              <a:rPr sz="2200" spc="-50" dirty="0"/>
              <a:t> </a:t>
            </a:r>
            <a:r>
              <a:rPr sz="2200" spc="-10" dirty="0"/>
              <a:t>dimensions:</a:t>
            </a:r>
            <a:endParaRPr sz="2200"/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297761" y="1370034"/>
          <a:ext cx="2680334" cy="27425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29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9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9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9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29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90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290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917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8E9D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8E9D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8E9D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17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8E9D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8E9D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8E9D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17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8E9D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8E9D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8E9D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17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17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17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17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1" name="object 10">
            <a:extLst>
              <a:ext uri="{FF2B5EF4-FFF2-40B4-BE49-F238E27FC236}">
                <a16:creationId xmlns:a16="http://schemas.microsoft.com/office/drawing/2014/main" id="{2699489F-2DB5-4547-94E4-56A6459178A7}"/>
              </a:ext>
            </a:extLst>
          </p:cNvPr>
          <p:cNvSpPr txBox="1">
            <a:spLocks noGrp="1"/>
          </p:cNvSpPr>
          <p:nvPr>
            <p:ph type="dt" sz="half" idx="4294967295"/>
          </p:nvPr>
        </p:nvSpPr>
        <p:spPr>
          <a:xfrm>
            <a:off x="145224" y="4740846"/>
            <a:ext cx="4699000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lang="en-US" altLang="zh-CN" spc="-10" dirty="0">
                <a:solidFill>
                  <a:schemeClr val="bg1"/>
                </a:solidFill>
              </a:rPr>
              <a:t>Convolutional</a:t>
            </a:r>
            <a:r>
              <a:rPr lang="zh-CN" altLang="en-US" spc="-10" dirty="0">
                <a:solidFill>
                  <a:schemeClr val="bg1"/>
                </a:solidFill>
              </a:rPr>
              <a:t> </a:t>
            </a:r>
            <a:r>
              <a:rPr lang="en-US" altLang="zh-CN" spc="-10" dirty="0">
                <a:solidFill>
                  <a:schemeClr val="bg1"/>
                </a:solidFill>
              </a:rPr>
              <a:t>Neural</a:t>
            </a:r>
            <a:r>
              <a:rPr lang="zh-CN" altLang="en-US" spc="-10" dirty="0">
                <a:solidFill>
                  <a:schemeClr val="bg1"/>
                </a:solidFill>
              </a:rPr>
              <a:t> </a:t>
            </a:r>
            <a:r>
              <a:rPr lang="en-US" altLang="zh-CN" spc="-10" dirty="0">
                <a:solidFill>
                  <a:schemeClr val="bg1"/>
                </a:solidFill>
              </a:rPr>
              <a:t>Networks</a:t>
            </a:r>
            <a:endParaRPr spc="-1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645311" y="1094855"/>
            <a:ext cx="3055620" cy="1115060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12700" marR="5080">
              <a:lnSpc>
                <a:spcPts val="2850"/>
              </a:lnSpc>
              <a:spcBef>
                <a:spcPts val="219"/>
              </a:spcBef>
            </a:pPr>
            <a:r>
              <a:rPr sz="2400" dirty="0">
                <a:latin typeface="Arial"/>
                <a:cs typeface="Arial"/>
              </a:rPr>
              <a:t>7x7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input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(spatially) </a:t>
            </a:r>
            <a:r>
              <a:rPr sz="2400" dirty="0">
                <a:latin typeface="Arial"/>
                <a:cs typeface="Arial"/>
              </a:rPr>
              <a:t>assume</a:t>
            </a:r>
            <a:r>
              <a:rPr sz="2400" spc="-8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3x3</a:t>
            </a:r>
            <a:r>
              <a:rPr sz="2400" spc="-8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filter </a:t>
            </a:r>
            <a:r>
              <a:rPr sz="2400" dirty="0">
                <a:latin typeface="Arial"/>
                <a:cs typeface="Arial"/>
              </a:rPr>
              <a:t>applied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with</a:t>
            </a:r>
            <a:r>
              <a:rPr sz="2400" b="1" spc="-7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stride</a:t>
            </a:r>
            <a:r>
              <a:rPr sz="2400" b="1" spc="-75" dirty="0">
                <a:latin typeface="Arial"/>
                <a:cs typeface="Arial"/>
              </a:rPr>
              <a:t> </a:t>
            </a:r>
            <a:r>
              <a:rPr sz="2400" b="1" spc="-25" dirty="0">
                <a:latin typeface="Arial"/>
                <a:cs typeface="Arial"/>
              </a:rPr>
              <a:t>3?</a:t>
            </a:r>
            <a:endParaRPr sz="2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463195" y="855206"/>
            <a:ext cx="1949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Arial"/>
                <a:cs typeface="Arial"/>
              </a:rPr>
              <a:t>7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168719" y="2724798"/>
            <a:ext cx="1949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Arial"/>
                <a:cs typeface="Arial"/>
              </a:rPr>
              <a:t>7</a:t>
            </a:r>
            <a:endParaRPr sz="240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11174" y="122299"/>
            <a:ext cx="4384675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dirty="0"/>
              <a:t>A</a:t>
            </a:r>
            <a:r>
              <a:rPr sz="2200" spc="-50" dirty="0"/>
              <a:t> </a:t>
            </a:r>
            <a:r>
              <a:rPr sz="2200" dirty="0"/>
              <a:t>closer</a:t>
            </a:r>
            <a:r>
              <a:rPr sz="2200" spc="-50" dirty="0"/>
              <a:t> </a:t>
            </a:r>
            <a:r>
              <a:rPr sz="2200" dirty="0"/>
              <a:t>look</a:t>
            </a:r>
            <a:r>
              <a:rPr sz="2200" spc="-45" dirty="0"/>
              <a:t> </a:t>
            </a:r>
            <a:r>
              <a:rPr sz="2200" dirty="0"/>
              <a:t>at</a:t>
            </a:r>
            <a:r>
              <a:rPr sz="2200" spc="-50" dirty="0"/>
              <a:t> </a:t>
            </a:r>
            <a:r>
              <a:rPr sz="2200" dirty="0"/>
              <a:t>spatial</a:t>
            </a:r>
            <a:r>
              <a:rPr sz="2200" spc="-50" dirty="0"/>
              <a:t> </a:t>
            </a:r>
            <a:r>
              <a:rPr sz="2200" spc="-10" dirty="0"/>
              <a:t>dimensions:</a:t>
            </a:r>
            <a:endParaRPr sz="2200"/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297761" y="1370034"/>
          <a:ext cx="2680334" cy="27425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29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9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9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9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29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90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290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917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8E9D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8E9D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8E9D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17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8E9D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8E9D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8E9D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17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8E9D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8E9D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8E9D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17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17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17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17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4762668" y="2710130"/>
            <a:ext cx="3411854" cy="11150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865"/>
              </a:lnSpc>
              <a:spcBef>
                <a:spcPts val="100"/>
              </a:spcBef>
            </a:pPr>
            <a:r>
              <a:rPr sz="2400" b="1" dirty="0">
                <a:solidFill>
                  <a:srgbClr val="FF0000"/>
                </a:solidFill>
                <a:latin typeface="Arial"/>
                <a:cs typeface="Arial"/>
              </a:rPr>
              <a:t>doesn’t</a:t>
            </a:r>
            <a:r>
              <a:rPr sz="2400" b="1" spc="-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b="1" spc="-20" dirty="0">
                <a:solidFill>
                  <a:srgbClr val="FF0000"/>
                </a:solidFill>
                <a:latin typeface="Arial"/>
                <a:cs typeface="Arial"/>
              </a:rPr>
              <a:t>fit!</a:t>
            </a:r>
            <a:endParaRPr sz="2400">
              <a:latin typeface="Arial"/>
              <a:cs typeface="Arial"/>
            </a:endParaRPr>
          </a:p>
          <a:p>
            <a:pPr marL="12700" marR="5080">
              <a:lnSpc>
                <a:spcPts val="2850"/>
              </a:lnSpc>
              <a:spcBef>
                <a:spcPts val="105"/>
              </a:spcBef>
            </a:pP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cannot</a:t>
            </a:r>
            <a:r>
              <a:rPr sz="2400" spc="-7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apply</a:t>
            </a:r>
            <a:r>
              <a:rPr sz="2400" spc="-6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3x3</a:t>
            </a:r>
            <a:r>
              <a:rPr sz="2400" spc="-7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filter</a:t>
            </a:r>
            <a:r>
              <a:rPr sz="2400" spc="-6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spc="-25" dirty="0">
                <a:solidFill>
                  <a:srgbClr val="FF0000"/>
                </a:solidFill>
                <a:latin typeface="Arial"/>
                <a:cs typeface="Arial"/>
              </a:rPr>
              <a:t>on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7x7</a:t>
            </a:r>
            <a:r>
              <a:rPr sz="2400" spc="-7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input</a:t>
            </a:r>
            <a:r>
              <a:rPr sz="2400" spc="-7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with</a:t>
            </a:r>
            <a:r>
              <a:rPr sz="2400" spc="-7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stride</a:t>
            </a:r>
            <a:r>
              <a:rPr sz="2400" spc="-7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spc="-25" dirty="0">
                <a:solidFill>
                  <a:srgbClr val="FF0000"/>
                </a:solidFill>
                <a:latin typeface="Arial"/>
                <a:cs typeface="Arial"/>
              </a:rPr>
              <a:t>3.</a:t>
            </a:r>
            <a:endParaRPr sz="2400">
              <a:latin typeface="Arial"/>
              <a:cs typeface="Arial"/>
            </a:endParaRPr>
          </a:p>
        </p:txBody>
      </p:sp>
      <p:sp>
        <p:nvSpPr>
          <p:cNvPr id="12" name="object 10">
            <a:extLst>
              <a:ext uri="{FF2B5EF4-FFF2-40B4-BE49-F238E27FC236}">
                <a16:creationId xmlns:a16="http://schemas.microsoft.com/office/drawing/2014/main" id="{35292F62-70DF-B24E-A5A8-5D315D0CBF76}"/>
              </a:ext>
            </a:extLst>
          </p:cNvPr>
          <p:cNvSpPr txBox="1">
            <a:spLocks noGrp="1"/>
          </p:cNvSpPr>
          <p:nvPr>
            <p:ph type="dt" sz="half" idx="4294967295"/>
          </p:nvPr>
        </p:nvSpPr>
        <p:spPr>
          <a:xfrm>
            <a:off x="145224" y="4740846"/>
            <a:ext cx="4699000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lang="en-US" altLang="zh-CN" spc="-10" dirty="0">
                <a:solidFill>
                  <a:schemeClr val="bg1"/>
                </a:solidFill>
              </a:rPr>
              <a:t>Convolutional</a:t>
            </a:r>
            <a:r>
              <a:rPr lang="zh-CN" altLang="en-US" spc="-10" dirty="0">
                <a:solidFill>
                  <a:schemeClr val="bg1"/>
                </a:solidFill>
              </a:rPr>
              <a:t> </a:t>
            </a:r>
            <a:r>
              <a:rPr lang="en-US" altLang="zh-CN" spc="-10" dirty="0">
                <a:solidFill>
                  <a:schemeClr val="bg1"/>
                </a:solidFill>
              </a:rPr>
              <a:t>Neural</a:t>
            </a:r>
            <a:r>
              <a:rPr lang="zh-CN" altLang="en-US" spc="-10" dirty="0">
                <a:solidFill>
                  <a:schemeClr val="bg1"/>
                </a:solidFill>
              </a:rPr>
              <a:t> </a:t>
            </a:r>
            <a:r>
              <a:rPr lang="en-US" altLang="zh-CN" spc="-10" dirty="0">
                <a:solidFill>
                  <a:schemeClr val="bg1"/>
                </a:solidFill>
              </a:rPr>
              <a:t>Networks</a:t>
            </a:r>
            <a:endParaRPr spc="-1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450161" y="836635"/>
          <a:ext cx="2680334" cy="27425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29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9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9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9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29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90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290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917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8E9D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8E9D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8E9D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17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8E9D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8E9D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8E9D3"/>
                    </a:solidFill>
                  </a:tcPr>
                </a:tc>
                <a:tc>
                  <a:txBody>
                    <a:bodyPr/>
                    <a:lstStyle/>
                    <a:p>
                      <a:pPr marL="100965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2400" spc="-50" dirty="0">
                          <a:latin typeface="Arial"/>
                          <a:cs typeface="Arial"/>
                        </a:rPr>
                        <a:t>F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571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17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8E9D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8E9D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8E9D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17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2860"/>
                        </a:lnSpc>
                      </a:pPr>
                      <a:r>
                        <a:rPr sz="2400" spc="-50" dirty="0">
                          <a:latin typeface="Arial"/>
                          <a:cs typeface="Arial"/>
                        </a:rPr>
                        <a:t>F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17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17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17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" name="object 3"/>
          <p:cNvSpPr/>
          <p:nvPr/>
        </p:nvSpPr>
        <p:spPr>
          <a:xfrm>
            <a:off x="464474" y="628423"/>
            <a:ext cx="2696210" cy="0"/>
          </a:xfrm>
          <a:custGeom>
            <a:avLst/>
            <a:gdLst/>
            <a:ahLst/>
            <a:cxnLst/>
            <a:rect l="l" t="t" r="r" b="b"/>
            <a:pathLst>
              <a:path w="2696210">
                <a:moveTo>
                  <a:pt x="0" y="0"/>
                </a:moveTo>
                <a:lnTo>
                  <a:pt x="2695794" y="0"/>
                </a:lnTo>
              </a:path>
            </a:pathLst>
          </a:custGeom>
          <a:ln w="19049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430048" y="151907"/>
            <a:ext cx="2457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Arial"/>
                <a:cs typeface="Arial"/>
              </a:rPr>
              <a:t>N</a:t>
            </a:r>
            <a:endParaRPr sz="2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485920" y="1870807"/>
            <a:ext cx="2457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Arial"/>
                <a:cs typeface="Arial"/>
              </a:rPr>
              <a:t>N</a:t>
            </a:r>
            <a:endParaRPr sz="24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300293" y="850748"/>
            <a:ext cx="0" cy="2595880"/>
          </a:xfrm>
          <a:custGeom>
            <a:avLst/>
            <a:gdLst/>
            <a:ahLst/>
            <a:cxnLst/>
            <a:rect l="l" t="t" r="r" b="b"/>
            <a:pathLst>
              <a:path h="2595879">
                <a:moveTo>
                  <a:pt x="0" y="0"/>
                </a:moveTo>
                <a:lnTo>
                  <a:pt x="0" y="2595294"/>
                </a:lnTo>
              </a:path>
            </a:pathLst>
          </a:custGeom>
          <a:ln w="19049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681439" y="625507"/>
            <a:ext cx="2504440" cy="7531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865"/>
              </a:lnSpc>
              <a:spcBef>
                <a:spcPts val="100"/>
              </a:spcBef>
            </a:pPr>
            <a:r>
              <a:rPr sz="2400" dirty="0">
                <a:latin typeface="Arial"/>
                <a:cs typeface="Arial"/>
              </a:rPr>
              <a:t>Output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size: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ts val="2865"/>
              </a:lnSpc>
            </a:pPr>
            <a:r>
              <a:rPr sz="2400" b="1" dirty="0">
                <a:latin typeface="Arial"/>
                <a:cs typeface="Arial"/>
              </a:rPr>
              <a:t>(N</a:t>
            </a:r>
            <a:r>
              <a:rPr sz="2400" b="1" spc="-3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-</a:t>
            </a:r>
            <a:r>
              <a:rPr sz="2400" b="1" spc="-2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F)</a:t>
            </a:r>
            <a:r>
              <a:rPr sz="2400" b="1" spc="-2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/</a:t>
            </a:r>
            <a:r>
              <a:rPr sz="2400" b="1" spc="-3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stride</a:t>
            </a:r>
            <a:r>
              <a:rPr sz="2400" b="1" spc="-2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+</a:t>
            </a:r>
            <a:r>
              <a:rPr sz="2400" b="1" spc="-25" dirty="0">
                <a:latin typeface="Arial"/>
                <a:cs typeface="Arial"/>
              </a:rPr>
              <a:t> </a:t>
            </a:r>
            <a:r>
              <a:rPr sz="2400" b="1" spc="-50" dirty="0">
                <a:latin typeface="Arial"/>
                <a:cs typeface="Arial"/>
              </a:rPr>
              <a:t>1</a:t>
            </a:r>
            <a:endParaRPr sz="24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681439" y="1711354"/>
            <a:ext cx="4324350" cy="14770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865"/>
              </a:lnSpc>
              <a:spcBef>
                <a:spcPts val="100"/>
              </a:spcBef>
            </a:pPr>
            <a:r>
              <a:rPr sz="2400" dirty="0">
                <a:latin typeface="Arial"/>
                <a:cs typeface="Arial"/>
              </a:rPr>
              <a:t>e.g.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=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7,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=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3: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ts val="2850"/>
              </a:lnSpc>
            </a:pPr>
            <a:r>
              <a:rPr sz="2400" dirty="0">
                <a:latin typeface="Arial"/>
                <a:cs typeface="Arial"/>
              </a:rPr>
              <a:t>stride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1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=&gt;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(7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-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3)/1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+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1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=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spc="-50" dirty="0">
                <a:latin typeface="Arial"/>
                <a:cs typeface="Arial"/>
              </a:rPr>
              <a:t>5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ts val="2850"/>
              </a:lnSpc>
            </a:pPr>
            <a:r>
              <a:rPr sz="2400" dirty="0">
                <a:latin typeface="Arial"/>
                <a:cs typeface="Arial"/>
              </a:rPr>
              <a:t>stride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2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=&gt;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(7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-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3)/2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+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1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=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spc="-50" dirty="0">
                <a:latin typeface="Arial"/>
                <a:cs typeface="Arial"/>
              </a:rPr>
              <a:t>3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ts val="2865"/>
              </a:lnSpc>
            </a:pPr>
            <a:r>
              <a:rPr sz="2400" dirty="0">
                <a:latin typeface="Arial"/>
                <a:cs typeface="Arial"/>
              </a:rPr>
              <a:t>stride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3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=&gt;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(7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-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3)/3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+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1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=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2.33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:\</a:t>
            </a:r>
            <a:endParaRPr sz="2400">
              <a:latin typeface="Arial"/>
              <a:cs typeface="Arial"/>
            </a:endParaRPr>
          </a:p>
        </p:txBody>
      </p:sp>
      <p:sp>
        <p:nvSpPr>
          <p:cNvPr id="13" name="object 10">
            <a:extLst>
              <a:ext uri="{FF2B5EF4-FFF2-40B4-BE49-F238E27FC236}">
                <a16:creationId xmlns:a16="http://schemas.microsoft.com/office/drawing/2014/main" id="{1B0DD1BF-1A83-3C45-B440-01EE4911601F}"/>
              </a:ext>
            </a:extLst>
          </p:cNvPr>
          <p:cNvSpPr txBox="1">
            <a:spLocks noGrp="1"/>
          </p:cNvSpPr>
          <p:nvPr>
            <p:ph type="dt" sz="half" idx="4294967295"/>
          </p:nvPr>
        </p:nvSpPr>
        <p:spPr>
          <a:xfrm>
            <a:off x="145224" y="4740846"/>
            <a:ext cx="4699000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lang="en-US" altLang="zh-CN" spc="-10" dirty="0">
                <a:solidFill>
                  <a:schemeClr val="bg1"/>
                </a:solidFill>
              </a:rPr>
              <a:t>Convolutional</a:t>
            </a:r>
            <a:r>
              <a:rPr lang="zh-CN" altLang="en-US" spc="-10" dirty="0">
                <a:solidFill>
                  <a:schemeClr val="bg1"/>
                </a:solidFill>
              </a:rPr>
              <a:t> </a:t>
            </a:r>
            <a:r>
              <a:rPr lang="en-US" altLang="zh-CN" spc="-10" dirty="0">
                <a:solidFill>
                  <a:schemeClr val="bg1"/>
                </a:solidFill>
              </a:rPr>
              <a:t>Neural</a:t>
            </a:r>
            <a:r>
              <a:rPr lang="zh-CN" altLang="en-US" spc="-10" dirty="0">
                <a:solidFill>
                  <a:schemeClr val="bg1"/>
                </a:solidFill>
              </a:rPr>
              <a:t> </a:t>
            </a:r>
            <a:r>
              <a:rPr lang="en-US" altLang="zh-CN" spc="-10" dirty="0">
                <a:solidFill>
                  <a:schemeClr val="bg1"/>
                </a:solidFill>
              </a:rPr>
              <a:t>Networks</a:t>
            </a:r>
            <a:endParaRPr spc="-1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26789" rIns="0" bIns="0" rtlCol="0">
            <a:spAutoFit/>
          </a:bodyPr>
          <a:lstStyle/>
          <a:p>
            <a:pPr marL="124460">
              <a:lnSpc>
                <a:spcPct val="100000"/>
              </a:lnSpc>
              <a:spcBef>
                <a:spcPts val="100"/>
              </a:spcBef>
            </a:pPr>
            <a:r>
              <a:rPr sz="3000" dirty="0"/>
              <a:t>In</a:t>
            </a:r>
            <a:r>
              <a:rPr sz="3000" spc="-35" dirty="0"/>
              <a:t> </a:t>
            </a:r>
            <a:r>
              <a:rPr sz="3000" dirty="0"/>
              <a:t>practice:</a:t>
            </a:r>
            <a:r>
              <a:rPr sz="3000" spc="-20" dirty="0"/>
              <a:t> </a:t>
            </a:r>
            <a:r>
              <a:rPr sz="3000" dirty="0"/>
              <a:t>Common</a:t>
            </a:r>
            <a:r>
              <a:rPr sz="3000" spc="-20" dirty="0"/>
              <a:t> </a:t>
            </a:r>
            <a:r>
              <a:rPr sz="3000" dirty="0"/>
              <a:t>to</a:t>
            </a:r>
            <a:r>
              <a:rPr sz="3000" spc="-20" dirty="0"/>
              <a:t> </a:t>
            </a:r>
            <a:r>
              <a:rPr sz="3000" dirty="0"/>
              <a:t>zero</a:t>
            </a:r>
            <a:r>
              <a:rPr sz="3000" spc="-20" dirty="0"/>
              <a:t> </a:t>
            </a:r>
            <a:r>
              <a:rPr sz="3000" dirty="0"/>
              <a:t>pad</a:t>
            </a:r>
            <a:r>
              <a:rPr sz="3000" spc="-20" dirty="0"/>
              <a:t> </a:t>
            </a:r>
            <a:r>
              <a:rPr sz="3000" dirty="0"/>
              <a:t>the</a:t>
            </a:r>
            <a:r>
              <a:rPr sz="3000" spc="-20" dirty="0"/>
              <a:t> </a:t>
            </a:r>
            <a:r>
              <a:rPr sz="3000" spc="-10" dirty="0"/>
              <a:t>border</a:t>
            </a:r>
            <a:endParaRPr sz="300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372636" y="942410"/>
          <a:ext cx="2680330" cy="35261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78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78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78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78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781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978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9781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9781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9781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91795">
                <a:tc>
                  <a:txBody>
                    <a:bodyPr/>
                    <a:lstStyle/>
                    <a:p>
                      <a:pPr marR="1968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7874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8E9D3"/>
                    </a:solidFill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7874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8E9D3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7874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8E9D3"/>
                    </a:solidFill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7874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7874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7874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1795">
                <a:tc>
                  <a:txBody>
                    <a:bodyPr/>
                    <a:lstStyle/>
                    <a:p>
                      <a:pPr marR="1968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7874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8E9D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8E9D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8E9D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1795">
                <a:tc>
                  <a:txBody>
                    <a:bodyPr/>
                    <a:lstStyle/>
                    <a:p>
                      <a:pPr marR="1968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7874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8E9D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8E9D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8E9D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1795">
                <a:tc>
                  <a:txBody>
                    <a:bodyPr/>
                    <a:lstStyle/>
                    <a:p>
                      <a:pPr marR="19685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1795">
                <a:tc>
                  <a:txBody>
                    <a:bodyPr/>
                    <a:lstStyle/>
                    <a:p>
                      <a:pPr marR="19685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17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17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17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17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3372144" y="1086238"/>
            <a:ext cx="528828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Arial"/>
                <a:cs typeface="Arial"/>
              </a:rPr>
              <a:t>e.g.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input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7x7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latin typeface="Arial"/>
                <a:cs typeface="Arial"/>
              </a:rPr>
              <a:t>3x3</a:t>
            </a:r>
            <a:r>
              <a:rPr sz="2000" b="1" spc="-5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filter,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applied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with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stride</a:t>
            </a:r>
            <a:r>
              <a:rPr sz="2000" b="1" spc="-50" dirty="0">
                <a:latin typeface="Arial"/>
                <a:cs typeface="Arial"/>
              </a:rPr>
              <a:t> 1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latin typeface="Arial"/>
                <a:cs typeface="Arial"/>
              </a:rPr>
              <a:t>pad</a:t>
            </a:r>
            <a:r>
              <a:rPr sz="2000" b="1" spc="-2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with</a:t>
            </a:r>
            <a:r>
              <a:rPr sz="2000" b="1" spc="-2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1</a:t>
            </a:r>
            <a:r>
              <a:rPr sz="2000" b="1" spc="-2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pixel </a:t>
            </a:r>
            <a:r>
              <a:rPr sz="2000" dirty="0">
                <a:latin typeface="Arial"/>
                <a:cs typeface="Arial"/>
              </a:rPr>
              <a:t>border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=&gt;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what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is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the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output?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094585" y="3438221"/>
            <a:ext cx="2419985" cy="7531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865"/>
              </a:lnSpc>
              <a:spcBef>
                <a:spcPts val="100"/>
              </a:spcBef>
            </a:pPr>
            <a:r>
              <a:rPr sz="2400" spc="-10" dirty="0">
                <a:solidFill>
                  <a:srgbClr val="424242"/>
                </a:solidFill>
                <a:latin typeface="Arial"/>
                <a:cs typeface="Arial"/>
              </a:rPr>
              <a:t>(recall:)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ts val="2865"/>
              </a:lnSpc>
            </a:pPr>
            <a:r>
              <a:rPr sz="2400" dirty="0">
                <a:solidFill>
                  <a:srgbClr val="0000FF"/>
                </a:solidFill>
                <a:latin typeface="Arial"/>
                <a:cs typeface="Arial"/>
              </a:rPr>
              <a:t>(N</a:t>
            </a:r>
            <a:r>
              <a:rPr sz="2400" spc="-3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000FF"/>
                </a:solidFill>
                <a:latin typeface="Arial"/>
                <a:cs typeface="Arial"/>
              </a:rPr>
              <a:t>-</a:t>
            </a:r>
            <a:r>
              <a:rPr sz="2400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000FF"/>
                </a:solidFill>
                <a:latin typeface="Arial"/>
                <a:cs typeface="Arial"/>
              </a:rPr>
              <a:t>F)</a:t>
            </a:r>
            <a:r>
              <a:rPr sz="2400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000FF"/>
                </a:solidFill>
                <a:latin typeface="Arial"/>
                <a:cs typeface="Arial"/>
              </a:rPr>
              <a:t>/</a:t>
            </a:r>
            <a:r>
              <a:rPr sz="2400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000FF"/>
                </a:solidFill>
                <a:latin typeface="Arial"/>
                <a:cs typeface="Arial"/>
              </a:rPr>
              <a:t>stride</a:t>
            </a:r>
            <a:r>
              <a:rPr sz="2400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000FF"/>
                </a:solidFill>
                <a:latin typeface="Arial"/>
                <a:cs typeface="Arial"/>
              </a:rPr>
              <a:t>+</a:t>
            </a:r>
            <a:r>
              <a:rPr sz="2400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400" spc="-50" dirty="0">
                <a:solidFill>
                  <a:srgbClr val="0000FF"/>
                </a:solidFill>
                <a:latin typeface="Arial"/>
                <a:cs typeface="Arial"/>
              </a:rPr>
              <a:t>1</a:t>
            </a:r>
            <a:endParaRPr sz="2400">
              <a:latin typeface="Arial"/>
              <a:cs typeface="Arial"/>
            </a:endParaRPr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E6188EB4-5B14-514A-835B-21CBC82D5159}"/>
              </a:ext>
            </a:extLst>
          </p:cNvPr>
          <p:cNvSpPr txBox="1">
            <a:spLocks noGrp="1"/>
          </p:cNvSpPr>
          <p:nvPr>
            <p:ph type="dt" sz="half" idx="4294967295"/>
          </p:nvPr>
        </p:nvSpPr>
        <p:spPr>
          <a:xfrm>
            <a:off x="145224" y="4740846"/>
            <a:ext cx="4699000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lang="en-US" altLang="zh-CN" spc="-10" dirty="0">
                <a:solidFill>
                  <a:schemeClr val="bg1"/>
                </a:solidFill>
              </a:rPr>
              <a:t>Convolutional</a:t>
            </a:r>
            <a:r>
              <a:rPr lang="zh-CN" altLang="en-US" spc="-10" dirty="0">
                <a:solidFill>
                  <a:schemeClr val="bg1"/>
                </a:solidFill>
              </a:rPr>
              <a:t> </a:t>
            </a:r>
            <a:r>
              <a:rPr lang="en-US" altLang="zh-CN" spc="-10" dirty="0">
                <a:solidFill>
                  <a:schemeClr val="bg1"/>
                </a:solidFill>
              </a:rPr>
              <a:t>Neural</a:t>
            </a:r>
            <a:r>
              <a:rPr lang="zh-CN" altLang="en-US" spc="-10" dirty="0">
                <a:solidFill>
                  <a:schemeClr val="bg1"/>
                </a:solidFill>
              </a:rPr>
              <a:t> </a:t>
            </a:r>
            <a:r>
              <a:rPr lang="en-US" altLang="zh-CN" spc="-10" dirty="0">
                <a:solidFill>
                  <a:schemeClr val="bg1"/>
                </a:solidFill>
              </a:rPr>
              <a:t>Networks</a:t>
            </a:r>
            <a:endParaRPr spc="-1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26789" rIns="0" bIns="0" rtlCol="0">
            <a:spAutoFit/>
          </a:bodyPr>
          <a:lstStyle/>
          <a:p>
            <a:pPr marL="124460">
              <a:lnSpc>
                <a:spcPct val="100000"/>
              </a:lnSpc>
              <a:spcBef>
                <a:spcPts val="100"/>
              </a:spcBef>
            </a:pPr>
            <a:r>
              <a:rPr sz="3000" dirty="0"/>
              <a:t>In</a:t>
            </a:r>
            <a:r>
              <a:rPr sz="3000" spc="-35" dirty="0"/>
              <a:t> </a:t>
            </a:r>
            <a:r>
              <a:rPr sz="3000" dirty="0"/>
              <a:t>practice:</a:t>
            </a:r>
            <a:r>
              <a:rPr sz="3000" spc="-20" dirty="0"/>
              <a:t> </a:t>
            </a:r>
            <a:r>
              <a:rPr sz="3000" dirty="0"/>
              <a:t>Common</a:t>
            </a:r>
            <a:r>
              <a:rPr sz="3000" spc="-20" dirty="0"/>
              <a:t> </a:t>
            </a:r>
            <a:r>
              <a:rPr sz="3000" dirty="0"/>
              <a:t>to</a:t>
            </a:r>
            <a:r>
              <a:rPr sz="3000" spc="-20" dirty="0"/>
              <a:t> </a:t>
            </a:r>
            <a:r>
              <a:rPr sz="3000" dirty="0"/>
              <a:t>zero</a:t>
            </a:r>
            <a:r>
              <a:rPr sz="3000" spc="-20" dirty="0"/>
              <a:t> </a:t>
            </a:r>
            <a:r>
              <a:rPr sz="3000" dirty="0"/>
              <a:t>pad</a:t>
            </a:r>
            <a:r>
              <a:rPr sz="3000" spc="-20" dirty="0"/>
              <a:t> </a:t>
            </a:r>
            <a:r>
              <a:rPr sz="3000" dirty="0"/>
              <a:t>the</a:t>
            </a:r>
            <a:r>
              <a:rPr sz="3000" spc="-20" dirty="0"/>
              <a:t> </a:t>
            </a:r>
            <a:r>
              <a:rPr sz="3000" spc="-10" dirty="0"/>
              <a:t>border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3372144" y="1086238"/>
            <a:ext cx="5288280" cy="1549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Arial"/>
                <a:cs typeface="Arial"/>
              </a:rPr>
              <a:t>e.g.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input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7x7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latin typeface="Arial"/>
                <a:cs typeface="Arial"/>
              </a:rPr>
              <a:t>3x3</a:t>
            </a:r>
            <a:r>
              <a:rPr sz="2000" b="1" spc="-5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filter,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applied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with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stride</a:t>
            </a:r>
            <a:r>
              <a:rPr sz="2000" b="1" spc="-50" dirty="0">
                <a:latin typeface="Arial"/>
                <a:cs typeface="Arial"/>
              </a:rPr>
              <a:t> 1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latin typeface="Arial"/>
                <a:cs typeface="Arial"/>
              </a:rPr>
              <a:t>pad</a:t>
            </a:r>
            <a:r>
              <a:rPr sz="2000" b="1" spc="-2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with</a:t>
            </a:r>
            <a:r>
              <a:rPr sz="2000" b="1" spc="-2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1</a:t>
            </a:r>
            <a:r>
              <a:rPr sz="2000" b="1" spc="-2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pixel </a:t>
            </a:r>
            <a:r>
              <a:rPr sz="2000" dirty="0">
                <a:latin typeface="Arial"/>
                <a:cs typeface="Arial"/>
              </a:rPr>
              <a:t>border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=&gt;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what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is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the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output?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latin typeface="Arial"/>
                <a:cs typeface="Arial"/>
              </a:rPr>
              <a:t>7x7</a:t>
            </a:r>
            <a:r>
              <a:rPr sz="2000" b="1" spc="-50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output!</a:t>
            </a:r>
            <a:endParaRPr sz="2000">
              <a:latin typeface="Arial"/>
              <a:cs typeface="Arial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372636" y="942410"/>
          <a:ext cx="2680330" cy="35261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78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78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78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78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781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978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9781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9781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9781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91795">
                <a:tc>
                  <a:txBody>
                    <a:bodyPr/>
                    <a:lstStyle/>
                    <a:p>
                      <a:pPr marR="1968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7874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8E9D3"/>
                    </a:solidFill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7874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8E9D3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7874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8E9D3"/>
                    </a:solidFill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7874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7874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7874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1795">
                <a:tc>
                  <a:txBody>
                    <a:bodyPr/>
                    <a:lstStyle/>
                    <a:p>
                      <a:pPr marR="1968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7874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8E9D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8E9D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8E9D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1795">
                <a:tc>
                  <a:txBody>
                    <a:bodyPr/>
                    <a:lstStyle/>
                    <a:p>
                      <a:pPr marR="1968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7874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8E9D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8E9D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8E9D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1795">
                <a:tc>
                  <a:txBody>
                    <a:bodyPr/>
                    <a:lstStyle/>
                    <a:p>
                      <a:pPr marR="19685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1795">
                <a:tc>
                  <a:txBody>
                    <a:bodyPr/>
                    <a:lstStyle/>
                    <a:p>
                      <a:pPr marR="19685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17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17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17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17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9" name="object 10">
            <a:extLst>
              <a:ext uri="{FF2B5EF4-FFF2-40B4-BE49-F238E27FC236}">
                <a16:creationId xmlns:a16="http://schemas.microsoft.com/office/drawing/2014/main" id="{DB0D813F-1B04-954B-9227-B8BC191770BE}"/>
              </a:ext>
            </a:extLst>
          </p:cNvPr>
          <p:cNvSpPr txBox="1">
            <a:spLocks noGrp="1"/>
          </p:cNvSpPr>
          <p:nvPr>
            <p:ph type="dt" sz="half" idx="4294967295"/>
          </p:nvPr>
        </p:nvSpPr>
        <p:spPr>
          <a:xfrm>
            <a:off x="145224" y="4740846"/>
            <a:ext cx="4699000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lang="en-US" altLang="zh-CN" spc="-10" dirty="0">
                <a:solidFill>
                  <a:schemeClr val="bg1"/>
                </a:solidFill>
              </a:rPr>
              <a:t>Convolutional</a:t>
            </a:r>
            <a:r>
              <a:rPr lang="zh-CN" altLang="en-US" spc="-10" dirty="0">
                <a:solidFill>
                  <a:schemeClr val="bg1"/>
                </a:solidFill>
              </a:rPr>
              <a:t> </a:t>
            </a:r>
            <a:r>
              <a:rPr lang="en-US" altLang="zh-CN" spc="-10" dirty="0">
                <a:solidFill>
                  <a:schemeClr val="bg1"/>
                </a:solidFill>
              </a:rPr>
              <a:t>Neural</a:t>
            </a:r>
            <a:r>
              <a:rPr lang="zh-CN" altLang="en-US" spc="-10" dirty="0">
                <a:solidFill>
                  <a:schemeClr val="bg1"/>
                </a:solidFill>
              </a:rPr>
              <a:t> </a:t>
            </a:r>
            <a:r>
              <a:rPr lang="en-US" altLang="zh-CN" spc="-10" dirty="0">
                <a:solidFill>
                  <a:schemeClr val="bg1"/>
                </a:solidFill>
              </a:rPr>
              <a:t>Networks</a:t>
            </a:r>
            <a:endParaRPr spc="-1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26789" rIns="0" bIns="0" rtlCol="0">
            <a:spAutoFit/>
          </a:bodyPr>
          <a:lstStyle/>
          <a:p>
            <a:pPr marL="124460">
              <a:lnSpc>
                <a:spcPct val="100000"/>
              </a:lnSpc>
              <a:spcBef>
                <a:spcPts val="100"/>
              </a:spcBef>
            </a:pPr>
            <a:r>
              <a:rPr sz="3000" dirty="0"/>
              <a:t>In</a:t>
            </a:r>
            <a:r>
              <a:rPr sz="3000" spc="-35" dirty="0"/>
              <a:t> </a:t>
            </a:r>
            <a:r>
              <a:rPr sz="3000" dirty="0"/>
              <a:t>practice:</a:t>
            </a:r>
            <a:r>
              <a:rPr sz="3000" spc="-20" dirty="0"/>
              <a:t> </a:t>
            </a:r>
            <a:r>
              <a:rPr sz="3000" dirty="0"/>
              <a:t>Common</a:t>
            </a:r>
            <a:r>
              <a:rPr sz="3000" spc="-20" dirty="0"/>
              <a:t> </a:t>
            </a:r>
            <a:r>
              <a:rPr sz="3000" dirty="0"/>
              <a:t>to</a:t>
            </a:r>
            <a:r>
              <a:rPr sz="3000" spc="-20" dirty="0"/>
              <a:t> </a:t>
            </a:r>
            <a:r>
              <a:rPr sz="3000" dirty="0"/>
              <a:t>zero</a:t>
            </a:r>
            <a:r>
              <a:rPr sz="3000" spc="-20" dirty="0"/>
              <a:t> </a:t>
            </a:r>
            <a:r>
              <a:rPr sz="3000" dirty="0"/>
              <a:t>pad</a:t>
            </a:r>
            <a:r>
              <a:rPr sz="3000" spc="-20" dirty="0"/>
              <a:t> </a:t>
            </a:r>
            <a:r>
              <a:rPr sz="3000" dirty="0"/>
              <a:t>the</a:t>
            </a:r>
            <a:r>
              <a:rPr sz="3000" spc="-20" dirty="0"/>
              <a:t> </a:t>
            </a:r>
            <a:r>
              <a:rPr sz="3000" spc="-10" dirty="0"/>
              <a:t>border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3372144" y="1086238"/>
            <a:ext cx="5554980" cy="3378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Arial"/>
                <a:cs typeface="Arial"/>
              </a:rPr>
              <a:t>e.g.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input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7x7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latin typeface="Arial"/>
                <a:cs typeface="Arial"/>
              </a:rPr>
              <a:t>3x3</a:t>
            </a:r>
            <a:r>
              <a:rPr sz="2000" b="1" spc="-5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filter,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applied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with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stride</a:t>
            </a:r>
            <a:r>
              <a:rPr sz="2000" b="1" spc="-50" dirty="0">
                <a:latin typeface="Arial"/>
                <a:cs typeface="Arial"/>
              </a:rPr>
              <a:t> 1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latin typeface="Arial"/>
                <a:cs typeface="Arial"/>
              </a:rPr>
              <a:t>pad</a:t>
            </a:r>
            <a:r>
              <a:rPr sz="2000" b="1" spc="-2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with</a:t>
            </a:r>
            <a:r>
              <a:rPr sz="2000" b="1" spc="-2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1</a:t>
            </a:r>
            <a:r>
              <a:rPr sz="2000" b="1" spc="-2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pixel </a:t>
            </a:r>
            <a:r>
              <a:rPr sz="2000" dirty="0">
                <a:latin typeface="Arial"/>
                <a:cs typeface="Arial"/>
              </a:rPr>
              <a:t>border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=&gt;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what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is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the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output?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latin typeface="Arial"/>
                <a:cs typeface="Arial"/>
              </a:rPr>
              <a:t>7x7</a:t>
            </a:r>
            <a:r>
              <a:rPr sz="2000" b="1" spc="-50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output!</a:t>
            </a:r>
            <a:endParaRPr sz="20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</a:pPr>
            <a:r>
              <a:rPr sz="2000" dirty="0">
                <a:latin typeface="Arial"/>
                <a:cs typeface="Arial"/>
              </a:rPr>
              <a:t>in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general,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common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to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see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CONV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layers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with </a:t>
            </a:r>
            <a:r>
              <a:rPr sz="2000" dirty="0">
                <a:latin typeface="Arial"/>
                <a:cs typeface="Arial"/>
              </a:rPr>
              <a:t>stride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1,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filters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of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size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FxF,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and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zero-</a:t>
            </a:r>
            <a:r>
              <a:rPr sz="2000" dirty="0">
                <a:latin typeface="Arial"/>
                <a:cs typeface="Arial"/>
              </a:rPr>
              <a:t>padding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with </a:t>
            </a:r>
            <a:r>
              <a:rPr sz="2000" spc="-10" dirty="0">
                <a:latin typeface="Arial"/>
                <a:cs typeface="Arial"/>
              </a:rPr>
              <a:t>(F-</a:t>
            </a:r>
            <a:r>
              <a:rPr sz="2000" dirty="0">
                <a:latin typeface="Arial"/>
                <a:cs typeface="Arial"/>
              </a:rPr>
              <a:t>1)/2.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(will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preserve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size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spatially)</a:t>
            </a:r>
            <a:endParaRPr sz="2000">
              <a:latin typeface="Arial"/>
              <a:cs typeface="Arial"/>
            </a:endParaRPr>
          </a:p>
          <a:p>
            <a:pPr marL="504825" marR="2297430" indent="-492759" algn="just">
              <a:lnSpc>
                <a:spcPct val="100000"/>
              </a:lnSpc>
            </a:pPr>
            <a:r>
              <a:rPr sz="2000" dirty="0">
                <a:solidFill>
                  <a:srgbClr val="0000FF"/>
                </a:solidFill>
                <a:latin typeface="Arial"/>
                <a:cs typeface="Arial"/>
              </a:rPr>
              <a:t>e.g.</a:t>
            </a:r>
            <a:r>
              <a:rPr sz="2000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000FF"/>
                </a:solidFill>
                <a:latin typeface="Arial"/>
                <a:cs typeface="Arial"/>
              </a:rPr>
              <a:t>F</a:t>
            </a:r>
            <a:r>
              <a:rPr sz="2000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000FF"/>
                </a:solidFill>
                <a:latin typeface="Arial"/>
                <a:cs typeface="Arial"/>
              </a:rPr>
              <a:t>=</a:t>
            </a:r>
            <a:r>
              <a:rPr sz="2000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000FF"/>
                </a:solidFill>
                <a:latin typeface="Arial"/>
                <a:cs typeface="Arial"/>
              </a:rPr>
              <a:t>3</a:t>
            </a:r>
            <a:r>
              <a:rPr sz="2000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000FF"/>
                </a:solidFill>
                <a:latin typeface="Arial"/>
                <a:cs typeface="Arial"/>
              </a:rPr>
              <a:t>=&gt;</a:t>
            </a:r>
            <a:r>
              <a:rPr sz="2000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000FF"/>
                </a:solidFill>
                <a:latin typeface="Arial"/>
                <a:cs typeface="Arial"/>
              </a:rPr>
              <a:t>zero</a:t>
            </a:r>
            <a:r>
              <a:rPr sz="2000" spc="-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000FF"/>
                </a:solidFill>
                <a:latin typeface="Arial"/>
                <a:cs typeface="Arial"/>
              </a:rPr>
              <a:t>pad</a:t>
            </a:r>
            <a:r>
              <a:rPr sz="2000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000FF"/>
                </a:solidFill>
                <a:latin typeface="Arial"/>
                <a:cs typeface="Arial"/>
              </a:rPr>
              <a:t>with</a:t>
            </a:r>
            <a:r>
              <a:rPr sz="2000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000" spc="-50" dirty="0">
                <a:solidFill>
                  <a:srgbClr val="0000FF"/>
                </a:solidFill>
                <a:latin typeface="Arial"/>
                <a:cs typeface="Arial"/>
              </a:rPr>
              <a:t>1 </a:t>
            </a:r>
            <a:r>
              <a:rPr sz="2000" dirty="0">
                <a:solidFill>
                  <a:srgbClr val="0000FF"/>
                </a:solidFill>
                <a:latin typeface="Arial"/>
                <a:cs typeface="Arial"/>
              </a:rPr>
              <a:t>F</a:t>
            </a:r>
            <a:r>
              <a:rPr sz="2000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000FF"/>
                </a:solidFill>
                <a:latin typeface="Arial"/>
                <a:cs typeface="Arial"/>
              </a:rPr>
              <a:t>=</a:t>
            </a:r>
            <a:r>
              <a:rPr sz="2000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000FF"/>
                </a:solidFill>
                <a:latin typeface="Arial"/>
                <a:cs typeface="Arial"/>
              </a:rPr>
              <a:t>5</a:t>
            </a:r>
            <a:r>
              <a:rPr sz="2000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000FF"/>
                </a:solidFill>
                <a:latin typeface="Arial"/>
                <a:cs typeface="Arial"/>
              </a:rPr>
              <a:t>=&gt;</a:t>
            </a:r>
            <a:r>
              <a:rPr sz="2000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000FF"/>
                </a:solidFill>
                <a:latin typeface="Arial"/>
                <a:cs typeface="Arial"/>
              </a:rPr>
              <a:t>zero</a:t>
            </a:r>
            <a:r>
              <a:rPr sz="2000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000FF"/>
                </a:solidFill>
                <a:latin typeface="Arial"/>
                <a:cs typeface="Arial"/>
              </a:rPr>
              <a:t>pad</a:t>
            </a:r>
            <a:r>
              <a:rPr sz="2000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000FF"/>
                </a:solidFill>
                <a:latin typeface="Arial"/>
                <a:cs typeface="Arial"/>
              </a:rPr>
              <a:t>with</a:t>
            </a:r>
            <a:r>
              <a:rPr sz="2000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000" spc="-50" dirty="0">
                <a:solidFill>
                  <a:srgbClr val="0000FF"/>
                </a:solidFill>
                <a:latin typeface="Arial"/>
                <a:cs typeface="Arial"/>
              </a:rPr>
              <a:t>2 </a:t>
            </a:r>
            <a:r>
              <a:rPr sz="2000" dirty="0">
                <a:solidFill>
                  <a:srgbClr val="0000FF"/>
                </a:solidFill>
                <a:latin typeface="Arial"/>
                <a:cs typeface="Arial"/>
              </a:rPr>
              <a:t>F</a:t>
            </a:r>
            <a:r>
              <a:rPr sz="2000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000FF"/>
                </a:solidFill>
                <a:latin typeface="Arial"/>
                <a:cs typeface="Arial"/>
              </a:rPr>
              <a:t>=</a:t>
            </a:r>
            <a:r>
              <a:rPr sz="2000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000FF"/>
                </a:solidFill>
                <a:latin typeface="Arial"/>
                <a:cs typeface="Arial"/>
              </a:rPr>
              <a:t>7</a:t>
            </a:r>
            <a:r>
              <a:rPr sz="2000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000FF"/>
                </a:solidFill>
                <a:latin typeface="Arial"/>
                <a:cs typeface="Arial"/>
              </a:rPr>
              <a:t>=&gt;</a:t>
            </a:r>
            <a:r>
              <a:rPr sz="2000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000FF"/>
                </a:solidFill>
                <a:latin typeface="Arial"/>
                <a:cs typeface="Arial"/>
              </a:rPr>
              <a:t>zero</a:t>
            </a:r>
            <a:r>
              <a:rPr sz="2000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000FF"/>
                </a:solidFill>
                <a:latin typeface="Arial"/>
                <a:cs typeface="Arial"/>
              </a:rPr>
              <a:t>pad</a:t>
            </a:r>
            <a:r>
              <a:rPr sz="2000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000FF"/>
                </a:solidFill>
                <a:latin typeface="Arial"/>
                <a:cs typeface="Arial"/>
              </a:rPr>
              <a:t>with</a:t>
            </a:r>
            <a:r>
              <a:rPr sz="2000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000" spc="-50" dirty="0">
                <a:solidFill>
                  <a:srgbClr val="0000FF"/>
                </a:solidFill>
                <a:latin typeface="Arial"/>
                <a:cs typeface="Arial"/>
              </a:rPr>
              <a:t>3</a:t>
            </a:r>
            <a:endParaRPr sz="2000">
              <a:latin typeface="Arial"/>
              <a:cs typeface="Arial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372636" y="942410"/>
          <a:ext cx="2680330" cy="35261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78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78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78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78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781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978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9781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9781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9781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91795">
                <a:tc>
                  <a:txBody>
                    <a:bodyPr/>
                    <a:lstStyle/>
                    <a:p>
                      <a:pPr marR="1968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7874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8E9D3"/>
                    </a:solidFill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7874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8E9D3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7874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8E9D3"/>
                    </a:solidFill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7874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7874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7874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1795">
                <a:tc>
                  <a:txBody>
                    <a:bodyPr/>
                    <a:lstStyle/>
                    <a:p>
                      <a:pPr marR="1968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7874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8E9D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8E9D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8E9D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1795">
                <a:tc>
                  <a:txBody>
                    <a:bodyPr/>
                    <a:lstStyle/>
                    <a:p>
                      <a:pPr marR="1968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7874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8E9D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8E9D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8E9D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1795">
                <a:tc>
                  <a:txBody>
                    <a:bodyPr/>
                    <a:lstStyle/>
                    <a:p>
                      <a:pPr marR="19685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1795">
                <a:tc>
                  <a:txBody>
                    <a:bodyPr/>
                    <a:lstStyle/>
                    <a:p>
                      <a:pPr marR="19685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17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17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17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17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9" name="object 10">
            <a:extLst>
              <a:ext uri="{FF2B5EF4-FFF2-40B4-BE49-F238E27FC236}">
                <a16:creationId xmlns:a16="http://schemas.microsoft.com/office/drawing/2014/main" id="{9E36E3C5-6721-0B45-8D09-C04D6A0C4FAE}"/>
              </a:ext>
            </a:extLst>
          </p:cNvPr>
          <p:cNvSpPr txBox="1">
            <a:spLocks noGrp="1"/>
          </p:cNvSpPr>
          <p:nvPr>
            <p:ph type="dt" sz="half" idx="4294967295"/>
          </p:nvPr>
        </p:nvSpPr>
        <p:spPr>
          <a:xfrm>
            <a:off x="145224" y="4740846"/>
            <a:ext cx="4699000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lang="en-US" altLang="zh-CN" spc="-10" dirty="0">
                <a:solidFill>
                  <a:schemeClr val="bg1"/>
                </a:solidFill>
              </a:rPr>
              <a:t>Convolutional</a:t>
            </a:r>
            <a:r>
              <a:rPr lang="zh-CN" altLang="en-US" spc="-10" dirty="0">
                <a:solidFill>
                  <a:schemeClr val="bg1"/>
                </a:solidFill>
              </a:rPr>
              <a:t> </a:t>
            </a:r>
            <a:r>
              <a:rPr lang="en-US" altLang="zh-CN" spc="-10" dirty="0">
                <a:solidFill>
                  <a:schemeClr val="bg1"/>
                </a:solidFill>
              </a:rPr>
              <a:t>Neural</a:t>
            </a:r>
            <a:r>
              <a:rPr lang="zh-CN" altLang="en-US" spc="-10" dirty="0">
                <a:solidFill>
                  <a:schemeClr val="bg1"/>
                </a:solidFill>
              </a:rPr>
              <a:t> </a:t>
            </a:r>
            <a:r>
              <a:rPr lang="en-US" altLang="zh-CN" spc="-10" dirty="0">
                <a:solidFill>
                  <a:schemeClr val="bg1"/>
                </a:solidFill>
              </a:rPr>
              <a:t>Networks</a:t>
            </a:r>
            <a:endParaRPr spc="-1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5799" y="197905"/>
            <a:ext cx="2298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Arial"/>
                <a:cs typeface="Arial"/>
              </a:rPr>
              <a:t>Remember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back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b="1" spc="-25" dirty="0">
                <a:latin typeface="Arial"/>
                <a:cs typeface="Arial"/>
              </a:rPr>
              <a:t>to…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85799" y="474130"/>
            <a:ext cx="8062595" cy="57594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>
              <a:lnSpc>
                <a:spcPct val="100699"/>
              </a:lnSpc>
              <a:spcBef>
                <a:spcPts val="85"/>
              </a:spcBef>
            </a:pPr>
            <a:r>
              <a:rPr sz="1800" dirty="0">
                <a:latin typeface="Arial"/>
                <a:cs typeface="Arial"/>
              </a:rPr>
              <a:t>E.g.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32x32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input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convolved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repeatedly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with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5x5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filters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shrinks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volumes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spatially! </a:t>
            </a:r>
            <a:r>
              <a:rPr sz="1800" dirty="0">
                <a:latin typeface="Arial"/>
                <a:cs typeface="Arial"/>
              </a:rPr>
              <a:t>(32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-</a:t>
            </a:r>
            <a:r>
              <a:rPr sz="1800" dirty="0">
                <a:latin typeface="Arial"/>
                <a:cs typeface="Arial"/>
              </a:rPr>
              <a:t>&gt;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28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-</a:t>
            </a:r>
            <a:r>
              <a:rPr sz="1800" dirty="0">
                <a:latin typeface="Arial"/>
                <a:cs typeface="Arial"/>
              </a:rPr>
              <a:t>&gt;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24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...).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Shrinking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too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fast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is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not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good,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doesn’t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work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well.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03249" y="1573621"/>
            <a:ext cx="975994" cy="2777490"/>
            <a:chOff x="203249" y="1573621"/>
            <a:chExt cx="975994" cy="2777490"/>
          </a:xfrm>
        </p:grpSpPr>
        <p:sp>
          <p:nvSpPr>
            <p:cNvPr id="5" name="object 5"/>
            <p:cNvSpPr/>
            <p:nvPr/>
          </p:nvSpPr>
          <p:spPr>
            <a:xfrm>
              <a:off x="212774" y="2326372"/>
              <a:ext cx="213360" cy="2014855"/>
            </a:xfrm>
            <a:custGeom>
              <a:avLst/>
              <a:gdLst/>
              <a:ahLst/>
              <a:cxnLst/>
              <a:rect l="l" t="t" r="r" b="b"/>
              <a:pathLst>
                <a:path w="213359" h="2014854">
                  <a:moveTo>
                    <a:pt x="213172" y="2014668"/>
                  </a:moveTo>
                  <a:lnTo>
                    <a:pt x="0" y="2014668"/>
                  </a:lnTo>
                  <a:lnTo>
                    <a:pt x="0" y="0"/>
                  </a:lnTo>
                  <a:lnTo>
                    <a:pt x="213172" y="0"/>
                  </a:lnTo>
                  <a:lnTo>
                    <a:pt x="213172" y="2014668"/>
                  </a:lnTo>
                  <a:close/>
                </a:path>
              </a:pathLst>
            </a:custGeom>
            <a:solidFill>
              <a:srgbClr val="F4CCCC">
                <a:alpha val="5191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25946" y="1583146"/>
              <a:ext cx="743585" cy="2758440"/>
            </a:xfrm>
            <a:custGeom>
              <a:avLst/>
              <a:gdLst/>
              <a:ahLst/>
              <a:cxnLst/>
              <a:rect l="l" t="t" r="r" b="b"/>
              <a:pathLst>
                <a:path w="743585" h="2758440">
                  <a:moveTo>
                    <a:pt x="0" y="2757894"/>
                  </a:moveTo>
                  <a:lnTo>
                    <a:pt x="0" y="743226"/>
                  </a:lnTo>
                  <a:lnTo>
                    <a:pt x="743226" y="0"/>
                  </a:lnTo>
                  <a:lnTo>
                    <a:pt x="743226" y="2014670"/>
                  </a:lnTo>
                  <a:lnTo>
                    <a:pt x="0" y="2757894"/>
                  </a:lnTo>
                  <a:close/>
                </a:path>
              </a:pathLst>
            </a:custGeom>
            <a:solidFill>
              <a:srgbClr val="C3A3A3">
                <a:alpha val="5191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12774" y="1583146"/>
              <a:ext cx="956944" cy="743585"/>
            </a:xfrm>
            <a:custGeom>
              <a:avLst/>
              <a:gdLst/>
              <a:ahLst/>
              <a:cxnLst/>
              <a:rect l="l" t="t" r="r" b="b"/>
              <a:pathLst>
                <a:path w="956944" h="743585">
                  <a:moveTo>
                    <a:pt x="213172" y="743226"/>
                  </a:moveTo>
                  <a:lnTo>
                    <a:pt x="0" y="743226"/>
                  </a:lnTo>
                  <a:lnTo>
                    <a:pt x="743226" y="0"/>
                  </a:lnTo>
                  <a:lnTo>
                    <a:pt x="956398" y="0"/>
                  </a:lnTo>
                  <a:lnTo>
                    <a:pt x="213172" y="743226"/>
                  </a:lnTo>
                  <a:close/>
                </a:path>
              </a:pathLst>
            </a:custGeom>
            <a:solidFill>
              <a:srgbClr val="F6D6D6">
                <a:alpha val="5191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12774" y="1583146"/>
              <a:ext cx="956944" cy="2758440"/>
            </a:xfrm>
            <a:custGeom>
              <a:avLst/>
              <a:gdLst/>
              <a:ahLst/>
              <a:cxnLst/>
              <a:rect l="l" t="t" r="r" b="b"/>
              <a:pathLst>
                <a:path w="956944" h="2758440">
                  <a:moveTo>
                    <a:pt x="0" y="743226"/>
                  </a:moveTo>
                  <a:lnTo>
                    <a:pt x="743226" y="0"/>
                  </a:lnTo>
                  <a:lnTo>
                    <a:pt x="956398" y="0"/>
                  </a:lnTo>
                  <a:lnTo>
                    <a:pt x="956398" y="2014670"/>
                  </a:lnTo>
                  <a:lnTo>
                    <a:pt x="213172" y="2757894"/>
                  </a:lnTo>
                  <a:lnTo>
                    <a:pt x="0" y="2757894"/>
                  </a:lnTo>
                  <a:lnTo>
                    <a:pt x="0" y="743226"/>
                  </a:lnTo>
                  <a:close/>
                </a:path>
                <a:path w="956944" h="2758440">
                  <a:moveTo>
                    <a:pt x="0" y="743226"/>
                  </a:moveTo>
                  <a:lnTo>
                    <a:pt x="213172" y="743226"/>
                  </a:lnTo>
                  <a:lnTo>
                    <a:pt x="956398" y="0"/>
                  </a:lnTo>
                </a:path>
                <a:path w="956944" h="2758440">
                  <a:moveTo>
                    <a:pt x="213172" y="743226"/>
                  </a:moveTo>
                  <a:lnTo>
                    <a:pt x="213172" y="2757894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898423" y="3947024"/>
            <a:ext cx="280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Arial"/>
                <a:cs typeface="Arial"/>
              </a:rPr>
              <a:t>32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62723" y="1873855"/>
            <a:ext cx="280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Arial"/>
                <a:cs typeface="Arial"/>
              </a:rPr>
              <a:t>32</a:t>
            </a:r>
            <a:endParaRPr sz="18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27812" y="4338654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Arial"/>
                <a:cs typeface="Arial"/>
              </a:rPr>
              <a:t>3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517571" y="2841306"/>
            <a:ext cx="978535" cy="41275"/>
            <a:chOff x="1517571" y="2841306"/>
            <a:chExt cx="978535" cy="41275"/>
          </a:xfrm>
        </p:grpSpPr>
        <p:sp>
          <p:nvSpPr>
            <p:cNvPr id="13" name="object 13"/>
            <p:cNvSpPr/>
            <p:nvPr/>
          </p:nvSpPr>
          <p:spPr>
            <a:xfrm>
              <a:off x="1517571" y="2861794"/>
              <a:ext cx="930910" cy="0"/>
            </a:xfrm>
            <a:custGeom>
              <a:avLst/>
              <a:gdLst/>
              <a:ahLst/>
              <a:cxnLst/>
              <a:rect l="l" t="t" r="r" b="b"/>
              <a:pathLst>
                <a:path w="930910">
                  <a:moveTo>
                    <a:pt x="0" y="0"/>
                  </a:moveTo>
                  <a:lnTo>
                    <a:pt x="930448" y="0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448020" y="2846069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49"/>
                  </a:moveTo>
                  <a:lnTo>
                    <a:pt x="0" y="0"/>
                  </a:lnTo>
                  <a:lnTo>
                    <a:pt x="43224" y="15724"/>
                  </a:lnTo>
                  <a:lnTo>
                    <a:pt x="0" y="31449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448020" y="2846069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49"/>
                  </a:moveTo>
                  <a:lnTo>
                    <a:pt x="43224" y="15724"/>
                  </a:lnTo>
                  <a:lnTo>
                    <a:pt x="0" y="0"/>
                  </a:lnTo>
                  <a:lnTo>
                    <a:pt x="0" y="31449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1629921" y="2939920"/>
            <a:ext cx="748665" cy="140462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>
              <a:lnSpc>
                <a:spcPct val="100699"/>
              </a:lnSpc>
              <a:spcBef>
                <a:spcPts val="85"/>
              </a:spcBef>
            </a:pPr>
            <a:r>
              <a:rPr sz="1800" spc="-10" dirty="0">
                <a:latin typeface="Arial"/>
                <a:cs typeface="Arial"/>
              </a:rPr>
              <a:t>CONV, </a:t>
            </a:r>
            <a:r>
              <a:rPr sz="1800" spc="-20" dirty="0">
                <a:latin typeface="Arial"/>
                <a:cs typeface="Arial"/>
              </a:rPr>
              <a:t>ReLU</a:t>
            </a:r>
            <a:endParaRPr sz="1800">
              <a:latin typeface="Arial"/>
              <a:cs typeface="Arial"/>
            </a:endParaRPr>
          </a:p>
          <a:p>
            <a:pPr marL="12700" marR="118110" algn="just">
              <a:lnSpc>
                <a:spcPct val="100699"/>
              </a:lnSpc>
            </a:pPr>
            <a:r>
              <a:rPr sz="1800" dirty="0">
                <a:solidFill>
                  <a:srgbClr val="0000FF"/>
                </a:solidFill>
                <a:latin typeface="Arial"/>
                <a:cs typeface="Arial"/>
              </a:rPr>
              <a:t>e.g.</a:t>
            </a:r>
            <a:r>
              <a:rPr sz="1800" spc="-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spc="-50" dirty="0">
                <a:solidFill>
                  <a:srgbClr val="0000FF"/>
                </a:solidFill>
                <a:latin typeface="Arial"/>
                <a:cs typeface="Arial"/>
              </a:rPr>
              <a:t>6 </a:t>
            </a:r>
            <a:r>
              <a:rPr sz="1800" spc="-10" dirty="0">
                <a:solidFill>
                  <a:srgbClr val="0000FF"/>
                </a:solidFill>
                <a:latin typeface="Arial"/>
                <a:cs typeface="Arial"/>
              </a:rPr>
              <a:t>5x5x3 filters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2717844" y="1573621"/>
            <a:ext cx="975994" cy="2777490"/>
            <a:chOff x="2717844" y="1573621"/>
            <a:chExt cx="975994" cy="2777490"/>
          </a:xfrm>
        </p:grpSpPr>
        <p:sp>
          <p:nvSpPr>
            <p:cNvPr id="18" name="object 18"/>
            <p:cNvSpPr/>
            <p:nvPr/>
          </p:nvSpPr>
          <p:spPr>
            <a:xfrm>
              <a:off x="2727369" y="2326372"/>
              <a:ext cx="213360" cy="2014855"/>
            </a:xfrm>
            <a:custGeom>
              <a:avLst/>
              <a:gdLst/>
              <a:ahLst/>
              <a:cxnLst/>
              <a:rect l="l" t="t" r="r" b="b"/>
              <a:pathLst>
                <a:path w="213360" h="2014854">
                  <a:moveTo>
                    <a:pt x="213174" y="2014668"/>
                  </a:moveTo>
                  <a:lnTo>
                    <a:pt x="0" y="2014668"/>
                  </a:lnTo>
                  <a:lnTo>
                    <a:pt x="0" y="0"/>
                  </a:lnTo>
                  <a:lnTo>
                    <a:pt x="213174" y="0"/>
                  </a:lnTo>
                  <a:lnTo>
                    <a:pt x="213174" y="2014668"/>
                  </a:lnTo>
                  <a:close/>
                </a:path>
              </a:pathLst>
            </a:custGeom>
            <a:solidFill>
              <a:srgbClr val="C8D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940544" y="1583146"/>
              <a:ext cx="743585" cy="2758440"/>
            </a:xfrm>
            <a:custGeom>
              <a:avLst/>
              <a:gdLst/>
              <a:ahLst/>
              <a:cxnLst/>
              <a:rect l="l" t="t" r="r" b="b"/>
              <a:pathLst>
                <a:path w="743585" h="2758440">
                  <a:moveTo>
                    <a:pt x="0" y="2757894"/>
                  </a:moveTo>
                  <a:lnTo>
                    <a:pt x="0" y="743226"/>
                  </a:lnTo>
                  <a:lnTo>
                    <a:pt x="743223" y="0"/>
                  </a:lnTo>
                  <a:lnTo>
                    <a:pt x="743223" y="2014670"/>
                  </a:lnTo>
                  <a:lnTo>
                    <a:pt x="0" y="2757894"/>
                  </a:lnTo>
                  <a:close/>
                </a:path>
              </a:pathLst>
            </a:custGeom>
            <a:solidFill>
              <a:srgbClr val="A0AE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727369" y="1583146"/>
              <a:ext cx="956944" cy="743585"/>
            </a:xfrm>
            <a:custGeom>
              <a:avLst/>
              <a:gdLst/>
              <a:ahLst/>
              <a:cxnLst/>
              <a:rect l="l" t="t" r="r" b="b"/>
              <a:pathLst>
                <a:path w="956945" h="743585">
                  <a:moveTo>
                    <a:pt x="213174" y="743226"/>
                  </a:moveTo>
                  <a:lnTo>
                    <a:pt x="0" y="743226"/>
                  </a:lnTo>
                  <a:lnTo>
                    <a:pt x="743223" y="0"/>
                  </a:lnTo>
                  <a:lnTo>
                    <a:pt x="956398" y="0"/>
                  </a:lnTo>
                  <a:lnTo>
                    <a:pt x="213174" y="743226"/>
                  </a:lnTo>
                  <a:close/>
                </a:path>
              </a:pathLst>
            </a:custGeom>
            <a:solidFill>
              <a:srgbClr val="D3E1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727369" y="1583146"/>
              <a:ext cx="956944" cy="2758440"/>
            </a:xfrm>
            <a:custGeom>
              <a:avLst/>
              <a:gdLst/>
              <a:ahLst/>
              <a:cxnLst/>
              <a:rect l="l" t="t" r="r" b="b"/>
              <a:pathLst>
                <a:path w="956945" h="2758440">
                  <a:moveTo>
                    <a:pt x="0" y="743226"/>
                  </a:moveTo>
                  <a:lnTo>
                    <a:pt x="743223" y="0"/>
                  </a:lnTo>
                  <a:lnTo>
                    <a:pt x="956398" y="0"/>
                  </a:lnTo>
                  <a:lnTo>
                    <a:pt x="956398" y="2014670"/>
                  </a:lnTo>
                  <a:lnTo>
                    <a:pt x="213174" y="2757894"/>
                  </a:lnTo>
                  <a:lnTo>
                    <a:pt x="0" y="2757894"/>
                  </a:lnTo>
                  <a:lnTo>
                    <a:pt x="0" y="743226"/>
                  </a:lnTo>
                  <a:close/>
                </a:path>
                <a:path w="956945" h="2758440">
                  <a:moveTo>
                    <a:pt x="0" y="743226"/>
                  </a:moveTo>
                  <a:lnTo>
                    <a:pt x="213174" y="743226"/>
                  </a:lnTo>
                  <a:lnTo>
                    <a:pt x="956398" y="0"/>
                  </a:lnTo>
                </a:path>
                <a:path w="956945" h="2758440">
                  <a:moveTo>
                    <a:pt x="213174" y="743226"/>
                  </a:moveTo>
                  <a:lnTo>
                    <a:pt x="213174" y="2757894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3413016" y="3947024"/>
            <a:ext cx="280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Arial"/>
                <a:cs typeface="Arial"/>
              </a:rPr>
              <a:t>28</a:t>
            </a:r>
            <a:endParaRPr sz="18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777318" y="1873855"/>
            <a:ext cx="280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Arial"/>
                <a:cs typeface="Arial"/>
              </a:rPr>
              <a:t>28</a:t>
            </a:r>
            <a:endParaRPr sz="18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742410" y="4338654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Arial"/>
                <a:cs typeface="Arial"/>
              </a:rPr>
              <a:t>6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4260766" y="2841306"/>
            <a:ext cx="978535" cy="41275"/>
            <a:chOff x="4260766" y="2841306"/>
            <a:chExt cx="978535" cy="41275"/>
          </a:xfrm>
        </p:grpSpPr>
        <p:sp>
          <p:nvSpPr>
            <p:cNvPr id="26" name="object 26"/>
            <p:cNvSpPr/>
            <p:nvPr/>
          </p:nvSpPr>
          <p:spPr>
            <a:xfrm>
              <a:off x="4260766" y="2861794"/>
              <a:ext cx="930910" cy="0"/>
            </a:xfrm>
            <a:custGeom>
              <a:avLst/>
              <a:gdLst/>
              <a:ahLst/>
              <a:cxnLst/>
              <a:rect l="l" t="t" r="r" b="b"/>
              <a:pathLst>
                <a:path w="930910">
                  <a:moveTo>
                    <a:pt x="0" y="0"/>
                  </a:moveTo>
                  <a:lnTo>
                    <a:pt x="930448" y="0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5191214" y="2846069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49"/>
                  </a:moveTo>
                  <a:lnTo>
                    <a:pt x="0" y="0"/>
                  </a:lnTo>
                  <a:lnTo>
                    <a:pt x="43224" y="15724"/>
                  </a:lnTo>
                  <a:lnTo>
                    <a:pt x="0" y="31449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5191214" y="2846069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49"/>
                  </a:moveTo>
                  <a:lnTo>
                    <a:pt x="43224" y="15724"/>
                  </a:lnTo>
                  <a:lnTo>
                    <a:pt x="0" y="0"/>
                  </a:lnTo>
                  <a:lnTo>
                    <a:pt x="0" y="31449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4373115" y="2939920"/>
            <a:ext cx="748665" cy="140462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>
              <a:lnSpc>
                <a:spcPct val="100699"/>
              </a:lnSpc>
              <a:spcBef>
                <a:spcPts val="85"/>
              </a:spcBef>
            </a:pPr>
            <a:r>
              <a:rPr sz="1800" spc="-10" dirty="0">
                <a:latin typeface="Arial"/>
                <a:cs typeface="Arial"/>
              </a:rPr>
              <a:t>CONV, </a:t>
            </a:r>
            <a:r>
              <a:rPr sz="1800" spc="-20" dirty="0">
                <a:latin typeface="Arial"/>
                <a:cs typeface="Arial"/>
              </a:rPr>
              <a:t>ReLU</a:t>
            </a:r>
            <a:endParaRPr sz="1800">
              <a:latin typeface="Arial"/>
              <a:cs typeface="Arial"/>
            </a:endParaRPr>
          </a:p>
          <a:p>
            <a:pPr marL="12700" marR="29845">
              <a:lnSpc>
                <a:spcPct val="100699"/>
              </a:lnSpc>
            </a:pPr>
            <a:r>
              <a:rPr sz="1800" dirty="0">
                <a:solidFill>
                  <a:srgbClr val="38751C"/>
                </a:solidFill>
                <a:latin typeface="Arial"/>
                <a:cs typeface="Arial"/>
              </a:rPr>
              <a:t>e.g.</a:t>
            </a:r>
            <a:r>
              <a:rPr sz="1800" spc="-20" dirty="0">
                <a:solidFill>
                  <a:srgbClr val="38751C"/>
                </a:solidFill>
                <a:latin typeface="Arial"/>
                <a:cs typeface="Arial"/>
              </a:rPr>
              <a:t> </a:t>
            </a:r>
            <a:r>
              <a:rPr sz="1800" spc="-25" dirty="0">
                <a:solidFill>
                  <a:srgbClr val="38751C"/>
                </a:solidFill>
                <a:latin typeface="Arial"/>
                <a:cs typeface="Arial"/>
              </a:rPr>
              <a:t>10 </a:t>
            </a:r>
            <a:r>
              <a:rPr sz="1800" spc="-10" dirty="0">
                <a:solidFill>
                  <a:srgbClr val="38751C"/>
                </a:solidFill>
                <a:latin typeface="Arial"/>
                <a:cs typeface="Arial"/>
              </a:rPr>
              <a:t>5x5x</a:t>
            </a:r>
            <a:r>
              <a:rPr sz="1800" b="1" spc="-10" dirty="0">
                <a:solidFill>
                  <a:srgbClr val="38751C"/>
                </a:solidFill>
                <a:latin typeface="Arial"/>
                <a:cs typeface="Arial"/>
              </a:rPr>
              <a:t>6 </a:t>
            </a:r>
            <a:r>
              <a:rPr sz="1800" spc="-10" dirty="0">
                <a:solidFill>
                  <a:srgbClr val="38751C"/>
                </a:solidFill>
                <a:latin typeface="Arial"/>
                <a:cs typeface="Arial"/>
              </a:rPr>
              <a:t>filters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5461039" y="1573621"/>
            <a:ext cx="975994" cy="2777490"/>
            <a:chOff x="5461039" y="1573621"/>
            <a:chExt cx="975994" cy="2777490"/>
          </a:xfrm>
        </p:grpSpPr>
        <p:sp>
          <p:nvSpPr>
            <p:cNvPr id="31" name="object 31"/>
            <p:cNvSpPr/>
            <p:nvPr/>
          </p:nvSpPr>
          <p:spPr>
            <a:xfrm>
              <a:off x="5470564" y="2326372"/>
              <a:ext cx="213360" cy="2014855"/>
            </a:xfrm>
            <a:custGeom>
              <a:avLst/>
              <a:gdLst/>
              <a:ahLst/>
              <a:cxnLst/>
              <a:rect l="l" t="t" r="r" b="b"/>
              <a:pathLst>
                <a:path w="213360" h="2014854">
                  <a:moveTo>
                    <a:pt x="213174" y="2014668"/>
                  </a:moveTo>
                  <a:lnTo>
                    <a:pt x="0" y="2014668"/>
                  </a:lnTo>
                  <a:lnTo>
                    <a:pt x="0" y="0"/>
                  </a:lnTo>
                  <a:lnTo>
                    <a:pt x="213174" y="0"/>
                  </a:lnTo>
                  <a:lnTo>
                    <a:pt x="213174" y="2014668"/>
                  </a:lnTo>
                  <a:close/>
                </a:path>
              </a:pathLst>
            </a:custGeom>
            <a:solidFill>
              <a:srgbClr val="D8E9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5683738" y="1583146"/>
              <a:ext cx="743585" cy="2758440"/>
            </a:xfrm>
            <a:custGeom>
              <a:avLst/>
              <a:gdLst/>
              <a:ahLst/>
              <a:cxnLst/>
              <a:rect l="l" t="t" r="r" b="b"/>
              <a:pathLst>
                <a:path w="743585" h="2758440">
                  <a:moveTo>
                    <a:pt x="0" y="2757894"/>
                  </a:moveTo>
                  <a:lnTo>
                    <a:pt x="0" y="743226"/>
                  </a:lnTo>
                  <a:lnTo>
                    <a:pt x="743223" y="0"/>
                  </a:lnTo>
                  <a:lnTo>
                    <a:pt x="743223" y="2014670"/>
                  </a:lnTo>
                  <a:lnTo>
                    <a:pt x="0" y="2757894"/>
                  </a:lnTo>
                  <a:close/>
                </a:path>
              </a:pathLst>
            </a:custGeom>
            <a:solidFill>
              <a:srgbClr val="ACBA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5470564" y="1583146"/>
              <a:ext cx="956944" cy="743585"/>
            </a:xfrm>
            <a:custGeom>
              <a:avLst/>
              <a:gdLst/>
              <a:ahLst/>
              <a:cxnLst/>
              <a:rect l="l" t="t" r="r" b="b"/>
              <a:pathLst>
                <a:path w="956945" h="743585">
                  <a:moveTo>
                    <a:pt x="213174" y="743226"/>
                  </a:moveTo>
                  <a:lnTo>
                    <a:pt x="0" y="743226"/>
                  </a:lnTo>
                  <a:lnTo>
                    <a:pt x="743223" y="0"/>
                  </a:lnTo>
                  <a:lnTo>
                    <a:pt x="956398" y="0"/>
                  </a:lnTo>
                  <a:lnTo>
                    <a:pt x="213174" y="743226"/>
                  </a:lnTo>
                  <a:close/>
                </a:path>
              </a:pathLst>
            </a:custGeom>
            <a:solidFill>
              <a:srgbClr val="DFEDD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5470564" y="1583146"/>
              <a:ext cx="956944" cy="2758440"/>
            </a:xfrm>
            <a:custGeom>
              <a:avLst/>
              <a:gdLst/>
              <a:ahLst/>
              <a:cxnLst/>
              <a:rect l="l" t="t" r="r" b="b"/>
              <a:pathLst>
                <a:path w="956945" h="2758440">
                  <a:moveTo>
                    <a:pt x="0" y="743226"/>
                  </a:moveTo>
                  <a:lnTo>
                    <a:pt x="743223" y="0"/>
                  </a:lnTo>
                  <a:lnTo>
                    <a:pt x="956398" y="0"/>
                  </a:lnTo>
                  <a:lnTo>
                    <a:pt x="956398" y="2014670"/>
                  </a:lnTo>
                  <a:lnTo>
                    <a:pt x="213174" y="2757894"/>
                  </a:lnTo>
                  <a:lnTo>
                    <a:pt x="0" y="2757894"/>
                  </a:lnTo>
                  <a:lnTo>
                    <a:pt x="0" y="743226"/>
                  </a:lnTo>
                  <a:close/>
                </a:path>
                <a:path w="956945" h="2758440">
                  <a:moveTo>
                    <a:pt x="0" y="743226"/>
                  </a:moveTo>
                  <a:lnTo>
                    <a:pt x="213174" y="743226"/>
                  </a:lnTo>
                  <a:lnTo>
                    <a:pt x="956398" y="0"/>
                  </a:lnTo>
                </a:path>
                <a:path w="956945" h="2758440">
                  <a:moveTo>
                    <a:pt x="213174" y="743226"/>
                  </a:moveTo>
                  <a:lnTo>
                    <a:pt x="213174" y="2757894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5" name="object 35"/>
          <p:cNvGrpSpPr/>
          <p:nvPr/>
        </p:nvGrpSpPr>
        <p:grpSpPr>
          <a:xfrm>
            <a:off x="6851560" y="2841306"/>
            <a:ext cx="978535" cy="41275"/>
            <a:chOff x="6851560" y="2841306"/>
            <a:chExt cx="978535" cy="41275"/>
          </a:xfrm>
        </p:grpSpPr>
        <p:sp>
          <p:nvSpPr>
            <p:cNvPr id="36" name="object 36"/>
            <p:cNvSpPr/>
            <p:nvPr/>
          </p:nvSpPr>
          <p:spPr>
            <a:xfrm>
              <a:off x="6851560" y="2861794"/>
              <a:ext cx="930910" cy="0"/>
            </a:xfrm>
            <a:custGeom>
              <a:avLst/>
              <a:gdLst/>
              <a:ahLst/>
              <a:cxnLst/>
              <a:rect l="l" t="t" r="r" b="b"/>
              <a:pathLst>
                <a:path w="930909">
                  <a:moveTo>
                    <a:pt x="0" y="0"/>
                  </a:moveTo>
                  <a:lnTo>
                    <a:pt x="930448" y="0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7782009" y="2846069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0" y="31449"/>
                  </a:moveTo>
                  <a:lnTo>
                    <a:pt x="0" y="0"/>
                  </a:lnTo>
                  <a:lnTo>
                    <a:pt x="43224" y="15724"/>
                  </a:lnTo>
                  <a:lnTo>
                    <a:pt x="0" y="31449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7782009" y="2846069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0" y="31449"/>
                  </a:moveTo>
                  <a:lnTo>
                    <a:pt x="43224" y="15724"/>
                  </a:lnTo>
                  <a:lnTo>
                    <a:pt x="0" y="0"/>
                  </a:lnTo>
                  <a:lnTo>
                    <a:pt x="0" y="31449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6963910" y="2939920"/>
            <a:ext cx="748665" cy="57594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>
              <a:lnSpc>
                <a:spcPct val="100699"/>
              </a:lnSpc>
              <a:spcBef>
                <a:spcPts val="85"/>
              </a:spcBef>
            </a:pPr>
            <a:r>
              <a:rPr sz="1800" spc="-10" dirty="0">
                <a:latin typeface="Arial"/>
                <a:cs typeface="Arial"/>
              </a:rPr>
              <a:t>CONV, </a:t>
            </a:r>
            <a:r>
              <a:rPr sz="1800" spc="-20" dirty="0">
                <a:latin typeface="Arial"/>
                <a:cs typeface="Arial"/>
              </a:rPr>
              <a:t>ReLU</a:t>
            </a:r>
            <a:endParaRPr sz="180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8180507" y="2677830"/>
            <a:ext cx="4146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Arial"/>
                <a:cs typeface="Arial"/>
              </a:rPr>
              <a:t>….</a:t>
            </a:r>
            <a:endParaRPr sz="240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5409405" y="4338654"/>
            <a:ext cx="280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Arial"/>
                <a:cs typeface="Arial"/>
              </a:rPr>
              <a:t>10</a:t>
            </a:r>
            <a:endParaRPr sz="1800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6156211" y="3947024"/>
            <a:ext cx="280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Arial"/>
                <a:cs typeface="Arial"/>
              </a:rPr>
              <a:t>24</a:t>
            </a:r>
            <a:endParaRPr sz="1800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6520512" y="1873855"/>
            <a:ext cx="280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Arial"/>
                <a:cs typeface="Arial"/>
              </a:rPr>
              <a:t>24</a:t>
            </a:r>
            <a:endParaRPr sz="1800">
              <a:latin typeface="Arial"/>
              <a:cs typeface="Arial"/>
            </a:endParaRPr>
          </a:p>
        </p:txBody>
      </p:sp>
      <p:sp>
        <p:nvSpPr>
          <p:cNvPr id="48" name="object 10">
            <a:extLst>
              <a:ext uri="{FF2B5EF4-FFF2-40B4-BE49-F238E27FC236}">
                <a16:creationId xmlns:a16="http://schemas.microsoft.com/office/drawing/2014/main" id="{788B06B3-B5FC-FA40-B0CB-FC7A76DA6E3C}"/>
              </a:ext>
            </a:extLst>
          </p:cNvPr>
          <p:cNvSpPr txBox="1">
            <a:spLocks noGrp="1"/>
          </p:cNvSpPr>
          <p:nvPr>
            <p:ph type="dt" sz="half" idx="4294967295"/>
          </p:nvPr>
        </p:nvSpPr>
        <p:spPr>
          <a:xfrm>
            <a:off x="145224" y="4740846"/>
            <a:ext cx="4699000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lang="en-US" altLang="zh-CN" spc="-10" dirty="0">
                <a:solidFill>
                  <a:schemeClr val="bg1"/>
                </a:solidFill>
              </a:rPr>
              <a:t>Convolutional</a:t>
            </a:r>
            <a:r>
              <a:rPr lang="zh-CN" altLang="en-US" spc="-10" dirty="0">
                <a:solidFill>
                  <a:schemeClr val="bg1"/>
                </a:solidFill>
              </a:rPr>
              <a:t> </a:t>
            </a:r>
            <a:r>
              <a:rPr lang="en-US" altLang="zh-CN" spc="-10" dirty="0">
                <a:solidFill>
                  <a:schemeClr val="bg1"/>
                </a:solidFill>
              </a:rPr>
              <a:t>Neural</a:t>
            </a:r>
            <a:r>
              <a:rPr lang="zh-CN" altLang="en-US" spc="-10" dirty="0">
                <a:solidFill>
                  <a:schemeClr val="bg1"/>
                </a:solidFill>
              </a:rPr>
              <a:t> </a:t>
            </a:r>
            <a:r>
              <a:rPr lang="en-US" altLang="zh-CN" spc="-10" dirty="0">
                <a:solidFill>
                  <a:schemeClr val="bg1"/>
                </a:solidFill>
              </a:rPr>
              <a:t>Networks</a:t>
            </a:r>
            <a:endParaRPr spc="-1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75824" y="267259"/>
            <a:ext cx="5485765" cy="29381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3660">
              <a:lnSpc>
                <a:spcPct val="100000"/>
              </a:lnSpc>
              <a:spcBef>
                <a:spcPts val="100"/>
              </a:spcBef>
            </a:pPr>
            <a:r>
              <a:rPr sz="3000" dirty="0">
                <a:latin typeface="Arial"/>
                <a:cs typeface="Arial"/>
              </a:rPr>
              <a:t>Examples</a:t>
            </a:r>
            <a:r>
              <a:rPr sz="3000" spc="-5" dirty="0">
                <a:latin typeface="Arial"/>
                <a:cs typeface="Arial"/>
              </a:rPr>
              <a:t> </a:t>
            </a:r>
            <a:r>
              <a:rPr sz="3000" spc="-10" dirty="0">
                <a:latin typeface="Arial"/>
                <a:cs typeface="Arial"/>
              </a:rPr>
              <a:t>time:</a:t>
            </a:r>
            <a:endParaRPr sz="3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480"/>
              </a:spcBef>
            </a:pPr>
            <a:endParaRPr sz="3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3000" dirty="0">
                <a:latin typeface="Arial"/>
                <a:cs typeface="Arial"/>
              </a:rPr>
              <a:t>Input</a:t>
            </a:r>
            <a:r>
              <a:rPr sz="3000" spc="-30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volume:</a:t>
            </a:r>
            <a:r>
              <a:rPr sz="3000" spc="5" dirty="0">
                <a:latin typeface="Arial"/>
                <a:cs typeface="Arial"/>
              </a:rPr>
              <a:t> </a:t>
            </a:r>
            <a:r>
              <a:rPr sz="3000" b="1" spc="-10" dirty="0">
                <a:latin typeface="Arial"/>
                <a:cs typeface="Arial"/>
              </a:rPr>
              <a:t>32x32x3</a:t>
            </a:r>
            <a:endParaRPr sz="3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3000" dirty="0">
                <a:latin typeface="Arial"/>
                <a:cs typeface="Arial"/>
              </a:rPr>
              <a:t>10</a:t>
            </a:r>
            <a:r>
              <a:rPr sz="3000" spc="-25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5x5</a:t>
            </a:r>
            <a:r>
              <a:rPr sz="3000" spc="-15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filters</a:t>
            </a:r>
            <a:r>
              <a:rPr sz="3000" spc="-15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with</a:t>
            </a:r>
            <a:r>
              <a:rPr sz="3000" spc="-15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stride</a:t>
            </a:r>
            <a:r>
              <a:rPr sz="3000" spc="-15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1,</a:t>
            </a:r>
            <a:r>
              <a:rPr sz="3000" spc="-15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pad</a:t>
            </a:r>
            <a:r>
              <a:rPr sz="3000" spc="-15" dirty="0">
                <a:latin typeface="Arial"/>
                <a:cs typeface="Arial"/>
              </a:rPr>
              <a:t> </a:t>
            </a:r>
            <a:r>
              <a:rPr sz="3000" spc="-50" dirty="0">
                <a:latin typeface="Arial"/>
                <a:cs typeface="Arial"/>
              </a:rPr>
              <a:t>2</a:t>
            </a:r>
            <a:endParaRPr sz="3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45"/>
              </a:spcBef>
            </a:pPr>
            <a:endParaRPr sz="3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3000" dirty="0">
                <a:latin typeface="Arial"/>
                <a:cs typeface="Arial"/>
              </a:rPr>
              <a:t>Output</a:t>
            </a:r>
            <a:r>
              <a:rPr sz="3000" spc="-30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volume</a:t>
            </a:r>
            <a:r>
              <a:rPr sz="3000" spc="-30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size:</a:t>
            </a:r>
            <a:r>
              <a:rPr sz="3000" spc="-25" dirty="0">
                <a:latin typeface="Arial"/>
                <a:cs typeface="Arial"/>
              </a:rPr>
              <a:t> </a:t>
            </a:r>
            <a:r>
              <a:rPr sz="3000" spc="-50" dirty="0">
                <a:latin typeface="Arial"/>
                <a:cs typeface="Arial"/>
              </a:rPr>
              <a:t>?</a:t>
            </a:r>
            <a:endParaRPr sz="300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6554861" y="130124"/>
            <a:ext cx="732790" cy="2076450"/>
            <a:chOff x="6554861" y="130124"/>
            <a:chExt cx="732790" cy="2076450"/>
          </a:xfrm>
        </p:grpSpPr>
        <p:sp>
          <p:nvSpPr>
            <p:cNvPr id="4" name="object 4"/>
            <p:cNvSpPr/>
            <p:nvPr/>
          </p:nvSpPr>
          <p:spPr>
            <a:xfrm>
              <a:off x="6564386" y="694038"/>
              <a:ext cx="159385" cy="1503045"/>
            </a:xfrm>
            <a:custGeom>
              <a:avLst/>
              <a:gdLst/>
              <a:ahLst/>
              <a:cxnLst/>
              <a:rect l="l" t="t" r="r" b="b"/>
              <a:pathLst>
                <a:path w="159384" h="1503045">
                  <a:moveTo>
                    <a:pt x="159024" y="1503006"/>
                  </a:moveTo>
                  <a:lnTo>
                    <a:pt x="0" y="1503006"/>
                  </a:lnTo>
                  <a:lnTo>
                    <a:pt x="0" y="0"/>
                  </a:lnTo>
                  <a:lnTo>
                    <a:pt x="159024" y="0"/>
                  </a:lnTo>
                  <a:lnTo>
                    <a:pt x="159024" y="1503006"/>
                  </a:lnTo>
                  <a:close/>
                </a:path>
              </a:pathLst>
            </a:custGeom>
            <a:solidFill>
              <a:srgbClr val="F4CCCC">
                <a:alpha val="5191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723411" y="139649"/>
              <a:ext cx="554990" cy="2057400"/>
            </a:xfrm>
            <a:custGeom>
              <a:avLst/>
              <a:gdLst/>
              <a:ahLst/>
              <a:cxnLst/>
              <a:rect l="l" t="t" r="r" b="b"/>
              <a:pathLst>
                <a:path w="554990" h="2057400">
                  <a:moveTo>
                    <a:pt x="0" y="2057395"/>
                  </a:moveTo>
                  <a:lnTo>
                    <a:pt x="0" y="554388"/>
                  </a:lnTo>
                  <a:lnTo>
                    <a:pt x="554373" y="0"/>
                  </a:lnTo>
                  <a:lnTo>
                    <a:pt x="554373" y="1503006"/>
                  </a:lnTo>
                  <a:lnTo>
                    <a:pt x="0" y="2057395"/>
                  </a:lnTo>
                  <a:close/>
                </a:path>
              </a:pathLst>
            </a:custGeom>
            <a:solidFill>
              <a:srgbClr val="C3A3A3">
                <a:alpha val="5191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564386" y="139649"/>
              <a:ext cx="713740" cy="554990"/>
            </a:xfrm>
            <a:custGeom>
              <a:avLst/>
              <a:gdLst/>
              <a:ahLst/>
              <a:cxnLst/>
              <a:rect l="l" t="t" r="r" b="b"/>
              <a:pathLst>
                <a:path w="713740" h="554990">
                  <a:moveTo>
                    <a:pt x="159024" y="554388"/>
                  </a:moveTo>
                  <a:lnTo>
                    <a:pt x="0" y="554388"/>
                  </a:lnTo>
                  <a:lnTo>
                    <a:pt x="554398" y="0"/>
                  </a:lnTo>
                  <a:lnTo>
                    <a:pt x="713398" y="0"/>
                  </a:lnTo>
                  <a:lnTo>
                    <a:pt x="159024" y="554388"/>
                  </a:lnTo>
                  <a:close/>
                </a:path>
              </a:pathLst>
            </a:custGeom>
            <a:solidFill>
              <a:srgbClr val="F6D6D6">
                <a:alpha val="5191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564386" y="139649"/>
              <a:ext cx="713740" cy="2057400"/>
            </a:xfrm>
            <a:custGeom>
              <a:avLst/>
              <a:gdLst/>
              <a:ahLst/>
              <a:cxnLst/>
              <a:rect l="l" t="t" r="r" b="b"/>
              <a:pathLst>
                <a:path w="713740" h="2057400">
                  <a:moveTo>
                    <a:pt x="0" y="554388"/>
                  </a:moveTo>
                  <a:lnTo>
                    <a:pt x="554398" y="0"/>
                  </a:lnTo>
                  <a:lnTo>
                    <a:pt x="713398" y="0"/>
                  </a:lnTo>
                  <a:lnTo>
                    <a:pt x="713398" y="1503006"/>
                  </a:lnTo>
                  <a:lnTo>
                    <a:pt x="159024" y="2057395"/>
                  </a:lnTo>
                  <a:lnTo>
                    <a:pt x="0" y="2057395"/>
                  </a:lnTo>
                  <a:lnTo>
                    <a:pt x="0" y="554388"/>
                  </a:lnTo>
                  <a:close/>
                </a:path>
                <a:path w="713740" h="2057400">
                  <a:moveTo>
                    <a:pt x="0" y="554388"/>
                  </a:moveTo>
                  <a:lnTo>
                    <a:pt x="159024" y="554388"/>
                  </a:lnTo>
                  <a:lnTo>
                    <a:pt x="713398" y="0"/>
                  </a:lnTo>
                </a:path>
                <a:path w="713740" h="2057400">
                  <a:moveTo>
                    <a:pt x="159024" y="554388"/>
                  </a:moveTo>
                  <a:lnTo>
                    <a:pt x="159024" y="2057395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7385360" y="1073012"/>
            <a:ext cx="727710" cy="41275"/>
            <a:chOff x="7385360" y="1073012"/>
            <a:chExt cx="727710" cy="41275"/>
          </a:xfrm>
        </p:grpSpPr>
        <p:sp>
          <p:nvSpPr>
            <p:cNvPr id="9" name="object 9"/>
            <p:cNvSpPr/>
            <p:nvPr/>
          </p:nvSpPr>
          <p:spPr>
            <a:xfrm>
              <a:off x="7385360" y="1093507"/>
              <a:ext cx="680085" cy="0"/>
            </a:xfrm>
            <a:custGeom>
              <a:avLst/>
              <a:gdLst/>
              <a:ahLst/>
              <a:cxnLst/>
              <a:rect l="l" t="t" r="r" b="b"/>
              <a:pathLst>
                <a:path w="680084">
                  <a:moveTo>
                    <a:pt x="0" y="0"/>
                  </a:moveTo>
                  <a:lnTo>
                    <a:pt x="679648" y="0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065008" y="1077775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0" y="31464"/>
                  </a:moveTo>
                  <a:lnTo>
                    <a:pt x="0" y="0"/>
                  </a:lnTo>
                  <a:lnTo>
                    <a:pt x="43224" y="15732"/>
                  </a:lnTo>
                  <a:lnTo>
                    <a:pt x="0" y="31464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065008" y="1077775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0" y="31464"/>
                  </a:moveTo>
                  <a:lnTo>
                    <a:pt x="43224" y="15732"/>
                  </a:lnTo>
                  <a:lnTo>
                    <a:pt x="0" y="0"/>
                  </a:lnTo>
                  <a:lnTo>
                    <a:pt x="0" y="31464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8278333" y="130124"/>
            <a:ext cx="732790" cy="2076450"/>
            <a:chOff x="8278333" y="130124"/>
            <a:chExt cx="732790" cy="2076450"/>
          </a:xfrm>
        </p:grpSpPr>
        <p:sp>
          <p:nvSpPr>
            <p:cNvPr id="13" name="object 13"/>
            <p:cNvSpPr/>
            <p:nvPr/>
          </p:nvSpPr>
          <p:spPr>
            <a:xfrm>
              <a:off x="8287858" y="694038"/>
              <a:ext cx="159385" cy="1503045"/>
            </a:xfrm>
            <a:custGeom>
              <a:avLst/>
              <a:gdLst/>
              <a:ahLst/>
              <a:cxnLst/>
              <a:rect l="l" t="t" r="r" b="b"/>
              <a:pathLst>
                <a:path w="159384" h="1503045">
                  <a:moveTo>
                    <a:pt x="158999" y="1503006"/>
                  </a:moveTo>
                  <a:lnTo>
                    <a:pt x="0" y="1503006"/>
                  </a:lnTo>
                  <a:lnTo>
                    <a:pt x="0" y="0"/>
                  </a:lnTo>
                  <a:lnTo>
                    <a:pt x="158999" y="0"/>
                  </a:lnTo>
                  <a:lnTo>
                    <a:pt x="158999" y="1503006"/>
                  </a:lnTo>
                  <a:close/>
                </a:path>
              </a:pathLst>
            </a:custGeom>
            <a:solidFill>
              <a:srgbClr val="C8D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446858" y="139649"/>
              <a:ext cx="554990" cy="2057400"/>
            </a:xfrm>
            <a:custGeom>
              <a:avLst/>
              <a:gdLst/>
              <a:ahLst/>
              <a:cxnLst/>
              <a:rect l="l" t="t" r="r" b="b"/>
              <a:pathLst>
                <a:path w="554990" h="2057400">
                  <a:moveTo>
                    <a:pt x="0" y="2057395"/>
                  </a:moveTo>
                  <a:lnTo>
                    <a:pt x="0" y="554388"/>
                  </a:lnTo>
                  <a:lnTo>
                    <a:pt x="554398" y="0"/>
                  </a:lnTo>
                  <a:lnTo>
                    <a:pt x="554398" y="1503006"/>
                  </a:lnTo>
                  <a:lnTo>
                    <a:pt x="0" y="2057395"/>
                  </a:lnTo>
                  <a:close/>
                </a:path>
              </a:pathLst>
            </a:custGeom>
            <a:solidFill>
              <a:srgbClr val="A0AE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287858" y="139649"/>
              <a:ext cx="713740" cy="554990"/>
            </a:xfrm>
            <a:custGeom>
              <a:avLst/>
              <a:gdLst/>
              <a:ahLst/>
              <a:cxnLst/>
              <a:rect l="l" t="t" r="r" b="b"/>
              <a:pathLst>
                <a:path w="713740" h="554990">
                  <a:moveTo>
                    <a:pt x="158999" y="554388"/>
                  </a:moveTo>
                  <a:lnTo>
                    <a:pt x="0" y="554388"/>
                  </a:lnTo>
                  <a:lnTo>
                    <a:pt x="554373" y="0"/>
                  </a:lnTo>
                  <a:lnTo>
                    <a:pt x="713398" y="0"/>
                  </a:lnTo>
                  <a:lnTo>
                    <a:pt x="158999" y="554388"/>
                  </a:lnTo>
                  <a:close/>
                </a:path>
              </a:pathLst>
            </a:custGeom>
            <a:solidFill>
              <a:srgbClr val="D3E1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287858" y="139649"/>
              <a:ext cx="713740" cy="2057400"/>
            </a:xfrm>
            <a:custGeom>
              <a:avLst/>
              <a:gdLst/>
              <a:ahLst/>
              <a:cxnLst/>
              <a:rect l="l" t="t" r="r" b="b"/>
              <a:pathLst>
                <a:path w="713740" h="2057400">
                  <a:moveTo>
                    <a:pt x="0" y="554388"/>
                  </a:moveTo>
                  <a:lnTo>
                    <a:pt x="554373" y="0"/>
                  </a:lnTo>
                  <a:lnTo>
                    <a:pt x="713398" y="0"/>
                  </a:lnTo>
                  <a:lnTo>
                    <a:pt x="713398" y="1503006"/>
                  </a:lnTo>
                  <a:lnTo>
                    <a:pt x="158999" y="2057395"/>
                  </a:lnTo>
                  <a:lnTo>
                    <a:pt x="0" y="2057395"/>
                  </a:lnTo>
                  <a:lnTo>
                    <a:pt x="0" y="554388"/>
                  </a:lnTo>
                  <a:close/>
                </a:path>
                <a:path w="713740" h="2057400">
                  <a:moveTo>
                    <a:pt x="0" y="554388"/>
                  </a:moveTo>
                  <a:lnTo>
                    <a:pt x="158999" y="554388"/>
                  </a:lnTo>
                  <a:lnTo>
                    <a:pt x="713398" y="0"/>
                  </a:lnTo>
                </a:path>
                <a:path w="713740" h="2057400">
                  <a:moveTo>
                    <a:pt x="158999" y="554388"/>
                  </a:moveTo>
                  <a:lnTo>
                    <a:pt x="158999" y="2057395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10">
            <a:extLst>
              <a:ext uri="{FF2B5EF4-FFF2-40B4-BE49-F238E27FC236}">
                <a16:creationId xmlns:a16="http://schemas.microsoft.com/office/drawing/2014/main" id="{1F9A4C30-4665-4B43-9C5F-37716215729E}"/>
              </a:ext>
            </a:extLst>
          </p:cNvPr>
          <p:cNvSpPr txBox="1">
            <a:spLocks noGrp="1"/>
          </p:cNvSpPr>
          <p:nvPr>
            <p:ph type="dt" sz="half" idx="4294967295"/>
          </p:nvPr>
        </p:nvSpPr>
        <p:spPr>
          <a:xfrm>
            <a:off x="145224" y="4740846"/>
            <a:ext cx="4699000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lang="en-US" altLang="zh-CN" spc="-10" dirty="0">
                <a:solidFill>
                  <a:schemeClr val="bg1"/>
                </a:solidFill>
              </a:rPr>
              <a:t>Convolutional</a:t>
            </a:r>
            <a:r>
              <a:rPr lang="zh-CN" altLang="en-US" spc="-10" dirty="0">
                <a:solidFill>
                  <a:schemeClr val="bg1"/>
                </a:solidFill>
              </a:rPr>
              <a:t> </a:t>
            </a:r>
            <a:r>
              <a:rPr lang="en-US" altLang="zh-CN" spc="-10" dirty="0">
                <a:solidFill>
                  <a:schemeClr val="bg1"/>
                </a:solidFill>
              </a:rPr>
              <a:t>Neural</a:t>
            </a:r>
            <a:r>
              <a:rPr lang="zh-CN" altLang="en-US" spc="-10" dirty="0">
                <a:solidFill>
                  <a:schemeClr val="bg1"/>
                </a:solidFill>
              </a:rPr>
              <a:t> </a:t>
            </a:r>
            <a:r>
              <a:rPr lang="en-US" altLang="zh-CN" spc="-10" dirty="0">
                <a:solidFill>
                  <a:schemeClr val="bg1"/>
                </a:solidFill>
              </a:rPr>
              <a:t>Networks</a:t>
            </a:r>
            <a:endParaRPr spc="-1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75824" y="267259"/>
            <a:ext cx="5537835" cy="38525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3660">
              <a:lnSpc>
                <a:spcPct val="100000"/>
              </a:lnSpc>
              <a:spcBef>
                <a:spcPts val="100"/>
              </a:spcBef>
            </a:pPr>
            <a:r>
              <a:rPr sz="3000" dirty="0">
                <a:latin typeface="Arial"/>
                <a:cs typeface="Arial"/>
              </a:rPr>
              <a:t>Examples</a:t>
            </a:r>
            <a:r>
              <a:rPr sz="3000" spc="-5" dirty="0">
                <a:latin typeface="Arial"/>
                <a:cs typeface="Arial"/>
              </a:rPr>
              <a:t> </a:t>
            </a:r>
            <a:r>
              <a:rPr sz="3000" spc="-10" dirty="0">
                <a:latin typeface="Arial"/>
                <a:cs typeface="Arial"/>
              </a:rPr>
              <a:t>time:</a:t>
            </a:r>
            <a:endParaRPr sz="3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480"/>
              </a:spcBef>
            </a:pPr>
            <a:endParaRPr sz="3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3000" dirty="0">
                <a:latin typeface="Arial"/>
                <a:cs typeface="Arial"/>
              </a:rPr>
              <a:t>Input</a:t>
            </a:r>
            <a:r>
              <a:rPr sz="3000" spc="-30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volume:</a:t>
            </a:r>
            <a:r>
              <a:rPr sz="3000" spc="5" dirty="0">
                <a:latin typeface="Arial"/>
                <a:cs typeface="Arial"/>
              </a:rPr>
              <a:t> </a:t>
            </a:r>
            <a:r>
              <a:rPr sz="3000" b="1" spc="-10" dirty="0">
                <a:solidFill>
                  <a:srgbClr val="0000FF"/>
                </a:solidFill>
                <a:latin typeface="Arial"/>
                <a:cs typeface="Arial"/>
              </a:rPr>
              <a:t>32x32</a:t>
            </a:r>
            <a:r>
              <a:rPr sz="3000" b="1" spc="-10" dirty="0">
                <a:latin typeface="Arial"/>
                <a:cs typeface="Arial"/>
              </a:rPr>
              <a:t>x3</a:t>
            </a:r>
            <a:endParaRPr sz="3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3000" dirty="0">
                <a:solidFill>
                  <a:srgbClr val="FF0000"/>
                </a:solidFill>
                <a:latin typeface="Arial"/>
                <a:cs typeface="Arial"/>
              </a:rPr>
              <a:t>10</a:t>
            </a:r>
            <a:r>
              <a:rPr sz="3000" spc="-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3000" dirty="0">
                <a:solidFill>
                  <a:srgbClr val="FF00FF"/>
                </a:solidFill>
                <a:latin typeface="Arial"/>
                <a:cs typeface="Arial"/>
              </a:rPr>
              <a:t>5x5</a:t>
            </a:r>
            <a:r>
              <a:rPr sz="3000" spc="-15" dirty="0">
                <a:solidFill>
                  <a:srgbClr val="FF00FF"/>
                </a:solidFill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filters</a:t>
            </a:r>
            <a:r>
              <a:rPr sz="3000" spc="-15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with</a:t>
            </a:r>
            <a:r>
              <a:rPr sz="3000" spc="-15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stride </a:t>
            </a:r>
            <a:r>
              <a:rPr sz="3000" dirty="0">
                <a:solidFill>
                  <a:srgbClr val="38751C"/>
                </a:solidFill>
                <a:latin typeface="Arial"/>
                <a:cs typeface="Arial"/>
              </a:rPr>
              <a:t>1</a:t>
            </a:r>
            <a:r>
              <a:rPr sz="3000" dirty="0">
                <a:latin typeface="Arial"/>
                <a:cs typeface="Arial"/>
              </a:rPr>
              <a:t>,</a:t>
            </a:r>
            <a:r>
              <a:rPr sz="3000" spc="-15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pad</a:t>
            </a:r>
            <a:r>
              <a:rPr sz="3000" spc="-5" dirty="0">
                <a:latin typeface="Arial"/>
                <a:cs typeface="Arial"/>
              </a:rPr>
              <a:t> </a:t>
            </a:r>
            <a:r>
              <a:rPr sz="3000" spc="-50" dirty="0">
                <a:solidFill>
                  <a:srgbClr val="9900FF"/>
                </a:solidFill>
                <a:latin typeface="Arial"/>
                <a:cs typeface="Arial"/>
              </a:rPr>
              <a:t>2</a:t>
            </a:r>
            <a:endParaRPr sz="3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45"/>
              </a:spcBef>
            </a:pPr>
            <a:endParaRPr sz="3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3000" dirty="0">
                <a:latin typeface="Arial"/>
                <a:cs typeface="Arial"/>
              </a:rPr>
              <a:t>Output</a:t>
            </a:r>
            <a:r>
              <a:rPr sz="3000" spc="-30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volume</a:t>
            </a:r>
            <a:r>
              <a:rPr sz="3000" spc="-30" dirty="0">
                <a:latin typeface="Arial"/>
                <a:cs typeface="Arial"/>
              </a:rPr>
              <a:t> </a:t>
            </a:r>
            <a:r>
              <a:rPr sz="3000" spc="-10" dirty="0">
                <a:latin typeface="Arial"/>
                <a:cs typeface="Arial"/>
              </a:rPr>
              <a:t>size:</a:t>
            </a:r>
            <a:endParaRPr sz="3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3000" spc="-10" dirty="0">
                <a:latin typeface="Arial"/>
                <a:cs typeface="Arial"/>
              </a:rPr>
              <a:t>(</a:t>
            </a:r>
            <a:r>
              <a:rPr sz="3000" spc="-10" dirty="0">
                <a:solidFill>
                  <a:srgbClr val="0000FF"/>
                </a:solidFill>
                <a:latin typeface="Arial"/>
                <a:cs typeface="Arial"/>
              </a:rPr>
              <a:t>32</a:t>
            </a:r>
            <a:r>
              <a:rPr sz="3000" spc="-10" dirty="0">
                <a:latin typeface="Arial"/>
                <a:cs typeface="Arial"/>
              </a:rPr>
              <a:t>+2*</a:t>
            </a:r>
            <a:r>
              <a:rPr sz="3000" spc="-10" dirty="0">
                <a:solidFill>
                  <a:srgbClr val="9900FF"/>
                </a:solidFill>
                <a:latin typeface="Arial"/>
                <a:cs typeface="Arial"/>
              </a:rPr>
              <a:t>2</a:t>
            </a:r>
            <a:r>
              <a:rPr sz="3000" spc="-10" dirty="0">
                <a:latin typeface="Arial"/>
                <a:cs typeface="Arial"/>
              </a:rPr>
              <a:t>-</a:t>
            </a:r>
            <a:r>
              <a:rPr sz="3000" dirty="0">
                <a:solidFill>
                  <a:srgbClr val="FF00FF"/>
                </a:solidFill>
                <a:latin typeface="Arial"/>
                <a:cs typeface="Arial"/>
              </a:rPr>
              <a:t>5</a:t>
            </a:r>
            <a:r>
              <a:rPr sz="3000" dirty="0">
                <a:latin typeface="Arial"/>
                <a:cs typeface="Arial"/>
              </a:rPr>
              <a:t>)/</a:t>
            </a:r>
            <a:r>
              <a:rPr sz="3000" dirty="0">
                <a:solidFill>
                  <a:srgbClr val="38751C"/>
                </a:solidFill>
                <a:latin typeface="Arial"/>
                <a:cs typeface="Arial"/>
              </a:rPr>
              <a:t>1</a:t>
            </a:r>
            <a:r>
              <a:rPr sz="3000" dirty="0">
                <a:latin typeface="Arial"/>
                <a:cs typeface="Arial"/>
              </a:rPr>
              <a:t>+1</a:t>
            </a:r>
            <a:r>
              <a:rPr sz="3000" spc="-15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=</a:t>
            </a:r>
            <a:r>
              <a:rPr sz="3000" spc="-20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32</a:t>
            </a:r>
            <a:r>
              <a:rPr sz="3000" spc="-10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spatially,</a:t>
            </a:r>
            <a:r>
              <a:rPr sz="3000" spc="-15" dirty="0">
                <a:latin typeface="Arial"/>
                <a:cs typeface="Arial"/>
              </a:rPr>
              <a:t> </a:t>
            </a:r>
            <a:r>
              <a:rPr sz="3000" spc="-25" dirty="0">
                <a:latin typeface="Arial"/>
                <a:cs typeface="Arial"/>
              </a:rPr>
              <a:t>so</a:t>
            </a:r>
            <a:endParaRPr sz="3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3000" b="1" spc="-10" dirty="0">
                <a:latin typeface="Arial"/>
                <a:cs typeface="Arial"/>
              </a:rPr>
              <a:t>32x32x</a:t>
            </a:r>
            <a:r>
              <a:rPr sz="3000" b="1" spc="-10" dirty="0">
                <a:solidFill>
                  <a:srgbClr val="FF0000"/>
                </a:solidFill>
                <a:latin typeface="Arial"/>
                <a:cs typeface="Arial"/>
              </a:rPr>
              <a:t>10</a:t>
            </a:r>
            <a:endParaRPr sz="300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6554861" y="130124"/>
            <a:ext cx="732790" cy="2076450"/>
            <a:chOff x="6554861" y="130124"/>
            <a:chExt cx="732790" cy="2076450"/>
          </a:xfrm>
        </p:grpSpPr>
        <p:sp>
          <p:nvSpPr>
            <p:cNvPr id="4" name="object 4"/>
            <p:cNvSpPr/>
            <p:nvPr/>
          </p:nvSpPr>
          <p:spPr>
            <a:xfrm>
              <a:off x="6564386" y="694038"/>
              <a:ext cx="159385" cy="1503045"/>
            </a:xfrm>
            <a:custGeom>
              <a:avLst/>
              <a:gdLst/>
              <a:ahLst/>
              <a:cxnLst/>
              <a:rect l="l" t="t" r="r" b="b"/>
              <a:pathLst>
                <a:path w="159384" h="1503045">
                  <a:moveTo>
                    <a:pt x="159024" y="1503006"/>
                  </a:moveTo>
                  <a:lnTo>
                    <a:pt x="0" y="1503006"/>
                  </a:lnTo>
                  <a:lnTo>
                    <a:pt x="0" y="0"/>
                  </a:lnTo>
                  <a:lnTo>
                    <a:pt x="159024" y="0"/>
                  </a:lnTo>
                  <a:lnTo>
                    <a:pt x="159024" y="1503006"/>
                  </a:lnTo>
                  <a:close/>
                </a:path>
              </a:pathLst>
            </a:custGeom>
            <a:solidFill>
              <a:srgbClr val="F4CCCC">
                <a:alpha val="5191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723411" y="139649"/>
              <a:ext cx="554990" cy="2057400"/>
            </a:xfrm>
            <a:custGeom>
              <a:avLst/>
              <a:gdLst/>
              <a:ahLst/>
              <a:cxnLst/>
              <a:rect l="l" t="t" r="r" b="b"/>
              <a:pathLst>
                <a:path w="554990" h="2057400">
                  <a:moveTo>
                    <a:pt x="0" y="2057395"/>
                  </a:moveTo>
                  <a:lnTo>
                    <a:pt x="0" y="554388"/>
                  </a:lnTo>
                  <a:lnTo>
                    <a:pt x="554373" y="0"/>
                  </a:lnTo>
                  <a:lnTo>
                    <a:pt x="554373" y="1503006"/>
                  </a:lnTo>
                  <a:lnTo>
                    <a:pt x="0" y="2057395"/>
                  </a:lnTo>
                  <a:close/>
                </a:path>
              </a:pathLst>
            </a:custGeom>
            <a:solidFill>
              <a:srgbClr val="C3A3A3">
                <a:alpha val="5191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564386" y="139649"/>
              <a:ext cx="713740" cy="554990"/>
            </a:xfrm>
            <a:custGeom>
              <a:avLst/>
              <a:gdLst/>
              <a:ahLst/>
              <a:cxnLst/>
              <a:rect l="l" t="t" r="r" b="b"/>
              <a:pathLst>
                <a:path w="713740" h="554990">
                  <a:moveTo>
                    <a:pt x="159024" y="554388"/>
                  </a:moveTo>
                  <a:lnTo>
                    <a:pt x="0" y="554388"/>
                  </a:lnTo>
                  <a:lnTo>
                    <a:pt x="554398" y="0"/>
                  </a:lnTo>
                  <a:lnTo>
                    <a:pt x="713398" y="0"/>
                  </a:lnTo>
                  <a:lnTo>
                    <a:pt x="159024" y="554388"/>
                  </a:lnTo>
                  <a:close/>
                </a:path>
              </a:pathLst>
            </a:custGeom>
            <a:solidFill>
              <a:srgbClr val="F6D6D6">
                <a:alpha val="5191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564386" y="139649"/>
              <a:ext cx="713740" cy="2057400"/>
            </a:xfrm>
            <a:custGeom>
              <a:avLst/>
              <a:gdLst/>
              <a:ahLst/>
              <a:cxnLst/>
              <a:rect l="l" t="t" r="r" b="b"/>
              <a:pathLst>
                <a:path w="713740" h="2057400">
                  <a:moveTo>
                    <a:pt x="0" y="554388"/>
                  </a:moveTo>
                  <a:lnTo>
                    <a:pt x="554398" y="0"/>
                  </a:lnTo>
                  <a:lnTo>
                    <a:pt x="713398" y="0"/>
                  </a:lnTo>
                  <a:lnTo>
                    <a:pt x="713398" y="1503006"/>
                  </a:lnTo>
                  <a:lnTo>
                    <a:pt x="159024" y="2057395"/>
                  </a:lnTo>
                  <a:lnTo>
                    <a:pt x="0" y="2057395"/>
                  </a:lnTo>
                  <a:lnTo>
                    <a:pt x="0" y="554388"/>
                  </a:lnTo>
                  <a:close/>
                </a:path>
                <a:path w="713740" h="2057400">
                  <a:moveTo>
                    <a:pt x="0" y="554388"/>
                  </a:moveTo>
                  <a:lnTo>
                    <a:pt x="159024" y="554388"/>
                  </a:lnTo>
                  <a:lnTo>
                    <a:pt x="713398" y="0"/>
                  </a:lnTo>
                </a:path>
                <a:path w="713740" h="2057400">
                  <a:moveTo>
                    <a:pt x="159024" y="554388"/>
                  </a:moveTo>
                  <a:lnTo>
                    <a:pt x="159024" y="2057395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7385360" y="1073012"/>
            <a:ext cx="727710" cy="41275"/>
            <a:chOff x="7385360" y="1073012"/>
            <a:chExt cx="727710" cy="41275"/>
          </a:xfrm>
        </p:grpSpPr>
        <p:sp>
          <p:nvSpPr>
            <p:cNvPr id="9" name="object 9"/>
            <p:cNvSpPr/>
            <p:nvPr/>
          </p:nvSpPr>
          <p:spPr>
            <a:xfrm>
              <a:off x="7385360" y="1093507"/>
              <a:ext cx="680085" cy="0"/>
            </a:xfrm>
            <a:custGeom>
              <a:avLst/>
              <a:gdLst/>
              <a:ahLst/>
              <a:cxnLst/>
              <a:rect l="l" t="t" r="r" b="b"/>
              <a:pathLst>
                <a:path w="680084">
                  <a:moveTo>
                    <a:pt x="0" y="0"/>
                  </a:moveTo>
                  <a:lnTo>
                    <a:pt x="679648" y="0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065008" y="1077775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0" y="31464"/>
                  </a:moveTo>
                  <a:lnTo>
                    <a:pt x="0" y="0"/>
                  </a:lnTo>
                  <a:lnTo>
                    <a:pt x="43224" y="15732"/>
                  </a:lnTo>
                  <a:lnTo>
                    <a:pt x="0" y="31464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065008" y="1077775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0" y="31464"/>
                  </a:moveTo>
                  <a:lnTo>
                    <a:pt x="43224" y="15732"/>
                  </a:lnTo>
                  <a:lnTo>
                    <a:pt x="0" y="0"/>
                  </a:lnTo>
                  <a:lnTo>
                    <a:pt x="0" y="31464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8278333" y="130124"/>
            <a:ext cx="732790" cy="2076450"/>
            <a:chOff x="8278333" y="130124"/>
            <a:chExt cx="732790" cy="2076450"/>
          </a:xfrm>
        </p:grpSpPr>
        <p:sp>
          <p:nvSpPr>
            <p:cNvPr id="13" name="object 13"/>
            <p:cNvSpPr/>
            <p:nvPr/>
          </p:nvSpPr>
          <p:spPr>
            <a:xfrm>
              <a:off x="8287858" y="694038"/>
              <a:ext cx="159385" cy="1503045"/>
            </a:xfrm>
            <a:custGeom>
              <a:avLst/>
              <a:gdLst/>
              <a:ahLst/>
              <a:cxnLst/>
              <a:rect l="l" t="t" r="r" b="b"/>
              <a:pathLst>
                <a:path w="159384" h="1503045">
                  <a:moveTo>
                    <a:pt x="158999" y="1503006"/>
                  </a:moveTo>
                  <a:lnTo>
                    <a:pt x="0" y="1503006"/>
                  </a:lnTo>
                  <a:lnTo>
                    <a:pt x="0" y="0"/>
                  </a:lnTo>
                  <a:lnTo>
                    <a:pt x="158999" y="0"/>
                  </a:lnTo>
                  <a:lnTo>
                    <a:pt x="158999" y="1503006"/>
                  </a:lnTo>
                  <a:close/>
                </a:path>
              </a:pathLst>
            </a:custGeom>
            <a:solidFill>
              <a:srgbClr val="C8D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446858" y="139649"/>
              <a:ext cx="554990" cy="2057400"/>
            </a:xfrm>
            <a:custGeom>
              <a:avLst/>
              <a:gdLst/>
              <a:ahLst/>
              <a:cxnLst/>
              <a:rect l="l" t="t" r="r" b="b"/>
              <a:pathLst>
                <a:path w="554990" h="2057400">
                  <a:moveTo>
                    <a:pt x="0" y="2057395"/>
                  </a:moveTo>
                  <a:lnTo>
                    <a:pt x="0" y="554388"/>
                  </a:lnTo>
                  <a:lnTo>
                    <a:pt x="554398" y="0"/>
                  </a:lnTo>
                  <a:lnTo>
                    <a:pt x="554398" y="1503006"/>
                  </a:lnTo>
                  <a:lnTo>
                    <a:pt x="0" y="2057395"/>
                  </a:lnTo>
                  <a:close/>
                </a:path>
              </a:pathLst>
            </a:custGeom>
            <a:solidFill>
              <a:srgbClr val="A0AE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287858" y="139649"/>
              <a:ext cx="713740" cy="554990"/>
            </a:xfrm>
            <a:custGeom>
              <a:avLst/>
              <a:gdLst/>
              <a:ahLst/>
              <a:cxnLst/>
              <a:rect l="l" t="t" r="r" b="b"/>
              <a:pathLst>
                <a:path w="713740" h="554990">
                  <a:moveTo>
                    <a:pt x="158999" y="554388"/>
                  </a:moveTo>
                  <a:lnTo>
                    <a:pt x="0" y="554388"/>
                  </a:lnTo>
                  <a:lnTo>
                    <a:pt x="554373" y="0"/>
                  </a:lnTo>
                  <a:lnTo>
                    <a:pt x="713398" y="0"/>
                  </a:lnTo>
                  <a:lnTo>
                    <a:pt x="158999" y="554388"/>
                  </a:lnTo>
                  <a:close/>
                </a:path>
              </a:pathLst>
            </a:custGeom>
            <a:solidFill>
              <a:srgbClr val="D3E1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287858" y="139649"/>
              <a:ext cx="713740" cy="2057400"/>
            </a:xfrm>
            <a:custGeom>
              <a:avLst/>
              <a:gdLst/>
              <a:ahLst/>
              <a:cxnLst/>
              <a:rect l="l" t="t" r="r" b="b"/>
              <a:pathLst>
                <a:path w="713740" h="2057400">
                  <a:moveTo>
                    <a:pt x="0" y="554388"/>
                  </a:moveTo>
                  <a:lnTo>
                    <a:pt x="554373" y="0"/>
                  </a:lnTo>
                  <a:lnTo>
                    <a:pt x="713398" y="0"/>
                  </a:lnTo>
                  <a:lnTo>
                    <a:pt x="713398" y="1503006"/>
                  </a:lnTo>
                  <a:lnTo>
                    <a:pt x="158999" y="2057395"/>
                  </a:lnTo>
                  <a:lnTo>
                    <a:pt x="0" y="2057395"/>
                  </a:lnTo>
                  <a:lnTo>
                    <a:pt x="0" y="554388"/>
                  </a:lnTo>
                  <a:close/>
                </a:path>
                <a:path w="713740" h="2057400">
                  <a:moveTo>
                    <a:pt x="0" y="554388"/>
                  </a:moveTo>
                  <a:lnTo>
                    <a:pt x="158999" y="554388"/>
                  </a:lnTo>
                  <a:lnTo>
                    <a:pt x="713398" y="0"/>
                  </a:lnTo>
                </a:path>
                <a:path w="713740" h="2057400">
                  <a:moveTo>
                    <a:pt x="158999" y="554388"/>
                  </a:moveTo>
                  <a:lnTo>
                    <a:pt x="158999" y="2057395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10">
            <a:extLst>
              <a:ext uri="{FF2B5EF4-FFF2-40B4-BE49-F238E27FC236}">
                <a16:creationId xmlns:a16="http://schemas.microsoft.com/office/drawing/2014/main" id="{A0820332-5057-BD43-85FF-8CB54B35F10C}"/>
              </a:ext>
            </a:extLst>
          </p:cNvPr>
          <p:cNvSpPr txBox="1">
            <a:spLocks noGrp="1"/>
          </p:cNvSpPr>
          <p:nvPr>
            <p:ph type="dt" sz="half" idx="4294967295"/>
          </p:nvPr>
        </p:nvSpPr>
        <p:spPr>
          <a:xfrm>
            <a:off x="145224" y="4740846"/>
            <a:ext cx="4699000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lang="en-US" altLang="zh-CN" spc="-10" dirty="0">
                <a:solidFill>
                  <a:schemeClr val="bg1"/>
                </a:solidFill>
              </a:rPr>
              <a:t>Convolutional</a:t>
            </a:r>
            <a:r>
              <a:rPr lang="zh-CN" altLang="en-US" spc="-10" dirty="0">
                <a:solidFill>
                  <a:schemeClr val="bg1"/>
                </a:solidFill>
              </a:rPr>
              <a:t> </a:t>
            </a:r>
            <a:r>
              <a:rPr lang="en-US" altLang="zh-CN" spc="-10" dirty="0">
                <a:solidFill>
                  <a:schemeClr val="bg1"/>
                </a:solidFill>
              </a:rPr>
              <a:t>Neural</a:t>
            </a:r>
            <a:r>
              <a:rPr lang="zh-CN" altLang="en-US" spc="-10" dirty="0">
                <a:solidFill>
                  <a:schemeClr val="bg1"/>
                </a:solidFill>
              </a:rPr>
              <a:t> </a:t>
            </a:r>
            <a:r>
              <a:rPr lang="en-US" altLang="zh-CN" spc="-10" dirty="0">
                <a:solidFill>
                  <a:schemeClr val="bg1"/>
                </a:solidFill>
              </a:rPr>
              <a:t>Networks</a:t>
            </a:r>
            <a:endParaRPr spc="-1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75824" y="267259"/>
            <a:ext cx="6079490" cy="29381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3660">
              <a:lnSpc>
                <a:spcPct val="100000"/>
              </a:lnSpc>
              <a:spcBef>
                <a:spcPts val="100"/>
              </a:spcBef>
            </a:pPr>
            <a:r>
              <a:rPr sz="3000" dirty="0">
                <a:latin typeface="Arial"/>
                <a:cs typeface="Arial"/>
              </a:rPr>
              <a:t>Examples</a:t>
            </a:r>
            <a:r>
              <a:rPr sz="3000" spc="-5" dirty="0">
                <a:latin typeface="Arial"/>
                <a:cs typeface="Arial"/>
              </a:rPr>
              <a:t> </a:t>
            </a:r>
            <a:r>
              <a:rPr sz="3000" spc="-10" dirty="0">
                <a:latin typeface="Arial"/>
                <a:cs typeface="Arial"/>
              </a:rPr>
              <a:t>time:</a:t>
            </a:r>
            <a:endParaRPr sz="3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480"/>
              </a:spcBef>
            </a:pPr>
            <a:endParaRPr sz="3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3000" dirty="0">
                <a:latin typeface="Arial"/>
                <a:cs typeface="Arial"/>
              </a:rPr>
              <a:t>Input</a:t>
            </a:r>
            <a:r>
              <a:rPr sz="3000" spc="-30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volume:</a:t>
            </a:r>
            <a:r>
              <a:rPr sz="3000" spc="5" dirty="0">
                <a:latin typeface="Arial"/>
                <a:cs typeface="Arial"/>
              </a:rPr>
              <a:t> </a:t>
            </a:r>
            <a:r>
              <a:rPr sz="3000" b="1" spc="-10" dirty="0">
                <a:latin typeface="Arial"/>
                <a:cs typeface="Arial"/>
              </a:rPr>
              <a:t>32x32x3</a:t>
            </a:r>
            <a:endParaRPr sz="3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3000" dirty="0">
                <a:latin typeface="Arial"/>
                <a:cs typeface="Arial"/>
              </a:rPr>
              <a:t>10</a:t>
            </a:r>
            <a:r>
              <a:rPr sz="3000" spc="-25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5x5</a:t>
            </a:r>
            <a:r>
              <a:rPr sz="3000" spc="-15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filters</a:t>
            </a:r>
            <a:r>
              <a:rPr sz="3000" spc="-15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with</a:t>
            </a:r>
            <a:r>
              <a:rPr sz="3000" spc="-15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stride</a:t>
            </a:r>
            <a:r>
              <a:rPr sz="3000" spc="-15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1,</a:t>
            </a:r>
            <a:r>
              <a:rPr sz="3000" spc="-15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pad</a:t>
            </a:r>
            <a:r>
              <a:rPr sz="3000" spc="-15" dirty="0">
                <a:latin typeface="Arial"/>
                <a:cs typeface="Arial"/>
              </a:rPr>
              <a:t> </a:t>
            </a:r>
            <a:r>
              <a:rPr sz="3000" spc="-50" dirty="0">
                <a:latin typeface="Arial"/>
                <a:cs typeface="Arial"/>
              </a:rPr>
              <a:t>2</a:t>
            </a:r>
            <a:endParaRPr sz="3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45"/>
              </a:spcBef>
            </a:pPr>
            <a:endParaRPr sz="3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3000" dirty="0">
                <a:latin typeface="Arial"/>
                <a:cs typeface="Arial"/>
              </a:rPr>
              <a:t>Number</a:t>
            </a:r>
            <a:r>
              <a:rPr sz="3000" spc="-10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of</a:t>
            </a:r>
            <a:r>
              <a:rPr sz="3000" spc="-5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parameters</a:t>
            </a:r>
            <a:r>
              <a:rPr sz="3000" spc="-10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in</a:t>
            </a:r>
            <a:r>
              <a:rPr sz="3000" spc="-5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this</a:t>
            </a:r>
            <a:r>
              <a:rPr sz="3000" spc="-5" dirty="0">
                <a:latin typeface="Arial"/>
                <a:cs typeface="Arial"/>
              </a:rPr>
              <a:t> </a:t>
            </a:r>
            <a:r>
              <a:rPr sz="3000" spc="-10" dirty="0">
                <a:latin typeface="Arial"/>
                <a:cs typeface="Arial"/>
              </a:rPr>
              <a:t>layer?</a:t>
            </a:r>
            <a:endParaRPr sz="300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6554861" y="130124"/>
            <a:ext cx="732790" cy="2076450"/>
            <a:chOff x="6554861" y="130124"/>
            <a:chExt cx="732790" cy="2076450"/>
          </a:xfrm>
        </p:grpSpPr>
        <p:sp>
          <p:nvSpPr>
            <p:cNvPr id="4" name="object 4"/>
            <p:cNvSpPr/>
            <p:nvPr/>
          </p:nvSpPr>
          <p:spPr>
            <a:xfrm>
              <a:off x="6564386" y="694038"/>
              <a:ext cx="159385" cy="1503045"/>
            </a:xfrm>
            <a:custGeom>
              <a:avLst/>
              <a:gdLst/>
              <a:ahLst/>
              <a:cxnLst/>
              <a:rect l="l" t="t" r="r" b="b"/>
              <a:pathLst>
                <a:path w="159384" h="1503045">
                  <a:moveTo>
                    <a:pt x="159024" y="1503006"/>
                  </a:moveTo>
                  <a:lnTo>
                    <a:pt x="0" y="1503006"/>
                  </a:lnTo>
                  <a:lnTo>
                    <a:pt x="0" y="0"/>
                  </a:lnTo>
                  <a:lnTo>
                    <a:pt x="159024" y="0"/>
                  </a:lnTo>
                  <a:lnTo>
                    <a:pt x="159024" y="1503006"/>
                  </a:lnTo>
                  <a:close/>
                </a:path>
              </a:pathLst>
            </a:custGeom>
            <a:solidFill>
              <a:srgbClr val="F4CCCC">
                <a:alpha val="5191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723411" y="139649"/>
              <a:ext cx="554990" cy="2057400"/>
            </a:xfrm>
            <a:custGeom>
              <a:avLst/>
              <a:gdLst/>
              <a:ahLst/>
              <a:cxnLst/>
              <a:rect l="l" t="t" r="r" b="b"/>
              <a:pathLst>
                <a:path w="554990" h="2057400">
                  <a:moveTo>
                    <a:pt x="0" y="2057395"/>
                  </a:moveTo>
                  <a:lnTo>
                    <a:pt x="0" y="554388"/>
                  </a:lnTo>
                  <a:lnTo>
                    <a:pt x="554373" y="0"/>
                  </a:lnTo>
                  <a:lnTo>
                    <a:pt x="554373" y="1503006"/>
                  </a:lnTo>
                  <a:lnTo>
                    <a:pt x="0" y="2057395"/>
                  </a:lnTo>
                  <a:close/>
                </a:path>
              </a:pathLst>
            </a:custGeom>
            <a:solidFill>
              <a:srgbClr val="C3A3A3">
                <a:alpha val="5191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564386" y="139649"/>
              <a:ext cx="713740" cy="554990"/>
            </a:xfrm>
            <a:custGeom>
              <a:avLst/>
              <a:gdLst/>
              <a:ahLst/>
              <a:cxnLst/>
              <a:rect l="l" t="t" r="r" b="b"/>
              <a:pathLst>
                <a:path w="713740" h="554990">
                  <a:moveTo>
                    <a:pt x="159024" y="554388"/>
                  </a:moveTo>
                  <a:lnTo>
                    <a:pt x="0" y="554388"/>
                  </a:lnTo>
                  <a:lnTo>
                    <a:pt x="554398" y="0"/>
                  </a:lnTo>
                  <a:lnTo>
                    <a:pt x="713398" y="0"/>
                  </a:lnTo>
                  <a:lnTo>
                    <a:pt x="159024" y="554388"/>
                  </a:lnTo>
                  <a:close/>
                </a:path>
              </a:pathLst>
            </a:custGeom>
            <a:solidFill>
              <a:srgbClr val="F6D6D6">
                <a:alpha val="5191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564386" y="139649"/>
              <a:ext cx="713740" cy="2057400"/>
            </a:xfrm>
            <a:custGeom>
              <a:avLst/>
              <a:gdLst/>
              <a:ahLst/>
              <a:cxnLst/>
              <a:rect l="l" t="t" r="r" b="b"/>
              <a:pathLst>
                <a:path w="713740" h="2057400">
                  <a:moveTo>
                    <a:pt x="0" y="554388"/>
                  </a:moveTo>
                  <a:lnTo>
                    <a:pt x="554398" y="0"/>
                  </a:lnTo>
                  <a:lnTo>
                    <a:pt x="713398" y="0"/>
                  </a:lnTo>
                  <a:lnTo>
                    <a:pt x="713398" y="1503006"/>
                  </a:lnTo>
                  <a:lnTo>
                    <a:pt x="159024" y="2057395"/>
                  </a:lnTo>
                  <a:lnTo>
                    <a:pt x="0" y="2057395"/>
                  </a:lnTo>
                  <a:lnTo>
                    <a:pt x="0" y="554388"/>
                  </a:lnTo>
                  <a:close/>
                </a:path>
                <a:path w="713740" h="2057400">
                  <a:moveTo>
                    <a:pt x="0" y="554388"/>
                  </a:moveTo>
                  <a:lnTo>
                    <a:pt x="159024" y="554388"/>
                  </a:lnTo>
                  <a:lnTo>
                    <a:pt x="713398" y="0"/>
                  </a:lnTo>
                </a:path>
                <a:path w="713740" h="2057400">
                  <a:moveTo>
                    <a:pt x="159024" y="554388"/>
                  </a:moveTo>
                  <a:lnTo>
                    <a:pt x="159024" y="2057395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7385360" y="1073012"/>
            <a:ext cx="727710" cy="41275"/>
            <a:chOff x="7385360" y="1073012"/>
            <a:chExt cx="727710" cy="41275"/>
          </a:xfrm>
        </p:grpSpPr>
        <p:sp>
          <p:nvSpPr>
            <p:cNvPr id="9" name="object 9"/>
            <p:cNvSpPr/>
            <p:nvPr/>
          </p:nvSpPr>
          <p:spPr>
            <a:xfrm>
              <a:off x="7385360" y="1093507"/>
              <a:ext cx="680085" cy="0"/>
            </a:xfrm>
            <a:custGeom>
              <a:avLst/>
              <a:gdLst/>
              <a:ahLst/>
              <a:cxnLst/>
              <a:rect l="l" t="t" r="r" b="b"/>
              <a:pathLst>
                <a:path w="680084">
                  <a:moveTo>
                    <a:pt x="0" y="0"/>
                  </a:moveTo>
                  <a:lnTo>
                    <a:pt x="679648" y="0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065008" y="1077775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0" y="31464"/>
                  </a:moveTo>
                  <a:lnTo>
                    <a:pt x="0" y="0"/>
                  </a:lnTo>
                  <a:lnTo>
                    <a:pt x="43224" y="15732"/>
                  </a:lnTo>
                  <a:lnTo>
                    <a:pt x="0" y="31464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065008" y="1077775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0" y="31464"/>
                  </a:moveTo>
                  <a:lnTo>
                    <a:pt x="43224" y="15732"/>
                  </a:lnTo>
                  <a:lnTo>
                    <a:pt x="0" y="0"/>
                  </a:lnTo>
                  <a:lnTo>
                    <a:pt x="0" y="31464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8278333" y="130124"/>
            <a:ext cx="732790" cy="2076450"/>
            <a:chOff x="8278333" y="130124"/>
            <a:chExt cx="732790" cy="2076450"/>
          </a:xfrm>
        </p:grpSpPr>
        <p:sp>
          <p:nvSpPr>
            <p:cNvPr id="13" name="object 13"/>
            <p:cNvSpPr/>
            <p:nvPr/>
          </p:nvSpPr>
          <p:spPr>
            <a:xfrm>
              <a:off x="8287858" y="694038"/>
              <a:ext cx="159385" cy="1503045"/>
            </a:xfrm>
            <a:custGeom>
              <a:avLst/>
              <a:gdLst/>
              <a:ahLst/>
              <a:cxnLst/>
              <a:rect l="l" t="t" r="r" b="b"/>
              <a:pathLst>
                <a:path w="159384" h="1503045">
                  <a:moveTo>
                    <a:pt x="158999" y="1503006"/>
                  </a:moveTo>
                  <a:lnTo>
                    <a:pt x="0" y="1503006"/>
                  </a:lnTo>
                  <a:lnTo>
                    <a:pt x="0" y="0"/>
                  </a:lnTo>
                  <a:lnTo>
                    <a:pt x="158999" y="0"/>
                  </a:lnTo>
                  <a:lnTo>
                    <a:pt x="158999" y="1503006"/>
                  </a:lnTo>
                  <a:close/>
                </a:path>
              </a:pathLst>
            </a:custGeom>
            <a:solidFill>
              <a:srgbClr val="C8D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446858" y="139649"/>
              <a:ext cx="554990" cy="2057400"/>
            </a:xfrm>
            <a:custGeom>
              <a:avLst/>
              <a:gdLst/>
              <a:ahLst/>
              <a:cxnLst/>
              <a:rect l="l" t="t" r="r" b="b"/>
              <a:pathLst>
                <a:path w="554990" h="2057400">
                  <a:moveTo>
                    <a:pt x="0" y="2057395"/>
                  </a:moveTo>
                  <a:lnTo>
                    <a:pt x="0" y="554388"/>
                  </a:lnTo>
                  <a:lnTo>
                    <a:pt x="554398" y="0"/>
                  </a:lnTo>
                  <a:lnTo>
                    <a:pt x="554398" y="1503006"/>
                  </a:lnTo>
                  <a:lnTo>
                    <a:pt x="0" y="2057395"/>
                  </a:lnTo>
                  <a:close/>
                </a:path>
              </a:pathLst>
            </a:custGeom>
            <a:solidFill>
              <a:srgbClr val="A0AE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287858" y="139649"/>
              <a:ext cx="713740" cy="554990"/>
            </a:xfrm>
            <a:custGeom>
              <a:avLst/>
              <a:gdLst/>
              <a:ahLst/>
              <a:cxnLst/>
              <a:rect l="l" t="t" r="r" b="b"/>
              <a:pathLst>
                <a:path w="713740" h="554990">
                  <a:moveTo>
                    <a:pt x="158999" y="554388"/>
                  </a:moveTo>
                  <a:lnTo>
                    <a:pt x="0" y="554388"/>
                  </a:lnTo>
                  <a:lnTo>
                    <a:pt x="554373" y="0"/>
                  </a:lnTo>
                  <a:lnTo>
                    <a:pt x="713398" y="0"/>
                  </a:lnTo>
                  <a:lnTo>
                    <a:pt x="158999" y="554388"/>
                  </a:lnTo>
                  <a:close/>
                </a:path>
              </a:pathLst>
            </a:custGeom>
            <a:solidFill>
              <a:srgbClr val="D3E1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287858" y="139649"/>
              <a:ext cx="713740" cy="2057400"/>
            </a:xfrm>
            <a:custGeom>
              <a:avLst/>
              <a:gdLst/>
              <a:ahLst/>
              <a:cxnLst/>
              <a:rect l="l" t="t" r="r" b="b"/>
              <a:pathLst>
                <a:path w="713740" h="2057400">
                  <a:moveTo>
                    <a:pt x="0" y="554388"/>
                  </a:moveTo>
                  <a:lnTo>
                    <a:pt x="554373" y="0"/>
                  </a:lnTo>
                  <a:lnTo>
                    <a:pt x="713398" y="0"/>
                  </a:lnTo>
                  <a:lnTo>
                    <a:pt x="713398" y="1503006"/>
                  </a:lnTo>
                  <a:lnTo>
                    <a:pt x="158999" y="2057395"/>
                  </a:lnTo>
                  <a:lnTo>
                    <a:pt x="0" y="2057395"/>
                  </a:lnTo>
                  <a:lnTo>
                    <a:pt x="0" y="554388"/>
                  </a:lnTo>
                  <a:close/>
                </a:path>
                <a:path w="713740" h="2057400">
                  <a:moveTo>
                    <a:pt x="0" y="554388"/>
                  </a:moveTo>
                  <a:lnTo>
                    <a:pt x="158999" y="554388"/>
                  </a:lnTo>
                  <a:lnTo>
                    <a:pt x="713398" y="0"/>
                  </a:lnTo>
                </a:path>
                <a:path w="713740" h="2057400">
                  <a:moveTo>
                    <a:pt x="158999" y="554388"/>
                  </a:moveTo>
                  <a:lnTo>
                    <a:pt x="158999" y="2057395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10">
            <a:extLst>
              <a:ext uri="{FF2B5EF4-FFF2-40B4-BE49-F238E27FC236}">
                <a16:creationId xmlns:a16="http://schemas.microsoft.com/office/drawing/2014/main" id="{A5DF4A63-4D2A-664A-B22D-F4B7DE961881}"/>
              </a:ext>
            </a:extLst>
          </p:cNvPr>
          <p:cNvSpPr txBox="1">
            <a:spLocks noGrp="1"/>
          </p:cNvSpPr>
          <p:nvPr>
            <p:ph type="dt" sz="half" idx="4294967295"/>
          </p:nvPr>
        </p:nvSpPr>
        <p:spPr>
          <a:xfrm>
            <a:off x="145224" y="4740846"/>
            <a:ext cx="4699000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lang="en-US" altLang="zh-CN" spc="-10" dirty="0">
                <a:solidFill>
                  <a:schemeClr val="bg1"/>
                </a:solidFill>
              </a:rPr>
              <a:t>Convolutional</a:t>
            </a:r>
            <a:r>
              <a:rPr lang="zh-CN" altLang="en-US" spc="-10" dirty="0">
                <a:solidFill>
                  <a:schemeClr val="bg1"/>
                </a:solidFill>
              </a:rPr>
              <a:t> </a:t>
            </a:r>
            <a:r>
              <a:rPr lang="en-US" altLang="zh-CN" spc="-10" dirty="0">
                <a:solidFill>
                  <a:schemeClr val="bg1"/>
                </a:solidFill>
              </a:rPr>
              <a:t>Neural</a:t>
            </a:r>
            <a:r>
              <a:rPr lang="zh-CN" altLang="en-US" spc="-10" dirty="0">
                <a:solidFill>
                  <a:schemeClr val="bg1"/>
                </a:solidFill>
              </a:rPr>
              <a:t> </a:t>
            </a:r>
            <a:r>
              <a:rPr lang="en-US" altLang="zh-CN" spc="-10" dirty="0">
                <a:solidFill>
                  <a:schemeClr val="bg1"/>
                </a:solidFill>
              </a:rPr>
              <a:t>Networks</a:t>
            </a:r>
            <a:endParaRPr spc="-1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26789" rIns="0" bIns="0" rtlCol="0">
            <a:spAutoFit/>
          </a:bodyPr>
          <a:lstStyle/>
          <a:p>
            <a:pPr marL="124460">
              <a:lnSpc>
                <a:spcPct val="100000"/>
              </a:lnSpc>
              <a:spcBef>
                <a:spcPts val="100"/>
              </a:spcBef>
            </a:pPr>
            <a:r>
              <a:rPr sz="3000" dirty="0"/>
              <a:t>Examples</a:t>
            </a:r>
            <a:r>
              <a:rPr sz="3000" spc="-5" dirty="0"/>
              <a:t> </a:t>
            </a:r>
            <a:r>
              <a:rPr sz="3000" spc="-10" dirty="0"/>
              <a:t>time: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275824" y="1351058"/>
            <a:ext cx="548640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>
                <a:latin typeface="Arial"/>
                <a:cs typeface="Arial"/>
              </a:rPr>
              <a:t>Input</a:t>
            </a:r>
            <a:r>
              <a:rPr sz="3000" spc="-40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volume:</a:t>
            </a:r>
            <a:r>
              <a:rPr sz="3000" spc="5" dirty="0">
                <a:latin typeface="Arial"/>
                <a:cs typeface="Arial"/>
              </a:rPr>
              <a:t> </a:t>
            </a:r>
            <a:r>
              <a:rPr sz="3000" b="1" spc="-10" dirty="0">
                <a:solidFill>
                  <a:srgbClr val="0000FF"/>
                </a:solidFill>
                <a:latin typeface="Arial"/>
                <a:cs typeface="Arial"/>
              </a:rPr>
              <a:t>32x32</a:t>
            </a:r>
            <a:r>
              <a:rPr sz="3000" b="1" spc="-10" dirty="0">
                <a:latin typeface="Arial"/>
                <a:cs typeface="Arial"/>
              </a:rPr>
              <a:t>x</a:t>
            </a:r>
            <a:r>
              <a:rPr sz="3000" b="1" spc="-10" dirty="0">
                <a:solidFill>
                  <a:srgbClr val="FF9900"/>
                </a:solidFill>
                <a:latin typeface="Arial"/>
                <a:cs typeface="Arial"/>
              </a:rPr>
              <a:t>3</a:t>
            </a:r>
            <a:endParaRPr sz="3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3000" dirty="0">
                <a:solidFill>
                  <a:srgbClr val="FF0000"/>
                </a:solidFill>
                <a:latin typeface="Arial"/>
                <a:cs typeface="Arial"/>
              </a:rPr>
              <a:t>10</a:t>
            </a:r>
            <a:r>
              <a:rPr sz="3000" spc="-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3000" dirty="0">
                <a:solidFill>
                  <a:srgbClr val="FF00FF"/>
                </a:solidFill>
                <a:latin typeface="Arial"/>
                <a:cs typeface="Arial"/>
              </a:rPr>
              <a:t>5x5</a:t>
            </a:r>
            <a:r>
              <a:rPr sz="3000" spc="-10" dirty="0">
                <a:solidFill>
                  <a:srgbClr val="FF00FF"/>
                </a:solidFill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filters</a:t>
            </a:r>
            <a:r>
              <a:rPr sz="3000" spc="-15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with</a:t>
            </a:r>
            <a:r>
              <a:rPr sz="3000" spc="-15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stride</a:t>
            </a:r>
            <a:r>
              <a:rPr sz="3000" spc="-15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1,</a:t>
            </a:r>
            <a:r>
              <a:rPr sz="3000" spc="-15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pad</a:t>
            </a:r>
            <a:r>
              <a:rPr sz="3000" spc="-15" dirty="0">
                <a:latin typeface="Arial"/>
                <a:cs typeface="Arial"/>
              </a:rPr>
              <a:t> </a:t>
            </a:r>
            <a:r>
              <a:rPr sz="3000" spc="-50" dirty="0">
                <a:latin typeface="Arial"/>
                <a:cs typeface="Arial"/>
              </a:rPr>
              <a:t>2</a:t>
            </a:r>
            <a:endParaRPr sz="30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75824" y="2722655"/>
            <a:ext cx="6315710" cy="1397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3000" dirty="0">
                <a:latin typeface="Arial"/>
                <a:cs typeface="Arial"/>
              </a:rPr>
              <a:t>Number</a:t>
            </a:r>
            <a:r>
              <a:rPr sz="3000" spc="-10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of</a:t>
            </a:r>
            <a:r>
              <a:rPr sz="3000" spc="-5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parameters</a:t>
            </a:r>
            <a:r>
              <a:rPr sz="3000" spc="-10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in</a:t>
            </a:r>
            <a:r>
              <a:rPr sz="3000" spc="-5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this</a:t>
            </a:r>
            <a:r>
              <a:rPr sz="3000" spc="-5" dirty="0">
                <a:latin typeface="Arial"/>
                <a:cs typeface="Arial"/>
              </a:rPr>
              <a:t> </a:t>
            </a:r>
            <a:r>
              <a:rPr sz="3000" spc="-10" dirty="0">
                <a:latin typeface="Arial"/>
                <a:cs typeface="Arial"/>
              </a:rPr>
              <a:t>layer? </a:t>
            </a:r>
            <a:r>
              <a:rPr sz="3000" dirty="0">
                <a:latin typeface="Arial"/>
                <a:cs typeface="Arial"/>
              </a:rPr>
              <a:t>each</a:t>
            </a:r>
            <a:r>
              <a:rPr sz="3000" spc="-10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filter</a:t>
            </a:r>
            <a:r>
              <a:rPr sz="3000" spc="-10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has </a:t>
            </a:r>
            <a:r>
              <a:rPr sz="3000" dirty="0">
                <a:solidFill>
                  <a:srgbClr val="FF00FF"/>
                </a:solidFill>
                <a:latin typeface="Arial"/>
                <a:cs typeface="Arial"/>
              </a:rPr>
              <a:t>5*5</a:t>
            </a:r>
            <a:r>
              <a:rPr sz="3000" dirty="0">
                <a:latin typeface="Arial"/>
                <a:cs typeface="Arial"/>
              </a:rPr>
              <a:t>*</a:t>
            </a:r>
            <a:r>
              <a:rPr sz="3000" dirty="0">
                <a:solidFill>
                  <a:srgbClr val="FF9900"/>
                </a:solidFill>
                <a:latin typeface="Arial"/>
                <a:cs typeface="Arial"/>
              </a:rPr>
              <a:t>3</a:t>
            </a:r>
            <a:r>
              <a:rPr sz="3000" spc="-5" dirty="0">
                <a:solidFill>
                  <a:srgbClr val="FF9900"/>
                </a:solidFill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+</a:t>
            </a:r>
            <a:r>
              <a:rPr sz="3000" spc="-15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1</a:t>
            </a:r>
            <a:r>
              <a:rPr sz="3000" spc="-10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=</a:t>
            </a:r>
            <a:r>
              <a:rPr sz="3000" spc="5" dirty="0">
                <a:latin typeface="Arial"/>
                <a:cs typeface="Arial"/>
              </a:rPr>
              <a:t> </a:t>
            </a:r>
            <a:r>
              <a:rPr sz="3000" dirty="0">
                <a:solidFill>
                  <a:srgbClr val="38751C"/>
                </a:solidFill>
                <a:latin typeface="Arial"/>
                <a:cs typeface="Arial"/>
              </a:rPr>
              <a:t>76</a:t>
            </a:r>
            <a:r>
              <a:rPr sz="3000" spc="-5" dirty="0">
                <a:solidFill>
                  <a:srgbClr val="38751C"/>
                </a:solidFill>
                <a:latin typeface="Arial"/>
                <a:cs typeface="Arial"/>
              </a:rPr>
              <a:t> </a:t>
            </a:r>
            <a:r>
              <a:rPr sz="3000" spc="-10" dirty="0">
                <a:latin typeface="Arial"/>
                <a:cs typeface="Arial"/>
              </a:rPr>
              <a:t>params</a:t>
            </a:r>
            <a:endParaRPr sz="3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3000" dirty="0">
                <a:latin typeface="Arial"/>
                <a:cs typeface="Arial"/>
              </a:rPr>
              <a:t>=&gt;</a:t>
            </a:r>
            <a:r>
              <a:rPr sz="3000" spc="-5" dirty="0">
                <a:latin typeface="Arial"/>
                <a:cs typeface="Arial"/>
              </a:rPr>
              <a:t> </a:t>
            </a:r>
            <a:r>
              <a:rPr sz="3000" dirty="0">
                <a:solidFill>
                  <a:srgbClr val="38751C"/>
                </a:solidFill>
                <a:latin typeface="Arial"/>
                <a:cs typeface="Arial"/>
              </a:rPr>
              <a:t>76</a:t>
            </a:r>
            <a:r>
              <a:rPr sz="3000" dirty="0">
                <a:latin typeface="Arial"/>
                <a:cs typeface="Arial"/>
              </a:rPr>
              <a:t>*</a:t>
            </a:r>
            <a:r>
              <a:rPr sz="3000" dirty="0">
                <a:solidFill>
                  <a:srgbClr val="FF0000"/>
                </a:solidFill>
                <a:latin typeface="Arial"/>
                <a:cs typeface="Arial"/>
              </a:rPr>
              <a:t>10</a:t>
            </a:r>
            <a:r>
              <a:rPr sz="3000" spc="-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=</a:t>
            </a:r>
            <a:r>
              <a:rPr sz="3000" spc="-5" dirty="0">
                <a:latin typeface="Arial"/>
                <a:cs typeface="Arial"/>
              </a:rPr>
              <a:t> </a:t>
            </a:r>
            <a:r>
              <a:rPr sz="3000" b="1" spc="-25" dirty="0">
                <a:latin typeface="Arial"/>
                <a:cs typeface="Arial"/>
              </a:rPr>
              <a:t>760</a:t>
            </a:r>
            <a:endParaRPr sz="3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201342" y="3306853"/>
            <a:ext cx="13874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Arial"/>
                <a:cs typeface="Arial"/>
              </a:rPr>
              <a:t>(+1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for</a:t>
            </a:r>
            <a:r>
              <a:rPr sz="2000" spc="-10" dirty="0">
                <a:latin typeface="Arial"/>
                <a:cs typeface="Arial"/>
              </a:rPr>
              <a:t> bias)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6554861" y="130124"/>
            <a:ext cx="732790" cy="2076450"/>
            <a:chOff x="6554861" y="130124"/>
            <a:chExt cx="732790" cy="2076450"/>
          </a:xfrm>
        </p:grpSpPr>
        <p:sp>
          <p:nvSpPr>
            <p:cNvPr id="7" name="object 7"/>
            <p:cNvSpPr/>
            <p:nvPr/>
          </p:nvSpPr>
          <p:spPr>
            <a:xfrm>
              <a:off x="6564386" y="694038"/>
              <a:ext cx="159385" cy="1503045"/>
            </a:xfrm>
            <a:custGeom>
              <a:avLst/>
              <a:gdLst/>
              <a:ahLst/>
              <a:cxnLst/>
              <a:rect l="l" t="t" r="r" b="b"/>
              <a:pathLst>
                <a:path w="159384" h="1503045">
                  <a:moveTo>
                    <a:pt x="159024" y="1503006"/>
                  </a:moveTo>
                  <a:lnTo>
                    <a:pt x="0" y="1503006"/>
                  </a:lnTo>
                  <a:lnTo>
                    <a:pt x="0" y="0"/>
                  </a:lnTo>
                  <a:lnTo>
                    <a:pt x="159024" y="0"/>
                  </a:lnTo>
                  <a:lnTo>
                    <a:pt x="159024" y="1503006"/>
                  </a:lnTo>
                  <a:close/>
                </a:path>
              </a:pathLst>
            </a:custGeom>
            <a:solidFill>
              <a:srgbClr val="F4CCCC">
                <a:alpha val="5191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723411" y="139649"/>
              <a:ext cx="554990" cy="2057400"/>
            </a:xfrm>
            <a:custGeom>
              <a:avLst/>
              <a:gdLst/>
              <a:ahLst/>
              <a:cxnLst/>
              <a:rect l="l" t="t" r="r" b="b"/>
              <a:pathLst>
                <a:path w="554990" h="2057400">
                  <a:moveTo>
                    <a:pt x="0" y="2057395"/>
                  </a:moveTo>
                  <a:lnTo>
                    <a:pt x="0" y="554388"/>
                  </a:lnTo>
                  <a:lnTo>
                    <a:pt x="554373" y="0"/>
                  </a:lnTo>
                  <a:lnTo>
                    <a:pt x="554373" y="1503006"/>
                  </a:lnTo>
                  <a:lnTo>
                    <a:pt x="0" y="2057395"/>
                  </a:lnTo>
                  <a:close/>
                </a:path>
              </a:pathLst>
            </a:custGeom>
            <a:solidFill>
              <a:srgbClr val="C3A3A3">
                <a:alpha val="5191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564386" y="139649"/>
              <a:ext cx="713740" cy="554990"/>
            </a:xfrm>
            <a:custGeom>
              <a:avLst/>
              <a:gdLst/>
              <a:ahLst/>
              <a:cxnLst/>
              <a:rect l="l" t="t" r="r" b="b"/>
              <a:pathLst>
                <a:path w="713740" h="554990">
                  <a:moveTo>
                    <a:pt x="159024" y="554388"/>
                  </a:moveTo>
                  <a:lnTo>
                    <a:pt x="0" y="554388"/>
                  </a:lnTo>
                  <a:lnTo>
                    <a:pt x="554398" y="0"/>
                  </a:lnTo>
                  <a:lnTo>
                    <a:pt x="713398" y="0"/>
                  </a:lnTo>
                  <a:lnTo>
                    <a:pt x="159024" y="554388"/>
                  </a:lnTo>
                  <a:close/>
                </a:path>
              </a:pathLst>
            </a:custGeom>
            <a:solidFill>
              <a:srgbClr val="F6D6D6">
                <a:alpha val="5191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564386" y="139649"/>
              <a:ext cx="713740" cy="2057400"/>
            </a:xfrm>
            <a:custGeom>
              <a:avLst/>
              <a:gdLst/>
              <a:ahLst/>
              <a:cxnLst/>
              <a:rect l="l" t="t" r="r" b="b"/>
              <a:pathLst>
                <a:path w="713740" h="2057400">
                  <a:moveTo>
                    <a:pt x="0" y="554388"/>
                  </a:moveTo>
                  <a:lnTo>
                    <a:pt x="554398" y="0"/>
                  </a:lnTo>
                  <a:lnTo>
                    <a:pt x="713398" y="0"/>
                  </a:lnTo>
                  <a:lnTo>
                    <a:pt x="713398" y="1503006"/>
                  </a:lnTo>
                  <a:lnTo>
                    <a:pt x="159024" y="2057395"/>
                  </a:lnTo>
                  <a:lnTo>
                    <a:pt x="0" y="2057395"/>
                  </a:lnTo>
                  <a:lnTo>
                    <a:pt x="0" y="554388"/>
                  </a:lnTo>
                  <a:close/>
                </a:path>
                <a:path w="713740" h="2057400">
                  <a:moveTo>
                    <a:pt x="0" y="554388"/>
                  </a:moveTo>
                  <a:lnTo>
                    <a:pt x="159024" y="554388"/>
                  </a:lnTo>
                  <a:lnTo>
                    <a:pt x="713398" y="0"/>
                  </a:lnTo>
                </a:path>
                <a:path w="713740" h="2057400">
                  <a:moveTo>
                    <a:pt x="159024" y="554388"/>
                  </a:moveTo>
                  <a:lnTo>
                    <a:pt x="159024" y="2057395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7385360" y="1073012"/>
            <a:ext cx="727710" cy="41275"/>
            <a:chOff x="7385360" y="1073012"/>
            <a:chExt cx="727710" cy="41275"/>
          </a:xfrm>
        </p:grpSpPr>
        <p:sp>
          <p:nvSpPr>
            <p:cNvPr id="12" name="object 12"/>
            <p:cNvSpPr/>
            <p:nvPr/>
          </p:nvSpPr>
          <p:spPr>
            <a:xfrm>
              <a:off x="7385360" y="1093507"/>
              <a:ext cx="680085" cy="0"/>
            </a:xfrm>
            <a:custGeom>
              <a:avLst/>
              <a:gdLst/>
              <a:ahLst/>
              <a:cxnLst/>
              <a:rect l="l" t="t" r="r" b="b"/>
              <a:pathLst>
                <a:path w="680084">
                  <a:moveTo>
                    <a:pt x="0" y="0"/>
                  </a:moveTo>
                  <a:lnTo>
                    <a:pt x="679648" y="0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065008" y="1077775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0" y="31464"/>
                  </a:moveTo>
                  <a:lnTo>
                    <a:pt x="0" y="0"/>
                  </a:lnTo>
                  <a:lnTo>
                    <a:pt x="43224" y="15732"/>
                  </a:lnTo>
                  <a:lnTo>
                    <a:pt x="0" y="31464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065008" y="1077775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0" y="31464"/>
                  </a:moveTo>
                  <a:lnTo>
                    <a:pt x="43224" y="15732"/>
                  </a:lnTo>
                  <a:lnTo>
                    <a:pt x="0" y="0"/>
                  </a:lnTo>
                  <a:lnTo>
                    <a:pt x="0" y="31464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8278333" y="130124"/>
            <a:ext cx="732790" cy="2076450"/>
            <a:chOff x="8278333" y="130124"/>
            <a:chExt cx="732790" cy="2076450"/>
          </a:xfrm>
        </p:grpSpPr>
        <p:sp>
          <p:nvSpPr>
            <p:cNvPr id="16" name="object 16"/>
            <p:cNvSpPr/>
            <p:nvPr/>
          </p:nvSpPr>
          <p:spPr>
            <a:xfrm>
              <a:off x="8287858" y="694038"/>
              <a:ext cx="159385" cy="1503045"/>
            </a:xfrm>
            <a:custGeom>
              <a:avLst/>
              <a:gdLst/>
              <a:ahLst/>
              <a:cxnLst/>
              <a:rect l="l" t="t" r="r" b="b"/>
              <a:pathLst>
                <a:path w="159384" h="1503045">
                  <a:moveTo>
                    <a:pt x="158999" y="1503006"/>
                  </a:moveTo>
                  <a:lnTo>
                    <a:pt x="0" y="1503006"/>
                  </a:lnTo>
                  <a:lnTo>
                    <a:pt x="0" y="0"/>
                  </a:lnTo>
                  <a:lnTo>
                    <a:pt x="158999" y="0"/>
                  </a:lnTo>
                  <a:lnTo>
                    <a:pt x="158999" y="1503006"/>
                  </a:lnTo>
                  <a:close/>
                </a:path>
              </a:pathLst>
            </a:custGeom>
            <a:solidFill>
              <a:srgbClr val="C8D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8446858" y="139649"/>
              <a:ext cx="554990" cy="2057400"/>
            </a:xfrm>
            <a:custGeom>
              <a:avLst/>
              <a:gdLst/>
              <a:ahLst/>
              <a:cxnLst/>
              <a:rect l="l" t="t" r="r" b="b"/>
              <a:pathLst>
                <a:path w="554990" h="2057400">
                  <a:moveTo>
                    <a:pt x="0" y="2057395"/>
                  </a:moveTo>
                  <a:lnTo>
                    <a:pt x="0" y="554388"/>
                  </a:lnTo>
                  <a:lnTo>
                    <a:pt x="554398" y="0"/>
                  </a:lnTo>
                  <a:lnTo>
                    <a:pt x="554398" y="1503006"/>
                  </a:lnTo>
                  <a:lnTo>
                    <a:pt x="0" y="2057395"/>
                  </a:lnTo>
                  <a:close/>
                </a:path>
              </a:pathLst>
            </a:custGeom>
            <a:solidFill>
              <a:srgbClr val="A0AE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8287858" y="139649"/>
              <a:ext cx="713740" cy="554990"/>
            </a:xfrm>
            <a:custGeom>
              <a:avLst/>
              <a:gdLst/>
              <a:ahLst/>
              <a:cxnLst/>
              <a:rect l="l" t="t" r="r" b="b"/>
              <a:pathLst>
                <a:path w="713740" h="554990">
                  <a:moveTo>
                    <a:pt x="158999" y="554388"/>
                  </a:moveTo>
                  <a:lnTo>
                    <a:pt x="0" y="554388"/>
                  </a:lnTo>
                  <a:lnTo>
                    <a:pt x="554373" y="0"/>
                  </a:lnTo>
                  <a:lnTo>
                    <a:pt x="713398" y="0"/>
                  </a:lnTo>
                  <a:lnTo>
                    <a:pt x="158999" y="554388"/>
                  </a:lnTo>
                  <a:close/>
                </a:path>
              </a:pathLst>
            </a:custGeom>
            <a:solidFill>
              <a:srgbClr val="D3E1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8287858" y="139649"/>
              <a:ext cx="713740" cy="2057400"/>
            </a:xfrm>
            <a:custGeom>
              <a:avLst/>
              <a:gdLst/>
              <a:ahLst/>
              <a:cxnLst/>
              <a:rect l="l" t="t" r="r" b="b"/>
              <a:pathLst>
                <a:path w="713740" h="2057400">
                  <a:moveTo>
                    <a:pt x="0" y="554388"/>
                  </a:moveTo>
                  <a:lnTo>
                    <a:pt x="554373" y="0"/>
                  </a:lnTo>
                  <a:lnTo>
                    <a:pt x="713398" y="0"/>
                  </a:lnTo>
                  <a:lnTo>
                    <a:pt x="713398" y="1503006"/>
                  </a:lnTo>
                  <a:lnTo>
                    <a:pt x="158999" y="2057395"/>
                  </a:lnTo>
                  <a:lnTo>
                    <a:pt x="0" y="2057395"/>
                  </a:lnTo>
                  <a:lnTo>
                    <a:pt x="0" y="554388"/>
                  </a:lnTo>
                  <a:close/>
                </a:path>
                <a:path w="713740" h="2057400">
                  <a:moveTo>
                    <a:pt x="0" y="554388"/>
                  </a:moveTo>
                  <a:lnTo>
                    <a:pt x="158999" y="554388"/>
                  </a:lnTo>
                  <a:lnTo>
                    <a:pt x="713398" y="0"/>
                  </a:lnTo>
                </a:path>
                <a:path w="713740" h="2057400">
                  <a:moveTo>
                    <a:pt x="158999" y="554388"/>
                  </a:moveTo>
                  <a:lnTo>
                    <a:pt x="158999" y="2057395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10">
            <a:extLst>
              <a:ext uri="{FF2B5EF4-FFF2-40B4-BE49-F238E27FC236}">
                <a16:creationId xmlns:a16="http://schemas.microsoft.com/office/drawing/2014/main" id="{55B20362-4FAB-3849-8327-545AAE36DE13}"/>
              </a:ext>
            </a:extLst>
          </p:cNvPr>
          <p:cNvSpPr txBox="1">
            <a:spLocks noGrp="1"/>
          </p:cNvSpPr>
          <p:nvPr>
            <p:ph type="dt" sz="half" idx="4294967295"/>
          </p:nvPr>
        </p:nvSpPr>
        <p:spPr>
          <a:xfrm>
            <a:off x="145224" y="4740846"/>
            <a:ext cx="4699000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lang="en-US" altLang="zh-CN" spc="-10" dirty="0">
                <a:solidFill>
                  <a:schemeClr val="bg1"/>
                </a:solidFill>
              </a:rPr>
              <a:t>Convolutional</a:t>
            </a:r>
            <a:r>
              <a:rPr lang="zh-CN" altLang="en-US" spc="-10" dirty="0">
                <a:solidFill>
                  <a:schemeClr val="bg1"/>
                </a:solidFill>
              </a:rPr>
              <a:t> </a:t>
            </a:r>
            <a:r>
              <a:rPr lang="en-US" altLang="zh-CN" spc="-10" dirty="0">
                <a:solidFill>
                  <a:schemeClr val="bg1"/>
                </a:solidFill>
              </a:rPr>
              <a:t>Neural</a:t>
            </a:r>
            <a:r>
              <a:rPr lang="zh-CN" altLang="en-US" spc="-10" dirty="0">
                <a:solidFill>
                  <a:schemeClr val="bg1"/>
                </a:solidFill>
              </a:rPr>
              <a:t> </a:t>
            </a:r>
            <a:r>
              <a:rPr lang="en-US" altLang="zh-CN" spc="-10" dirty="0">
                <a:solidFill>
                  <a:schemeClr val="bg1"/>
                </a:solidFill>
              </a:rPr>
              <a:t>Networks</a:t>
            </a:r>
            <a:endParaRPr spc="-1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0610" y="508173"/>
            <a:ext cx="7629497" cy="3667117"/>
          </a:xfrm>
          <a:prstGeom prst="rect">
            <a:avLst/>
          </a:prstGeom>
        </p:spPr>
      </p:pic>
      <p:sp>
        <p:nvSpPr>
          <p:cNvPr id="7" name="object 10">
            <a:extLst>
              <a:ext uri="{FF2B5EF4-FFF2-40B4-BE49-F238E27FC236}">
                <a16:creationId xmlns:a16="http://schemas.microsoft.com/office/drawing/2014/main" id="{3ADC04B6-A602-9941-B095-F6AA54BF4F40}"/>
              </a:ext>
            </a:extLst>
          </p:cNvPr>
          <p:cNvSpPr txBox="1">
            <a:spLocks noGrp="1"/>
          </p:cNvSpPr>
          <p:nvPr>
            <p:ph type="dt" sz="half" idx="4294967295"/>
          </p:nvPr>
        </p:nvSpPr>
        <p:spPr>
          <a:xfrm>
            <a:off x="145224" y="4740846"/>
            <a:ext cx="4699000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lang="en-US" altLang="zh-CN" spc="-10" dirty="0">
                <a:solidFill>
                  <a:schemeClr val="bg1"/>
                </a:solidFill>
              </a:rPr>
              <a:t>Convolutional</a:t>
            </a:r>
            <a:r>
              <a:rPr lang="zh-CN" altLang="en-US" spc="-10" dirty="0">
                <a:solidFill>
                  <a:schemeClr val="bg1"/>
                </a:solidFill>
              </a:rPr>
              <a:t> </a:t>
            </a:r>
            <a:r>
              <a:rPr lang="en-US" altLang="zh-CN" spc="-10" dirty="0">
                <a:solidFill>
                  <a:schemeClr val="bg1"/>
                </a:solidFill>
              </a:rPr>
              <a:t>Neural</a:t>
            </a:r>
            <a:r>
              <a:rPr lang="zh-CN" altLang="en-US" spc="-10" dirty="0">
                <a:solidFill>
                  <a:schemeClr val="bg1"/>
                </a:solidFill>
              </a:rPr>
              <a:t> </a:t>
            </a:r>
            <a:r>
              <a:rPr lang="en-US" altLang="zh-CN" spc="-10" dirty="0">
                <a:solidFill>
                  <a:schemeClr val="bg1"/>
                </a:solidFill>
              </a:rPr>
              <a:t>Networks</a:t>
            </a:r>
            <a:endParaRPr spc="-1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0610" y="508173"/>
            <a:ext cx="7629497" cy="3667117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4758944" y="154230"/>
            <a:ext cx="3991610" cy="19570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Common</a:t>
            </a:r>
            <a:r>
              <a:rPr sz="1800" spc="-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Arial"/>
                <a:cs typeface="Arial"/>
              </a:rPr>
              <a:t>settings: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K</a:t>
            </a:r>
            <a:r>
              <a:rPr sz="1800" spc="-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=</a:t>
            </a:r>
            <a:r>
              <a:rPr sz="1800" spc="-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(powers</a:t>
            </a:r>
            <a:r>
              <a:rPr sz="1800" spc="-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of</a:t>
            </a:r>
            <a:r>
              <a:rPr sz="1800" spc="-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2,</a:t>
            </a:r>
            <a:r>
              <a:rPr sz="1800" spc="-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e.g.</a:t>
            </a:r>
            <a:r>
              <a:rPr sz="1800" spc="-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32,</a:t>
            </a:r>
            <a:r>
              <a:rPr sz="1800" spc="-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64,</a:t>
            </a:r>
            <a:r>
              <a:rPr sz="1800" spc="-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128,</a:t>
            </a:r>
            <a:r>
              <a:rPr sz="1800" spc="-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rgbClr val="FF0000"/>
                </a:solidFill>
                <a:latin typeface="Arial"/>
                <a:cs typeface="Arial"/>
              </a:rPr>
              <a:t>512)</a:t>
            </a:r>
            <a:endParaRPr sz="1800">
              <a:latin typeface="Arial"/>
              <a:cs typeface="Arial"/>
            </a:endParaRPr>
          </a:p>
          <a:p>
            <a:pPr marL="165100">
              <a:lnSpc>
                <a:spcPct val="100000"/>
              </a:lnSpc>
              <a:spcBef>
                <a:spcPts val="15"/>
              </a:spcBef>
              <a:tabLst>
                <a:tab pos="469265" algn="l"/>
              </a:tabLst>
            </a:pPr>
            <a:r>
              <a:rPr sz="1800" spc="-50" dirty="0">
                <a:solidFill>
                  <a:srgbClr val="FF0000"/>
                </a:solidFill>
                <a:latin typeface="Arial"/>
                <a:cs typeface="Arial"/>
              </a:rPr>
              <a:t>-</a:t>
            </a: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	F</a:t>
            </a:r>
            <a:r>
              <a:rPr sz="1800" spc="-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=</a:t>
            </a:r>
            <a:r>
              <a:rPr sz="1800" spc="-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3,</a:t>
            </a:r>
            <a:r>
              <a:rPr sz="1800" spc="-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S</a:t>
            </a:r>
            <a:r>
              <a:rPr sz="1800" spc="-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=</a:t>
            </a:r>
            <a:r>
              <a:rPr sz="1800" spc="-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1,</a:t>
            </a:r>
            <a:r>
              <a:rPr sz="1800" spc="-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P</a:t>
            </a:r>
            <a:r>
              <a:rPr sz="1800" spc="-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=</a:t>
            </a:r>
            <a:r>
              <a:rPr sz="1800" spc="-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spc="-50" dirty="0">
                <a:solidFill>
                  <a:srgbClr val="FF0000"/>
                </a:solidFill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  <a:p>
            <a:pPr marL="165100">
              <a:lnSpc>
                <a:spcPct val="100000"/>
              </a:lnSpc>
              <a:spcBef>
                <a:spcPts val="15"/>
              </a:spcBef>
              <a:tabLst>
                <a:tab pos="469265" algn="l"/>
              </a:tabLst>
            </a:pPr>
            <a:r>
              <a:rPr sz="1800" spc="-50" dirty="0">
                <a:solidFill>
                  <a:srgbClr val="FF0000"/>
                </a:solidFill>
                <a:latin typeface="Arial"/>
                <a:cs typeface="Arial"/>
              </a:rPr>
              <a:t>-</a:t>
            </a: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	F</a:t>
            </a:r>
            <a:r>
              <a:rPr sz="1800" spc="-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=</a:t>
            </a:r>
            <a:r>
              <a:rPr sz="1800" spc="-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5,</a:t>
            </a:r>
            <a:r>
              <a:rPr sz="1800" spc="-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S</a:t>
            </a:r>
            <a:r>
              <a:rPr sz="1800" spc="-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=</a:t>
            </a:r>
            <a:r>
              <a:rPr sz="1800" spc="-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1,</a:t>
            </a:r>
            <a:r>
              <a:rPr sz="1800" spc="-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P</a:t>
            </a:r>
            <a:r>
              <a:rPr sz="1800" spc="-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=</a:t>
            </a:r>
            <a:r>
              <a:rPr sz="1800" spc="-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spc="-50" dirty="0">
                <a:solidFill>
                  <a:srgbClr val="FF0000"/>
                </a:solidFill>
                <a:latin typeface="Arial"/>
                <a:cs typeface="Arial"/>
              </a:rPr>
              <a:t>2</a:t>
            </a:r>
            <a:endParaRPr sz="1800">
              <a:latin typeface="Arial"/>
              <a:cs typeface="Arial"/>
            </a:endParaRPr>
          </a:p>
          <a:p>
            <a:pPr marL="165100">
              <a:lnSpc>
                <a:spcPct val="100000"/>
              </a:lnSpc>
              <a:spcBef>
                <a:spcPts val="15"/>
              </a:spcBef>
              <a:tabLst>
                <a:tab pos="469265" algn="l"/>
              </a:tabLst>
            </a:pPr>
            <a:r>
              <a:rPr sz="1800" spc="-50" dirty="0">
                <a:solidFill>
                  <a:srgbClr val="FF0000"/>
                </a:solidFill>
                <a:latin typeface="Arial"/>
                <a:cs typeface="Arial"/>
              </a:rPr>
              <a:t>-</a:t>
            </a: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	F</a:t>
            </a:r>
            <a:r>
              <a:rPr sz="1800" spc="-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=</a:t>
            </a:r>
            <a:r>
              <a:rPr sz="1800" spc="-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5,</a:t>
            </a:r>
            <a:r>
              <a:rPr sz="1800" spc="-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S</a:t>
            </a:r>
            <a:r>
              <a:rPr sz="1800" spc="-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=</a:t>
            </a:r>
            <a:r>
              <a:rPr sz="1800" spc="-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2,</a:t>
            </a:r>
            <a:r>
              <a:rPr sz="1800" spc="-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P</a:t>
            </a:r>
            <a:r>
              <a:rPr sz="1800" spc="-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=</a:t>
            </a:r>
            <a:r>
              <a:rPr sz="1800" spc="-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?</a:t>
            </a:r>
            <a:r>
              <a:rPr sz="1800" spc="-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(whatever</a:t>
            </a:r>
            <a:r>
              <a:rPr sz="1800" spc="-10" dirty="0">
                <a:solidFill>
                  <a:srgbClr val="FF0000"/>
                </a:solidFill>
                <a:latin typeface="Arial"/>
                <a:cs typeface="Arial"/>
              </a:rPr>
              <a:t> fits)</a:t>
            </a:r>
            <a:endParaRPr sz="1800">
              <a:latin typeface="Arial"/>
              <a:cs typeface="Arial"/>
            </a:endParaRPr>
          </a:p>
          <a:p>
            <a:pPr marL="165100">
              <a:lnSpc>
                <a:spcPct val="100000"/>
              </a:lnSpc>
              <a:spcBef>
                <a:spcPts val="15"/>
              </a:spcBef>
              <a:tabLst>
                <a:tab pos="469265" algn="l"/>
              </a:tabLst>
            </a:pPr>
            <a:r>
              <a:rPr sz="1800" spc="-50" dirty="0">
                <a:solidFill>
                  <a:srgbClr val="FF0000"/>
                </a:solidFill>
                <a:latin typeface="Arial"/>
                <a:cs typeface="Arial"/>
              </a:rPr>
              <a:t>-</a:t>
            </a: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	F</a:t>
            </a:r>
            <a:r>
              <a:rPr sz="1800" spc="-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=</a:t>
            </a:r>
            <a:r>
              <a:rPr sz="1800" spc="-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1,</a:t>
            </a:r>
            <a:r>
              <a:rPr sz="1800" spc="-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S</a:t>
            </a:r>
            <a:r>
              <a:rPr sz="1800" spc="-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=</a:t>
            </a:r>
            <a:r>
              <a:rPr sz="1800" spc="-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1,</a:t>
            </a:r>
            <a:r>
              <a:rPr sz="1800" spc="-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P</a:t>
            </a:r>
            <a:r>
              <a:rPr sz="1800" spc="-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=</a:t>
            </a:r>
            <a:r>
              <a:rPr sz="1800" spc="-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spc="-50" dirty="0">
                <a:solidFill>
                  <a:srgbClr val="FF0000"/>
                </a:solidFill>
                <a:latin typeface="Arial"/>
                <a:cs typeface="Arial"/>
              </a:rPr>
              <a:t>0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451297" y="1420497"/>
            <a:ext cx="2966720" cy="927100"/>
          </a:xfrm>
          <a:custGeom>
            <a:avLst/>
            <a:gdLst/>
            <a:ahLst/>
            <a:cxnLst/>
            <a:rect l="l" t="t" r="r" b="b"/>
            <a:pathLst>
              <a:path w="2966720" h="927100">
                <a:moveTo>
                  <a:pt x="0" y="0"/>
                </a:moveTo>
                <a:lnTo>
                  <a:pt x="2966094" y="0"/>
                </a:lnTo>
                <a:lnTo>
                  <a:pt x="2966094" y="926998"/>
                </a:lnTo>
                <a:lnTo>
                  <a:pt x="0" y="926998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10">
            <a:extLst>
              <a:ext uri="{FF2B5EF4-FFF2-40B4-BE49-F238E27FC236}">
                <a16:creationId xmlns:a16="http://schemas.microsoft.com/office/drawing/2014/main" id="{0C082657-9640-B042-829D-5718EE354A2A}"/>
              </a:ext>
            </a:extLst>
          </p:cNvPr>
          <p:cNvSpPr txBox="1">
            <a:spLocks noGrp="1"/>
          </p:cNvSpPr>
          <p:nvPr>
            <p:ph type="dt" sz="half" idx="4294967295"/>
          </p:nvPr>
        </p:nvSpPr>
        <p:spPr>
          <a:xfrm>
            <a:off x="145224" y="4740846"/>
            <a:ext cx="4699000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lang="en-US" altLang="zh-CN" spc="-10" dirty="0">
                <a:solidFill>
                  <a:schemeClr val="bg1"/>
                </a:solidFill>
              </a:rPr>
              <a:t>Convolutional</a:t>
            </a:r>
            <a:r>
              <a:rPr lang="zh-CN" altLang="en-US" spc="-10" dirty="0">
                <a:solidFill>
                  <a:schemeClr val="bg1"/>
                </a:solidFill>
              </a:rPr>
              <a:t> </a:t>
            </a:r>
            <a:r>
              <a:rPr lang="en-US" altLang="zh-CN" spc="-10" dirty="0">
                <a:solidFill>
                  <a:schemeClr val="bg1"/>
                </a:solidFill>
              </a:rPr>
              <a:t>Neural</a:t>
            </a:r>
            <a:r>
              <a:rPr lang="zh-CN" altLang="en-US" spc="-10" dirty="0">
                <a:solidFill>
                  <a:schemeClr val="bg1"/>
                </a:solidFill>
              </a:rPr>
              <a:t> </a:t>
            </a:r>
            <a:r>
              <a:rPr lang="en-US" altLang="zh-CN" spc="-10" dirty="0">
                <a:solidFill>
                  <a:schemeClr val="bg1"/>
                </a:solidFill>
              </a:rPr>
              <a:t>Networks</a:t>
            </a:r>
            <a:endParaRPr spc="-1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08262" rIns="0" bIns="0" rtlCol="0">
            <a:spAutoFit/>
          </a:bodyPr>
          <a:lstStyle/>
          <a:p>
            <a:pPr marL="245110">
              <a:lnSpc>
                <a:spcPct val="100000"/>
              </a:lnSpc>
              <a:spcBef>
                <a:spcPts val="100"/>
              </a:spcBef>
            </a:pPr>
            <a:r>
              <a:rPr sz="2400" dirty="0"/>
              <a:t>(btw,</a:t>
            </a:r>
            <a:r>
              <a:rPr sz="2400" spc="-55" dirty="0"/>
              <a:t> </a:t>
            </a:r>
            <a:r>
              <a:rPr sz="2400" dirty="0"/>
              <a:t>1x1</a:t>
            </a:r>
            <a:r>
              <a:rPr sz="2400" spc="-55" dirty="0"/>
              <a:t> </a:t>
            </a:r>
            <a:r>
              <a:rPr sz="2400" spc="-10" dirty="0"/>
              <a:t>convolution</a:t>
            </a:r>
            <a:r>
              <a:rPr sz="2400" spc="-55" dirty="0"/>
              <a:t> </a:t>
            </a:r>
            <a:r>
              <a:rPr sz="2400" dirty="0"/>
              <a:t>layers</a:t>
            </a:r>
            <a:r>
              <a:rPr sz="2400" spc="-55" dirty="0"/>
              <a:t> </a:t>
            </a:r>
            <a:r>
              <a:rPr sz="2400" dirty="0"/>
              <a:t>make</a:t>
            </a:r>
            <a:r>
              <a:rPr sz="2400" spc="-55" dirty="0"/>
              <a:t> </a:t>
            </a:r>
            <a:r>
              <a:rPr sz="2400" dirty="0"/>
              <a:t>perfect</a:t>
            </a:r>
            <a:r>
              <a:rPr sz="2400" spc="-55" dirty="0"/>
              <a:t> </a:t>
            </a:r>
            <a:r>
              <a:rPr sz="2400" spc="-10" dirty="0"/>
              <a:t>sense)</a:t>
            </a:r>
            <a:endParaRPr sz="2400"/>
          </a:p>
        </p:txBody>
      </p:sp>
      <p:grpSp>
        <p:nvGrpSpPr>
          <p:cNvPr id="3" name="object 3"/>
          <p:cNvGrpSpPr/>
          <p:nvPr/>
        </p:nvGrpSpPr>
        <p:grpSpPr>
          <a:xfrm>
            <a:off x="509398" y="1090197"/>
            <a:ext cx="1705610" cy="2722245"/>
            <a:chOff x="509398" y="1090197"/>
            <a:chExt cx="1705610" cy="2722245"/>
          </a:xfrm>
        </p:grpSpPr>
        <p:sp>
          <p:nvSpPr>
            <p:cNvPr id="4" name="object 4"/>
            <p:cNvSpPr/>
            <p:nvPr/>
          </p:nvSpPr>
          <p:spPr>
            <a:xfrm>
              <a:off x="518923" y="1798366"/>
              <a:ext cx="987425" cy="2004060"/>
            </a:xfrm>
            <a:custGeom>
              <a:avLst/>
              <a:gdLst/>
              <a:ahLst/>
              <a:cxnLst/>
              <a:rect l="l" t="t" r="r" b="b"/>
              <a:pathLst>
                <a:path w="987425" h="2004060">
                  <a:moveTo>
                    <a:pt x="987353" y="2004050"/>
                  </a:moveTo>
                  <a:lnTo>
                    <a:pt x="0" y="2004050"/>
                  </a:lnTo>
                  <a:lnTo>
                    <a:pt x="0" y="0"/>
                  </a:lnTo>
                  <a:lnTo>
                    <a:pt x="987353" y="0"/>
                  </a:lnTo>
                  <a:lnTo>
                    <a:pt x="987353" y="2004050"/>
                  </a:lnTo>
                  <a:close/>
                </a:path>
              </a:pathLst>
            </a:custGeom>
            <a:solidFill>
              <a:srgbClr val="C8DAF7">
                <a:alpha val="4268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506277" y="1099722"/>
              <a:ext cx="699135" cy="2703195"/>
            </a:xfrm>
            <a:custGeom>
              <a:avLst/>
              <a:gdLst/>
              <a:ahLst/>
              <a:cxnLst/>
              <a:rect l="l" t="t" r="r" b="b"/>
              <a:pathLst>
                <a:path w="699135" h="2703195">
                  <a:moveTo>
                    <a:pt x="0" y="2702694"/>
                  </a:moveTo>
                  <a:lnTo>
                    <a:pt x="0" y="698643"/>
                  </a:lnTo>
                  <a:lnTo>
                    <a:pt x="698643" y="0"/>
                  </a:lnTo>
                  <a:lnTo>
                    <a:pt x="698643" y="2004045"/>
                  </a:lnTo>
                  <a:lnTo>
                    <a:pt x="0" y="2702694"/>
                  </a:lnTo>
                  <a:close/>
                </a:path>
              </a:pathLst>
            </a:custGeom>
            <a:solidFill>
              <a:srgbClr val="A0AEC6">
                <a:alpha val="4268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18923" y="1099722"/>
              <a:ext cx="1686560" cy="699135"/>
            </a:xfrm>
            <a:custGeom>
              <a:avLst/>
              <a:gdLst/>
              <a:ahLst/>
              <a:cxnLst/>
              <a:rect l="l" t="t" r="r" b="b"/>
              <a:pathLst>
                <a:path w="1686560" h="699135">
                  <a:moveTo>
                    <a:pt x="987353" y="698643"/>
                  </a:moveTo>
                  <a:lnTo>
                    <a:pt x="0" y="698643"/>
                  </a:lnTo>
                  <a:lnTo>
                    <a:pt x="698643" y="0"/>
                  </a:lnTo>
                  <a:lnTo>
                    <a:pt x="1685996" y="0"/>
                  </a:lnTo>
                  <a:lnTo>
                    <a:pt x="987353" y="698643"/>
                  </a:lnTo>
                  <a:close/>
                </a:path>
              </a:pathLst>
            </a:custGeom>
            <a:solidFill>
              <a:srgbClr val="D3E1F9">
                <a:alpha val="4268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18923" y="1099722"/>
              <a:ext cx="1686560" cy="2703195"/>
            </a:xfrm>
            <a:custGeom>
              <a:avLst/>
              <a:gdLst/>
              <a:ahLst/>
              <a:cxnLst/>
              <a:rect l="l" t="t" r="r" b="b"/>
              <a:pathLst>
                <a:path w="1686560" h="2703195">
                  <a:moveTo>
                    <a:pt x="0" y="698643"/>
                  </a:moveTo>
                  <a:lnTo>
                    <a:pt x="698643" y="0"/>
                  </a:lnTo>
                  <a:lnTo>
                    <a:pt x="1685996" y="0"/>
                  </a:lnTo>
                  <a:lnTo>
                    <a:pt x="1685996" y="2004045"/>
                  </a:lnTo>
                  <a:lnTo>
                    <a:pt x="987353" y="2702694"/>
                  </a:lnTo>
                  <a:lnTo>
                    <a:pt x="0" y="2702694"/>
                  </a:lnTo>
                  <a:lnTo>
                    <a:pt x="0" y="698643"/>
                  </a:lnTo>
                  <a:close/>
                </a:path>
                <a:path w="1686560" h="2703195">
                  <a:moveTo>
                    <a:pt x="0" y="698643"/>
                  </a:moveTo>
                  <a:lnTo>
                    <a:pt x="987353" y="698643"/>
                  </a:lnTo>
                  <a:lnTo>
                    <a:pt x="1685996" y="0"/>
                  </a:lnTo>
                </a:path>
                <a:path w="1686560" h="2703195">
                  <a:moveTo>
                    <a:pt x="987353" y="698643"/>
                  </a:moveTo>
                  <a:lnTo>
                    <a:pt x="987353" y="2702694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846198" y="3830325"/>
            <a:ext cx="280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Arial"/>
                <a:cs typeface="Arial"/>
              </a:rPr>
              <a:t>64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880018" y="3441200"/>
            <a:ext cx="280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Arial"/>
                <a:cs typeface="Arial"/>
              </a:rPr>
              <a:t>56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283249" y="2005290"/>
            <a:ext cx="280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Arial"/>
                <a:cs typeface="Arial"/>
              </a:rPr>
              <a:t>56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382018" y="2457874"/>
            <a:ext cx="1548130" cy="41275"/>
            <a:chOff x="3382018" y="2457874"/>
            <a:chExt cx="1548130" cy="41275"/>
          </a:xfrm>
        </p:grpSpPr>
        <p:sp>
          <p:nvSpPr>
            <p:cNvPr id="12" name="object 12"/>
            <p:cNvSpPr/>
            <p:nvPr/>
          </p:nvSpPr>
          <p:spPr>
            <a:xfrm>
              <a:off x="3382018" y="2478369"/>
              <a:ext cx="1499870" cy="0"/>
            </a:xfrm>
            <a:custGeom>
              <a:avLst/>
              <a:gdLst/>
              <a:ahLst/>
              <a:cxnLst/>
              <a:rect l="l" t="t" r="r" b="b"/>
              <a:pathLst>
                <a:path w="1499870">
                  <a:moveTo>
                    <a:pt x="0" y="0"/>
                  </a:moveTo>
                  <a:lnTo>
                    <a:pt x="1499546" y="0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881565" y="2462637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4"/>
                  </a:moveTo>
                  <a:lnTo>
                    <a:pt x="0" y="0"/>
                  </a:lnTo>
                  <a:lnTo>
                    <a:pt x="43224" y="15732"/>
                  </a:lnTo>
                  <a:lnTo>
                    <a:pt x="0" y="3146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881565" y="2462637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4"/>
                  </a:moveTo>
                  <a:lnTo>
                    <a:pt x="43224" y="15732"/>
                  </a:lnTo>
                  <a:lnTo>
                    <a:pt x="0" y="0"/>
                  </a:lnTo>
                  <a:lnTo>
                    <a:pt x="0" y="31464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3508742" y="1776701"/>
            <a:ext cx="1358900" cy="5759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1x1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CONV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dirty="0">
                <a:latin typeface="Arial"/>
                <a:cs typeface="Arial"/>
              </a:rPr>
              <a:t>with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32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filters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5681163" y="1090197"/>
            <a:ext cx="1168400" cy="2722245"/>
            <a:chOff x="5681163" y="1090197"/>
            <a:chExt cx="1168400" cy="2722245"/>
          </a:xfrm>
        </p:grpSpPr>
        <p:sp>
          <p:nvSpPr>
            <p:cNvPr id="17" name="object 17"/>
            <p:cNvSpPr/>
            <p:nvPr/>
          </p:nvSpPr>
          <p:spPr>
            <a:xfrm>
              <a:off x="5690688" y="1671279"/>
              <a:ext cx="577850" cy="2131695"/>
            </a:xfrm>
            <a:custGeom>
              <a:avLst/>
              <a:gdLst/>
              <a:ahLst/>
              <a:cxnLst/>
              <a:rect l="l" t="t" r="r" b="b"/>
              <a:pathLst>
                <a:path w="577850" h="2131695">
                  <a:moveTo>
                    <a:pt x="577748" y="2131138"/>
                  </a:moveTo>
                  <a:lnTo>
                    <a:pt x="0" y="2131138"/>
                  </a:lnTo>
                  <a:lnTo>
                    <a:pt x="0" y="0"/>
                  </a:lnTo>
                  <a:lnTo>
                    <a:pt x="577748" y="0"/>
                  </a:lnTo>
                  <a:lnTo>
                    <a:pt x="577748" y="2131138"/>
                  </a:lnTo>
                  <a:close/>
                </a:path>
              </a:pathLst>
            </a:custGeom>
            <a:solidFill>
              <a:srgbClr val="C8DAF7">
                <a:alpha val="4268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268437" y="1099722"/>
              <a:ext cx="572135" cy="2703195"/>
            </a:xfrm>
            <a:custGeom>
              <a:avLst/>
              <a:gdLst/>
              <a:ahLst/>
              <a:cxnLst/>
              <a:rect l="l" t="t" r="r" b="b"/>
              <a:pathLst>
                <a:path w="572134" h="2703195">
                  <a:moveTo>
                    <a:pt x="0" y="2702694"/>
                  </a:moveTo>
                  <a:lnTo>
                    <a:pt x="0" y="571556"/>
                  </a:lnTo>
                  <a:lnTo>
                    <a:pt x="571548" y="0"/>
                  </a:lnTo>
                  <a:lnTo>
                    <a:pt x="571548" y="2131145"/>
                  </a:lnTo>
                  <a:lnTo>
                    <a:pt x="0" y="2702694"/>
                  </a:lnTo>
                  <a:close/>
                </a:path>
              </a:pathLst>
            </a:custGeom>
            <a:solidFill>
              <a:srgbClr val="A0AEC6">
                <a:alpha val="4268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690688" y="1099722"/>
              <a:ext cx="1149350" cy="572135"/>
            </a:xfrm>
            <a:custGeom>
              <a:avLst/>
              <a:gdLst/>
              <a:ahLst/>
              <a:cxnLst/>
              <a:rect l="l" t="t" r="r" b="b"/>
              <a:pathLst>
                <a:path w="1149350" h="572135">
                  <a:moveTo>
                    <a:pt x="577748" y="571556"/>
                  </a:moveTo>
                  <a:lnTo>
                    <a:pt x="0" y="571556"/>
                  </a:lnTo>
                  <a:lnTo>
                    <a:pt x="571548" y="0"/>
                  </a:lnTo>
                  <a:lnTo>
                    <a:pt x="1149297" y="0"/>
                  </a:lnTo>
                  <a:lnTo>
                    <a:pt x="577748" y="571556"/>
                  </a:lnTo>
                  <a:close/>
                </a:path>
              </a:pathLst>
            </a:custGeom>
            <a:solidFill>
              <a:srgbClr val="D3E1F9">
                <a:alpha val="4268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690688" y="1099722"/>
              <a:ext cx="1149350" cy="2703195"/>
            </a:xfrm>
            <a:custGeom>
              <a:avLst/>
              <a:gdLst/>
              <a:ahLst/>
              <a:cxnLst/>
              <a:rect l="l" t="t" r="r" b="b"/>
              <a:pathLst>
                <a:path w="1149350" h="2703195">
                  <a:moveTo>
                    <a:pt x="0" y="571556"/>
                  </a:moveTo>
                  <a:lnTo>
                    <a:pt x="571548" y="0"/>
                  </a:lnTo>
                  <a:lnTo>
                    <a:pt x="1149297" y="0"/>
                  </a:lnTo>
                  <a:lnTo>
                    <a:pt x="1149297" y="2131145"/>
                  </a:lnTo>
                  <a:lnTo>
                    <a:pt x="577748" y="2702694"/>
                  </a:lnTo>
                  <a:lnTo>
                    <a:pt x="0" y="2702694"/>
                  </a:lnTo>
                  <a:lnTo>
                    <a:pt x="0" y="571556"/>
                  </a:lnTo>
                  <a:close/>
                </a:path>
                <a:path w="1149350" h="2703195">
                  <a:moveTo>
                    <a:pt x="0" y="571556"/>
                  </a:moveTo>
                  <a:lnTo>
                    <a:pt x="577748" y="571556"/>
                  </a:lnTo>
                  <a:lnTo>
                    <a:pt x="1149297" y="0"/>
                  </a:lnTo>
                </a:path>
                <a:path w="1149350" h="2703195">
                  <a:moveTo>
                    <a:pt x="577748" y="571556"/>
                  </a:moveTo>
                  <a:lnTo>
                    <a:pt x="577748" y="2702694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5785917" y="3830325"/>
            <a:ext cx="280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Arial"/>
                <a:cs typeface="Arial"/>
              </a:rPr>
              <a:t>32</a:t>
            </a:r>
            <a:endParaRPr sz="18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743540" y="3517400"/>
            <a:ext cx="280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Arial"/>
                <a:cs typeface="Arial"/>
              </a:rPr>
              <a:t>56</a:t>
            </a:r>
            <a:endParaRPr sz="18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119615" y="2184284"/>
            <a:ext cx="280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Arial"/>
                <a:cs typeface="Arial"/>
              </a:rPr>
              <a:t>56</a:t>
            </a:r>
            <a:endParaRPr sz="18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105845" y="2559702"/>
            <a:ext cx="2425065" cy="112839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>
              <a:lnSpc>
                <a:spcPct val="100699"/>
              </a:lnSpc>
              <a:spcBef>
                <a:spcPts val="85"/>
              </a:spcBef>
            </a:pPr>
            <a:r>
              <a:rPr sz="1800" dirty="0">
                <a:solidFill>
                  <a:srgbClr val="0000FF"/>
                </a:solidFill>
                <a:latin typeface="Arial"/>
                <a:cs typeface="Arial"/>
              </a:rPr>
              <a:t>(each</a:t>
            </a:r>
            <a:r>
              <a:rPr sz="1800" spc="-1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00FF"/>
                </a:solidFill>
                <a:latin typeface="Arial"/>
                <a:cs typeface="Arial"/>
              </a:rPr>
              <a:t>filter</a:t>
            </a:r>
            <a:r>
              <a:rPr sz="1800" spc="-1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00FF"/>
                </a:solidFill>
                <a:latin typeface="Arial"/>
                <a:cs typeface="Arial"/>
              </a:rPr>
              <a:t>has</a:t>
            </a:r>
            <a:r>
              <a:rPr sz="1800" spc="-1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rgbClr val="0000FF"/>
                </a:solidFill>
                <a:latin typeface="Arial"/>
                <a:cs typeface="Arial"/>
              </a:rPr>
              <a:t>size </a:t>
            </a:r>
            <a:r>
              <a:rPr sz="1800" dirty="0">
                <a:solidFill>
                  <a:srgbClr val="0000FF"/>
                </a:solidFill>
                <a:latin typeface="Arial"/>
                <a:cs typeface="Arial"/>
              </a:rPr>
              <a:t>1x1x64,</a:t>
            </a:r>
            <a:r>
              <a:rPr sz="1800" spc="-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00FF"/>
                </a:solidFill>
                <a:latin typeface="Arial"/>
                <a:cs typeface="Arial"/>
              </a:rPr>
              <a:t>and</a:t>
            </a:r>
            <a:r>
              <a:rPr sz="1800" spc="-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00FF"/>
                </a:solidFill>
                <a:latin typeface="Arial"/>
                <a:cs typeface="Arial"/>
              </a:rPr>
              <a:t>performs</a:t>
            </a:r>
            <a:r>
              <a:rPr sz="1800" spc="-1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spc="-50" dirty="0">
                <a:solidFill>
                  <a:srgbClr val="0000FF"/>
                </a:solidFill>
                <a:latin typeface="Arial"/>
                <a:cs typeface="Arial"/>
              </a:rPr>
              <a:t>a </a:t>
            </a:r>
            <a:r>
              <a:rPr sz="1800" spc="-10" dirty="0">
                <a:solidFill>
                  <a:srgbClr val="0000FF"/>
                </a:solidFill>
                <a:latin typeface="Arial"/>
                <a:cs typeface="Arial"/>
              </a:rPr>
              <a:t>64-</a:t>
            </a:r>
            <a:r>
              <a:rPr sz="1800" dirty="0">
                <a:solidFill>
                  <a:srgbClr val="0000FF"/>
                </a:solidFill>
                <a:latin typeface="Arial"/>
                <a:cs typeface="Arial"/>
              </a:rPr>
              <a:t>dimensional</a:t>
            </a:r>
            <a:r>
              <a:rPr sz="1800" spc="-4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spc="-25" dirty="0">
                <a:solidFill>
                  <a:srgbClr val="0000FF"/>
                </a:solidFill>
                <a:latin typeface="Arial"/>
                <a:cs typeface="Arial"/>
              </a:rPr>
              <a:t>dot </a:t>
            </a:r>
            <a:r>
              <a:rPr sz="1800" spc="-10" dirty="0">
                <a:solidFill>
                  <a:srgbClr val="0000FF"/>
                </a:solidFill>
                <a:latin typeface="Arial"/>
                <a:cs typeface="Arial"/>
              </a:rPr>
              <a:t>product)</a:t>
            </a:r>
            <a:endParaRPr sz="1800">
              <a:latin typeface="Arial"/>
              <a:cs typeface="Arial"/>
            </a:endParaRPr>
          </a:p>
        </p:txBody>
      </p:sp>
      <p:sp>
        <p:nvSpPr>
          <p:cNvPr id="29" name="object 10">
            <a:extLst>
              <a:ext uri="{FF2B5EF4-FFF2-40B4-BE49-F238E27FC236}">
                <a16:creationId xmlns:a16="http://schemas.microsoft.com/office/drawing/2014/main" id="{04E4981F-6B69-E84A-B31F-3A471750DC05}"/>
              </a:ext>
            </a:extLst>
          </p:cNvPr>
          <p:cNvSpPr txBox="1">
            <a:spLocks noGrp="1"/>
          </p:cNvSpPr>
          <p:nvPr>
            <p:ph type="dt" sz="half" idx="4294967295"/>
          </p:nvPr>
        </p:nvSpPr>
        <p:spPr>
          <a:xfrm>
            <a:off x="145224" y="4740846"/>
            <a:ext cx="4699000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lang="en-US" altLang="zh-CN" spc="-10" dirty="0">
                <a:solidFill>
                  <a:schemeClr val="bg1"/>
                </a:solidFill>
              </a:rPr>
              <a:t>Convolutional</a:t>
            </a:r>
            <a:r>
              <a:rPr lang="zh-CN" altLang="en-US" spc="-10" dirty="0">
                <a:solidFill>
                  <a:schemeClr val="bg1"/>
                </a:solidFill>
              </a:rPr>
              <a:t> </a:t>
            </a:r>
            <a:r>
              <a:rPr lang="en-US" altLang="zh-CN" spc="-10" dirty="0">
                <a:solidFill>
                  <a:schemeClr val="bg1"/>
                </a:solidFill>
              </a:rPr>
              <a:t>Neural</a:t>
            </a:r>
            <a:r>
              <a:rPr lang="zh-CN" altLang="en-US" spc="-10" dirty="0">
                <a:solidFill>
                  <a:schemeClr val="bg1"/>
                </a:solidFill>
              </a:rPr>
              <a:t> </a:t>
            </a:r>
            <a:r>
              <a:rPr lang="en-US" altLang="zh-CN" spc="-10" dirty="0">
                <a:solidFill>
                  <a:schemeClr val="bg1"/>
                </a:solidFill>
              </a:rPr>
              <a:t>Networks</a:t>
            </a:r>
            <a:endParaRPr spc="-1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941931" y="157024"/>
            <a:ext cx="5877560" cy="4333875"/>
            <a:chOff x="2941931" y="157024"/>
            <a:chExt cx="5877560" cy="433387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51444" y="166549"/>
              <a:ext cx="5812875" cy="4307753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2946694" y="161787"/>
              <a:ext cx="5868035" cy="4324350"/>
            </a:xfrm>
            <a:custGeom>
              <a:avLst/>
              <a:gdLst/>
              <a:ahLst/>
              <a:cxnLst/>
              <a:rect l="l" t="t" r="r" b="b"/>
              <a:pathLst>
                <a:path w="5868034" h="4324350">
                  <a:moveTo>
                    <a:pt x="0" y="0"/>
                  </a:moveTo>
                  <a:lnTo>
                    <a:pt x="5867813" y="0"/>
                  </a:lnTo>
                  <a:lnTo>
                    <a:pt x="5867813" y="4323778"/>
                  </a:lnTo>
                  <a:lnTo>
                    <a:pt x="0" y="4323778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99924" y="138432"/>
            <a:ext cx="2258060" cy="753110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12700" marR="5080">
              <a:lnSpc>
                <a:spcPts val="2850"/>
              </a:lnSpc>
              <a:spcBef>
                <a:spcPts val="219"/>
              </a:spcBef>
            </a:pPr>
            <a:r>
              <a:rPr sz="2400" dirty="0"/>
              <a:t>Example:</a:t>
            </a:r>
            <a:r>
              <a:rPr sz="2400" spc="-145" dirty="0"/>
              <a:t> </a:t>
            </a:r>
            <a:r>
              <a:rPr sz="2400" spc="-20" dirty="0"/>
              <a:t>CONV </a:t>
            </a:r>
            <a:r>
              <a:rPr sz="2400" dirty="0"/>
              <a:t>layer</a:t>
            </a:r>
            <a:r>
              <a:rPr sz="2400" spc="-45" dirty="0"/>
              <a:t> </a:t>
            </a:r>
            <a:r>
              <a:rPr sz="2400" dirty="0"/>
              <a:t>in</a:t>
            </a:r>
            <a:r>
              <a:rPr sz="2400" spc="-45" dirty="0"/>
              <a:t> </a:t>
            </a:r>
            <a:r>
              <a:rPr sz="2400" spc="-10" dirty="0"/>
              <a:t>Torch</a:t>
            </a:r>
            <a:endParaRPr sz="2400"/>
          </a:p>
        </p:txBody>
      </p:sp>
      <p:grpSp>
        <p:nvGrpSpPr>
          <p:cNvPr id="6" name="object 6"/>
          <p:cNvGrpSpPr/>
          <p:nvPr/>
        </p:nvGrpSpPr>
        <p:grpSpPr>
          <a:xfrm>
            <a:off x="74162" y="3037881"/>
            <a:ext cx="2802255" cy="1452880"/>
            <a:chOff x="74162" y="3037881"/>
            <a:chExt cx="2802255" cy="1452880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3687" y="3047393"/>
              <a:ext cx="2782806" cy="1433397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78924" y="3042643"/>
              <a:ext cx="2792730" cy="1443355"/>
            </a:xfrm>
            <a:custGeom>
              <a:avLst/>
              <a:gdLst/>
              <a:ahLst/>
              <a:cxnLst/>
              <a:rect l="l" t="t" r="r" b="b"/>
              <a:pathLst>
                <a:path w="2792730" h="1443354">
                  <a:moveTo>
                    <a:pt x="0" y="0"/>
                  </a:moveTo>
                  <a:lnTo>
                    <a:pt x="2792344" y="0"/>
                  </a:lnTo>
                  <a:lnTo>
                    <a:pt x="2792344" y="1442897"/>
                  </a:lnTo>
                  <a:lnTo>
                    <a:pt x="0" y="1442897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0">
            <a:extLst>
              <a:ext uri="{FF2B5EF4-FFF2-40B4-BE49-F238E27FC236}">
                <a16:creationId xmlns:a16="http://schemas.microsoft.com/office/drawing/2014/main" id="{58A93C7C-8B04-2C47-92F4-559B3432508D}"/>
              </a:ext>
            </a:extLst>
          </p:cNvPr>
          <p:cNvSpPr txBox="1">
            <a:spLocks noGrp="1"/>
          </p:cNvSpPr>
          <p:nvPr>
            <p:ph type="dt" sz="half" idx="4294967295"/>
          </p:nvPr>
        </p:nvSpPr>
        <p:spPr>
          <a:xfrm>
            <a:off x="145224" y="4740846"/>
            <a:ext cx="4699000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lang="en-US" altLang="zh-CN" spc="-10" dirty="0">
                <a:solidFill>
                  <a:schemeClr val="bg1"/>
                </a:solidFill>
              </a:rPr>
              <a:t>Convolutional</a:t>
            </a:r>
            <a:r>
              <a:rPr lang="zh-CN" altLang="en-US" spc="-10" dirty="0">
                <a:solidFill>
                  <a:schemeClr val="bg1"/>
                </a:solidFill>
              </a:rPr>
              <a:t> </a:t>
            </a:r>
            <a:r>
              <a:rPr lang="en-US" altLang="zh-CN" spc="-10" dirty="0">
                <a:solidFill>
                  <a:schemeClr val="bg1"/>
                </a:solidFill>
              </a:rPr>
              <a:t>Neural</a:t>
            </a:r>
            <a:r>
              <a:rPr lang="zh-CN" altLang="en-US" spc="-10" dirty="0">
                <a:solidFill>
                  <a:schemeClr val="bg1"/>
                </a:solidFill>
              </a:rPr>
              <a:t> </a:t>
            </a:r>
            <a:r>
              <a:rPr lang="en-US" altLang="zh-CN" spc="-10" dirty="0">
                <a:solidFill>
                  <a:schemeClr val="bg1"/>
                </a:solidFill>
              </a:rPr>
              <a:t>Networks</a:t>
            </a:r>
            <a:endParaRPr spc="-1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9924" y="138432"/>
            <a:ext cx="2258060" cy="753110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12700" marR="5080">
              <a:lnSpc>
                <a:spcPts val="2850"/>
              </a:lnSpc>
              <a:spcBef>
                <a:spcPts val="219"/>
              </a:spcBef>
            </a:pPr>
            <a:r>
              <a:rPr sz="2400" dirty="0"/>
              <a:t>Example:</a:t>
            </a:r>
            <a:r>
              <a:rPr sz="2400" spc="-145" dirty="0"/>
              <a:t> </a:t>
            </a:r>
            <a:r>
              <a:rPr sz="2400" spc="-20" dirty="0"/>
              <a:t>CONV </a:t>
            </a:r>
            <a:r>
              <a:rPr sz="2400" dirty="0"/>
              <a:t>layer</a:t>
            </a:r>
            <a:r>
              <a:rPr sz="2400" spc="-45" dirty="0"/>
              <a:t> </a:t>
            </a:r>
            <a:r>
              <a:rPr sz="2400" dirty="0"/>
              <a:t>in</a:t>
            </a:r>
            <a:r>
              <a:rPr sz="2400" spc="-45" dirty="0"/>
              <a:t> </a:t>
            </a:r>
            <a:r>
              <a:rPr sz="2400" spc="-10" dirty="0"/>
              <a:t>Caffe</a:t>
            </a:r>
            <a:endParaRPr sz="2400"/>
          </a:p>
        </p:txBody>
      </p:sp>
      <p:grpSp>
        <p:nvGrpSpPr>
          <p:cNvPr id="3" name="object 3"/>
          <p:cNvGrpSpPr/>
          <p:nvPr/>
        </p:nvGrpSpPr>
        <p:grpSpPr>
          <a:xfrm>
            <a:off x="74162" y="717723"/>
            <a:ext cx="8898890" cy="3773170"/>
            <a:chOff x="74162" y="717723"/>
            <a:chExt cx="8898890" cy="377317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15069" y="717723"/>
              <a:ext cx="6057887" cy="3295643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3687" y="3047393"/>
              <a:ext cx="2782806" cy="1433397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78924" y="3042643"/>
              <a:ext cx="2792730" cy="1443355"/>
            </a:xfrm>
            <a:custGeom>
              <a:avLst/>
              <a:gdLst/>
              <a:ahLst/>
              <a:cxnLst/>
              <a:rect l="l" t="t" r="r" b="b"/>
              <a:pathLst>
                <a:path w="2792730" h="1443354">
                  <a:moveTo>
                    <a:pt x="0" y="0"/>
                  </a:moveTo>
                  <a:lnTo>
                    <a:pt x="2792344" y="0"/>
                  </a:lnTo>
                  <a:lnTo>
                    <a:pt x="2792344" y="1442897"/>
                  </a:lnTo>
                  <a:lnTo>
                    <a:pt x="0" y="1442897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0">
            <a:extLst>
              <a:ext uri="{FF2B5EF4-FFF2-40B4-BE49-F238E27FC236}">
                <a16:creationId xmlns:a16="http://schemas.microsoft.com/office/drawing/2014/main" id="{02E156B7-C6C2-4D4C-8476-2F7A159399F0}"/>
              </a:ext>
            </a:extLst>
          </p:cNvPr>
          <p:cNvSpPr txBox="1">
            <a:spLocks noGrp="1"/>
          </p:cNvSpPr>
          <p:nvPr>
            <p:ph type="dt" sz="half" idx="4294967295"/>
          </p:nvPr>
        </p:nvSpPr>
        <p:spPr>
          <a:xfrm>
            <a:off x="145224" y="4740846"/>
            <a:ext cx="4699000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lang="en-US" altLang="zh-CN" spc="-10" dirty="0">
                <a:solidFill>
                  <a:schemeClr val="bg1"/>
                </a:solidFill>
              </a:rPr>
              <a:t>Convolutional</a:t>
            </a:r>
            <a:r>
              <a:rPr lang="zh-CN" altLang="en-US" spc="-10" dirty="0">
                <a:solidFill>
                  <a:schemeClr val="bg1"/>
                </a:solidFill>
              </a:rPr>
              <a:t> </a:t>
            </a:r>
            <a:r>
              <a:rPr lang="en-US" altLang="zh-CN" spc="-10" dirty="0">
                <a:solidFill>
                  <a:schemeClr val="bg1"/>
                </a:solidFill>
              </a:rPr>
              <a:t>Neural</a:t>
            </a:r>
            <a:r>
              <a:rPr lang="zh-CN" altLang="en-US" spc="-10" dirty="0">
                <a:solidFill>
                  <a:schemeClr val="bg1"/>
                </a:solidFill>
              </a:rPr>
              <a:t> </a:t>
            </a:r>
            <a:r>
              <a:rPr lang="en-US" altLang="zh-CN" spc="-10" dirty="0">
                <a:solidFill>
                  <a:schemeClr val="bg1"/>
                </a:solidFill>
              </a:rPr>
              <a:t>Networks</a:t>
            </a:r>
            <a:endParaRPr spc="-1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22197"/>
            <a:ext cx="9144000" cy="5121910"/>
            <a:chOff x="0" y="22197"/>
            <a:chExt cx="9144000" cy="512191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64941" y="31724"/>
              <a:ext cx="3643517" cy="456114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4360191" y="26959"/>
              <a:ext cx="3653154" cy="4570730"/>
            </a:xfrm>
            <a:custGeom>
              <a:avLst/>
              <a:gdLst/>
              <a:ahLst/>
              <a:cxnLst/>
              <a:rect l="l" t="t" r="r" b="b"/>
              <a:pathLst>
                <a:path w="3653154" h="4570730">
                  <a:moveTo>
                    <a:pt x="0" y="0"/>
                  </a:moveTo>
                  <a:lnTo>
                    <a:pt x="3653017" y="0"/>
                  </a:lnTo>
                  <a:lnTo>
                    <a:pt x="3653017" y="4570655"/>
                  </a:lnTo>
                  <a:lnTo>
                    <a:pt x="0" y="4570655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3687" y="3047393"/>
              <a:ext cx="2782806" cy="1433397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78924" y="3042643"/>
              <a:ext cx="2792730" cy="1443355"/>
            </a:xfrm>
            <a:custGeom>
              <a:avLst/>
              <a:gdLst/>
              <a:ahLst/>
              <a:cxnLst/>
              <a:rect l="l" t="t" r="r" b="b"/>
              <a:pathLst>
                <a:path w="2792730" h="1443354">
                  <a:moveTo>
                    <a:pt x="0" y="0"/>
                  </a:moveTo>
                  <a:lnTo>
                    <a:pt x="2792344" y="0"/>
                  </a:lnTo>
                  <a:lnTo>
                    <a:pt x="2792344" y="1442897"/>
                  </a:lnTo>
                  <a:lnTo>
                    <a:pt x="0" y="1442897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99924" y="138432"/>
            <a:ext cx="2261235" cy="753110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12700" marR="5080">
              <a:lnSpc>
                <a:spcPts val="2850"/>
              </a:lnSpc>
              <a:spcBef>
                <a:spcPts val="219"/>
              </a:spcBef>
            </a:pPr>
            <a:r>
              <a:rPr sz="2400" dirty="0"/>
              <a:t>Example:</a:t>
            </a:r>
            <a:r>
              <a:rPr sz="2400" spc="-145" dirty="0"/>
              <a:t> </a:t>
            </a:r>
            <a:r>
              <a:rPr sz="2400" spc="-20" dirty="0"/>
              <a:t>CONV </a:t>
            </a:r>
            <a:r>
              <a:rPr sz="2400" dirty="0"/>
              <a:t>layer</a:t>
            </a:r>
            <a:r>
              <a:rPr sz="2400" spc="-45" dirty="0"/>
              <a:t> </a:t>
            </a:r>
            <a:r>
              <a:rPr sz="2400" dirty="0"/>
              <a:t>in</a:t>
            </a:r>
            <a:r>
              <a:rPr sz="2400" spc="-45" dirty="0"/>
              <a:t> </a:t>
            </a:r>
            <a:r>
              <a:rPr sz="2400" spc="-10" dirty="0"/>
              <a:t>Lasagne</a:t>
            </a:r>
            <a:endParaRPr sz="2400"/>
          </a:p>
        </p:txBody>
      </p:sp>
      <p:sp>
        <p:nvSpPr>
          <p:cNvPr id="12" name="object 10">
            <a:extLst>
              <a:ext uri="{FF2B5EF4-FFF2-40B4-BE49-F238E27FC236}">
                <a16:creationId xmlns:a16="http://schemas.microsoft.com/office/drawing/2014/main" id="{5E9E3A1E-7089-964D-860A-5C721FC735E9}"/>
              </a:ext>
            </a:extLst>
          </p:cNvPr>
          <p:cNvSpPr txBox="1">
            <a:spLocks noGrp="1"/>
          </p:cNvSpPr>
          <p:nvPr>
            <p:ph type="dt" sz="half" idx="4294967295"/>
          </p:nvPr>
        </p:nvSpPr>
        <p:spPr>
          <a:xfrm>
            <a:off x="145224" y="4740846"/>
            <a:ext cx="4699000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lang="en-US" altLang="zh-CN" spc="-10" dirty="0">
                <a:solidFill>
                  <a:schemeClr val="bg1"/>
                </a:solidFill>
              </a:rPr>
              <a:t>Convolutional</a:t>
            </a:r>
            <a:r>
              <a:rPr lang="zh-CN" altLang="en-US" spc="-10" dirty="0">
                <a:solidFill>
                  <a:schemeClr val="bg1"/>
                </a:solidFill>
              </a:rPr>
              <a:t> </a:t>
            </a:r>
            <a:r>
              <a:rPr lang="en-US" altLang="zh-CN" spc="-10" dirty="0">
                <a:solidFill>
                  <a:schemeClr val="bg1"/>
                </a:solidFill>
              </a:rPr>
              <a:t>Neural</a:t>
            </a:r>
            <a:r>
              <a:rPr lang="zh-CN" altLang="en-US" spc="-10" dirty="0">
                <a:solidFill>
                  <a:schemeClr val="bg1"/>
                </a:solidFill>
              </a:rPr>
              <a:t> </a:t>
            </a:r>
            <a:r>
              <a:rPr lang="en-US" altLang="zh-CN" spc="-10" dirty="0">
                <a:solidFill>
                  <a:schemeClr val="bg1"/>
                </a:solidFill>
              </a:rPr>
              <a:t>Networks</a:t>
            </a:r>
            <a:endParaRPr spc="-1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1037" rIns="0" bIns="0" rtlCol="0">
            <a:spAutoFit/>
          </a:bodyPr>
          <a:lstStyle/>
          <a:p>
            <a:pPr marL="201295">
              <a:lnSpc>
                <a:spcPct val="100000"/>
              </a:lnSpc>
              <a:spcBef>
                <a:spcPts val="100"/>
              </a:spcBef>
            </a:pPr>
            <a:r>
              <a:rPr sz="2400" dirty="0"/>
              <a:t>The</a:t>
            </a:r>
            <a:r>
              <a:rPr sz="2400" spc="-60" dirty="0"/>
              <a:t> </a:t>
            </a:r>
            <a:r>
              <a:rPr sz="2400" spc="-10" dirty="0"/>
              <a:t>brain/neuron</a:t>
            </a:r>
            <a:r>
              <a:rPr sz="2400" spc="-60" dirty="0"/>
              <a:t> </a:t>
            </a:r>
            <a:r>
              <a:rPr sz="2400" dirty="0"/>
              <a:t>view</a:t>
            </a:r>
            <a:r>
              <a:rPr sz="2400" spc="-60" dirty="0"/>
              <a:t> </a:t>
            </a:r>
            <a:r>
              <a:rPr sz="2400" dirty="0"/>
              <a:t>of</a:t>
            </a:r>
            <a:r>
              <a:rPr sz="2400" spc="-60" dirty="0"/>
              <a:t> </a:t>
            </a:r>
            <a:r>
              <a:rPr sz="2400" dirty="0"/>
              <a:t>CONV</a:t>
            </a:r>
            <a:r>
              <a:rPr sz="2400" spc="-60" dirty="0"/>
              <a:t> </a:t>
            </a:r>
            <a:r>
              <a:rPr sz="2400" spc="-10" dirty="0"/>
              <a:t>Layer</a:t>
            </a:r>
            <a:endParaRPr sz="2400"/>
          </a:p>
        </p:txBody>
      </p:sp>
      <p:grpSp>
        <p:nvGrpSpPr>
          <p:cNvPr id="3" name="object 3"/>
          <p:cNvGrpSpPr/>
          <p:nvPr/>
        </p:nvGrpSpPr>
        <p:grpSpPr>
          <a:xfrm>
            <a:off x="236899" y="1308197"/>
            <a:ext cx="2314575" cy="2777490"/>
            <a:chOff x="236899" y="1308197"/>
            <a:chExt cx="2314575" cy="2777490"/>
          </a:xfrm>
        </p:grpSpPr>
        <p:sp>
          <p:nvSpPr>
            <p:cNvPr id="4" name="object 4"/>
            <p:cNvSpPr/>
            <p:nvPr/>
          </p:nvSpPr>
          <p:spPr>
            <a:xfrm>
              <a:off x="662948" y="2440417"/>
              <a:ext cx="132080" cy="663575"/>
            </a:xfrm>
            <a:custGeom>
              <a:avLst/>
              <a:gdLst/>
              <a:ahLst/>
              <a:cxnLst/>
              <a:rect l="l" t="t" r="r" b="b"/>
              <a:pathLst>
                <a:path w="132079" h="663575">
                  <a:moveTo>
                    <a:pt x="131602" y="663201"/>
                  </a:moveTo>
                  <a:lnTo>
                    <a:pt x="0" y="663201"/>
                  </a:lnTo>
                  <a:lnTo>
                    <a:pt x="0" y="0"/>
                  </a:lnTo>
                  <a:lnTo>
                    <a:pt x="131602" y="0"/>
                  </a:lnTo>
                  <a:lnTo>
                    <a:pt x="131602" y="663201"/>
                  </a:lnTo>
                  <a:close/>
                </a:path>
              </a:pathLst>
            </a:custGeom>
            <a:solidFill>
              <a:srgbClr val="C8D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94550" y="2289720"/>
              <a:ext cx="151130" cy="814069"/>
            </a:xfrm>
            <a:custGeom>
              <a:avLst/>
              <a:gdLst/>
              <a:ahLst/>
              <a:cxnLst/>
              <a:rect l="l" t="t" r="r" b="b"/>
              <a:pathLst>
                <a:path w="151130" h="814069">
                  <a:moveTo>
                    <a:pt x="0" y="813898"/>
                  </a:moveTo>
                  <a:lnTo>
                    <a:pt x="0" y="150697"/>
                  </a:lnTo>
                  <a:lnTo>
                    <a:pt x="150697" y="0"/>
                  </a:lnTo>
                  <a:lnTo>
                    <a:pt x="150697" y="663198"/>
                  </a:lnTo>
                  <a:lnTo>
                    <a:pt x="0" y="813898"/>
                  </a:lnTo>
                  <a:close/>
                </a:path>
              </a:pathLst>
            </a:custGeom>
            <a:solidFill>
              <a:srgbClr val="A0AE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62948" y="2289720"/>
              <a:ext cx="282575" cy="151130"/>
            </a:xfrm>
            <a:custGeom>
              <a:avLst/>
              <a:gdLst/>
              <a:ahLst/>
              <a:cxnLst/>
              <a:rect l="l" t="t" r="r" b="b"/>
              <a:pathLst>
                <a:path w="282575" h="151130">
                  <a:moveTo>
                    <a:pt x="131602" y="150697"/>
                  </a:moveTo>
                  <a:lnTo>
                    <a:pt x="0" y="150697"/>
                  </a:lnTo>
                  <a:lnTo>
                    <a:pt x="150697" y="0"/>
                  </a:lnTo>
                  <a:lnTo>
                    <a:pt x="282299" y="0"/>
                  </a:lnTo>
                  <a:lnTo>
                    <a:pt x="131602" y="150697"/>
                  </a:lnTo>
                  <a:close/>
                </a:path>
              </a:pathLst>
            </a:custGeom>
            <a:solidFill>
              <a:srgbClr val="D3E1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62948" y="2289720"/>
              <a:ext cx="282575" cy="814069"/>
            </a:xfrm>
            <a:custGeom>
              <a:avLst/>
              <a:gdLst/>
              <a:ahLst/>
              <a:cxnLst/>
              <a:rect l="l" t="t" r="r" b="b"/>
              <a:pathLst>
                <a:path w="282575" h="814069">
                  <a:moveTo>
                    <a:pt x="0" y="150697"/>
                  </a:moveTo>
                  <a:lnTo>
                    <a:pt x="150697" y="0"/>
                  </a:lnTo>
                  <a:lnTo>
                    <a:pt x="282299" y="0"/>
                  </a:lnTo>
                  <a:lnTo>
                    <a:pt x="282299" y="663198"/>
                  </a:lnTo>
                  <a:lnTo>
                    <a:pt x="131602" y="813898"/>
                  </a:lnTo>
                  <a:lnTo>
                    <a:pt x="0" y="813898"/>
                  </a:lnTo>
                  <a:lnTo>
                    <a:pt x="0" y="150697"/>
                  </a:lnTo>
                  <a:close/>
                </a:path>
                <a:path w="282575" h="814069">
                  <a:moveTo>
                    <a:pt x="0" y="150697"/>
                  </a:moveTo>
                  <a:lnTo>
                    <a:pt x="131602" y="150697"/>
                  </a:lnTo>
                  <a:lnTo>
                    <a:pt x="282299" y="0"/>
                  </a:lnTo>
                </a:path>
                <a:path w="282575" h="814069">
                  <a:moveTo>
                    <a:pt x="131602" y="150697"/>
                  </a:moveTo>
                  <a:lnTo>
                    <a:pt x="131602" y="813898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259195" y="2555519"/>
              <a:ext cx="282575" cy="282575"/>
            </a:xfrm>
            <a:custGeom>
              <a:avLst/>
              <a:gdLst/>
              <a:ahLst/>
              <a:cxnLst/>
              <a:rect l="l" t="t" r="r" b="b"/>
              <a:pathLst>
                <a:path w="282575" h="282575">
                  <a:moveTo>
                    <a:pt x="141149" y="282299"/>
                  </a:moveTo>
                  <a:lnTo>
                    <a:pt x="96535" y="275103"/>
                  </a:lnTo>
                  <a:lnTo>
                    <a:pt x="57788" y="255064"/>
                  </a:lnTo>
                  <a:lnTo>
                    <a:pt x="27233" y="224508"/>
                  </a:lnTo>
                  <a:lnTo>
                    <a:pt x="7195" y="185762"/>
                  </a:lnTo>
                  <a:lnTo>
                    <a:pt x="0" y="141149"/>
                  </a:lnTo>
                  <a:lnTo>
                    <a:pt x="7195" y="96537"/>
                  </a:lnTo>
                  <a:lnTo>
                    <a:pt x="27233" y="57790"/>
                  </a:lnTo>
                  <a:lnTo>
                    <a:pt x="57788" y="27235"/>
                  </a:lnTo>
                  <a:lnTo>
                    <a:pt x="96535" y="7196"/>
                  </a:lnTo>
                  <a:lnTo>
                    <a:pt x="141149" y="0"/>
                  </a:lnTo>
                  <a:lnTo>
                    <a:pt x="168815" y="2737"/>
                  </a:lnTo>
                  <a:lnTo>
                    <a:pt x="219456" y="23719"/>
                  </a:lnTo>
                  <a:lnTo>
                    <a:pt x="258579" y="62849"/>
                  </a:lnTo>
                  <a:lnTo>
                    <a:pt x="279561" y="113490"/>
                  </a:lnTo>
                  <a:lnTo>
                    <a:pt x="282299" y="141149"/>
                  </a:lnTo>
                  <a:lnTo>
                    <a:pt x="275103" y="185762"/>
                  </a:lnTo>
                  <a:lnTo>
                    <a:pt x="255065" y="224508"/>
                  </a:lnTo>
                  <a:lnTo>
                    <a:pt x="224510" y="255064"/>
                  </a:lnTo>
                  <a:lnTo>
                    <a:pt x="185763" y="275103"/>
                  </a:lnTo>
                  <a:lnTo>
                    <a:pt x="141149" y="282299"/>
                  </a:lnTo>
                  <a:close/>
                </a:path>
              </a:pathLst>
            </a:custGeom>
            <a:solidFill>
              <a:srgbClr val="C8D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69698" y="2309970"/>
              <a:ext cx="1772285" cy="786130"/>
            </a:xfrm>
            <a:custGeom>
              <a:avLst/>
              <a:gdLst/>
              <a:ahLst/>
              <a:cxnLst/>
              <a:rect l="l" t="t" r="r" b="b"/>
              <a:pathLst>
                <a:path w="1772285" h="786130">
                  <a:moveTo>
                    <a:pt x="1489496" y="386699"/>
                  </a:moveTo>
                  <a:lnTo>
                    <a:pt x="1496692" y="342086"/>
                  </a:lnTo>
                  <a:lnTo>
                    <a:pt x="1516730" y="303340"/>
                  </a:lnTo>
                  <a:lnTo>
                    <a:pt x="1547285" y="272784"/>
                  </a:lnTo>
                  <a:lnTo>
                    <a:pt x="1586032" y="252745"/>
                  </a:lnTo>
                  <a:lnTo>
                    <a:pt x="1630646" y="245549"/>
                  </a:lnTo>
                  <a:lnTo>
                    <a:pt x="1684661" y="256296"/>
                  </a:lnTo>
                  <a:lnTo>
                    <a:pt x="1730446" y="286899"/>
                  </a:lnTo>
                  <a:lnTo>
                    <a:pt x="1761049" y="332693"/>
                  </a:lnTo>
                  <a:lnTo>
                    <a:pt x="1771796" y="386699"/>
                  </a:lnTo>
                  <a:lnTo>
                    <a:pt x="1764600" y="431311"/>
                  </a:lnTo>
                  <a:lnTo>
                    <a:pt x="1744562" y="470058"/>
                  </a:lnTo>
                  <a:lnTo>
                    <a:pt x="1714007" y="500613"/>
                  </a:lnTo>
                  <a:lnTo>
                    <a:pt x="1675260" y="520652"/>
                  </a:lnTo>
                  <a:lnTo>
                    <a:pt x="1630646" y="527848"/>
                  </a:lnTo>
                  <a:lnTo>
                    <a:pt x="1586032" y="520652"/>
                  </a:lnTo>
                  <a:lnTo>
                    <a:pt x="1547285" y="500613"/>
                  </a:lnTo>
                  <a:lnTo>
                    <a:pt x="1516730" y="470058"/>
                  </a:lnTo>
                  <a:lnTo>
                    <a:pt x="1496692" y="431311"/>
                  </a:lnTo>
                  <a:lnTo>
                    <a:pt x="1489496" y="386699"/>
                  </a:lnTo>
                  <a:close/>
                </a:path>
                <a:path w="1772285" h="786130">
                  <a:moveTo>
                    <a:pt x="0" y="785698"/>
                  </a:moveTo>
                  <a:lnTo>
                    <a:pt x="1489496" y="386699"/>
                  </a:lnTo>
                </a:path>
                <a:path w="1772285" h="786130">
                  <a:moveTo>
                    <a:pt x="19499" y="149399"/>
                  </a:moveTo>
                  <a:lnTo>
                    <a:pt x="1489496" y="386699"/>
                  </a:lnTo>
                </a:path>
                <a:path w="1772285" h="786130">
                  <a:moveTo>
                    <a:pt x="155699" y="0"/>
                  </a:moveTo>
                  <a:lnTo>
                    <a:pt x="1489496" y="386699"/>
                  </a:lnTo>
                </a:path>
                <a:path w="1772285" h="786130">
                  <a:moveTo>
                    <a:pt x="181799" y="636298"/>
                  </a:moveTo>
                  <a:lnTo>
                    <a:pt x="1489496" y="386699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46424" y="2060948"/>
              <a:ext cx="213360" cy="2014855"/>
            </a:xfrm>
            <a:custGeom>
              <a:avLst/>
              <a:gdLst/>
              <a:ahLst/>
              <a:cxnLst/>
              <a:rect l="l" t="t" r="r" b="b"/>
              <a:pathLst>
                <a:path w="213359" h="2014854">
                  <a:moveTo>
                    <a:pt x="213172" y="2014668"/>
                  </a:moveTo>
                  <a:lnTo>
                    <a:pt x="0" y="2014668"/>
                  </a:lnTo>
                  <a:lnTo>
                    <a:pt x="0" y="0"/>
                  </a:lnTo>
                  <a:lnTo>
                    <a:pt x="213172" y="0"/>
                  </a:lnTo>
                  <a:lnTo>
                    <a:pt x="213172" y="2014668"/>
                  </a:lnTo>
                  <a:close/>
                </a:path>
              </a:pathLst>
            </a:custGeom>
            <a:solidFill>
              <a:srgbClr val="F4CCCC">
                <a:alpha val="5191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9596" y="1317722"/>
              <a:ext cx="743585" cy="2758440"/>
            </a:xfrm>
            <a:custGeom>
              <a:avLst/>
              <a:gdLst/>
              <a:ahLst/>
              <a:cxnLst/>
              <a:rect l="l" t="t" r="r" b="b"/>
              <a:pathLst>
                <a:path w="743585" h="2758440">
                  <a:moveTo>
                    <a:pt x="0" y="2757894"/>
                  </a:moveTo>
                  <a:lnTo>
                    <a:pt x="0" y="743226"/>
                  </a:lnTo>
                  <a:lnTo>
                    <a:pt x="743226" y="0"/>
                  </a:lnTo>
                  <a:lnTo>
                    <a:pt x="743226" y="2014670"/>
                  </a:lnTo>
                  <a:lnTo>
                    <a:pt x="0" y="2757894"/>
                  </a:lnTo>
                  <a:close/>
                </a:path>
              </a:pathLst>
            </a:custGeom>
            <a:solidFill>
              <a:srgbClr val="C3A3A3">
                <a:alpha val="5191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46424" y="1317722"/>
              <a:ext cx="956944" cy="743585"/>
            </a:xfrm>
            <a:custGeom>
              <a:avLst/>
              <a:gdLst/>
              <a:ahLst/>
              <a:cxnLst/>
              <a:rect l="l" t="t" r="r" b="b"/>
              <a:pathLst>
                <a:path w="956944" h="743585">
                  <a:moveTo>
                    <a:pt x="213172" y="743226"/>
                  </a:moveTo>
                  <a:lnTo>
                    <a:pt x="0" y="743226"/>
                  </a:lnTo>
                  <a:lnTo>
                    <a:pt x="743226" y="0"/>
                  </a:lnTo>
                  <a:lnTo>
                    <a:pt x="956398" y="0"/>
                  </a:lnTo>
                  <a:lnTo>
                    <a:pt x="213172" y="743226"/>
                  </a:lnTo>
                  <a:close/>
                </a:path>
              </a:pathLst>
            </a:custGeom>
            <a:solidFill>
              <a:srgbClr val="F6D6D6">
                <a:alpha val="5191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46424" y="1317722"/>
              <a:ext cx="956944" cy="2758440"/>
            </a:xfrm>
            <a:custGeom>
              <a:avLst/>
              <a:gdLst/>
              <a:ahLst/>
              <a:cxnLst/>
              <a:rect l="l" t="t" r="r" b="b"/>
              <a:pathLst>
                <a:path w="956944" h="2758440">
                  <a:moveTo>
                    <a:pt x="0" y="743226"/>
                  </a:moveTo>
                  <a:lnTo>
                    <a:pt x="743226" y="0"/>
                  </a:lnTo>
                  <a:lnTo>
                    <a:pt x="956398" y="0"/>
                  </a:lnTo>
                  <a:lnTo>
                    <a:pt x="956398" y="2014670"/>
                  </a:lnTo>
                  <a:lnTo>
                    <a:pt x="213172" y="2757894"/>
                  </a:lnTo>
                  <a:lnTo>
                    <a:pt x="0" y="2757894"/>
                  </a:lnTo>
                  <a:lnTo>
                    <a:pt x="0" y="743226"/>
                  </a:lnTo>
                  <a:close/>
                </a:path>
                <a:path w="956944" h="2758440">
                  <a:moveTo>
                    <a:pt x="0" y="743226"/>
                  </a:moveTo>
                  <a:lnTo>
                    <a:pt x="213172" y="743226"/>
                  </a:lnTo>
                  <a:lnTo>
                    <a:pt x="956398" y="0"/>
                  </a:lnTo>
                </a:path>
                <a:path w="956944" h="2758440">
                  <a:moveTo>
                    <a:pt x="213172" y="743226"/>
                  </a:moveTo>
                  <a:lnTo>
                    <a:pt x="213172" y="2757894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1296375" y="956180"/>
            <a:ext cx="3373120" cy="952500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1293495" marR="5080">
              <a:lnSpc>
                <a:spcPts val="2850"/>
              </a:lnSpc>
              <a:spcBef>
                <a:spcPts val="219"/>
              </a:spcBef>
            </a:pP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32x32x3</a:t>
            </a:r>
            <a:r>
              <a:rPr sz="2400" spc="-1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Arial"/>
                <a:cs typeface="Arial"/>
              </a:rPr>
              <a:t>image </a:t>
            </a:r>
            <a:r>
              <a:rPr sz="2400" dirty="0">
                <a:solidFill>
                  <a:srgbClr val="0000FF"/>
                </a:solidFill>
                <a:latin typeface="Arial"/>
                <a:cs typeface="Arial"/>
              </a:rPr>
              <a:t>5x5x3</a:t>
            </a:r>
            <a:r>
              <a:rPr sz="2400" spc="-9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0000FF"/>
                </a:solidFill>
                <a:latin typeface="Arial"/>
                <a:cs typeface="Arial"/>
              </a:rPr>
              <a:t>filter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ts val="1475"/>
              </a:lnSpc>
            </a:pPr>
            <a:r>
              <a:rPr sz="1800" spc="-25" dirty="0">
                <a:latin typeface="Arial"/>
                <a:cs typeface="Arial"/>
              </a:rPr>
              <a:t>32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1070412" y="1132360"/>
            <a:ext cx="1395730" cy="1032510"/>
            <a:chOff x="1070412" y="1132360"/>
            <a:chExt cx="1395730" cy="1032510"/>
          </a:xfrm>
        </p:grpSpPr>
        <p:sp>
          <p:nvSpPr>
            <p:cNvPr id="16" name="object 16"/>
            <p:cNvSpPr/>
            <p:nvPr/>
          </p:nvSpPr>
          <p:spPr>
            <a:xfrm>
              <a:off x="1428809" y="1137122"/>
              <a:ext cx="929005" cy="220345"/>
            </a:xfrm>
            <a:custGeom>
              <a:avLst/>
              <a:gdLst/>
              <a:ahLst/>
              <a:cxnLst/>
              <a:rect l="l" t="t" r="r" b="b"/>
              <a:pathLst>
                <a:path w="929005" h="220344">
                  <a:moveTo>
                    <a:pt x="928685" y="0"/>
                  </a:moveTo>
                  <a:lnTo>
                    <a:pt x="0" y="219929"/>
                  </a:lnTo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386747" y="1341742"/>
              <a:ext cx="45720" cy="31115"/>
            </a:xfrm>
            <a:custGeom>
              <a:avLst/>
              <a:gdLst/>
              <a:ahLst/>
              <a:cxnLst/>
              <a:rect l="l" t="t" r="r" b="b"/>
              <a:pathLst>
                <a:path w="45719" h="31115">
                  <a:moveTo>
                    <a:pt x="45687" y="30619"/>
                  </a:moveTo>
                  <a:lnTo>
                    <a:pt x="0" y="25269"/>
                  </a:lnTo>
                  <a:lnTo>
                    <a:pt x="38437" y="0"/>
                  </a:lnTo>
                  <a:lnTo>
                    <a:pt x="45687" y="30619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386747" y="1341742"/>
              <a:ext cx="45720" cy="31115"/>
            </a:xfrm>
            <a:custGeom>
              <a:avLst/>
              <a:gdLst/>
              <a:ahLst/>
              <a:cxnLst/>
              <a:rect l="l" t="t" r="r" b="b"/>
              <a:pathLst>
                <a:path w="45719" h="31115">
                  <a:moveTo>
                    <a:pt x="38437" y="0"/>
                  </a:moveTo>
                  <a:lnTo>
                    <a:pt x="0" y="25269"/>
                  </a:lnTo>
                  <a:lnTo>
                    <a:pt x="45687" y="30619"/>
                  </a:lnTo>
                  <a:lnTo>
                    <a:pt x="38437" y="0"/>
                  </a:lnTo>
                  <a:close/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115462" y="1620646"/>
              <a:ext cx="1346200" cy="523240"/>
            </a:xfrm>
            <a:custGeom>
              <a:avLst/>
              <a:gdLst/>
              <a:ahLst/>
              <a:cxnLst/>
              <a:rect l="l" t="t" r="r" b="b"/>
              <a:pathLst>
                <a:path w="1346200" h="523239">
                  <a:moveTo>
                    <a:pt x="1345632" y="0"/>
                  </a:moveTo>
                  <a:lnTo>
                    <a:pt x="0" y="523188"/>
                  </a:lnTo>
                </a:path>
              </a:pathLst>
            </a:custGeom>
            <a:ln w="9524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075175" y="2129173"/>
              <a:ext cx="46355" cy="30480"/>
            </a:xfrm>
            <a:custGeom>
              <a:avLst/>
              <a:gdLst/>
              <a:ahLst/>
              <a:cxnLst/>
              <a:rect l="l" t="t" r="r" b="b"/>
              <a:pathLst>
                <a:path w="46355" h="30480">
                  <a:moveTo>
                    <a:pt x="0" y="30327"/>
                  </a:moveTo>
                  <a:lnTo>
                    <a:pt x="34587" y="0"/>
                  </a:lnTo>
                  <a:lnTo>
                    <a:pt x="45989" y="29324"/>
                  </a:lnTo>
                  <a:lnTo>
                    <a:pt x="0" y="30327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075175" y="2129173"/>
              <a:ext cx="46355" cy="30480"/>
            </a:xfrm>
            <a:custGeom>
              <a:avLst/>
              <a:gdLst/>
              <a:ahLst/>
              <a:cxnLst/>
              <a:rect l="l" t="t" r="r" b="b"/>
              <a:pathLst>
                <a:path w="46355" h="30480">
                  <a:moveTo>
                    <a:pt x="34587" y="0"/>
                  </a:moveTo>
                  <a:lnTo>
                    <a:pt x="0" y="30327"/>
                  </a:lnTo>
                  <a:lnTo>
                    <a:pt x="45989" y="29324"/>
                  </a:lnTo>
                  <a:lnTo>
                    <a:pt x="34587" y="0"/>
                  </a:lnTo>
                  <a:close/>
                </a:path>
              </a:pathLst>
            </a:custGeom>
            <a:ln w="9524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2" name="object 22"/>
          <p:cNvGrpSpPr/>
          <p:nvPr/>
        </p:nvGrpSpPr>
        <p:grpSpPr>
          <a:xfrm>
            <a:off x="2601057" y="3000931"/>
            <a:ext cx="288290" cy="524510"/>
            <a:chOff x="2601057" y="3000931"/>
            <a:chExt cx="288290" cy="524510"/>
          </a:xfrm>
        </p:grpSpPr>
        <p:sp>
          <p:nvSpPr>
            <p:cNvPr id="23" name="object 23"/>
            <p:cNvSpPr/>
            <p:nvPr/>
          </p:nvSpPr>
          <p:spPr>
            <a:xfrm>
              <a:off x="2626394" y="3043718"/>
              <a:ext cx="257810" cy="476884"/>
            </a:xfrm>
            <a:custGeom>
              <a:avLst/>
              <a:gdLst/>
              <a:ahLst/>
              <a:cxnLst/>
              <a:rect l="l" t="t" r="r" b="b"/>
              <a:pathLst>
                <a:path w="257810" h="476885">
                  <a:moveTo>
                    <a:pt x="257799" y="476524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605819" y="3005693"/>
              <a:ext cx="34925" cy="45720"/>
            </a:xfrm>
            <a:custGeom>
              <a:avLst/>
              <a:gdLst/>
              <a:ahLst/>
              <a:cxnLst/>
              <a:rect l="l" t="t" r="r" b="b"/>
              <a:pathLst>
                <a:path w="34925" h="45719">
                  <a:moveTo>
                    <a:pt x="6724" y="45499"/>
                  </a:moveTo>
                  <a:lnTo>
                    <a:pt x="0" y="0"/>
                  </a:lnTo>
                  <a:lnTo>
                    <a:pt x="34399" y="30524"/>
                  </a:lnTo>
                  <a:lnTo>
                    <a:pt x="6724" y="4549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605819" y="3005693"/>
              <a:ext cx="34925" cy="45720"/>
            </a:xfrm>
            <a:custGeom>
              <a:avLst/>
              <a:gdLst/>
              <a:ahLst/>
              <a:cxnLst/>
              <a:rect l="l" t="t" r="r" b="b"/>
              <a:pathLst>
                <a:path w="34925" h="45719">
                  <a:moveTo>
                    <a:pt x="34399" y="30524"/>
                  </a:moveTo>
                  <a:lnTo>
                    <a:pt x="0" y="0"/>
                  </a:lnTo>
                  <a:lnTo>
                    <a:pt x="6724" y="45499"/>
                  </a:lnTo>
                  <a:lnTo>
                    <a:pt x="34399" y="30524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2939939" y="3418849"/>
            <a:ext cx="4213860" cy="11099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b="1" dirty="0">
                <a:latin typeface="Arial"/>
                <a:cs typeface="Arial"/>
              </a:rPr>
              <a:t>1</a:t>
            </a:r>
            <a:r>
              <a:rPr sz="1800" b="1" spc="-5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number:</a:t>
            </a:r>
            <a:endParaRPr sz="1800">
              <a:latin typeface="Arial"/>
              <a:cs typeface="Arial"/>
            </a:endParaRPr>
          </a:p>
          <a:p>
            <a:pPr marL="12700" marR="5080">
              <a:lnSpc>
                <a:spcPct val="100699"/>
              </a:lnSpc>
            </a:pPr>
            <a:r>
              <a:rPr sz="1800" dirty="0">
                <a:latin typeface="Arial"/>
                <a:cs typeface="Arial"/>
              </a:rPr>
              <a:t>the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result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of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taking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dot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product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between 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filter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and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this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part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of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image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dirty="0">
                <a:latin typeface="Arial"/>
                <a:cs typeface="Arial"/>
              </a:rPr>
              <a:t>(i.e.</a:t>
            </a:r>
            <a:r>
              <a:rPr sz="1800" spc="-3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5*5*3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=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75-</a:t>
            </a:r>
            <a:r>
              <a:rPr sz="1800" dirty="0">
                <a:latin typeface="Arial"/>
                <a:cs typeface="Arial"/>
              </a:rPr>
              <a:t>dimensional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dot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product)</a:t>
            </a:r>
            <a:endParaRPr sz="18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932073" y="3703256"/>
            <a:ext cx="280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25" dirty="0">
                <a:latin typeface="Arial"/>
                <a:cs typeface="Arial"/>
              </a:rPr>
              <a:t>32</a:t>
            </a:r>
            <a:endParaRPr sz="18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61462" y="4094885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0" dirty="0">
                <a:latin typeface="Arial"/>
                <a:cs typeface="Arial"/>
              </a:rPr>
              <a:t>3</a:t>
            </a:r>
            <a:endParaRPr sz="1800">
              <a:latin typeface="Arial"/>
              <a:cs typeface="Arial"/>
            </a:endParaRPr>
          </a:p>
        </p:txBody>
      </p:sp>
      <p:sp>
        <p:nvSpPr>
          <p:cNvPr id="33" name="object 10">
            <a:extLst>
              <a:ext uri="{FF2B5EF4-FFF2-40B4-BE49-F238E27FC236}">
                <a16:creationId xmlns:a16="http://schemas.microsoft.com/office/drawing/2014/main" id="{ADB20051-4A36-E04D-8A54-3525181D0652}"/>
              </a:ext>
            </a:extLst>
          </p:cNvPr>
          <p:cNvSpPr txBox="1">
            <a:spLocks noGrp="1"/>
          </p:cNvSpPr>
          <p:nvPr>
            <p:ph type="dt" sz="half" idx="4294967295"/>
          </p:nvPr>
        </p:nvSpPr>
        <p:spPr>
          <a:xfrm>
            <a:off x="145224" y="4740846"/>
            <a:ext cx="4699000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lang="en-US" altLang="zh-CN" spc="-10" dirty="0">
                <a:solidFill>
                  <a:schemeClr val="bg1"/>
                </a:solidFill>
              </a:rPr>
              <a:t>Convolutional</a:t>
            </a:r>
            <a:r>
              <a:rPr lang="zh-CN" altLang="en-US" spc="-10" dirty="0">
                <a:solidFill>
                  <a:schemeClr val="bg1"/>
                </a:solidFill>
              </a:rPr>
              <a:t> </a:t>
            </a:r>
            <a:r>
              <a:rPr lang="en-US" altLang="zh-CN" spc="-10" dirty="0">
                <a:solidFill>
                  <a:schemeClr val="bg1"/>
                </a:solidFill>
              </a:rPr>
              <a:t>Neural</a:t>
            </a:r>
            <a:r>
              <a:rPr lang="zh-CN" altLang="en-US" spc="-10" dirty="0">
                <a:solidFill>
                  <a:schemeClr val="bg1"/>
                </a:solidFill>
              </a:rPr>
              <a:t> </a:t>
            </a:r>
            <a:r>
              <a:rPr lang="en-US" altLang="zh-CN" spc="-10" dirty="0">
                <a:solidFill>
                  <a:schemeClr val="bg1"/>
                </a:solidFill>
              </a:rPr>
              <a:t>Networks</a:t>
            </a:r>
            <a:endParaRPr spc="-1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1037" rIns="0" bIns="0" rtlCol="0">
            <a:spAutoFit/>
          </a:bodyPr>
          <a:lstStyle/>
          <a:p>
            <a:pPr marL="201295">
              <a:lnSpc>
                <a:spcPct val="100000"/>
              </a:lnSpc>
              <a:spcBef>
                <a:spcPts val="100"/>
              </a:spcBef>
            </a:pPr>
            <a:r>
              <a:rPr sz="2400" dirty="0"/>
              <a:t>The</a:t>
            </a:r>
            <a:r>
              <a:rPr sz="2400" spc="-60" dirty="0"/>
              <a:t> </a:t>
            </a:r>
            <a:r>
              <a:rPr sz="2400" spc="-10" dirty="0"/>
              <a:t>brain/neuron</a:t>
            </a:r>
            <a:r>
              <a:rPr sz="2400" spc="-60" dirty="0"/>
              <a:t> </a:t>
            </a:r>
            <a:r>
              <a:rPr sz="2400" dirty="0"/>
              <a:t>view</a:t>
            </a:r>
            <a:r>
              <a:rPr sz="2400" spc="-60" dirty="0"/>
              <a:t> </a:t>
            </a:r>
            <a:r>
              <a:rPr sz="2400" dirty="0"/>
              <a:t>of</a:t>
            </a:r>
            <a:r>
              <a:rPr sz="2400" spc="-60" dirty="0"/>
              <a:t> </a:t>
            </a:r>
            <a:r>
              <a:rPr sz="2400" dirty="0"/>
              <a:t>CONV</a:t>
            </a:r>
            <a:r>
              <a:rPr sz="2400" spc="-60" dirty="0"/>
              <a:t> </a:t>
            </a:r>
            <a:r>
              <a:rPr sz="2400" spc="-10" dirty="0"/>
              <a:t>Layer</a:t>
            </a:r>
            <a:endParaRPr sz="2400"/>
          </a:p>
        </p:txBody>
      </p:sp>
      <p:grpSp>
        <p:nvGrpSpPr>
          <p:cNvPr id="3" name="object 3"/>
          <p:cNvGrpSpPr/>
          <p:nvPr/>
        </p:nvGrpSpPr>
        <p:grpSpPr>
          <a:xfrm>
            <a:off x="236899" y="1308197"/>
            <a:ext cx="2314575" cy="2777490"/>
            <a:chOff x="236899" y="1308197"/>
            <a:chExt cx="2314575" cy="2777490"/>
          </a:xfrm>
        </p:grpSpPr>
        <p:sp>
          <p:nvSpPr>
            <p:cNvPr id="4" name="object 4"/>
            <p:cNvSpPr/>
            <p:nvPr/>
          </p:nvSpPr>
          <p:spPr>
            <a:xfrm>
              <a:off x="662948" y="2440417"/>
              <a:ext cx="132080" cy="663575"/>
            </a:xfrm>
            <a:custGeom>
              <a:avLst/>
              <a:gdLst/>
              <a:ahLst/>
              <a:cxnLst/>
              <a:rect l="l" t="t" r="r" b="b"/>
              <a:pathLst>
                <a:path w="132079" h="663575">
                  <a:moveTo>
                    <a:pt x="131602" y="663201"/>
                  </a:moveTo>
                  <a:lnTo>
                    <a:pt x="0" y="663201"/>
                  </a:lnTo>
                  <a:lnTo>
                    <a:pt x="0" y="0"/>
                  </a:lnTo>
                  <a:lnTo>
                    <a:pt x="131602" y="0"/>
                  </a:lnTo>
                  <a:lnTo>
                    <a:pt x="131602" y="663201"/>
                  </a:lnTo>
                  <a:close/>
                </a:path>
              </a:pathLst>
            </a:custGeom>
            <a:solidFill>
              <a:srgbClr val="C8D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94550" y="2289720"/>
              <a:ext cx="151130" cy="814069"/>
            </a:xfrm>
            <a:custGeom>
              <a:avLst/>
              <a:gdLst/>
              <a:ahLst/>
              <a:cxnLst/>
              <a:rect l="l" t="t" r="r" b="b"/>
              <a:pathLst>
                <a:path w="151130" h="814069">
                  <a:moveTo>
                    <a:pt x="0" y="813898"/>
                  </a:moveTo>
                  <a:lnTo>
                    <a:pt x="0" y="150697"/>
                  </a:lnTo>
                  <a:lnTo>
                    <a:pt x="150697" y="0"/>
                  </a:lnTo>
                  <a:lnTo>
                    <a:pt x="150697" y="663198"/>
                  </a:lnTo>
                  <a:lnTo>
                    <a:pt x="0" y="813898"/>
                  </a:lnTo>
                  <a:close/>
                </a:path>
              </a:pathLst>
            </a:custGeom>
            <a:solidFill>
              <a:srgbClr val="A0AE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62948" y="2289720"/>
              <a:ext cx="282575" cy="151130"/>
            </a:xfrm>
            <a:custGeom>
              <a:avLst/>
              <a:gdLst/>
              <a:ahLst/>
              <a:cxnLst/>
              <a:rect l="l" t="t" r="r" b="b"/>
              <a:pathLst>
                <a:path w="282575" h="151130">
                  <a:moveTo>
                    <a:pt x="131602" y="150697"/>
                  </a:moveTo>
                  <a:lnTo>
                    <a:pt x="0" y="150697"/>
                  </a:lnTo>
                  <a:lnTo>
                    <a:pt x="150697" y="0"/>
                  </a:lnTo>
                  <a:lnTo>
                    <a:pt x="282299" y="0"/>
                  </a:lnTo>
                  <a:lnTo>
                    <a:pt x="131602" y="150697"/>
                  </a:lnTo>
                  <a:close/>
                </a:path>
              </a:pathLst>
            </a:custGeom>
            <a:solidFill>
              <a:srgbClr val="D3E1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62948" y="2289720"/>
              <a:ext cx="282575" cy="814069"/>
            </a:xfrm>
            <a:custGeom>
              <a:avLst/>
              <a:gdLst/>
              <a:ahLst/>
              <a:cxnLst/>
              <a:rect l="l" t="t" r="r" b="b"/>
              <a:pathLst>
                <a:path w="282575" h="814069">
                  <a:moveTo>
                    <a:pt x="0" y="150697"/>
                  </a:moveTo>
                  <a:lnTo>
                    <a:pt x="150697" y="0"/>
                  </a:lnTo>
                  <a:lnTo>
                    <a:pt x="282299" y="0"/>
                  </a:lnTo>
                  <a:lnTo>
                    <a:pt x="282299" y="663198"/>
                  </a:lnTo>
                  <a:lnTo>
                    <a:pt x="131602" y="813898"/>
                  </a:lnTo>
                  <a:lnTo>
                    <a:pt x="0" y="813898"/>
                  </a:lnTo>
                  <a:lnTo>
                    <a:pt x="0" y="150697"/>
                  </a:lnTo>
                  <a:close/>
                </a:path>
                <a:path w="282575" h="814069">
                  <a:moveTo>
                    <a:pt x="0" y="150697"/>
                  </a:moveTo>
                  <a:lnTo>
                    <a:pt x="131602" y="150697"/>
                  </a:lnTo>
                  <a:lnTo>
                    <a:pt x="282299" y="0"/>
                  </a:lnTo>
                </a:path>
                <a:path w="282575" h="814069">
                  <a:moveTo>
                    <a:pt x="131602" y="150697"/>
                  </a:moveTo>
                  <a:lnTo>
                    <a:pt x="131602" y="813898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259195" y="2555519"/>
              <a:ext cx="282575" cy="282575"/>
            </a:xfrm>
            <a:custGeom>
              <a:avLst/>
              <a:gdLst/>
              <a:ahLst/>
              <a:cxnLst/>
              <a:rect l="l" t="t" r="r" b="b"/>
              <a:pathLst>
                <a:path w="282575" h="282575">
                  <a:moveTo>
                    <a:pt x="141149" y="282299"/>
                  </a:moveTo>
                  <a:lnTo>
                    <a:pt x="96535" y="275103"/>
                  </a:lnTo>
                  <a:lnTo>
                    <a:pt x="57788" y="255064"/>
                  </a:lnTo>
                  <a:lnTo>
                    <a:pt x="27233" y="224508"/>
                  </a:lnTo>
                  <a:lnTo>
                    <a:pt x="7195" y="185762"/>
                  </a:lnTo>
                  <a:lnTo>
                    <a:pt x="0" y="141149"/>
                  </a:lnTo>
                  <a:lnTo>
                    <a:pt x="7195" y="96537"/>
                  </a:lnTo>
                  <a:lnTo>
                    <a:pt x="27233" y="57790"/>
                  </a:lnTo>
                  <a:lnTo>
                    <a:pt x="57788" y="27235"/>
                  </a:lnTo>
                  <a:lnTo>
                    <a:pt x="96535" y="7196"/>
                  </a:lnTo>
                  <a:lnTo>
                    <a:pt x="141149" y="0"/>
                  </a:lnTo>
                  <a:lnTo>
                    <a:pt x="168815" y="2737"/>
                  </a:lnTo>
                  <a:lnTo>
                    <a:pt x="219456" y="23719"/>
                  </a:lnTo>
                  <a:lnTo>
                    <a:pt x="258579" y="62849"/>
                  </a:lnTo>
                  <a:lnTo>
                    <a:pt x="279561" y="113490"/>
                  </a:lnTo>
                  <a:lnTo>
                    <a:pt x="282299" y="141149"/>
                  </a:lnTo>
                  <a:lnTo>
                    <a:pt x="275103" y="185762"/>
                  </a:lnTo>
                  <a:lnTo>
                    <a:pt x="255065" y="224508"/>
                  </a:lnTo>
                  <a:lnTo>
                    <a:pt x="224510" y="255064"/>
                  </a:lnTo>
                  <a:lnTo>
                    <a:pt x="185763" y="275103"/>
                  </a:lnTo>
                  <a:lnTo>
                    <a:pt x="141149" y="282299"/>
                  </a:lnTo>
                  <a:close/>
                </a:path>
              </a:pathLst>
            </a:custGeom>
            <a:solidFill>
              <a:srgbClr val="C8D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69698" y="2309970"/>
              <a:ext cx="1772285" cy="786130"/>
            </a:xfrm>
            <a:custGeom>
              <a:avLst/>
              <a:gdLst/>
              <a:ahLst/>
              <a:cxnLst/>
              <a:rect l="l" t="t" r="r" b="b"/>
              <a:pathLst>
                <a:path w="1772285" h="786130">
                  <a:moveTo>
                    <a:pt x="1489496" y="386699"/>
                  </a:moveTo>
                  <a:lnTo>
                    <a:pt x="1496692" y="342086"/>
                  </a:lnTo>
                  <a:lnTo>
                    <a:pt x="1516730" y="303340"/>
                  </a:lnTo>
                  <a:lnTo>
                    <a:pt x="1547285" y="272784"/>
                  </a:lnTo>
                  <a:lnTo>
                    <a:pt x="1586032" y="252745"/>
                  </a:lnTo>
                  <a:lnTo>
                    <a:pt x="1630646" y="245549"/>
                  </a:lnTo>
                  <a:lnTo>
                    <a:pt x="1684661" y="256296"/>
                  </a:lnTo>
                  <a:lnTo>
                    <a:pt x="1730446" y="286899"/>
                  </a:lnTo>
                  <a:lnTo>
                    <a:pt x="1761049" y="332693"/>
                  </a:lnTo>
                  <a:lnTo>
                    <a:pt x="1771796" y="386699"/>
                  </a:lnTo>
                  <a:lnTo>
                    <a:pt x="1764600" y="431311"/>
                  </a:lnTo>
                  <a:lnTo>
                    <a:pt x="1744562" y="470058"/>
                  </a:lnTo>
                  <a:lnTo>
                    <a:pt x="1714007" y="500613"/>
                  </a:lnTo>
                  <a:lnTo>
                    <a:pt x="1675260" y="520652"/>
                  </a:lnTo>
                  <a:lnTo>
                    <a:pt x="1630646" y="527848"/>
                  </a:lnTo>
                  <a:lnTo>
                    <a:pt x="1586032" y="520652"/>
                  </a:lnTo>
                  <a:lnTo>
                    <a:pt x="1547285" y="500613"/>
                  </a:lnTo>
                  <a:lnTo>
                    <a:pt x="1516730" y="470058"/>
                  </a:lnTo>
                  <a:lnTo>
                    <a:pt x="1496692" y="431311"/>
                  </a:lnTo>
                  <a:lnTo>
                    <a:pt x="1489496" y="386699"/>
                  </a:lnTo>
                  <a:close/>
                </a:path>
                <a:path w="1772285" h="786130">
                  <a:moveTo>
                    <a:pt x="0" y="785698"/>
                  </a:moveTo>
                  <a:lnTo>
                    <a:pt x="1489496" y="386699"/>
                  </a:lnTo>
                </a:path>
                <a:path w="1772285" h="786130">
                  <a:moveTo>
                    <a:pt x="19499" y="149399"/>
                  </a:moveTo>
                  <a:lnTo>
                    <a:pt x="1489496" y="386699"/>
                  </a:lnTo>
                </a:path>
                <a:path w="1772285" h="786130">
                  <a:moveTo>
                    <a:pt x="155699" y="0"/>
                  </a:moveTo>
                  <a:lnTo>
                    <a:pt x="1489496" y="386699"/>
                  </a:lnTo>
                </a:path>
                <a:path w="1772285" h="786130">
                  <a:moveTo>
                    <a:pt x="181799" y="636298"/>
                  </a:moveTo>
                  <a:lnTo>
                    <a:pt x="1489496" y="386699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46424" y="2060948"/>
              <a:ext cx="213360" cy="2014855"/>
            </a:xfrm>
            <a:custGeom>
              <a:avLst/>
              <a:gdLst/>
              <a:ahLst/>
              <a:cxnLst/>
              <a:rect l="l" t="t" r="r" b="b"/>
              <a:pathLst>
                <a:path w="213359" h="2014854">
                  <a:moveTo>
                    <a:pt x="213172" y="2014668"/>
                  </a:moveTo>
                  <a:lnTo>
                    <a:pt x="0" y="2014668"/>
                  </a:lnTo>
                  <a:lnTo>
                    <a:pt x="0" y="0"/>
                  </a:lnTo>
                  <a:lnTo>
                    <a:pt x="213172" y="0"/>
                  </a:lnTo>
                  <a:lnTo>
                    <a:pt x="213172" y="2014668"/>
                  </a:lnTo>
                  <a:close/>
                </a:path>
              </a:pathLst>
            </a:custGeom>
            <a:solidFill>
              <a:srgbClr val="F4CCCC">
                <a:alpha val="5191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9596" y="1317722"/>
              <a:ext cx="743585" cy="2758440"/>
            </a:xfrm>
            <a:custGeom>
              <a:avLst/>
              <a:gdLst/>
              <a:ahLst/>
              <a:cxnLst/>
              <a:rect l="l" t="t" r="r" b="b"/>
              <a:pathLst>
                <a:path w="743585" h="2758440">
                  <a:moveTo>
                    <a:pt x="0" y="2757894"/>
                  </a:moveTo>
                  <a:lnTo>
                    <a:pt x="0" y="743226"/>
                  </a:lnTo>
                  <a:lnTo>
                    <a:pt x="743226" y="0"/>
                  </a:lnTo>
                  <a:lnTo>
                    <a:pt x="743226" y="2014670"/>
                  </a:lnTo>
                  <a:lnTo>
                    <a:pt x="0" y="2757894"/>
                  </a:lnTo>
                  <a:close/>
                </a:path>
              </a:pathLst>
            </a:custGeom>
            <a:solidFill>
              <a:srgbClr val="C3A3A3">
                <a:alpha val="5191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46424" y="1317722"/>
              <a:ext cx="956944" cy="743585"/>
            </a:xfrm>
            <a:custGeom>
              <a:avLst/>
              <a:gdLst/>
              <a:ahLst/>
              <a:cxnLst/>
              <a:rect l="l" t="t" r="r" b="b"/>
              <a:pathLst>
                <a:path w="956944" h="743585">
                  <a:moveTo>
                    <a:pt x="213172" y="743226"/>
                  </a:moveTo>
                  <a:lnTo>
                    <a:pt x="0" y="743226"/>
                  </a:lnTo>
                  <a:lnTo>
                    <a:pt x="743226" y="0"/>
                  </a:lnTo>
                  <a:lnTo>
                    <a:pt x="956398" y="0"/>
                  </a:lnTo>
                  <a:lnTo>
                    <a:pt x="213172" y="743226"/>
                  </a:lnTo>
                  <a:close/>
                </a:path>
              </a:pathLst>
            </a:custGeom>
            <a:solidFill>
              <a:srgbClr val="F6D6D6">
                <a:alpha val="5191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46424" y="1317722"/>
              <a:ext cx="956944" cy="2758440"/>
            </a:xfrm>
            <a:custGeom>
              <a:avLst/>
              <a:gdLst/>
              <a:ahLst/>
              <a:cxnLst/>
              <a:rect l="l" t="t" r="r" b="b"/>
              <a:pathLst>
                <a:path w="956944" h="2758440">
                  <a:moveTo>
                    <a:pt x="0" y="743226"/>
                  </a:moveTo>
                  <a:lnTo>
                    <a:pt x="743226" y="0"/>
                  </a:lnTo>
                  <a:lnTo>
                    <a:pt x="956398" y="0"/>
                  </a:lnTo>
                  <a:lnTo>
                    <a:pt x="956398" y="2014670"/>
                  </a:lnTo>
                  <a:lnTo>
                    <a:pt x="213172" y="2757894"/>
                  </a:lnTo>
                  <a:lnTo>
                    <a:pt x="0" y="2757894"/>
                  </a:lnTo>
                  <a:lnTo>
                    <a:pt x="0" y="743226"/>
                  </a:lnTo>
                  <a:close/>
                </a:path>
                <a:path w="956944" h="2758440">
                  <a:moveTo>
                    <a:pt x="0" y="743226"/>
                  </a:moveTo>
                  <a:lnTo>
                    <a:pt x="213172" y="743226"/>
                  </a:lnTo>
                  <a:lnTo>
                    <a:pt x="956398" y="0"/>
                  </a:lnTo>
                </a:path>
                <a:path w="956944" h="2758440">
                  <a:moveTo>
                    <a:pt x="213172" y="743226"/>
                  </a:moveTo>
                  <a:lnTo>
                    <a:pt x="213172" y="2757894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1296375" y="956180"/>
            <a:ext cx="3373120" cy="952500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1293495" marR="5080">
              <a:lnSpc>
                <a:spcPts val="2850"/>
              </a:lnSpc>
              <a:spcBef>
                <a:spcPts val="219"/>
              </a:spcBef>
            </a:pP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32x32x3</a:t>
            </a:r>
            <a:r>
              <a:rPr sz="2400" spc="-1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Arial"/>
                <a:cs typeface="Arial"/>
              </a:rPr>
              <a:t>image </a:t>
            </a:r>
            <a:r>
              <a:rPr sz="2400" dirty="0">
                <a:solidFill>
                  <a:srgbClr val="0000FF"/>
                </a:solidFill>
                <a:latin typeface="Arial"/>
                <a:cs typeface="Arial"/>
              </a:rPr>
              <a:t>5x5x3</a:t>
            </a:r>
            <a:r>
              <a:rPr sz="2400" spc="-9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0000FF"/>
                </a:solidFill>
                <a:latin typeface="Arial"/>
                <a:cs typeface="Arial"/>
              </a:rPr>
              <a:t>filter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ts val="1475"/>
              </a:lnSpc>
            </a:pPr>
            <a:r>
              <a:rPr sz="1800" spc="-25" dirty="0">
                <a:latin typeface="Arial"/>
                <a:cs typeface="Arial"/>
              </a:rPr>
              <a:t>32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1070412" y="1132360"/>
            <a:ext cx="1395730" cy="1032510"/>
            <a:chOff x="1070412" y="1132360"/>
            <a:chExt cx="1395730" cy="1032510"/>
          </a:xfrm>
        </p:grpSpPr>
        <p:sp>
          <p:nvSpPr>
            <p:cNvPr id="16" name="object 16"/>
            <p:cNvSpPr/>
            <p:nvPr/>
          </p:nvSpPr>
          <p:spPr>
            <a:xfrm>
              <a:off x="1428809" y="1137122"/>
              <a:ext cx="929005" cy="220345"/>
            </a:xfrm>
            <a:custGeom>
              <a:avLst/>
              <a:gdLst/>
              <a:ahLst/>
              <a:cxnLst/>
              <a:rect l="l" t="t" r="r" b="b"/>
              <a:pathLst>
                <a:path w="929005" h="220344">
                  <a:moveTo>
                    <a:pt x="928685" y="0"/>
                  </a:moveTo>
                  <a:lnTo>
                    <a:pt x="0" y="219929"/>
                  </a:lnTo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386747" y="1341742"/>
              <a:ext cx="45720" cy="31115"/>
            </a:xfrm>
            <a:custGeom>
              <a:avLst/>
              <a:gdLst/>
              <a:ahLst/>
              <a:cxnLst/>
              <a:rect l="l" t="t" r="r" b="b"/>
              <a:pathLst>
                <a:path w="45719" h="31115">
                  <a:moveTo>
                    <a:pt x="45687" y="30619"/>
                  </a:moveTo>
                  <a:lnTo>
                    <a:pt x="0" y="25269"/>
                  </a:lnTo>
                  <a:lnTo>
                    <a:pt x="38437" y="0"/>
                  </a:lnTo>
                  <a:lnTo>
                    <a:pt x="45687" y="30619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386747" y="1341742"/>
              <a:ext cx="45720" cy="31115"/>
            </a:xfrm>
            <a:custGeom>
              <a:avLst/>
              <a:gdLst/>
              <a:ahLst/>
              <a:cxnLst/>
              <a:rect l="l" t="t" r="r" b="b"/>
              <a:pathLst>
                <a:path w="45719" h="31115">
                  <a:moveTo>
                    <a:pt x="38437" y="0"/>
                  </a:moveTo>
                  <a:lnTo>
                    <a:pt x="0" y="25269"/>
                  </a:lnTo>
                  <a:lnTo>
                    <a:pt x="45687" y="30619"/>
                  </a:lnTo>
                  <a:lnTo>
                    <a:pt x="38437" y="0"/>
                  </a:lnTo>
                  <a:close/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115462" y="1620646"/>
              <a:ext cx="1346200" cy="523240"/>
            </a:xfrm>
            <a:custGeom>
              <a:avLst/>
              <a:gdLst/>
              <a:ahLst/>
              <a:cxnLst/>
              <a:rect l="l" t="t" r="r" b="b"/>
              <a:pathLst>
                <a:path w="1346200" h="523239">
                  <a:moveTo>
                    <a:pt x="1345632" y="0"/>
                  </a:moveTo>
                  <a:lnTo>
                    <a:pt x="0" y="523188"/>
                  </a:lnTo>
                </a:path>
              </a:pathLst>
            </a:custGeom>
            <a:ln w="9524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075175" y="2129173"/>
              <a:ext cx="46355" cy="30480"/>
            </a:xfrm>
            <a:custGeom>
              <a:avLst/>
              <a:gdLst/>
              <a:ahLst/>
              <a:cxnLst/>
              <a:rect l="l" t="t" r="r" b="b"/>
              <a:pathLst>
                <a:path w="46355" h="30480">
                  <a:moveTo>
                    <a:pt x="0" y="30327"/>
                  </a:moveTo>
                  <a:lnTo>
                    <a:pt x="34587" y="0"/>
                  </a:lnTo>
                  <a:lnTo>
                    <a:pt x="45989" y="29324"/>
                  </a:lnTo>
                  <a:lnTo>
                    <a:pt x="0" y="30327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075175" y="2129173"/>
              <a:ext cx="46355" cy="30480"/>
            </a:xfrm>
            <a:custGeom>
              <a:avLst/>
              <a:gdLst/>
              <a:ahLst/>
              <a:cxnLst/>
              <a:rect l="l" t="t" r="r" b="b"/>
              <a:pathLst>
                <a:path w="46355" h="30480">
                  <a:moveTo>
                    <a:pt x="34587" y="0"/>
                  </a:moveTo>
                  <a:lnTo>
                    <a:pt x="0" y="30327"/>
                  </a:lnTo>
                  <a:lnTo>
                    <a:pt x="45989" y="29324"/>
                  </a:lnTo>
                  <a:lnTo>
                    <a:pt x="34587" y="0"/>
                  </a:lnTo>
                  <a:close/>
                </a:path>
              </a:pathLst>
            </a:custGeom>
            <a:ln w="9524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2" name="object 22"/>
          <p:cNvGrpSpPr/>
          <p:nvPr/>
        </p:nvGrpSpPr>
        <p:grpSpPr>
          <a:xfrm>
            <a:off x="2601057" y="3000931"/>
            <a:ext cx="288290" cy="524510"/>
            <a:chOff x="2601057" y="3000931"/>
            <a:chExt cx="288290" cy="524510"/>
          </a:xfrm>
        </p:grpSpPr>
        <p:sp>
          <p:nvSpPr>
            <p:cNvPr id="23" name="object 23"/>
            <p:cNvSpPr/>
            <p:nvPr/>
          </p:nvSpPr>
          <p:spPr>
            <a:xfrm>
              <a:off x="2626394" y="3043718"/>
              <a:ext cx="257810" cy="476884"/>
            </a:xfrm>
            <a:custGeom>
              <a:avLst/>
              <a:gdLst/>
              <a:ahLst/>
              <a:cxnLst/>
              <a:rect l="l" t="t" r="r" b="b"/>
              <a:pathLst>
                <a:path w="257810" h="476885">
                  <a:moveTo>
                    <a:pt x="257799" y="476524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605819" y="3005693"/>
              <a:ext cx="34925" cy="45720"/>
            </a:xfrm>
            <a:custGeom>
              <a:avLst/>
              <a:gdLst/>
              <a:ahLst/>
              <a:cxnLst/>
              <a:rect l="l" t="t" r="r" b="b"/>
              <a:pathLst>
                <a:path w="34925" h="45719">
                  <a:moveTo>
                    <a:pt x="6724" y="45499"/>
                  </a:moveTo>
                  <a:lnTo>
                    <a:pt x="0" y="0"/>
                  </a:lnTo>
                  <a:lnTo>
                    <a:pt x="34399" y="30524"/>
                  </a:lnTo>
                  <a:lnTo>
                    <a:pt x="6724" y="4549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605819" y="3005693"/>
              <a:ext cx="34925" cy="45720"/>
            </a:xfrm>
            <a:custGeom>
              <a:avLst/>
              <a:gdLst/>
              <a:ahLst/>
              <a:cxnLst/>
              <a:rect l="l" t="t" r="r" b="b"/>
              <a:pathLst>
                <a:path w="34925" h="45719">
                  <a:moveTo>
                    <a:pt x="34399" y="30524"/>
                  </a:moveTo>
                  <a:lnTo>
                    <a:pt x="0" y="0"/>
                  </a:lnTo>
                  <a:lnTo>
                    <a:pt x="6724" y="45499"/>
                  </a:lnTo>
                  <a:lnTo>
                    <a:pt x="34399" y="30524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6" name="object 26"/>
          <p:cNvGrpSpPr/>
          <p:nvPr/>
        </p:nvGrpSpPr>
        <p:grpSpPr>
          <a:xfrm>
            <a:off x="5558826" y="1053147"/>
            <a:ext cx="3201035" cy="1834514"/>
            <a:chOff x="5558826" y="1053147"/>
            <a:chExt cx="3201035" cy="1834514"/>
          </a:xfrm>
        </p:grpSpPr>
        <p:pic>
          <p:nvPicPr>
            <p:cNvPr id="27" name="object 2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568363" y="1062672"/>
              <a:ext cx="3181793" cy="1815396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5563588" y="1057910"/>
              <a:ext cx="3191510" cy="1824989"/>
            </a:xfrm>
            <a:custGeom>
              <a:avLst/>
              <a:gdLst/>
              <a:ahLst/>
              <a:cxnLst/>
              <a:rect l="l" t="t" r="r" b="b"/>
              <a:pathLst>
                <a:path w="3191509" h="1824989">
                  <a:moveTo>
                    <a:pt x="0" y="0"/>
                  </a:moveTo>
                  <a:lnTo>
                    <a:pt x="3191343" y="0"/>
                  </a:lnTo>
                  <a:lnTo>
                    <a:pt x="3191343" y="1824933"/>
                  </a:lnTo>
                  <a:lnTo>
                    <a:pt x="0" y="1824933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5703736" y="2917174"/>
            <a:ext cx="2704465" cy="57594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>
              <a:lnSpc>
                <a:spcPct val="100699"/>
              </a:lnSpc>
              <a:spcBef>
                <a:spcPts val="85"/>
              </a:spcBef>
            </a:pPr>
            <a:r>
              <a:rPr sz="1800" dirty="0">
                <a:solidFill>
                  <a:srgbClr val="38751C"/>
                </a:solidFill>
                <a:latin typeface="Arial"/>
                <a:cs typeface="Arial"/>
              </a:rPr>
              <a:t>It’s</a:t>
            </a:r>
            <a:r>
              <a:rPr sz="1800" spc="-30" dirty="0">
                <a:solidFill>
                  <a:srgbClr val="38751C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8751C"/>
                </a:solidFill>
                <a:latin typeface="Arial"/>
                <a:cs typeface="Arial"/>
              </a:rPr>
              <a:t>just</a:t>
            </a:r>
            <a:r>
              <a:rPr sz="1800" spc="-15" dirty="0">
                <a:solidFill>
                  <a:srgbClr val="38751C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8751C"/>
                </a:solidFill>
                <a:latin typeface="Arial"/>
                <a:cs typeface="Arial"/>
              </a:rPr>
              <a:t>a</a:t>
            </a:r>
            <a:r>
              <a:rPr sz="1800" spc="-15" dirty="0">
                <a:solidFill>
                  <a:srgbClr val="38751C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8751C"/>
                </a:solidFill>
                <a:latin typeface="Arial"/>
                <a:cs typeface="Arial"/>
              </a:rPr>
              <a:t>neuron</a:t>
            </a:r>
            <a:r>
              <a:rPr sz="1800" spc="-15" dirty="0">
                <a:solidFill>
                  <a:srgbClr val="38751C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8751C"/>
                </a:solidFill>
                <a:latin typeface="Arial"/>
                <a:cs typeface="Arial"/>
              </a:rPr>
              <a:t>with</a:t>
            </a:r>
            <a:r>
              <a:rPr sz="1800" spc="-15" dirty="0">
                <a:solidFill>
                  <a:srgbClr val="38751C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38751C"/>
                </a:solidFill>
                <a:latin typeface="Arial"/>
                <a:cs typeface="Arial"/>
              </a:rPr>
              <a:t>local connectivity...</a:t>
            </a:r>
            <a:endParaRPr sz="18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939939" y="3418849"/>
            <a:ext cx="4213860" cy="11099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b="1" dirty="0">
                <a:latin typeface="Arial"/>
                <a:cs typeface="Arial"/>
              </a:rPr>
              <a:t>1</a:t>
            </a:r>
            <a:r>
              <a:rPr sz="1800" b="1" spc="-5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number:</a:t>
            </a:r>
            <a:endParaRPr sz="1800">
              <a:latin typeface="Arial"/>
              <a:cs typeface="Arial"/>
            </a:endParaRPr>
          </a:p>
          <a:p>
            <a:pPr marL="12700" marR="5080">
              <a:lnSpc>
                <a:spcPct val="100699"/>
              </a:lnSpc>
            </a:pPr>
            <a:r>
              <a:rPr sz="1800" dirty="0">
                <a:latin typeface="Arial"/>
                <a:cs typeface="Arial"/>
              </a:rPr>
              <a:t>the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result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of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taking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dot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product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between 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filter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and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this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part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of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image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dirty="0">
                <a:latin typeface="Arial"/>
                <a:cs typeface="Arial"/>
              </a:rPr>
              <a:t>(i.e.</a:t>
            </a:r>
            <a:r>
              <a:rPr sz="1800" spc="-3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5*5*3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=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75-</a:t>
            </a:r>
            <a:r>
              <a:rPr sz="1800" dirty="0">
                <a:latin typeface="Arial"/>
                <a:cs typeface="Arial"/>
              </a:rPr>
              <a:t>dimensional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dot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product)</a:t>
            </a:r>
            <a:endParaRPr sz="18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932073" y="3703256"/>
            <a:ext cx="280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25" dirty="0">
                <a:latin typeface="Arial"/>
                <a:cs typeface="Arial"/>
              </a:rPr>
              <a:t>32</a:t>
            </a:r>
            <a:endParaRPr sz="18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261462" y="4094885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0" dirty="0">
                <a:latin typeface="Arial"/>
                <a:cs typeface="Arial"/>
              </a:rPr>
              <a:t>3</a:t>
            </a:r>
            <a:endParaRPr sz="1800">
              <a:latin typeface="Arial"/>
              <a:cs typeface="Arial"/>
            </a:endParaRPr>
          </a:p>
        </p:txBody>
      </p:sp>
      <p:sp>
        <p:nvSpPr>
          <p:cNvPr id="37" name="object 10">
            <a:extLst>
              <a:ext uri="{FF2B5EF4-FFF2-40B4-BE49-F238E27FC236}">
                <a16:creationId xmlns:a16="http://schemas.microsoft.com/office/drawing/2014/main" id="{A5F96580-42F5-4B43-A6A7-E45219026CAE}"/>
              </a:ext>
            </a:extLst>
          </p:cNvPr>
          <p:cNvSpPr txBox="1">
            <a:spLocks noGrp="1"/>
          </p:cNvSpPr>
          <p:nvPr>
            <p:ph type="dt" sz="half" idx="4294967295"/>
          </p:nvPr>
        </p:nvSpPr>
        <p:spPr>
          <a:xfrm>
            <a:off x="145224" y="4740846"/>
            <a:ext cx="4699000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lang="en-US" altLang="zh-CN" spc="-10" dirty="0">
                <a:solidFill>
                  <a:schemeClr val="bg1"/>
                </a:solidFill>
              </a:rPr>
              <a:t>Convolutional</a:t>
            </a:r>
            <a:r>
              <a:rPr lang="zh-CN" altLang="en-US" spc="-10" dirty="0">
                <a:solidFill>
                  <a:schemeClr val="bg1"/>
                </a:solidFill>
              </a:rPr>
              <a:t> </a:t>
            </a:r>
            <a:r>
              <a:rPr lang="en-US" altLang="zh-CN" spc="-10" dirty="0">
                <a:solidFill>
                  <a:schemeClr val="bg1"/>
                </a:solidFill>
              </a:rPr>
              <a:t>Neural</a:t>
            </a:r>
            <a:r>
              <a:rPr lang="zh-CN" altLang="en-US" spc="-10" dirty="0">
                <a:solidFill>
                  <a:schemeClr val="bg1"/>
                </a:solidFill>
              </a:rPr>
              <a:t> </a:t>
            </a:r>
            <a:r>
              <a:rPr lang="en-US" altLang="zh-CN" spc="-10" dirty="0">
                <a:solidFill>
                  <a:schemeClr val="bg1"/>
                </a:solidFill>
              </a:rPr>
              <a:t>Networks</a:t>
            </a:r>
            <a:endParaRPr spc="-1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1037" rIns="0" bIns="0" rtlCol="0">
            <a:spAutoFit/>
          </a:bodyPr>
          <a:lstStyle/>
          <a:p>
            <a:pPr marL="201295">
              <a:lnSpc>
                <a:spcPct val="100000"/>
              </a:lnSpc>
              <a:spcBef>
                <a:spcPts val="100"/>
              </a:spcBef>
            </a:pPr>
            <a:r>
              <a:rPr sz="2400" dirty="0"/>
              <a:t>The</a:t>
            </a:r>
            <a:r>
              <a:rPr sz="2400" spc="-60" dirty="0"/>
              <a:t> </a:t>
            </a:r>
            <a:r>
              <a:rPr sz="2400" spc="-10" dirty="0"/>
              <a:t>brain/neuron</a:t>
            </a:r>
            <a:r>
              <a:rPr sz="2400" spc="-60" dirty="0"/>
              <a:t> </a:t>
            </a:r>
            <a:r>
              <a:rPr sz="2400" dirty="0"/>
              <a:t>view</a:t>
            </a:r>
            <a:r>
              <a:rPr sz="2400" spc="-60" dirty="0"/>
              <a:t> </a:t>
            </a:r>
            <a:r>
              <a:rPr sz="2400" dirty="0"/>
              <a:t>of</a:t>
            </a:r>
            <a:r>
              <a:rPr sz="2400" spc="-60" dirty="0"/>
              <a:t> </a:t>
            </a:r>
            <a:r>
              <a:rPr sz="2400" dirty="0"/>
              <a:t>CONV</a:t>
            </a:r>
            <a:r>
              <a:rPr sz="2400" spc="-60" dirty="0"/>
              <a:t> </a:t>
            </a:r>
            <a:r>
              <a:rPr sz="2400" spc="-10" dirty="0"/>
              <a:t>Layer</a:t>
            </a:r>
            <a:endParaRPr sz="2400"/>
          </a:p>
        </p:txBody>
      </p:sp>
      <p:grpSp>
        <p:nvGrpSpPr>
          <p:cNvPr id="3" name="object 3"/>
          <p:cNvGrpSpPr/>
          <p:nvPr/>
        </p:nvGrpSpPr>
        <p:grpSpPr>
          <a:xfrm>
            <a:off x="653423" y="2280195"/>
            <a:ext cx="1898014" cy="833119"/>
            <a:chOff x="653423" y="2280195"/>
            <a:chExt cx="1898014" cy="833119"/>
          </a:xfrm>
        </p:grpSpPr>
        <p:sp>
          <p:nvSpPr>
            <p:cNvPr id="4" name="object 4"/>
            <p:cNvSpPr/>
            <p:nvPr/>
          </p:nvSpPr>
          <p:spPr>
            <a:xfrm>
              <a:off x="662948" y="2440417"/>
              <a:ext cx="132080" cy="663575"/>
            </a:xfrm>
            <a:custGeom>
              <a:avLst/>
              <a:gdLst/>
              <a:ahLst/>
              <a:cxnLst/>
              <a:rect l="l" t="t" r="r" b="b"/>
              <a:pathLst>
                <a:path w="132079" h="663575">
                  <a:moveTo>
                    <a:pt x="131602" y="663201"/>
                  </a:moveTo>
                  <a:lnTo>
                    <a:pt x="0" y="663201"/>
                  </a:lnTo>
                  <a:lnTo>
                    <a:pt x="0" y="0"/>
                  </a:lnTo>
                  <a:lnTo>
                    <a:pt x="131602" y="0"/>
                  </a:lnTo>
                  <a:lnTo>
                    <a:pt x="131602" y="663201"/>
                  </a:lnTo>
                  <a:close/>
                </a:path>
              </a:pathLst>
            </a:custGeom>
            <a:solidFill>
              <a:srgbClr val="C8D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94550" y="2289720"/>
              <a:ext cx="151130" cy="814069"/>
            </a:xfrm>
            <a:custGeom>
              <a:avLst/>
              <a:gdLst/>
              <a:ahLst/>
              <a:cxnLst/>
              <a:rect l="l" t="t" r="r" b="b"/>
              <a:pathLst>
                <a:path w="151130" h="814069">
                  <a:moveTo>
                    <a:pt x="0" y="813898"/>
                  </a:moveTo>
                  <a:lnTo>
                    <a:pt x="0" y="150697"/>
                  </a:lnTo>
                  <a:lnTo>
                    <a:pt x="150697" y="0"/>
                  </a:lnTo>
                  <a:lnTo>
                    <a:pt x="150697" y="663198"/>
                  </a:lnTo>
                  <a:lnTo>
                    <a:pt x="0" y="813898"/>
                  </a:lnTo>
                  <a:close/>
                </a:path>
              </a:pathLst>
            </a:custGeom>
            <a:solidFill>
              <a:srgbClr val="A0AE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62948" y="2289720"/>
              <a:ext cx="282575" cy="151130"/>
            </a:xfrm>
            <a:custGeom>
              <a:avLst/>
              <a:gdLst/>
              <a:ahLst/>
              <a:cxnLst/>
              <a:rect l="l" t="t" r="r" b="b"/>
              <a:pathLst>
                <a:path w="282575" h="151130">
                  <a:moveTo>
                    <a:pt x="131602" y="150697"/>
                  </a:moveTo>
                  <a:lnTo>
                    <a:pt x="0" y="150697"/>
                  </a:lnTo>
                  <a:lnTo>
                    <a:pt x="150697" y="0"/>
                  </a:lnTo>
                  <a:lnTo>
                    <a:pt x="282299" y="0"/>
                  </a:lnTo>
                  <a:lnTo>
                    <a:pt x="131602" y="150697"/>
                  </a:lnTo>
                  <a:close/>
                </a:path>
              </a:pathLst>
            </a:custGeom>
            <a:solidFill>
              <a:srgbClr val="D3E1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62948" y="2289720"/>
              <a:ext cx="282575" cy="814069"/>
            </a:xfrm>
            <a:custGeom>
              <a:avLst/>
              <a:gdLst/>
              <a:ahLst/>
              <a:cxnLst/>
              <a:rect l="l" t="t" r="r" b="b"/>
              <a:pathLst>
                <a:path w="282575" h="814069">
                  <a:moveTo>
                    <a:pt x="0" y="150697"/>
                  </a:moveTo>
                  <a:lnTo>
                    <a:pt x="150697" y="0"/>
                  </a:lnTo>
                  <a:lnTo>
                    <a:pt x="282299" y="0"/>
                  </a:lnTo>
                  <a:lnTo>
                    <a:pt x="282299" y="663198"/>
                  </a:lnTo>
                  <a:lnTo>
                    <a:pt x="131602" y="813898"/>
                  </a:lnTo>
                  <a:lnTo>
                    <a:pt x="0" y="813898"/>
                  </a:lnTo>
                  <a:lnTo>
                    <a:pt x="0" y="150697"/>
                  </a:lnTo>
                  <a:close/>
                </a:path>
                <a:path w="282575" h="814069">
                  <a:moveTo>
                    <a:pt x="0" y="150697"/>
                  </a:moveTo>
                  <a:lnTo>
                    <a:pt x="131602" y="150697"/>
                  </a:lnTo>
                  <a:lnTo>
                    <a:pt x="282299" y="0"/>
                  </a:lnTo>
                </a:path>
                <a:path w="282575" h="814069">
                  <a:moveTo>
                    <a:pt x="131602" y="150697"/>
                  </a:moveTo>
                  <a:lnTo>
                    <a:pt x="131602" y="813898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259195" y="2555519"/>
              <a:ext cx="282575" cy="282575"/>
            </a:xfrm>
            <a:custGeom>
              <a:avLst/>
              <a:gdLst/>
              <a:ahLst/>
              <a:cxnLst/>
              <a:rect l="l" t="t" r="r" b="b"/>
              <a:pathLst>
                <a:path w="282575" h="282575">
                  <a:moveTo>
                    <a:pt x="141149" y="282299"/>
                  </a:moveTo>
                  <a:lnTo>
                    <a:pt x="96535" y="275103"/>
                  </a:lnTo>
                  <a:lnTo>
                    <a:pt x="57788" y="255064"/>
                  </a:lnTo>
                  <a:lnTo>
                    <a:pt x="27233" y="224508"/>
                  </a:lnTo>
                  <a:lnTo>
                    <a:pt x="7195" y="185762"/>
                  </a:lnTo>
                  <a:lnTo>
                    <a:pt x="0" y="141149"/>
                  </a:lnTo>
                  <a:lnTo>
                    <a:pt x="7195" y="96537"/>
                  </a:lnTo>
                  <a:lnTo>
                    <a:pt x="27233" y="57790"/>
                  </a:lnTo>
                  <a:lnTo>
                    <a:pt x="57788" y="27235"/>
                  </a:lnTo>
                  <a:lnTo>
                    <a:pt x="96535" y="7196"/>
                  </a:lnTo>
                  <a:lnTo>
                    <a:pt x="141149" y="0"/>
                  </a:lnTo>
                  <a:lnTo>
                    <a:pt x="168815" y="2737"/>
                  </a:lnTo>
                  <a:lnTo>
                    <a:pt x="219456" y="23719"/>
                  </a:lnTo>
                  <a:lnTo>
                    <a:pt x="258579" y="62849"/>
                  </a:lnTo>
                  <a:lnTo>
                    <a:pt x="279561" y="113490"/>
                  </a:lnTo>
                  <a:lnTo>
                    <a:pt x="282299" y="141149"/>
                  </a:lnTo>
                  <a:lnTo>
                    <a:pt x="275103" y="185762"/>
                  </a:lnTo>
                  <a:lnTo>
                    <a:pt x="255065" y="224508"/>
                  </a:lnTo>
                  <a:lnTo>
                    <a:pt x="224510" y="255064"/>
                  </a:lnTo>
                  <a:lnTo>
                    <a:pt x="185763" y="275103"/>
                  </a:lnTo>
                  <a:lnTo>
                    <a:pt x="141149" y="282299"/>
                  </a:lnTo>
                  <a:close/>
                </a:path>
              </a:pathLst>
            </a:custGeom>
            <a:solidFill>
              <a:srgbClr val="C8D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69698" y="2309970"/>
              <a:ext cx="1772285" cy="786130"/>
            </a:xfrm>
            <a:custGeom>
              <a:avLst/>
              <a:gdLst/>
              <a:ahLst/>
              <a:cxnLst/>
              <a:rect l="l" t="t" r="r" b="b"/>
              <a:pathLst>
                <a:path w="1772285" h="786130">
                  <a:moveTo>
                    <a:pt x="1489496" y="386699"/>
                  </a:moveTo>
                  <a:lnTo>
                    <a:pt x="1496692" y="342086"/>
                  </a:lnTo>
                  <a:lnTo>
                    <a:pt x="1516730" y="303340"/>
                  </a:lnTo>
                  <a:lnTo>
                    <a:pt x="1547285" y="272784"/>
                  </a:lnTo>
                  <a:lnTo>
                    <a:pt x="1586032" y="252745"/>
                  </a:lnTo>
                  <a:lnTo>
                    <a:pt x="1630646" y="245549"/>
                  </a:lnTo>
                  <a:lnTo>
                    <a:pt x="1684661" y="256296"/>
                  </a:lnTo>
                  <a:lnTo>
                    <a:pt x="1730446" y="286899"/>
                  </a:lnTo>
                  <a:lnTo>
                    <a:pt x="1761049" y="332693"/>
                  </a:lnTo>
                  <a:lnTo>
                    <a:pt x="1771796" y="386699"/>
                  </a:lnTo>
                  <a:lnTo>
                    <a:pt x="1764600" y="431311"/>
                  </a:lnTo>
                  <a:lnTo>
                    <a:pt x="1744562" y="470058"/>
                  </a:lnTo>
                  <a:lnTo>
                    <a:pt x="1714007" y="500613"/>
                  </a:lnTo>
                  <a:lnTo>
                    <a:pt x="1675260" y="520652"/>
                  </a:lnTo>
                  <a:lnTo>
                    <a:pt x="1630646" y="527848"/>
                  </a:lnTo>
                  <a:lnTo>
                    <a:pt x="1586032" y="520652"/>
                  </a:lnTo>
                  <a:lnTo>
                    <a:pt x="1547285" y="500613"/>
                  </a:lnTo>
                  <a:lnTo>
                    <a:pt x="1516730" y="470058"/>
                  </a:lnTo>
                  <a:lnTo>
                    <a:pt x="1496692" y="431311"/>
                  </a:lnTo>
                  <a:lnTo>
                    <a:pt x="1489496" y="386699"/>
                  </a:lnTo>
                  <a:close/>
                </a:path>
                <a:path w="1772285" h="786130">
                  <a:moveTo>
                    <a:pt x="0" y="785698"/>
                  </a:moveTo>
                  <a:lnTo>
                    <a:pt x="1489496" y="386699"/>
                  </a:lnTo>
                </a:path>
                <a:path w="1772285" h="786130">
                  <a:moveTo>
                    <a:pt x="19499" y="149399"/>
                  </a:moveTo>
                  <a:lnTo>
                    <a:pt x="1489496" y="386699"/>
                  </a:lnTo>
                </a:path>
                <a:path w="1772285" h="786130">
                  <a:moveTo>
                    <a:pt x="155699" y="0"/>
                  </a:moveTo>
                  <a:lnTo>
                    <a:pt x="1489496" y="386699"/>
                  </a:lnTo>
                </a:path>
                <a:path w="1772285" h="786130">
                  <a:moveTo>
                    <a:pt x="181799" y="636298"/>
                  </a:moveTo>
                  <a:lnTo>
                    <a:pt x="1489496" y="386699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932073" y="3681602"/>
            <a:ext cx="280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Arial"/>
                <a:cs typeface="Arial"/>
              </a:rPr>
              <a:t>32</a:t>
            </a:r>
            <a:endParaRPr sz="18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296375" y="1608423"/>
            <a:ext cx="280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Arial"/>
                <a:cs typeface="Arial"/>
              </a:rPr>
              <a:t>32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61462" y="4073231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Arial"/>
                <a:cs typeface="Arial"/>
              </a:rPr>
              <a:t>3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236899" y="1308197"/>
            <a:ext cx="2529840" cy="2777490"/>
            <a:chOff x="236899" y="1308197"/>
            <a:chExt cx="2529840" cy="2777490"/>
          </a:xfrm>
        </p:grpSpPr>
        <p:sp>
          <p:nvSpPr>
            <p:cNvPr id="14" name="object 14"/>
            <p:cNvSpPr/>
            <p:nvPr/>
          </p:nvSpPr>
          <p:spPr>
            <a:xfrm>
              <a:off x="246424" y="2060948"/>
              <a:ext cx="213360" cy="2014855"/>
            </a:xfrm>
            <a:custGeom>
              <a:avLst/>
              <a:gdLst/>
              <a:ahLst/>
              <a:cxnLst/>
              <a:rect l="l" t="t" r="r" b="b"/>
              <a:pathLst>
                <a:path w="213359" h="2014854">
                  <a:moveTo>
                    <a:pt x="213172" y="2014668"/>
                  </a:moveTo>
                  <a:lnTo>
                    <a:pt x="0" y="2014668"/>
                  </a:lnTo>
                  <a:lnTo>
                    <a:pt x="0" y="0"/>
                  </a:lnTo>
                  <a:lnTo>
                    <a:pt x="213172" y="0"/>
                  </a:lnTo>
                  <a:lnTo>
                    <a:pt x="213172" y="2014668"/>
                  </a:lnTo>
                  <a:close/>
                </a:path>
              </a:pathLst>
            </a:custGeom>
            <a:solidFill>
              <a:srgbClr val="F4CCCC">
                <a:alpha val="5191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59596" y="1317722"/>
              <a:ext cx="743585" cy="2758440"/>
            </a:xfrm>
            <a:custGeom>
              <a:avLst/>
              <a:gdLst/>
              <a:ahLst/>
              <a:cxnLst/>
              <a:rect l="l" t="t" r="r" b="b"/>
              <a:pathLst>
                <a:path w="743585" h="2758440">
                  <a:moveTo>
                    <a:pt x="0" y="2757894"/>
                  </a:moveTo>
                  <a:lnTo>
                    <a:pt x="0" y="743226"/>
                  </a:lnTo>
                  <a:lnTo>
                    <a:pt x="743226" y="0"/>
                  </a:lnTo>
                  <a:lnTo>
                    <a:pt x="743226" y="2014670"/>
                  </a:lnTo>
                  <a:lnTo>
                    <a:pt x="0" y="2757894"/>
                  </a:lnTo>
                  <a:close/>
                </a:path>
              </a:pathLst>
            </a:custGeom>
            <a:solidFill>
              <a:srgbClr val="C3A3A3">
                <a:alpha val="5191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46424" y="1317722"/>
              <a:ext cx="956944" cy="743585"/>
            </a:xfrm>
            <a:custGeom>
              <a:avLst/>
              <a:gdLst/>
              <a:ahLst/>
              <a:cxnLst/>
              <a:rect l="l" t="t" r="r" b="b"/>
              <a:pathLst>
                <a:path w="956944" h="743585">
                  <a:moveTo>
                    <a:pt x="213172" y="743226"/>
                  </a:moveTo>
                  <a:lnTo>
                    <a:pt x="0" y="743226"/>
                  </a:lnTo>
                  <a:lnTo>
                    <a:pt x="743226" y="0"/>
                  </a:lnTo>
                  <a:lnTo>
                    <a:pt x="956398" y="0"/>
                  </a:lnTo>
                  <a:lnTo>
                    <a:pt x="213172" y="743226"/>
                  </a:lnTo>
                  <a:close/>
                </a:path>
              </a:pathLst>
            </a:custGeom>
            <a:solidFill>
              <a:srgbClr val="F6D6D6">
                <a:alpha val="5191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46424" y="1317722"/>
              <a:ext cx="956944" cy="2758440"/>
            </a:xfrm>
            <a:custGeom>
              <a:avLst/>
              <a:gdLst/>
              <a:ahLst/>
              <a:cxnLst/>
              <a:rect l="l" t="t" r="r" b="b"/>
              <a:pathLst>
                <a:path w="956944" h="2758440">
                  <a:moveTo>
                    <a:pt x="0" y="743226"/>
                  </a:moveTo>
                  <a:lnTo>
                    <a:pt x="743226" y="0"/>
                  </a:lnTo>
                  <a:lnTo>
                    <a:pt x="956398" y="0"/>
                  </a:lnTo>
                  <a:lnTo>
                    <a:pt x="956398" y="2014670"/>
                  </a:lnTo>
                  <a:lnTo>
                    <a:pt x="213172" y="2757894"/>
                  </a:lnTo>
                  <a:lnTo>
                    <a:pt x="0" y="2757894"/>
                  </a:lnTo>
                  <a:lnTo>
                    <a:pt x="0" y="743226"/>
                  </a:lnTo>
                  <a:close/>
                </a:path>
                <a:path w="956944" h="2758440">
                  <a:moveTo>
                    <a:pt x="0" y="743226"/>
                  </a:moveTo>
                  <a:lnTo>
                    <a:pt x="213172" y="743226"/>
                  </a:lnTo>
                  <a:lnTo>
                    <a:pt x="956398" y="0"/>
                  </a:lnTo>
                </a:path>
                <a:path w="956944" h="2758440">
                  <a:moveTo>
                    <a:pt x="213172" y="743226"/>
                  </a:moveTo>
                  <a:lnTo>
                    <a:pt x="213172" y="2757894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043645" y="1872111"/>
              <a:ext cx="159385" cy="2204085"/>
            </a:xfrm>
            <a:custGeom>
              <a:avLst/>
              <a:gdLst/>
              <a:ahLst/>
              <a:cxnLst/>
              <a:rect l="l" t="t" r="r" b="b"/>
              <a:pathLst>
                <a:path w="159385" h="2204085">
                  <a:moveTo>
                    <a:pt x="159009" y="2203505"/>
                  </a:moveTo>
                  <a:lnTo>
                    <a:pt x="0" y="2203505"/>
                  </a:lnTo>
                  <a:lnTo>
                    <a:pt x="0" y="0"/>
                  </a:lnTo>
                  <a:lnTo>
                    <a:pt x="159009" y="0"/>
                  </a:lnTo>
                  <a:lnTo>
                    <a:pt x="159009" y="2203505"/>
                  </a:lnTo>
                  <a:close/>
                </a:path>
              </a:pathLst>
            </a:custGeom>
            <a:solidFill>
              <a:srgbClr val="C8DAF7">
                <a:alpha val="4268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202655" y="1317722"/>
              <a:ext cx="554990" cy="2758440"/>
            </a:xfrm>
            <a:custGeom>
              <a:avLst/>
              <a:gdLst/>
              <a:ahLst/>
              <a:cxnLst/>
              <a:rect l="l" t="t" r="r" b="b"/>
              <a:pathLst>
                <a:path w="554989" h="2758440">
                  <a:moveTo>
                    <a:pt x="0" y="2757894"/>
                  </a:moveTo>
                  <a:lnTo>
                    <a:pt x="0" y="554388"/>
                  </a:lnTo>
                  <a:lnTo>
                    <a:pt x="554388" y="0"/>
                  </a:lnTo>
                  <a:lnTo>
                    <a:pt x="554388" y="2203495"/>
                  </a:lnTo>
                  <a:lnTo>
                    <a:pt x="0" y="2757894"/>
                  </a:lnTo>
                  <a:close/>
                </a:path>
              </a:pathLst>
            </a:custGeom>
            <a:solidFill>
              <a:srgbClr val="A0AEC6">
                <a:alpha val="4268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043645" y="1317722"/>
              <a:ext cx="713740" cy="554990"/>
            </a:xfrm>
            <a:custGeom>
              <a:avLst/>
              <a:gdLst/>
              <a:ahLst/>
              <a:cxnLst/>
              <a:rect l="l" t="t" r="r" b="b"/>
              <a:pathLst>
                <a:path w="713739" h="554989">
                  <a:moveTo>
                    <a:pt x="159009" y="554388"/>
                  </a:moveTo>
                  <a:lnTo>
                    <a:pt x="0" y="554388"/>
                  </a:lnTo>
                  <a:lnTo>
                    <a:pt x="554398" y="0"/>
                  </a:lnTo>
                  <a:lnTo>
                    <a:pt x="713398" y="0"/>
                  </a:lnTo>
                  <a:lnTo>
                    <a:pt x="159009" y="554388"/>
                  </a:lnTo>
                  <a:close/>
                </a:path>
              </a:pathLst>
            </a:custGeom>
            <a:solidFill>
              <a:srgbClr val="D3E1F9">
                <a:alpha val="4268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043645" y="1317722"/>
              <a:ext cx="713740" cy="2758440"/>
            </a:xfrm>
            <a:custGeom>
              <a:avLst/>
              <a:gdLst/>
              <a:ahLst/>
              <a:cxnLst/>
              <a:rect l="l" t="t" r="r" b="b"/>
              <a:pathLst>
                <a:path w="713739" h="2758440">
                  <a:moveTo>
                    <a:pt x="0" y="554388"/>
                  </a:moveTo>
                  <a:lnTo>
                    <a:pt x="554398" y="0"/>
                  </a:lnTo>
                  <a:lnTo>
                    <a:pt x="713398" y="0"/>
                  </a:lnTo>
                  <a:lnTo>
                    <a:pt x="713398" y="2203495"/>
                  </a:lnTo>
                  <a:lnTo>
                    <a:pt x="159009" y="2757894"/>
                  </a:lnTo>
                  <a:lnTo>
                    <a:pt x="0" y="2757894"/>
                  </a:lnTo>
                  <a:lnTo>
                    <a:pt x="0" y="554388"/>
                  </a:lnTo>
                  <a:close/>
                </a:path>
                <a:path w="713739" h="2758440">
                  <a:moveTo>
                    <a:pt x="0" y="554388"/>
                  </a:moveTo>
                  <a:lnTo>
                    <a:pt x="159009" y="554388"/>
                  </a:lnTo>
                  <a:lnTo>
                    <a:pt x="713398" y="0"/>
                  </a:lnTo>
                </a:path>
                <a:path w="713739" h="2758440">
                  <a:moveTo>
                    <a:pt x="159009" y="554388"/>
                  </a:moveTo>
                  <a:lnTo>
                    <a:pt x="159009" y="2757894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2" name="object 22"/>
          <p:cNvGrpSpPr/>
          <p:nvPr/>
        </p:nvGrpSpPr>
        <p:grpSpPr>
          <a:xfrm>
            <a:off x="6542199" y="234374"/>
            <a:ext cx="2298700" cy="1320165"/>
            <a:chOff x="6542199" y="234374"/>
            <a:chExt cx="2298700" cy="1320165"/>
          </a:xfrm>
        </p:grpSpPr>
        <p:pic>
          <p:nvPicPr>
            <p:cNvPr id="23" name="object 2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51736" y="243899"/>
              <a:ext cx="2279620" cy="1300647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6546961" y="239137"/>
              <a:ext cx="2289175" cy="1310640"/>
            </a:xfrm>
            <a:custGeom>
              <a:avLst/>
              <a:gdLst/>
              <a:ahLst/>
              <a:cxnLst/>
              <a:rect l="l" t="t" r="r" b="b"/>
              <a:pathLst>
                <a:path w="2289175" h="1310640">
                  <a:moveTo>
                    <a:pt x="0" y="0"/>
                  </a:moveTo>
                  <a:lnTo>
                    <a:pt x="2289145" y="0"/>
                  </a:lnTo>
                  <a:lnTo>
                    <a:pt x="2289145" y="1310172"/>
                  </a:lnTo>
                  <a:lnTo>
                    <a:pt x="0" y="1310172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3729017" y="2373850"/>
            <a:ext cx="4596765" cy="57594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>
              <a:lnSpc>
                <a:spcPct val="100699"/>
              </a:lnSpc>
              <a:spcBef>
                <a:spcPts val="85"/>
              </a:spcBef>
            </a:pPr>
            <a:r>
              <a:rPr sz="1800" dirty="0">
                <a:solidFill>
                  <a:srgbClr val="38751C"/>
                </a:solidFill>
                <a:latin typeface="Arial"/>
                <a:cs typeface="Arial"/>
              </a:rPr>
              <a:t>An</a:t>
            </a:r>
            <a:r>
              <a:rPr sz="1800" spc="-30" dirty="0">
                <a:solidFill>
                  <a:srgbClr val="38751C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8751C"/>
                </a:solidFill>
                <a:latin typeface="Arial"/>
                <a:cs typeface="Arial"/>
              </a:rPr>
              <a:t>activation</a:t>
            </a:r>
            <a:r>
              <a:rPr sz="1800" spc="-20" dirty="0">
                <a:solidFill>
                  <a:srgbClr val="38751C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8751C"/>
                </a:solidFill>
                <a:latin typeface="Arial"/>
                <a:cs typeface="Arial"/>
              </a:rPr>
              <a:t>map</a:t>
            </a:r>
            <a:r>
              <a:rPr sz="1800" spc="-15" dirty="0">
                <a:solidFill>
                  <a:srgbClr val="38751C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8751C"/>
                </a:solidFill>
                <a:latin typeface="Arial"/>
                <a:cs typeface="Arial"/>
              </a:rPr>
              <a:t>is</a:t>
            </a:r>
            <a:r>
              <a:rPr sz="1800" spc="-20" dirty="0">
                <a:solidFill>
                  <a:srgbClr val="38751C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8751C"/>
                </a:solidFill>
                <a:latin typeface="Arial"/>
                <a:cs typeface="Arial"/>
              </a:rPr>
              <a:t>a</a:t>
            </a:r>
            <a:r>
              <a:rPr sz="1800" spc="-20" dirty="0">
                <a:solidFill>
                  <a:srgbClr val="38751C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8751C"/>
                </a:solidFill>
                <a:latin typeface="Arial"/>
                <a:cs typeface="Arial"/>
              </a:rPr>
              <a:t>28x28</a:t>
            </a:r>
            <a:r>
              <a:rPr sz="1800" spc="-15" dirty="0">
                <a:solidFill>
                  <a:srgbClr val="38751C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8751C"/>
                </a:solidFill>
                <a:latin typeface="Arial"/>
                <a:cs typeface="Arial"/>
              </a:rPr>
              <a:t>sheet</a:t>
            </a:r>
            <a:r>
              <a:rPr sz="1800" spc="-20" dirty="0">
                <a:solidFill>
                  <a:srgbClr val="38751C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8751C"/>
                </a:solidFill>
                <a:latin typeface="Arial"/>
                <a:cs typeface="Arial"/>
              </a:rPr>
              <a:t>of</a:t>
            </a:r>
            <a:r>
              <a:rPr sz="1800" spc="-15" dirty="0">
                <a:solidFill>
                  <a:srgbClr val="38751C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38751C"/>
                </a:solidFill>
                <a:latin typeface="Arial"/>
                <a:cs typeface="Arial"/>
              </a:rPr>
              <a:t>neuron outputs:</a:t>
            </a:r>
            <a:endParaRPr sz="18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766968" y="2926299"/>
            <a:ext cx="5231765" cy="5759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31800" indent="-419100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431800" algn="l"/>
              </a:tabLst>
            </a:pPr>
            <a:r>
              <a:rPr sz="1800" dirty="0">
                <a:solidFill>
                  <a:srgbClr val="38751C"/>
                </a:solidFill>
                <a:latin typeface="Arial"/>
                <a:cs typeface="Arial"/>
              </a:rPr>
              <a:t>Each</a:t>
            </a:r>
            <a:r>
              <a:rPr sz="1800" spc="-30" dirty="0">
                <a:solidFill>
                  <a:srgbClr val="38751C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8751C"/>
                </a:solidFill>
                <a:latin typeface="Arial"/>
                <a:cs typeface="Arial"/>
              </a:rPr>
              <a:t>is</a:t>
            </a:r>
            <a:r>
              <a:rPr sz="1800" spc="-20" dirty="0">
                <a:solidFill>
                  <a:srgbClr val="38751C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8751C"/>
                </a:solidFill>
                <a:latin typeface="Arial"/>
                <a:cs typeface="Arial"/>
              </a:rPr>
              <a:t>connected</a:t>
            </a:r>
            <a:r>
              <a:rPr sz="1800" spc="-15" dirty="0">
                <a:solidFill>
                  <a:srgbClr val="38751C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8751C"/>
                </a:solidFill>
                <a:latin typeface="Arial"/>
                <a:cs typeface="Arial"/>
              </a:rPr>
              <a:t>to</a:t>
            </a:r>
            <a:r>
              <a:rPr sz="1800" spc="-20" dirty="0">
                <a:solidFill>
                  <a:srgbClr val="38751C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8751C"/>
                </a:solidFill>
                <a:latin typeface="Arial"/>
                <a:cs typeface="Arial"/>
              </a:rPr>
              <a:t>a</a:t>
            </a:r>
            <a:r>
              <a:rPr sz="1800" spc="-20" dirty="0">
                <a:solidFill>
                  <a:srgbClr val="38751C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8751C"/>
                </a:solidFill>
                <a:latin typeface="Arial"/>
                <a:cs typeface="Arial"/>
              </a:rPr>
              <a:t>small</a:t>
            </a:r>
            <a:r>
              <a:rPr sz="1800" spc="-15" dirty="0">
                <a:solidFill>
                  <a:srgbClr val="38751C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8751C"/>
                </a:solidFill>
                <a:latin typeface="Arial"/>
                <a:cs typeface="Arial"/>
              </a:rPr>
              <a:t>region</a:t>
            </a:r>
            <a:r>
              <a:rPr sz="1800" spc="-20" dirty="0">
                <a:solidFill>
                  <a:srgbClr val="38751C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8751C"/>
                </a:solidFill>
                <a:latin typeface="Arial"/>
                <a:cs typeface="Arial"/>
              </a:rPr>
              <a:t>in</a:t>
            </a:r>
            <a:r>
              <a:rPr sz="1800" spc="-20" dirty="0">
                <a:solidFill>
                  <a:srgbClr val="38751C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8751C"/>
                </a:solidFill>
                <a:latin typeface="Arial"/>
                <a:cs typeface="Arial"/>
              </a:rPr>
              <a:t>the</a:t>
            </a:r>
            <a:r>
              <a:rPr sz="1800" spc="-15" dirty="0">
                <a:solidFill>
                  <a:srgbClr val="38751C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38751C"/>
                </a:solidFill>
                <a:latin typeface="Arial"/>
                <a:cs typeface="Arial"/>
              </a:rPr>
              <a:t>input</a:t>
            </a:r>
            <a:endParaRPr sz="1800">
              <a:latin typeface="Arial"/>
              <a:cs typeface="Arial"/>
            </a:endParaRPr>
          </a:p>
          <a:p>
            <a:pPr marL="431800" indent="-419100">
              <a:lnSpc>
                <a:spcPct val="100000"/>
              </a:lnSpc>
              <a:spcBef>
                <a:spcPts val="15"/>
              </a:spcBef>
              <a:buAutoNum type="arabicPeriod"/>
              <a:tabLst>
                <a:tab pos="431800" algn="l"/>
              </a:tabLst>
            </a:pPr>
            <a:r>
              <a:rPr sz="1800" dirty="0">
                <a:solidFill>
                  <a:srgbClr val="38751C"/>
                </a:solidFill>
                <a:latin typeface="Arial"/>
                <a:cs typeface="Arial"/>
              </a:rPr>
              <a:t>All</a:t>
            </a:r>
            <a:r>
              <a:rPr sz="1800" spc="-25" dirty="0">
                <a:solidFill>
                  <a:srgbClr val="38751C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8751C"/>
                </a:solidFill>
                <a:latin typeface="Arial"/>
                <a:cs typeface="Arial"/>
              </a:rPr>
              <a:t>of</a:t>
            </a:r>
            <a:r>
              <a:rPr sz="1800" spc="-15" dirty="0">
                <a:solidFill>
                  <a:srgbClr val="38751C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8751C"/>
                </a:solidFill>
                <a:latin typeface="Arial"/>
                <a:cs typeface="Arial"/>
              </a:rPr>
              <a:t>them</a:t>
            </a:r>
            <a:r>
              <a:rPr sz="1800" spc="-15" dirty="0">
                <a:solidFill>
                  <a:srgbClr val="38751C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8751C"/>
                </a:solidFill>
                <a:latin typeface="Arial"/>
                <a:cs typeface="Arial"/>
              </a:rPr>
              <a:t>share</a:t>
            </a:r>
            <a:r>
              <a:rPr sz="1800" spc="-10" dirty="0">
                <a:solidFill>
                  <a:srgbClr val="38751C"/>
                </a:solidFill>
                <a:latin typeface="Arial"/>
                <a:cs typeface="Arial"/>
              </a:rPr>
              <a:t> parameters</a:t>
            </a:r>
            <a:endParaRPr sz="18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729017" y="3754972"/>
            <a:ext cx="50355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000FF"/>
                </a:solidFill>
                <a:latin typeface="Arial"/>
                <a:cs typeface="Arial"/>
              </a:rPr>
              <a:t>“5x5</a:t>
            </a:r>
            <a:r>
              <a:rPr sz="1800" spc="-3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00FF"/>
                </a:solidFill>
                <a:latin typeface="Arial"/>
                <a:cs typeface="Arial"/>
              </a:rPr>
              <a:t>filter”</a:t>
            </a:r>
            <a:r>
              <a:rPr sz="1800" spc="-1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0000FF"/>
                </a:solidFill>
                <a:latin typeface="Arial"/>
                <a:cs typeface="Arial"/>
              </a:rPr>
              <a:t>-</a:t>
            </a:r>
            <a:r>
              <a:rPr sz="1800" dirty="0">
                <a:solidFill>
                  <a:srgbClr val="0000FF"/>
                </a:solidFill>
                <a:latin typeface="Arial"/>
                <a:cs typeface="Arial"/>
              </a:rPr>
              <a:t>&gt;</a:t>
            </a:r>
            <a:r>
              <a:rPr sz="1800" spc="-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00FF"/>
                </a:solidFill>
                <a:latin typeface="Arial"/>
                <a:cs typeface="Arial"/>
              </a:rPr>
              <a:t>“5x5</a:t>
            </a:r>
            <a:r>
              <a:rPr sz="1800" spc="-1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00FF"/>
                </a:solidFill>
                <a:latin typeface="Arial"/>
                <a:cs typeface="Arial"/>
              </a:rPr>
              <a:t>receptive</a:t>
            </a:r>
            <a:r>
              <a:rPr sz="1800" spc="-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00FF"/>
                </a:solidFill>
                <a:latin typeface="Arial"/>
                <a:cs typeface="Arial"/>
              </a:rPr>
              <a:t>field</a:t>
            </a:r>
            <a:r>
              <a:rPr sz="1800" spc="-1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00FF"/>
                </a:solidFill>
                <a:latin typeface="Arial"/>
                <a:cs typeface="Arial"/>
              </a:rPr>
              <a:t>for</a:t>
            </a:r>
            <a:r>
              <a:rPr sz="1800" spc="-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00FF"/>
                </a:solidFill>
                <a:latin typeface="Arial"/>
                <a:cs typeface="Arial"/>
              </a:rPr>
              <a:t>each</a:t>
            </a:r>
            <a:r>
              <a:rPr sz="1800" spc="-1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0000FF"/>
                </a:solidFill>
                <a:latin typeface="Arial"/>
                <a:cs typeface="Arial"/>
              </a:rPr>
              <a:t>neuron”</a:t>
            </a:r>
            <a:endParaRPr sz="18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534622" y="3734103"/>
            <a:ext cx="3644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Arial"/>
                <a:cs typeface="Arial"/>
              </a:rPr>
              <a:t>28</a:t>
            </a:r>
            <a:endParaRPr sz="24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839422" y="2362506"/>
            <a:ext cx="3644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Arial"/>
                <a:cs typeface="Arial"/>
              </a:rPr>
              <a:t>28</a:t>
            </a:r>
            <a:endParaRPr sz="2400">
              <a:latin typeface="Arial"/>
              <a:cs typeface="Arial"/>
            </a:endParaRPr>
          </a:p>
        </p:txBody>
      </p:sp>
      <p:sp>
        <p:nvSpPr>
          <p:cNvPr id="34" name="object 10">
            <a:extLst>
              <a:ext uri="{FF2B5EF4-FFF2-40B4-BE49-F238E27FC236}">
                <a16:creationId xmlns:a16="http://schemas.microsoft.com/office/drawing/2014/main" id="{8DD8C067-62C5-5845-8E90-B31BA508168E}"/>
              </a:ext>
            </a:extLst>
          </p:cNvPr>
          <p:cNvSpPr txBox="1">
            <a:spLocks noGrp="1"/>
          </p:cNvSpPr>
          <p:nvPr>
            <p:ph type="dt" sz="half" idx="4294967295"/>
          </p:nvPr>
        </p:nvSpPr>
        <p:spPr>
          <a:xfrm>
            <a:off x="145224" y="4740846"/>
            <a:ext cx="4699000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lang="en-US" altLang="zh-CN" spc="-10" dirty="0">
                <a:solidFill>
                  <a:schemeClr val="bg1"/>
                </a:solidFill>
              </a:rPr>
              <a:t>Convolutional</a:t>
            </a:r>
            <a:r>
              <a:rPr lang="zh-CN" altLang="en-US" spc="-10" dirty="0">
                <a:solidFill>
                  <a:schemeClr val="bg1"/>
                </a:solidFill>
              </a:rPr>
              <a:t> </a:t>
            </a:r>
            <a:r>
              <a:rPr lang="en-US" altLang="zh-CN" spc="-10" dirty="0">
                <a:solidFill>
                  <a:schemeClr val="bg1"/>
                </a:solidFill>
              </a:rPr>
              <a:t>Neural</a:t>
            </a:r>
            <a:r>
              <a:rPr lang="zh-CN" altLang="en-US" spc="-10" dirty="0">
                <a:solidFill>
                  <a:schemeClr val="bg1"/>
                </a:solidFill>
              </a:rPr>
              <a:t> </a:t>
            </a:r>
            <a:r>
              <a:rPr lang="en-US" altLang="zh-CN" spc="-10" dirty="0">
                <a:solidFill>
                  <a:schemeClr val="bg1"/>
                </a:solidFill>
              </a:rPr>
              <a:t>Networks</a:t>
            </a:r>
            <a:endParaRPr spc="-1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1037" rIns="0" bIns="0" rtlCol="0">
            <a:spAutoFit/>
          </a:bodyPr>
          <a:lstStyle/>
          <a:p>
            <a:pPr marL="201295">
              <a:lnSpc>
                <a:spcPct val="100000"/>
              </a:lnSpc>
              <a:spcBef>
                <a:spcPts val="100"/>
              </a:spcBef>
            </a:pPr>
            <a:r>
              <a:rPr sz="2400" dirty="0"/>
              <a:t>The</a:t>
            </a:r>
            <a:r>
              <a:rPr sz="2400" spc="-60" dirty="0"/>
              <a:t> </a:t>
            </a:r>
            <a:r>
              <a:rPr sz="2400" spc="-10" dirty="0"/>
              <a:t>brain/neuron</a:t>
            </a:r>
            <a:r>
              <a:rPr sz="2400" spc="-60" dirty="0"/>
              <a:t> </a:t>
            </a:r>
            <a:r>
              <a:rPr sz="2400" dirty="0"/>
              <a:t>view</a:t>
            </a:r>
            <a:r>
              <a:rPr sz="2400" spc="-60" dirty="0"/>
              <a:t> </a:t>
            </a:r>
            <a:r>
              <a:rPr sz="2400" dirty="0"/>
              <a:t>of</a:t>
            </a:r>
            <a:r>
              <a:rPr sz="2400" spc="-60" dirty="0"/>
              <a:t> </a:t>
            </a:r>
            <a:r>
              <a:rPr sz="2400" dirty="0"/>
              <a:t>CONV</a:t>
            </a:r>
            <a:r>
              <a:rPr sz="2400" spc="-60" dirty="0"/>
              <a:t> </a:t>
            </a:r>
            <a:r>
              <a:rPr sz="2400" spc="-10" dirty="0"/>
              <a:t>Layer</a:t>
            </a:r>
            <a:endParaRPr sz="2400"/>
          </a:p>
        </p:txBody>
      </p:sp>
      <p:grpSp>
        <p:nvGrpSpPr>
          <p:cNvPr id="3" name="object 3"/>
          <p:cNvGrpSpPr/>
          <p:nvPr/>
        </p:nvGrpSpPr>
        <p:grpSpPr>
          <a:xfrm>
            <a:off x="653423" y="2280195"/>
            <a:ext cx="301625" cy="833119"/>
            <a:chOff x="653423" y="2280195"/>
            <a:chExt cx="301625" cy="833119"/>
          </a:xfrm>
        </p:grpSpPr>
        <p:sp>
          <p:nvSpPr>
            <p:cNvPr id="4" name="object 4"/>
            <p:cNvSpPr/>
            <p:nvPr/>
          </p:nvSpPr>
          <p:spPr>
            <a:xfrm>
              <a:off x="662948" y="2440417"/>
              <a:ext cx="132080" cy="663575"/>
            </a:xfrm>
            <a:custGeom>
              <a:avLst/>
              <a:gdLst/>
              <a:ahLst/>
              <a:cxnLst/>
              <a:rect l="l" t="t" r="r" b="b"/>
              <a:pathLst>
                <a:path w="132079" h="663575">
                  <a:moveTo>
                    <a:pt x="131602" y="663201"/>
                  </a:moveTo>
                  <a:lnTo>
                    <a:pt x="0" y="663201"/>
                  </a:lnTo>
                  <a:lnTo>
                    <a:pt x="0" y="0"/>
                  </a:lnTo>
                  <a:lnTo>
                    <a:pt x="131602" y="0"/>
                  </a:lnTo>
                  <a:lnTo>
                    <a:pt x="131602" y="663201"/>
                  </a:lnTo>
                  <a:close/>
                </a:path>
              </a:pathLst>
            </a:custGeom>
            <a:solidFill>
              <a:srgbClr val="C8D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94550" y="2289720"/>
              <a:ext cx="151130" cy="814069"/>
            </a:xfrm>
            <a:custGeom>
              <a:avLst/>
              <a:gdLst/>
              <a:ahLst/>
              <a:cxnLst/>
              <a:rect l="l" t="t" r="r" b="b"/>
              <a:pathLst>
                <a:path w="151130" h="814069">
                  <a:moveTo>
                    <a:pt x="0" y="813898"/>
                  </a:moveTo>
                  <a:lnTo>
                    <a:pt x="0" y="150697"/>
                  </a:lnTo>
                  <a:lnTo>
                    <a:pt x="150697" y="0"/>
                  </a:lnTo>
                  <a:lnTo>
                    <a:pt x="150697" y="663198"/>
                  </a:lnTo>
                  <a:lnTo>
                    <a:pt x="0" y="813898"/>
                  </a:lnTo>
                  <a:close/>
                </a:path>
              </a:pathLst>
            </a:custGeom>
            <a:solidFill>
              <a:srgbClr val="A0AE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62948" y="2289720"/>
              <a:ext cx="282575" cy="151130"/>
            </a:xfrm>
            <a:custGeom>
              <a:avLst/>
              <a:gdLst/>
              <a:ahLst/>
              <a:cxnLst/>
              <a:rect l="l" t="t" r="r" b="b"/>
              <a:pathLst>
                <a:path w="282575" h="151130">
                  <a:moveTo>
                    <a:pt x="131602" y="150697"/>
                  </a:moveTo>
                  <a:lnTo>
                    <a:pt x="0" y="150697"/>
                  </a:lnTo>
                  <a:lnTo>
                    <a:pt x="150697" y="0"/>
                  </a:lnTo>
                  <a:lnTo>
                    <a:pt x="282299" y="0"/>
                  </a:lnTo>
                  <a:lnTo>
                    <a:pt x="131602" y="150697"/>
                  </a:lnTo>
                  <a:close/>
                </a:path>
              </a:pathLst>
            </a:custGeom>
            <a:solidFill>
              <a:srgbClr val="D3E1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62948" y="2289720"/>
              <a:ext cx="282575" cy="814069"/>
            </a:xfrm>
            <a:custGeom>
              <a:avLst/>
              <a:gdLst/>
              <a:ahLst/>
              <a:cxnLst/>
              <a:rect l="l" t="t" r="r" b="b"/>
              <a:pathLst>
                <a:path w="282575" h="814069">
                  <a:moveTo>
                    <a:pt x="0" y="150697"/>
                  </a:moveTo>
                  <a:lnTo>
                    <a:pt x="150697" y="0"/>
                  </a:lnTo>
                  <a:lnTo>
                    <a:pt x="282299" y="0"/>
                  </a:lnTo>
                  <a:lnTo>
                    <a:pt x="282299" y="663198"/>
                  </a:lnTo>
                  <a:lnTo>
                    <a:pt x="131602" y="813898"/>
                  </a:lnTo>
                  <a:lnTo>
                    <a:pt x="0" y="813898"/>
                  </a:lnTo>
                  <a:lnTo>
                    <a:pt x="0" y="150697"/>
                  </a:lnTo>
                  <a:close/>
                </a:path>
                <a:path w="282575" h="814069">
                  <a:moveTo>
                    <a:pt x="0" y="150697"/>
                  </a:moveTo>
                  <a:lnTo>
                    <a:pt x="131602" y="150697"/>
                  </a:lnTo>
                  <a:lnTo>
                    <a:pt x="282299" y="0"/>
                  </a:lnTo>
                </a:path>
                <a:path w="282575" h="814069">
                  <a:moveTo>
                    <a:pt x="131602" y="150697"/>
                  </a:moveTo>
                  <a:lnTo>
                    <a:pt x="131602" y="813898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932073" y="3681602"/>
            <a:ext cx="280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Arial"/>
                <a:cs typeface="Arial"/>
              </a:rPr>
              <a:t>32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96375" y="1608423"/>
            <a:ext cx="280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Arial"/>
                <a:cs typeface="Arial"/>
              </a:rPr>
              <a:t>32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61462" y="4073231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Arial"/>
                <a:cs typeface="Arial"/>
              </a:rPr>
              <a:t>3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236899" y="1308197"/>
            <a:ext cx="975994" cy="2777490"/>
            <a:chOff x="236899" y="1308197"/>
            <a:chExt cx="975994" cy="2777490"/>
          </a:xfrm>
        </p:grpSpPr>
        <p:sp>
          <p:nvSpPr>
            <p:cNvPr id="12" name="object 12"/>
            <p:cNvSpPr/>
            <p:nvPr/>
          </p:nvSpPr>
          <p:spPr>
            <a:xfrm>
              <a:off x="246424" y="2060948"/>
              <a:ext cx="213360" cy="2014855"/>
            </a:xfrm>
            <a:custGeom>
              <a:avLst/>
              <a:gdLst/>
              <a:ahLst/>
              <a:cxnLst/>
              <a:rect l="l" t="t" r="r" b="b"/>
              <a:pathLst>
                <a:path w="213359" h="2014854">
                  <a:moveTo>
                    <a:pt x="213172" y="2014668"/>
                  </a:moveTo>
                  <a:lnTo>
                    <a:pt x="0" y="2014668"/>
                  </a:lnTo>
                  <a:lnTo>
                    <a:pt x="0" y="0"/>
                  </a:lnTo>
                  <a:lnTo>
                    <a:pt x="213172" y="0"/>
                  </a:lnTo>
                  <a:lnTo>
                    <a:pt x="213172" y="2014668"/>
                  </a:lnTo>
                  <a:close/>
                </a:path>
              </a:pathLst>
            </a:custGeom>
            <a:solidFill>
              <a:srgbClr val="F4CCCC">
                <a:alpha val="5191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9596" y="1317722"/>
              <a:ext cx="743585" cy="2758440"/>
            </a:xfrm>
            <a:custGeom>
              <a:avLst/>
              <a:gdLst/>
              <a:ahLst/>
              <a:cxnLst/>
              <a:rect l="l" t="t" r="r" b="b"/>
              <a:pathLst>
                <a:path w="743585" h="2758440">
                  <a:moveTo>
                    <a:pt x="0" y="2757894"/>
                  </a:moveTo>
                  <a:lnTo>
                    <a:pt x="0" y="743226"/>
                  </a:lnTo>
                  <a:lnTo>
                    <a:pt x="743226" y="0"/>
                  </a:lnTo>
                  <a:lnTo>
                    <a:pt x="743226" y="2014670"/>
                  </a:lnTo>
                  <a:lnTo>
                    <a:pt x="0" y="2757894"/>
                  </a:lnTo>
                  <a:close/>
                </a:path>
              </a:pathLst>
            </a:custGeom>
            <a:solidFill>
              <a:srgbClr val="C3A3A3">
                <a:alpha val="5191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46424" y="1317722"/>
              <a:ext cx="956944" cy="743585"/>
            </a:xfrm>
            <a:custGeom>
              <a:avLst/>
              <a:gdLst/>
              <a:ahLst/>
              <a:cxnLst/>
              <a:rect l="l" t="t" r="r" b="b"/>
              <a:pathLst>
                <a:path w="956944" h="743585">
                  <a:moveTo>
                    <a:pt x="213172" y="743226"/>
                  </a:moveTo>
                  <a:lnTo>
                    <a:pt x="0" y="743226"/>
                  </a:lnTo>
                  <a:lnTo>
                    <a:pt x="743226" y="0"/>
                  </a:lnTo>
                  <a:lnTo>
                    <a:pt x="956398" y="0"/>
                  </a:lnTo>
                  <a:lnTo>
                    <a:pt x="213172" y="743226"/>
                  </a:lnTo>
                  <a:close/>
                </a:path>
              </a:pathLst>
            </a:custGeom>
            <a:solidFill>
              <a:srgbClr val="F6D6D6">
                <a:alpha val="5191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46424" y="1317722"/>
              <a:ext cx="956944" cy="2758440"/>
            </a:xfrm>
            <a:custGeom>
              <a:avLst/>
              <a:gdLst/>
              <a:ahLst/>
              <a:cxnLst/>
              <a:rect l="l" t="t" r="r" b="b"/>
              <a:pathLst>
                <a:path w="956944" h="2758440">
                  <a:moveTo>
                    <a:pt x="0" y="743226"/>
                  </a:moveTo>
                  <a:lnTo>
                    <a:pt x="743226" y="0"/>
                  </a:lnTo>
                  <a:lnTo>
                    <a:pt x="956398" y="0"/>
                  </a:lnTo>
                  <a:lnTo>
                    <a:pt x="956398" y="2014670"/>
                  </a:lnTo>
                  <a:lnTo>
                    <a:pt x="213172" y="2757894"/>
                  </a:lnTo>
                  <a:lnTo>
                    <a:pt x="0" y="2757894"/>
                  </a:lnTo>
                  <a:lnTo>
                    <a:pt x="0" y="743226"/>
                  </a:lnTo>
                  <a:close/>
                </a:path>
                <a:path w="956944" h="2758440">
                  <a:moveTo>
                    <a:pt x="0" y="743226"/>
                  </a:moveTo>
                  <a:lnTo>
                    <a:pt x="213172" y="743226"/>
                  </a:lnTo>
                  <a:lnTo>
                    <a:pt x="956398" y="0"/>
                  </a:lnTo>
                </a:path>
                <a:path w="956944" h="2758440">
                  <a:moveTo>
                    <a:pt x="213172" y="743226"/>
                  </a:moveTo>
                  <a:lnTo>
                    <a:pt x="213172" y="2757894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16"/>
          <p:cNvGrpSpPr/>
          <p:nvPr/>
        </p:nvGrpSpPr>
        <p:grpSpPr>
          <a:xfrm>
            <a:off x="6542199" y="234374"/>
            <a:ext cx="2298700" cy="1320165"/>
            <a:chOff x="6542199" y="234374"/>
            <a:chExt cx="2298700" cy="1320165"/>
          </a:xfrm>
        </p:grpSpPr>
        <p:pic>
          <p:nvPicPr>
            <p:cNvPr id="17" name="object 1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51736" y="243899"/>
              <a:ext cx="2279620" cy="1300647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6546961" y="239137"/>
              <a:ext cx="2289175" cy="1310640"/>
            </a:xfrm>
            <a:custGeom>
              <a:avLst/>
              <a:gdLst/>
              <a:ahLst/>
              <a:cxnLst/>
              <a:rect l="l" t="t" r="r" b="b"/>
              <a:pathLst>
                <a:path w="2289175" h="1310640">
                  <a:moveTo>
                    <a:pt x="0" y="0"/>
                  </a:moveTo>
                  <a:lnTo>
                    <a:pt x="2289145" y="0"/>
                  </a:lnTo>
                  <a:lnTo>
                    <a:pt x="2289145" y="1310172"/>
                  </a:lnTo>
                  <a:lnTo>
                    <a:pt x="0" y="1310172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9" name="object 19"/>
          <p:cNvGrpSpPr/>
          <p:nvPr/>
        </p:nvGrpSpPr>
        <p:grpSpPr>
          <a:xfrm>
            <a:off x="1741339" y="1312572"/>
            <a:ext cx="2870200" cy="2870200"/>
            <a:chOff x="1741339" y="1312572"/>
            <a:chExt cx="2870200" cy="2870200"/>
          </a:xfrm>
        </p:grpSpPr>
        <p:sp>
          <p:nvSpPr>
            <p:cNvPr id="20" name="object 20"/>
            <p:cNvSpPr/>
            <p:nvPr/>
          </p:nvSpPr>
          <p:spPr>
            <a:xfrm>
              <a:off x="2254238" y="2468275"/>
              <a:ext cx="1873250" cy="465455"/>
            </a:xfrm>
            <a:custGeom>
              <a:avLst/>
              <a:gdLst/>
              <a:ahLst/>
              <a:cxnLst/>
              <a:rect l="l" t="t" r="r" b="b"/>
              <a:pathLst>
                <a:path w="1873250" h="465455">
                  <a:moveTo>
                    <a:pt x="1872678" y="465069"/>
                  </a:moveTo>
                  <a:lnTo>
                    <a:pt x="0" y="465069"/>
                  </a:lnTo>
                  <a:lnTo>
                    <a:pt x="0" y="0"/>
                  </a:lnTo>
                  <a:lnTo>
                    <a:pt x="1872678" y="0"/>
                  </a:lnTo>
                  <a:lnTo>
                    <a:pt x="1872678" y="465069"/>
                  </a:lnTo>
                  <a:close/>
                </a:path>
              </a:pathLst>
            </a:custGeom>
            <a:solidFill>
              <a:srgbClr val="C8DAF7">
                <a:alpha val="4268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126916" y="2313250"/>
              <a:ext cx="155575" cy="620395"/>
            </a:xfrm>
            <a:custGeom>
              <a:avLst/>
              <a:gdLst/>
              <a:ahLst/>
              <a:cxnLst/>
              <a:rect l="l" t="t" r="r" b="b"/>
              <a:pathLst>
                <a:path w="155575" h="620394">
                  <a:moveTo>
                    <a:pt x="0" y="620093"/>
                  </a:moveTo>
                  <a:lnTo>
                    <a:pt x="0" y="155024"/>
                  </a:lnTo>
                  <a:lnTo>
                    <a:pt x="155024" y="0"/>
                  </a:lnTo>
                  <a:lnTo>
                    <a:pt x="155024" y="465069"/>
                  </a:lnTo>
                  <a:lnTo>
                    <a:pt x="0" y="620093"/>
                  </a:lnTo>
                  <a:close/>
                </a:path>
              </a:pathLst>
            </a:custGeom>
            <a:solidFill>
              <a:srgbClr val="A0AEC6">
                <a:alpha val="4268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254238" y="2313250"/>
              <a:ext cx="2028189" cy="155575"/>
            </a:xfrm>
            <a:custGeom>
              <a:avLst/>
              <a:gdLst/>
              <a:ahLst/>
              <a:cxnLst/>
              <a:rect l="l" t="t" r="r" b="b"/>
              <a:pathLst>
                <a:path w="2028189" h="155575">
                  <a:moveTo>
                    <a:pt x="1872678" y="155024"/>
                  </a:moveTo>
                  <a:lnTo>
                    <a:pt x="0" y="155024"/>
                  </a:lnTo>
                  <a:lnTo>
                    <a:pt x="155024" y="0"/>
                  </a:lnTo>
                  <a:lnTo>
                    <a:pt x="2027703" y="0"/>
                  </a:lnTo>
                  <a:lnTo>
                    <a:pt x="1872678" y="155024"/>
                  </a:lnTo>
                  <a:close/>
                </a:path>
              </a:pathLst>
            </a:custGeom>
            <a:solidFill>
              <a:srgbClr val="D3E1F9">
                <a:alpha val="4268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254238" y="2313250"/>
              <a:ext cx="2028189" cy="620395"/>
            </a:xfrm>
            <a:custGeom>
              <a:avLst/>
              <a:gdLst/>
              <a:ahLst/>
              <a:cxnLst/>
              <a:rect l="l" t="t" r="r" b="b"/>
              <a:pathLst>
                <a:path w="2028189" h="620394">
                  <a:moveTo>
                    <a:pt x="0" y="155024"/>
                  </a:moveTo>
                  <a:lnTo>
                    <a:pt x="155024" y="0"/>
                  </a:lnTo>
                  <a:lnTo>
                    <a:pt x="2027703" y="0"/>
                  </a:lnTo>
                  <a:lnTo>
                    <a:pt x="2027703" y="465069"/>
                  </a:lnTo>
                  <a:lnTo>
                    <a:pt x="1872678" y="620093"/>
                  </a:lnTo>
                  <a:lnTo>
                    <a:pt x="0" y="620093"/>
                  </a:lnTo>
                  <a:lnTo>
                    <a:pt x="0" y="155024"/>
                  </a:lnTo>
                  <a:close/>
                </a:path>
                <a:path w="2028189" h="620394">
                  <a:moveTo>
                    <a:pt x="0" y="155024"/>
                  </a:moveTo>
                  <a:lnTo>
                    <a:pt x="1872678" y="155024"/>
                  </a:lnTo>
                  <a:lnTo>
                    <a:pt x="2027703" y="0"/>
                  </a:lnTo>
                </a:path>
                <a:path w="2028189" h="620394">
                  <a:moveTo>
                    <a:pt x="1872678" y="155024"/>
                  </a:moveTo>
                  <a:lnTo>
                    <a:pt x="1872678" y="620093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254238" y="2536794"/>
              <a:ext cx="282575" cy="282575"/>
            </a:xfrm>
            <a:custGeom>
              <a:avLst/>
              <a:gdLst/>
              <a:ahLst/>
              <a:cxnLst/>
              <a:rect l="l" t="t" r="r" b="b"/>
              <a:pathLst>
                <a:path w="282575" h="282575">
                  <a:moveTo>
                    <a:pt x="141149" y="282299"/>
                  </a:moveTo>
                  <a:lnTo>
                    <a:pt x="96535" y="275103"/>
                  </a:lnTo>
                  <a:lnTo>
                    <a:pt x="57788" y="255064"/>
                  </a:lnTo>
                  <a:lnTo>
                    <a:pt x="27233" y="224508"/>
                  </a:lnTo>
                  <a:lnTo>
                    <a:pt x="7195" y="185762"/>
                  </a:lnTo>
                  <a:lnTo>
                    <a:pt x="0" y="141149"/>
                  </a:lnTo>
                  <a:lnTo>
                    <a:pt x="7195" y="96537"/>
                  </a:lnTo>
                  <a:lnTo>
                    <a:pt x="27233" y="57790"/>
                  </a:lnTo>
                  <a:lnTo>
                    <a:pt x="57788" y="27235"/>
                  </a:lnTo>
                  <a:lnTo>
                    <a:pt x="96535" y="7196"/>
                  </a:lnTo>
                  <a:lnTo>
                    <a:pt x="141149" y="0"/>
                  </a:lnTo>
                  <a:lnTo>
                    <a:pt x="168815" y="2737"/>
                  </a:lnTo>
                  <a:lnTo>
                    <a:pt x="219459" y="23719"/>
                  </a:lnTo>
                  <a:lnTo>
                    <a:pt x="258587" y="62849"/>
                  </a:lnTo>
                  <a:lnTo>
                    <a:pt x="279569" y="113490"/>
                  </a:lnTo>
                  <a:lnTo>
                    <a:pt x="282306" y="141149"/>
                  </a:lnTo>
                  <a:lnTo>
                    <a:pt x="275110" y="185762"/>
                  </a:lnTo>
                  <a:lnTo>
                    <a:pt x="255070" y="224508"/>
                  </a:lnTo>
                  <a:lnTo>
                    <a:pt x="224513" y="255064"/>
                  </a:lnTo>
                  <a:lnTo>
                    <a:pt x="185764" y="275103"/>
                  </a:lnTo>
                  <a:lnTo>
                    <a:pt x="141149" y="282299"/>
                  </a:lnTo>
                  <a:close/>
                </a:path>
              </a:pathLst>
            </a:custGeom>
            <a:solidFill>
              <a:srgbClr val="C8D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254238" y="2536794"/>
              <a:ext cx="282575" cy="282575"/>
            </a:xfrm>
            <a:custGeom>
              <a:avLst/>
              <a:gdLst/>
              <a:ahLst/>
              <a:cxnLst/>
              <a:rect l="l" t="t" r="r" b="b"/>
              <a:pathLst>
                <a:path w="282575" h="282575">
                  <a:moveTo>
                    <a:pt x="0" y="141149"/>
                  </a:moveTo>
                  <a:lnTo>
                    <a:pt x="7195" y="96537"/>
                  </a:lnTo>
                  <a:lnTo>
                    <a:pt x="27233" y="57790"/>
                  </a:lnTo>
                  <a:lnTo>
                    <a:pt x="57788" y="27235"/>
                  </a:lnTo>
                  <a:lnTo>
                    <a:pt x="96535" y="7196"/>
                  </a:lnTo>
                  <a:lnTo>
                    <a:pt x="141149" y="0"/>
                  </a:lnTo>
                  <a:lnTo>
                    <a:pt x="195165" y="10746"/>
                  </a:lnTo>
                  <a:lnTo>
                    <a:pt x="240957" y="41349"/>
                  </a:lnTo>
                  <a:lnTo>
                    <a:pt x="271560" y="87143"/>
                  </a:lnTo>
                  <a:lnTo>
                    <a:pt x="282306" y="141149"/>
                  </a:lnTo>
                  <a:lnTo>
                    <a:pt x="275110" y="185762"/>
                  </a:lnTo>
                  <a:lnTo>
                    <a:pt x="255070" y="224508"/>
                  </a:lnTo>
                  <a:lnTo>
                    <a:pt x="224513" y="255064"/>
                  </a:lnTo>
                  <a:lnTo>
                    <a:pt x="185764" y="275103"/>
                  </a:lnTo>
                  <a:lnTo>
                    <a:pt x="141149" y="282299"/>
                  </a:lnTo>
                  <a:lnTo>
                    <a:pt x="96535" y="275103"/>
                  </a:lnTo>
                  <a:lnTo>
                    <a:pt x="57788" y="255064"/>
                  </a:lnTo>
                  <a:lnTo>
                    <a:pt x="27233" y="224508"/>
                  </a:lnTo>
                  <a:lnTo>
                    <a:pt x="7195" y="185762"/>
                  </a:lnTo>
                  <a:lnTo>
                    <a:pt x="0" y="141149"/>
                  </a:lnTo>
                  <a:close/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635244" y="2536794"/>
              <a:ext cx="282575" cy="282575"/>
            </a:xfrm>
            <a:custGeom>
              <a:avLst/>
              <a:gdLst/>
              <a:ahLst/>
              <a:cxnLst/>
              <a:rect l="l" t="t" r="r" b="b"/>
              <a:pathLst>
                <a:path w="282575" h="282575">
                  <a:moveTo>
                    <a:pt x="141149" y="282299"/>
                  </a:moveTo>
                  <a:lnTo>
                    <a:pt x="96527" y="275103"/>
                  </a:lnTo>
                  <a:lnTo>
                    <a:pt x="57779" y="255064"/>
                  </a:lnTo>
                  <a:lnTo>
                    <a:pt x="27227" y="224508"/>
                  </a:lnTo>
                  <a:lnTo>
                    <a:pt x="7193" y="185762"/>
                  </a:lnTo>
                  <a:lnTo>
                    <a:pt x="0" y="141149"/>
                  </a:lnTo>
                  <a:lnTo>
                    <a:pt x="7193" y="96537"/>
                  </a:lnTo>
                  <a:lnTo>
                    <a:pt x="27227" y="57790"/>
                  </a:lnTo>
                  <a:lnTo>
                    <a:pt x="57779" y="27235"/>
                  </a:lnTo>
                  <a:lnTo>
                    <a:pt x="96527" y="7196"/>
                  </a:lnTo>
                  <a:lnTo>
                    <a:pt x="141149" y="0"/>
                  </a:lnTo>
                  <a:lnTo>
                    <a:pt x="168809" y="2737"/>
                  </a:lnTo>
                  <a:lnTo>
                    <a:pt x="219449" y="23719"/>
                  </a:lnTo>
                  <a:lnTo>
                    <a:pt x="258579" y="62849"/>
                  </a:lnTo>
                  <a:lnTo>
                    <a:pt x="279561" y="113490"/>
                  </a:lnTo>
                  <a:lnTo>
                    <a:pt x="282299" y="141149"/>
                  </a:lnTo>
                  <a:lnTo>
                    <a:pt x="275103" y="185762"/>
                  </a:lnTo>
                  <a:lnTo>
                    <a:pt x="255064" y="224508"/>
                  </a:lnTo>
                  <a:lnTo>
                    <a:pt x="224508" y="255064"/>
                  </a:lnTo>
                  <a:lnTo>
                    <a:pt x="185762" y="275103"/>
                  </a:lnTo>
                  <a:lnTo>
                    <a:pt x="141149" y="282299"/>
                  </a:lnTo>
                  <a:close/>
                </a:path>
              </a:pathLst>
            </a:custGeom>
            <a:solidFill>
              <a:srgbClr val="C8D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2635244" y="2536794"/>
              <a:ext cx="282575" cy="282575"/>
            </a:xfrm>
            <a:custGeom>
              <a:avLst/>
              <a:gdLst/>
              <a:ahLst/>
              <a:cxnLst/>
              <a:rect l="l" t="t" r="r" b="b"/>
              <a:pathLst>
                <a:path w="282575" h="282575">
                  <a:moveTo>
                    <a:pt x="0" y="141149"/>
                  </a:moveTo>
                  <a:lnTo>
                    <a:pt x="7193" y="96537"/>
                  </a:lnTo>
                  <a:lnTo>
                    <a:pt x="27227" y="57790"/>
                  </a:lnTo>
                  <a:lnTo>
                    <a:pt x="57779" y="27235"/>
                  </a:lnTo>
                  <a:lnTo>
                    <a:pt x="96527" y="7196"/>
                  </a:lnTo>
                  <a:lnTo>
                    <a:pt x="141149" y="0"/>
                  </a:lnTo>
                  <a:lnTo>
                    <a:pt x="195155" y="10746"/>
                  </a:lnTo>
                  <a:lnTo>
                    <a:pt x="240949" y="41349"/>
                  </a:lnTo>
                  <a:lnTo>
                    <a:pt x="271552" y="87143"/>
                  </a:lnTo>
                  <a:lnTo>
                    <a:pt x="282299" y="141149"/>
                  </a:lnTo>
                  <a:lnTo>
                    <a:pt x="275103" y="185762"/>
                  </a:lnTo>
                  <a:lnTo>
                    <a:pt x="255064" y="224508"/>
                  </a:lnTo>
                  <a:lnTo>
                    <a:pt x="224508" y="255064"/>
                  </a:lnTo>
                  <a:lnTo>
                    <a:pt x="185762" y="275103"/>
                  </a:lnTo>
                  <a:lnTo>
                    <a:pt x="141149" y="282299"/>
                  </a:lnTo>
                  <a:lnTo>
                    <a:pt x="96527" y="275103"/>
                  </a:lnTo>
                  <a:lnTo>
                    <a:pt x="57779" y="255064"/>
                  </a:lnTo>
                  <a:lnTo>
                    <a:pt x="27227" y="224508"/>
                  </a:lnTo>
                  <a:lnTo>
                    <a:pt x="7193" y="185762"/>
                  </a:lnTo>
                  <a:lnTo>
                    <a:pt x="0" y="141149"/>
                  </a:lnTo>
                  <a:close/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016244" y="2536794"/>
              <a:ext cx="282575" cy="282575"/>
            </a:xfrm>
            <a:custGeom>
              <a:avLst/>
              <a:gdLst/>
              <a:ahLst/>
              <a:cxnLst/>
              <a:rect l="l" t="t" r="r" b="b"/>
              <a:pathLst>
                <a:path w="282575" h="282575">
                  <a:moveTo>
                    <a:pt x="141149" y="282299"/>
                  </a:moveTo>
                  <a:lnTo>
                    <a:pt x="96527" y="275103"/>
                  </a:lnTo>
                  <a:lnTo>
                    <a:pt x="57779" y="255064"/>
                  </a:lnTo>
                  <a:lnTo>
                    <a:pt x="27227" y="224508"/>
                  </a:lnTo>
                  <a:lnTo>
                    <a:pt x="7193" y="185762"/>
                  </a:lnTo>
                  <a:lnTo>
                    <a:pt x="0" y="141149"/>
                  </a:lnTo>
                  <a:lnTo>
                    <a:pt x="7193" y="96537"/>
                  </a:lnTo>
                  <a:lnTo>
                    <a:pt x="27227" y="57790"/>
                  </a:lnTo>
                  <a:lnTo>
                    <a:pt x="57779" y="27235"/>
                  </a:lnTo>
                  <a:lnTo>
                    <a:pt x="96527" y="7196"/>
                  </a:lnTo>
                  <a:lnTo>
                    <a:pt x="141149" y="0"/>
                  </a:lnTo>
                  <a:lnTo>
                    <a:pt x="168809" y="2737"/>
                  </a:lnTo>
                  <a:lnTo>
                    <a:pt x="219449" y="23719"/>
                  </a:lnTo>
                  <a:lnTo>
                    <a:pt x="258579" y="62849"/>
                  </a:lnTo>
                  <a:lnTo>
                    <a:pt x="279561" y="113490"/>
                  </a:lnTo>
                  <a:lnTo>
                    <a:pt x="282299" y="141149"/>
                  </a:lnTo>
                  <a:lnTo>
                    <a:pt x="275103" y="185762"/>
                  </a:lnTo>
                  <a:lnTo>
                    <a:pt x="255064" y="224508"/>
                  </a:lnTo>
                  <a:lnTo>
                    <a:pt x="224508" y="255064"/>
                  </a:lnTo>
                  <a:lnTo>
                    <a:pt x="185762" y="275103"/>
                  </a:lnTo>
                  <a:lnTo>
                    <a:pt x="141149" y="282299"/>
                  </a:lnTo>
                  <a:close/>
                </a:path>
              </a:pathLst>
            </a:custGeom>
            <a:solidFill>
              <a:srgbClr val="C8D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016243" y="2536794"/>
              <a:ext cx="282575" cy="282575"/>
            </a:xfrm>
            <a:custGeom>
              <a:avLst/>
              <a:gdLst/>
              <a:ahLst/>
              <a:cxnLst/>
              <a:rect l="l" t="t" r="r" b="b"/>
              <a:pathLst>
                <a:path w="282575" h="282575">
                  <a:moveTo>
                    <a:pt x="0" y="141149"/>
                  </a:moveTo>
                  <a:lnTo>
                    <a:pt x="7193" y="96537"/>
                  </a:lnTo>
                  <a:lnTo>
                    <a:pt x="27227" y="57790"/>
                  </a:lnTo>
                  <a:lnTo>
                    <a:pt x="57779" y="27235"/>
                  </a:lnTo>
                  <a:lnTo>
                    <a:pt x="96527" y="7196"/>
                  </a:lnTo>
                  <a:lnTo>
                    <a:pt x="141149" y="0"/>
                  </a:lnTo>
                  <a:lnTo>
                    <a:pt x="195155" y="10746"/>
                  </a:lnTo>
                  <a:lnTo>
                    <a:pt x="240949" y="41349"/>
                  </a:lnTo>
                  <a:lnTo>
                    <a:pt x="271552" y="87143"/>
                  </a:lnTo>
                  <a:lnTo>
                    <a:pt x="282299" y="141149"/>
                  </a:lnTo>
                  <a:lnTo>
                    <a:pt x="275103" y="185762"/>
                  </a:lnTo>
                  <a:lnTo>
                    <a:pt x="255064" y="224508"/>
                  </a:lnTo>
                  <a:lnTo>
                    <a:pt x="224508" y="255064"/>
                  </a:lnTo>
                  <a:lnTo>
                    <a:pt x="185762" y="275103"/>
                  </a:lnTo>
                  <a:lnTo>
                    <a:pt x="141149" y="282299"/>
                  </a:lnTo>
                  <a:lnTo>
                    <a:pt x="96527" y="275103"/>
                  </a:lnTo>
                  <a:lnTo>
                    <a:pt x="57779" y="255064"/>
                  </a:lnTo>
                  <a:lnTo>
                    <a:pt x="27227" y="224508"/>
                  </a:lnTo>
                  <a:lnTo>
                    <a:pt x="7193" y="185762"/>
                  </a:lnTo>
                  <a:lnTo>
                    <a:pt x="0" y="141149"/>
                  </a:lnTo>
                  <a:close/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397243" y="2536794"/>
              <a:ext cx="282575" cy="282575"/>
            </a:xfrm>
            <a:custGeom>
              <a:avLst/>
              <a:gdLst/>
              <a:ahLst/>
              <a:cxnLst/>
              <a:rect l="l" t="t" r="r" b="b"/>
              <a:pathLst>
                <a:path w="282575" h="282575">
                  <a:moveTo>
                    <a:pt x="141149" y="282299"/>
                  </a:moveTo>
                  <a:lnTo>
                    <a:pt x="96527" y="275103"/>
                  </a:lnTo>
                  <a:lnTo>
                    <a:pt x="57779" y="255064"/>
                  </a:lnTo>
                  <a:lnTo>
                    <a:pt x="27227" y="224508"/>
                  </a:lnTo>
                  <a:lnTo>
                    <a:pt x="7193" y="185762"/>
                  </a:lnTo>
                  <a:lnTo>
                    <a:pt x="0" y="141149"/>
                  </a:lnTo>
                  <a:lnTo>
                    <a:pt x="7193" y="96537"/>
                  </a:lnTo>
                  <a:lnTo>
                    <a:pt x="27227" y="57790"/>
                  </a:lnTo>
                  <a:lnTo>
                    <a:pt x="57779" y="27235"/>
                  </a:lnTo>
                  <a:lnTo>
                    <a:pt x="96527" y="7196"/>
                  </a:lnTo>
                  <a:lnTo>
                    <a:pt x="141149" y="0"/>
                  </a:lnTo>
                  <a:lnTo>
                    <a:pt x="168809" y="2737"/>
                  </a:lnTo>
                  <a:lnTo>
                    <a:pt x="219449" y="23719"/>
                  </a:lnTo>
                  <a:lnTo>
                    <a:pt x="258579" y="62849"/>
                  </a:lnTo>
                  <a:lnTo>
                    <a:pt x="279561" y="113490"/>
                  </a:lnTo>
                  <a:lnTo>
                    <a:pt x="282299" y="141149"/>
                  </a:lnTo>
                  <a:lnTo>
                    <a:pt x="275103" y="185762"/>
                  </a:lnTo>
                  <a:lnTo>
                    <a:pt x="255064" y="224508"/>
                  </a:lnTo>
                  <a:lnTo>
                    <a:pt x="224508" y="255064"/>
                  </a:lnTo>
                  <a:lnTo>
                    <a:pt x="185762" y="275103"/>
                  </a:lnTo>
                  <a:lnTo>
                    <a:pt x="141149" y="282299"/>
                  </a:lnTo>
                  <a:close/>
                </a:path>
              </a:pathLst>
            </a:custGeom>
            <a:solidFill>
              <a:srgbClr val="C8D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397243" y="2536794"/>
              <a:ext cx="282575" cy="282575"/>
            </a:xfrm>
            <a:custGeom>
              <a:avLst/>
              <a:gdLst/>
              <a:ahLst/>
              <a:cxnLst/>
              <a:rect l="l" t="t" r="r" b="b"/>
              <a:pathLst>
                <a:path w="282575" h="282575">
                  <a:moveTo>
                    <a:pt x="0" y="141149"/>
                  </a:moveTo>
                  <a:lnTo>
                    <a:pt x="7193" y="96537"/>
                  </a:lnTo>
                  <a:lnTo>
                    <a:pt x="27227" y="57790"/>
                  </a:lnTo>
                  <a:lnTo>
                    <a:pt x="57779" y="27235"/>
                  </a:lnTo>
                  <a:lnTo>
                    <a:pt x="96527" y="7196"/>
                  </a:lnTo>
                  <a:lnTo>
                    <a:pt x="141149" y="0"/>
                  </a:lnTo>
                  <a:lnTo>
                    <a:pt x="195155" y="10746"/>
                  </a:lnTo>
                  <a:lnTo>
                    <a:pt x="240949" y="41349"/>
                  </a:lnTo>
                  <a:lnTo>
                    <a:pt x="271552" y="87143"/>
                  </a:lnTo>
                  <a:lnTo>
                    <a:pt x="282299" y="141149"/>
                  </a:lnTo>
                  <a:lnTo>
                    <a:pt x="275103" y="185762"/>
                  </a:lnTo>
                  <a:lnTo>
                    <a:pt x="255064" y="224508"/>
                  </a:lnTo>
                  <a:lnTo>
                    <a:pt x="224508" y="255064"/>
                  </a:lnTo>
                  <a:lnTo>
                    <a:pt x="185762" y="275103"/>
                  </a:lnTo>
                  <a:lnTo>
                    <a:pt x="141149" y="282299"/>
                  </a:lnTo>
                  <a:lnTo>
                    <a:pt x="96527" y="275103"/>
                  </a:lnTo>
                  <a:lnTo>
                    <a:pt x="57779" y="255064"/>
                  </a:lnTo>
                  <a:lnTo>
                    <a:pt x="27227" y="224508"/>
                  </a:lnTo>
                  <a:lnTo>
                    <a:pt x="7193" y="185762"/>
                  </a:lnTo>
                  <a:lnTo>
                    <a:pt x="0" y="141149"/>
                  </a:lnTo>
                  <a:close/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778242" y="2536794"/>
              <a:ext cx="282575" cy="282575"/>
            </a:xfrm>
            <a:custGeom>
              <a:avLst/>
              <a:gdLst/>
              <a:ahLst/>
              <a:cxnLst/>
              <a:rect l="l" t="t" r="r" b="b"/>
              <a:pathLst>
                <a:path w="282575" h="282575">
                  <a:moveTo>
                    <a:pt x="141149" y="282299"/>
                  </a:moveTo>
                  <a:lnTo>
                    <a:pt x="96527" y="275103"/>
                  </a:lnTo>
                  <a:lnTo>
                    <a:pt x="57779" y="255064"/>
                  </a:lnTo>
                  <a:lnTo>
                    <a:pt x="27227" y="224508"/>
                  </a:lnTo>
                  <a:lnTo>
                    <a:pt x="7193" y="185762"/>
                  </a:lnTo>
                  <a:lnTo>
                    <a:pt x="0" y="141149"/>
                  </a:lnTo>
                  <a:lnTo>
                    <a:pt x="7193" y="96537"/>
                  </a:lnTo>
                  <a:lnTo>
                    <a:pt x="27227" y="57790"/>
                  </a:lnTo>
                  <a:lnTo>
                    <a:pt x="57779" y="27235"/>
                  </a:lnTo>
                  <a:lnTo>
                    <a:pt x="96527" y="7196"/>
                  </a:lnTo>
                  <a:lnTo>
                    <a:pt x="141149" y="0"/>
                  </a:lnTo>
                  <a:lnTo>
                    <a:pt x="168809" y="2737"/>
                  </a:lnTo>
                  <a:lnTo>
                    <a:pt x="219449" y="23719"/>
                  </a:lnTo>
                  <a:lnTo>
                    <a:pt x="258579" y="62849"/>
                  </a:lnTo>
                  <a:lnTo>
                    <a:pt x="279561" y="113490"/>
                  </a:lnTo>
                  <a:lnTo>
                    <a:pt x="282299" y="141149"/>
                  </a:lnTo>
                  <a:lnTo>
                    <a:pt x="275103" y="185762"/>
                  </a:lnTo>
                  <a:lnTo>
                    <a:pt x="255064" y="224508"/>
                  </a:lnTo>
                  <a:lnTo>
                    <a:pt x="224508" y="255064"/>
                  </a:lnTo>
                  <a:lnTo>
                    <a:pt x="185762" y="275103"/>
                  </a:lnTo>
                  <a:lnTo>
                    <a:pt x="141149" y="282299"/>
                  </a:lnTo>
                  <a:close/>
                </a:path>
              </a:pathLst>
            </a:custGeom>
            <a:solidFill>
              <a:srgbClr val="C8D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3778242" y="2536794"/>
              <a:ext cx="282575" cy="282575"/>
            </a:xfrm>
            <a:custGeom>
              <a:avLst/>
              <a:gdLst/>
              <a:ahLst/>
              <a:cxnLst/>
              <a:rect l="l" t="t" r="r" b="b"/>
              <a:pathLst>
                <a:path w="282575" h="282575">
                  <a:moveTo>
                    <a:pt x="0" y="141149"/>
                  </a:moveTo>
                  <a:lnTo>
                    <a:pt x="7193" y="96537"/>
                  </a:lnTo>
                  <a:lnTo>
                    <a:pt x="27227" y="57790"/>
                  </a:lnTo>
                  <a:lnTo>
                    <a:pt x="57779" y="27235"/>
                  </a:lnTo>
                  <a:lnTo>
                    <a:pt x="96527" y="7196"/>
                  </a:lnTo>
                  <a:lnTo>
                    <a:pt x="141149" y="0"/>
                  </a:lnTo>
                  <a:lnTo>
                    <a:pt x="195155" y="10746"/>
                  </a:lnTo>
                  <a:lnTo>
                    <a:pt x="240949" y="41349"/>
                  </a:lnTo>
                  <a:lnTo>
                    <a:pt x="271552" y="87143"/>
                  </a:lnTo>
                  <a:lnTo>
                    <a:pt x="282299" y="141149"/>
                  </a:lnTo>
                  <a:lnTo>
                    <a:pt x="275103" y="185762"/>
                  </a:lnTo>
                  <a:lnTo>
                    <a:pt x="255064" y="224508"/>
                  </a:lnTo>
                  <a:lnTo>
                    <a:pt x="224508" y="255064"/>
                  </a:lnTo>
                  <a:lnTo>
                    <a:pt x="185762" y="275103"/>
                  </a:lnTo>
                  <a:lnTo>
                    <a:pt x="141149" y="282299"/>
                  </a:lnTo>
                  <a:lnTo>
                    <a:pt x="96527" y="275103"/>
                  </a:lnTo>
                  <a:lnTo>
                    <a:pt x="57779" y="255064"/>
                  </a:lnTo>
                  <a:lnTo>
                    <a:pt x="27227" y="224508"/>
                  </a:lnTo>
                  <a:lnTo>
                    <a:pt x="7193" y="185762"/>
                  </a:lnTo>
                  <a:lnTo>
                    <a:pt x="0" y="141149"/>
                  </a:lnTo>
                  <a:close/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750864" y="2034745"/>
              <a:ext cx="2138045" cy="2138045"/>
            </a:xfrm>
            <a:custGeom>
              <a:avLst/>
              <a:gdLst/>
              <a:ahLst/>
              <a:cxnLst/>
              <a:rect l="l" t="t" r="r" b="b"/>
              <a:pathLst>
                <a:path w="2138045" h="2138045">
                  <a:moveTo>
                    <a:pt x="2137953" y="2137945"/>
                  </a:moveTo>
                  <a:lnTo>
                    <a:pt x="0" y="2137945"/>
                  </a:lnTo>
                  <a:lnTo>
                    <a:pt x="0" y="0"/>
                  </a:lnTo>
                  <a:lnTo>
                    <a:pt x="2137953" y="0"/>
                  </a:lnTo>
                  <a:lnTo>
                    <a:pt x="2137953" y="2137945"/>
                  </a:lnTo>
                  <a:close/>
                </a:path>
              </a:pathLst>
            </a:custGeom>
            <a:solidFill>
              <a:srgbClr val="C8DAF7">
                <a:alpha val="4268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3888817" y="1322097"/>
              <a:ext cx="713105" cy="2851150"/>
            </a:xfrm>
            <a:custGeom>
              <a:avLst/>
              <a:gdLst/>
              <a:ahLst/>
              <a:cxnLst/>
              <a:rect l="l" t="t" r="r" b="b"/>
              <a:pathLst>
                <a:path w="713104" h="2851150">
                  <a:moveTo>
                    <a:pt x="0" y="2850594"/>
                  </a:moveTo>
                  <a:lnTo>
                    <a:pt x="0" y="712648"/>
                  </a:lnTo>
                  <a:lnTo>
                    <a:pt x="712648" y="0"/>
                  </a:lnTo>
                  <a:lnTo>
                    <a:pt x="712648" y="2137945"/>
                  </a:lnTo>
                  <a:lnTo>
                    <a:pt x="0" y="2850594"/>
                  </a:lnTo>
                  <a:close/>
                </a:path>
              </a:pathLst>
            </a:custGeom>
            <a:solidFill>
              <a:srgbClr val="A0AEC6">
                <a:alpha val="4268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1750864" y="1322097"/>
              <a:ext cx="2851150" cy="713105"/>
            </a:xfrm>
            <a:custGeom>
              <a:avLst/>
              <a:gdLst/>
              <a:ahLst/>
              <a:cxnLst/>
              <a:rect l="l" t="t" r="r" b="b"/>
              <a:pathLst>
                <a:path w="2851150" h="713105">
                  <a:moveTo>
                    <a:pt x="2137953" y="712648"/>
                  </a:moveTo>
                  <a:lnTo>
                    <a:pt x="0" y="712648"/>
                  </a:lnTo>
                  <a:lnTo>
                    <a:pt x="712648" y="0"/>
                  </a:lnTo>
                  <a:lnTo>
                    <a:pt x="2850601" y="0"/>
                  </a:lnTo>
                  <a:lnTo>
                    <a:pt x="2137953" y="712648"/>
                  </a:lnTo>
                  <a:close/>
                </a:path>
              </a:pathLst>
            </a:custGeom>
            <a:solidFill>
              <a:srgbClr val="D3E1F9">
                <a:alpha val="4268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1750864" y="1322097"/>
              <a:ext cx="2851150" cy="2851150"/>
            </a:xfrm>
            <a:custGeom>
              <a:avLst/>
              <a:gdLst/>
              <a:ahLst/>
              <a:cxnLst/>
              <a:rect l="l" t="t" r="r" b="b"/>
              <a:pathLst>
                <a:path w="2851150" h="2851150">
                  <a:moveTo>
                    <a:pt x="0" y="712648"/>
                  </a:moveTo>
                  <a:lnTo>
                    <a:pt x="712648" y="0"/>
                  </a:lnTo>
                  <a:lnTo>
                    <a:pt x="2850601" y="0"/>
                  </a:lnTo>
                  <a:lnTo>
                    <a:pt x="2850601" y="2137945"/>
                  </a:lnTo>
                  <a:lnTo>
                    <a:pt x="2137953" y="2850594"/>
                  </a:lnTo>
                  <a:lnTo>
                    <a:pt x="0" y="2850594"/>
                  </a:lnTo>
                  <a:lnTo>
                    <a:pt x="0" y="712648"/>
                  </a:lnTo>
                  <a:close/>
                </a:path>
                <a:path w="2851150" h="2851150">
                  <a:moveTo>
                    <a:pt x="0" y="712648"/>
                  </a:moveTo>
                  <a:lnTo>
                    <a:pt x="2137953" y="712648"/>
                  </a:lnTo>
                  <a:lnTo>
                    <a:pt x="2850601" y="0"/>
                  </a:lnTo>
                </a:path>
                <a:path w="2851150" h="2851150">
                  <a:moveTo>
                    <a:pt x="2137953" y="712648"/>
                  </a:moveTo>
                  <a:lnTo>
                    <a:pt x="2137953" y="2850594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4795986" y="2210601"/>
            <a:ext cx="3644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Arial"/>
                <a:cs typeface="Arial"/>
              </a:rPr>
              <a:t>28</a:t>
            </a:r>
            <a:endParaRPr sz="240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4370667" y="3678554"/>
            <a:ext cx="3644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Arial"/>
                <a:cs typeface="Arial"/>
              </a:rPr>
              <a:t>28</a:t>
            </a:r>
            <a:endParaRPr sz="240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5847792" y="2098930"/>
            <a:ext cx="3061335" cy="1128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E.g.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with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5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filters,</a:t>
            </a:r>
            <a:endParaRPr sz="1800">
              <a:latin typeface="Arial"/>
              <a:cs typeface="Arial"/>
            </a:endParaRPr>
          </a:p>
          <a:p>
            <a:pPr marL="12700" marR="5080">
              <a:lnSpc>
                <a:spcPct val="100699"/>
              </a:lnSpc>
            </a:pPr>
            <a:r>
              <a:rPr sz="1800" dirty="0">
                <a:latin typeface="Arial"/>
                <a:cs typeface="Arial"/>
              </a:rPr>
              <a:t>CONV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layer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consists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of </a:t>
            </a:r>
            <a:r>
              <a:rPr sz="1800" dirty="0">
                <a:latin typeface="Arial"/>
                <a:cs typeface="Arial"/>
              </a:rPr>
              <a:t>neurons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arranged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in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3D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grid </a:t>
            </a:r>
            <a:r>
              <a:rPr sz="1800" spc="-10" dirty="0">
                <a:latin typeface="Arial"/>
                <a:cs typeface="Arial"/>
              </a:rPr>
              <a:t>(28x28x5)</a:t>
            </a:r>
            <a:endParaRPr sz="180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5847792" y="3480053"/>
            <a:ext cx="3187700" cy="852169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>
              <a:lnSpc>
                <a:spcPct val="100699"/>
              </a:lnSpc>
              <a:spcBef>
                <a:spcPts val="85"/>
              </a:spcBef>
            </a:pPr>
            <a:r>
              <a:rPr sz="1800" dirty="0">
                <a:latin typeface="Arial"/>
                <a:cs typeface="Arial"/>
              </a:rPr>
              <a:t>There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will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be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5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different </a:t>
            </a:r>
            <a:r>
              <a:rPr sz="1800" dirty="0">
                <a:latin typeface="Arial"/>
                <a:cs typeface="Arial"/>
              </a:rPr>
              <a:t>neurons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all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looking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at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same </a:t>
            </a:r>
            <a:r>
              <a:rPr sz="1800" dirty="0">
                <a:latin typeface="Arial"/>
                <a:cs typeface="Arial"/>
              </a:rPr>
              <a:t>region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in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input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volume</a:t>
            </a:r>
            <a:endParaRPr sz="1800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2679755" y="4160384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Arial"/>
                <a:cs typeface="Arial"/>
              </a:rPr>
              <a:t>5</a:t>
            </a:r>
            <a:endParaRPr sz="1800">
              <a:latin typeface="Arial"/>
              <a:cs typeface="Arial"/>
            </a:endParaRPr>
          </a:p>
        </p:txBody>
      </p:sp>
      <p:sp>
        <p:nvSpPr>
          <p:cNvPr id="47" name="object 10">
            <a:extLst>
              <a:ext uri="{FF2B5EF4-FFF2-40B4-BE49-F238E27FC236}">
                <a16:creationId xmlns:a16="http://schemas.microsoft.com/office/drawing/2014/main" id="{CDD0A696-5C94-CB44-837B-72DA99DCD832}"/>
              </a:ext>
            </a:extLst>
          </p:cNvPr>
          <p:cNvSpPr txBox="1">
            <a:spLocks noGrp="1"/>
          </p:cNvSpPr>
          <p:nvPr>
            <p:ph type="dt" sz="half" idx="4294967295"/>
          </p:nvPr>
        </p:nvSpPr>
        <p:spPr>
          <a:xfrm>
            <a:off x="145224" y="4740846"/>
            <a:ext cx="4699000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lang="en-US" altLang="zh-CN" spc="-10" dirty="0">
                <a:solidFill>
                  <a:schemeClr val="bg1"/>
                </a:solidFill>
              </a:rPr>
              <a:t>Convolutional</a:t>
            </a:r>
            <a:r>
              <a:rPr lang="zh-CN" altLang="en-US" spc="-10" dirty="0">
                <a:solidFill>
                  <a:schemeClr val="bg1"/>
                </a:solidFill>
              </a:rPr>
              <a:t> </a:t>
            </a:r>
            <a:r>
              <a:rPr lang="en-US" altLang="zh-CN" spc="-10" dirty="0">
                <a:solidFill>
                  <a:schemeClr val="bg1"/>
                </a:solidFill>
              </a:rPr>
              <a:t>Neural</a:t>
            </a:r>
            <a:r>
              <a:rPr lang="zh-CN" altLang="en-US" spc="-10" dirty="0">
                <a:solidFill>
                  <a:schemeClr val="bg1"/>
                </a:solidFill>
              </a:rPr>
              <a:t> </a:t>
            </a:r>
            <a:r>
              <a:rPr lang="en-US" altLang="zh-CN" spc="-10" dirty="0">
                <a:solidFill>
                  <a:schemeClr val="bg1"/>
                </a:solidFill>
              </a:rPr>
              <a:t>Networks</a:t>
            </a:r>
            <a:endParaRPr spc="-1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44149"/>
            <a:ext cx="9143981" cy="4378916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16199" y="-27562"/>
            <a:ext cx="260286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"/>
                <a:cs typeface="Arial"/>
              </a:rPr>
              <a:t>two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more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layers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to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go:</a:t>
            </a:r>
            <a:r>
              <a:rPr sz="1400" spc="-10" dirty="0">
                <a:latin typeface="Arial"/>
                <a:cs typeface="Arial"/>
              </a:rPr>
              <a:t> POOL/FC</a:t>
            </a:r>
            <a:endParaRPr sz="1400">
              <a:latin typeface="Arial"/>
              <a:cs typeface="Arial"/>
            </a:endParaRPr>
          </a:p>
        </p:txBody>
      </p:sp>
      <p:sp>
        <p:nvSpPr>
          <p:cNvPr id="8" name="object 10">
            <a:extLst>
              <a:ext uri="{FF2B5EF4-FFF2-40B4-BE49-F238E27FC236}">
                <a16:creationId xmlns:a16="http://schemas.microsoft.com/office/drawing/2014/main" id="{A3977E07-E256-DC47-8AB7-DF99299C0AE2}"/>
              </a:ext>
            </a:extLst>
          </p:cNvPr>
          <p:cNvSpPr txBox="1">
            <a:spLocks noGrp="1"/>
          </p:cNvSpPr>
          <p:nvPr>
            <p:ph type="dt" sz="half" idx="4294967295"/>
          </p:nvPr>
        </p:nvSpPr>
        <p:spPr>
          <a:xfrm>
            <a:off x="145224" y="4740846"/>
            <a:ext cx="4699000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lang="en-US" altLang="zh-CN" spc="-10" dirty="0">
                <a:solidFill>
                  <a:schemeClr val="bg1"/>
                </a:solidFill>
              </a:rPr>
              <a:t>Convolutional</a:t>
            </a:r>
            <a:r>
              <a:rPr lang="zh-CN" altLang="en-US" spc="-10" dirty="0">
                <a:solidFill>
                  <a:schemeClr val="bg1"/>
                </a:solidFill>
              </a:rPr>
              <a:t> </a:t>
            </a:r>
            <a:r>
              <a:rPr lang="en-US" altLang="zh-CN" spc="-10" dirty="0">
                <a:solidFill>
                  <a:schemeClr val="bg1"/>
                </a:solidFill>
              </a:rPr>
              <a:t>Neural</a:t>
            </a:r>
            <a:r>
              <a:rPr lang="zh-CN" altLang="en-US" spc="-10" dirty="0">
                <a:solidFill>
                  <a:schemeClr val="bg1"/>
                </a:solidFill>
              </a:rPr>
              <a:t> </a:t>
            </a:r>
            <a:r>
              <a:rPr lang="en-US" altLang="zh-CN" spc="-10" dirty="0">
                <a:solidFill>
                  <a:schemeClr val="bg1"/>
                </a:solidFill>
              </a:rPr>
              <a:t>Networks</a:t>
            </a:r>
            <a:endParaRPr spc="-1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85945" y="1356122"/>
            <a:ext cx="3989140" cy="3118213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295224" y="94109"/>
            <a:ext cx="222758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>
                <a:latin typeface="Arial"/>
                <a:cs typeface="Arial"/>
              </a:rPr>
              <a:t>Pooling</a:t>
            </a:r>
            <a:r>
              <a:rPr sz="3000" spc="-35" dirty="0">
                <a:latin typeface="Arial"/>
                <a:cs typeface="Arial"/>
              </a:rPr>
              <a:t> </a:t>
            </a:r>
            <a:r>
              <a:rPr sz="3000" spc="-10" dirty="0">
                <a:latin typeface="Arial"/>
                <a:cs typeface="Arial"/>
              </a:rPr>
              <a:t>layer</a:t>
            </a:r>
            <a:endParaRPr sz="30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47698" y="557404"/>
            <a:ext cx="6173470" cy="5759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6865" indent="-304165">
              <a:lnSpc>
                <a:spcPct val="100000"/>
              </a:lnSpc>
              <a:spcBef>
                <a:spcPts val="100"/>
              </a:spcBef>
              <a:buChar char="-"/>
              <a:tabLst>
                <a:tab pos="316865" algn="l"/>
              </a:tabLst>
            </a:pPr>
            <a:r>
              <a:rPr sz="1800" dirty="0">
                <a:latin typeface="Arial"/>
                <a:cs typeface="Arial"/>
              </a:rPr>
              <a:t>makes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representations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smaller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and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more</a:t>
            </a:r>
            <a:r>
              <a:rPr sz="1800" spc="-10" dirty="0">
                <a:latin typeface="Arial"/>
                <a:cs typeface="Arial"/>
              </a:rPr>
              <a:t> manageable</a:t>
            </a:r>
            <a:endParaRPr sz="1800">
              <a:latin typeface="Arial"/>
              <a:cs typeface="Arial"/>
            </a:endParaRPr>
          </a:p>
          <a:p>
            <a:pPr marL="316865" indent="-304165">
              <a:lnSpc>
                <a:spcPct val="100000"/>
              </a:lnSpc>
              <a:spcBef>
                <a:spcPts val="15"/>
              </a:spcBef>
              <a:buChar char="-"/>
              <a:tabLst>
                <a:tab pos="316865" algn="l"/>
              </a:tabLst>
            </a:pPr>
            <a:r>
              <a:rPr sz="1800" dirty="0">
                <a:latin typeface="Arial"/>
                <a:cs typeface="Arial"/>
              </a:rPr>
              <a:t>operates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over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each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activation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map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independently: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10">
            <a:extLst>
              <a:ext uri="{FF2B5EF4-FFF2-40B4-BE49-F238E27FC236}">
                <a16:creationId xmlns:a16="http://schemas.microsoft.com/office/drawing/2014/main" id="{75F17390-54DE-BC4F-89BA-08D1469763F0}"/>
              </a:ext>
            </a:extLst>
          </p:cNvPr>
          <p:cNvSpPr txBox="1">
            <a:spLocks noGrp="1"/>
          </p:cNvSpPr>
          <p:nvPr>
            <p:ph type="dt" sz="half" idx="4294967295"/>
          </p:nvPr>
        </p:nvSpPr>
        <p:spPr>
          <a:xfrm>
            <a:off x="145224" y="4740846"/>
            <a:ext cx="4699000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lang="en-US" altLang="zh-CN" spc="-10" dirty="0">
                <a:solidFill>
                  <a:schemeClr val="bg1"/>
                </a:solidFill>
              </a:rPr>
              <a:t>Convolutional</a:t>
            </a:r>
            <a:r>
              <a:rPr lang="zh-CN" altLang="en-US" spc="-10" dirty="0">
                <a:solidFill>
                  <a:schemeClr val="bg1"/>
                </a:solidFill>
              </a:rPr>
              <a:t> </a:t>
            </a:r>
            <a:r>
              <a:rPr lang="en-US" altLang="zh-CN" spc="-10" dirty="0">
                <a:solidFill>
                  <a:schemeClr val="bg1"/>
                </a:solidFill>
              </a:rPr>
              <a:t>Neural</a:t>
            </a:r>
            <a:r>
              <a:rPr lang="zh-CN" altLang="en-US" spc="-10" dirty="0">
                <a:solidFill>
                  <a:schemeClr val="bg1"/>
                </a:solidFill>
              </a:rPr>
              <a:t> </a:t>
            </a:r>
            <a:r>
              <a:rPr lang="en-US" altLang="zh-CN" spc="-10" dirty="0">
                <a:solidFill>
                  <a:schemeClr val="bg1"/>
                </a:solidFill>
              </a:rPr>
              <a:t>Networks</a:t>
            </a:r>
            <a:endParaRPr spc="-1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947735" y="1404934"/>
          <a:ext cx="2423159" cy="24231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57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57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57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57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57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sz="2400" spc="-50" dirty="0">
                          <a:latin typeface="Arial"/>
                          <a:cs typeface="Arial"/>
                        </a:rPr>
                        <a:t>1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7302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sz="2400" spc="-50" dirty="0">
                          <a:latin typeface="Arial"/>
                          <a:cs typeface="Arial"/>
                        </a:rPr>
                        <a:t>1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7302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sz="2400" spc="-50" dirty="0">
                          <a:latin typeface="Arial"/>
                          <a:cs typeface="Arial"/>
                        </a:rPr>
                        <a:t>2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7302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8E9D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sz="2400" spc="-50" dirty="0">
                          <a:latin typeface="Arial"/>
                          <a:cs typeface="Arial"/>
                        </a:rPr>
                        <a:t>4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7302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8E9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57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sz="2400" spc="-50" dirty="0">
                          <a:latin typeface="Arial"/>
                          <a:cs typeface="Arial"/>
                        </a:rPr>
                        <a:t>5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7302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sz="2400" spc="-50" dirty="0">
                          <a:latin typeface="Arial"/>
                          <a:cs typeface="Arial"/>
                        </a:rPr>
                        <a:t>6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7302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sz="2400" spc="-50" dirty="0">
                          <a:latin typeface="Arial"/>
                          <a:cs typeface="Arial"/>
                        </a:rPr>
                        <a:t>7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7302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8E9D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sz="2400" spc="-50" dirty="0">
                          <a:latin typeface="Arial"/>
                          <a:cs typeface="Arial"/>
                        </a:rPr>
                        <a:t>8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7302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8E9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57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2400" spc="-50" dirty="0">
                          <a:latin typeface="Arial"/>
                          <a:cs typeface="Arial"/>
                        </a:rPr>
                        <a:t>3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7366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2400" spc="-50" dirty="0">
                          <a:latin typeface="Arial"/>
                          <a:cs typeface="Arial"/>
                        </a:rPr>
                        <a:t>2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7366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2400" spc="-50" dirty="0">
                          <a:latin typeface="Arial"/>
                          <a:cs typeface="Arial"/>
                        </a:rPr>
                        <a:t>1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7366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8DA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2400" spc="-50" dirty="0">
                          <a:latin typeface="Arial"/>
                          <a:cs typeface="Arial"/>
                        </a:rPr>
                        <a:t>0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7366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8D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57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2400" spc="-50" dirty="0">
                          <a:latin typeface="Arial"/>
                          <a:cs typeface="Arial"/>
                        </a:rPr>
                        <a:t>1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7366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2400" spc="-50" dirty="0">
                          <a:latin typeface="Arial"/>
                          <a:cs typeface="Arial"/>
                        </a:rPr>
                        <a:t>2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7366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2400" spc="-50" dirty="0">
                          <a:latin typeface="Arial"/>
                          <a:cs typeface="Arial"/>
                        </a:rPr>
                        <a:t>3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7366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8DA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2400" spc="-50" dirty="0">
                          <a:latin typeface="Arial"/>
                          <a:cs typeface="Arial"/>
                        </a:rPr>
                        <a:t>4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7366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8D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1004872" y="960955"/>
            <a:ext cx="24136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"/>
                <a:cs typeface="Arial"/>
              </a:rPr>
              <a:t>Single</a:t>
            </a:r>
            <a:r>
              <a:rPr sz="2400" spc="-9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depth</a:t>
            </a:r>
            <a:r>
              <a:rPr sz="2400" spc="-9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slice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01933" y="1457772"/>
            <a:ext cx="82550" cy="2345690"/>
            <a:chOff x="601933" y="1457772"/>
            <a:chExt cx="82550" cy="2345690"/>
          </a:xfrm>
        </p:grpSpPr>
        <p:sp>
          <p:nvSpPr>
            <p:cNvPr id="5" name="object 5"/>
            <p:cNvSpPr/>
            <p:nvPr/>
          </p:nvSpPr>
          <p:spPr>
            <a:xfrm>
              <a:off x="642923" y="1553746"/>
              <a:ext cx="0" cy="2249805"/>
            </a:xfrm>
            <a:custGeom>
              <a:avLst/>
              <a:gdLst/>
              <a:ahLst/>
              <a:cxnLst/>
              <a:rect l="l" t="t" r="r" b="b"/>
              <a:pathLst>
                <a:path h="2249804">
                  <a:moveTo>
                    <a:pt x="0" y="2249695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1933" y="1457772"/>
              <a:ext cx="81979" cy="105499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350549" y="1624653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Arial"/>
                <a:cs typeface="Arial"/>
              </a:rPr>
              <a:t>x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925998" y="4109666"/>
            <a:ext cx="2458720" cy="82550"/>
            <a:chOff x="925998" y="4109666"/>
            <a:chExt cx="2458720" cy="82550"/>
          </a:xfrm>
        </p:grpSpPr>
        <p:sp>
          <p:nvSpPr>
            <p:cNvPr id="9" name="object 9"/>
            <p:cNvSpPr/>
            <p:nvPr/>
          </p:nvSpPr>
          <p:spPr>
            <a:xfrm>
              <a:off x="925998" y="4150666"/>
              <a:ext cx="2362200" cy="0"/>
            </a:xfrm>
            <a:custGeom>
              <a:avLst/>
              <a:gdLst/>
              <a:ahLst/>
              <a:cxnLst/>
              <a:rect l="l" t="t" r="r" b="b"/>
              <a:pathLst>
                <a:path w="2362200">
                  <a:moveTo>
                    <a:pt x="0" y="0"/>
                  </a:moveTo>
                  <a:lnTo>
                    <a:pt x="2362195" y="0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78668" y="4109666"/>
              <a:ext cx="105499" cy="81999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2951293" y="4141849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Arial"/>
                <a:cs typeface="Arial"/>
              </a:rPr>
              <a:t>y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3753692" y="2580444"/>
            <a:ext cx="2014855" cy="82550"/>
            <a:chOff x="3753692" y="2580444"/>
            <a:chExt cx="2014855" cy="82550"/>
          </a:xfrm>
        </p:grpSpPr>
        <p:sp>
          <p:nvSpPr>
            <p:cNvPr id="13" name="object 13"/>
            <p:cNvSpPr/>
            <p:nvPr/>
          </p:nvSpPr>
          <p:spPr>
            <a:xfrm>
              <a:off x="3753692" y="2621444"/>
              <a:ext cx="1918970" cy="0"/>
            </a:xfrm>
            <a:custGeom>
              <a:avLst/>
              <a:gdLst/>
              <a:ahLst/>
              <a:cxnLst/>
              <a:rect l="l" t="t" r="r" b="b"/>
              <a:pathLst>
                <a:path w="1918970">
                  <a:moveTo>
                    <a:pt x="0" y="0"/>
                  </a:moveTo>
                  <a:lnTo>
                    <a:pt x="1918496" y="0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662663" y="2580444"/>
              <a:ext cx="105499" cy="81999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3734294" y="1852405"/>
            <a:ext cx="2463800" cy="57594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>
              <a:lnSpc>
                <a:spcPct val="100699"/>
              </a:lnSpc>
              <a:spcBef>
                <a:spcPts val="85"/>
              </a:spcBef>
            </a:pPr>
            <a:r>
              <a:rPr sz="1800" dirty="0">
                <a:latin typeface="Arial"/>
                <a:cs typeface="Arial"/>
              </a:rPr>
              <a:t>max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pool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with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2x2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filters </a:t>
            </a:r>
            <a:r>
              <a:rPr sz="1800" dirty="0">
                <a:latin typeface="Arial"/>
                <a:cs typeface="Arial"/>
              </a:rPr>
              <a:t>and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stride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spc="-50" dirty="0">
                <a:latin typeface="Arial"/>
                <a:cs typeface="Arial"/>
              </a:rPr>
              <a:t>2</a:t>
            </a:r>
            <a:endParaRPr sz="1800">
              <a:latin typeface="Arial"/>
              <a:cs typeface="Arial"/>
            </a:endParaRPr>
          </a:p>
        </p:txBody>
      </p:sp>
      <p:graphicFrame>
        <p:nvGraphicFramePr>
          <p:cNvPr id="16" name="object 16"/>
          <p:cNvGraphicFramePr>
            <a:graphicFrameLocks noGrp="1"/>
          </p:cNvGraphicFramePr>
          <p:nvPr/>
        </p:nvGraphicFramePr>
        <p:xfrm>
          <a:off x="6617474" y="1971858"/>
          <a:ext cx="1211580" cy="12115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57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57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57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2400" spc="-50" dirty="0">
                          <a:latin typeface="Arial"/>
                          <a:cs typeface="Arial"/>
                        </a:rPr>
                        <a:t>6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7366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2400" spc="-50" dirty="0">
                          <a:latin typeface="Arial"/>
                          <a:cs typeface="Arial"/>
                        </a:rPr>
                        <a:t>8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7366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8E9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57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2400" spc="-50" dirty="0">
                          <a:latin typeface="Arial"/>
                          <a:cs typeface="Arial"/>
                        </a:rPr>
                        <a:t>3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7366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2400" spc="-50" dirty="0">
                          <a:latin typeface="Arial"/>
                          <a:cs typeface="Arial"/>
                        </a:rPr>
                        <a:t>4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7366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8D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4790" rIns="0" bIns="0" rtlCol="0">
            <a:spAutoFit/>
          </a:bodyPr>
          <a:lstStyle/>
          <a:p>
            <a:pPr marL="2779395">
              <a:lnSpc>
                <a:spcPct val="100000"/>
              </a:lnSpc>
              <a:spcBef>
                <a:spcPts val="100"/>
              </a:spcBef>
            </a:pPr>
            <a:r>
              <a:rPr sz="3000" dirty="0"/>
              <a:t>MAX</a:t>
            </a:r>
            <a:r>
              <a:rPr sz="3000" spc="-20" dirty="0"/>
              <a:t> </a:t>
            </a:r>
            <a:r>
              <a:rPr sz="3000" spc="-10" dirty="0"/>
              <a:t>POOLING</a:t>
            </a:r>
            <a:endParaRPr sz="3000"/>
          </a:p>
        </p:txBody>
      </p:sp>
      <p:sp>
        <p:nvSpPr>
          <p:cNvPr id="22" name="object 10">
            <a:extLst>
              <a:ext uri="{FF2B5EF4-FFF2-40B4-BE49-F238E27FC236}">
                <a16:creationId xmlns:a16="http://schemas.microsoft.com/office/drawing/2014/main" id="{0CA1B7E4-E7D4-6D49-82EE-DC055753157C}"/>
              </a:ext>
            </a:extLst>
          </p:cNvPr>
          <p:cNvSpPr txBox="1">
            <a:spLocks noGrp="1"/>
          </p:cNvSpPr>
          <p:nvPr>
            <p:ph type="dt" sz="half" idx="4294967295"/>
          </p:nvPr>
        </p:nvSpPr>
        <p:spPr>
          <a:xfrm>
            <a:off x="145224" y="4740846"/>
            <a:ext cx="4699000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lang="en-US" altLang="zh-CN" spc="-10" dirty="0">
                <a:solidFill>
                  <a:schemeClr val="bg1"/>
                </a:solidFill>
              </a:rPr>
              <a:t>Convolutional</a:t>
            </a:r>
            <a:r>
              <a:rPr lang="zh-CN" altLang="en-US" spc="-10" dirty="0">
                <a:solidFill>
                  <a:schemeClr val="bg1"/>
                </a:solidFill>
              </a:rPr>
              <a:t> </a:t>
            </a:r>
            <a:r>
              <a:rPr lang="en-US" altLang="zh-CN" spc="-10" dirty="0">
                <a:solidFill>
                  <a:schemeClr val="bg1"/>
                </a:solidFill>
              </a:rPr>
              <a:t>Neural</a:t>
            </a:r>
            <a:r>
              <a:rPr lang="zh-CN" altLang="en-US" spc="-10" dirty="0">
                <a:solidFill>
                  <a:schemeClr val="bg1"/>
                </a:solidFill>
              </a:rPr>
              <a:t> </a:t>
            </a:r>
            <a:r>
              <a:rPr lang="en-US" altLang="zh-CN" spc="-10" dirty="0">
                <a:solidFill>
                  <a:schemeClr val="bg1"/>
                </a:solidFill>
              </a:rPr>
              <a:t>Networks</a:t>
            </a:r>
            <a:endParaRPr spc="-1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3761" y="1136872"/>
            <a:ext cx="5267314" cy="2295520"/>
          </a:xfrm>
          <a:prstGeom prst="rect">
            <a:avLst/>
          </a:prstGeom>
        </p:spPr>
      </p:pic>
      <p:sp>
        <p:nvSpPr>
          <p:cNvPr id="7" name="object 10">
            <a:extLst>
              <a:ext uri="{FF2B5EF4-FFF2-40B4-BE49-F238E27FC236}">
                <a16:creationId xmlns:a16="http://schemas.microsoft.com/office/drawing/2014/main" id="{9D592B62-EAB6-4A4E-9088-1D384042302D}"/>
              </a:ext>
            </a:extLst>
          </p:cNvPr>
          <p:cNvSpPr txBox="1">
            <a:spLocks noGrp="1"/>
          </p:cNvSpPr>
          <p:nvPr>
            <p:ph type="dt" sz="half" idx="4294967295"/>
          </p:nvPr>
        </p:nvSpPr>
        <p:spPr>
          <a:xfrm>
            <a:off x="145224" y="4740846"/>
            <a:ext cx="4699000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lang="en-US" altLang="zh-CN" spc="-10" dirty="0">
                <a:solidFill>
                  <a:schemeClr val="bg1"/>
                </a:solidFill>
              </a:rPr>
              <a:t>Convolutional</a:t>
            </a:r>
            <a:r>
              <a:rPr lang="zh-CN" altLang="en-US" spc="-10" dirty="0">
                <a:solidFill>
                  <a:schemeClr val="bg1"/>
                </a:solidFill>
              </a:rPr>
              <a:t> </a:t>
            </a:r>
            <a:r>
              <a:rPr lang="en-US" altLang="zh-CN" spc="-10" dirty="0">
                <a:solidFill>
                  <a:schemeClr val="bg1"/>
                </a:solidFill>
              </a:rPr>
              <a:t>Neural</a:t>
            </a:r>
            <a:r>
              <a:rPr lang="zh-CN" altLang="en-US" spc="-10" dirty="0">
                <a:solidFill>
                  <a:schemeClr val="bg1"/>
                </a:solidFill>
              </a:rPr>
              <a:t> </a:t>
            </a:r>
            <a:r>
              <a:rPr lang="en-US" altLang="zh-CN" spc="-10" dirty="0">
                <a:solidFill>
                  <a:schemeClr val="bg1"/>
                </a:solidFill>
              </a:rPr>
              <a:t>Networks</a:t>
            </a:r>
            <a:endParaRPr spc="-1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3761" y="1136872"/>
            <a:ext cx="5267314" cy="229552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5925811" y="611079"/>
            <a:ext cx="1865630" cy="1128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Common</a:t>
            </a:r>
            <a:r>
              <a:rPr sz="1800" spc="-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Arial"/>
                <a:cs typeface="Arial"/>
              </a:rPr>
              <a:t>settings: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F</a:t>
            </a:r>
            <a:r>
              <a:rPr sz="1800" spc="-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=</a:t>
            </a:r>
            <a:r>
              <a:rPr sz="1800" spc="-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2,</a:t>
            </a:r>
            <a:r>
              <a:rPr sz="1800" spc="-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S</a:t>
            </a:r>
            <a:r>
              <a:rPr sz="1800" spc="-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=</a:t>
            </a:r>
            <a:r>
              <a:rPr sz="1800" spc="-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spc="-50" dirty="0">
                <a:solidFill>
                  <a:srgbClr val="FF0000"/>
                </a:solidFill>
                <a:latin typeface="Arial"/>
                <a:cs typeface="Arial"/>
              </a:rPr>
              <a:t>2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F</a:t>
            </a:r>
            <a:r>
              <a:rPr sz="1800" spc="-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=</a:t>
            </a:r>
            <a:r>
              <a:rPr sz="1800" spc="-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3,</a:t>
            </a:r>
            <a:r>
              <a:rPr sz="1800" spc="-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S</a:t>
            </a:r>
            <a:r>
              <a:rPr sz="1800" spc="-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=</a:t>
            </a:r>
            <a:r>
              <a:rPr sz="1800" spc="-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spc="-50" dirty="0">
                <a:solidFill>
                  <a:srgbClr val="FF0000"/>
                </a:solidFill>
                <a:latin typeface="Arial"/>
                <a:cs typeface="Arial"/>
              </a:rPr>
              <a:t>2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object 10">
            <a:extLst>
              <a:ext uri="{FF2B5EF4-FFF2-40B4-BE49-F238E27FC236}">
                <a16:creationId xmlns:a16="http://schemas.microsoft.com/office/drawing/2014/main" id="{4358D3B2-4709-0741-A686-3DADA81B5887}"/>
              </a:ext>
            </a:extLst>
          </p:cNvPr>
          <p:cNvSpPr txBox="1">
            <a:spLocks noGrp="1"/>
          </p:cNvSpPr>
          <p:nvPr>
            <p:ph type="dt" sz="half" idx="4294967295"/>
          </p:nvPr>
        </p:nvSpPr>
        <p:spPr>
          <a:xfrm>
            <a:off x="145224" y="4740846"/>
            <a:ext cx="4699000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lang="en-US" altLang="zh-CN" spc="-10" dirty="0">
                <a:solidFill>
                  <a:schemeClr val="bg1"/>
                </a:solidFill>
              </a:rPr>
              <a:t>Convolutional</a:t>
            </a:r>
            <a:r>
              <a:rPr lang="zh-CN" altLang="en-US" spc="-10" dirty="0">
                <a:solidFill>
                  <a:schemeClr val="bg1"/>
                </a:solidFill>
              </a:rPr>
              <a:t> </a:t>
            </a:r>
            <a:r>
              <a:rPr lang="en-US" altLang="zh-CN" spc="-10" dirty="0">
                <a:solidFill>
                  <a:schemeClr val="bg1"/>
                </a:solidFill>
              </a:rPr>
              <a:t>Neural</a:t>
            </a:r>
            <a:r>
              <a:rPr lang="zh-CN" altLang="en-US" spc="-10" dirty="0">
                <a:solidFill>
                  <a:schemeClr val="bg1"/>
                </a:solidFill>
              </a:rPr>
              <a:t> </a:t>
            </a:r>
            <a:r>
              <a:rPr lang="en-US" altLang="zh-CN" spc="-10" dirty="0">
                <a:solidFill>
                  <a:schemeClr val="bg1"/>
                </a:solidFill>
              </a:rPr>
              <a:t>Networks</a:t>
            </a:r>
            <a:endParaRPr spc="-1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1099" y="164084"/>
            <a:ext cx="8442960" cy="10394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/>
              <a:t>Fully</a:t>
            </a:r>
            <a:r>
              <a:rPr sz="3000" spc="-30" dirty="0"/>
              <a:t> </a:t>
            </a:r>
            <a:r>
              <a:rPr sz="3000" dirty="0"/>
              <a:t>Connected</a:t>
            </a:r>
            <a:r>
              <a:rPr sz="3000" spc="-30" dirty="0"/>
              <a:t> </a:t>
            </a:r>
            <a:r>
              <a:rPr sz="3000" dirty="0"/>
              <a:t>Layer</a:t>
            </a:r>
            <a:r>
              <a:rPr sz="3000" spc="-30" dirty="0"/>
              <a:t> </a:t>
            </a:r>
            <a:r>
              <a:rPr sz="3000" dirty="0"/>
              <a:t>(FC</a:t>
            </a:r>
            <a:r>
              <a:rPr sz="3000" spc="-30" dirty="0"/>
              <a:t> </a:t>
            </a:r>
            <a:r>
              <a:rPr sz="3000" spc="-10" dirty="0"/>
              <a:t>layer)</a:t>
            </a:r>
            <a:endParaRPr sz="3000"/>
          </a:p>
          <a:p>
            <a:pPr marL="469265" marR="5080" indent="-304800">
              <a:lnSpc>
                <a:spcPct val="100699"/>
              </a:lnSpc>
              <a:spcBef>
                <a:spcPts val="30"/>
              </a:spcBef>
              <a:tabLst>
                <a:tab pos="469265" algn="l"/>
              </a:tabLst>
            </a:pPr>
            <a:r>
              <a:rPr sz="1800" spc="-50" dirty="0"/>
              <a:t>-</a:t>
            </a:r>
            <a:r>
              <a:rPr sz="1800" dirty="0"/>
              <a:t>	Contains</a:t>
            </a:r>
            <a:r>
              <a:rPr sz="1800" spc="-30" dirty="0"/>
              <a:t> </a:t>
            </a:r>
            <a:r>
              <a:rPr sz="1800" dirty="0"/>
              <a:t>neurons</a:t>
            </a:r>
            <a:r>
              <a:rPr sz="1800" spc="-15" dirty="0"/>
              <a:t> </a:t>
            </a:r>
            <a:r>
              <a:rPr sz="1800" dirty="0"/>
              <a:t>that</a:t>
            </a:r>
            <a:r>
              <a:rPr sz="1800" spc="-15" dirty="0"/>
              <a:t> </a:t>
            </a:r>
            <a:r>
              <a:rPr sz="1800" dirty="0"/>
              <a:t>connect</a:t>
            </a:r>
            <a:r>
              <a:rPr sz="1800" spc="-20" dirty="0"/>
              <a:t> </a:t>
            </a:r>
            <a:r>
              <a:rPr sz="1800" dirty="0"/>
              <a:t>to</a:t>
            </a:r>
            <a:r>
              <a:rPr sz="1800" spc="-15" dirty="0"/>
              <a:t> </a:t>
            </a:r>
            <a:r>
              <a:rPr sz="1800" dirty="0"/>
              <a:t>the</a:t>
            </a:r>
            <a:r>
              <a:rPr sz="1800" spc="-15" dirty="0"/>
              <a:t> </a:t>
            </a:r>
            <a:r>
              <a:rPr sz="1800" dirty="0"/>
              <a:t>entire</a:t>
            </a:r>
            <a:r>
              <a:rPr sz="1800" spc="-20" dirty="0"/>
              <a:t> </a:t>
            </a:r>
            <a:r>
              <a:rPr sz="1800" dirty="0"/>
              <a:t>input</a:t>
            </a:r>
            <a:r>
              <a:rPr sz="1800" spc="-15" dirty="0"/>
              <a:t> </a:t>
            </a:r>
            <a:r>
              <a:rPr sz="1800" dirty="0"/>
              <a:t>volume,</a:t>
            </a:r>
            <a:r>
              <a:rPr sz="1800" spc="-15" dirty="0"/>
              <a:t> </a:t>
            </a:r>
            <a:r>
              <a:rPr sz="1800" dirty="0"/>
              <a:t>as</a:t>
            </a:r>
            <a:r>
              <a:rPr sz="1800" spc="-20" dirty="0"/>
              <a:t> </a:t>
            </a:r>
            <a:r>
              <a:rPr sz="1800" dirty="0"/>
              <a:t>in</a:t>
            </a:r>
            <a:r>
              <a:rPr sz="1800" spc="-15" dirty="0"/>
              <a:t> </a:t>
            </a:r>
            <a:r>
              <a:rPr sz="1800" dirty="0"/>
              <a:t>ordinary</a:t>
            </a:r>
            <a:r>
              <a:rPr sz="1800" spc="-15" dirty="0"/>
              <a:t> </a:t>
            </a:r>
            <a:r>
              <a:rPr sz="1800" spc="-10" dirty="0"/>
              <a:t>Neural Networks</a:t>
            </a:r>
            <a:endParaRPr sz="18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94347" y="1441247"/>
            <a:ext cx="6164912" cy="2952294"/>
          </a:xfrm>
          <a:prstGeom prst="rect">
            <a:avLst/>
          </a:prstGeom>
        </p:spPr>
      </p:pic>
      <p:sp>
        <p:nvSpPr>
          <p:cNvPr id="9" name="object 10">
            <a:extLst>
              <a:ext uri="{FF2B5EF4-FFF2-40B4-BE49-F238E27FC236}">
                <a16:creationId xmlns:a16="http://schemas.microsoft.com/office/drawing/2014/main" id="{206E9EB8-51AA-0443-83B2-7A8B72B7C06A}"/>
              </a:ext>
            </a:extLst>
          </p:cNvPr>
          <p:cNvSpPr txBox="1">
            <a:spLocks noGrp="1"/>
          </p:cNvSpPr>
          <p:nvPr>
            <p:ph type="dt" sz="half" idx="4294967295"/>
          </p:nvPr>
        </p:nvSpPr>
        <p:spPr>
          <a:xfrm>
            <a:off x="145224" y="4740846"/>
            <a:ext cx="4699000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lang="en-US" altLang="zh-CN" spc="-10" dirty="0">
                <a:solidFill>
                  <a:schemeClr val="bg1"/>
                </a:solidFill>
              </a:rPr>
              <a:t>Convolutional</a:t>
            </a:r>
            <a:r>
              <a:rPr lang="zh-CN" altLang="en-US" spc="-10" dirty="0">
                <a:solidFill>
                  <a:schemeClr val="bg1"/>
                </a:solidFill>
              </a:rPr>
              <a:t> </a:t>
            </a:r>
            <a:r>
              <a:rPr lang="en-US" altLang="zh-CN" spc="-10" dirty="0">
                <a:solidFill>
                  <a:schemeClr val="bg1"/>
                </a:solidFill>
              </a:rPr>
              <a:t>Neural</a:t>
            </a:r>
            <a:r>
              <a:rPr lang="zh-CN" altLang="en-US" spc="-10" dirty="0">
                <a:solidFill>
                  <a:schemeClr val="bg1"/>
                </a:solidFill>
              </a:rPr>
              <a:t> </a:t>
            </a:r>
            <a:r>
              <a:rPr lang="en-US" altLang="zh-CN" spc="-10" dirty="0">
                <a:solidFill>
                  <a:schemeClr val="bg1"/>
                </a:solidFill>
              </a:rPr>
              <a:t>Networks</a:t>
            </a:r>
            <a:endParaRPr spc="-1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65718" y="2043105"/>
            <a:ext cx="67576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u="heavy" spc="-10" dirty="0">
                <a:solidFill>
                  <a:srgbClr val="1154CC"/>
                </a:solidFill>
                <a:uFill>
                  <a:solidFill>
                    <a:srgbClr val="1154CC"/>
                  </a:solidFill>
                </a:uFill>
                <a:latin typeface="Arial"/>
                <a:cs typeface="Arial"/>
                <a:hlinkClick r:id="rId2"/>
              </a:rPr>
              <a:t>http://cs.stanford.edu/people/karpathy/convnetjs/demo/cifar10.html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6260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/>
              <a:t>[ConvNetJS</a:t>
            </a:r>
            <a:r>
              <a:rPr sz="2400" spc="-75" dirty="0"/>
              <a:t> </a:t>
            </a:r>
            <a:r>
              <a:rPr sz="2400" dirty="0"/>
              <a:t>demo:</a:t>
            </a:r>
            <a:r>
              <a:rPr sz="2400" spc="-70" dirty="0"/>
              <a:t> </a:t>
            </a:r>
            <a:r>
              <a:rPr sz="2400" dirty="0"/>
              <a:t>training</a:t>
            </a:r>
            <a:r>
              <a:rPr sz="2400" spc="-70" dirty="0"/>
              <a:t> </a:t>
            </a:r>
            <a:r>
              <a:rPr sz="2400" dirty="0"/>
              <a:t>on</a:t>
            </a:r>
            <a:r>
              <a:rPr sz="2400" spc="-75" dirty="0"/>
              <a:t> </a:t>
            </a:r>
            <a:r>
              <a:rPr sz="2400" spc="-25" dirty="0"/>
              <a:t>CIFAR-10]</a:t>
            </a:r>
            <a:endParaRPr sz="2400"/>
          </a:p>
        </p:txBody>
      </p:sp>
      <p:sp>
        <p:nvSpPr>
          <p:cNvPr id="8" name="object 10">
            <a:extLst>
              <a:ext uri="{FF2B5EF4-FFF2-40B4-BE49-F238E27FC236}">
                <a16:creationId xmlns:a16="http://schemas.microsoft.com/office/drawing/2014/main" id="{844F4A2B-8751-EF45-84F8-F0959D3DA71B}"/>
              </a:ext>
            </a:extLst>
          </p:cNvPr>
          <p:cNvSpPr txBox="1">
            <a:spLocks noGrp="1"/>
          </p:cNvSpPr>
          <p:nvPr>
            <p:ph type="dt" sz="half" idx="4294967295"/>
          </p:nvPr>
        </p:nvSpPr>
        <p:spPr>
          <a:xfrm>
            <a:off x="145224" y="4740846"/>
            <a:ext cx="4699000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lang="en-US" altLang="zh-CN" spc="-10" dirty="0">
                <a:solidFill>
                  <a:schemeClr val="bg1"/>
                </a:solidFill>
              </a:rPr>
              <a:t>Convolutional</a:t>
            </a:r>
            <a:r>
              <a:rPr lang="zh-CN" altLang="en-US" spc="-10" dirty="0">
                <a:solidFill>
                  <a:schemeClr val="bg1"/>
                </a:solidFill>
              </a:rPr>
              <a:t> </a:t>
            </a:r>
            <a:r>
              <a:rPr lang="en-US" altLang="zh-CN" spc="-10" dirty="0">
                <a:solidFill>
                  <a:schemeClr val="bg1"/>
                </a:solidFill>
              </a:rPr>
              <a:t>Neural</a:t>
            </a:r>
            <a:r>
              <a:rPr lang="zh-CN" altLang="en-US" spc="-10" dirty="0">
                <a:solidFill>
                  <a:schemeClr val="bg1"/>
                </a:solidFill>
              </a:rPr>
              <a:t> </a:t>
            </a:r>
            <a:r>
              <a:rPr lang="en-US" altLang="zh-CN" spc="-10" dirty="0">
                <a:solidFill>
                  <a:schemeClr val="bg1"/>
                </a:solidFill>
              </a:rPr>
              <a:t>Networks</a:t>
            </a:r>
            <a:endParaRPr spc="-1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699" y="184684"/>
            <a:ext cx="355917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/>
              <a:t>Case</a:t>
            </a:r>
            <a:r>
              <a:rPr sz="3000" spc="-20" dirty="0"/>
              <a:t> </a:t>
            </a:r>
            <a:r>
              <a:rPr sz="3000" dirty="0"/>
              <a:t>Study:</a:t>
            </a:r>
            <a:r>
              <a:rPr sz="3000" spc="-10" dirty="0"/>
              <a:t> LeNet-</a:t>
            </a:r>
            <a:r>
              <a:rPr sz="3000" spc="-50" dirty="0"/>
              <a:t>5</a:t>
            </a:r>
            <a:endParaRPr sz="30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5193" y="1243722"/>
            <a:ext cx="8383231" cy="227805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07849" y="819310"/>
            <a:ext cx="157543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"/>
                <a:cs typeface="Arial"/>
              </a:rPr>
              <a:t>[LeCun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et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al.,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1998]</a:t>
            </a:r>
            <a:endParaRPr sz="1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96974" y="3690205"/>
            <a:ext cx="4624070" cy="657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664"/>
              </a:lnSpc>
              <a:spcBef>
                <a:spcPts val="100"/>
              </a:spcBef>
            </a:pPr>
            <a:r>
              <a:rPr sz="1400" dirty="0">
                <a:latin typeface="Arial"/>
                <a:cs typeface="Arial"/>
              </a:rPr>
              <a:t>Conv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filters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were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5x5,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applied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at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stride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spc="-50" dirty="0">
                <a:latin typeface="Arial"/>
                <a:cs typeface="Arial"/>
              </a:rPr>
              <a:t>1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ts val="1650"/>
              </a:lnSpc>
            </a:pPr>
            <a:r>
              <a:rPr sz="1400" dirty="0">
                <a:latin typeface="Arial"/>
                <a:cs typeface="Arial"/>
              </a:rPr>
              <a:t>Subsampling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(Pooling)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layers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were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2x2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applied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at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stride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50" dirty="0">
                <a:latin typeface="Arial"/>
                <a:cs typeface="Arial"/>
              </a:rPr>
              <a:t>2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ts val="1664"/>
              </a:lnSpc>
            </a:pPr>
            <a:r>
              <a:rPr sz="1400" dirty="0">
                <a:latin typeface="Arial"/>
                <a:cs typeface="Arial"/>
              </a:rPr>
              <a:t>i.e.</a:t>
            </a:r>
            <a:r>
              <a:rPr sz="1400" spc="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architecture</a:t>
            </a:r>
            <a:r>
              <a:rPr sz="1400" spc="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is</a:t>
            </a:r>
            <a:r>
              <a:rPr sz="1400" spc="1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[CONV-POOL-CONV-POOL-CONV-</a:t>
            </a:r>
            <a:r>
              <a:rPr sz="1400" spc="-25" dirty="0">
                <a:latin typeface="Arial"/>
                <a:cs typeface="Arial"/>
              </a:rPr>
              <a:t>FC]</a:t>
            </a:r>
            <a:endParaRPr sz="1400">
              <a:latin typeface="Arial"/>
              <a:cs typeface="Arial"/>
            </a:endParaRPr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46C64520-3D70-C849-BEB9-9130920E39B6}"/>
              </a:ext>
            </a:extLst>
          </p:cNvPr>
          <p:cNvSpPr txBox="1">
            <a:spLocks noGrp="1"/>
          </p:cNvSpPr>
          <p:nvPr>
            <p:ph type="dt" sz="half" idx="4294967295"/>
          </p:nvPr>
        </p:nvSpPr>
        <p:spPr>
          <a:xfrm>
            <a:off x="145224" y="4740846"/>
            <a:ext cx="4699000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lang="en-US" altLang="zh-CN" spc="-10" dirty="0">
                <a:solidFill>
                  <a:schemeClr val="bg1"/>
                </a:solidFill>
              </a:rPr>
              <a:t>Convolutional</a:t>
            </a:r>
            <a:r>
              <a:rPr lang="zh-CN" altLang="en-US" spc="-10" dirty="0">
                <a:solidFill>
                  <a:schemeClr val="bg1"/>
                </a:solidFill>
              </a:rPr>
              <a:t> </a:t>
            </a:r>
            <a:r>
              <a:rPr lang="en-US" altLang="zh-CN" spc="-10" dirty="0">
                <a:solidFill>
                  <a:schemeClr val="bg1"/>
                </a:solidFill>
              </a:rPr>
              <a:t>Neural</a:t>
            </a:r>
            <a:r>
              <a:rPr lang="zh-CN" altLang="en-US" spc="-10" dirty="0">
                <a:solidFill>
                  <a:schemeClr val="bg1"/>
                </a:solidFill>
              </a:rPr>
              <a:t> </a:t>
            </a:r>
            <a:r>
              <a:rPr lang="en-US" altLang="zh-CN" spc="-10" dirty="0">
                <a:solidFill>
                  <a:schemeClr val="bg1"/>
                </a:solidFill>
              </a:rPr>
              <a:t>Networks</a:t>
            </a:r>
            <a:endParaRPr spc="-1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62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45"/>
              </a:spcBef>
            </a:pPr>
            <a:r>
              <a:rPr sz="3000" dirty="0"/>
              <a:t>Case</a:t>
            </a:r>
            <a:r>
              <a:rPr sz="3000" spc="-25" dirty="0"/>
              <a:t> </a:t>
            </a:r>
            <a:r>
              <a:rPr sz="3000" dirty="0"/>
              <a:t>Study:</a:t>
            </a:r>
            <a:r>
              <a:rPr sz="3000" spc="-25" dirty="0"/>
              <a:t> </a:t>
            </a:r>
            <a:r>
              <a:rPr sz="3000" spc="-10" dirty="0"/>
              <a:t>AlexNet</a:t>
            </a:r>
            <a:endParaRPr sz="3000"/>
          </a:p>
          <a:p>
            <a:pPr marL="45720">
              <a:lnSpc>
                <a:spcPct val="100000"/>
              </a:lnSpc>
              <a:spcBef>
                <a:spcPts val="675"/>
              </a:spcBef>
            </a:pPr>
            <a:r>
              <a:rPr sz="1400" i="1" dirty="0">
                <a:latin typeface="Arial"/>
                <a:cs typeface="Arial"/>
              </a:rPr>
              <a:t>[Krizhevsky</a:t>
            </a:r>
            <a:r>
              <a:rPr sz="1400" i="1" spc="-10" dirty="0">
                <a:latin typeface="Arial"/>
                <a:cs typeface="Arial"/>
              </a:rPr>
              <a:t> </a:t>
            </a:r>
            <a:r>
              <a:rPr sz="1400" i="1" dirty="0">
                <a:latin typeface="Arial"/>
                <a:cs typeface="Arial"/>
              </a:rPr>
              <a:t>et</a:t>
            </a:r>
            <a:r>
              <a:rPr sz="1400" i="1" spc="-10" dirty="0">
                <a:latin typeface="Arial"/>
                <a:cs typeface="Arial"/>
              </a:rPr>
              <a:t> </a:t>
            </a:r>
            <a:r>
              <a:rPr sz="1400" i="1" dirty="0">
                <a:latin typeface="Arial"/>
                <a:cs typeface="Arial"/>
              </a:rPr>
              <a:t>al.</a:t>
            </a:r>
            <a:r>
              <a:rPr sz="1400" i="1" spc="-10" dirty="0">
                <a:latin typeface="Arial"/>
                <a:cs typeface="Arial"/>
              </a:rPr>
              <a:t> </a:t>
            </a:r>
            <a:r>
              <a:rPr sz="1400" i="1" spc="-20" dirty="0">
                <a:latin typeface="Arial"/>
                <a:cs typeface="Arial"/>
              </a:rPr>
              <a:t>2012]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06665" y="221722"/>
            <a:ext cx="4984813" cy="156665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58149" y="1896315"/>
            <a:ext cx="5941060" cy="14046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Input:</a:t>
            </a:r>
            <a:r>
              <a:rPr sz="1800" spc="-4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227x227x3</a:t>
            </a:r>
            <a:r>
              <a:rPr sz="1800" spc="-3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images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800" b="1" dirty="0">
                <a:latin typeface="Arial"/>
                <a:cs typeface="Arial"/>
              </a:rPr>
              <a:t>First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layer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(CONV1):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96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11x11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filters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applied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at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stride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spc="-50" dirty="0">
                <a:latin typeface="Arial"/>
                <a:cs typeface="Arial"/>
              </a:rPr>
              <a:t>4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spc="-25" dirty="0">
                <a:latin typeface="Arial"/>
                <a:cs typeface="Arial"/>
              </a:rPr>
              <a:t>=&gt;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dirty="0">
                <a:solidFill>
                  <a:srgbClr val="0000FF"/>
                </a:solidFill>
                <a:latin typeface="Arial"/>
                <a:cs typeface="Arial"/>
              </a:rPr>
              <a:t>Q:</a:t>
            </a:r>
            <a:r>
              <a:rPr sz="1800" spc="-3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00FF"/>
                </a:solidFill>
                <a:latin typeface="Arial"/>
                <a:cs typeface="Arial"/>
              </a:rPr>
              <a:t>what</a:t>
            </a:r>
            <a:r>
              <a:rPr sz="1800" spc="-1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00FF"/>
                </a:solidFill>
                <a:latin typeface="Arial"/>
                <a:cs typeface="Arial"/>
              </a:rPr>
              <a:t>is</a:t>
            </a:r>
            <a:r>
              <a:rPr sz="1800" spc="-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00FF"/>
                </a:solidFill>
                <a:latin typeface="Arial"/>
                <a:cs typeface="Arial"/>
              </a:rPr>
              <a:t>the</a:t>
            </a:r>
            <a:r>
              <a:rPr sz="1800" spc="-1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00FF"/>
                </a:solidFill>
                <a:latin typeface="Arial"/>
                <a:cs typeface="Arial"/>
              </a:rPr>
              <a:t>output</a:t>
            </a:r>
            <a:r>
              <a:rPr sz="1800" spc="-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00FF"/>
                </a:solidFill>
                <a:latin typeface="Arial"/>
                <a:cs typeface="Arial"/>
              </a:rPr>
              <a:t>volume</a:t>
            </a:r>
            <a:r>
              <a:rPr sz="1800" spc="-1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00FF"/>
                </a:solidFill>
                <a:latin typeface="Arial"/>
                <a:cs typeface="Arial"/>
              </a:rPr>
              <a:t>size?</a:t>
            </a:r>
            <a:r>
              <a:rPr sz="1800" spc="-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00FF"/>
                </a:solidFill>
                <a:latin typeface="Arial"/>
                <a:cs typeface="Arial"/>
              </a:rPr>
              <a:t>Hint:</a:t>
            </a:r>
            <a:r>
              <a:rPr sz="1800" spc="-1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0000FF"/>
                </a:solidFill>
                <a:latin typeface="Arial"/>
                <a:cs typeface="Arial"/>
              </a:rPr>
              <a:t>(227-</a:t>
            </a:r>
            <a:r>
              <a:rPr sz="1800" dirty="0">
                <a:solidFill>
                  <a:srgbClr val="0000FF"/>
                </a:solidFill>
                <a:latin typeface="Arial"/>
                <a:cs typeface="Arial"/>
              </a:rPr>
              <a:t>11)/4+1</a:t>
            </a:r>
            <a:r>
              <a:rPr sz="1800" spc="-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00FF"/>
                </a:solidFill>
                <a:latin typeface="Arial"/>
                <a:cs typeface="Arial"/>
              </a:rPr>
              <a:t>=</a:t>
            </a:r>
            <a:r>
              <a:rPr sz="1800" spc="-1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spc="-25" dirty="0">
                <a:solidFill>
                  <a:srgbClr val="0000FF"/>
                </a:solidFill>
                <a:latin typeface="Arial"/>
                <a:cs typeface="Arial"/>
              </a:rPr>
              <a:t>55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10">
            <a:extLst>
              <a:ext uri="{FF2B5EF4-FFF2-40B4-BE49-F238E27FC236}">
                <a16:creationId xmlns:a16="http://schemas.microsoft.com/office/drawing/2014/main" id="{51FD667A-A819-E042-800B-F1F017925EC9}"/>
              </a:ext>
            </a:extLst>
          </p:cNvPr>
          <p:cNvSpPr txBox="1">
            <a:spLocks noGrp="1"/>
          </p:cNvSpPr>
          <p:nvPr>
            <p:ph type="dt" sz="half" idx="4294967295"/>
          </p:nvPr>
        </p:nvSpPr>
        <p:spPr>
          <a:xfrm>
            <a:off x="145224" y="4740846"/>
            <a:ext cx="4699000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lang="en-US" altLang="zh-CN" spc="-10" dirty="0">
                <a:solidFill>
                  <a:schemeClr val="bg1"/>
                </a:solidFill>
              </a:rPr>
              <a:t>Convolutional</a:t>
            </a:r>
            <a:r>
              <a:rPr lang="zh-CN" altLang="en-US" spc="-10" dirty="0">
                <a:solidFill>
                  <a:schemeClr val="bg1"/>
                </a:solidFill>
              </a:rPr>
              <a:t> </a:t>
            </a:r>
            <a:r>
              <a:rPr lang="en-US" altLang="zh-CN" spc="-10" dirty="0">
                <a:solidFill>
                  <a:schemeClr val="bg1"/>
                </a:solidFill>
              </a:rPr>
              <a:t>Neural</a:t>
            </a:r>
            <a:r>
              <a:rPr lang="zh-CN" altLang="en-US" spc="-10" dirty="0">
                <a:solidFill>
                  <a:schemeClr val="bg1"/>
                </a:solidFill>
              </a:rPr>
              <a:t> </a:t>
            </a:r>
            <a:r>
              <a:rPr lang="en-US" altLang="zh-CN" spc="-10" dirty="0">
                <a:solidFill>
                  <a:schemeClr val="bg1"/>
                </a:solidFill>
              </a:rPr>
              <a:t>Networks</a:t>
            </a:r>
            <a:endParaRPr spc="-1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62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45"/>
              </a:spcBef>
            </a:pPr>
            <a:r>
              <a:rPr sz="3000" dirty="0"/>
              <a:t>Case</a:t>
            </a:r>
            <a:r>
              <a:rPr sz="3000" spc="-25" dirty="0"/>
              <a:t> </a:t>
            </a:r>
            <a:r>
              <a:rPr sz="3000" dirty="0"/>
              <a:t>Study:</a:t>
            </a:r>
            <a:r>
              <a:rPr sz="3000" spc="-25" dirty="0"/>
              <a:t> </a:t>
            </a:r>
            <a:r>
              <a:rPr sz="3000" spc="-10" dirty="0"/>
              <a:t>AlexNet</a:t>
            </a:r>
            <a:endParaRPr sz="3000"/>
          </a:p>
          <a:p>
            <a:pPr marL="45720">
              <a:lnSpc>
                <a:spcPct val="100000"/>
              </a:lnSpc>
              <a:spcBef>
                <a:spcPts val="675"/>
              </a:spcBef>
            </a:pPr>
            <a:r>
              <a:rPr sz="1400" i="1" dirty="0">
                <a:latin typeface="Arial"/>
                <a:cs typeface="Arial"/>
              </a:rPr>
              <a:t>[Krizhevsky</a:t>
            </a:r>
            <a:r>
              <a:rPr sz="1400" i="1" spc="-10" dirty="0">
                <a:latin typeface="Arial"/>
                <a:cs typeface="Arial"/>
              </a:rPr>
              <a:t> </a:t>
            </a:r>
            <a:r>
              <a:rPr sz="1400" i="1" dirty="0">
                <a:latin typeface="Arial"/>
                <a:cs typeface="Arial"/>
              </a:rPr>
              <a:t>et</a:t>
            </a:r>
            <a:r>
              <a:rPr sz="1400" i="1" spc="-10" dirty="0">
                <a:latin typeface="Arial"/>
                <a:cs typeface="Arial"/>
              </a:rPr>
              <a:t> </a:t>
            </a:r>
            <a:r>
              <a:rPr sz="1400" i="1" dirty="0">
                <a:latin typeface="Arial"/>
                <a:cs typeface="Arial"/>
              </a:rPr>
              <a:t>al.</a:t>
            </a:r>
            <a:r>
              <a:rPr sz="1400" i="1" spc="-10" dirty="0">
                <a:latin typeface="Arial"/>
                <a:cs typeface="Arial"/>
              </a:rPr>
              <a:t> </a:t>
            </a:r>
            <a:r>
              <a:rPr sz="1400" i="1" spc="-20" dirty="0">
                <a:latin typeface="Arial"/>
                <a:cs typeface="Arial"/>
              </a:rPr>
              <a:t>2012]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06665" y="221722"/>
            <a:ext cx="4984813" cy="156665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58149" y="1896315"/>
            <a:ext cx="5663565" cy="19570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Input:</a:t>
            </a:r>
            <a:r>
              <a:rPr sz="1800" spc="-4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227x227x3</a:t>
            </a:r>
            <a:r>
              <a:rPr sz="1800" spc="-3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images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800" b="1" dirty="0">
                <a:latin typeface="Arial"/>
                <a:cs typeface="Arial"/>
              </a:rPr>
              <a:t>First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layer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(CONV1):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96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11x11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filters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applied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at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stride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spc="-50" dirty="0">
                <a:latin typeface="Arial"/>
                <a:cs typeface="Arial"/>
              </a:rPr>
              <a:t>4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spc="-25" dirty="0">
                <a:latin typeface="Arial"/>
                <a:cs typeface="Arial"/>
              </a:rPr>
              <a:t>=&gt;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dirty="0">
                <a:latin typeface="Arial"/>
                <a:cs typeface="Arial"/>
              </a:rPr>
              <a:t>Output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volume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[55x55x96]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0000FF"/>
                </a:solidFill>
                <a:latin typeface="Arial"/>
                <a:cs typeface="Arial"/>
              </a:rPr>
              <a:t>Q:</a:t>
            </a:r>
            <a:r>
              <a:rPr sz="1800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00FF"/>
                </a:solidFill>
                <a:latin typeface="Arial"/>
                <a:cs typeface="Arial"/>
              </a:rPr>
              <a:t>What</a:t>
            </a:r>
            <a:r>
              <a:rPr sz="1800" spc="-1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00FF"/>
                </a:solidFill>
                <a:latin typeface="Arial"/>
                <a:cs typeface="Arial"/>
              </a:rPr>
              <a:t>is</a:t>
            </a:r>
            <a:r>
              <a:rPr sz="1800" spc="-1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00FF"/>
                </a:solidFill>
                <a:latin typeface="Arial"/>
                <a:cs typeface="Arial"/>
              </a:rPr>
              <a:t>the</a:t>
            </a:r>
            <a:r>
              <a:rPr sz="1800" spc="-1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00FF"/>
                </a:solidFill>
                <a:latin typeface="Arial"/>
                <a:cs typeface="Arial"/>
              </a:rPr>
              <a:t>total</a:t>
            </a:r>
            <a:r>
              <a:rPr sz="1800" spc="-1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00FF"/>
                </a:solidFill>
                <a:latin typeface="Arial"/>
                <a:cs typeface="Arial"/>
              </a:rPr>
              <a:t>number</a:t>
            </a:r>
            <a:r>
              <a:rPr sz="1800" spc="-1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00FF"/>
                </a:solidFill>
                <a:latin typeface="Arial"/>
                <a:cs typeface="Arial"/>
              </a:rPr>
              <a:t>of</a:t>
            </a:r>
            <a:r>
              <a:rPr sz="1800" spc="-1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00FF"/>
                </a:solidFill>
                <a:latin typeface="Arial"/>
                <a:cs typeface="Arial"/>
              </a:rPr>
              <a:t>parameters</a:t>
            </a:r>
            <a:r>
              <a:rPr sz="1800" spc="-1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00FF"/>
                </a:solidFill>
                <a:latin typeface="Arial"/>
                <a:cs typeface="Arial"/>
              </a:rPr>
              <a:t>in</a:t>
            </a:r>
            <a:r>
              <a:rPr sz="1800" spc="-1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00FF"/>
                </a:solidFill>
                <a:latin typeface="Arial"/>
                <a:cs typeface="Arial"/>
              </a:rPr>
              <a:t>this</a:t>
            </a:r>
            <a:r>
              <a:rPr sz="1800" spc="-10" dirty="0">
                <a:solidFill>
                  <a:srgbClr val="0000FF"/>
                </a:solidFill>
                <a:latin typeface="Arial"/>
                <a:cs typeface="Arial"/>
              </a:rPr>
              <a:t> layer?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10">
            <a:extLst>
              <a:ext uri="{FF2B5EF4-FFF2-40B4-BE49-F238E27FC236}">
                <a16:creationId xmlns:a16="http://schemas.microsoft.com/office/drawing/2014/main" id="{A40D4D77-939E-5749-A73D-007F7E31FA68}"/>
              </a:ext>
            </a:extLst>
          </p:cNvPr>
          <p:cNvSpPr txBox="1">
            <a:spLocks noGrp="1"/>
          </p:cNvSpPr>
          <p:nvPr>
            <p:ph type="dt" sz="half" idx="4294967295"/>
          </p:nvPr>
        </p:nvSpPr>
        <p:spPr>
          <a:xfrm>
            <a:off x="145224" y="4740846"/>
            <a:ext cx="4699000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lang="en-US" altLang="zh-CN" spc="-10" dirty="0">
                <a:solidFill>
                  <a:schemeClr val="bg1"/>
                </a:solidFill>
              </a:rPr>
              <a:t>Convolutional</a:t>
            </a:r>
            <a:r>
              <a:rPr lang="zh-CN" altLang="en-US" spc="-10" dirty="0">
                <a:solidFill>
                  <a:schemeClr val="bg1"/>
                </a:solidFill>
              </a:rPr>
              <a:t> </a:t>
            </a:r>
            <a:r>
              <a:rPr lang="en-US" altLang="zh-CN" spc="-10" dirty="0">
                <a:solidFill>
                  <a:schemeClr val="bg1"/>
                </a:solidFill>
              </a:rPr>
              <a:t>Neural</a:t>
            </a:r>
            <a:r>
              <a:rPr lang="zh-CN" altLang="en-US" spc="-10" dirty="0">
                <a:solidFill>
                  <a:schemeClr val="bg1"/>
                </a:solidFill>
              </a:rPr>
              <a:t> </a:t>
            </a:r>
            <a:r>
              <a:rPr lang="en-US" altLang="zh-CN" spc="-10" dirty="0">
                <a:solidFill>
                  <a:schemeClr val="bg1"/>
                </a:solidFill>
              </a:rPr>
              <a:t>Networks</a:t>
            </a:r>
            <a:endParaRPr spc="-1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62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45"/>
              </a:spcBef>
            </a:pPr>
            <a:r>
              <a:rPr sz="3000" dirty="0"/>
              <a:t>Case</a:t>
            </a:r>
            <a:r>
              <a:rPr sz="3000" spc="-25" dirty="0"/>
              <a:t> </a:t>
            </a:r>
            <a:r>
              <a:rPr sz="3000" dirty="0"/>
              <a:t>Study:</a:t>
            </a:r>
            <a:r>
              <a:rPr sz="3000" spc="-25" dirty="0"/>
              <a:t> </a:t>
            </a:r>
            <a:r>
              <a:rPr sz="3000" spc="-10" dirty="0"/>
              <a:t>AlexNet</a:t>
            </a:r>
            <a:endParaRPr sz="3000"/>
          </a:p>
          <a:p>
            <a:pPr marL="45720">
              <a:lnSpc>
                <a:spcPct val="100000"/>
              </a:lnSpc>
              <a:spcBef>
                <a:spcPts val="675"/>
              </a:spcBef>
            </a:pPr>
            <a:r>
              <a:rPr sz="1400" i="1" dirty="0">
                <a:latin typeface="Arial"/>
                <a:cs typeface="Arial"/>
              </a:rPr>
              <a:t>[Krizhevsky</a:t>
            </a:r>
            <a:r>
              <a:rPr sz="1400" i="1" spc="-10" dirty="0">
                <a:latin typeface="Arial"/>
                <a:cs typeface="Arial"/>
              </a:rPr>
              <a:t> </a:t>
            </a:r>
            <a:r>
              <a:rPr sz="1400" i="1" dirty="0">
                <a:latin typeface="Arial"/>
                <a:cs typeface="Arial"/>
              </a:rPr>
              <a:t>et</a:t>
            </a:r>
            <a:r>
              <a:rPr sz="1400" i="1" spc="-10" dirty="0">
                <a:latin typeface="Arial"/>
                <a:cs typeface="Arial"/>
              </a:rPr>
              <a:t> </a:t>
            </a:r>
            <a:r>
              <a:rPr sz="1400" i="1" dirty="0">
                <a:latin typeface="Arial"/>
                <a:cs typeface="Arial"/>
              </a:rPr>
              <a:t>al.</a:t>
            </a:r>
            <a:r>
              <a:rPr sz="1400" i="1" spc="-10" dirty="0">
                <a:latin typeface="Arial"/>
                <a:cs typeface="Arial"/>
              </a:rPr>
              <a:t> </a:t>
            </a:r>
            <a:r>
              <a:rPr sz="1400" i="1" spc="-20" dirty="0">
                <a:latin typeface="Arial"/>
                <a:cs typeface="Arial"/>
              </a:rPr>
              <a:t>2012]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06665" y="221722"/>
            <a:ext cx="4984813" cy="156665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58149" y="1896315"/>
            <a:ext cx="5663565" cy="16808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Input:</a:t>
            </a:r>
            <a:r>
              <a:rPr sz="1800" spc="-4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227x227x3</a:t>
            </a:r>
            <a:r>
              <a:rPr sz="1800" spc="-3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images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800" b="1" dirty="0">
                <a:latin typeface="Arial"/>
                <a:cs typeface="Arial"/>
              </a:rPr>
              <a:t>First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layer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(CONV1):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96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11x11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filters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applied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at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stride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spc="-50" dirty="0">
                <a:latin typeface="Arial"/>
                <a:cs typeface="Arial"/>
              </a:rPr>
              <a:t>4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spc="-25" dirty="0">
                <a:latin typeface="Arial"/>
                <a:cs typeface="Arial"/>
              </a:rPr>
              <a:t>=&gt;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dirty="0">
                <a:latin typeface="Arial"/>
                <a:cs typeface="Arial"/>
              </a:rPr>
              <a:t>Output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volume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[55x55x96]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dirty="0">
                <a:latin typeface="Arial"/>
                <a:cs typeface="Arial"/>
              </a:rPr>
              <a:t>Parameters:</a:t>
            </a:r>
            <a:r>
              <a:rPr sz="1800" spc="-4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(11*11*3)*96</a:t>
            </a:r>
            <a:r>
              <a:rPr sz="1800" spc="-4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=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b="1" spc="-25" dirty="0">
                <a:latin typeface="Arial"/>
                <a:cs typeface="Arial"/>
              </a:rPr>
              <a:t>35K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10">
            <a:extLst>
              <a:ext uri="{FF2B5EF4-FFF2-40B4-BE49-F238E27FC236}">
                <a16:creationId xmlns:a16="http://schemas.microsoft.com/office/drawing/2014/main" id="{9D288EC3-FB02-F546-A6BE-CB26370D76F3}"/>
              </a:ext>
            </a:extLst>
          </p:cNvPr>
          <p:cNvSpPr txBox="1">
            <a:spLocks noGrp="1"/>
          </p:cNvSpPr>
          <p:nvPr>
            <p:ph type="dt" sz="half" idx="4294967295"/>
          </p:nvPr>
        </p:nvSpPr>
        <p:spPr>
          <a:xfrm>
            <a:off x="145224" y="4740846"/>
            <a:ext cx="4699000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lang="en-US" altLang="zh-CN" spc="-10" dirty="0">
                <a:solidFill>
                  <a:schemeClr val="bg1"/>
                </a:solidFill>
              </a:rPr>
              <a:t>Convolutional</a:t>
            </a:r>
            <a:r>
              <a:rPr lang="zh-CN" altLang="en-US" spc="-10" dirty="0">
                <a:solidFill>
                  <a:schemeClr val="bg1"/>
                </a:solidFill>
              </a:rPr>
              <a:t> </a:t>
            </a:r>
            <a:r>
              <a:rPr lang="en-US" altLang="zh-CN" spc="-10" dirty="0">
                <a:solidFill>
                  <a:schemeClr val="bg1"/>
                </a:solidFill>
              </a:rPr>
              <a:t>Neural</a:t>
            </a:r>
            <a:r>
              <a:rPr lang="zh-CN" altLang="en-US" spc="-10" dirty="0">
                <a:solidFill>
                  <a:schemeClr val="bg1"/>
                </a:solidFill>
              </a:rPr>
              <a:t> </a:t>
            </a:r>
            <a:r>
              <a:rPr lang="en-US" altLang="zh-CN" spc="-10" dirty="0">
                <a:solidFill>
                  <a:schemeClr val="bg1"/>
                </a:solidFill>
              </a:rPr>
              <a:t>Networks</a:t>
            </a:r>
            <a:endParaRPr spc="-1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62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45"/>
              </a:spcBef>
            </a:pPr>
            <a:r>
              <a:rPr sz="3000" dirty="0"/>
              <a:t>Case</a:t>
            </a:r>
            <a:r>
              <a:rPr sz="3000" spc="-25" dirty="0"/>
              <a:t> </a:t>
            </a:r>
            <a:r>
              <a:rPr sz="3000" dirty="0"/>
              <a:t>Study:</a:t>
            </a:r>
            <a:r>
              <a:rPr sz="3000" spc="-25" dirty="0"/>
              <a:t> </a:t>
            </a:r>
            <a:r>
              <a:rPr sz="3000" spc="-10" dirty="0"/>
              <a:t>AlexNet</a:t>
            </a:r>
            <a:endParaRPr sz="3000"/>
          </a:p>
          <a:p>
            <a:pPr marL="45720">
              <a:lnSpc>
                <a:spcPct val="100000"/>
              </a:lnSpc>
              <a:spcBef>
                <a:spcPts val="675"/>
              </a:spcBef>
            </a:pPr>
            <a:r>
              <a:rPr sz="1400" i="1" dirty="0">
                <a:latin typeface="Arial"/>
                <a:cs typeface="Arial"/>
              </a:rPr>
              <a:t>[Krizhevsky</a:t>
            </a:r>
            <a:r>
              <a:rPr sz="1400" i="1" spc="-10" dirty="0">
                <a:latin typeface="Arial"/>
                <a:cs typeface="Arial"/>
              </a:rPr>
              <a:t> </a:t>
            </a:r>
            <a:r>
              <a:rPr sz="1400" i="1" dirty="0">
                <a:latin typeface="Arial"/>
                <a:cs typeface="Arial"/>
              </a:rPr>
              <a:t>et</a:t>
            </a:r>
            <a:r>
              <a:rPr sz="1400" i="1" spc="-10" dirty="0">
                <a:latin typeface="Arial"/>
                <a:cs typeface="Arial"/>
              </a:rPr>
              <a:t> </a:t>
            </a:r>
            <a:r>
              <a:rPr sz="1400" i="1" dirty="0">
                <a:latin typeface="Arial"/>
                <a:cs typeface="Arial"/>
              </a:rPr>
              <a:t>al.</a:t>
            </a:r>
            <a:r>
              <a:rPr sz="1400" i="1" spc="-10" dirty="0">
                <a:latin typeface="Arial"/>
                <a:cs typeface="Arial"/>
              </a:rPr>
              <a:t> </a:t>
            </a:r>
            <a:r>
              <a:rPr sz="1400" i="1" spc="-20" dirty="0">
                <a:latin typeface="Arial"/>
                <a:cs typeface="Arial"/>
              </a:rPr>
              <a:t>2012]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06665" y="221722"/>
            <a:ext cx="4984813" cy="156665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58149" y="1896315"/>
            <a:ext cx="5686425" cy="168084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3113405">
              <a:lnSpc>
                <a:spcPct val="100699"/>
              </a:lnSpc>
              <a:spcBef>
                <a:spcPts val="85"/>
              </a:spcBef>
            </a:pPr>
            <a:r>
              <a:rPr sz="1800" dirty="0">
                <a:latin typeface="Arial"/>
                <a:cs typeface="Arial"/>
              </a:rPr>
              <a:t>Input:</a:t>
            </a:r>
            <a:r>
              <a:rPr sz="1800" spc="-4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227x227x3</a:t>
            </a:r>
            <a:r>
              <a:rPr sz="1800" spc="-3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images </a:t>
            </a:r>
            <a:r>
              <a:rPr sz="1800" dirty="0">
                <a:latin typeface="Arial"/>
                <a:cs typeface="Arial"/>
              </a:rPr>
              <a:t>After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CONV1: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55x55x96</a:t>
            </a:r>
            <a:endParaRPr sz="1800">
              <a:latin typeface="Arial"/>
              <a:cs typeface="Arial"/>
            </a:endParaRPr>
          </a:p>
          <a:p>
            <a:pPr marL="12700" marR="5080">
              <a:lnSpc>
                <a:spcPct val="201399"/>
              </a:lnSpc>
            </a:pPr>
            <a:r>
              <a:rPr sz="1800" b="1" dirty="0">
                <a:latin typeface="Arial"/>
                <a:cs typeface="Arial"/>
              </a:rPr>
              <a:t>Second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layer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(POOL1):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3x3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filters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applied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at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stride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spc="-50" dirty="0">
                <a:latin typeface="Arial"/>
                <a:cs typeface="Arial"/>
              </a:rPr>
              <a:t>2</a:t>
            </a:r>
            <a:r>
              <a:rPr sz="1800" spc="500" dirty="0"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00FF"/>
                </a:solidFill>
                <a:latin typeface="Arial"/>
                <a:cs typeface="Arial"/>
              </a:rPr>
              <a:t>Q:</a:t>
            </a:r>
            <a:r>
              <a:rPr sz="1800" spc="-3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00FF"/>
                </a:solidFill>
                <a:latin typeface="Arial"/>
                <a:cs typeface="Arial"/>
              </a:rPr>
              <a:t>what</a:t>
            </a:r>
            <a:r>
              <a:rPr sz="1800" spc="-1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00FF"/>
                </a:solidFill>
                <a:latin typeface="Arial"/>
                <a:cs typeface="Arial"/>
              </a:rPr>
              <a:t>is</a:t>
            </a:r>
            <a:r>
              <a:rPr sz="1800" spc="-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00FF"/>
                </a:solidFill>
                <a:latin typeface="Arial"/>
                <a:cs typeface="Arial"/>
              </a:rPr>
              <a:t>the</a:t>
            </a:r>
            <a:r>
              <a:rPr sz="1800" spc="-1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00FF"/>
                </a:solidFill>
                <a:latin typeface="Arial"/>
                <a:cs typeface="Arial"/>
              </a:rPr>
              <a:t>output</a:t>
            </a:r>
            <a:r>
              <a:rPr sz="1800" spc="-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00FF"/>
                </a:solidFill>
                <a:latin typeface="Arial"/>
                <a:cs typeface="Arial"/>
              </a:rPr>
              <a:t>volume</a:t>
            </a:r>
            <a:r>
              <a:rPr sz="1800" spc="-1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00FF"/>
                </a:solidFill>
                <a:latin typeface="Arial"/>
                <a:cs typeface="Arial"/>
              </a:rPr>
              <a:t>size?</a:t>
            </a:r>
            <a:r>
              <a:rPr sz="1800" spc="-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00FF"/>
                </a:solidFill>
                <a:latin typeface="Arial"/>
                <a:cs typeface="Arial"/>
              </a:rPr>
              <a:t>Hint:</a:t>
            </a:r>
            <a:r>
              <a:rPr sz="1800" spc="-1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0000FF"/>
                </a:solidFill>
                <a:latin typeface="Arial"/>
                <a:cs typeface="Arial"/>
              </a:rPr>
              <a:t>(55-</a:t>
            </a:r>
            <a:r>
              <a:rPr sz="1800" dirty="0">
                <a:solidFill>
                  <a:srgbClr val="0000FF"/>
                </a:solidFill>
                <a:latin typeface="Arial"/>
                <a:cs typeface="Arial"/>
              </a:rPr>
              <a:t>3)/2+1</a:t>
            </a:r>
            <a:r>
              <a:rPr sz="1800" spc="-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00FF"/>
                </a:solidFill>
                <a:latin typeface="Arial"/>
                <a:cs typeface="Arial"/>
              </a:rPr>
              <a:t>=</a:t>
            </a:r>
            <a:r>
              <a:rPr sz="1800" spc="-1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spc="-25" dirty="0">
                <a:solidFill>
                  <a:srgbClr val="0000FF"/>
                </a:solidFill>
                <a:latin typeface="Arial"/>
                <a:cs typeface="Arial"/>
              </a:rPr>
              <a:t>27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10">
            <a:extLst>
              <a:ext uri="{FF2B5EF4-FFF2-40B4-BE49-F238E27FC236}">
                <a16:creationId xmlns:a16="http://schemas.microsoft.com/office/drawing/2014/main" id="{32F5C3EC-9289-3847-B80C-0704BCBABFDA}"/>
              </a:ext>
            </a:extLst>
          </p:cNvPr>
          <p:cNvSpPr txBox="1">
            <a:spLocks noGrp="1"/>
          </p:cNvSpPr>
          <p:nvPr>
            <p:ph type="dt" sz="half" idx="4294967295"/>
          </p:nvPr>
        </p:nvSpPr>
        <p:spPr>
          <a:xfrm>
            <a:off x="145224" y="4740846"/>
            <a:ext cx="4699000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lang="en-US" altLang="zh-CN" spc="-10" dirty="0">
                <a:solidFill>
                  <a:schemeClr val="bg1"/>
                </a:solidFill>
              </a:rPr>
              <a:t>Convolutional</a:t>
            </a:r>
            <a:r>
              <a:rPr lang="zh-CN" altLang="en-US" spc="-10" dirty="0">
                <a:solidFill>
                  <a:schemeClr val="bg1"/>
                </a:solidFill>
              </a:rPr>
              <a:t> </a:t>
            </a:r>
            <a:r>
              <a:rPr lang="en-US" altLang="zh-CN" spc="-10" dirty="0">
                <a:solidFill>
                  <a:schemeClr val="bg1"/>
                </a:solidFill>
              </a:rPr>
              <a:t>Neural</a:t>
            </a:r>
            <a:r>
              <a:rPr lang="zh-CN" altLang="en-US" spc="-10" dirty="0">
                <a:solidFill>
                  <a:schemeClr val="bg1"/>
                </a:solidFill>
              </a:rPr>
              <a:t> </a:t>
            </a:r>
            <a:r>
              <a:rPr lang="en-US" altLang="zh-CN" spc="-10" dirty="0">
                <a:solidFill>
                  <a:schemeClr val="bg1"/>
                </a:solidFill>
              </a:rPr>
              <a:t>Networks</a:t>
            </a:r>
            <a:endParaRPr spc="-1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62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45"/>
              </a:spcBef>
            </a:pPr>
            <a:r>
              <a:rPr sz="3000" dirty="0"/>
              <a:t>Case</a:t>
            </a:r>
            <a:r>
              <a:rPr sz="3000" spc="-25" dirty="0"/>
              <a:t> </a:t>
            </a:r>
            <a:r>
              <a:rPr sz="3000" dirty="0"/>
              <a:t>Study:</a:t>
            </a:r>
            <a:r>
              <a:rPr sz="3000" spc="-25" dirty="0"/>
              <a:t> </a:t>
            </a:r>
            <a:r>
              <a:rPr sz="3000" spc="-10" dirty="0"/>
              <a:t>AlexNet</a:t>
            </a:r>
            <a:endParaRPr sz="3000"/>
          </a:p>
          <a:p>
            <a:pPr marL="45720">
              <a:lnSpc>
                <a:spcPct val="100000"/>
              </a:lnSpc>
              <a:spcBef>
                <a:spcPts val="675"/>
              </a:spcBef>
            </a:pPr>
            <a:r>
              <a:rPr sz="1400" i="1" dirty="0">
                <a:latin typeface="Arial"/>
                <a:cs typeface="Arial"/>
              </a:rPr>
              <a:t>[Krizhevsky</a:t>
            </a:r>
            <a:r>
              <a:rPr sz="1400" i="1" spc="-10" dirty="0">
                <a:latin typeface="Arial"/>
                <a:cs typeface="Arial"/>
              </a:rPr>
              <a:t> </a:t>
            </a:r>
            <a:r>
              <a:rPr sz="1400" i="1" dirty="0">
                <a:latin typeface="Arial"/>
                <a:cs typeface="Arial"/>
              </a:rPr>
              <a:t>et</a:t>
            </a:r>
            <a:r>
              <a:rPr sz="1400" i="1" spc="-10" dirty="0">
                <a:latin typeface="Arial"/>
                <a:cs typeface="Arial"/>
              </a:rPr>
              <a:t> </a:t>
            </a:r>
            <a:r>
              <a:rPr sz="1400" i="1" dirty="0">
                <a:latin typeface="Arial"/>
                <a:cs typeface="Arial"/>
              </a:rPr>
              <a:t>al.</a:t>
            </a:r>
            <a:r>
              <a:rPr sz="1400" i="1" spc="-10" dirty="0">
                <a:latin typeface="Arial"/>
                <a:cs typeface="Arial"/>
              </a:rPr>
              <a:t> </a:t>
            </a:r>
            <a:r>
              <a:rPr sz="1400" i="1" spc="-20" dirty="0">
                <a:latin typeface="Arial"/>
                <a:cs typeface="Arial"/>
              </a:rPr>
              <a:t>2012]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06665" y="221722"/>
            <a:ext cx="4984813" cy="1566654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2823210">
              <a:lnSpc>
                <a:spcPct val="100699"/>
              </a:lnSpc>
              <a:spcBef>
                <a:spcPts val="85"/>
              </a:spcBef>
            </a:pPr>
            <a:r>
              <a:rPr dirty="0"/>
              <a:t>Input:</a:t>
            </a:r>
            <a:r>
              <a:rPr spc="-40" dirty="0"/>
              <a:t> </a:t>
            </a:r>
            <a:r>
              <a:rPr dirty="0"/>
              <a:t>227x227x3</a:t>
            </a:r>
            <a:r>
              <a:rPr spc="-35" dirty="0"/>
              <a:t> </a:t>
            </a:r>
            <a:r>
              <a:rPr spc="-10" dirty="0"/>
              <a:t>images </a:t>
            </a:r>
            <a:r>
              <a:rPr dirty="0"/>
              <a:t>After</a:t>
            </a:r>
            <a:r>
              <a:rPr spc="-20" dirty="0"/>
              <a:t> </a:t>
            </a:r>
            <a:r>
              <a:rPr dirty="0"/>
              <a:t>CONV1:</a:t>
            </a:r>
            <a:r>
              <a:rPr spc="-15" dirty="0"/>
              <a:t> </a:t>
            </a:r>
            <a:r>
              <a:rPr spc="-10" dirty="0"/>
              <a:t>55x55x96</a:t>
            </a: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pc="-10" dirty="0"/>
          </a:p>
          <a:p>
            <a:pPr marL="12700" marR="5080">
              <a:lnSpc>
                <a:spcPct val="100699"/>
              </a:lnSpc>
              <a:spcBef>
                <a:spcPts val="5"/>
              </a:spcBef>
            </a:pPr>
            <a:r>
              <a:rPr b="1" dirty="0">
                <a:latin typeface="Arial"/>
                <a:cs typeface="Arial"/>
              </a:rPr>
              <a:t>Second</a:t>
            </a:r>
            <a:r>
              <a:rPr b="1" spc="-3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layer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dirty="0"/>
              <a:t>(POOL1):</a:t>
            </a:r>
            <a:r>
              <a:rPr spc="-25" dirty="0"/>
              <a:t> </a:t>
            </a:r>
            <a:r>
              <a:rPr dirty="0"/>
              <a:t>3x3</a:t>
            </a:r>
            <a:r>
              <a:rPr spc="-25" dirty="0"/>
              <a:t> </a:t>
            </a:r>
            <a:r>
              <a:rPr dirty="0"/>
              <a:t>filters</a:t>
            </a:r>
            <a:r>
              <a:rPr spc="-20" dirty="0"/>
              <a:t> </a:t>
            </a:r>
            <a:r>
              <a:rPr dirty="0"/>
              <a:t>applied</a:t>
            </a:r>
            <a:r>
              <a:rPr spc="-25" dirty="0"/>
              <a:t> </a:t>
            </a:r>
            <a:r>
              <a:rPr dirty="0"/>
              <a:t>at</a:t>
            </a:r>
            <a:r>
              <a:rPr spc="-25" dirty="0"/>
              <a:t> </a:t>
            </a:r>
            <a:r>
              <a:rPr dirty="0"/>
              <a:t>stride</a:t>
            </a:r>
            <a:r>
              <a:rPr spc="-20" dirty="0"/>
              <a:t> </a:t>
            </a:r>
            <a:r>
              <a:rPr spc="-50" dirty="0"/>
              <a:t>2 </a:t>
            </a:r>
            <a:r>
              <a:rPr dirty="0"/>
              <a:t>Output</a:t>
            </a:r>
            <a:r>
              <a:rPr spc="-35" dirty="0"/>
              <a:t> </a:t>
            </a:r>
            <a:r>
              <a:rPr dirty="0"/>
              <a:t>volume:</a:t>
            </a:r>
            <a:r>
              <a:rPr spc="-30" dirty="0"/>
              <a:t> </a:t>
            </a:r>
            <a:r>
              <a:rPr spc="-10" dirty="0"/>
              <a:t>27x27x96</a:t>
            </a: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pc="-10" dirty="0"/>
          </a:p>
          <a:p>
            <a:pPr marL="12700">
              <a:lnSpc>
                <a:spcPct val="100000"/>
              </a:lnSpc>
            </a:pPr>
            <a:r>
              <a:rPr dirty="0">
                <a:solidFill>
                  <a:srgbClr val="0000FF"/>
                </a:solidFill>
              </a:rPr>
              <a:t>Q:</a:t>
            </a:r>
            <a:r>
              <a:rPr spc="-20" dirty="0">
                <a:solidFill>
                  <a:srgbClr val="0000FF"/>
                </a:solidFill>
              </a:rPr>
              <a:t> </a:t>
            </a:r>
            <a:r>
              <a:rPr dirty="0">
                <a:solidFill>
                  <a:srgbClr val="0000FF"/>
                </a:solidFill>
              </a:rPr>
              <a:t>what</a:t>
            </a:r>
            <a:r>
              <a:rPr spc="-10" dirty="0">
                <a:solidFill>
                  <a:srgbClr val="0000FF"/>
                </a:solidFill>
              </a:rPr>
              <a:t> </a:t>
            </a:r>
            <a:r>
              <a:rPr dirty="0">
                <a:solidFill>
                  <a:srgbClr val="0000FF"/>
                </a:solidFill>
              </a:rPr>
              <a:t>is</a:t>
            </a:r>
            <a:r>
              <a:rPr spc="-10" dirty="0">
                <a:solidFill>
                  <a:srgbClr val="0000FF"/>
                </a:solidFill>
              </a:rPr>
              <a:t> </a:t>
            </a:r>
            <a:r>
              <a:rPr dirty="0">
                <a:solidFill>
                  <a:srgbClr val="0000FF"/>
                </a:solidFill>
              </a:rPr>
              <a:t>the</a:t>
            </a:r>
            <a:r>
              <a:rPr spc="-10" dirty="0">
                <a:solidFill>
                  <a:srgbClr val="0000FF"/>
                </a:solidFill>
              </a:rPr>
              <a:t> </a:t>
            </a:r>
            <a:r>
              <a:rPr dirty="0">
                <a:solidFill>
                  <a:srgbClr val="0000FF"/>
                </a:solidFill>
              </a:rPr>
              <a:t>number</a:t>
            </a:r>
            <a:r>
              <a:rPr spc="-10" dirty="0">
                <a:solidFill>
                  <a:srgbClr val="0000FF"/>
                </a:solidFill>
              </a:rPr>
              <a:t> </a:t>
            </a:r>
            <a:r>
              <a:rPr dirty="0">
                <a:solidFill>
                  <a:srgbClr val="0000FF"/>
                </a:solidFill>
              </a:rPr>
              <a:t>of</a:t>
            </a:r>
            <a:r>
              <a:rPr spc="-10" dirty="0">
                <a:solidFill>
                  <a:srgbClr val="0000FF"/>
                </a:solidFill>
              </a:rPr>
              <a:t> </a:t>
            </a:r>
            <a:r>
              <a:rPr dirty="0">
                <a:solidFill>
                  <a:srgbClr val="0000FF"/>
                </a:solidFill>
              </a:rPr>
              <a:t>parameters</a:t>
            </a:r>
            <a:r>
              <a:rPr spc="-10" dirty="0">
                <a:solidFill>
                  <a:srgbClr val="0000FF"/>
                </a:solidFill>
              </a:rPr>
              <a:t> </a:t>
            </a:r>
            <a:r>
              <a:rPr dirty="0">
                <a:solidFill>
                  <a:srgbClr val="0000FF"/>
                </a:solidFill>
              </a:rPr>
              <a:t>in</a:t>
            </a:r>
            <a:r>
              <a:rPr spc="-10" dirty="0">
                <a:solidFill>
                  <a:srgbClr val="0000FF"/>
                </a:solidFill>
              </a:rPr>
              <a:t> </a:t>
            </a:r>
            <a:r>
              <a:rPr dirty="0">
                <a:solidFill>
                  <a:srgbClr val="0000FF"/>
                </a:solidFill>
              </a:rPr>
              <a:t>this</a:t>
            </a:r>
            <a:r>
              <a:rPr spc="-5" dirty="0">
                <a:solidFill>
                  <a:srgbClr val="0000FF"/>
                </a:solidFill>
              </a:rPr>
              <a:t> </a:t>
            </a:r>
            <a:r>
              <a:rPr spc="-10" dirty="0">
                <a:solidFill>
                  <a:srgbClr val="0000FF"/>
                </a:solidFill>
              </a:rPr>
              <a:t>layer?</a:t>
            </a:r>
          </a:p>
        </p:txBody>
      </p:sp>
      <p:sp>
        <p:nvSpPr>
          <p:cNvPr id="9" name="object 10">
            <a:extLst>
              <a:ext uri="{FF2B5EF4-FFF2-40B4-BE49-F238E27FC236}">
                <a16:creationId xmlns:a16="http://schemas.microsoft.com/office/drawing/2014/main" id="{B8FFB5FC-CB7C-5D47-9B3D-50C668820590}"/>
              </a:ext>
            </a:extLst>
          </p:cNvPr>
          <p:cNvSpPr txBox="1">
            <a:spLocks noGrp="1"/>
          </p:cNvSpPr>
          <p:nvPr>
            <p:ph type="dt" sz="half" idx="4294967295"/>
          </p:nvPr>
        </p:nvSpPr>
        <p:spPr>
          <a:xfrm>
            <a:off x="145224" y="4740846"/>
            <a:ext cx="4699000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lang="en-US" altLang="zh-CN" spc="-10" dirty="0">
                <a:solidFill>
                  <a:schemeClr val="bg1"/>
                </a:solidFill>
              </a:rPr>
              <a:t>Convolutional</a:t>
            </a:r>
            <a:r>
              <a:rPr lang="zh-CN" altLang="en-US" spc="-10" dirty="0">
                <a:solidFill>
                  <a:schemeClr val="bg1"/>
                </a:solidFill>
              </a:rPr>
              <a:t> </a:t>
            </a:r>
            <a:r>
              <a:rPr lang="en-US" altLang="zh-CN" spc="-10" dirty="0">
                <a:solidFill>
                  <a:schemeClr val="bg1"/>
                </a:solidFill>
              </a:rPr>
              <a:t>Neural</a:t>
            </a:r>
            <a:r>
              <a:rPr lang="zh-CN" altLang="en-US" spc="-10" dirty="0">
                <a:solidFill>
                  <a:schemeClr val="bg1"/>
                </a:solidFill>
              </a:rPr>
              <a:t> </a:t>
            </a:r>
            <a:r>
              <a:rPr lang="en-US" altLang="zh-CN" spc="-10" dirty="0">
                <a:solidFill>
                  <a:schemeClr val="bg1"/>
                </a:solidFill>
              </a:rPr>
              <a:t>Networks</a:t>
            </a:r>
            <a:endParaRPr spc="-1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62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45"/>
              </a:spcBef>
            </a:pPr>
            <a:r>
              <a:rPr sz="3000" dirty="0"/>
              <a:t>Case</a:t>
            </a:r>
            <a:r>
              <a:rPr sz="3000" spc="-25" dirty="0"/>
              <a:t> </a:t>
            </a:r>
            <a:r>
              <a:rPr sz="3000" dirty="0"/>
              <a:t>Study:</a:t>
            </a:r>
            <a:r>
              <a:rPr sz="3000" spc="-25" dirty="0"/>
              <a:t> </a:t>
            </a:r>
            <a:r>
              <a:rPr sz="3000" spc="-10" dirty="0"/>
              <a:t>AlexNet</a:t>
            </a:r>
            <a:endParaRPr sz="3000"/>
          </a:p>
          <a:p>
            <a:pPr marL="45720">
              <a:lnSpc>
                <a:spcPct val="100000"/>
              </a:lnSpc>
              <a:spcBef>
                <a:spcPts val="675"/>
              </a:spcBef>
            </a:pPr>
            <a:r>
              <a:rPr sz="1400" i="1" dirty="0">
                <a:latin typeface="Arial"/>
                <a:cs typeface="Arial"/>
              </a:rPr>
              <a:t>[Krizhevsky</a:t>
            </a:r>
            <a:r>
              <a:rPr sz="1400" i="1" spc="-10" dirty="0">
                <a:latin typeface="Arial"/>
                <a:cs typeface="Arial"/>
              </a:rPr>
              <a:t> </a:t>
            </a:r>
            <a:r>
              <a:rPr sz="1400" i="1" dirty="0">
                <a:latin typeface="Arial"/>
                <a:cs typeface="Arial"/>
              </a:rPr>
              <a:t>et</a:t>
            </a:r>
            <a:r>
              <a:rPr sz="1400" i="1" spc="-10" dirty="0">
                <a:latin typeface="Arial"/>
                <a:cs typeface="Arial"/>
              </a:rPr>
              <a:t> </a:t>
            </a:r>
            <a:r>
              <a:rPr sz="1400" i="1" dirty="0">
                <a:latin typeface="Arial"/>
                <a:cs typeface="Arial"/>
              </a:rPr>
              <a:t>al.</a:t>
            </a:r>
            <a:r>
              <a:rPr sz="1400" i="1" spc="-10" dirty="0">
                <a:latin typeface="Arial"/>
                <a:cs typeface="Arial"/>
              </a:rPr>
              <a:t> </a:t>
            </a:r>
            <a:r>
              <a:rPr sz="1400" i="1" spc="-20" dirty="0">
                <a:latin typeface="Arial"/>
                <a:cs typeface="Arial"/>
              </a:rPr>
              <a:t>2012]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06665" y="221722"/>
            <a:ext cx="4984813" cy="1566654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2823210">
              <a:lnSpc>
                <a:spcPct val="100699"/>
              </a:lnSpc>
              <a:spcBef>
                <a:spcPts val="85"/>
              </a:spcBef>
            </a:pPr>
            <a:r>
              <a:rPr dirty="0"/>
              <a:t>Input:</a:t>
            </a:r>
            <a:r>
              <a:rPr spc="-40" dirty="0"/>
              <a:t> </a:t>
            </a:r>
            <a:r>
              <a:rPr dirty="0"/>
              <a:t>227x227x3</a:t>
            </a:r>
            <a:r>
              <a:rPr spc="-35" dirty="0"/>
              <a:t> </a:t>
            </a:r>
            <a:r>
              <a:rPr spc="-10" dirty="0"/>
              <a:t>images </a:t>
            </a:r>
            <a:r>
              <a:rPr dirty="0"/>
              <a:t>After</a:t>
            </a:r>
            <a:r>
              <a:rPr spc="-20" dirty="0"/>
              <a:t> </a:t>
            </a:r>
            <a:r>
              <a:rPr dirty="0"/>
              <a:t>CONV1:</a:t>
            </a:r>
            <a:r>
              <a:rPr spc="-15" dirty="0"/>
              <a:t> </a:t>
            </a:r>
            <a:r>
              <a:rPr spc="-10" dirty="0"/>
              <a:t>55x55x96</a:t>
            </a: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pc="-10" dirty="0"/>
          </a:p>
          <a:p>
            <a:pPr marL="12700" marR="5080">
              <a:lnSpc>
                <a:spcPct val="100699"/>
              </a:lnSpc>
              <a:spcBef>
                <a:spcPts val="5"/>
              </a:spcBef>
            </a:pPr>
            <a:r>
              <a:rPr b="1" dirty="0">
                <a:latin typeface="Arial"/>
                <a:cs typeface="Arial"/>
              </a:rPr>
              <a:t>Second</a:t>
            </a:r>
            <a:r>
              <a:rPr b="1" spc="-3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layer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dirty="0"/>
              <a:t>(POOL1):</a:t>
            </a:r>
            <a:r>
              <a:rPr spc="-25" dirty="0"/>
              <a:t> </a:t>
            </a:r>
            <a:r>
              <a:rPr dirty="0"/>
              <a:t>3x3</a:t>
            </a:r>
            <a:r>
              <a:rPr spc="-25" dirty="0"/>
              <a:t> </a:t>
            </a:r>
            <a:r>
              <a:rPr dirty="0"/>
              <a:t>filters</a:t>
            </a:r>
            <a:r>
              <a:rPr spc="-20" dirty="0"/>
              <a:t> </a:t>
            </a:r>
            <a:r>
              <a:rPr dirty="0"/>
              <a:t>applied</a:t>
            </a:r>
            <a:r>
              <a:rPr spc="-25" dirty="0"/>
              <a:t> </a:t>
            </a:r>
            <a:r>
              <a:rPr dirty="0"/>
              <a:t>at</a:t>
            </a:r>
            <a:r>
              <a:rPr spc="-25" dirty="0"/>
              <a:t> </a:t>
            </a:r>
            <a:r>
              <a:rPr dirty="0"/>
              <a:t>stride</a:t>
            </a:r>
            <a:r>
              <a:rPr spc="-20" dirty="0"/>
              <a:t> </a:t>
            </a:r>
            <a:r>
              <a:rPr spc="-50" dirty="0"/>
              <a:t>2 </a:t>
            </a:r>
            <a:r>
              <a:rPr dirty="0"/>
              <a:t>Output</a:t>
            </a:r>
            <a:r>
              <a:rPr spc="-35" dirty="0"/>
              <a:t> </a:t>
            </a:r>
            <a:r>
              <a:rPr dirty="0"/>
              <a:t>volume:</a:t>
            </a:r>
            <a:r>
              <a:rPr spc="-30" dirty="0"/>
              <a:t> </a:t>
            </a:r>
            <a:r>
              <a:rPr spc="-10" dirty="0"/>
              <a:t>27x27x96</a:t>
            </a: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/>
              <a:t>Parameters:</a:t>
            </a:r>
            <a:r>
              <a:rPr spc="-55" dirty="0"/>
              <a:t> </a:t>
            </a:r>
            <a:r>
              <a:rPr spc="-25" dirty="0"/>
              <a:t>0!</a:t>
            </a:r>
          </a:p>
        </p:txBody>
      </p:sp>
      <p:sp>
        <p:nvSpPr>
          <p:cNvPr id="9" name="object 10">
            <a:extLst>
              <a:ext uri="{FF2B5EF4-FFF2-40B4-BE49-F238E27FC236}">
                <a16:creationId xmlns:a16="http://schemas.microsoft.com/office/drawing/2014/main" id="{5E2F9487-0B47-3A4B-862E-059C6067E88C}"/>
              </a:ext>
            </a:extLst>
          </p:cNvPr>
          <p:cNvSpPr txBox="1">
            <a:spLocks noGrp="1"/>
          </p:cNvSpPr>
          <p:nvPr>
            <p:ph type="dt" sz="half" idx="4294967295"/>
          </p:nvPr>
        </p:nvSpPr>
        <p:spPr>
          <a:xfrm>
            <a:off x="145224" y="4740846"/>
            <a:ext cx="4699000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lang="en-US" altLang="zh-CN" spc="-10" dirty="0">
                <a:solidFill>
                  <a:schemeClr val="bg1"/>
                </a:solidFill>
              </a:rPr>
              <a:t>Convolutional</a:t>
            </a:r>
            <a:r>
              <a:rPr lang="zh-CN" altLang="en-US" spc="-10" dirty="0">
                <a:solidFill>
                  <a:schemeClr val="bg1"/>
                </a:solidFill>
              </a:rPr>
              <a:t> </a:t>
            </a:r>
            <a:r>
              <a:rPr lang="en-US" altLang="zh-CN" spc="-10" dirty="0">
                <a:solidFill>
                  <a:schemeClr val="bg1"/>
                </a:solidFill>
              </a:rPr>
              <a:t>Neural</a:t>
            </a:r>
            <a:r>
              <a:rPr lang="zh-CN" altLang="en-US" spc="-10" dirty="0">
                <a:solidFill>
                  <a:schemeClr val="bg1"/>
                </a:solidFill>
              </a:rPr>
              <a:t> </a:t>
            </a:r>
            <a:r>
              <a:rPr lang="en-US" altLang="zh-CN" spc="-10" dirty="0">
                <a:solidFill>
                  <a:schemeClr val="bg1"/>
                </a:solidFill>
              </a:rPr>
              <a:t>Networks</a:t>
            </a:r>
            <a:endParaRPr spc="-1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62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45"/>
              </a:spcBef>
            </a:pPr>
            <a:r>
              <a:rPr sz="3000" dirty="0"/>
              <a:t>Case</a:t>
            </a:r>
            <a:r>
              <a:rPr sz="3000" spc="-25" dirty="0"/>
              <a:t> </a:t>
            </a:r>
            <a:r>
              <a:rPr sz="3000" dirty="0"/>
              <a:t>Study:</a:t>
            </a:r>
            <a:r>
              <a:rPr sz="3000" spc="-25" dirty="0"/>
              <a:t> </a:t>
            </a:r>
            <a:r>
              <a:rPr sz="3000" spc="-10" dirty="0"/>
              <a:t>AlexNet</a:t>
            </a:r>
            <a:endParaRPr sz="3000"/>
          </a:p>
          <a:p>
            <a:pPr marL="45720">
              <a:lnSpc>
                <a:spcPct val="100000"/>
              </a:lnSpc>
              <a:spcBef>
                <a:spcPts val="675"/>
              </a:spcBef>
            </a:pPr>
            <a:r>
              <a:rPr sz="1400" i="1" dirty="0">
                <a:latin typeface="Arial"/>
                <a:cs typeface="Arial"/>
              </a:rPr>
              <a:t>[Krizhevsky</a:t>
            </a:r>
            <a:r>
              <a:rPr sz="1400" i="1" spc="-10" dirty="0">
                <a:latin typeface="Arial"/>
                <a:cs typeface="Arial"/>
              </a:rPr>
              <a:t> </a:t>
            </a:r>
            <a:r>
              <a:rPr sz="1400" i="1" dirty="0">
                <a:latin typeface="Arial"/>
                <a:cs typeface="Arial"/>
              </a:rPr>
              <a:t>et</a:t>
            </a:r>
            <a:r>
              <a:rPr sz="1400" i="1" spc="-10" dirty="0">
                <a:latin typeface="Arial"/>
                <a:cs typeface="Arial"/>
              </a:rPr>
              <a:t> </a:t>
            </a:r>
            <a:r>
              <a:rPr sz="1400" i="1" dirty="0">
                <a:latin typeface="Arial"/>
                <a:cs typeface="Arial"/>
              </a:rPr>
              <a:t>al.</a:t>
            </a:r>
            <a:r>
              <a:rPr sz="1400" i="1" spc="-10" dirty="0">
                <a:latin typeface="Arial"/>
                <a:cs typeface="Arial"/>
              </a:rPr>
              <a:t> </a:t>
            </a:r>
            <a:r>
              <a:rPr sz="1400" i="1" spc="-20" dirty="0">
                <a:latin typeface="Arial"/>
                <a:cs typeface="Arial"/>
              </a:rPr>
              <a:t>2012]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06665" y="221722"/>
            <a:ext cx="4984813" cy="156665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58149" y="1896315"/>
            <a:ext cx="2578100" cy="112839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>
              <a:lnSpc>
                <a:spcPct val="100699"/>
              </a:lnSpc>
              <a:spcBef>
                <a:spcPts val="85"/>
              </a:spcBef>
            </a:pPr>
            <a:r>
              <a:rPr sz="1800" dirty="0">
                <a:latin typeface="Arial"/>
                <a:cs typeface="Arial"/>
              </a:rPr>
              <a:t>Input:</a:t>
            </a:r>
            <a:r>
              <a:rPr sz="1800" spc="-4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227x227x3</a:t>
            </a:r>
            <a:r>
              <a:rPr sz="1800" spc="-3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images </a:t>
            </a:r>
            <a:r>
              <a:rPr sz="1800" dirty="0">
                <a:latin typeface="Arial"/>
                <a:cs typeface="Arial"/>
              </a:rPr>
              <a:t>After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CONV1: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55x55x96 </a:t>
            </a:r>
            <a:r>
              <a:rPr sz="1800" dirty="0">
                <a:latin typeface="Arial"/>
                <a:cs typeface="Arial"/>
              </a:rPr>
              <a:t>After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POOL1: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27x27x96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spc="-25" dirty="0">
                <a:latin typeface="Arial"/>
                <a:cs typeface="Arial"/>
              </a:rPr>
              <a:t>...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10">
            <a:extLst>
              <a:ext uri="{FF2B5EF4-FFF2-40B4-BE49-F238E27FC236}">
                <a16:creationId xmlns:a16="http://schemas.microsoft.com/office/drawing/2014/main" id="{F1BCDBC3-FE1F-3841-98E9-7C835F0B8415}"/>
              </a:ext>
            </a:extLst>
          </p:cNvPr>
          <p:cNvSpPr txBox="1">
            <a:spLocks noGrp="1"/>
          </p:cNvSpPr>
          <p:nvPr>
            <p:ph type="dt" sz="half" idx="4294967295"/>
          </p:nvPr>
        </p:nvSpPr>
        <p:spPr>
          <a:xfrm>
            <a:off x="145224" y="4740846"/>
            <a:ext cx="4699000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lang="en-US" altLang="zh-CN" spc="-10" dirty="0">
                <a:solidFill>
                  <a:schemeClr val="bg1"/>
                </a:solidFill>
              </a:rPr>
              <a:t>Convolutional</a:t>
            </a:r>
            <a:r>
              <a:rPr lang="zh-CN" altLang="en-US" spc="-10" dirty="0">
                <a:solidFill>
                  <a:schemeClr val="bg1"/>
                </a:solidFill>
              </a:rPr>
              <a:t> </a:t>
            </a:r>
            <a:r>
              <a:rPr lang="en-US" altLang="zh-CN" spc="-10" dirty="0">
                <a:solidFill>
                  <a:schemeClr val="bg1"/>
                </a:solidFill>
              </a:rPr>
              <a:t>Neural</a:t>
            </a:r>
            <a:r>
              <a:rPr lang="zh-CN" altLang="en-US" spc="-10" dirty="0">
                <a:solidFill>
                  <a:schemeClr val="bg1"/>
                </a:solidFill>
              </a:rPr>
              <a:t> </a:t>
            </a:r>
            <a:r>
              <a:rPr lang="en-US" altLang="zh-CN" spc="-10" dirty="0">
                <a:solidFill>
                  <a:schemeClr val="bg1"/>
                </a:solidFill>
              </a:rPr>
              <a:t>Networks</a:t>
            </a:r>
            <a:endParaRPr spc="-1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62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45"/>
              </a:spcBef>
            </a:pPr>
            <a:r>
              <a:rPr sz="3000" dirty="0"/>
              <a:t>Case</a:t>
            </a:r>
            <a:r>
              <a:rPr sz="3000" spc="-25" dirty="0"/>
              <a:t> </a:t>
            </a:r>
            <a:r>
              <a:rPr sz="3000" dirty="0"/>
              <a:t>Study:</a:t>
            </a:r>
            <a:r>
              <a:rPr sz="3000" spc="-25" dirty="0"/>
              <a:t> </a:t>
            </a:r>
            <a:r>
              <a:rPr sz="3000" spc="-10" dirty="0"/>
              <a:t>AlexNet</a:t>
            </a:r>
            <a:endParaRPr sz="3000"/>
          </a:p>
          <a:p>
            <a:pPr marL="45720">
              <a:lnSpc>
                <a:spcPct val="100000"/>
              </a:lnSpc>
              <a:spcBef>
                <a:spcPts val="675"/>
              </a:spcBef>
            </a:pPr>
            <a:r>
              <a:rPr sz="1400" i="1" dirty="0">
                <a:latin typeface="Arial"/>
                <a:cs typeface="Arial"/>
              </a:rPr>
              <a:t>[Krizhevsky</a:t>
            </a:r>
            <a:r>
              <a:rPr sz="1400" i="1" spc="-10" dirty="0">
                <a:latin typeface="Arial"/>
                <a:cs typeface="Arial"/>
              </a:rPr>
              <a:t> </a:t>
            </a:r>
            <a:r>
              <a:rPr sz="1400" i="1" dirty="0">
                <a:latin typeface="Arial"/>
                <a:cs typeface="Arial"/>
              </a:rPr>
              <a:t>et</a:t>
            </a:r>
            <a:r>
              <a:rPr sz="1400" i="1" spc="-10" dirty="0">
                <a:latin typeface="Arial"/>
                <a:cs typeface="Arial"/>
              </a:rPr>
              <a:t> </a:t>
            </a:r>
            <a:r>
              <a:rPr sz="1400" i="1" dirty="0">
                <a:latin typeface="Arial"/>
                <a:cs typeface="Arial"/>
              </a:rPr>
              <a:t>al.</a:t>
            </a:r>
            <a:r>
              <a:rPr sz="1400" i="1" spc="-10" dirty="0">
                <a:latin typeface="Arial"/>
                <a:cs typeface="Arial"/>
              </a:rPr>
              <a:t> </a:t>
            </a:r>
            <a:r>
              <a:rPr sz="1400" i="1" spc="-20" dirty="0">
                <a:latin typeface="Arial"/>
                <a:cs typeface="Arial"/>
              </a:rPr>
              <a:t>2012]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06665" y="221722"/>
            <a:ext cx="4984813" cy="156665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66224" y="1307484"/>
            <a:ext cx="4232910" cy="317246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1320165">
              <a:lnSpc>
                <a:spcPts val="1650"/>
              </a:lnSpc>
              <a:spcBef>
                <a:spcPts val="180"/>
              </a:spcBef>
            </a:pPr>
            <a:r>
              <a:rPr sz="1400" dirty="0">
                <a:latin typeface="Arial"/>
                <a:cs typeface="Arial"/>
              </a:rPr>
              <a:t>Full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(simplified)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AlexNet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architecture: </a:t>
            </a:r>
            <a:r>
              <a:rPr sz="1400" dirty="0">
                <a:latin typeface="Arial"/>
                <a:cs typeface="Arial"/>
              </a:rPr>
              <a:t>[227x227x3]</a:t>
            </a:r>
            <a:r>
              <a:rPr sz="1400" spc="-5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INPUT</a:t>
            </a:r>
            <a:endParaRPr sz="1400">
              <a:latin typeface="Arial"/>
              <a:cs typeface="Arial"/>
            </a:endParaRPr>
          </a:p>
          <a:p>
            <a:pPr marL="12700" marR="5080">
              <a:lnSpc>
                <a:spcPts val="1650"/>
              </a:lnSpc>
            </a:pPr>
            <a:r>
              <a:rPr sz="1400" dirty="0">
                <a:latin typeface="Arial"/>
                <a:cs typeface="Arial"/>
              </a:rPr>
              <a:t>[55x55x96]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0000"/>
                </a:solidFill>
                <a:latin typeface="Arial"/>
                <a:cs typeface="Arial"/>
              </a:rPr>
              <a:t>CONV1</a:t>
            </a:r>
            <a:r>
              <a:rPr sz="1400" dirty="0">
                <a:latin typeface="Arial"/>
                <a:cs typeface="Arial"/>
              </a:rPr>
              <a:t>: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96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11x11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filters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at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stride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4,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pad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spc="-50" dirty="0">
                <a:latin typeface="Arial"/>
                <a:cs typeface="Arial"/>
              </a:rPr>
              <a:t>0 </a:t>
            </a:r>
            <a:r>
              <a:rPr sz="1400" dirty="0">
                <a:latin typeface="Arial"/>
                <a:cs typeface="Arial"/>
              </a:rPr>
              <a:t>[27x27x96]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000FF"/>
                </a:solidFill>
                <a:latin typeface="Arial"/>
                <a:cs typeface="Arial"/>
              </a:rPr>
              <a:t>MAX</a:t>
            </a:r>
            <a:r>
              <a:rPr sz="1400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000FF"/>
                </a:solidFill>
                <a:latin typeface="Arial"/>
                <a:cs typeface="Arial"/>
              </a:rPr>
              <a:t>POOL1</a:t>
            </a:r>
            <a:r>
              <a:rPr sz="1400" dirty="0">
                <a:latin typeface="Arial"/>
                <a:cs typeface="Arial"/>
              </a:rPr>
              <a:t>: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3x3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filters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at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stride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spc="-50" dirty="0">
                <a:latin typeface="Arial"/>
                <a:cs typeface="Arial"/>
              </a:rPr>
              <a:t>2 </a:t>
            </a:r>
            <a:r>
              <a:rPr sz="1400" dirty="0">
                <a:latin typeface="Arial"/>
                <a:cs typeface="Arial"/>
              </a:rPr>
              <a:t>[27x27x96]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38751C"/>
                </a:solidFill>
                <a:latin typeface="Arial"/>
                <a:cs typeface="Arial"/>
              </a:rPr>
              <a:t>NORM1:</a:t>
            </a:r>
            <a:r>
              <a:rPr sz="1400" spc="-45" dirty="0">
                <a:solidFill>
                  <a:srgbClr val="38751C"/>
                </a:solidFill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Normalization</a:t>
            </a:r>
            <a:r>
              <a:rPr sz="1400" spc="-4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layer</a:t>
            </a:r>
            <a:endParaRPr sz="1400">
              <a:latin typeface="Arial"/>
              <a:cs typeface="Arial"/>
            </a:endParaRPr>
          </a:p>
          <a:p>
            <a:pPr marL="12700" marR="5080">
              <a:lnSpc>
                <a:spcPts val="1650"/>
              </a:lnSpc>
            </a:pPr>
            <a:r>
              <a:rPr sz="1400" dirty="0">
                <a:latin typeface="Arial"/>
                <a:cs typeface="Arial"/>
              </a:rPr>
              <a:t>[27x27x256]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0000"/>
                </a:solidFill>
                <a:latin typeface="Arial"/>
                <a:cs typeface="Arial"/>
              </a:rPr>
              <a:t>CONV2</a:t>
            </a:r>
            <a:r>
              <a:rPr sz="1400" dirty="0">
                <a:latin typeface="Arial"/>
                <a:cs typeface="Arial"/>
              </a:rPr>
              <a:t>: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256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5x5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filters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at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stride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1,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pad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spc="-50" dirty="0">
                <a:latin typeface="Arial"/>
                <a:cs typeface="Arial"/>
              </a:rPr>
              <a:t>2 </a:t>
            </a:r>
            <a:r>
              <a:rPr sz="1400" dirty="0">
                <a:latin typeface="Arial"/>
                <a:cs typeface="Arial"/>
              </a:rPr>
              <a:t>[13x13x256]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000FF"/>
                </a:solidFill>
                <a:latin typeface="Arial"/>
                <a:cs typeface="Arial"/>
              </a:rPr>
              <a:t>MAX</a:t>
            </a:r>
            <a:r>
              <a:rPr sz="1400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000FF"/>
                </a:solidFill>
                <a:latin typeface="Arial"/>
                <a:cs typeface="Arial"/>
              </a:rPr>
              <a:t>POOL2:</a:t>
            </a:r>
            <a:r>
              <a:rPr sz="1400" spc="-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3x3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filters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at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stride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spc="-50" dirty="0">
                <a:latin typeface="Arial"/>
                <a:cs typeface="Arial"/>
              </a:rPr>
              <a:t>2 </a:t>
            </a:r>
            <a:r>
              <a:rPr sz="1400" dirty="0">
                <a:latin typeface="Arial"/>
                <a:cs typeface="Arial"/>
              </a:rPr>
              <a:t>[13x13x256]</a:t>
            </a:r>
            <a:r>
              <a:rPr sz="1400" spc="-45" dirty="0"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38751C"/>
                </a:solidFill>
                <a:latin typeface="Arial"/>
                <a:cs typeface="Arial"/>
              </a:rPr>
              <a:t>NORM2:</a:t>
            </a:r>
            <a:r>
              <a:rPr sz="1400" spc="-45" dirty="0">
                <a:solidFill>
                  <a:srgbClr val="38751C"/>
                </a:solidFill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Normalization</a:t>
            </a:r>
            <a:r>
              <a:rPr sz="1400" spc="-4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layer </a:t>
            </a:r>
            <a:r>
              <a:rPr sz="1400" dirty="0">
                <a:latin typeface="Arial"/>
                <a:cs typeface="Arial"/>
              </a:rPr>
              <a:t>[13x13x384]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0000"/>
                </a:solidFill>
                <a:latin typeface="Arial"/>
                <a:cs typeface="Arial"/>
              </a:rPr>
              <a:t>CONV3</a:t>
            </a:r>
            <a:r>
              <a:rPr sz="1400" dirty="0">
                <a:latin typeface="Arial"/>
                <a:cs typeface="Arial"/>
              </a:rPr>
              <a:t>: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384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3x3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filters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at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stride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1,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pad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spc="-50" dirty="0">
                <a:latin typeface="Arial"/>
                <a:cs typeface="Arial"/>
              </a:rPr>
              <a:t>1 </a:t>
            </a:r>
            <a:r>
              <a:rPr sz="1400" dirty="0">
                <a:latin typeface="Arial"/>
                <a:cs typeface="Arial"/>
              </a:rPr>
              <a:t>[13x13x384]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0000"/>
                </a:solidFill>
                <a:latin typeface="Arial"/>
                <a:cs typeface="Arial"/>
              </a:rPr>
              <a:t>CONV4</a:t>
            </a:r>
            <a:r>
              <a:rPr sz="1400" dirty="0">
                <a:latin typeface="Arial"/>
                <a:cs typeface="Arial"/>
              </a:rPr>
              <a:t>: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384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3x3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filters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at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stride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1,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pad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spc="-50" dirty="0">
                <a:latin typeface="Arial"/>
                <a:cs typeface="Arial"/>
              </a:rPr>
              <a:t>1 </a:t>
            </a:r>
            <a:r>
              <a:rPr sz="1400" dirty="0">
                <a:latin typeface="Arial"/>
                <a:cs typeface="Arial"/>
              </a:rPr>
              <a:t>[13x13x256]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0000"/>
                </a:solidFill>
                <a:latin typeface="Arial"/>
                <a:cs typeface="Arial"/>
              </a:rPr>
              <a:t>CONV5</a:t>
            </a:r>
            <a:r>
              <a:rPr sz="1400" dirty="0">
                <a:latin typeface="Arial"/>
                <a:cs typeface="Arial"/>
              </a:rPr>
              <a:t>: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256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3x3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filters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at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stride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1,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pad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spc="-50" dirty="0">
                <a:latin typeface="Arial"/>
                <a:cs typeface="Arial"/>
              </a:rPr>
              <a:t>1 </a:t>
            </a:r>
            <a:r>
              <a:rPr sz="1400" dirty="0">
                <a:latin typeface="Arial"/>
                <a:cs typeface="Arial"/>
              </a:rPr>
              <a:t>[6x6x256]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000FF"/>
                </a:solidFill>
                <a:latin typeface="Arial"/>
                <a:cs typeface="Arial"/>
              </a:rPr>
              <a:t>MAX</a:t>
            </a:r>
            <a:r>
              <a:rPr sz="1400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000FF"/>
                </a:solidFill>
                <a:latin typeface="Arial"/>
                <a:cs typeface="Arial"/>
              </a:rPr>
              <a:t>POOL3</a:t>
            </a:r>
            <a:r>
              <a:rPr sz="1400" dirty="0">
                <a:latin typeface="Arial"/>
                <a:cs typeface="Arial"/>
              </a:rPr>
              <a:t>: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3x3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filters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at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stride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spc="-50" dirty="0">
                <a:latin typeface="Arial"/>
                <a:cs typeface="Arial"/>
              </a:rPr>
              <a:t>2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ts val="1585"/>
              </a:lnSpc>
            </a:pPr>
            <a:r>
              <a:rPr sz="1400" dirty="0">
                <a:latin typeface="Arial"/>
                <a:cs typeface="Arial"/>
              </a:rPr>
              <a:t>[4096]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E69138"/>
                </a:solidFill>
                <a:latin typeface="Arial"/>
                <a:cs typeface="Arial"/>
              </a:rPr>
              <a:t>FC6:</a:t>
            </a:r>
            <a:r>
              <a:rPr sz="1400" spc="-20" dirty="0">
                <a:solidFill>
                  <a:srgbClr val="E69138"/>
                </a:solidFill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4096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neurons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ts val="1650"/>
              </a:lnSpc>
            </a:pPr>
            <a:r>
              <a:rPr sz="1400" dirty="0">
                <a:latin typeface="Arial"/>
                <a:cs typeface="Arial"/>
              </a:rPr>
              <a:t>[4096]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E69138"/>
                </a:solidFill>
                <a:latin typeface="Arial"/>
                <a:cs typeface="Arial"/>
              </a:rPr>
              <a:t>FC7:</a:t>
            </a:r>
            <a:r>
              <a:rPr sz="1400" spc="-20" dirty="0">
                <a:solidFill>
                  <a:srgbClr val="E69138"/>
                </a:solidFill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4096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neurons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ts val="1664"/>
              </a:lnSpc>
            </a:pPr>
            <a:r>
              <a:rPr sz="1400" dirty="0">
                <a:latin typeface="Arial"/>
                <a:cs typeface="Arial"/>
              </a:rPr>
              <a:t>[1000]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E69138"/>
                </a:solidFill>
                <a:latin typeface="Arial"/>
                <a:cs typeface="Arial"/>
              </a:rPr>
              <a:t>FC8:</a:t>
            </a:r>
            <a:r>
              <a:rPr sz="1400" spc="-10" dirty="0">
                <a:solidFill>
                  <a:srgbClr val="E69138"/>
                </a:solidFill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1000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neurons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(class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scores)</a:t>
            </a:r>
            <a:endParaRPr sz="1400">
              <a:latin typeface="Arial"/>
              <a:cs typeface="Arial"/>
            </a:endParaRPr>
          </a:p>
        </p:txBody>
      </p:sp>
      <p:sp>
        <p:nvSpPr>
          <p:cNvPr id="9" name="object 10">
            <a:extLst>
              <a:ext uri="{FF2B5EF4-FFF2-40B4-BE49-F238E27FC236}">
                <a16:creationId xmlns:a16="http://schemas.microsoft.com/office/drawing/2014/main" id="{1C56F17A-C904-5244-902E-51313AE068CE}"/>
              </a:ext>
            </a:extLst>
          </p:cNvPr>
          <p:cNvSpPr txBox="1">
            <a:spLocks noGrp="1"/>
          </p:cNvSpPr>
          <p:nvPr>
            <p:ph type="dt" sz="half" idx="4294967295"/>
          </p:nvPr>
        </p:nvSpPr>
        <p:spPr>
          <a:xfrm>
            <a:off x="145224" y="4740846"/>
            <a:ext cx="4699000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lang="en-US" altLang="zh-CN" spc="-10" dirty="0">
                <a:solidFill>
                  <a:schemeClr val="bg1"/>
                </a:solidFill>
              </a:rPr>
              <a:t>Convolutional</a:t>
            </a:r>
            <a:r>
              <a:rPr lang="zh-CN" altLang="en-US" spc="-10" dirty="0">
                <a:solidFill>
                  <a:schemeClr val="bg1"/>
                </a:solidFill>
              </a:rPr>
              <a:t> </a:t>
            </a:r>
            <a:r>
              <a:rPr lang="en-US" altLang="zh-CN" spc="-10" dirty="0">
                <a:solidFill>
                  <a:schemeClr val="bg1"/>
                </a:solidFill>
              </a:rPr>
              <a:t>Neural</a:t>
            </a:r>
            <a:r>
              <a:rPr lang="zh-CN" altLang="en-US" spc="-10" dirty="0">
                <a:solidFill>
                  <a:schemeClr val="bg1"/>
                </a:solidFill>
              </a:rPr>
              <a:t> </a:t>
            </a:r>
            <a:r>
              <a:rPr lang="en-US" altLang="zh-CN" spc="-10" dirty="0">
                <a:solidFill>
                  <a:schemeClr val="bg1"/>
                </a:solidFill>
              </a:rPr>
              <a:t>Networks</a:t>
            </a:r>
            <a:endParaRPr spc="-1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62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45"/>
              </a:spcBef>
            </a:pPr>
            <a:r>
              <a:rPr sz="3000" dirty="0"/>
              <a:t>Case</a:t>
            </a:r>
            <a:r>
              <a:rPr sz="3000" spc="-25" dirty="0"/>
              <a:t> </a:t>
            </a:r>
            <a:r>
              <a:rPr sz="3000" dirty="0"/>
              <a:t>Study:</a:t>
            </a:r>
            <a:r>
              <a:rPr sz="3000" spc="-25" dirty="0"/>
              <a:t> </a:t>
            </a:r>
            <a:r>
              <a:rPr sz="3000" spc="-10" dirty="0"/>
              <a:t>AlexNet</a:t>
            </a:r>
            <a:endParaRPr sz="3000"/>
          </a:p>
          <a:p>
            <a:pPr marL="45720">
              <a:lnSpc>
                <a:spcPct val="100000"/>
              </a:lnSpc>
              <a:spcBef>
                <a:spcPts val="675"/>
              </a:spcBef>
            </a:pPr>
            <a:r>
              <a:rPr sz="1400" i="1" dirty="0">
                <a:latin typeface="Arial"/>
                <a:cs typeface="Arial"/>
              </a:rPr>
              <a:t>[Krizhevsky</a:t>
            </a:r>
            <a:r>
              <a:rPr sz="1400" i="1" spc="-10" dirty="0">
                <a:latin typeface="Arial"/>
                <a:cs typeface="Arial"/>
              </a:rPr>
              <a:t> </a:t>
            </a:r>
            <a:r>
              <a:rPr sz="1400" i="1" dirty="0">
                <a:latin typeface="Arial"/>
                <a:cs typeface="Arial"/>
              </a:rPr>
              <a:t>et</a:t>
            </a:r>
            <a:r>
              <a:rPr sz="1400" i="1" spc="-10" dirty="0">
                <a:latin typeface="Arial"/>
                <a:cs typeface="Arial"/>
              </a:rPr>
              <a:t> </a:t>
            </a:r>
            <a:r>
              <a:rPr sz="1400" i="1" dirty="0">
                <a:latin typeface="Arial"/>
                <a:cs typeface="Arial"/>
              </a:rPr>
              <a:t>al.</a:t>
            </a:r>
            <a:r>
              <a:rPr sz="1400" i="1" spc="-10" dirty="0">
                <a:latin typeface="Arial"/>
                <a:cs typeface="Arial"/>
              </a:rPr>
              <a:t> </a:t>
            </a:r>
            <a:r>
              <a:rPr sz="1400" i="1" spc="-20" dirty="0">
                <a:latin typeface="Arial"/>
                <a:cs typeface="Arial"/>
              </a:rPr>
              <a:t>2012]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06665" y="221722"/>
            <a:ext cx="4984813" cy="156665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66224" y="1307484"/>
            <a:ext cx="4232910" cy="254381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1320165">
              <a:lnSpc>
                <a:spcPts val="1650"/>
              </a:lnSpc>
              <a:spcBef>
                <a:spcPts val="180"/>
              </a:spcBef>
            </a:pPr>
            <a:r>
              <a:rPr sz="1400" dirty="0">
                <a:latin typeface="Arial"/>
                <a:cs typeface="Arial"/>
              </a:rPr>
              <a:t>Full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(simplified)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AlexNet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architecture: </a:t>
            </a:r>
            <a:r>
              <a:rPr sz="1400" dirty="0">
                <a:latin typeface="Arial"/>
                <a:cs typeface="Arial"/>
              </a:rPr>
              <a:t>[227x227x3]</a:t>
            </a:r>
            <a:r>
              <a:rPr sz="1400" spc="-5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INPUT</a:t>
            </a:r>
            <a:endParaRPr sz="1400">
              <a:latin typeface="Arial"/>
              <a:cs typeface="Arial"/>
            </a:endParaRPr>
          </a:p>
          <a:p>
            <a:pPr marL="12700" marR="5080">
              <a:lnSpc>
                <a:spcPts val="1650"/>
              </a:lnSpc>
            </a:pPr>
            <a:r>
              <a:rPr sz="1400" dirty="0">
                <a:latin typeface="Arial"/>
                <a:cs typeface="Arial"/>
              </a:rPr>
              <a:t>[55x55x96]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0000"/>
                </a:solidFill>
                <a:latin typeface="Arial"/>
                <a:cs typeface="Arial"/>
              </a:rPr>
              <a:t>CONV1</a:t>
            </a:r>
            <a:r>
              <a:rPr sz="1400" dirty="0">
                <a:latin typeface="Arial"/>
                <a:cs typeface="Arial"/>
              </a:rPr>
              <a:t>: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96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11x11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filters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at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stride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4,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pad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spc="-50" dirty="0">
                <a:latin typeface="Arial"/>
                <a:cs typeface="Arial"/>
              </a:rPr>
              <a:t>0 </a:t>
            </a:r>
            <a:r>
              <a:rPr sz="1400" dirty="0">
                <a:latin typeface="Arial"/>
                <a:cs typeface="Arial"/>
              </a:rPr>
              <a:t>[27x27x96]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000FF"/>
                </a:solidFill>
                <a:latin typeface="Arial"/>
                <a:cs typeface="Arial"/>
              </a:rPr>
              <a:t>MAX</a:t>
            </a:r>
            <a:r>
              <a:rPr sz="1400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000FF"/>
                </a:solidFill>
                <a:latin typeface="Arial"/>
                <a:cs typeface="Arial"/>
              </a:rPr>
              <a:t>POOL1</a:t>
            </a:r>
            <a:r>
              <a:rPr sz="1400" dirty="0">
                <a:latin typeface="Arial"/>
                <a:cs typeface="Arial"/>
              </a:rPr>
              <a:t>: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3x3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filters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at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stride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spc="-50" dirty="0">
                <a:latin typeface="Arial"/>
                <a:cs typeface="Arial"/>
              </a:rPr>
              <a:t>2 </a:t>
            </a:r>
            <a:r>
              <a:rPr sz="1400" dirty="0">
                <a:latin typeface="Arial"/>
                <a:cs typeface="Arial"/>
              </a:rPr>
              <a:t>[27x27x96]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38751C"/>
                </a:solidFill>
                <a:latin typeface="Arial"/>
                <a:cs typeface="Arial"/>
              </a:rPr>
              <a:t>NORM1:</a:t>
            </a:r>
            <a:r>
              <a:rPr sz="1400" spc="-45" dirty="0">
                <a:solidFill>
                  <a:srgbClr val="38751C"/>
                </a:solidFill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Normalization</a:t>
            </a:r>
            <a:r>
              <a:rPr sz="1400" spc="-4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layer</a:t>
            </a:r>
            <a:endParaRPr sz="1400">
              <a:latin typeface="Arial"/>
              <a:cs typeface="Arial"/>
            </a:endParaRPr>
          </a:p>
          <a:p>
            <a:pPr marL="12700" marR="5080">
              <a:lnSpc>
                <a:spcPts val="1650"/>
              </a:lnSpc>
            </a:pPr>
            <a:r>
              <a:rPr sz="1400" dirty="0">
                <a:latin typeface="Arial"/>
                <a:cs typeface="Arial"/>
              </a:rPr>
              <a:t>[27x27x256]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0000"/>
                </a:solidFill>
                <a:latin typeface="Arial"/>
                <a:cs typeface="Arial"/>
              </a:rPr>
              <a:t>CONV2</a:t>
            </a:r>
            <a:r>
              <a:rPr sz="1400" dirty="0">
                <a:latin typeface="Arial"/>
                <a:cs typeface="Arial"/>
              </a:rPr>
              <a:t>: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256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5x5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filters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at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stride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1,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pad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spc="-50" dirty="0">
                <a:latin typeface="Arial"/>
                <a:cs typeface="Arial"/>
              </a:rPr>
              <a:t>2 </a:t>
            </a:r>
            <a:r>
              <a:rPr sz="1400" dirty="0">
                <a:latin typeface="Arial"/>
                <a:cs typeface="Arial"/>
              </a:rPr>
              <a:t>[13x13x256]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000FF"/>
                </a:solidFill>
                <a:latin typeface="Arial"/>
                <a:cs typeface="Arial"/>
              </a:rPr>
              <a:t>MAX</a:t>
            </a:r>
            <a:r>
              <a:rPr sz="1400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000FF"/>
                </a:solidFill>
                <a:latin typeface="Arial"/>
                <a:cs typeface="Arial"/>
              </a:rPr>
              <a:t>POOL2:</a:t>
            </a:r>
            <a:r>
              <a:rPr sz="1400" spc="-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3x3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filters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at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stride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spc="-50" dirty="0">
                <a:latin typeface="Arial"/>
                <a:cs typeface="Arial"/>
              </a:rPr>
              <a:t>2 </a:t>
            </a:r>
            <a:r>
              <a:rPr sz="1400" dirty="0">
                <a:latin typeface="Arial"/>
                <a:cs typeface="Arial"/>
              </a:rPr>
              <a:t>[13x13x256]</a:t>
            </a:r>
            <a:r>
              <a:rPr sz="1400" spc="-45" dirty="0"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38751C"/>
                </a:solidFill>
                <a:latin typeface="Arial"/>
                <a:cs typeface="Arial"/>
              </a:rPr>
              <a:t>NORM2:</a:t>
            </a:r>
            <a:r>
              <a:rPr sz="1400" spc="-45" dirty="0">
                <a:solidFill>
                  <a:srgbClr val="38751C"/>
                </a:solidFill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Normalization</a:t>
            </a:r>
            <a:r>
              <a:rPr sz="1400" spc="-4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layer </a:t>
            </a:r>
            <a:r>
              <a:rPr sz="1400" dirty="0">
                <a:latin typeface="Arial"/>
                <a:cs typeface="Arial"/>
              </a:rPr>
              <a:t>[13x13x384]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0000"/>
                </a:solidFill>
                <a:latin typeface="Arial"/>
                <a:cs typeface="Arial"/>
              </a:rPr>
              <a:t>CONV3</a:t>
            </a:r>
            <a:r>
              <a:rPr sz="1400" dirty="0">
                <a:latin typeface="Arial"/>
                <a:cs typeface="Arial"/>
              </a:rPr>
              <a:t>: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384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3x3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filters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at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stride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1,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pad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spc="-50" dirty="0">
                <a:latin typeface="Arial"/>
                <a:cs typeface="Arial"/>
              </a:rPr>
              <a:t>1 </a:t>
            </a:r>
            <a:r>
              <a:rPr sz="1400" dirty="0">
                <a:latin typeface="Arial"/>
                <a:cs typeface="Arial"/>
              </a:rPr>
              <a:t>[13x13x384]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0000"/>
                </a:solidFill>
                <a:latin typeface="Arial"/>
                <a:cs typeface="Arial"/>
              </a:rPr>
              <a:t>CONV4</a:t>
            </a:r>
            <a:r>
              <a:rPr sz="1400" dirty="0">
                <a:latin typeface="Arial"/>
                <a:cs typeface="Arial"/>
              </a:rPr>
              <a:t>: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384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3x3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filters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at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stride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1,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pad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spc="-50" dirty="0">
                <a:latin typeface="Arial"/>
                <a:cs typeface="Arial"/>
              </a:rPr>
              <a:t>1 </a:t>
            </a:r>
            <a:r>
              <a:rPr sz="1400" dirty="0">
                <a:latin typeface="Arial"/>
                <a:cs typeface="Arial"/>
              </a:rPr>
              <a:t>[13x13x256]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0000"/>
                </a:solidFill>
                <a:latin typeface="Arial"/>
                <a:cs typeface="Arial"/>
              </a:rPr>
              <a:t>CONV5</a:t>
            </a:r>
            <a:r>
              <a:rPr sz="1400" dirty="0">
                <a:latin typeface="Arial"/>
                <a:cs typeface="Arial"/>
              </a:rPr>
              <a:t>: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256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3x3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filters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at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stride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1,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pad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spc="-50" dirty="0">
                <a:latin typeface="Arial"/>
                <a:cs typeface="Arial"/>
              </a:rPr>
              <a:t>1 </a:t>
            </a:r>
            <a:r>
              <a:rPr sz="1400" dirty="0">
                <a:latin typeface="Arial"/>
                <a:cs typeface="Arial"/>
              </a:rPr>
              <a:t>[6x6x256]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000FF"/>
                </a:solidFill>
                <a:latin typeface="Arial"/>
                <a:cs typeface="Arial"/>
              </a:rPr>
              <a:t>MAX</a:t>
            </a:r>
            <a:r>
              <a:rPr sz="1400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000FF"/>
                </a:solidFill>
                <a:latin typeface="Arial"/>
                <a:cs typeface="Arial"/>
              </a:rPr>
              <a:t>POOL3</a:t>
            </a:r>
            <a:r>
              <a:rPr sz="1400" dirty="0">
                <a:latin typeface="Arial"/>
                <a:cs typeface="Arial"/>
              </a:rPr>
              <a:t>: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3x3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filters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at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stride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spc="-50" dirty="0">
                <a:latin typeface="Arial"/>
                <a:cs typeface="Arial"/>
              </a:rPr>
              <a:t>2</a:t>
            </a:r>
            <a:endParaRPr sz="14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6224" y="3838921"/>
            <a:ext cx="3236595" cy="6432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z="1400" dirty="0">
                <a:latin typeface="Arial"/>
                <a:cs typeface="Arial"/>
              </a:rPr>
              <a:t>[4096]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E69138"/>
                </a:solidFill>
                <a:latin typeface="Arial"/>
                <a:cs typeface="Arial"/>
              </a:rPr>
              <a:t>FC6:</a:t>
            </a:r>
            <a:r>
              <a:rPr sz="1400" spc="-20" dirty="0">
                <a:solidFill>
                  <a:srgbClr val="E69138"/>
                </a:solidFill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4096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neurons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ts val="1650"/>
              </a:lnSpc>
            </a:pPr>
            <a:r>
              <a:rPr sz="1400" dirty="0">
                <a:latin typeface="Arial"/>
                <a:cs typeface="Arial"/>
              </a:rPr>
              <a:t>[4096]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E69138"/>
                </a:solidFill>
                <a:latin typeface="Arial"/>
                <a:cs typeface="Arial"/>
              </a:rPr>
              <a:t>FC7:</a:t>
            </a:r>
            <a:r>
              <a:rPr sz="1400" spc="-20" dirty="0">
                <a:solidFill>
                  <a:srgbClr val="E69138"/>
                </a:solidFill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4096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neurons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ts val="1664"/>
              </a:lnSpc>
            </a:pPr>
            <a:r>
              <a:rPr sz="1400" dirty="0">
                <a:latin typeface="Arial"/>
                <a:cs typeface="Arial"/>
              </a:rPr>
              <a:t>[1000]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E69138"/>
                </a:solidFill>
                <a:latin typeface="Arial"/>
                <a:cs typeface="Arial"/>
              </a:rPr>
              <a:t>FC8:</a:t>
            </a:r>
            <a:r>
              <a:rPr sz="1400" spc="-10" dirty="0">
                <a:solidFill>
                  <a:srgbClr val="E69138"/>
                </a:solidFill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1000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neurons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(class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scores)</a:t>
            </a:r>
            <a:endParaRPr sz="14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333843" y="3944267"/>
            <a:ext cx="2854325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dirty="0">
                <a:solidFill>
                  <a:srgbClr val="0000FF"/>
                </a:solidFill>
                <a:latin typeface="Arial"/>
                <a:cs typeface="Arial"/>
              </a:rPr>
              <a:t>-</a:t>
            </a:r>
            <a:r>
              <a:rPr sz="1400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000FF"/>
                </a:solidFill>
                <a:latin typeface="Arial"/>
                <a:cs typeface="Arial"/>
              </a:rPr>
              <a:t>7</a:t>
            </a:r>
            <a:r>
              <a:rPr sz="1400" spc="-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000FF"/>
                </a:solidFill>
                <a:latin typeface="Arial"/>
                <a:cs typeface="Arial"/>
              </a:rPr>
              <a:t>CNN</a:t>
            </a:r>
            <a:r>
              <a:rPr sz="1400" spc="-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000FF"/>
                </a:solidFill>
                <a:latin typeface="Arial"/>
                <a:cs typeface="Arial"/>
              </a:rPr>
              <a:t>ensemble:</a:t>
            </a:r>
            <a:r>
              <a:rPr sz="1400" spc="-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000FF"/>
                </a:solidFill>
                <a:latin typeface="Arial"/>
                <a:cs typeface="Arial"/>
              </a:rPr>
              <a:t>18.2%</a:t>
            </a:r>
            <a:r>
              <a:rPr sz="1400" spc="-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0000FF"/>
                </a:solidFill>
                <a:latin typeface="Arial"/>
                <a:cs typeface="Arial"/>
              </a:rPr>
              <a:t>-</a:t>
            </a:r>
            <a:r>
              <a:rPr sz="1400" dirty="0">
                <a:solidFill>
                  <a:srgbClr val="0000FF"/>
                </a:solidFill>
                <a:latin typeface="Arial"/>
                <a:cs typeface="Arial"/>
              </a:rPr>
              <a:t>&gt;</a:t>
            </a:r>
            <a:r>
              <a:rPr sz="1400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0000FF"/>
                </a:solidFill>
                <a:latin typeface="Arial"/>
                <a:cs typeface="Arial"/>
              </a:rPr>
              <a:t>15.4%</a:t>
            </a:r>
            <a:endParaRPr sz="1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33843" y="1831929"/>
            <a:ext cx="3413125" cy="21247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664"/>
              </a:lnSpc>
              <a:spcBef>
                <a:spcPts val="100"/>
              </a:spcBef>
            </a:pPr>
            <a:r>
              <a:rPr sz="1400" b="1" spc="-10" dirty="0">
                <a:solidFill>
                  <a:srgbClr val="0000FF"/>
                </a:solidFill>
                <a:latin typeface="Arial"/>
                <a:cs typeface="Arial"/>
              </a:rPr>
              <a:t>Details/Retrospectives:</a:t>
            </a:r>
            <a:endParaRPr sz="1400">
              <a:latin typeface="Arial"/>
              <a:cs typeface="Arial"/>
            </a:endParaRPr>
          </a:p>
          <a:p>
            <a:pPr marL="120014" indent="-107314">
              <a:lnSpc>
                <a:spcPts val="1650"/>
              </a:lnSpc>
              <a:buChar char="-"/>
              <a:tabLst>
                <a:tab pos="120014" algn="l"/>
              </a:tabLst>
            </a:pPr>
            <a:r>
              <a:rPr sz="1400" dirty="0">
                <a:solidFill>
                  <a:srgbClr val="0000FF"/>
                </a:solidFill>
                <a:latin typeface="Arial"/>
                <a:cs typeface="Arial"/>
              </a:rPr>
              <a:t>first</a:t>
            </a:r>
            <a:r>
              <a:rPr sz="1400" spc="-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000FF"/>
                </a:solidFill>
                <a:latin typeface="Arial"/>
                <a:cs typeface="Arial"/>
              </a:rPr>
              <a:t>use</a:t>
            </a:r>
            <a:r>
              <a:rPr sz="1400" spc="-1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000FF"/>
                </a:solidFill>
                <a:latin typeface="Arial"/>
                <a:cs typeface="Arial"/>
              </a:rPr>
              <a:t>of</a:t>
            </a:r>
            <a:r>
              <a:rPr sz="1400" spc="-1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400" spc="-20" dirty="0">
                <a:solidFill>
                  <a:srgbClr val="0000FF"/>
                </a:solidFill>
                <a:latin typeface="Arial"/>
                <a:cs typeface="Arial"/>
              </a:rPr>
              <a:t>ReLU</a:t>
            </a:r>
            <a:endParaRPr sz="1400">
              <a:latin typeface="Arial"/>
              <a:cs typeface="Arial"/>
            </a:endParaRPr>
          </a:p>
          <a:p>
            <a:pPr marL="120014" indent="-107314">
              <a:lnSpc>
                <a:spcPts val="1650"/>
              </a:lnSpc>
              <a:buChar char="-"/>
              <a:tabLst>
                <a:tab pos="120014" algn="l"/>
              </a:tabLst>
            </a:pPr>
            <a:r>
              <a:rPr sz="1400" dirty="0">
                <a:solidFill>
                  <a:srgbClr val="0000FF"/>
                </a:solidFill>
                <a:latin typeface="Arial"/>
                <a:cs typeface="Arial"/>
              </a:rPr>
              <a:t>used</a:t>
            </a:r>
            <a:r>
              <a:rPr sz="1400" spc="-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000FF"/>
                </a:solidFill>
                <a:latin typeface="Arial"/>
                <a:cs typeface="Arial"/>
              </a:rPr>
              <a:t>Norm</a:t>
            </a:r>
            <a:r>
              <a:rPr sz="1400" spc="-1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000FF"/>
                </a:solidFill>
                <a:latin typeface="Arial"/>
                <a:cs typeface="Arial"/>
              </a:rPr>
              <a:t>layers</a:t>
            </a:r>
            <a:r>
              <a:rPr sz="1400" spc="-1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000FF"/>
                </a:solidFill>
                <a:latin typeface="Arial"/>
                <a:cs typeface="Arial"/>
              </a:rPr>
              <a:t>(not</a:t>
            </a:r>
            <a:r>
              <a:rPr sz="1400" spc="-1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000FF"/>
                </a:solidFill>
                <a:latin typeface="Arial"/>
                <a:cs typeface="Arial"/>
              </a:rPr>
              <a:t>common</a:t>
            </a:r>
            <a:r>
              <a:rPr sz="1400" spc="-1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0000FF"/>
                </a:solidFill>
                <a:latin typeface="Arial"/>
                <a:cs typeface="Arial"/>
              </a:rPr>
              <a:t>anymore)</a:t>
            </a:r>
            <a:endParaRPr sz="1400">
              <a:latin typeface="Arial"/>
              <a:cs typeface="Arial"/>
            </a:endParaRPr>
          </a:p>
          <a:p>
            <a:pPr marL="120014" indent="-107314">
              <a:lnSpc>
                <a:spcPts val="1650"/>
              </a:lnSpc>
              <a:buChar char="-"/>
              <a:tabLst>
                <a:tab pos="120014" algn="l"/>
              </a:tabLst>
            </a:pPr>
            <a:r>
              <a:rPr sz="1400" dirty="0">
                <a:solidFill>
                  <a:srgbClr val="0000FF"/>
                </a:solidFill>
                <a:latin typeface="Arial"/>
                <a:cs typeface="Arial"/>
              </a:rPr>
              <a:t>heavy</a:t>
            </a:r>
            <a:r>
              <a:rPr sz="1400" spc="-1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000FF"/>
                </a:solidFill>
                <a:latin typeface="Arial"/>
                <a:cs typeface="Arial"/>
              </a:rPr>
              <a:t>data</a:t>
            </a:r>
            <a:r>
              <a:rPr sz="1400" spc="-10" dirty="0">
                <a:solidFill>
                  <a:srgbClr val="0000FF"/>
                </a:solidFill>
                <a:latin typeface="Arial"/>
                <a:cs typeface="Arial"/>
              </a:rPr>
              <a:t> augmentation</a:t>
            </a:r>
            <a:endParaRPr sz="1400">
              <a:latin typeface="Arial"/>
              <a:cs typeface="Arial"/>
            </a:endParaRPr>
          </a:p>
          <a:p>
            <a:pPr marL="120014" indent="-107314">
              <a:lnSpc>
                <a:spcPts val="1650"/>
              </a:lnSpc>
              <a:buChar char="-"/>
              <a:tabLst>
                <a:tab pos="120014" algn="l"/>
              </a:tabLst>
            </a:pPr>
            <a:r>
              <a:rPr sz="1400" dirty="0">
                <a:solidFill>
                  <a:srgbClr val="0000FF"/>
                </a:solidFill>
                <a:latin typeface="Arial"/>
                <a:cs typeface="Arial"/>
              </a:rPr>
              <a:t>dropout</a:t>
            </a:r>
            <a:r>
              <a:rPr sz="1400" spc="-3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400" spc="-25" dirty="0">
                <a:solidFill>
                  <a:srgbClr val="0000FF"/>
                </a:solidFill>
                <a:latin typeface="Arial"/>
                <a:cs typeface="Arial"/>
              </a:rPr>
              <a:t>0.5</a:t>
            </a:r>
            <a:endParaRPr sz="1400">
              <a:latin typeface="Arial"/>
              <a:cs typeface="Arial"/>
            </a:endParaRPr>
          </a:p>
          <a:p>
            <a:pPr marL="120014" indent="-107314">
              <a:lnSpc>
                <a:spcPts val="1650"/>
              </a:lnSpc>
              <a:buChar char="-"/>
              <a:tabLst>
                <a:tab pos="120014" algn="l"/>
              </a:tabLst>
            </a:pPr>
            <a:r>
              <a:rPr sz="1400" dirty="0">
                <a:solidFill>
                  <a:srgbClr val="0000FF"/>
                </a:solidFill>
                <a:latin typeface="Arial"/>
                <a:cs typeface="Arial"/>
              </a:rPr>
              <a:t>batch</a:t>
            </a:r>
            <a:r>
              <a:rPr sz="1400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000FF"/>
                </a:solidFill>
                <a:latin typeface="Arial"/>
                <a:cs typeface="Arial"/>
              </a:rPr>
              <a:t>size</a:t>
            </a:r>
            <a:r>
              <a:rPr sz="1400" spc="-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400" spc="-25" dirty="0">
                <a:solidFill>
                  <a:srgbClr val="0000FF"/>
                </a:solidFill>
                <a:latin typeface="Arial"/>
                <a:cs typeface="Arial"/>
              </a:rPr>
              <a:t>128</a:t>
            </a:r>
            <a:endParaRPr sz="1400">
              <a:latin typeface="Arial"/>
              <a:cs typeface="Arial"/>
            </a:endParaRPr>
          </a:p>
          <a:p>
            <a:pPr marL="120014" indent="-107314">
              <a:lnSpc>
                <a:spcPts val="1650"/>
              </a:lnSpc>
              <a:buChar char="-"/>
              <a:tabLst>
                <a:tab pos="120014" algn="l"/>
              </a:tabLst>
            </a:pPr>
            <a:r>
              <a:rPr sz="1400" dirty="0">
                <a:solidFill>
                  <a:srgbClr val="0000FF"/>
                </a:solidFill>
                <a:latin typeface="Arial"/>
                <a:cs typeface="Arial"/>
              </a:rPr>
              <a:t>SGD</a:t>
            </a:r>
            <a:r>
              <a:rPr sz="1400" spc="-3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000FF"/>
                </a:solidFill>
                <a:latin typeface="Arial"/>
                <a:cs typeface="Arial"/>
              </a:rPr>
              <a:t>Momentum</a:t>
            </a:r>
            <a:r>
              <a:rPr sz="1400" spc="-25" dirty="0">
                <a:solidFill>
                  <a:srgbClr val="0000FF"/>
                </a:solidFill>
                <a:latin typeface="Arial"/>
                <a:cs typeface="Arial"/>
              </a:rPr>
              <a:t> 0.9</a:t>
            </a:r>
            <a:endParaRPr sz="1400">
              <a:latin typeface="Arial"/>
              <a:cs typeface="Arial"/>
            </a:endParaRPr>
          </a:p>
          <a:p>
            <a:pPr marL="12700" marR="447675" indent="107314">
              <a:lnSpc>
                <a:spcPts val="1650"/>
              </a:lnSpc>
              <a:spcBef>
                <a:spcPts val="65"/>
              </a:spcBef>
              <a:buChar char="-"/>
              <a:tabLst>
                <a:tab pos="120014" algn="l"/>
              </a:tabLst>
            </a:pPr>
            <a:r>
              <a:rPr sz="1400" dirty="0">
                <a:solidFill>
                  <a:srgbClr val="0000FF"/>
                </a:solidFill>
                <a:latin typeface="Arial"/>
                <a:cs typeface="Arial"/>
              </a:rPr>
              <a:t>Learning</a:t>
            </a:r>
            <a:r>
              <a:rPr sz="1400" spc="-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000FF"/>
                </a:solidFill>
                <a:latin typeface="Arial"/>
                <a:cs typeface="Arial"/>
              </a:rPr>
              <a:t>rate</a:t>
            </a:r>
            <a:r>
              <a:rPr sz="1400" spc="-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0000FF"/>
                </a:solidFill>
                <a:latin typeface="Arial"/>
                <a:cs typeface="Arial"/>
              </a:rPr>
              <a:t>1e-</a:t>
            </a:r>
            <a:r>
              <a:rPr sz="1400" dirty="0">
                <a:solidFill>
                  <a:srgbClr val="0000FF"/>
                </a:solidFill>
                <a:latin typeface="Arial"/>
                <a:cs typeface="Arial"/>
              </a:rPr>
              <a:t>2,</a:t>
            </a:r>
            <a:r>
              <a:rPr sz="1400" spc="-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000FF"/>
                </a:solidFill>
                <a:latin typeface="Arial"/>
                <a:cs typeface="Arial"/>
              </a:rPr>
              <a:t>reduced</a:t>
            </a:r>
            <a:r>
              <a:rPr sz="1400" spc="-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000FF"/>
                </a:solidFill>
                <a:latin typeface="Arial"/>
                <a:cs typeface="Arial"/>
              </a:rPr>
              <a:t>by</a:t>
            </a:r>
            <a:r>
              <a:rPr sz="1400" spc="-1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400" spc="-25" dirty="0">
                <a:solidFill>
                  <a:srgbClr val="0000FF"/>
                </a:solidFill>
                <a:latin typeface="Arial"/>
                <a:cs typeface="Arial"/>
              </a:rPr>
              <a:t>10 </a:t>
            </a:r>
            <a:r>
              <a:rPr sz="1400" dirty="0">
                <a:solidFill>
                  <a:srgbClr val="0000FF"/>
                </a:solidFill>
                <a:latin typeface="Arial"/>
                <a:cs typeface="Arial"/>
              </a:rPr>
              <a:t>manually</a:t>
            </a:r>
            <a:r>
              <a:rPr sz="1400" spc="-1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000FF"/>
                </a:solidFill>
                <a:latin typeface="Arial"/>
                <a:cs typeface="Arial"/>
              </a:rPr>
              <a:t>when</a:t>
            </a:r>
            <a:r>
              <a:rPr sz="1400" spc="-1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000FF"/>
                </a:solidFill>
                <a:latin typeface="Arial"/>
                <a:cs typeface="Arial"/>
              </a:rPr>
              <a:t>val</a:t>
            </a:r>
            <a:r>
              <a:rPr sz="1400" spc="-1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000FF"/>
                </a:solidFill>
                <a:latin typeface="Arial"/>
                <a:cs typeface="Arial"/>
              </a:rPr>
              <a:t>accuracy</a:t>
            </a:r>
            <a:r>
              <a:rPr sz="1400" spc="-10" dirty="0">
                <a:solidFill>
                  <a:srgbClr val="0000FF"/>
                </a:solidFill>
                <a:latin typeface="Arial"/>
                <a:cs typeface="Arial"/>
              </a:rPr>
              <a:t> plateaus</a:t>
            </a:r>
            <a:endParaRPr sz="1400">
              <a:latin typeface="Arial"/>
              <a:cs typeface="Arial"/>
            </a:endParaRPr>
          </a:p>
          <a:p>
            <a:pPr marL="120014" indent="-107314">
              <a:lnSpc>
                <a:spcPts val="1600"/>
              </a:lnSpc>
              <a:buChar char="-"/>
              <a:tabLst>
                <a:tab pos="120014" algn="l"/>
              </a:tabLst>
            </a:pPr>
            <a:r>
              <a:rPr sz="1400" dirty="0">
                <a:solidFill>
                  <a:srgbClr val="0000FF"/>
                </a:solidFill>
                <a:latin typeface="Arial"/>
                <a:cs typeface="Arial"/>
              </a:rPr>
              <a:t>L2</a:t>
            </a:r>
            <a:r>
              <a:rPr sz="1400" spc="-1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000FF"/>
                </a:solidFill>
                <a:latin typeface="Arial"/>
                <a:cs typeface="Arial"/>
              </a:rPr>
              <a:t>weight</a:t>
            </a:r>
            <a:r>
              <a:rPr sz="1400" spc="-1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000FF"/>
                </a:solidFill>
                <a:latin typeface="Arial"/>
                <a:cs typeface="Arial"/>
              </a:rPr>
              <a:t>decay</a:t>
            </a:r>
            <a:r>
              <a:rPr sz="1400" spc="-10" dirty="0">
                <a:solidFill>
                  <a:srgbClr val="0000FF"/>
                </a:solidFill>
                <a:latin typeface="Arial"/>
                <a:cs typeface="Arial"/>
              </a:rPr>
              <a:t> 5e-</a:t>
            </a:r>
            <a:r>
              <a:rPr sz="1400" spc="-50" dirty="0">
                <a:solidFill>
                  <a:srgbClr val="0000FF"/>
                </a:solidFill>
                <a:latin typeface="Arial"/>
                <a:cs typeface="Arial"/>
              </a:rPr>
              <a:t>4</a:t>
            </a:r>
            <a:endParaRPr sz="1400">
              <a:latin typeface="Arial"/>
              <a:cs typeface="Arial"/>
            </a:endParaRPr>
          </a:p>
        </p:txBody>
      </p:sp>
      <p:sp>
        <p:nvSpPr>
          <p:cNvPr id="12" name="object 10">
            <a:extLst>
              <a:ext uri="{FF2B5EF4-FFF2-40B4-BE49-F238E27FC236}">
                <a16:creationId xmlns:a16="http://schemas.microsoft.com/office/drawing/2014/main" id="{0D041AD1-E0CC-4042-BD98-924FC2E21205}"/>
              </a:ext>
            </a:extLst>
          </p:cNvPr>
          <p:cNvSpPr txBox="1">
            <a:spLocks noGrp="1"/>
          </p:cNvSpPr>
          <p:nvPr>
            <p:ph type="dt" sz="half" idx="4294967295"/>
          </p:nvPr>
        </p:nvSpPr>
        <p:spPr>
          <a:xfrm>
            <a:off x="145224" y="4740846"/>
            <a:ext cx="4699000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lang="en-US" altLang="zh-CN" spc="-10" dirty="0">
                <a:solidFill>
                  <a:schemeClr val="bg1"/>
                </a:solidFill>
              </a:rPr>
              <a:t>Convolutional</a:t>
            </a:r>
            <a:r>
              <a:rPr lang="zh-CN" altLang="en-US" spc="-10" dirty="0">
                <a:solidFill>
                  <a:schemeClr val="bg1"/>
                </a:solidFill>
              </a:rPr>
              <a:t> </a:t>
            </a:r>
            <a:r>
              <a:rPr lang="en-US" altLang="zh-CN" spc="-10" dirty="0">
                <a:solidFill>
                  <a:schemeClr val="bg1"/>
                </a:solidFill>
              </a:rPr>
              <a:t>Neural</a:t>
            </a:r>
            <a:r>
              <a:rPr lang="zh-CN" altLang="en-US" spc="-10" dirty="0">
                <a:solidFill>
                  <a:schemeClr val="bg1"/>
                </a:solidFill>
              </a:rPr>
              <a:t> </a:t>
            </a:r>
            <a:r>
              <a:rPr lang="en-US" altLang="zh-CN" spc="-10" dirty="0">
                <a:solidFill>
                  <a:schemeClr val="bg1"/>
                </a:solidFill>
              </a:rPr>
              <a:t>Networks</a:t>
            </a:r>
            <a:endParaRPr spc="-1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5099" y="137084"/>
            <a:ext cx="326072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/>
              <a:t>Case</a:t>
            </a:r>
            <a:r>
              <a:rPr sz="3000" spc="-25" dirty="0"/>
              <a:t> </a:t>
            </a:r>
            <a:r>
              <a:rPr sz="3000" dirty="0"/>
              <a:t>Study:</a:t>
            </a:r>
            <a:r>
              <a:rPr sz="3000" spc="-25" dirty="0"/>
              <a:t> </a:t>
            </a:r>
            <a:r>
              <a:rPr sz="3000" spc="-10" dirty="0"/>
              <a:t>ZFNet</a:t>
            </a:r>
            <a:endParaRPr sz="30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7299" y="757873"/>
            <a:ext cx="8746813" cy="204266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870568" y="231011"/>
            <a:ext cx="200977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i="1" dirty="0">
                <a:latin typeface="Arial"/>
                <a:cs typeface="Arial"/>
              </a:rPr>
              <a:t>[Zeiler</a:t>
            </a:r>
            <a:r>
              <a:rPr sz="1400" i="1" spc="-20" dirty="0">
                <a:latin typeface="Arial"/>
                <a:cs typeface="Arial"/>
              </a:rPr>
              <a:t> </a:t>
            </a:r>
            <a:r>
              <a:rPr sz="1400" i="1" dirty="0">
                <a:latin typeface="Arial"/>
                <a:cs typeface="Arial"/>
              </a:rPr>
              <a:t>and</a:t>
            </a:r>
            <a:r>
              <a:rPr sz="1400" i="1" spc="-20" dirty="0">
                <a:latin typeface="Arial"/>
                <a:cs typeface="Arial"/>
              </a:rPr>
              <a:t> </a:t>
            </a:r>
            <a:r>
              <a:rPr sz="1400" i="1" dirty="0">
                <a:latin typeface="Arial"/>
                <a:cs typeface="Arial"/>
              </a:rPr>
              <a:t>Fergus,</a:t>
            </a:r>
            <a:r>
              <a:rPr sz="1400" i="1" spc="-15" dirty="0">
                <a:latin typeface="Arial"/>
                <a:cs typeface="Arial"/>
              </a:rPr>
              <a:t> </a:t>
            </a:r>
            <a:r>
              <a:rPr sz="1400" i="1" spc="-20" dirty="0">
                <a:latin typeface="Arial"/>
                <a:cs typeface="Arial"/>
              </a:rPr>
              <a:t>2013]</a:t>
            </a:r>
            <a:endParaRPr sz="1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6899" y="3342502"/>
            <a:ext cx="8552180" cy="11728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AlexNet</a:t>
            </a:r>
            <a:r>
              <a:rPr sz="1800" spc="-35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but:</a:t>
            </a:r>
            <a:endParaRPr sz="1800">
              <a:latin typeface="Arial"/>
              <a:cs typeface="Arial"/>
            </a:endParaRPr>
          </a:p>
          <a:p>
            <a:pPr marL="12700" marR="2159635">
              <a:lnSpc>
                <a:spcPct val="100699"/>
              </a:lnSpc>
            </a:pPr>
            <a:r>
              <a:rPr sz="1800" dirty="0">
                <a:latin typeface="Arial"/>
                <a:cs typeface="Arial"/>
              </a:rPr>
              <a:t>CONV1:</a:t>
            </a:r>
            <a:r>
              <a:rPr sz="1800" spc="-3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change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from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(11x11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stride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4)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to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(7x7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stride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2) </a:t>
            </a:r>
            <a:r>
              <a:rPr sz="1800" dirty="0">
                <a:latin typeface="Arial"/>
                <a:cs typeface="Arial"/>
              </a:rPr>
              <a:t>CONV3,4,5:</a:t>
            </a:r>
            <a:r>
              <a:rPr sz="1800" spc="-3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instead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of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384,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384,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256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filters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use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512,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1024,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512</a:t>
            </a:r>
            <a:endParaRPr sz="1800">
              <a:latin typeface="Arial"/>
              <a:cs typeface="Arial"/>
            </a:endParaRPr>
          </a:p>
          <a:p>
            <a:pPr marL="4674235">
              <a:lnSpc>
                <a:spcPct val="100000"/>
              </a:lnSpc>
              <a:spcBef>
                <a:spcPts val="360"/>
              </a:spcBef>
            </a:pPr>
            <a:r>
              <a:rPr sz="1800" dirty="0">
                <a:solidFill>
                  <a:srgbClr val="0000FF"/>
                </a:solidFill>
                <a:latin typeface="Arial"/>
                <a:cs typeface="Arial"/>
              </a:rPr>
              <a:t>ImageNet</a:t>
            </a:r>
            <a:r>
              <a:rPr sz="1800" spc="-3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00FF"/>
                </a:solidFill>
                <a:latin typeface="Arial"/>
                <a:cs typeface="Arial"/>
              </a:rPr>
              <a:t>top</a:t>
            </a:r>
            <a:r>
              <a:rPr sz="1800" spc="-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00FF"/>
                </a:solidFill>
                <a:latin typeface="Arial"/>
                <a:cs typeface="Arial"/>
              </a:rPr>
              <a:t>5</a:t>
            </a:r>
            <a:r>
              <a:rPr sz="1800" spc="-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00FF"/>
                </a:solidFill>
                <a:latin typeface="Arial"/>
                <a:cs typeface="Arial"/>
              </a:rPr>
              <a:t>error:</a:t>
            </a:r>
            <a:r>
              <a:rPr sz="1800" spc="-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00FF"/>
                </a:solidFill>
                <a:latin typeface="Arial"/>
                <a:cs typeface="Arial"/>
              </a:rPr>
              <a:t>15.4%</a:t>
            </a:r>
            <a:r>
              <a:rPr sz="1800" spc="-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0000FF"/>
                </a:solidFill>
                <a:latin typeface="Arial"/>
                <a:cs typeface="Arial"/>
              </a:rPr>
              <a:t>-</a:t>
            </a:r>
            <a:r>
              <a:rPr sz="1800" dirty="0">
                <a:solidFill>
                  <a:srgbClr val="0000FF"/>
                </a:solidFill>
                <a:latin typeface="Arial"/>
                <a:cs typeface="Arial"/>
              </a:rPr>
              <a:t>&gt;</a:t>
            </a:r>
            <a:r>
              <a:rPr sz="1800" spc="-1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0000FF"/>
                </a:solidFill>
                <a:latin typeface="Arial"/>
                <a:cs typeface="Arial"/>
              </a:rPr>
              <a:t>14.8%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1D2FFB23-3569-3241-8E21-2914C4135EB5}"/>
              </a:ext>
            </a:extLst>
          </p:cNvPr>
          <p:cNvSpPr txBox="1">
            <a:spLocks noGrp="1"/>
          </p:cNvSpPr>
          <p:nvPr>
            <p:ph type="dt" sz="half" idx="4294967295"/>
          </p:nvPr>
        </p:nvSpPr>
        <p:spPr>
          <a:xfrm>
            <a:off x="145224" y="4740846"/>
            <a:ext cx="4699000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lang="en-US" altLang="zh-CN" spc="-10" dirty="0">
                <a:solidFill>
                  <a:schemeClr val="bg1"/>
                </a:solidFill>
              </a:rPr>
              <a:t>Convolutional</a:t>
            </a:r>
            <a:r>
              <a:rPr lang="zh-CN" altLang="en-US" spc="-10" dirty="0">
                <a:solidFill>
                  <a:schemeClr val="bg1"/>
                </a:solidFill>
              </a:rPr>
              <a:t> </a:t>
            </a:r>
            <a:r>
              <a:rPr lang="en-US" altLang="zh-CN" spc="-10" dirty="0">
                <a:solidFill>
                  <a:schemeClr val="bg1"/>
                </a:solidFill>
              </a:rPr>
              <a:t>Neural</a:t>
            </a:r>
            <a:r>
              <a:rPr lang="zh-CN" altLang="en-US" spc="-10" dirty="0">
                <a:solidFill>
                  <a:schemeClr val="bg1"/>
                </a:solidFill>
              </a:rPr>
              <a:t> </a:t>
            </a:r>
            <a:r>
              <a:rPr lang="en-US" altLang="zh-CN" spc="-10" dirty="0">
                <a:solidFill>
                  <a:schemeClr val="bg1"/>
                </a:solidFill>
              </a:rPr>
              <a:t>Networks</a:t>
            </a:r>
            <a:endParaRPr spc="-1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-19050"/>
            <a:ext cx="9144000" cy="5162550"/>
            <a:chOff x="0" y="-19050"/>
            <a:chExt cx="9144000" cy="51625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57639" y="0"/>
              <a:ext cx="3936895" cy="460799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665559" y="0"/>
              <a:ext cx="692150" cy="3341370"/>
            </a:xfrm>
            <a:custGeom>
              <a:avLst/>
              <a:gdLst/>
              <a:ahLst/>
              <a:cxnLst/>
              <a:rect l="l" t="t" r="r" b="b"/>
              <a:pathLst>
                <a:path w="692150" h="3341370">
                  <a:moveTo>
                    <a:pt x="692098" y="0"/>
                  </a:moveTo>
                  <a:lnTo>
                    <a:pt x="692098" y="3341268"/>
                  </a:lnTo>
                  <a:lnTo>
                    <a:pt x="0" y="3341268"/>
                  </a:lnTo>
                  <a:lnTo>
                    <a:pt x="0" y="0"/>
                  </a:lnTo>
                </a:path>
              </a:pathLst>
            </a:custGeom>
            <a:ln w="3809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708969" y="1677999"/>
              <a:ext cx="4844415" cy="869315"/>
            </a:xfrm>
            <a:custGeom>
              <a:avLst/>
              <a:gdLst/>
              <a:ahLst/>
              <a:cxnLst/>
              <a:rect l="l" t="t" r="r" b="b"/>
              <a:pathLst>
                <a:path w="4844415" h="869314">
                  <a:moveTo>
                    <a:pt x="0" y="868720"/>
                  </a:moveTo>
                  <a:lnTo>
                    <a:pt x="4844090" y="0"/>
                  </a:lnTo>
                </a:path>
              </a:pathLst>
            </a:custGeom>
            <a:ln w="190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537984" y="1637501"/>
              <a:ext cx="109699" cy="80992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6310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665"/>
              </a:spcBef>
            </a:pPr>
            <a:r>
              <a:rPr sz="3000" dirty="0"/>
              <a:t>Case</a:t>
            </a:r>
            <a:r>
              <a:rPr sz="3000" spc="-25" dirty="0"/>
              <a:t> </a:t>
            </a:r>
            <a:r>
              <a:rPr sz="3000" dirty="0"/>
              <a:t>Study:</a:t>
            </a:r>
            <a:r>
              <a:rPr sz="3000" spc="-25" dirty="0"/>
              <a:t> </a:t>
            </a:r>
            <a:r>
              <a:rPr sz="3000" spc="-10" dirty="0"/>
              <a:t>VGGNet</a:t>
            </a:r>
            <a:endParaRPr sz="3000"/>
          </a:p>
          <a:p>
            <a:pPr marL="1270">
              <a:lnSpc>
                <a:spcPct val="100000"/>
              </a:lnSpc>
              <a:spcBef>
                <a:spcPts val="265"/>
              </a:spcBef>
            </a:pPr>
            <a:r>
              <a:rPr sz="1400" i="1" dirty="0">
                <a:latin typeface="Arial"/>
                <a:cs typeface="Arial"/>
              </a:rPr>
              <a:t>[Simonyan</a:t>
            </a:r>
            <a:r>
              <a:rPr sz="1400" i="1" spc="-40" dirty="0">
                <a:latin typeface="Arial"/>
                <a:cs typeface="Arial"/>
              </a:rPr>
              <a:t> </a:t>
            </a:r>
            <a:r>
              <a:rPr sz="1400" i="1" dirty="0">
                <a:latin typeface="Arial"/>
                <a:cs typeface="Arial"/>
              </a:rPr>
              <a:t>and</a:t>
            </a:r>
            <a:r>
              <a:rPr sz="1400" i="1" spc="-35" dirty="0">
                <a:latin typeface="Arial"/>
                <a:cs typeface="Arial"/>
              </a:rPr>
              <a:t> </a:t>
            </a:r>
            <a:r>
              <a:rPr sz="1400" i="1" dirty="0">
                <a:latin typeface="Arial"/>
                <a:cs typeface="Arial"/>
              </a:rPr>
              <a:t>Zisserman,</a:t>
            </a:r>
            <a:r>
              <a:rPr sz="1400" i="1" spc="-35" dirty="0">
                <a:latin typeface="Arial"/>
                <a:cs typeface="Arial"/>
              </a:rPr>
              <a:t> </a:t>
            </a:r>
            <a:r>
              <a:rPr sz="1400" i="1" spc="-10" dirty="0">
                <a:latin typeface="Arial"/>
                <a:cs typeface="Arial"/>
              </a:rPr>
              <a:t>2014]</a:t>
            </a:r>
            <a:endParaRPr sz="14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31048" y="2778405"/>
            <a:ext cx="15151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best</a:t>
            </a:r>
            <a:r>
              <a:rPr sz="2400" spc="-7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Arial"/>
                <a:cs typeface="Arial"/>
              </a:rPr>
              <a:t>model</a:t>
            </a:r>
            <a:endParaRPr sz="24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48099" y="1062451"/>
            <a:ext cx="3161030" cy="57594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>
              <a:lnSpc>
                <a:spcPct val="100699"/>
              </a:lnSpc>
              <a:spcBef>
                <a:spcPts val="85"/>
              </a:spcBef>
            </a:pPr>
            <a:r>
              <a:rPr sz="1800" dirty="0">
                <a:latin typeface="Arial"/>
                <a:cs typeface="Arial"/>
              </a:rPr>
              <a:t>Only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3x3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CONV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stride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1,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pad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spc="-50" dirty="0">
                <a:latin typeface="Arial"/>
                <a:cs typeface="Arial"/>
              </a:rPr>
              <a:t>1 </a:t>
            </a:r>
            <a:r>
              <a:rPr sz="1800" dirty="0">
                <a:latin typeface="Arial"/>
                <a:cs typeface="Arial"/>
              </a:rPr>
              <a:t>and</a:t>
            </a:r>
            <a:r>
              <a:rPr sz="1800" spc="459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2x2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MAX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POOL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stride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spc="-50" dirty="0">
                <a:latin typeface="Arial"/>
                <a:cs typeface="Arial"/>
              </a:rPr>
              <a:t>2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09648" y="3623452"/>
            <a:ext cx="3493135" cy="8521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000FF"/>
                </a:solidFill>
                <a:latin typeface="Arial"/>
                <a:cs typeface="Arial"/>
              </a:rPr>
              <a:t>11.2%</a:t>
            </a:r>
            <a:r>
              <a:rPr sz="1800" spc="-1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00FF"/>
                </a:solidFill>
                <a:latin typeface="Arial"/>
                <a:cs typeface="Arial"/>
              </a:rPr>
              <a:t>top</a:t>
            </a:r>
            <a:r>
              <a:rPr sz="1800" spc="-1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00FF"/>
                </a:solidFill>
                <a:latin typeface="Arial"/>
                <a:cs typeface="Arial"/>
              </a:rPr>
              <a:t>5</a:t>
            </a:r>
            <a:r>
              <a:rPr sz="1800" spc="-1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00FF"/>
                </a:solidFill>
                <a:latin typeface="Arial"/>
                <a:cs typeface="Arial"/>
              </a:rPr>
              <a:t>error</a:t>
            </a:r>
            <a:r>
              <a:rPr sz="1800" spc="-1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00FF"/>
                </a:solidFill>
                <a:latin typeface="Arial"/>
                <a:cs typeface="Arial"/>
              </a:rPr>
              <a:t>in</a:t>
            </a:r>
            <a:r>
              <a:rPr sz="1800" spc="-1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00FF"/>
                </a:solidFill>
                <a:latin typeface="Arial"/>
                <a:cs typeface="Arial"/>
              </a:rPr>
              <a:t>ILSVRC</a:t>
            </a:r>
            <a:r>
              <a:rPr sz="1800" spc="-1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rgbClr val="0000FF"/>
                </a:solidFill>
                <a:latin typeface="Arial"/>
                <a:cs typeface="Arial"/>
              </a:rPr>
              <a:t>2013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spc="-10" dirty="0">
                <a:solidFill>
                  <a:srgbClr val="0000FF"/>
                </a:solidFill>
                <a:latin typeface="Arial"/>
                <a:cs typeface="Arial"/>
              </a:rPr>
              <a:t>-</a:t>
            </a:r>
            <a:r>
              <a:rPr sz="1800" spc="-50" dirty="0">
                <a:solidFill>
                  <a:srgbClr val="0000FF"/>
                </a:solidFill>
                <a:latin typeface="Arial"/>
                <a:cs typeface="Arial"/>
              </a:rPr>
              <a:t>&gt;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dirty="0">
                <a:solidFill>
                  <a:srgbClr val="0000FF"/>
                </a:solidFill>
                <a:latin typeface="Arial"/>
                <a:cs typeface="Arial"/>
              </a:rPr>
              <a:t>7.3%</a:t>
            </a:r>
            <a:r>
              <a:rPr sz="1800" spc="-1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00FF"/>
                </a:solidFill>
                <a:latin typeface="Arial"/>
                <a:cs typeface="Arial"/>
              </a:rPr>
              <a:t>top</a:t>
            </a:r>
            <a:r>
              <a:rPr sz="1800" spc="-1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00FF"/>
                </a:solidFill>
                <a:latin typeface="Arial"/>
                <a:cs typeface="Arial"/>
              </a:rPr>
              <a:t>5</a:t>
            </a:r>
            <a:r>
              <a:rPr sz="1800" spc="-10" dirty="0">
                <a:solidFill>
                  <a:srgbClr val="0000FF"/>
                </a:solidFill>
                <a:latin typeface="Arial"/>
                <a:cs typeface="Arial"/>
              </a:rPr>
              <a:t> error</a:t>
            </a:r>
            <a:endParaRPr sz="1800">
              <a:latin typeface="Arial"/>
              <a:cs typeface="Arial"/>
            </a:endParaRPr>
          </a:p>
        </p:txBody>
      </p:sp>
      <p:sp>
        <p:nvSpPr>
          <p:cNvPr id="15" name="object 10">
            <a:extLst>
              <a:ext uri="{FF2B5EF4-FFF2-40B4-BE49-F238E27FC236}">
                <a16:creationId xmlns:a16="http://schemas.microsoft.com/office/drawing/2014/main" id="{80F30970-F56F-EE43-AB4D-D5CF5594C36A}"/>
              </a:ext>
            </a:extLst>
          </p:cNvPr>
          <p:cNvSpPr txBox="1">
            <a:spLocks noGrp="1"/>
          </p:cNvSpPr>
          <p:nvPr>
            <p:ph type="dt" sz="half" idx="4294967295"/>
          </p:nvPr>
        </p:nvSpPr>
        <p:spPr>
          <a:xfrm>
            <a:off x="145224" y="4740846"/>
            <a:ext cx="4699000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lang="en-US" altLang="zh-CN" spc="-10" dirty="0">
                <a:solidFill>
                  <a:schemeClr val="bg1"/>
                </a:solidFill>
              </a:rPr>
              <a:t>Convolutional</a:t>
            </a:r>
            <a:r>
              <a:rPr lang="zh-CN" altLang="en-US" spc="-10" dirty="0">
                <a:solidFill>
                  <a:schemeClr val="bg1"/>
                </a:solidFill>
              </a:rPr>
              <a:t> </a:t>
            </a:r>
            <a:r>
              <a:rPr lang="en-US" altLang="zh-CN" spc="-10" dirty="0">
                <a:solidFill>
                  <a:schemeClr val="bg1"/>
                </a:solidFill>
              </a:rPr>
              <a:t>Neural</a:t>
            </a:r>
            <a:r>
              <a:rPr lang="zh-CN" altLang="en-US" spc="-10" dirty="0">
                <a:solidFill>
                  <a:schemeClr val="bg1"/>
                </a:solidFill>
              </a:rPr>
              <a:t> </a:t>
            </a:r>
            <a:r>
              <a:rPr lang="en-US" altLang="zh-CN" spc="-10" dirty="0">
                <a:solidFill>
                  <a:schemeClr val="bg1"/>
                </a:solidFill>
              </a:rPr>
              <a:t>Networks</a:t>
            </a:r>
            <a:endParaRPr spc="-1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648586" y="134849"/>
            <a:ext cx="2299335" cy="4367530"/>
            <a:chOff x="6648586" y="134849"/>
            <a:chExt cx="2299335" cy="436753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648586" y="134849"/>
              <a:ext cx="2298845" cy="43671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8050108" y="299099"/>
              <a:ext cx="692150" cy="3367404"/>
            </a:xfrm>
            <a:custGeom>
              <a:avLst/>
              <a:gdLst/>
              <a:ahLst/>
              <a:cxnLst/>
              <a:rect l="l" t="t" r="r" b="b"/>
              <a:pathLst>
                <a:path w="692150" h="3367404">
                  <a:moveTo>
                    <a:pt x="0" y="0"/>
                  </a:moveTo>
                  <a:lnTo>
                    <a:pt x="692098" y="0"/>
                  </a:lnTo>
                  <a:lnTo>
                    <a:pt x="692098" y="3366893"/>
                  </a:lnTo>
                  <a:lnTo>
                    <a:pt x="0" y="3366893"/>
                  </a:lnTo>
                  <a:lnTo>
                    <a:pt x="0" y="0"/>
                  </a:lnTo>
                  <a:close/>
                </a:path>
              </a:pathLst>
            </a:custGeom>
            <a:ln w="3809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158474" y="28553"/>
            <a:ext cx="43745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23389" algn="l"/>
                <a:tab pos="3684270" algn="l"/>
              </a:tabLst>
            </a:pPr>
            <a:r>
              <a:rPr sz="1200" dirty="0">
                <a:latin typeface="Arial"/>
                <a:cs typeface="Arial"/>
              </a:rPr>
              <a:t>INPUT:</a:t>
            </a:r>
            <a:r>
              <a:rPr sz="1200" spc="-70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[224x224x3]</a:t>
            </a:r>
            <a:r>
              <a:rPr sz="1200" dirty="0">
                <a:latin typeface="Arial"/>
                <a:cs typeface="Arial"/>
              </a:rPr>
              <a:t>	</a:t>
            </a:r>
            <a:r>
              <a:rPr sz="1200" dirty="0">
                <a:solidFill>
                  <a:srgbClr val="FF0000"/>
                </a:solidFill>
                <a:latin typeface="Arial"/>
                <a:cs typeface="Arial"/>
              </a:rPr>
              <a:t>memory:</a:t>
            </a:r>
            <a:r>
              <a:rPr sz="1200" spc="29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FF0000"/>
                </a:solidFill>
                <a:latin typeface="Arial"/>
                <a:cs typeface="Arial"/>
              </a:rPr>
              <a:t>224*224*3=150K</a:t>
            </a:r>
            <a:r>
              <a:rPr sz="1200" dirty="0">
                <a:solidFill>
                  <a:srgbClr val="FF0000"/>
                </a:solidFill>
                <a:latin typeface="Arial"/>
                <a:cs typeface="Arial"/>
              </a:rPr>
              <a:t>	</a:t>
            </a:r>
            <a:r>
              <a:rPr sz="1200" dirty="0">
                <a:solidFill>
                  <a:srgbClr val="0000FF"/>
                </a:solidFill>
                <a:latin typeface="Arial"/>
                <a:cs typeface="Arial"/>
              </a:rPr>
              <a:t>params:</a:t>
            </a:r>
            <a:r>
              <a:rPr sz="1200" spc="-4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00" spc="-50" dirty="0">
                <a:solidFill>
                  <a:srgbClr val="0000FF"/>
                </a:solidFill>
                <a:latin typeface="Arial"/>
                <a:cs typeface="Arial"/>
              </a:rPr>
              <a:t>0</a:t>
            </a:r>
            <a:endParaRPr sz="12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8474" y="209528"/>
            <a:ext cx="6411595" cy="3827779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 marR="513080">
              <a:lnSpc>
                <a:spcPts val="1420"/>
              </a:lnSpc>
              <a:spcBef>
                <a:spcPts val="160"/>
              </a:spcBef>
              <a:tabLst>
                <a:tab pos="3870960" algn="l"/>
              </a:tabLst>
            </a:pPr>
            <a:r>
              <a:rPr sz="1200" spc="-10" dirty="0">
                <a:latin typeface="Arial"/>
                <a:cs typeface="Arial"/>
              </a:rPr>
              <a:t>CONV3-</a:t>
            </a:r>
            <a:r>
              <a:rPr sz="1200" dirty="0">
                <a:latin typeface="Arial"/>
                <a:cs typeface="Arial"/>
              </a:rPr>
              <a:t>64: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[224x224x64]</a:t>
            </a:r>
            <a:r>
              <a:rPr sz="1200" spc="330" dirty="0"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0000"/>
                </a:solidFill>
                <a:latin typeface="Arial"/>
                <a:cs typeface="Arial"/>
              </a:rPr>
              <a:t>memory:</a:t>
            </a:r>
            <a:r>
              <a:rPr sz="1200" spc="30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FF0000"/>
                </a:solidFill>
                <a:latin typeface="Arial"/>
                <a:cs typeface="Arial"/>
              </a:rPr>
              <a:t>224*224*64=3.2M</a:t>
            </a:r>
            <a:r>
              <a:rPr sz="1200" dirty="0">
                <a:solidFill>
                  <a:srgbClr val="FF0000"/>
                </a:solidFill>
                <a:latin typeface="Arial"/>
                <a:cs typeface="Arial"/>
              </a:rPr>
              <a:t>	</a:t>
            </a:r>
            <a:r>
              <a:rPr sz="1200" dirty="0">
                <a:solidFill>
                  <a:srgbClr val="0000FF"/>
                </a:solidFill>
                <a:latin typeface="Arial"/>
                <a:cs typeface="Arial"/>
              </a:rPr>
              <a:t>params:</a:t>
            </a:r>
            <a:r>
              <a:rPr sz="1200" spc="-4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0000FF"/>
                </a:solidFill>
                <a:latin typeface="Arial"/>
                <a:cs typeface="Arial"/>
              </a:rPr>
              <a:t>(3*3*3)*64</a:t>
            </a:r>
            <a:r>
              <a:rPr sz="1200" spc="-3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0000FF"/>
                </a:solidFill>
                <a:latin typeface="Arial"/>
                <a:cs typeface="Arial"/>
              </a:rPr>
              <a:t>=</a:t>
            </a:r>
            <a:r>
              <a:rPr sz="1200" spc="-3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0000FF"/>
                </a:solidFill>
                <a:latin typeface="Arial"/>
                <a:cs typeface="Arial"/>
              </a:rPr>
              <a:t>1,728 </a:t>
            </a:r>
            <a:r>
              <a:rPr sz="1200" spc="-10" dirty="0">
                <a:latin typeface="Arial"/>
                <a:cs typeface="Arial"/>
              </a:rPr>
              <a:t>CONV3-</a:t>
            </a:r>
            <a:r>
              <a:rPr sz="1200" dirty="0">
                <a:latin typeface="Arial"/>
                <a:cs typeface="Arial"/>
              </a:rPr>
              <a:t>64: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[224x224x64]</a:t>
            </a:r>
            <a:r>
              <a:rPr sz="1200" spc="330" dirty="0"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0000"/>
                </a:solidFill>
                <a:latin typeface="Arial"/>
                <a:cs typeface="Arial"/>
              </a:rPr>
              <a:t>memory:</a:t>
            </a:r>
            <a:r>
              <a:rPr sz="1200" spc="30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FF0000"/>
                </a:solidFill>
                <a:latin typeface="Arial"/>
                <a:cs typeface="Arial"/>
              </a:rPr>
              <a:t>224*224*64=3.2M</a:t>
            </a:r>
            <a:r>
              <a:rPr sz="1200" dirty="0">
                <a:solidFill>
                  <a:srgbClr val="FF0000"/>
                </a:solidFill>
                <a:latin typeface="Arial"/>
                <a:cs typeface="Arial"/>
              </a:rPr>
              <a:t>	</a:t>
            </a:r>
            <a:r>
              <a:rPr sz="1200" dirty="0">
                <a:solidFill>
                  <a:srgbClr val="0000FF"/>
                </a:solidFill>
                <a:latin typeface="Arial"/>
                <a:cs typeface="Arial"/>
              </a:rPr>
              <a:t>params:</a:t>
            </a:r>
            <a:r>
              <a:rPr sz="1200" spc="-4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0000FF"/>
                </a:solidFill>
                <a:latin typeface="Arial"/>
                <a:cs typeface="Arial"/>
              </a:rPr>
              <a:t>(3*3*64)*64</a:t>
            </a:r>
            <a:r>
              <a:rPr sz="1200" spc="-3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0000FF"/>
                </a:solidFill>
                <a:latin typeface="Arial"/>
                <a:cs typeface="Arial"/>
              </a:rPr>
              <a:t>=</a:t>
            </a:r>
            <a:r>
              <a:rPr sz="1200" spc="-3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0000FF"/>
                </a:solidFill>
                <a:latin typeface="Arial"/>
                <a:cs typeface="Arial"/>
              </a:rPr>
              <a:t>36,864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ts val="1380"/>
              </a:lnSpc>
              <a:tabLst>
                <a:tab pos="3651250" algn="l"/>
              </a:tabLst>
            </a:pPr>
            <a:r>
              <a:rPr sz="1200" dirty="0">
                <a:latin typeface="Arial"/>
                <a:cs typeface="Arial"/>
              </a:rPr>
              <a:t>POOL2:</a:t>
            </a:r>
            <a:r>
              <a:rPr sz="1200" spc="-4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[112x112x64]</a:t>
            </a:r>
            <a:r>
              <a:rPr sz="1200" spc="290" dirty="0"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0000"/>
                </a:solidFill>
                <a:latin typeface="Arial"/>
                <a:cs typeface="Arial"/>
              </a:rPr>
              <a:t>memory:</a:t>
            </a:r>
            <a:r>
              <a:rPr sz="1200" spc="27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FF0000"/>
                </a:solidFill>
                <a:latin typeface="Arial"/>
                <a:cs typeface="Arial"/>
              </a:rPr>
              <a:t>112*112*64=800K</a:t>
            </a:r>
            <a:r>
              <a:rPr sz="1200" dirty="0">
                <a:solidFill>
                  <a:srgbClr val="FF0000"/>
                </a:solidFill>
                <a:latin typeface="Arial"/>
                <a:cs typeface="Arial"/>
              </a:rPr>
              <a:t>	</a:t>
            </a:r>
            <a:r>
              <a:rPr sz="1200" dirty="0">
                <a:solidFill>
                  <a:srgbClr val="0000FF"/>
                </a:solidFill>
                <a:latin typeface="Arial"/>
                <a:cs typeface="Arial"/>
              </a:rPr>
              <a:t>params:</a:t>
            </a:r>
            <a:r>
              <a:rPr sz="1200" spc="-4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00" spc="-50" dirty="0">
                <a:solidFill>
                  <a:srgbClr val="0000FF"/>
                </a:solidFill>
                <a:latin typeface="Arial"/>
                <a:cs typeface="Arial"/>
              </a:rPr>
              <a:t>0</a:t>
            </a:r>
            <a:endParaRPr sz="1200">
              <a:latin typeface="Arial"/>
              <a:cs typeface="Arial"/>
            </a:endParaRPr>
          </a:p>
          <a:p>
            <a:pPr marL="12700" marR="5080">
              <a:lnSpc>
                <a:spcPts val="1420"/>
              </a:lnSpc>
              <a:spcBef>
                <a:spcPts val="60"/>
              </a:spcBef>
              <a:tabLst>
                <a:tab pos="4125595" algn="l"/>
              </a:tabLst>
            </a:pPr>
            <a:r>
              <a:rPr sz="1200" spc="-10" dirty="0">
                <a:latin typeface="Arial"/>
                <a:cs typeface="Arial"/>
              </a:rPr>
              <a:t>CONV3-</a:t>
            </a:r>
            <a:r>
              <a:rPr sz="1200" dirty="0">
                <a:latin typeface="Arial"/>
                <a:cs typeface="Arial"/>
              </a:rPr>
              <a:t>128: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[112x112x128]</a:t>
            </a:r>
            <a:r>
              <a:rPr sz="1200" spc="320" dirty="0"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0000"/>
                </a:solidFill>
                <a:latin typeface="Arial"/>
                <a:cs typeface="Arial"/>
              </a:rPr>
              <a:t>memory:</a:t>
            </a:r>
            <a:r>
              <a:rPr sz="1200" spc="30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FF0000"/>
                </a:solidFill>
                <a:latin typeface="Arial"/>
                <a:cs typeface="Arial"/>
              </a:rPr>
              <a:t>112*112*128=1.6M</a:t>
            </a:r>
            <a:r>
              <a:rPr sz="1200" dirty="0">
                <a:solidFill>
                  <a:srgbClr val="FF0000"/>
                </a:solidFill>
                <a:latin typeface="Arial"/>
                <a:cs typeface="Arial"/>
              </a:rPr>
              <a:t>	</a:t>
            </a:r>
            <a:r>
              <a:rPr sz="1200" dirty="0">
                <a:solidFill>
                  <a:srgbClr val="0000FF"/>
                </a:solidFill>
                <a:latin typeface="Arial"/>
                <a:cs typeface="Arial"/>
              </a:rPr>
              <a:t>params:</a:t>
            </a:r>
            <a:r>
              <a:rPr sz="1200" spc="-4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0000FF"/>
                </a:solidFill>
                <a:latin typeface="Arial"/>
                <a:cs typeface="Arial"/>
              </a:rPr>
              <a:t>(3*3*64)*128</a:t>
            </a:r>
            <a:r>
              <a:rPr sz="1200" spc="-3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0000FF"/>
                </a:solidFill>
                <a:latin typeface="Arial"/>
                <a:cs typeface="Arial"/>
              </a:rPr>
              <a:t>=</a:t>
            </a:r>
            <a:r>
              <a:rPr sz="1200" spc="-3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0000FF"/>
                </a:solidFill>
                <a:latin typeface="Arial"/>
                <a:cs typeface="Arial"/>
              </a:rPr>
              <a:t>73,728 </a:t>
            </a:r>
            <a:r>
              <a:rPr sz="1200" spc="-10" dirty="0">
                <a:latin typeface="Arial"/>
                <a:cs typeface="Arial"/>
              </a:rPr>
              <a:t>CONV3-</a:t>
            </a:r>
            <a:r>
              <a:rPr sz="1200" dirty="0">
                <a:latin typeface="Arial"/>
                <a:cs typeface="Arial"/>
              </a:rPr>
              <a:t>128: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[112x112x128]</a:t>
            </a:r>
            <a:r>
              <a:rPr sz="1200" spc="320" dirty="0"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0000"/>
                </a:solidFill>
                <a:latin typeface="Arial"/>
                <a:cs typeface="Arial"/>
              </a:rPr>
              <a:t>memory:</a:t>
            </a:r>
            <a:r>
              <a:rPr sz="1200" spc="30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FF0000"/>
                </a:solidFill>
                <a:latin typeface="Arial"/>
                <a:cs typeface="Arial"/>
              </a:rPr>
              <a:t>112*112*128=1.6M</a:t>
            </a:r>
            <a:r>
              <a:rPr sz="1200" dirty="0">
                <a:solidFill>
                  <a:srgbClr val="FF0000"/>
                </a:solidFill>
                <a:latin typeface="Arial"/>
                <a:cs typeface="Arial"/>
              </a:rPr>
              <a:t>	</a:t>
            </a:r>
            <a:r>
              <a:rPr sz="1200" dirty="0">
                <a:solidFill>
                  <a:srgbClr val="0000FF"/>
                </a:solidFill>
                <a:latin typeface="Arial"/>
                <a:cs typeface="Arial"/>
              </a:rPr>
              <a:t>params:</a:t>
            </a:r>
            <a:r>
              <a:rPr sz="1200" spc="-3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0000FF"/>
                </a:solidFill>
                <a:latin typeface="Arial"/>
                <a:cs typeface="Arial"/>
              </a:rPr>
              <a:t>(3*3*128)*128</a:t>
            </a:r>
            <a:r>
              <a:rPr sz="1200" spc="-3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0000FF"/>
                </a:solidFill>
                <a:latin typeface="Arial"/>
                <a:cs typeface="Arial"/>
              </a:rPr>
              <a:t>=</a:t>
            </a:r>
            <a:r>
              <a:rPr sz="1200" spc="-3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0000FF"/>
                </a:solidFill>
                <a:latin typeface="Arial"/>
                <a:cs typeface="Arial"/>
              </a:rPr>
              <a:t>147,456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ts val="1380"/>
              </a:lnSpc>
              <a:tabLst>
                <a:tab pos="3481704" algn="l"/>
              </a:tabLst>
            </a:pPr>
            <a:r>
              <a:rPr sz="1200" dirty="0">
                <a:latin typeface="Arial"/>
                <a:cs typeface="Arial"/>
              </a:rPr>
              <a:t>POOL2:</a:t>
            </a:r>
            <a:r>
              <a:rPr sz="1200" spc="-3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[56x56x128]</a:t>
            </a:r>
            <a:r>
              <a:rPr sz="1200" spc="290" dirty="0"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0000"/>
                </a:solidFill>
                <a:latin typeface="Arial"/>
                <a:cs typeface="Arial"/>
              </a:rPr>
              <a:t>memory:</a:t>
            </a:r>
            <a:r>
              <a:rPr sz="1200" spc="27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FF0000"/>
                </a:solidFill>
                <a:latin typeface="Arial"/>
                <a:cs typeface="Arial"/>
              </a:rPr>
              <a:t>56*56*128=400K</a:t>
            </a:r>
            <a:r>
              <a:rPr sz="1200" dirty="0">
                <a:solidFill>
                  <a:srgbClr val="FF0000"/>
                </a:solidFill>
                <a:latin typeface="Arial"/>
                <a:cs typeface="Arial"/>
              </a:rPr>
              <a:t>	</a:t>
            </a:r>
            <a:r>
              <a:rPr sz="1200" dirty="0">
                <a:solidFill>
                  <a:srgbClr val="0000FF"/>
                </a:solidFill>
                <a:latin typeface="Arial"/>
                <a:cs typeface="Arial"/>
              </a:rPr>
              <a:t>params:</a:t>
            </a:r>
            <a:r>
              <a:rPr sz="1200" spc="-4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00" spc="-50" dirty="0">
                <a:solidFill>
                  <a:srgbClr val="0000FF"/>
                </a:solidFill>
                <a:latin typeface="Arial"/>
                <a:cs typeface="Arial"/>
              </a:rPr>
              <a:t>0</a:t>
            </a:r>
            <a:endParaRPr sz="1200">
              <a:latin typeface="Arial"/>
              <a:cs typeface="Arial"/>
            </a:endParaRPr>
          </a:p>
          <a:p>
            <a:pPr marL="12700" marR="326390" algn="just">
              <a:lnSpc>
                <a:spcPts val="1420"/>
              </a:lnSpc>
              <a:spcBef>
                <a:spcPts val="55"/>
              </a:spcBef>
            </a:pPr>
            <a:r>
              <a:rPr sz="1200" spc="-10" dirty="0">
                <a:latin typeface="Arial"/>
                <a:cs typeface="Arial"/>
              </a:rPr>
              <a:t>CONV3-</a:t>
            </a:r>
            <a:r>
              <a:rPr sz="1200" dirty="0">
                <a:latin typeface="Arial"/>
                <a:cs typeface="Arial"/>
              </a:rPr>
              <a:t>256: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[56x56x256]</a:t>
            </a:r>
            <a:r>
              <a:rPr sz="1200" spc="310" dirty="0"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0000"/>
                </a:solidFill>
                <a:latin typeface="Arial"/>
                <a:cs typeface="Arial"/>
              </a:rPr>
              <a:t>memory:</a:t>
            </a:r>
            <a:r>
              <a:rPr sz="1200" spc="29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0000"/>
                </a:solidFill>
                <a:latin typeface="Arial"/>
                <a:cs typeface="Arial"/>
              </a:rPr>
              <a:t>56*56*256=800K</a:t>
            </a:r>
            <a:r>
              <a:rPr sz="1200" spc="150" dirty="0">
                <a:solidFill>
                  <a:srgbClr val="FF0000"/>
                </a:solidFill>
                <a:latin typeface="Arial"/>
                <a:cs typeface="Arial"/>
              </a:rPr>
              <a:t>  </a:t>
            </a:r>
            <a:r>
              <a:rPr sz="1200" dirty="0">
                <a:solidFill>
                  <a:srgbClr val="0000FF"/>
                </a:solidFill>
                <a:latin typeface="Arial"/>
                <a:cs typeface="Arial"/>
              </a:rPr>
              <a:t>params:</a:t>
            </a:r>
            <a:r>
              <a:rPr sz="1200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0000FF"/>
                </a:solidFill>
                <a:latin typeface="Arial"/>
                <a:cs typeface="Arial"/>
              </a:rPr>
              <a:t>(3*3*128)*256</a:t>
            </a:r>
            <a:r>
              <a:rPr sz="1200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0000FF"/>
                </a:solidFill>
                <a:latin typeface="Arial"/>
                <a:cs typeface="Arial"/>
              </a:rPr>
              <a:t>=</a:t>
            </a:r>
            <a:r>
              <a:rPr sz="1200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0000FF"/>
                </a:solidFill>
                <a:latin typeface="Arial"/>
                <a:cs typeface="Arial"/>
              </a:rPr>
              <a:t>294,912 </a:t>
            </a:r>
            <a:r>
              <a:rPr sz="1200" spc="-10" dirty="0">
                <a:latin typeface="Arial"/>
                <a:cs typeface="Arial"/>
              </a:rPr>
              <a:t>CONV3-</a:t>
            </a:r>
            <a:r>
              <a:rPr sz="1200" dirty="0">
                <a:latin typeface="Arial"/>
                <a:cs typeface="Arial"/>
              </a:rPr>
              <a:t>256: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[56x56x256]</a:t>
            </a:r>
            <a:r>
              <a:rPr sz="1200" spc="310" dirty="0"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0000"/>
                </a:solidFill>
                <a:latin typeface="Arial"/>
                <a:cs typeface="Arial"/>
              </a:rPr>
              <a:t>memory:</a:t>
            </a:r>
            <a:r>
              <a:rPr sz="1200" spc="29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0000"/>
                </a:solidFill>
                <a:latin typeface="Arial"/>
                <a:cs typeface="Arial"/>
              </a:rPr>
              <a:t>56*56*256=800K</a:t>
            </a:r>
            <a:r>
              <a:rPr sz="1200" spc="150" dirty="0">
                <a:solidFill>
                  <a:srgbClr val="FF0000"/>
                </a:solidFill>
                <a:latin typeface="Arial"/>
                <a:cs typeface="Arial"/>
              </a:rPr>
              <a:t>  </a:t>
            </a:r>
            <a:r>
              <a:rPr sz="1200" dirty="0">
                <a:solidFill>
                  <a:srgbClr val="0000FF"/>
                </a:solidFill>
                <a:latin typeface="Arial"/>
                <a:cs typeface="Arial"/>
              </a:rPr>
              <a:t>params:</a:t>
            </a:r>
            <a:r>
              <a:rPr sz="1200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0000FF"/>
                </a:solidFill>
                <a:latin typeface="Arial"/>
                <a:cs typeface="Arial"/>
              </a:rPr>
              <a:t>(3*3*256)*256</a:t>
            </a:r>
            <a:r>
              <a:rPr sz="1200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0000FF"/>
                </a:solidFill>
                <a:latin typeface="Arial"/>
                <a:cs typeface="Arial"/>
              </a:rPr>
              <a:t>=</a:t>
            </a:r>
            <a:r>
              <a:rPr sz="1200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0000FF"/>
                </a:solidFill>
                <a:latin typeface="Arial"/>
                <a:cs typeface="Arial"/>
              </a:rPr>
              <a:t>589,824 </a:t>
            </a:r>
            <a:r>
              <a:rPr sz="1200" spc="-10" dirty="0">
                <a:latin typeface="Arial"/>
                <a:cs typeface="Arial"/>
              </a:rPr>
              <a:t>CONV3-</a:t>
            </a:r>
            <a:r>
              <a:rPr sz="1200" dirty="0">
                <a:latin typeface="Arial"/>
                <a:cs typeface="Arial"/>
              </a:rPr>
              <a:t>256: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[56x56x256]</a:t>
            </a:r>
            <a:r>
              <a:rPr sz="1200" spc="310" dirty="0"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0000"/>
                </a:solidFill>
                <a:latin typeface="Arial"/>
                <a:cs typeface="Arial"/>
              </a:rPr>
              <a:t>memory:</a:t>
            </a:r>
            <a:r>
              <a:rPr sz="1200" spc="29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0000"/>
                </a:solidFill>
                <a:latin typeface="Arial"/>
                <a:cs typeface="Arial"/>
              </a:rPr>
              <a:t>56*56*256=800K</a:t>
            </a:r>
            <a:r>
              <a:rPr sz="1200" spc="150" dirty="0">
                <a:solidFill>
                  <a:srgbClr val="FF0000"/>
                </a:solidFill>
                <a:latin typeface="Arial"/>
                <a:cs typeface="Arial"/>
              </a:rPr>
              <a:t>  </a:t>
            </a:r>
            <a:r>
              <a:rPr sz="1200" dirty="0">
                <a:solidFill>
                  <a:srgbClr val="0000FF"/>
                </a:solidFill>
                <a:latin typeface="Arial"/>
                <a:cs typeface="Arial"/>
              </a:rPr>
              <a:t>params:</a:t>
            </a:r>
            <a:r>
              <a:rPr sz="1200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0000FF"/>
                </a:solidFill>
                <a:latin typeface="Arial"/>
                <a:cs typeface="Arial"/>
              </a:rPr>
              <a:t>(3*3*256)*256</a:t>
            </a:r>
            <a:r>
              <a:rPr sz="1200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0000FF"/>
                </a:solidFill>
                <a:latin typeface="Arial"/>
                <a:cs typeface="Arial"/>
              </a:rPr>
              <a:t>=</a:t>
            </a:r>
            <a:r>
              <a:rPr sz="1200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0000FF"/>
                </a:solidFill>
                <a:latin typeface="Arial"/>
                <a:cs typeface="Arial"/>
              </a:rPr>
              <a:t>589,824</a:t>
            </a:r>
            <a:endParaRPr sz="1200">
              <a:latin typeface="Arial"/>
              <a:cs typeface="Arial"/>
            </a:endParaRPr>
          </a:p>
          <a:p>
            <a:pPr marL="12700" algn="just">
              <a:lnSpc>
                <a:spcPts val="1385"/>
              </a:lnSpc>
            </a:pPr>
            <a:r>
              <a:rPr sz="1200" dirty="0">
                <a:latin typeface="Arial"/>
                <a:cs typeface="Arial"/>
              </a:rPr>
              <a:t>POOL2:</a:t>
            </a:r>
            <a:r>
              <a:rPr sz="1200" spc="-3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[28x28x256]</a:t>
            </a:r>
            <a:r>
              <a:rPr sz="1200" spc="295" dirty="0"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0000"/>
                </a:solidFill>
                <a:latin typeface="Arial"/>
                <a:cs typeface="Arial"/>
              </a:rPr>
              <a:t>memory:</a:t>
            </a:r>
            <a:r>
              <a:rPr sz="1200" spc="28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0000"/>
                </a:solidFill>
                <a:latin typeface="Arial"/>
                <a:cs typeface="Arial"/>
              </a:rPr>
              <a:t>28*28*256=200K</a:t>
            </a:r>
            <a:r>
              <a:rPr sz="1200" spc="140" dirty="0">
                <a:solidFill>
                  <a:srgbClr val="FF0000"/>
                </a:solidFill>
                <a:latin typeface="Arial"/>
                <a:cs typeface="Arial"/>
              </a:rPr>
              <a:t>  </a:t>
            </a:r>
            <a:r>
              <a:rPr sz="1200" dirty="0">
                <a:solidFill>
                  <a:srgbClr val="0000FF"/>
                </a:solidFill>
                <a:latin typeface="Arial"/>
                <a:cs typeface="Arial"/>
              </a:rPr>
              <a:t>params:</a:t>
            </a:r>
            <a:r>
              <a:rPr sz="1200" spc="-3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00" spc="-50" dirty="0">
                <a:solidFill>
                  <a:srgbClr val="0000FF"/>
                </a:solidFill>
                <a:latin typeface="Arial"/>
                <a:cs typeface="Arial"/>
              </a:rPr>
              <a:t>0</a:t>
            </a:r>
            <a:endParaRPr sz="1200">
              <a:latin typeface="Arial"/>
              <a:cs typeface="Arial"/>
            </a:endParaRPr>
          </a:p>
          <a:p>
            <a:pPr marL="12700" marR="199390" algn="just">
              <a:lnSpc>
                <a:spcPts val="1420"/>
              </a:lnSpc>
              <a:spcBef>
                <a:spcPts val="55"/>
              </a:spcBef>
            </a:pPr>
            <a:r>
              <a:rPr sz="1200" spc="-10" dirty="0">
                <a:latin typeface="Arial"/>
                <a:cs typeface="Arial"/>
              </a:rPr>
              <a:t>CONV3-</a:t>
            </a:r>
            <a:r>
              <a:rPr sz="1200" dirty="0">
                <a:latin typeface="Arial"/>
                <a:cs typeface="Arial"/>
              </a:rPr>
              <a:t>512: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[28x28x512]</a:t>
            </a:r>
            <a:r>
              <a:rPr sz="1200" spc="310" dirty="0"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0000"/>
                </a:solidFill>
                <a:latin typeface="Arial"/>
                <a:cs typeface="Arial"/>
              </a:rPr>
              <a:t>memory:</a:t>
            </a:r>
            <a:r>
              <a:rPr sz="1200" spc="29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0000"/>
                </a:solidFill>
                <a:latin typeface="Arial"/>
                <a:cs typeface="Arial"/>
              </a:rPr>
              <a:t>28*28*512=400K</a:t>
            </a:r>
            <a:r>
              <a:rPr sz="1200" spc="150" dirty="0">
                <a:solidFill>
                  <a:srgbClr val="FF0000"/>
                </a:solidFill>
                <a:latin typeface="Arial"/>
                <a:cs typeface="Arial"/>
              </a:rPr>
              <a:t>  </a:t>
            </a:r>
            <a:r>
              <a:rPr sz="1200" dirty="0">
                <a:solidFill>
                  <a:srgbClr val="0000FF"/>
                </a:solidFill>
                <a:latin typeface="Arial"/>
                <a:cs typeface="Arial"/>
              </a:rPr>
              <a:t>params:</a:t>
            </a:r>
            <a:r>
              <a:rPr sz="1200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0000FF"/>
                </a:solidFill>
                <a:latin typeface="Arial"/>
                <a:cs typeface="Arial"/>
              </a:rPr>
              <a:t>(3*3*256)*512</a:t>
            </a:r>
            <a:r>
              <a:rPr sz="1200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0000FF"/>
                </a:solidFill>
                <a:latin typeface="Arial"/>
                <a:cs typeface="Arial"/>
              </a:rPr>
              <a:t>=</a:t>
            </a:r>
            <a:r>
              <a:rPr sz="1200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0000FF"/>
                </a:solidFill>
                <a:latin typeface="Arial"/>
                <a:cs typeface="Arial"/>
              </a:rPr>
              <a:t>1,179,648 </a:t>
            </a:r>
            <a:r>
              <a:rPr sz="1200" spc="-10" dirty="0">
                <a:latin typeface="Arial"/>
                <a:cs typeface="Arial"/>
              </a:rPr>
              <a:t>CONV3-</a:t>
            </a:r>
            <a:r>
              <a:rPr sz="1200" dirty="0">
                <a:latin typeface="Arial"/>
                <a:cs typeface="Arial"/>
              </a:rPr>
              <a:t>512: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[28x28x512]</a:t>
            </a:r>
            <a:r>
              <a:rPr sz="1200" spc="310" dirty="0"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0000"/>
                </a:solidFill>
                <a:latin typeface="Arial"/>
                <a:cs typeface="Arial"/>
              </a:rPr>
              <a:t>memory:</a:t>
            </a:r>
            <a:r>
              <a:rPr sz="1200" spc="29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0000"/>
                </a:solidFill>
                <a:latin typeface="Arial"/>
                <a:cs typeface="Arial"/>
              </a:rPr>
              <a:t>28*28*512=400K</a:t>
            </a:r>
            <a:r>
              <a:rPr sz="1200" spc="150" dirty="0">
                <a:solidFill>
                  <a:srgbClr val="FF0000"/>
                </a:solidFill>
                <a:latin typeface="Arial"/>
                <a:cs typeface="Arial"/>
              </a:rPr>
              <a:t>  </a:t>
            </a:r>
            <a:r>
              <a:rPr sz="1200" dirty="0">
                <a:solidFill>
                  <a:srgbClr val="0000FF"/>
                </a:solidFill>
                <a:latin typeface="Arial"/>
                <a:cs typeface="Arial"/>
              </a:rPr>
              <a:t>params:</a:t>
            </a:r>
            <a:r>
              <a:rPr sz="1200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0000FF"/>
                </a:solidFill>
                <a:latin typeface="Arial"/>
                <a:cs typeface="Arial"/>
              </a:rPr>
              <a:t>(3*3*512)*512</a:t>
            </a:r>
            <a:r>
              <a:rPr sz="1200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0000FF"/>
                </a:solidFill>
                <a:latin typeface="Arial"/>
                <a:cs typeface="Arial"/>
              </a:rPr>
              <a:t>=</a:t>
            </a:r>
            <a:r>
              <a:rPr sz="1200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0000FF"/>
                </a:solidFill>
                <a:latin typeface="Arial"/>
                <a:cs typeface="Arial"/>
              </a:rPr>
              <a:t>2,359,296 </a:t>
            </a:r>
            <a:r>
              <a:rPr sz="1200" spc="-10" dirty="0">
                <a:latin typeface="Arial"/>
                <a:cs typeface="Arial"/>
              </a:rPr>
              <a:t>CONV3-</a:t>
            </a:r>
            <a:r>
              <a:rPr sz="1200" dirty="0">
                <a:latin typeface="Arial"/>
                <a:cs typeface="Arial"/>
              </a:rPr>
              <a:t>512: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[28x28x512]</a:t>
            </a:r>
            <a:r>
              <a:rPr sz="1200" spc="310" dirty="0"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0000"/>
                </a:solidFill>
                <a:latin typeface="Arial"/>
                <a:cs typeface="Arial"/>
              </a:rPr>
              <a:t>memory:</a:t>
            </a:r>
            <a:r>
              <a:rPr sz="1200" spc="29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0000"/>
                </a:solidFill>
                <a:latin typeface="Arial"/>
                <a:cs typeface="Arial"/>
              </a:rPr>
              <a:t>28*28*512=400K</a:t>
            </a:r>
            <a:r>
              <a:rPr sz="1200" spc="150" dirty="0">
                <a:solidFill>
                  <a:srgbClr val="FF0000"/>
                </a:solidFill>
                <a:latin typeface="Arial"/>
                <a:cs typeface="Arial"/>
              </a:rPr>
              <a:t>  </a:t>
            </a:r>
            <a:r>
              <a:rPr sz="1200" dirty="0">
                <a:solidFill>
                  <a:srgbClr val="0000FF"/>
                </a:solidFill>
                <a:latin typeface="Arial"/>
                <a:cs typeface="Arial"/>
              </a:rPr>
              <a:t>params:</a:t>
            </a:r>
            <a:r>
              <a:rPr sz="1200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0000FF"/>
                </a:solidFill>
                <a:latin typeface="Arial"/>
                <a:cs typeface="Arial"/>
              </a:rPr>
              <a:t>(3*3*512)*512</a:t>
            </a:r>
            <a:r>
              <a:rPr sz="1200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0000FF"/>
                </a:solidFill>
                <a:latin typeface="Arial"/>
                <a:cs typeface="Arial"/>
              </a:rPr>
              <a:t>=</a:t>
            </a:r>
            <a:r>
              <a:rPr sz="1200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0000FF"/>
                </a:solidFill>
                <a:latin typeface="Arial"/>
                <a:cs typeface="Arial"/>
              </a:rPr>
              <a:t>2,359,296</a:t>
            </a:r>
            <a:endParaRPr sz="1200">
              <a:latin typeface="Arial"/>
              <a:cs typeface="Arial"/>
            </a:endParaRPr>
          </a:p>
          <a:p>
            <a:pPr marL="12700" algn="just">
              <a:lnSpc>
                <a:spcPts val="1385"/>
              </a:lnSpc>
            </a:pPr>
            <a:r>
              <a:rPr sz="1200" dirty="0">
                <a:latin typeface="Arial"/>
                <a:cs typeface="Arial"/>
              </a:rPr>
              <a:t>POOL2:</a:t>
            </a:r>
            <a:r>
              <a:rPr sz="1200" spc="-3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[14x14x512]</a:t>
            </a:r>
            <a:r>
              <a:rPr sz="1200" spc="295" dirty="0"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0000"/>
                </a:solidFill>
                <a:latin typeface="Arial"/>
                <a:cs typeface="Arial"/>
              </a:rPr>
              <a:t>memory:</a:t>
            </a:r>
            <a:r>
              <a:rPr sz="1200" spc="28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0000"/>
                </a:solidFill>
                <a:latin typeface="Arial"/>
                <a:cs typeface="Arial"/>
              </a:rPr>
              <a:t>14*14*512=100K</a:t>
            </a:r>
            <a:r>
              <a:rPr sz="1200" spc="140" dirty="0">
                <a:solidFill>
                  <a:srgbClr val="FF0000"/>
                </a:solidFill>
                <a:latin typeface="Arial"/>
                <a:cs typeface="Arial"/>
              </a:rPr>
              <a:t>  </a:t>
            </a:r>
            <a:r>
              <a:rPr sz="1200" dirty="0">
                <a:solidFill>
                  <a:srgbClr val="0000FF"/>
                </a:solidFill>
                <a:latin typeface="Arial"/>
                <a:cs typeface="Arial"/>
              </a:rPr>
              <a:t>params:</a:t>
            </a:r>
            <a:r>
              <a:rPr sz="1200" spc="-3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00" spc="-50" dirty="0">
                <a:solidFill>
                  <a:srgbClr val="0000FF"/>
                </a:solidFill>
                <a:latin typeface="Arial"/>
                <a:cs typeface="Arial"/>
              </a:rPr>
              <a:t>0</a:t>
            </a:r>
            <a:endParaRPr sz="1200">
              <a:latin typeface="Arial"/>
              <a:cs typeface="Arial"/>
            </a:endParaRPr>
          </a:p>
          <a:p>
            <a:pPr marL="12700" marR="199390" algn="just">
              <a:lnSpc>
                <a:spcPts val="1420"/>
              </a:lnSpc>
              <a:spcBef>
                <a:spcPts val="60"/>
              </a:spcBef>
            </a:pPr>
            <a:r>
              <a:rPr sz="1200" spc="-10" dirty="0">
                <a:latin typeface="Arial"/>
                <a:cs typeface="Arial"/>
              </a:rPr>
              <a:t>CONV3-</a:t>
            </a:r>
            <a:r>
              <a:rPr sz="1200" dirty="0">
                <a:latin typeface="Arial"/>
                <a:cs typeface="Arial"/>
              </a:rPr>
              <a:t>512: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[14x14x512]</a:t>
            </a:r>
            <a:r>
              <a:rPr sz="1200" spc="310" dirty="0"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0000"/>
                </a:solidFill>
                <a:latin typeface="Arial"/>
                <a:cs typeface="Arial"/>
              </a:rPr>
              <a:t>memory:</a:t>
            </a:r>
            <a:r>
              <a:rPr sz="1200" spc="29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0000"/>
                </a:solidFill>
                <a:latin typeface="Arial"/>
                <a:cs typeface="Arial"/>
              </a:rPr>
              <a:t>14*14*512=100K</a:t>
            </a:r>
            <a:r>
              <a:rPr sz="1200" spc="150" dirty="0">
                <a:solidFill>
                  <a:srgbClr val="FF0000"/>
                </a:solidFill>
                <a:latin typeface="Arial"/>
                <a:cs typeface="Arial"/>
              </a:rPr>
              <a:t>  </a:t>
            </a:r>
            <a:r>
              <a:rPr sz="1200" dirty="0">
                <a:solidFill>
                  <a:srgbClr val="0000FF"/>
                </a:solidFill>
                <a:latin typeface="Arial"/>
                <a:cs typeface="Arial"/>
              </a:rPr>
              <a:t>params:</a:t>
            </a:r>
            <a:r>
              <a:rPr sz="1200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0000FF"/>
                </a:solidFill>
                <a:latin typeface="Arial"/>
                <a:cs typeface="Arial"/>
              </a:rPr>
              <a:t>(3*3*512)*512</a:t>
            </a:r>
            <a:r>
              <a:rPr sz="1200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0000FF"/>
                </a:solidFill>
                <a:latin typeface="Arial"/>
                <a:cs typeface="Arial"/>
              </a:rPr>
              <a:t>=</a:t>
            </a:r>
            <a:r>
              <a:rPr sz="1200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0000FF"/>
                </a:solidFill>
                <a:latin typeface="Arial"/>
                <a:cs typeface="Arial"/>
              </a:rPr>
              <a:t>2,359,296 </a:t>
            </a:r>
            <a:r>
              <a:rPr sz="1200" spc="-10" dirty="0">
                <a:latin typeface="Arial"/>
                <a:cs typeface="Arial"/>
              </a:rPr>
              <a:t>CONV3-</a:t>
            </a:r>
            <a:r>
              <a:rPr sz="1200" dirty="0">
                <a:latin typeface="Arial"/>
                <a:cs typeface="Arial"/>
              </a:rPr>
              <a:t>512: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[14x14x512]</a:t>
            </a:r>
            <a:r>
              <a:rPr sz="1200" spc="310" dirty="0"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0000"/>
                </a:solidFill>
                <a:latin typeface="Arial"/>
                <a:cs typeface="Arial"/>
              </a:rPr>
              <a:t>memory:</a:t>
            </a:r>
            <a:r>
              <a:rPr sz="1200" spc="29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0000"/>
                </a:solidFill>
                <a:latin typeface="Arial"/>
                <a:cs typeface="Arial"/>
              </a:rPr>
              <a:t>14*14*512=100K</a:t>
            </a:r>
            <a:r>
              <a:rPr sz="1200" spc="150" dirty="0">
                <a:solidFill>
                  <a:srgbClr val="FF0000"/>
                </a:solidFill>
                <a:latin typeface="Arial"/>
                <a:cs typeface="Arial"/>
              </a:rPr>
              <a:t>  </a:t>
            </a:r>
            <a:r>
              <a:rPr sz="1200" dirty="0">
                <a:solidFill>
                  <a:srgbClr val="0000FF"/>
                </a:solidFill>
                <a:latin typeface="Arial"/>
                <a:cs typeface="Arial"/>
              </a:rPr>
              <a:t>params:</a:t>
            </a:r>
            <a:r>
              <a:rPr sz="1200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0000FF"/>
                </a:solidFill>
                <a:latin typeface="Arial"/>
                <a:cs typeface="Arial"/>
              </a:rPr>
              <a:t>(3*3*512)*512</a:t>
            </a:r>
            <a:r>
              <a:rPr sz="1200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0000FF"/>
                </a:solidFill>
                <a:latin typeface="Arial"/>
                <a:cs typeface="Arial"/>
              </a:rPr>
              <a:t>=</a:t>
            </a:r>
            <a:r>
              <a:rPr sz="1200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0000FF"/>
                </a:solidFill>
                <a:latin typeface="Arial"/>
                <a:cs typeface="Arial"/>
              </a:rPr>
              <a:t>2,359,296 </a:t>
            </a:r>
            <a:r>
              <a:rPr sz="1200" spc="-10" dirty="0">
                <a:latin typeface="Arial"/>
                <a:cs typeface="Arial"/>
              </a:rPr>
              <a:t>CONV3-</a:t>
            </a:r>
            <a:r>
              <a:rPr sz="1200" dirty="0">
                <a:latin typeface="Arial"/>
                <a:cs typeface="Arial"/>
              </a:rPr>
              <a:t>512: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[14x14x512]</a:t>
            </a:r>
            <a:r>
              <a:rPr sz="1200" spc="310" dirty="0"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0000"/>
                </a:solidFill>
                <a:latin typeface="Arial"/>
                <a:cs typeface="Arial"/>
              </a:rPr>
              <a:t>memory:</a:t>
            </a:r>
            <a:r>
              <a:rPr sz="1200" spc="29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0000"/>
                </a:solidFill>
                <a:latin typeface="Arial"/>
                <a:cs typeface="Arial"/>
              </a:rPr>
              <a:t>14*14*512=100K</a:t>
            </a:r>
            <a:r>
              <a:rPr sz="1200" spc="150" dirty="0">
                <a:solidFill>
                  <a:srgbClr val="FF0000"/>
                </a:solidFill>
                <a:latin typeface="Arial"/>
                <a:cs typeface="Arial"/>
              </a:rPr>
              <a:t>  </a:t>
            </a:r>
            <a:r>
              <a:rPr sz="1200" dirty="0">
                <a:solidFill>
                  <a:srgbClr val="0000FF"/>
                </a:solidFill>
                <a:latin typeface="Arial"/>
                <a:cs typeface="Arial"/>
              </a:rPr>
              <a:t>params:</a:t>
            </a:r>
            <a:r>
              <a:rPr sz="1200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0000FF"/>
                </a:solidFill>
                <a:latin typeface="Arial"/>
                <a:cs typeface="Arial"/>
              </a:rPr>
              <a:t>(3*3*512)*512</a:t>
            </a:r>
            <a:r>
              <a:rPr sz="1200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0000FF"/>
                </a:solidFill>
                <a:latin typeface="Arial"/>
                <a:cs typeface="Arial"/>
              </a:rPr>
              <a:t>=</a:t>
            </a:r>
            <a:r>
              <a:rPr sz="1200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0000FF"/>
                </a:solidFill>
                <a:latin typeface="Arial"/>
                <a:cs typeface="Arial"/>
              </a:rPr>
              <a:t>2,359,296</a:t>
            </a:r>
            <a:endParaRPr sz="1200">
              <a:latin typeface="Arial"/>
              <a:cs typeface="Arial"/>
            </a:endParaRPr>
          </a:p>
          <a:p>
            <a:pPr marL="12700" algn="just">
              <a:lnSpc>
                <a:spcPts val="1385"/>
              </a:lnSpc>
            </a:pPr>
            <a:r>
              <a:rPr sz="1200" dirty="0">
                <a:latin typeface="Arial"/>
                <a:cs typeface="Arial"/>
              </a:rPr>
              <a:t>POOL2:</a:t>
            </a:r>
            <a:r>
              <a:rPr sz="1200" spc="-3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[7x7x512]</a:t>
            </a:r>
            <a:r>
              <a:rPr sz="1200" spc="290" dirty="0"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0000"/>
                </a:solidFill>
                <a:latin typeface="Arial"/>
                <a:cs typeface="Arial"/>
              </a:rPr>
              <a:t>memory:</a:t>
            </a:r>
            <a:r>
              <a:rPr sz="1200" spc="27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0000"/>
                </a:solidFill>
                <a:latin typeface="Arial"/>
                <a:cs typeface="Arial"/>
              </a:rPr>
              <a:t>7*7*512=25K</a:t>
            </a:r>
            <a:r>
              <a:rPr sz="1200" spc="30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0000FF"/>
                </a:solidFill>
                <a:latin typeface="Arial"/>
                <a:cs typeface="Arial"/>
              </a:rPr>
              <a:t>params:</a:t>
            </a:r>
            <a:r>
              <a:rPr sz="1200" spc="-3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00" spc="-50" dirty="0">
                <a:solidFill>
                  <a:srgbClr val="0000FF"/>
                </a:solidFill>
                <a:latin typeface="Arial"/>
                <a:cs typeface="Arial"/>
              </a:rPr>
              <a:t>0</a:t>
            </a:r>
            <a:endParaRPr sz="1200">
              <a:latin typeface="Arial"/>
              <a:cs typeface="Arial"/>
            </a:endParaRPr>
          </a:p>
          <a:p>
            <a:pPr marL="12700" marR="1618615" algn="just">
              <a:lnSpc>
                <a:spcPts val="1420"/>
              </a:lnSpc>
              <a:spcBef>
                <a:spcPts val="55"/>
              </a:spcBef>
            </a:pPr>
            <a:r>
              <a:rPr sz="1200" dirty="0">
                <a:latin typeface="Arial"/>
                <a:cs typeface="Arial"/>
              </a:rPr>
              <a:t>FC:</a:t>
            </a:r>
            <a:r>
              <a:rPr sz="1200" spc="-3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[1x1x4096]</a:t>
            </a:r>
            <a:r>
              <a:rPr sz="1200" spc="305" dirty="0"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0000"/>
                </a:solidFill>
                <a:latin typeface="Arial"/>
                <a:cs typeface="Arial"/>
              </a:rPr>
              <a:t>memory:</a:t>
            </a:r>
            <a:r>
              <a:rPr sz="1200" spc="29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0000"/>
                </a:solidFill>
                <a:latin typeface="Arial"/>
                <a:cs typeface="Arial"/>
              </a:rPr>
              <a:t>4096</a:t>
            </a:r>
            <a:r>
              <a:rPr sz="1200" spc="30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0000FF"/>
                </a:solidFill>
                <a:latin typeface="Arial"/>
                <a:cs typeface="Arial"/>
              </a:rPr>
              <a:t>params:</a:t>
            </a:r>
            <a:r>
              <a:rPr sz="1200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0000FF"/>
                </a:solidFill>
                <a:latin typeface="Arial"/>
                <a:cs typeface="Arial"/>
              </a:rPr>
              <a:t>7*7*512*4096</a:t>
            </a:r>
            <a:r>
              <a:rPr sz="1200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0000FF"/>
                </a:solidFill>
                <a:latin typeface="Arial"/>
                <a:cs typeface="Arial"/>
              </a:rPr>
              <a:t>=</a:t>
            </a:r>
            <a:r>
              <a:rPr sz="1200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0000FF"/>
                </a:solidFill>
                <a:latin typeface="Arial"/>
                <a:cs typeface="Arial"/>
              </a:rPr>
              <a:t>102,760,448 </a:t>
            </a:r>
            <a:r>
              <a:rPr sz="1200" dirty="0">
                <a:latin typeface="Arial"/>
                <a:cs typeface="Arial"/>
              </a:rPr>
              <a:t>FC: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[1x1x4096]</a:t>
            </a:r>
            <a:r>
              <a:rPr sz="1200" spc="305" dirty="0"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0000"/>
                </a:solidFill>
                <a:latin typeface="Arial"/>
                <a:cs typeface="Arial"/>
              </a:rPr>
              <a:t>memory:</a:t>
            </a:r>
            <a:r>
              <a:rPr sz="1200" spc="29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0000"/>
                </a:solidFill>
                <a:latin typeface="Arial"/>
                <a:cs typeface="Arial"/>
              </a:rPr>
              <a:t>4096</a:t>
            </a:r>
            <a:r>
              <a:rPr sz="1200" spc="30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0000FF"/>
                </a:solidFill>
                <a:latin typeface="Arial"/>
                <a:cs typeface="Arial"/>
              </a:rPr>
              <a:t>params:</a:t>
            </a:r>
            <a:r>
              <a:rPr sz="1200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0000FF"/>
                </a:solidFill>
                <a:latin typeface="Arial"/>
                <a:cs typeface="Arial"/>
              </a:rPr>
              <a:t>4096*4096</a:t>
            </a:r>
            <a:r>
              <a:rPr sz="1200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0000FF"/>
                </a:solidFill>
                <a:latin typeface="Arial"/>
                <a:cs typeface="Arial"/>
              </a:rPr>
              <a:t>=</a:t>
            </a:r>
            <a:r>
              <a:rPr sz="1200" spc="-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0000FF"/>
                </a:solidFill>
                <a:latin typeface="Arial"/>
                <a:cs typeface="Arial"/>
              </a:rPr>
              <a:t>16,777,216</a:t>
            </a:r>
            <a:endParaRPr sz="1200">
              <a:latin typeface="Arial"/>
              <a:cs typeface="Arial"/>
            </a:endParaRPr>
          </a:p>
          <a:p>
            <a:pPr marL="12700" algn="just">
              <a:lnSpc>
                <a:spcPts val="1385"/>
              </a:lnSpc>
            </a:pPr>
            <a:r>
              <a:rPr sz="1200" dirty="0">
                <a:latin typeface="Arial"/>
                <a:cs typeface="Arial"/>
              </a:rPr>
              <a:t>FC:</a:t>
            </a:r>
            <a:r>
              <a:rPr sz="1200" spc="-3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[1x1x1000]</a:t>
            </a:r>
            <a:r>
              <a:rPr sz="1200" spc="305" dirty="0"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0000"/>
                </a:solidFill>
                <a:latin typeface="Arial"/>
                <a:cs typeface="Arial"/>
              </a:rPr>
              <a:t>memory:</a:t>
            </a:r>
            <a:r>
              <a:rPr sz="1200" spc="28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0000"/>
                </a:solidFill>
                <a:latin typeface="Arial"/>
                <a:cs typeface="Arial"/>
              </a:rPr>
              <a:t>1000</a:t>
            </a:r>
            <a:r>
              <a:rPr sz="1200" spc="-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0000FF"/>
                </a:solidFill>
                <a:latin typeface="Arial"/>
                <a:cs typeface="Arial"/>
              </a:rPr>
              <a:t>params:</a:t>
            </a:r>
            <a:r>
              <a:rPr sz="1200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0000FF"/>
                </a:solidFill>
                <a:latin typeface="Arial"/>
                <a:cs typeface="Arial"/>
              </a:rPr>
              <a:t>4096*1000</a:t>
            </a:r>
            <a:r>
              <a:rPr sz="1200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0000FF"/>
                </a:solidFill>
                <a:latin typeface="Arial"/>
                <a:cs typeface="Arial"/>
              </a:rPr>
              <a:t>=</a:t>
            </a:r>
            <a:r>
              <a:rPr sz="1200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0000FF"/>
                </a:solidFill>
                <a:latin typeface="Arial"/>
                <a:cs typeface="Arial"/>
              </a:rPr>
              <a:t>4,096,000</a:t>
            </a:r>
            <a:endParaRPr sz="120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4894989" y="-43762"/>
            <a:ext cx="167513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3B77D8"/>
                </a:solidFill>
              </a:rPr>
              <a:t>(not</a:t>
            </a:r>
            <a:r>
              <a:rPr sz="1400" spc="-30" dirty="0">
                <a:solidFill>
                  <a:srgbClr val="3B77D8"/>
                </a:solidFill>
              </a:rPr>
              <a:t> </a:t>
            </a:r>
            <a:r>
              <a:rPr sz="1400" dirty="0">
                <a:solidFill>
                  <a:srgbClr val="3B77D8"/>
                </a:solidFill>
              </a:rPr>
              <a:t>counting</a:t>
            </a:r>
            <a:r>
              <a:rPr sz="1400" spc="-30" dirty="0">
                <a:solidFill>
                  <a:srgbClr val="3B77D8"/>
                </a:solidFill>
              </a:rPr>
              <a:t> </a:t>
            </a:r>
            <a:r>
              <a:rPr sz="1400" spc="-10" dirty="0">
                <a:solidFill>
                  <a:srgbClr val="3B77D8"/>
                </a:solidFill>
              </a:rPr>
              <a:t>biases)</a:t>
            </a:r>
            <a:endParaRPr sz="1400"/>
          </a:p>
        </p:txBody>
      </p:sp>
      <p:sp>
        <p:nvSpPr>
          <p:cNvPr id="12" name="object 10">
            <a:extLst>
              <a:ext uri="{FF2B5EF4-FFF2-40B4-BE49-F238E27FC236}">
                <a16:creationId xmlns:a16="http://schemas.microsoft.com/office/drawing/2014/main" id="{FB6F469D-B35D-544D-93B4-4D17AD53636F}"/>
              </a:ext>
            </a:extLst>
          </p:cNvPr>
          <p:cNvSpPr txBox="1">
            <a:spLocks noGrp="1"/>
          </p:cNvSpPr>
          <p:nvPr>
            <p:ph type="dt" sz="half" idx="4294967295"/>
          </p:nvPr>
        </p:nvSpPr>
        <p:spPr>
          <a:xfrm>
            <a:off x="145224" y="4740846"/>
            <a:ext cx="4699000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lang="en-US" altLang="zh-CN" spc="-10" dirty="0">
                <a:solidFill>
                  <a:schemeClr val="bg1"/>
                </a:solidFill>
              </a:rPr>
              <a:t>Convolutional</a:t>
            </a:r>
            <a:r>
              <a:rPr lang="zh-CN" altLang="en-US" spc="-10" dirty="0">
                <a:solidFill>
                  <a:schemeClr val="bg1"/>
                </a:solidFill>
              </a:rPr>
              <a:t> </a:t>
            </a:r>
            <a:r>
              <a:rPr lang="en-US" altLang="zh-CN" spc="-10" dirty="0">
                <a:solidFill>
                  <a:schemeClr val="bg1"/>
                </a:solidFill>
              </a:rPr>
              <a:t>Neural</a:t>
            </a:r>
            <a:r>
              <a:rPr lang="zh-CN" altLang="en-US" spc="-10" dirty="0">
                <a:solidFill>
                  <a:schemeClr val="bg1"/>
                </a:solidFill>
              </a:rPr>
              <a:t> </a:t>
            </a:r>
            <a:r>
              <a:rPr lang="en-US" altLang="zh-CN" spc="-10" dirty="0">
                <a:solidFill>
                  <a:schemeClr val="bg1"/>
                </a:solidFill>
              </a:rPr>
              <a:t>Networks</a:t>
            </a:r>
            <a:endParaRPr spc="-1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648586" y="134849"/>
            <a:ext cx="2299335" cy="4367530"/>
            <a:chOff x="6648586" y="134849"/>
            <a:chExt cx="2299335" cy="436753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648586" y="134849"/>
              <a:ext cx="2298845" cy="43671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8050108" y="299099"/>
              <a:ext cx="692150" cy="3367404"/>
            </a:xfrm>
            <a:custGeom>
              <a:avLst/>
              <a:gdLst/>
              <a:ahLst/>
              <a:cxnLst/>
              <a:rect l="l" t="t" r="r" b="b"/>
              <a:pathLst>
                <a:path w="692150" h="3367404">
                  <a:moveTo>
                    <a:pt x="0" y="0"/>
                  </a:moveTo>
                  <a:lnTo>
                    <a:pt x="692098" y="0"/>
                  </a:lnTo>
                  <a:lnTo>
                    <a:pt x="692098" y="3366893"/>
                  </a:lnTo>
                  <a:lnTo>
                    <a:pt x="0" y="3366893"/>
                  </a:lnTo>
                  <a:lnTo>
                    <a:pt x="0" y="0"/>
                  </a:lnTo>
                  <a:close/>
                </a:path>
              </a:pathLst>
            </a:custGeom>
            <a:ln w="3809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158474" y="28553"/>
            <a:ext cx="43745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23389" algn="l"/>
                <a:tab pos="3684270" algn="l"/>
              </a:tabLst>
            </a:pPr>
            <a:r>
              <a:rPr sz="1200" dirty="0">
                <a:latin typeface="Arial"/>
                <a:cs typeface="Arial"/>
              </a:rPr>
              <a:t>INPUT:</a:t>
            </a:r>
            <a:r>
              <a:rPr sz="1200" spc="-70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[224x224x3]</a:t>
            </a:r>
            <a:r>
              <a:rPr sz="1200" dirty="0">
                <a:latin typeface="Arial"/>
                <a:cs typeface="Arial"/>
              </a:rPr>
              <a:t>	</a:t>
            </a:r>
            <a:r>
              <a:rPr sz="1200" dirty="0">
                <a:solidFill>
                  <a:srgbClr val="FF0000"/>
                </a:solidFill>
                <a:latin typeface="Arial"/>
                <a:cs typeface="Arial"/>
              </a:rPr>
              <a:t>memory:</a:t>
            </a:r>
            <a:r>
              <a:rPr sz="1200" spc="29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FF0000"/>
                </a:solidFill>
                <a:latin typeface="Arial"/>
                <a:cs typeface="Arial"/>
              </a:rPr>
              <a:t>224*224*3=150K</a:t>
            </a:r>
            <a:r>
              <a:rPr sz="1200" dirty="0">
                <a:solidFill>
                  <a:srgbClr val="FF0000"/>
                </a:solidFill>
                <a:latin typeface="Arial"/>
                <a:cs typeface="Arial"/>
              </a:rPr>
              <a:t>	</a:t>
            </a:r>
            <a:r>
              <a:rPr sz="1200" dirty="0">
                <a:solidFill>
                  <a:srgbClr val="0000FF"/>
                </a:solidFill>
                <a:latin typeface="Arial"/>
                <a:cs typeface="Arial"/>
              </a:rPr>
              <a:t>params:</a:t>
            </a:r>
            <a:r>
              <a:rPr sz="1200" spc="-4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00" spc="-50" dirty="0">
                <a:solidFill>
                  <a:srgbClr val="0000FF"/>
                </a:solidFill>
                <a:latin typeface="Arial"/>
                <a:cs typeface="Arial"/>
              </a:rPr>
              <a:t>0</a:t>
            </a:r>
            <a:endParaRPr sz="12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8474" y="209528"/>
            <a:ext cx="6411595" cy="434911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 marR="513080">
              <a:lnSpc>
                <a:spcPts val="1420"/>
              </a:lnSpc>
              <a:spcBef>
                <a:spcPts val="160"/>
              </a:spcBef>
              <a:tabLst>
                <a:tab pos="3870960" algn="l"/>
              </a:tabLst>
            </a:pPr>
            <a:r>
              <a:rPr sz="1200" spc="-10" dirty="0">
                <a:latin typeface="Arial"/>
                <a:cs typeface="Arial"/>
              </a:rPr>
              <a:t>CONV3-</a:t>
            </a:r>
            <a:r>
              <a:rPr sz="1200" dirty="0">
                <a:latin typeface="Arial"/>
                <a:cs typeface="Arial"/>
              </a:rPr>
              <a:t>64: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[224x224x64]</a:t>
            </a:r>
            <a:r>
              <a:rPr sz="1200" spc="330" dirty="0"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0000"/>
                </a:solidFill>
                <a:latin typeface="Arial"/>
                <a:cs typeface="Arial"/>
              </a:rPr>
              <a:t>memory:</a:t>
            </a:r>
            <a:r>
              <a:rPr sz="1200" spc="30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FF0000"/>
                </a:solidFill>
                <a:latin typeface="Arial"/>
                <a:cs typeface="Arial"/>
              </a:rPr>
              <a:t>224*224*64=3.2M</a:t>
            </a:r>
            <a:r>
              <a:rPr sz="1200" dirty="0">
                <a:solidFill>
                  <a:srgbClr val="FF0000"/>
                </a:solidFill>
                <a:latin typeface="Arial"/>
                <a:cs typeface="Arial"/>
              </a:rPr>
              <a:t>	</a:t>
            </a:r>
            <a:r>
              <a:rPr sz="1200" dirty="0">
                <a:solidFill>
                  <a:srgbClr val="0000FF"/>
                </a:solidFill>
                <a:latin typeface="Arial"/>
                <a:cs typeface="Arial"/>
              </a:rPr>
              <a:t>params:</a:t>
            </a:r>
            <a:r>
              <a:rPr sz="1200" spc="-4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0000FF"/>
                </a:solidFill>
                <a:latin typeface="Arial"/>
                <a:cs typeface="Arial"/>
              </a:rPr>
              <a:t>(3*3*3)*64</a:t>
            </a:r>
            <a:r>
              <a:rPr sz="1200" spc="-3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0000FF"/>
                </a:solidFill>
                <a:latin typeface="Arial"/>
                <a:cs typeface="Arial"/>
              </a:rPr>
              <a:t>=</a:t>
            </a:r>
            <a:r>
              <a:rPr sz="1200" spc="-3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0000FF"/>
                </a:solidFill>
                <a:latin typeface="Arial"/>
                <a:cs typeface="Arial"/>
              </a:rPr>
              <a:t>1,728 </a:t>
            </a:r>
            <a:r>
              <a:rPr sz="1200" spc="-10" dirty="0">
                <a:latin typeface="Arial"/>
                <a:cs typeface="Arial"/>
              </a:rPr>
              <a:t>CONV3-</a:t>
            </a:r>
            <a:r>
              <a:rPr sz="1200" dirty="0">
                <a:latin typeface="Arial"/>
                <a:cs typeface="Arial"/>
              </a:rPr>
              <a:t>64: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[224x224x64]</a:t>
            </a:r>
            <a:r>
              <a:rPr sz="1200" spc="330" dirty="0"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0000"/>
                </a:solidFill>
                <a:latin typeface="Arial"/>
                <a:cs typeface="Arial"/>
              </a:rPr>
              <a:t>memory:</a:t>
            </a:r>
            <a:r>
              <a:rPr sz="1200" spc="30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FF0000"/>
                </a:solidFill>
                <a:latin typeface="Arial"/>
                <a:cs typeface="Arial"/>
              </a:rPr>
              <a:t>224*224*64=3.2M</a:t>
            </a:r>
            <a:r>
              <a:rPr sz="1200" dirty="0">
                <a:solidFill>
                  <a:srgbClr val="FF0000"/>
                </a:solidFill>
                <a:latin typeface="Arial"/>
                <a:cs typeface="Arial"/>
              </a:rPr>
              <a:t>	</a:t>
            </a:r>
            <a:r>
              <a:rPr sz="1200" dirty="0">
                <a:solidFill>
                  <a:srgbClr val="0000FF"/>
                </a:solidFill>
                <a:latin typeface="Arial"/>
                <a:cs typeface="Arial"/>
              </a:rPr>
              <a:t>params:</a:t>
            </a:r>
            <a:r>
              <a:rPr sz="1200" spc="-4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0000FF"/>
                </a:solidFill>
                <a:latin typeface="Arial"/>
                <a:cs typeface="Arial"/>
              </a:rPr>
              <a:t>(3*3*64)*64</a:t>
            </a:r>
            <a:r>
              <a:rPr sz="1200" spc="-3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0000FF"/>
                </a:solidFill>
                <a:latin typeface="Arial"/>
                <a:cs typeface="Arial"/>
              </a:rPr>
              <a:t>=</a:t>
            </a:r>
            <a:r>
              <a:rPr sz="1200" spc="-3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0000FF"/>
                </a:solidFill>
                <a:latin typeface="Arial"/>
                <a:cs typeface="Arial"/>
              </a:rPr>
              <a:t>36,864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ts val="1380"/>
              </a:lnSpc>
              <a:tabLst>
                <a:tab pos="3651250" algn="l"/>
              </a:tabLst>
            </a:pPr>
            <a:r>
              <a:rPr sz="1200" dirty="0">
                <a:latin typeface="Arial"/>
                <a:cs typeface="Arial"/>
              </a:rPr>
              <a:t>POOL2:</a:t>
            </a:r>
            <a:r>
              <a:rPr sz="1200" spc="-4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[112x112x64]</a:t>
            </a:r>
            <a:r>
              <a:rPr sz="1200" spc="290" dirty="0"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0000"/>
                </a:solidFill>
                <a:latin typeface="Arial"/>
                <a:cs typeface="Arial"/>
              </a:rPr>
              <a:t>memory:</a:t>
            </a:r>
            <a:r>
              <a:rPr sz="1200" spc="27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FF0000"/>
                </a:solidFill>
                <a:latin typeface="Arial"/>
                <a:cs typeface="Arial"/>
              </a:rPr>
              <a:t>112*112*64=800K</a:t>
            </a:r>
            <a:r>
              <a:rPr sz="1200" dirty="0">
                <a:solidFill>
                  <a:srgbClr val="FF0000"/>
                </a:solidFill>
                <a:latin typeface="Arial"/>
                <a:cs typeface="Arial"/>
              </a:rPr>
              <a:t>	</a:t>
            </a:r>
            <a:r>
              <a:rPr sz="1200" dirty="0">
                <a:solidFill>
                  <a:srgbClr val="0000FF"/>
                </a:solidFill>
                <a:latin typeface="Arial"/>
                <a:cs typeface="Arial"/>
              </a:rPr>
              <a:t>params:</a:t>
            </a:r>
            <a:r>
              <a:rPr sz="1200" spc="-4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00" spc="-50" dirty="0">
                <a:solidFill>
                  <a:srgbClr val="0000FF"/>
                </a:solidFill>
                <a:latin typeface="Arial"/>
                <a:cs typeface="Arial"/>
              </a:rPr>
              <a:t>0</a:t>
            </a:r>
            <a:endParaRPr sz="1200">
              <a:latin typeface="Arial"/>
              <a:cs typeface="Arial"/>
            </a:endParaRPr>
          </a:p>
          <a:p>
            <a:pPr marL="12700" marR="5080">
              <a:lnSpc>
                <a:spcPts val="1420"/>
              </a:lnSpc>
              <a:spcBef>
                <a:spcPts val="60"/>
              </a:spcBef>
              <a:tabLst>
                <a:tab pos="4125595" algn="l"/>
              </a:tabLst>
            </a:pPr>
            <a:r>
              <a:rPr sz="1200" spc="-10" dirty="0">
                <a:latin typeface="Arial"/>
                <a:cs typeface="Arial"/>
              </a:rPr>
              <a:t>CONV3-</a:t>
            </a:r>
            <a:r>
              <a:rPr sz="1200" dirty="0">
                <a:latin typeface="Arial"/>
                <a:cs typeface="Arial"/>
              </a:rPr>
              <a:t>128: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[112x112x128]</a:t>
            </a:r>
            <a:r>
              <a:rPr sz="1200" spc="320" dirty="0"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0000"/>
                </a:solidFill>
                <a:latin typeface="Arial"/>
                <a:cs typeface="Arial"/>
              </a:rPr>
              <a:t>memory:</a:t>
            </a:r>
            <a:r>
              <a:rPr sz="1200" spc="30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FF0000"/>
                </a:solidFill>
                <a:latin typeface="Arial"/>
                <a:cs typeface="Arial"/>
              </a:rPr>
              <a:t>112*112*128=1.6M</a:t>
            </a:r>
            <a:r>
              <a:rPr sz="1200" dirty="0">
                <a:solidFill>
                  <a:srgbClr val="FF0000"/>
                </a:solidFill>
                <a:latin typeface="Arial"/>
                <a:cs typeface="Arial"/>
              </a:rPr>
              <a:t>	</a:t>
            </a:r>
            <a:r>
              <a:rPr sz="1200" dirty="0">
                <a:solidFill>
                  <a:srgbClr val="0000FF"/>
                </a:solidFill>
                <a:latin typeface="Arial"/>
                <a:cs typeface="Arial"/>
              </a:rPr>
              <a:t>params:</a:t>
            </a:r>
            <a:r>
              <a:rPr sz="1200" spc="-4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0000FF"/>
                </a:solidFill>
                <a:latin typeface="Arial"/>
                <a:cs typeface="Arial"/>
              </a:rPr>
              <a:t>(3*3*64)*128</a:t>
            </a:r>
            <a:r>
              <a:rPr sz="1200" spc="-3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0000FF"/>
                </a:solidFill>
                <a:latin typeface="Arial"/>
                <a:cs typeface="Arial"/>
              </a:rPr>
              <a:t>=</a:t>
            </a:r>
            <a:r>
              <a:rPr sz="1200" spc="-3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0000FF"/>
                </a:solidFill>
                <a:latin typeface="Arial"/>
                <a:cs typeface="Arial"/>
              </a:rPr>
              <a:t>73,728 </a:t>
            </a:r>
            <a:r>
              <a:rPr sz="1200" spc="-10" dirty="0">
                <a:latin typeface="Arial"/>
                <a:cs typeface="Arial"/>
              </a:rPr>
              <a:t>CONV3-</a:t>
            </a:r>
            <a:r>
              <a:rPr sz="1200" dirty="0">
                <a:latin typeface="Arial"/>
                <a:cs typeface="Arial"/>
              </a:rPr>
              <a:t>128: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[112x112x128]</a:t>
            </a:r>
            <a:r>
              <a:rPr sz="1200" spc="320" dirty="0"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0000"/>
                </a:solidFill>
                <a:latin typeface="Arial"/>
                <a:cs typeface="Arial"/>
              </a:rPr>
              <a:t>memory:</a:t>
            </a:r>
            <a:r>
              <a:rPr sz="1200" spc="30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FF0000"/>
                </a:solidFill>
                <a:latin typeface="Arial"/>
                <a:cs typeface="Arial"/>
              </a:rPr>
              <a:t>112*112*128=1.6M</a:t>
            </a:r>
            <a:r>
              <a:rPr sz="1200" dirty="0">
                <a:solidFill>
                  <a:srgbClr val="FF0000"/>
                </a:solidFill>
                <a:latin typeface="Arial"/>
                <a:cs typeface="Arial"/>
              </a:rPr>
              <a:t>	</a:t>
            </a:r>
            <a:r>
              <a:rPr sz="1200" dirty="0">
                <a:solidFill>
                  <a:srgbClr val="0000FF"/>
                </a:solidFill>
                <a:latin typeface="Arial"/>
                <a:cs typeface="Arial"/>
              </a:rPr>
              <a:t>params:</a:t>
            </a:r>
            <a:r>
              <a:rPr sz="1200" spc="-3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0000FF"/>
                </a:solidFill>
                <a:latin typeface="Arial"/>
                <a:cs typeface="Arial"/>
              </a:rPr>
              <a:t>(3*3*128)*128</a:t>
            </a:r>
            <a:r>
              <a:rPr sz="1200" spc="-3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0000FF"/>
                </a:solidFill>
                <a:latin typeface="Arial"/>
                <a:cs typeface="Arial"/>
              </a:rPr>
              <a:t>=</a:t>
            </a:r>
            <a:r>
              <a:rPr sz="1200" spc="-3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0000FF"/>
                </a:solidFill>
                <a:latin typeface="Arial"/>
                <a:cs typeface="Arial"/>
              </a:rPr>
              <a:t>147,456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ts val="1380"/>
              </a:lnSpc>
              <a:tabLst>
                <a:tab pos="3481704" algn="l"/>
              </a:tabLst>
            </a:pPr>
            <a:r>
              <a:rPr sz="1200" dirty="0">
                <a:latin typeface="Arial"/>
                <a:cs typeface="Arial"/>
              </a:rPr>
              <a:t>POOL2:</a:t>
            </a:r>
            <a:r>
              <a:rPr sz="1200" spc="-3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[56x56x128]</a:t>
            </a:r>
            <a:r>
              <a:rPr sz="1200" spc="290" dirty="0"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0000"/>
                </a:solidFill>
                <a:latin typeface="Arial"/>
                <a:cs typeface="Arial"/>
              </a:rPr>
              <a:t>memory:</a:t>
            </a:r>
            <a:r>
              <a:rPr sz="1200" spc="27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FF0000"/>
                </a:solidFill>
                <a:latin typeface="Arial"/>
                <a:cs typeface="Arial"/>
              </a:rPr>
              <a:t>56*56*128=400K</a:t>
            </a:r>
            <a:r>
              <a:rPr sz="1200" dirty="0">
                <a:solidFill>
                  <a:srgbClr val="FF0000"/>
                </a:solidFill>
                <a:latin typeface="Arial"/>
                <a:cs typeface="Arial"/>
              </a:rPr>
              <a:t>	</a:t>
            </a:r>
            <a:r>
              <a:rPr sz="1200" dirty="0">
                <a:solidFill>
                  <a:srgbClr val="0000FF"/>
                </a:solidFill>
                <a:latin typeface="Arial"/>
                <a:cs typeface="Arial"/>
              </a:rPr>
              <a:t>params:</a:t>
            </a:r>
            <a:r>
              <a:rPr sz="1200" spc="-4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00" spc="-50" dirty="0">
                <a:solidFill>
                  <a:srgbClr val="0000FF"/>
                </a:solidFill>
                <a:latin typeface="Arial"/>
                <a:cs typeface="Arial"/>
              </a:rPr>
              <a:t>0</a:t>
            </a:r>
            <a:endParaRPr sz="1200">
              <a:latin typeface="Arial"/>
              <a:cs typeface="Arial"/>
            </a:endParaRPr>
          </a:p>
          <a:p>
            <a:pPr marL="12700" marR="326390" algn="just">
              <a:lnSpc>
                <a:spcPts val="1420"/>
              </a:lnSpc>
              <a:spcBef>
                <a:spcPts val="55"/>
              </a:spcBef>
            </a:pPr>
            <a:r>
              <a:rPr sz="1200" spc="-10" dirty="0">
                <a:latin typeface="Arial"/>
                <a:cs typeface="Arial"/>
              </a:rPr>
              <a:t>CONV3-</a:t>
            </a:r>
            <a:r>
              <a:rPr sz="1200" dirty="0">
                <a:latin typeface="Arial"/>
                <a:cs typeface="Arial"/>
              </a:rPr>
              <a:t>256: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[56x56x256]</a:t>
            </a:r>
            <a:r>
              <a:rPr sz="1200" spc="310" dirty="0"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0000"/>
                </a:solidFill>
                <a:latin typeface="Arial"/>
                <a:cs typeface="Arial"/>
              </a:rPr>
              <a:t>memory:</a:t>
            </a:r>
            <a:r>
              <a:rPr sz="1200" spc="29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0000"/>
                </a:solidFill>
                <a:latin typeface="Arial"/>
                <a:cs typeface="Arial"/>
              </a:rPr>
              <a:t>56*56*256=800K</a:t>
            </a:r>
            <a:r>
              <a:rPr sz="1200" spc="150" dirty="0">
                <a:solidFill>
                  <a:srgbClr val="FF0000"/>
                </a:solidFill>
                <a:latin typeface="Arial"/>
                <a:cs typeface="Arial"/>
              </a:rPr>
              <a:t>  </a:t>
            </a:r>
            <a:r>
              <a:rPr sz="1200" dirty="0">
                <a:solidFill>
                  <a:srgbClr val="0000FF"/>
                </a:solidFill>
                <a:latin typeface="Arial"/>
                <a:cs typeface="Arial"/>
              </a:rPr>
              <a:t>params:</a:t>
            </a:r>
            <a:r>
              <a:rPr sz="1200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0000FF"/>
                </a:solidFill>
                <a:latin typeface="Arial"/>
                <a:cs typeface="Arial"/>
              </a:rPr>
              <a:t>(3*3*128)*256</a:t>
            </a:r>
            <a:r>
              <a:rPr sz="1200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0000FF"/>
                </a:solidFill>
                <a:latin typeface="Arial"/>
                <a:cs typeface="Arial"/>
              </a:rPr>
              <a:t>=</a:t>
            </a:r>
            <a:r>
              <a:rPr sz="1200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0000FF"/>
                </a:solidFill>
                <a:latin typeface="Arial"/>
                <a:cs typeface="Arial"/>
              </a:rPr>
              <a:t>294,912 </a:t>
            </a:r>
            <a:r>
              <a:rPr sz="1200" spc="-10" dirty="0">
                <a:latin typeface="Arial"/>
                <a:cs typeface="Arial"/>
              </a:rPr>
              <a:t>CONV3-</a:t>
            </a:r>
            <a:r>
              <a:rPr sz="1200" dirty="0">
                <a:latin typeface="Arial"/>
                <a:cs typeface="Arial"/>
              </a:rPr>
              <a:t>256: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[56x56x256]</a:t>
            </a:r>
            <a:r>
              <a:rPr sz="1200" spc="310" dirty="0"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0000"/>
                </a:solidFill>
                <a:latin typeface="Arial"/>
                <a:cs typeface="Arial"/>
              </a:rPr>
              <a:t>memory:</a:t>
            </a:r>
            <a:r>
              <a:rPr sz="1200" spc="29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0000"/>
                </a:solidFill>
                <a:latin typeface="Arial"/>
                <a:cs typeface="Arial"/>
              </a:rPr>
              <a:t>56*56*256=800K</a:t>
            </a:r>
            <a:r>
              <a:rPr sz="1200" spc="150" dirty="0">
                <a:solidFill>
                  <a:srgbClr val="FF0000"/>
                </a:solidFill>
                <a:latin typeface="Arial"/>
                <a:cs typeface="Arial"/>
              </a:rPr>
              <a:t>  </a:t>
            </a:r>
            <a:r>
              <a:rPr sz="1200" dirty="0">
                <a:solidFill>
                  <a:srgbClr val="0000FF"/>
                </a:solidFill>
                <a:latin typeface="Arial"/>
                <a:cs typeface="Arial"/>
              </a:rPr>
              <a:t>params:</a:t>
            </a:r>
            <a:r>
              <a:rPr sz="1200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0000FF"/>
                </a:solidFill>
                <a:latin typeface="Arial"/>
                <a:cs typeface="Arial"/>
              </a:rPr>
              <a:t>(3*3*256)*256</a:t>
            </a:r>
            <a:r>
              <a:rPr sz="1200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0000FF"/>
                </a:solidFill>
                <a:latin typeface="Arial"/>
                <a:cs typeface="Arial"/>
              </a:rPr>
              <a:t>=</a:t>
            </a:r>
            <a:r>
              <a:rPr sz="1200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0000FF"/>
                </a:solidFill>
                <a:latin typeface="Arial"/>
                <a:cs typeface="Arial"/>
              </a:rPr>
              <a:t>589,824 </a:t>
            </a:r>
            <a:r>
              <a:rPr sz="1200" spc="-10" dirty="0">
                <a:latin typeface="Arial"/>
                <a:cs typeface="Arial"/>
              </a:rPr>
              <a:t>CONV3-</a:t>
            </a:r>
            <a:r>
              <a:rPr sz="1200" dirty="0">
                <a:latin typeface="Arial"/>
                <a:cs typeface="Arial"/>
              </a:rPr>
              <a:t>256: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[56x56x256]</a:t>
            </a:r>
            <a:r>
              <a:rPr sz="1200" spc="310" dirty="0"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0000"/>
                </a:solidFill>
                <a:latin typeface="Arial"/>
                <a:cs typeface="Arial"/>
              </a:rPr>
              <a:t>memory:</a:t>
            </a:r>
            <a:r>
              <a:rPr sz="1200" spc="29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0000"/>
                </a:solidFill>
                <a:latin typeface="Arial"/>
                <a:cs typeface="Arial"/>
              </a:rPr>
              <a:t>56*56*256=800K</a:t>
            </a:r>
            <a:r>
              <a:rPr sz="1200" spc="150" dirty="0">
                <a:solidFill>
                  <a:srgbClr val="FF0000"/>
                </a:solidFill>
                <a:latin typeface="Arial"/>
                <a:cs typeface="Arial"/>
              </a:rPr>
              <a:t>  </a:t>
            </a:r>
            <a:r>
              <a:rPr sz="1200" dirty="0">
                <a:solidFill>
                  <a:srgbClr val="0000FF"/>
                </a:solidFill>
                <a:latin typeface="Arial"/>
                <a:cs typeface="Arial"/>
              </a:rPr>
              <a:t>params:</a:t>
            </a:r>
            <a:r>
              <a:rPr sz="1200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0000FF"/>
                </a:solidFill>
                <a:latin typeface="Arial"/>
                <a:cs typeface="Arial"/>
              </a:rPr>
              <a:t>(3*3*256)*256</a:t>
            </a:r>
            <a:r>
              <a:rPr sz="1200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0000FF"/>
                </a:solidFill>
                <a:latin typeface="Arial"/>
                <a:cs typeface="Arial"/>
              </a:rPr>
              <a:t>=</a:t>
            </a:r>
            <a:r>
              <a:rPr sz="1200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0000FF"/>
                </a:solidFill>
                <a:latin typeface="Arial"/>
                <a:cs typeface="Arial"/>
              </a:rPr>
              <a:t>589,824</a:t>
            </a:r>
            <a:endParaRPr sz="1200">
              <a:latin typeface="Arial"/>
              <a:cs typeface="Arial"/>
            </a:endParaRPr>
          </a:p>
          <a:p>
            <a:pPr marL="12700" algn="just">
              <a:lnSpc>
                <a:spcPts val="1385"/>
              </a:lnSpc>
            </a:pPr>
            <a:r>
              <a:rPr sz="1200" dirty="0">
                <a:latin typeface="Arial"/>
                <a:cs typeface="Arial"/>
              </a:rPr>
              <a:t>POOL2:</a:t>
            </a:r>
            <a:r>
              <a:rPr sz="1200" spc="-3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[28x28x256]</a:t>
            </a:r>
            <a:r>
              <a:rPr sz="1200" spc="295" dirty="0"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0000"/>
                </a:solidFill>
                <a:latin typeface="Arial"/>
                <a:cs typeface="Arial"/>
              </a:rPr>
              <a:t>memory:</a:t>
            </a:r>
            <a:r>
              <a:rPr sz="1200" spc="28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0000"/>
                </a:solidFill>
                <a:latin typeface="Arial"/>
                <a:cs typeface="Arial"/>
              </a:rPr>
              <a:t>28*28*256=200K</a:t>
            </a:r>
            <a:r>
              <a:rPr sz="1200" spc="140" dirty="0">
                <a:solidFill>
                  <a:srgbClr val="FF0000"/>
                </a:solidFill>
                <a:latin typeface="Arial"/>
                <a:cs typeface="Arial"/>
              </a:rPr>
              <a:t>  </a:t>
            </a:r>
            <a:r>
              <a:rPr sz="1200" dirty="0">
                <a:solidFill>
                  <a:srgbClr val="0000FF"/>
                </a:solidFill>
                <a:latin typeface="Arial"/>
                <a:cs typeface="Arial"/>
              </a:rPr>
              <a:t>params:</a:t>
            </a:r>
            <a:r>
              <a:rPr sz="1200" spc="-3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00" spc="-50" dirty="0">
                <a:solidFill>
                  <a:srgbClr val="0000FF"/>
                </a:solidFill>
                <a:latin typeface="Arial"/>
                <a:cs typeface="Arial"/>
              </a:rPr>
              <a:t>0</a:t>
            </a:r>
            <a:endParaRPr sz="1200">
              <a:latin typeface="Arial"/>
              <a:cs typeface="Arial"/>
            </a:endParaRPr>
          </a:p>
          <a:p>
            <a:pPr marL="12700" marR="199390" algn="just">
              <a:lnSpc>
                <a:spcPts val="1420"/>
              </a:lnSpc>
              <a:spcBef>
                <a:spcPts val="55"/>
              </a:spcBef>
            </a:pPr>
            <a:r>
              <a:rPr sz="1200" spc="-10" dirty="0">
                <a:latin typeface="Arial"/>
                <a:cs typeface="Arial"/>
              </a:rPr>
              <a:t>CONV3-</a:t>
            </a:r>
            <a:r>
              <a:rPr sz="1200" dirty="0">
                <a:latin typeface="Arial"/>
                <a:cs typeface="Arial"/>
              </a:rPr>
              <a:t>512: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[28x28x512]</a:t>
            </a:r>
            <a:r>
              <a:rPr sz="1200" spc="310" dirty="0"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0000"/>
                </a:solidFill>
                <a:latin typeface="Arial"/>
                <a:cs typeface="Arial"/>
              </a:rPr>
              <a:t>memory:</a:t>
            </a:r>
            <a:r>
              <a:rPr sz="1200" spc="29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0000"/>
                </a:solidFill>
                <a:latin typeface="Arial"/>
                <a:cs typeface="Arial"/>
              </a:rPr>
              <a:t>28*28*512=400K</a:t>
            </a:r>
            <a:r>
              <a:rPr sz="1200" spc="150" dirty="0">
                <a:solidFill>
                  <a:srgbClr val="FF0000"/>
                </a:solidFill>
                <a:latin typeface="Arial"/>
                <a:cs typeface="Arial"/>
              </a:rPr>
              <a:t>  </a:t>
            </a:r>
            <a:r>
              <a:rPr sz="1200" dirty="0">
                <a:solidFill>
                  <a:srgbClr val="0000FF"/>
                </a:solidFill>
                <a:latin typeface="Arial"/>
                <a:cs typeface="Arial"/>
              </a:rPr>
              <a:t>params:</a:t>
            </a:r>
            <a:r>
              <a:rPr sz="1200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0000FF"/>
                </a:solidFill>
                <a:latin typeface="Arial"/>
                <a:cs typeface="Arial"/>
              </a:rPr>
              <a:t>(3*3*256)*512</a:t>
            </a:r>
            <a:r>
              <a:rPr sz="1200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0000FF"/>
                </a:solidFill>
                <a:latin typeface="Arial"/>
                <a:cs typeface="Arial"/>
              </a:rPr>
              <a:t>=</a:t>
            </a:r>
            <a:r>
              <a:rPr sz="1200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0000FF"/>
                </a:solidFill>
                <a:latin typeface="Arial"/>
                <a:cs typeface="Arial"/>
              </a:rPr>
              <a:t>1,179,648 </a:t>
            </a:r>
            <a:r>
              <a:rPr sz="1200" spc="-10" dirty="0">
                <a:latin typeface="Arial"/>
                <a:cs typeface="Arial"/>
              </a:rPr>
              <a:t>CONV3-</a:t>
            </a:r>
            <a:r>
              <a:rPr sz="1200" dirty="0">
                <a:latin typeface="Arial"/>
                <a:cs typeface="Arial"/>
              </a:rPr>
              <a:t>512: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[28x28x512]</a:t>
            </a:r>
            <a:r>
              <a:rPr sz="1200" spc="310" dirty="0"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0000"/>
                </a:solidFill>
                <a:latin typeface="Arial"/>
                <a:cs typeface="Arial"/>
              </a:rPr>
              <a:t>memory:</a:t>
            </a:r>
            <a:r>
              <a:rPr sz="1200" spc="29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0000"/>
                </a:solidFill>
                <a:latin typeface="Arial"/>
                <a:cs typeface="Arial"/>
              </a:rPr>
              <a:t>28*28*512=400K</a:t>
            </a:r>
            <a:r>
              <a:rPr sz="1200" spc="150" dirty="0">
                <a:solidFill>
                  <a:srgbClr val="FF0000"/>
                </a:solidFill>
                <a:latin typeface="Arial"/>
                <a:cs typeface="Arial"/>
              </a:rPr>
              <a:t>  </a:t>
            </a:r>
            <a:r>
              <a:rPr sz="1200" dirty="0">
                <a:solidFill>
                  <a:srgbClr val="0000FF"/>
                </a:solidFill>
                <a:latin typeface="Arial"/>
                <a:cs typeface="Arial"/>
              </a:rPr>
              <a:t>params:</a:t>
            </a:r>
            <a:r>
              <a:rPr sz="1200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0000FF"/>
                </a:solidFill>
                <a:latin typeface="Arial"/>
                <a:cs typeface="Arial"/>
              </a:rPr>
              <a:t>(3*3*512)*512</a:t>
            </a:r>
            <a:r>
              <a:rPr sz="1200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0000FF"/>
                </a:solidFill>
                <a:latin typeface="Arial"/>
                <a:cs typeface="Arial"/>
              </a:rPr>
              <a:t>=</a:t>
            </a:r>
            <a:r>
              <a:rPr sz="1200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0000FF"/>
                </a:solidFill>
                <a:latin typeface="Arial"/>
                <a:cs typeface="Arial"/>
              </a:rPr>
              <a:t>2,359,296 </a:t>
            </a:r>
            <a:r>
              <a:rPr sz="1200" spc="-10" dirty="0">
                <a:latin typeface="Arial"/>
                <a:cs typeface="Arial"/>
              </a:rPr>
              <a:t>CONV3-</a:t>
            </a:r>
            <a:r>
              <a:rPr sz="1200" dirty="0">
                <a:latin typeface="Arial"/>
                <a:cs typeface="Arial"/>
              </a:rPr>
              <a:t>512: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[28x28x512]</a:t>
            </a:r>
            <a:r>
              <a:rPr sz="1200" spc="310" dirty="0"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0000"/>
                </a:solidFill>
                <a:latin typeface="Arial"/>
                <a:cs typeface="Arial"/>
              </a:rPr>
              <a:t>memory:</a:t>
            </a:r>
            <a:r>
              <a:rPr sz="1200" spc="29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0000"/>
                </a:solidFill>
                <a:latin typeface="Arial"/>
                <a:cs typeface="Arial"/>
              </a:rPr>
              <a:t>28*28*512=400K</a:t>
            </a:r>
            <a:r>
              <a:rPr sz="1200" spc="150" dirty="0">
                <a:solidFill>
                  <a:srgbClr val="FF0000"/>
                </a:solidFill>
                <a:latin typeface="Arial"/>
                <a:cs typeface="Arial"/>
              </a:rPr>
              <a:t>  </a:t>
            </a:r>
            <a:r>
              <a:rPr sz="1200" dirty="0">
                <a:solidFill>
                  <a:srgbClr val="0000FF"/>
                </a:solidFill>
                <a:latin typeface="Arial"/>
                <a:cs typeface="Arial"/>
              </a:rPr>
              <a:t>params:</a:t>
            </a:r>
            <a:r>
              <a:rPr sz="1200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0000FF"/>
                </a:solidFill>
                <a:latin typeface="Arial"/>
                <a:cs typeface="Arial"/>
              </a:rPr>
              <a:t>(3*3*512)*512</a:t>
            </a:r>
            <a:r>
              <a:rPr sz="1200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0000FF"/>
                </a:solidFill>
                <a:latin typeface="Arial"/>
                <a:cs typeface="Arial"/>
              </a:rPr>
              <a:t>=</a:t>
            </a:r>
            <a:r>
              <a:rPr sz="1200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0000FF"/>
                </a:solidFill>
                <a:latin typeface="Arial"/>
                <a:cs typeface="Arial"/>
              </a:rPr>
              <a:t>2,359,296</a:t>
            </a:r>
            <a:endParaRPr sz="1200">
              <a:latin typeface="Arial"/>
              <a:cs typeface="Arial"/>
            </a:endParaRPr>
          </a:p>
          <a:p>
            <a:pPr marL="12700" algn="just">
              <a:lnSpc>
                <a:spcPts val="1385"/>
              </a:lnSpc>
            </a:pPr>
            <a:r>
              <a:rPr sz="1200" dirty="0">
                <a:latin typeface="Arial"/>
                <a:cs typeface="Arial"/>
              </a:rPr>
              <a:t>POOL2:</a:t>
            </a:r>
            <a:r>
              <a:rPr sz="1200" spc="-3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[14x14x512]</a:t>
            </a:r>
            <a:r>
              <a:rPr sz="1200" spc="295" dirty="0"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0000"/>
                </a:solidFill>
                <a:latin typeface="Arial"/>
                <a:cs typeface="Arial"/>
              </a:rPr>
              <a:t>memory:</a:t>
            </a:r>
            <a:r>
              <a:rPr sz="1200" spc="28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0000"/>
                </a:solidFill>
                <a:latin typeface="Arial"/>
                <a:cs typeface="Arial"/>
              </a:rPr>
              <a:t>14*14*512=100K</a:t>
            </a:r>
            <a:r>
              <a:rPr sz="1200" spc="140" dirty="0">
                <a:solidFill>
                  <a:srgbClr val="FF0000"/>
                </a:solidFill>
                <a:latin typeface="Arial"/>
                <a:cs typeface="Arial"/>
              </a:rPr>
              <a:t>  </a:t>
            </a:r>
            <a:r>
              <a:rPr sz="1200" dirty="0">
                <a:solidFill>
                  <a:srgbClr val="0000FF"/>
                </a:solidFill>
                <a:latin typeface="Arial"/>
                <a:cs typeface="Arial"/>
              </a:rPr>
              <a:t>params:</a:t>
            </a:r>
            <a:r>
              <a:rPr sz="1200" spc="-3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00" spc="-50" dirty="0">
                <a:solidFill>
                  <a:srgbClr val="0000FF"/>
                </a:solidFill>
                <a:latin typeface="Arial"/>
                <a:cs typeface="Arial"/>
              </a:rPr>
              <a:t>0</a:t>
            </a:r>
            <a:endParaRPr sz="1200">
              <a:latin typeface="Arial"/>
              <a:cs typeface="Arial"/>
            </a:endParaRPr>
          </a:p>
          <a:p>
            <a:pPr marL="12700" marR="199390" algn="just">
              <a:lnSpc>
                <a:spcPts val="1420"/>
              </a:lnSpc>
              <a:spcBef>
                <a:spcPts val="60"/>
              </a:spcBef>
            </a:pPr>
            <a:r>
              <a:rPr sz="1200" spc="-10" dirty="0">
                <a:latin typeface="Arial"/>
                <a:cs typeface="Arial"/>
              </a:rPr>
              <a:t>CONV3-</a:t>
            </a:r>
            <a:r>
              <a:rPr sz="1200" dirty="0">
                <a:latin typeface="Arial"/>
                <a:cs typeface="Arial"/>
              </a:rPr>
              <a:t>512: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[14x14x512]</a:t>
            </a:r>
            <a:r>
              <a:rPr sz="1200" spc="310" dirty="0"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0000"/>
                </a:solidFill>
                <a:latin typeface="Arial"/>
                <a:cs typeface="Arial"/>
              </a:rPr>
              <a:t>memory:</a:t>
            </a:r>
            <a:r>
              <a:rPr sz="1200" spc="29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0000"/>
                </a:solidFill>
                <a:latin typeface="Arial"/>
                <a:cs typeface="Arial"/>
              </a:rPr>
              <a:t>14*14*512=100K</a:t>
            </a:r>
            <a:r>
              <a:rPr sz="1200" spc="150" dirty="0">
                <a:solidFill>
                  <a:srgbClr val="FF0000"/>
                </a:solidFill>
                <a:latin typeface="Arial"/>
                <a:cs typeface="Arial"/>
              </a:rPr>
              <a:t>  </a:t>
            </a:r>
            <a:r>
              <a:rPr sz="1200" dirty="0">
                <a:solidFill>
                  <a:srgbClr val="0000FF"/>
                </a:solidFill>
                <a:latin typeface="Arial"/>
                <a:cs typeface="Arial"/>
              </a:rPr>
              <a:t>params:</a:t>
            </a:r>
            <a:r>
              <a:rPr sz="1200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0000FF"/>
                </a:solidFill>
                <a:latin typeface="Arial"/>
                <a:cs typeface="Arial"/>
              </a:rPr>
              <a:t>(3*3*512)*512</a:t>
            </a:r>
            <a:r>
              <a:rPr sz="1200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0000FF"/>
                </a:solidFill>
                <a:latin typeface="Arial"/>
                <a:cs typeface="Arial"/>
              </a:rPr>
              <a:t>=</a:t>
            </a:r>
            <a:r>
              <a:rPr sz="1200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0000FF"/>
                </a:solidFill>
                <a:latin typeface="Arial"/>
                <a:cs typeface="Arial"/>
              </a:rPr>
              <a:t>2,359,296 </a:t>
            </a:r>
            <a:r>
              <a:rPr sz="1200" spc="-10" dirty="0">
                <a:latin typeface="Arial"/>
                <a:cs typeface="Arial"/>
              </a:rPr>
              <a:t>CONV3-</a:t>
            </a:r>
            <a:r>
              <a:rPr sz="1200" dirty="0">
                <a:latin typeface="Arial"/>
                <a:cs typeface="Arial"/>
              </a:rPr>
              <a:t>512: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[14x14x512]</a:t>
            </a:r>
            <a:r>
              <a:rPr sz="1200" spc="310" dirty="0"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0000"/>
                </a:solidFill>
                <a:latin typeface="Arial"/>
                <a:cs typeface="Arial"/>
              </a:rPr>
              <a:t>memory:</a:t>
            </a:r>
            <a:r>
              <a:rPr sz="1200" spc="29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0000"/>
                </a:solidFill>
                <a:latin typeface="Arial"/>
                <a:cs typeface="Arial"/>
              </a:rPr>
              <a:t>14*14*512=100K</a:t>
            </a:r>
            <a:r>
              <a:rPr sz="1200" spc="150" dirty="0">
                <a:solidFill>
                  <a:srgbClr val="FF0000"/>
                </a:solidFill>
                <a:latin typeface="Arial"/>
                <a:cs typeface="Arial"/>
              </a:rPr>
              <a:t>  </a:t>
            </a:r>
            <a:r>
              <a:rPr sz="1200" dirty="0">
                <a:solidFill>
                  <a:srgbClr val="0000FF"/>
                </a:solidFill>
                <a:latin typeface="Arial"/>
                <a:cs typeface="Arial"/>
              </a:rPr>
              <a:t>params:</a:t>
            </a:r>
            <a:r>
              <a:rPr sz="1200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0000FF"/>
                </a:solidFill>
                <a:latin typeface="Arial"/>
                <a:cs typeface="Arial"/>
              </a:rPr>
              <a:t>(3*3*512)*512</a:t>
            </a:r>
            <a:r>
              <a:rPr sz="1200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0000FF"/>
                </a:solidFill>
                <a:latin typeface="Arial"/>
                <a:cs typeface="Arial"/>
              </a:rPr>
              <a:t>=</a:t>
            </a:r>
            <a:r>
              <a:rPr sz="1200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0000FF"/>
                </a:solidFill>
                <a:latin typeface="Arial"/>
                <a:cs typeface="Arial"/>
              </a:rPr>
              <a:t>2,359,296 </a:t>
            </a:r>
            <a:r>
              <a:rPr sz="1200" spc="-10" dirty="0">
                <a:latin typeface="Arial"/>
                <a:cs typeface="Arial"/>
              </a:rPr>
              <a:t>CONV3-</a:t>
            </a:r>
            <a:r>
              <a:rPr sz="1200" dirty="0">
                <a:latin typeface="Arial"/>
                <a:cs typeface="Arial"/>
              </a:rPr>
              <a:t>512: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[14x14x512]</a:t>
            </a:r>
            <a:r>
              <a:rPr sz="1200" spc="310" dirty="0"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0000"/>
                </a:solidFill>
                <a:latin typeface="Arial"/>
                <a:cs typeface="Arial"/>
              </a:rPr>
              <a:t>memory:</a:t>
            </a:r>
            <a:r>
              <a:rPr sz="1200" spc="29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0000"/>
                </a:solidFill>
                <a:latin typeface="Arial"/>
                <a:cs typeface="Arial"/>
              </a:rPr>
              <a:t>14*14*512=100K</a:t>
            </a:r>
            <a:r>
              <a:rPr sz="1200" spc="150" dirty="0">
                <a:solidFill>
                  <a:srgbClr val="FF0000"/>
                </a:solidFill>
                <a:latin typeface="Arial"/>
                <a:cs typeface="Arial"/>
              </a:rPr>
              <a:t>  </a:t>
            </a:r>
            <a:r>
              <a:rPr sz="1200" dirty="0">
                <a:solidFill>
                  <a:srgbClr val="0000FF"/>
                </a:solidFill>
                <a:latin typeface="Arial"/>
                <a:cs typeface="Arial"/>
              </a:rPr>
              <a:t>params:</a:t>
            </a:r>
            <a:r>
              <a:rPr sz="1200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0000FF"/>
                </a:solidFill>
                <a:latin typeface="Arial"/>
                <a:cs typeface="Arial"/>
              </a:rPr>
              <a:t>(3*3*512)*512</a:t>
            </a:r>
            <a:r>
              <a:rPr sz="1200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0000FF"/>
                </a:solidFill>
                <a:latin typeface="Arial"/>
                <a:cs typeface="Arial"/>
              </a:rPr>
              <a:t>=</a:t>
            </a:r>
            <a:r>
              <a:rPr sz="1200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0000FF"/>
                </a:solidFill>
                <a:latin typeface="Arial"/>
                <a:cs typeface="Arial"/>
              </a:rPr>
              <a:t>2,359,296</a:t>
            </a:r>
            <a:endParaRPr sz="1200">
              <a:latin typeface="Arial"/>
              <a:cs typeface="Arial"/>
            </a:endParaRPr>
          </a:p>
          <a:p>
            <a:pPr marL="12700" algn="just">
              <a:lnSpc>
                <a:spcPts val="1385"/>
              </a:lnSpc>
            </a:pPr>
            <a:r>
              <a:rPr sz="1200" dirty="0">
                <a:latin typeface="Arial"/>
                <a:cs typeface="Arial"/>
              </a:rPr>
              <a:t>POOL2:</a:t>
            </a:r>
            <a:r>
              <a:rPr sz="1200" spc="-3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[7x7x512]</a:t>
            </a:r>
            <a:r>
              <a:rPr sz="1200" spc="290" dirty="0"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0000"/>
                </a:solidFill>
                <a:latin typeface="Arial"/>
                <a:cs typeface="Arial"/>
              </a:rPr>
              <a:t>memory:</a:t>
            </a:r>
            <a:r>
              <a:rPr sz="1200" spc="27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0000"/>
                </a:solidFill>
                <a:latin typeface="Arial"/>
                <a:cs typeface="Arial"/>
              </a:rPr>
              <a:t>7*7*512=25K</a:t>
            </a:r>
            <a:r>
              <a:rPr sz="1200" spc="30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0000FF"/>
                </a:solidFill>
                <a:latin typeface="Arial"/>
                <a:cs typeface="Arial"/>
              </a:rPr>
              <a:t>params:</a:t>
            </a:r>
            <a:r>
              <a:rPr sz="1200" spc="-3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00" spc="-50" dirty="0">
                <a:solidFill>
                  <a:srgbClr val="0000FF"/>
                </a:solidFill>
                <a:latin typeface="Arial"/>
                <a:cs typeface="Arial"/>
              </a:rPr>
              <a:t>0</a:t>
            </a:r>
            <a:endParaRPr sz="1200">
              <a:latin typeface="Arial"/>
              <a:cs typeface="Arial"/>
            </a:endParaRPr>
          </a:p>
          <a:p>
            <a:pPr marL="12700" marR="1618615" algn="just">
              <a:lnSpc>
                <a:spcPts val="1420"/>
              </a:lnSpc>
              <a:spcBef>
                <a:spcPts val="55"/>
              </a:spcBef>
            </a:pPr>
            <a:r>
              <a:rPr sz="1200" dirty="0">
                <a:latin typeface="Arial"/>
                <a:cs typeface="Arial"/>
              </a:rPr>
              <a:t>FC:</a:t>
            </a:r>
            <a:r>
              <a:rPr sz="1200" spc="-3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[1x1x4096]</a:t>
            </a:r>
            <a:r>
              <a:rPr sz="1200" spc="305" dirty="0"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0000"/>
                </a:solidFill>
                <a:latin typeface="Arial"/>
                <a:cs typeface="Arial"/>
              </a:rPr>
              <a:t>memory:</a:t>
            </a:r>
            <a:r>
              <a:rPr sz="1200" spc="29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0000"/>
                </a:solidFill>
                <a:latin typeface="Arial"/>
                <a:cs typeface="Arial"/>
              </a:rPr>
              <a:t>4096</a:t>
            </a:r>
            <a:r>
              <a:rPr sz="1200" spc="30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0000FF"/>
                </a:solidFill>
                <a:latin typeface="Arial"/>
                <a:cs typeface="Arial"/>
              </a:rPr>
              <a:t>params:</a:t>
            </a:r>
            <a:r>
              <a:rPr sz="1200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0000FF"/>
                </a:solidFill>
                <a:latin typeface="Arial"/>
                <a:cs typeface="Arial"/>
              </a:rPr>
              <a:t>7*7*512*4096</a:t>
            </a:r>
            <a:r>
              <a:rPr sz="1200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0000FF"/>
                </a:solidFill>
                <a:latin typeface="Arial"/>
                <a:cs typeface="Arial"/>
              </a:rPr>
              <a:t>=</a:t>
            </a:r>
            <a:r>
              <a:rPr sz="1200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0000FF"/>
                </a:solidFill>
                <a:latin typeface="Arial"/>
                <a:cs typeface="Arial"/>
              </a:rPr>
              <a:t>102,760,448 </a:t>
            </a:r>
            <a:r>
              <a:rPr sz="1200" dirty="0">
                <a:latin typeface="Arial"/>
                <a:cs typeface="Arial"/>
              </a:rPr>
              <a:t>FC: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[1x1x4096]</a:t>
            </a:r>
            <a:r>
              <a:rPr sz="1200" spc="305" dirty="0"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0000"/>
                </a:solidFill>
                <a:latin typeface="Arial"/>
                <a:cs typeface="Arial"/>
              </a:rPr>
              <a:t>memory:</a:t>
            </a:r>
            <a:r>
              <a:rPr sz="1200" spc="29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0000"/>
                </a:solidFill>
                <a:latin typeface="Arial"/>
                <a:cs typeface="Arial"/>
              </a:rPr>
              <a:t>4096</a:t>
            </a:r>
            <a:r>
              <a:rPr sz="1200" spc="30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0000FF"/>
                </a:solidFill>
                <a:latin typeface="Arial"/>
                <a:cs typeface="Arial"/>
              </a:rPr>
              <a:t>params:</a:t>
            </a:r>
            <a:r>
              <a:rPr sz="1200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0000FF"/>
                </a:solidFill>
                <a:latin typeface="Arial"/>
                <a:cs typeface="Arial"/>
              </a:rPr>
              <a:t>4096*4096</a:t>
            </a:r>
            <a:r>
              <a:rPr sz="1200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0000FF"/>
                </a:solidFill>
                <a:latin typeface="Arial"/>
                <a:cs typeface="Arial"/>
              </a:rPr>
              <a:t>=</a:t>
            </a:r>
            <a:r>
              <a:rPr sz="1200" spc="-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0000FF"/>
                </a:solidFill>
                <a:latin typeface="Arial"/>
                <a:cs typeface="Arial"/>
              </a:rPr>
              <a:t>16,777,216</a:t>
            </a:r>
            <a:endParaRPr sz="1200">
              <a:latin typeface="Arial"/>
              <a:cs typeface="Arial"/>
            </a:endParaRPr>
          </a:p>
          <a:p>
            <a:pPr marL="12700" algn="just">
              <a:lnSpc>
                <a:spcPts val="1385"/>
              </a:lnSpc>
            </a:pPr>
            <a:r>
              <a:rPr sz="1200" dirty="0">
                <a:latin typeface="Arial"/>
                <a:cs typeface="Arial"/>
              </a:rPr>
              <a:t>FC:</a:t>
            </a:r>
            <a:r>
              <a:rPr sz="1200" spc="-3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[1x1x1000]</a:t>
            </a:r>
            <a:r>
              <a:rPr sz="1200" spc="305" dirty="0"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0000"/>
                </a:solidFill>
                <a:latin typeface="Arial"/>
                <a:cs typeface="Arial"/>
              </a:rPr>
              <a:t>memory:</a:t>
            </a:r>
            <a:r>
              <a:rPr sz="1200" spc="28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0000"/>
                </a:solidFill>
                <a:latin typeface="Arial"/>
                <a:cs typeface="Arial"/>
              </a:rPr>
              <a:t>1000</a:t>
            </a:r>
            <a:r>
              <a:rPr sz="1200" spc="-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0000FF"/>
                </a:solidFill>
                <a:latin typeface="Arial"/>
                <a:cs typeface="Arial"/>
              </a:rPr>
              <a:t>params:</a:t>
            </a:r>
            <a:r>
              <a:rPr sz="1200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0000FF"/>
                </a:solidFill>
                <a:latin typeface="Arial"/>
                <a:cs typeface="Arial"/>
              </a:rPr>
              <a:t>4096*1000</a:t>
            </a:r>
            <a:r>
              <a:rPr sz="1200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0000FF"/>
                </a:solidFill>
                <a:latin typeface="Arial"/>
                <a:cs typeface="Arial"/>
              </a:rPr>
              <a:t>=</a:t>
            </a:r>
            <a:r>
              <a:rPr sz="1200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0000FF"/>
                </a:solidFill>
                <a:latin typeface="Arial"/>
                <a:cs typeface="Arial"/>
              </a:rPr>
              <a:t>4,096,000</a:t>
            </a:r>
            <a:endParaRPr sz="1200">
              <a:latin typeface="Arial"/>
              <a:cs typeface="Arial"/>
            </a:endParaRPr>
          </a:p>
          <a:p>
            <a:pPr marL="46355" marR="367665" algn="just">
              <a:lnSpc>
                <a:spcPts val="1650"/>
              </a:lnSpc>
              <a:spcBef>
                <a:spcPts val="855"/>
              </a:spcBef>
            </a:pPr>
            <a:r>
              <a:rPr sz="1400" dirty="0">
                <a:solidFill>
                  <a:srgbClr val="FF0000"/>
                </a:solidFill>
                <a:latin typeface="Arial"/>
                <a:cs typeface="Arial"/>
              </a:rPr>
              <a:t>TOTAL</a:t>
            </a:r>
            <a:r>
              <a:rPr sz="1400" spc="-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0000"/>
                </a:solidFill>
                <a:latin typeface="Arial"/>
                <a:cs typeface="Arial"/>
              </a:rPr>
              <a:t>memory:</a:t>
            </a:r>
            <a:r>
              <a:rPr sz="1400" spc="-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0000"/>
                </a:solidFill>
                <a:latin typeface="Arial"/>
                <a:cs typeface="Arial"/>
              </a:rPr>
              <a:t>24M</a:t>
            </a:r>
            <a:r>
              <a:rPr sz="1400" spc="-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0000"/>
                </a:solidFill>
                <a:latin typeface="Arial"/>
                <a:cs typeface="Arial"/>
              </a:rPr>
              <a:t>*</a:t>
            </a:r>
            <a:r>
              <a:rPr sz="1400" spc="-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0000"/>
                </a:solidFill>
                <a:latin typeface="Arial"/>
                <a:cs typeface="Arial"/>
              </a:rPr>
              <a:t>4</a:t>
            </a:r>
            <a:r>
              <a:rPr sz="1400" spc="-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0000"/>
                </a:solidFill>
                <a:latin typeface="Arial"/>
                <a:cs typeface="Arial"/>
              </a:rPr>
              <a:t>bytes</a:t>
            </a:r>
            <a:r>
              <a:rPr sz="1400" spc="-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0000"/>
                </a:solidFill>
                <a:latin typeface="Arial"/>
                <a:cs typeface="Arial"/>
              </a:rPr>
              <a:t>~=</a:t>
            </a:r>
            <a:r>
              <a:rPr sz="1400" spc="-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0000"/>
                </a:solidFill>
                <a:latin typeface="Arial"/>
                <a:cs typeface="Arial"/>
              </a:rPr>
              <a:t>93MB</a:t>
            </a:r>
            <a:r>
              <a:rPr sz="1400" spc="-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0000"/>
                </a:solidFill>
                <a:latin typeface="Arial"/>
                <a:cs typeface="Arial"/>
              </a:rPr>
              <a:t>/</a:t>
            </a:r>
            <a:r>
              <a:rPr sz="1400" spc="-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0000"/>
                </a:solidFill>
                <a:latin typeface="Arial"/>
                <a:cs typeface="Arial"/>
              </a:rPr>
              <a:t>image </a:t>
            </a:r>
            <a:r>
              <a:rPr sz="1400" dirty="0">
                <a:latin typeface="Arial"/>
                <a:cs typeface="Arial"/>
              </a:rPr>
              <a:t>(only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forward!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~*2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for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spc="-20" dirty="0">
                <a:latin typeface="Arial"/>
                <a:cs typeface="Arial"/>
              </a:rPr>
              <a:t>bwd) </a:t>
            </a:r>
            <a:r>
              <a:rPr sz="1400" dirty="0">
                <a:solidFill>
                  <a:srgbClr val="0000FF"/>
                </a:solidFill>
                <a:latin typeface="Arial"/>
                <a:cs typeface="Arial"/>
              </a:rPr>
              <a:t>TOTAL</a:t>
            </a:r>
            <a:r>
              <a:rPr sz="1400" spc="-3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000FF"/>
                </a:solidFill>
                <a:latin typeface="Arial"/>
                <a:cs typeface="Arial"/>
              </a:rPr>
              <a:t>params:</a:t>
            </a:r>
            <a:r>
              <a:rPr sz="1400" spc="-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000FF"/>
                </a:solidFill>
                <a:latin typeface="Arial"/>
                <a:cs typeface="Arial"/>
              </a:rPr>
              <a:t>138M</a:t>
            </a:r>
            <a:r>
              <a:rPr sz="1400" spc="-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0000FF"/>
                </a:solidFill>
                <a:latin typeface="Arial"/>
                <a:cs typeface="Arial"/>
              </a:rPr>
              <a:t>parameters</a:t>
            </a:r>
            <a:endParaRPr sz="140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4894989" y="-43762"/>
            <a:ext cx="167513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3B77D8"/>
                </a:solidFill>
              </a:rPr>
              <a:t>(not</a:t>
            </a:r>
            <a:r>
              <a:rPr sz="1400" spc="-30" dirty="0">
                <a:solidFill>
                  <a:srgbClr val="3B77D8"/>
                </a:solidFill>
              </a:rPr>
              <a:t> </a:t>
            </a:r>
            <a:r>
              <a:rPr sz="1400" dirty="0">
                <a:solidFill>
                  <a:srgbClr val="3B77D8"/>
                </a:solidFill>
              </a:rPr>
              <a:t>counting</a:t>
            </a:r>
            <a:r>
              <a:rPr sz="1400" spc="-30" dirty="0">
                <a:solidFill>
                  <a:srgbClr val="3B77D8"/>
                </a:solidFill>
              </a:rPr>
              <a:t> </a:t>
            </a:r>
            <a:r>
              <a:rPr sz="1400" spc="-10" dirty="0">
                <a:solidFill>
                  <a:srgbClr val="3B77D8"/>
                </a:solidFill>
              </a:rPr>
              <a:t>biases)</a:t>
            </a:r>
            <a:endParaRPr sz="1400"/>
          </a:p>
        </p:txBody>
      </p:sp>
      <p:sp>
        <p:nvSpPr>
          <p:cNvPr id="12" name="object 10">
            <a:extLst>
              <a:ext uri="{FF2B5EF4-FFF2-40B4-BE49-F238E27FC236}">
                <a16:creationId xmlns:a16="http://schemas.microsoft.com/office/drawing/2014/main" id="{E1E2ABA4-7C78-CD44-8CDD-977F1B206451}"/>
              </a:ext>
            </a:extLst>
          </p:cNvPr>
          <p:cNvSpPr txBox="1">
            <a:spLocks noGrp="1"/>
          </p:cNvSpPr>
          <p:nvPr>
            <p:ph type="dt" sz="half" idx="4294967295"/>
          </p:nvPr>
        </p:nvSpPr>
        <p:spPr>
          <a:xfrm>
            <a:off x="145224" y="4740846"/>
            <a:ext cx="4699000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lang="en-US" altLang="zh-CN" spc="-10" dirty="0">
                <a:solidFill>
                  <a:schemeClr val="bg1"/>
                </a:solidFill>
              </a:rPr>
              <a:t>Convolutional</a:t>
            </a:r>
            <a:r>
              <a:rPr lang="zh-CN" altLang="en-US" spc="-10" dirty="0">
                <a:solidFill>
                  <a:schemeClr val="bg1"/>
                </a:solidFill>
              </a:rPr>
              <a:t> </a:t>
            </a:r>
            <a:r>
              <a:rPr lang="en-US" altLang="zh-CN" spc="-10" dirty="0">
                <a:solidFill>
                  <a:schemeClr val="bg1"/>
                </a:solidFill>
              </a:rPr>
              <a:t>Neural</a:t>
            </a:r>
            <a:r>
              <a:rPr lang="zh-CN" altLang="en-US" spc="-10" dirty="0">
                <a:solidFill>
                  <a:schemeClr val="bg1"/>
                </a:solidFill>
              </a:rPr>
              <a:t> </a:t>
            </a:r>
            <a:r>
              <a:rPr lang="en-US" altLang="zh-CN" spc="-10" dirty="0">
                <a:solidFill>
                  <a:schemeClr val="bg1"/>
                </a:solidFill>
              </a:rPr>
              <a:t>Networks</a:t>
            </a:r>
            <a:endParaRPr spc="-1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8474" y="28553"/>
            <a:ext cx="43745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23389" algn="l"/>
                <a:tab pos="3684270" algn="l"/>
              </a:tabLst>
            </a:pPr>
            <a:r>
              <a:rPr sz="1200" dirty="0">
                <a:latin typeface="Arial"/>
                <a:cs typeface="Arial"/>
              </a:rPr>
              <a:t>INPUT:</a:t>
            </a:r>
            <a:r>
              <a:rPr sz="1200" spc="-70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[224x224x3]</a:t>
            </a:r>
            <a:r>
              <a:rPr sz="1200" dirty="0">
                <a:latin typeface="Arial"/>
                <a:cs typeface="Arial"/>
              </a:rPr>
              <a:t>	</a:t>
            </a:r>
            <a:r>
              <a:rPr sz="1200" dirty="0">
                <a:solidFill>
                  <a:srgbClr val="FF0000"/>
                </a:solidFill>
                <a:latin typeface="Arial"/>
                <a:cs typeface="Arial"/>
              </a:rPr>
              <a:t>memory:</a:t>
            </a:r>
            <a:r>
              <a:rPr sz="1200" spc="29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FF0000"/>
                </a:solidFill>
                <a:latin typeface="Arial"/>
                <a:cs typeface="Arial"/>
              </a:rPr>
              <a:t>224*224*3=150K</a:t>
            </a:r>
            <a:r>
              <a:rPr sz="1200" dirty="0">
                <a:solidFill>
                  <a:srgbClr val="FF0000"/>
                </a:solidFill>
                <a:latin typeface="Arial"/>
                <a:cs typeface="Arial"/>
              </a:rPr>
              <a:t>	</a:t>
            </a:r>
            <a:r>
              <a:rPr sz="1200" dirty="0">
                <a:solidFill>
                  <a:srgbClr val="0000FF"/>
                </a:solidFill>
                <a:latin typeface="Arial"/>
                <a:cs typeface="Arial"/>
              </a:rPr>
              <a:t>params:</a:t>
            </a:r>
            <a:r>
              <a:rPr sz="1200" spc="-4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00" spc="-50" dirty="0">
                <a:solidFill>
                  <a:srgbClr val="0000FF"/>
                </a:solidFill>
                <a:latin typeface="Arial"/>
                <a:cs typeface="Arial"/>
              </a:rPr>
              <a:t>0</a:t>
            </a:r>
            <a:endParaRPr sz="1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58474" y="209528"/>
            <a:ext cx="6411595" cy="434911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 marR="513080">
              <a:lnSpc>
                <a:spcPts val="1420"/>
              </a:lnSpc>
              <a:spcBef>
                <a:spcPts val="160"/>
              </a:spcBef>
            </a:pPr>
            <a:r>
              <a:rPr sz="1200" spc="-10" dirty="0">
                <a:latin typeface="Arial"/>
                <a:cs typeface="Arial"/>
              </a:rPr>
              <a:t>CONV3-</a:t>
            </a:r>
            <a:r>
              <a:rPr sz="1200" dirty="0">
                <a:latin typeface="Arial"/>
                <a:cs typeface="Arial"/>
              </a:rPr>
              <a:t>64: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[224x224x64]</a:t>
            </a:r>
            <a:r>
              <a:rPr sz="1200" spc="330" dirty="0"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0000"/>
                </a:solidFill>
                <a:latin typeface="Arial"/>
                <a:cs typeface="Arial"/>
              </a:rPr>
              <a:t>memory:</a:t>
            </a:r>
            <a:r>
              <a:rPr sz="1200" spc="3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FF0000"/>
                </a:solidFill>
                <a:latin typeface="Arial"/>
                <a:cs typeface="Arial"/>
              </a:rPr>
              <a:t>224*224*64=3.2M</a:t>
            </a:r>
            <a:r>
              <a:rPr sz="1200" b="1" spc="150" dirty="0">
                <a:solidFill>
                  <a:srgbClr val="FF0000"/>
                </a:solidFill>
                <a:latin typeface="Arial"/>
                <a:cs typeface="Arial"/>
              </a:rPr>
              <a:t>  </a:t>
            </a:r>
            <a:r>
              <a:rPr sz="1200" dirty="0">
                <a:solidFill>
                  <a:srgbClr val="0000FF"/>
                </a:solidFill>
                <a:latin typeface="Arial"/>
                <a:cs typeface="Arial"/>
              </a:rPr>
              <a:t>params:</a:t>
            </a:r>
            <a:r>
              <a:rPr sz="1200" spc="-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0000FF"/>
                </a:solidFill>
                <a:latin typeface="Arial"/>
                <a:cs typeface="Arial"/>
              </a:rPr>
              <a:t>(3*3*3)*64</a:t>
            </a:r>
            <a:r>
              <a:rPr sz="1200" spc="-1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0000FF"/>
                </a:solidFill>
                <a:latin typeface="Arial"/>
                <a:cs typeface="Arial"/>
              </a:rPr>
              <a:t>=</a:t>
            </a:r>
            <a:r>
              <a:rPr sz="1200" spc="-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0000FF"/>
                </a:solidFill>
                <a:latin typeface="Arial"/>
                <a:cs typeface="Arial"/>
              </a:rPr>
              <a:t>1,728 </a:t>
            </a:r>
            <a:r>
              <a:rPr sz="1200" spc="-10" dirty="0">
                <a:latin typeface="Arial"/>
                <a:cs typeface="Arial"/>
              </a:rPr>
              <a:t>CONV3-</a:t>
            </a:r>
            <a:r>
              <a:rPr sz="1200" dirty="0">
                <a:latin typeface="Arial"/>
                <a:cs typeface="Arial"/>
              </a:rPr>
              <a:t>64: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[224x224x64]</a:t>
            </a:r>
            <a:r>
              <a:rPr sz="1200" spc="330" dirty="0"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0000"/>
                </a:solidFill>
                <a:latin typeface="Arial"/>
                <a:cs typeface="Arial"/>
              </a:rPr>
              <a:t>memory:</a:t>
            </a:r>
            <a:r>
              <a:rPr sz="1200" spc="3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FF0000"/>
                </a:solidFill>
                <a:latin typeface="Arial"/>
                <a:cs typeface="Arial"/>
              </a:rPr>
              <a:t>224*224*64=3.2M</a:t>
            </a:r>
            <a:r>
              <a:rPr sz="1200" b="1" spc="150" dirty="0">
                <a:solidFill>
                  <a:srgbClr val="FF0000"/>
                </a:solidFill>
                <a:latin typeface="Arial"/>
                <a:cs typeface="Arial"/>
              </a:rPr>
              <a:t>  </a:t>
            </a:r>
            <a:r>
              <a:rPr sz="1200" dirty="0">
                <a:solidFill>
                  <a:srgbClr val="0000FF"/>
                </a:solidFill>
                <a:latin typeface="Arial"/>
                <a:cs typeface="Arial"/>
              </a:rPr>
              <a:t>params:</a:t>
            </a:r>
            <a:r>
              <a:rPr sz="1200" spc="-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0000FF"/>
                </a:solidFill>
                <a:latin typeface="Arial"/>
                <a:cs typeface="Arial"/>
              </a:rPr>
              <a:t>(3*3*64)*64</a:t>
            </a:r>
            <a:r>
              <a:rPr sz="1200" spc="-1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0000FF"/>
                </a:solidFill>
                <a:latin typeface="Arial"/>
                <a:cs typeface="Arial"/>
              </a:rPr>
              <a:t>=</a:t>
            </a:r>
            <a:r>
              <a:rPr sz="1200" spc="-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0000FF"/>
                </a:solidFill>
                <a:latin typeface="Arial"/>
                <a:cs typeface="Arial"/>
              </a:rPr>
              <a:t>36,864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ts val="1380"/>
              </a:lnSpc>
              <a:tabLst>
                <a:tab pos="3651250" algn="l"/>
              </a:tabLst>
            </a:pPr>
            <a:r>
              <a:rPr sz="1200" dirty="0">
                <a:latin typeface="Arial"/>
                <a:cs typeface="Arial"/>
              </a:rPr>
              <a:t>POOL2:</a:t>
            </a:r>
            <a:r>
              <a:rPr sz="1200" spc="-4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[112x112x64]</a:t>
            </a:r>
            <a:r>
              <a:rPr sz="1200" spc="290" dirty="0"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0000"/>
                </a:solidFill>
                <a:latin typeface="Arial"/>
                <a:cs typeface="Arial"/>
              </a:rPr>
              <a:t>memory:</a:t>
            </a:r>
            <a:r>
              <a:rPr sz="1200" spc="27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FF0000"/>
                </a:solidFill>
                <a:latin typeface="Arial"/>
                <a:cs typeface="Arial"/>
              </a:rPr>
              <a:t>112*112*64=800K</a:t>
            </a:r>
            <a:r>
              <a:rPr sz="1200" dirty="0">
                <a:solidFill>
                  <a:srgbClr val="FF0000"/>
                </a:solidFill>
                <a:latin typeface="Arial"/>
                <a:cs typeface="Arial"/>
              </a:rPr>
              <a:t>	</a:t>
            </a:r>
            <a:r>
              <a:rPr sz="1200" dirty="0">
                <a:solidFill>
                  <a:srgbClr val="0000FF"/>
                </a:solidFill>
                <a:latin typeface="Arial"/>
                <a:cs typeface="Arial"/>
              </a:rPr>
              <a:t>params:</a:t>
            </a:r>
            <a:r>
              <a:rPr sz="1200" spc="-4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00" spc="-50" dirty="0">
                <a:solidFill>
                  <a:srgbClr val="0000FF"/>
                </a:solidFill>
                <a:latin typeface="Arial"/>
                <a:cs typeface="Arial"/>
              </a:rPr>
              <a:t>0</a:t>
            </a:r>
            <a:endParaRPr sz="1200">
              <a:latin typeface="Arial"/>
              <a:cs typeface="Arial"/>
            </a:endParaRPr>
          </a:p>
          <a:p>
            <a:pPr marL="12700" marR="5080">
              <a:lnSpc>
                <a:spcPts val="1420"/>
              </a:lnSpc>
              <a:spcBef>
                <a:spcPts val="60"/>
              </a:spcBef>
              <a:tabLst>
                <a:tab pos="4125595" algn="l"/>
              </a:tabLst>
            </a:pPr>
            <a:r>
              <a:rPr sz="1200" spc="-10" dirty="0">
                <a:latin typeface="Arial"/>
                <a:cs typeface="Arial"/>
              </a:rPr>
              <a:t>CONV3-</a:t>
            </a:r>
            <a:r>
              <a:rPr sz="1200" dirty="0">
                <a:latin typeface="Arial"/>
                <a:cs typeface="Arial"/>
              </a:rPr>
              <a:t>128: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[112x112x128]</a:t>
            </a:r>
            <a:r>
              <a:rPr sz="1200" spc="320" dirty="0"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0000"/>
                </a:solidFill>
                <a:latin typeface="Arial"/>
                <a:cs typeface="Arial"/>
              </a:rPr>
              <a:t>memory:</a:t>
            </a:r>
            <a:r>
              <a:rPr sz="1200" spc="30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FF0000"/>
                </a:solidFill>
                <a:latin typeface="Arial"/>
                <a:cs typeface="Arial"/>
              </a:rPr>
              <a:t>112*112*128=1.6M</a:t>
            </a:r>
            <a:r>
              <a:rPr sz="1200" dirty="0">
                <a:solidFill>
                  <a:srgbClr val="FF0000"/>
                </a:solidFill>
                <a:latin typeface="Arial"/>
                <a:cs typeface="Arial"/>
              </a:rPr>
              <a:t>	</a:t>
            </a:r>
            <a:r>
              <a:rPr sz="1200" dirty="0">
                <a:solidFill>
                  <a:srgbClr val="0000FF"/>
                </a:solidFill>
                <a:latin typeface="Arial"/>
                <a:cs typeface="Arial"/>
              </a:rPr>
              <a:t>params:</a:t>
            </a:r>
            <a:r>
              <a:rPr sz="1200" spc="-4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0000FF"/>
                </a:solidFill>
                <a:latin typeface="Arial"/>
                <a:cs typeface="Arial"/>
              </a:rPr>
              <a:t>(3*3*64)*128</a:t>
            </a:r>
            <a:r>
              <a:rPr sz="1200" spc="-3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0000FF"/>
                </a:solidFill>
                <a:latin typeface="Arial"/>
                <a:cs typeface="Arial"/>
              </a:rPr>
              <a:t>=</a:t>
            </a:r>
            <a:r>
              <a:rPr sz="1200" spc="-3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0000FF"/>
                </a:solidFill>
                <a:latin typeface="Arial"/>
                <a:cs typeface="Arial"/>
              </a:rPr>
              <a:t>73,728 </a:t>
            </a:r>
            <a:r>
              <a:rPr sz="1200" spc="-10" dirty="0">
                <a:latin typeface="Arial"/>
                <a:cs typeface="Arial"/>
              </a:rPr>
              <a:t>CONV3-</a:t>
            </a:r>
            <a:r>
              <a:rPr sz="1200" dirty="0">
                <a:latin typeface="Arial"/>
                <a:cs typeface="Arial"/>
              </a:rPr>
              <a:t>128: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[112x112x128]</a:t>
            </a:r>
            <a:r>
              <a:rPr sz="1200" spc="320" dirty="0"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0000"/>
                </a:solidFill>
                <a:latin typeface="Arial"/>
                <a:cs typeface="Arial"/>
              </a:rPr>
              <a:t>memory:</a:t>
            </a:r>
            <a:r>
              <a:rPr sz="1200" spc="30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FF0000"/>
                </a:solidFill>
                <a:latin typeface="Arial"/>
                <a:cs typeface="Arial"/>
              </a:rPr>
              <a:t>112*112*128=1.6M</a:t>
            </a:r>
            <a:r>
              <a:rPr sz="1200" dirty="0">
                <a:solidFill>
                  <a:srgbClr val="FF0000"/>
                </a:solidFill>
                <a:latin typeface="Arial"/>
                <a:cs typeface="Arial"/>
              </a:rPr>
              <a:t>	</a:t>
            </a:r>
            <a:r>
              <a:rPr sz="1200" dirty="0">
                <a:solidFill>
                  <a:srgbClr val="0000FF"/>
                </a:solidFill>
                <a:latin typeface="Arial"/>
                <a:cs typeface="Arial"/>
              </a:rPr>
              <a:t>params:</a:t>
            </a:r>
            <a:r>
              <a:rPr sz="1200" spc="-3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0000FF"/>
                </a:solidFill>
                <a:latin typeface="Arial"/>
                <a:cs typeface="Arial"/>
              </a:rPr>
              <a:t>(3*3*128)*128</a:t>
            </a:r>
            <a:r>
              <a:rPr sz="1200" spc="-3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0000FF"/>
                </a:solidFill>
                <a:latin typeface="Arial"/>
                <a:cs typeface="Arial"/>
              </a:rPr>
              <a:t>=</a:t>
            </a:r>
            <a:r>
              <a:rPr sz="1200" spc="-3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0000FF"/>
                </a:solidFill>
                <a:latin typeface="Arial"/>
                <a:cs typeface="Arial"/>
              </a:rPr>
              <a:t>147,456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ts val="1380"/>
              </a:lnSpc>
              <a:tabLst>
                <a:tab pos="3481704" algn="l"/>
              </a:tabLst>
            </a:pPr>
            <a:r>
              <a:rPr sz="1200" dirty="0">
                <a:latin typeface="Arial"/>
                <a:cs typeface="Arial"/>
              </a:rPr>
              <a:t>POOL2:</a:t>
            </a:r>
            <a:r>
              <a:rPr sz="1200" spc="-3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[56x56x128]</a:t>
            </a:r>
            <a:r>
              <a:rPr sz="1200" spc="290" dirty="0"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0000"/>
                </a:solidFill>
                <a:latin typeface="Arial"/>
                <a:cs typeface="Arial"/>
              </a:rPr>
              <a:t>memory:</a:t>
            </a:r>
            <a:r>
              <a:rPr sz="1200" spc="27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FF0000"/>
                </a:solidFill>
                <a:latin typeface="Arial"/>
                <a:cs typeface="Arial"/>
              </a:rPr>
              <a:t>56*56*128=400K</a:t>
            </a:r>
            <a:r>
              <a:rPr sz="1200" dirty="0">
                <a:solidFill>
                  <a:srgbClr val="FF0000"/>
                </a:solidFill>
                <a:latin typeface="Arial"/>
                <a:cs typeface="Arial"/>
              </a:rPr>
              <a:t>	</a:t>
            </a:r>
            <a:r>
              <a:rPr sz="1200" dirty="0">
                <a:solidFill>
                  <a:srgbClr val="0000FF"/>
                </a:solidFill>
                <a:latin typeface="Arial"/>
                <a:cs typeface="Arial"/>
              </a:rPr>
              <a:t>params:</a:t>
            </a:r>
            <a:r>
              <a:rPr sz="1200" spc="-4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00" spc="-50" dirty="0">
                <a:solidFill>
                  <a:srgbClr val="0000FF"/>
                </a:solidFill>
                <a:latin typeface="Arial"/>
                <a:cs typeface="Arial"/>
              </a:rPr>
              <a:t>0</a:t>
            </a:r>
            <a:endParaRPr sz="1200">
              <a:latin typeface="Arial"/>
              <a:cs typeface="Arial"/>
            </a:endParaRPr>
          </a:p>
          <a:p>
            <a:pPr marL="12700" marR="326390" algn="just">
              <a:lnSpc>
                <a:spcPts val="1420"/>
              </a:lnSpc>
              <a:spcBef>
                <a:spcPts val="55"/>
              </a:spcBef>
            </a:pPr>
            <a:r>
              <a:rPr sz="1200" spc="-10" dirty="0">
                <a:latin typeface="Arial"/>
                <a:cs typeface="Arial"/>
              </a:rPr>
              <a:t>CONV3-</a:t>
            </a:r>
            <a:r>
              <a:rPr sz="1200" dirty="0">
                <a:latin typeface="Arial"/>
                <a:cs typeface="Arial"/>
              </a:rPr>
              <a:t>256: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[56x56x256]</a:t>
            </a:r>
            <a:r>
              <a:rPr sz="1200" spc="310" dirty="0"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0000"/>
                </a:solidFill>
                <a:latin typeface="Arial"/>
                <a:cs typeface="Arial"/>
              </a:rPr>
              <a:t>memory:</a:t>
            </a:r>
            <a:r>
              <a:rPr sz="1200" spc="29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0000"/>
                </a:solidFill>
                <a:latin typeface="Arial"/>
                <a:cs typeface="Arial"/>
              </a:rPr>
              <a:t>56*56*256=800K</a:t>
            </a:r>
            <a:r>
              <a:rPr sz="1200" spc="150" dirty="0">
                <a:solidFill>
                  <a:srgbClr val="FF0000"/>
                </a:solidFill>
                <a:latin typeface="Arial"/>
                <a:cs typeface="Arial"/>
              </a:rPr>
              <a:t>  </a:t>
            </a:r>
            <a:r>
              <a:rPr sz="1200" dirty="0">
                <a:solidFill>
                  <a:srgbClr val="0000FF"/>
                </a:solidFill>
                <a:latin typeface="Arial"/>
                <a:cs typeface="Arial"/>
              </a:rPr>
              <a:t>params:</a:t>
            </a:r>
            <a:r>
              <a:rPr sz="1200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0000FF"/>
                </a:solidFill>
                <a:latin typeface="Arial"/>
                <a:cs typeface="Arial"/>
              </a:rPr>
              <a:t>(3*3*128)*256</a:t>
            </a:r>
            <a:r>
              <a:rPr sz="1200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0000FF"/>
                </a:solidFill>
                <a:latin typeface="Arial"/>
                <a:cs typeface="Arial"/>
              </a:rPr>
              <a:t>=</a:t>
            </a:r>
            <a:r>
              <a:rPr sz="1200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0000FF"/>
                </a:solidFill>
                <a:latin typeface="Arial"/>
                <a:cs typeface="Arial"/>
              </a:rPr>
              <a:t>294,912 </a:t>
            </a:r>
            <a:r>
              <a:rPr sz="1200" spc="-10" dirty="0">
                <a:latin typeface="Arial"/>
                <a:cs typeface="Arial"/>
              </a:rPr>
              <a:t>CONV3-</a:t>
            </a:r>
            <a:r>
              <a:rPr sz="1200" dirty="0">
                <a:latin typeface="Arial"/>
                <a:cs typeface="Arial"/>
              </a:rPr>
              <a:t>256: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[56x56x256]</a:t>
            </a:r>
            <a:r>
              <a:rPr sz="1200" spc="310" dirty="0"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0000"/>
                </a:solidFill>
                <a:latin typeface="Arial"/>
                <a:cs typeface="Arial"/>
              </a:rPr>
              <a:t>memory:</a:t>
            </a:r>
            <a:r>
              <a:rPr sz="1200" spc="29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0000"/>
                </a:solidFill>
                <a:latin typeface="Arial"/>
                <a:cs typeface="Arial"/>
              </a:rPr>
              <a:t>56*56*256=800K</a:t>
            </a:r>
            <a:r>
              <a:rPr sz="1200" spc="150" dirty="0">
                <a:solidFill>
                  <a:srgbClr val="FF0000"/>
                </a:solidFill>
                <a:latin typeface="Arial"/>
                <a:cs typeface="Arial"/>
              </a:rPr>
              <a:t>  </a:t>
            </a:r>
            <a:r>
              <a:rPr sz="1200" dirty="0">
                <a:solidFill>
                  <a:srgbClr val="0000FF"/>
                </a:solidFill>
                <a:latin typeface="Arial"/>
                <a:cs typeface="Arial"/>
              </a:rPr>
              <a:t>params:</a:t>
            </a:r>
            <a:r>
              <a:rPr sz="1200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0000FF"/>
                </a:solidFill>
                <a:latin typeface="Arial"/>
                <a:cs typeface="Arial"/>
              </a:rPr>
              <a:t>(3*3*256)*256</a:t>
            </a:r>
            <a:r>
              <a:rPr sz="1200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0000FF"/>
                </a:solidFill>
                <a:latin typeface="Arial"/>
                <a:cs typeface="Arial"/>
              </a:rPr>
              <a:t>=</a:t>
            </a:r>
            <a:r>
              <a:rPr sz="1200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0000FF"/>
                </a:solidFill>
                <a:latin typeface="Arial"/>
                <a:cs typeface="Arial"/>
              </a:rPr>
              <a:t>589,824 </a:t>
            </a:r>
            <a:r>
              <a:rPr sz="1200" spc="-10" dirty="0">
                <a:latin typeface="Arial"/>
                <a:cs typeface="Arial"/>
              </a:rPr>
              <a:t>CONV3-</a:t>
            </a:r>
            <a:r>
              <a:rPr sz="1200" dirty="0">
                <a:latin typeface="Arial"/>
                <a:cs typeface="Arial"/>
              </a:rPr>
              <a:t>256: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[56x56x256]</a:t>
            </a:r>
            <a:r>
              <a:rPr sz="1200" spc="310" dirty="0"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0000"/>
                </a:solidFill>
                <a:latin typeface="Arial"/>
                <a:cs typeface="Arial"/>
              </a:rPr>
              <a:t>memory:</a:t>
            </a:r>
            <a:r>
              <a:rPr sz="1200" spc="29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0000"/>
                </a:solidFill>
                <a:latin typeface="Arial"/>
                <a:cs typeface="Arial"/>
              </a:rPr>
              <a:t>56*56*256=800K</a:t>
            </a:r>
            <a:r>
              <a:rPr sz="1200" spc="150" dirty="0">
                <a:solidFill>
                  <a:srgbClr val="FF0000"/>
                </a:solidFill>
                <a:latin typeface="Arial"/>
                <a:cs typeface="Arial"/>
              </a:rPr>
              <a:t>  </a:t>
            </a:r>
            <a:r>
              <a:rPr sz="1200" dirty="0">
                <a:solidFill>
                  <a:srgbClr val="0000FF"/>
                </a:solidFill>
                <a:latin typeface="Arial"/>
                <a:cs typeface="Arial"/>
              </a:rPr>
              <a:t>params:</a:t>
            </a:r>
            <a:r>
              <a:rPr sz="1200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0000FF"/>
                </a:solidFill>
                <a:latin typeface="Arial"/>
                <a:cs typeface="Arial"/>
              </a:rPr>
              <a:t>(3*3*256)*256</a:t>
            </a:r>
            <a:r>
              <a:rPr sz="1200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0000FF"/>
                </a:solidFill>
                <a:latin typeface="Arial"/>
                <a:cs typeface="Arial"/>
              </a:rPr>
              <a:t>=</a:t>
            </a:r>
            <a:r>
              <a:rPr sz="1200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0000FF"/>
                </a:solidFill>
                <a:latin typeface="Arial"/>
                <a:cs typeface="Arial"/>
              </a:rPr>
              <a:t>589,824</a:t>
            </a:r>
            <a:endParaRPr sz="1200">
              <a:latin typeface="Arial"/>
              <a:cs typeface="Arial"/>
            </a:endParaRPr>
          </a:p>
          <a:p>
            <a:pPr marL="12700" algn="just">
              <a:lnSpc>
                <a:spcPts val="1385"/>
              </a:lnSpc>
            </a:pPr>
            <a:r>
              <a:rPr sz="1200" dirty="0">
                <a:latin typeface="Arial"/>
                <a:cs typeface="Arial"/>
              </a:rPr>
              <a:t>POOL2:</a:t>
            </a:r>
            <a:r>
              <a:rPr sz="1200" spc="-3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[28x28x256]</a:t>
            </a:r>
            <a:r>
              <a:rPr sz="1200" spc="295" dirty="0"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0000"/>
                </a:solidFill>
                <a:latin typeface="Arial"/>
                <a:cs typeface="Arial"/>
              </a:rPr>
              <a:t>memory:</a:t>
            </a:r>
            <a:r>
              <a:rPr sz="1200" spc="28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0000"/>
                </a:solidFill>
                <a:latin typeface="Arial"/>
                <a:cs typeface="Arial"/>
              </a:rPr>
              <a:t>28*28*256=200K</a:t>
            </a:r>
            <a:r>
              <a:rPr sz="1200" spc="140" dirty="0">
                <a:solidFill>
                  <a:srgbClr val="FF0000"/>
                </a:solidFill>
                <a:latin typeface="Arial"/>
                <a:cs typeface="Arial"/>
              </a:rPr>
              <a:t>  </a:t>
            </a:r>
            <a:r>
              <a:rPr sz="1200" dirty="0">
                <a:solidFill>
                  <a:srgbClr val="0000FF"/>
                </a:solidFill>
                <a:latin typeface="Arial"/>
                <a:cs typeface="Arial"/>
              </a:rPr>
              <a:t>params:</a:t>
            </a:r>
            <a:r>
              <a:rPr sz="1200" spc="-3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00" spc="-50" dirty="0">
                <a:solidFill>
                  <a:srgbClr val="0000FF"/>
                </a:solidFill>
                <a:latin typeface="Arial"/>
                <a:cs typeface="Arial"/>
              </a:rPr>
              <a:t>0</a:t>
            </a:r>
            <a:endParaRPr sz="1200">
              <a:latin typeface="Arial"/>
              <a:cs typeface="Arial"/>
            </a:endParaRPr>
          </a:p>
          <a:p>
            <a:pPr marL="12700" marR="199390" algn="just">
              <a:lnSpc>
                <a:spcPts val="1420"/>
              </a:lnSpc>
              <a:spcBef>
                <a:spcPts val="55"/>
              </a:spcBef>
            </a:pPr>
            <a:r>
              <a:rPr sz="1200" spc="-10" dirty="0">
                <a:latin typeface="Arial"/>
                <a:cs typeface="Arial"/>
              </a:rPr>
              <a:t>CONV3-</a:t>
            </a:r>
            <a:r>
              <a:rPr sz="1200" dirty="0">
                <a:latin typeface="Arial"/>
                <a:cs typeface="Arial"/>
              </a:rPr>
              <a:t>512: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[28x28x512]</a:t>
            </a:r>
            <a:r>
              <a:rPr sz="1200" spc="310" dirty="0"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0000"/>
                </a:solidFill>
                <a:latin typeface="Arial"/>
                <a:cs typeface="Arial"/>
              </a:rPr>
              <a:t>memory:</a:t>
            </a:r>
            <a:r>
              <a:rPr sz="1200" spc="29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0000"/>
                </a:solidFill>
                <a:latin typeface="Arial"/>
                <a:cs typeface="Arial"/>
              </a:rPr>
              <a:t>28*28*512=400K</a:t>
            </a:r>
            <a:r>
              <a:rPr sz="1200" spc="150" dirty="0">
                <a:solidFill>
                  <a:srgbClr val="FF0000"/>
                </a:solidFill>
                <a:latin typeface="Arial"/>
                <a:cs typeface="Arial"/>
              </a:rPr>
              <a:t>  </a:t>
            </a:r>
            <a:r>
              <a:rPr sz="1200" dirty="0">
                <a:solidFill>
                  <a:srgbClr val="0000FF"/>
                </a:solidFill>
                <a:latin typeface="Arial"/>
                <a:cs typeface="Arial"/>
              </a:rPr>
              <a:t>params:</a:t>
            </a:r>
            <a:r>
              <a:rPr sz="1200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0000FF"/>
                </a:solidFill>
                <a:latin typeface="Arial"/>
                <a:cs typeface="Arial"/>
              </a:rPr>
              <a:t>(3*3*256)*512</a:t>
            </a:r>
            <a:r>
              <a:rPr sz="1200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0000FF"/>
                </a:solidFill>
                <a:latin typeface="Arial"/>
                <a:cs typeface="Arial"/>
              </a:rPr>
              <a:t>=</a:t>
            </a:r>
            <a:r>
              <a:rPr sz="1200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0000FF"/>
                </a:solidFill>
                <a:latin typeface="Arial"/>
                <a:cs typeface="Arial"/>
              </a:rPr>
              <a:t>1,179,648 </a:t>
            </a:r>
            <a:r>
              <a:rPr sz="1200" spc="-10" dirty="0">
                <a:latin typeface="Arial"/>
                <a:cs typeface="Arial"/>
              </a:rPr>
              <a:t>CONV3-</a:t>
            </a:r>
            <a:r>
              <a:rPr sz="1200" dirty="0">
                <a:latin typeface="Arial"/>
                <a:cs typeface="Arial"/>
              </a:rPr>
              <a:t>512: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[28x28x512]</a:t>
            </a:r>
            <a:r>
              <a:rPr sz="1200" spc="310" dirty="0"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0000"/>
                </a:solidFill>
                <a:latin typeface="Arial"/>
                <a:cs typeface="Arial"/>
              </a:rPr>
              <a:t>memory:</a:t>
            </a:r>
            <a:r>
              <a:rPr sz="1200" spc="29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0000"/>
                </a:solidFill>
                <a:latin typeface="Arial"/>
                <a:cs typeface="Arial"/>
              </a:rPr>
              <a:t>28*28*512=400K</a:t>
            </a:r>
            <a:r>
              <a:rPr sz="1200" spc="150" dirty="0">
                <a:solidFill>
                  <a:srgbClr val="FF0000"/>
                </a:solidFill>
                <a:latin typeface="Arial"/>
                <a:cs typeface="Arial"/>
              </a:rPr>
              <a:t>  </a:t>
            </a:r>
            <a:r>
              <a:rPr sz="1200" dirty="0">
                <a:solidFill>
                  <a:srgbClr val="0000FF"/>
                </a:solidFill>
                <a:latin typeface="Arial"/>
                <a:cs typeface="Arial"/>
              </a:rPr>
              <a:t>params:</a:t>
            </a:r>
            <a:r>
              <a:rPr sz="1200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0000FF"/>
                </a:solidFill>
                <a:latin typeface="Arial"/>
                <a:cs typeface="Arial"/>
              </a:rPr>
              <a:t>(3*3*512)*512</a:t>
            </a:r>
            <a:r>
              <a:rPr sz="1200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0000FF"/>
                </a:solidFill>
                <a:latin typeface="Arial"/>
                <a:cs typeface="Arial"/>
              </a:rPr>
              <a:t>=</a:t>
            </a:r>
            <a:r>
              <a:rPr sz="1200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0000FF"/>
                </a:solidFill>
                <a:latin typeface="Arial"/>
                <a:cs typeface="Arial"/>
              </a:rPr>
              <a:t>2,359,296 </a:t>
            </a:r>
            <a:r>
              <a:rPr sz="1200" spc="-10" dirty="0">
                <a:latin typeface="Arial"/>
                <a:cs typeface="Arial"/>
              </a:rPr>
              <a:t>CONV3-</a:t>
            </a:r>
            <a:r>
              <a:rPr sz="1200" dirty="0">
                <a:latin typeface="Arial"/>
                <a:cs typeface="Arial"/>
              </a:rPr>
              <a:t>512: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[28x28x512]</a:t>
            </a:r>
            <a:r>
              <a:rPr sz="1200" spc="310" dirty="0"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0000"/>
                </a:solidFill>
                <a:latin typeface="Arial"/>
                <a:cs typeface="Arial"/>
              </a:rPr>
              <a:t>memory:</a:t>
            </a:r>
            <a:r>
              <a:rPr sz="1200" spc="29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0000"/>
                </a:solidFill>
                <a:latin typeface="Arial"/>
                <a:cs typeface="Arial"/>
              </a:rPr>
              <a:t>28*28*512=400K</a:t>
            </a:r>
            <a:r>
              <a:rPr sz="1200" spc="150" dirty="0">
                <a:solidFill>
                  <a:srgbClr val="FF0000"/>
                </a:solidFill>
                <a:latin typeface="Arial"/>
                <a:cs typeface="Arial"/>
              </a:rPr>
              <a:t>  </a:t>
            </a:r>
            <a:r>
              <a:rPr sz="1200" dirty="0">
                <a:solidFill>
                  <a:srgbClr val="0000FF"/>
                </a:solidFill>
                <a:latin typeface="Arial"/>
                <a:cs typeface="Arial"/>
              </a:rPr>
              <a:t>params:</a:t>
            </a:r>
            <a:r>
              <a:rPr sz="1200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0000FF"/>
                </a:solidFill>
                <a:latin typeface="Arial"/>
                <a:cs typeface="Arial"/>
              </a:rPr>
              <a:t>(3*3*512)*512</a:t>
            </a:r>
            <a:r>
              <a:rPr sz="1200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0000FF"/>
                </a:solidFill>
                <a:latin typeface="Arial"/>
                <a:cs typeface="Arial"/>
              </a:rPr>
              <a:t>=</a:t>
            </a:r>
            <a:r>
              <a:rPr sz="1200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0000FF"/>
                </a:solidFill>
                <a:latin typeface="Arial"/>
                <a:cs typeface="Arial"/>
              </a:rPr>
              <a:t>2,359,296</a:t>
            </a:r>
            <a:endParaRPr sz="1200">
              <a:latin typeface="Arial"/>
              <a:cs typeface="Arial"/>
            </a:endParaRPr>
          </a:p>
          <a:p>
            <a:pPr marL="12700" algn="just">
              <a:lnSpc>
                <a:spcPts val="1385"/>
              </a:lnSpc>
            </a:pPr>
            <a:r>
              <a:rPr sz="1200" dirty="0">
                <a:latin typeface="Arial"/>
                <a:cs typeface="Arial"/>
              </a:rPr>
              <a:t>POOL2:</a:t>
            </a:r>
            <a:r>
              <a:rPr sz="1200" spc="-3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[14x14x512]</a:t>
            </a:r>
            <a:r>
              <a:rPr sz="1200" spc="295" dirty="0"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0000"/>
                </a:solidFill>
                <a:latin typeface="Arial"/>
                <a:cs typeface="Arial"/>
              </a:rPr>
              <a:t>memory:</a:t>
            </a:r>
            <a:r>
              <a:rPr sz="1200" spc="28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0000"/>
                </a:solidFill>
                <a:latin typeface="Arial"/>
                <a:cs typeface="Arial"/>
              </a:rPr>
              <a:t>14*14*512=100K</a:t>
            </a:r>
            <a:r>
              <a:rPr sz="1200" spc="140" dirty="0">
                <a:solidFill>
                  <a:srgbClr val="FF0000"/>
                </a:solidFill>
                <a:latin typeface="Arial"/>
                <a:cs typeface="Arial"/>
              </a:rPr>
              <a:t>  </a:t>
            </a:r>
            <a:r>
              <a:rPr sz="1200" dirty="0">
                <a:solidFill>
                  <a:srgbClr val="0000FF"/>
                </a:solidFill>
                <a:latin typeface="Arial"/>
                <a:cs typeface="Arial"/>
              </a:rPr>
              <a:t>params:</a:t>
            </a:r>
            <a:r>
              <a:rPr sz="1200" spc="-3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00" spc="-50" dirty="0">
                <a:solidFill>
                  <a:srgbClr val="0000FF"/>
                </a:solidFill>
                <a:latin typeface="Arial"/>
                <a:cs typeface="Arial"/>
              </a:rPr>
              <a:t>0</a:t>
            </a:r>
            <a:endParaRPr sz="1200">
              <a:latin typeface="Arial"/>
              <a:cs typeface="Arial"/>
            </a:endParaRPr>
          </a:p>
          <a:p>
            <a:pPr marL="12700" marR="199390" algn="just">
              <a:lnSpc>
                <a:spcPts val="1420"/>
              </a:lnSpc>
              <a:spcBef>
                <a:spcPts val="60"/>
              </a:spcBef>
            </a:pPr>
            <a:r>
              <a:rPr sz="1200" spc="-10" dirty="0">
                <a:latin typeface="Arial"/>
                <a:cs typeface="Arial"/>
              </a:rPr>
              <a:t>CONV3-</a:t>
            </a:r>
            <a:r>
              <a:rPr sz="1200" dirty="0">
                <a:latin typeface="Arial"/>
                <a:cs typeface="Arial"/>
              </a:rPr>
              <a:t>512: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[14x14x512]</a:t>
            </a:r>
            <a:r>
              <a:rPr sz="1200" spc="310" dirty="0"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0000"/>
                </a:solidFill>
                <a:latin typeface="Arial"/>
                <a:cs typeface="Arial"/>
              </a:rPr>
              <a:t>memory:</a:t>
            </a:r>
            <a:r>
              <a:rPr sz="1200" spc="29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0000"/>
                </a:solidFill>
                <a:latin typeface="Arial"/>
                <a:cs typeface="Arial"/>
              </a:rPr>
              <a:t>14*14*512=100K</a:t>
            </a:r>
            <a:r>
              <a:rPr sz="1200" spc="150" dirty="0">
                <a:solidFill>
                  <a:srgbClr val="FF0000"/>
                </a:solidFill>
                <a:latin typeface="Arial"/>
                <a:cs typeface="Arial"/>
              </a:rPr>
              <a:t>  </a:t>
            </a:r>
            <a:r>
              <a:rPr sz="1200" dirty="0">
                <a:solidFill>
                  <a:srgbClr val="0000FF"/>
                </a:solidFill>
                <a:latin typeface="Arial"/>
                <a:cs typeface="Arial"/>
              </a:rPr>
              <a:t>params:</a:t>
            </a:r>
            <a:r>
              <a:rPr sz="1200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0000FF"/>
                </a:solidFill>
                <a:latin typeface="Arial"/>
                <a:cs typeface="Arial"/>
              </a:rPr>
              <a:t>(3*3*512)*512</a:t>
            </a:r>
            <a:r>
              <a:rPr sz="1200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0000FF"/>
                </a:solidFill>
                <a:latin typeface="Arial"/>
                <a:cs typeface="Arial"/>
              </a:rPr>
              <a:t>=</a:t>
            </a:r>
            <a:r>
              <a:rPr sz="1200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0000FF"/>
                </a:solidFill>
                <a:latin typeface="Arial"/>
                <a:cs typeface="Arial"/>
              </a:rPr>
              <a:t>2,359,296 </a:t>
            </a:r>
            <a:r>
              <a:rPr sz="1200" spc="-10" dirty="0">
                <a:latin typeface="Arial"/>
                <a:cs typeface="Arial"/>
              </a:rPr>
              <a:t>CONV3-</a:t>
            </a:r>
            <a:r>
              <a:rPr sz="1200" dirty="0">
                <a:latin typeface="Arial"/>
                <a:cs typeface="Arial"/>
              </a:rPr>
              <a:t>512: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[14x14x512]</a:t>
            </a:r>
            <a:r>
              <a:rPr sz="1200" spc="310" dirty="0"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0000"/>
                </a:solidFill>
                <a:latin typeface="Arial"/>
                <a:cs typeface="Arial"/>
              </a:rPr>
              <a:t>memory:</a:t>
            </a:r>
            <a:r>
              <a:rPr sz="1200" spc="29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0000"/>
                </a:solidFill>
                <a:latin typeface="Arial"/>
                <a:cs typeface="Arial"/>
              </a:rPr>
              <a:t>14*14*512=100K</a:t>
            </a:r>
            <a:r>
              <a:rPr sz="1200" spc="150" dirty="0">
                <a:solidFill>
                  <a:srgbClr val="FF0000"/>
                </a:solidFill>
                <a:latin typeface="Arial"/>
                <a:cs typeface="Arial"/>
              </a:rPr>
              <a:t>  </a:t>
            </a:r>
            <a:r>
              <a:rPr sz="1200" dirty="0">
                <a:solidFill>
                  <a:srgbClr val="0000FF"/>
                </a:solidFill>
                <a:latin typeface="Arial"/>
                <a:cs typeface="Arial"/>
              </a:rPr>
              <a:t>params:</a:t>
            </a:r>
            <a:r>
              <a:rPr sz="1200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0000FF"/>
                </a:solidFill>
                <a:latin typeface="Arial"/>
                <a:cs typeface="Arial"/>
              </a:rPr>
              <a:t>(3*3*512)*512</a:t>
            </a:r>
            <a:r>
              <a:rPr sz="1200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0000FF"/>
                </a:solidFill>
                <a:latin typeface="Arial"/>
                <a:cs typeface="Arial"/>
              </a:rPr>
              <a:t>=</a:t>
            </a:r>
            <a:r>
              <a:rPr sz="1200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0000FF"/>
                </a:solidFill>
                <a:latin typeface="Arial"/>
                <a:cs typeface="Arial"/>
              </a:rPr>
              <a:t>2,359,296 </a:t>
            </a:r>
            <a:r>
              <a:rPr sz="1200" spc="-10" dirty="0">
                <a:latin typeface="Arial"/>
                <a:cs typeface="Arial"/>
              </a:rPr>
              <a:t>CONV3-</a:t>
            </a:r>
            <a:r>
              <a:rPr sz="1200" dirty="0">
                <a:latin typeface="Arial"/>
                <a:cs typeface="Arial"/>
              </a:rPr>
              <a:t>512: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[14x14x512]</a:t>
            </a:r>
            <a:r>
              <a:rPr sz="1200" spc="310" dirty="0"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0000"/>
                </a:solidFill>
                <a:latin typeface="Arial"/>
                <a:cs typeface="Arial"/>
              </a:rPr>
              <a:t>memory:</a:t>
            </a:r>
            <a:r>
              <a:rPr sz="1200" spc="29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0000"/>
                </a:solidFill>
                <a:latin typeface="Arial"/>
                <a:cs typeface="Arial"/>
              </a:rPr>
              <a:t>14*14*512=100K</a:t>
            </a:r>
            <a:r>
              <a:rPr sz="1200" spc="150" dirty="0">
                <a:solidFill>
                  <a:srgbClr val="FF0000"/>
                </a:solidFill>
                <a:latin typeface="Arial"/>
                <a:cs typeface="Arial"/>
              </a:rPr>
              <a:t>  </a:t>
            </a:r>
            <a:r>
              <a:rPr sz="1200" dirty="0">
                <a:solidFill>
                  <a:srgbClr val="0000FF"/>
                </a:solidFill>
                <a:latin typeface="Arial"/>
                <a:cs typeface="Arial"/>
              </a:rPr>
              <a:t>params:</a:t>
            </a:r>
            <a:r>
              <a:rPr sz="1200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0000FF"/>
                </a:solidFill>
                <a:latin typeface="Arial"/>
                <a:cs typeface="Arial"/>
              </a:rPr>
              <a:t>(3*3*512)*512</a:t>
            </a:r>
            <a:r>
              <a:rPr sz="1200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0000FF"/>
                </a:solidFill>
                <a:latin typeface="Arial"/>
                <a:cs typeface="Arial"/>
              </a:rPr>
              <a:t>=</a:t>
            </a:r>
            <a:r>
              <a:rPr sz="1200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0000FF"/>
                </a:solidFill>
                <a:latin typeface="Arial"/>
                <a:cs typeface="Arial"/>
              </a:rPr>
              <a:t>2,359,296</a:t>
            </a:r>
            <a:endParaRPr sz="1200">
              <a:latin typeface="Arial"/>
              <a:cs typeface="Arial"/>
            </a:endParaRPr>
          </a:p>
          <a:p>
            <a:pPr marL="12700" algn="just">
              <a:lnSpc>
                <a:spcPts val="1385"/>
              </a:lnSpc>
            </a:pPr>
            <a:r>
              <a:rPr sz="1200" dirty="0">
                <a:latin typeface="Arial"/>
                <a:cs typeface="Arial"/>
              </a:rPr>
              <a:t>POOL2:</a:t>
            </a:r>
            <a:r>
              <a:rPr sz="1200" spc="-3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[7x7x512]</a:t>
            </a:r>
            <a:r>
              <a:rPr sz="1200" spc="290" dirty="0"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0000"/>
                </a:solidFill>
                <a:latin typeface="Arial"/>
                <a:cs typeface="Arial"/>
              </a:rPr>
              <a:t>memory:</a:t>
            </a:r>
            <a:r>
              <a:rPr sz="1200" spc="27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0000"/>
                </a:solidFill>
                <a:latin typeface="Arial"/>
                <a:cs typeface="Arial"/>
              </a:rPr>
              <a:t>7*7*512=25K</a:t>
            </a:r>
            <a:r>
              <a:rPr sz="1200" spc="30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0000FF"/>
                </a:solidFill>
                <a:latin typeface="Arial"/>
                <a:cs typeface="Arial"/>
              </a:rPr>
              <a:t>params:</a:t>
            </a:r>
            <a:r>
              <a:rPr sz="1200" spc="-3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00" spc="-50" dirty="0">
                <a:solidFill>
                  <a:srgbClr val="0000FF"/>
                </a:solidFill>
                <a:latin typeface="Arial"/>
                <a:cs typeface="Arial"/>
              </a:rPr>
              <a:t>0</a:t>
            </a:r>
            <a:endParaRPr sz="1200">
              <a:latin typeface="Arial"/>
              <a:cs typeface="Arial"/>
            </a:endParaRPr>
          </a:p>
          <a:p>
            <a:pPr marL="12700" algn="just">
              <a:lnSpc>
                <a:spcPts val="1425"/>
              </a:lnSpc>
            </a:pPr>
            <a:r>
              <a:rPr sz="1200" dirty="0">
                <a:latin typeface="Arial"/>
                <a:cs typeface="Arial"/>
              </a:rPr>
              <a:t>FC:</a:t>
            </a:r>
            <a:r>
              <a:rPr sz="1200" spc="-3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[1x1x4096]</a:t>
            </a:r>
            <a:r>
              <a:rPr sz="1200" spc="305" dirty="0"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0000"/>
                </a:solidFill>
                <a:latin typeface="Arial"/>
                <a:cs typeface="Arial"/>
              </a:rPr>
              <a:t>memory:</a:t>
            </a:r>
            <a:r>
              <a:rPr sz="1200" spc="29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0000"/>
                </a:solidFill>
                <a:latin typeface="Arial"/>
                <a:cs typeface="Arial"/>
              </a:rPr>
              <a:t>4096</a:t>
            </a:r>
            <a:r>
              <a:rPr sz="1200" spc="30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0000FF"/>
                </a:solidFill>
                <a:latin typeface="Arial"/>
                <a:cs typeface="Arial"/>
              </a:rPr>
              <a:t>params:</a:t>
            </a:r>
            <a:r>
              <a:rPr sz="1200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0000FF"/>
                </a:solidFill>
                <a:latin typeface="Arial"/>
                <a:cs typeface="Arial"/>
              </a:rPr>
              <a:t>7*7*512*4096</a:t>
            </a:r>
            <a:r>
              <a:rPr sz="1200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0000FF"/>
                </a:solidFill>
                <a:latin typeface="Arial"/>
                <a:cs typeface="Arial"/>
              </a:rPr>
              <a:t>=</a:t>
            </a:r>
            <a:r>
              <a:rPr sz="1200" spc="-1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00" b="1" spc="-10" dirty="0">
                <a:solidFill>
                  <a:srgbClr val="0000FF"/>
                </a:solidFill>
                <a:latin typeface="Arial"/>
                <a:cs typeface="Arial"/>
              </a:rPr>
              <a:t>102,760,448</a:t>
            </a:r>
            <a:endParaRPr sz="1200">
              <a:latin typeface="Arial"/>
              <a:cs typeface="Arial"/>
            </a:endParaRPr>
          </a:p>
          <a:p>
            <a:pPr marL="12700" marR="1906905">
              <a:lnSpc>
                <a:spcPts val="1420"/>
              </a:lnSpc>
              <a:spcBef>
                <a:spcPts val="55"/>
              </a:spcBef>
            </a:pPr>
            <a:r>
              <a:rPr sz="1200" dirty="0">
                <a:latin typeface="Arial"/>
                <a:cs typeface="Arial"/>
              </a:rPr>
              <a:t>FC: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[1x1x4096]</a:t>
            </a:r>
            <a:r>
              <a:rPr sz="1200" spc="305" dirty="0"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0000"/>
                </a:solidFill>
                <a:latin typeface="Arial"/>
                <a:cs typeface="Arial"/>
              </a:rPr>
              <a:t>memory:</a:t>
            </a:r>
            <a:r>
              <a:rPr sz="1200" spc="29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0000"/>
                </a:solidFill>
                <a:latin typeface="Arial"/>
                <a:cs typeface="Arial"/>
              </a:rPr>
              <a:t>4096</a:t>
            </a:r>
            <a:r>
              <a:rPr sz="1200" spc="30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0000FF"/>
                </a:solidFill>
                <a:latin typeface="Arial"/>
                <a:cs typeface="Arial"/>
              </a:rPr>
              <a:t>params:</a:t>
            </a:r>
            <a:r>
              <a:rPr sz="1200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0000FF"/>
                </a:solidFill>
                <a:latin typeface="Arial"/>
                <a:cs typeface="Arial"/>
              </a:rPr>
              <a:t>4096*4096</a:t>
            </a:r>
            <a:r>
              <a:rPr sz="1200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0000FF"/>
                </a:solidFill>
                <a:latin typeface="Arial"/>
                <a:cs typeface="Arial"/>
              </a:rPr>
              <a:t>=</a:t>
            </a:r>
            <a:r>
              <a:rPr sz="1200" spc="-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0000FF"/>
                </a:solidFill>
                <a:latin typeface="Arial"/>
                <a:cs typeface="Arial"/>
              </a:rPr>
              <a:t>16,777,216 </a:t>
            </a:r>
            <a:r>
              <a:rPr sz="1200" dirty="0">
                <a:latin typeface="Arial"/>
                <a:cs typeface="Arial"/>
              </a:rPr>
              <a:t>FC:</a:t>
            </a:r>
            <a:r>
              <a:rPr sz="1200" spc="-3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[1x1x1000]</a:t>
            </a:r>
            <a:r>
              <a:rPr sz="1200" spc="305" dirty="0"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0000"/>
                </a:solidFill>
                <a:latin typeface="Arial"/>
                <a:cs typeface="Arial"/>
              </a:rPr>
              <a:t>memory:</a:t>
            </a:r>
            <a:r>
              <a:rPr sz="1200" spc="28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0000"/>
                </a:solidFill>
                <a:latin typeface="Arial"/>
                <a:cs typeface="Arial"/>
              </a:rPr>
              <a:t>1000</a:t>
            </a:r>
            <a:r>
              <a:rPr sz="1200" spc="-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0000FF"/>
                </a:solidFill>
                <a:latin typeface="Arial"/>
                <a:cs typeface="Arial"/>
              </a:rPr>
              <a:t>params:</a:t>
            </a:r>
            <a:r>
              <a:rPr sz="1200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0000FF"/>
                </a:solidFill>
                <a:latin typeface="Arial"/>
                <a:cs typeface="Arial"/>
              </a:rPr>
              <a:t>4096*1000</a:t>
            </a:r>
            <a:r>
              <a:rPr sz="1200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0000FF"/>
                </a:solidFill>
                <a:latin typeface="Arial"/>
                <a:cs typeface="Arial"/>
              </a:rPr>
              <a:t>=</a:t>
            </a:r>
            <a:r>
              <a:rPr sz="1200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0000FF"/>
                </a:solidFill>
                <a:latin typeface="Arial"/>
                <a:cs typeface="Arial"/>
              </a:rPr>
              <a:t>4,096,000</a:t>
            </a:r>
            <a:endParaRPr sz="1200">
              <a:latin typeface="Arial"/>
              <a:cs typeface="Arial"/>
            </a:endParaRPr>
          </a:p>
          <a:p>
            <a:pPr marL="46355" marR="367665">
              <a:lnSpc>
                <a:spcPts val="1650"/>
              </a:lnSpc>
              <a:spcBef>
                <a:spcPts val="815"/>
              </a:spcBef>
            </a:pPr>
            <a:r>
              <a:rPr sz="1400" dirty="0">
                <a:solidFill>
                  <a:srgbClr val="FF0000"/>
                </a:solidFill>
                <a:latin typeface="Arial"/>
                <a:cs typeface="Arial"/>
              </a:rPr>
              <a:t>TOTAL</a:t>
            </a:r>
            <a:r>
              <a:rPr sz="1400" spc="-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0000"/>
                </a:solidFill>
                <a:latin typeface="Arial"/>
                <a:cs typeface="Arial"/>
              </a:rPr>
              <a:t>memory:</a:t>
            </a:r>
            <a:r>
              <a:rPr sz="1400" spc="-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0000"/>
                </a:solidFill>
                <a:latin typeface="Arial"/>
                <a:cs typeface="Arial"/>
              </a:rPr>
              <a:t>24M</a:t>
            </a:r>
            <a:r>
              <a:rPr sz="1400" spc="-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0000"/>
                </a:solidFill>
                <a:latin typeface="Arial"/>
                <a:cs typeface="Arial"/>
              </a:rPr>
              <a:t>*</a:t>
            </a:r>
            <a:r>
              <a:rPr sz="1400" spc="-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0000"/>
                </a:solidFill>
                <a:latin typeface="Arial"/>
                <a:cs typeface="Arial"/>
              </a:rPr>
              <a:t>4</a:t>
            </a:r>
            <a:r>
              <a:rPr sz="1400" spc="-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0000"/>
                </a:solidFill>
                <a:latin typeface="Arial"/>
                <a:cs typeface="Arial"/>
              </a:rPr>
              <a:t>bytes</a:t>
            </a:r>
            <a:r>
              <a:rPr sz="1400" spc="-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0000"/>
                </a:solidFill>
                <a:latin typeface="Arial"/>
                <a:cs typeface="Arial"/>
              </a:rPr>
              <a:t>~=</a:t>
            </a:r>
            <a:r>
              <a:rPr sz="1400" spc="-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0000"/>
                </a:solidFill>
                <a:latin typeface="Arial"/>
                <a:cs typeface="Arial"/>
              </a:rPr>
              <a:t>93MB</a:t>
            </a:r>
            <a:r>
              <a:rPr sz="1400" spc="-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0000"/>
                </a:solidFill>
                <a:latin typeface="Arial"/>
                <a:cs typeface="Arial"/>
              </a:rPr>
              <a:t>/</a:t>
            </a:r>
            <a:r>
              <a:rPr sz="1400" spc="-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0000"/>
                </a:solidFill>
                <a:latin typeface="Arial"/>
                <a:cs typeface="Arial"/>
              </a:rPr>
              <a:t>image </a:t>
            </a:r>
            <a:r>
              <a:rPr sz="1400" dirty="0">
                <a:latin typeface="Arial"/>
                <a:cs typeface="Arial"/>
              </a:rPr>
              <a:t>(only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forward!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~*2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for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spc="-20" dirty="0">
                <a:latin typeface="Arial"/>
                <a:cs typeface="Arial"/>
              </a:rPr>
              <a:t>bwd) </a:t>
            </a:r>
            <a:r>
              <a:rPr sz="1400" dirty="0">
                <a:solidFill>
                  <a:srgbClr val="0000FF"/>
                </a:solidFill>
                <a:latin typeface="Arial"/>
                <a:cs typeface="Arial"/>
              </a:rPr>
              <a:t>TOTAL</a:t>
            </a:r>
            <a:r>
              <a:rPr sz="1400" spc="-3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000FF"/>
                </a:solidFill>
                <a:latin typeface="Arial"/>
                <a:cs typeface="Arial"/>
              </a:rPr>
              <a:t>params:</a:t>
            </a:r>
            <a:r>
              <a:rPr sz="1400" spc="-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000FF"/>
                </a:solidFill>
                <a:latin typeface="Arial"/>
                <a:cs typeface="Arial"/>
              </a:rPr>
              <a:t>138M</a:t>
            </a:r>
            <a:r>
              <a:rPr sz="1400" spc="-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0000FF"/>
                </a:solidFill>
                <a:latin typeface="Arial"/>
                <a:cs typeface="Arial"/>
              </a:rPr>
              <a:t>parameters</a:t>
            </a:r>
            <a:endParaRPr sz="14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894989" y="-43762"/>
            <a:ext cx="167513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3B77D8"/>
                </a:solidFill>
              </a:rPr>
              <a:t>(not</a:t>
            </a:r>
            <a:r>
              <a:rPr sz="1400" spc="-30" dirty="0">
                <a:solidFill>
                  <a:srgbClr val="3B77D8"/>
                </a:solidFill>
              </a:rPr>
              <a:t> </a:t>
            </a:r>
            <a:r>
              <a:rPr sz="1400" dirty="0">
                <a:solidFill>
                  <a:srgbClr val="3B77D8"/>
                </a:solidFill>
              </a:rPr>
              <a:t>counting</a:t>
            </a:r>
            <a:r>
              <a:rPr sz="1400" spc="-30" dirty="0">
                <a:solidFill>
                  <a:srgbClr val="3B77D8"/>
                </a:solidFill>
              </a:rPr>
              <a:t> </a:t>
            </a:r>
            <a:r>
              <a:rPr sz="1400" spc="-10" dirty="0">
                <a:solidFill>
                  <a:srgbClr val="3B77D8"/>
                </a:solidFill>
              </a:rPr>
              <a:t>biases)</a:t>
            </a:r>
            <a:endParaRPr sz="1400"/>
          </a:p>
        </p:txBody>
      </p:sp>
      <p:sp>
        <p:nvSpPr>
          <p:cNvPr id="5" name="object 5"/>
          <p:cNvSpPr txBox="1"/>
          <p:nvPr/>
        </p:nvSpPr>
        <p:spPr>
          <a:xfrm>
            <a:off x="7234381" y="245362"/>
            <a:ext cx="45021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Arial"/>
                <a:cs typeface="Arial"/>
              </a:rPr>
              <a:t>Note:</a:t>
            </a:r>
            <a:endParaRPr sz="1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234381" y="664461"/>
            <a:ext cx="1466850" cy="44830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>
              <a:lnSpc>
                <a:spcPts val="1650"/>
              </a:lnSpc>
              <a:spcBef>
                <a:spcPts val="180"/>
              </a:spcBef>
            </a:pPr>
            <a:r>
              <a:rPr sz="1400" dirty="0">
                <a:solidFill>
                  <a:srgbClr val="FF0000"/>
                </a:solidFill>
                <a:latin typeface="Arial"/>
                <a:cs typeface="Arial"/>
              </a:rPr>
              <a:t>Most</a:t>
            </a:r>
            <a:r>
              <a:rPr sz="1400" spc="-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0000"/>
                </a:solidFill>
                <a:latin typeface="Arial"/>
                <a:cs typeface="Arial"/>
              </a:rPr>
              <a:t>memory</a:t>
            </a:r>
            <a:r>
              <a:rPr sz="1400" spc="-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0000"/>
                </a:solidFill>
                <a:latin typeface="Arial"/>
                <a:cs typeface="Arial"/>
              </a:rPr>
              <a:t>is</a:t>
            </a:r>
            <a:r>
              <a:rPr sz="1400" spc="-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400" spc="-25" dirty="0">
                <a:solidFill>
                  <a:srgbClr val="FF0000"/>
                </a:solidFill>
                <a:latin typeface="Arial"/>
                <a:cs typeface="Arial"/>
              </a:rPr>
              <a:t>in </a:t>
            </a:r>
            <a:r>
              <a:rPr sz="1400" dirty="0">
                <a:solidFill>
                  <a:srgbClr val="FF0000"/>
                </a:solidFill>
                <a:latin typeface="Arial"/>
                <a:cs typeface="Arial"/>
              </a:rPr>
              <a:t>early</a:t>
            </a:r>
            <a:r>
              <a:rPr sz="1400" spc="-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400" spc="-20" dirty="0">
                <a:solidFill>
                  <a:srgbClr val="FF0000"/>
                </a:solidFill>
                <a:latin typeface="Arial"/>
                <a:cs typeface="Arial"/>
              </a:rPr>
              <a:t>CONV</a:t>
            </a:r>
            <a:endParaRPr sz="14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234381" y="2550407"/>
            <a:ext cx="1358900" cy="44830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>
              <a:lnSpc>
                <a:spcPts val="1650"/>
              </a:lnSpc>
              <a:spcBef>
                <a:spcPts val="180"/>
              </a:spcBef>
            </a:pPr>
            <a:r>
              <a:rPr sz="1400" dirty="0">
                <a:solidFill>
                  <a:srgbClr val="0000FF"/>
                </a:solidFill>
                <a:latin typeface="Arial"/>
                <a:cs typeface="Arial"/>
              </a:rPr>
              <a:t>Most</a:t>
            </a:r>
            <a:r>
              <a:rPr sz="1400" spc="-1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000FF"/>
                </a:solidFill>
                <a:latin typeface="Arial"/>
                <a:cs typeface="Arial"/>
              </a:rPr>
              <a:t>params</a:t>
            </a:r>
            <a:r>
              <a:rPr sz="1400" spc="-1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400" spc="-25" dirty="0">
                <a:solidFill>
                  <a:srgbClr val="0000FF"/>
                </a:solidFill>
                <a:latin typeface="Arial"/>
                <a:cs typeface="Arial"/>
              </a:rPr>
              <a:t>are </a:t>
            </a:r>
            <a:r>
              <a:rPr sz="1400" dirty="0">
                <a:solidFill>
                  <a:srgbClr val="0000FF"/>
                </a:solidFill>
                <a:latin typeface="Arial"/>
                <a:cs typeface="Arial"/>
              </a:rPr>
              <a:t>in</a:t>
            </a:r>
            <a:r>
              <a:rPr sz="1400" spc="-1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000FF"/>
                </a:solidFill>
                <a:latin typeface="Arial"/>
                <a:cs typeface="Arial"/>
              </a:rPr>
              <a:t>late</a:t>
            </a:r>
            <a:r>
              <a:rPr sz="1400" spc="-1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400" spc="-25" dirty="0">
                <a:solidFill>
                  <a:srgbClr val="0000FF"/>
                </a:solidFill>
                <a:latin typeface="Arial"/>
                <a:cs typeface="Arial"/>
              </a:rPr>
              <a:t>FC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5264939" y="3135318"/>
            <a:ext cx="2341880" cy="416559"/>
            <a:chOff x="5264939" y="3135318"/>
            <a:chExt cx="2341880" cy="416559"/>
          </a:xfrm>
        </p:grpSpPr>
        <p:sp>
          <p:nvSpPr>
            <p:cNvPr id="9" name="object 9"/>
            <p:cNvSpPr/>
            <p:nvPr/>
          </p:nvSpPr>
          <p:spPr>
            <a:xfrm>
              <a:off x="5359789" y="3144843"/>
              <a:ext cx="2237740" cy="366395"/>
            </a:xfrm>
            <a:custGeom>
              <a:avLst/>
              <a:gdLst/>
              <a:ahLst/>
              <a:cxnLst/>
              <a:rect l="l" t="t" r="r" b="b"/>
              <a:pathLst>
                <a:path w="2237740" h="366395">
                  <a:moveTo>
                    <a:pt x="2237395" y="0"/>
                  </a:moveTo>
                  <a:lnTo>
                    <a:pt x="0" y="366149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264939" y="3470418"/>
              <a:ext cx="109449" cy="81149"/>
            </a:xfrm>
            <a:prstGeom prst="rect">
              <a:avLst/>
            </a:prstGeom>
          </p:spPr>
        </p:pic>
      </p:grpSp>
      <p:sp>
        <p:nvSpPr>
          <p:cNvPr id="11" name="object 11"/>
          <p:cNvSpPr/>
          <p:nvPr/>
        </p:nvSpPr>
        <p:spPr>
          <a:xfrm>
            <a:off x="4079066" y="539558"/>
            <a:ext cx="2800350" cy="238125"/>
          </a:xfrm>
          <a:custGeom>
            <a:avLst/>
            <a:gdLst/>
            <a:ahLst/>
            <a:cxnLst/>
            <a:rect l="l" t="t" r="r" b="b"/>
            <a:pathLst>
              <a:path w="2800350" h="238125">
                <a:moveTo>
                  <a:pt x="2800294" y="238114"/>
                </a:moveTo>
                <a:lnTo>
                  <a:pt x="0" y="0"/>
                </a:lnTo>
              </a:path>
            </a:pathLst>
          </a:custGeom>
          <a:ln w="19049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983392" y="498681"/>
            <a:ext cx="107849" cy="81754"/>
          </a:xfrm>
          <a:prstGeom prst="rect">
            <a:avLst/>
          </a:prstGeom>
        </p:spPr>
      </p:pic>
      <p:sp>
        <p:nvSpPr>
          <p:cNvPr id="17" name="object 10">
            <a:extLst>
              <a:ext uri="{FF2B5EF4-FFF2-40B4-BE49-F238E27FC236}">
                <a16:creationId xmlns:a16="http://schemas.microsoft.com/office/drawing/2014/main" id="{99CD64E7-984F-C84A-9386-5148211EB069}"/>
              </a:ext>
            </a:extLst>
          </p:cNvPr>
          <p:cNvSpPr txBox="1">
            <a:spLocks noGrp="1"/>
          </p:cNvSpPr>
          <p:nvPr>
            <p:ph type="dt" sz="half" idx="4294967295"/>
          </p:nvPr>
        </p:nvSpPr>
        <p:spPr>
          <a:xfrm>
            <a:off x="145224" y="4740846"/>
            <a:ext cx="4699000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lang="en-US" altLang="zh-CN" spc="-10" dirty="0">
                <a:solidFill>
                  <a:schemeClr val="bg1"/>
                </a:solidFill>
              </a:rPr>
              <a:t>Convolutional</a:t>
            </a:r>
            <a:r>
              <a:rPr lang="zh-CN" altLang="en-US" spc="-10" dirty="0">
                <a:solidFill>
                  <a:schemeClr val="bg1"/>
                </a:solidFill>
              </a:rPr>
              <a:t> </a:t>
            </a:r>
            <a:r>
              <a:rPr lang="en-US" altLang="zh-CN" spc="-10" dirty="0">
                <a:solidFill>
                  <a:schemeClr val="bg1"/>
                </a:solidFill>
              </a:rPr>
              <a:t>Neural</a:t>
            </a:r>
            <a:r>
              <a:rPr lang="zh-CN" altLang="en-US" spc="-10" dirty="0">
                <a:solidFill>
                  <a:schemeClr val="bg1"/>
                </a:solidFill>
              </a:rPr>
              <a:t> </a:t>
            </a:r>
            <a:r>
              <a:rPr lang="en-US" altLang="zh-CN" spc="-10" dirty="0">
                <a:solidFill>
                  <a:schemeClr val="bg1"/>
                </a:solidFill>
              </a:rPr>
              <a:t>Networks</a:t>
            </a:r>
            <a:endParaRPr spc="-1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612" y="508782"/>
            <a:ext cx="8627789" cy="2000241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25099" y="137084"/>
            <a:ext cx="415036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/>
              <a:t>Case</a:t>
            </a:r>
            <a:r>
              <a:rPr sz="3000" spc="-25" dirty="0"/>
              <a:t> </a:t>
            </a:r>
            <a:r>
              <a:rPr sz="3000" dirty="0"/>
              <a:t>Study:</a:t>
            </a:r>
            <a:r>
              <a:rPr sz="3000" spc="-25" dirty="0"/>
              <a:t> </a:t>
            </a:r>
            <a:r>
              <a:rPr sz="3000" spc="-10" dirty="0"/>
              <a:t>GoogLeNet</a:t>
            </a:r>
            <a:endParaRPr sz="3000"/>
          </a:p>
        </p:txBody>
      </p:sp>
      <p:sp>
        <p:nvSpPr>
          <p:cNvPr id="4" name="object 4"/>
          <p:cNvSpPr txBox="1"/>
          <p:nvPr/>
        </p:nvSpPr>
        <p:spPr>
          <a:xfrm>
            <a:off x="4784966" y="231011"/>
            <a:ext cx="174371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i="1" dirty="0">
                <a:latin typeface="Arial"/>
                <a:cs typeface="Arial"/>
              </a:rPr>
              <a:t>[Szegedy</a:t>
            </a:r>
            <a:r>
              <a:rPr sz="1400" i="1" spc="-15" dirty="0">
                <a:latin typeface="Arial"/>
                <a:cs typeface="Arial"/>
              </a:rPr>
              <a:t> </a:t>
            </a:r>
            <a:r>
              <a:rPr sz="1400" i="1" dirty="0">
                <a:latin typeface="Arial"/>
                <a:cs typeface="Arial"/>
              </a:rPr>
              <a:t>et</a:t>
            </a:r>
            <a:r>
              <a:rPr sz="1400" i="1" spc="-10" dirty="0">
                <a:latin typeface="Arial"/>
                <a:cs typeface="Arial"/>
              </a:rPr>
              <a:t> </a:t>
            </a:r>
            <a:r>
              <a:rPr sz="1400" i="1" dirty="0">
                <a:latin typeface="Arial"/>
                <a:cs typeface="Arial"/>
              </a:rPr>
              <a:t>al.,</a:t>
            </a:r>
            <a:r>
              <a:rPr sz="1400" i="1" spc="-10" dirty="0">
                <a:latin typeface="Arial"/>
                <a:cs typeface="Arial"/>
              </a:rPr>
              <a:t> </a:t>
            </a:r>
            <a:r>
              <a:rPr sz="1400" i="1" spc="-20" dirty="0">
                <a:latin typeface="Arial"/>
                <a:cs typeface="Arial"/>
              </a:rPr>
              <a:t>2014]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2618" y="2576144"/>
            <a:ext cx="3720717" cy="1917196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4310869" y="3142897"/>
            <a:ext cx="4298950" cy="12674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"/>
                <a:cs typeface="Arial"/>
              </a:rPr>
              <a:t>Inception</a:t>
            </a:r>
            <a:r>
              <a:rPr sz="2400" spc="-14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module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975"/>
              </a:spcBef>
            </a:pPr>
            <a:endParaRPr sz="2400">
              <a:latin typeface="Arial"/>
              <a:cs typeface="Arial"/>
            </a:endParaRPr>
          </a:p>
          <a:p>
            <a:pPr marL="297815">
              <a:lnSpc>
                <a:spcPct val="100000"/>
              </a:lnSpc>
            </a:pPr>
            <a:r>
              <a:rPr sz="1800" dirty="0">
                <a:solidFill>
                  <a:srgbClr val="0000FF"/>
                </a:solidFill>
                <a:latin typeface="Arial"/>
                <a:cs typeface="Arial"/>
              </a:rPr>
              <a:t>ILSVRC</a:t>
            </a:r>
            <a:r>
              <a:rPr sz="1800" spc="-3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00FF"/>
                </a:solidFill>
                <a:latin typeface="Arial"/>
                <a:cs typeface="Arial"/>
              </a:rPr>
              <a:t>2014</a:t>
            </a:r>
            <a:r>
              <a:rPr sz="1800" spc="-1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00FF"/>
                </a:solidFill>
                <a:latin typeface="Arial"/>
                <a:cs typeface="Arial"/>
              </a:rPr>
              <a:t>winner</a:t>
            </a:r>
            <a:r>
              <a:rPr sz="1800" spc="-1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00FF"/>
                </a:solidFill>
                <a:latin typeface="Arial"/>
                <a:cs typeface="Arial"/>
              </a:rPr>
              <a:t>(6.7%</a:t>
            </a:r>
            <a:r>
              <a:rPr sz="1800" spc="-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00FF"/>
                </a:solidFill>
                <a:latin typeface="Arial"/>
                <a:cs typeface="Arial"/>
              </a:rPr>
              <a:t>top</a:t>
            </a:r>
            <a:r>
              <a:rPr sz="1800" spc="-1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00FF"/>
                </a:solidFill>
                <a:latin typeface="Arial"/>
                <a:cs typeface="Arial"/>
              </a:rPr>
              <a:t>5</a:t>
            </a:r>
            <a:r>
              <a:rPr sz="1800" spc="-1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0000FF"/>
                </a:solidFill>
                <a:latin typeface="Arial"/>
                <a:cs typeface="Arial"/>
              </a:rPr>
              <a:t>error)</a:t>
            </a:r>
            <a:endParaRPr sz="1800">
              <a:latin typeface="Arial"/>
              <a:cs typeface="Arial"/>
            </a:endParaRPr>
          </a:p>
        </p:txBody>
      </p:sp>
      <p:sp>
        <p:nvSpPr>
          <p:cNvPr id="11" name="object 10">
            <a:extLst>
              <a:ext uri="{FF2B5EF4-FFF2-40B4-BE49-F238E27FC236}">
                <a16:creationId xmlns:a16="http://schemas.microsoft.com/office/drawing/2014/main" id="{7ABC451E-B8D2-B14F-93F9-CCB4B104A82B}"/>
              </a:ext>
            </a:extLst>
          </p:cNvPr>
          <p:cNvSpPr txBox="1">
            <a:spLocks noGrp="1"/>
          </p:cNvSpPr>
          <p:nvPr>
            <p:ph type="dt" sz="half" idx="4294967295"/>
          </p:nvPr>
        </p:nvSpPr>
        <p:spPr>
          <a:xfrm>
            <a:off x="145224" y="4740846"/>
            <a:ext cx="4699000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lang="en-US" altLang="zh-CN" spc="-10" dirty="0">
                <a:solidFill>
                  <a:schemeClr val="bg1"/>
                </a:solidFill>
              </a:rPr>
              <a:t>Convolutional</a:t>
            </a:r>
            <a:r>
              <a:rPr lang="zh-CN" altLang="en-US" spc="-10" dirty="0">
                <a:solidFill>
                  <a:schemeClr val="bg1"/>
                </a:solidFill>
              </a:rPr>
              <a:t> </a:t>
            </a:r>
            <a:r>
              <a:rPr lang="en-US" altLang="zh-CN" spc="-10" dirty="0">
                <a:solidFill>
                  <a:schemeClr val="bg1"/>
                </a:solidFill>
              </a:rPr>
              <a:t>Neural</a:t>
            </a:r>
            <a:r>
              <a:rPr lang="zh-CN" altLang="en-US" spc="-10" dirty="0">
                <a:solidFill>
                  <a:schemeClr val="bg1"/>
                </a:solidFill>
              </a:rPr>
              <a:t> </a:t>
            </a:r>
            <a:r>
              <a:rPr lang="en-US" altLang="zh-CN" spc="-10" dirty="0">
                <a:solidFill>
                  <a:schemeClr val="bg1"/>
                </a:solidFill>
              </a:rPr>
              <a:t>Networks</a:t>
            </a:r>
            <a:endParaRPr spc="-1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661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/>
              <a:t>Case</a:t>
            </a:r>
            <a:r>
              <a:rPr sz="3000" spc="-25" dirty="0"/>
              <a:t> </a:t>
            </a:r>
            <a:r>
              <a:rPr sz="3000" dirty="0"/>
              <a:t>Study:</a:t>
            </a:r>
            <a:r>
              <a:rPr sz="3000" spc="-25" dirty="0"/>
              <a:t> </a:t>
            </a:r>
            <a:r>
              <a:rPr sz="3000" spc="-10" dirty="0"/>
              <a:t>GoogLeNet</a:t>
            </a:r>
            <a:endParaRPr sz="30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649" y="903673"/>
            <a:ext cx="6314655" cy="337319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530057" y="967553"/>
            <a:ext cx="2424430" cy="27857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264D12"/>
                </a:solidFill>
                <a:latin typeface="Arial"/>
                <a:cs typeface="Arial"/>
              </a:rPr>
              <a:t>Fun</a:t>
            </a:r>
            <a:r>
              <a:rPr sz="1800" spc="-15" dirty="0">
                <a:solidFill>
                  <a:srgbClr val="264D12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264D12"/>
                </a:solidFill>
                <a:latin typeface="Arial"/>
                <a:cs typeface="Arial"/>
              </a:rPr>
              <a:t>features: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5"/>
              </a:spcBef>
            </a:pPr>
            <a:endParaRPr sz="1800">
              <a:latin typeface="Arial"/>
              <a:cs typeface="Arial"/>
            </a:endParaRPr>
          </a:p>
          <a:p>
            <a:pPr marL="12700" marR="5080" indent="138430">
              <a:lnSpc>
                <a:spcPct val="100699"/>
              </a:lnSpc>
              <a:buChar char="-"/>
              <a:tabLst>
                <a:tab pos="151130" algn="l"/>
              </a:tabLst>
            </a:pPr>
            <a:r>
              <a:rPr sz="1800" dirty="0">
                <a:solidFill>
                  <a:srgbClr val="264D12"/>
                </a:solidFill>
                <a:latin typeface="Arial"/>
                <a:cs typeface="Arial"/>
              </a:rPr>
              <a:t>Only</a:t>
            </a:r>
            <a:r>
              <a:rPr sz="1800" spc="-15" dirty="0">
                <a:solidFill>
                  <a:srgbClr val="264D12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264D12"/>
                </a:solidFill>
                <a:latin typeface="Arial"/>
                <a:cs typeface="Arial"/>
              </a:rPr>
              <a:t>5</a:t>
            </a:r>
            <a:r>
              <a:rPr sz="1800" spc="-15" dirty="0">
                <a:solidFill>
                  <a:srgbClr val="264D12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264D12"/>
                </a:solidFill>
                <a:latin typeface="Arial"/>
                <a:cs typeface="Arial"/>
              </a:rPr>
              <a:t>million</a:t>
            </a:r>
            <a:r>
              <a:rPr sz="1800" spc="-15" dirty="0">
                <a:solidFill>
                  <a:srgbClr val="264D12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264D12"/>
                </a:solidFill>
                <a:latin typeface="Arial"/>
                <a:cs typeface="Arial"/>
              </a:rPr>
              <a:t>params! </a:t>
            </a:r>
            <a:r>
              <a:rPr sz="1800" dirty="0">
                <a:solidFill>
                  <a:srgbClr val="264D12"/>
                </a:solidFill>
                <a:latin typeface="Arial"/>
                <a:cs typeface="Arial"/>
              </a:rPr>
              <a:t>(Removes</a:t>
            </a:r>
            <a:r>
              <a:rPr sz="1800" spc="-20" dirty="0">
                <a:solidFill>
                  <a:srgbClr val="264D12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264D12"/>
                </a:solidFill>
                <a:latin typeface="Arial"/>
                <a:cs typeface="Arial"/>
              </a:rPr>
              <a:t>FC</a:t>
            </a:r>
            <a:r>
              <a:rPr sz="1800" spc="-20" dirty="0">
                <a:solidFill>
                  <a:srgbClr val="264D12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264D12"/>
                </a:solidFill>
                <a:latin typeface="Arial"/>
                <a:cs typeface="Arial"/>
              </a:rPr>
              <a:t>layers completely)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0"/>
              </a:spcBef>
              <a:buClr>
                <a:srgbClr val="264D12"/>
              </a:buClr>
              <a:buFont typeface="Arial"/>
              <a:buChar char="-"/>
            </a:pP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800" b="1" dirty="0">
                <a:solidFill>
                  <a:srgbClr val="264D12"/>
                </a:solidFill>
                <a:latin typeface="Arial"/>
                <a:cs typeface="Arial"/>
              </a:rPr>
              <a:t>Compared</a:t>
            </a:r>
            <a:r>
              <a:rPr sz="1800" b="1" spc="-35" dirty="0">
                <a:solidFill>
                  <a:srgbClr val="264D12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264D12"/>
                </a:solidFill>
                <a:latin typeface="Arial"/>
                <a:cs typeface="Arial"/>
              </a:rPr>
              <a:t>to</a:t>
            </a:r>
            <a:r>
              <a:rPr sz="1800" b="1" spc="-35" dirty="0">
                <a:solidFill>
                  <a:srgbClr val="264D12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264D12"/>
                </a:solidFill>
                <a:latin typeface="Arial"/>
                <a:cs typeface="Arial"/>
              </a:rPr>
              <a:t>AlexNet:</a:t>
            </a:r>
            <a:endParaRPr sz="1800">
              <a:latin typeface="Arial"/>
              <a:cs typeface="Arial"/>
            </a:endParaRPr>
          </a:p>
          <a:p>
            <a:pPr marL="151130" indent="-138430">
              <a:lnSpc>
                <a:spcPct val="100000"/>
              </a:lnSpc>
              <a:spcBef>
                <a:spcPts val="15"/>
              </a:spcBef>
              <a:buChar char="-"/>
              <a:tabLst>
                <a:tab pos="151130" algn="l"/>
              </a:tabLst>
            </a:pPr>
            <a:r>
              <a:rPr sz="1800" dirty="0">
                <a:solidFill>
                  <a:srgbClr val="264D12"/>
                </a:solidFill>
                <a:latin typeface="Arial"/>
                <a:cs typeface="Arial"/>
              </a:rPr>
              <a:t>12X</a:t>
            </a:r>
            <a:r>
              <a:rPr sz="1800" spc="-20" dirty="0">
                <a:solidFill>
                  <a:srgbClr val="264D12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264D12"/>
                </a:solidFill>
                <a:latin typeface="Arial"/>
                <a:cs typeface="Arial"/>
              </a:rPr>
              <a:t>less</a:t>
            </a:r>
            <a:r>
              <a:rPr sz="1800" spc="-10" dirty="0">
                <a:solidFill>
                  <a:srgbClr val="264D12"/>
                </a:solidFill>
                <a:latin typeface="Arial"/>
                <a:cs typeface="Arial"/>
              </a:rPr>
              <a:t> params</a:t>
            </a:r>
            <a:endParaRPr sz="1800">
              <a:latin typeface="Arial"/>
              <a:cs typeface="Arial"/>
            </a:endParaRPr>
          </a:p>
          <a:p>
            <a:pPr marL="151130" indent="-138430">
              <a:lnSpc>
                <a:spcPct val="100000"/>
              </a:lnSpc>
              <a:spcBef>
                <a:spcPts val="15"/>
              </a:spcBef>
              <a:buChar char="-"/>
              <a:tabLst>
                <a:tab pos="151130" algn="l"/>
              </a:tabLst>
            </a:pPr>
            <a:r>
              <a:rPr sz="1800" dirty="0">
                <a:solidFill>
                  <a:srgbClr val="264D12"/>
                </a:solidFill>
                <a:latin typeface="Arial"/>
                <a:cs typeface="Arial"/>
              </a:rPr>
              <a:t>2x</a:t>
            </a:r>
            <a:r>
              <a:rPr sz="1800" spc="-15" dirty="0">
                <a:solidFill>
                  <a:srgbClr val="264D12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264D12"/>
                </a:solidFill>
                <a:latin typeface="Arial"/>
                <a:cs typeface="Arial"/>
              </a:rPr>
              <a:t>more</a:t>
            </a:r>
            <a:r>
              <a:rPr sz="1800" spc="-10" dirty="0">
                <a:solidFill>
                  <a:srgbClr val="264D12"/>
                </a:solidFill>
                <a:latin typeface="Arial"/>
                <a:cs typeface="Arial"/>
              </a:rPr>
              <a:t> compute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dirty="0">
                <a:solidFill>
                  <a:srgbClr val="264D12"/>
                </a:solidFill>
                <a:latin typeface="Arial"/>
                <a:cs typeface="Arial"/>
              </a:rPr>
              <a:t>-</a:t>
            </a:r>
            <a:r>
              <a:rPr sz="1800" spc="-30" dirty="0">
                <a:solidFill>
                  <a:srgbClr val="264D12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264D12"/>
                </a:solidFill>
                <a:latin typeface="Arial"/>
                <a:cs typeface="Arial"/>
              </a:rPr>
              <a:t>6.67%</a:t>
            </a:r>
            <a:r>
              <a:rPr sz="1800" spc="-30" dirty="0">
                <a:solidFill>
                  <a:srgbClr val="264D12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264D12"/>
                </a:solidFill>
                <a:latin typeface="Arial"/>
                <a:cs typeface="Arial"/>
              </a:rPr>
              <a:t>(vs.</a:t>
            </a:r>
            <a:r>
              <a:rPr sz="1800" spc="-25" dirty="0">
                <a:solidFill>
                  <a:srgbClr val="264D12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264D12"/>
                </a:solidFill>
                <a:latin typeface="Arial"/>
                <a:cs typeface="Arial"/>
              </a:rPr>
              <a:t>16.4%)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10">
            <a:extLst>
              <a:ext uri="{FF2B5EF4-FFF2-40B4-BE49-F238E27FC236}">
                <a16:creationId xmlns:a16="http://schemas.microsoft.com/office/drawing/2014/main" id="{5CF3FE81-C6CE-B54F-8DA2-E465CDC7023A}"/>
              </a:ext>
            </a:extLst>
          </p:cNvPr>
          <p:cNvSpPr txBox="1">
            <a:spLocks noGrp="1"/>
          </p:cNvSpPr>
          <p:nvPr>
            <p:ph type="dt" sz="half" idx="4294967295"/>
          </p:nvPr>
        </p:nvSpPr>
        <p:spPr>
          <a:xfrm>
            <a:off x="145224" y="4740846"/>
            <a:ext cx="4699000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lang="en-US" altLang="zh-CN" spc="-10" dirty="0">
                <a:solidFill>
                  <a:schemeClr val="bg1"/>
                </a:solidFill>
              </a:rPr>
              <a:t>Convolutional</a:t>
            </a:r>
            <a:r>
              <a:rPr lang="zh-CN" altLang="en-US" spc="-10" dirty="0">
                <a:solidFill>
                  <a:schemeClr val="bg1"/>
                </a:solidFill>
              </a:rPr>
              <a:t> </a:t>
            </a:r>
            <a:r>
              <a:rPr lang="en-US" altLang="zh-CN" spc="-10" dirty="0">
                <a:solidFill>
                  <a:schemeClr val="bg1"/>
                </a:solidFill>
              </a:rPr>
              <a:t>Neural</a:t>
            </a:r>
            <a:r>
              <a:rPr lang="zh-CN" altLang="en-US" spc="-10" dirty="0">
                <a:solidFill>
                  <a:schemeClr val="bg1"/>
                </a:solidFill>
              </a:rPr>
              <a:t> </a:t>
            </a:r>
            <a:r>
              <a:rPr lang="en-US" altLang="zh-CN" spc="-10" dirty="0">
                <a:solidFill>
                  <a:schemeClr val="bg1"/>
                </a:solidFill>
              </a:rPr>
              <a:t>Networks</a:t>
            </a:r>
            <a:endParaRPr spc="-1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9498" y="4256399"/>
            <a:ext cx="743902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"/>
                <a:cs typeface="Arial"/>
              </a:rPr>
              <a:t>Slide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from</a:t>
            </a:r>
            <a:r>
              <a:rPr sz="1400" spc="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Kaiming He’s</a:t>
            </a:r>
            <a:r>
              <a:rPr sz="1400" spc="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recent</a:t>
            </a:r>
            <a:r>
              <a:rPr sz="1400" spc="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presentation</a:t>
            </a:r>
            <a:r>
              <a:rPr sz="1400" spc="15" dirty="0">
                <a:latin typeface="Arial"/>
                <a:cs typeface="Arial"/>
              </a:rPr>
              <a:t> </a:t>
            </a:r>
            <a:r>
              <a:rPr sz="1400" u="heavy" spc="-10" dirty="0">
                <a:solidFill>
                  <a:srgbClr val="1154CC"/>
                </a:solidFill>
                <a:uFill>
                  <a:solidFill>
                    <a:srgbClr val="1154CC"/>
                  </a:solidFill>
                </a:uFill>
                <a:latin typeface="Arial"/>
                <a:cs typeface="Arial"/>
                <a:hlinkClick r:id="rId2"/>
              </a:rPr>
              <a:t>https://www.youtube.com/watch?v=1PGLj-uKT1w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244847" y="921198"/>
            <a:ext cx="5660390" cy="3195320"/>
            <a:chOff x="1244847" y="921198"/>
            <a:chExt cx="5660390" cy="319532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54372" y="930748"/>
              <a:ext cx="5641113" cy="3175993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249609" y="925960"/>
              <a:ext cx="5650865" cy="3185795"/>
            </a:xfrm>
            <a:custGeom>
              <a:avLst/>
              <a:gdLst/>
              <a:ahLst/>
              <a:cxnLst/>
              <a:rect l="l" t="t" r="r" b="b"/>
              <a:pathLst>
                <a:path w="5650865" h="3185795">
                  <a:moveTo>
                    <a:pt x="0" y="0"/>
                  </a:moveTo>
                  <a:lnTo>
                    <a:pt x="5650651" y="0"/>
                  </a:lnTo>
                  <a:lnTo>
                    <a:pt x="5650651" y="3185531"/>
                  </a:lnTo>
                  <a:lnTo>
                    <a:pt x="0" y="3185531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139498" y="137084"/>
            <a:ext cx="347281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/>
              <a:t>Case</a:t>
            </a:r>
            <a:r>
              <a:rPr sz="3000" spc="-25" dirty="0"/>
              <a:t> </a:t>
            </a:r>
            <a:r>
              <a:rPr sz="3000" dirty="0"/>
              <a:t>Study:</a:t>
            </a:r>
            <a:r>
              <a:rPr sz="3000" spc="-25" dirty="0"/>
              <a:t> </a:t>
            </a:r>
            <a:r>
              <a:rPr sz="3000" spc="-10" dirty="0"/>
              <a:t>ResNet</a:t>
            </a:r>
            <a:endParaRPr sz="3000"/>
          </a:p>
        </p:txBody>
      </p:sp>
      <p:sp>
        <p:nvSpPr>
          <p:cNvPr id="7" name="object 7"/>
          <p:cNvSpPr txBox="1"/>
          <p:nvPr/>
        </p:nvSpPr>
        <p:spPr>
          <a:xfrm>
            <a:off x="4756562" y="177572"/>
            <a:ext cx="4013835" cy="635635"/>
          </a:xfrm>
          <a:prstGeom prst="rect">
            <a:avLst/>
          </a:prstGeom>
        </p:spPr>
        <p:txBody>
          <a:bodyPr vert="horz" wrap="square" lIns="0" tIns="66040" rIns="0" bIns="0" rtlCol="0">
            <a:spAutoFit/>
          </a:bodyPr>
          <a:lstStyle/>
          <a:p>
            <a:pPr marL="40640">
              <a:lnSpc>
                <a:spcPct val="100000"/>
              </a:lnSpc>
              <a:spcBef>
                <a:spcPts val="520"/>
              </a:spcBef>
            </a:pPr>
            <a:r>
              <a:rPr sz="1400" i="1" dirty="0">
                <a:latin typeface="Arial"/>
                <a:cs typeface="Arial"/>
              </a:rPr>
              <a:t>[He</a:t>
            </a:r>
            <a:r>
              <a:rPr sz="1400" i="1" spc="-15" dirty="0">
                <a:latin typeface="Arial"/>
                <a:cs typeface="Arial"/>
              </a:rPr>
              <a:t> </a:t>
            </a:r>
            <a:r>
              <a:rPr sz="1400" i="1" dirty="0">
                <a:latin typeface="Arial"/>
                <a:cs typeface="Arial"/>
              </a:rPr>
              <a:t>et</a:t>
            </a:r>
            <a:r>
              <a:rPr sz="1400" i="1" spc="-15" dirty="0">
                <a:latin typeface="Arial"/>
                <a:cs typeface="Arial"/>
              </a:rPr>
              <a:t> </a:t>
            </a:r>
            <a:r>
              <a:rPr sz="1400" i="1" dirty="0">
                <a:latin typeface="Arial"/>
                <a:cs typeface="Arial"/>
              </a:rPr>
              <a:t>al.,</a:t>
            </a:r>
            <a:r>
              <a:rPr sz="1400" i="1" spc="-15" dirty="0">
                <a:latin typeface="Arial"/>
                <a:cs typeface="Arial"/>
              </a:rPr>
              <a:t> </a:t>
            </a:r>
            <a:r>
              <a:rPr sz="1400" i="1" spc="-10" dirty="0">
                <a:latin typeface="Arial"/>
                <a:cs typeface="Arial"/>
              </a:rPr>
              <a:t>2015]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sz="1800" dirty="0">
                <a:solidFill>
                  <a:srgbClr val="0000FF"/>
                </a:solidFill>
                <a:latin typeface="Arial"/>
                <a:cs typeface="Arial"/>
              </a:rPr>
              <a:t>ILSVRC</a:t>
            </a:r>
            <a:r>
              <a:rPr sz="1800" spc="-3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00FF"/>
                </a:solidFill>
                <a:latin typeface="Arial"/>
                <a:cs typeface="Arial"/>
              </a:rPr>
              <a:t>2015</a:t>
            </a:r>
            <a:r>
              <a:rPr sz="1800" spc="-1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00FF"/>
                </a:solidFill>
                <a:latin typeface="Arial"/>
                <a:cs typeface="Arial"/>
              </a:rPr>
              <a:t>winner</a:t>
            </a:r>
            <a:r>
              <a:rPr sz="1800" spc="-1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00FF"/>
                </a:solidFill>
                <a:latin typeface="Arial"/>
                <a:cs typeface="Arial"/>
              </a:rPr>
              <a:t>(3.6%</a:t>
            </a:r>
            <a:r>
              <a:rPr sz="1800" spc="-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00FF"/>
                </a:solidFill>
                <a:latin typeface="Arial"/>
                <a:cs typeface="Arial"/>
              </a:rPr>
              <a:t>top</a:t>
            </a:r>
            <a:r>
              <a:rPr sz="1800" spc="-1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00FF"/>
                </a:solidFill>
                <a:latin typeface="Arial"/>
                <a:cs typeface="Arial"/>
              </a:rPr>
              <a:t>5</a:t>
            </a:r>
            <a:r>
              <a:rPr sz="1800" spc="-1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0000FF"/>
                </a:solidFill>
                <a:latin typeface="Arial"/>
                <a:cs typeface="Arial"/>
              </a:rPr>
              <a:t>error)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" name="object 10">
            <a:extLst>
              <a:ext uri="{FF2B5EF4-FFF2-40B4-BE49-F238E27FC236}">
                <a16:creationId xmlns:a16="http://schemas.microsoft.com/office/drawing/2014/main" id="{94C83F08-370A-594A-B503-E3CE876ED33A}"/>
              </a:ext>
            </a:extLst>
          </p:cNvPr>
          <p:cNvSpPr txBox="1">
            <a:spLocks noGrp="1"/>
          </p:cNvSpPr>
          <p:nvPr>
            <p:ph type="dt" sz="half" idx="4294967295"/>
          </p:nvPr>
        </p:nvSpPr>
        <p:spPr>
          <a:xfrm>
            <a:off x="145224" y="4740846"/>
            <a:ext cx="4699000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lang="en-US" altLang="zh-CN" spc="-10" dirty="0">
                <a:solidFill>
                  <a:schemeClr val="bg1"/>
                </a:solidFill>
              </a:rPr>
              <a:t>Convolutional</a:t>
            </a:r>
            <a:r>
              <a:rPr lang="zh-CN" altLang="en-US" spc="-10" dirty="0">
                <a:solidFill>
                  <a:schemeClr val="bg1"/>
                </a:solidFill>
              </a:rPr>
              <a:t> </a:t>
            </a:r>
            <a:r>
              <a:rPr lang="en-US" altLang="zh-CN" spc="-10" dirty="0">
                <a:solidFill>
                  <a:schemeClr val="bg1"/>
                </a:solidFill>
              </a:rPr>
              <a:t>Neural</a:t>
            </a:r>
            <a:r>
              <a:rPr lang="zh-CN" altLang="en-US" spc="-10" dirty="0">
                <a:solidFill>
                  <a:schemeClr val="bg1"/>
                </a:solidFill>
              </a:rPr>
              <a:t> </a:t>
            </a:r>
            <a:r>
              <a:rPr lang="en-US" altLang="zh-CN" spc="-10" dirty="0">
                <a:solidFill>
                  <a:schemeClr val="bg1"/>
                </a:solidFill>
              </a:rPr>
              <a:t>Networks</a:t>
            </a:r>
            <a:endParaRPr spc="-1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41948" y="159799"/>
            <a:ext cx="7144384" cy="4018915"/>
            <a:chOff x="841948" y="159799"/>
            <a:chExt cx="7144384" cy="401891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1473" y="169324"/>
              <a:ext cx="7125060" cy="3999441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846710" y="164562"/>
              <a:ext cx="7134859" cy="4009390"/>
            </a:xfrm>
            <a:custGeom>
              <a:avLst/>
              <a:gdLst/>
              <a:ahLst/>
              <a:cxnLst/>
              <a:rect l="l" t="t" r="r" b="b"/>
              <a:pathLst>
                <a:path w="7134859" h="4009390">
                  <a:moveTo>
                    <a:pt x="0" y="0"/>
                  </a:moveTo>
                  <a:lnTo>
                    <a:pt x="7134573" y="0"/>
                  </a:lnTo>
                  <a:lnTo>
                    <a:pt x="7134573" y="4008954"/>
                  </a:lnTo>
                  <a:lnTo>
                    <a:pt x="0" y="4008954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1272848" y="4262752"/>
            <a:ext cx="358140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"/>
                <a:cs typeface="Arial"/>
              </a:rPr>
              <a:t>(slide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from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Kaiming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He’s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recent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presentation)</a:t>
            </a:r>
            <a:endParaRPr sz="1400">
              <a:latin typeface="Arial"/>
              <a:cs typeface="Arial"/>
            </a:endParaRPr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93337905-9C90-6B46-8481-3C5E2CD9E762}"/>
              </a:ext>
            </a:extLst>
          </p:cNvPr>
          <p:cNvSpPr txBox="1">
            <a:spLocks noGrp="1"/>
          </p:cNvSpPr>
          <p:nvPr>
            <p:ph type="dt" sz="half" idx="4294967295"/>
          </p:nvPr>
        </p:nvSpPr>
        <p:spPr>
          <a:xfrm>
            <a:off x="145224" y="4740846"/>
            <a:ext cx="4699000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lang="en-US" altLang="zh-CN" spc="-10" dirty="0">
                <a:solidFill>
                  <a:schemeClr val="bg1"/>
                </a:solidFill>
              </a:rPr>
              <a:t>Convolutional</a:t>
            </a:r>
            <a:r>
              <a:rPr lang="zh-CN" altLang="en-US" spc="-10" dirty="0">
                <a:solidFill>
                  <a:schemeClr val="bg1"/>
                </a:solidFill>
              </a:rPr>
              <a:t> </a:t>
            </a:r>
            <a:r>
              <a:rPr lang="en-US" altLang="zh-CN" spc="-10" dirty="0">
                <a:solidFill>
                  <a:schemeClr val="bg1"/>
                </a:solidFill>
              </a:rPr>
              <a:t>Neural</a:t>
            </a:r>
            <a:r>
              <a:rPr lang="zh-CN" altLang="en-US" spc="-10" dirty="0">
                <a:solidFill>
                  <a:schemeClr val="bg1"/>
                </a:solidFill>
              </a:rPr>
              <a:t> </a:t>
            </a:r>
            <a:r>
              <a:rPr lang="en-US" altLang="zh-CN" spc="-10" dirty="0">
                <a:solidFill>
                  <a:schemeClr val="bg1"/>
                </a:solidFill>
              </a:rPr>
              <a:t>Networks</a:t>
            </a:r>
            <a:endParaRPr spc="-1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753557"/>
            <a:ext cx="9029477" cy="3214302"/>
          </a:xfrm>
          <a:prstGeom prst="rect">
            <a:avLst/>
          </a:prstGeom>
        </p:spPr>
      </p:pic>
      <p:sp>
        <p:nvSpPr>
          <p:cNvPr id="7" name="object 10">
            <a:extLst>
              <a:ext uri="{FF2B5EF4-FFF2-40B4-BE49-F238E27FC236}">
                <a16:creationId xmlns:a16="http://schemas.microsoft.com/office/drawing/2014/main" id="{6588A85E-2606-E048-91DF-670B0C0A6C36}"/>
              </a:ext>
            </a:extLst>
          </p:cNvPr>
          <p:cNvSpPr txBox="1">
            <a:spLocks noGrp="1"/>
          </p:cNvSpPr>
          <p:nvPr>
            <p:ph type="dt" sz="half" idx="4294967295"/>
          </p:nvPr>
        </p:nvSpPr>
        <p:spPr>
          <a:xfrm>
            <a:off x="145224" y="4740846"/>
            <a:ext cx="4699000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lang="en-US" altLang="zh-CN" spc="-10" dirty="0">
                <a:solidFill>
                  <a:schemeClr val="bg1"/>
                </a:solidFill>
              </a:rPr>
              <a:t>Convolutional</a:t>
            </a:r>
            <a:r>
              <a:rPr lang="zh-CN" altLang="en-US" spc="-10" dirty="0">
                <a:solidFill>
                  <a:schemeClr val="bg1"/>
                </a:solidFill>
              </a:rPr>
              <a:t> </a:t>
            </a:r>
            <a:r>
              <a:rPr lang="en-US" altLang="zh-CN" spc="-10" dirty="0">
                <a:solidFill>
                  <a:schemeClr val="bg1"/>
                </a:solidFill>
              </a:rPr>
              <a:t>Neural</a:t>
            </a:r>
            <a:r>
              <a:rPr lang="zh-CN" altLang="en-US" spc="-10" dirty="0">
                <a:solidFill>
                  <a:schemeClr val="bg1"/>
                </a:solidFill>
              </a:rPr>
              <a:t> </a:t>
            </a:r>
            <a:r>
              <a:rPr lang="en-US" altLang="zh-CN" spc="-10" dirty="0">
                <a:solidFill>
                  <a:schemeClr val="bg1"/>
                </a:solidFill>
              </a:rPr>
              <a:t>Networks</a:t>
            </a:r>
            <a:endParaRPr spc="-1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39498" y="137084"/>
            <a:ext cx="347281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/>
              <a:t>Case</a:t>
            </a:r>
            <a:r>
              <a:rPr sz="3000" spc="-25" dirty="0"/>
              <a:t> </a:t>
            </a:r>
            <a:r>
              <a:rPr sz="3000" dirty="0"/>
              <a:t>Study:</a:t>
            </a:r>
            <a:r>
              <a:rPr sz="3000" spc="-25" dirty="0"/>
              <a:t> </a:t>
            </a:r>
            <a:r>
              <a:rPr sz="3000" spc="-10" dirty="0"/>
              <a:t>ResNet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4756562" y="177572"/>
            <a:ext cx="4013835" cy="635635"/>
          </a:xfrm>
          <a:prstGeom prst="rect">
            <a:avLst/>
          </a:prstGeom>
        </p:spPr>
        <p:txBody>
          <a:bodyPr vert="horz" wrap="square" lIns="0" tIns="66040" rIns="0" bIns="0" rtlCol="0">
            <a:spAutoFit/>
          </a:bodyPr>
          <a:lstStyle/>
          <a:p>
            <a:pPr marL="40640">
              <a:lnSpc>
                <a:spcPct val="100000"/>
              </a:lnSpc>
              <a:spcBef>
                <a:spcPts val="520"/>
              </a:spcBef>
            </a:pPr>
            <a:r>
              <a:rPr sz="1400" i="1" dirty="0">
                <a:latin typeface="Arial"/>
                <a:cs typeface="Arial"/>
              </a:rPr>
              <a:t>[He</a:t>
            </a:r>
            <a:r>
              <a:rPr sz="1400" i="1" spc="-15" dirty="0">
                <a:latin typeface="Arial"/>
                <a:cs typeface="Arial"/>
              </a:rPr>
              <a:t> </a:t>
            </a:r>
            <a:r>
              <a:rPr sz="1400" i="1" dirty="0">
                <a:latin typeface="Arial"/>
                <a:cs typeface="Arial"/>
              </a:rPr>
              <a:t>et</a:t>
            </a:r>
            <a:r>
              <a:rPr sz="1400" i="1" spc="-15" dirty="0">
                <a:latin typeface="Arial"/>
                <a:cs typeface="Arial"/>
              </a:rPr>
              <a:t> </a:t>
            </a:r>
            <a:r>
              <a:rPr sz="1400" i="1" dirty="0">
                <a:latin typeface="Arial"/>
                <a:cs typeface="Arial"/>
              </a:rPr>
              <a:t>al.,</a:t>
            </a:r>
            <a:r>
              <a:rPr sz="1400" i="1" spc="-15" dirty="0">
                <a:latin typeface="Arial"/>
                <a:cs typeface="Arial"/>
              </a:rPr>
              <a:t> </a:t>
            </a:r>
            <a:r>
              <a:rPr sz="1400" i="1" spc="-10" dirty="0">
                <a:latin typeface="Arial"/>
                <a:cs typeface="Arial"/>
              </a:rPr>
              <a:t>2015]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sz="1800" dirty="0">
                <a:solidFill>
                  <a:srgbClr val="0000FF"/>
                </a:solidFill>
                <a:latin typeface="Arial"/>
                <a:cs typeface="Arial"/>
              </a:rPr>
              <a:t>ILSVRC</a:t>
            </a:r>
            <a:r>
              <a:rPr sz="1800" spc="-3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00FF"/>
                </a:solidFill>
                <a:latin typeface="Arial"/>
                <a:cs typeface="Arial"/>
              </a:rPr>
              <a:t>2015</a:t>
            </a:r>
            <a:r>
              <a:rPr sz="1800" spc="-1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00FF"/>
                </a:solidFill>
                <a:latin typeface="Arial"/>
                <a:cs typeface="Arial"/>
              </a:rPr>
              <a:t>winner</a:t>
            </a:r>
            <a:r>
              <a:rPr sz="1800" spc="-1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00FF"/>
                </a:solidFill>
                <a:latin typeface="Arial"/>
                <a:cs typeface="Arial"/>
              </a:rPr>
              <a:t>(3.6%</a:t>
            </a:r>
            <a:r>
              <a:rPr sz="1800" spc="-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00FF"/>
                </a:solidFill>
                <a:latin typeface="Arial"/>
                <a:cs typeface="Arial"/>
              </a:rPr>
              <a:t>top</a:t>
            </a:r>
            <a:r>
              <a:rPr sz="1800" spc="-1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00FF"/>
                </a:solidFill>
                <a:latin typeface="Arial"/>
                <a:cs typeface="Arial"/>
              </a:rPr>
              <a:t>5</a:t>
            </a:r>
            <a:r>
              <a:rPr sz="1800" spc="-1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0000FF"/>
                </a:solidFill>
                <a:latin typeface="Arial"/>
                <a:cs typeface="Arial"/>
              </a:rPr>
              <a:t>error)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792573" y="913898"/>
            <a:ext cx="5892165" cy="3315970"/>
            <a:chOff x="792573" y="913898"/>
            <a:chExt cx="5892165" cy="331597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02098" y="923423"/>
              <a:ext cx="5873013" cy="3296643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797335" y="918660"/>
              <a:ext cx="5882640" cy="3306445"/>
            </a:xfrm>
            <a:custGeom>
              <a:avLst/>
              <a:gdLst/>
              <a:ahLst/>
              <a:cxnLst/>
              <a:rect l="l" t="t" r="r" b="b"/>
              <a:pathLst>
                <a:path w="5882640" h="3306445">
                  <a:moveTo>
                    <a:pt x="0" y="0"/>
                  </a:moveTo>
                  <a:lnTo>
                    <a:pt x="5882550" y="0"/>
                  </a:lnTo>
                  <a:lnTo>
                    <a:pt x="5882550" y="3306155"/>
                  </a:lnTo>
                  <a:lnTo>
                    <a:pt x="0" y="3306155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272848" y="4262752"/>
            <a:ext cx="358140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"/>
                <a:cs typeface="Arial"/>
              </a:rPr>
              <a:t>(slide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from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Kaiming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He’s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recent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presentation)</a:t>
            </a:r>
            <a:endParaRPr sz="14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792831" y="987303"/>
            <a:ext cx="2133600" cy="223329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>
              <a:lnSpc>
                <a:spcPct val="100699"/>
              </a:lnSpc>
              <a:spcBef>
                <a:spcPts val="85"/>
              </a:spcBef>
            </a:pPr>
            <a:r>
              <a:rPr sz="1800" spc="-10" dirty="0">
                <a:latin typeface="Arial"/>
                <a:cs typeface="Arial"/>
              </a:rPr>
              <a:t>2-</a:t>
            </a:r>
            <a:r>
              <a:rPr sz="1800" dirty="0">
                <a:latin typeface="Arial"/>
                <a:cs typeface="Arial"/>
              </a:rPr>
              <a:t>3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weeks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of </a:t>
            </a:r>
            <a:r>
              <a:rPr sz="1800" spc="-10" dirty="0">
                <a:latin typeface="Arial"/>
                <a:cs typeface="Arial"/>
              </a:rPr>
              <a:t>training </a:t>
            </a:r>
            <a:r>
              <a:rPr sz="1800" dirty="0">
                <a:latin typeface="Arial"/>
                <a:cs typeface="Arial"/>
              </a:rPr>
              <a:t>on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8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GPU</a:t>
            </a:r>
            <a:r>
              <a:rPr sz="1800" spc="-10" dirty="0">
                <a:latin typeface="Arial"/>
                <a:cs typeface="Arial"/>
              </a:rPr>
              <a:t> machine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10"/>
              </a:spcBef>
            </a:pPr>
            <a:endParaRPr sz="1800">
              <a:latin typeface="Arial"/>
              <a:cs typeface="Arial"/>
            </a:endParaRPr>
          </a:p>
          <a:p>
            <a:pPr marL="12700" marR="169545">
              <a:lnSpc>
                <a:spcPct val="100699"/>
              </a:lnSpc>
            </a:pPr>
            <a:r>
              <a:rPr sz="1800" dirty="0">
                <a:latin typeface="Arial"/>
                <a:cs typeface="Arial"/>
              </a:rPr>
              <a:t>at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runtime: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faster </a:t>
            </a:r>
            <a:r>
              <a:rPr sz="1800" dirty="0">
                <a:latin typeface="Arial"/>
                <a:cs typeface="Arial"/>
              </a:rPr>
              <a:t>than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</a:t>
            </a:r>
            <a:r>
              <a:rPr sz="1800" spc="-10" dirty="0">
                <a:latin typeface="Arial"/>
                <a:cs typeface="Arial"/>
              </a:rPr>
              <a:t> VGGNet! </a:t>
            </a:r>
            <a:r>
              <a:rPr sz="1800" dirty="0">
                <a:latin typeface="Arial"/>
                <a:cs typeface="Arial"/>
              </a:rPr>
              <a:t>(even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though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it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has </a:t>
            </a:r>
            <a:r>
              <a:rPr sz="1800" dirty="0">
                <a:latin typeface="Arial"/>
                <a:cs typeface="Arial"/>
              </a:rPr>
              <a:t>8x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more</a:t>
            </a:r>
            <a:r>
              <a:rPr sz="1800" spc="-10" dirty="0">
                <a:latin typeface="Arial"/>
                <a:cs typeface="Arial"/>
              </a:rPr>
              <a:t> layers)</a:t>
            </a:r>
            <a:endParaRPr sz="1800">
              <a:latin typeface="Arial"/>
              <a:cs typeface="Arial"/>
            </a:endParaRPr>
          </a:p>
        </p:txBody>
      </p:sp>
      <p:sp>
        <p:nvSpPr>
          <p:cNvPr id="13" name="object 10">
            <a:extLst>
              <a:ext uri="{FF2B5EF4-FFF2-40B4-BE49-F238E27FC236}">
                <a16:creationId xmlns:a16="http://schemas.microsoft.com/office/drawing/2014/main" id="{A81A0076-5A80-9341-BDAA-B84315AFCB8F}"/>
              </a:ext>
            </a:extLst>
          </p:cNvPr>
          <p:cNvSpPr txBox="1">
            <a:spLocks noGrp="1"/>
          </p:cNvSpPr>
          <p:nvPr>
            <p:ph type="dt" sz="half" idx="4294967295"/>
          </p:nvPr>
        </p:nvSpPr>
        <p:spPr>
          <a:xfrm>
            <a:off x="145224" y="4740846"/>
            <a:ext cx="4699000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lang="en-US" altLang="zh-CN" spc="-10" dirty="0">
                <a:solidFill>
                  <a:schemeClr val="bg1"/>
                </a:solidFill>
              </a:rPr>
              <a:t>Convolutional</a:t>
            </a:r>
            <a:r>
              <a:rPr lang="zh-CN" altLang="en-US" spc="-10" dirty="0">
                <a:solidFill>
                  <a:schemeClr val="bg1"/>
                </a:solidFill>
              </a:rPr>
              <a:t> </a:t>
            </a:r>
            <a:r>
              <a:rPr lang="en-US" altLang="zh-CN" spc="-10" dirty="0">
                <a:solidFill>
                  <a:schemeClr val="bg1"/>
                </a:solidFill>
              </a:rPr>
              <a:t>Neural</a:t>
            </a:r>
            <a:r>
              <a:rPr lang="zh-CN" altLang="en-US" spc="-10" dirty="0">
                <a:solidFill>
                  <a:schemeClr val="bg1"/>
                </a:solidFill>
              </a:rPr>
              <a:t> </a:t>
            </a:r>
            <a:r>
              <a:rPr lang="en-US" altLang="zh-CN" spc="-10" dirty="0">
                <a:solidFill>
                  <a:schemeClr val="bg1"/>
                </a:solidFill>
              </a:rPr>
              <a:t>Networks</a:t>
            </a:r>
            <a:endParaRPr spc="-1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2149" y="181834"/>
            <a:ext cx="209867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3000" dirty="0"/>
              <a:t>Case</a:t>
            </a:r>
            <a:r>
              <a:rPr sz="3000" spc="-20" dirty="0"/>
              <a:t> </a:t>
            </a:r>
            <a:r>
              <a:rPr sz="3000" spc="-10" dirty="0"/>
              <a:t>Study: ResNet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182149" y="1304655"/>
            <a:ext cx="127889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i="1" dirty="0">
                <a:latin typeface="Arial"/>
                <a:cs typeface="Arial"/>
              </a:rPr>
              <a:t>[He</a:t>
            </a:r>
            <a:r>
              <a:rPr sz="1400" i="1" spc="-15" dirty="0">
                <a:latin typeface="Arial"/>
                <a:cs typeface="Arial"/>
              </a:rPr>
              <a:t> </a:t>
            </a:r>
            <a:r>
              <a:rPr sz="1400" i="1" dirty="0">
                <a:latin typeface="Arial"/>
                <a:cs typeface="Arial"/>
              </a:rPr>
              <a:t>et</a:t>
            </a:r>
            <a:r>
              <a:rPr sz="1400" i="1" spc="-15" dirty="0">
                <a:latin typeface="Arial"/>
                <a:cs typeface="Arial"/>
              </a:rPr>
              <a:t> </a:t>
            </a:r>
            <a:r>
              <a:rPr sz="1400" i="1" dirty="0">
                <a:latin typeface="Arial"/>
                <a:cs typeface="Arial"/>
              </a:rPr>
              <a:t>al.,</a:t>
            </a:r>
            <a:r>
              <a:rPr sz="1400" i="1" spc="-15" dirty="0">
                <a:latin typeface="Arial"/>
                <a:cs typeface="Arial"/>
              </a:rPr>
              <a:t> </a:t>
            </a:r>
            <a:r>
              <a:rPr sz="1400" i="1" spc="-10" dirty="0">
                <a:latin typeface="Arial"/>
                <a:cs typeface="Arial"/>
              </a:rPr>
              <a:t>2015]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20320" y="161349"/>
            <a:ext cx="2722558" cy="4339066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501569" y="683261"/>
            <a:ext cx="89535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Arial"/>
                <a:cs typeface="Arial"/>
              </a:rPr>
              <a:t>224x224x3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4620903" y="1515069"/>
            <a:ext cx="1973580" cy="511809"/>
            <a:chOff x="4620903" y="1515069"/>
            <a:chExt cx="1973580" cy="511809"/>
          </a:xfrm>
        </p:grpSpPr>
        <p:sp>
          <p:nvSpPr>
            <p:cNvPr id="7" name="object 7"/>
            <p:cNvSpPr/>
            <p:nvPr/>
          </p:nvSpPr>
          <p:spPr>
            <a:xfrm>
              <a:off x="4625665" y="1535084"/>
              <a:ext cx="1922145" cy="487045"/>
            </a:xfrm>
            <a:custGeom>
              <a:avLst/>
              <a:gdLst/>
              <a:ahLst/>
              <a:cxnLst/>
              <a:rect l="l" t="t" r="r" b="b"/>
              <a:pathLst>
                <a:path w="1922145" h="487044">
                  <a:moveTo>
                    <a:pt x="0" y="486961"/>
                  </a:moveTo>
                  <a:lnTo>
                    <a:pt x="1921896" y="0"/>
                  </a:lnTo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543686" y="1519831"/>
              <a:ext cx="46355" cy="31115"/>
            </a:xfrm>
            <a:custGeom>
              <a:avLst/>
              <a:gdLst/>
              <a:ahLst/>
              <a:cxnLst/>
              <a:rect l="l" t="t" r="r" b="b"/>
              <a:pathLst>
                <a:path w="46354" h="31115">
                  <a:moveTo>
                    <a:pt x="7749" y="30502"/>
                  </a:moveTo>
                  <a:lnTo>
                    <a:pt x="0" y="0"/>
                  </a:lnTo>
                  <a:lnTo>
                    <a:pt x="45774" y="4634"/>
                  </a:lnTo>
                  <a:lnTo>
                    <a:pt x="7749" y="30502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543686" y="1519831"/>
              <a:ext cx="46355" cy="31115"/>
            </a:xfrm>
            <a:custGeom>
              <a:avLst/>
              <a:gdLst/>
              <a:ahLst/>
              <a:cxnLst/>
              <a:rect l="l" t="t" r="r" b="b"/>
              <a:pathLst>
                <a:path w="46354" h="31115">
                  <a:moveTo>
                    <a:pt x="7749" y="30502"/>
                  </a:moveTo>
                  <a:lnTo>
                    <a:pt x="45774" y="4634"/>
                  </a:lnTo>
                  <a:lnTo>
                    <a:pt x="0" y="0"/>
                  </a:lnTo>
                  <a:lnTo>
                    <a:pt x="7749" y="30502"/>
                  </a:lnTo>
                  <a:close/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6839132" y="1142156"/>
            <a:ext cx="1791335" cy="57594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>
              <a:lnSpc>
                <a:spcPct val="100699"/>
              </a:lnSpc>
              <a:spcBef>
                <a:spcPts val="85"/>
              </a:spcBef>
            </a:pP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spatial</a:t>
            </a:r>
            <a:r>
              <a:rPr sz="1800" spc="-3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Arial"/>
                <a:cs typeface="Arial"/>
              </a:rPr>
              <a:t>dimension </a:t>
            </a: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only</a:t>
            </a:r>
            <a:r>
              <a:rPr sz="1800" spc="-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Arial"/>
                <a:cs typeface="Arial"/>
              </a:rPr>
              <a:t>56x56!</a:t>
            </a:r>
            <a:endParaRPr sz="1800">
              <a:latin typeface="Arial"/>
              <a:cs typeface="Arial"/>
            </a:endParaRPr>
          </a:p>
        </p:txBody>
      </p:sp>
      <p:sp>
        <p:nvSpPr>
          <p:cNvPr id="15" name="object 10">
            <a:extLst>
              <a:ext uri="{FF2B5EF4-FFF2-40B4-BE49-F238E27FC236}">
                <a16:creationId xmlns:a16="http://schemas.microsoft.com/office/drawing/2014/main" id="{2600C2A6-B244-C647-B0EE-FAC9F8780DBF}"/>
              </a:ext>
            </a:extLst>
          </p:cNvPr>
          <p:cNvSpPr txBox="1">
            <a:spLocks noGrp="1"/>
          </p:cNvSpPr>
          <p:nvPr>
            <p:ph type="dt" sz="half" idx="4294967295"/>
          </p:nvPr>
        </p:nvSpPr>
        <p:spPr>
          <a:xfrm>
            <a:off x="145224" y="4740846"/>
            <a:ext cx="4699000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lang="en-US" altLang="zh-CN" spc="-10" dirty="0">
                <a:solidFill>
                  <a:schemeClr val="bg1"/>
                </a:solidFill>
              </a:rPr>
              <a:t>Convolutional</a:t>
            </a:r>
            <a:r>
              <a:rPr lang="zh-CN" altLang="en-US" spc="-10" dirty="0">
                <a:solidFill>
                  <a:schemeClr val="bg1"/>
                </a:solidFill>
              </a:rPr>
              <a:t> </a:t>
            </a:r>
            <a:r>
              <a:rPr lang="en-US" altLang="zh-CN" spc="-10" dirty="0">
                <a:solidFill>
                  <a:schemeClr val="bg1"/>
                </a:solidFill>
              </a:rPr>
              <a:t>Neural</a:t>
            </a:r>
            <a:r>
              <a:rPr lang="zh-CN" altLang="en-US" spc="-10" dirty="0">
                <a:solidFill>
                  <a:schemeClr val="bg1"/>
                </a:solidFill>
              </a:rPr>
              <a:t> </a:t>
            </a:r>
            <a:r>
              <a:rPr lang="en-US" altLang="zh-CN" spc="-10" dirty="0">
                <a:solidFill>
                  <a:schemeClr val="bg1"/>
                </a:solidFill>
              </a:rPr>
              <a:t>Networks</a:t>
            </a:r>
            <a:endParaRPr spc="-1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0049" y="154984"/>
            <a:ext cx="347281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/>
              <a:t>Case</a:t>
            </a:r>
            <a:r>
              <a:rPr sz="3000" spc="-25" dirty="0"/>
              <a:t> </a:t>
            </a:r>
            <a:r>
              <a:rPr sz="3000" dirty="0"/>
              <a:t>Study:</a:t>
            </a:r>
            <a:r>
              <a:rPr sz="3000" spc="-25" dirty="0"/>
              <a:t> </a:t>
            </a:r>
            <a:r>
              <a:rPr sz="3000" spc="-10" dirty="0"/>
              <a:t>ResNet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4078146" y="275762"/>
            <a:ext cx="127889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i="1" dirty="0">
                <a:latin typeface="Arial"/>
                <a:cs typeface="Arial"/>
              </a:rPr>
              <a:t>[He</a:t>
            </a:r>
            <a:r>
              <a:rPr sz="1400" i="1" spc="-15" dirty="0">
                <a:latin typeface="Arial"/>
                <a:cs typeface="Arial"/>
              </a:rPr>
              <a:t> </a:t>
            </a:r>
            <a:r>
              <a:rPr sz="1400" i="1" dirty="0">
                <a:latin typeface="Arial"/>
                <a:cs typeface="Arial"/>
              </a:rPr>
              <a:t>et</a:t>
            </a:r>
            <a:r>
              <a:rPr sz="1400" i="1" spc="-15" dirty="0">
                <a:latin typeface="Arial"/>
                <a:cs typeface="Arial"/>
              </a:rPr>
              <a:t> </a:t>
            </a:r>
            <a:r>
              <a:rPr sz="1400" i="1" dirty="0">
                <a:latin typeface="Arial"/>
                <a:cs typeface="Arial"/>
              </a:rPr>
              <a:t>al.,</a:t>
            </a:r>
            <a:r>
              <a:rPr sz="1400" i="1" spc="-15" dirty="0">
                <a:latin typeface="Arial"/>
                <a:cs typeface="Arial"/>
              </a:rPr>
              <a:t> </a:t>
            </a:r>
            <a:r>
              <a:rPr sz="1400" i="1" spc="-10" dirty="0">
                <a:latin typeface="Arial"/>
                <a:cs typeface="Arial"/>
              </a:rPr>
              <a:t>2015]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37599" y="1290634"/>
            <a:ext cx="2743835" cy="2562225"/>
            <a:chOff x="337599" y="1290634"/>
            <a:chExt cx="2743835" cy="256222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3324" y="1300159"/>
              <a:ext cx="2590794" cy="2447908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342361" y="1295397"/>
              <a:ext cx="2734310" cy="2552700"/>
            </a:xfrm>
            <a:custGeom>
              <a:avLst/>
              <a:gdLst/>
              <a:ahLst/>
              <a:cxnLst/>
              <a:rect l="l" t="t" r="r" b="b"/>
              <a:pathLst>
                <a:path w="2734310" h="2552700">
                  <a:moveTo>
                    <a:pt x="0" y="0"/>
                  </a:moveTo>
                  <a:lnTo>
                    <a:pt x="2733681" y="0"/>
                  </a:lnTo>
                  <a:lnTo>
                    <a:pt x="2733681" y="2552694"/>
                  </a:lnTo>
                  <a:lnTo>
                    <a:pt x="0" y="2552694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4666627" y="1223947"/>
            <a:ext cx="4095750" cy="2696210"/>
            <a:chOff x="4666627" y="1223947"/>
            <a:chExt cx="4095750" cy="2696210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76140" y="1233472"/>
              <a:ext cx="4076691" cy="2666994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4671390" y="1228710"/>
              <a:ext cx="4086225" cy="2686685"/>
            </a:xfrm>
            <a:custGeom>
              <a:avLst/>
              <a:gdLst/>
              <a:ahLst/>
              <a:cxnLst/>
              <a:rect l="l" t="t" r="r" b="b"/>
              <a:pathLst>
                <a:path w="4086225" h="2686685">
                  <a:moveTo>
                    <a:pt x="0" y="0"/>
                  </a:moveTo>
                  <a:lnTo>
                    <a:pt x="4086191" y="0"/>
                  </a:lnTo>
                  <a:lnTo>
                    <a:pt x="4086191" y="2686057"/>
                  </a:lnTo>
                  <a:lnTo>
                    <a:pt x="0" y="2686057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3364118" y="2538407"/>
            <a:ext cx="1037590" cy="41275"/>
            <a:chOff x="3364118" y="2538407"/>
            <a:chExt cx="1037590" cy="41275"/>
          </a:xfrm>
        </p:grpSpPr>
        <p:sp>
          <p:nvSpPr>
            <p:cNvPr id="11" name="object 11"/>
            <p:cNvSpPr/>
            <p:nvPr/>
          </p:nvSpPr>
          <p:spPr>
            <a:xfrm>
              <a:off x="3364118" y="2558894"/>
              <a:ext cx="989965" cy="0"/>
            </a:xfrm>
            <a:custGeom>
              <a:avLst/>
              <a:gdLst/>
              <a:ahLst/>
              <a:cxnLst/>
              <a:rect l="l" t="t" r="r" b="b"/>
              <a:pathLst>
                <a:path w="989964">
                  <a:moveTo>
                    <a:pt x="0" y="0"/>
                  </a:moveTo>
                  <a:lnTo>
                    <a:pt x="989548" y="0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353666" y="2543169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49"/>
                  </a:moveTo>
                  <a:lnTo>
                    <a:pt x="0" y="0"/>
                  </a:lnTo>
                  <a:lnTo>
                    <a:pt x="43224" y="15724"/>
                  </a:lnTo>
                  <a:lnTo>
                    <a:pt x="0" y="31449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353666" y="2543169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49"/>
                  </a:moveTo>
                  <a:lnTo>
                    <a:pt x="43224" y="15724"/>
                  </a:lnTo>
                  <a:lnTo>
                    <a:pt x="0" y="0"/>
                  </a:lnTo>
                  <a:lnTo>
                    <a:pt x="0" y="31449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0">
            <a:extLst>
              <a:ext uri="{FF2B5EF4-FFF2-40B4-BE49-F238E27FC236}">
                <a16:creationId xmlns:a16="http://schemas.microsoft.com/office/drawing/2014/main" id="{BD33B284-3775-1C4D-ADA2-C5F968888FD3}"/>
              </a:ext>
            </a:extLst>
          </p:cNvPr>
          <p:cNvSpPr txBox="1">
            <a:spLocks noGrp="1"/>
          </p:cNvSpPr>
          <p:nvPr>
            <p:ph type="dt" sz="half" idx="4294967295"/>
          </p:nvPr>
        </p:nvSpPr>
        <p:spPr>
          <a:xfrm>
            <a:off x="145224" y="4740846"/>
            <a:ext cx="4699000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lang="en-US" altLang="zh-CN" spc="-10" dirty="0">
                <a:solidFill>
                  <a:schemeClr val="bg1"/>
                </a:solidFill>
              </a:rPr>
              <a:t>Convolutional</a:t>
            </a:r>
            <a:r>
              <a:rPr lang="zh-CN" altLang="en-US" spc="-10" dirty="0">
                <a:solidFill>
                  <a:schemeClr val="bg1"/>
                </a:solidFill>
              </a:rPr>
              <a:t> </a:t>
            </a:r>
            <a:r>
              <a:rPr lang="en-US" altLang="zh-CN" spc="-10" dirty="0">
                <a:solidFill>
                  <a:schemeClr val="bg1"/>
                </a:solidFill>
              </a:rPr>
              <a:t>Neural</a:t>
            </a:r>
            <a:r>
              <a:rPr lang="zh-CN" altLang="en-US" spc="-10" dirty="0">
                <a:solidFill>
                  <a:schemeClr val="bg1"/>
                </a:solidFill>
              </a:rPr>
              <a:t> </a:t>
            </a:r>
            <a:r>
              <a:rPr lang="en-US" altLang="zh-CN" spc="-10" dirty="0">
                <a:solidFill>
                  <a:schemeClr val="bg1"/>
                </a:solidFill>
              </a:rPr>
              <a:t>Networks</a:t>
            </a:r>
            <a:endParaRPr spc="-1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2149" y="154984"/>
            <a:ext cx="347281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/>
              <a:t>Case</a:t>
            </a:r>
            <a:r>
              <a:rPr sz="3000" spc="-25" dirty="0"/>
              <a:t> </a:t>
            </a:r>
            <a:r>
              <a:rPr sz="3000" dirty="0"/>
              <a:t>Study:</a:t>
            </a:r>
            <a:r>
              <a:rPr sz="3000" spc="-25" dirty="0"/>
              <a:t> </a:t>
            </a:r>
            <a:r>
              <a:rPr sz="3000" spc="-10" dirty="0"/>
              <a:t>ResNet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4078146" y="275762"/>
            <a:ext cx="127889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i="1" dirty="0">
                <a:latin typeface="Arial"/>
                <a:cs typeface="Arial"/>
              </a:rPr>
              <a:t>[He</a:t>
            </a:r>
            <a:r>
              <a:rPr sz="1400" i="1" spc="-15" dirty="0">
                <a:latin typeface="Arial"/>
                <a:cs typeface="Arial"/>
              </a:rPr>
              <a:t> </a:t>
            </a:r>
            <a:r>
              <a:rPr sz="1400" i="1" dirty="0">
                <a:latin typeface="Arial"/>
                <a:cs typeface="Arial"/>
              </a:rPr>
              <a:t>et</a:t>
            </a:r>
            <a:r>
              <a:rPr sz="1400" i="1" spc="-15" dirty="0">
                <a:latin typeface="Arial"/>
                <a:cs typeface="Arial"/>
              </a:rPr>
              <a:t> </a:t>
            </a:r>
            <a:r>
              <a:rPr sz="1400" i="1" dirty="0">
                <a:latin typeface="Arial"/>
                <a:cs typeface="Arial"/>
              </a:rPr>
              <a:t>al.,</a:t>
            </a:r>
            <a:r>
              <a:rPr sz="1400" i="1" spc="-15" dirty="0">
                <a:latin typeface="Arial"/>
                <a:cs typeface="Arial"/>
              </a:rPr>
              <a:t> </a:t>
            </a:r>
            <a:r>
              <a:rPr sz="1400" i="1" spc="-10" dirty="0">
                <a:latin typeface="Arial"/>
                <a:cs typeface="Arial"/>
              </a:rPr>
              <a:t>2015]</a:t>
            </a:r>
            <a:endParaRPr sz="1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54598" y="1150249"/>
            <a:ext cx="8138795" cy="23609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4010" indent="-321310">
              <a:lnSpc>
                <a:spcPts val="2630"/>
              </a:lnSpc>
              <a:spcBef>
                <a:spcPts val="100"/>
              </a:spcBef>
              <a:buChar char="-"/>
              <a:tabLst>
                <a:tab pos="334010" algn="l"/>
              </a:tabLst>
            </a:pPr>
            <a:r>
              <a:rPr sz="2200" dirty="0">
                <a:latin typeface="Arial"/>
                <a:cs typeface="Arial"/>
              </a:rPr>
              <a:t>Batch</a:t>
            </a:r>
            <a:r>
              <a:rPr sz="2200" spc="-45" dirty="0">
                <a:latin typeface="Arial"/>
                <a:cs typeface="Arial"/>
              </a:rPr>
              <a:t> </a:t>
            </a:r>
            <a:r>
              <a:rPr sz="2200" spc="-10" dirty="0">
                <a:latin typeface="Arial"/>
                <a:cs typeface="Arial"/>
              </a:rPr>
              <a:t>Normalization</a:t>
            </a:r>
            <a:r>
              <a:rPr sz="2200" spc="-4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after</a:t>
            </a:r>
            <a:r>
              <a:rPr sz="2200" spc="-4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every</a:t>
            </a:r>
            <a:r>
              <a:rPr sz="2200" spc="-4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CONV</a:t>
            </a:r>
            <a:r>
              <a:rPr sz="2200" spc="-45" dirty="0">
                <a:latin typeface="Arial"/>
                <a:cs typeface="Arial"/>
              </a:rPr>
              <a:t> </a:t>
            </a:r>
            <a:r>
              <a:rPr sz="2200" spc="-10" dirty="0">
                <a:latin typeface="Arial"/>
                <a:cs typeface="Arial"/>
              </a:rPr>
              <a:t>layer</a:t>
            </a:r>
            <a:endParaRPr sz="2200">
              <a:latin typeface="Arial"/>
              <a:cs typeface="Arial"/>
            </a:endParaRPr>
          </a:p>
          <a:p>
            <a:pPr marL="334010" indent="-321310">
              <a:lnSpc>
                <a:spcPts val="2625"/>
              </a:lnSpc>
              <a:buChar char="-"/>
              <a:tabLst>
                <a:tab pos="334010" algn="l"/>
              </a:tabLst>
            </a:pPr>
            <a:r>
              <a:rPr sz="2200" dirty="0">
                <a:latin typeface="Arial"/>
                <a:cs typeface="Arial"/>
              </a:rPr>
              <a:t>Xavier/2</a:t>
            </a:r>
            <a:r>
              <a:rPr sz="2200" spc="-55" dirty="0">
                <a:latin typeface="Arial"/>
                <a:cs typeface="Arial"/>
              </a:rPr>
              <a:t> </a:t>
            </a:r>
            <a:r>
              <a:rPr sz="2200" spc="-10" dirty="0">
                <a:latin typeface="Arial"/>
                <a:cs typeface="Arial"/>
              </a:rPr>
              <a:t>initialization</a:t>
            </a:r>
            <a:r>
              <a:rPr sz="2200" spc="-5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from</a:t>
            </a:r>
            <a:r>
              <a:rPr sz="2200" spc="-5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He</a:t>
            </a:r>
            <a:r>
              <a:rPr sz="2200" spc="-5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et</a:t>
            </a:r>
            <a:r>
              <a:rPr sz="2200" spc="-50" dirty="0">
                <a:latin typeface="Arial"/>
                <a:cs typeface="Arial"/>
              </a:rPr>
              <a:t> </a:t>
            </a:r>
            <a:r>
              <a:rPr sz="2200" spc="-25" dirty="0">
                <a:latin typeface="Arial"/>
                <a:cs typeface="Arial"/>
              </a:rPr>
              <a:t>al.</a:t>
            </a:r>
            <a:endParaRPr sz="2200">
              <a:latin typeface="Arial"/>
              <a:cs typeface="Arial"/>
            </a:endParaRPr>
          </a:p>
          <a:p>
            <a:pPr marL="334010" indent="-321310">
              <a:lnSpc>
                <a:spcPts val="2625"/>
              </a:lnSpc>
              <a:buChar char="-"/>
              <a:tabLst>
                <a:tab pos="334010" algn="l"/>
              </a:tabLst>
            </a:pPr>
            <a:r>
              <a:rPr sz="2200" dirty="0">
                <a:latin typeface="Arial"/>
                <a:cs typeface="Arial"/>
              </a:rPr>
              <a:t>SGD</a:t>
            </a:r>
            <a:r>
              <a:rPr sz="2200" spc="-5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+</a:t>
            </a:r>
            <a:r>
              <a:rPr sz="2200" spc="-5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Momentum</a:t>
            </a:r>
            <a:r>
              <a:rPr sz="2200" spc="-50" dirty="0">
                <a:latin typeface="Arial"/>
                <a:cs typeface="Arial"/>
              </a:rPr>
              <a:t> </a:t>
            </a:r>
            <a:r>
              <a:rPr sz="2200" spc="-10" dirty="0">
                <a:latin typeface="Arial"/>
                <a:cs typeface="Arial"/>
              </a:rPr>
              <a:t>(0.9)</a:t>
            </a:r>
            <a:endParaRPr sz="2200">
              <a:latin typeface="Arial"/>
              <a:cs typeface="Arial"/>
            </a:endParaRPr>
          </a:p>
          <a:p>
            <a:pPr marL="334010" indent="-321310">
              <a:lnSpc>
                <a:spcPts val="2625"/>
              </a:lnSpc>
              <a:buChar char="-"/>
              <a:tabLst>
                <a:tab pos="334010" algn="l"/>
              </a:tabLst>
            </a:pPr>
            <a:r>
              <a:rPr sz="2200" dirty="0">
                <a:latin typeface="Arial"/>
                <a:cs typeface="Arial"/>
              </a:rPr>
              <a:t>Learning</a:t>
            </a:r>
            <a:r>
              <a:rPr sz="2200" spc="-8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rate:</a:t>
            </a:r>
            <a:r>
              <a:rPr sz="2200" spc="-7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0.1,</a:t>
            </a:r>
            <a:r>
              <a:rPr sz="2200" spc="-7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divided</a:t>
            </a:r>
            <a:r>
              <a:rPr sz="2200" spc="-8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by</a:t>
            </a:r>
            <a:r>
              <a:rPr sz="2200" spc="-7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10</a:t>
            </a:r>
            <a:r>
              <a:rPr sz="2200" spc="-7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when</a:t>
            </a:r>
            <a:r>
              <a:rPr sz="2200" spc="-7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validation</a:t>
            </a:r>
            <a:r>
              <a:rPr sz="2200" spc="-8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error</a:t>
            </a:r>
            <a:r>
              <a:rPr sz="2200" spc="-75" dirty="0">
                <a:latin typeface="Arial"/>
                <a:cs typeface="Arial"/>
              </a:rPr>
              <a:t> </a:t>
            </a:r>
            <a:r>
              <a:rPr sz="2200" spc="-10" dirty="0">
                <a:latin typeface="Arial"/>
                <a:cs typeface="Arial"/>
              </a:rPr>
              <a:t>plateaus</a:t>
            </a:r>
            <a:endParaRPr sz="2200">
              <a:latin typeface="Arial"/>
              <a:cs typeface="Arial"/>
            </a:endParaRPr>
          </a:p>
          <a:p>
            <a:pPr marL="334010" indent="-321310">
              <a:lnSpc>
                <a:spcPts val="2625"/>
              </a:lnSpc>
              <a:buChar char="-"/>
              <a:tabLst>
                <a:tab pos="334010" algn="l"/>
              </a:tabLst>
            </a:pPr>
            <a:r>
              <a:rPr sz="2200" spc="-20" dirty="0">
                <a:latin typeface="Arial"/>
                <a:cs typeface="Arial"/>
              </a:rPr>
              <a:t>Mini-</a:t>
            </a:r>
            <a:r>
              <a:rPr sz="2200" dirty="0">
                <a:latin typeface="Arial"/>
                <a:cs typeface="Arial"/>
              </a:rPr>
              <a:t>batch</a:t>
            </a:r>
            <a:r>
              <a:rPr sz="2200" spc="-4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size</a:t>
            </a:r>
            <a:r>
              <a:rPr sz="2200" spc="-35" dirty="0">
                <a:latin typeface="Arial"/>
                <a:cs typeface="Arial"/>
              </a:rPr>
              <a:t> </a:t>
            </a:r>
            <a:r>
              <a:rPr sz="2200" spc="-25" dirty="0">
                <a:latin typeface="Arial"/>
                <a:cs typeface="Arial"/>
              </a:rPr>
              <a:t>256</a:t>
            </a:r>
            <a:endParaRPr sz="2200">
              <a:latin typeface="Arial"/>
              <a:cs typeface="Arial"/>
            </a:endParaRPr>
          </a:p>
          <a:p>
            <a:pPr marL="334010" indent="-321310">
              <a:lnSpc>
                <a:spcPts val="2625"/>
              </a:lnSpc>
              <a:buChar char="-"/>
              <a:tabLst>
                <a:tab pos="334010" algn="l"/>
              </a:tabLst>
            </a:pPr>
            <a:r>
              <a:rPr sz="2200" dirty="0">
                <a:latin typeface="Arial"/>
                <a:cs typeface="Arial"/>
              </a:rPr>
              <a:t>Weight</a:t>
            </a:r>
            <a:r>
              <a:rPr sz="2200" spc="-5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decay</a:t>
            </a:r>
            <a:r>
              <a:rPr sz="2200" spc="-5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of</a:t>
            </a:r>
            <a:r>
              <a:rPr sz="2200" spc="-55" dirty="0">
                <a:latin typeface="Arial"/>
                <a:cs typeface="Arial"/>
              </a:rPr>
              <a:t> </a:t>
            </a:r>
            <a:r>
              <a:rPr sz="2200" spc="-25" dirty="0">
                <a:latin typeface="Arial"/>
                <a:cs typeface="Arial"/>
              </a:rPr>
              <a:t>1e-</a:t>
            </a:r>
            <a:r>
              <a:rPr sz="2200" spc="-50" dirty="0">
                <a:latin typeface="Arial"/>
                <a:cs typeface="Arial"/>
              </a:rPr>
              <a:t>5</a:t>
            </a:r>
            <a:endParaRPr sz="2200">
              <a:latin typeface="Arial"/>
              <a:cs typeface="Arial"/>
            </a:endParaRPr>
          </a:p>
          <a:p>
            <a:pPr marL="334010" indent="-321310">
              <a:lnSpc>
                <a:spcPts val="2630"/>
              </a:lnSpc>
              <a:buChar char="-"/>
              <a:tabLst>
                <a:tab pos="334010" algn="l"/>
              </a:tabLst>
            </a:pPr>
            <a:r>
              <a:rPr sz="2200" dirty="0">
                <a:latin typeface="Arial"/>
                <a:cs typeface="Arial"/>
              </a:rPr>
              <a:t>No</a:t>
            </a:r>
            <a:r>
              <a:rPr sz="2200" spc="-6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dropout</a:t>
            </a:r>
            <a:r>
              <a:rPr sz="2200" spc="-60" dirty="0">
                <a:latin typeface="Arial"/>
                <a:cs typeface="Arial"/>
              </a:rPr>
              <a:t> </a:t>
            </a:r>
            <a:r>
              <a:rPr sz="2200" spc="-20" dirty="0">
                <a:latin typeface="Arial"/>
                <a:cs typeface="Arial"/>
              </a:rPr>
              <a:t>used</a:t>
            </a:r>
            <a:endParaRPr sz="2200">
              <a:latin typeface="Arial"/>
              <a:cs typeface="Arial"/>
            </a:endParaRPr>
          </a:p>
        </p:txBody>
      </p:sp>
      <p:sp>
        <p:nvSpPr>
          <p:cNvPr id="9" name="object 10">
            <a:extLst>
              <a:ext uri="{FF2B5EF4-FFF2-40B4-BE49-F238E27FC236}">
                <a16:creationId xmlns:a16="http://schemas.microsoft.com/office/drawing/2014/main" id="{5A7D1A21-8AE0-674C-8275-E4DE1F0817A6}"/>
              </a:ext>
            </a:extLst>
          </p:cNvPr>
          <p:cNvSpPr txBox="1">
            <a:spLocks noGrp="1"/>
          </p:cNvSpPr>
          <p:nvPr>
            <p:ph type="dt" sz="half" idx="4294967295"/>
          </p:nvPr>
        </p:nvSpPr>
        <p:spPr>
          <a:xfrm>
            <a:off x="145224" y="4740846"/>
            <a:ext cx="4699000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lang="en-US" altLang="zh-CN" spc="-10" dirty="0">
                <a:solidFill>
                  <a:schemeClr val="bg1"/>
                </a:solidFill>
              </a:rPr>
              <a:t>Convolutional</a:t>
            </a:r>
            <a:r>
              <a:rPr lang="zh-CN" altLang="en-US" spc="-10" dirty="0">
                <a:solidFill>
                  <a:schemeClr val="bg1"/>
                </a:solidFill>
              </a:rPr>
              <a:t> </a:t>
            </a:r>
            <a:r>
              <a:rPr lang="en-US" altLang="zh-CN" spc="-10" dirty="0">
                <a:solidFill>
                  <a:schemeClr val="bg1"/>
                </a:solidFill>
              </a:rPr>
              <a:t>Neural</a:t>
            </a:r>
            <a:r>
              <a:rPr lang="zh-CN" altLang="en-US" spc="-10" dirty="0">
                <a:solidFill>
                  <a:schemeClr val="bg1"/>
                </a:solidFill>
              </a:rPr>
              <a:t> </a:t>
            </a:r>
            <a:r>
              <a:rPr lang="en-US" altLang="zh-CN" spc="-10" dirty="0">
                <a:solidFill>
                  <a:schemeClr val="bg1"/>
                </a:solidFill>
              </a:rPr>
              <a:t>Networks</a:t>
            </a:r>
            <a:endParaRPr spc="-1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0049" y="154984"/>
            <a:ext cx="347281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/>
              <a:t>Case</a:t>
            </a:r>
            <a:r>
              <a:rPr sz="3000" spc="-25" dirty="0"/>
              <a:t> </a:t>
            </a:r>
            <a:r>
              <a:rPr sz="3000" dirty="0"/>
              <a:t>Study:</a:t>
            </a:r>
            <a:r>
              <a:rPr sz="3000" spc="-25" dirty="0"/>
              <a:t> </a:t>
            </a:r>
            <a:r>
              <a:rPr sz="3000" spc="-10" dirty="0"/>
              <a:t>ResNet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4078146" y="275762"/>
            <a:ext cx="127889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i="1" dirty="0">
                <a:latin typeface="Arial"/>
                <a:cs typeface="Arial"/>
              </a:rPr>
              <a:t>[He</a:t>
            </a:r>
            <a:r>
              <a:rPr sz="1400" i="1" spc="-15" dirty="0">
                <a:latin typeface="Arial"/>
                <a:cs typeface="Arial"/>
              </a:rPr>
              <a:t> </a:t>
            </a:r>
            <a:r>
              <a:rPr sz="1400" i="1" dirty="0">
                <a:latin typeface="Arial"/>
                <a:cs typeface="Arial"/>
              </a:rPr>
              <a:t>et</a:t>
            </a:r>
            <a:r>
              <a:rPr sz="1400" i="1" spc="-15" dirty="0">
                <a:latin typeface="Arial"/>
                <a:cs typeface="Arial"/>
              </a:rPr>
              <a:t> </a:t>
            </a:r>
            <a:r>
              <a:rPr sz="1400" i="1" dirty="0">
                <a:latin typeface="Arial"/>
                <a:cs typeface="Arial"/>
              </a:rPr>
              <a:t>al.,</a:t>
            </a:r>
            <a:r>
              <a:rPr sz="1400" i="1" spc="-15" dirty="0">
                <a:latin typeface="Arial"/>
                <a:cs typeface="Arial"/>
              </a:rPr>
              <a:t> </a:t>
            </a:r>
            <a:r>
              <a:rPr sz="1400" i="1" spc="-10" dirty="0">
                <a:latin typeface="Arial"/>
                <a:cs typeface="Arial"/>
              </a:rPr>
              <a:t>2015]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01359" y="986723"/>
            <a:ext cx="5714976" cy="2838444"/>
          </a:xfrm>
          <a:prstGeom prst="rect">
            <a:avLst/>
          </a:prstGeom>
        </p:spPr>
      </p:pic>
      <p:sp>
        <p:nvSpPr>
          <p:cNvPr id="9" name="object 10">
            <a:extLst>
              <a:ext uri="{FF2B5EF4-FFF2-40B4-BE49-F238E27FC236}">
                <a16:creationId xmlns:a16="http://schemas.microsoft.com/office/drawing/2014/main" id="{52D75A58-7428-5C47-B62F-E699CC66CD2C}"/>
              </a:ext>
            </a:extLst>
          </p:cNvPr>
          <p:cNvSpPr txBox="1">
            <a:spLocks noGrp="1"/>
          </p:cNvSpPr>
          <p:nvPr>
            <p:ph type="dt" sz="half" idx="4294967295"/>
          </p:nvPr>
        </p:nvSpPr>
        <p:spPr>
          <a:xfrm>
            <a:off x="145224" y="4740846"/>
            <a:ext cx="4699000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lang="en-US" altLang="zh-CN" spc="-10" dirty="0">
                <a:solidFill>
                  <a:schemeClr val="bg1"/>
                </a:solidFill>
              </a:rPr>
              <a:t>Convolutional</a:t>
            </a:r>
            <a:r>
              <a:rPr lang="zh-CN" altLang="en-US" spc="-10" dirty="0">
                <a:solidFill>
                  <a:schemeClr val="bg1"/>
                </a:solidFill>
              </a:rPr>
              <a:t> </a:t>
            </a:r>
            <a:r>
              <a:rPr lang="en-US" altLang="zh-CN" spc="-10" dirty="0">
                <a:solidFill>
                  <a:schemeClr val="bg1"/>
                </a:solidFill>
              </a:rPr>
              <a:t>Neural</a:t>
            </a:r>
            <a:r>
              <a:rPr lang="zh-CN" altLang="en-US" spc="-10" dirty="0">
                <a:solidFill>
                  <a:schemeClr val="bg1"/>
                </a:solidFill>
              </a:rPr>
              <a:t> </a:t>
            </a:r>
            <a:r>
              <a:rPr lang="en-US" altLang="zh-CN" spc="-10" dirty="0">
                <a:solidFill>
                  <a:schemeClr val="bg1"/>
                </a:solidFill>
              </a:rPr>
              <a:t>Networks</a:t>
            </a:r>
            <a:endParaRPr spc="-1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0049" y="154984"/>
            <a:ext cx="347281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/>
              <a:t>Case</a:t>
            </a:r>
            <a:r>
              <a:rPr sz="3000" spc="-25" dirty="0"/>
              <a:t> </a:t>
            </a:r>
            <a:r>
              <a:rPr sz="3000" dirty="0"/>
              <a:t>Study:</a:t>
            </a:r>
            <a:r>
              <a:rPr sz="3000" spc="-25" dirty="0"/>
              <a:t> </a:t>
            </a:r>
            <a:r>
              <a:rPr sz="3000" spc="-10" dirty="0"/>
              <a:t>ResNet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4078146" y="275762"/>
            <a:ext cx="127889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i="1" dirty="0">
                <a:latin typeface="Arial"/>
                <a:cs typeface="Arial"/>
              </a:rPr>
              <a:t>[He</a:t>
            </a:r>
            <a:r>
              <a:rPr sz="1400" i="1" spc="-15" dirty="0">
                <a:latin typeface="Arial"/>
                <a:cs typeface="Arial"/>
              </a:rPr>
              <a:t> </a:t>
            </a:r>
            <a:r>
              <a:rPr sz="1400" i="1" dirty="0">
                <a:latin typeface="Arial"/>
                <a:cs typeface="Arial"/>
              </a:rPr>
              <a:t>et</a:t>
            </a:r>
            <a:r>
              <a:rPr sz="1400" i="1" spc="-15" dirty="0">
                <a:latin typeface="Arial"/>
                <a:cs typeface="Arial"/>
              </a:rPr>
              <a:t> </a:t>
            </a:r>
            <a:r>
              <a:rPr sz="1400" i="1" dirty="0">
                <a:latin typeface="Arial"/>
                <a:cs typeface="Arial"/>
              </a:rPr>
              <a:t>al.,</a:t>
            </a:r>
            <a:r>
              <a:rPr sz="1400" i="1" spc="-15" dirty="0">
                <a:latin typeface="Arial"/>
                <a:cs typeface="Arial"/>
              </a:rPr>
              <a:t> </a:t>
            </a:r>
            <a:r>
              <a:rPr sz="1400" i="1" spc="-10" dirty="0">
                <a:latin typeface="Arial"/>
                <a:cs typeface="Arial"/>
              </a:rPr>
              <a:t>2015]</a:t>
            </a:r>
            <a:endParaRPr sz="1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964894" y="4018862"/>
            <a:ext cx="37598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(this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trick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is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also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used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in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GoogLeNet)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6973" y="1326597"/>
            <a:ext cx="2285995" cy="205739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313091" y="1371572"/>
            <a:ext cx="3720717" cy="1917196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4308328" y="3504080"/>
            <a:ext cx="429895" cy="455930"/>
            <a:chOff x="4308328" y="3504080"/>
            <a:chExt cx="429895" cy="455930"/>
          </a:xfrm>
        </p:grpSpPr>
        <p:sp>
          <p:nvSpPr>
            <p:cNvPr id="8" name="object 8"/>
            <p:cNvSpPr/>
            <p:nvPr/>
          </p:nvSpPr>
          <p:spPr>
            <a:xfrm>
              <a:off x="4313091" y="3540292"/>
              <a:ext cx="390525" cy="415290"/>
            </a:xfrm>
            <a:custGeom>
              <a:avLst/>
              <a:gdLst/>
              <a:ahLst/>
              <a:cxnLst/>
              <a:rect l="l" t="t" r="r" b="b"/>
              <a:pathLst>
                <a:path w="390525" h="415289">
                  <a:moveTo>
                    <a:pt x="0" y="414699"/>
                  </a:moveTo>
                  <a:lnTo>
                    <a:pt x="390424" y="0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692065" y="3508842"/>
              <a:ext cx="41275" cy="42545"/>
            </a:xfrm>
            <a:custGeom>
              <a:avLst/>
              <a:gdLst/>
              <a:ahLst/>
              <a:cxnLst/>
              <a:rect l="l" t="t" r="r" b="b"/>
              <a:pathLst>
                <a:path w="41275" h="42545">
                  <a:moveTo>
                    <a:pt x="22899" y="42249"/>
                  </a:moveTo>
                  <a:lnTo>
                    <a:pt x="0" y="20674"/>
                  </a:lnTo>
                  <a:lnTo>
                    <a:pt x="41074" y="0"/>
                  </a:lnTo>
                  <a:lnTo>
                    <a:pt x="22899" y="42249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692065" y="3508842"/>
              <a:ext cx="41275" cy="42545"/>
            </a:xfrm>
            <a:custGeom>
              <a:avLst/>
              <a:gdLst/>
              <a:ahLst/>
              <a:cxnLst/>
              <a:rect l="l" t="t" r="r" b="b"/>
              <a:pathLst>
                <a:path w="41275" h="42545">
                  <a:moveTo>
                    <a:pt x="22899" y="42249"/>
                  </a:moveTo>
                  <a:lnTo>
                    <a:pt x="41074" y="0"/>
                  </a:lnTo>
                  <a:lnTo>
                    <a:pt x="0" y="20674"/>
                  </a:lnTo>
                  <a:lnTo>
                    <a:pt x="22899" y="42249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0">
            <a:extLst>
              <a:ext uri="{FF2B5EF4-FFF2-40B4-BE49-F238E27FC236}">
                <a16:creationId xmlns:a16="http://schemas.microsoft.com/office/drawing/2014/main" id="{47269EC8-A7B0-9B40-A345-D19B7AFF7536}"/>
              </a:ext>
            </a:extLst>
          </p:cNvPr>
          <p:cNvSpPr txBox="1">
            <a:spLocks noGrp="1"/>
          </p:cNvSpPr>
          <p:nvPr>
            <p:ph type="dt" sz="half" idx="4294967295"/>
          </p:nvPr>
        </p:nvSpPr>
        <p:spPr>
          <a:xfrm>
            <a:off x="145224" y="4740846"/>
            <a:ext cx="4699000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lang="en-US" altLang="zh-CN" spc="-10" dirty="0">
                <a:solidFill>
                  <a:schemeClr val="bg1"/>
                </a:solidFill>
              </a:rPr>
              <a:t>Convolutional</a:t>
            </a:r>
            <a:r>
              <a:rPr lang="zh-CN" altLang="en-US" spc="-10" dirty="0">
                <a:solidFill>
                  <a:schemeClr val="bg1"/>
                </a:solidFill>
              </a:rPr>
              <a:t> </a:t>
            </a:r>
            <a:r>
              <a:rPr lang="en-US" altLang="zh-CN" spc="-10" dirty="0">
                <a:solidFill>
                  <a:schemeClr val="bg1"/>
                </a:solidFill>
              </a:rPr>
              <a:t>Neural</a:t>
            </a:r>
            <a:r>
              <a:rPr lang="zh-CN" altLang="en-US" spc="-10" dirty="0">
                <a:solidFill>
                  <a:schemeClr val="bg1"/>
                </a:solidFill>
              </a:rPr>
              <a:t> </a:t>
            </a:r>
            <a:r>
              <a:rPr lang="en-US" altLang="zh-CN" spc="-10" dirty="0">
                <a:solidFill>
                  <a:schemeClr val="bg1"/>
                </a:solidFill>
              </a:rPr>
              <a:t>Networks</a:t>
            </a:r>
            <a:endParaRPr spc="-1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7549" y="0"/>
              <a:ext cx="749873" cy="460779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19597" y="893460"/>
              <a:ext cx="7872849" cy="3461338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114835" y="888698"/>
              <a:ext cx="7916545" cy="3488054"/>
            </a:xfrm>
            <a:custGeom>
              <a:avLst/>
              <a:gdLst/>
              <a:ahLst/>
              <a:cxnLst/>
              <a:rect l="l" t="t" r="r" b="b"/>
              <a:pathLst>
                <a:path w="7916545" h="3488054">
                  <a:moveTo>
                    <a:pt x="0" y="0"/>
                  </a:moveTo>
                  <a:lnTo>
                    <a:pt x="7916296" y="0"/>
                  </a:lnTo>
                  <a:lnTo>
                    <a:pt x="7916296" y="3487842"/>
                  </a:lnTo>
                  <a:lnTo>
                    <a:pt x="0" y="3487842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139498" y="137084"/>
            <a:ext cx="347281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/>
              <a:t>Case</a:t>
            </a:r>
            <a:r>
              <a:rPr sz="3000" spc="-25" dirty="0"/>
              <a:t> </a:t>
            </a:r>
            <a:r>
              <a:rPr sz="3000" dirty="0"/>
              <a:t>Study:</a:t>
            </a:r>
            <a:r>
              <a:rPr sz="3000" spc="-25" dirty="0"/>
              <a:t> </a:t>
            </a:r>
            <a:r>
              <a:rPr sz="3000" spc="-10" dirty="0"/>
              <a:t>ResNet</a:t>
            </a:r>
            <a:endParaRPr sz="3000"/>
          </a:p>
        </p:txBody>
      </p:sp>
      <p:sp>
        <p:nvSpPr>
          <p:cNvPr id="7" name="object 7"/>
          <p:cNvSpPr txBox="1"/>
          <p:nvPr/>
        </p:nvSpPr>
        <p:spPr>
          <a:xfrm>
            <a:off x="4784966" y="231011"/>
            <a:ext cx="127889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i="1" dirty="0">
                <a:latin typeface="Arial"/>
                <a:cs typeface="Arial"/>
              </a:rPr>
              <a:t>[He</a:t>
            </a:r>
            <a:r>
              <a:rPr sz="1400" i="1" spc="-15" dirty="0">
                <a:latin typeface="Arial"/>
                <a:cs typeface="Arial"/>
              </a:rPr>
              <a:t> </a:t>
            </a:r>
            <a:r>
              <a:rPr sz="1400" i="1" dirty="0">
                <a:latin typeface="Arial"/>
                <a:cs typeface="Arial"/>
              </a:rPr>
              <a:t>et</a:t>
            </a:r>
            <a:r>
              <a:rPr sz="1400" i="1" spc="-15" dirty="0">
                <a:latin typeface="Arial"/>
                <a:cs typeface="Arial"/>
              </a:rPr>
              <a:t> </a:t>
            </a:r>
            <a:r>
              <a:rPr sz="1400" i="1" dirty="0">
                <a:latin typeface="Arial"/>
                <a:cs typeface="Arial"/>
              </a:rPr>
              <a:t>al.,</a:t>
            </a:r>
            <a:r>
              <a:rPr sz="1400" i="1" spc="-15" dirty="0">
                <a:latin typeface="Arial"/>
                <a:cs typeface="Arial"/>
              </a:rPr>
              <a:t> </a:t>
            </a:r>
            <a:r>
              <a:rPr sz="1400" i="1" spc="-10" dirty="0">
                <a:latin typeface="Arial"/>
                <a:cs typeface="Arial"/>
              </a:rPr>
              <a:t>2015]</a:t>
            </a:r>
            <a:endParaRPr sz="1400">
              <a:latin typeface="Arial"/>
              <a:cs typeface="Arial"/>
            </a:endParaRPr>
          </a:p>
        </p:txBody>
      </p:sp>
      <p:sp>
        <p:nvSpPr>
          <p:cNvPr id="12" name="object 10">
            <a:extLst>
              <a:ext uri="{FF2B5EF4-FFF2-40B4-BE49-F238E27FC236}">
                <a16:creationId xmlns:a16="http://schemas.microsoft.com/office/drawing/2014/main" id="{F4049C96-A86A-6D4A-86B3-47D94F5C2EC6}"/>
              </a:ext>
            </a:extLst>
          </p:cNvPr>
          <p:cNvSpPr txBox="1">
            <a:spLocks noGrp="1"/>
          </p:cNvSpPr>
          <p:nvPr>
            <p:ph type="dt" sz="half" idx="4294967295"/>
          </p:nvPr>
        </p:nvSpPr>
        <p:spPr>
          <a:xfrm>
            <a:off x="145224" y="4740846"/>
            <a:ext cx="4699000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lang="en-US" altLang="zh-CN" spc="-10" dirty="0">
                <a:solidFill>
                  <a:schemeClr val="bg1"/>
                </a:solidFill>
              </a:rPr>
              <a:t>Convolutional</a:t>
            </a:r>
            <a:r>
              <a:rPr lang="zh-CN" altLang="en-US" spc="-10" dirty="0">
                <a:solidFill>
                  <a:schemeClr val="bg1"/>
                </a:solidFill>
              </a:rPr>
              <a:t> </a:t>
            </a:r>
            <a:r>
              <a:rPr lang="en-US" altLang="zh-CN" spc="-10" dirty="0">
                <a:solidFill>
                  <a:schemeClr val="bg1"/>
                </a:solidFill>
              </a:rPr>
              <a:t>Neural</a:t>
            </a:r>
            <a:r>
              <a:rPr lang="zh-CN" altLang="en-US" spc="-10" dirty="0">
                <a:solidFill>
                  <a:schemeClr val="bg1"/>
                </a:solidFill>
              </a:rPr>
              <a:t> </a:t>
            </a:r>
            <a:r>
              <a:rPr lang="en-US" altLang="zh-CN" spc="-10" dirty="0">
                <a:solidFill>
                  <a:schemeClr val="bg1"/>
                </a:solidFill>
              </a:rPr>
              <a:t>Networks</a:t>
            </a:r>
            <a:endParaRPr spc="-1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1574" y="108534"/>
            <a:ext cx="698944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/>
              <a:t>Case</a:t>
            </a:r>
            <a:r>
              <a:rPr sz="3000" spc="-15" dirty="0"/>
              <a:t> </a:t>
            </a:r>
            <a:r>
              <a:rPr sz="3000" dirty="0"/>
              <a:t>Study</a:t>
            </a:r>
            <a:r>
              <a:rPr sz="3000" spc="-15" dirty="0"/>
              <a:t> </a:t>
            </a:r>
            <a:r>
              <a:rPr sz="3000" dirty="0"/>
              <a:t>Bonus:</a:t>
            </a:r>
            <a:r>
              <a:rPr sz="3000" spc="-15" dirty="0"/>
              <a:t> </a:t>
            </a:r>
            <a:r>
              <a:rPr sz="3000" dirty="0"/>
              <a:t>DeepMind’s</a:t>
            </a:r>
            <a:r>
              <a:rPr sz="3000" spc="-15" dirty="0"/>
              <a:t> </a:t>
            </a:r>
            <a:r>
              <a:rPr sz="3000" spc="-10" dirty="0"/>
              <a:t>AlphaGo</a:t>
            </a:r>
            <a:endParaRPr sz="30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50191" y="1221597"/>
            <a:ext cx="3297804" cy="234749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0699" y="1178772"/>
            <a:ext cx="3883792" cy="231177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00910" y="1470249"/>
            <a:ext cx="1598121" cy="2098843"/>
          </a:xfrm>
          <a:prstGeom prst="rect">
            <a:avLst/>
          </a:prstGeom>
        </p:spPr>
      </p:pic>
      <p:sp>
        <p:nvSpPr>
          <p:cNvPr id="10" name="object 10">
            <a:extLst>
              <a:ext uri="{FF2B5EF4-FFF2-40B4-BE49-F238E27FC236}">
                <a16:creationId xmlns:a16="http://schemas.microsoft.com/office/drawing/2014/main" id="{2ECE4F3D-C590-FA44-9C7C-C9CB79D82E8A}"/>
              </a:ext>
            </a:extLst>
          </p:cNvPr>
          <p:cNvSpPr txBox="1">
            <a:spLocks noGrp="1"/>
          </p:cNvSpPr>
          <p:nvPr>
            <p:ph type="dt" sz="half" idx="4294967295"/>
          </p:nvPr>
        </p:nvSpPr>
        <p:spPr>
          <a:xfrm>
            <a:off x="145224" y="4740846"/>
            <a:ext cx="4699000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lang="en-US" altLang="zh-CN" spc="-10" dirty="0">
                <a:solidFill>
                  <a:schemeClr val="bg1"/>
                </a:solidFill>
              </a:rPr>
              <a:t>Convolutional</a:t>
            </a:r>
            <a:r>
              <a:rPr lang="zh-CN" altLang="en-US" spc="-10" dirty="0">
                <a:solidFill>
                  <a:schemeClr val="bg1"/>
                </a:solidFill>
              </a:rPr>
              <a:t> </a:t>
            </a:r>
            <a:r>
              <a:rPr lang="en-US" altLang="zh-CN" spc="-10" dirty="0">
                <a:solidFill>
                  <a:schemeClr val="bg1"/>
                </a:solidFill>
              </a:rPr>
              <a:t>Neural</a:t>
            </a:r>
            <a:r>
              <a:rPr lang="zh-CN" altLang="en-US" spc="-10" dirty="0">
                <a:solidFill>
                  <a:schemeClr val="bg1"/>
                </a:solidFill>
              </a:rPr>
              <a:t> </a:t>
            </a:r>
            <a:r>
              <a:rPr lang="en-US" altLang="zh-CN" spc="-10" dirty="0">
                <a:solidFill>
                  <a:schemeClr val="bg1"/>
                </a:solidFill>
              </a:rPr>
              <a:t>Networks</a:t>
            </a:r>
            <a:endParaRPr spc="-1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35685" y="179124"/>
            <a:ext cx="7629525" cy="2228850"/>
            <a:chOff x="935685" y="179124"/>
            <a:chExt cx="7629525" cy="22288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45210" y="188649"/>
              <a:ext cx="7610447" cy="2209795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940448" y="183887"/>
              <a:ext cx="7620000" cy="2219325"/>
            </a:xfrm>
            <a:custGeom>
              <a:avLst/>
              <a:gdLst/>
              <a:ahLst/>
              <a:cxnLst/>
              <a:rect l="l" t="t" r="r" b="b"/>
              <a:pathLst>
                <a:path w="7620000" h="2219325">
                  <a:moveTo>
                    <a:pt x="0" y="0"/>
                  </a:moveTo>
                  <a:lnTo>
                    <a:pt x="7619984" y="0"/>
                  </a:lnTo>
                  <a:lnTo>
                    <a:pt x="7619984" y="2219320"/>
                  </a:lnTo>
                  <a:lnTo>
                    <a:pt x="0" y="2219320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387099" y="2633425"/>
            <a:ext cx="8397240" cy="14046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Arial"/>
                <a:cs typeface="Arial"/>
              </a:rPr>
              <a:t>policy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network: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dirty="0">
                <a:latin typeface="Arial"/>
                <a:cs typeface="Arial"/>
              </a:rPr>
              <a:t>[19x19x48]</a:t>
            </a:r>
            <a:r>
              <a:rPr sz="1800" spc="-5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Input</a:t>
            </a:r>
            <a:endParaRPr sz="1800">
              <a:latin typeface="Arial"/>
              <a:cs typeface="Arial"/>
            </a:endParaRPr>
          </a:p>
          <a:p>
            <a:pPr marL="12700" marR="2450465">
              <a:lnSpc>
                <a:spcPct val="100699"/>
              </a:lnSpc>
            </a:pPr>
            <a:r>
              <a:rPr sz="1800" dirty="0">
                <a:latin typeface="Arial"/>
                <a:cs typeface="Arial"/>
              </a:rPr>
              <a:t>CONV1: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192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5x5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filters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,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stride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1,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pad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2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=&gt;</a:t>
            </a:r>
            <a:r>
              <a:rPr sz="1800" spc="-10" dirty="0">
                <a:latin typeface="Arial"/>
                <a:cs typeface="Arial"/>
              </a:rPr>
              <a:t> [19x19x192] </a:t>
            </a:r>
            <a:r>
              <a:rPr sz="1800" dirty="0">
                <a:latin typeface="Arial"/>
                <a:cs typeface="Arial"/>
              </a:rPr>
              <a:t>CONV2..12:</a:t>
            </a:r>
            <a:r>
              <a:rPr sz="1800" spc="-3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192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3x3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filters,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stride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1,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pad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1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=&gt;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[19x19x192]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dirty="0">
                <a:latin typeface="Arial"/>
                <a:cs typeface="Arial"/>
              </a:rPr>
              <a:t>CONV: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1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1x1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filter,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stride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1,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pad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0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=&gt;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[19x19]</a:t>
            </a:r>
            <a:r>
              <a:rPr sz="1800" spc="35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(probability</a:t>
            </a:r>
            <a:r>
              <a:rPr sz="1800" i="1" spc="-15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map</a:t>
            </a:r>
            <a:r>
              <a:rPr sz="1800" i="1" spc="-20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of</a:t>
            </a:r>
            <a:r>
              <a:rPr sz="1800" i="1" spc="-20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promising</a:t>
            </a:r>
            <a:r>
              <a:rPr sz="1800" i="1" spc="-15" dirty="0">
                <a:latin typeface="Arial"/>
                <a:cs typeface="Arial"/>
              </a:rPr>
              <a:t> </a:t>
            </a:r>
            <a:r>
              <a:rPr sz="1800" i="1" spc="-10" dirty="0">
                <a:latin typeface="Arial"/>
                <a:cs typeface="Arial"/>
              </a:rPr>
              <a:t>moves)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CFBFDA78-5E3C-0340-B7E7-76A3363761FE}"/>
              </a:ext>
            </a:extLst>
          </p:cNvPr>
          <p:cNvSpPr txBox="1">
            <a:spLocks noGrp="1"/>
          </p:cNvSpPr>
          <p:nvPr>
            <p:ph type="dt" sz="half" idx="4294967295"/>
          </p:nvPr>
        </p:nvSpPr>
        <p:spPr>
          <a:xfrm>
            <a:off x="145224" y="4740846"/>
            <a:ext cx="4699000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lang="en-US" altLang="zh-CN" spc="-10" dirty="0">
                <a:solidFill>
                  <a:schemeClr val="bg1"/>
                </a:solidFill>
              </a:rPr>
              <a:t>Convolutional</a:t>
            </a:r>
            <a:r>
              <a:rPr lang="zh-CN" altLang="en-US" spc="-10" dirty="0">
                <a:solidFill>
                  <a:schemeClr val="bg1"/>
                </a:solidFill>
              </a:rPr>
              <a:t> </a:t>
            </a:r>
            <a:r>
              <a:rPr lang="en-US" altLang="zh-CN" spc="-10" dirty="0">
                <a:solidFill>
                  <a:schemeClr val="bg1"/>
                </a:solidFill>
              </a:rPr>
              <a:t>Neural</a:t>
            </a:r>
            <a:r>
              <a:rPr lang="zh-CN" altLang="en-US" spc="-10" dirty="0">
                <a:solidFill>
                  <a:schemeClr val="bg1"/>
                </a:solidFill>
              </a:rPr>
              <a:t> </a:t>
            </a:r>
            <a:r>
              <a:rPr lang="en-US" altLang="zh-CN" spc="-10" dirty="0">
                <a:solidFill>
                  <a:schemeClr val="bg1"/>
                </a:solidFill>
              </a:rPr>
              <a:t>Networks</a:t>
            </a:r>
            <a:endParaRPr spc="-1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20091" rIns="0" bIns="0" rtlCol="0">
            <a:spAutoFit/>
          </a:bodyPr>
          <a:lstStyle/>
          <a:p>
            <a:pPr marL="32512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Summary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7973" y="1371554"/>
            <a:ext cx="8105775" cy="29248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7485" indent="-184785">
              <a:lnSpc>
                <a:spcPts val="2865"/>
              </a:lnSpc>
              <a:spcBef>
                <a:spcPts val="100"/>
              </a:spcBef>
              <a:buChar char="-"/>
              <a:tabLst>
                <a:tab pos="197485" algn="l"/>
              </a:tabLst>
            </a:pPr>
            <a:r>
              <a:rPr sz="2400" dirty="0">
                <a:latin typeface="Arial"/>
                <a:cs typeface="Arial"/>
              </a:rPr>
              <a:t>ConvNets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stack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CONV,POOL,FC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layers</a:t>
            </a:r>
            <a:endParaRPr sz="2400">
              <a:latin typeface="Arial"/>
              <a:cs typeface="Arial"/>
            </a:endParaRPr>
          </a:p>
          <a:p>
            <a:pPr marL="197485" indent="-184785">
              <a:lnSpc>
                <a:spcPts val="2850"/>
              </a:lnSpc>
              <a:buChar char="-"/>
              <a:tabLst>
                <a:tab pos="197485" algn="l"/>
              </a:tabLst>
            </a:pPr>
            <a:r>
              <a:rPr sz="2400" dirty="0">
                <a:latin typeface="Arial"/>
                <a:cs typeface="Arial"/>
              </a:rPr>
              <a:t>Trend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towards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smaller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filters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and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deeper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architectures</a:t>
            </a:r>
            <a:endParaRPr sz="2400">
              <a:latin typeface="Arial"/>
              <a:cs typeface="Arial"/>
            </a:endParaRPr>
          </a:p>
          <a:p>
            <a:pPr marL="197485" indent="-184785">
              <a:lnSpc>
                <a:spcPts val="2850"/>
              </a:lnSpc>
              <a:buChar char="-"/>
              <a:tabLst>
                <a:tab pos="197485" algn="l"/>
              </a:tabLst>
            </a:pPr>
            <a:r>
              <a:rPr sz="2400" dirty="0">
                <a:latin typeface="Arial"/>
                <a:cs typeface="Arial"/>
              </a:rPr>
              <a:t>Trend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towards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getting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rid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POOL/FC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layers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(just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CONV)</a:t>
            </a:r>
            <a:endParaRPr sz="2400">
              <a:latin typeface="Arial"/>
              <a:cs typeface="Arial"/>
            </a:endParaRPr>
          </a:p>
          <a:p>
            <a:pPr marL="197485" indent="-184785">
              <a:lnSpc>
                <a:spcPts val="2850"/>
              </a:lnSpc>
              <a:buChar char="-"/>
              <a:tabLst>
                <a:tab pos="197485" algn="l"/>
              </a:tabLst>
            </a:pPr>
            <a:r>
              <a:rPr sz="2400" dirty="0">
                <a:latin typeface="Arial"/>
                <a:cs typeface="Arial"/>
              </a:rPr>
              <a:t>Typical</a:t>
            </a:r>
            <a:r>
              <a:rPr sz="2400" spc="-10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architectures</a:t>
            </a:r>
            <a:r>
              <a:rPr sz="2400" spc="-10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look</a:t>
            </a:r>
            <a:r>
              <a:rPr sz="2400" spc="-100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like</a:t>
            </a:r>
            <a:endParaRPr sz="2400">
              <a:latin typeface="Arial"/>
              <a:cs typeface="Arial"/>
            </a:endParaRPr>
          </a:p>
          <a:p>
            <a:pPr marL="469265">
              <a:lnSpc>
                <a:spcPts val="2850"/>
              </a:lnSpc>
            </a:pPr>
            <a:r>
              <a:rPr sz="2400" b="1" spc="-25" dirty="0">
                <a:latin typeface="Arial"/>
                <a:cs typeface="Arial"/>
              </a:rPr>
              <a:t>[(CONV-RELU)*N-POOL?]*M-(FC-</a:t>
            </a:r>
            <a:r>
              <a:rPr sz="2400" b="1" spc="-10" dirty="0">
                <a:latin typeface="Arial"/>
                <a:cs typeface="Arial"/>
              </a:rPr>
              <a:t>RELU)*K,SOFTMAX</a:t>
            </a:r>
            <a:endParaRPr sz="2400">
              <a:latin typeface="Arial"/>
              <a:cs typeface="Arial"/>
            </a:endParaRPr>
          </a:p>
          <a:p>
            <a:pPr marL="518795">
              <a:lnSpc>
                <a:spcPts val="2850"/>
              </a:lnSpc>
            </a:pPr>
            <a:r>
              <a:rPr sz="2400" dirty="0">
                <a:latin typeface="Arial"/>
                <a:cs typeface="Arial"/>
              </a:rPr>
              <a:t>where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is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usually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up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~5,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is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large,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0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&lt;=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K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&lt;=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2.</a:t>
            </a:r>
            <a:endParaRPr sz="2400">
              <a:latin typeface="Arial"/>
              <a:cs typeface="Arial"/>
            </a:endParaRPr>
          </a:p>
          <a:p>
            <a:pPr marL="926465" marR="553720" indent="-330200">
              <a:lnSpc>
                <a:spcPts val="2850"/>
              </a:lnSpc>
              <a:spcBef>
                <a:spcPts val="105"/>
              </a:spcBef>
              <a:tabLst>
                <a:tab pos="926465" algn="l"/>
              </a:tabLst>
            </a:pPr>
            <a:r>
              <a:rPr sz="2400" spc="-50" dirty="0">
                <a:latin typeface="Arial"/>
                <a:cs typeface="Arial"/>
              </a:rPr>
              <a:t>-</a:t>
            </a:r>
            <a:r>
              <a:rPr sz="2400" dirty="0">
                <a:latin typeface="Arial"/>
                <a:cs typeface="Arial"/>
              </a:rPr>
              <a:t>	but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recent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advances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such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as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ResNet/GoogLeNet </a:t>
            </a:r>
            <a:r>
              <a:rPr sz="2400" dirty="0">
                <a:latin typeface="Arial"/>
                <a:cs typeface="Arial"/>
              </a:rPr>
              <a:t>challenge</a:t>
            </a:r>
            <a:r>
              <a:rPr sz="2400" spc="-10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this</a:t>
            </a:r>
            <a:r>
              <a:rPr sz="2400" spc="-9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paradigm</a:t>
            </a:r>
            <a:endParaRPr sz="2400">
              <a:latin typeface="Arial"/>
              <a:cs typeface="Arial"/>
            </a:endParaRPr>
          </a:p>
        </p:txBody>
      </p:sp>
      <p:sp>
        <p:nvSpPr>
          <p:cNvPr id="8" name="object 10">
            <a:extLst>
              <a:ext uri="{FF2B5EF4-FFF2-40B4-BE49-F238E27FC236}">
                <a16:creationId xmlns:a16="http://schemas.microsoft.com/office/drawing/2014/main" id="{D5C2C7A4-F7BC-B54A-AE05-3CD0EE63C4F7}"/>
              </a:ext>
            </a:extLst>
          </p:cNvPr>
          <p:cNvSpPr txBox="1">
            <a:spLocks noGrp="1"/>
          </p:cNvSpPr>
          <p:nvPr>
            <p:ph type="dt" sz="half" idx="4294967295"/>
          </p:nvPr>
        </p:nvSpPr>
        <p:spPr>
          <a:xfrm>
            <a:off x="145224" y="4740846"/>
            <a:ext cx="4699000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lang="en-US" altLang="zh-CN" spc="-10" dirty="0">
                <a:solidFill>
                  <a:schemeClr val="bg1"/>
                </a:solidFill>
              </a:rPr>
              <a:t>Convolutional</a:t>
            </a:r>
            <a:r>
              <a:rPr lang="zh-CN" altLang="en-US" spc="-10" dirty="0">
                <a:solidFill>
                  <a:schemeClr val="bg1"/>
                </a:solidFill>
              </a:rPr>
              <a:t> </a:t>
            </a:r>
            <a:r>
              <a:rPr lang="en-US" altLang="zh-CN" spc="-10" dirty="0">
                <a:solidFill>
                  <a:schemeClr val="bg1"/>
                </a:solidFill>
              </a:rPr>
              <a:t>Neural</a:t>
            </a:r>
            <a:r>
              <a:rPr lang="zh-CN" altLang="en-US" spc="-10" dirty="0">
                <a:solidFill>
                  <a:schemeClr val="bg1"/>
                </a:solidFill>
              </a:rPr>
              <a:t> </a:t>
            </a:r>
            <a:r>
              <a:rPr lang="en-US" altLang="zh-CN" spc="-10" dirty="0">
                <a:solidFill>
                  <a:schemeClr val="bg1"/>
                </a:solidFill>
              </a:rPr>
              <a:t>Networks</a:t>
            </a:r>
            <a:endParaRPr spc="-1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1154CC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</TotalTime>
  <Words>4211</Words>
  <Application>Microsoft Macintosh PowerPoint</Application>
  <PresentationFormat>On-screen Show (16:9)</PresentationFormat>
  <Paragraphs>679</Paragraphs>
  <Slides>88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88</vt:i4>
      </vt:variant>
    </vt:vector>
  </HeadingPairs>
  <TitlesOfParts>
    <vt:vector size="93" baseType="lpstr">
      <vt:lpstr>Arial</vt:lpstr>
      <vt:lpstr>Calibri</vt:lpstr>
      <vt:lpstr>Times New Roman</vt:lpstr>
      <vt:lpstr>Verdana</vt:lpstr>
      <vt:lpstr>Office Theme</vt:lpstr>
      <vt:lpstr>Shangsong Liang SYSU</vt:lpstr>
      <vt:lpstr>Mini-batch SGD</vt:lpstr>
      <vt:lpstr>Parameter updates</vt:lpstr>
      <vt:lpstr>Dropout</vt:lpstr>
      <vt:lpstr>Convolutional Neural Networks</vt:lpstr>
      <vt:lpstr>A bit of history:</vt:lpstr>
      <vt:lpstr>Hierarchical organization</vt:lpstr>
      <vt:lpstr>PowerPoint Presentation</vt:lpstr>
      <vt:lpstr>Convolution Layer</vt:lpstr>
      <vt:lpstr>Convolution Layer</vt:lpstr>
      <vt:lpstr>Convolution Layer</vt:lpstr>
      <vt:lpstr>Convolution Layer</vt:lpstr>
      <vt:lpstr>Convolution Layer</vt:lpstr>
      <vt:lpstr>consider a second, green filter</vt:lpstr>
      <vt:lpstr>For example, if we had 6 5x5 filters, we’ll get 6 separate activation maps:</vt:lpstr>
      <vt:lpstr>Preview: ConvNet is a sequence of Convolution Layers, interspersed with activation functions</vt:lpstr>
      <vt:lpstr>Preview: ConvNet is a sequence of Convolutional Layers, interspersed with activation functions</vt:lpstr>
      <vt:lpstr>[From recent Yann LeCun slides]</vt:lpstr>
      <vt:lpstr>[From recent Yann LeCun slides]</vt:lpstr>
      <vt:lpstr>one filter =&gt; one activation map</vt:lpstr>
      <vt:lpstr>PowerPoint Presentation</vt:lpstr>
      <vt:lpstr>A closer look at spatial dimensions:</vt:lpstr>
      <vt:lpstr>A closer look at spatial dimensions:</vt:lpstr>
      <vt:lpstr>A closer look at spatial dimensions:</vt:lpstr>
      <vt:lpstr>A closer look at spatial dimensions:</vt:lpstr>
      <vt:lpstr>A closer look at spatial dimensions:</vt:lpstr>
      <vt:lpstr>A closer look at spatial dimensions:</vt:lpstr>
      <vt:lpstr>A closer look at spatial dimensions:</vt:lpstr>
      <vt:lpstr>A closer look at spatial dimensions:</vt:lpstr>
      <vt:lpstr>A closer look at spatial dimensions:</vt:lpstr>
      <vt:lpstr>A closer look at spatial dimensions:</vt:lpstr>
      <vt:lpstr>A closer look at spatial dimensions:</vt:lpstr>
      <vt:lpstr>PowerPoint Presentation</vt:lpstr>
      <vt:lpstr>In practice: Common to zero pad the border</vt:lpstr>
      <vt:lpstr>In practice: Common to zero pad the border</vt:lpstr>
      <vt:lpstr>In practice: Common to zero pad the border</vt:lpstr>
      <vt:lpstr>Remember back to…</vt:lpstr>
      <vt:lpstr>PowerPoint Presentation</vt:lpstr>
      <vt:lpstr>PowerPoint Presentation</vt:lpstr>
      <vt:lpstr>PowerPoint Presentation</vt:lpstr>
      <vt:lpstr>Examples time:</vt:lpstr>
      <vt:lpstr>PowerPoint Presentation</vt:lpstr>
      <vt:lpstr>PowerPoint Presentation</vt:lpstr>
      <vt:lpstr>(btw, 1x1 convolution layers make perfect sense)</vt:lpstr>
      <vt:lpstr>Example: CONV layer in Torch</vt:lpstr>
      <vt:lpstr>Example: CONV layer in Caffe</vt:lpstr>
      <vt:lpstr>Example: CONV layer in Lasagne</vt:lpstr>
      <vt:lpstr>The brain/neuron view of CONV Layer</vt:lpstr>
      <vt:lpstr>The brain/neuron view of CONV Layer</vt:lpstr>
      <vt:lpstr>The brain/neuron view of CONV Layer</vt:lpstr>
      <vt:lpstr>The brain/neuron view of CONV Layer</vt:lpstr>
      <vt:lpstr>PowerPoint Presentation</vt:lpstr>
      <vt:lpstr>PowerPoint Presentation</vt:lpstr>
      <vt:lpstr>MAX POOLING</vt:lpstr>
      <vt:lpstr>PowerPoint Presentation</vt:lpstr>
      <vt:lpstr>PowerPoint Presentation</vt:lpstr>
      <vt:lpstr>Fully Connected Layer (FC layer) - Contains neurons that connect to the entire input volume, as in ordinary Neural Networks</vt:lpstr>
      <vt:lpstr>[ConvNetJS demo: training on CIFAR-10]</vt:lpstr>
      <vt:lpstr>Case Study: LeNet-5</vt:lpstr>
      <vt:lpstr>Case Study: AlexNet [Krizhevsky et al. 2012]</vt:lpstr>
      <vt:lpstr>Case Study: AlexNet [Krizhevsky et al. 2012]</vt:lpstr>
      <vt:lpstr>Case Study: AlexNet [Krizhevsky et al. 2012]</vt:lpstr>
      <vt:lpstr>Case Study: AlexNet [Krizhevsky et al. 2012]</vt:lpstr>
      <vt:lpstr>Case Study: AlexNet [Krizhevsky et al. 2012]</vt:lpstr>
      <vt:lpstr>Case Study: AlexNet [Krizhevsky et al. 2012]</vt:lpstr>
      <vt:lpstr>Case Study: AlexNet [Krizhevsky et al. 2012]</vt:lpstr>
      <vt:lpstr>Case Study: AlexNet [Krizhevsky et al. 2012]</vt:lpstr>
      <vt:lpstr>Case Study: AlexNet [Krizhevsky et al. 2012]</vt:lpstr>
      <vt:lpstr>Case Study: ZFNet</vt:lpstr>
      <vt:lpstr>Case Study: VGGNet [Simonyan and Zisserman, 2014]</vt:lpstr>
      <vt:lpstr>(not counting biases)</vt:lpstr>
      <vt:lpstr>(not counting biases)</vt:lpstr>
      <vt:lpstr>(not counting biases)</vt:lpstr>
      <vt:lpstr>Case Study: GoogLeNet</vt:lpstr>
      <vt:lpstr>Case Study: GoogLeNet</vt:lpstr>
      <vt:lpstr>Case Study: ResNet</vt:lpstr>
      <vt:lpstr>PowerPoint Presentation</vt:lpstr>
      <vt:lpstr>PowerPoint Presentation</vt:lpstr>
      <vt:lpstr>Case Study: ResNet</vt:lpstr>
      <vt:lpstr>Case Study: ResNet</vt:lpstr>
      <vt:lpstr>Case Study: ResNet</vt:lpstr>
      <vt:lpstr>Case Study: ResNet</vt:lpstr>
      <vt:lpstr>Case Study: ResNet</vt:lpstr>
      <vt:lpstr>Case Study: ResNet</vt:lpstr>
      <vt:lpstr>Case Study: ResNet</vt:lpstr>
      <vt:lpstr>Case Study Bonus: DeepMind’s AlphaGo</vt:lpstr>
      <vt:lpstr>PowerPoint Presentation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7:</dc:title>
  <cp:lastModifiedBy>Dr. Shangsong Liang</cp:lastModifiedBy>
  <cp:revision>10</cp:revision>
  <dcterms:created xsi:type="dcterms:W3CDTF">2024-12-12T05:50:22Z</dcterms:created>
  <dcterms:modified xsi:type="dcterms:W3CDTF">2024-12-12T08:00:33Z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or">
    <vt:lpwstr>Google</vt:lpwstr>
  </property>
  <property fmtid="{D5CDD505-2E9C-101B-9397-08002B2CF9AE}" pid="3" name="LastSaved">
    <vt:filetime>2024-12-12T00:00:00Z</vt:filetime>
  </property>
  <property fmtid="{D5CDD505-2E9C-101B-9397-08002B2CF9AE}" pid="4" name="Producer">
    <vt:lpwstr>3-Heights(TM) PDF Security Shell 4.8.25.2 (http://www.pdf-tools.com)</vt:lpwstr>
  </property>
</Properties>
</file>