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76.jpg" ContentType="image/jpeg"/>
  <Override PartName="/ppt/media/image77.jpg" ContentType="image/jpeg"/>
  <Override PartName="/ppt/media/image78.jpg" ContentType="image/jpeg"/>
  <Override PartName="/ppt/media/image79.jpg" ContentType="image/jpeg"/>
  <Override PartName="/ppt/media/image81.jpg" ContentType="image/jpeg"/>
  <Override PartName="/ppt/media/image87.jpg" ContentType="image/jpeg"/>
  <Override PartName="/ppt/media/image88.jpg" ContentType="image/jpeg"/>
  <Override PartName="/ppt/media/image89.jpg" ContentType="image/jpeg"/>
  <Override PartName="/ppt/media/image91.jpg" ContentType="image/jpeg"/>
  <Override PartName="/ppt/media/image92.jpg" ContentType="image/jpeg"/>
  <Override PartName="/ppt/media/image93.jpg" ContentType="image/jpeg"/>
  <Override PartName="/ppt/media/image94.jpg" ContentType="image/jpeg"/>
  <Override PartName="/ppt/media/image95.jpg" ContentType="image/jpeg"/>
  <Override PartName="/ppt/media/image96.jpg" ContentType="image/jpeg"/>
  <Override PartName="/ppt/media/image105.jpg" ContentType="image/jpeg"/>
  <Override PartName="/ppt/media/image106.jpg" ContentType="image/jpeg"/>
  <Override PartName="/ppt/media/image114.jpg" ContentType="image/jpeg"/>
  <Override PartName="/ppt/media/image17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334" r:id="rId22"/>
    <p:sldId id="281" r:id="rId23"/>
    <p:sldId id="282" r:id="rId24"/>
    <p:sldId id="283" r:id="rId25"/>
    <p:sldId id="284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15"/>
    <p:restoredTop sz="94683"/>
  </p:normalViewPr>
  <p:slideViewPr>
    <p:cSldViewPr>
      <p:cViewPr varScale="1">
        <p:scale>
          <a:sx n="103" d="100"/>
          <a:sy n="103" d="100"/>
        </p:scale>
        <p:origin x="896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-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5251E-CA8D-AB41-B8CC-C9522BA2A59A}" type="datetimeFigureOut">
              <a:rPr lang="en-US" smtClean="0"/>
              <a:t>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970C33-5C44-CA4B-8EB2-FEFF877C19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29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From:</a:t>
            </a:r>
            <a:r>
              <a:rPr lang="zh-CN" altLang="en-US" dirty="0"/>
              <a:t> </a:t>
            </a:r>
            <a:r>
              <a:rPr lang="en-US" sz="1200" spc="-10" dirty="0">
                <a:solidFill>
                  <a:srgbClr val="FFFFFF"/>
                </a:solidFill>
                <a:latin typeface="Trebuchet MS"/>
                <a:cs typeface="Trebuchet MS"/>
              </a:rPr>
              <a:t>https://cvpr2023-tutorial-</a:t>
            </a:r>
            <a:r>
              <a:rPr lang="en-US" sz="1200" spc="-20" dirty="0">
                <a:solidFill>
                  <a:srgbClr val="FFFFFF"/>
                </a:solidFill>
                <a:latin typeface="Trebuchet MS"/>
                <a:cs typeface="Trebuchet MS"/>
              </a:rPr>
              <a:t>diffusion-</a:t>
            </a:r>
            <a:r>
              <a:rPr lang="en-US" sz="1200" spc="-10" dirty="0">
                <a:solidFill>
                  <a:srgbClr val="FFFFFF"/>
                </a:solidFill>
                <a:latin typeface="Trebuchet MS"/>
                <a:cs typeface="Trebuchet MS"/>
              </a:rPr>
              <a:t>models.github.io/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spc="-10" dirty="0">
                <a:solidFill>
                  <a:srgbClr val="FFFFFF"/>
                </a:solidFill>
                <a:latin typeface="Trebuchet MS"/>
                <a:cs typeface="Trebuchet MS"/>
              </a:rPr>
              <a:t>Produced</a:t>
            </a:r>
            <a:r>
              <a:rPr lang="zh-CN" altLang="en-US" sz="12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lang="zh-CN" altLang="en-US" sz="1200" spc="-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1200" dirty="0">
                <a:solidFill>
                  <a:srgbClr val="75BA00"/>
                </a:solidFill>
                <a:latin typeface="Trebuchet MS"/>
                <a:cs typeface="Trebuchet MS"/>
              </a:rPr>
              <a:t>Jiaming</a:t>
            </a:r>
            <a:r>
              <a:rPr lang="en-US" sz="1200" spc="-7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sz="1200" spc="-20" dirty="0">
                <a:solidFill>
                  <a:srgbClr val="75BA00"/>
                </a:solidFill>
                <a:latin typeface="Trebuchet MS"/>
                <a:cs typeface="Trebuchet MS"/>
              </a:rPr>
              <a:t>Song</a:t>
            </a:r>
            <a:r>
              <a:rPr lang="en-US" altLang="zh-CN" sz="1200" spc="-20" dirty="0">
                <a:solidFill>
                  <a:srgbClr val="75BA00"/>
                </a:solidFill>
                <a:latin typeface="Trebuchet MS"/>
                <a:cs typeface="Trebuchet MS"/>
              </a:rPr>
              <a:t>,</a:t>
            </a:r>
            <a:r>
              <a:rPr lang="zh-CN" altLang="en-US" sz="1200" spc="-2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sz="1200" dirty="0" err="1">
                <a:solidFill>
                  <a:srgbClr val="8D1514"/>
                </a:solidFill>
                <a:latin typeface="Trebuchet MS"/>
                <a:cs typeface="Trebuchet MS"/>
              </a:rPr>
              <a:t>Chenlin</a:t>
            </a:r>
            <a:r>
              <a:rPr lang="en-US" sz="1200" spc="-25" dirty="0">
                <a:solidFill>
                  <a:srgbClr val="8D1514"/>
                </a:solidFill>
                <a:latin typeface="Trebuchet MS"/>
                <a:cs typeface="Trebuchet MS"/>
              </a:rPr>
              <a:t> </a:t>
            </a:r>
            <a:r>
              <a:rPr lang="en-US" sz="1200" spc="-20" dirty="0">
                <a:solidFill>
                  <a:srgbClr val="8D1514"/>
                </a:solidFill>
                <a:latin typeface="Trebuchet MS"/>
                <a:cs typeface="Trebuchet MS"/>
              </a:rPr>
              <a:t>Meng</a:t>
            </a:r>
            <a:r>
              <a:rPr lang="en-US" altLang="zh-CN" sz="1200" spc="-20" dirty="0">
                <a:solidFill>
                  <a:srgbClr val="8D1514"/>
                </a:solidFill>
                <a:latin typeface="Trebuchet MS"/>
                <a:cs typeface="Trebuchet MS"/>
              </a:rPr>
              <a:t>,</a:t>
            </a:r>
            <a:r>
              <a:rPr lang="zh-CN" altLang="en-US" sz="1200" spc="-20" dirty="0">
                <a:solidFill>
                  <a:srgbClr val="8D1514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20" dirty="0">
                <a:solidFill>
                  <a:srgbClr val="8D1514"/>
                </a:solidFill>
                <a:latin typeface="Trebuchet MS"/>
                <a:cs typeface="Trebuchet MS"/>
              </a:rPr>
              <a:t>and</a:t>
            </a:r>
            <a:r>
              <a:rPr lang="zh-CN" altLang="en-US" sz="1200" spc="-20" dirty="0">
                <a:solidFill>
                  <a:srgbClr val="8D1514"/>
                </a:solidFill>
                <a:latin typeface="Trebuchet MS"/>
                <a:cs typeface="Trebuchet MS"/>
              </a:rPr>
              <a:t> </a:t>
            </a:r>
            <a:r>
              <a:rPr lang="en-US" sz="1200" dirty="0" err="1">
                <a:solidFill>
                  <a:srgbClr val="75BA00"/>
                </a:solidFill>
                <a:latin typeface="Trebuchet MS"/>
                <a:cs typeface="Trebuchet MS"/>
              </a:rPr>
              <a:t>Arash</a:t>
            </a:r>
            <a:r>
              <a:rPr lang="en-US" sz="1200" spc="-25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Vahdat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Modified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by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S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Liang,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Do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NOT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redistributed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without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the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original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authors’</a:t>
            </a:r>
            <a:r>
              <a:rPr lang="zh-CN" altLang="en-US" sz="1200" spc="-10" dirty="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r>
              <a:rPr lang="en-US" altLang="zh-CN" sz="1200" spc="-10" dirty="0">
                <a:solidFill>
                  <a:srgbClr val="75BA00"/>
                </a:solidFill>
                <a:latin typeface="Trebuchet MS"/>
                <a:cs typeface="Trebuchet MS"/>
              </a:rPr>
              <a:t>permissions.</a:t>
            </a:r>
            <a:r>
              <a:rPr lang="zh-CN" altLang="en-US" sz="1200" spc="-10">
                <a:solidFill>
                  <a:srgbClr val="75BA00"/>
                </a:solidFill>
                <a:latin typeface="Trebuchet MS"/>
                <a:cs typeface="Trebuchet MS"/>
              </a:rPr>
              <a:t> </a:t>
            </a:r>
            <a:endParaRPr lang="en-US" sz="1200" dirty="0">
              <a:latin typeface="Trebuchet MS"/>
              <a:cs typeface="Trebuchet M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970C33-5C44-CA4B-8EB2-FEFF877C196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538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29409" y="1066800"/>
            <a:ext cx="15029180" cy="741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C8C8C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C8C8C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C8C8C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C8C8C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C8C8C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3620" y="630936"/>
            <a:ext cx="16240759" cy="164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7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9990" y="3487420"/>
            <a:ext cx="11658600" cy="27508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589920" y="9798970"/>
            <a:ext cx="246697" cy="20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C8C8C"/>
                </a:solidFill>
                <a:latin typeface="Trebuchet MS"/>
                <a:cs typeface="Trebuchet MS"/>
              </a:defRPr>
            </a:lvl1pPr>
          </a:lstStyle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hyperlink" Target="http://www.wired.com/story/what-if-the-big-bang-was-actually-a-big-bounce/" TargetMode="Externa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11" Type="http://schemas.openxmlformats.org/officeDocument/2006/relationships/hyperlink" Target="https://arxiv.org/abs/2011.13456" TargetMode="External"/><Relationship Id="rId5" Type="http://schemas.openxmlformats.org/officeDocument/2006/relationships/image" Target="../media/image27.jpg"/><Relationship Id="rId10" Type="http://schemas.openxmlformats.org/officeDocument/2006/relationships/hyperlink" Target="https://arxiv.org/abs/2006.11239" TargetMode="External"/><Relationship Id="rId4" Type="http://schemas.openxmlformats.org/officeDocument/2006/relationships/image" Target="../media/image26.jpg"/><Relationship Id="rId9" Type="http://schemas.openxmlformats.org/officeDocument/2006/relationships/hyperlink" Target="https://arxiv.org/abs/1503.03585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11" Type="http://schemas.openxmlformats.org/officeDocument/2006/relationships/image" Target="../media/image33.png"/><Relationship Id="rId5" Type="http://schemas.openxmlformats.org/officeDocument/2006/relationships/image" Target="../media/image27.jpg"/><Relationship Id="rId10" Type="http://schemas.openxmlformats.org/officeDocument/2006/relationships/image" Target="../media/image32.png"/><Relationship Id="rId4" Type="http://schemas.openxmlformats.org/officeDocument/2006/relationships/image" Target="../media/image26.jp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13" Type="http://schemas.openxmlformats.org/officeDocument/2006/relationships/image" Target="../media/image38.pn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12" Type="http://schemas.openxmlformats.org/officeDocument/2006/relationships/image" Target="../media/image3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11" Type="http://schemas.openxmlformats.org/officeDocument/2006/relationships/image" Target="../media/image36.png"/><Relationship Id="rId5" Type="http://schemas.openxmlformats.org/officeDocument/2006/relationships/image" Target="../media/image26.jp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5.jpg"/><Relationship Id="rId9" Type="http://schemas.openxmlformats.org/officeDocument/2006/relationships/image" Target="../media/image30.jpg"/><Relationship Id="rId1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g"/><Relationship Id="rId3" Type="http://schemas.openxmlformats.org/officeDocument/2006/relationships/image" Target="../media/image25.jpg"/><Relationship Id="rId7" Type="http://schemas.openxmlformats.org/officeDocument/2006/relationships/image" Target="../media/image29.jpg"/><Relationship Id="rId12" Type="http://schemas.openxmlformats.org/officeDocument/2006/relationships/image" Target="../media/image60.pn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11" Type="http://schemas.openxmlformats.org/officeDocument/2006/relationships/image" Target="../media/image59.png"/><Relationship Id="rId5" Type="http://schemas.openxmlformats.org/officeDocument/2006/relationships/image" Target="../media/image27.jpg"/><Relationship Id="rId10" Type="http://schemas.openxmlformats.org/officeDocument/2006/relationships/image" Target="../media/image31.png"/><Relationship Id="rId4" Type="http://schemas.openxmlformats.org/officeDocument/2006/relationships/image" Target="../media/image26.jpg"/><Relationship Id="rId9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hyperlink" Target="https://arxiv.org/abs/2006.11239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image" Target="../media/image69.png"/><Relationship Id="rId7" Type="http://schemas.openxmlformats.org/officeDocument/2006/relationships/image" Target="../media/image26.jp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105.05233" TargetMode="Externa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jpg"/><Relationship Id="rId3" Type="http://schemas.openxmlformats.org/officeDocument/2006/relationships/image" Target="../media/image74.png"/><Relationship Id="rId7" Type="http://schemas.openxmlformats.org/officeDocument/2006/relationships/image" Target="../media/image78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jpg"/><Relationship Id="rId5" Type="http://schemas.openxmlformats.org/officeDocument/2006/relationships/image" Target="../media/image76.jpg"/><Relationship Id="rId4" Type="http://schemas.openxmlformats.org/officeDocument/2006/relationships/image" Target="../media/image75.jp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jpg"/><Relationship Id="rId3" Type="http://schemas.openxmlformats.org/officeDocument/2006/relationships/image" Target="../media/image75.jpg"/><Relationship Id="rId7" Type="http://schemas.openxmlformats.org/officeDocument/2006/relationships/image" Target="../media/image79.jp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jpg"/><Relationship Id="rId5" Type="http://schemas.openxmlformats.org/officeDocument/2006/relationships/image" Target="../media/image77.jpg"/><Relationship Id="rId4" Type="http://schemas.openxmlformats.org/officeDocument/2006/relationships/image" Target="../media/image76.jp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jpg"/><Relationship Id="rId7" Type="http://schemas.openxmlformats.org/officeDocument/2006/relationships/image" Target="../media/image28.jpg"/><Relationship Id="rId2" Type="http://schemas.openxmlformats.org/officeDocument/2006/relationships/hyperlink" Target="https://arxiv.org/abs/2011.1345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10" Type="http://schemas.openxmlformats.org/officeDocument/2006/relationships/image" Target="../media/image81.jpg"/><Relationship Id="rId4" Type="http://schemas.openxmlformats.org/officeDocument/2006/relationships/image" Target="../media/image25.jpg"/><Relationship Id="rId9" Type="http://schemas.openxmlformats.org/officeDocument/2006/relationships/image" Target="../media/image30.jp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86.jpg"/><Relationship Id="rId3" Type="http://schemas.openxmlformats.org/officeDocument/2006/relationships/image" Target="../media/image83.jpg"/><Relationship Id="rId7" Type="http://schemas.openxmlformats.org/officeDocument/2006/relationships/image" Target="../media/image26.jpg"/><Relationship Id="rId12" Type="http://schemas.openxmlformats.org/officeDocument/2006/relationships/image" Target="../media/image85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image" Target="../media/image87.jpg"/><Relationship Id="rId10" Type="http://schemas.openxmlformats.org/officeDocument/2006/relationships/image" Target="../media/image29.jpg"/><Relationship Id="rId4" Type="http://schemas.openxmlformats.org/officeDocument/2006/relationships/image" Target="../media/image84.jpg"/><Relationship Id="rId9" Type="http://schemas.openxmlformats.org/officeDocument/2006/relationships/image" Target="../media/image28.jpg"/><Relationship Id="rId14" Type="http://schemas.openxmlformats.org/officeDocument/2006/relationships/hyperlink" Target="https://arxiv.org/abs/2011.13456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86.jpg"/><Relationship Id="rId3" Type="http://schemas.openxmlformats.org/officeDocument/2006/relationships/image" Target="../media/image83.jpg"/><Relationship Id="rId7" Type="http://schemas.openxmlformats.org/officeDocument/2006/relationships/image" Target="../media/image26.jpg"/><Relationship Id="rId12" Type="http://schemas.openxmlformats.org/officeDocument/2006/relationships/image" Target="../media/image85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image" Target="../media/image88.jpg"/><Relationship Id="rId10" Type="http://schemas.openxmlformats.org/officeDocument/2006/relationships/image" Target="../media/image29.jpg"/><Relationship Id="rId4" Type="http://schemas.openxmlformats.org/officeDocument/2006/relationships/image" Target="../media/image84.jpg"/><Relationship Id="rId9" Type="http://schemas.openxmlformats.org/officeDocument/2006/relationships/image" Target="../media/image28.jpg"/><Relationship Id="rId14" Type="http://schemas.openxmlformats.org/officeDocument/2006/relationships/hyperlink" Target="https://arxiv.org/abs/2011.13456" TargetMode="Externa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86.jpg"/><Relationship Id="rId3" Type="http://schemas.openxmlformats.org/officeDocument/2006/relationships/image" Target="../media/image83.jpg"/><Relationship Id="rId7" Type="http://schemas.openxmlformats.org/officeDocument/2006/relationships/image" Target="../media/image26.jpg"/><Relationship Id="rId12" Type="http://schemas.openxmlformats.org/officeDocument/2006/relationships/image" Target="../media/image85.jpg"/><Relationship Id="rId17" Type="http://schemas.openxmlformats.org/officeDocument/2006/relationships/image" Target="../media/image89.jpg"/><Relationship Id="rId2" Type="http://schemas.openxmlformats.org/officeDocument/2006/relationships/image" Target="../media/image82.jpg"/><Relationship Id="rId16" Type="http://schemas.openxmlformats.org/officeDocument/2006/relationships/image" Target="../media/image8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hyperlink" Target="https://www.sciencedirect.com/science/article/pii/0304414982900515" TargetMode="External"/><Relationship Id="rId10" Type="http://schemas.openxmlformats.org/officeDocument/2006/relationships/image" Target="../media/image29.jpg"/><Relationship Id="rId4" Type="http://schemas.openxmlformats.org/officeDocument/2006/relationships/image" Target="../media/image84.jpg"/><Relationship Id="rId9" Type="http://schemas.openxmlformats.org/officeDocument/2006/relationships/image" Target="../media/image28.jpg"/><Relationship Id="rId14" Type="http://schemas.openxmlformats.org/officeDocument/2006/relationships/hyperlink" Target="https://arxiv.org/abs/2011.13456" TargetMode="Externa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13" Type="http://schemas.openxmlformats.org/officeDocument/2006/relationships/hyperlink" Target="https://arxiv.org/abs/2011.13456" TargetMode="External"/><Relationship Id="rId3" Type="http://schemas.openxmlformats.org/officeDocument/2006/relationships/image" Target="../media/image90.png"/><Relationship Id="rId7" Type="http://schemas.openxmlformats.org/officeDocument/2006/relationships/image" Target="../media/image27.jpg"/><Relationship Id="rId12" Type="http://schemas.openxmlformats.org/officeDocument/2006/relationships/image" Target="../media/image86.jpg"/><Relationship Id="rId17" Type="http://schemas.openxmlformats.org/officeDocument/2006/relationships/image" Target="../media/image91.jpg"/><Relationship Id="rId2" Type="http://schemas.openxmlformats.org/officeDocument/2006/relationships/image" Target="../media/image82.jpg"/><Relationship Id="rId16" Type="http://schemas.openxmlformats.org/officeDocument/2006/relationships/image" Target="../media/image8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11" Type="http://schemas.openxmlformats.org/officeDocument/2006/relationships/image" Target="../media/image85.jpg"/><Relationship Id="rId5" Type="http://schemas.openxmlformats.org/officeDocument/2006/relationships/image" Target="../media/image25.jpg"/><Relationship Id="rId15" Type="http://schemas.openxmlformats.org/officeDocument/2006/relationships/image" Target="../media/image88.jpg"/><Relationship Id="rId10" Type="http://schemas.openxmlformats.org/officeDocument/2006/relationships/image" Target="../media/image30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Relationship Id="rId14" Type="http://schemas.openxmlformats.org/officeDocument/2006/relationships/hyperlink" Target="https://www.sciencedirect.com/science/article/pii/0304414982900515" TargetMode="Externa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86.jpg"/><Relationship Id="rId3" Type="http://schemas.openxmlformats.org/officeDocument/2006/relationships/image" Target="../media/image83.jpg"/><Relationship Id="rId7" Type="http://schemas.openxmlformats.org/officeDocument/2006/relationships/image" Target="../media/image26.jpg"/><Relationship Id="rId12" Type="http://schemas.openxmlformats.org/officeDocument/2006/relationships/image" Target="../media/image85.jpg"/><Relationship Id="rId2" Type="http://schemas.openxmlformats.org/officeDocument/2006/relationships/image" Target="../media/image82.jpg"/><Relationship Id="rId16" Type="http://schemas.openxmlformats.org/officeDocument/2006/relationships/image" Target="../media/image9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hyperlink" Target="https://arxiv.org/abs/1907.05600" TargetMode="External"/><Relationship Id="rId10" Type="http://schemas.openxmlformats.org/officeDocument/2006/relationships/image" Target="../media/image29.jpg"/><Relationship Id="rId4" Type="http://schemas.openxmlformats.org/officeDocument/2006/relationships/image" Target="../media/image84.jpg"/><Relationship Id="rId9" Type="http://schemas.openxmlformats.org/officeDocument/2006/relationships/image" Target="../media/image28.jpg"/><Relationship Id="rId14" Type="http://schemas.openxmlformats.org/officeDocument/2006/relationships/hyperlink" Target="https://ieeexplore.ieee.org/document/6795935" TargetMode="Externa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86.jpg"/><Relationship Id="rId18" Type="http://schemas.openxmlformats.org/officeDocument/2006/relationships/image" Target="../media/image94.jpg"/><Relationship Id="rId3" Type="http://schemas.openxmlformats.org/officeDocument/2006/relationships/image" Target="../media/image83.jpg"/><Relationship Id="rId7" Type="http://schemas.openxmlformats.org/officeDocument/2006/relationships/image" Target="../media/image26.jpg"/><Relationship Id="rId12" Type="http://schemas.openxmlformats.org/officeDocument/2006/relationships/image" Target="../media/image85.jpg"/><Relationship Id="rId17" Type="http://schemas.openxmlformats.org/officeDocument/2006/relationships/image" Target="../media/image93.jpg"/><Relationship Id="rId2" Type="http://schemas.openxmlformats.org/officeDocument/2006/relationships/image" Target="../media/image82.jpg"/><Relationship Id="rId16" Type="http://schemas.openxmlformats.org/officeDocument/2006/relationships/hyperlink" Target="https://arxiv.org/abs/2011.1345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hyperlink" Target="https://arxiv.org/abs/1907.05600" TargetMode="External"/><Relationship Id="rId10" Type="http://schemas.openxmlformats.org/officeDocument/2006/relationships/image" Target="../media/image29.jpg"/><Relationship Id="rId19" Type="http://schemas.openxmlformats.org/officeDocument/2006/relationships/image" Target="../media/image95.jpg"/><Relationship Id="rId4" Type="http://schemas.openxmlformats.org/officeDocument/2006/relationships/image" Target="../media/image84.jpg"/><Relationship Id="rId9" Type="http://schemas.openxmlformats.org/officeDocument/2006/relationships/image" Target="../media/image28.jpg"/><Relationship Id="rId14" Type="http://schemas.openxmlformats.org/officeDocument/2006/relationships/hyperlink" Target="https://ieeexplore.ieee.org/document/6795935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86.jpg"/><Relationship Id="rId18" Type="http://schemas.openxmlformats.org/officeDocument/2006/relationships/image" Target="../media/image96.jpg"/><Relationship Id="rId3" Type="http://schemas.openxmlformats.org/officeDocument/2006/relationships/image" Target="../media/image83.jpg"/><Relationship Id="rId7" Type="http://schemas.openxmlformats.org/officeDocument/2006/relationships/image" Target="../media/image26.jpg"/><Relationship Id="rId12" Type="http://schemas.openxmlformats.org/officeDocument/2006/relationships/image" Target="../media/image85.jpg"/><Relationship Id="rId17" Type="http://schemas.openxmlformats.org/officeDocument/2006/relationships/image" Target="../media/image94.jpg"/><Relationship Id="rId2" Type="http://schemas.openxmlformats.org/officeDocument/2006/relationships/image" Target="../media/image82.jpg"/><Relationship Id="rId16" Type="http://schemas.openxmlformats.org/officeDocument/2006/relationships/hyperlink" Target="https://arxiv.org/abs/2011.1345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5" Type="http://schemas.openxmlformats.org/officeDocument/2006/relationships/hyperlink" Target="https://arxiv.org/abs/1907.05600" TargetMode="External"/><Relationship Id="rId10" Type="http://schemas.openxmlformats.org/officeDocument/2006/relationships/image" Target="../media/image29.jpg"/><Relationship Id="rId4" Type="http://schemas.openxmlformats.org/officeDocument/2006/relationships/image" Target="../media/image84.jpg"/><Relationship Id="rId9" Type="http://schemas.openxmlformats.org/officeDocument/2006/relationships/image" Target="../media/image28.jpg"/><Relationship Id="rId14" Type="http://schemas.openxmlformats.org/officeDocument/2006/relationships/hyperlink" Target="https://ieeexplore.ieee.org/document/6795935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206.00364" TargetMode="Externa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13" Type="http://schemas.openxmlformats.org/officeDocument/2006/relationships/hyperlink" Target="https://arxiv.org/abs/2011.13456" TargetMode="External"/><Relationship Id="rId3" Type="http://schemas.openxmlformats.org/officeDocument/2006/relationships/image" Target="../media/image102.jpg"/><Relationship Id="rId7" Type="http://schemas.openxmlformats.org/officeDocument/2006/relationships/image" Target="../media/image25.jpg"/><Relationship Id="rId12" Type="http://schemas.openxmlformats.org/officeDocument/2006/relationships/image" Target="../media/image30.jpg"/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11" Type="http://schemas.openxmlformats.org/officeDocument/2006/relationships/image" Target="../media/image29.jpg"/><Relationship Id="rId5" Type="http://schemas.openxmlformats.org/officeDocument/2006/relationships/image" Target="../media/image104.jpg"/><Relationship Id="rId15" Type="http://schemas.openxmlformats.org/officeDocument/2006/relationships/image" Target="../media/image106.jpg"/><Relationship Id="rId10" Type="http://schemas.openxmlformats.org/officeDocument/2006/relationships/image" Target="../media/image28.jpg"/><Relationship Id="rId4" Type="http://schemas.openxmlformats.org/officeDocument/2006/relationships/image" Target="../media/image103.jpg"/><Relationship Id="rId9" Type="http://schemas.openxmlformats.org/officeDocument/2006/relationships/image" Target="../media/image27.jpg"/><Relationship Id="rId14" Type="http://schemas.openxmlformats.org/officeDocument/2006/relationships/image" Target="../media/image105.jp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13" Type="http://schemas.openxmlformats.org/officeDocument/2006/relationships/image" Target="../media/image29.jpg"/><Relationship Id="rId3" Type="http://schemas.openxmlformats.org/officeDocument/2006/relationships/hyperlink" Target="https://arxiv.org/abs/1810.01367" TargetMode="External"/><Relationship Id="rId7" Type="http://schemas.openxmlformats.org/officeDocument/2006/relationships/image" Target="../media/image86.jpg"/><Relationship Id="rId12" Type="http://schemas.openxmlformats.org/officeDocument/2006/relationships/image" Target="../media/image28.jpg"/><Relationship Id="rId2" Type="http://schemas.openxmlformats.org/officeDocument/2006/relationships/hyperlink" Target="https://arxiv.org/abs/1806.07366" TargetMode="External"/><Relationship Id="rId16" Type="http://schemas.openxmlformats.org/officeDocument/2006/relationships/hyperlink" Target="https://arxiv.org/abs/2011.13456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jpg"/><Relationship Id="rId11" Type="http://schemas.openxmlformats.org/officeDocument/2006/relationships/image" Target="../media/image27.jpg"/><Relationship Id="rId5" Type="http://schemas.openxmlformats.org/officeDocument/2006/relationships/image" Target="../media/image107.jpg"/><Relationship Id="rId15" Type="http://schemas.openxmlformats.org/officeDocument/2006/relationships/image" Target="../media/image108.jpg"/><Relationship Id="rId10" Type="http://schemas.openxmlformats.org/officeDocument/2006/relationships/image" Target="../media/image26.jpg"/><Relationship Id="rId4" Type="http://schemas.openxmlformats.org/officeDocument/2006/relationships/image" Target="../media/image102.jpg"/><Relationship Id="rId9" Type="http://schemas.openxmlformats.org/officeDocument/2006/relationships/image" Target="../media/image24.jpg"/><Relationship Id="rId14" Type="http://schemas.openxmlformats.org/officeDocument/2006/relationships/image" Target="../media/image30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2.07804" TargetMode="External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12.07804" TargetMode="External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g"/><Relationship Id="rId13" Type="http://schemas.openxmlformats.org/officeDocument/2006/relationships/image" Target="../media/image86.jpg"/><Relationship Id="rId3" Type="http://schemas.openxmlformats.org/officeDocument/2006/relationships/image" Target="../media/image83.jpg"/><Relationship Id="rId7" Type="http://schemas.openxmlformats.org/officeDocument/2006/relationships/image" Target="../media/image26.jpg"/><Relationship Id="rId12" Type="http://schemas.openxmlformats.org/officeDocument/2006/relationships/image" Target="../media/image85.jpg"/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g"/><Relationship Id="rId11" Type="http://schemas.openxmlformats.org/officeDocument/2006/relationships/image" Target="../media/image30.jpg"/><Relationship Id="rId5" Type="http://schemas.openxmlformats.org/officeDocument/2006/relationships/image" Target="../media/image24.jpg"/><Relationship Id="rId10" Type="http://schemas.openxmlformats.org/officeDocument/2006/relationships/image" Target="../media/image29.jpg"/><Relationship Id="rId4" Type="http://schemas.openxmlformats.org/officeDocument/2006/relationships/image" Target="../media/image84.jpg"/><Relationship Id="rId9" Type="http://schemas.openxmlformats.org/officeDocument/2006/relationships/image" Target="../media/image28.jp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4.jpg"/><Relationship Id="rId4" Type="http://schemas.openxmlformats.org/officeDocument/2006/relationships/image" Target="../media/image113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2.png"/><Relationship Id="rId7" Type="http://schemas.openxmlformats.org/officeDocument/2006/relationships/image" Target="../media/image117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14.jpg"/><Relationship Id="rId5" Type="http://schemas.openxmlformats.org/officeDocument/2006/relationships/image" Target="../media/image115.png"/><Relationship Id="rId10" Type="http://schemas.openxmlformats.org/officeDocument/2006/relationships/hyperlink" Target="https://arxiv.org/abs/2010.02502" TargetMode="External"/><Relationship Id="rId4" Type="http://schemas.openxmlformats.org/officeDocument/2006/relationships/image" Target="../media/image113.png"/><Relationship Id="rId9" Type="http://schemas.openxmlformats.org/officeDocument/2006/relationships/image" Target="../media/image11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3.png"/><Relationship Id="rId3" Type="http://schemas.openxmlformats.org/officeDocument/2006/relationships/image" Target="../media/image112.png"/><Relationship Id="rId7" Type="http://schemas.openxmlformats.org/officeDocument/2006/relationships/image" Target="../media/image118.png"/><Relationship Id="rId12" Type="http://schemas.openxmlformats.org/officeDocument/2006/relationships/image" Target="../media/image12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1.png"/><Relationship Id="rId5" Type="http://schemas.openxmlformats.org/officeDocument/2006/relationships/image" Target="../media/image115.png"/><Relationship Id="rId10" Type="http://schemas.openxmlformats.org/officeDocument/2006/relationships/image" Target="../media/image117.png"/><Relationship Id="rId4" Type="http://schemas.openxmlformats.org/officeDocument/2006/relationships/image" Target="../media/image113.png"/><Relationship Id="rId9" Type="http://schemas.openxmlformats.org/officeDocument/2006/relationships/image" Target="../media/image120.png"/><Relationship Id="rId14" Type="http://schemas.openxmlformats.org/officeDocument/2006/relationships/image" Target="../media/image114.jp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206.00927" TargetMode="External"/><Relationship Id="rId13" Type="http://schemas.openxmlformats.org/officeDocument/2006/relationships/hyperlink" Target="https://arxiv.org/abs/2305.19947" TargetMode="External"/><Relationship Id="rId3" Type="http://schemas.openxmlformats.org/officeDocument/2006/relationships/hyperlink" Target="https://arxiv.org/abs/2105.14080" TargetMode="External"/><Relationship Id="rId7" Type="http://schemas.openxmlformats.org/officeDocument/2006/relationships/hyperlink" Target="https://arxiv.org/abs/2204.13902" TargetMode="External"/><Relationship Id="rId12" Type="http://schemas.openxmlformats.org/officeDocument/2006/relationships/hyperlink" Target="https://arxiv.org/abs/2305.16317" TargetMode="External"/><Relationship Id="rId2" Type="http://schemas.openxmlformats.org/officeDocument/2006/relationships/hyperlink" Target="https://arxiv.org/abs/2011.1345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202.09778" TargetMode="External"/><Relationship Id="rId11" Type="http://schemas.openxmlformats.org/officeDocument/2006/relationships/hyperlink" Target="https://arxiv.org/abs/2302.04867" TargetMode="External"/><Relationship Id="rId5" Type="http://schemas.openxmlformats.org/officeDocument/2006/relationships/hyperlink" Target="https://arxiv.org/abs/2206.05564" TargetMode="External"/><Relationship Id="rId10" Type="http://schemas.openxmlformats.org/officeDocument/2006/relationships/hyperlink" Target="https://arxiv.org/abs/2206.00364" TargetMode="External"/><Relationship Id="rId4" Type="http://schemas.openxmlformats.org/officeDocument/2006/relationships/hyperlink" Target="https://arxiv.org/abs/2010.02502" TargetMode="External"/><Relationship Id="rId9" Type="http://schemas.openxmlformats.org/officeDocument/2006/relationships/hyperlink" Target="https://arxiv.org/abs/2211.01095" TargetMode="Externa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07.jpg"/><Relationship Id="rId7" Type="http://schemas.openxmlformats.org/officeDocument/2006/relationships/image" Target="../media/image127.png"/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24.png"/><Relationship Id="rId9" Type="http://schemas.openxmlformats.org/officeDocument/2006/relationships/image" Target="../media/image1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2.00512" TargetMode="External"/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10.03142" TargetMode="External"/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jp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hyperlink" Target="https://arxiv.org/abs/2303.01469" TargetMode="Externa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3" Type="http://schemas.openxmlformats.org/officeDocument/2006/relationships/image" Target="../media/image102.jpg"/><Relationship Id="rId7" Type="http://schemas.openxmlformats.org/officeDocument/2006/relationships/image" Target="../media/image127.png"/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10" Type="http://schemas.openxmlformats.org/officeDocument/2006/relationships/image" Target="../media/image130.png"/><Relationship Id="rId4" Type="http://schemas.openxmlformats.org/officeDocument/2006/relationships/image" Target="../media/image107.jpg"/><Relationship Id="rId9" Type="http://schemas.openxmlformats.org/officeDocument/2006/relationships/image" Target="../media/image129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hyperlink" Target="https://arxiv.org/abs/2012.08125" TargetMode="External"/><Relationship Id="rId7" Type="http://schemas.openxmlformats.org/officeDocument/2006/relationships/image" Target="../media/image27.jpg"/><Relationship Id="rId2" Type="http://schemas.openxmlformats.org/officeDocument/2006/relationships/hyperlink" Target="https://arxiv.org/abs/2112.07804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11" Type="http://schemas.openxmlformats.org/officeDocument/2006/relationships/image" Target="../media/image141.png"/><Relationship Id="rId5" Type="http://schemas.openxmlformats.org/officeDocument/2006/relationships/image" Target="../media/image25.jpg"/><Relationship Id="rId10" Type="http://schemas.openxmlformats.org/officeDocument/2006/relationships/image" Target="../media/image30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2.05830" TargetMode="External"/><Relationship Id="rId2" Type="http://schemas.openxmlformats.org/officeDocument/2006/relationships/hyperlink" Target="https://arxiv.org/abs/2101.0238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210.05475" TargetMode="External"/><Relationship Id="rId5" Type="http://schemas.openxmlformats.org/officeDocument/2006/relationships/hyperlink" Target="https://arxiv.org/abs/2211.16152" TargetMode="External"/><Relationship Id="rId4" Type="http://schemas.openxmlformats.org/officeDocument/2006/relationships/hyperlink" Target="https://arxiv.org/abs/2211.13449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4.06125" TargetMode="External"/><Relationship Id="rId2" Type="http://schemas.openxmlformats.org/officeDocument/2006/relationships/hyperlink" Target="https://arxiv.org/abs/2106.15282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2.jpg"/><Relationship Id="rId4" Type="http://schemas.openxmlformats.org/officeDocument/2006/relationships/hyperlink" Target="https://arxiv.org/abs/2205.11487" TargetMode="Externa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164.png"/><Relationship Id="rId3" Type="http://schemas.openxmlformats.org/officeDocument/2006/relationships/image" Target="../media/image144.png"/><Relationship Id="rId21" Type="http://schemas.openxmlformats.org/officeDocument/2006/relationships/image" Target="../media/image159.png"/><Relationship Id="rId7" Type="http://schemas.openxmlformats.org/officeDocument/2006/relationships/image" Target="../media/image83.jp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5" Type="http://schemas.openxmlformats.org/officeDocument/2006/relationships/image" Target="../media/image163.png"/><Relationship Id="rId2" Type="http://schemas.openxmlformats.org/officeDocument/2006/relationships/image" Target="../media/image143.jpg"/><Relationship Id="rId16" Type="http://schemas.openxmlformats.org/officeDocument/2006/relationships/image" Target="../media/image154.png"/><Relationship Id="rId20" Type="http://schemas.openxmlformats.org/officeDocument/2006/relationships/image" Target="../media/image158.png"/><Relationship Id="rId29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g"/><Relationship Id="rId11" Type="http://schemas.openxmlformats.org/officeDocument/2006/relationships/image" Target="../media/image149.png"/><Relationship Id="rId24" Type="http://schemas.openxmlformats.org/officeDocument/2006/relationships/image" Target="../media/image162.png"/><Relationship Id="rId32" Type="http://schemas.openxmlformats.org/officeDocument/2006/relationships/hyperlink" Target="https://arxiv.org/abs/2106.05931" TargetMode="External"/><Relationship Id="rId5" Type="http://schemas.openxmlformats.org/officeDocument/2006/relationships/image" Target="../media/image146.png"/><Relationship Id="rId15" Type="http://schemas.openxmlformats.org/officeDocument/2006/relationships/image" Target="../media/image153.png"/><Relationship Id="rId23" Type="http://schemas.openxmlformats.org/officeDocument/2006/relationships/image" Target="../media/image161.png"/><Relationship Id="rId28" Type="http://schemas.openxmlformats.org/officeDocument/2006/relationships/image" Target="../media/image166.png"/><Relationship Id="rId10" Type="http://schemas.openxmlformats.org/officeDocument/2006/relationships/image" Target="../media/image148.png"/><Relationship Id="rId19" Type="http://schemas.openxmlformats.org/officeDocument/2006/relationships/image" Target="../media/image157.png"/><Relationship Id="rId31" Type="http://schemas.openxmlformats.org/officeDocument/2006/relationships/image" Target="../media/image169.png"/><Relationship Id="rId4" Type="http://schemas.openxmlformats.org/officeDocument/2006/relationships/image" Target="../media/image145.jp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Relationship Id="rId22" Type="http://schemas.openxmlformats.org/officeDocument/2006/relationships/image" Target="../media/image160.png"/><Relationship Id="rId27" Type="http://schemas.openxmlformats.org/officeDocument/2006/relationships/image" Target="../media/image165.png"/><Relationship Id="rId30" Type="http://schemas.openxmlformats.org/officeDocument/2006/relationships/image" Target="../media/image16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164.png"/><Relationship Id="rId3" Type="http://schemas.openxmlformats.org/officeDocument/2006/relationships/image" Target="../media/image144.png"/><Relationship Id="rId21" Type="http://schemas.openxmlformats.org/officeDocument/2006/relationships/image" Target="../media/image159.png"/><Relationship Id="rId7" Type="http://schemas.openxmlformats.org/officeDocument/2006/relationships/image" Target="../media/image83.jp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5" Type="http://schemas.openxmlformats.org/officeDocument/2006/relationships/image" Target="../media/image163.png"/><Relationship Id="rId2" Type="http://schemas.openxmlformats.org/officeDocument/2006/relationships/image" Target="../media/image143.jpg"/><Relationship Id="rId16" Type="http://schemas.openxmlformats.org/officeDocument/2006/relationships/image" Target="../media/image154.png"/><Relationship Id="rId20" Type="http://schemas.openxmlformats.org/officeDocument/2006/relationships/image" Target="../media/image158.png"/><Relationship Id="rId29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g"/><Relationship Id="rId11" Type="http://schemas.openxmlformats.org/officeDocument/2006/relationships/image" Target="../media/image149.png"/><Relationship Id="rId24" Type="http://schemas.openxmlformats.org/officeDocument/2006/relationships/image" Target="../media/image162.png"/><Relationship Id="rId5" Type="http://schemas.openxmlformats.org/officeDocument/2006/relationships/image" Target="../media/image146.png"/><Relationship Id="rId15" Type="http://schemas.openxmlformats.org/officeDocument/2006/relationships/image" Target="../media/image153.png"/><Relationship Id="rId23" Type="http://schemas.openxmlformats.org/officeDocument/2006/relationships/image" Target="../media/image161.png"/><Relationship Id="rId28" Type="http://schemas.openxmlformats.org/officeDocument/2006/relationships/image" Target="../media/image166.png"/><Relationship Id="rId10" Type="http://schemas.openxmlformats.org/officeDocument/2006/relationships/image" Target="../media/image148.png"/><Relationship Id="rId19" Type="http://schemas.openxmlformats.org/officeDocument/2006/relationships/image" Target="../media/image157.png"/><Relationship Id="rId31" Type="http://schemas.openxmlformats.org/officeDocument/2006/relationships/hyperlink" Target="https://arxiv.org/abs/2106.05931" TargetMode="External"/><Relationship Id="rId4" Type="http://schemas.openxmlformats.org/officeDocument/2006/relationships/image" Target="../media/image145.jp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Relationship Id="rId22" Type="http://schemas.openxmlformats.org/officeDocument/2006/relationships/image" Target="../media/image160.png"/><Relationship Id="rId27" Type="http://schemas.openxmlformats.org/officeDocument/2006/relationships/image" Target="../media/image165.png"/><Relationship Id="rId30" Type="http://schemas.openxmlformats.org/officeDocument/2006/relationships/image" Target="../media/image16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jpg"/><Relationship Id="rId2" Type="http://schemas.openxmlformats.org/officeDocument/2006/relationships/hyperlink" Target="https://arxiv.org/abs/2106.05931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jpg"/><Relationship Id="rId13" Type="http://schemas.openxmlformats.org/officeDocument/2006/relationships/image" Target="../media/image151.png"/><Relationship Id="rId18" Type="http://schemas.openxmlformats.org/officeDocument/2006/relationships/image" Target="../media/image156.png"/><Relationship Id="rId26" Type="http://schemas.openxmlformats.org/officeDocument/2006/relationships/image" Target="../media/image164.png"/><Relationship Id="rId3" Type="http://schemas.openxmlformats.org/officeDocument/2006/relationships/image" Target="../media/image144.png"/><Relationship Id="rId21" Type="http://schemas.openxmlformats.org/officeDocument/2006/relationships/image" Target="../media/image159.png"/><Relationship Id="rId7" Type="http://schemas.openxmlformats.org/officeDocument/2006/relationships/image" Target="../media/image83.jpg"/><Relationship Id="rId12" Type="http://schemas.openxmlformats.org/officeDocument/2006/relationships/image" Target="../media/image150.png"/><Relationship Id="rId17" Type="http://schemas.openxmlformats.org/officeDocument/2006/relationships/image" Target="../media/image155.png"/><Relationship Id="rId25" Type="http://schemas.openxmlformats.org/officeDocument/2006/relationships/image" Target="../media/image163.png"/><Relationship Id="rId2" Type="http://schemas.openxmlformats.org/officeDocument/2006/relationships/image" Target="../media/image143.jpg"/><Relationship Id="rId16" Type="http://schemas.openxmlformats.org/officeDocument/2006/relationships/image" Target="../media/image154.png"/><Relationship Id="rId20" Type="http://schemas.openxmlformats.org/officeDocument/2006/relationships/image" Target="../media/image158.png"/><Relationship Id="rId29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jpg"/><Relationship Id="rId11" Type="http://schemas.openxmlformats.org/officeDocument/2006/relationships/image" Target="../media/image149.png"/><Relationship Id="rId24" Type="http://schemas.openxmlformats.org/officeDocument/2006/relationships/image" Target="../media/image162.png"/><Relationship Id="rId5" Type="http://schemas.openxmlformats.org/officeDocument/2006/relationships/image" Target="../media/image146.png"/><Relationship Id="rId15" Type="http://schemas.openxmlformats.org/officeDocument/2006/relationships/image" Target="../media/image153.png"/><Relationship Id="rId23" Type="http://schemas.openxmlformats.org/officeDocument/2006/relationships/image" Target="../media/image161.png"/><Relationship Id="rId28" Type="http://schemas.openxmlformats.org/officeDocument/2006/relationships/image" Target="../media/image166.png"/><Relationship Id="rId10" Type="http://schemas.openxmlformats.org/officeDocument/2006/relationships/image" Target="../media/image148.png"/><Relationship Id="rId19" Type="http://schemas.openxmlformats.org/officeDocument/2006/relationships/image" Target="../media/image157.png"/><Relationship Id="rId31" Type="http://schemas.openxmlformats.org/officeDocument/2006/relationships/hyperlink" Target="https://arxiv.org/abs/2112.10752" TargetMode="External"/><Relationship Id="rId4" Type="http://schemas.openxmlformats.org/officeDocument/2006/relationships/image" Target="../media/image145.jpg"/><Relationship Id="rId9" Type="http://schemas.openxmlformats.org/officeDocument/2006/relationships/image" Target="../media/image147.png"/><Relationship Id="rId14" Type="http://schemas.openxmlformats.org/officeDocument/2006/relationships/image" Target="../media/image152.png"/><Relationship Id="rId22" Type="http://schemas.openxmlformats.org/officeDocument/2006/relationships/image" Target="../media/image160.png"/><Relationship Id="rId27" Type="http://schemas.openxmlformats.org/officeDocument/2006/relationships/image" Target="../media/image165.png"/><Relationship Id="rId30" Type="http://schemas.openxmlformats.org/officeDocument/2006/relationships/image" Target="../media/image16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6.09104" TargetMode="External"/><Relationship Id="rId2" Type="http://schemas.openxmlformats.org/officeDocument/2006/relationships/hyperlink" Target="https://arxiv.org/abs/2106.0681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abs/2211.16032" TargetMode="Externa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010.02502" TargetMode="External"/><Relationship Id="rId2" Type="http://schemas.openxmlformats.org/officeDocument/2006/relationships/image" Target="../media/image17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hyperlink" Target="https://arxiv.org/abs/2202.00512" TargetMode="External"/><Relationship Id="rId4" Type="http://schemas.openxmlformats.org/officeDocument/2006/relationships/hyperlink" Target="https://arxiv.org/pdf/2206.00364" TargetMode="Externa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jpg"/><Relationship Id="rId2" Type="http://schemas.openxmlformats.org/officeDocument/2006/relationships/hyperlink" Target="https://arxiv.org/abs/2112.07068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301.11699" TargetMode="External"/><Relationship Id="rId3" Type="http://schemas.openxmlformats.org/officeDocument/2006/relationships/hyperlink" Target="https://arxiv.org/abs/2110.11291" TargetMode="External"/><Relationship Id="rId7" Type="http://schemas.openxmlformats.org/officeDocument/2006/relationships/hyperlink" Target="https://arxiv.org/abs/2303.11435" TargetMode="External"/><Relationship Id="rId2" Type="http://schemas.openxmlformats.org/officeDocument/2006/relationships/hyperlink" Target="https://arxiv.org/abs/2106.01357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review.net/forum?id=W98rebBxlQ" TargetMode="External"/><Relationship Id="rId11" Type="http://schemas.openxmlformats.org/officeDocument/2006/relationships/hyperlink" Target="https://arxiv.org/abs/2206.13397" TargetMode="External"/><Relationship Id="rId5" Type="http://schemas.openxmlformats.org/officeDocument/2006/relationships/hyperlink" Target="https://arxiv.org/abs/2208.09392" TargetMode="External"/><Relationship Id="rId10" Type="http://schemas.openxmlformats.org/officeDocument/2006/relationships/hyperlink" Target="https://arxiv.org/abs/2209.05557" TargetMode="External"/><Relationship Id="rId4" Type="http://schemas.openxmlformats.org/officeDocument/2006/relationships/hyperlink" Target="https://arxiv.org/abs/2202.02763" TargetMode="External"/><Relationship Id="rId9" Type="http://schemas.openxmlformats.org/officeDocument/2006/relationships/hyperlink" Target="https://i2sb.github.io/" TargetMode="Externa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jpg"/><Relationship Id="rId2" Type="http://schemas.openxmlformats.org/officeDocument/2006/relationships/image" Target="../media/image174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xiv.org/abs/2205.11487" TargetMode="External"/><Relationship Id="rId4" Type="http://schemas.openxmlformats.org/officeDocument/2006/relationships/hyperlink" Target="https://arxiv.org/abs/2204.06125" TargetMode="Externa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7.png"/><Relationship Id="rId7" Type="http://schemas.openxmlformats.org/officeDocument/2006/relationships/image" Target="../media/image24.jp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69.png"/><Relationship Id="rId9" Type="http://schemas.openxmlformats.org/officeDocument/2006/relationships/image" Target="../media/image181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105.05233" TargetMode="External"/><Relationship Id="rId3" Type="http://schemas.openxmlformats.org/officeDocument/2006/relationships/image" Target="../media/image183.png"/><Relationship Id="rId7" Type="http://schemas.openxmlformats.org/officeDocument/2006/relationships/hyperlink" Target="https://arxiv.org/abs/2110.10873" TargetMode="External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011.13456" TargetMode="External"/><Relationship Id="rId5" Type="http://schemas.openxmlformats.org/officeDocument/2006/relationships/image" Target="../media/image185.png"/><Relationship Id="rId4" Type="http://schemas.openxmlformats.org/officeDocument/2006/relationships/image" Target="../media/image184.png"/><Relationship Id="rId9" Type="http://schemas.openxmlformats.org/officeDocument/2006/relationships/image" Target="../media/image186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review.net/pdf?id=qw8AKxfYbI" TargetMode="External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jpg"/><Relationship Id="rId2" Type="http://schemas.openxmlformats.org/officeDocument/2006/relationships/image" Target="../media/image191.jp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openreview.net/pdf?id=qw8AKxfYbI" TargetMode="External"/><Relationship Id="rId4" Type="http://schemas.openxmlformats.org/officeDocument/2006/relationships/image" Target="../media/image193.jp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05808" y="9811670"/>
            <a:ext cx="8001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spc="-50" dirty="0">
                <a:solidFill>
                  <a:srgbClr val="8C8C8C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65232" y="2019300"/>
            <a:ext cx="10757535" cy="176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6850"/>
              </a:lnSpc>
              <a:spcBef>
                <a:spcPts val="100"/>
              </a:spcBef>
            </a:pPr>
            <a:r>
              <a:rPr sz="6000" dirty="0"/>
              <a:t>Denoising</a:t>
            </a:r>
            <a:r>
              <a:rPr sz="6000" spc="-75" dirty="0"/>
              <a:t> </a:t>
            </a:r>
            <a:r>
              <a:rPr sz="6000" dirty="0"/>
              <a:t>Diffusion</a:t>
            </a:r>
            <a:r>
              <a:rPr sz="6000" spc="-80" dirty="0"/>
              <a:t> </a:t>
            </a:r>
            <a:r>
              <a:rPr sz="6000" spc="-10" dirty="0"/>
              <a:t>Models:</a:t>
            </a:r>
            <a:endParaRPr sz="6000" dirty="0"/>
          </a:p>
          <a:p>
            <a:pPr algn="ctr">
              <a:lnSpc>
                <a:spcPts val="6850"/>
              </a:lnSpc>
            </a:pPr>
            <a:r>
              <a:rPr sz="6000" dirty="0"/>
              <a:t>A</a:t>
            </a:r>
            <a:r>
              <a:rPr sz="6000" spc="-105" dirty="0"/>
              <a:t> </a:t>
            </a:r>
            <a:r>
              <a:rPr sz="6000" dirty="0"/>
              <a:t>Generative</a:t>
            </a:r>
            <a:r>
              <a:rPr sz="6000" spc="-100" dirty="0"/>
              <a:t> </a:t>
            </a:r>
            <a:r>
              <a:rPr sz="6000" dirty="0"/>
              <a:t>Learning</a:t>
            </a:r>
            <a:r>
              <a:rPr sz="6000" spc="-100" dirty="0"/>
              <a:t> </a:t>
            </a:r>
            <a:r>
              <a:rPr sz="6000" dirty="0"/>
              <a:t>Big</a:t>
            </a:r>
            <a:r>
              <a:rPr sz="6000" spc="-100" dirty="0"/>
              <a:t> </a:t>
            </a:r>
            <a:r>
              <a:rPr sz="6000" spc="-20" dirty="0"/>
              <a:t>Bang</a:t>
            </a:r>
            <a:endParaRPr sz="6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16553-B7A4-744E-BE49-E1B1233CDA05}"/>
              </a:ext>
            </a:extLst>
          </p:cNvPr>
          <p:cNvSpPr txBox="1"/>
          <p:nvPr/>
        </p:nvSpPr>
        <p:spPr>
          <a:xfrm>
            <a:off x="6127788" y="5239882"/>
            <a:ext cx="6032422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3800" dirty="0"/>
              <a:t>Lecturer:</a:t>
            </a:r>
            <a:r>
              <a:rPr lang="zh-CN" altLang="en-US" sz="3800" dirty="0"/>
              <a:t> </a:t>
            </a:r>
            <a:r>
              <a:rPr lang="en-US" altLang="zh-CN" sz="3800" dirty="0"/>
              <a:t>Shangsong</a:t>
            </a:r>
            <a:r>
              <a:rPr lang="zh-CN" altLang="en-US" sz="3800" dirty="0"/>
              <a:t> </a:t>
            </a:r>
            <a:r>
              <a:rPr lang="en-US" altLang="zh-CN" sz="3800" dirty="0"/>
              <a:t>Liang</a:t>
            </a:r>
          </a:p>
          <a:p>
            <a:pPr algn="ctr"/>
            <a:r>
              <a:rPr lang="en-US" altLang="zh-CN" sz="3800" dirty="0"/>
              <a:t>SYSU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Deep</a:t>
            </a:r>
            <a:r>
              <a:rPr spc="-195" dirty="0"/>
              <a:t> </a:t>
            </a:r>
            <a:r>
              <a:rPr dirty="0"/>
              <a:t>Generative</a:t>
            </a:r>
            <a:r>
              <a:rPr spc="-190" dirty="0"/>
              <a:t> </a:t>
            </a:r>
            <a:r>
              <a:rPr spc="-10" dirty="0"/>
              <a:t>Learning</a:t>
            </a:r>
          </a:p>
          <a:p>
            <a:pPr marL="6350"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Learning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to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generate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spc="-20" dirty="0">
                <a:solidFill>
                  <a:srgbClr val="890C58"/>
                </a:solidFill>
              </a:rPr>
              <a:t>data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2506741" y="3015129"/>
            <a:ext cx="5209540" cy="3088640"/>
            <a:chOff x="2506741" y="3015129"/>
            <a:chExt cx="5209540" cy="3088640"/>
          </a:xfrm>
        </p:grpSpPr>
        <p:sp>
          <p:nvSpPr>
            <p:cNvPr id="4" name="object 4"/>
            <p:cNvSpPr/>
            <p:nvPr/>
          </p:nvSpPr>
          <p:spPr>
            <a:xfrm>
              <a:off x="2521028" y="3029416"/>
              <a:ext cx="5180965" cy="3060065"/>
            </a:xfrm>
            <a:custGeom>
              <a:avLst/>
              <a:gdLst/>
              <a:ahLst/>
              <a:cxnLst/>
              <a:rect l="l" t="t" r="r" b="b"/>
              <a:pathLst>
                <a:path w="5180965" h="3060065">
                  <a:moveTo>
                    <a:pt x="471191" y="1007379"/>
                  </a:moveTo>
                  <a:lnTo>
                    <a:pt x="465728" y="964808"/>
                  </a:lnTo>
                  <a:lnTo>
                    <a:pt x="463728" y="922603"/>
                  </a:lnTo>
                  <a:lnTo>
                    <a:pt x="465099" y="880862"/>
                  </a:lnTo>
                  <a:lnTo>
                    <a:pt x="469750" y="839680"/>
                  </a:lnTo>
                  <a:lnTo>
                    <a:pt x="477591" y="799155"/>
                  </a:lnTo>
                  <a:lnTo>
                    <a:pt x="488529" y="759383"/>
                  </a:lnTo>
                  <a:lnTo>
                    <a:pt x="502474" y="720459"/>
                  </a:lnTo>
                  <a:lnTo>
                    <a:pt x="519334" y="682482"/>
                  </a:lnTo>
                  <a:lnTo>
                    <a:pt x="539019" y="645547"/>
                  </a:lnTo>
                  <a:lnTo>
                    <a:pt x="561436" y="609750"/>
                  </a:lnTo>
                  <a:lnTo>
                    <a:pt x="586494" y="575188"/>
                  </a:lnTo>
                  <a:lnTo>
                    <a:pt x="614104" y="541959"/>
                  </a:lnTo>
                  <a:lnTo>
                    <a:pt x="644172" y="510157"/>
                  </a:lnTo>
                  <a:lnTo>
                    <a:pt x="676608" y="479880"/>
                  </a:lnTo>
                  <a:lnTo>
                    <a:pt x="711321" y="451225"/>
                  </a:lnTo>
                  <a:lnTo>
                    <a:pt x="748219" y="424287"/>
                  </a:lnTo>
                  <a:lnTo>
                    <a:pt x="787211" y="399163"/>
                  </a:lnTo>
                  <a:lnTo>
                    <a:pt x="828206" y="375950"/>
                  </a:lnTo>
                  <a:lnTo>
                    <a:pt x="871113" y="354744"/>
                  </a:lnTo>
                  <a:lnTo>
                    <a:pt x="915841" y="335641"/>
                  </a:lnTo>
                  <a:lnTo>
                    <a:pt x="962298" y="318739"/>
                  </a:lnTo>
                  <a:lnTo>
                    <a:pt x="1010392" y="304134"/>
                  </a:lnTo>
                  <a:lnTo>
                    <a:pt x="1060034" y="291921"/>
                  </a:lnTo>
                  <a:lnTo>
                    <a:pt x="1111131" y="282199"/>
                  </a:lnTo>
                  <a:lnTo>
                    <a:pt x="1163592" y="275062"/>
                  </a:lnTo>
                  <a:lnTo>
                    <a:pt x="1212558" y="270921"/>
                  </a:lnTo>
                  <a:lnTo>
                    <a:pt x="1261542" y="269186"/>
                  </a:lnTo>
                  <a:lnTo>
                    <a:pt x="1310410" y="269836"/>
                  </a:lnTo>
                  <a:lnTo>
                    <a:pt x="1359034" y="272851"/>
                  </a:lnTo>
                  <a:lnTo>
                    <a:pt x="1407279" y="278208"/>
                  </a:lnTo>
                  <a:lnTo>
                    <a:pt x="1455016" y="285888"/>
                  </a:lnTo>
                  <a:lnTo>
                    <a:pt x="1502112" y="295868"/>
                  </a:lnTo>
                  <a:lnTo>
                    <a:pt x="1548436" y="308128"/>
                  </a:lnTo>
                  <a:lnTo>
                    <a:pt x="1593857" y="322646"/>
                  </a:lnTo>
                  <a:lnTo>
                    <a:pt x="1638243" y="339401"/>
                  </a:lnTo>
                  <a:lnTo>
                    <a:pt x="1681462" y="358373"/>
                  </a:lnTo>
                  <a:lnTo>
                    <a:pt x="1707907" y="321911"/>
                  </a:lnTo>
                  <a:lnTo>
                    <a:pt x="1737447" y="287838"/>
                  </a:lnTo>
                  <a:lnTo>
                    <a:pt x="1769861" y="256208"/>
                  </a:lnTo>
                  <a:lnTo>
                    <a:pt x="1804926" y="227076"/>
                  </a:lnTo>
                  <a:lnTo>
                    <a:pt x="1842421" y="200496"/>
                  </a:lnTo>
                  <a:lnTo>
                    <a:pt x="1882122" y="176523"/>
                  </a:lnTo>
                  <a:lnTo>
                    <a:pt x="1923808" y="155213"/>
                  </a:lnTo>
                  <a:lnTo>
                    <a:pt x="1967256" y="136620"/>
                  </a:lnTo>
                  <a:lnTo>
                    <a:pt x="2012244" y="120798"/>
                  </a:lnTo>
                  <a:lnTo>
                    <a:pt x="2058549" y="107803"/>
                  </a:lnTo>
                  <a:lnTo>
                    <a:pt x="2105950" y="97690"/>
                  </a:lnTo>
                  <a:lnTo>
                    <a:pt x="2154224" y="90513"/>
                  </a:lnTo>
                  <a:lnTo>
                    <a:pt x="2203149" y="86327"/>
                  </a:lnTo>
                  <a:lnTo>
                    <a:pt x="2252503" y="85187"/>
                  </a:lnTo>
                  <a:lnTo>
                    <a:pt x="2302063" y="87147"/>
                  </a:lnTo>
                  <a:lnTo>
                    <a:pt x="2351606" y="92264"/>
                  </a:lnTo>
                  <a:lnTo>
                    <a:pt x="2400912" y="100590"/>
                  </a:lnTo>
                  <a:lnTo>
                    <a:pt x="2449757" y="112182"/>
                  </a:lnTo>
                  <a:lnTo>
                    <a:pt x="2497918" y="127094"/>
                  </a:lnTo>
                  <a:lnTo>
                    <a:pt x="2545175" y="145380"/>
                  </a:lnTo>
                  <a:lnTo>
                    <a:pt x="2585168" y="164014"/>
                  </a:lnTo>
                  <a:lnTo>
                    <a:pt x="2623334" y="184898"/>
                  </a:lnTo>
                  <a:lnTo>
                    <a:pt x="2659530" y="207948"/>
                  </a:lnTo>
                  <a:lnTo>
                    <a:pt x="2693607" y="233076"/>
                  </a:lnTo>
                  <a:lnTo>
                    <a:pt x="2718223" y="197667"/>
                  </a:lnTo>
                  <a:lnTo>
                    <a:pt x="2746387" y="164901"/>
                  </a:lnTo>
                  <a:lnTo>
                    <a:pt x="2777805" y="134857"/>
                  </a:lnTo>
                  <a:lnTo>
                    <a:pt x="2812183" y="107614"/>
                  </a:lnTo>
                  <a:lnTo>
                    <a:pt x="2849227" y="83251"/>
                  </a:lnTo>
                  <a:lnTo>
                    <a:pt x="2888644" y="61848"/>
                  </a:lnTo>
                  <a:lnTo>
                    <a:pt x="2930140" y="43483"/>
                  </a:lnTo>
                  <a:lnTo>
                    <a:pt x="2973420" y="28235"/>
                  </a:lnTo>
                  <a:lnTo>
                    <a:pt x="3018192" y="16183"/>
                  </a:lnTo>
                  <a:lnTo>
                    <a:pt x="3064161" y="7408"/>
                  </a:lnTo>
                  <a:lnTo>
                    <a:pt x="3111033" y="1987"/>
                  </a:lnTo>
                  <a:lnTo>
                    <a:pt x="3158515" y="0"/>
                  </a:lnTo>
                  <a:lnTo>
                    <a:pt x="3206312" y="1525"/>
                  </a:lnTo>
                  <a:lnTo>
                    <a:pt x="3254132" y="6643"/>
                  </a:lnTo>
                  <a:lnTo>
                    <a:pt x="3301679" y="15432"/>
                  </a:lnTo>
                  <a:lnTo>
                    <a:pt x="3348660" y="27970"/>
                  </a:lnTo>
                  <a:lnTo>
                    <a:pt x="3394782" y="44339"/>
                  </a:lnTo>
                  <a:lnTo>
                    <a:pt x="3446627" y="68228"/>
                  </a:lnTo>
                  <a:lnTo>
                    <a:pt x="3494600" y="96624"/>
                  </a:lnTo>
                  <a:lnTo>
                    <a:pt x="3538250" y="129227"/>
                  </a:lnTo>
                  <a:lnTo>
                    <a:pt x="3577128" y="165739"/>
                  </a:lnTo>
                  <a:lnTo>
                    <a:pt x="3611211" y="136117"/>
                  </a:lnTo>
                  <a:lnTo>
                    <a:pt x="3647697" y="109378"/>
                  </a:lnTo>
                  <a:lnTo>
                    <a:pt x="3686338" y="85536"/>
                  </a:lnTo>
                  <a:lnTo>
                    <a:pt x="3726890" y="64609"/>
                  </a:lnTo>
                  <a:lnTo>
                    <a:pt x="3769105" y="46612"/>
                  </a:lnTo>
                  <a:lnTo>
                    <a:pt x="3812738" y="31562"/>
                  </a:lnTo>
                  <a:lnTo>
                    <a:pt x="3857543" y="19474"/>
                  </a:lnTo>
                  <a:lnTo>
                    <a:pt x="3903273" y="10366"/>
                  </a:lnTo>
                  <a:lnTo>
                    <a:pt x="3949683" y="4254"/>
                  </a:lnTo>
                  <a:lnTo>
                    <a:pt x="3996527" y="1153"/>
                  </a:lnTo>
                  <a:lnTo>
                    <a:pt x="4043557" y="1081"/>
                  </a:lnTo>
                  <a:lnTo>
                    <a:pt x="4090529" y="4053"/>
                  </a:lnTo>
                  <a:lnTo>
                    <a:pt x="4137196" y="10086"/>
                  </a:lnTo>
                  <a:lnTo>
                    <a:pt x="4183312" y="19196"/>
                  </a:lnTo>
                  <a:lnTo>
                    <a:pt x="4228630" y="31399"/>
                  </a:lnTo>
                  <a:lnTo>
                    <a:pt x="4272906" y="46712"/>
                  </a:lnTo>
                  <a:lnTo>
                    <a:pt x="4315892" y="65151"/>
                  </a:lnTo>
                  <a:lnTo>
                    <a:pt x="4357342" y="86732"/>
                  </a:lnTo>
                  <a:lnTo>
                    <a:pt x="4397011" y="111472"/>
                  </a:lnTo>
                  <a:lnTo>
                    <a:pt x="4439066" y="143081"/>
                  </a:lnTo>
                  <a:lnTo>
                    <a:pt x="4476800" y="177655"/>
                  </a:lnTo>
                  <a:lnTo>
                    <a:pt x="4510005" y="214903"/>
                  </a:lnTo>
                  <a:lnTo>
                    <a:pt x="4538474" y="254536"/>
                  </a:lnTo>
                  <a:lnTo>
                    <a:pt x="4561997" y="296264"/>
                  </a:lnTo>
                  <a:lnTo>
                    <a:pt x="4580368" y="339797"/>
                  </a:lnTo>
                  <a:lnTo>
                    <a:pt x="4593377" y="384845"/>
                  </a:lnTo>
                  <a:lnTo>
                    <a:pt x="4645937" y="398339"/>
                  </a:lnTo>
                  <a:lnTo>
                    <a:pt x="4696042" y="415106"/>
                  </a:lnTo>
                  <a:lnTo>
                    <a:pt x="4743558" y="434955"/>
                  </a:lnTo>
                  <a:lnTo>
                    <a:pt x="4788350" y="457696"/>
                  </a:lnTo>
                  <a:lnTo>
                    <a:pt x="4830285" y="483139"/>
                  </a:lnTo>
                  <a:lnTo>
                    <a:pt x="4869226" y="511096"/>
                  </a:lnTo>
                  <a:lnTo>
                    <a:pt x="4905039" y="541376"/>
                  </a:lnTo>
                  <a:lnTo>
                    <a:pt x="4937591" y="573789"/>
                  </a:lnTo>
                  <a:lnTo>
                    <a:pt x="4966746" y="608146"/>
                  </a:lnTo>
                  <a:lnTo>
                    <a:pt x="4992369" y="644257"/>
                  </a:lnTo>
                  <a:lnTo>
                    <a:pt x="5014327" y="681933"/>
                  </a:lnTo>
                  <a:lnTo>
                    <a:pt x="5032484" y="720983"/>
                  </a:lnTo>
                  <a:lnTo>
                    <a:pt x="5046705" y="761218"/>
                  </a:lnTo>
                  <a:lnTo>
                    <a:pt x="5056857" y="802448"/>
                  </a:lnTo>
                  <a:lnTo>
                    <a:pt x="5062804" y="844483"/>
                  </a:lnTo>
                  <a:lnTo>
                    <a:pt x="5064412" y="887135"/>
                  </a:lnTo>
                  <a:lnTo>
                    <a:pt x="5061546" y="930212"/>
                  </a:lnTo>
                  <a:lnTo>
                    <a:pt x="5054072" y="973526"/>
                  </a:lnTo>
                  <a:lnTo>
                    <a:pt x="5041855" y="1016886"/>
                  </a:lnTo>
                  <a:lnTo>
                    <a:pt x="5021008" y="1067928"/>
                  </a:lnTo>
                  <a:lnTo>
                    <a:pt x="5012602" y="1084522"/>
                  </a:lnTo>
                  <a:lnTo>
                    <a:pt x="5044958" y="1120879"/>
                  </a:lnTo>
                  <a:lnTo>
                    <a:pt x="5073796" y="1158390"/>
                  </a:lnTo>
                  <a:lnTo>
                    <a:pt x="5099140" y="1196919"/>
                  </a:lnTo>
                  <a:lnTo>
                    <a:pt x="5121010" y="1236330"/>
                  </a:lnTo>
                  <a:lnTo>
                    <a:pt x="5139430" y="1276485"/>
                  </a:lnTo>
                  <a:lnTo>
                    <a:pt x="5154421" y="1317250"/>
                  </a:lnTo>
                  <a:lnTo>
                    <a:pt x="5166006" y="1358487"/>
                  </a:lnTo>
                  <a:lnTo>
                    <a:pt x="5174207" y="1400060"/>
                  </a:lnTo>
                  <a:lnTo>
                    <a:pt x="5179046" y="1441833"/>
                  </a:lnTo>
                  <a:lnTo>
                    <a:pt x="5180546" y="1483669"/>
                  </a:lnTo>
                  <a:lnTo>
                    <a:pt x="5178729" y="1525433"/>
                  </a:lnTo>
                  <a:lnTo>
                    <a:pt x="5173616" y="1566988"/>
                  </a:lnTo>
                  <a:lnTo>
                    <a:pt x="5165231" y="1608197"/>
                  </a:lnTo>
                  <a:lnTo>
                    <a:pt x="5153595" y="1648925"/>
                  </a:lnTo>
                  <a:lnTo>
                    <a:pt x="5138731" y="1689035"/>
                  </a:lnTo>
                  <a:lnTo>
                    <a:pt x="5120660" y="1728390"/>
                  </a:lnTo>
                  <a:lnTo>
                    <a:pt x="5099406" y="1766855"/>
                  </a:lnTo>
                  <a:lnTo>
                    <a:pt x="5074990" y="1804293"/>
                  </a:lnTo>
                  <a:lnTo>
                    <a:pt x="5047435" y="1840568"/>
                  </a:lnTo>
                  <a:lnTo>
                    <a:pt x="5016762" y="1875543"/>
                  </a:lnTo>
                  <a:lnTo>
                    <a:pt x="4982995" y="1909083"/>
                  </a:lnTo>
                  <a:lnTo>
                    <a:pt x="4946154" y="1941050"/>
                  </a:lnTo>
                  <a:lnTo>
                    <a:pt x="4906263" y="1971309"/>
                  </a:lnTo>
                  <a:lnTo>
                    <a:pt x="4863344" y="1999724"/>
                  </a:lnTo>
                  <a:lnTo>
                    <a:pt x="4820942" y="2024217"/>
                  </a:lnTo>
                  <a:lnTo>
                    <a:pt x="4776809" y="2046402"/>
                  </a:lnTo>
                  <a:lnTo>
                    <a:pt x="4731092" y="2066227"/>
                  </a:lnTo>
                  <a:lnTo>
                    <a:pt x="4683941" y="2083643"/>
                  </a:lnTo>
                  <a:lnTo>
                    <a:pt x="4635502" y="2098599"/>
                  </a:lnTo>
                  <a:lnTo>
                    <a:pt x="4585924" y="2111046"/>
                  </a:lnTo>
                  <a:lnTo>
                    <a:pt x="4535354" y="2120934"/>
                  </a:lnTo>
                  <a:lnTo>
                    <a:pt x="4483940" y="2128212"/>
                  </a:lnTo>
                  <a:lnTo>
                    <a:pt x="4481422" y="2171719"/>
                  </a:lnTo>
                  <a:lnTo>
                    <a:pt x="4474846" y="2214284"/>
                  </a:lnTo>
                  <a:lnTo>
                    <a:pt x="4464368" y="2255784"/>
                  </a:lnTo>
                  <a:lnTo>
                    <a:pt x="4450143" y="2296096"/>
                  </a:lnTo>
                  <a:lnTo>
                    <a:pt x="4432328" y="2335098"/>
                  </a:lnTo>
                  <a:lnTo>
                    <a:pt x="4411076" y="2372665"/>
                  </a:lnTo>
                  <a:lnTo>
                    <a:pt x="4386543" y="2408677"/>
                  </a:lnTo>
                  <a:lnTo>
                    <a:pt x="4358885" y="2443009"/>
                  </a:lnTo>
                  <a:lnTo>
                    <a:pt x="4328256" y="2475539"/>
                  </a:lnTo>
                  <a:lnTo>
                    <a:pt x="4294813" y="2506144"/>
                  </a:lnTo>
                  <a:lnTo>
                    <a:pt x="4258709" y="2534701"/>
                  </a:lnTo>
                  <a:lnTo>
                    <a:pt x="4220101" y="2561089"/>
                  </a:lnTo>
                  <a:lnTo>
                    <a:pt x="4179144" y="2585182"/>
                  </a:lnTo>
                  <a:lnTo>
                    <a:pt x="4135993" y="2606860"/>
                  </a:lnTo>
                  <a:lnTo>
                    <a:pt x="4090804" y="2625999"/>
                  </a:lnTo>
                  <a:lnTo>
                    <a:pt x="4043730" y="2642476"/>
                  </a:lnTo>
                  <a:lnTo>
                    <a:pt x="3994929" y="2656169"/>
                  </a:lnTo>
                  <a:lnTo>
                    <a:pt x="3944555" y="2666954"/>
                  </a:lnTo>
                  <a:lnTo>
                    <a:pt x="3892763" y="2674709"/>
                  </a:lnTo>
                  <a:lnTo>
                    <a:pt x="3839709" y="2679311"/>
                  </a:lnTo>
                  <a:lnTo>
                    <a:pt x="3785547" y="2680638"/>
                  </a:lnTo>
                  <a:lnTo>
                    <a:pt x="3730968" y="2678554"/>
                  </a:lnTo>
                  <a:lnTo>
                    <a:pt x="3676971" y="2673047"/>
                  </a:lnTo>
                  <a:lnTo>
                    <a:pt x="3623799" y="2664175"/>
                  </a:lnTo>
                  <a:lnTo>
                    <a:pt x="3571692" y="2651993"/>
                  </a:lnTo>
                  <a:lnTo>
                    <a:pt x="3520895" y="2636558"/>
                  </a:lnTo>
                  <a:lnTo>
                    <a:pt x="3471648" y="2617927"/>
                  </a:lnTo>
                  <a:lnTo>
                    <a:pt x="3424193" y="2596156"/>
                  </a:lnTo>
                  <a:lnTo>
                    <a:pt x="3407850" y="2635268"/>
                  </a:lnTo>
                  <a:lnTo>
                    <a:pt x="3388767" y="2672999"/>
                  </a:lnTo>
                  <a:lnTo>
                    <a:pt x="3367063" y="2709298"/>
                  </a:lnTo>
                  <a:lnTo>
                    <a:pt x="3342854" y="2744112"/>
                  </a:lnTo>
                  <a:lnTo>
                    <a:pt x="3316260" y="2777392"/>
                  </a:lnTo>
                  <a:lnTo>
                    <a:pt x="3287398" y="2809087"/>
                  </a:lnTo>
                  <a:lnTo>
                    <a:pt x="3256387" y="2839145"/>
                  </a:lnTo>
                  <a:lnTo>
                    <a:pt x="3223344" y="2867515"/>
                  </a:lnTo>
                  <a:lnTo>
                    <a:pt x="3188389" y="2894146"/>
                  </a:lnTo>
                  <a:lnTo>
                    <a:pt x="3151638" y="2918988"/>
                  </a:lnTo>
                  <a:lnTo>
                    <a:pt x="3113210" y="2941990"/>
                  </a:lnTo>
                  <a:lnTo>
                    <a:pt x="3073223" y="2963100"/>
                  </a:lnTo>
                  <a:lnTo>
                    <a:pt x="3031796" y="2982267"/>
                  </a:lnTo>
                  <a:lnTo>
                    <a:pt x="2989046" y="2999440"/>
                  </a:lnTo>
                  <a:lnTo>
                    <a:pt x="2945092" y="3014570"/>
                  </a:lnTo>
                  <a:lnTo>
                    <a:pt x="2900051" y="3027603"/>
                  </a:lnTo>
                  <a:lnTo>
                    <a:pt x="2854042" y="3038490"/>
                  </a:lnTo>
                  <a:lnTo>
                    <a:pt x="2807182" y="3047179"/>
                  </a:lnTo>
                  <a:lnTo>
                    <a:pt x="2759591" y="3053620"/>
                  </a:lnTo>
                  <a:lnTo>
                    <a:pt x="2711386" y="3057762"/>
                  </a:lnTo>
                  <a:lnTo>
                    <a:pt x="2662685" y="3059552"/>
                  </a:lnTo>
                  <a:lnTo>
                    <a:pt x="2613606" y="3058942"/>
                  </a:lnTo>
                  <a:lnTo>
                    <a:pt x="2564268" y="3055878"/>
                  </a:lnTo>
                  <a:lnTo>
                    <a:pt x="2514788" y="3050312"/>
                  </a:lnTo>
                  <a:lnTo>
                    <a:pt x="2465285" y="3042190"/>
                  </a:lnTo>
                  <a:lnTo>
                    <a:pt x="2415876" y="3031464"/>
                  </a:lnTo>
                  <a:lnTo>
                    <a:pt x="2362891" y="3016890"/>
                  </a:lnTo>
                  <a:lnTo>
                    <a:pt x="2311525" y="2999485"/>
                  </a:lnTo>
                  <a:lnTo>
                    <a:pt x="2261938" y="2979342"/>
                  </a:lnTo>
                  <a:lnTo>
                    <a:pt x="2214288" y="2956557"/>
                  </a:lnTo>
                  <a:lnTo>
                    <a:pt x="2168733" y="2931224"/>
                  </a:lnTo>
                  <a:lnTo>
                    <a:pt x="2125431" y="2903438"/>
                  </a:lnTo>
                  <a:lnTo>
                    <a:pt x="2084542" y="2873293"/>
                  </a:lnTo>
                  <a:lnTo>
                    <a:pt x="2046223" y="2840885"/>
                  </a:lnTo>
                  <a:lnTo>
                    <a:pt x="2010632" y="2806308"/>
                  </a:lnTo>
                  <a:lnTo>
                    <a:pt x="1977929" y="2769656"/>
                  </a:lnTo>
                  <a:lnTo>
                    <a:pt x="1933745" y="2789807"/>
                  </a:lnTo>
                  <a:lnTo>
                    <a:pt x="1888787" y="2807800"/>
                  </a:lnTo>
                  <a:lnTo>
                    <a:pt x="1843154" y="2823654"/>
                  </a:lnTo>
                  <a:lnTo>
                    <a:pt x="1796942" y="2837390"/>
                  </a:lnTo>
                  <a:lnTo>
                    <a:pt x="1750248" y="2849026"/>
                  </a:lnTo>
                  <a:lnTo>
                    <a:pt x="1703167" y="2858583"/>
                  </a:lnTo>
                  <a:lnTo>
                    <a:pt x="1655798" y="2866078"/>
                  </a:lnTo>
                  <a:lnTo>
                    <a:pt x="1608237" y="2871533"/>
                  </a:lnTo>
                  <a:lnTo>
                    <a:pt x="1560581" y="2874966"/>
                  </a:lnTo>
                  <a:lnTo>
                    <a:pt x="1512925" y="2876396"/>
                  </a:lnTo>
                  <a:lnTo>
                    <a:pt x="1465368" y="2875844"/>
                  </a:lnTo>
                  <a:lnTo>
                    <a:pt x="1418006" y="2873328"/>
                  </a:lnTo>
                  <a:lnTo>
                    <a:pt x="1370936" y="2868869"/>
                  </a:lnTo>
                  <a:lnTo>
                    <a:pt x="1324254" y="2862485"/>
                  </a:lnTo>
                  <a:lnTo>
                    <a:pt x="1278057" y="2854197"/>
                  </a:lnTo>
                  <a:lnTo>
                    <a:pt x="1232442" y="2844023"/>
                  </a:lnTo>
                  <a:lnTo>
                    <a:pt x="1187506" y="2831982"/>
                  </a:lnTo>
                  <a:lnTo>
                    <a:pt x="1143345" y="2818096"/>
                  </a:lnTo>
                  <a:lnTo>
                    <a:pt x="1100056" y="2802382"/>
                  </a:lnTo>
                  <a:lnTo>
                    <a:pt x="1057736" y="2784860"/>
                  </a:lnTo>
                  <a:lnTo>
                    <a:pt x="1016482" y="2765551"/>
                  </a:lnTo>
                  <a:lnTo>
                    <a:pt x="976390" y="2744472"/>
                  </a:lnTo>
                  <a:lnTo>
                    <a:pt x="937558" y="2721644"/>
                  </a:lnTo>
                  <a:lnTo>
                    <a:pt x="900081" y="2697087"/>
                  </a:lnTo>
                  <a:lnTo>
                    <a:pt x="864058" y="2670819"/>
                  </a:lnTo>
                  <a:lnTo>
                    <a:pt x="829583" y="2642860"/>
                  </a:lnTo>
                  <a:lnTo>
                    <a:pt x="796755" y="2613230"/>
                  </a:lnTo>
                  <a:lnTo>
                    <a:pt x="765670" y="2581947"/>
                  </a:lnTo>
                  <a:lnTo>
                    <a:pt x="736424" y="2549033"/>
                  </a:lnTo>
                  <a:lnTo>
                    <a:pt x="709115" y="2514505"/>
                  </a:lnTo>
                  <a:lnTo>
                    <a:pt x="699342" y="2501065"/>
                  </a:lnTo>
                  <a:lnTo>
                    <a:pt x="646000" y="2503910"/>
                  </a:lnTo>
                  <a:lnTo>
                    <a:pt x="593583" y="2502453"/>
                  </a:lnTo>
                  <a:lnTo>
                    <a:pt x="542381" y="2496881"/>
                  </a:lnTo>
                  <a:lnTo>
                    <a:pt x="492684" y="2487376"/>
                  </a:lnTo>
                  <a:lnTo>
                    <a:pt x="444785" y="2474124"/>
                  </a:lnTo>
                  <a:lnTo>
                    <a:pt x="398975" y="2457309"/>
                  </a:lnTo>
                  <a:lnTo>
                    <a:pt x="355545" y="2437115"/>
                  </a:lnTo>
                  <a:lnTo>
                    <a:pt x="314787" y="2413729"/>
                  </a:lnTo>
                  <a:lnTo>
                    <a:pt x="276991" y="2387333"/>
                  </a:lnTo>
                  <a:lnTo>
                    <a:pt x="242449" y="2358113"/>
                  </a:lnTo>
                  <a:lnTo>
                    <a:pt x="211452" y="2326253"/>
                  </a:lnTo>
                  <a:lnTo>
                    <a:pt x="184292" y="2291938"/>
                  </a:lnTo>
                  <a:lnTo>
                    <a:pt x="161259" y="2255352"/>
                  </a:lnTo>
                  <a:lnTo>
                    <a:pt x="142646" y="2216680"/>
                  </a:lnTo>
                  <a:lnTo>
                    <a:pt x="128743" y="2176107"/>
                  </a:lnTo>
                  <a:lnTo>
                    <a:pt x="119842" y="2133817"/>
                  </a:lnTo>
                  <a:lnTo>
                    <a:pt x="116292" y="2087943"/>
                  </a:lnTo>
                  <a:lnTo>
                    <a:pt x="118977" y="2042442"/>
                  </a:lnTo>
                  <a:lnTo>
                    <a:pt x="127740" y="1997696"/>
                  </a:lnTo>
                  <a:lnTo>
                    <a:pt x="142424" y="1954088"/>
                  </a:lnTo>
                  <a:lnTo>
                    <a:pt x="162872" y="1912001"/>
                  </a:lnTo>
                  <a:lnTo>
                    <a:pt x="188927" y="1871818"/>
                  </a:lnTo>
                  <a:lnTo>
                    <a:pt x="220432" y="1833922"/>
                  </a:lnTo>
                  <a:lnTo>
                    <a:pt x="257230" y="1798695"/>
                  </a:lnTo>
                  <a:lnTo>
                    <a:pt x="212674" y="1775075"/>
                  </a:lnTo>
                  <a:lnTo>
                    <a:pt x="172072" y="1748455"/>
                  </a:lnTo>
                  <a:lnTo>
                    <a:pt x="135517" y="1719125"/>
                  </a:lnTo>
                  <a:lnTo>
                    <a:pt x="103103" y="1687373"/>
                  </a:lnTo>
                  <a:lnTo>
                    <a:pt x="74923" y="1653490"/>
                  </a:lnTo>
                  <a:lnTo>
                    <a:pt x="51071" y="1617764"/>
                  </a:lnTo>
                  <a:lnTo>
                    <a:pt x="31640" y="1580486"/>
                  </a:lnTo>
                  <a:lnTo>
                    <a:pt x="16724" y="1541944"/>
                  </a:lnTo>
                  <a:lnTo>
                    <a:pt x="6416" y="1502428"/>
                  </a:lnTo>
                  <a:lnTo>
                    <a:pt x="810" y="1462228"/>
                  </a:lnTo>
                  <a:lnTo>
                    <a:pt x="0" y="1421632"/>
                  </a:lnTo>
                  <a:lnTo>
                    <a:pt x="4078" y="1380932"/>
                  </a:lnTo>
                  <a:lnTo>
                    <a:pt x="13139" y="1340414"/>
                  </a:lnTo>
                  <a:lnTo>
                    <a:pt x="27276" y="1300371"/>
                  </a:lnTo>
                  <a:lnTo>
                    <a:pt x="46582" y="1261090"/>
                  </a:lnTo>
                  <a:lnTo>
                    <a:pt x="71151" y="1222861"/>
                  </a:lnTo>
                  <a:lnTo>
                    <a:pt x="101359" y="1185775"/>
                  </a:lnTo>
                  <a:lnTo>
                    <a:pt x="135874" y="1151788"/>
                  </a:lnTo>
                  <a:lnTo>
                    <a:pt x="174324" y="1121094"/>
                  </a:lnTo>
                  <a:lnTo>
                    <a:pt x="216337" y="1093885"/>
                  </a:lnTo>
                  <a:lnTo>
                    <a:pt x="261541" y="1070355"/>
                  </a:lnTo>
                  <a:lnTo>
                    <a:pt x="309565" y="1050699"/>
                  </a:lnTo>
                  <a:lnTo>
                    <a:pt x="360036" y="1035109"/>
                  </a:lnTo>
                  <a:lnTo>
                    <a:pt x="412582" y="1023779"/>
                  </a:lnTo>
                  <a:lnTo>
                    <a:pt x="466832" y="1016904"/>
                  </a:lnTo>
                  <a:lnTo>
                    <a:pt x="471191" y="1007379"/>
                  </a:lnTo>
                  <a:close/>
                </a:path>
                <a:path w="5180965" h="3060065">
                  <a:moveTo>
                    <a:pt x="566167" y="1843205"/>
                  </a:moveTo>
                  <a:lnTo>
                    <a:pt x="513294" y="1844355"/>
                  </a:lnTo>
                  <a:lnTo>
                    <a:pt x="460819" y="1841186"/>
                  </a:lnTo>
                  <a:lnTo>
                    <a:pt x="409135" y="1833771"/>
                  </a:lnTo>
                  <a:lnTo>
                    <a:pt x="358637" y="1822183"/>
                  </a:lnTo>
                  <a:lnTo>
                    <a:pt x="309721" y="1806497"/>
                  </a:lnTo>
                  <a:lnTo>
                    <a:pt x="262781" y="1786785"/>
                  </a:lnTo>
                </a:path>
                <a:path w="5180965" h="3060065">
                  <a:moveTo>
                    <a:pt x="833848" y="2460642"/>
                  </a:moveTo>
                  <a:lnTo>
                    <a:pt x="801549" y="2470011"/>
                  </a:lnTo>
                  <a:lnTo>
                    <a:pt x="768588" y="2477649"/>
                  </a:lnTo>
                  <a:lnTo>
                    <a:pt x="735072" y="2483535"/>
                  </a:lnTo>
                  <a:lnTo>
                    <a:pt x="701111" y="2487645"/>
                  </a:lnTo>
                </a:path>
                <a:path w="5180965" h="3060065">
                  <a:moveTo>
                    <a:pt x="1977633" y="2757326"/>
                  </a:moveTo>
                  <a:lnTo>
                    <a:pt x="1954600" y="2727857"/>
                  </a:lnTo>
                  <a:lnTo>
                    <a:pt x="1933563" y="2697461"/>
                  </a:lnTo>
                  <a:lnTo>
                    <a:pt x="1914567" y="2666203"/>
                  </a:lnTo>
                  <a:lnTo>
                    <a:pt x="1897654" y="2634149"/>
                  </a:lnTo>
                </a:path>
                <a:path w="5180965" h="3060065">
                  <a:moveTo>
                    <a:pt x="3456649" y="2450165"/>
                  </a:moveTo>
                  <a:lnTo>
                    <a:pt x="3451996" y="2484430"/>
                  </a:lnTo>
                  <a:lnTo>
                    <a:pt x="3445111" y="2518425"/>
                  </a:lnTo>
                  <a:lnTo>
                    <a:pt x="3436011" y="2552080"/>
                  </a:lnTo>
                  <a:lnTo>
                    <a:pt x="3424713" y="2585324"/>
                  </a:lnTo>
                </a:path>
                <a:path w="5180965" h="3060065">
                  <a:moveTo>
                    <a:pt x="4091659" y="1615047"/>
                  </a:moveTo>
                  <a:lnTo>
                    <a:pt x="4141722" y="1636726"/>
                  </a:lnTo>
                  <a:lnTo>
                    <a:pt x="4188931" y="1661360"/>
                  </a:lnTo>
                  <a:lnTo>
                    <a:pt x="4233144" y="1688763"/>
                  </a:lnTo>
                  <a:lnTo>
                    <a:pt x="4274219" y="1718751"/>
                  </a:lnTo>
                  <a:lnTo>
                    <a:pt x="4312014" y="1751139"/>
                  </a:lnTo>
                  <a:lnTo>
                    <a:pt x="4346386" y="1785742"/>
                  </a:lnTo>
                  <a:lnTo>
                    <a:pt x="4377194" y="1822377"/>
                  </a:lnTo>
                  <a:lnTo>
                    <a:pt x="4404294" y="1860858"/>
                  </a:lnTo>
                  <a:lnTo>
                    <a:pt x="4427545" y="1901001"/>
                  </a:lnTo>
                  <a:lnTo>
                    <a:pt x="4446803" y="1942621"/>
                  </a:lnTo>
                  <a:lnTo>
                    <a:pt x="4461928" y="1985534"/>
                  </a:lnTo>
                  <a:lnTo>
                    <a:pt x="4472777" y="2029555"/>
                  </a:lnTo>
                  <a:lnTo>
                    <a:pt x="4479206" y="2074499"/>
                  </a:lnTo>
                  <a:lnTo>
                    <a:pt x="4481075" y="2120183"/>
                  </a:lnTo>
                </a:path>
                <a:path w="5180965" h="3060065">
                  <a:moveTo>
                    <a:pt x="5010160" y="1077037"/>
                  </a:moveTo>
                  <a:lnTo>
                    <a:pt x="4984414" y="1119857"/>
                  </a:lnTo>
                  <a:lnTo>
                    <a:pt x="4953978" y="1160452"/>
                  </a:lnTo>
                  <a:lnTo>
                    <a:pt x="4919075" y="1198579"/>
                  </a:lnTo>
                  <a:lnTo>
                    <a:pt x="4879929" y="1233993"/>
                  </a:lnTo>
                  <a:lnTo>
                    <a:pt x="4836762" y="1266451"/>
                  </a:lnTo>
                </a:path>
                <a:path w="5180965" h="3060065">
                  <a:moveTo>
                    <a:pt x="4594086" y="374226"/>
                  </a:moveTo>
                  <a:lnTo>
                    <a:pt x="4598386" y="396438"/>
                  </a:lnTo>
                  <a:lnTo>
                    <a:pt x="4601348" y="418777"/>
                  </a:lnTo>
                  <a:lnTo>
                    <a:pt x="4602968" y="441204"/>
                  </a:lnTo>
                  <a:lnTo>
                    <a:pt x="4603241" y="463682"/>
                  </a:lnTo>
                </a:path>
                <a:path w="5180965" h="3060065">
                  <a:moveTo>
                    <a:pt x="3486710" y="269881"/>
                  </a:moveTo>
                  <a:lnTo>
                    <a:pt x="3505014" y="239480"/>
                  </a:lnTo>
                  <a:lnTo>
                    <a:pt x="3525979" y="210258"/>
                  </a:lnTo>
                  <a:lnTo>
                    <a:pt x="3549516" y="182327"/>
                  </a:lnTo>
                  <a:lnTo>
                    <a:pt x="3575540" y="155798"/>
                  </a:lnTo>
                </a:path>
                <a:path w="5180965" h="3060065">
                  <a:moveTo>
                    <a:pt x="2655879" y="324248"/>
                  </a:moveTo>
                  <a:lnTo>
                    <a:pt x="2663769" y="298879"/>
                  </a:lnTo>
                  <a:lnTo>
                    <a:pt x="2673590" y="273977"/>
                  </a:lnTo>
                  <a:lnTo>
                    <a:pt x="2685312" y="249613"/>
                  </a:lnTo>
                  <a:lnTo>
                    <a:pt x="2698903" y="225860"/>
                  </a:lnTo>
                </a:path>
                <a:path w="5180965" h="3060065">
                  <a:moveTo>
                    <a:pt x="1680848" y="357661"/>
                  </a:moveTo>
                  <a:lnTo>
                    <a:pt x="1722417" y="378640"/>
                  </a:lnTo>
                  <a:lnTo>
                    <a:pt x="1762293" y="401585"/>
                  </a:lnTo>
                  <a:lnTo>
                    <a:pt x="1800367" y="426432"/>
                  </a:lnTo>
                  <a:lnTo>
                    <a:pt x="1836531" y="453114"/>
                  </a:lnTo>
                </a:path>
                <a:path w="5180965" h="3060065">
                  <a:moveTo>
                    <a:pt x="498378" y="1107831"/>
                  </a:moveTo>
                  <a:lnTo>
                    <a:pt x="489738" y="1083063"/>
                  </a:lnTo>
                  <a:lnTo>
                    <a:pt x="482324" y="1058049"/>
                  </a:lnTo>
                  <a:lnTo>
                    <a:pt x="476145" y="1032819"/>
                  </a:lnTo>
                  <a:lnTo>
                    <a:pt x="471209" y="1007403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87784" y="3493504"/>
              <a:ext cx="934720" cy="9347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28408" y="3493504"/>
              <a:ext cx="934719" cy="9347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6652" y="3493504"/>
              <a:ext cx="934720" cy="9347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87784" y="4491988"/>
              <a:ext cx="934718" cy="93471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8408" y="4517656"/>
              <a:ext cx="934718" cy="93471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9033" y="4513859"/>
              <a:ext cx="934718" cy="934718"/>
            </a:xfrm>
            <a:prstGeom prst="rect">
              <a:avLst/>
            </a:prstGeom>
          </p:spPr>
        </p:pic>
      </p:grpSp>
      <p:sp>
        <p:nvSpPr>
          <p:cNvPr id="11" name="object 11"/>
          <p:cNvSpPr/>
          <p:nvPr/>
        </p:nvSpPr>
        <p:spPr>
          <a:xfrm>
            <a:off x="8392159" y="4282801"/>
            <a:ext cx="2418080" cy="454659"/>
          </a:xfrm>
          <a:custGeom>
            <a:avLst/>
            <a:gdLst/>
            <a:ahLst/>
            <a:cxnLst/>
            <a:rect l="l" t="t" r="r" b="b"/>
            <a:pathLst>
              <a:path w="2418079" h="454660">
                <a:moveTo>
                  <a:pt x="2190750" y="0"/>
                </a:moveTo>
                <a:lnTo>
                  <a:pt x="2190750" y="113666"/>
                </a:lnTo>
                <a:lnTo>
                  <a:pt x="0" y="113666"/>
                </a:lnTo>
                <a:lnTo>
                  <a:pt x="0" y="340996"/>
                </a:lnTo>
                <a:lnTo>
                  <a:pt x="2190750" y="340996"/>
                </a:lnTo>
                <a:lnTo>
                  <a:pt x="2190750" y="454660"/>
                </a:lnTo>
                <a:lnTo>
                  <a:pt x="2418080" y="227329"/>
                </a:lnTo>
                <a:lnTo>
                  <a:pt x="219075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212260" y="3909059"/>
            <a:ext cx="615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Trebuchet MS"/>
                <a:cs typeface="Trebuchet MS"/>
              </a:rPr>
              <a:t>Train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473440" y="8388112"/>
            <a:ext cx="2418080" cy="454659"/>
          </a:xfrm>
          <a:custGeom>
            <a:avLst/>
            <a:gdLst/>
            <a:ahLst/>
            <a:cxnLst/>
            <a:rect l="l" t="t" r="r" b="b"/>
            <a:pathLst>
              <a:path w="2418079" h="454659">
                <a:moveTo>
                  <a:pt x="2190750" y="0"/>
                </a:moveTo>
                <a:lnTo>
                  <a:pt x="2190750" y="113666"/>
                </a:lnTo>
                <a:lnTo>
                  <a:pt x="0" y="113666"/>
                </a:lnTo>
                <a:lnTo>
                  <a:pt x="0" y="340996"/>
                </a:lnTo>
                <a:lnTo>
                  <a:pt x="2190750" y="340996"/>
                </a:lnTo>
                <a:lnTo>
                  <a:pt x="2190750" y="454659"/>
                </a:lnTo>
                <a:lnTo>
                  <a:pt x="2418079" y="227329"/>
                </a:lnTo>
                <a:lnTo>
                  <a:pt x="2190750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162254" y="8014716"/>
            <a:ext cx="878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Trebuchet MS"/>
                <a:cs typeface="Trebuchet MS"/>
              </a:rPr>
              <a:t>Sample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5" name="object 1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725656" y="3395471"/>
            <a:ext cx="2682240" cy="268224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11623" y="7132319"/>
            <a:ext cx="2682239" cy="268224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207027" y="7613169"/>
            <a:ext cx="1720537" cy="1720537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125114" y="6201155"/>
            <a:ext cx="18840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Neural</a:t>
            </a:r>
            <a:r>
              <a:rPr sz="2000" b="1" spc="-114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Network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9" name="object 19"/>
          <p:cNvSpPr txBox="1"/>
          <p:nvPr/>
        </p:nvSpPr>
        <p:spPr>
          <a:xfrm>
            <a:off x="3049389" y="6201155"/>
            <a:ext cx="39287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rebuchet MS"/>
                <a:cs typeface="Trebuchet MS"/>
              </a:rPr>
              <a:t>Samples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from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a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dirty="0">
                <a:latin typeface="Trebuchet MS"/>
                <a:cs typeface="Trebuchet MS"/>
              </a:rPr>
              <a:t>Data</a:t>
            </a:r>
            <a:r>
              <a:rPr sz="2000" b="1" spc="-4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Distribution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717290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Generative</a:t>
            </a:r>
            <a:r>
              <a:rPr spc="-225" dirty="0"/>
              <a:t> </a:t>
            </a:r>
            <a:r>
              <a:rPr dirty="0"/>
              <a:t>Learning</a:t>
            </a:r>
            <a:r>
              <a:rPr spc="-229" dirty="0"/>
              <a:t> </a:t>
            </a:r>
            <a:r>
              <a:rPr spc="-10" dirty="0"/>
              <a:t>Applications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6130" y="4454993"/>
            <a:ext cx="3945088" cy="281257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7180" y="4432142"/>
            <a:ext cx="3071416" cy="280906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01808" y="4454993"/>
            <a:ext cx="2786213" cy="278621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106818" y="4443567"/>
            <a:ext cx="5350601" cy="280906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5951" y="3925315"/>
            <a:ext cx="1794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Art</a:t>
            </a:r>
            <a:r>
              <a:rPr sz="2400" b="1" spc="-20" dirty="0">
                <a:latin typeface="Trebuchet MS"/>
                <a:cs typeface="Trebuchet MS"/>
              </a:rPr>
              <a:t> </a:t>
            </a:r>
            <a:r>
              <a:rPr sz="2400" b="1" dirty="0">
                <a:latin typeface="Trebuchet MS"/>
                <a:cs typeface="Trebuchet MS"/>
              </a:rPr>
              <a:t>&amp;</a:t>
            </a:r>
            <a:r>
              <a:rPr sz="2400" b="1" spc="-1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Design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1557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8" name="object 8"/>
          <p:cNvSpPr txBox="1"/>
          <p:nvPr/>
        </p:nvSpPr>
        <p:spPr>
          <a:xfrm>
            <a:off x="4479659" y="3925315"/>
            <a:ext cx="28314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Content</a:t>
            </a:r>
            <a:r>
              <a:rPr sz="2400" b="1" spc="-30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Generation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52393" y="3925315"/>
            <a:ext cx="35286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rebuchet MS"/>
                <a:cs typeface="Trebuchet MS"/>
              </a:rPr>
              <a:t>Representation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-10" dirty="0">
                <a:latin typeface="Trebuchet MS"/>
                <a:cs typeface="Trebuchet MS"/>
              </a:rPr>
              <a:t>Learning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35952" y="3925315"/>
            <a:ext cx="209168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rebuchet MS"/>
                <a:cs typeface="Trebuchet MS"/>
              </a:rPr>
              <a:t>Entertainment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05808" y="9811670"/>
            <a:ext cx="8001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spc="-50" dirty="0">
                <a:solidFill>
                  <a:srgbClr val="8C8C8C"/>
                </a:solidFill>
                <a:latin typeface="Trebuchet MS"/>
                <a:cs typeface="Trebuchet MS"/>
              </a:rPr>
              <a:t>4</a:t>
            </a:r>
            <a:endParaRPr sz="12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07441" y="8027923"/>
            <a:ext cx="2808605" cy="8883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 indent="579755">
              <a:lnSpc>
                <a:spcPts val="3190"/>
              </a:lnSpc>
              <a:spcBef>
                <a:spcPts val="545"/>
              </a:spcBef>
            </a:pPr>
            <a:r>
              <a:rPr sz="3000" spc="-10" dirty="0">
                <a:latin typeface="Trebuchet MS"/>
                <a:cs typeface="Trebuchet MS"/>
              </a:rPr>
              <a:t>Denoising </a:t>
            </a:r>
            <a:r>
              <a:rPr sz="3000" dirty="0">
                <a:latin typeface="Trebuchet MS"/>
                <a:cs typeface="Trebuchet MS"/>
              </a:rPr>
              <a:t>Diffusion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10" dirty="0">
                <a:latin typeface="Trebuchet MS"/>
                <a:cs typeface="Trebuchet MS"/>
              </a:rPr>
              <a:t>Models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39844" y="6374891"/>
            <a:ext cx="154051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82270" marR="5080" indent="-370205">
              <a:lnSpc>
                <a:spcPts val="2210"/>
              </a:lnSpc>
              <a:spcBef>
                <a:spcPts val="330"/>
              </a:spcBef>
            </a:pP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Energy-</a:t>
            </a:r>
            <a:r>
              <a:rPr sz="2000" spc="-20" dirty="0">
                <a:solidFill>
                  <a:srgbClr val="404040"/>
                </a:solidFill>
                <a:latin typeface="Trebuchet MS"/>
                <a:cs typeface="Trebuchet MS"/>
              </a:rPr>
              <a:t>based </a:t>
            </a:r>
            <a:r>
              <a:rPr sz="2000" spc="-10" dirty="0">
                <a:solidFill>
                  <a:srgbClr val="404040"/>
                </a:solidFill>
                <a:latin typeface="Trebuchet MS"/>
                <a:cs typeface="Trebuchet MS"/>
              </a:rPr>
              <a:t>Models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21755" y="7887716"/>
            <a:ext cx="202946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549910" marR="5080" indent="-53784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latin typeface="Trebuchet MS"/>
                <a:cs typeface="Trebuchet MS"/>
              </a:rPr>
              <a:t>Autoregressive Models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1611" rIns="0" bIns="0" rtlCol="0">
            <a:spAutoFit/>
          </a:bodyPr>
          <a:lstStyle/>
          <a:p>
            <a:pPr marL="214566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160" dirty="0"/>
              <a:t> </a:t>
            </a:r>
            <a:r>
              <a:rPr dirty="0"/>
              <a:t>Landscape</a:t>
            </a:r>
            <a:r>
              <a:rPr spc="-160" dirty="0"/>
              <a:t> </a:t>
            </a:r>
            <a:r>
              <a:rPr dirty="0"/>
              <a:t>of</a:t>
            </a:r>
            <a:r>
              <a:rPr spc="-160" dirty="0"/>
              <a:t> </a:t>
            </a:r>
            <a:r>
              <a:rPr dirty="0"/>
              <a:t>Deep</a:t>
            </a:r>
            <a:r>
              <a:rPr spc="-165" dirty="0"/>
              <a:t> </a:t>
            </a:r>
            <a:r>
              <a:rPr dirty="0"/>
              <a:t>Generative</a:t>
            </a:r>
            <a:r>
              <a:rPr spc="-160" dirty="0"/>
              <a:t> </a:t>
            </a:r>
            <a:r>
              <a:rPr spc="-10" dirty="0"/>
              <a:t>Learning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32740" y="6051803"/>
            <a:ext cx="137414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68300" marR="5080" indent="-355600">
              <a:lnSpc>
                <a:spcPts val="2210"/>
              </a:lnSpc>
              <a:spcBef>
                <a:spcPts val="330"/>
              </a:spcBef>
            </a:pPr>
            <a:r>
              <a:rPr sz="2000" spc="-10" dirty="0">
                <a:solidFill>
                  <a:srgbClr val="262626"/>
                </a:solidFill>
                <a:latin typeface="Trebuchet MS"/>
                <a:cs typeface="Trebuchet MS"/>
              </a:rPr>
              <a:t>Normalizing Flows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7748016"/>
            <a:ext cx="4097020" cy="1329055"/>
            <a:chOff x="0" y="7748016"/>
            <a:chExt cx="4097020" cy="132905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748016"/>
              <a:ext cx="2264664" cy="9204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8153399"/>
              <a:ext cx="4096512" cy="92354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78739" y="7896859"/>
            <a:ext cx="3628390" cy="88836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 marR="5080">
              <a:lnSpc>
                <a:spcPts val="3190"/>
              </a:lnSpc>
              <a:spcBef>
                <a:spcPts val="545"/>
              </a:spcBef>
            </a:pP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Generative </a:t>
            </a:r>
            <a:r>
              <a:rPr sz="3000" dirty="0">
                <a:solidFill>
                  <a:srgbClr val="FFFFFF"/>
                </a:solidFill>
                <a:latin typeface="Trebuchet MS"/>
                <a:cs typeface="Trebuchet MS"/>
              </a:rPr>
              <a:t>Adversarial</a:t>
            </a:r>
            <a:r>
              <a:rPr sz="30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Networks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224" y="6028435"/>
            <a:ext cx="1882139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latin typeface="Trebuchet MS"/>
                <a:cs typeface="Trebuchet MS"/>
              </a:rPr>
              <a:t>Variational Autoencoders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121384" y="8750807"/>
            <a:ext cx="1024128" cy="107899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059096" y="4979923"/>
            <a:ext cx="2100580" cy="55308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 marR="5080" indent="516255">
              <a:lnSpc>
                <a:spcPts val="1989"/>
              </a:lnSpc>
              <a:spcBef>
                <a:spcPts val="305"/>
              </a:spcBef>
            </a:pPr>
            <a:r>
              <a:rPr sz="1800" spc="-10" dirty="0">
                <a:solidFill>
                  <a:srgbClr val="595959"/>
                </a:solidFill>
                <a:latin typeface="Trebuchet MS"/>
                <a:cs typeface="Trebuchet MS"/>
              </a:rPr>
              <a:t>Restricted </a:t>
            </a:r>
            <a:r>
              <a:rPr sz="1800" dirty="0">
                <a:solidFill>
                  <a:srgbClr val="595959"/>
                </a:solidFill>
                <a:latin typeface="Trebuchet MS"/>
                <a:cs typeface="Trebuchet MS"/>
              </a:rPr>
              <a:t>Boltzmann</a:t>
            </a:r>
            <a:r>
              <a:rPr sz="1800" spc="-8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rebuchet MS"/>
                <a:cs typeface="Trebuchet MS"/>
              </a:rPr>
              <a:t>Machines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97695" y="5226811"/>
            <a:ext cx="19354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Trebuchet MS"/>
                <a:cs typeface="Trebuchet MS"/>
              </a:rPr>
              <a:t>Bayesian</a:t>
            </a:r>
            <a:r>
              <a:rPr sz="1800" spc="-50" dirty="0">
                <a:solidFill>
                  <a:srgbClr val="595959"/>
                </a:solidFill>
                <a:latin typeface="Trebuchet MS"/>
                <a:cs typeface="Trebuchet MS"/>
              </a:rPr>
              <a:t> </a:t>
            </a:r>
            <a:r>
              <a:rPr sz="1800" spc="-10" dirty="0">
                <a:solidFill>
                  <a:srgbClr val="595959"/>
                </a:solidFill>
                <a:latin typeface="Trebuchet MS"/>
                <a:cs typeface="Trebuchet MS"/>
              </a:rPr>
              <a:t>Networks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05808" y="9811670"/>
            <a:ext cx="80010" cy="177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spc="-50" dirty="0">
                <a:solidFill>
                  <a:srgbClr val="8C8C8C"/>
                </a:solidFill>
                <a:latin typeface="Trebuchet MS"/>
                <a:cs typeface="Trebuchet MS"/>
              </a:rPr>
              <a:t>5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4000" y="5303520"/>
              <a:ext cx="914400" cy="9174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48839" y="7363968"/>
              <a:ext cx="667512" cy="664463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2622279" y="8816340"/>
            <a:ext cx="1082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8C"/>
                </a:solidFill>
                <a:latin typeface="Trebuchet MS"/>
                <a:cs typeface="Trebuchet MS"/>
              </a:rPr>
              <a:t>Big</a:t>
            </a:r>
            <a:r>
              <a:rPr sz="2000" spc="-25" dirty="0">
                <a:solidFill>
                  <a:srgbClr val="FFFF8C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8C"/>
                </a:solidFill>
                <a:latin typeface="Trebuchet MS"/>
                <a:cs typeface="Trebuchet MS"/>
              </a:rPr>
              <a:t>Bang!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82548" y="7161276"/>
            <a:ext cx="108267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FFF8C"/>
                </a:solidFill>
                <a:latin typeface="Trebuchet MS"/>
                <a:cs typeface="Trebuchet MS"/>
              </a:rPr>
              <a:t>Big</a:t>
            </a:r>
            <a:r>
              <a:rPr sz="2000" spc="-25" dirty="0">
                <a:solidFill>
                  <a:srgbClr val="FFFF8C"/>
                </a:solidFill>
                <a:latin typeface="Trebuchet MS"/>
                <a:cs typeface="Trebuchet MS"/>
              </a:rPr>
              <a:t> </a:t>
            </a:r>
            <a:r>
              <a:rPr sz="2000" spc="-20" dirty="0">
                <a:solidFill>
                  <a:srgbClr val="FFFF8C"/>
                </a:solidFill>
                <a:latin typeface="Trebuchet MS"/>
                <a:cs typeface="Trebuchet MS"/>
              </a:rPr>
              <a:t>Bang!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46960" y="6288023"/>
            <a:ext cx="7980045" cy="2703830"/>
            <a:chOff x="2346960" y="6288023"/>
            <a:chExt cx="7980045" cy="270383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21952" y="6288023"/>
              <a:ext cx="804672" cy="99364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46960" y="7997951"/>
              <a:ext cx="801624" cy="993648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0" rIns="0" bIns="0" rtlCol="0">
            <a:spAutoFit/>
          </a:bodyPr>
          <a:lstStyle/>
          <a:p>
            <a:pPr marL="100330">
              <a:lnSpc>
                <a:spcPts val="3829"/>
              </a:lnSpc>
              <a:spcBef>
                <a:spcPts val="100"/>
              </a:spcBef>
            </a:pPr>
            <a:r>
              <a:rPr sz="3200" dirty="0">
                <a:solidFill>
                  <a:srgbClr val="FFFF8C"/>
                </a:solidFill>
              </a:rPr>
              <a:t>Denoising</a:t>
            </a:r>
            <a:r>
              <a:rPr sz="3200" spc="-125" dirty="0">
                <a:solidFill>
                  <a:srgbClr val="FFFF8C"/>
                </a:solidFill>
              </a:rPr>
              <a:t> </a:t>
            </a:r>
            <a:r>
              <a:rPr sz="3200" dirty="0">
                <a:solidFill>
                  <a:srgbClr val="FFFF8C"/>
                </a:solidFill>
              </a:rPr>
              <a:t>Diffusion</a:t>
            </a:r>
            <a:r>
              <a:rPr sz="3200" spc="-114" dirty="0">
                <a:solidFill>
                  <a:srgbClr val="FFFF8C"/>
                </a:solidFill>
              </a:rPr>
              <a:t> </a:t>
            </a:r>
            <a:r>
              <a:rPr sz="3200" spc="-10" dirty="0">
                <a:solidFill>
                  <a:srgbClr val="FFFF8C"/>
                </a:solidFill>
              </a:rPr>
              <a:t>Models:</a:t>
            </a:r>
            <a:endParaRPr sz="3200"/>
          </a:p>
          <a:p>
            <a:pPr marL="100330">
              <a:lnSpc>
                <a:spcPts val="3829"/>
              </a:lnSpc>
            </a:pPr>
            <a:r>
              <a:rPr sz="3200" dirty="0">
                <a:solidFill>
                  <a:srgbClr val="FFFF8C"/>
                </a:solidFill>
              </a:rPr>
              <a:t>A</a:t>
            </a:r>
            <a:r>
              <a:rPr sz="3200" spc="-235" dirty="0">
                <a:solidFill>
                  <a:srgbClr val="FFFF8C"/>
                </a:solidFill>
              </a:rPr>
              <a:t> </a:t>
            </a:r>
            <a:r>
              <a:rPr sz="3200" dirty="0">
                <a:solidFill>
                  <a:srgbClr val="FFFF8C"/>
                </a:solidFill>
              </a:rPr>
              <a:t>Generative</a:t>
            </a:r>
            <a:r>
              <a:rPr sz="3200" spc="-65" dirty="0">
                <a:solidFill>
                  <a:srgbClr val="FFFF8C"/>
                </a:solidFill>
              </a:rPr>
              <a:t> </a:t>
            </a:r>
            <a:r>
              <a:rPr sz="3200" dirty="0">
                <a:solidFill>
                  <a:srgbClr val="FFFF8C"/>
                </a:solidFill>
              </a:rPr>
              <a:t>Learning</a:t>
            </a:r>
            <a:r>
              <a:rPr sz="3200" spc="-65" dirty="0">
                <a:solidFill>
                  <a:srgbClr val="FFFF8C"/>
                </a:solidFill>
              </a:rPr>
              <a:t> </a:t>
            </a:r>
            <a:r>
              <a:rPr sz="3200" dirty="0">
                <a:solidFill>
                  <a:srgbClr val="FFFF8C"/>
                </a:solidFill>
              </a:rPr>
              <a:t>Big</a:t>
            </a:r>
            <a:r>
              <a:rPr sz="3200" spc="-65" dirty="0">
                <a:solidFill>
                  <a:srgbClr val="FFFF8C"/>
                </a:solidFill>
              </a:rPr>
              <a:t> </a:t>
            </a:r>
            <a:r>
              <a:rPr sz="3200" spc="-20" dirty="0">
                <a:solidFill>
                  <a:srgbClr val="FFFF8C"/>
                </a:solidFill>
              </a:rPr>
              <a:t>Bang</a:t>
            </a:r>
            <a:endParaRPr sz="3200"/>
          </a:p>
        </p:txBody>
      </p:sp>
      <p:sp>
        <p:nvSpPr>
          <p:cNvPr id="13" name="object 13"/>
          <p:cNvSpPr txBox="1"/>
          <p:nvPr/>
        </p:nvSpPr>
        <p:spPr>
          <a:xfrm>
            <a:off x="8778976" y="9765283"/>
            <a:ext cx="91478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rebuchet MS"/>
                <a:cs typeface="Trebuchet MS"/>
              </a:rPr>
              <a:t>Source:</a:t>
            </a:r>
            <a:r>
              <a:rPr sz="1800" spc="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</a:rPr>
              <a:t>https://</a:t>
            </a:r>
            <a:r>
              <a:rPr sz="1800" spc="-20" dirty="0">
                <a:solidFill>
                  <a:srgbClr val="FFFFFF"/>
                </a:solidFill>
                <a:latin typeface="Trebuchet MS"/>
                <a:cs typeface="Trebuchet MS"/>
                <a:hlinkClick r:id="rId7"/>
              </a:rPr>
              <a:t>www.wired.com/story/what-</a:t>
            </a:r>
            <a:r>
              <a:rPr sz="1800" spc="-10" dirty="0">
                <a:solidFill>
                  <a:srgbClr val="FFFFFF"/>
                </a:solidFill>
                <a:latin typeface="Trebuchet MS"/>
                <a:cs typeface="Trebuchet MS"/>
                <a:hlinkClick r:id="rId7"/>
              </a:rPr>
              <a:t>if-the-big-bang-was-actually-a-big-bounce/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93108" y="9789668"/>
            <a:ext cx="1054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C8C8C"/>
                </a:solidFill>
                <a:latin typeface="Trebuchet MS"/>
                <a:cs typeface="Trebuchet MS"/>
              </a:rPr>
              <a:t>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534160">
              <a:lnSpc>
                <a:spcPct val="100000"/>
              </a:lnSpc>
              <a:spcBef>
                <a:spcPts val="100"/>
              </a:spcBef>
            </a:pPr>
            <a:r>
              <a:rPr dirty="0"/>
              <a:t>We</a:t>
            </a:r>
            <a:r>
              <a:rPr spc="-140" dirty="0"/>
              <a:t> </a:t>
            </a:r>
            <a:r>
              <a:rPr dirty="0"/>
              <a:t>May</a:t>
            </a:r>
            <a:r>
              <a:rPr spc="-140" dirty="0"/>
              <a:t> </a:t>
            </a:r>
            <a:r>
              <a:rPr dirty="0"/>
              <a:t>Not</a:t>
            </a:r>
            <a:r>
              <a:rPr spc="-135" dirty="0"/>
              <a:t> </a:t>
            </a:r>
            <a:r>
              <a:rPr dirty="0"/>
              <a:t>Know</a:t>
            </a:r>
            <a:r>
              <a:rPr spc="-145" dirty="0"/>
              <a:t> </a:t>
            </a:r>
            <a:r>
              <a:rPr spc="-10" dirty="0"/>
              <a:t>Cosmology,</a:t>
            </a:r>
            <a:r>
              <a:rPr spc="-135" dirty="0"/>
              <a:t> </a:t>
            </a:r>
            <a:r>
              <a:rPr dirty="0"/>
              <a:t>But</a:t>
            </a:r>
            <a:r>
              <a:rPr spc="-140" dirty="0"/>
              <a:t> </a:t>
            </a:r>
            <a:r>
              <a:rPr dirty="0"/>
              <a:t>We</a:t>
            </a:r>
            <a:r>
              <a:rPr spc="-135" dirty="0"/>
              <a:t> </a:t>
            </a:r>
            <a:r>
              <a:rPr dirty="0"/>
              <a:t>Know</a:t>
            </a:r>
            <a:r>
              <a:rPr spc="-145" dirty="0"/>
              <a:t> </a:t>
            </a:r>
            <a:r>
              <a:rPr spc="-20" dirty="0"/>
              <a:t>CVPR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59918" y="2298200"/>
            <a:ext cx="9381208" cy="551912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 rot="19200000">
            <a:off x="4666709" y="8359949"/>
            <a:ext cx="152686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b="1" spc="-25" dirty="0">
                <a:solidFill>
                  <a:srgbClr val="0070C0"/>
                </a:solidFill>
                <a:latin typeface="Trebuchet MS"/>
                <a:cs typeface="Trebuchet MS"/>
              </a:rPr>
              <a:t>Or</a:t>
            </a:r>
            <a:r>
              <a:rPr sz="3000" b="1" spc="-37" baseline="1388" dirty="0">
                <a:solidFill>
                  <a:srgbClr val="0070C0"/>
                </a:solidFill>
                <a:latin typeface="Trebuchet MS"/>
                <a:cs typeface="Trebuchet MS"/>
              </a:rPr>
              <a:t>igina</a:t>
            </a:r>
            <a:r>
              <a:rPr sz="3000" b="1" spc="-37" baseline="2777" dirty="0">
                <a:solidFill>
                  <a:srgbClr val="0070C0"/>
                </a:solidFill>
                <a:latin typeface="Trebuchet MS"/>
                <a:cs typeface="Trebuchet MS"/>
              </a:rPr>
              <a:t>l</a:t>
            </a:r>
            <a:r>
              <a:rPr sz="3000" b="1" spc="-104" baseline="2777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3000" b="1" spc="-37" baseline="2777" dirty="0">
                <a:solidFill>
                  <a:srgbClr val="0070C0"/>
                </a:solidFill>
                <a:latin typeface="Trebuchet MS"/>
                <a:cs typeface="Trebuchet MS"/>
              </a:rPr>
              <a:t>GA</a:t>
            </a:r>
            <a:r>
              <a:rPr sz="3000" b="1" spc="-37" baseline="4166" dirty="0">
                <a:solidFill>
                  <a:srgbClr val="0070C0"/>
                </a:solidFill>
                <a:latin typeface="Trebuchet MS"/>
                <a:cs typeface="Trebuchet MS"/>
              </a:rPr>
              <a:t>N</a:t>
            </a:r>
            <a:endParaRPr sz="3000" baseline="4166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 rot="19200000">
            <a:off x="5983414" y="8133060"/>
            <a:ext cx="860659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b="1" spc="-10" dirty="0">
                <a:solidFill>
                  <a:srgbClr val="0070C0"/>
                </a:solidFill>
                <a:latin typeface="Trebuchet MS"/>
                <a:cs typeface="Trebuchet MS"/>
              </a:rPr>
              <a:t>DCG</a:t>
            </a:r>
            <a:r>
              <a:rPr sz="3000" b="1" spc="-15" baseline="1388" dirty="0">
                <a:solidFill>
                  <a:srgbClr val="0070C0"/>
                </a:solidFill>
                <a:latin typeface="Trebuchet MS"/>
                <a:cs typeface="Trebuchet MS"/>
              </a:rPr>
              <a:t>AN</a:t>
            </a:r>
            <a:endParaRPr sz="3000" baseline="1388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149" y="9741916"/>
            <a:ext cx="1124521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rebuchet MS"/>
                <a:cs typeface="Trebuchet MS"/>
              </a:rPr>
              <a:t>*Disclaimer: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We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rely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on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paper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titles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for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counting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the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number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of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papers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in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each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topic.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Our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statistics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are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likely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to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be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biased.</a:t>
            </a:r>
            <a:endParaRPr sz="1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 rot="19200000">
            <a:off x="6578700" y="8503636"/>
            <a:ext cx="1953964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b="1" spc="-30" dirty="0">
                <a:solidFill>
                  <a:srgbClr val="0070C0"/>
                </a:solidFill>
                <a:latin typeface="Trebuchet MS"/>
                <a:cs typeface="Trebuchet MS"/>
              </a:rPr>
              <a:t>Pr</a:t>
            </a:r>
            <a:r>
              <a:rPr sz="3000" b="1" spc="-44" baseline="1388" dirty="0">
                <a:solidFill>
                  <a:srgbClr val="0070C0"/>
                </a:solidFill>
                <a:latin typeface="Trebuchet MS"/>
                <a:cs typeface="Trebuchet MS"/>
              </a:rPr>
              <a:t>ogres</a:t>
            </a:r>
            <a:r>
              <a:rPr sz="3000" b="1" spc="-44" baseline="2777" dirty="0">
                <a:solidFill>
                  <a:srgbClr val="0070C0"/>
                </a:solidFill>
                <a:latin typeface="Trebuchet MS"/>
                <a:cs typeface="Trebuchet MS"/>
              </a:rPr>
              <a:t>sive</a:t>
            </a:r>
            <a:r>
              <a:rPr sz="3000" b="1" spc="-89" baseline="2777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3000" b="1" spc="-37" baseline="4166" dirty="0">
                <a:solidFill>
                  <a:srgbClr val="0070C0"/>
                </a:solidFill>
                <a:latin typeface="Trebuchet MS"/>
                <a:cs typeface="Trebuchet MS"/>
              </a:rPr>
              <a:t>GAN</a:t>
            </a:r>
            <a:endParaRPr sz="3000" baseline="4166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 rot="19200000">
            <a:off x="8320964" y="8170204"/>
            <a:ext cx="9673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b="1" dirty="0">
                <a:solidFill>
                  <a:srgbClr val="0070C0"/>
                </a:solidFill>
                <a:latin typeface="Trebuchet MS"/>
                <a:cs typeface="Trebuchet MS"/>
              </a:rPr>
              <a:t>Big</a:t>
            </a:r>
            <a:r>
              <a:rPr sz="2000" b="1" spc="-9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3000" b="1" spc="-37" baseline="1388" dirty="0">
                <a:solidFill>
                  <a:srgbClr val="0070C0"/>
                </a:solidFill>
                <a:latin typeface="Trebuchet MS"/>
                <a:cs typeface="Trebuchet MS"/>
              </a:rPr>
              <a:t>GA</a:t>
            </a:r>
            <a:r>
              <a:rPr sz="3000" b="1" spc="-37" baseline="2777" dirty="0">
                <a:solidFill>
                  <a:srgbClr val="0070C0"/>
                </a:solidFill>
                <a:latin typeface="Trebuchet MS"/>
                <a:cs typeface="Trebuchet MS"/>
              </a:rPr>
              <a:t>N</a:t>
            </a:r>
            <a:endParaRPr sz="3000" baseline="2777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 rot="19200000">
            <a:off x="9039013" y="8223445"/>
            <a:ext cx="1118253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b="1" spc="-10" dirty="0">
                <a:solidFill>
                  <a:srgbClr val="0070C0"/>
                </a:solidFill>
                <a:latin typeface="Trebuchet MS"/>
                <a:cs typeface="Trebuchet MS"/>
              </a:rPr>
              <a:t>Sty</a:t>
            </a:r>
            <a:r>
              <a:rPr sz="3000" b="1" spc="-15" baseline="1388" dirty="0">
                <a:solidFill>
                  <a:srgbClr val="0070C0"/>
                </a:solidFill>
                <a:latin typeface="Trebuchet MS"/>
                <a:cs typeface="Trebuchet MS"/>
              </a:rPr>
              <a:t>leGA</a:t>
            </a:r>
            <a:r>
              <a:rPr sz="3000" b="1" spc="-15" baseline="2777" dirty="0">
                <a:solidFill>
                  <a:srgbClr val="0070C0"/>
                </a:solidFill>
                <a:latin typeface="Trebuchet MS"/>
                <a:cs typeface="Trebuchet MS"/>
              </a:rPr>
              <a:t>N</a:t>
            </a:r>
            <a:endParaRPr sz="3000" baseline="2777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 rot="19200000">
            <a:off x="10199103" y="8082015"/>
            <a:ext cx="715866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b="1" spc="-20" dirty="0">
                <a:solidFill>
                  <a:srgbClr val="C00000"/>
                </a:solidFill>
                <a:latin typeface="Trebuchet MS"/>
                <a:cs typeface="Trebuchet MS"/>
              </a:rPr>
              <a:t>DDPM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 rot="19200000">
            <a:off x="9870358" y="8515335"/>
            <a:ext cx="1992377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0"/>
              </a:lnSpc>
            </a:pPr>
            <a:r>
              <a:rPr sz="3000" b="1" spc="-30" baseline="-2777" dirty="0">
                <a:solidFill>
                  <a:srgbClr val="C00000"/>
                </a:solidFill>
                <a:latin typeface="Trebuchet MS"/>
                <a:cs typeface="Trebuchet MS"/>
              </a:rPr>
              <a:t>Gu</a:t>
            </a:r>
            <a:r>
              <a:rPr sz="3000" b="1" spc="-30" baseline="-1388" dirty="0">
                <a:solidFill>
                  <a:srgbClr val="C00000"/>
                </a:solidFill>
                <a:latin typeface="Trebuchet MS"/>
                <a:cs typeface="Trebuchet MS"/>
              </a:rPr>
              <a:t>ided</a:t>
            </a:r>
            <a:r>
              <a:rPr sz="3000" b="1" spc="-135" baseline="-1388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Diff</a:t>
            </a:r>
            <a:r>
              <a:rPr sz="3000" b="1" spc="-15" baseline="1388" dirty="0">
                <a:solidFill>
                  <a:srgbClr val="C00000"/>
                </a:solidFill>
                <a:latin typeface="Trebuchet MS"/>
                <a:cs typeface="Trebuchet MS"/>
              </a:rPr>
              <a:t>usion</a:t>
            </a:r>
            <a:endParaRPr sz="3000" baseline="1388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 rot="19200000">
            <a:off x="10814243" y="8494831"/>
            <a:ext cx="1924376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000"/>
              </a:lnSpc>
            </a:pPr>
            <a:r>
              <a:rPr sz="2000" b="1" spc="-10" dirty="0">
                <a:solidFill>
                  <a:srgbClr val="C00000"/>
                </a:solidFill>
                <a:latin typeface="Trebuchet MS"/>
                <a:cs typeface="Trebuchet MS"/>
              </a:rPr>
              <a:t>La</a:t>
            </a:r>
            <a:r>
              <a:rPr sz="3000" b="1" spc="-15" baseline="1388" dirty="0">
                <a:solidFill>
                  <a:srgbClr val="C00000"/>
                </a:solidFill>
                <a:latin typeface="Trebuchet MS"/>
                <a:cs typeface="Trebuchet MS"/>
              </a:rPr>
              <a:t>tent</a:t>
            </a:r>
            <a:r>
              <a:rPr sz="3000" b="1" spc="-187" baseline="1388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3000" b="1" spc="-15" baseline="2777" dirty="0">
                <a:solidFill>
                  <a:srgbClr val="C00000"/>
                </a:solidFill>
                <a:latin typeface="Trebuchet MS"/>
                <a:cs typeface="Trebuchet MS"/>
              </a:rPr>
              <a:t>Diff</a:t>
            </a:r>
            <a:r>
              <a:rPr sz="3000" b="1" spc="-15" baseline="4166" dirty="0">
                <a:solidFill>
                  <a:srgbClr val="C00000"/>
                </a:solidFill>
                <a:latin typeface="Trebuchet MS"/>
                <a:cs typeface="Trebuchet MS"/>
              </a:rPr>
              <a:t>usion</a:t>
            </a:r>
            <a:endParaRPr sz="3000" baseline="4166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56573" y="1066800"/>
            <a:ext cx="197294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Part</a:t>
            </a:r>
            <a:r>
              <a:rPr spc="-75" dirty="0"/>
              <a:t> </a:t>
            </a:r>
            <a:r>
              <a:rPr dirty="0"/>
              <a:t>(1):</a:t>
            </a:r>
            <a:r>
              <a:rPr spc="-75" dirty="0"/>
              <a:t> </a:t>
            </a:r>
            <a:r>
              <a:rPr dirty="0"/>
              <a:t>Denoising</a:t>
            </a:r>
            <a:r>
              <a:rPr spc="-85" dirty="0"/>
              <a:t> </a:t>
            </a:r>
            <a:r>
              <a:rPr dirty="0"/>
              <a:t>Diffusion</a:t>
            </a:r>
            <a:r>
              <a:rPr spc="-80" dirty="0"/>
              <a:t> </a:t>
            </a:r>
            <a:r>
              <a:rPr dirty="0"/>
              <a:t>Probabilistic</a:t>
            </a:r>
            <a:r>
              <a:rPr spc="-70" dirty="0"/>
              <a:t> </a:t>
            </a:r>
            <a:r>
              <a:rPr spc="-10" dirty="0"/>
              <a:t>Models</a:t>
            </a:r>
          </a:p>
          <a:p>
            <a:pPr marL="12700" marR="5080">
              <a:lnSpc>
                <a:spcPct val="178600"/>
              </a:lnSpc>
            </a:pP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(2):</a:t>
            </a:r>
            <a:r>
              <a:rPr spc="-70" dirty="0"/>
              <a:t> </a:t>
            </a:r>
            <a:r>
              <a:rPr spc="-10" dirty="0"/>
              <a:t>Score-</a:t>
            </a:r>
            <a:r>
              <a:rPr dirty="0"/>
              <a:t>based</a:t>
            </a:r>
            <a:r>
              <a:rPr spc="-65" dirty="0"/>
              <a:t> </a:t>
            </a:r>
            <a:r>
              <a:rPr dirty="0"/>
              <a:t>Generative</a:t>
            </a:r>
            <a:r>
              <a:rPr spc="-65" dirty="0"/>
              <a:t> </a:t>
            </a:r>
            <a:r>
              <a:rPr dirty="0"/>
              <a:t>Modeling</a:t>
            </a:r>
            <a:r>
              <a:rPr spc="-7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Differential</a:t>
            </a:r>
            <a:r>
              <a:rPr spc="-70" dirty="0"/>
              <a:t> </a:t>
            </a:r>
            <a:r>
              <a:rPr spc="-10" dirty="0"/>
              <a:t>Equations </a:t>
            </a: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(3):</a:t>
            </a:r>
            <a:r>
              <a:rPr spc="-65" dirty="0"/>
              <a:t> </a:t>
            </a:r>
            <a:r>
              <a:rPr dirty="0"/>
              <a:t>Accelerated</a:t>
            </a:r>
            <a:r>
              <a:rPr spc="-65" dirty="0"/>
              <a:t> </a:t>
            </a:r>
            <a:r>
              <a:rPr spc="-10" dirty="0"/>
              <a:t>Sampling</a:t>
            </a: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dirty="0"/>
              <a:t>Part</a:t>
            </a:r>
            <a:r>
              <a:rPr spc="-55" dirty="0"/>
              <a:t> </a:t>
            </a:r>
            <a:r>
              <a:rPr dirty="0"/>
              <a:t>(4):</a:t>
            </a:r>
            <a:r>
              <a:rPr spc="-60" dirty="0"/>
              <a:t> </a:t>
            </a:r>
            <a:r>
              <a:rPr dirty="0"/>
              <a:t>Conditional</a:t>
            </a:r>
            <a:r>
              <a:rPr spc="-60" dirty="0"/>
              <a:t> </a:t>
            </a:r>
            <a:r>
              <a:rPr dirty="0"/>
              <a:t>Generation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Guidance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56573" y="1066800"/>
            <a:ext cx="197294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Part</a:t>
            </a:r>
            <a:r>
              <a:rPr b="1" spc="-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(1):</a:t>
            </a:r>
            <a:r>
              <a:rPr b="1" spc="-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Denoising</a:t>
            </a:r>
            <a:r>
              <a:rPr b="1" spc="-8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Diffusion</a:t>
            </a:r>
            <a:r>
              <a:rPr b="1" spc="-8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Probabilistic</a:t>
            </a:r>
            <a:r>
              <a:rPr b="1" spc="-7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C00000"/>
                </a:solidFill>
                <a:latin typeface="Trebuchet MS"/>
                <a:cs typeface="Trebuchet MS"/>
              </a:rPr>
              <a:t>Models</a:t>
            </a:r>
          </a:p>
          <a:p>
            <a:pPr marL="12700" marR="5080">
              <a:lnSpc>
                <a:spcPct val="178600"/>
              </a:lnSpc>
            </a:pP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(2):</a:t>
            </a:r>
            <a:r>
              <a:rPr spc="-70" dirty="0"/>
              <a:t> </a:t>
            </a:r>
            <a:r>
              <a:rPr spc="-10" dirty="0"/>
              <a:t>Score-</a:t>
            </a:r>
            <a:r>
              <a:rPr dirty="0"/>
              <a:t>based</a:t>
            </a:r>
            <a:r>
              <a:rPr spc="-65" dirty="0"/>
              <a:t> </a:t>
            </a:r>
            <a:r>
              <a:rPr dirty="0"/>
              <a:t>Generative</a:t>
            </a:r>
            <a:r>
              <a:rPr spc="-65" dirty="0"/>
              <a:t> </a:t>
            </a:r>
            <a:r>
              <a:rPr dirty="0"/>
              <a:t>Modeling</a:t>
            </a:r>
            <a:r>
              <a:rPr spc="-7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Differential</a:t>
            </a:r>
            <a:r>
              <a:rPr spc="-70" dirty="0"/>
              <a:t> </a:t>
            </a:r>
            <a:r>
              <a:rPr spc="-10" dirty="0"/>
              <a:t>Equations </a:t>
            </a: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(3):</a:t>
            </a:r>
            <a:r>
              <a:rPr spc="-65" dirty="0"/>
              <a:t> </a:t>
            </a:r>
            <a:r>
              <a:rPr dirty="0"/>
              <a:t>Accelerated</a:t>
            </a:r>
            <a:r>
              <a:rPr spc="-65" dirty="0"/>
              <a:t> </a:t>
            </a:r>
            <a:r>
              <a:rPr spc="-10" dirty="0"/>
              <a:t>Sampling</a:t>
            </a: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dirty="0"/>
              <a:t>Part</a:t>
            </a:r>
            <a:r>
              <a:rPr spc="-55" dirty="0"/>
              <a:t> </a:t>
            </a:r>
            <a:r>
              <a:rPr dirty="0"/>
              <a:t>(4):</a:t>
            </a:r>
            <a:r>
              <a:rPr spc="-60" dirty="0"/>
              <a:t> </a:t>
            </a:r>
            <a:r>
              <a:rPr dirty="0"/>
              <a:t>Conditional</a:t>
            </a:r>
            <a:r>
              <a:rPr spc="-60" dirty="0"/>
              <a:t> </a:t>
            </a:r>
            <a:r>
              <a:rPr dirty="0"/>
              <a:t>Generation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Guidance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13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290" dirty="0"/>
              <a:t> </a:t>
            </a:r>
            <a:r>
              <a:rPr dirty="0"/>
              <a:t>Diffusion</a:t>
            </a:r>
            <a:r>
              <a:rPr spc="-285" dirty="0"/>
              <a:t> </a:t>
            </a:r>
            <a:r>
              <a:rPr spc="-10" dirty="0"/>
              <a:t>Models</a:t>
            </a:r>
          </a:p>
          <a:p>
            <a:pPr marL="5080"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Learning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to</a:t>
            </a:r>
            <a:r>
              <a:rPr sz="3000" spc="-4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generate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by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denoising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939990" y="3499103"/>
            <a:ext cx="10403840" cy="271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Denoising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consist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two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processes: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Forward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process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gradually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adds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noise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input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Reverse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denoising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process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learns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generate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data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denoising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10"/>
              </a:spcBef>
            </a:pPr>
            <a:endParaRPr sz="2300">
              <a:latin typeface="Trebuchet MS"/>
              <a:cs typeface="Trebuchet MS"/>
            </a:endParaRPr>
          </a:p>
          <a:p>
            <a:pPr marL="597154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Forward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diffusion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(fixed)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78286" y="6248371"/>
            <a:ext cx="6214745" cy="142875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6151248" y="71310"/>
                </a:moveTo>
                <a:lnTo>
                  <a:pt x="6079505" y="113161"/>
                </a:lnTo>
                <a:lnTo>
                  <a:pt x="6074796" y="117351"/>
                </a:lnTo>
                <a:lnTo>
                  <a:pt x="6072152" y="122833"/>
                </a:lnTo>
                <a:lnTo>
                  <a:pt x="6071756" y="128906"/>
                </a:lnTo>
                <a:lnTo>
                  <a:pt x="6073792" y="134873"/>
                </a:lnTo>
                <a:lnTo>
                  <a:pt x="6077983" y="139581"/>
                </a:lnTo>
                <a:lnTo>
                  <a:pt x="6083464" y="142226"/>
                </a:lnTo>
                <a:lnTo>
                  <a:pt x="6089537" y="142621"/>
                </a:lnTo>
                <a:lnTo>
                  <a:pt x="6095503" y="140585"/>
                </a:lnTo>
                <a:lnTo>
                  <a:pt x="6187046" y="87185"/>
                </a:lnTo>
                <a:lnTo>
                  <a:pt x="6182695" y="87185"/>
                </a:lnTo>
                <a:lnTo>
                  <a:pt x="6182695" y="85023"/>
                </a:lnTo>
                <a:lnTo>
                  <a:pt x="6174755" y="85023"/>
                </a:lnTo>
                <a:lnTo>
                  <a:pt x="6151248" y="71310"/>
                </a:lnTo>
                <a:close/>
              </a:path>
              <a:path w="6214745" h="142875">
                <a:moveTo>
                  <a:pt x="6124034" y="55435"/>
                </a:moveTo>
                <a:lnTo>
                  <a:pt x="0" y="55435"/>
                </a:lnTo>
                <a:lnTo>
                  <a:pt x="0" y="87185"/>
                </a:lnTo>
                <a:lnTo>
                  <a:pt x="6124034" y="87185"/>
                </a:lnTo>
                <a:lnTo>
                  <a:pt x="6151248" y="71310"/>
                </a:lnTo>
                <a:lnTo>
                  <a:pt x="6124034" y="55435"/>
                </a:lnTo>
                <a:close/>
              </a:path>
              <a:path w="6214745" h="142875">
                <a:moveTo>
                  <a:pt x="6187046" y="55435"/>
                </a:moveTo>
                <a:lnTo>
                  <a:pt x="6182695" y="55435"/>
                </a:lnTo>
                <a:lnTo>
                  <a:pt x="6182695" y="87185"/>
                </a:lnTo>
                <a:lnTo>
                  <a:pt x="6187046" y="87185"/>
                </a:lnTo>
                <a:lnTo>
                  <a:pt x="6214261" y="71310"/>
                </a:lnTo>
                <a:lnTo>
                  <a:pt x="6187046" y="55435"/>
                </a:lnTo>
                <a:close/>
              </a:path>
              <a:path w="6214745" h="142875">
                <a:moveTo>
                  <a:pt x="6174755" y="57598"/>
                </a:moveTo>
                <a:lnTo>
                  <a:pt x="6151248" y="71310"/>
                </a:lnTo>
                <a:lnTo>
                  <a:pt x="6174755" y="85023"/>
                </a:lnTo>
                <a:lnTo>
                  <a:pt x="6174755" y="57598"/>
                </a:lnTo>
                <a:close/>
              </a:path>
              <a:path w="6214745" h="142875">
                <a:moveTo>
                  <a:pt x="6182695" y="57598"/>
                </a:moveTo>
                <a:lnTo>
                  <a:pt x="6174755" y="57598"/>
                </a:lnTo>
                <a:lnTo>
                  <a:pt x="6174755" y="85023"/>
                </a:lnTo>
                <a:lnTo>
                  <a:pt x="6182695" y="85023"/>
                </a:lnTo>
                <a:lnTo>
                  <a:pt x="6182695" y="57598"/>
                </a:lnTo>
                <a:close/>
              </a:path>
              <a:path w="6214745" h="142875">
                <a:moveTo>
                  <a:pt x="6089537" y="0"/>
                </a:moveTo>
                <a:lnTo>
                  <a:pt x="6083464" y="396"/>
                </a:lnTo>
                <a:lnTo>
                  <a:pt x="6077983" y="3040"/>
                </a:lnTo>
                <a:lnTo>
                  <a:pt x="6073792" y="7749"/>
                </a:lnTo>
                <a:lnTo>
                  <a:pt x="6071756" y="13715"/>
                </a:lnTo>
                <a:lnTo>
                  <a:pt x="6072152" y="19788"/>
                </a:lnTo>
                <a:lnTo>
                  <a:pt x="6074796" y="25269"/>
                </a:lnTo>
                <a:lnTo>
                  <a:pt x="6079505" y="29460"/>
                </a:lnTo>
                <a:lnTo>
                  <a:pt x="6151248" y="71310"/>
                </a:lnTo>
                <a:lnTo>
                  <a:pt x="6174755" y="57598"/>
                </a:lnTo>
                <a:lnTo>
                  <a:pt x="6182695" y="57598"/>
                </a:lnTo>
                <a:lnTo>
                  <a:pt x="6182695" y="55435"/>
                </a:lnTo>
                <a:lnTo>
                  <a:pt x="6187046" y="55435"/>
                </a:lnTo>
                <a:lnTo>
                  <a:pt x="6095503" y="2036"/>
                </a:lnTo>
                <a:lnTo>
                  <a:pt x="6089537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78212" y="8252042"/>
            <a:ext cx="6214745" cy="142875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124722" y="0"/>
                </a:moveTo>
                <a:lnTo>
                  <a:pt x="118756" y="2036"/>
                </a:lnTo>
                <a:lnTo>
                  <a:pt x="0" y="71310"/>
                </a:lnTo>
                <a:lnTo>
                  <a:pt x="118756" y="140585"/>
                </a:lnTo>
                <a:lnTo>
                  <a:pt x="124722" y="142621"/>
                </a:lnTo>
                <a:lnTo>
                  <a:pt x="130795" y="142226"/>
                </a:lnTo>
                <a:lnTo>
                  <a:pt x="136276" y="139581"/>
                </a:lnTo>
                <a:lnTo>
                  <a:pt x="140468" y="134873"/>
                </a:lnTo>
                <a:lnTo>
                  <a:pt x="142503" y="128906"/>
                </a:lnTo>
                <a:lnTo>
                  <a:pt x="142107" y="122833"/>
                </a:lnTo>
                <a:lnTo>
                  <a:pt x="139463" y="117351"/>
                </a:lnTo>
                <a:lnTo>
                  <a:pt x="134754" y="113161"/>
                </a:lnTo>
                <a:lnTo>
                  <a:pt x="90227" y="87187"/>
                </a:lnTo>
                <a:lnTo>
                  <a:pt x="31564" y="87187"/>
                </a:lnTo>
                <a:lnTo>
                  <a:pt x="31564" y="55437"/>
                </a:lnTo>
                <a:lnTo>
                  <a:pt x="90223" y="55437"/>
                </a:lnTo>
                <a:lnTo>
                  <a:pt x="134754" y="29460"/>
                </a:lnTo>
                <a:lnTo>
                  <a:pt x="139463" y="25269"/>
                </a:lnTo>
                <a:lnTo>
                  <a:pt x="142107" y="19788"/>
                </a:lnTo>
                <a:lnTo>
                  <a:pt x="142503" y="13715"/>
                </a:lnTo>
                <a:lnTo>
                  <a:pt x="140468" y="7749"/>
                </a:lnTo>
                <a:lnTo>
                  <a:pt x="136276" y="3040"/>
                </a:lnTo>
                <a:lnTo>
                  <a:pt x="130795" y="396"/>
                </a:lnTo>
                <a:lnTo>
                  <a:pt x="124722" y="0"/>
                </a:lnTo>
                <a:close/>
              </a:path>
              <a:path w="6214745" h="142875">
                <a:moveTo>
                  <a:pt x="90223" y="55437"/>
                </a:moveTo>
                <a:lnTo>
                  <a:pt x="31564" y="55437"/>
                </a:lnTo>
                <a:lnTo>
                  <a:pt x="31564" y="87187"/>
                </a:lnTo>
                <a:lnTo>
                  <a:pt x="90227" y="87187"/>
                </a:lnTo>
                <a:lnTo>
                  <a:pt x="86517" y="85023"/>
                </a:lnTo>
                <a:lnTo>
                  <a:pt x="39504" y="85023"/>
                </a:lnTo>
                <a:lnTo>
                  <a:pt x="39504" y="57598"/>
                </a:lnTo>
                <a:lnTo>
                  <a:pt x="86517" y="57598"/>
                </a:lnTo>
                <a:lnTo>
                  <a:pt x="90223" y="55437"/>
                </a:lnTo>
                <a:close/>
              </a:path>
              <a:path w="6214745" h="142875">
                <a:moveTo>
                  <a:pt x="6214261" y="55437"/>
                </a:moveTo>
                <a:lnTo>
                  <a:pt x="90223" y="55437"/>
                </a:lnTo>
                <a:lnTo>
                  <a:pt x="63011" y="71310"/>
                </a:lnTo>
                <a:lnTo>
                  <a:pt x="90227" y="87187"/>
                </a:lnTo>
                <a:lnTo>
                  <a:pt x="6214261" y="87187"/>
                </a:lnTo>
                <a:lnTo>
                  <a:pt x="6214261" y="55437"/>
                </a:lnTo>
                <a:close/>
              </a:path>
              <a:path w="6214745" h="142875">
                <a:moveTo>
                  <a:pt x="39504" y="57598"/>
                </a:moveTo>
                <a:lnTo>
                  <a:pt x="39504" y="85023"/>
                </a:lnTo>
                <a:lnTo>
                  <a:pt x="63011" y="71310"/>
                </a:lnTo>
                <a:lnTo>
                  <a:pt x="39504" y="57598"/>
                </a:lnTo>
                <a:close/>
              </a:path>
              <a:path w="6214745" h="142875">
                <a:moveTo>
                  <a:pt x="63011" y="71310"/>
                </a:moveTo>
                <a:lnTo>
                  <a:pt x="39504" y="85023"/>
                </a:lnTo>
                <a:lnTo>
                  <a:pt x="86517" y="85023"/>
                </a:lnTo>
                <a:lnTo>
                  <a:pt x="63011" y="71310"/>
                </a:lnTo>
                <a:close/>
              </a:path>
              <a:path w="6214745" h="142875">
                <a:moveTo>
                  <a:pt x="86517" y="57598"/>
                </a:moveTo>
                <a:lnTo>
                  <a:pt x="39504" y="57598"/>
                </a:lnTo>
                <a:lnTo>
                  <a:pt x="63011" y="71310"/>
                </a:lnTo>
                <a:lnTo>
                  <a:pt x="86517" y="57598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15310" y="7113523"/>
            <a:ext cx="654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834791" y="7113523"/>
            <a:ext cx="762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Noise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48284" y="8408923"/>
            <a:ext cx="5419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Reverse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denoising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(generative)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48804" y="6473776"/>
            <a:ext cx="1672056" cy="1672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6921" y="6473776"/>
            <a:ext cx="1672064" cy="16720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88902" y="6473776"/>
            <a:ext cx="1672064" cy="16720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20883" y="6473776"/>
            <a:ext cx="1672064" cy="16720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52863" y="6473776"/>
            <a:ext cx="1672064" cy="16720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84843" y="6473776"/>
            <a:ext cx="1672064" cy="16720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916825" y="6473776"/>
            <a:ext cx="1672060" cy="167206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74040" y="9245092"/>
            <a:ext cx="9222740" cy="75438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900"/>
              </a:lnSpc>
              <a:spcBef>
                <a:spcPts val="180"/>
              </a:spcBef>
            </a:pP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Sohl-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Dickstein</a:t>
            </a:r>
            <a:r>
              <a:rPr sz="16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et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al.,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Deep</a:t>
            </a:r>
            <a:r>
              <a:rPr sz="16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Unsupervised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Learning</a:t>
            </a:r>
            <a:r>
              <a:rPr sz="16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using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Nonequilibrium</a:t>
            </a:r>
            <a:r>
              <a:rPr sz="1600" u="sng" spc="-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Thermodynamics,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ICML</a:t>
            </a:r>
            <a:r>
              <a:rPr sz="1600" u="sng" spc="-9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2015</a:t>
            </a:r>
            <a:r>
              <a:rPr sz="1600" spc="-20" dirty="0">
                <a:solidFill>
                  <a:srgbClr val="0071C5"/>
                </a:solidFill>
                <a:latin typeface="Arial MT"/>
                <a:cs typeface="Arial MT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Ho</a:t>
            </a:r>
            <a:r>
              <a:rPr sz="16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et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al.,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Denoising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Diffusion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Probabilistic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Models,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NeurIPS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0"/>
              </a:rPr>
              <a:t>2020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855"/>
              </a:lnSpc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Song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et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al.,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Score-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Based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Generative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Modeling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through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Stochastic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Differential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Equations,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ICLR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1"/>
              </a:rPr>
              <a:t>2021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697095">
              <a:lnSpc>
                <a:spcPct val="100000"/>
              </a:lnSpc>
              <a:spcBef>
                <a:spcPts val="100"/>
              </a:spcBef>
            </a:pPr>
            <a:r>
              <a:rPr dirty="0"/>
              <a:t>Forward</a:t>
            </a:r>
            <a:r>
              <a:rPr spc="-254" dirty="0"/>
              <a:t> </a:t>
            </a:r>
            <a:r>
              <a:rPr dirty="0"/>
              <a:t>Diffusion</a:t>
            </a:r>
            <a:r>
              <a:rPr spc="-25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3230880"/>
            <a:ext cx="10605135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formal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definition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forward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process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steps: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2300">
              <a:latin typeface="Trebuchet MS"/>
              <a:cs typeface="Trebuchet MS"/>
            </a:endParaRPr>
          </a:p>
          <a:p>
            <a:pPr marL="617347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Forward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diffusion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(fixed)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079669" y="4498264"/>
            <a:ext cx="6214745" cy="142875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6151249" y="71310"/>
                </a:moveTo>
                <a:lnTo>
                  <a:pt x="6079506" y="113161"/>
                </a:lnTo>
                <a:lnTo>
                  <a:pt x="6074797" y="117351"/>
                </a:lnTo>
                <a:lnTo>
                  <a:pt x="6072153" y="122833"/>
                </a:lnTo>
                <a:lnTo>
                  <a:pt x="6071757" y="128906"/>
                </a:lnTo>
                <a:lnTo>
                  <a:pt x="6073794" y="134873"/>
                </a:lnTo>
                <a:lnTo>
                  <a:pt x="6077984" y="139581"/>
                </a:lnTo>
                <a:lnTo>
                  <a:pt x="6083465" y="142226"/>
                </a:lnTo>
                <a:lnTo>
                  <a:pt x="6089538" y="142621"/>
                </a:lnTo>
                <a:lnTo>
                  <a:pt x="6095504" y="140585"/>
                </a:lnTo>
                <a:lnTo>
                  <a:pt x="6187047" y="87185"/>
                </a:lnTo>
                <a:lnTo>
                  <a:pt x="6182696" y="87185"/>
                </a:lnTo>
                <a:lnTo>
                  <a:pt x="6182696" y="85023"/>
                </a:lnTo>
                <a:lnTo>
                  <a:pt x="6174756" y="85023"/>
                </a:lnTo>
                <a:lnTo>
                  <a:pt x="6151249" y="71310"/>
                </a:lnTo>
                <a:close/>
              </a:path>
              <a:path w="6214745" h="142875">
                <a:moveTo>
                  <a:pt x="6124035" y="55435"/>
                </a:moveTo>
                <a:lnTo>
                  <a:pt x="0" y="55435"/>
                </a:lnTo>
                <a:lnTo>
                  <a:pt x="0" y="87185"/>
                </a:lnTo>
                <a:lnTo>
                  <a:pt x="6124035" y="87185"/>
                </a:lnTo>
                <a:lnTo>
                  <a:pt x="6151249" y="71310"/>
                </a:lnTo>
                <a:lnTo>
                  <a:pt x="6124035" y="55435"/>
                </a:lnTo>
                <a:close/>
              </a:path>
              <a:path w="6214745" h="142875">
                <a:moveTo>
                  <a:pt x="6187047" y="55435"/>
                </a:moveTo>
                <a:lnTo>
                  <a:pt x="6182696" y="55435"/>
                </a:lnTo>
                <a:lnTo>
                  <a:pt x="6182696" y="87185"/>
                </a:lnTo>
                <a:lnTo>
                  <a:pt x="6187047" y="87185"/>
                </a:lnTo>
                <a:lnTo>
                  <a:pt x="6214262" y="71310"/>
                </a:lnTo>
                <a:lnTo>
                  <a:pt x="6187047" y="55435"/>
                </a:lnTo>
                <a:close/>
              </a:path>
              <a:path w="6214745" h="142875">
                <a:moveTo>
                  <a:pt x="6174756" y="57598"/>
                </a:moveTo>
                <a:lnTo>
                  <a:pt x="6151249" y="71310"/>
                </a:lnTo>
                <a:lnTo>
                  <a:pt x="6174756" y="85023"/>
                </a:lnTo>
                <a:lnTo>
                  <a:pt x="6174756" y="57598"/>
                </a:lnTo>
                <a:close/>
              </a:path>
              <a:path w="6214745" h="142875">
                <a:moveTo>
                  <a:pt x="6182696" y="57598"/>
                </a:moveTo>
                <a:lnTo>
                  <a:pt x="6174756" y="57598"/>
                </a:lnTo>
                <a:lnTo>
                  <a:pt x="6174756" y="85023"/>
                </a:lnTo>
                <a:lnTo>
                  <a:pt x="6182696" y="85023"/>
                </a:lnTo>
                <a:lnTo>
                  <a:pt x="6182696" y="57598"/>
                </a:lnTo>
                <a:close/>
              </a:path>
              <a:path w="6214745" h="142875">
                <a:moveTo>
                  <a:pt x="6089538" y="0"/>
                </a:moveTo>
                <a:lnTo>
                  <a:pt x="6083465" y="396"/>
                </a:lnTo>
                <a:lnTo>
                  <a:pt x="6077984" y="3040"/>
                </a:lnTo>
                <a:lnTo>
                  <a:pt x="6073794" y="7749"/>
                </a:lnTo>
                <a:lnTo>
                  <a:pt x="6071757" y="13715"/>
                </a:lnTo>
                <a:lnTo>
                  <a:pt x="6072153" y="19788"/>
                </a:lnTo>
                <a:lnTo>
                  <a:pt x="6074797" y="25269"/>
                </a:lnTo>
                <a:lnTo>
                  <a:pt x="6079506" y="29460"/>
                </a:lnTo>
                <a:lnTo>
                  <a:pt x="6151249" y="71310"/>
                </a:lnTo>
                <a:lnTo>
                  <a:pt x="6174756" y="57598"/>
                </a:lnTo>
                <a:lnTo>
                  <a:pt x="6182696" y="57598"/>
                </a:lnTo>
                <a:lnTo>
                  <a:pt x="6182696" y="55435"/>
                </a:lnTo>
                <a:lnTo>
                  <a:pt x="6187047" y="55435"/>
                </a:lnTo>
                <a:lnTo>
                  <a:pt x="6095504" y="2036"/>
                </a:lnTo>
                <a:lnTo>
                  <a:pt x="6089538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016693" y="5363971"/>
            <a:ext cx="654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036176" y="5363971"/>
            <a:ext cx="762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Noise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0188" y="4723667"/>
            <a:ext cx="1672056" cy="167206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8306" y="4723667"/>
            <a:ext cx="1672062" cy="16720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90286" y="4723667"/>
            <a:ext cx="1672064" cy="16720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22267" y="4723667"/>
            <a:ext cx="1672064" cy="1672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54248" y="4723667"/>
            <a:ext cx="1672062" cy="16720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86227" y="4723667"/>
            <a:ext cx="1672064" cy="16720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118207" y="4723667"/>
            <a:ext cx="1672061" cy="167206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301115" y="6931873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5" h="200025">
                <a:moveTo>
                  <a:pt x="17735" y="33774"/>
                </a:moveTo>
                <a:lnTo>
                  <a:pt x="18666" y="77292"/>
                </a:lnTo>
                <a:lnTo>
                  <a:pt x="60145" y="95882"/>
                </a:lnTo>
                <a:lnTo>
                  <a:pt x="107066" y="113183"/>
                </a:lnTo>
                <a:lnTo>
                  <a:pt x="158722" y="129034"/>
                </a:lnTo>
                <a:lnTo>
                  <a:pt x="215226" y="143517"/>
                </a:lnTo>
                <a:lnTo>
                  <a:pt x="308278" y="162472"/>
                </a:lnTo>
                <a:lnTo>
                  <a:pt x="375155" y="173112"/>
                </a:lnTo>
                <a:lnTo>
                  <a:pt x="445642" y="182082"/>
                </a:lnTo>
                <a:lnTo>
                  <a:pt x="527944" y="190017"/>
                </a:lnTo>
                <a:lnTo>
                  <a:pt x="611089" y="195512"/>
                </a:lnTo>
                <a:lnTo>
                  <a:pt x="694535" y="198635"/>
                </a:lnTo>
                <a:lnTo>
                  <a:pt x="777735" y="199449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22" y="188695"/>
                </a:lnTo>
                <a:lnTo>
                  <a:pt x="1097203" y="180919"/>
                </a:lnTo>
                <a:lnTo>
                  <a:pt x="1171028" y="171145"/>
                </a:lnTo>
                <a:lnTo>
                  <a:pt x="1229836" y="161356"/>
                </a:lnTo>
                <a:lnTo>
                  <a:pt x="777078" y="161356"/>
                </a:lnTo>
                <a:lnTo>
                  <a:pt x="694910" y="160536"/>
                </a:lnTo>
                <a:lnTo>
                  <a:pt x="612517" y="157439"/>
                </a:lnTo>
                <a:lnTo>
                  <a:pt x="530459" y="152001"/>
                </a:lnTo>
                <a:lnTo>
                  <a:pt x="449303" y="144158"/>
                </a:lnTo>
                <a:lnTo>
                  <a:pt x="379970" y="135317"/>
                </a:lnTo>
                <a:lnTo>
                  <a:pt x="314270" y="124846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1"/>
                </a:lnTo>
                <a:lnTo>
                  <a:pt x="95552" y="68742"/>
                </a:lnTo>
                <a:lnTo>
                  <a:pt x="53679" y="51710"/>
                </a:lnTo>
                <a:lnTo>
                  <a:pt x="34940" y="42843"/>
                </a:lnTo>
                <a:lnTo>
                  <a:pt x="17735" y="33774"/>
                </a:lnTo>
                <a:close/>
              </a:path>
              <a:path w="1550035" h="200025">
                <a:moveTo>
                  <a:pt x="1538491" y="59839"/>
                </a:moveTo>
                <a:lnTo>
                  <a:pt x="1455873" y="59839"/>
                </a:lnTo>
                <a:lnTo>
                  <a:pt x="1472459" y="94140"/>
                </a:lnTo>
                <a:lnTo>
                  <a:pt x="1455445" y="102367"/>
                </a:lnTo>
                <a:lnTo>
                  <a:pt x="1489227" y="170837"/>
                </a:lnTo>
                <a:lnTo>
                  <a:pt x="1538491" y="59839"/>
                </a:lnTo>
                <a:close/>
              </a:path>
              <a:path w="1550035" h="200025">
                <a:moveTo>
                  <a:pt x="1438586" y="68198"/>
                </a:moveTo>
                <a:lnTo>
                  <a:pt x="1386624" y="85744"/>
                </a:lnTo>
                <a:lnTo>
                  <a:pt x="1329274" y="101531"/>
                </a:lnTo>
                <a:lnTo>
                  <a:pt x="1266837" y="115658"/>
                </a:lnTo>
                <a:lnTo>
                  <a:pt x="1164776" y="133562"/>
                </a:lnTo>
                <a:lnTo>
                  <a:pt x="1092208" y="143148"/>
                </a:lnTo>
                <a:lnTo>
                  <a:pt x="1016588" y="150789"/>
                </a:lnTo>
                <a:lnTo>
                  <a:pt x="938481" y="156415"/>
                </a:lnTo>
                <a:lnTo>
                  <a:pt x="858456" y="159960"/>
                </a:lnTo>
                <a:lnTo>
                  <a:pt x="777078" y="161356"/>
                </a:lnTo>
                <a:lnTo>
                  <a:pt x="1229836" y="161356"/>
                </a:lnTo>
                <a:lnTo>
                  <a:pt x="1274861" y="152904"/>
                </a:lnTo>
                <a:lnTo>
                  <a:pt x="1338941" y="138384"/>
                </a:lnTo>
                <a:lnTo>
                  <a:pt x="1398106" y="122069"/>
                </a:lnTo>
                <a:lnTo>
                  <a:pt x="1453530" y="103292"/>
                </a:lnTo>
                <a:lnTo>
                  <a:pt x="1455445" y="102367"/>
                </a:lnTo>
                <a:lnTo>
                  <a:pt x="1438586" y="68198"/>
                </a:lnTo>
                <a:close/>
              </a:path>
              <a:path w="1550035" h="200025">
                <a:moveTo>
                  <a:pt x="1455873" y="59839"/>
                </a:moveTo>
                <a:lnTo>
                  <a:pt x="1438586" y="68198"/>
                </a:lnTo>
                <a:lnTo>
                  <a:pt x="1455445" y="102367"/>
                </a:lnTo>
                <a:lnTo>
                  <a:pt x="1472459" y="94140"/>
                </a:lnTo>
                <a:lnTo>
                  <a:pt x="1455873" y="59839"/>
                </a:lnTo>
                <a:close/>
              </a:path>
              <a:path w="1550035" h="200025">
                <a:moveTo>
                  <a:pt x="1404938" y="0"/>
                </a:moveTo>
                <a:lnTo>
                  <a:pt x="1438586" y="68198"/>
                </a:lnTo>
                <a:lnTo>
                  <a:pt x="1455873" y="59839"/>
                </a:lnTo>
                <a:lnTo>
                  <a:pt x="1538491" y="59839"/>
                </a:lnTo>
                <a:lnTo>
                  <a:pt x="1549585" y="34844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4680184" y="7272528"/>
            <a:ext cx="779145" cy="384810"/>
            <a:chOff x="4680184" y="7272528"/>
            <a:chExt cx="779145" cy="384810"/>
          </a:xfrm>
        </p:grpSpPr>
        <p:sp>
          <p:nvSpPr>
            <p:cNvPr id="16" name="object 16"/>
            <p:cNvSpPr/>
            <p:nvPr/>
          </p:nvSpPr>
          <p:spPr>
            <a:xfrm>
              <a:off x="4680184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85359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18" name="object 18"/>
          <p:cNvSpPr/>
          <p:nvPr/>
        </p:nvSpPr>
        <p:spPr>
          <a:xfrm>
            <a:off x="6078099" y="6931873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5" y="33774"/>
                </a:moveTo>
                <a:lnTo>
                  <a:pt x="18666" y="77292"/>
                </a:lnTo>
                <a:lnTo>
                  <a:pt x="60145" y="95882"/>
                </a:lnTo>
                <a:lnTo>
                  <a:pt x="107066" y="113183"/>
                </a:lnTo>
                <a:lnTo>
                  <a:pt x="158722" y="129034"/>
                </a:lnTo>
                <a:lnTo>
                  <a:pt x="215225" y="143517"/>
                </a:lnTo>
                <a:lnTo>
                  <a:pt x="308278" y="162472"/>
                </a:lnTo>
                <a:lnTo>
                  <a:pt x="375155" y="173112"/>
                </a:lnTo>
                <a:lnTo>
                  <a:pt x="445643" y="182082"/>
                </a:lnTo>
                <a:lnTo>
                  <a:pt x="527944" y="190017"/>
                </a:lnTo>
                <a:lnTo>
                  <a:pt x="611089" y="195512"/>
                </a:lnTo>
                <a:lnTo>
                  <a:pt x="694535" y="198635"/>
                </a:lnTo>
                <a:lnTo>
                  <a:pt x="777735" y="199449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22" y="188695"/>
                </a:lnTo>
                <a:lnTo>
                  <a:pt x="1097203" y="180919"/>
                </a:lnTo>
                <a:lnTo>
                  <a:pt x="1171028" y="171145"/>
                </a:lnTo>
                <a:lnTo>
                  <a:pt x="1229836" y="161356"/>
                </a:lnTo>
                <a:lnTo>
                  <a:pt x="777078" y="161356"/>
                </a:lnTo>
                <a:lnTo>
                  <a:pt x="694910" y="160536"/>
                </a:lnTo>
                <a:lnTo>
                  <a:pt x="612517" y="157439"/>
                </a:lnTo>
                <a:lnTo>
                  <a:pt x="530459" y="152001"/>
                </a:lnTo>
                <a:lnTo>
                  <a:pt x="449303" y="144158"/>
                </a:lnTo>
                <a:lnTo>
                  <a:pt x="379970" y="135317"/>
                </a:lnTo>
                <a:lnTo>
                  <a:pt x="314270" y="124846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1"/>
                </a:lnTo>
                <a:lnTo>
                  <a:pt x="95552" y="68742"/>
                </a:lnTo>
                <a:lnTo>
                  <a:pt x="53679" y="51710"/>
                </a:lnTo>
                <a:lnTo>
                  <a:pt x="34940" y="42843"/>
                </a:lnTo>
                <a:lnTo>
                  <a:pt x="17735" y="33774"/>
                </a:lnTo>
                <a:close/>
              </a:path>
              <a:path w="1550034" h="200025">
                <a:moveTo>
                  <a:pt x="1538491" y="59839"/>
                </a:moveTo>
                <a:lnTo>
                  <a:pt x="1455873" y="59839"/>
                </a:lnTo>
                <a:lnTo>
                  <a:pt x="1472459" y="94140"/>
                </a:lnTo>
                <a:lnTo>
                  <a:pt x="1455445" y="102367"/>
                </a:lnTo>
                <a:lnTo>
                  <a:pt x="1489227" y="170837"/>
                </a:lnTo>
                <a:lnTo>
                  <a:pt x="1538491" y="59839"/>
                </a:lnTo>
                <a:close/>
              </a:path>
              <a:path w="1550034" h="200025">
                <a:moveTo>
                  <a:pt x="1438586" y="68198"/>
                </a:moveTo>
                <a:lnTo>
                  <a:pt x="1386624" y="85744"/>
                </a:lnTo>
                <a:lnTo>
                  <a:pt x="1329274" y="101531"/>
                </a:lnTo>
                <a:lnTo>
                  <a:pt x="1266837" y="115658"/>
                </a:lnTo>
                <a:lnTo>
                  <a:pt x="1164776" y="133562"/>
                </a:lnTo>
                <a:lnTo>
                  <a:pt x="1092208" y="143148"/>
                </a:lnTo>
                <a:lnTo>
                  <a:pt x="1016588" y="150789"/>
                </a:lnTo>
                <a:lnTo>
                  <a:pt x="938481" y="156415"/>
                </a:lnTo>
                <a:lnTo>
                  <a:pt x="858456" y="159960"/>
                </a:lnTo>
                <a:lnTo>
                  <a:pt x="777078" y="161356"/>
                </a:lnTo>
                <a:lnTo>
                  <a:pt x="1229836" y="161356"/>
                </a:lnTo>
                <a:lnTo>
                  <a:pt x="1274861" y="152904"/>
                </a:lnTo>
                <a:lnTo>
                  <a:pt x="1338941" y="138384"/>
                </a:lnTo>
                <a:lnTo>
                  <a:pt x="1398106" y="122069"/>
                </a:lnTo>
                <a:lnTo>
                  <a:pt x="1453530" y="103292"/>
                </a:lnTo>
                <a:lnTo>
                  <a:pt x="1455445" y="102367"/>
                </a:lnTo>
                <a:lnTo>
                  <a:pt x="1438586" y="68198"/>
                </a:lnTo>
                <a:close/>
              </a:path>
              <a:path w="1550034" h="200025">
                <a:moveTo>
                  <a:pt x="1455873" y="59839"/>
                </a:moveTo>
                <a:lnTo>
                  <a:pt x="1438586" y="68198"/>
                </a:lnTo>
                <a:lnTo>
                  <a:pt x="1455445" y="102367"/>
                </a:lnTo>
                <a:lnTo>
                  <a:pt x="1472459" y="94140"/>
                </a:lnTo>
                <a:lnTo>
                  <a:pt x="1455873" y="59839"/>
                </a:lnTo>
                <a:close/>
              </a:path>
              <a:path w="1550034" h="200025">
                <a:moveTo>
                  <a:pt x="1404938" y="0"/>
                </a:moveTo>
                <a:lnTo>
                  <a:pt x="1438586" y="68198"/>
                </a:lnTo>
                <a:lnTo>
                  <a:pt x="1455873" y="59839"/>
                </a:lnTo>
                <a:lnTo>
                  <a:pt x="1538491" y="59839"/>
                </a:lnTo>
                <a:lnTo>
                  <a:pt x="1549585" y="34844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6457169" y="7272528"/>
            <a:ext cx="779145" cy="384810"/>
            <a:chOff x="6457169" y="7272528"/>
            <a:chExt cx="779145" cy="384810"/>
          </a:xfrm>
        </p:grpSpPr>
        <p:sp>
          <p:nvSpPr>
            <p:cNvPr id="20" name="object 20"/>
            <p:cNvSpPr/>
            <p:nvPr/>
          </p:nvSpPr>
          <p:spPr>
            <a:xfrm>
              <a:off x="6457169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62344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7855083" y="6931873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5" y="33774"/>
                </a:moveTo>
                <a:lnTo>
                  <a:pt x="18666" y="77292"/>
                </a:lnTo>
                <a:lnTo>
                  <a:pt x="60145" y="95882"/>
                </a:lnTo>
                <a:lnTo>
                  <a:pt x="107066" y="113183"/>
                </a:lnTo>
                <a:lnTo>
                  <a:pt x="158722" y="129034"/>
                </a:lnTo>
                <a:lnTo>
                  <a:pt x="215225" y="143517"/>
                </a:lnTo>
                <a:lnTo>
                  <a:pt x="308278" y="162472"/>
                </a:lnTo>
                <a:lnTo>
                  <a:pt x="375155" y="173112"/>
                </a:lnTo>
                <a:lnTo>
                  <a:pt x="445643" y="182082"/>
                </a:lnTo>
                <a:lnTo>
                  <a:pt x="527944" y="190017"/>
                </a:lnTo>
                <a:lnTo>
                  <a:pt x="611089" y="195512"/>
                </a:lnTo>
                <a:lnTo>
                  <a:pt x="694535" y="198635"/>
                </a:lnTo>
                <a:lnTo>
                  <a:pt x="777735" y="199449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22" y="188695"/>
                </a:lnTo>
                <a:lnTo>
                  <a:pt x="1097203" y="180919"/>
                </a:lnTo>
                <a:lnTo>
                  <a:pt x="1171028" y="171145"/>
                </a:lnTo>
                <a:lnTo>
                  <a:pt x="1229836" y="161356"/>
                </a:lnTo>
                <a:lnTo>
                  <a:pt x="777078" y="161356"/>
                </a:lnTo>
                <a:lnTo>
                  <a:pt x="694910" y="160536"/>
                </a:lnTo>
                <a:lnTo>
                  <a:pt x="612517" y="157439"/>
                </a:lnTo>
                <a:lnTo>
                  <a:pt x="530459" y="152001"/>
                </a:lnTo>
                <a:lnTo>
                  <a:pt x="449303" y="144158"/>
                </a:lnTo>
                <a:lnTo>
                  <a:pt x="379970" y="135317"/>
                </a:lnTo>
                <a:lnTo>
                  <a:pt x="314269" y="124846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1"/>
                </a:lnTo>
                <a:lnTo>
                  <a:pt x="95552" y="68742"/>
                </a:lnTo>
                <a:lnTo>
                  <a:pt x="53679" y="51710"/>
                </a:lnTo>
                <a:lnTo>
                  <a:pt x="34940" y="42843"/>
                </a:lnTo>
                <a:lnTo>
                  <a:pt x="17735" y="33774"/>
                </a:lnTo>
                <a:close/>
              </a:path>
              <a:path w="1550034" h="200025">
                <a:moveTo>
                  <a:pt x="1538491" y="59839"/>
                </a:moveTo>
                <a:lnTo>
                  <a:pt x="1455873" y="59839"/>
                </a:lnTo>
                <a:lnTo>
                  <a:pt x="1472459" y="94140"/>
                </a:lnTo>
                <a:lnTo>
                  <a:pt x="1455445" y="102367"/>
                </a:lnTo>
                <a:lnTo>
                  <a:pt x="1489227" y="170837"/>
                </a:lnTo>
                <a:lnTo>
                  <a:pt x="1538491" y="59839"/>
                </a:lnTo>
                <a:close/>
              </a:path>
              <a:path w="1550034" h="200025">
                <a:moveTo>
                  <a:pt x="1438586" y="68198"/>
                </a:moveTo>
                <a:lnTo>
                  <a:pt x="1386624" y="85744"/>
                </a:lnTo>
                <a:lnTo>
                  <a:pt x="1329274" y="101531"/>
                </a:lnTo>
                <a:lnTo>
                  <a:pt x="1266837" y="115658"/>
                </a:lnTo>
                <a:lnTo>
                  <a:pt x="1164776" y="133562"/>
                </a:lnTo>
                <a:lnTo>
                  <a:pt x="1092208" y="143148"/>
                </a:lnTo>
                <a:lnTo>
                  <a:pt x="1016588" y="150789"/>
                </a:lnTo>
                <a:lnTo>
                  <a:pt x="938481" y="156415"/>
                </a:lnTo>
                <a:lnTo>
                  <a:pt x="858456" y="159960"/>
                </a:lnTo>
                <a:lnTo>
                  <a:pt x="777078" y="161356"/>
                </a:lnTo>
                <a:lnTo>
                  <a:pt x="1229836" y="161356"/>
                </a:lnTo>
                <a:lnTo>
                  <a:pt x="1274861" y="152904"/>
                </a:lnTo>
                <a:lnTo>
                  <a:pt x="1338941" y="138384"/>
                </a:lnTo>
                <a:lnTo>
                  <a:pt x="1398106" y="122069"/>
                </a:lnTo>
                <a:lnTo>
                  <a:pt x="1453530" y="103292"/>
                </a:lnTo>
                <a:lnTo>
                  <a:pt x="1455445" y="102367"/>
                </a:lnTo>
                <a:lnTo>
                  <a:pt x="1438586" y="68198"/>
                </a:lnTo>
                <a:close/>
              </a:path>
              <a:path w="1550034" h="200025">
                <a:moveTo>
                  <a:pt x="1455873" y="59839"/>
                </a:moveTo>
                <a:lnTo>
                  <a:pt x="1438586" y="68198"/>
                </a:lnTo>
                <a:lnTo>
                  <a:pt x="1455445" y="102367"/>
                </a:lnTo>
                <a:lnTo>
                  <a:pt x="1472459" y="94140"/>
                </a:lnTo>
                <a:lnTo>
                  <a:pt x="1455873" y="59839"/>
                </a:lnTo>
                <a:close/>
              </a:path>
              <a:path w="1550034" h="200025">
                <a:moveTo>
                  <a:pt x="1404938" y="0"/>
                </a:moveTo>
                <a:lnTo>
                  <a:pt x="1438586" y="68198"/>
                </a:lnTo>
                <a:lnTo>
                  <a:pt x="1455873" y="59839"/>
                </a:lnTo>
                <a:lnTo>
                  <a:pt x="1538491" y="59839"/>
                </a:lnTo>
                <a:lnTo>
                  <a:pt x="1549585" y="34844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8234153" y="7272528"/>
            <a:ext cx="779145" cy="384810"/>
            <a:chOff x="8234153" y="7272528"/>
            <a:chExt cx="779145" cy="384810"/>
          </a:xfrm>
        </p:grpSpPr>
        <p:sp>
          <p:nvSpPr>
            <p:cNvPr id="24" name="object 24"/>
            <p:cNvSpPr/>
            <p:nvPr/>
          </p:nvSpPr>
          <p:spPr>
            <a:xfrm>
              <a:off x="8234153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339328" y="7272528"/>
              <a:ext cx="551687" cy="350519"/>
            </a:xfrm>
            <a:prstGeom prst="rect">
              <a:avLst/>
            </a:prstGeom>
          </p:spPr>
        </p:pic>
      </p:grpSp>
      <p:sp>
        <p:nvSpPr>
          <p:cNvPr id="26" name="object 26"/>
          <p:cNvSpPr/>
          <p:nvPr/>
        </p:nvSpPr>
        <p:spPr>
          <a:xfrm>
            <a:off x="9632067" y="6931873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5" y="33774"/>
                </a:moveTo>
                <a:lnTo>
                  <a:pt x="18666" y="77292"/>
                </a:lnTo>
                <a:lnTo>
                  <a:pt x="60145" y="95882"/>
                </a:lnTo>
                <a:lnTo>
                  <a:pt x="107066" y="113183"/>
                </a:lnTo>
                <a:lnTo>
                  <a:pt x="158722" y="129034"/>
                </a:lnTo>
                <a:lnTo>
                  <a:pt x="215225" y="143517"/>
                </a:lnTo>
                <a:lnTo>
                  <a:pt x="308278" y="162472"/>
                </a:lnTo>
                <a:lnTo>
                  <a:pt x="375154" y="173112"/>
                </a:lnTo>
                <a:lnTo>
                  <a:pt x="445642" y="182082"/>
                </a:lnTo>
                <a:lnTo>
                  <a:pt x="527944" y="190017"/>
                </a:lnTo>
                <a:lnTo>
                  <a:pt x="611089" y="195512"/>
                </a:lnTo>
                <a:lnTo>
                  <a:pt x="694535" y="198635"/>
                </a:lnTo>
                <a:lnTo>
                  <a:pt x="777735" y="199449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22" y="188695"/>
                </a:lnTo>
                <a:lnTo>
                  <a:pt x="1097203" y="180919"/>
                </a:lnTo>
                <a:lnTo>
                  <a:pt x="1171028" y="171145"/>
                </a:lnTo>
                <a:lnTo>
                  <a:pt x="1229836" y="161356"/>
                </a:lnTo>
                <a:lnTo>
                  <a:pt x="777078" y="161356"/>
                </a:lnTo>
                <a:lnTo>
                  <a:pt x="694910" y="160536"/>
                </a:lnTo>
                <a:lnTo>
                  <a:pt x="612517" y="157439"/>
                </a:lnTo>
                <a:lnTo>
                  <a:pt x="530459" y="152001"/>
                </a:lnTo>
                <a:lnTo>
                  <a:pt x="449303" y="144158"/>
                </a:lnTo>
                <a:lnTo>
                  <a:pt x="379970" y="135317"/>
                </a:lnTo>
                <a:lnTo>
                  <a:pt x="314269" y="124846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1"/>
                </a:lnTo>
                <a:lnTo>
                  <a:pt x="95552" y="68742"/>
                </a:lnTo>
                <a:lnTo>
                  <a:pt x="53679" y="51710"/>
                </a:lnTo>
                <a:lnTo>
                  <a:pt x="34940" y="42843"/>
                </a:lnTo>
                <a:lnTo>
                  <a:pt x="17735" y="33774"/>
                </a:lnTo>
                <a:close/>
              </a:path>
              <a:path w="1550034" h="200025">
                <a:moveTo>
                  <a:pt x="1538491" y="59839"/>
                </a:moveTo>
                <a:lnTo>
                  <a:pt x="1455873" y="59839"/>
                </a:lnTo>
                <a:lnTo>
                  <a:pt x="1472459" y="94140"/>
                </a:lnTo>
                <a:lnTo>
                  <a:pt x="1455445" y="102367"/>
                </a:lnTo>
                <a:lnTo>
                  <a:pt x="1489227" y="170837"/>
                </a:lnTo>
                <a:lnTo>
                  <a:pt x="1538491" y="59839"/>
                </a:lnTo>
                <a:close/>
              </a:path>
              <a:path w="1550034" h="200025">
                <a:moveTo>
                  <a:pt x="1438586" y="68198"/>
                </a:moveTo>
                <a:lnTo>
                  <a:pt x="1386624" y="85744"/>
                </a:lnTo>
                <a:lnTo>
                  <a:pt x="1329274" y="101531"/>
                </a:lnTo>
                <a:lnTo>
                  <a:pt x="1266837" y="115658"/>
                </a:lnTo>
                <a:lnTo>
                  <a:pt x="1164776" y="133562"/>
                </a:lnTo>
                <a:lnTo>
                  <a:pt x="1092208" y="143148"/>
                </a:lnTo>
                <a:lnTo>
                  <a:pt x="1016588" y="150789"/>
                </a:lnTo>
                <a:lnTo>
                  <a:pt x="938481" y="156415"/>
                </a:lnTo>
                <a:lnTo>
                  <a:pt x="858456" y="159960"/>
                </a:lnTo>
                <a:lnTo>
                  <a:pt x="777078" y="161356"/>
                </a:lnTo>
                <a:lnTo>
                  <a:pt x="1229836" y="161356"/>
                </a:lnTo>
                <a:lnTo>
                  <a:pt x="1274861" y="152904"/>
                </a:lnTo>
                <a:lnTo>
                  <a:pt x="1338941" y="138384"/>
                </a:lnTo>
                <a:lnTo>
                  <a:pt x="1398106" y="122069"/>
                </a:lnTo>
                <a:lnTo>
                  <a:pt x="1453530" y="103292"/>
                </a:lnTo>
                <a:lnTo>
                  <a:pt x="1455445" y="102367"/>
                </a:lnTo>
                <a:lnTo>
                  <a:pt x="1438586" y="68198"/>
                </a:lnTo>
                <a:close/>
              </a:path>
              <a:path w="1550034" h="200025">
                <a:moveTo>
                  <a:pt x="1455873" y="59839"/>
                </a:moveTo>
                <a:lnTo>
                  <a:pt x="1438586" y="68198"/>
                </a:lnTo>
                <a:lnTo>
                  <a:pt x="1455445" y="102367"/>
                </a:lnTo>
                <a:lnTo>
                  <a:pt x="1472459" y="94140"/>
                </a:lnTo>
                <a:lnTo>
                  <a:pt x="1455873" y="59839"/>
                </a:lnTo>
                <a:close/>
              </a:path>
              <a:path w="1550034" h="200025">
                <a:moveTo>
                  <a:pt x="1404938" y="0"/>
                </a:moveTo>
                <a:lnTo>
                  <a:pt x="1438586" y="68198"/>
                </a:lnTo>
                <a:lnTo>
                  <a:pt x="1455873" y="59839"/>
                </a:lnTo>
                <a:lnTo>
                  <a:pt x="1538491" y="59839"/>
                </a:lnTo>
                <a:lnTo>
                  <a:pt x="1549585" y="34844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10011136" y="7272528"/>
            <a:ext cx="779145" cy="384810"/>
            <a:chOff x="10011136" y="7272528"/>
            <a:chExt cx="779145" cy="384810"/>
          </a:xfrm>
        </p:grpSpPr>
        <p:sp>
          <p:nvSpPr>
            <p:cNvPr id="28" name="object 28"/>
            <p:cNvSpPr/>
            <p:nvPr/>
          </p:nvSpPr>
          <p:spPr>
            <a:xfrm>
              <a:off x="10011136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116312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11409051" y="6931873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5" y="33774"/>
                </a:moveTo>
                <a:lnTo>
                  <a:pt x="18666" y="77292"/>
                </a:lnTo>
                <a:lnTo>
                  <a:pt x="60145" y="95882"/>
                </a:lnTo>
                <a:lnTo>
                  <a:pt x="107066" y="113183"/>
                </a:lnTo>
                <a:lnTo>
                  <a:pt x="158722" y="129034"/>
                </a:lnTo>
                <a:lnTo>
                  <a:pt x="215225" y="143517"/>
                </a:lnTo>
                <a:lnTo>
                  <a:pt x="308278" y="162472"/>
                </a:lnTo>
                <a:lnTo>
                  <a:pt x="375154" y="173112"/>
                </a:lnTo>
                <a:lnTo>
                  <a:pt x="445643" y="182082"/>
                </a:lnTo>
                <a:lnTo>
                  <a:pt x="527944" y="190017"/>
                </a:lnTo>
                <a:lnTo>
                  <a:pt x="611089" y="195512"/>
                </a:lnTo>
                <a:lnTo>
                  <a:pt x="694535" y="198635"/>
                </a:lnTo>
                <a:lnTo>
                  <a:pt x="777735" y="199449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22" y="188695"/>
                </a:lnTo>
                <a:lnTo>
                  <a:pt x="1097203" y="180919"/>
                </a:lnTo>
                <a:lnTo>
                  <a:pt x="1171028" y="171145"/>
                </a:lnTo>
                <a:lnTo>
                  <a:pt x="1229836" y="161356"/>
                </a:lnTo>
                <a:lnTo>
                  <a:pt x="777078" y="161356"/>
                </a:lnTo>
                <a:lnTo>
                  <a:pt x="694910" y="160536"/>
                </a:lnTo>
                <a:lnTo>
                  <a:pt x="612517" y="157439"/>
                </a:lnTo>
                <a:lnTo>
                  <a:pt x="530459" y="152001"/>
                </a:lnTo>
                <a:lnTo>
                  <a:pt x="449303" y="144158"/>
                </a:lnTo>
                <a:lnTo>
                  <a:pt x="379970" y="135317"/>
                </a:lnTo>
                <a:lnTo>
                  <a:pt x="314269" y="124846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7" y="84701"/>
                </a:lnTo>
                <a:lnTo>
                  <a:pt x="95552" y="68742"/>
                </a:lnTo>
                <a:lnTo>
                  <a:pt x="53679" y="51710"/>
                </a:lnTo>
                <a:lnTo>
                  <a:pt x="34940" y="42843"/>
                </a:lnTo>
                <a:lnTo>
                  <a:pt x="17735" y="33774"/>
                </a:lnTo>
                <a:close/>
              </a:path>
              <a:path w="1550034" h="200025">
                <a:moveTo>
                  <a:pt x="1538492" y="59839"/>
                </a:moveTo>
                <a:lnTo>
                  <a:pt x="1455870" y="59839"/>
                </a:lnTo>
                <a:lnTo>
                  <a:pt x="1472457" y="94140"/>
                </a:lnTo>
                <a:lnTo>
                  <a:pt x="1455450" y="102366"/>
                </a:lnTo>
                <a:lnTo>
                  <a:pt x="1489233" y="170837"/>
                </a:lnTo>
                <a:lnTo>
                  <a:pt x="1538492" y="59839"/>
                </a:lnTo>
                <a:close/>
              </a:path>
              <a:path w="1550034" h="200025">
                <a:moveTo>
                  <a:pt x="1438591" y="68197"/>
                </a:moveTo>
                <a:lnTo>
                  <a:pt x="1386630" y="85744"/>
                </a:lnTo>
                <a:lnTo>
                  <a:pt x="1329277" y="101531"/>
                </a:lnTo>
                <a:lnTo>
                  <a:pt x="1266837" y="115658"/>
                </a:lnTo>
                <a:lnTo>
                  <a:pt x="1164776" y="133562"/>
                </a:lnTo>
                <a:lnTo>
                  <a:pt x="1092208" y="143148"/>
                </a:lnTo>
                <a:lnTo>
                  <a:pt x="1016588" y="150789"/>
                </a:lnTo>
                <a:lnTo>
                  <a:pt x="938481" y="156415"/>
                </a:lnTo>
                <a:lnTo>
                  <a:pt x="858456" y="159960"/>
                </a:lnTo>
                <a:lnTo>
                  <a:pt x="777078" y="161356"/>
                </a:lnTo>
                <a:lnTo>
                  <a:pt x="1229836" y="161356"/>
                </a:lnTo>
                <a:lnTo>
                  <a:pt x="1274861" y="152904"/>
                </a:lnTo>
                <a:lnTo>
                  <a:pt x="1338941" y="138384"/>
                </a:lnTo>
                <a:lnTo>
                  <a:pt x="1398111" y="122069"/>
                </a:lnTo>
                <a:lnTo>
                  <a:pt x="1453534" y="103292"/>
                </a:lnTo>
                <a:lnTo>
                  <a:pt x="1455450" y="102366"/>
                </a:lnTo>
                <a:lnTo>
                  <a:pt x="1438591" y="68197"/>
                </a:lnTo>
                <a:close/>
              </a:path>
              <a:path w="1550034" h="200025">
                <a:moveTo>
                  <a:pt x="1455870" y="59839"/>
                </a:moveTo>
                <a:lnTo>
                  <a:pt x="1438591" y="68197"/>
                </a:lnTo>
                <a:lnTo>
                  <a:pt x="1455450" y="102366"/>
                </a:lnTo>
                <a:lnTo>
                  <a:pt x="1472457" y="94140"/>
                </a:lnTo>
                <a:lnTo>
                  <a:pt x="1455870" y="59839"/>
                </a:lnTo>
                <a:close/>
              </a:path>
              <a:path w="1550034" h="200025">
                <a:moveTo>
                  <a:pt x="1404943" y="0"/>
                </a:moveTo>
                <a:lnTo>
                  <a:pt x="1438591" y="68197"/>
                </a:lnTo>
                <a:lnTo>
                  <a:pt x="1455870" y="59839"/>
                </a:lnTo>
                <a:lnTo>
                  <a:pt x="1538492" y="59839"/>
                </a:lnTo>
                <a:lnTo>
                  <a:pt x="1549584" y="34844"/>
                </a:lnTo>
                <a:lnTo>
                  <a:pt x="1404943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1" name="object 31"/>
          <p:cNvGrpSpPr/>
          <p:nvPr/>
        </p:nvGrpSpPr>
        <p:grpSpPr>
          <a:xfrm>
            <a:off x="11788120" y="7272528"/>
            <a:ext cx="779145" cy="384810"/>
            <a:chOff x="11788120" y="7272528"/>
            <a:chExt cx="779145" cy="384810"/>
          </a:xfrm>
        </p:grpSpPr>
        <p:sp>
          <p:nvSpPr>
            <p:cNvPr id="32" name="object 32"/>
            <p:cNvSpPr/>
            <p:nvPr/>
          </p:nvSpPr>
          <p:spPr>
            <a:xfrm>
              <a:off x="11788120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893295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13186029" y="6931873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41" y="33774"/>
                </a:moveTo>
                <a:lnTo>
                  <a:pt x="0" y="67494"/>
                </a:lnTo>
                <a:lnTo>
                  <a:pt x="38734" y="86753"/>
                </a:lnTo>
                <a:lnTo>
                  <a:pt x="82892" y="104678"/>
                </a:lnTo>
                <a:lnTo>
                  <a:pt x="132219" y="121259"/>
                </a:lnTo>
                <a:lnTo>
                  <a:pt x="186410" y="136456"/>
                </a:lnTo>
                <a:lnTo>
                  <a:pt x="245325" y="150242"/>
                </a:lnTo>
                <a:lnTo>
                  <a:pt x="308279" y="162472"/>
                </a:lnTo>
                <a:lnTo>
                  <a:pt x="375157" y="173112"/>
                </a:lnTo>
                <a:lnTo>
                  <a:pt x="445642" y="182082"/>
                </a:lnTo>
                <a:lnTo>
                  <a:pt x="527951" y="190017"/>
                </a:lnTo>
                <a:lnTo>
                  <a:pt x="611098" y="195512"/>
                </a:lnTo>
                <a:lnTo>
                  <a:pt x="694537" y="198635"/>
                </a:lnTo>
                <a:lnTo>
                  <a:pt x="777735" y="199449"/>
                </a:lnTo>
                <a:lnTo>
                  <a:pt x="860158" y="198023"/>
                </a:lnTo>
                <a:lnTo>
                  <a:pt x="941235" y="194417"/>
                </a:lnTo>
                <a:lnTo>
                  <a:pt x="1020432" y="188695"/>
                </a:lnTo>
                <a:lnTo>
                  <a:pt x="1097216" y="180919"/>
                </a:lnTo>
                <a:lnTo>
                  <a:pt x="1171041" y="171145"/>
                </a:lnTo>
                <a:lnTo>
                  <a:pt x="1229840" y="161356"/>
                </a:lnTo>
                <a:lnTo>
                  <a:pt x="777087" y="161356"/>
                </a:lnTo>
                <a:lnTo>
                  <a:pt x="694918" y="160536"/>
                </a:lnTo>
                <a:lnTo>
                  <a:pt x="612521" y="157439"/>
                </a:lnTo>
                <a:lnTo>
                  <a:pt x="530466" y="152001"/>
                </a:lnTo>
                <a:lnTo>
                  <a:pt x="449313" y="144158"/>
                </a:lnTo>
                <a:lnTo>
                  <a:pt x="379971" y="135317"/>
                </a:lnTo>
                <a:lnTo>
                  <a:pt x="314274" y="124846"/>
                </a:lnTo>
                <a:lnTo>
                  <a:pt x="252590" y="112843"/>
                </a:lnTo>
                <a:lnTo>
                  <a:pt x="195478" y="99452"/>
                </a:lnTo>
                <a:lnTo>
                  <a:pt x="142951" y="84701"/>
                </a:lnTo>
                <a:lnTo>
                  <a:pt x="95554" y="68742"/>
                </a:lnTo>
                <a:lnTo>
                  <a:pt x="53682" y="51710"/>
                </a:lnTo>
                <a:lnTo>
                  <a:pt x="34950" y="42843"/>
                </a:lnTo>
                <a:lnTo>
                  <a:pt x="17741" y="33774"/>
                </a:lnTo>
                <a:close/>
              </a:path>
              <a:path w="1550034" h="200025">
                <a:moveTo>
                  <a:pt x="1538498" y="59839"/>
                </a:moveTo>
                <a:lnTo>
                  <a:pt x="1455877" y="59839"/>
                </a:lnTo>
                <a:lnTo>
                  <a:pt x="1472463" y="94140"/>
                </a:lnTo>
                <a:lnTo>
                  <a:pt x="1455456" y="102366"/>
                </a:lnTo>
                <a:lnTo>
                  <a:pt x="1489240" y="170837"/>
                </a:lnTo>
                <a:lnTo>
                  <a:pt x="1538498" y="59839"/>
                </a:lnTo>
                <a:close/>
              </a:path>
              <a:path w="1550034" h="200025">
                <a:moveTo>
                  <a:pt x="1438598" y="68197"/>
                </a:moveTo>
                <a:lnTo>
                  <a:pt x="1386636" y="85744"/>
                </a:lnTo>
                <a:lnTo>
                  <a:pt x="1329283" y="101531"/>
                </a:lnTo>
                <a:lnTo>
                  <a:pt x="1266850" y="115658"/>
                </a:lnTo>
                <a:lnTo>
                  <a:pt x="1164780" y="133562"/>
                </a:lnTo>
                <a:lnTo>
                  <a:pt x="1092212" y="143148"/>
                </a:lnTo>
                <a:lnTo>
                  <a:pt x="1016596" y="150789"/>
                </a:lnTo>
                <a:lnTo>
                  <a:pt x="938491" y="156415"/>
                </a:lnTo>
                <a:lnTo>
                  <a:pt x="858456" y="159960"/>
                </a:lnTo>
                <a:lnTo>
                  <a:pt x="777087" y="161356"/>
                </a:lnTo>
                <a:lnTo>
                  <a:pt x="1229840" y="161356"/>
                </a:lnTo>
                <a:lnTo>
                  <a:pt x="1274864" y="152904"/>
                </a:lnTo>
                <a:lnTo>
                  <a:pt x="1338948" y="138384"/>
                </a:lnTo>
                <a:lnTo>
                  <a:pt x="1398117" y="122069"/>
                </a:lnTo>
                <a:lnTo>
                  <a:pt x="1453540" y="103292"/>
                </a:lnTo>
                <a:lnTo>
                  <a:pt x="1455456" y="102366"/>
                </a:lnTo>
                <a:lnTo>
                  <a:pt x="1438598" y="68197"/>
                </a:lnTo>
                <a:close/>
              </a:path>
              <a:path w="1550034" h="200025">
                <a:moveTo>
                  <a:pt x="1455877" y="59839"/>
                </a:moveTo>
                <a:lnTo>
                  <a:pt x="1438598" y="68197"/>
                </a:lnTo>
                <a:lnTo>
                  <a:pt x="1455456" y="102366"/>
                </a:lnTo>
                <a:lnTo>
                  <a:pt x="1472463" y="94140"/>
                </a:lnTo>
                <a:lnTo>
                  <a:pt x="1455877" y="59839"/>
                </a:lnTo>
                <a:close/>
              </a:path>
              <a:path w="1550034" h="200025">
                <a:moveTo>
                  <a:pt x="1404950" y="0"/>
                </a:moveTo>
                <a:lnTo>
                  <a:pt x="1438598" y="68197"/>
                </a:lnTo>
                <a:lnTo>
                  <a:pt x="1455877" y="59839"/>
                </a:lnTo>
                <a:lnTo>
                  <a:pt x="1538498" y="59839"/>
                </a:lnTo>
                <a:lnTo>
                  <a:pt x="1549590" y="34844"/>
                </a:lnTo>
                <a:lnTo>
                  <a:pt x="1404950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5" name="object 35"/>
          <p:cNvGrpSpPr/>
          <p:nvPr/>
        </p:nvGrpSpPr>
        <p:grpSpPr>
          <a:xfrm>
            <a:off x="13565099" y="7272528"/>
            <a:ext cx="779145" cy="384810"/>
            <a:chOff x="13565099" y="7272528"/>
            <a:chExt cx="779145" cy="384810"/>
          </a:xfrm>
        </p:grpSpPr>
        <p:sp>
          <p:nvSpPr>
            <p:cNvPr id="36" name="object 36"/>
            <p:cNvSpPr/>
            <p:nvPr/>
          </p:nvSpPr>
          <p:spPr>
            <a:xfrm>
              <a:off x="13565099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4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670280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4142106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0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876352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1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610599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2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344844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3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079090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4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850647" y="6372859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4549958" y="6372859"/>
            <a:ext cx="307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T</a:t>
            </a:r>
            <a:endParaRPr sz="2400" baseline="-17361">
              <a:latin typeface="Calibri"/>
              <a:cs typeface="Calibri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479901" y="8246593"/>
            <a:ext cx="5918200" cy="46990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75043" y="7905173"/>
            <a:ext cx="4152896" cy="1092199"/>
          </a:xfrm>
          <a:prstGeom prst="rect">
            <a:avLst/>
          </a:prstGeom>
        </p:spPr>
      </p:pic>
      <p:sp>
        <p:nvSpPr>
          <p:cNvPr id="47" name="object 47"/>
          <p:cNvSpPr/>
          <p:nvPr/>
        </p:nvSpPr>
        <p:spPr>
          <a:xfrm>
            <a:off x="7897456" y="8438572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1"/>
                </a:lnTo>
                <a:lnTo>
                  <a:pt x="0" y="58881"/>
                </a:lnTo>
                <a:lnTo>
                  <a:pt x="0" y="176645"/>
                </a:lnTo>
                <a:lnTo>
                  <a:pt x="200889" y="176645"/>
                </a:lnTo>
                <a:lnTo>
                  <a:pt x="200889" y="235527"/>
                </a:lnTo>
                <a:lnTo>
                  <a:pt x="318654" y="117763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4505826" y="8290052"/>
            <a:ext cx="7893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(joint)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17008" y="8052816"/>
            <a:ext cx="4053840" cy="420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000750">
              <a:lnSpc>
                <a:spcPct val="100000"/>
              </a:lnSpc>
              <a:spcBef>
                <a:spcPts val="100"/>
              </a:spcBef>
            </a:pPr>
            <a:r>
              <a:rPr dirty="0"/>
              <a:t>Diffusion</a:t>
            </a:r>
            <a:r>
              <a:rPr spc="-280" dirty="0"/>
              <a:t> </a:t>
            </a:r>
            <a:r>
              <a:rPr spc="-10" dirty="0"/>
              <a:t>Kernel</a:t>
            </a:r>
          </a:p>
        </p:txBody>
      </p:sp>
      <p:sp>
        <p:nvSpPr>
          <p:cNvPr id="4" name="object 4"/>
          <p:cNvSpPr/>
          <p:nvPr/>
        </p:nvSpPr>
        <p:spPr>
          <a:xfrm>
            <a:off x="6019708" y="3388993"/>
            <a:ext cx="6214745" cy="142875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6151249" y="71311"/>
                </a:moveTo>
                <a:lnTo>
                  <a:pt x="6079506" y="113161"/>
                </a:lnTo>
                <a:lnTo>
                  <a:pt x="6074797" y="117352"/>
                </a:lnTo>
                <a:lnTo>
                  <a:pt x="6072153" y="122833"/>
                </a:lnTo>
                <a:lnTo>
                  <a:pt x="6071757" y="128906"/>
                </a:lnTo>
                <a:lnTo>
                  <a:pt x="6073792" y="134872"/>
                </a:lnTo>
                <a:lnTo>
                  <a:pt x="6077984" y="139580"/>
                </a:lnTo>
                <a:lnTo>
                  <a:pt x="6083465" y="142225"/>
                </a:lnTo>
                <a:lnTo>
                  <a:pt x="6089538" y="142621"/>
                </a:lnTo>
                <a:lnTo>
                  <a:pt x="6095504" y="140585"/>
                </a:lnTo>
                <a:lnTo>
                  <a:pt x="6187046" y="87186"/>
                </a:lnTo>
                <a:lnTo>
                  <a:pt x="6182696" y="87186"/>
                </a:lnTo>
                <a:lnTo>
                  <a:pt x="6182696" y="85023"/>
                </a:lnTo>
                <a:lnTo>
                  <a:pt x="6174756" y="85023"/>
                </a:lnTo>
                <a:lnTo>
                  <a:pt x="6151249" y="71311"/>
                </a:lnTo>
                <a:close/>
              </a:path>
              <a:path w="6214745" h="142875">
                <a:moveTo>
                  <a:pt x="6124035" y="55436"/>
                </a:moveTo>
                <a:lnTo>
                  <a:pt x="0" y="55436"/>
                </a:lnTo>
                <a:lnTo>
                  <a:pt x="0" y="87186"/>
                </a:lnTo>
                <a:lnTo>
                  <a:pt x="6124035" y="87186"/>
                </a:lnTo>
                <a:lnTo>
                  <a:pt x="6151249" y="71311"/>
                </a:lnTo>
                <a:lnTo>
                  <a:pt x="6124035" y="55436"/>
                </a:lnTo>
                <a:close/>
              </a:path>
              <a:path w="6214745" h="142875">
                <a:moveTo>
                  <a:pt x="6187046" y="55436"/>
                </a:moveTo>
                <a:lnTo>
                  <a:pt x="6182696" y="55436"/>
                </a:lnTo>
                <a:lnTo>
                  <a:pt x="6182696" y="87186"/>
                </a:lnTo>
                <a:lnTo>
                  <a:pt x="6187046" y="87186"/>
                </a:lnTo>
                <a:lnTo>
                  <a:pt x="6214261" y="71311"/>
                </a:lnTo>
                <a:lnTo>
                  <a:pt x="6187046" y="55436"/>
                </a:lnTo>
                <a:close/>
              </a:path>
              <a:path w="6214745" h="142875">
                <a:moveTo>
                  <a:pt x="6174756" y="57598"/>
                </a:moveTo>
                <a:lnTo>
                  <a:pt x="6151249" y="71311"/>
                </a:lnTo>
                <a:lnTo>
                  <a:pt x="6174756" y="85023"/>
                </a:lnTo>
                <a:lnTo>
                  <a:pt x="6174756" y="57598"/>
                </a:lnTo>
                <a:close/>
              </a:path>
              <a:path w="6214745" h="142875">
                <a:moveTo>
                  <a:pt x="6182696" y="57598"/>
                </a:moveTo>
                <a:lnTo>
                  <a:pt x="6174756" y="57598"/>
                </a:lnTo>
                <a:lnTo>
                  <a:pt x="6174756" y="85023"/>
                </a:lnTo>
                <a:lnTo>
                  <a:pt x="6182696" y="85023"/>
                </a:lnTo>
                <a:lnTo>
                  <a:pt x="6182696" y="57598"/>
                </a:lnTo>
                <a:close/>
              </a:path>
              <a:path w="6214745" h="142875">
                <a:moveTo>
                  <a:pt x="6089538" y="0"/>
                </a:moveTo>
                <a:lnTo>
                  <a:pt x="6083465" y="395"/>
                </a:lnTo>
                <a:lnTo>
                  <a:pt x="6077984" y="3040"/>
                </a:lnTo>
                <a:lnTo>
                  <a:pt x="6073792" y="7748"/>
                </a:lnTo>
                <a:lnTo>
                  <a:pt x="6071757" y="13715"/>
                </a:lnTo>
                <a:lnTo>
                  <a:pt x="6072153" y="19788"/>
                </a:lnTo>
                <a:lnTo>
                  <a:pt x="6074797" y="25269"/>
                </a:lnTo>
                <a:lnTo>
                  <a:pt x="6079506" y="29460"/>
                </a:lnTo>
                <a:lnTo>
                  <a:pt x="6151249" y="71311"/>
                </a:lnTo>
                <a:lnTo>
                  <a:pt x="6174756" y="57598"/>
                </a:lnTo>
                <a:lnTo>
                  <a:pt x="6182696" y="57598"/>
                </a:lnTo>
                <a:lnTo>
                  <a:pt x="6182696" y="55436"/>
                </a:lnTo>
                <a:lnTo>
                  <a:pt x="6187046" y="55436"/>
                </a:lnTo>
                <a:lnTo>
                  <a:pt x="6095504" y="2036"/>
                </a:lnTo>
                <a:lnTo>
                  <a:pt x="6089538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956733" y="4254500"/>
            <a:ext cx="654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976206" y="4254500"/>
            <a:ext cx="762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Noise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40834" y="2959100"/>
            <a:ext cx="444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Forward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diffusion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(fixed)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90218" y="3614394"/>
            <a:ext cx="1672064" cy="167206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98344" y="3614394"/>
            <a:ext cx="1672064" cy="16720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30326" y="3614394"/>
            <a:ext cx="1672064" cy="16720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62306" y="3614394"/>
            <a:ext cx="1672062" cy="167206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94287" y="3614394"/>
            <a:ext cx="1672064" cy="167206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26267" y="3614394"/>
            <a:ext cx="1672062" cy="16720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58247" y="3614394"/>
            <a:ext cx="1672064" cy="1672064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4234967" y="5822606"/>
            <a:ext cx="6902450" cy="621030"/>
          </a:xfrm>
          <a:custGeom>
            <a:avLst/>
            <a:gdLst/>
            <a:ahLst/>
            <a:cxnLst/>
            <a:rect l="l" t="t" r="r" b="b"/>
            <a:pathLst>
              <a:path w="6902450" h="621029">
                <a:moveTo>
                  <a:pt x="1555762" y="34848"/>
                </a:moveTo>
                <a:lnTo>
                  <a:pt x="1411122" y="0"/>
                </a:lnTo>
                <a:lnTo>
                  <a:pt x="1444764" y="68199"/>
                </a:lnTo>
                <a:lnTo>
                  <a:pt x="1443126" y="68986"/>
                </a:lnTo>
                <a:lnTo>
                  <a:pt x="1392809" y="85750"/>
                </a:lnTo>
                <a:lnTo>
                  <a:pt x="1335455" y="101536"/>
                </a:lnTo>
                <a:lnTo>
                  <a:pt x="1273022" y="115658"/>
                </a:lnTo>
                <a:lnTo>
                  <a:pt x="1170952" y="133565"/>
                </a:lnTo>
                <a:lnTo>
                  <a:pt x="1098384" y="143141"/>
                </a:lnTo>
                <a:lnTo>
                  <a:pt x="1022769" y="150787"/>
                </a:lnTo>
                <a:lnTo>
                  <a:pt x="944664" y="156413"/>
                </a:lnTo>
                <a:lnTo>
                  <a:pt x="864641" y="159956"/>
                </a:lnTo>
                <a:lnTo>
                  <a:pt x="783259" y="161353"/>
                </a:lnTo>
                <a:lnTo>
                  <a:pt x="701090" y="160540"/>
                </a:lnTo>
                <a:lnTo>
                  <a:pt x="618693" y="157441"/>
                </a:lnTo>
                <a:lnTo>
                  <a:pt x="536638" y="152006"/>
                </a:lnTo>
                <a:lnTo>
                  <a:pt x="455485" y="144157"/>
                </a:lnTo>
                <a:lnTo>
                  <a:pt x="386156" y="135318"/>
                </a:lnTo>
                <a:lnTo>
                  <a:pt x="320446" y="124841"/>
                </a:lnTo>
                <a:lnTo>
                  <a:pt x="258775" y="112839"/>
                </a:lnTo>
                <a:lnTo>
                  <a:pt x="201663" y="99453"/>
                </a:lnTo>
                <a:lnTo>
                  <a:pt x="149123" y="84696"/>
                </a:lnTo>
                <a:lnTo>
                  <a:pt x="101739" y="68745"/>
                </a:lnTo>
                <a:lnTo>
                  <a:pt x="59855" y="51714"/>
                </a:lnTo>
                <a:lnTo>
                  <a:pt x="23914" y="33769"/>
                </a:lnTo>
                <a:lnTo>
                  <a:pt x="6184" y="67500"/>
                </a:lnTo>
                <a:lnTo>
                  <a:pt x="44907" y="86753"/>
                </a:lnTo>
                <a:lnTo>
                  <a:pt x="89077" y="104673"/>
                </a:lnTo>
                <a:lnTo>
                  <a:pt x="138391" y="121259"/>
                </a:lnTo>
                <a:lnTo>
                  <a:pt x="192582" y="136461"/>
                </a:lnTo>
                <a:lnTo>
                  <a:pt x="251498" y="150241"/>
                </a:lnTo>
                <a:lnTo>
                  <a:pt x="314464" y="162471"/>
                </a:lnTo>
                <a:lnTo>
                  <a:pt x="381330" y="173113"/>
                </a:lnTo>
                <a:lnTo>
                  <a:pt x="451827" y="182079"/>
                </a:lnTo>
                <a:lnTo>
                  <a:pt x="534123" y="190017"/>
                </a:lnTo>
                <a:lnTo>
                  <a:pt x="617270" y="195516"/>
                </a:lnTo>
                <a:lnTo>
                  <a:pt x="700709" y="198640"/>
                </a:lnTo>
                <a:lnTo>
                  <a:pt x="783920" y="199453"/>
                </a:lnTo>
                <a:lnTo>
                  <a:pt x="866330" y="198018"/>
                </a:lnTo>
                <a:lnTo>
                  <a:pt x="947407" y="194411"/>
                </a:lnTo>
                <a:lnTo>
                  <a:pt x="1026604" y="188696"/>
                </a:lnTo>
                <a:lnTo>
                  <a:pt x="1103388" y="180924"/>
                </a:lnTo>
                <a:lnTo>
                  <a:pt x="1177213" y="171145"/>
                </a:lnTo>
                <a:lnTo>
                  <a:pt x="1236014" y="161353"/>
                </a:lnTo>
                <a:lnTo>
                  <a:pt x="1281049" y="152908"/>
                </a:lnTo>
                <a:lnTo>
                  <a:pt x="1345120" y="138379"/>
                </a:lnTo>
                <a:lnTo>
                  <a:pt x="1404289" y="122072"/>
                </a:lnTo>
                <a:lnTo>
                  <a:pt x="1459712" y="103289"/>
                </a:lnTo>
                <a:lnTo>
                  <a:pt x="1461630" y="102362"/>
                </a:lnTo>
                <a:lnTo>
                  <a:pt x="1495412" y="170840"/>
                </a:lnTo>
                <a:lnTo>
                  <a:pt x="1544675" y="59842"/>
                </a:lnTo>
                <a:lnTo>
                  <a:pt x="1555762" y="34848"/>
                </a:lnTo>
                <a:close/>
              </a:path>
              <a:path w="6902450" h="621029">
                <a:moveTo>
                  <a:pt x="3332746" y="34848"/>
                </a:moveTo>
                <a:lnTo>
                  <a:pt x="3188106" y="0"/>
                </a:lnTo>
                <a:lnTo>
                  <a:pt x="3221748" y="68199"/>
                </a:lnTo>
                <a:lnTo>
                  <a:pt x="3220110" y="68986"/>
                </a:lnTo>
                <a:lnTo>
                  <a:pt x="3169793" y="85750"/>
                </a:lnTo>
                <a:lnTo>
                  <a:pt x="3112439" y="101536"/>
                </a:lnTo>
                <a:lnTo>
                  <a:pt x="3050006" y="115658"/>
                </a:lnTo>
                <a:lnTo>
                  <a:pt x="2947936" y="133565"/>
                </a:lnTo>
                <a:lnTo>
                  <a:pt x="2875369" y="143141"/>
                </a:lnTo>
                <a:lnTo>
                  <a:pt x="2799753" y="150787"/>
                </a:lnTo>
                <a:lnTo>
                  <a:pt x="2721648" y="156413"/>
                </a:lnTo>
                <a:lnTo>
                  <a:pt x="2641625" y="159956"/>
                </a:lnTo>
                <a:lnTo>
                  <a:pt x="2560243" y="161353"/>
                </a:lnTo>
                <a:lnTo>
                  <a:pt x="2478074" y="160540"/>
                </a:lnTo>
                <a:lnTo>
                  <a:pt x="2395677" y="157441"/>
                </a:lnTo>
                <a:lnTo>
                  <a:pt x="2313622" y="152006"/>
                </a:lnTo>
                <a:lnTo>
                  <a:pt x="2232469" y="144157"/>
                </a:lnTo>
                <a:lnTo>
                  <a:pt x="2163140" y="135318"/>
                </a:lnTo>
                <a:lnTo>
                  <a:pt x="2097430" y="124841"/>
                </a:lnTo>
                <a:lnTo>
                  <a:pt x="2035746" y="112839"/>
                </a:lnTo>
                <a:lnTo>
                  <a:pt x="1978634" y="99453"/>
                </a:lnTo>
                <a:lnTo>
                  <a:pt x="1926107" y="84696"/>
                </a:lnTo>
                <a:lnTo>
                  <a:pt x="1878711" y="68745"/>
                </a:lnTo>
                <a:lnTo>
                  <a:pt x="1836839" y="51714"/>
                </a:lnTo>
                <a:lnTo>
                  <a:pt x="1800898" y="33769"/>
                </a:lnTo>
                <a:lnTo>
                  <a:pt x="1783168" y="67500"/>
                </a:lnTo>
                <a:lnTo>
                  <a:pt x="1821891" y="86753"/>
                </a:lnTo>
                <a:lnTo>
                  <a:pt x="1866061" y="104673"/>
                </a:lnTo>
                <a:lnTo>
                  <a:pt x="1915375" y="121259"/>
                </a:lnTo>
                <a:lnTo>
                  <a:pt x="1969566" y="136461"/>
                </a:lnTo>
                <a:lnTo>
                  <a:pt x="2028482" y="150241"/>
                </a:lnTo>
                <a:lnTo>
                  <a:pt x="2091448" y="162471"/>
                </a:lnTo>
                <a:lnTo>
                  <a:pt x="2158314" y="173113"/>
                </a:lnTo>
                <a:lnTo>
                  <a:pt x="2228812" y="182079"/>
                </a:lnTo>
                <a:lnTo>
                  <a:pt x="2311108" y="190017"/>
                </a:lnTo>
                <a:lnTo>
                  <a:pt x="2394254" y="195516"/>
                </a:lnTo>
                <a:lnTo>
                  <a:pt x="2477693" y="198640"/>
                </a:lnTo>
                <a:lnTo>
                  <a:pt x="2560904" y="199453"/>
                </a:lnTo>
                <a:lnTo>
                  <a:pt x="2643314" y="198018"/>
                </a:lnTo>
                <a:lnTo>
                  <a:pt x="2724391" y="194411"/>
                </a:lnTo>
                <a:lnTo>
                  <a:pt x="2803588" y="188696"/>
                </a:lnTo>
                <a:lnTo>
                  <a:pt x="2880372" y="180924"/>
                </a:lnTo>
                <a:lnTo>
                  <a:pt x="2954197" y="171145"/>
                </a:lnTo>
                <a:lnTo>
                  <a:pt x="3012998" y="161353"/>
                </a:lnTo>
                <a:lnTo>
                  <a:pt x="3058020" y="152908"/>
                </a:lnTo>
                <a:lnTo>
                  <a:pt x="3122104" y="138379"/>
                </a:lnTo>
                <a:lnTo>
                  <a:pt x="3181273" y="122072"/>
                </a:lnTo>
                <a:lnTo>
                  <a:pt x="3236696" y="103289"/>
                </a:lnTo>
                <a:lnTo>
                  <a:pt x="3238614" y="102362"/>
                </a:lnTo>
                <a:lnTo>
                  <a:pt x="3272396" y="170840"/>
                </a:lnTo>
                <a:lnTo>
                  <a:pt x="3321659" y="59842"/>
                </a:lnTo>
                <a:lnTo>
                  <a:pt x="3332746" y="34848"/>
                </a:lnTo>
                <a:close/>
              </a:path>
              <a:path w="6902450" h="621029">
                <a:moveTo>
                  <a:pt x="5109730" y="34848"/>
                </a:moveTo>
                <a:lnTo>
                  <a:pt x="4965090" y="0"/>
                </a:lnTo>
                <a:lnTo>
                  <a:pt x="4998732" y="68199"/>
                </a:lnTo>
                <a:lnTo>
                  <a:pt x="4997094" y="68986"/>
                </a:lnTo>
                <a:lnTo>
                  <a:pt x="4946777" y="85750"/>
                </a:lnTo>
                <a:lnTo>
                  <a:pt x="4889424" y="101536"/>
                </a:lnTo>
                <a:lnTo>
                  <a:pt x="4826990" y="115658"/>
                </a:lnTo>
                <a:lnTo>
                  <a:pt x="4724920" y="133565"/>
                </a:lnTo>
                <a:lnTo>
                  <a:pt x="4652353" y="143141"/>
                </a:lnTo>
                <a:lnTo>
                  <a:pt x="4576737" y="150787"/>
                </a:lnTo>
                <a:lnTo>
                  <a:pt x="4498632" y="156413"/>
                </a:lnTo>
                <a:lnTo>
                  <a:pt x="4418609" y="159956"/>
                </a:lnTo>
                <a:lnTo>
                  <a:pt x="4337228" y="161353"/>
                </a:lnTo>
                <a:lnTo>
                  <a:pt x="4255059" y="160540"/>
                </a:lnTo>
                <a:lnTo>
                  <a:pt x="4172661" y="157441"/>
                </a:lnTo>
                <a:lnTo>
                  <a:pt x="4090606" y="152006"/>
                </a:lnTo>
                <a:lnTo>
                  <a:pt x="4009453" y="144157"/>
                </a:lnTo>
                <a:lnTo>
                  <a:pt x="3940124" y="135318"/>
                </a:lnTo>
                <a:lnTo>
                  <a:pt x="3874414" y="124841"/>
                </a:lnTo>
                <a:lnTo>
                  <a:pt x="3812730" y="112839"/>
                </a:lnTo>
                <a:lnTo>
                  <a:pt x="3755618" y="99453"/>
                </a:lnTo>
                <a:lnTo>
                  <a:pt x="3703091" y="84696"/>
                </a:lnTo>
                <a:lnTo>
                  <a:pt x="3655695" y="68745"/>
                </a:lnTo>
                <a:lnTo>
                  <a:pt x="3613823" y="51714"/>
                </a:lnTo>
                <a:lnTo>
                  <a:pt x="3577882" y="33769"/>
                </a:lnTo>
                <a:lnTo>
                  <a:pt x="3560153" y="67500"/>
                </a:lnTo>
                <a:lnTo>
                  <a:pt x="3598875" y="86753"/>
                </a:lnTo>
                <a:lnTo>
                  <a:pt x="3643045" y="104673"/>
                </a:lnTo>
                <a:lnTo>
                  <a:pt x="3692360" y="121259"/>
                </a:lnTo>
                <a:lnTo>
                  <a:pt x="3746550" y="136461"/>
                </a:lnTo>
                <a:lnTo>
                  <a:pt x="3805466" y="150241"/>
                </a:lnTo>
                <a:lnTo>
                  <a:pt x="3868432" y="162471"/>
                </a:lnTo>
                <a:lnTo>
                  <a:pt x="3935298" y="173113"/>
                </a:lnTo>
                <a:lnTo>
                  <a:pt x="4005796" y="182079"/>
                </a:lnTo>
                <a:lnTo>
                  <a:pt x="4088092" y="190017"/>
                </a:lnTo>
                <a:lnTo>
                  <a:pt x="4171238" y="195516"/>
                </a:lnTo>
                <a:lnTo>
                  <a:pt x="4254678" y="198640"/>
                </a:lnTo>
                <a:lnTo>
                  <a:pt x="4337888" y="199453"/>
                </a:lnTo>
                <a:lnTo>
                  <a:pt x="4420298" y="198018"/>
                </a:lnTo>
                <a:lnTo>
                  <a:pt x="4501375" y="194411"/>
                </a:lnTo>
                <a:lnTo>
                  <a:pt x="4580572" y="188696"/>
                </a:lnTo>
                <a:lnTo>
                  <a:pt x="4657356" y="180924"/>
                </a:lnTo>
                <a:lnTo>
                  <a:pt x="4731182" y="171145"/>
                </a:lnTo>
                <a:lnTo>
                  <a:pt x="4789983" y="161353"/>
                </a:lnTo>
                <a:lnTo>
                  <a:pt x="4835004" y="152908"/>
                </a:lnTo>
                <a:lnTo>
                  <a:pt x="4899088" y="138379"/>
                </a:lnTo>
                <a:lnTo>
                  <a:pt x="4958258" y="122072"/>
                </a:lnTo>
                <a:lnTo>
                  <a:pt x="5013680" y="103289"/>
                </a:lnTo>
                <a:lnTo>
                  <a:pt x="5015598" y="102374"/>
                </a:lnTo>
                <a:lnTo>
                  <a:pt x="5049380" y="170840"/>
                </a:lnTo>
                <a:lnTo>
                  <a:pt x="5098643" y="59842"/>
                </a:lnTo>
                <a:lnTo>
                  <a:pt x="5109730" y="34848"/>
                </a:lnTo>
                <a:close/>
              </a:path>
              <a:path w="6902450" h="621029">
                <a:moveTo>
                  <a:pt x="6886715" y="34848"/>
                </a:moveTo>
                <a:lnTo>
                  <a:pt x="6742074" y="0"/>
                </a:lnTo>
                <a:lnTo>
                  <a:pt x="6775717" y="68199"/>
                </a:lnTo>
                <a:lnTo>
                  <a:pt x="6774078" y="68986"/>
                </a:lnTo>
                <a:lnTo>
                  <a:pt x="6723761" y="85750"/>
                </a:lnTo>
                <a:lnTo>
                  <a:pt x="6666408" y="101536"/>
                </a:lnTo>
                <a:lnTo>
                  <a:pt x="6603974" y="115658"/>
                </a:lnTo>
                <a:lnTo>
                  <a:pt x="6501905" y="133565"/>
                </a:lnTo>
                <a:lnTo>
                  <a:pt x="6429337" y="143141"/>
                </a:lnTo>
                <a:lnTo>
                  <a:pt x="6353721" y="150787"/>
                </a:lnTo>
                <a:lnTo>
                  <a:pt x="6275616" y="156413"/>
                </a:lnTo>
                <a:lnTo>
                  <a:pt x="6195593" y="159956"/>
                </a:lnTo>
                <a:lnTo>
                  <a:pt x="6114212" y="161353"/>
                </a:lnTo>
                <a:lnTo>
                  <a:pt x="6032043" y="160540"/>
                </a:lnTo>
                <a:lnTo>
                  <a:pt x="5949645" y="157441"/>
                </a:lnTo>
                <a:lnTo>
                  <a:pt x="5867590" y="152006"/>
                </a:lnTo>
                <a:lnTo>
                  <a:pt x="5786437" y="144157"/>
                </a:lnTo>
                <a:lnTo>
                  <a:pt x="5717108" y="135318"/>
                </a:lnTo>
                <a:lnTo>
                  <a:pt x="5651398" y="124841"/>
                </a:lnTo>
                <a:lnTo>
                  <a:pt x="5589714" y="112839"/>
                </a:lnTo>
                <a:lnTo>
                  <a:pt x="5532602" y="99453"/>
                </a:lnTo>
                <a:lnTo>
                  <a:pt x="5480075" y="84696"/>
                </a:lnTo>
                <a:lnTo>
                  <a:pt x="5432679" y="68745"/>
                </a:lnTo>
                <a:lnTo>
                  <a:pt x="5390807" y="51714"/>
                </a:lnTo>
                <a:lnTo>
                  <a:pt x="5354866" y="33769"/>
                </a:lnTo>
                <a:lnTo>
                  <a:pt x="5337137" y="67500"/>
                </a:lnTo>
                <a:lnTo>
                  <a:pt x="5375859" y="86753"/>
                </a:lnTo>
                <a:lnTo>
                  <a:pt x="5420030" y="104673"/>
                </a:lnTo>
                <a:lnTo>
                  <a:pt x="5469344" y="121259"/>
                </a:lnTo>
                <a:lnTo>
                  <a:pt x="5523535" y="136461"/>
                </a:lnTo>
                <a:lnTo>
                  <a:pt x="5582450" y="150241"/>
                </a:lnTo>
                <a:lnTo>
                  <a:pt x="5645416" y="162471"/>
                </a:lnTo>
                <a:lnTo>
                  <a:pt x="5712282" y="173113"/>
                </a:lnTo>
                <a:lnTo>
                  <a:pt x="5782780" y="182079"/>
                </a:lnTo>
                <a:lnTo>
                  <a:pt x="5865076" y="190017"/>
                </a:lnTo>
                <a:lnTo>
                  <a:pt x="5948223" y="195516"/>
                </a:lnTo>
                <a:lnTo>
                  <a:pt x="6031662" y="198640"/>
                </a:lnTo>
                <a:lnTo>
                  <a:pt x="6114872" y="199453"/>
                </a:lnTo>
                <a:lnTo>
                  <a:pt x="6197282" y="198018"/>
                </a:lnTo>
                <a:lnTo>
                  <a:pt x="6278359" y="194411"/>
                </a:lnTo>
                <a:lnTo>
                  <a:pt x="6357556" y="188696"/>
                </a:lnTo>
                <a:lnTo>
                  <a:pt x="6434341" y="180924"/>
                </a:lnTo>
                <a:lnTo>
                  <a:pt x="6508166" y="171145"/>
                </a:lnTo>
                <a:lnTo>
                  <a:pt x="6566967" y="161353"/>
                </a:lnTo>
                <a:lnTo>
                  <a:pt x="6611988" y="152908"/>
                </a:lnTo>
                <a:lnTo>
                  <a:pt x="6676072" y="138379"/>
                </a:lnTo>
                <a:lnTo>
                  <a:pt x="6735242" y="122072"/>
                </a:lnTo>
                <a:lnTo>
                  <a:pt x="6790664" y="103289"/>
                </a:lnTo>
                <a:lnTo>
                  <a:pt x="6792582" y="102374"/>
                </a:lnTo>
                <a:lnTo>
                  <a:pt x="6826364" y="170840"/>
                </a:lnTo>
                <a:lnTo>
                  <a:pt x="6875627" y="59842"/>
                </a:lnTo>
                <a:lnTo>
                  <a:pt x="6886715" y="34848"/>
                </a:lnTo>
                <a:close/>
              </a:path>
              <a:path w="6902450" h="621029">
                <a:moveTo>
                  <a:pt x="6902424" y="240588"/>
                </a:moveTo>
                <a:lnTo>
                  <a:pt x="6762420" y="190246"/>
                </a:lnTo>
                <a:lnTo>
                  <a:pt x="6788505" y="261810"/>
                </a:lnTo>
                <a:lnTo>
                  <a:pt x="6787413" y="262204"/>
                </a:lnTo>
                <a:lnTo>
                  <a:pt x="6748056" y="274713"/>
                </a:lnTo>
                <a:lnTo>
                  <a:pt x="6706413" y="287147"/>
                </a:lnTo>
                <a:lnTo>
                  <a:pt x="6662877" y="299364"/>
                </a:lnTo>
                <a:lnTo>
                  <a:pt x="6617500" y="311378"/>
                </a:lnTo>
                <a:lnTo>
                  <a:pt x="6570319" y="323164"/>
                </a:lnTo>
                <a:lnTo>
                  <a:pt x="6521374" y="334746"/>
                </a:lnTo>
                <a:lnTo>
                  <a:pt x="6470713" y="346087"/>
                </a:lnTo>
                <a:lnTo>
                  <a:pt x="6418351" y="357212"/>
                </a:lnTo>
                <a:lnTo>
                  <a:pt x="6364351" y="368096"/>
                </a:lnTo>
                <a:lnTo>
                  <a:pt x="6251549" y="389178"/>
                </a:lnTo>
                <a:lnTo>
                  <a:pt x="6132601" y="409282"/>
                </a:lnTo>
                <a:lnTo>
                  <a:pt x="6007836" y="428409"/>
                </a:lnTo>
                <a:lnTo>
                  <a:pt x="5877522" y="446519"/>
                </a:lnTo>
                <a:lnTo>
                  <a:pt x="5672328" y="471754"/>
                </a:lnTo>
                <a:lnTo>
                  <a:pt x="5456364" y="494588"/>
                </a:lnTo>
                <a:lnTo>
                  <a:pt x="5153330" y="521195"/>
                </a:lnTo>
                <a:lnTo>
                  <a:pt x="4835347" y="543255"/>
                </a:lnTo>
                <a:lnTo>
                  <a:pt x="4504728" y="560590"/>
                </a:lnTo>
                <a:lnTo>
                  <a:pt x="4163847" y="573049"/>
                </a:lnTo>
                <a:lnTo>
                  <a:pt x="3815080" y="580466"/>
                </a:lnTo>
                <a:lnTo>
                  <a:pt x="3460762" y="582676"/>
                </a:lnTo>
                <a:lnTo>
                  <a:pt x="3103283" y="579501"/>
                </a:lnTo>
                <a:lnTo>
                  <a:pt x="2745003" y="570801"/>
                </a:lnTo>
                <a:lnTo>
                  <a:pt x="2388273" y="556412"/>
                </a:lnTo>
                <a:lnTo>
                  <a:pt x="2016150" y="534835"/>
                </a:lnTo>
                <a:lnTo>
                  <a:pt x="1734972" y="513537"/>
                </a:lnTo>
                <a:lnTo>
                  <a:pt x="1468640" y="488784"/>
                </a:lnTo>
                <a:lnTo>
                  <a:pt x="1299921" y="470471"/>
                </a:lnTo>
                <a:lnTo>
                  <a:pt x="1138682" y="450773"/>
                </a:lnTo>
                <a:lnTo>
                  <a:pt x="985266" y="429755"/>
                </a:lnTo>
                <a:lnTo>
                  <a:pt x="840041" y="407454"/>
                </a:lnTo>
                <a:lnTo>
                  <a:pt x="703351" y="383946"/>
                </a:lnTo>
                <a:lnTo>
                  <a:pt x="638619" y="371817"/>
                </a:lnTo>
                <a:lnTo>
                  <a:pt x="575551" y="359295"/>
                </a:lnTo>
                <a:lnTo>
                  <a:pt x="515099" y="346557"/>
                </a:lnTo>
                <a:lnTo>
                  <a:pt x="457022" y="333552"/>
                </a:lnTo>
                <a:lnTo>
                  <a:pt x="401332" y="320294"/>
                </a:lnTo>
                <a:lnTo>
                  <a:pt x="348107" y="306781"/>
                </a:lnTo>
                <a:lnTo>
                  <a:pt x="297370" y="293039"/>
                </a:lnTo>
                <a:lnTo>
                  <a:pt x="249186" y="279069"/>
                </a:lnTo>
                <a:lnTo>
                  <a:pt x="203593" y="264871"/>
                </a:lnTo>
                <a:lnTo>
                  <a:pt x="160642" y="250469"/>
                </a:lnTo>
                <a:lnTo>
                  <a:pt x="120383" y="235877"/>
                </a:lnTo>
                <a:lnTo>
                  <a:pt x="82880" y="221094"/>
                </a:lnTo>
                <a:lnTo>
                  <a:pt x="16294" y="191071"/>
                </a:lnTo>
                <a:lnTo>
                  <a:pt x="0" y="225513"/>
                </a:lnTo>
                <a:lnTo>
                  <a:pt x="68922" y="256552"/>
                </a:lnTo>
                <a:lnTo>
                  <a:pt x="107403" y="271691"/>
                </a:lnTo>
                <a:lnTo>
                  <a:pt x="148539" y="286600"/>
                </a:lnTo>
                <a:lnTo>
                  <a:pt x="192278" y="301256"/>
                </a:lnTo>
                <a:lnTo>
                  <a:pt x="238582" y="315658"/>
                </a:lnTo>
                <a:lnTo>
                  <a:pt x="287413" y="329806"/>
                </a:lnTo>
                <a:lnTo>
                  <a:pt x="338734" y="343712"/>
                </a:lnTo>
                <a:lnTo>
                  <a:pt x="392506" y="357352"/>
                </a:lnTo>
                <a:lnTo>
                  <a:pt x="448691" y="370725"/>
                </a:lnTo>
                <a:lnTo>
                  <a:pt x="507796" y="383946"/>
                </a:lnTo>
                <a:lnTo>
                  <a:pt x="568134" y="396659"/>
                </a:lnTo>
                <a:lnTo>
                  <a:pt x="631698" y="409282"/>
                </a:lnTo>
                <a:lnTo>
                  <a:pt x="696709" y="421462"/>
                </a:lnTo>
                <a:lnTo>
                  <a:pt x="764324" y="433425"/>
                </a:lnTo>
                <a:lnTo>
                  <a:pt x="905979" y="456438"/>
                </a:lnTo>
                <a:lnTo>
                  <a:pt x="1055941" y="478193"/>
                </a:lnTo>
                <a:lnTo>
                  <a:pt x="1213853" y="498627"/>
                </a:lnTo>
                <a:lnTo>
                  <a:pt x="1464894" y="526707"/>
                </a:lnTo>
                <a:lnTo>
                  <a:pt x="1731886" y="551510"/>
                </a:lnTo>
                <a:lnTo>
                  <a:pt x="2013673" y="572846"/>
                </a:lnTo>
                <a:lnTo>
                  <a:pt x="2386571" y="594474"/>
                </a:lnTo>
                <a:lnTo>
                  <a:pt x="2743924" y="608888"/>
                </a:lnTo>
                <a:lnTo>
                  <a:pt x="3102800" y="617601"/>
                </a:lnTo>
                <a:lnTo>
                  <a:pt x="3460864" y="620776"/>
                </a:lnTo>
                <a:lnTo>
                  <a:pt x="3815740" y="618553"/>
                </a:lnTo>
                <a:lnTo>
                  <a:pt x="4165092" y="611124"/>
                </a:lnTo>
                <a:lnTo>
                  <a:pt x="4506569" y="598639"/>
                </a:lnTo>
                <a:lnTo>
                  <a:pt x="4813033" y="582676"/>
                </a:lnTo>
                <a:lnTo>
                  <a:pt x="5156479" y="559168"/>
                </a:lnTo>
                <a:lnTo>
                  <a:pt x="5460162" y="532498"/>
                </a:lnTo>
                <a:lnTo>
                  <a:pt x="5676760" y="509587"/>
                </a:lnTo>
                <a:lnTo>
                  <a:pt x="5882640" y="484276"/>
                </a:lnTo>
                <a:lnTo>
                  <a:pt x="6013462" y="466090"/>
                </a:lnTo>
                <a:lnTo>
                  <a:pt x="6138811" y="446874"/>
                </a:lnTo>
                <a:lnTo>
                  <a:pt x="6258369" y="426656"/>
                </a:lnTo>
                <a:lnTo>
                  <a:pt x="6371882" y="405447"/>
                </a:lnTo>
                <a:lnTo>
                  <a:pt x="6426263" y="394474"/>
                </a:lnTo>
                <a:lnTo>
                  <a:pt x="6479032" y="383273"/>
                </a:lnTo>
                <a:lnTo>
                  <a:pt x="6530149" y="371817"/>
                </a:lnTo>
                <a:lnTo>
                  <a:pt x="6579565" y="360133"/>
                </a:lnTo>
                <a:lnTo>
                  <a:pt x="6627254" y="348208"/>
                </a:lnTo>
                <a:lnTo>
                  <a:pt x="6673177" y="336042"/>
                </a:lnTo>
                <a:lnTo>
                  <a:pt x="6717309" y="323646"/>
                </a:lnTo>
                <a:lnTo>
                  <a:pt x="6759613" y="311023"/>
                </a:lnTo>
                <a:lnTo>
                  <a:pt x="6800418" y="298018"/>
                </a:lnTo>
                <a:lnTo>
                  <a:pt x="6801561" y="297611"/>
                </a:lnTo>
                <a:lnTo>
                  <a:pt x="6827660" y="369227"/>
                </a:lnTo>
                <a:lnTo>
                  <a:pt x="6893877" y="255308"/>
                </a:lnTo>
                <a:lnTo>
                  <a:pt x="6902424" y="240588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349089" y="5822600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6" y="33774"/>
                </a:moveTo>
                <a:lnTo>
                  <a:pt x="0" y="67495"/>
                </a:lnTo>
                <a:lnTo>
                  <a:pt x="38726" y="86754"/>
                </a:lnTo>
                <a:lnTo>
                  <a:pt x="82891" y="104678"/>
                </a:lnTo>
                <a:lnTo>
                  <a:pt x="132217" y="121259"/>
                </a:lnTo>
                <a:lnTo>
                  <a:pt x="186405" y="136456"/>
                </a:lnTo>
                <a:lnTo>
                  <a:pt x="245317" y="150243"/>
                </a:lnTo>
                <a:lnTo>
                  <a:pt x="308278" y="162472"/>
                </a:lnTo>
                <a:lnTo>
                  <a:pt x="375155" y="173112"/>
                </a:lnTo>
                <a:lnTo>
                  <a:pt x="445643" y="182083"/>
                </a:lnTo>
                <a:lnTo>
                  <a:pt x="527944" y="190018"/>
                </a:lnTo>
                <a:lnTo>
                  <a:pt x="611089" y="195513"/>
                </a:lnTo>
                <a:lnTo>
                  <a:pt x="694535" y="198635"/>
                </a:lnTo>
                <a:lnTo>
                  <a:pt x="777735" y="199450"/>
                </a:lnTo>
                <a:lnTo>
                  <a:pt x="860145" y="198023"/>
                </a:lnTo>
                <a:lnTo>
                  <a:pt x="941223" y="194417"/>
                </a:lnTo>
                <a:lnTo>
                  <a:pt x="1020423" y="188696"/>
                </a:lnTo>
                <a:lnTo>
                  <a:pt x="1097205" y="180919"/>
                </a:lnTo>
                <a:lnTo>
                  <a:pt x="1171028" y="171146"/>
                </a:lnTo>
                <a:lnTo>
                  <a:pt x="1229837" y="161356"/>
                </a:lnTo>
                <a:lnTo>
                  <a:pt x="777078" y="161356"/>
                </a:lnTo>
                <a:lnTo>
                  <a:pt x="694910" y="160538"/>
                </a:lnTo>
                <a:lnTo>
                  <a:pt x="612517" y="157440"/>
                </a:lnTo>
                <a:lnTo>
                  <a:pt x="530459" y="152002"/>
                </a:lnTo>
                <a:lnTo>
                  <a:pt x="449304" y="144160"/>
                </a:lnTo>
                <a:lnTo>
                  <a:pt x="379970" y="135318"/>
                </a:lnTo>
                <a:lnTo>
                  <a:pt x="314270" y="124847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2"/>
                </a:lnTo>
                <a:lnTo>
                  <a:pt x="95552" y="68743"/>
                </a:lnTo>
                <a:lnTo>
                  <a:pt x="53679" y="51711"/>
                </a:lnTo>
                <a:lnTo>
                  <a:pt x="34940" y="42843"/>
                </a:lnTo>
                <a:lnTo>
                  <a:pt x="17736" y="33774"/>
                </a:lnTo>
                <a:close/>
              </a:path>
              <a:path w="1550034" h="200025">
                <a:moveTo>
                  <a:pt x="1538495" y="59839"/>
                </a:moveTo>
                <a:lnTo>
                  <a:pt x="1455875" y="59839"/>
                </a:lnTo>
                <a:lnTo>
                  <a:pt x="1472462" y="94141"/>
                </a:lnTo>
                <a:lnTo>
                  <a:pt x="1455443" y="102367"/>
                </a:lnTo>
                <a:lnTo>
                  <a:pt x="1489226" y="170837"/>
                </a:lnTo>
                <a:lnTo>
                  <a:pt x="1538495" y="59839"/>
                </a:lnTo>
                <a:close/>
              </a:path>
              <a:path w="1550034" h="200025">
                <a:moveTo>
                  <a:pt x="1438584" y="68197"/>
                </a:moveTo>
                <a:lnTo>
                  <a:pt x="1386622" y="85745"/>
                </a:lnTo>
                <a:lnTo>
                  <a:pt x="1329274" y="101532"/>
                </a:lnTo>
                <a:lnTo>
                  <a:pt x="1266837" y="115658"/>
                </a:lnTo>
                <a:lnTo>
                  <a:pt x="1164776" y="133563"/>
                </a:lnTo>
                <a:lnTo>
                  <a:pt x="1092210" y="143148"/>
                </a:lnTo>
                <a:lnTo>
                  <a:pt x="1016588" y="150789"/>
                </a:lnTo>
                <a:lnTo>
                  <a:pt x="938481" y="156417"/>
                </a:lnTo>
                <a:lnTo>
                  <a:pt x="858456" y="159961"/>
                </a:lnTo>
                <a:lnTo>
                  <a:pt x="777078" y="161356"/>
                </a:lnTo>
                <a:lnTo>
                  <a:pt x="1229837" y="161356"/>
                </a:lnTo>
                <a:lnTo>
                  <a:pt x="1274861" y="152905"/>
                </a:lnTo>
                <a:lnTo>
                  <a:pt x="1338941" y="138385"/>
                </a:lnTo>
                <a:lnTo>
                  <a:pt x="1398103" y="122071"/>
                </a:lnTo>
                <a:lnTo>
                  <a:pt x="1453526" y="103294"/>
                </a:lnTo>
                <a:lnTo>
                  <a:pt x="1455443" y="102367"/>
                </a:lnTo>
                <a:lnTo>
                  <a:pt x="1438584" y="68197"/>
                </a:lnTo>
                <a:close/>
              </a:path>
              <a:path w="1550034" h="200025">
                <a:moveTo>
                  <a:pt x="1455875" y="59839"/>
                </a:moveTo>
                <a:lnTo>
                  <a:pt x="1438584" y="68197"/>
                </a:lnTo>
                <a:lnTo>
                  <a:pt x="1455443" y="102367"/>
                </a:lnTo>
                <a:lnTo>
                  <a:pt x="1472462" y="94141"/>
                </a:lnTo>
                <a:lnTo>
                  <a:pt x="1455875" y="59839"/>
                </a:lnTo>
                <a:close/>
              </a:path>
              <a:path w="1550034" h="200025">
                <a:moveTo>
                  <a:pt x="1404936" y="0"/>
                </a:moveTo>
                <a:lnTo>
                  <a:pt x="1438584" y="68197"/>
                </a:lnTo>
                <a:lnTo>
                  <a:pt x="1455875" y="59839"/>
                </a:lnTo>
                <a:lnTo>
                  <a:pt x="1538495" y="59839"/>
                </a:lnTo>
                <a:lnTo>
                  <a:pt x="1549589" y="34846"/>
                </a:lnTo>
                <a:lnTo>
                  <a:pt x="1404936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126071" y="5822600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41" y="33774"/>
                </a:moveTo>
                <a:lnTo>
                  <a:pt x="0" y="67495"/>
                </a:lnTo>
                <a:lnTo>
                  <a:pt x="38722" y="86754"/>
                </a:lnTo>
                <a:lnTo>
                  <a:pt x="82892" y="104678"/>
                </a:lnTo>
                <a:lnTo>
                  <a:pt x="132219" y="121259"/>
                </a:lnTo>
                <a:lnTo>
                  <a:pt x="186410" y="136456"/>
                </a:lnTo>
                <a:lnTo>
                  <a:pt x="245313" y="150243"/>
                </a:lnTo>
                <a:lnTo>
                  <a:pt x="308279" y="162472"/>
                </a:lnTo>
                <a:lnTo>
                  <a:pt x="375157" y="173112"/>
                </a:lnTo>
                <a:lnTo>
                  <a:pt x="445642" y="182083"/>
                </a:lnTo>
                <a:lnTo>
                  <a:pt x="527951" y="190018"/>
                </a:lnTo>
                <a:lnTo>
                  <a:pt x="611085" y="195513"/>
                </a:lnTo>
                <a:lnTo>
                  <a:pt x="694537" y="198635"/>
                </a:lnTo>
                <a:lnTo>
                  <a:pt x="777735" y="199450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19" y="188696"/>
                </a:lnTo>
                <a:lnTo>
                  <a:pt x="1097203" y="180919"/>
                </a:lnTo>
                <a:lnTo>
                  <a:pt x="1171028" y="171146"/>
                </a:lnTo>
                <a:lnTo>
                  <a:pt x="1229839" y="161356"/>
                </a:lnTo>
                <a:lnTo>
                  <a:pt x="777074" y="161356"/>
                </a:lnTo>
                <a:lnTo>
                  <a:pt x="694918" y="160538"/>
                </a:lnTo>
                <a:lnTo>
                  <a:pt x="612521" y="157440"/>
                </a:lnTo>
                <a:lnTo>
                  <a:pt x="530466" y="152002"/>
                </a:lnTo>
                <a:lnTo>
                  <a:pt x="449300" y="144160"/>
                </a:lnTo>
                <a:lnTo>
                  <a:pt x="379971" y="135318"/>
                </a:lnTo>
                <a:lnTo>
                  <a:pt x="314274" y="124847"/>
                </a:lnTo>
                <a:lnTo>
                  <a:pt x="252590" y="112843"/>
                </a:lnTo>
                <a:lnTo>
                  <a:pt x="195478" y="99452"/>
                </a:lnTo>
                <a:lnTo>
                  <a:pt x="142951" y="84702"/>
                </a:lnTo>
                <a:lnTo>
                  <a:pt x="95554" y="68743"/>
                </a:lnTo>
                <a:lnTo>
                  <a:pt x="53682" y="51711"/>
                </a:lnTo>
                <a:lnTo>
                  <a:pt x="34937" y="42843"/>
                </a:lnTo>
                <a:lnTo>
                  <a:pt x="17741" y="33774"/>
                </a:lnTo>
                <a:close/>
              </a:path>
              <a:path w="1550034" h="200025">
                <a:moveTo>
                  <a:pt x="1538496" y="59839"/>
                </a:moveTo>
                <a:lnTo>
                  <a:pt x="1455877" y="59839"/>
                </a:lnTo>
                <a:lnTo>
                  <a:pt x="1472463" y="94141"/>
                </a:lnTo>
                <a:lnTo>
                  <a:pt x="1455444" y="102367"/>
                </a:lnTo>
                <a:lnTo>
                  <a:pt x="1489227" y="170837"/>
                </a:lnTo>
                <a:lnTo>
                  <a:pt x="1538496" y="59839"/>
                </a:lnTo>
                <a:close/>
              </a:path>
              <a:path w="1550034" h="200025">
                <a:moveTo>
                  <a:pt x="1438585" y="68197"/>
                </a:moveTo>
                <a:lnTo>
                  <a:pt x="1386624" y="85745"/>
                </a:lnTo>
                <a:lnTo>
                  <a:pt x="1329270" y="101532"/>
                </a:lnTo>
                <a:lnTo>
                  <a:pt x="1266837" y="115658"/>
                </a:lnTo>
                <a:lnTo>
                  <a:pt x="1164780" y="133563"/>
                </a:lnTo>
                <a:lnTo>
                  <a:pt x="1092212" y="143148"/>
                </a:lnTo>
                <a:lnTo>
                  <a:pt x="1016584" y="150789"/>
                </a:lnTo>
                <a:lnTo>
                  <a:pt x="938479" y="156417"/>
                </a:lnTo>
                <a:lnTo>
                  <a:pt x="858456" y="159961"/>
                </a:lnTo>
                <a:lnTo>
                  <a:pt x="777074" y="161356"/>
                </a:lnTo>
                <a:lnTo>
                  <a:pt x="1229839" y="161356"/>
                </a:lnTo>
                <a:lnTo>
                  <a:pt x="1274864" y="152905"/>
                </a:lnTo>
                <a:lnTo>
                  <a:pt x="1338948" y="138385"/>
                </a:lnTo>
                <a:lnTo>
                  <a:pt x="1398105" y="122071"/>
                </a:lnTo>
                <a:lnTo>
                  <a:pt x="1453527" y="103294"/>
                </a:lnTo>
                <a:lnTo>
                  <a:pt x="1455444" y="102367"/>
                </a:lnTo>
                <a:lnTo>
                  <a:pt x="1438585" y="68197"/>
                </a:lnTo>
                <a:close/>
              </a:path>
              <a:path w="1550034" h="200025">
                <a:moveTo>
                  <a:pt x="1455877" y="59839"/>
                </a:moveTo>
                <a:lnTo>
                  <a:pt x="1438585" y="68197"/>
                </a:lnTo>
                <a:lnTo>
                  <a:pt x="1455444" y="102367"/>
                </a:lnTo>
                <a:lnTo>
                  <a:pt x="1472463" y="94141"/>
                </a:lnTo>
                <a:lnTo>
                  <a:pt x="1455877" y="59839"/>
                </a:lnTo>
                <a:close/>
              </a:path>
              <a:path w="1550034" h="200025">
                <a:moveTo>
                  <a:pt x="1404937" y="0"/>
                </a:moveTo>
                <a:lnTo>
                  <a:pt x="1438585" y="68197"/>
                </a:lnTo>
                <a:lnTo>
                  <a:pt x="1455877" y="59839"/>
                </a:lnTo>
                <a:lnTo>
                  <a:pt x="1538496" y="59839"/>
                </a:lnTo>
                <a:lnTo>
                  <a:pt x="1549590" y="34846"/>
                </a:lnTo>
                <a:lnTo>
                  <a:pt x="1404937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082145" y="5266435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0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16391" y="5266435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1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550637" y="5266435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2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84883" y="5266435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3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019129" y="5266435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4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790678" y="5266435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490000" y="5266435"/>
            <a:ext cx="307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T</a:t>
            </a:r>
            <a:endParaRPr sz="2400" baseline="-17361">
              <a:latin typeface="Calibri"/>
              <a:cs typeface="Calibri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961376" y="7226807"/>
            <a:ext cx="5288280" cy="37185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2811131" y="8738107"/>
            <a:ext cx="534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3487400" y="8781288"/>
            <a:ext cx="3547872" cy="359664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487911" y="8833103"/>
            <a:ext cx="1146048" cy="30784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56688" y="8805671"/>
            <a:ext cx="292607" cy="32004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655807" y="8098535"/>
            <a:ext cx="1679448" cy="359663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913632" y="6879335"/>
            <a:ext cx="2429256" cy="1069847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7072999" y="7325893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2"/>
                </a:lnTo>
                <a:lnTo>
                  <a:pt x="0" y="58882"/>
                </a:lnTo>
                <a:lnTo>
                  <a:pt x="0" y="176645"/>
                </a:lnTo>
                <a:lnTo>
                  <a:pt x="200889" y="176645"/>
                </a:lnTo>
                <a:lnTo>
                  <a:pt x="200889" y="235527"/>
                </a:lnTo>
                <a:lnTo>
                  <a:pt x="318653" y="117763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824112" y="7180580"/>
            <a:ext cx="8583295" cy="1948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Arial MT"/>
                <a:cs typeface="Arial MT"/>
              </a:rPr>
              <a:t>Define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40"/>
              </a:spcBef>
            </a:pPr>
            <a:endParaRPr sz="2400">
              <a:latin typeface="Arial MT"/>
              <a:cs typeface="Arial MT"/>
            </a:endParaRPr>
          </a:p>
          <a:p>
            <a:pPr marL="41910">
              <a:lnSpc>
                <a:spcPct val="100000"/>
              </a:lnSpc>
              <a:spcBef>
                <a:spcPts val="5"/>
              </a:spcBef>
              <a:tabLst>
                <a:tab pos="6799580" algn="l"/>
              </a:tabLst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sampling:</a:t>
            </a:r>
            <a:r>
              <a:rPr sz="2400" dirty="0">
                <a:latin typeface="Arial MT"/>
                <a:cs typeface="Arial MT"/>
              </a:rPr>
              <a:t>	</a:t>
            </a:r>
            <a:r>
              <a:rPr sz="2400" spc="-10" dirty="0">
                <a:latin typeface="Arial MT"/>
                <a:cs typeface="Arial MT"/>
              </a:rPr>
              <a:t>where</a:t>
            </a:r>
            <a:endParaRPr sz="2400">
              <a:latin typeface="Arial MT"/>
              <a:cs typeface="Arial MT"/>
            </a:endParaRPr>
          </a:p>
          <a:p>
            <a:pPr marL="24130">
              <a:lnSpc>
                <a:spcPct val="100000"/>
              </a:lnSpc>
              <a:spcBef>
                <a:spcPts val="2400"/>
              </a:spcBef>
            </a:pP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schedule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(i.e.,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noise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schedule)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designed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such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13953655" y="7174483"/>
            <a:ext cx="23774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(Diffusion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Kernel)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72465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35" dirty="0"/>
              <a:t> </a:t>
            </a:r>
            <a:r>
              <a:rPr dirty="0"/>
              <a:t>happens</a:t>
            </a:r>
            <a:r>
              <a:rPr spc="-135" dirty="0"/>
              <a:t> </a:t>
            </a:r>
            <a:r>
              <a:rPr dirty="0"/>
              <a:t>to</a:t>
            </a:r>
            <a:r>
              <a:rPr spc="-140" dirty="0"/>
              <a:t> </a:t>
            </a:r>
            <a:r>
              <a:rPr dirty="0"/>
              <a:t>a</a:t>
            </a:r>
            <a:r>
              <a:rPr spc="-135" dirty="0"/>
              <a:t> </a:t>
            </a:r>
            <a:r>
              <a:rPr dirty="0"/>
              <a:t>distribution</a:t>
            </a:r>
            <a:r>
              <a:rPr spc="-135" dirty="0"/>
              <a:t> </a:t>
            </a:r>
            <a:r>
              <a:rPr dirty="0"/>
              <a:t>in</a:t>
            </a:r>
            <a:r>
              <a:rPr spc="-140" dirty="0"/>
              <a:t> </a:t>
            </a:r>
            <a:r>
              <a:rPr dirty="0"/>
              <a:t>the</a:t>
            </a:r>
            <a:r>
              <a:rPr spc="-130" dirty="0"/>
              <a:t> </a:t>
            </a:r>
            <a:r>
              <a:rPr dirty="0"/>
              <a:t>forward</a:t>
            </a:r>
            <a:r>
              <a:rPr spc="-135" dirty="0"/>
              <a:t> </a:t>
            </a:r>
            <a:r>
              <a:rPr spc="-10" dirty="0"/>
              <a:t>diffusion?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2845" y="3048000"/>
            <a:ext cx="54121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So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far,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discussed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kernel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2849" y="3048000"/>
            <a:ext cx="20618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but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what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about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76874" y="3048000"/>
            <a:ext cx="13271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50" dirty="0">
                <a:latin typeface="Trebuchet MS"/>
                <a:cs typeface="Trebuchet MS"/>
              </a:rPr>
              <a:t>?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2845" y="8802623"/>
            <a:ext cx="20148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sample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2076" y="8802623"/>
            <a:ext cx="22294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first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sampling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95049" y="8802623"/>
            <a:ext cx="24555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then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sampling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248538" y="8802623"/>
            <a:ext cx="350583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(i.e.,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ancestral</a:t>
            </a:r>
            <a:r>
              <a:rPr sz="2300" spc="8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sampling).</a:t>
            </a:r>
            <a:endParaRPr sz="2300" dirty="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6040" y="3078479"/>
            <a:ext cx="1161288" cy="34747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81031" y="2859023"/>
            <a:ext cx="783335" cy="80162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26664" y="8836152"/>
            <a:ext cx="1499615" cy="34442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3343" y="8854439"/>
            <a:ext cx="1566672" cy="34442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34343" y="8854439"/>
            <a:ext cx="1956815" cy="344424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759930" y="7582916"/>
            <a:ext cx="6073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diffusion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kernel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is</a:t>
            </a:r>
            <a:r>
              <a:rPr sz="2400" spc="-7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0000"/>
                </a:solidFill>
                <a:latin typeface="Arial MT"/>
                <a:cs typeface="Arial MT"/>
              </a:rPr>
              <a:t>Gaussian</a:t>
            </a:r>
            <a:r>
              <a:rPr sz="2400" spc="-7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 MT"/>
                <a:cs typeface="Arial MT"/>
              </a:rPr>
              <a:t>convolution.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32834" y="4296927"/>
            <a:ext cx="8126590" cy="3109146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018937" y="5499100"/>
            <a:ext cx="312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libri"/>
                <a:cs typeface="Calibri"/>
              </a:rPr>
              <a:t>x</a:t>
            </a:r>
            <a:r>
              <a:rPr sz="2850" spc="-37" baseline="-17543" dirty="0">
                <a:latin typeface="Calibri"/>
                <a:cs typeface="Calibri"/>
              </a:rPr>
              <a:t>t</a:t>
            </a:r>
            <a:endParaRPr sz="2850" baseline="-17543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55323" y="746810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0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057873" y="746810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60422" y="746810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2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862964" y="746810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3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670452" y="7468107"/>
            <a:ext cx="749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916111" y="3666235"/>
            <a:ext cx="3631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890C58"/>
                </a:solidFill>
                <a:latin typeface="Arial MT"/>
                <a:cs typeface="Arial MT"/>
              </a:rPr>
              <a:t>Diffused</a:t>
            </a:r>
            <a:r>
              <a:rPr sz="2400" spc="-100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90C58"/>
                </a:solidFill>
                <a:latin typeface="Arial MT"/>
                <a:cs typeface="Arial MT"/>
              </a:rPr>
              <a:t>Data</a:t>
            </a:r>
            <a:r>
              <a:rPr sz="2400" spc="-95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90C58"/>
                </a:solidFill>
                <a:latin typeface="Arial MT"/>
                <a:cs typeface="Arial MT"/>
              </a:rPr>
              <a:t>Distributions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5476359" y="7479283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813528" y="3933444"/>
            <a:ext cx="5480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Trebuchet MS"/>
                <a:cs typeface="Trebuchet MS"/>
              </a:rPr>
              <a:t>Data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713821" y="3933444"/>
            <a:ext cx="638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Noise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96696" y="5148071"/>
            <a:ext cx="6962140" cy="948690"/>
            <a:chOff x="996696" y="5148071"/>
            <a:chExt cx="6962140" cy="948690"/>
          </a:xfrm>
        </p:grpSpPr>
        <p:sp>
          <p:nvSpPr>
            <p:cNvPr id="28" name="object 28"/>
            <p:cNvSpPr/>
            <p:nvPr/>
          </p:nvSpPr>
          <p:spPr>
            <a:xfrm>
              <a:off x="1058183" y="5906003"/>
              <a:ext cx="760095" cy="186055"/>
            </a:xfrm>
            <a:custGeom>
              <a:avLst/>
              <a:gdLst/>
              <a:ahLst/>
              <a:cxnLst/>
              <a:rect l="l" t="t" r="r" b="b"/>
              <a:pathLst>
                <a:path w="760094" h="186054">
                  <a:moveTo>
                    <a:pt x="759545" y="0"/>
                  </a:moveTo>
                  <a:lnTo>
                    <a:pt x="750701" y="36140"/>
                  </a:lnTo>
                  <a:lnTo>
                    <a:pt x="726584" y="65653"/>
                  </a:lnTo>
                  <a:lnTo>
                    <a:pt x="690813" y="85551"/>
                  </a:lnTo>
                  <a:lnTo>
                    <a:pt x="647010" y="92847"/>
                  </a:lnTo>
                  <a:lnTo>
                    <a:pt x="492307" y="92847"/>
                  </a:lnTo>
                  <a:lnTo>
                    <a:pt x="448503" y="100143"/>
                  </a:lnTo>
                  <a:lnTo>
                    <a:pt x="412733" y="120041"/>
                  </a:lnTo>
                  <a:lnTo>
                    <a:pt x="388616" y="149554"/>
                  </a:lnTo>
                  <a:lnTo>
                    <a:pt x="379772" y="185695"/>
                  </a:lnTo>
                  <a:lnTo>
                    <a:pt x="370928" y="149554"/>
                  </a:lnTo>
                  <a:lnTo>
                    <a:pt x="346811" y="120041"/>
                  </a:lnTo>
                  <a:lnTo>
                    <a:pt x="311041" y="100143"/>
                  </a:lnTo>
                  <a:lnTo>
                    <a:pt x="267237" y="92847"/>
                  </a:lnTo>
                  <a:lnTo>
                    <a:pt x="112534" y="92847"/>
                  </a:lnTo>
                  <a:lnTo>
                    <a:pt x="68731" y="85551"/>
                  </a:lnTo>
                  <a:lnTo>
                    <a:pt x="32960" y="65653"/>
                  </a:lnTo>
                  <a:lnTo>
                    <a:pt x="8843" y="3614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306476" y="5874537"/>
              <a:ext cx="760095" cy="186055"/>
            </a:xfrm>
            <a:custGeom>
              <a:avLst/>
              <a:gdLst/>
              <a:ahLst/>
              <a:cxnLst/>
              <a:rect l="l" t="t" r="r" b="b"/>
              <a:pathLst>
                <a:path w="760095" h="186054">
                  <a:moveTo>
                    <a:pt x="759545" y="0"/>
                  </a:moveTo>
                  <a:lnTo>
                    <a:pt x="750701" y="36140"/>
                  </a:lnTo>
                  <a:lnTo>
                    <a:pt x="726584" y="65653"/>
                  </a:lnTo>
                  <a:lnTo>
                    <a:pt x="690813" y="85551"/>
                  </a:lnTo>
                  <a:lnTo>
                    <a:pt x="647010" y="92847"/>
                  </a:lnTo>
                  <a:lnTo>
                    <a:pt x="492307" y="92847"/>
                  </a:lnTo>
                  <a:lnTo>
                    <a:pt x="448503" y="100143"/>
                  </a:lnTo>
                  <a:lnTo>
                    <a:pt x="412733" y="120041"/>
                  </a:lnTo>
                  <a:lnTo>
                    <a:pt x="388616" y="149554"/>
                  </a:lnTo>
                  <a:lnTo>
                    <a:pt x="379772" y="185695"/>
                  </a:lnTo>
                  <a:lnTo>
                    <a:pt x="370928" y="149554"/>
                  </a:lnTo>
                  <a:lnTo>
                    <a:pt x="346811" y="120041"/>
                  </a:lnTo>
                  <a:lnTo>
                    <a:pt x="311041" y="100143"/>
                  </a:lnTo>
                  <a:lnTo>
                    <a:pt x="267237" y="92847"/>
                  </a:lnTo>
                  <a:lnTo>
                    <a:pt x="112534" y="92847"/>
                  </a:lnTo>
                  <a:lnTo>
                    <a:pt x="68731" y="85551"/>
                  </a:lnTo>
                  <a:lnTo>
                    <a:pt x="32960" y="65653"/>
                  </a:lnTo>
                  <a:lnTo>
                    <a:pt x="8843" y="3614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285044" y="5874536"/>
              <a:ext cx="1128395" cy="167005"/>
            </a:xfrm>
            <a:custGeom>
              <a:avLst/>
              <a:gdLst/>
              <a:ahLst/>
              <a:cxnLst/>
              <a:rect l="l" t="t" r="r" b="b"/>
              <a:pathLst>
                <a:path w="1128395" h="167004">
                  <a:moveTo>
                    <a:pt x="1127993" y="1"/>
                  </a:moveTo>
                  <a:lnTo>
                    <a:pt x="1120048" y="32466"/>
                  </a:lnTo>
                  <a:lnTo>
                    <a:pt x="1098384" y="58977"/>
                  </a:lnTo>
                  <a:lnTo>
                    <a:pt x="1066252" y="76851"/>
                  </a:lnTo>
                  <a:lnTo>
                    <a:pt x="1026904" y="83405"/>
                  </a:lnTo>
                  <a:lnTo>
                    <a:pt x="855580" y="83404"/>
                  </a:lnTo>
                  <a:lnTo>
                    <a:pt x="816232" y="89958"/>
                  </a:lnTo>
                  <a:lnTo>
                    <a:pt x="784100" y="107833"/>
                  </a:lnTo>
                  <a:lnTo>
                    <a:pt x="762436" y="134344"/>
                  </a:lnTo>
                  <a:lnTo>
                    <a:pt x="754492" y="166809"/>
                  </a:lnTo>
                  <a:lnTo>
                    <a:pt x="746548" y="134344"/>
                  </a:lnTo>
                  <a:lnTo>
                    <a:pt x="724883" y="107833"/>
                  </a:lnTo>
                  <a:lnTo>
                    <a:pt x="692751" y="89958"/>
                  </a:lnTo>
                  <a:lnTo>
                    <a:pt x="653403" y="83404"/>
                  </a:lnTo>
                  <a:lnTo>
                    <a:pt x="101088" y="83404"/>
                  </a:lnTo>
                  <a:lnTo>
                    <a:pt x="61740" y="76850"/>
                  </a:lnTo>
                  <a:lnTo>
                    <a:pt x="29608" y="58975"/>
                  </a:lnTo>
                  <a:lnTo>
                    <a:pt x="7944" y="32464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6696" y="5148071"/>
              <a:ext cx="6961632" cy="80162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636381" y="5860022"/>
              <a:ext cx="1125855" cy="186055"/>
            </a:xfrm>
            <a:custGeom>
              <a:avLst/>
              <a:gdLst/>
              <a:ahLst/>
              <a:cxnLst/>
              <a:rect l="l" t="t" r="r" b="b"/>
              <a:pathLst>
                <a:path w="1125854" h="186054">
                  <a:moveTo>
                    <a:pt x="1125723" y="0"/>
                  </a:moveTo>
                  <a:lnTo>
                    <a:pt x="1116874" y="36162"/>
                  </a:lnTo>
                  <a:lnTo>
                    <a:pt x="1092742" y="65692"/>
                  </a:lnTo>
                  <a:lnTo>
                    <a:pt x="1056950" y="85602"/>
                  </a:lnTo>
                  <a:lnTo>
                    <a:pt x="1013121" y="92903"/>
                  </a:lnTo>
                  <a:lnTo>
                    <a:pt x="675463" y="92903"/>
                  </a:lnTo>
                  <a:lnTo>
                    <a:pt x="631633" y="100204"/>
                  </a:lnTo>
                  <a:lnTo>
                    <a:pt x="595841" y="120114"/>
                  </a:lnTo>
                  <a:lnTo>
                    <a:pt x="571710" y="149644"/>
                  </a:lnTo>
                  <a:lnTo>
                    <a:pt x="562861" y="185807"/>
                  </a:lnTo>
                  <a:lnTo>
                    <a:pt x="554012" y="149644"/>
                  </a:lnTo>
                  <a:lnTo>
                    <a:pt x="529881" y="120114"/>
                  </a:lnTo>
                  <a:lnTo>
                    <a:pt x="494089" y="100204"/>
                  </a:lnTo>
                  <a:lnTo>
                    <a:pt x="450259" y="92903"/>
                  </a:lnTo>
                  <a:lnTo>
                    <a:pt x="112601" y="92903"/>
                  </a:lnTo>
                  <a:lnTo>
                    <a:pt x="68772" y="85602"/>
                  </a:lnTo>
                  <a:lnTo>
                    <a:pt x="32980" y="65692"/>
                  </a:lnTo>
                  <a:lnTo>
                    <a:pt x="8848" y="36162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52322" y="6173723"/>
            <a:ext cx="112077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41275">
              <a:lnSpc>
                <a:spcPts val="2210"/>
              </a:lnSpc>
              <a:spcBef>
                <a:spcPts val="330"/>
              </a:spcBef>
            </a:pPr>
            <a:r>
              <a:rPr sz="2000" spc="-10" dirty="0">
                <a:latin typeface="Trebuchet MS"/>
                <a:cs typeface="Trebuchet MS"/>
              </a:rPr>
              <a:t>Diffused </a:t>
            </a: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dist.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34" name="object 34"/>
          <p:cNvSpPr txBox="1"/>
          <p:nvPr/>
        </p:nvSpPr>
        <p:spPr>
          <a:xfrm>
            <a:off x="5162218" y="6173723"/>
            <a:ext cx="1120775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2700" marR="5080" indent="214629">
              <a:lnSpc>
                <a:spcPts val="2210"/>
              </a:lnSpc>
              <a:spcBef>
                <a:spcPts val="330"/>
              </a:spcBef>
            </a:pPr>
            <a:r>
              <a:rPr sz="2000" spc="-10" dirty="0">
                <a:latin typeface="Trebuchet MS"/>
                <a:cs typeface="Trebuchet MS"/>
              </a:rPr>
              <a:t>Input </a:t>
            </a:r>
            <a:r>
              <a:rPr sz="2000" dirty="0">
                <a:latin typeface="Trebuchet MS"/>
                <a:cs typeface="Trebuchet MS"/>
              </a:rPr>
              <a:t>data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dist.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38958" y="6173723"/>
            <a:ext cx="103124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56845" marR="5080" indent="-144780">
              <a:lnSpc>
                <a:spcPts val="2210"/>
              </a:lnSpc>
              <a:spcBef>
                <a:spcPts val="330"/>
              </a:spcBef>
            </a:pPr>
            <a:r>
              <a:rPr sz="2000" spc="-10" dirty="0">
                <a:latin typeface="Trebuchet MS"/>
                <a:cs typeface="Trebuchet MS"/>
              </a:rPr>
              <a:t>Diffusion kernel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35142" y="6173723"/>
            <a:ext cx="594360" cy="61087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41275" marR="5080" indent="-28575">
              <a:lnSpc>
                <a:spcPts val="2210"/>
              </a:lnSpc>
              <a:spcBef>
                <a:spcPts val="330"/>
              </a:spcBef>
            </a:pPr>
            <a:r>
              <a:rPr sz="2000" spc="-10" dirty="0">
                <a:latin typeface="Trebuchet MS"/>
                <a:cs typeface="Trebuchet MS"/>
              </a:rPr>
              <a:t>Joint dist.</a:t>
            </a:r>
            <a:endParaRPr sz="2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674745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Generative</a:t>
            </a:r>
            <a:r>
              <a:rPr spc="-165" dirty="0"/>
              <a:t> </a:t>
            </a:r>
            <a:r>
              <a:rPr dirty="0"/>
              <a:t>Learning</a:t>
            </a:r>
            <a:r>
              <a:rPr spc="-175" dirty="0"/>
              <a:t> </a:t>
            </a:r>
            <a:r>
              <a:rPr dirty="0"/>
              <a:t>by</a:t>
            </a:r>
            <a:r>
              <a:rPr spc="-170" dirty="0"/>
              <a:t> </a:t>
            </a:r>
            <a:r>
              <a:rPr spc="-10" dirty="0"/>
              <a:t>Denoising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3105911"/>
            <a:ext cx="806894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Recall,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parameters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designed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such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that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9990" y="4501896"/>
            <a:ext cx="1678939" cy="107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spc="-10" dirty="0">
                <a:latin typeface="Trebuchet MS"/>
                <a:cs typeface="Trebuchet MS"/>
              </a:rPr>
              <a:t>Generation</a:t>
            </a:r>
            <a:r>
              <a:rPr sz="2300" spc="-10" dirty="0">
                <a:latin typeface="Trebuchet MS"/>
                <a:cs typeface="Trebuchet MS"/>
              </a:rPr>
              <a:t>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spc="-10" dirty="0">
                <a:latin typeface="Trebuchet MS"/>
                <a:cs typeface="Trebuchet MS"/>
              </a:rPr>
              <a:t>Sample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9990" y="9418319"/>
            <a:ext cx="275399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approximate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72987" y="9418319"/>
            <a:ext cx="55333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?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Yes,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76B900"/>
                </a:solidFill>
                <a:latin typeface="Trebuchet MS"/>
                <a:cs typeface="Trebuchet MS"/>
              </a:rPr>
              <a:t>Normal</a:t>
            </a:r>
            <a:r>
              <a:rPr sz="2300" spc="30" dirty="0">
                <a:solidFill>
                  <a:srgbClr val="76B900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solidFill>
                  <a:srgbClr val="76B900"/>
                </a:solidFill>
                <a:latin typeface="Trebuchet MS"/>
                <a:cs typeface="Trebuchet MS"/>
              </a:rPr>
              <a:t>distribution</a:t>
            </a:r>
            <a:r>
              <a:rPr sz="2300" spc="35" dirty="0">
                <a:solidFill>
                  <a:srgbClr val="76B900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if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25034" y="9418319"/>
            <a:ext cx="52012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small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each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forward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step.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9448740" y="4312049"/>
            <a:ext cx="8225790" cy="3110230"/>
            <a:chOff x="9448740" y="4312049"/>
            <a:chExt cx="8225790" cy="311023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577" y="4312049"/>
              <a:ext cx="8149934" cy="310969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413670" y="6375171"/>
              <a:ext cx="160121" cy="16012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024950" y="6013701"/>
              <a:ext cx="160121" cy="16012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653350" y="6079017"/>
              <a:ext cx="160121" cy="16012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232761" y="6291288"/>
              <a:ext cx="160121" cy="16012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52998" y="6397425"/>
              <a:ext cx="160120" cy="1601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48740" y="6536218"/>
              <a:ext cx="160120" cy="16012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9023881" y="5514340"/>
            <a:ext cx="3124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25" dirty="0">
                <a:latin typeface="Calibri"/>
                <a:cs typeface="Calibri"/>
              </a:rPr>
              <a:t>x</a:t>
            </a:r>
            <a:r>
              <a:rPr sz="2850" spc="-37" baseline="-17543" dirty="0">
                <a:latin typeface="Calibri"/>
                <a:cs typeface="Calibri"/>
              </a:rPr>
              <a:t>t</a:t>
            </a:r>
            <a:endParaRPr sz="2850" baseline="-17543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60267" y="748334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0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062816" y="748334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1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465366" y="748334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2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867917" y="7483347"/>
            <a:ext cx="7543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3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675391" y="7483347"/>
            <a:ext cx="7493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Calibri"/>
                <a:cs typeface="Calibri"/>
              </a:rPr>
              <a:t>q(x</a:t>
            </a:r>
            <a:r>
              <a:rPr sz="2850" spc="-15" baseline="-17543" dirty="0">
                <a:latin typeface="Calibri"/>
                <a:cs typeface="Calibri"/>
              </a:rPr>
              <a:t>T</a:t>
            </a:r>
            <a:r>
              <a:rPr sz="2800" spc="-10" dirty="0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921055" y="3681476"/>
            <a:ext cx="3631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890C58"/>
                </a:solidFill>
                <a:latin typeface="Arial MT"/>
                <a:cs typeface="Arial MT"/>
              </a:rPr>
              <a:t>Diffused</a:t>
            </a:r>
            <a:r>
              <a:rPr sz="2400" spc="-100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890C58"/>
                </a:solidFill>
                <a:latin typeface="Arial MT"/>
                <a:cs typeface="Arial MT"/>
              </a:rPr>
              <a:t>Data</a:t>
            </a:r>
            <a:r>
              <a:rPr sz="2400" spc="-95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890C58"/>
                </a:solidFill>
                <a:latin typeface="Arial MT"/>
                <a:cs typeface="Arial MT"/>
              </a:rPr>
              <a:t>Distributions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89135" y="3121151"/>
            <a:ext cx="3090672" cy="35966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042160" y="5230367"/>
            <a:ext cx="2554224" cy="359663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5551644" y="7521956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489959" y="5940552"/>
            <a:ext cx="2670048" cy="347472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4667958" y="6394467"/>
            <a:ext cx="1480185" cy="161290"/>
          </a:xfrm>
          <a:custGeom>
            <a:avLst/>
            <a:gdLst/>
            <a:ahLst/>
            <a:cxnLst/>
            <a:rect l="l" t="t" r="r" b="b"/>
            <a:pathLst>
              <a:path w="1480185" h="161290">
                <a:moveTo>
                  <a:pt x="1479626" y="0"/>
                </a:moveTo>
                <a:lnTo>
                  <a:pt x="1471954" y="31349"/>
                </a:lnTo>
                <a:lnTo>
                  <a:pt x="1451035" y="56949"/>
                </a:lnTo>
                <a:lnTo>
                  <a:pt x="1420006" y="74209"/>
                </a:lnTo>
                <a:lnTo>
                  <a:pt x="1382010" y="80538"/>
                </a:lnTo>
                <a:lnTo>
                  <a:pt x="825176" y="80538"/>
                </a:lnTo>
                <a:lnTo>
                  <a:pt x="787179" y="86867"/>
                </a:lnTo>
                <a:lnTo>
                  <a:pt x="756151" y="104127"/>
                </a:lnTo>
                <a:lnTo>
                  <a:pt x="735231" y="129727"/>
                </a:lnTo>
                <a:lnTo>
                  <a:pt x="727560" y="161077"/>
                </a:lnTo>
                <a:lnTo>
                  <a:pt x="719889" y="129727"/>
                </a:lnTo>
                <a:lnTo>
                  <a:pt x="698969" y="104127"/>
                </a:lnTo>
                <a:lnTo>
                  <a:pt x="667941" y="86867"/>
                </a:lnTo>
                <a:lnTo>
                  <a:pt x="629944" y="80538"/>
                </a:lnTo>
                <a:lnTo>
                  <a:pt x="97615" y="80538"/>
                </a:lnTo>
                <a:lnTo>
                  <a:pt x="59619" y="74209"/>
                </a:lnTo>
                <a:lnTo>
                  <a:pt x="28591" y="56949"/>
                </a:lnTo>
                <a:lnTo>
                  <a:pt x="7671" y="31349"/>
                </a:lnTo>
                <a:lnTo>
                  <a:pt x="0" y="0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39990" y="5913120"/>
            <a:ext cx="5685790" cy="1106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Iteratively</a:t>
            </a:r>
            <a:r>
              <a:rPr sz="2300" spc="8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sample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300">
              <a:latin typeface="Trebuchet MS"/>
              <a:cs typeface="Trebuchet MS"/>
            </a:endParaRPr>
          </a:p>
          <a:p>
            <a:pPr marL="3418204">
              <a:lnSpc>
                <a:spcPct val="100000"/>
              </a:lnSpc>
            </a:pPr>
            <a:r>
              <a:rPr sz="2000" spc="-40" dirty="0">
                <a:latin typeface="Trebuchet MS"/>
                <a:cs typeface="Trebuchet MS"/>
              </a:rPr>
              <a:t>True</a:t>
            </a:r>
            <a:r>
              <a:rPr sz="2000" spc="-8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Denoising</a:t>
            </a:r>
            <a:r>
              <a:rPr sz="2000" spc="-7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Dist.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5906585" y="8168727"/>
            <a:ext cx="1127125" cy="190500"/>
          </a:xfrm>
          <a:custGeom>
            <a:avLst/>
            <a:gdLst/>
            <a:ahLst/>
            <a:cxnLst/>
            <a:rect l="l" t="t" r="r" b="b"/>
            <a:pathLst>
              <a:path w="1127125" h="190500">
                <a:moveTo>
                  <a:pt x="101365" y="57229"/>
                </a:moveTo>
                <a:lnTo>
                  <a:pt x="76951" y="86695"/>
                </a:lnTo>
                <a:lnTo>
                  <a:pt x="95567" y="99369"/>
                </a:lnTo>
                <a:lnTo>
                  <a:pt x="96519" y="99903"/>
                </a:lnTo>
                <a:lnTo>
                  <a:pt x="134899" y="117355"/>
                </a:lnTo>
                <a:lnTo>
                  <a:pt x="177203" y="133238"/>
                </a:lnTo>
                <a:lnTo>
                  <a:pt x="222694" y="147284"/>
                </a:lnTo>
                <a:lnTo>
                  <a:pt x="271068" y="159453"/>
                </a:lnTo>
                <a:lnTo>
                  <a:pt x="321970" y="169689"/>
                </a:lnTo>
                <a:lnTo>
                  <a:pt x="375069" y="177926"/>
                </a:lnTo>
                <a:lnTo>
                  <a:pt x="430021" y="184095"/>
                </a:lnTo>
                <a:lnTo>
                  <a:pt x="486486" y="188120"/>
                </a:lnTo>
                <a:lnTo>
                  <a:pt x="544093" y="189923"/>
                </a:lnTo>
                <a:lnTo>
                  <a:pt x="602513" y="189425"/>
                </a:lnTo>
                <a:lnTo>
                  <a:pt x="661390" y="186546"/>
                </a:lnTo>
                <a:lnTo>
                  <a:pt x="720369" y="181199"/>
                </a:lnTo>
                <a:lnTo>
                  <a:pt x="788657" y="171702"/>
                </a:lnTo>
                <a:lnTo>
                  <a:pt x="853312" y="159002"/>
                </a:lnTo>
                <a:lnTo>
                  <a:pt x="882679" y="151841"/>
                </a:lnTo>
                <a:lnTo>
                  <a:pt x="545274" y="151841"/>
                </a:lnTo>
                <a:lnTo>
                  <a:pt x="489178" y="150115"/>
                </a:lnTo>
                <a:lnTo>
                  <a:pt x="434263" y="146231"/>
                </a:lnTo>
                <a:lnTo>
                  <a:pt x="380898" y="140275"/>
                </a:lnTo>
                <a:lnTo>
                  <a:pt x="329463" y="132333"/>
                </a:lnTo>
                <a:lnTo>
                  <a:pt x="280339" y="122500"/>
                </a:lnTo>
                <a:lnTo>
                  <a:pt x="233908" y="110872"/>
                </a:lnTo>
                <a:lnTo>
                  <a:pt x="190550" y="97556"/>
                </a:lnTo>
                <a:lnTo>
                  <a:pt x="150672" y="82671"/>
                </a:lnTo>
                <a:lnTo>
                  <a:pt x="116780" y="67264"/>
                </a:lnTo>
                <a:lnTo>
                  <a:pt x="116103" y="67264"/>
                </a:lnTo>
                <a:lnTo>
                  <a:pt x="113271" y="65669"/>
                </a:lnTo>
                <a:lnTo>
                  <a:pt x="113760" y="65669"/>
                </a:lnTo>
                <a:lnTo>
                  <a:pt x="101365" y="57229"/>
                </a:lnTo>
                <a:close/>
              </a:path>
              <a:path w="1127125" h="190500">
                <a:moveTo>
                  <a:pt x="1098894" y="0"/>
                </a:moveTo>
                <a:lnTo>
                  <a:pt x="1098676" y="0"/>
                </a:lnTo>
                <a:lnTo>
                  <a:pt x="1087335" y="12165"/>
                </a:lnTo>
                <a:lnTo>
                  <a:pt x="1073899" y="24248"/>
                </a:lnTo>
                <a:lnTo>
                  <a:pt x="1041285" y="47551"/>
                </a:lnTo>
                <a:lnTo>
                  <a:pt x="1001521" y="69303"/>
                </a:lnTo>
                <a:lnTo>
                  <a:pt x="955205" y="89120"/>
                </a:lnTo>
                <a:lnTo>
                  <a:pt x="902957" y="106688"/>
                </a:lnTo>
                <a:lnTo>
                  <a:pt x="845413" y="121732"/>
                </a:lnTo>
                <a:lnTo>
                  <a:pt x="783399" y="133967"/>
                </a:lnTo>
                <a:lnTo>
                  <a:pt x="716914" y="143255"/>
                </a:lnTo>
                <a:lnTo>
                  <a:pt x="659523" y="148492"/>
                </a:lnTo>
                <a:lnTo>
                  <a:pt x="602183" y="151326"/>
                </a:lnTo>
                <a:lnTo>
                  <a:pt x="545274" y="151841"/>
                </a:lnTo>
                <a:lnTo>
                  <a:pt x="882679" y="151841"/>
                </a:lnTo>
                <a:lnTo>
                  <a:pt x="941260" y="134534"/>
                </a:lnTo>
                <a:lnTo>
                  <a:pt x="993355" y="114821"/>
                </a:lnTo>
                <a:lnTo>
                  <a:pt x="1039634" y="92552"/>
                </a:lnTo>
                <a:lnTo>
                  <a:pt x="1079601" y="67806"/>
                </a:lnTo>
                <a:lnTo>
                  <a:pt x="1112723" y="40572"/>
                </a:lnTo>
                <a:lnTo>
                  <a:pt x="1126528" y="25986"/>
                </a:lnTo>
                <a:lnTo>
                  <a:pt x="1098894" y="0"/>
                </a:lnTo>
                <a:close/>
              </a:path>
              <a:path w="1127125" h="190500">
                <a:moveTo>
                  <a:pt x="148780" y="0"/>
                </a:moveTo>
                <a:lnTo>
                  <a:pt x="0" y="425"/>
                </a:lnTo>
                <a:lnTo>
                  <a:pt x="27155" y="146231"/>
                </a:lnTo>
                <a:lnTo>
                  <a:pt x="27241" y="146693"/>
                </a:lnTo>
                <a:lnTo>
                  <a:pt x="76951" y="86695"/>
                </a:lnTo>
                <a:lnTo>
                  <a:pt x="62623" y="76940"/>
                </a:lnTo>
                <a:lnTo>
                  <a:pt x="84061" y="45446"/>
                </a:lnTo>
                <a:lnTo>
                  <a:pt x="111126" y="45446"/>
                </a:lnTo>
                <a:lnTo>
                  <a:pt x="148780" y="0"/>
                </a:lnTo>
                <a:close/>
              </a:path>
              <a:path w="1127125" h="190500">
                <a:moveTo>
                  <a:pt x="84061" y="45446"/>
                </a:moveTo>
                <a:lnTo>
                  <a:pt x="62623" y="76940"/>
                </a:lnTo>
                <a:lnTo>
                  <a:pt x="76951" y="86695"/>
                </a:lnTo>
                <a:lnTo>
                  <a:pt x="101365" y="57229"/>
                </a:lnTo>
                <a:lnTo>
                  <a:pt x="84061" y="45446"/>
                </a:lnTo>
                <a:close/>
              </a:path>
              <a:path w="1127125" h="190500">
                <a:moveTo>
                  <a:pt x="113271" y="65669"/>
                </a:moveTo>
                <a:lnTo>
                  <a:pt x="116103" y="67264"/>
                </a:lnTo>
                <a:lnTo>
                  <a:pt x="114743" y="66338"/>
                </a:lnTo>
                <a:lnTo>
                  <a:pt x="113271" y="65669"/>
                </a:lnTo>
                <a:close/>
              </a:path>
              <a:path w="1127125" h="190500">
                <a:moveTo>
                  <a:pt x="114743" y="66338"/>
                </a:moveTo>
                <a:lnTo>
                  <a:pt x="116103" y="67264"/>
                </a:lnTo>
                <a:lnTo>
                  <a:pt x="116780" y="67264"/>
                </a:lnTo>
                <a:lnTo>
                  <a:pt x="114743" y="66338"/>
                </a:lnTo>
                <a:close/>
              </a:path>
              <a:path w="1127125" h="190500">
                <a:moveTo>
                  <a:pt x="113760" y="65669"/>
                </a:moveTo>
                <a:lnTo>
                  <a:pt x="113271" y="65669"/>
                </a:lnTo>
                <a:lnTo>
                  <a:pt x="114743" y="66338"/>
                </a:lnTo>
                <a:lnTo>
                  <a:pt x="113760" y="65669"/>
                </a:lnTo>
                <a:close/>
              </a:path>
              <a:path w="1127125" h="190500">
                <a:moveTo>
                  <a:pt x="111126" y="45446"/>
                </a:moveTo>
                <a:lnTo>
                  <a:pt x="84061" y="45446"/>
                </a:lnTo>
                <a:lnTo>
                  <a:pt x="101365" y="57229"/>
                </a:lnTo>
                <a:lnTo>
                  <a:pt x="111126" y="45446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440851" y="8168727"/>
            <a:ext cx="1127125" cy="190500"/>
          </a:xfrm>
          <a:custGeom>
            <a:avLst/>
            <a:gdLst/>
            <a:ahLst/>
            <a:cxnLst/>
            <a:rect l="l" t="t" r="r" b="b"/>
            <a:pathLst>
              <a:path w="1127125" h="190500">
                <a:moveTo>
                  <a:pt x="101367" y="57226"/>
                </a:moveTo>
                <a:lnTo>
                  <a:pt x="76951" y="86695"/>
                </a:lnTo>
                <a:lnTo>
                  <a:pt x="95567" y="99369"/>
                </a:lnTo>
                <a:lnTo>
                  <a:pt x="96519" y="99903"/>
                </a:lnTo>
                <a:lnTo>
                  <a:pt x="134899" y="117355"/>
                </a:lnTo>
                <a:lnTo>
                  <a:pt x="177203" y="133238"/>
                </a:lnTo>
                <a:lnTo>
                  <a:pt x="222694" y="147284"/>
                </a:lnTo>
                <a:lnTo>
                  <a:pt x="271068" y="159453"/>
                </a:lnTo>
                <a:lnTo>
                  <a:pt x="321970" y="169689"/>
                </a:lnTo>
                <a:lnTo>
                  <a:pt x="375081" y="177926"/>
                </a:lnTo>
                <a:lnTo>
                  <a:pt x="430034" y="184095"/>
                </a:lnTo>
                <a:lnTo>
                  <a:pt x="486486" y="188120"/>
                </a:lnTo>
                <a:lnTo>
                  <a:pt x="544093" y="189923"/>
                </a:lnTo>
                <a:lnTo>
                  <a:pt x="602513" y="189425"/>
                </a:lnTo>
                <a:lnTo>
                  <a:pt x="661390" y="186546"/>
                </a:lnTo>
                <a:lnTo>
                  <a:pt x="720369" y="181199"/>
                </a:lnTo>
                <a:lnTo>
                  <a:pt x="788669" y="171702"/>
                </a:lnTo>
                <a:lnTo>
                  <a:pt x="853325" y="159002"/>
                </a:lnTo>
                <a:lnTo>
                  <a:pt x="882680" y="151841"/>
                </a:lnTo>
                <a:lnTo>
                  <a:pt x="545274" y="151841"/>
                </a:lnTo>
                <a:lnTo>
                  <a:pt x="489178" y="150115"/>
                </a:lnTo>
                <a:lnTo>
                  <a:pt x="434263" y="146231"/>
                </a:lnTo>
                <a:lnTo>
                  <a:pt x="380898" y="140275"/>
                </a:lnTo>
                <a:lnTo>
                  <a:pt x="329476" y="132333"/>
                </a:lnTo>
                <a:lnTo>
                  <a:pt x="280352" y="122500"/>
                </a:lnTo>
                <a:lnTo>
                  <a:pt x="233908" y="110872"/>
                </a:lnTo>
                <a:lnTo>
                  <a:pt x="190563" y="97556"/>
                </a:lnTo>
                <a:lnTo>
                  <a:pt x="150672" y="82671"/>
                </a:lnTo>
                <a:lnTo>
                  <a:pt x="116780" y="67264"/>
                </a:lnTo>
                <a:lnTo>
                  <a:pt x="116116" y="67264"/>
                </a:lnTo>
                <a:lnTo>
                  <a:pt x="113271" y="65669"/>
                </a:lnTo>
                <a:lnTo>
                  <a:pt x="113772" y="65669"/>
                </a:lnTo>
                <a:lnTo>
                  <a:pt x="101367" y="57226"/>
                </a:lnTo>
                <a:close/>
              </a:path>
              <a:path w="1127125" h="190500">
                <a:moveTo>
                  <a:pt x="1098894" y="0"/>
                </a:moveTo>
                <a:lnTo>
                  <a:pt x="1098676" y="0"/>
                </a:lnTo>
                <a:lnTo>
                  <a:pt x="1087335" y="12165"/>
                </a:lnTo>
                <a:lnTo>
                  <a:pt x="1073899" y="24248"/>
                </a:lnTo>
                <a:lnTo>
                  <a:pt x="1041285" y="47551"/>
                </a:lnTo>
                <a:lnTo>
                  <a:pt x="1001521" y="69303"/>
                </a:lnTo>
                <a:lnTo>
                  <a:pt x="955205" y="89120"/>
                </a:lnTo>
                <a:lnTo>
                  <a:pt x="902957" y="106688"/>
                </a:lnTo>
                <a:lnTo>
                  <a:pt x="845413" y="121732"/>
                </a:lnTo>
                <a:lnTo>
                  <a:pt x="783399" y="133967"/>
                </a:lnTo>
                <a:lnTo>
                  <a:pt x="716927" y="143255"/>
                </a:lnTo>
                <a:lnTo>
                  <a:pt x="659523" y="148492"/>
                </a:lnTo>
                <a:lnTo>
                  <a:pt x="602183" y="151326"/>
                </a:lnTo>
                <a:lnTo>
                  <a:pt x="545274" y="151841"/>
                </a:lnTo>
                <a:lnTo>
                  <a:pt x="882680" y="151841"/>
                </a:lnTo>
                <a:lnTo>
                  <a:pt x="941260" y="134534"/>
                </a:lnTo>
                <a:lnTo>
                  <a:pt x="993355" y="114821"/>
                </a:lnTo>
                <a:lnTo>
                  <a:pt x="1039647" y="92552"/>
                </a:lnTo>
                <a:lnTo>
                  <a:pt x="1079601" y="67806"/>
                </a:lnTo>
                <a:lnTo>
                  <a:pt x="1112723" y="40572"/>
                </a:lnTo>
                <a:lnTo>
                  <a:pt x="1126540" y="25986"/>
                </a:lnTo>
                <a:lnTo>
                  <a:pt x="1098894" y="0"/>
                </a:lnTo>
                <a:close/>
              </a:path>
              <a:path w="1127125" h="190500">
                <a:moveTo>
                  <a:pt x="148780" y="0"/>
                </a:moveTo>
                <a:lnTo>
                  <a:pt x="0" y="425"/>
                </a:lnTo>
                <a:lnTo>
                  <a:pt x="27155" y="146231"/>
                </a:lnTo>
                <a:lnTo>
                  <a:pt x="27241" y="146693"/>
                </a:lnTo>
                <a:lnTo>
                  <a:pt x="76951" y="86695"/>
                </a:lnTo>
                <a:lnTo>
                  <a:pt x="62623" y="76940"/>
                </a:lnTo>
                <a:lnTo>
                  <a:pt x="84061" y="45446"/>
                </a:lnTo>
                <a:lnTo>
                  <a:pt x="111126" y="45446"/>
                </a:lnTo>
                <a:lnTo>
                  <a:pt x="148780" y="0"/>
                </a:lnTo>
                <a:close/>
              </a:path>
              <a:path w="1127125" h="190500">
                <a:moveTo>
                  <a:pt x="84061" y="45446"/>
                </a:moveTo>
                <a:lnTo>
                  <a:pt x="62623" y="76940"/>
                </a:lnTo>
                <a:lnTo>
                  <a:pt x="76951" y="86695"/>
                </a:lnTo>
                <a:lnTo>
                  <a:pt x="101367" y="57226"/>
                </a:lnTo>
                <a:lnTo>
                  <a:pt x="84061" y="45446"/>
                </a:lnTo>
                <a:close/>
              </a:path>
              <a:path w="1127125" h="190500">
                <a:moveTo>
                  <a:pt x="113271" y="65669"/>
                </a:moveTo>
                <a:lnTo>
                  <a:pt x="116116" y="67264"/>
                </a:lnTo>
                <a:lnTo>
                  <a:pt x="114780" y="66355"/>
                </a:lnTo>
                <a:lnTo>
                  <a:pt x="113271" y="65669"/>
                </a:lnTo>
                <a:close/>
              </a:path>
              <a:path w="1127125" h="190500">
                <a:moveTo>
                  <a:pt x="114780" y="66355"/>
                </a:moveTo>
                <a:lnTo>
                  <a:pt x="116116" y="67264"/>
                </a:lnTo>
                <a:lnTo>
                  <a:pt x="116780" y="67264"/>
                </a:lnTo>
                <a:lnTo>
                  <a:pt x="114780" y="66355"/>
                </a:lnTo>
                <a:close/>
              </a:path>
              <a:path w="1127125" h="190500">
                <a:moveTo>
                  <a:pt x="113772" y="65669"/>
                </a:moveTo>
                <a:lnTo>
                  <a:pt x="113271" y="65669"/>
                </a:lnTo>
                <a:lnTo>
                  <a:pt x="114780" y="66355"/>
                </a:lnTo>
                <a:lnTo>
                  <a:pt x="113772" y="65669"/>
                </a:lnTo>
                <a:close/>
              </a:path>
              <a:path w="1127125" h="190500">
                <a:moveTo>
                  <a:pt x="111126" y="45446"/>
                </a:moveTo>
                <a:lnTo>
                  <a:pt x="84061" y="45446"/>
                </a:lnTo>
                <a:lnTo>
                  <a:pt x="101367" y="57226"/>
                </a:lnTo>
                <a:lnTo>
                  <a:pt x="111126" y="45446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2975120" y="8168727"/>
            <a:ext cx="1127125" cy="190500"/>
          </a:xfrm>
          <a:custGeom>
            <a:avLst/>
            <a:gdLst/>
            <a:ahLst/>
            <a:cxnLst/>
            <a:rect l="l" t="t" r="r" b="b"/>
            <a:pathLst>
              <a:path w="1127125" h="190500">
                <a:moveTo>
                  <a:pt x="101372" y="57225"/>
                </a:moveTo>
                <a:lnTo>
                  <a:pt x="76956" y="86698"/>
                </a:lnTo>
                <a:lnTo>
                  <a:pt x="95567" y="99369"/>
                </a:lnTo>
                <a:lnTo>
                  <a:pt x="96519" y="99903"/>
                </a:lnTo>
                <a:lnTo>
                  <a:pt x="134899" y="117355"/>
                </a:lnTo>
                <a:lnTo>
                  <a:pt x="177203" y="133238"/>
                </a:lnTo>
                <a:lnTo>
                  <a:pt x="222707" y="147284"/>
                </a:lnTo>
                <a:lnTo>
                  <a:pt x="271068" y="159453"/>
                </a:lnTo>
                <a:lnTo>
                  <a:pt x="321983" y="169689"/>
                </a:lnTo>
                <a:lnTo>
                  <a:pt x="375081" y="177926"/>
                </a:lnTo>
                <a:lnTo>
                  <a:pt x="430034" y="184095"/>
                </a:lnTo>
                <a:lnTo>
                  <a:pt x="486486" y="188120"/>
                </a:lnTo>
                <a:lnTo>
                  <a:pt x="544106" y="189923"/>
                </a:lnTo>
                <a:lnTo>
                  <a:pt x="602526" y="189425"/>
                </a:lnTo>
                <a:lnTo>
                  <a:pt x="661390" y="186546"/>
                </a:lnTo>
                <a:lnTo>
                  <a:pt x="720369" y="181199"/>
                </a:lnTo>
                <a:lnTo>
                  <a:pt x="788669" y="171702"/>
                </a:lnTo>
                <a:lnTo>
                  <a:pt x="853325" y="159002"/>
                </a:lnTo>
                <a:lnTo>
                  <a:pt x="882680" y="151841"/>
                </a:lnTo>
                <a:lnTo>
                  <a:pt x="545287" y="151841"/>
                </a:lnTo>
                <a:lnTo>
                  <a:pt x="489191" y="150115"/>
                </a:lnTo>
                <a:lnTo>
                  <a:pt x="434276" y="146231"/>
                </a:lnTo>
                <a:lnTo>
                  <a:pt x="380911" y="140275"/>
                </a:lnTo>
                <a:lnTo>
                  <a:pt x="329476" y="132333"/>
                </a:lnTo>
                <a:lnTo>
                  <a:pt x="280352" y="122500"/>
                </a:lnTo>
                <a:lnTo>
                  <a:pt x="233921" y="110872"/>
                </a:lnTo>
                <a:lnTo>
                  <a:pt x="190563" y="97556"/>
                </a:lnTo>
                <a:lnTo>
                  <a:pt x="150672" y="82671"/>
                </a:lnTo>
                <a:lnTo>
                  <a:pt x="116791" y="67264"/>
                </a:lnTo>
                <a:lnTo>
                  <a:pt x="116116" y="67264"/>
                </a:lnTo>
                <a:lnTo>
                  <a:pt x="113284" y="65669"/>
                </a:lnTo>
                <a:lnTo>
                  <a:pt x="113773" y="65669"/>
                </a:lnTo>
                <a:lnTo>
                  <a:pt x="101372" y="57225"/>
                </a:lnTo>
                <a:close/>
              </a:path>
              <a:path w="1127125" h="190500">
                <a:moveTo>
                  <a:pt x="1098894" y="0"/>
                </a:moveTo>
                <a:lnTo>
                  <a:pt x="1098676" y="0"/>
                </a:lnTo>
                <a:lnTo>
                  <a:pt x="1087335" y="12165"/>
                </a:lnTo>
                <a:lnTo>
                  <a:pt x="1073899" y="24248"/>
                </a:lnTo>
                <a:lnTo>
                  <a:pt x="1041298" y="47551"/>
                </a:lnTo>
                <a:lnTo>
                  <a:pt x="1001521" y="69303"/>
                </a:lnTo>
                <a:lnTo>
                  <a:pt x="955205" y="89120"/>
                </a:lnTo>
                <a:lnTo>
                  <a:pt x="902969" y="106688"/>
                </a:lnTo>
                <a:lnTo>
                  <a:pt x="845413" y="121732"/>
                </a:lnTo>
                <a:lnTo>
                  <a:pt x="783412" y="133967"/>
                </a:lnTo>
                <a:lnTo>
                  <a:pt x="716927" y="143255"/>
                </a:lnTo>
                <a:lnTo>
                  <a:pt x="659523" y="148492"/>
                </a:lnTo>
                <a:lnTo>
                  <a:pt x="602183" y="151326"/>
                </a:lnTo>
                <a:lnTo>
                  <a:pt x="545287" y="151841"/>
                </a:lnTo>
                <a:lnTo>
                  <a:pt x="882680" y="151841"/>
                </a:lnTo>
                <a:lnTo>
                  <a:pt x="941260" y="134534"/>
                </a:lnTo>
                <a:lnTo>
                  <a:pt x="993368" y="114821"/>
                </a:lnTo>
                <a:lnTo>
                  <a:pt x="1039647" y="92552"/>
                </a:lnTo>
                <a:lnTo>
                  <a:pt x="1079601" y="67806"/>
                </a:lnTo>
                <a:lnTo>
                  <a:pt x="1112723" y="40572"/>
                </a:lnTo>
                <a:lnTo>
                  <a:pt x="1126540" y="25986"/>
                </a:lnTo>
                <a:lnTo>
                  <a:pt x="1098894" y="0"/>
                </a:lnTo>
                <a:close/>
              </a:path>
              <a:path w="1127125" h="190500">
                <a:moveTo>
                  <a:pt x="148780" y="0"/>
                </a:moveTo>
                <a:lnTo>
                  <a:pt x="0" y="425"/>
                </a:lnTo>
                <a:lnTo>
                  <a:pt x="27168" y="146231"/>
                </a:lnTo>
                <a:lnTo>
                  <a:pt x="27254" y="146693"/>
                </a:lnTo>
                <a:lnTo>
                  <a:pt x="76956" y="86698"/>
                </a:lnTo>
                <a:lnTo>
                  <a:pt x="62623" y="76940"/>
                </a:lnTo>
                <a:lnTo>
                  <a:pt x="84073" y="45446"/>
                </a:lnTo>
                <a:lnTo>
                  <a:pt x="111130" y="45446"/>
                </a:lnTo>
                <a:lnTo>
                  <a:pt x="148780" y="0"/>
                </a:lnTo>
                <a:close/>
              </a:path>
              <a:path w="1127125" h="190500">
                <a:moveTo>
                  <a:pt x="84073" y="45446"/>
                </a:moveTo>
                <a:lnTo>
                  <a:pt x="62623" y="76940"/>
                </a:lnTo>
                <a:lnTo>
                  <a:pt x="76956" y="86698"/>
                </a:lnTo>
                <a:lnTo>
                  <a:pt x="101372" y="57225"/>
                </a:lnTo>
                <a:lnTo>
                  <a:pt x="84073" y="45446"/>
                </a:lnTo>
                <a:close/>
              </a:path>
              <a:path w="1127125" h="190500">
                <a:moveTo>
                  <a:pt x="113284" y="65669"/>
                </a:moveTo>
                <a:lnTo>
                  <a:pt x="116116" y="67264"/>
                </a:lnTo>
                <a:lnTo>
                  <a:pt x="114757" y="66339"/>
                </a:lnTo>
                <a:lnTo>
                  <a:pt x="113284" y="65669"/>
                </a:lnTo>
                <a:close/>
              </a:path>
              <a:path w="1127125" h="190500">
                <a:moveTo>
                  <a:pt x="114757" y="66339"/>
                </a:moveTo>
                <a:lnTo>
                  <a:pt x="116116" y="67264"/>
                </a:lnTo>
                <a:lnTo>
                  <a:pt x="116791" y="67264"/>
                </a:lnTo>
                <a:lnTo>
                  <a:pt x="114757" y="66339"/>
                </a:lnTo>
                <a:close/>
              </a:path>
              <a:path w="1127125" h="190500">
                <a:moveTo>
                  <a:pt x="113773" y="65669"/>
                </a:moveTo>
                <a:lnTo>
                  <a:pt x="113284" y="65669"/>
                </a:lnTo>
                <a:lnTo>
                  <a:pt x="114757" y="66339"/>
                </a:lnTo>
                <a:lnTo>
                  <a:pt x="113773" y="65669"/>
                </a:lnTo>
                <a:close/>
              </a:path>
              <a:path w="1127125" h="190500">
                <a:moveTo>
                  <a:pt x="111130" y="45446"/>
                </a:moveTo>
                <a:lnTo>
                  <a:pt x="84073" y="45446"/>
                </a:lnTo>
                <a:lnTo>
                  <a:pt x="101372" y="57225"/>
                </a:lnTo>
                <a:lnTo>
                  <a:pt x="111130" y="45446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509391" y="8168727"/>
            <a:ext cx="1127125" cy="190500"/>
          </a:xfrm>
          <a:custGeom>
            <a:avLst/>
            <a:gdLst/>
            <a:ahLst/>
            <a:cxnLst/>
            <a:rect l="l" t="t" r="r" b="b"/>
            <a:pathLst>
              <a:path w="1127125" h="190500">
                <a:moveTo>
                  <a:pt x="101372" y="57227"/>
                </a:moveTo>
                <a:lnTo>
                  <a:pt x="76956" y="86697"/>
                </a:lnTo>
                <a:lnTo>
                  <a:pt x="95570" y="99369"/>
                </a:lnTo>
                <a:lnTo>
                  <a:pt x="96520" y="99903"/>
                </a:lnTo>
                <a:lnTo>
                  <a:pt x="134904" y="117355"/>
                </a:lnTo>
                <a:lnTo>
                  <a:pt x="177203" y="133238"/>
                </a:lnTo>
                <a:lnTo>
                  <a:pt x="222703" y="147284"/>
                </a:lnTo>
                <a:lnTo>
                  <a:pt x="271073" y="159453"/>
                </a:lnTo>
                <a:lnTo>
                  <a:pt x="321979" y="169689"/>
                </a:lnTo>
                <a:lnTo>
                  <a:pt x="375079" y="177926"/>
                </a:lnTo>
                <a:lnTo>
                  <a:pt x="430030" y="184095"/>
                </a:lnTo>
                <a:lnTo>
                  <a:pt x="486487" y="188120"/>
                </a:lnTo>
                <a:lnTo>
                  <a:pt x="544099" y="189923"/>
                </a:lnTo>
                <a:lnTo>
                  <a:pt x="602519" y="189425"/>
                </a:lnTo>
                <a:lnTo>
                  <a:pt x="661394" y="186546"/>
                </a:lnTo>
                <a:lnTo>
                  <a:pt x="720374" y="181199"/>
                </a:lnTo>
                <a:lnTo>
                  <a:pt x="788667" y="171702"/>
                </a:lnTo>
                <a:lnTo>
                  <a:pt x="853323" y="159002"/>
                </a:lnTo>
                <a:lnTo>
                  <a:pt x="882679" y="151841"/>
                </a:lnTo>
                <a:lnTo>
                  <a:pt x="545282" y="151841"/>
                </a:lnTo>
                <a:lnTo>
                  <a:pt x="489186" y="150115"/>
                </a:lnTo>
                <a:lnTo>
                  <a:pt x="434268" y="146231"/>
                </a:lnTo>
                <a:lnTo>
                  <a:pt x="380907" y="140275"/>
                </a:lnTo>
                <a:lnTo>
                  <a:pt x="329473" y="132333"/>
                </a:lnTo>
                <a:lnTo>
                  <a:pt x="280349" y="122500"/>
                </a:lnTo>
                <a:lnTo>
                  <a:pt x="233916" y="110872"/>
                </a:lnTo>
                <a:lnTo>
                  <a:pt x="190559" y="97556"/>
                </a:lnTo>
                <a:lnTo>
                  <a:pt x="150674" y="82671"/>
                </a:lnTo>
                <a:lnTo>
                  <a:pt x="116786" y="67264"/>
                </a:lnTo>
                <a:lnTo>
                  <a:pt x="116113" y="67264"/>
                </a:lnTo>
                <a:lnTo>
                  <a:pt x="113277" y="65669"/>
                </a:lnTo>
                <a:lnTo>
                  <a:pt x="113770" y="65669"/>
                </a:lnTo>
                <a:lnTo>
                  <a:pt x="101372" y="57227"/>
                </a:lnTo>
                <a:close/>
              </a:path>
              <a:path w="1127125" h="190500">
                <a:moveTo>
                  <a:pt x="1098896" y="0"/>
                </a:moveTo>
                <a:lnTo>
                  <a:pt x="1098678" y="0"/>
                </a:lnTo>
                <a:lnTo>
                  <a:pt x="1087338" y="12165"/>
                </a:lnTo>
                <a:lnTo>
                  <a:pt x="1073903" y="24248"/>
                </a:lnTo>
                <a:lnTo>
                  <a:pt x="1041293" y="47551"/>
                </a:lnTo>
                <a:lnTo>
                  <a:pt x="1001522" y="69303"/>
                </a:lnTo>
                <a:lnTo>
                  <a:pt x="955205" y="89120"/>
                </a:lnTo>
                <a:lnTo>
                  <a:pt x="902966" y="106688"/>
                </a:lnTo>
                <a:lnTo>
                  <a:pt x="845413" y="121732"/>
                </a:lnTo>
                <a:lnTo>
                  <a:pt x="783408" y="133967"/>
                </a:lnTo>
                <a:lnTo>
                  <a:pt x="716925" y="143255"/>
                </a:lnTo>
                <a:lnTo>
                  <a:pt x="659523" y="148492"/>
                </a:lnTo>
                <a:lnTo>
                  <a:pt x="602185" y="151326"/>
                </a:lnTo>
                <a:lnTo>
                  <a:pt x="545282" y="151841"/>
                </a:lnTo>
                <a:lnTo>
                  <a:pt x="882679" y="151841"/>
                </a:lnTo>
                <a:lnTo>
                  <a:pt x="941264" y="134534"/>
                </a:lnTo>
                <a:lnTo>
                  <a:pt x="993362" y="114821"/>
                </a:lnTo>
                <a:lnTo>
                  <a:pt x="1039643" y="92552"/>
                </a:lnTo>
                <a:lnTo>
                  <a:pt x="1079606" y="67806"/>
                </a:lnTo>
                <a:lnTo>
                  <a:pt x="1112728" y="40572"/>
                </a:lnTo>
                <a:lnTo>
                  <a:pt x="1126539" y="25986"/>
                </a:lnTo>
                <a:lnTo>
                  <a:pt x="1098896" y="0"/>
                </a:lnTo>
                <a:close/>
              </a:path>
              <a:path w="1127125" h="190500">
                <a:moveTo>
                  <a:pt x="148785" y="0"/>
                </a:moveTo>
                <a:lnTo>
                  <a:pt x="0" y="425"/>
                </a:lnTo>
                <a:lnTo>
                  <a:pt x="27162" y="146231"/>
                </a:lnTo>
                <a:lnTo>
                  <a:pt x="27249" y="146693"/>
                </a:lnTo>
                <a:lnTo>
                  <a:pt x="76956" y="86697"/>
                </a:lnTo>
                <a:lnTo>
                  <a:pt x="62626" y="76940"/>
                </a:lnTo>
                <a:lnTo>
                  <a:pt x="84068" y="45446"/>
                </a:lnTo>
                <a:lnTo>
                  <a:pt x="111132" y="45446"/>
                </a:lnTo>
                <a:lnTo>
                  <a:pt x="148785" y="0"/>
                </a:lnTo>
                <a:close/>
              </a:path>
              <a:path w="1127125" h="190500">
                <a:moveTo>
                  <a:pt x="84068" y="45446"/>
                </a:moveTo>
                <a:lnTo>
                  <a:pt x="62626" y="76940"/>
                </a:lnTo>
                <a:lnTo>
                  <a:pt x="76956" y="86697"/>
                </a:lnTo>
                <a:lnTo>
                  <a:pt x="101372" y="57227"/>
                </a:lnTo>
                <a:lnTo>
                  <a:pt x="84068" y="45446"/>
                </a:lnTo>
                <a:close/>
              </a:path>
              <a:path w="1127125" h="190500">
                <a:moveTo>
                  <a:pt x="113277" y="65669"/>
                </a:moveTo>
                <a:lnTo>
                  <a:pt x="116113" y="67264"/>
                </a:lnTo>
                <a:lnTo>
                  <a:pt x="114761" y="66343"/>
                </a:lnTo>
                <a:lnTo>
                  <a:pt x="113277" y="65669"/>
                </a:lnTo>
                <a:close/>
              </a:path>
              <a:path w="1127125" h="190500">
                <a:moveTo>
                  <a:pt x="114761" y="66343"/>
                </a:moveTo>
                <a:lnTo>
                  <a:pt x="116113" y="67264"/>
                </a:lnTo>
                <a:lnTo>
                  <a:pt x="116786" y="67264"/>
                </a:lnTo>
                <a:lnTo>
                  <a:pt x="114761" y="66343"/>
                </a:lnTo>
                <a:close/>
              </a:path>
              <a:path w="1127125" h="190500">
                <a:moveTo>
                  <a:pt x="113770" y="65669"/>
                </a:moveTo>
                <a:lnTo>
                  <a:pt x="113277" y="65669"/>
                </a:lnTo>
                <a:lnTo>
                  <a:pt x="114761" y="66343"/>
                </a:lnTo>
                <a:lnTo>
                  <a:pt x="113770" y="65669"/>
                </a:lnTo>
                <a:close/>
              </a:path>
              <a:path w="1127125" h="190500">
                <a:moveTo>
                  <a:pt x="111132" y="45446"/>
                </a:moveTo>
                <a:lnTo>
                  <a:pt x="84068" y="45446"/>
                </a:lnTo>
                <a:lnTo>
                  <a:pt x="101372" y="57227"/>
                </a:lnTo>
                <a:lnTo>
                  <a:pt x="111132" y="45446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043662" y="8168727"/>
            <a:ext cx="1127125" cy="190500"/>
          </a:xfrm>
          <a:custGeom>
            <a:avLst/>
            <a:gdLst/>
            <a:ahLst/>
            <a:cxnLst/>
            <a:rect l="l" t="t" r="r" b="b"/>
            <a:pathLst>
              <a:path w="1127125" h="190500">
                <a:moveTo>
                  <a:pt x="101371" y="57227"/>
                </a:moveTo>
                <a:lnTo>
                  <a:pt x="76955" y="86696"/>
                </a:lnTo>
                <a:lnTo>
                  <a:pt x="95568" y="99369"/>
                </a:lnTo>
                <a:lnTo>
                  <a:pt x="96518" y="99903"/>
                </a:lnTo>
                <a:lnTo>
                  <a:pt x="134903" y="117355"/>
                </a:lnTo>
                <a:lnTo>
                  <a:pt x="177201" y="133238"/>
                </a:lnTo>
                <a:lnTo>
                  <a:pt x="222702" y="147284"/>
                </a:lnTo>
                <a:lnTo>
                  <a:pt x="271072" y="159453"/>
                </a:lnTo>
                <a:lnTo>
                  <a:pt x="321978" y="169689"/>
                </a:lnTo>
                <a:lnTo>
                  <a:pt x="375079" y="177926"/>
                </a:lnTo>
                <a:lnTo>
                  <a:pt x="430030" y="184095"/>
                </a:lnTo>
                <a:lnTo>
                  <a:pt x="486486" y="188120"/>
                </a:lnTo>
                <a:lnTo>
                  <a:pt x="544099" y="189923"/>
                </a:lnTo>
                <a:lnTo>
                  <a:pt x="602518" y="189425"/>
                </a:lnTo>
                <a:lnTo>
                  <a:pt x="661394" y="186546"/>
                </a:lnTo>
                <a:lnTo>
                  <a:pt x="720374" y="181199"/>
                </a:lnTo>
                <a:lnTo>
                  <a:pt x="788667" y="171702"/>
                </a:lnTo>
                <a:lnTo>
                  <a:pt x="853321" y="159002"/>
                </a:lnTo>
                <a:lnTo>
                  <a:pt x="882678" y="151841"/>
                </a:lnTo>
                <a:lnTo>
                  <a:pt x="545280" y="151841"/>
                </a:lnTo>
                <a:lnTo>
                  <a:pt x="489184" y="150115"/>
                </a:lnTo>
                <a:lnTo>
                  <a:pt x="434268" y="146231"/>
                </a:lnTo>
                <a:lnTo>
                  <a:pt x="380906" y="140275"/>
                </a:lnTo>
                <a:lnTo>
                  <a:pt x="329473" y="132333"/>
                </a:lnTo>
                <a:lnTo>
                  <a:pt x="280348" y="122500"/>
                </a:lnTo>
                <a:lnTo>
                  <a:pt x="233914" y="110872"/>
                </a:lnTo>
                <a:lnTo>
                  <a:pt x="190559" y="97556"/>
                </a:lnTo>
                <a:lnTo>
                  <a:pt x="150672" y="82671"/>
                </a:lnTo>
                <a:lnTo>
                  <a:pt x="116785" y="67264"/>
                </a:lnTo>
                <a:lnTo>
                  <a:pt x="116113" y="67264"/>
                </a:lnTo>
                <a:lnTo>
                  <a:pt x="113277" y="65669"/>
                </a:lnTo>
                <a:lnTo>
                  <a:pt x="113770" y="65669"/>
                </a:lnTo>
                <a:lnTo>
                  <a:pt x="101371" y="57227"/>
                </a:lnTo>
                <a:close/>
              </a:path>
              <a:path w="1127125" h="190500">
                <a:moveTo>
                  <a:pt x="1098894" y="0"/>
                </a:moveTo>
                <a:lnTo>
                  <a:pt x="1098676" y="0"/>
                </a:lnTo>
                <a:lnTo>
                  <a:pt x="1087338" y="12165"/>
                </a:lnTo>
                <a:lnTo>
                  <a:pt x="1073901" y="24248"/>
                </a:lnTo>
                <a:lnTo>
                  <a:pt x="1041293" y="47551"/>
                </a:lnTo>
                <a:lnTo>
                  <a:pt x="1001520" y="69303"/>
                </a:lnTo>
                <a:lnTo>
                  <a:pt x="955205" y="89120"/>
                </a:lnTo>
                <a:lnTo>
                  <a:pt x="902964" y="106688"/>
                </a:lnTo>
                <a:lnTo>
                  <a:pt x="845412" y="121732"/>
                </a:lnTo>
                <a:lnTo>
                  <a:pt x="783407" y="133967"/>
                </a:lnTo>
                <a:lnTo>
                  <a:pt x="716923" y="143255"/>
                </a:lnTo>
                <a:lnTo>
                  <a:pt x="659522" y="148492"/>
                </a:lnTo>
                <a:lnTo>
                  <a:pt x="602184" y="151326"/>
                </a:lnTo>
                <a:lnTo>
                  <a:pt x="545280" y="151841"/>
                </a:lnTo>
                <a:lnTo>
                  <a:pt x="882678" y="151841"/>
                </a:lnTo>
                <a:lnTo>
                  <a:pt x="941263" y="134534"/>
                </a:lnTo>
                <a:lnTo>
                  <a:pt x="993362" y="114821"/>
                </a:lnTo>
                <a:lnTo>
                  <a:pt x="1039643" y="92552"/>
                </a:lnTo>
                <a:lnTo>
                  <a:pt x="1079605" y="67806"/>
                </a:lnTo>
                <a:lnTo>
                  <a:pt x="1112728" y="40572"/>
                </a:lnTo>
                <a:lnTo>
                  <a:pt x="1126538" y="25986"/>
                </a:lnTo>
                <a:lnTo>
                  <a:pt x="1098894" y="0"/>
                </a:lnTo>
                <a:close/>
              </a:path>
              <a:path w="1127125" h="190500">
                <a:moveTo>
                  <a:pt x="148784" y="0"/>
                </a:moveTo>
                <a:lnTo>
                  <a:pt x="0" y="425"/>
                </a:lnTo>
                <a:lnTo>
                  <a:pt x="27161" y="146231"/>
                </a:lnTo>
                <a:lnTo>
                  <a:pt x="27247" y="146693"/>
                </a:lnTo>
                <a:lnTo>
                  <a:pt x="76955" y="86696"/>
                </a:lnTo>
                <a:lnTo>
                  <a:pt x="62626" y="76940"/>
                </a:lnTo>
                <a:lnTo>
                  <a:pt x="84067" y="45446"/>
                </a:lnTo>
                <a:lnTo>
                  <a:pt x="111131" y="45446"/>
                </a:lnTo>
                <a:lnTo>
                  <a:pt x="148784" y="0"/>
                </a:lnTo>
                <a:close/>
              </a:path>
              <a:path w="1127125" h="190500">
                <a:moveTo>
                  <a:pt x="84067" y="45446"/>
                </a:moveTo>
                <a:lnTo>
                  <a:pt x="62626" y="76940"/>
                </a:lnTo>
                <a:lnTo>
                  <a:pt x="76955" y="86696"/>
                </a:lnTo>
                <a:lnTo>
                  <a:pt x="101371" y="57227"/>
                </a:lnTo>
                <a:lnTo>
                  <a:pt x="84067" y="45446"/>
                </a:lnTo>
                <a:close/>
              </a:path>
              <a:path w="1127125" h="190500">
                <a:moveTo>
                  <a:pt x="113277" y="65669"/>
                </a:moveTo>
                <a:lnTo>
                  <a:pt x="116113" y="67264"/>
                </a:lnTo>
                <a:lnTo>
                  <a:pt x="114761" y="66343"/>
                </a:lnTo>
                <a:lnTo>
                  <a:pt x="113277" y="65669"/>
                </a:lnTo>
                <a:close/>
              </a:path>
              <a:path w="1127125" h="190500">
                <a:moveTo>
                  <a:pt x="114761" y="66343"/>
                </a:moveTo>
                <a:lnTo>
                  <a:pt x="116113" y="67264"/>
                </a:lnTo>
                <a:lnTo>
                  <a:pt x="116785" y="67264"/>
                </a:lnTo>
                <a:lnTo>
                  <a:pt x="114761" y="66343"/>
                </a:lnTo>
                <a:close/>
              </a:path>
              <a:path w="1127125" h="190500">
                <a:moveTo>
                  <a:pt x="113770" y="65669"/>
                </a:moveTo>
                <a:lnTo>
                  <a:pt x="113277" y="65669"/>
                </a:lnTo>
                <a:lnTo>
                  <a:pt x="114761" y="66343"/>
                </a:lnTo>
                <a:lnTo>
                  <a:pt x="113770" y="65669"/>
                </a:lnTo>
                <a:close/>
              </a:path>
              <a:path w="1127125" h="190500">
                <a:moveTo>
                  <a:pt x="111131" y="45446"/>
                </a:moveTo>
                <a:lnTo>
                  <a:pt x="84067" y="45446"/>
                </a:lnTo>
                <a:lnTo>
                  <a:pt x="101371" y="57227"/>
                </a:lnTo>
                <a:lnTo>
                  <a:pt x="111131" y="45446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0164102" y="8423147"/>
            <a:ext cx="872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q(x</a:t>
            </a:r>
            <a:r>
              <a:rPr sz="1950" spc="-15" baseline="-17094" dirty="0">
                <a:latin typeface="Calibri"/>
                <a:cs typeface="Calibri"/>
              </a:rPr>
              <a:t>0</a:t>
            </a:r>
            <a:r>
              <a:rPr sz="2000" spc="-10" dirty="0">
                <a:latin typeface="Calibri"/>
                <a:cs typeface="Calibri"/>
              </a:rPr>
              <a:t>|x</a:t>
            </a:r>
            <a:r>
              <a:rPr sz="1950" spc="-15" baseline="-17094" dirty="0">
                <a:latin typeface="Calibri"/>
                <a:cs typeface="Calibri"/>
              </a:rPr>
              <a:t>1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627090" y="8423147"/>
            <a:ext cx="872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q(x</a:t>
            </a:r>
            <a:r>
              <a:rPr sz="1950" spc="-15" baseline="-17094" dirty="0">
                <a:latin typeface="Calibri"/>
                <a:cs typeface="Calibri"/>
              </a:rPr>
              <a:t>1</a:t>
            </a:r>
            <a:r>
              <a:rPr sz="2000" spc="-10" dirty="0">
                <a:latin typeface="Calibri"/>
                <a:cs typeface="Calibri"/>
              </a:rPr>
              <a:t>|x</a:t>
            </a:r>
            <a:r>
              <a:rPr sz="1950" spc="-15" baseline="-17094" dirty="0">
                <a:latin typeface="Calibri"/>
                <a:cs typeface="Calibri"/>
              </a:rPr>
              <a:t>2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090080" y="8423147"/>
            <a:ext cx="872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q(x</a:t>
            </a:r>
            <a:r>
              <a:rPr sz="1950" spc="-15" baseline="-17094" dirty="0">
                <a:latin typeface="Calibri"/>
                <a:cs typeface="Calibri"/>
              </a:rPr>
              <a:t>2</a:t>
            </a:r>
            <a:r>
              <a:rPr sz="2000" spc="-10" dirty="0">
                <a:latin typeface="Calibri"/>
                <a:cs typeface="Calibri"/>
              </a:rPr>
              <a:t>|x</a:t>
            </a:r>
            <a:r>
              <a:rPr sz="1950" spc="-15" baseline="-17094" dirty="0">
                <a:latin typeface="Calibri"/>
                <a:cs typeface="Calibri"/>
              </a:rPr>
              <a:t>3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553069" y="8423147"/>
            <a:ext cx="8724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q(x</a:t>
            </a:r>
            <a:r>
              <a:rPr sz="1950" spc="-15" baseline="-17094" dirty="0">
                <a:latin typeface="Calibri"/>
                <a:cs typeface="Calibri"/>
              </a:rPr>
              <a:t>3</a:t>
            </a:r>
            <a:r>
              <a:rPr sz="2000" spc="-10" dirty="0">
                <a:latin typeface="Calibri"/>
                <a:cs typeface="Calibri"/>
              </a:rPr>
              <a:t>|x</a:t>
            </a:r>
            <a:r>
              <a:rPr sz="1950" spc="-15" baseline="-17094" dirty="0">
                <a:latin typeface="Calibri"/>
                <a:cs typeface="Calibri"/>
              </a:rPr>
              <a:t>4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956774" y="8423147"/>
            <a:ext cx="99123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000" spc="-30" dirty="0">
                <a:latin typeface="Calibri"/>
                <a:cs typeface="Calibri"/>
              </a:rPr>
              <a:t>q(x</a:t>
            </a:r>
            <a:r>
              <a:rPr sz="1950" spc="-44" baseline="-17094" dirty="0">
                <a:latin typeface="Calibri"/>
                <a:cs typeface="Calibri"/>
              </a:rPr>
              <a:t>T-</a:t>
            </a:r>
            <a:r>
              <a:rPr sz="1950" spc="-15" baseline="-17094" dirty="0">
                <a:latin typeface="Calibri"/>
                <a:cs typeface="Calibri"/>
              </a:rPr>
              <a:t>1</a:t>
            </a:r>
            <a:r>
              <a:rPr sz="2000" spc="-10" dirty="0">
                <a:latin typeface="Calibri"/>
                <a:cs typeface="Calibri"/>
              </a:rPr>
              <a:t>|x</a:t>
            </a:r>
            <a:r>
              <a:rPr sz="1950" spc="-15" baseline="-17094" dirty="0">
                <a:latin typeface="Calibri"/>
                <a:cs typeface="Calibri"/>
              </a:rPr>
              <a:t>T</a:t>
            </a:r>
            <a:r>
              <a:rPr sz="2000" spc="-10" dirty="0">
                <a:latin typeface="Calibri"/>
                <a:cs typeface="Calibri"/>
              </a:rPr>
              <a:t>)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724655" y="9439655"/>
            <a:ext cx="1530096" cy="36271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820400" y="9473183"/>
            <a:ext cx="295655" cy="32004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6615320" y="9798970"/>
            <a:ext cx="180975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18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19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653915">
              <a:lnSpc>
                <a:spcPct val="100000"/>
              </a:lnSpc>
              <a:spcBef>
                <a:spcPts val="100"/>
              </a:spcBef>
            </a:pPr>
            <a:r>
              <a:rPr dirty="0"/>
              <a:t>Reverse</a:t>
            </a:r>
            <a:r>
              <a:rPr spc="-229" dirty="0"/>
              <a:t> </a:t>
            </a:r>
            <a:r>
              <a:rPr dirty="0"/>
              <a:t>Denoising</a:t>
            </a:r>
            <a:r>
              <a:rPr spc="-229" dirty="0"/>
              <a:t> </a:t>
            </a:r>
            <a:r>
              <a:rPr spc="-10" dirty="0"/>
              <a:t>Process</a:t>
            </a:r>
          </a:p>
        </p:txBody>
      </p:sp>
      <p:sp>
        <p:nvSpPr>
          <p:cNvPr id="4" name="object 4"/>
          <p:cNvSpPr/>
          <p:nvPr/>
        </p:nvSpPr>
        <p:spPr>
          <a:xfrm>
            <a:off x="5987204" y="4488064"/>
            <a:ext cx="6214745" cy="142875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124723" y="0"/>
                </a:moveTo>
                <a:lnTo>
                  <a:pt x="118757" y="2036"/>
                </a:lnTo>
                <a:lnTo>
                  <a:pt x="0" y="71311"/>
                </a:lnTo>
                <a:lnTo>
                  <a:pt x="118757" y="140585"/>
                </a:lnTo>
                <a:lnTo>
                  <a:pt x="124723" y="142621"/>
                </a:lnTo>
                <a:lnTo>
                  <a:pt x="130796" y="142225"/>
                </a:lnTo>
                <a:lnTo>
                  <a:pt x="136277" y="139580"/>
                </a:lnTo>
                <a:lnTo>
                  <a:pt x="140468" y="134871"/>
                </a:lnTo>
                <a:lnTo>
                  <a:pt x="142504" y="128905"/>
                </a:lnTo>
                <a:lnTo>
                  <a:pt x="142108" y="122833"/>
                </a:lnTo>
                <a:lnTo>
                  <a:pt x="139464" y="117352"/>
                </a:lnTo>
                <a:lnTo>
                  <a:pt x="134754" y="113161"/>
                </a:lnTo>
                <a:lnTo>
                  <a:pt x="90227" y="87187"/>
                </a:lnTo>
                <a:lnTo>
                  <a:pt x="31565" y="87187"/>
                </a:lnTo>
                <a:lnTo>
                  <a:pt x="31565" y="55437"/>
                </a:lnTo>
                <a:lnTo>
                  <a:pt x="90223" y="55437"/>
                </a:lnTo>
                <a:lnTo>
                  <a:pt x="134754" y="29460"/>
                </a:lnTo>
                <a:lnTo>
                  <a:pt x="139464" y="25269"/>
                </a:lnTo>
                <a:lnTo>
                  <a:pt x="142108" y="19788"/>
                </a:lnTo>
                <a:lnTo>
                  <a:pt x="142504" y="13716"/>
                </a:lnTo>
                <a:lnTo>
                  <a:pt x="140468" y="7750"/>
                </a:lnTo>
                <a:lnTo>
                  <a:pt x="136277" y="3040"/>
                </a:lnTo>
                <a:lnTo>
                  <a:pt x="130796" y="395"/>
                </a:lnTo>
                <a:lnTo>
                  <a:pt x="124723" y="0"/>
                </a:lnTo>
                <a:close/>
              </a:path>
              <a:path w="6214745" h="142875">
                <a:moveTo>
                  <a:pt x="90223" y="55437"/>
                </a:moveTo>
                <a:lnTo>
                  <a:pt x="31565" y="55437"/>
                </a:lnTo>
                <a:lnTo>
                  <a:pt x="31565" y="87187"/>
                </a:lnTo>
                <a:lnTo>
                  <a:pt x="90227" y="87187"/>
                </a:lnTo>
                <a:lnTo>
                  <a:pt x="86517" y="85023"/>
                </a:lnTo>
                <a:lnTo>
                  <a:pt x="39504" y="85023"/>
                </a:lnTo>
                <a:lnTo>
                  <a:pt x="39504" y="57598"/>
                </a:lnTo>
                <a:lnTo>
                  <a:pt x="86517" y="57598"/>
                </a:lnTo>
                <a:lnTo>
                  <a:pt x="90223" y="55437"/>
                </a:lnTo>
                <a:close/>
              </a:path>
              <a:path w="6214745" h="142875">
                <a:moveTo>
                  <a:pt x="6214261" y="55437"/>
                </a:moveTo>
                <a:lnTo>
                  <a:pt x="90223" y="55437"/>
                </a:lnTo>
                <a:lnTo>
                  <a:pt x="63011" y="71311"/>
                </a:lnTo>
                <a:lnTo>
                  <a:pt x="90227" y="87187"/>
                </a:lnTo>
                <a:lnTo>
                  <a:pt x="6214261" y="87187"/>
                </a:lnTo>
                <a:lnTo>
                  <a:pt x="6214261" y="55437"/>
                </a:lnTo>
                <a:close/>
              </a:path>
              <a:path w="6214745" h="142875">
                <a:moveTo>
                  <a:pt x="39504" y="57598"/>
                </a:moveTo>
                <a:lnTo>
                  <a:pt x="39504" y="85023"/>
                </a:lnTo>
                <a:lnTo>
                  <a:pt x="63011" y="71311"/>
                </a:lnTo>
                <a:lnTo>
                  <a:pt x="39504" y="57598"/>
                </a:lnTo>
                <a:close/>
              </a:path>
              <a:path w="6214745" h="142875">
                <a:moveTo>
                  <a:pt x="63011" y="71311"/>
                </a:moveTo>
                <a:lnTo>
                  <a:pt x="39504" y="85023"/>
                </a:lnTo>
                <a:lnTo>
                  <a:pt x="86517" y="85023"/>
                </a:lnTo>
                <a:lnTo>
                  <a:pt x="63011" y="71311"/>
                </a:lnTo>
                <a:close/>
              </a:path>
              <a:path w="6214745" h="142875">
                <a:moveTo>
                  <a:pt x="86517" y="57598"/>
                </a:moveTo>
                <a:lnTo>
                  <a:pt x="39504" y="57598"/>
                </a:lnTo>
                <a:lnTo>
                  <a:pt x="63011" y="71311"/>
                </a:lnTo>
                <a:lnTo>
                  <a:pt x="86517" y="57598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9990" y="3230880"/>
            <a:ext cx="10784205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Formal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definition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forward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reverse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processes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steps: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25"/>
              </a:spcBef>
            </a:pPr>
            <a:endParaRPr sz="2300">
              <a:latin typeface="Trebuchet MS"/>
              <a:cs typeface="Trebuchet MS"/>
            </a:endParaRPr>
          </a:p>
          <a:p>
            <a:pPr marL="5376545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Reverse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denoising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(generative)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37555" y="5391403"/>
            <a:ext cx="654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957029" y="5391403"/>
            <a:ext cx="762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Noise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71041" y="4750633"/>
            <a:ext cx="1672064" cy="167206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79166" y="4750633"/>
            <a:ext cx="1672064" cy="167206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1148" y="4750633"/>
            <a:ext cx="1672064" cy="167206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3128" y="4750633"/>
            <a:ext cx="1672064" cy="167206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575108" y="4750633"/>
            <a:ext cx="1672064" cy="167206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07088" y="4750633"/>
            <a:ext cx="1672064" cy="167206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039070" y="4750633"/>
            <a:ext cx="1672064" cy="1672062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7549967" y="9107335"/>
            <a:ext cx="1178560" cy="236854"/>
          </a:xfrm>
          <a:custGeom>
            <a:avLst/>
            <a:gdLst/>
            <a:ahLst/>
            <a:cxnLst/>
            <a:rect l="l" t="t" r="r" b="b"/>
            <a:pathLst>
              <a:path w="1178559" h="236854">
                <a:moveTo>
                  <a:pt x="1178560" y="0"/>
                </a:moveTo>
                <a:lnTo>
                  <a:pt x="1168309" y="46069"/>
                </a:lnTo>
                <a:lnTo>
                  <a:pt x="1140356" y="83690"/>
                </a:lnTo>
                <a:lnTo>
                  <a:pt x="1098895" y="109055"/>
                </a:lnTo>
                <a:lnTo>
                  <a:pt x="1048124" y="118356"/>
                </a:lnTo>
                <a:lnTo>
                  <a:pt x="719715" y="118356"/>
                </a:lnTo>
                <a:lnTo>
                  <a:pt x="668944" y="127657"/>
                </a:lnTo>
                <a:lnTo>
                  <a:pt x="627483" y="153022"/>
                </a:lnTo>
                <a:lnTo>
                  <a:pt x="599530" y="190643"/>
                </a:lnTo>
                <a:lnTo>
                  <a:pt x="589280" y="236713"/>
                </a:lnTo>
                <a:lnTo>
                  <a:pt x="579029" y="190643"/>
                </a:lnTo>
                <a:lnTo>
                  <a:pt x="551076" y="153022"/>
                </a:lnTo>
                <a:lnTo>
                  <a:pt x="509615" y="127657"/>
                </a:lnTo>
                <a:lnTo>
                  <a:pt x="458844" y="118356"/>
                </a:lnTo>
                <a:lnTo>
                  <a:pt x="130435" y="118356"/>
                </a:lnTo>
                <a:lnTo>
                  <a:pt x="79664" y="109055"/>
                </a:lnTo>
                <a:lnTo>
                  <a:pt x="38203" y="83690"/>
                </a:lnTo>
                <a:lnTo>
                  <a:pt x="10250" y="46069"/>
                </a:lnTo>
                <a:lnTo>
                  <a:pt x="0" y="0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809667" y="9384283"/>
            <a:ext cx="4331970" cy="720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35"/>
              </a:lnSpc>
              <a:spcBef>
                <a:spcPts val="100"/>
              </a:spcBef>
            </a:pPr>
            <a:r>
              <a:rPr sz="2400" spc="-25" dirty="0">
                <a:latin typeface="Trebuchet MS"/>
                <a:cs typeface="Trebuchet MS"/>
              </a:rPr>
              <a:t>Trainable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network</a:t>
            </a:r>
            <a:endParaRPr sz="2400">
              <a:latin typeface="Trebuchet MS"/>
              <a:cs typeface="Trebuchet MS"/>
            </a:endParaRPr>
          </a:p>
          <a:p>
            <a:pPr algn="ctr">
              <a:lnSpc>
                <a:spcPts val="2735"/>
              </a:lnSpc>
            </a:pPr>
            <a:r>
              <a:rPr sz="2400" spc="-10" dirty="0">
                <a:latin typeface="Trebuchet MS"/>
                <a:cs typeface="Trebuchet MS"/>
              </a:rPr>
              <a:t>(U-</a:t>
            </a:r>
            <a:r>
              <a:rPr sz="2400" dirty="0">
                <a:latin typeface="Trebuchet MS"/>
                <a:cs typeface="Trebuchet MS"/>
              </a:rPr>
              <a:t>net,</a:t>
            </a:r>
            <a:r>
              <a:rPr sz="2400" spc="-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Denoising</a:t>
            </a:r>
            <a:r>
              <a:rPr sz="2400" spc="-1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Autoencoder)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66032" y="8570976"/>
            <a:ext cx="5425440" cy="435864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10014491" y="8424767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2"/>
                </a:lnTo>
                <a:lnTo>
                  <a:pt x="0" y="58882"/>
                </a:lnTo>
                <a:lnTo>
                  <a:pt x="0" y="176645"/>
                </a:lnTo>
                <a:lnTo>
                  <a:pt x="200889" y="176645"/>
                </a:lnTo>
                <a:lnTo>
                  <a:pt x="200889" y="235527"/>
                </a:lnTo>
                <a:lnTo>
                  <a:pt x="318654" y="117763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309983" y="6939649"/>
            <a:ext cx="1551305" cy="191770"/>
          </a:xfrm>
          <a:custGeom>
            <a:avLst/>
            <a:gdLst/>
            <a:ahLst/>
            <a:cxnLst/>
            <a:rect l="l" t="t" r="r" b="b"/>
            <a:pathLst>
              <a:path w="1551304" h="191770">
                <a:moveTo>
                  <a:pt x="113015" y="69194"/>
                </a:moveTo>
                <a:lnTo>
                  <a:pt x="98083" y="104264"/>
                </a:lnTo>
                <a:lnTo>
                  <a:pt x="149853" y="121258"/>
                </a:lnTo>
                <a:lnTo>
                  <a:pt x="206358" y="135741"/>
                </a:lnTo>
                <a:lnTo>
                  <a:pt x="299410" y="154696"/>
                </a:lnTo>
                <a:lnTo>
                  <a:pt x="366287" y="165336"/>
                </a:lnTo>
                <a:lnTo>
                  <a:pt x="436774" y="174306"/>
                </a:lnTo>
                <a:lnTo>
                  <a:pt x="519075" y="182241"/>
                </a:lnTo>
                <a:lnTo>
                  <a:pt x="602221" y="187736"/>
                </a:lnTo>
                <a:lnTo>
                  <a:pt x="685666" y="190859"/>
                </a:lnTo>
                <a:lnTo>
                  <a:pt x="768866" y="191673"/>
                </a:lnTo>
                <a:lnTo>
                  <a:pt x="851277" y="190247"/>
                </a:lnTo>
                <a:lnTo>
                  <a:pt x="932353" y="186641"/>
                </a:lnTo>
                <a:lnTo>
                  <a:pt x="1011553" y="180919"/>
                </a:lnTo>
                <a:lnTo>
                  <a:pt x="1088335" y="173142"/>
                </a:lnTo>
                <a:lnTo>
                  <a:pt x="1162160" y="163368"/>
                </a:lnTo>
                <a:lnTo>
                  <a:pt x="1220967" y="153579"/>
                </a:lnTo>
                <a:lnTo>
                  <a:pt x="768210" y="153579"/>
                </a:lnTo>
                <a:lnTo>
                  <a:pt x="686042" y="152760"/>
                </a:lnTo>
                <a:lnTo>
                  <a:pt x="603648" y="149663"/>
                </a:lnTo>
                <a:lnTo>
                  <a:pt x="521591" y="144225"/>
                </a:lnTo>
                <a:lnTo>
                  <a:pt x="440434" y="136382"/>
                </a:lnTo>
                <a:lnTo>
                  <a:pt x="371101" y="127541"/>
                </a:lnTo>
                <a:lnTo>
                  <a:pt x="305401" y="117069"/>
                </a:lnTo>
                <a:lnTo>
                  <a:pt x="243719" y="105067"/>
                </a:lnTo>
                <a:lnTo>
                  <a:pt x="186607" y="91676"/>
                </a:lnTo>
                <a:lnTo>
                  <a:pt x="134080" y="76925"/>
                </a:lnTo>
                <a:lnTo>
                  <a:pt x="113015" y="69194"/>
                </a:lnTo>
                <a:close/>
              </a:path>
              <a:path w="1551304" h="191770">
                <a:moveTo>
                  <a:pt x="142478" y="0"/>
                </a:moveTo>
                <a:lnTo>
                  <a:pt x="0" y="42857"/>
                </a:lnTo>
                <a:lnTo>
                  <a:pt x="67848" y="175272"/>
                </a:lnTo>
                <a:lnTo>
                  <a:pt x="98083" y="104264"/>
                </a:lnTo>
                <a:lnTo>
                  <a:pt x="81089" y="98063"/>
                </a:lnTo>
                <a:lnTo>
                  <a:pt x="94181" y="62283"/>
                </a:lnTo>
                <a:lnTo>
                  <a:pt x="115958" y="62283"/>
                </a:lnTo>
                <a:lnTo>
                  <a:pt x="142478" y="0"/>
                </a:lnTo>
                <a:close/>
              </a:path>
              <a:path w="1551304" h="191770">
                <a:moveTo>
                  <a:pt x="1530536" y="10967"/>
                </a:moveTo>
                <a:lnTo>
                  <a:pt x="1494839" y="32071"/>
                </a:lnTo>
                <a:lnTo>
                  <a:pt x="1452909" y="51428"/>
                </a:lnTo>
                <a:lnTo>
                  <a:pt x="1404334" y="69485"/>
                </a:lnTo>
                <a:lnTo>
                  <a:pt x="1349754" y="86062"/>
                </a:lnTo>
                <a:lnTo>
                  <a:pt x="1289786" y="101032"/>
                </a:lnTo>
                <a:lnTo>
                  <a:pt x="1225029" y="114293"/>
                </a:lnTo>
                <a:lnTo>
                  <a:pt x="1155908" y="125785"/>
                </a:lnTo>
                <a:lnTo>
                  <a:pt x="1083340" y="135371"/>
                </a:lnTo>
                <a:lnTo>
                  <a:pt x="1007719" y="143013"/>
                </a:lnTo>
                <a:lnTo>
                  <a:pt x="929613" y="148639"/>
                </a:lnTo>
                <a:lnTo>
                  <a:pt x="849588" y="152184"/>
                </a:lnTo>
                <a:lnTo>
                  <a:pt x="768210" y="153579"/>
                </a:lnTo>
                <a:lnTo>
                  <a:pt x="1220967" y="153579"/>
                </a:lnTo>
                <a:lnTo>
                  <a:pt x="1265993" y="145127"/>
                </a:lnTo>
                <a:lnTo>
                  <a:pt x="1330073" y="130608"/>
                </a:lnTo>
                <a:lnTo>
                  <a:pt x="1389238" y="114293"/>
                </a:lnTo>
                <a:lnTo>
                  <a:pt x="1443327" y="96099"/>
                </a:lnTo>
                <a:lnTo>
                  <a:pt x="1491519" y="76107"/>
                </a:lnTo>
                <a:lnTo>
                  <a:pt x="1533470" y="54189"/>
                </a:lnTo>
                <a:lnTo>
                  <a:pt x="1550897" y="43169"/>
                </a:lnTo>
                <a:lnTo>
                  <a:pt x="1530536" y="10967"/>
                </a:lnTo>
                <a:close/>
              </a:path>
              <a:path w="1551304" h="191770">
                <a:moveTo>
                  <a:pt x="94181" y="62283"/>
                </a:moveTo>
                <a:lnTo>
                  <a:pt x="81089" y="98063"/>
                </a:lnTo>
                <a:lnTo>
                  <a:pt x="98083" y="104264"/>
                </a:lnTo>
                <a:lnTo>
                  <a:pt x="112892" y="69485"/>
                </a:lnTo>
                <a:lnTo>
                  <a:pt x="113015" y="69194"/>
                </a:lnTo>
                <a:lnTo>
                  <a:pt x="94181" y="62283"/>
                </a:lnTo>
                <a:close/>
              </a:path>
              <a:path w="1551304" h="191770">
                <a:moveTo>
                  <a:pt x="115958" y="62283"/>
                </a:moveTo>
                <a:lnTo>
                  <a:pt x="94181" y="62283"/>
                </a:lnTo>
                <a:lnTo>
                  <a:pt x="113015" y="69194"/>
                </a:lnTo>
                <a:lnTo>
                  <a:pt x="115958" y="62283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0" name="object 20"/>
          <p:cNvGrpSpPr/>
          <p:nvPr/>
        </p:nvGrpSpPr>
        <p:grpSpPr>
          <a:xfrm>
            <a:off x="4680184" y="7272528"/>
            <a:ext cx="779145" cy="384810"/>
            <a:chOff x="4680184" y="7272528"/>
            <a:chExt cx="779145" cy="384810"/>
          </a:xfrm>
        </p:grpSpPr>
        <p:sp>
          <p:nvSpPr>
            <p:cNvPr id="21" name="object 21"/>
            <p:cNvSpPr/>
            <p:nvPr/>
          </p:nvSpPr>
          <p:spPr>
            <a:xfrm>
              <a:off x="4680184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5359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6086967" y="6939649"/>
            <a:ext cx="1551305" cy="191770"/>
          </a:xfrm>
          <a:custGeom>
            <a:avLst/>
            <a:gdLst/>
            <a:ahLst/>
            <a:cxnLst/>
            <a:rect l="l" t="t" r="r" b="b"/>
            <a:pathLst>
              <a:path w="1551304" h="191770">
                <a:moveTo>
                  <a:pt x="113015" y="69194"/>
                </a:moveTo>
                <a:lnTo>
                  <a:pt x="98083" y="104264"/>
                </a:lnTo>
                <a:lnTo>
                  <a:pt x="149853" y="121258"/>
                </a:lnTo>
                <a:lnTo>
                  <a:pt x="206357" y="135741"/>
                </a:lnTo>
                <a:lnTo>
                  <a:pt x="299410" y="154696"/>
                </a:lnTo>
                <a:lnTo>
                  <a:pt x="366287" y="165336"/>
                </a:lnTo>
                <a:lnTo>
                  <a:pt x="436774" y="174306"/>
                </a:lnTo>
                <a:lnTo>
                  <a:pt x="519075" y="182241"/>
                </a:lnTo>
                <a:lnTo>
                  <a:pt x="602221" y="187736"/>
                </a:lnTo>
                <a:lnTo>
                  <a:pt x="685666" y="190859"/>
                </a:lnTo>
                <a:lnTo>
                  <a:pt x="768866" y="191673"/>
                </a:lnTo>
                <a:lnTo>
                  <a:pt x="851277" y="190247"/>
                </a:lnTo>
                <a:lnTo>
                  <a:pt x="932353" y="186641"/>
                </a:lnTo>
                <a:lnTo>
                  <a:pt x="1011553" y="180919"/>
                </a:lnTo>
                <a:lnTo>
                  <a:pt x="1088335" y="173142"/>
                </a:lnTo>
                <a:lnTo>
                  <a:pt x="1162160" y="163368"/>
                </a:lnTo>
                <a:lnTo>
                  <a:pt x="1220967" y="153579"/>
                </a:lnTo>
                <a:lnTo>
                  <a:pt x="768210" y="153579"/>
                </a:lnTo>
                <a:lnTo>
                  <a:pt x="686042" y="152760"/>
                </a:lnTo>
                <a:lnTo>
                  <a:pt x="603648" y="149663"/>
                </a:lnTo>
                <a:lnTo>
                  <a:pt x="521591" y="144225"/>
                </a:lnTo>
                <a:lnTo>
                  <a:pt x="440434" y="136382"/>
                </a:lnTo>
                <a:lnTo>
                  <a:pt x="371101" y="127541"/>
                </a:lnTo>
                <a:lnTo>
                  <a:pt x="305401" y="117069"/>
                </a:lnTo>
                <a:lnTo>
                  <a:pt x="243719" y="105067"/>
                </a:lnTo>
                <a:lnTo>
                  <a:pt x="186607" y="91676"/>
                </a:lnTo>
                <a:lnTo>
                  <a:pt x="134080" y="76925"/>
                </a:lnTo>
                <a:lnTo>
                  <a:pt x="113015" y="69194"/>
                </a:lnTo>
                <a:close/>
              </a:path>
              <a:path w="1551304" h="191770">
                <a:moveTo>
                  <a:pt x="142478" y="0"/>
                </a:moveTo>
                <a:lnTo>
                  <a:pt x="0" y="42857"/>
                </a:lnTo>
                <a:lnTo>
                  <a:pt x="67848" y="175272"/>
                </a:lnTo>
                <a:lnTo>
                  <a:pt x="98083" y="104264"/>
                </a:lnTo>
                <a:lnTo>
                  <a:pt x="81089" y="98063"/>
                </a:lnTo>
                <a:lnTo>
                  <a:pt x="94181" y="62283"/>
                </a:lnTo>
                <a:lnTo>
                  <a:pt x="115958" y="62283"/>
                </a:lnTo>
                <a:lnTo>
                  <a:pt x="142478" y="0"/>
                </a:lnTo>
                <a:close/>
              </a:path>
              <a:path w="1551304" h="191770">
                <a:moveTo>
                  <a:pt x="1530536" y="10967"/>
                </a:moveTo>
                <a:lnTo>
                  <a:pt x="1494839" y="32071"/>
                </a:lnTo>
                <a:lnTo>
                  <a:pt x="1452909" y="51428"/>
                </a:lnTo>
                <a:lnTo>
                  <a:pt x="1404334" y="69485"/>
                </a:lnTo>
                <a:lnTo>
                  <a:pt x="1349754" y="86062"/>
                </a:lnTo>
                <a:lnTo>
                  <a:pt x="1289786" y="101032"/>
                </a:lnTo>
                <a:lnTo>
                  <a:pt x="1225029" y="114293"/>
                </a:lnTo>
                <a:lnTo>
                  <a:pt x="1155908" y="125785"/>
                </a:lnTo>
                <a:lnTo>
                  <a:pt x="1083340" y="135371"/>
                </a:lnTo>
                <a:lnTo>
                  <a:pt x="1007719" y="143013"/>
                </a:lnTo>
                <a:lnTo>
                  <a:pt x="929613" y="148639"/>
                </a:lnTo>
                <a:lnTo>
                  <a:pt x="849588" y="152184"/>
                </a:lnTo>
                <a:lnTo>
                  <a:pt x="768210" y="153579"/>
                </a:lnTo>
                <a:lnTo>
                  <a:pt x="1220967" y="153579"/>
                </a:lnTo>
                <a:lnTo>
                  <a:pt x="1265993" y="145127"/>
                </a:lnTo>
                <a:lnTo>
                  <a:pt x="1330073" y="130608"/>
                </a:lnTo>
                <a:lnTo>
                  <a:pt x="1389238" y="114293"/>
                </a:lnTo>
                <a:lnTo>
                  <a:pt x="1443327" y="96099"/>
                </a:lnTo>
                <a:lnTo>
                  <a:pt x="1491519" y="76107"/>
                </a:lnTo>
                <a:lnTo>
                  <a:pt x="1533470" y="54189"/>
                </a:lnTo>
                <a:lnTo>
                  <a:pt x="1550897" y="43169"/>
                </a:lnTo>
                <a:lnTo>
                  <a:pt x="1530536" y="10967"/>
                </a:lnTo>
                <a:close/>
              </a:path>
              <a:path w="1551304" h="191770">
                <a:moveTo>
                  <a:pt x="94181" y="62283"/>
                </a:moveTo>
                <a:lnTo>
                  <a:pt x="81089" y="98063"/>
                </a:lnTo>
                <a:lnTo>
                  <a:pt x="98083" y="104264"/>
                </a:lnTo>
                <a:lnTo>
                  <a:pt x="112892" y="69485"/>
                </a:lnTo>
                <a:lnTo>
                  <a:pt x="113015" y="69194"/>
                </a:lnTo>
                <a:lnTo>
                  <a:pt x="94181" y="62283"/>
                </a:lnTo>
                <a:close/>
              </a:path>
              <a:path w="1551304" h="191770">
                <a:moveTo>
                  <a:pt x="115958" y="62283"/>
                </a:moveTo>
                <a:lnTo>
                  <a:pt x="94181" y="62283"/>
                </a:lnTo>
                <a:lnTo>
                  <a:pt x="113015" y="69194"/>
                </a:lnTo>
                <a:lnTo>
                  <a:pt x="115958" y="62283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6457169" y="7272528"/>
            <a:ext cx="779145" cy="384810"/>
            <a:chOff x="6457169" y="7272528"/>
            <a:chExt cx="779145" cy="384810"/>
          </a:xfrm>
        </p:grpSpPr>
        <p:sp>
          <p:nvSpPr>
            <p:cNvPr id="25" name="object 25"/>
            <p:cNvSpPr/>
            <p:nvPr/>
          </p:nvSpPr>
          <p:spPr>
            <a:xfrm>
              <a:off x="6457169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62344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7863951" y="6939649"/>
            <a:ext cx="1551305" cy="191770"/>
          </a:xfrm>
          <a:custGeom>
            <a:avLst/>
            <a:gdLst/>
            <a:ahLst/>
            <a:cxnLst/>
            <a:rect l="l" t="t" r="r" b="b"/>
            <a:pathLst>
              <a:path w="1551304" h="191770">
                <a:moveTo>
                  <a:pt x="113015" y="69194"/>
                </a:moveTo>
                <a:lnTo>
                  <a:pt x="98083" y="104264"/>
                </a:lnTo>
                <a:lnTo>
                  <a:pt x="149853" y="121258"/>
                </a:lnTo>
                <a:lnTo>
                  <a:pt x="206357" y="135741"/>
                </a:lnTo>
                <a:lnTo>
                  <a:pt x="299410" y="154696"/>
                </a:lnTo>
                <a:lnTo>
                  <a:pt x="366287" y="165336"/>
                </a:lnTo>
                <a:lnTo>
                  <a:pt x="436774" y="174306"/>
                </a:lnTo>
                <a:lnTo>
                  <a:pt x="519075" y="182241"/>
                </a:lnTo>
                <a:lnTo>
                  <a:pt x="602221" y="187736"/>
                </a:lnTo>
                <a:lnTo>
                  <a:pt x="685666" y="190859"/>
                </a:lnTo>
                <a:lnTo>
                  <a:pt x="768866" y="191673"/>
                </a:lnTo>
                <a:lnTo>
                  <a:pt x="851277" y="190247"/>
                </a:lnTo>
                <a:lnTo>
                  <a:pt x="932353" y="186641"/>
                </a:lnTo>
                <a:lnTo>
                  <a:pt x="1011553" y="180919"/>
                </a:lnTo>
                <a:lnTo>
                  <a:pt x="1088335" y="173142"/>
                </a:lnTo>
                <a:lnTo>
                  <a:pt x="1162160" y="163368"/>
                </a:lnTo>
                <a:lnTo>
                  <a:pt x="1220967" y="153579"/>
                </a:lnTo>
                <a:lnTo>
                  <a:pt x="768210" y="153579"/>
                </a:lnTo>
                <a:lnTo>
                  <a:pt x="686042" y="152760"/>
                </a:lnTo>
                <a:lnTo>
                  <a:pt x="603648" y="149663"/>
                </a:lnTo>
                <a:lnTo>
                  <a:pt x="521591" y="144225"/>
                </a:lnTo>
                <a:lnTo>
                  <a:pt x="440434" y="136382"/>
                </a:lnTo>
                <a:lnTo>
                  <a:pt x="371101" y="127541"/>
                </a:lnTo>
                <a:lnTo>
                  <a:pt x="305400" y="117069"/>
                </a:lnTo>
                <a:lnTo>
                  <a:pt x="243719" y="105067"/>
                </a:lnTo>
                <a:lnTo>
                  <a:pt x="186607" y="91676"/>
                </a:lnTo>
                <a:lnTo>
                  <a:pt x="134080" y="76925"/>
                </a:lnTo>
                <a:lnTo>
                  <a:pt x="113015" y="69194"/>
                </a:lnTo>
                <a:close/>
              </a:path>
              <a:path w="1551304" h="191770">
                <a:moveTo>
                  <a:pt x="142478" y="0"/>
                </a:moveTo>
                <a:lnTo>
                  <a:pt x="0" y="42857"/>
                </a:lnTo>
                <a:lnTo>
                  <a:pt x="67848" y="175272"/>
                </a:lnTo>
                <a:lnTo>
                  <a:pt x="98083" y="104264"/>
                </a:lnTo>
                <a:lnTo>
                  <a:pt x="81089" y="98063"/>
                </a:lnTo>
                <a:lnTo>
                  <a:pt x="94181" y="62283"/>
                </a:lnTo>
                <a:lnTo>
                  <a:pt x="115958" y="62283"/>
                </a:lnTo>
                <a:lnTo>
                  <a:pt x="142478" y="0"/>
                </a:lnTo>
                <a:close/>
              </a:path>
              <a:path w="1551304" h="191770">
                <a:moveTo>
                  <a:pt x="1530536" y="10967"/>
                </a:moveTo>
                <a:lnTo>
                  <a:pt x="1494839" y="32071"/>
                </a:lnTo>
                <a:lnTo>
                  <a:pt x="1452909" y="51428"/>
                </a:lnTo>
                <a:lnTo>
                  <a:pt x="1404334" y="69485"/>
                </a:lnTo>
                <a:lnTo>
                  <a:pt x="1349754" y="86062"/>
                </a:lnTo>
                <a:lnTo>
                  <a:pt x="1289786" y="101032"/>
                </a:lnTo>
                <a:lnTo>
                  <a:pt x="1225029" y="114293"/>
                </a:lnTo>
                <a:lnTo>
                  <a:pt x="1155908" y="125785"/>
                </a:lnTo>
                <a:lnTo>
                  <a:pt x="1083340" y="135371"/>
                </a:lnTo>
                <a:lnTo>
                  <a:pt x="1007719" y="143013"/>
                </a:lnTo>
                <a:lnTo>
                  <a:pt x="929613" y="148639"/>
                </a:lnTo>
                <a:lnTo>
                  <a:pt x="849588" y="152184"/>
                </a:lnTo>
                <a:lnTo>
                  <a:pt x="768210" y="153579"/>
                </a:lnTo>
                <a:lnTo>
                  <a:pt x="1220967" y="153579"/>
                </a:lnTo>
                <a:lnTo>
                  <a:pt x="1265993" y="145127"/>
                </a:lnTo>
                <a:lnTo>
                  <a:pt x="1330073" y="130608"/>
                </a:lnTo>
                <a:lnTo>
                  <a:pt x="1389238" y="114293"/>
                </a:lnTo>
                <a:lnTo>
                  <a:pt x="1443327" y="96099"/>
                </a:lnTo>
                <a:lnTo>
                  <a:pt x="1491519" y="76107"/>
                </a:lnTo>
                <a:lnTo>
                  <a:pt x="1533470" y="54189"/>
                </a:lnTo>
                <a:lnTo>
                  <a:pt x="1550897" y="43169"/>
                </a:lnTo>
                <a:lnTo>
                  <a:pt x="1530536" y="10967"/>
                </a:lnTo>
                <a:close/>
              </a:path>
              <a:path w="1551304" h="191770">
                <a:moveTo>
                  <a:pt x="94181" y="62283"/>
                </a:moveTo>
                <a:lnTo>
                  <a:pt x="81089" y="98063"/>
                </a:lnTo>
                <a:lnTo>
                  <a:pt x="98083" y="104264"/>
                </a:lnTo>
                <a:lnTo>
                  <a:pt x="112892" y="69485"/>
                </a:lnTo>
                <a:lnTo>
                  <a:pt x="113015" y="69194"/>
                </a:lnTo>
                <a:lnTo>
                  <a:pt x="94181" y="62283"/>
                </a:lnTo>
                <a:close/>
              </a:path>
              <a:path w="1551304" h="191770">
                <a:moveTo>
                  <a:pt x="115958" y="62283"/>
                </a:moveTo>
                <a:lnTo>
                  <a:pt x="94181" y="62283"/>
                </a:lnTo>
                <a:lnTo>
                  <a:pt x="113015" y="69194"/>
                </a:lnTo>
                <a:lnTo>
                  <a:pt x="115958" y="62283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8234153" y="7272528"/>
            <a:ext cx="779145" cy="384810"/>
            <a:chOff x="8234153" y="7272528"/>
            <a:chExt cx="779145" cy="384810"/>
          </a:xfrm>
        </p:grpSpPr>
        <p:sp>
          <p:nvSpPr>
            <p:cNvPr id="29" name="object 29"/>
            <p:cNvSpPr/>
            <p:nvPr/>
          </p:nvSpPr>
          <p:spPr>
            <a:xfrm>
              <a:off x="8234153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39328" y="7272528"/>
              <a:ext cx="551687" cy="350519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9640935" y="6939649"/>
            <a:ext cx="1551305" cy="191770"/>
          </a:xfrm>
          <a:custGeom>
            <a:avLst/>
            <a:gdLst/>
            <a:ahLst/>
            <a:cxnLst/>
            <a:rect l="l" t="t" r="r" b="b"/>
            <a:pathLst>
              <a:path w="1551304" h="191770">
                <a:moveTo>
                  <a:pt x="113015" y="69194"/>
                </a:moveTo>
                <a:lnTo>
                  <a:pt x="98083" y="104264"/>
                </a:lnTo>
                <a:lnTo>
                  <a:pt x="149853" y="121258"/>
                </a:lnTo>
                <a:lnTo>
                  <a:pt x="206357" y="135741"/>
                </a:lnTo>
                <a:lnTo>
                  <a:pt x="299410" y="154696"/>
                </a:lnTo>
                <a:lnTo>
                  <a:pt x="366285" y="165336"/>
                </a:lnTo>
                <a:lnTo>
                  <a:pt x="436774" y="174306"/>
                </a:lnTo>
                <a:lnTo>
                  <a:pt x="519075" y="182241"/>
                </a:lnTo>
                <a:lnTo>
                  <a:pt x="602221" y="187736"/>
                </a:lnTo>
                <a:lnTo>
                  <a:pt x="685666" y="190859"/>
                </a:lnTo>
                <a:lnTo>
                  <a:pt x="768866" y="191673"/>
                </a:lnTo>
                <a:lnTo>
                  <a:pt x="851277" y="190247"/>
                </a:lnTo>
                <a:lnTo>
                  <a:pt x="932353" y="186641"/>
                </a:lnTo>
                <a:lnTo>
                  <a:pt x="1011553" y="180919"/>
                </a:lnTo>
                <a:lnTo>
                  <a:pt x="1088335" y="173142"/>
                </a:lnTo>
                <a:lnTo>
                  <a:pt x="1162160" y="163368"/>
                </a:lnTo>
                <a:lnTo>
                  <a:pt x="1220967" y="153579"/>
                </a:lnTo>
                <a:lnTo>
                  <a:pt x="768210" y="153579"/>
                </a:lnTo>
                <a:lnTo>
                  <a:pt x="686042" y="152760"/>
                </a:lnTo>
                <a:lnTo>
                  <a:pt x="603648" y="149663"/>
                </a:lnTo>
                <a:lnTo>
                  <a:pt x="521591" y="144225"/>
                </a:lnTo>
                <a:lnTo>
                  <a:pt x="440434" y="136382"/>
                </a:lnTo>
                <a:lnTo>
                  <a:pt x="371101" y="127541"/>
                </a:lnTo>
                <a:lnTo>
                  <a:pt x="305400" y="117069"/>
                </a:lnTo>
                <a:lnTo>
                  <a:pt x="243719" y="105067"/>
                </a:lnTo>
                <a:lnTo>
                  <a:pt x="186607" y="91676"/>
                </a:lnTo>
                <a:lnTo>
                  <a:pt x="134080" y="76925"/>
                </a:lnTo>
                <a:lnTo>
                  <a:pt x="113015" y="69194"/>
                </a:lnTo>
                <a:close/>
              </a:path>
              <a:path w="1551304" h="191770">
                <a:moveTo>
                  <a:pt x="142478" y="0"/>
                </a:moveTo>
                <a:lnTo>
                  <a:pt x="0" y="42857"/>
                </a:lnTo>
                <a:lnTo>
                  <a:pt x="67848" y="175272"/>
                </a:lnTo>
                <a:lnTo>
                  <a:pt x="98083" y="104264"/>
                </a:lnTo>
                <a:lnTo>
                  <a:pt x="81089" y="98063"/>
                </a:lnTo>
                <a:lnTo>
                  <a:pt x="94181" y="62283"/>
                </a:lnTo>
                <a:lnTo>
                  <a:pt x="115958" y="62283"/>
                </a:lnTo>
                <a:lnTo>
                  <a:pt x="142478" y="0"/>
                </a:lnTo>
                <a:close/>
              </a:path>
              <a:path w="1551304" h="191770">
                <a:moveTo>
                  <a:pt x="1530536" y="10967"/>
                </a:moveTo>
                <a:lnTo>
                  <a:pt x="1494839" y="32071"/>
                </a:lnTo>
                <a:lnTo>
                  <a:pt x="1452909" y="51428"/>
                </a:lnTo>
                <a:lnTo>
                  <a:pt x="1404334" y="69485"/>
                </a:lnTo>
                <a:lnTo>
                  <a:pt x="1349754" y="86062"/>
                </a:lnTo>
                <a:lnTo>
                  <a:pt x="1289786" y="101032"/>
                </a:lnTo>
                <a:lnTo>
                  <a:pt x="1225029" y="114293"/>
                </a:lnTo>
                <a:lnTo>
                  <a:pt x="1155908" y="125785"/>
                </a:lnTo>
                <a:lnTo>
                  <a:pt x="1083340" y="135371"/>
                </a:lnTo>
                <a:lnTo>
                  <a:pt x="1007719" y="143013"/>
                </a:lnTo>
                <a:lnTo>
                  <a:pt x="929613" y="148639"/>
                </a:lnTo>
                <a:lnTo>
                  <a:pt x="849588" y="152184"/>
                </a:lnTo>
                <a:lnTo>
                  <a:pt x="768210" y="153579"/>
                </a:lnTo>
                <a:lnTo>
                  <a:pt x="1220967" y="153579"/>
                </a:lnTo>
                <a:lnTo>
                  <a:pt x="1265993" y="145127"/>
                </a:lnTo>
                <a:lnTo>
                  <a:pt x="1330073" y="130608"/>
                </a:lnTo>
                <a:lnTo>
                  <a:pt x="1389238" y="114293"/>
                </a:lnTo>
                <a:lnTo>
                  <a:pt x="1443327" y="96099"/>
                </a:lnTo>
                <a:lnTo>
                  <a:pt x="1491519" y="76107"/>
                </a:lnTo>
                <a:lnTo>
                  <a:pt x="1533470" y="54189"/>
                </a:lnTo>
                <a:lnTo>
                  <a:pt x="1550897" y="43169"/>
                </a:lnTo>
                <a:lnTo>
                  <a:pt x="1530536" y="10967"/>
                </a:lnTo>
                <a:close/>
              </a:path>
              <a:path w="1551304" h="191770">
                <a:moveTo>
                  <a:pt x="94181" y="62283"/>
                </a:moveTo>
                <a:lnTo>
                  <a:pt x="81089" y="98063"/>
                </a:lnTo>
                <a:lnTo>
                  <a:pt x="98083" y="104264"/>
                </a:lnTo>
                <a:lnTo>
                  <a:pt x="112892" y="69485"/>
                </a:lnTo>
                <a:lnTo>
                  <a:pt x="113015" y="69194"/>
                </a:lnTo>
                <a:lnTo>
                  <a:pt x="94181" y="62283"/>
                </a:lnTo>
                <a:close/>
              </a:path>
              <a:path w="1551304" h="191770">
                <a:moveTo>
                  <a:pt x="115958" y="62283"/>
                </a:moveTo>
                <a:lnTo>
                  <a:pt x="94181" y="62283"/>
                </a:lnTo>
                <a:lnTo>
                  <a:pt x="113015" y="69194"/>
                </a:lnTo>
                <a:lnTo>
                  <a:pt x="115958" y="62283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10011136" y="7272528"/>
            <a:ext cx="779145" cy="384810"/>
            <a:chOff x="10011136" y="7272528"/>
            <a:chExt cx="779145" cy="384810"/>
          </a:xfrm>
        </p:grpSpPr>
        <p:sp>
          <p:nvSpPr>
            <p:cNvPr id="33" name="object 33"/>
            <p:cNvSpPr/>
            <p:nvPr/>
          </p:nvSpPr>
          <p:spPr>
            <a:xfrm>
              <a:off x="10011136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16312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11417920" y="6939649"/>
            <a:ext cx="1551305" cy="191770"/>
          </a:xfrm>
          <a:custGeom>
            <a:avLst/>
            <a:gdLst/>
            <a:ahLst/>
            <a:cxnLst/>
            <a:rect l="l" t="t" r="r" b="b"/>
            <a:pathLst>
              <a:path w="1551304" h="191770">
                <a:moveTo>
                  <a:pt x="113015" y="69195"/>
                </a:moveTo>
                <a:lnTo>
                  <a:pt x="98083" y="104264"/>
                </a:lnTo>
                <a:lnTo>
                  <a:pt x="149853" y="121258"/>
                </a:lnTo>
                <a:lnTo>
                  <a:pt x="206357" y="135741"/>
                </a:lnTo>
                <a:lnTo>
                  <a:pt x="299410" y="154696"/>
                </a:lnTo>
                <a:lnTo>
                  <a:pt x="366285" y="165336"/>
                </a:lnTo>
                <a:lnTo>
                  <a:pt x="436774" y="174306"/>
                </a:lnTo>
                <a:lnTo>
                  <a:pt x="519075" y="182241"/>
                </a:lnTo>
                <a:lnTo>
                  <a:pt x="602221" y="187736"/>
                </a:lnTo>
                <a:lnTo>
                  <a:pt x="685666" y="190859"/>
                </a:lnTo>
                <a:lnTo>
                  <a:pt x="768866" y="191673"/>
                </a:lnTo>
                <a:lnTo>
                  <a:pt x="851277" y="190247"/>
                </a:lnTo>
                <a:lnTo>
                  <a:pt x="932353" y="186641"/>
                </a:lnTo>
                <a:lnTo>
                  <a:pt x="1011553" y="180919"/>
                </a:lnTo>
                <a:lnTo>
                  <a:pt x="1088335" y="173142"/>
                </a:lnTo>
                <a:lnTo>
                  <a:pt x="1162160" y="163368"/>
                </a:lnTo>
                <a:lnTo>
                  <a:pt x="1220967" y="153579"/>
                </a:lnTo>
                <a:lnTo>
                  <a:pt x="768210" y="153579"/>
                </a:lnTo>
                <a:lnTo>
                  <a:pt x="686042" y="152760"/>
                </a:lnTo>
                <a:lnTo>
                  <a:pt x="603648" y="149663"/>
                </a:lnTo>
                <a:lnTo>
                  <a:pt x="521591" y="144225"/>
                </a:lnTo>
                <a:lnTo>
                  <a:pt x="440434" y="136382"/>
                </a:lnTo>
                <a:lnTo>
                  <a:pt x="371101" y="127541"/>
                </a:lnTo>
                <a:lnTo>
                  <a:pt x="305400" y="117069"/>
                </a:lnTo>
                <a:lnTo>
                  <a:pt x="243719" y="105067"/>
                </a:lnTo>
                <a:lnTo>
                  <a:pt x="186607" y="91676"/>
                </a:lnTo>
                <a:lnTo>
                  <a:pt x="134078" y="76925"/>
                </a:lnTo>
                <a:lnTo>
                  <a:pt x="113015" y="69195"/>
                </a:lnTo>
                <a:close/>
              </a:path>
              <a:path w="1551304" h="191770">
                <a:moveTo>
                  <a:pt x="142478" y="0"/>
                </a:moveTo>
                <a:lnTo>
                  <a:pt x="0" y="42857"/>
                </a:lnTo>
                <a:lnTo>
                  <a:pt x="67848" y="175272"/>
                </a:lnTo>
                <a:lnTo>
                  <a:pt x="98083" y="104264"/>
                </a:lnTo>
                <a:lnTo>
                  <a:pt x="81089" y="98063"/>
                </a:lnTo>
                <a:lnTo>
                  <a:pt x="94181" y="62283"/>
                </a:lnTo>
                <a:lnTo>
                  <a:pt x="115958" y="62283"/>
                </a:lnTo>
                <a:lnTo>
                  <a:pt x="142478" y="0"/>
                </a:lnTo>
                <a:close/>
              </a:path>
              <a:path w="1551304" h="191770">
                <a:moveTo>
                  <a:pt x="1530543" y="10967"/>
                </a:moveTo>
                <a:lnTo>
                  <a:pt x="1494843" y="32071"/>
                </a:lnTo>
                <a:lnTo>
                  <a:pt x="1452907" y="51428"/>
                </a:lnTo>
                <a:lnTo>
                  <a:pt x="1404330" y="69485"/>
                </a:lnTo>
                <a:lnTo>
                  <a:pt x="1349758" y="86062"/>
                </a:lnTo>
                <a:lnTo>
                  <a:pt x="1289789" y="101032"/>
                </a:lnTo>
                <a:lnTo>
                  <a:pt x="1225029" y="114293"/>
                </a:lnTo>
                <a:lnTo>
                  <a:pt x="1155908" y="125785"/>
                </a:lnTo>
                <a:lnTo>
                  <a:pt x="1083340" y="135371"/>
                </a:lnTo>
                <a:lnTo>
                  <a:pt x="1007719" y="143013"/>
                </a:lnTo>
                <a:lnTo>
                  <a:pt x="929613" y="148639"/>
                </a:lnTo>
                <a:lnTo>
                  <a:pt x="849588" y="152184"/>
                </a:lnTo>
                <a:lnTo>
                  <a:pt x="768210" y="153579"/>
                </a:lnTo>
                <a:lnTo>
                  <a:pt x="1220967" y="153579"/>
                </a:lnTo>
                <a:lnTo>
                  <a:pt x="1265993" y="145127"/>
                </a:lnTo>
                <a:lnTo>
                  <a:pt x="1330073" y="130608"/>
                </a:lnTo>
                <a:lnTo>
                  <a:pt x="1389243" y="114293"/>
                </a:lnTo>
                <a:lnTo>
                  <a:pt x="1443332" y="96099"/>
                </a:lnTo>
                <a:lnTo>
                  <a:pt x="1491515" y="76107"/>
                </a:lnTo>
                <a:lnTo>
                  <a:pt x="1533464" y="54189"/>
                </a:lnTo>
                <a:lnTo>
                  <a:pt x="1550901" y="43169"/>
                </a:lnTo>
                <a:lnTo>
                  <a:pt x="1530543" y="10967"/>
                </a:lnTo>
                <a:close/>
              </a:path>
              <a:path w="1551304" h="191770">
                <a:moveTo>
                  <a:pt x="94181" y="62283"/>
                </a:moveTo>
                <a:lnTo>
                  <a:pt x="81089" y="98063"/>
                </a:lnTo>
                <a:lnTo>
                  <a:pt x="98083" y="104264"/>
                </a:lnTo>
                <a:lnTo>
                  <a:pt x="112892" y="69485"/>
                </a:lnTo>
                <a:lnTo>
                  <a:pt x="113015" y="69195"/>
                </a:lnTo>
                <a:lnTo>
                  <a:pt x="94181" y="62283"/>
                </a:lnTo>
                <a:close/>
              </a:path>
              <a:path w="1551304" h="191770">
                <a:moveTo>
                  <a:pt x="115958" y="62283"/>
                </a:moveTo>
                <a:lnTo>
                  <a:pt x="94181" y="62283"/>
                </a:lnTo>
                <a:lnTo>
                  <a:pt x="113015" y="69195"/>
                </a:lnTo>
                <a:lnTo>
                  <a:pt x="115958" y="62283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11788120" y="7272528"/>
            <a:ext cx="779145" cy="384810"/>
            <a:chOff x="11788120" y="7272528"/>
            <a:chExt cx="779145" cy="384810"/>
          </a:xfrm>
        </p:grpSpPr>
        <p:sp>
          <p:nvSpPr>
            <p:cNvPr id="37" name="object 37"/>
            <p:cNvSpPr/>
            <p:nvPr/>
          </p:nvSpPr>
          <p:spPr>
            <a:xfrm>
              <a:off x="11788120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5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893295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39" name="object 39"/>
          <p:cNvSpPr/>
          <p:nvPr/>
        </p:nvSpPr>
        <p:spPr>
          <a:xfrm>
            <a:off x="13194906" y="6939649"/>
            <a:ext cx="1551305" cy="191770"/>
          </a:xfrm>
          <a:custGeom>
            <a:avLst/>
            <a:gdLst/>
            <a:ahLst/>
            <a:cxnLst/>
            <a:rect l="l" t="t" r="r" b="b"/>
            <a:pathLst>
              <a:path w="1551305" h="191770">
                <a:moveTo>
                  <a:pt x="113015" y="69195"/>
                </a:moveTo>
                <a:lnTo>
                  <a:pt x="98081" y="104264"/>
                </a:lnTo>
                <a:lnTo>
                  <a:pt x="149847" y="121258"/>
                </a:lnTo>
                <a:lnTo>
                  <a:pt x="206349" y="135741"/>
                </a:lnTo>
                <a:lnTo>
                  <a:pt x="299402" y="154696"/>
                </a:lnTo>
                <a:lnTo>
                  <a:pt x="366280" y="165336"/>
                </a:lnTo>
                <a:lnTo>
                  <a:pt x="436765" y="174306"/>
                </a:lnTo>
                <a:lnTo>
                  <a:pt x="519074" y="182241"/>
                </a:lnTo>
                <a:lnTo>
                  <a:pt x="602221" y="187736"/>
                </a:lnTo>
                <a:lnTo>
                  <a:pt x="685660" y="190859"/>
                </a:lnTo>
                <a:lnTo>
                  <a:pt x="768857" y="191673"/>
                </a:lnTo>
                <a:lnTo>
                  <a:pt x="851280" y="190247"/>
                </a:lnTo>
                <a:lnTo>
                  <a:pt x="932357" y="186641"/>
                </a:lnTo>
                <a:lnTo>
                  <a:pt x="1011554" y="180919"/>
                </a:lnTo>
                <a:lnTo>
                  <a:pt x="1088339" y="173142"/>
                </a:lnTo>
                <a:lnTo>
                  <a:pt x="1162164" y="163368"/>
                </a:lnTo>
                <a:lnTo>
                  <a:pt x="1220963" y="153579"/>
                </a:lnTo>
                <a:lnTo>
                  <a:pt x="768210" y="153579"/>
                </a:lnTo>
                <a:lnTo>
                  <a:pt x="686041" y="152760"/>
                </a:lnTo>
                <a:lnTo>
                  <a:pt x="603643" y="149663"/>
                </a:lnTo>
                <a:lnTo>
                  <a:pt x="521588" y="144225"/>
                </a:lnTo>
                <a:lnTo>
                  <a:pt x="440435" y="136382"/>
                </a:lnTo>
                <a:lnTo>
                  <a:pt x="371094" y="127541"/>
                </a:lnTo>
                <a:lnTo>
                  <a:pt x="305396" y="117069"/>
                </a:lnTo>
                <a:lnTo>
                  <a:pt x="243713" y="105067"/>
                </a:lnTo>
                <a:lnTo>
                  <a:pt x="186601" y="91676"/>
                </a:lnTo>
                <a:lnTo>
                  <a:pt x="134073" y="76925"/>
                </a:lnTo>
                <a:lnTo>
                  <a:pt x="113015" y="69195"/>
                </a:lnTo>
                <a:close/>
              </a:path>
              <a:path w="1551305" h="191770">
                <a:moveTo>
                  <a:pt x="142481" y="0"/>
                </a:moveTo>
                <a:lnTo>
                  <a:pt x="0" y="42857"/>
                </a:lnTo>
                <a:lnTo>
                  <a:pt x="67843" y="175272"/>
                </a:lnTo>
                <a:lnTo>
                  <a:pt x="98081" y="104264"/>
                </a:lnTo>
                <a:lnTo>
                  <a:pt x="81089" y="98063"/>
                </a:lnTo>
                <a:lnTo>
                  <a:pt x="94183" y="62283"/>
                </a:lnTo>
                <a:lnTo>
                  <a:pt x="115958" y="62283"/>
                </a:lnTo>
                <a:lnTo>
                  <a:pt x="142481" y="0"/>
                </a:lnTo>
                <a:close/>
              </a:path>
              <a:path w="1551305" h="191770">
                <a:moveTo>
                  <a:pt x="1530527" y="10967"/>
                </a:moveTo>
                <a:lnTo>
                  <a:pt x="1494840" y="32071"/>
                </a:lnTo>
                <a:lnTo>
                  <a:pt x="1452905" y="51428"/>
                </a:lnTo>
                <a:lnTo>
                  <a:pt x="1404327" y="69485"/>
                </a:lnTo>
                <a:lnTo>
                  <a:pt x="1349755" y="86062"/>
                </a:lnTo>
                <a:lnTo>
                  <a:pt x="1289786" y="101032"/>
                </a:lnTo>
                <a:lnTo>
                  <a:pt x="1225029" y="114293"/>
                </a:lnTo>
                <a:lnTo>
                  <a:pt x="1155903" y="125785"/>
                </a:lnTo>
                <a:lnTo>
                  <a:pt x="1083335" y="135371"/>
                </a:lnTo>
                <a:lnTo>
                  <a:pt x="1007719" y="143013"/>
                </a:lnTo>
                <a:lnTo>
                  <a:pt x="929614" y="148639"/>
                </a:lnTo>
                <a:lnTo>
                  <a:pt x="849579" y="152184"/>
                </a:lnTo>
                <a:lnTo>
                  <a:pt x="768210" y="153579"/>
                </a:lnTo>
                <a:lnTo>
                  <a:pt x="1220963" y="153579"/>
                </a:lnTo>
                <a:lnTo>
                  <a:pt x="1265986" y="145127"/>
                </a:lnTo>
                <a:lnTo>
                  <a:pt x="1330071" y="130608"/>
                </a:lnTo>
                <a:lnTo>
                  <a:pt x="1389240" y="114293"/>
                </a:lnTo>
                <a:lnTo>
                  <a:pt x="1443329" y="96099"/>
                </a:lnTo>
                <a:lnTo>
                  <a:pt x="1491513" y="76107"/>
                </a:lnTo>
                <a:lnTo>
                  <a:pt x="1533461" y="54189"/>
                </a:lnTo>
                <a:lnTo>
                  <a:pt x="1550898" y="43169"/>
                </a:lnTo>
                <a:lnTo>
                  <a:pt x="1530527" y="10967"/>
                </a:lnTo>
                <a:close/>
              </a:path>
              <a:path w="1551305" h="191770">
                <a:moveTo>
                  <a:pt x="94183" y="62283"/>
                </a:moveTo>
                <a:lnTo>
                  <a:pt x="81089" y="98063"/>
                </a:lnTo>
                <a:lnTo>
                  <a:pt x="98081" y="104264"/>
                </a:lnTo>
                <a:lnTo>
                  <a:pt x="112891" y="69485"/>
                </a:lnTo>
                <a:lnTo>
                  <a:pt x="113015" y="69195"/>
                </a:lnTo>
                <a:lnTo>
                  <a:pt x="94183" y="62283"/>
                </a:lnTo>
                <a:close/>
              </a:path>
              <a:path w="1551305" h="191770">
                <a:moveTo>
                  <a:pt x="115958" y="62283"/>
                </a:moveTo>
                <a:lnTo>
                  <a:pt x="94183" y="62283"/>
                </a:lnTo>
                <a:lnTo>
                  <a:pt x="113015" y="69195"/>
                </a:lnTo>
                <a:lnTo>
                  <a:pt x="115958" y="62283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40"/>
          <p:cNvGrpSpPr/>
          <p:nvPr/>
        </p:nvGrpSpPr>
        <p:grpSpPr>
          <a:xfrm>
            <a:off x="13565099" y="7272528"/>
            <a:ext cx="779145" cy="384810"/>
            <a:chOff x="13565099" y="7272528"/>
            <a:chExt cx="779145" cy="384810"/>
          </a:xfrm>
        </p:grpSpPr>
        <p:sp>
          <p:nvSpPr>
            <p:cNvPr id="41" name="object 41"/>
            <p:cNvSpPr/>
            <p:nvPr/>
          </p:nvSpPr>
          <p:spPr>
            <a:xfrm>
              <a:off x="13565099" y="7647798"/>
              <a:ext cx="779145" cy="0"/>
            </a:xfrm>
            <a:custGeom>
              <a:avLst/>
              <a:gdLst/>
              <a:ahLst/>
              <a:cxnLst/>
              <a:rect l="l" t="t" r="r" b="b"/>
              <a:pathLst>
                <a:path w="779144">
                  <a:moveTo>
                    <a:pt x="0" y="1"/>
                  </a:moveTo>
                  <a:lnTo>
                    <a:pt x="779009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670280" y="7272528"/>
              <a:ext cx="551688" cy="350519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4142106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0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876352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1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610599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2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344844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3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079090" y="6372859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4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2850647" y="6372859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4549958" y="6372859"/>
            <a:ext cx="307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T</a:t>
            </a:r>
            <a:endParaRPr sz="2400" baseline="-17361">
              <a:latin typeface="Calibri"/>
              <a:cs typeface="Calibri"/>
            </a:endParaRPr>
          </a:p>
        </p:txBody>
      </p:sp>
      <p:pic>
        <p:nvPicPr>
          <p:cNvPr id="50" name="object 5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829543" y="7933943"/>
            <a:ext cx="4767071" cy="109728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67655" y="8116823"/>
            <a:ext cx="2962655" cy="359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9319" y="3011423"/>
            <a:ext cx="1485836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training,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form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variational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upper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bound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commonly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used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training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variational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autoencoders: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9319" y="5105400"/>
            <a:ext cx="147637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Recall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that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40663" y="5105400"/>
            <a:ext cx="976757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.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Ho</a:t>
            </a:r>
            <a:r>
              <a:rPr sz="2300" u="sng" spc="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et</a:t>
            </a:r>
            <a:r>
              <a:rPr sz="2300" u="sng" spc="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al.</a:t>
            </a:r>
            <a:r>
              <a:rPr sz="2300" u="sng" spc="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NeurIPS</a:t>
            </a:r>
            <a:r>
              <a:rPr sz="2300" u="sng" spc="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2020</a:t>
            </a:r>
            <a:r>
              <a:rPr sz="2300" spc="30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parameterized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mean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denoising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via: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9319" y="7214616"/>
            <a:ext cx="1205039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Using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few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simple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arithmetic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operations,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write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down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variational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objective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as: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9319" y="9320783"/>
            <a:ext cx="67043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Ho</a:t>
            </a:r>
            <a:r>
              <a:rPr sz="2300" u="sng" spc="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et</a:t>
            </a:r>
            <a:r>
              <a:rPr sz="2300" u="sng" spc="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al.</a:t>
            </a:r>
            <a:r>
              <a:rPr sz="2300" u="sng" spc="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NeurIPS</a:t>
            </a:r>
            <a:r>
              <a:rPr sz="2300" u="sng" spc="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2020</a:t>
            </a:r>
            <a:r>
              <a:rPr sz="2300" spc="25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observe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simply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setting</a:t>
            </a:r>
            <a:endParaRPr sz="23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4077" y="9320783"/>
            <a:ext cx="478218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1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all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i="1" dirty="0">
                <a:latin typeface="Trebuchet MS"/>
                <a:cs typeface="Trebuchet MS"/>
              </a:rPr>
              <a:t>t</a:t>
            </a:r>
            <a:r>
              <a:rPr sz="2300" i="1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works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best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practice.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7632" y="3733800"/>
            <a:ext cx="7299959" cy="70713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204" dirty="0"/>
              <a:t> </a:t>
            </a:r>
            <a:r>
              <a:rPr dirty="0"/>
              <a:t>Denoising</a:t>
            </a:r>
            <a:r>
              <a:rPr spc="-200" dirty="0"/>
              <a:t> </a:t>
            </a:r>
            <a:r>
              <a:rPr spc="-10" dirty="0"/>
              <a:t>Model</a:t>
            </a:r>
          </a:p>
          <a:p>
            <a:pPr marL="3175"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Variational</a:t>
            </a:r>
            <a:r>
              <a:rPr sz="3000" spc="-8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upper</a:t>
            </a:r>
            <a:r>
              <a:rPr sz="3000" spc="-8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bound</a:t>
            </a:r>
            <a:endParaRPr sz="30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17288" y="8038010"/>
            <a:ext cx="9253423" cy="5699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706178" y="9372414"/>
            <a:ext cx="313502" cy="33372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17335" y="5928359"/>
            <a:ext cx="5489448" cy="71627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56688" y="5102352"/>
            <a:ext cx="4053840" cy="423672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Training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and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Sample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Generation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867619" y="4167651"/>
            <a:ext cx="8124190" cy="3810635"/>
            <a:chOff x="867619" y="4167651"/>
            <a:chExt cx="8124190" cy="38106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7619" y="4167651"/>
              <a:ext cx="8123981" cy="381022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182257" y="6912963"/>
              <a:ext cx="3178175" cy="657225"/>
            </a:xfrm>
            <a:custGeom>
              <a:avLst/>
              <a:gdLst/>
              <a:ahLst/>
              <a:cxnLst/>
              <a:rect l="l" t="t" r="r" b="b"/>
              <a:pathLst>
                <a:path w="3178175" h="657225">
                  <a:moveTo>
                    <a:pt x="0" y="0"/>
                  </a:moveTo>
                  <a:lnTo>
                    <a:pt x="3177914" y="0"/>
                  </a:lnTo>
                  <a:lnTo>
                    <a:pt x="3177914" y="657069"/>
                  </a:lnTo>
                  <a:lnTo>
                    <a:pt x="0" y="657069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9086193" y="4105797"/>
            <a:ext cx="8238490" cy="3959225"/>
            <a:chOff x="9086193" y="4105797"/>
            <a:chExt cx="8238490" cy="39592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86193" y="4105797"/>
              <a:ext cx="8238131" cy="39586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12643" y="6205928"/>
              <a:ext cx="4482465" cy="884555"/>
            </a:xfrm>
            <a:custGeom>
              <a:avLst/>
              <a:gdLst/>
              <a:ahLst/>
              <a:cxnLst/>
              <a:rect l="l" t="t" r="r" b="b"/>
              <a:pathLst>
                <a:path w="4482465" h="884554">
                  <a:moveTo>
                    <a:pt x="0" y="0"/>
                  </a:moveTo>
                  <a:lnTo>
                    <a:pt x="4482059" y="0"/>
                  </a:lnTo>
                  <a:lnTo>
                    <a:pt x="4482059" y="884420"/>
                  </a:lnTo>
                  <a:lnTo>
                    <a:pt x="0" y="884420"/>
                  </a:lnTo>
                  <a:lnTo>
                    <a:pt x="0" y="0"/>
                  </a:lnTo>
                  <a:close/>
                </a:path>
              </a:pathLst>
            </a:custGeom>
            <a:ln w="285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917179" y="5861154"/>
              <a:ext cx="3253104" cy="330200"/>
            </a:xfrm>
            <a:custGeom>
              <a:avLst/>
              <a:gdLst/>
              <a:ahLst/>
              <a:cxnLst/>
              <a:rect l="l" t="t" r="r" b="b"/>
              <a:pathLst>
                <a:path w="3253105" h="330200">
                  <a:moveTo>
                    <a:pt x="3252868" y="0"/>
                  </a:moveTo>
                  <a:lnTo>
                    <a:pt x="0" y="0"/>
                  </a:lnTo>
                  <a:lnTo>
                    <a:pt x="0" y="329783"/>
                  </a:lnTo>
                  <a:lnTo>
                    <a:pt x="3252868" y="329783"/>
                  </a:lnTo>
                  <a:lnTo>
                    <a:pt x="32528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Implementation</a:t>
            </a:r>
            <a:r>
              <a:rPr spc="-265" dirty="0"/>
              <a:t> </a:t>
            </a:r>
            <a:r>
              <a:rPr spc="-10" dirty="0"/>
              <a:t>Considerations</a:t>
            </a:r>
          </a:p>
          <a:p>
            <a:pPr marL="1270"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Network</a:t>
            </a:r>
            <a:r>
              <a:rPr sz="3000" spc="-7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Architectures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39990" y="2828543"/>
            <a:ext cx="1397190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often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U-Net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architectures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with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ResNet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blocks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self-attention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layers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represent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66898" y="2891340"/>
            <a:ext cx="1109446" cy="33792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382936" y="4100046"/>
            <a:ext cx="6717030" cy="3343275"/>
            <a:chOff x="5382936" y="4100046"/>
            <a:chExt cx="6717030" cy="3343275"/>
          </a:xfrm>
        </p:grpSpPr>
        <p:sp>
          <p:nvSpPr>
            <p:cNvPr id="6" name="object 6"/>
            <p:cNvSpPr/>
            <p:nvPr/>
          </p:nvSpPr>
          <p:spPr>
            <a:xfrm>
              <a:off x="6781646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471426" y="0"/>
                  </a:moveTo>
                  <a:lnTo>
                    <a:pt x="0" y="0"/>
                  </a:lnTo>
                  <a:lnTo>
                    <a:pt x="0" y="2228562"/>
                  </a:lnTo>
                  <a:lnTo>
                    <a:pt x="471426" y="2228562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781646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0" y="0"/>
                  </a:moveTo>
                  <a:lnTo>
                    <a:pt x="471427" y="0"/>
                  </a:lnTo>
                  <a:lnTo>
                    <a:pt x="471427" y="2228564"/>
                  </a:lnTo>
                  <a:lnTo>
                    <a:pt x="0" y="222856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379262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471427" y="0"/>
                  </a:moveTo>
                  <a:lnTo>
                    <a:pt x="0" y="0"/>
                  </a:lnTo>
                  <a:lnTo>
                    <a:pt x="0" y="1683180"/>
                  </a:lnTo>
                  <a:lnTo>
                    <a:pt x="471427" y="1683180"/>
                  </a:lnTo>
                  <a:lnTo>
                    <a:pt x="471427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379262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0" y="0"/>
                  </a:moveTo>
                  <a:lnTo>
                    <a:pt x="471427" y="0"/>
                  </a:lnTo>
                  <a:lnTo>
                    <a:pt x="471427" y="1683181"/>
                  </a:lnTo>
                  <a:lnTo>
                    <a:pt x="0" y="168318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76880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471426" y="0"/>
                  </a:moveTo>
                  <a:lnTo>
                    <a:pt x="0" y="0"/>
                  </a:lnTo>
                  <a:lnTo>
                    <a:pt x="0" y="1248732"/>
                  </a:lnTo>
                  <a:lnTo>
                    <a:pt x="471426" y="1248732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976880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0" y="0"/>
                  </a:moveTo>
                  <a:lnTo>
                    <a:pt x="471427" y="0"/>
                  </a:lnTo>
                  <a:lnTo>
                    <a:pt x="471427" y="1248732"/>
                  </a:lnTo>
                  <a:lnTo>
                    <a:pt x="0" y="12487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4497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471426" y="0"/>
                  </a:moveTo>
                  <a:lnTo>
                    <a:pt x="0" y="0"/>
                  </a:lnTo>
                  <a:lnTo>
                    <a:pt x="0" y="739378"/>
                  </a:lnTo>
                  <a:lnTo>
                    <a:pt x="471426" y="739378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74497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0" y="0"/>
                  </a:moveTo>
                  <a:lnTo>
                    <a:pt x="471427" y="0"/>
                  </a:lnTo>
                  <a:lnTo>
                    <a:pt x="471427" y="739379"/>
                  </a:lnTo>
                  <a:lnTo>
                    <a:pt x="0" y="7393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72113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471426" y="0"/>
                  </a:moveTo>
                  <a:lnTo>
                    <a:pt x="0" y="0"/>
                  </a:lnTo>
                  <a:lnTo>
                    <a:pt x="0" y="739378"/>
                  </a:lnTo>
                  <a:lnTo>
                    <a:pt x="471426" y="739378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72113" y="4857338"/>
              <a:ext cx="471805" cy="739775"/>
            </a:xfrm>
            <a:custGeom>
              <a:avLst/>
              <a:gdLst/>
              <a:ahLst/>
              <a:cxnLst/>
              <a:rect l="l" t="t" r="r" b="b"/>
              <a:pathLst>
                <a:path w="471804" h="739775">
                  <a:moveTo>
                    <a:pt x="0" y="0"/>
                  </a:moveTo>
                  <a:lnTo>
                    <a:pt x="471427" y="0"/>
                  </a:lnTo>
                  <a:lnTo>
                    <a:pt x="471427" y="739379"/>
                  </a:lnTo>
                  <a:lnTo>
                    <a:pt x="0" y="739379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69730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471427" y="0"/>
                  </a:moveTo>
                  <a:lnTo>
                    <a:pt x="0" y="0"/>
                  </a:lnTo>
                  <a:lnTo>
                    <a:pt x="0" y="1248732"/>
                  </a:lnTo>
                  <a:lnTo>
                    <a:pt x="471427" y="1248732"/>
                  </a:lnTo>
                  <a:lnTo>
                    <a:pt x="471427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769730" y="4602661"/>
              <a:ext cx="471805" cy="1249045"/>
            </a:xfrm>
            <a:custGeom>
              <a:avLst/>
              <a:gdLst/>
              <a:ahLst/>
              <a:cxnLst/>
              <a:rect l="l" t="t" r="r" b="b"/>
              <a:pathLst>
                <a:path w="471804" h="1249045">
                  <a:moveTo>
                    <a:pt x="0" y="0"/>
                  </a:moveTo>
                  <a:lnTo>
                    <a:pt x="471427" y="0"/>
                  </a:lnTo>
                  <a:lnTo>
                    <a:pt x="471427" y="1248732"/>
                  </a:lnTo>
                  <a:lnTo>
                    <a:pt x="0" y="124873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367348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471426" y="0"/>
                  </a:moveTo>
                  <a:lnTo>
                    <a:pt x="0" y="0"/>
                  </a:lnTo>
                  <a:lnTo>
                    <a:pt x="0" y="1683180"/>
                  </a:lnTo>
                  <a:lnTo>
                    <a:pt x="471426" y="1683180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367348" y="4385436"/>
              <a:ext cx="471805" cy="1683385"/>
            </a:xfrm>
            <a:custGeom>
              <a:avLst/>
              <a:gdLst/>
              <a:ahLst/>
              <a:cxnLst/>
              <a:rect l="l" t="t" r="r" b="b"/>
              <a:pathLst>
                <a:path w="471804" h="1683385">
                  <a:moveTo>
                    <a:pt x="0" y="0"/>
                  </a:moveTo>
                  <a:lnTo>
                    <a:pt x="471427" y="0"/>
                  </a:lnTo>
                  <a:lnTo>
                    <a:pt x="471427" y="1683181"/>
                  </a:lnTo>
                  <a:lnTo>
                    <a:pt x="0" y="1683181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964965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471426" y="0"/>
                  </a:moveTo>
                  <a:lnTo>
                    <a:pt x="0" y="0"/>
                  </a:lnTo>
                  <a:lnTo>
                    <a:pt x="0" y="2228562"/>
                  </a:lnTo>
                  <a:lnTo>
                    <a:pt x="471426" y="2228562"/>
                  </a:lnTo>
                  <a:lnTo>
                    <a:pt x="47142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0964965" y="4112746"/>
              <a:ext cx="471805" cy="2228850"/>
            </a:xfrm>
            <a:custGeom>
              <a:avLst/>
              <a:gdLst/>
              <a:ahLst/>
              <a:cxnLst/>
              <a:rect l="l" t="t" r="r" b="b"/>
              <a:pathLst>
                <a:path w="471804" h="2228850">
                  <a:moveTo>
                    <a:pt x="0" y="0"/>
                  </a:moveTo>
                  <a:lnTo>
                    <a:pt x="471427" y="0"/>
                  </a:lnTo>
                  <a:lnTo>
                    <a:pt x="471427" y="2228564"/>
                  </a:lnTo>
                  <a:lnTo>
                    <a:pt x="0" y="2228564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82936" y="6932542"/>
              <a:ext cx="160509" cy="32881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986896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179771" y="0"/>
                  </a:moveTo>
                  <a:lnTo>
                    <a:pt x="0" y="0"/>
                  </a:lnTo>
                  <a:lnTo>
                    <a:pt x="0" y="629202"/>
                  </a:lnTo>
                  <a:lnTo>
                    <a:pt x="179771" y="629202"/>
                  </a:lnTo>
                  <a:lnTo>
                    <a:pt x="179771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986896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0" y="0"/>
                  </a:moveTo>
                  <a:lnTo>
                    <a:pt x="179771" y="0"/>
                  </a:lnTo>
                  <a:lnTo>
                    <a:pt x="179771" y="629203"/>
                  </a:lnTo>
                  <a:lnTo>
                    <a:pt x="0" y="6292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511231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40" h="629284">
                  <a:moveTo>
                    <a:pt x="179771" y="0"/>
                  </a:moveTo>
                  <a:lnTo>
                    <a:pt x="0" y="0"/>
                  </a:lnTo>
                  <a:lnTo>
                    <a:pt x="0" y="629202"/>
                  </a:lnTo>
                  <a:lnTo>
                    <a:pt x="179771" y="629202"/>
                  </a:lnTo>
                  <a:lnTo>
                    <a:pt x="179771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511231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40" h="629284">
                  <a:moveTo>
                    <a:pt x="0" y="0"/>
                  </a:moveTo>
                  <a:lnTo>
                    <a:pt x="179771" y="0"/>
                  </a:lnTo>
                  <a:lnTo>
                    <a:pt x="179771" y="629203"/>
                  </a:lnTo>
                  <a:lnTo>
                    <a:pt x="0" y="6292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48795" y="5163514"/>
              <a:ext cx="6551295" cy="2014855"/>
            </a:xfrm>
            <a:custGeom>
              <a:avLst/>
              <a:gdLst/>
              <a:ahLst/>
              <a:cxnLst/>
              <a:rect l="l" t="t" r="r" b="b"/>
              <a:pathLst>
                <a:path w="6551295" h="2014854">
                  <a:moveTo>
                    <a:pt x="76200" y="1941309"/>
                  </a:moveTo>
                  <a:lnTo>
                    <a:pt x="0" y="1941309"/>
                  </a:lnTo>
                  <a:lnTo>
                    <a:pt x="0" y="1960359"/>
                  </a:lnTo>
                  <a:lnTo>
                    <a:pt x="76200" y="1960359"/>
                  </a:lnTo>
                  <a:lnTo>
                    <a:pt x="76200" y="1941309"/>
                  </a:lnTo>
                  <a:close/>
                </a:path>
                <a:path w="6551295" h="2014854">
                  <a:moveTo>
                    <a:pt x="209550" y="1941309"/>
                  </a:moveTo>
                  <a:lnTo>
                    <a:pt x="133350" y="1941309"/>
                  </a:lnTo>
                  <a:lnTo>
                    <a:pt x="133350" y="1960359"/>
                  </a:lnTo>
                  <a:lnTo>
                    <a:pt x="209550" y="1960359"/>
                  </a:lnTo>
                  <a:lnTo>
                    <a:pt x="209550" y="1941309"/>
                  </a:lnTo>
                  <a:close/>
                </a:path>
                <a:path w="6551295" h="2014854">
                  <a:moveTo>
                    <a:pt x="236969" y="53975"/>
                  </a:moveTo>
                  <a:lnTo>
                    <a:pt x="160769" y="53975"/>
                  </a:lnTo>
                  <a:lnTo>
                    <a:pt x="160769" y="73025"/>
                  </a:lnTo>
                  <a:lnTo>
                    <a:pt x="236969" y="73025"/>
                  </a:lnTo>
                  <a:lnTo>
                    <a:pt x="236969" y="53975"/>
                  </a:lnTo>
                  <a:close/>
                </a:path>
                <a:path w="6551295" h="2014854">
                  <a:moveTo>
                    <a:pt x="370319" y="53975"/>
                  </a:moveTo>
                  <a:lnTo>
                    <a:pt x="294119" y="53975"/>
                  </a:lnTo>
                  <a:lnTo>
                    <a:pt x="294106" y="73025"/>
                  </a:lnTo>
                  <a:lnTo>
                    <a:pt x="370319" y="73025"/>
                  </a:lnTo>
                  <a:lnTo>
                    <a:pt x="370319" y="53975"/>
                  </a:lnTo>
                  <a:close/>
                </a:path>
                <a:path w="6551295" h="2014854">
                  <a:moveTo>
                    <a:pt x="438099" y="1950834"/>
                  </a:moveTo>
                  <a:lnTo>
                    <a:pt x="419049" y="1941309"/>
                  </a:lnTo>
                  <a:lnTo>
                    <a:pt x="311099" y="1887334"/>
                  </a:lnTo>
                  <a:lnTo>
                    <a:pt x="311099" y="1941309"/>
                  </a:lnTo>
                  <a:lnTo>
                    <a:pt x="266700" y="1941309"/>
                  </a:lnTo>
                  <a:lnTo>
                    <a:pt x="266700" y="1960359"/>
                  </a:lnTo>
                  <a:lnTo>
                    <a:pt x="311099" y="1960359"/>
                  </a:lnTo>
                  <a:lnTo>
                    <a:pt x="311099" y="2014334"/>
                  </a:lnTo>
                  <a:lnTo>
                    <a:pt x="419049" y="1960359"/>
                  </a:lnTo>
                  <a:lnTo>
                    <a:pt x="438099" y="1950834"/>
                  </a:lnTo>
                  <a:close/>
                </a:path>
                <a:path w="6551295" h="2014854">
                  <a:moveTo>
                    <a:pt x="503669" y="53975"/>
                  </a:moveTo>
                  <a:lnTo>
                    <a:pt x="427469" y="53975"/>
                  </a:lnTo>
                  <a:lnTo>
                    <a:pt x="427469" y="73025"/>
                  </a:lnTo>
                  <a:lnTo>
                    <a:pt x="503669" y="73025"/>
                  </a:lnTo>
                  <a:lnTo>
                    <a:pt x="503669" y="53975"/>
                  </a:lnTo>
                  <a:close/>
                </a:path>
                <a:path w="6551295" h="2014854">
                  <a:moveTo>
                    <a:pt x="637019" y="53975"/>
                  </a:moveTo>
                  <a:lnTo>
                    <a:pt x="560819" y="53975"/>
                  </a:lnTo>
                  <a:lnTo>
                    <a:pt x="560819" y="73025"/>
                  </a:lnTo>
                  <a:lnTo>
                    <a:pt x="637019" y="73025"/>
                  </a:lnTo>
                  <a:lnTo>
                    <a:pt x="637019" y="53975"/>
                  </a:lnTo>
                  <a:close/>
                </a:path>
                <a:path w="6551295" h="2014854">
                  <a:moveTo>
                    <a:pt x="770369" y="53975"/>
                  </a:moveTo>
                  <a:lnTo>
                    <a:pt x="694169" y="53975"/>
                  </a:lnTo>
                  <a:lnTo>
                    <a:pt x="694169" y="73025"/>
                  </a:lnTo>
                  <a:lnTo>
                    <a:pt x="770369" y="73025"/>
                  </a:lnTo>
                  <a:lnTo>
                    <a:pt x="770369" y="53975"/>
                  </a:lnTo>
                  <a:close/>
                </a:path>
                <a:path w="6551295" h="2014854">
                  <a:moveTo>
                    <a:pt x="903719" y="53975"/>
                  </a:moveTo>
                  <a:lnTo>
                    <a:pt x="827519" y="53975"/>
                  </a:lnTo>
                  <a:lnTo>
                    <a:pt x="827519" y="73025"/>
                  </a:lnTo>
                  <a:lnTo>
                    <a:pt x="903719" y="73025"/>
                  </a:lnTo>
                  <a:lnTo>
                    <a:pt x="903719" y="53975"/>
                  </a:lnTo>
                  <a:close/>
                </a:path>
                <a:path w="6551295" h="2014854">
                  <a:moveTo>
                    <a:pt x="1037069" y="53975"/>
                  </a:moveTo>
                  <a:lnTo>
                    <a:pt x="960869" y="53975"/>
                  </a:lnTo>
                  <a:lnTo>
                    <a:pt x="960869" y="73025"/>
                  </a:lnTo>
                  <a:lnTo>
                    <a:pt x="1037069" y="73025"/>
                  </a:lnTo>
                  <a:lnTo>
                    <a:pt x="1037069" y="53975"/>
                  </a:lnTo>
                  <a:close/>
                </a:path>
                <a:path w="6551295" h="2014854">
                  <a:moveTo>
                    <a:pt x="1218399" y="1942477"/>
                  </a:moveTo>
                  <a:lnTo>
                    <a:pt x="1142199" y="1942477"/>
                  </a:lnTo>
                  <a:lnTo>
                    <a:pt x="1142199" y="1961527"/>
                  </a:lnTo>
                  <a:lnTo>
                    <a:pt x="1218399" y="1961527"/>
                  </a:lnTo>
                  <a:lnTo>
                    <a:pt x="1218399" y="1942477"/>
                  </a:lnTo>
                  <a:close/>
                </a:path>
                <a:path w="6551295" h="2014854">
                  <a:moveTo>
                    <a:pt x="1232839" y="63500"/>
                  </a:moveTo>
                  <a:lnTo>
                    <a:pt x="1213789" y="53975"/>
                  </a:lnTo>
                  <a:lnTo>
                    <a:pt x="1105839" y="0"/>
                  </a:lnTo>
                  <a:lnTo>
                    <a:pt x="1105839" y="53975"/>
                  </a:lnTo>
                  <a:lnTo>
                    <a:pt x="1094219" y="53975"/>
                  </a:lnTo>
                  <a:lnTo>
                    <a:pt x="1094219" y="73025"/>
                  </a:lnTo>
                  <a:lnTo>
                    <a:pt x="1105839" y="73025"/>
                  </a:lnTo>
                  <a:lnTo>
                    <a:pt x="1105839" y="127000"/>
                  </a:lnTo>
                  <a:lnTo>
                    <a:pt x="1213789" y="73025"/>
                  </a:lnTo>
                  <a:lnTo>
                    <a:pt x="1232839" y="63500"/>
                  </a:lnTo>
                  <a:close/>
                </a:path>
                <a:path w="6551295" h="2014854">
                  <a:moveTo>
                    <a:pt x="1351749" y="1942477"/>
                  </a:moveTo>
                  <a:lnTo>
                    <a:pt x="1275549" y="1942477"/>
                  </a:lnTo>
                  <a:lnTo>
                    <a:pt x="1275549" y="1961527"/>
                  </a:lnTo>
                  <a:lnTo>
                    <a:pt x="1351749" y="1961527"/>
                  </a:lnTo>
                  <a:lnTo>
                    <a:pt x="1351749" y="1942477"/>
                  </a:lnTo>
                  <a:close/>
                </a:path>
                <a:path w="6551295" h="2014854">
                  <a:moveTo>
                    <a:pt x="1478089" y="1747481"/>
                  </a:moveTo>
                  <a:lnTo>
                    <a:pt x="1459039" y="1747481"/>
                  </a:lnTo>
                  <a:lnTo>
                    <a:pt x="1459039" y="1823681"/>
                  </a:lnTo>
                  <a:lnTo>
                    <a:pt x="1478089" y="1823681"/>
                  </a:lnTo>
                  <a:lnTo>
                    <a:pt x="1478089" y="1747481"/>
                  </a:lnTo>
                  <a:close/>
                </a:path>
                <a:path w="6551295" h="2014854">
                  <a:moveTo>
                    <a:pt x="1478089" y="1614131"/>
                  </a:moveTo>
                  <a:lnTo>
                    <a:pt x="1459039" y="1614131"/>
                  </a:lnTo>
                  <a:lnTo>
                    <a:pt x="1459039" y="1690331"/>
                  </a:lnTo>
                  <a:lnTo>
                    <a:pt x="1478089" y="1690331"/>
                  </a:lnTo>
                  <a:lnTo>
                    <a:pt x="1478089" y="1614131"/>
                  </a:lnTo>
                  <a:close/>
                </a:path>
                <a:path w="6551295" h="2014854">
                  <a:moveTo>
                    <a:pt x="1478089" y="1480781"/>
                  </a:moveTo>
                  <a:lnTo>
                    <a:pt x="1459039" y="1480781"/>
                  </a:lnTo>
                  <a:lnTo>
                    <a:pt x="1459039" y="1556981"/>
                  </a:lnTo>
                  <a:lnTo>
                    <a:pt x="1478089" y="1556981"/>
                  </a:lnTo>
                  <a:lnTo>
                    <a:pt x="1478089" y="1480781"/>
                  </a:lnTo>
                  <a:close/>
                </a:path>
                <a:path w="6551295" h="2014854">
                  <a:moveTo>
                    <a:pt x="1478089" y="1347431"/>
                  </a:moveTo>
                  <a:lnTo>
                    <a:pt x="1459039" y="1347431"/>
                  </a:lnTo>
                  <a:lnTo>
                    <a:pt x="1459039" y="1423631"/>
                  </a:lnTo>
                  <a:lnTo>
                    <a:pt x="1478089" y="1423631"/>
                  </a:lnTo>
                  <a:lnTo>
                    <a:pt x="1478089" y="1347431"/>
                  </a:lnTo>
                  <a:close/>
                </a:path>
                <a:path w="6551295" h="2014854">
                  <a:moveTo>
                    <a:pt x="1485099" y="1942477"/>
                  </a:moveTo>
                  <a:lnTo>
                    <a:pt x="1478089" y="1942477"/>
                  </a:lnTo>
                  <a:lnTo>
                    <a:pt x="1478089" y="1880831"/>
                  </a:lnTo>
                  <a:lnTo>
                    <a:pt x="1459039" y="1880831"/>
                  </a:lnTo>
                  <a:lnTo>
                    <a:pt x="1459039" y="1942477"/>
                  </a:lnTo>
                  <a:lnTo>
                    <a:pt x="1408899" y="1942477"/>
                  </a:lnTo>
                  <a:lnTo>
                    <a:pt x="1408899" y="1961527"/>
                  </a:lnTo>
                  <a:lnTo>
                    <a:pt x="1485099" y="1961527"/>
                  </a:lnTo>
                  <a:lnTo>
                    <a:pt x="1485099" y="1942477"/>
                  </a:lnTo>
                  <a:close/>
                </a:path>
                <a:path w="6551295" h="2014854">
                  <a:moveTo>
                    <a:pt x="1532064" y="1304798"/>
                  </a:moveTo>
                  <a:lnTo>
                    <a:pt x="1468564" y="1177798"/>
                  </a:lnTo>
                  <a:lnTo>
                    <a:pt x="1405064" y="1304798"/>
                  </a:lnTo>
                  <a:lnTo>
                    <a:pt x="1532064" y="1304798"/>
                  </a:lnTo>
                  <a:close/>
                </a:path>
                <a:path w="6551295" h="2014854">
                  <a:moveTo>
                    <a:pt x="1618449" y="1942477"/>
                  </a:moveTo>
                  <a:lnTo>
                    <a:pt x="1542249" y="1942477"/>
                  </a:lnTo>
                  <a:lnTo>
                    <a:pt x="1542249" y="1961527"/>
                  </a:lnTo>
                  <a:lnTo>
                    <a:pt x="1618449" y="1961527"/>
                  </a:lnTo>
                  <a:lnTo>
                    <a:pt x="1618449" y="1942477"/>
                  </a:lnTo>
                  <a:close/>
                </a:path>
                <a:path w="6551295" h="2014854">
                  <a:moveTo>
                    <a:pt x="1751799" y="1942477"/>
                  </a:moveTo>
                  <a:lnTo>
                    <a:pt x="1675599" y="1942477"/>
                  </a:lnTo>
                  <a:lnTo>
                    <a:pt x="1675599" y="1961527"/>
                  </a:lnTo>
                  <a:lnTo>
                    <a:pt x="1751799" y="1961527"/>
                  </a:lnTo>
                  <a:lnTo>
                    <a:pt x="1751799" y="1942477"/>
                  </a:lnTo>
                  <a:close/>
                </a:path>
                <a:path w="6551295" h="2014854">
                  <a:moveTo>
                    <a:pt x="1885149" y="1942477"/>
                  </a:moveTo>
                  <a:lnTo>
                    <a:pt x="1808949" y="1942477"/>
                  </a:lnTo>
                  <a:lnTo>
                    <a:pt x="1808949" y="1961527"/>
                  </a:lnTo>
                  <a:lnTo>
                    <a:pt x="1885149" y="1961527"/>
                  </a:lnTo>
                  <a:lnTo>
                    <a:pt x="1885149" y="1942477"/>
                  </a:lnTo>
                  <a:close/>
                </a:path>
                <a:path w="6551295" h="2014854">
                  <a:moveTo>
                    <a:pt x="2018499" y="1942477"/>
                  </a:moveTo>
                  <a:lnTo>
                    <a:pt x="1942299" y="1942477"/>
                  </a:lnTo>
                  <a:lnTo>
                    <a:pt x="1942299" y="1961527"/>
                  </a:lnTo>
                  <a:lnTo>
                    <a:pt x="2018499" y="1961527"/>
                  </a:lnTo>
                  <a:lnTo>
                    <a:pt x="2018499" y="1942477"/>
                  </a:lnTo>
                  <a:close/>
                </a:path>
                <a:path w="6551295" h="2014854">
                  <a:moveTo>
                    <a:pt x="2075700" y="1747481"/>
                  </a:moveTo>
                  <a:lnTo>
                    <a:pt x="2056650" y="1747481"/>
                  </a:lnTo>
                  <a:lnTo>
                    <a:pt x="2056650" y="1823681"/>
                  </a:lnTo>
                  <a:lnTo>
                    <a:pt x="2075700" y="1823681"/>
                  </a:lnTo>
                  <a:lnTo>
                    <a:pt x="2075700" y="1747481"/>
                  </a:lnTo>
                  <a:close/>
                </a:path>
                <a:path w="6551295" h="2014854">
                  <a:moveTo>
                    <a:pt x="2075700" y="1614131"/>
                  </a:moveTo>
                  <a:lnTo>
                    <a:pt x="2056650" y="1614131"/>
                  </a:lnTo>
                  <a:lnTo>
                    <a:pt x="2056650" y="1690331"/>
                  </a:lnTo>
                  <a:lnTo>
                    <a:pt x="2075700" y="1690331"/>
                  </a:lnTo>
                  <a:lnTo>
                    <a:pt x="2075700" y="1614131"/>
                  </a:lnTo>
                  <a:close/>
                </a:path>
                <a:path w="6551295" h="2014854">
                  <a:moveTo>
                    <a:pt x="2075700" y="1480781"/>
                  </a:moveTo>
                  <a:lnTo>
                    <a:pt x="2056650" y="1480781"/>
                  </a:lnTo>
                  <a:lnTo>
                    <a:pt x="2056650" y="1556981"/>
                  </a:lnTo>
                  <a:lnTo>
                    <a:pt x="2075700" y="1556981"/>
                  </a:lnTo>
                  <a:lnTo>
                    <a:pt x="2075700" y="1480781"/>
                  </a:lnTo>
                  <a:close/>
                </a:path>
                <a:path w="6551295" h="2014854">
                  <a:moveTo>
                    <a:pt x="2075700" y="1347431"/>
                  </a:moveTo>
                  <a:lnTo>
                    <a:pt x="2056650" y="1347431"/>
                  </a:lnTo>
                  <a:lnTo>
                    <a:pt x="2056650" y="1423631"/>
                  </a:lnTo>
                  <a:lnTo>
                    <a:pt x="2075700" y="1423631"/>
                  </a:lnTo>
                  <a:lnTo>
                    <a:pt x="2075700" y="1347431"/>
                  </a:lnTo>
                  <a:close/>
                </a:path>
                <a:path w="6551295" h="2014854">
                  <a:moveTo>
                    <a:pt x="2075700" y="1214081"/>
                  </a:moveTo>
                  <a:lnTo>
                    <a:pt x="2056650" y="1214081"/>
                  </a:lnTo>
                  <a:lnTo>
                    <a:pt x="2056650" y="1290281"/>
                  </a:lnTo>
                  <a:lnTo>
                    <a:pt x="2075700" y="1290281"/>
                  </a:lnTo>
                  <a:lnTo>
                    <a:pt x="2075700" y="1214081"/>
                  </a:lnTo>
                  <a:close/>
                </a:path>
                <a:path w="6551295" h="2014854">
                  <a:moveTo>
                    <a:pt x="2075700" y="1080731"/>
                  </a:moveTo>
                  <a:lnTo>
                    <a:pt x="2056650" y="1080731"/>
                  </a:lnTo>
                  <a:lnTo>
                    <a:pt x="2056650" y="1156931"/>
                  </a:lnTo>
                  <a:lnTo>
                    <a:pt x="2075700" y="1156931"/>
                  </a:lnTo>
                  <a:lnTo>
                    <a:pt x="2075700" y="1080731"/>
                  </a:lnTo>
                  <a:close/>
                </a:path>
                <a:path w="6551295" h="2014854">
                  <a:moveTo>
                    <a:pt x="2129675" y="1032103"/>
                  </a:moveTo>
                  <a:lnTo>
                    <a:pt x="2125408" y="1023581"/>
                  </a:lnTo>
                  <a:lnTo>
                    <a:pt x="2123325" y="1019403"/>
                  </a:lnTo>
                  <a:lnTo>
                    <a:pt x="2066175" y="905103"/>
                  </a:lnTo>
                  <a:lnTo>
                    <a:pt x="2002675" y="1032103"/>
                  </a:lnTo>
                  <a:lnTo>
                    <a:pt x="2129675" y="1032103"/>
                  </a:lnTo>
                  <a:close/>
                </a:path>
                <a:path w="6551295" h="2014854">
                  <a:moveTo>
                    <a:pt x="2151850" y="1942477"/>
                  </a:moveTo>
                  <a:lnTo>
                    <a:pt x="2075700" y="1942477"/>
                  </a:lnTo>
                  <a:lnTo>
                    <a:pt x="2075700" y="1880831"/>
                  </a:lnTo>
                  <a:lnTo>
                    <a:pt x="2056650" y="1880831"/>
                  </a:lnTo>
                  <a:lnTo>
                    <a:pt x="2056650" y="1957031"/>
                  </a:lnTo>
                  <a:lnTo>
                    <a:pt x="2075649" y="1957031"/>
                  </a:lnTo>
                  <a:lnTo>
                    <a:pt x="2075649" y="1961527"/>
                  </a:lnTo>
                  <a:lnTo>
                    <a:pt x="2151850" y="1961527"/>
                  </a:lnTo>
                  <a:lnTo>
                    <a:pt x="2151850" y="1942477"/>
                  </a:lnTo>
                  <a:close/>
                </a:path>
                <a:path w="6551295" h="2014854">
                  <a:moveTo>
                    <a:pt x="2285200" y="1942477"/>
                  </a:moveTo>
                  <a:lnTo>
                    <a:pt x="2209000" y="1942477"/>
                  </a:lnTo>
                  <a:lnTo>
                    <a:pt x="2209000" y="1961527"/>
                  </a:lnTo>
                  <a:lnTo>
                    <a:pt x="2285200" y="1961527"/>
                  </a:lnTo>
                  <a:lnTo>
                    <a:pt x="2285200" y="1942477"/>
                  </a:lnTo>
                  <a:close/>
                </a:path>
                <a:path w="6551295" h="2014854">
                  <a:moveTo>
                    <a:pt x="2418550" y="1942477"/>
                  </a:moveTo>
                  <a:lnTo>
                    <a:pt x="2342350" y="1942477"/>
                  </a:lnTo>
                  <a:lnTo>
                    <a:pt x="2342350" y="1961527"/>
                  </a:lnTo>
                  <a:lnTo>
                    <a:pt x="2418550" y="1961527"/>
                  </a:lnTo>
                  <a:lnTo>
                    <a:pt x="2418550" y="1942477"/>
                  </a:lnTo>
                  <a:close/>
                </a:path>
                <a:path w="6551295" h="2014854">
                  <a:moveTo>
                    <a:pt x="2551900" y="1942477"/>
                  </a:moveTo>
                  <a:lnTo>
                    <a:pt x="2475700" y="1942477"/>
                  </a:lnTo>
                  <a:lnTo>
                    <a:pt x="2475700" y="1961527"/>
                  </a:lnTo>
                  <a:lnTo>
                    <a:pt x="2551900" y="1961527"/>
                  </a:lnTo>
                  <a:lnTo>
                    <a:pt x="2551900" y="1942477"/>
                  </a:lnTo>
                  <a:close/>
                </a:path>
                <a:path w="6551295" h="2014854">
                  <a:moveTo>
                    <a:pt x="2673324" y="1742935"/>
                  </a:moveTo>
                  <a:lnTo>
                    <a:pt x="2654274" y="1742935"/>
                  </a:lnTo>
                  <a:lnTo>
                    <a:pt x="2654274" y="1819135"/>
                  </a:lnTo>
                  <a:lnTo>
                    <a:pt x="2673324" y="1819135"/>
                  </a:lnTo>
                  <a:lnTo>
                    <a:pt x="2673324" y="1742935"/>
                  </a:lnTo>
                  <a:close/>
                </a:path>
                <a:path w="6551295" h="2014854">
                  <a:moveTo>
                    <a:pt x="2673324" y="1609585"/>
                  </a:moveTo>
                  <a:lnTo>
                    <a:pt x="2654274" y="1609585"/>
                  </a:lnTo>
                  <a:lnTo>
                    <a:pt x="2654274" y="1685785"/>
                  </a:lnTo>
                  <a:lnTo>
                    <a:pt x="2673324" y="1685785"/>
                  </a:lnTo>
                  <a:lnTo>
                    <a:pt x="2673324" y="1609585"/>
                  </a:lnTo>
                  <a:close/>
                </a:path>
                <a:path w="6551295" h="2014854">
                  <a:moveTo>
                    <a:pt x="2673324" y="1476235"/>
                  </a:moveTo>
                  <a:lnTo>
                    <a:pt x="2654274" y="1476235"/>
                  </a:lnTo>
                  <a:lnTo>
                    <a:pt x="2654274" y="1552435"/>
                  </a:lnTo>
                  <a:lnTo>
                    <a:pt x="2673324" y="1552435"/>
                  </a:lnTo>
                  <a:lnTo>
                    <a:pt x="2673324" y="1476235"/>
                  </a:lnTo>
                  <a:close/>
                </a:path>
                <a:path w="6551295" h="2014854">
                  <a:moveTo>
                    <a:pt x="2673324" y="1342885"/>
                  </a:moveTo>
                  <a:lnTo>
                    <a:pt x="2654274" y="1342885"/>
                  </a:lnTo>
                  <a:lnTo>
                    <a:pt x="2654274" y="1419085"/>
                  </a:lnTo>
                  <a:lnTo>
                    <a:pt x="2673324" y="1419085"/>
                  </a:lnTo>
                  <a:lnTo>
                    <a:pt x="2673324" y="1342885"/>
                  </a:lnTo>
                  <a:close/>
                </a:path>
                <a:path w="6551295" h="2014854">
                  <a:moveTo>
                    <a:pt x="2673324" y="1209535"/>
                  </a:moveTo>
                  <a:lnTo>
                    <a:pt x="2654274" y="1209535"/>
                  </a:lnTo>
                  <a:lnTo>
                    <a:pt x="2654274" y="1285735"/>
                  </a:lnTo>
                  <a:lnTo>
                    <a:pt x="2673324" y="1285735"/>
                  </a:lnTo>
                  <a:lnTo>
                    <a:pt x="2673324" y="1209535"/>
                  </a:lnTo>
                  <a:close/>
                </a:path>
                <a:path w="6551295" h="2014854">
                  <a:moveTo>
                    <a:pt x="2673324" y="1076185"/>
                  </a:moveTo>
                  <a:lnTo>
                    <a:pt x="2654274" y="1076185"/>
                  </a:lnTo>
                  <a:lnTo>
                    <a:pt x="2654274" y="1152385"/>
                  </a:lnTo>
                  <a:lnTo>
                    <a:pt x="2673324" y="1152385"/>
                  </a:lnTo>
                  <a:lnTo>
                    <a:pt x="2673324" y="1076185"/>
                  </a:lnTo>
                  <a:close/>
                </a:path>
                <a:path w="6551295" h="2014854">
                  <a:moveTo>
                    <a:pt x="2673324" y="942835"/>
                  </a:moveTo>
                  <a:lnTo>
                    <a:pt x="2654274" y="942835"/>
                  </a:lnTo>
                  <a:lnTo>
                    <a:pt x="2654274" y="1019035"/>
                  </a:lnTo>
                  <a:lnTo>
                    <a:pt x="2673324" y="1019035"/>
                  </a:lnTo>
                  <a:lnTo>
                    <a:pt x="2673324" y="942835"/>
                  </a:lnTo>
                  <a:close/>
                </a:path>
                <a:path w="6551295" h="2014854">
                  <a:moveTo>
                    <a:pt x="2685250" y="1942477"/>
                  </a:moveTo>
                  <a:lnTo>
                    <a:pt x="2673312" y="1942477"/>
                  </a:lnTo>
                  <a:lnTo>
                    <a:pt x="2673312" y="1876285"/>
                  </a:lnTo>
                  <a:lnTo>
                    <a:pt x="2654262" y="1876285"/>
                  </a:lnTo>
                  <a:lnTo>
                    <a:pt x="2654262" y="1942477"/>
                  </a:lnTo>
                  <a:lnTo>
                    <a:pt x="2609050" y="1942477"/>
                  </a:lnTo>
                  <a:lnTo>
                    <a:pt x="2609050" y="1961527"/>
                  </a:lnTo>
                  <a:lnTo>
                    <a:pt x="2685250" y="1961527"/>
                  </a:lnTo>
                  <a:lnTo>
                    <a:pt x="2685250" y="1942477"/>
                  </a:lnTo>
                  <a:close/>
                </a:path>
                <a:path w="6551295" h="2014854">
                  <a:moveTo>
                    <a:pt x="2727299" y="814882"/>
                  </a:moveTo>
                  <a:lnTo>
                    <a:pt x="2724594" y="809485"/>
                  </a:lnTo>
                  <a:lnTo>
                    <a:pt x="2663799" y="687882"/>
                  </a:lnTo>
                  <a:lnTo>
                    <a:pt x="2600299" y="814882"/>
                  </a:lnTo>
                  <a:lnTo>
                    <a:pt x="2654274" y="814882"/>
                  </a:lnTo>
                  <a:lnTo>
                    <a:pt x="2654274" y="885685"/>
                  </a:lnTo>
                  <a:lnTo>
                    <a:pt x="2673324" y="885685"/>
                  </a:lnTo>
                  <a:lnTo>
                    <a:pt x="2673324" y="814882"/>
                  </a:lnTo>
                  <a:lnTo>
                    <a:pt x="2727299" y="814882"/>
                  </a:lnTo>
                  <a:close/>
                </a:path>
                <a:path w="6551295" h="2014854">
                  <a:moveTo>
                    <a:pt x="2818600" y="1942477"/>
                  </a:moveTo>
                  <a:lnTo>
                    <a:pt x="2742400" y="1942477"/>
                  </a:lnTo>
                  <a:lnTo>
                    <a:pt x="2742400" y="1961527"/>
                  </a:lnTo>
                  <a:lnTo>
                    <a:pt x="2818600" y="1961527"/>
                  </a:lnTo>
                  <a:lnTo>
                    <a:pt x="2818600" y="1942477"/>
                  </a:lnTo>
                  <a:close/>
                </a:path>
                <a:path w="6551295" h="2014854">
                  <a:moveTo>
                    <a:pt x="2951950" y="1942477"/>
                  </a:moveTo>
                  <a:lnTo>
                    <a:pt x="2875750" y="1942477"/>
                  </a:lnTo>
                  <a:lnTo>
                    <a:pt x="2875750" y="1961527"/>
                  </a:lnTo>
                  <a:lnTo>
                    <a:pt x="2951950" y="1961527"/>
                  </a:lnTo>
                  <a:lnTo>
                    <a:pt x="2951950" y="1942477"/>
                  </a:lnTo>
                  <a:close/>
                </a:path>
                <a:path w="6551295" h="2014854">
                  <a:moveTo>
                    <a:pt x="3085300" y="1942477"/>
                  </a:moveTo>
                  <a:lnTo>
                    <a:pt x="3009100" y="1942477"/>
                  </a:lnTo>
                  <a:lnTo>
                    <a:pt x="3009100" y="1961527"/>
                  </a:lnTo>
                  <a:lnTo>
                    <a:pt x="3085300" y="1961527"/>
                  </a:lnTo>
                  <a:lnTo>
                    <a:pt x="3085300" y="1942477"/>
                  </a:lnTo>
                  <a:close/>
                </a:path>
                <a:path w="6551295" h="2014854">
                  <a:moveTo>
                    <a:pt x="3218650" y="1942477"/>
                  </a:moveTo>
                  <a:lnTo>
                    <a:pt x="3142450" y="1942477"/>
                  </a:lnTo>
                  <a:lnTo>
                    <a:pt x="3142450" y="1961527"/>
                  </a:lnTo>
                  <a:lnTo>
                    <a:pt x="3218650" y="1961527"/>
                  </a:lnTo>
                  <a:lnTo>
                    <a:pt x="3218650" y="1942477"/>
                  </a:lnTo>
                  <a:close/>
                </a:path>
                <a:path w="6551295" h="2014854">
                  <a:moveTo>
                    <a:pt x="3270935" y="1880831"/>
                  </a:moveTo>
                  <a:lnTo>
                    <a:pt x="3251885" y="1880831"/>
                  </a:lnTo>
                  <a:lnTo>
                    <a:pt x="3251885" y="1957031"/>
                  </a:lnTo>
                  <a:lnTo>
                    <a:pt x="3270935" y="1957031"/>
                  </a:lnTo>
                  <a:lnTo>
                    <a:pt x="3270935" y="1880831"/>
                  </a:lnTo>
                  <a:close/>
                </a:path>
                <a:path w="6551295" h="2014854">
                  <a:moveTo>
                    <a:pt x="3270935" y="1747481"/>
                  </a:moveTo>
                  <a:lnTo>
                    <a:pt x="3251885" y="1747481"/>
                  </a:lnTo>
                  <a:lnTo>
                    <a:pt x="3251885" y="1823681"/>
                  </a:lnTo>
                  <a:lnTo>
                    <a:pt x="3270935" y="1823681"/>
                  </a:lnTo>
                  <a:lnTo>
                    <a:pt x="3270935" y="1747481"/>
                  </a:lnTo>
                  <a:close/>
                </a:path>
                <a:path w="6551295" h="2014854">
                  <a:moveTo>
                    <a:pt x="3270935" y="1614131"/>
                  </a:moveTo>
                  <a:lnTo>
                    <a:pt x="3251885" y="1614131"/>
                  </a:lnTo>
                  <a:lnTo>
                    <a:pt x="3251885" y="1690331"/>
                  </a:lnTo>
                  <a:lnTo>
                    <a:pt x="3270935" y="1690331"/>
                  </a:lnTo>
                  <a:lnTo>
                    <a:pt x="3270935" y="1614131"/>
                  </a:lnTo>
                  <a:close/>
                </a:path>
                <a:path w="6551295" h="2014854">
                  <a:moveTo>
                    <a:pt x="3270935" y="1480781"/>
                  </a:moveTo>
                  <a:lnTo>
                    <a:pt x="3251885" y="1480781"/>
                  </a:lnTo>
                  <a:lnTo>
                    <a:pt x="3251885" y="1556981"/>
                  </a:lnTo>
                  <a:lnTo>
                    <a:pt x="3270935" y="1556981"/>
                  </a:lnTo>
                  <a:lnTo>
                    <a:pt x="3270935" y="1480781"/>
                  </a:lnTo>
                  <a:close/>
                </a:path>
                <a:path w="6551295" h="2014854">
                  <a:moveTo>
                    <a:pt x="3270935" y="1347431"/>
                  </a:moveTo>
                  <a:lnTo>
                    <a:pt x="3251885" y="1347431"/>
                  </a:lnTo>
                  <a:lnTo>
                    <a:pt x="3251885" y="1423631"/>
                  </a:lnTo>
                  <a:lnTo>
                    <a:pt x="3270935" y="1423631"/>
                  </a:lnTo>
                  <a:lnTo>
                    <a:pt x="3270935" y="1347431"/>
                  </a:lnTo>
                  <a:close/>
                </a:path>
                <a:path w="6551295" h="2014854">
                  <a:moveTo>
                    <a:pt x="3270935" y="1214081"/>
                  </a:moveTo>
                  <a:lnTo>
                    <a:pt x="3251885" y="1214081"/>
                  </a:lnTo>
                  <a:lnTo>
                    <a:pt x="3251885" y="1290281"/>
                  </a:lnTo>
                  <a:lnTo>
                    <a:pt x="3270935" y="1290281"/>
                  </a:lnTo>
                  <a:lnTo>
                    <a:pt x="3270935" y="1214081"/>
                  </a:lnTo>
                  <a:close/>
                </a:path>
                <a:path w="6551295" h="2014854">
                  <a:moveTo>
                    <a:pt x="3270935" y="1080731"/>
                  </a:moveTo>
                  <a:lnTo>
                    <a:pt x="3251885" y="1080731"/>
                  </a:lnTo>
                  <a:lnTo>
                    <a:pt x="3251885" y="1156931"/>
                  </a:lnTo>
                  <a:lnTo>
                    <a:pt x="3270935" y="1156931"/>
                  </a:lnTo>
                  <a:lnTo>
                    <a:pt x="3270935" y="1080731"/>
                  </a:lnTo>
                  <a:close/>
                </a:path>
                <a:path w="6551295" h="2014854">
                  <a:moveTo>
                    <a:pt x="3270935" y="947381"/>
                  </a:moveTo>
                  <a:lnTo>
                    <a:pt x="3251885" y="947381"/>
                  </a:lnTo>
                  <a:lnTo>
                    <a:pt x="3251885" y="1023581"/>
                  </a:lnTo>
                  <a:lnTo>
                    <a:pt x="3270935" y="1023581"/>
                  </a:lnTo>
                  <a:lnTo>
                    <a:pt x="3270935" y="947381"/>
                  </a:lnTo>
                  <a:close/>
                </a:path>
                <a:path w="6551295" h="2014854">
                  <a:moveTo>
                    <a:pt x="3270935" y="814031"/>
                  </a:moveTo>
                  <a:lnTo>
                    <a:pt x="3251885" y="814031"/>
                  </a:lnTo>
                  <a:lnTo>
                    <a:pt x="3251885" y="890231"/>
                  </a:lnTo>
                  <a:lnTo>
                    <a:pt x="3270935" y="890231"/>
                  </a:lnTo>
                  <a:lnTo>
                    <a:pt x="3270935" y="814031"/>
                  </a:lnTo>
                  <a:close/>
                </a:path>
                <a:path w="6551295" h="2014854">
                  <a:moveTo>
                    <a:pt x="3270935" y="680681"/>
                  </a:moveTo>
                  <a:lnTo>
                    <a:pt x="3251885" y="680681"/>
                  </a:lnTo>
                  <a:lnTo>
                    <a:pt x="3251885" y="756881"/>
                  </a:lnTo>
                  <a:lnTo>
                    <a:pt x="3270935" y="756881"/>
                  </a:lnTo>
                  <a:lnTo>
                    <a:pt x="3270935" y="680681"/>
                  </a:lnTo>
                  <a:close/>
                </a:path>
                <a:path w="6551295" h="2014854">
                  <a:moveTo>
                    <a:pt x="3324910" y="560209"/>
                  </a:moveTo>
                  <a:lnTo>
                    <a:pt x="3318560" y="547509"/>
                  </a:lnTo>
                  <a:lnTo>
                    <a:pt x="3261410" y="433209"/>
                  </a:lnTo>
                  <a:lnTo>
                    <a:pt x="3197910" y="560209"/>
                  </a:lnTo>
                  <a:lnTo>
                    <a:pt x="3251885" y="560209"/>
                  </a:lnTo>
                  <a:lnTo>
                    <a:pt x="3251885" y="623531"/>
                  </a:lnTo>
                  <a:lnTo>
                    <a:pt x="3270935" y="623531"/>
                  </a:lnTo>
                  <a:lnTo>
                    <a:pt x="3270935" y="560209"/>
                  </a:lnTo>
                  <a:lnTo>
                    <a:pt x="3324910" y="560209"/>
                  </a:lnTo>
                  <a:close/>
                </a:path>
                <a:path w="6551295" h="2014854">
                  <a:moveTo>
                    <a:pt x="3352000" y="1942477"/>
                  </a:moveTo>
                  <a:lnTo>
                    <a:pt x="3275800" y="1942477"/>
                  </a:lnTo>
                  <a:lnTo>
                    <a:pt x="3275800" y="1961527"/>
                  </a:lnTo>
                  <a:lnTo>
                    <a:pt x="3352000" y="1961527"/>
                  </a:lnTo>
                  <a:lnTo>
                    <a:pt x="3352000" y="1942477"/>
                  </a:lnTo>
                  <a:close/>
                </a:path>
                <a:path w="6551295" h="2014854">
                  <a:moveTo>
                    <a:pt x="3485350" y="1942477"/>
                  </a:moveTo>
                  <a:lnTo>
                    <a:pt x="3409150" y="1942477"/>
                  </a:lnTo>
                  <a:lnTo>
                    <a:pt x="3409150" y="1961527"/>
                  </a:lnTo>
                  <a:lnTo>
                    <a:pt x="3485350" y="1961527"/>
                  </a:lnTo>
                  <a:lnTo>
                    <a:pt x="3485350" y="1942477"/>
                  </a:lnTo>
                  <a:close/>
                </a:path>
                <a:path w="6551295" h="2014854">
                  <a:moveTo>
                    <a:pt x="3618700" y="1942477"/>
                  </a:moveTo>
                  <a:lnTo>
                    <a:pt x="3542500" y="1942477"/>
                  </a:lnTo>
                  <a:lnTo>
                    <a:pt x="3542500" y="1961527"/>
                  </a:lnTo>
                  <a:lnTo>
                    <a:pt x="3618700" y="1961527"/>
                  </a:lnTo>
                  <a:lnTo>
                    <a:pt x="3618700" y="1942477"/>
                  </a:lnTo>
                  <a:close/>
                </a:path>
                <a:path w="6551295" h="2014854">
                  <a:moveTo>
                    <a:pt x="3752050" y="1942477"/>
                  </a:moveTo>
                  <a:lnTo>
                    <a:pt x="3675850" y="1942477"/>
                  </a:lnTo>
                  <a:lnTo>
                    <a:pt x="3675850" y="1961527"/>
                  </a:lnTo>
                  <a:lnTo>
                    <a:pt x="3752050" y="1961527"/>
                  </a:lnTo>
                  <a:lnTo>
                    <a:pt x="3752050" y="1942477"/>
                  </a:lnTo>
                  <a:close/>
                </a:path>
                <a:path w="6551295" h="2014854">
                  <a:moveTo>
                    <a:pt x="3866883" y="1747481"/>
                  </a:moveTo>
                  <a:lnTo>
                    <a:pt x="3847833" y="1747481"/>
                  </a:lnTo>
                  <a:lnTo>
                    <a:pt x="3847833" y="1823681"/>
                  </a:lnTo>
                  <a:lnTo>
                    <a:pt x="3866883" y="1823681"/>
                  </a:lnTo>
                  <a:lnTo>
                    <a:pt x="3866883" y="1747481"/>
                  </a:lnTo>
                  <a:close/>
                </a:path>
                <a:path w="6551295" h="2014854">
                  <a:moveTo>
                    <a:pt x="3866883" y="1614131"/>
                  </a:moveTo>
                  <a:lnTo>
                    <a:pt x="3847833" y="1614131"/>
                  </a:lnTo>
                  <a:lnTo>
                    <a:pt x="3847833" y="1690331"/>
                  </a:lnTo>
                  <a:lnTo>
                    <a:pt x="3866883" y="1690331"/>
                  </a:lnTo>
                  <a:lnTo>
                    <a:pt x="3866883" y="1614131"/>
                  </a:lnTo>
                  <a:close/>
                </a:path>
                <a:path w="6551295" h="2014854">
                  <a:moveTo>
                    <a:pt x="3866883" y="1480781"/>
                  </a:moveTo>
                  <a:lnTo>
                    <a:pt x="3847833" y="1480781"/>
                  </a:lnTo>
                  <a:lnTo>
                    <a:pt x="3847833" y="1556981"/>
                  </a:lnTo>
                  <a:lnTo>
                    <a:pt x="3866883" y="1556981"/>
                  </a:lnTo>
                  <a:lnTo>
                    <a:pt x="3866883" y="1480781"/>
                  </a:lnTo>
                  <a:close/>
                </a:path>
                <a:path w="6551295" h="2014854">
                  <a:moveTo>
                    <a:pt x="3866883" y="1347431"/>
                  </a:moveTo>
                  <a:lnTo>
                    <a:pt x="3847833" y="1347431"/>
                  </a:lnTo>
                  <a:lnTo>
                    <a:pt x="3847833" y="1423631"/>
                  </a:lnTo>
                  <a:lnTo>
                    <a:pt x="3866883" y="1423631"/>
                  </a:lnTo>
                  <a:lnTo>
                    <a:pt x="3866883" y="1347431"/>
                  </a:lnTo>
                  <a:close/>
                </a:path>
                <a:path w="6551295" h="2014854">
                  <a:moveTo>
                    <a:pt x="3866883" y="1214081"/>
                  </a:moveTo>
                  <a:lnTo>
                    <a:pt x="3847833" y="1214081"/>
                  </a:lnTo>
                  <a:lnTo>
                    <a:pt x="3847833" y="1290281"/>
                  </a:lnTo>
                  <a:lnTo>
                    <a:pt x="3866883" y="1290281"/>
                  </a:lnTo>
                  <a:lnTo>
                    <a:pt x="3866883" y="1214081"/>
                  </a:lnTo>
                  <a:close/>
                </a:path>
                <a:path w="6551295" h="2014854">
                  <a:moveTo>
                    <a:pt x="3866883" y="1080731"/>
                  </a:moveTo>
                  <a:lnTo>
                    <a:pt x="3847833" y="1080731"/>
                  </a:lnTo>
                  <a:lnTo>
                    <a:pt x="3847833" y="1156931"/>
                  </a:lnTo>
                  <a:lnTo>
                    <a:pt x="3866883" y="1156931"/>
                  </a:lnTo>
                  <a:lnTo>
                    <a:pt x="3866883" y="1080731"/>
                  </a:lnTo>
                  <a:close/>
                </a:path>
                <a:path w="6551295" h="2014854">
                  <a:moveTo>
                    <a:pt x="3866883" y="947381"/>
                  </a:moveTo>
                  <a:lnTo>
                    <a:pt x="3847833" y="947381"/>
                  </a:lnTo>
                  <a:lnTo>
                    <a:pt x="3847833" y="1023581"/>
                  </a:lnTo>
                  <a:lnTo>
                    <a:pt x="3866883" y="1023581"/>
                  </a:lnTo>
                  <a:lnTo>
                    <a:pt x="3866883" y="947381"/>
                  </a:lnTo>
                  <a:close/>
                </a:path>
                <a:path w="6551295" h="2014854">
                  <a:moveTo>
                    <a:pt x="3866883" y="814031"/>
                  </a:moveTo>
                  <a:lnTo>
                    <a:pt x="3847833" y="814031"/>
                  </a:lnTo>
                  <a:lnTo>
                    <a:pt x="3847833" y="890231"/>
                  </a:lnTo>
                  <a:lnTo>
                    <a:pt x="3866883" y="890231"/>
                  </a:lnTo>
                  <a:lnTo>
                    <a:pt x="3866883" y="814031"/>
                  </a:lnTo>
                  <a:close/>
                </a:path>
                <a:path w="6551295" h="2014854">
                  <a:moveTo>
                    <a:pt x="3866883" y="680681"/>
                  </a:moveTo>
                  <a:lnTo>
                    <a:pt x="3847833" y="680681"/>
                  </a:lnTo>
                  <a:lnTo>
                    <a:pt x="3847833" y="756881"/>
                  </a:lnTo>
                  <a:lnTo>
                    <a:pt x="3866883" y="756881"/>
                  </a:lnTo>
                  <a:lnTo>
                    <a:pt x="3866883" y="680681"/>
                  </a:lnTo>
                  <a:close/>
                </a:path>
                <a:path w="6551295" h="2014854">
                  <a:moveTo>
                    <a:pt x="3885400" y="1942477"/>
                  </a:moveTo>
                  <a:lnTo>
                    <a:pt x="3866883" y="1942477"/>
                  </a:lnTo>
                  <a:lnTo>
                    <a:pt x="3866883" y="1880831"/>
                  </a:lnTo>
                  <a:lnTo>
                    <a:pt x="3847833" y="1880831"/>
                  </a:lnTo>
                  <a:lnTo>
                    <a:pt x="3847833" y="1942477"/>
                  </a:lnTo>
                  <a:lnTo>
                    <a:pt x="3809200" y="1942477"/>
                  </a:lnTo>
                  <a:lnTo>
                    <a:pt x="3809200" y="1961527"/>
                  </a:lnTo>
                  <a:lnTo>
                    <a:pt x="3885400" y="1961527"/>
                  </a:lnTo>
                  <a:lnTo>
                    <a:pt x="3885400" y="1942477"/>
                  </a:lnTo>
                  <a:close/>
                </a:path>
                <a:path w="6551295" h="2014854">
                  <a:moveTo>
                    <a:pt x="3920858" y="560209"/>
                  </a:moveTo>
                  <a:lnTo>
                    <a:pt x="3914508" y="547509"/>
                  </a:lnTo>
                  <a:lnTo>
                    <a:pt x="3857358" y="433209"/>
                  </a:lnTo>
                  <a:lnTo>
                    <a:pt x="3793858" y="560209"/>
                  </a:lnTo>
                  <a:lnTo>
                    <a:pt x="3847833" y="560209"/>
                  </a:lnTo>
                  <a:lnTo>
                    <a:pt x="3847833" y="623531"/>
                  </a:lnTo>
                  <a:lnTo>
                    <a:pt x="3866883" y="623531"/>
                  </a:lnTo>
                  <a:lnTo>
                    <a:pt x="3866883" y="560209"/>
                  </a:lnTo>
                  <a:lnTo>
                    <a:pt x="3920858" y="560209"/>
                  </a:lnTo>
                  <a:close/>
                </a:path>
                <a:path w="6551295" h="2014854">
                  <a:moveTo>
                    <a:pt x="4018750" y="1942477"/>
                  </a:moveTo>
                  <a:lnTo>
                    <a:pt x="3942550" y="1942477"/>
                  </a:lnTo>
                  <a:lnTo>
                    <a:pt x="3942550" y="1961527"/>
                  </a:lnTo>
                  <a:lnTo>
                    <a:pt x="4018750" y="1961527"/>
                  </a:lnTo>
                  <a:lnTo>
                    <a:pt x="4018750" y="1942477"/>
                  </a:lnTo>
                  <a:close/>
                </a:path>
                <a:path w="6551295" h="2014854">
                  <a:moveTo>
                    <a:pt x="4152100" y="1942477"/>
                  </a:moveTo>
                  <a:lnTo>
                    <a:pt x="4075900" y="1942477"/>
                  </a:lnTo>
                  <a:lnTo>
                    <a:pt x="4075900" y="1961527"/>
                  </a:lnTo>
                  <a:lnTo>
                    <a:pt x="4152100" y="1961527"/>
                  </a:lnTo>
                  <a:lnTo>
                    <a:pt x="4152100" y="1942477"/>
                  </a:lnTo>
                  <a:close/>
                </a:path>
                <a:path w="6551295" h="2014854">
                  <a:moveTo>
                    <a:pt x="4285450" y="1942477"/>
                  </a:moveTo>
                  <a:lnTo>
                    <a:pt x="4209250" y="1942477"/>
                  </a:lnTo>
                  <a:lnTo>
                    <a:pt x="4209250" y="1961527"/>
                  </a:lnTo>
                  <a:lnTo>
                    <a:pt x="4285450" y="1961527"/>
                  </a:lnTo>
                  <a:lnTo>
                    <a:pt x="4285450" y="1942477"/>
                  </a:lnTo>
                  <a:close/>
                </a:path>
                <a:path w="6551295" h="2014854">
                  <a:moveTo>
                    <a:pt x="4418800" y="1942477"/>
                  </a:moveTo>
                  <a:lnTo>
                    <a:pt x="4342600" y="1942477"/>
                  </a:lnTo>
                  <a:lnTo>
                    <a:pt x="4342600" y="1961527"/>
                  </a:lnTo>
                  <a:lnTo>
                    <a:pt x="4418800" y="1961527"/>
                  </a:lnTo>
                  <a:lnTo>
                    <a:pt x="4418800" y="1942477"/>
                  </a:lnTo>
                  <a:close/>
                </a:path>
                <a:path w="6551295" h="2014854">
                  <a:moveTo>
                    <a:pt x="4461180" y="1876285"/>
                  </a:moveTo>
                  <a:lnTo>
                    <a:pt x="4442130" y="1876285"/>
                  </a:lnTo>
                  <a:lnTo>
                    <a:pt x="4442130" y="1952485"/>
                  </a:lnTo>
                  <a:lnTo>
                    <a:pt x="4461180" y="1952485"/>
                  </a:lnTo>
                  <a:lnTo>
                    <a:pt x="4461180" y="1876285"/>
                  </a:lnTo>
                  <a:close/>
                </a:path>
                <a:path w="6551295" h="2014854">
                  <a:moveTo>
                    <a:pt x="4461180" y="1742935"/>
                  </a:moveTo>
                  <a:lnTo>
                    <a:pt x="4442130" y="1742935"/>
                  </a:lnTo>
                  <a:lnTo>
                    <a:pt x="4442130" y="1819135"/>
                  </a:lnTo>
                  <a:lnTo>
                    <a:pt x="4461180" y="1819135"/>
                  </a:lnTo>
                  <a:lnTo>
                    <a:pt x="4461180" y="1742935"/>
                  </a:lnTo>
                  <a:close/>
                </a:path>
                <a:path w="6551295" h="2014854">
                  <a:moveTo>
                    <a:pt x="4461180" y="1609585"/>
                  </a:moveTo>
                  <a:lnTo>
                    <a:pt x="4442130" y="1609585"/>
                  </a:lnTo>
                  <a:lnTo>
                    <a:pt x="4442130" y="1685785"/>
                  </a:lnTo>
                  <a:lnTo>
                    <a:pt x="4461180" y="1685785"/>
                  </a:lnTo>
                  <a:lnTo>
                    <a:pt x="4461180" y="1609585"/>
                  </a:lnTo>
                  <a:close/>
                </a:path>
                <a:path w="6551295" h="2014854">
                  <a:moveTo>
                    <a:pt x="4461180" y="1476235"/>
                  </a:moveTo>
                  <a:lnTo>
                    <a:pt x="4442130" y="1476235"/>
                  </a:lnTo>
                  <a:lnTo>
                    <a:pt x="4442130" y="1552435"/>
                  </a:lnTo>
                  <a:lnTo>
                    <a:pt x="4461180" y="1552435"/>
                  </a:lnTo>
                  <a:lnTo>
                    <a:pt x="4461180" y="1476235"/>
                  </a:lnTo>
                  <a:close/>
                </a:path>
                <a:path w="6551295" h="2014854">
                  <a:moveTo>
                    <a:pt x="4461180" y="1342885"/>
                  </a:moveTo>
                  <a:lnTo>
                    <a:pt x="4442130" y="1342885"/>
                  </a:lnTo>
                  <a:lnTo>
                    <a:pt x="4442130" y="1419085"/>
                  </a:lnTo>
                  <a:lnTo>
                    <a:pt x="4461180" y="1419085"/>
                  </a:lnTo>
                  <a:lnTo>
                    <a:pt x="4461180" y="1342885"/>
                  </a:lnTo>
                  <a:close/>
                </a:path>
                <a:path w="6551295" h="2014854">
                  <a:moveTo>
                    <a:pt x="4461180" y="1209535"/>
                  </a:moveTo>
                  <a:lnTo>
                    <a:pt x="4442130" y="1209535"/>
                  </a:lnTo>
                  <a:lnTo>
                    <a:pt x="4442130" y="1285735"/>
                  </a:lnTo>
                  <a:lnTo>
                    <a:pt x="4461180" y="1285735"/>
                  </a:lnTo>
                  <a:lnTo>
                    <a:pt x="4461180" y="1209535"/>
                  </a:lnTo>
                  <a:close/>
                </a:path>
                <a:path w="6551295" h="2014854">
                  <a:moveTo>
                    <a:pt x="4461180" y="1076185"/>
                  </a:moveTo>
                  <a:lnTo>
                    <a:pt x="4442130" y="1076185"/>
                  </a:lnTo>
                  <a:lnTo>
                    <a:pt x="4442130" y="1152385"/>
                  </a:lnTo>
                  <a:lnTo>
                    <a:pt x="4461180" y="1152385"/>
                  </a:lnTo>
                  <a:lnTo>
                    <a:pt x="4461180" y="1076185"/>
                  </a:lnTo>
                  <a:close/>
                </a:path>
                <a:path w="6551295" h="2014854">
                  <a:moveTo>
                    <a:pt x="4461180" y="942835"/>
                  </a:moveTo>
                  <a:lnTo>
                    <a:pt x="4442130" y="942835"/>
                  </a:lnTo>
                  <a:lnTo>
                    <a:pt x="4442130" y="1019035"/>
                  </a:lnTo>
                  <a:lnTo>
                    <a:pt x="4461180" y="1019035"/>
                  </a:lnTo>
                  <a:lnTo>
                    <a:pt x="4461180" y="942835"/>
                  </a:lnTo>
                  <a:close/>
                </a:path>
                <a:path w="6551295" h="2014854">
                  <a:moveTo>
                    <a:pt x="4515155" y="814882"/>
                  </a:moveTo>
                  <a:lnTo>
                    <a:pt x="4512449" y="809485"/>
                  </a:lnTo>
                  <a:lnTo>
                    <a:pt x="4451655" y="687882"/>
                  </a:lnTo>
                  <a:lnTo>
                    <a:pt x="4388155" y="814882"/>
                  </a:lnTo>
                  <a:lnTo>
                    <a:pt x="4442130" y="814882"/>
                  </a:lnTo>
                  <a:lnTo>
                    <a:pt x="4442130" y="885685"/>
                  </a:lnTo>
                  <a:lnTo>
                    <a:pt x="4461180" y="885685"/>
                  </a:lnTo>
                  <a:lnTo>
                    <a:pt x="4461180" y="814882"/>
                  </a:lnTo>
                  <a:lnTo>
                    <a:pt x="4515155" y="814882"/>
                  </a:lnTo>
                  <a:close/>
                </a:path>
                <a:path w="6551295" h="2014854">
                  <a:moveTo>
                    <a:pt x="4552150" y="1942477"/>
                  </a:moveTo>
                  <a:lnTo>
                    <a:pt x="4475950" y="1942477"/>
                  </a:lnTo>
                  <a:lnTo>
                    <a:pt x="4475950" y="1961527"/>
                  </a:lnTo>
                  <a:lnTo>
                    <a:pt x="4552150" y="1961527"/>
                  </a:lnTo>
                  <a:lnTo>
                    <a:pt x="4552150" y="1942477"/>
                  </a:lnTo>
                  <a:close/>
                </a:path>
                <a:path w="6551295" h="2014854">
                  <a:moveTo>
                    <a:pt x="4685500" y="1942477"/>
                  </a:moveTo>
                  <a:lnTo>
                    <a:pt x="4609300" y="1942477"/>
                  </a:lnTo>
                  <a:lnTo>
                    <a:pt x="4609300" y="1961527"/>
                  </a:lnTo>
                  <a:lnTo>
                    <a:pt x="4685500" y="1961527"/>
                  </a:lnTo>
                  <a:lnTo>
                    <a:pt x="4685500" y="1942477"/>
                  </a:lnTo>
                  <a:close/>
                </a:path>
                <a:path w="6551295" h="2014854">
                  <a:moveTo>
                    <a:pt x="4818850" y="1942477"/>
                  </a:moveTo>
                  <a:lnTo>
                    <a:pt x="4742650" y="1942477"/>
                  </a:lnTo>
                  <a:lnTo>
                    <a:pt x="4742650" y="1961527"/>
                  </a:lnTo>
                  <a:lnTo>
                    <a:pt x="4818850" y="1961527"/>
                  </a:lnTo>
                  <a:lnTo>
                    <a:pt x="4818850" y="1942477"/>
                  </a:lnTo>
                  <a:close/>
                </a:path>
                <a:path w="6551295" h="2014854">
                  <a:moveTo>
                    <a:pt x="4952200" y="1942477"/>
                  </a:moveTo>
                  <a:lnTo>
                    <a:pt x="4876000" y="1942477"/>
                  </a:lnTo>
                  <a:lnTo>
                    <a:pt x="4876000" y="1961527"/>
                  </a:lnTo>
                  <a:lnTo>
                    <a:pt x="4952200" y="1961527"/>
                  </a:lnTo>
                  <a:lnTo>
                    <a:pt x="4952200" y="1942477"/>
                  </a:lnTo>
                  <a:close/>
                </a:path>
                <a:path w="6551295" h="2014854">
                  <a:moveTo>
                    <a:pt x="5060010" y="1747481"/>
                  </a:moveTo>
                  <a:lnTo>
                    <a:pt x="5040960" y="1747481"/>
                  </a:lnTo>
                  <a:lnTo>
                    <a:pt x="5040960" y="1823681"/>
                  </a:lnTo>
                  <a:lnTo>
                    <a:pt x="5060010" y="1823681"/>
                  </a:lnTo>
                  <a:lnTo>
                    <a:pt x="5060010" y="1747481"/>
                  </a:lnTo>
                  <a:close/>
                </a:path>
                <a:path w="6551295" h="2014854">
                  <a:moveTo>
                    <a:pt x="5060010" y="1614131"/>
                  </a:moveTo>
                  <a:lnTo>
                    <a:pt x="5040960" y="1614131"/>
                  </a:lnTo>
                  <a:lnTo>
                    <a:pt x="5040960" y="1690331"/>
                  </a:lnTo>
                  <a:lnTo>
                    <a:pt x="5060010" y="1690331"/>
                  </a:lnTo>
                  <a:lnTo>
                    <a:pt x="5060010" y="1614131"/>
                  </a:lnTo>
                  <a:close/>
                </a:path>
                <a:path w="6551295" h="2014854">
                  <a:moveTo>
                    <a:pt x="5060010" y="1480781"/>
                  </a:moveTo>
                  <a:lnTo>
                    <a:pt x="5040960" y="1480781"/>
                  </a:lnTo>
                  <a:lnTo>
                    <a:pt x="5040960" y="1556981"/>
                  </a:lnTo>
                  <a:lnTo>
                    <a:pt x="5060010" y="1556981"/>
                  </a:lnTo>
                  <a:lnTo>
                    <a:pt x="5060010" y="1480781"/>
                  </a:lnTo>
                  <a:close/>
                </a:path>
                <a:path w="6551295" h="2014854">
                  <a:moveTo>
                    <a:pt x="5060010" y="1347431"/>
                  </a:moveTo>
                  <a:lnTo>
                    <a:pt x="5040960" y="1347431"/>
                  </a:lnTo>
                  <a:lnTo>
                    <a:pt x="5040960" y="1423631"/>
                  </a:lnTo>
                  <a:lnTo>
                    <a:pt x="5060010" y="1423631"/>
                  </a:lnTo>
                  <a:lnTo>
                    <a:pt x="5060010" y="1347431"/>
                  </a:lnTo>
                  <a:close/>
                </a:path>
                <a:path w="6551295" h="2014854">
                  <a:moveTo>
                    <a:pt x="5060010" y="1214081"/>
                  </a:moveTo>
                  <a:lnTo>
                    <a:pt x="5040960" y="1214081"/>
                  </a:lnTo>
                  <a:lnTo>
                    <a:pt x="5040960" y="1290281"/>
                  </a:lnTo>
                  <a:lnTo>
                    <a:pt x="5060010" y="1290281"/>
                  </a:lnTo>
                  <a:lnTo>
                    <a:pt x="5060010" y="1214081"/>
                  </a:lnTo>
                  <a:close/>
                </a:path>
                <a:path w="6551295" h="2014854">
                  <a:moveTo>
                    <a:pt x="5060010" y="1080731"/>
                  </a:moveTo>
                  <a:lnTo>
                    <a:pt x="5040960" y="1080731"/>
                  </a:lnTo>
                  <a:lnTo>
                    <a:pt x="5040960" y="1156931"/>
                  </a:lnTo>
                  <a:lnTo>
                    <a:pt x="5060010" y="1156931"/>
                  </a:lnTo>
                  <a:lnTo>
                    <a:pt x="5060010" y="1080731"/>
                  </a:lnTo>
                  <a:close/>
                </a:path>
                <a:path w="6551295" h="2014854">
                  <a:moveTo>
                    <a:pt x="5085550" y="1942477"/>
                  </a:moveTo>
                  <a:lnTo>
                    <a:pt x="5060010" y="1942477"/>
                  </a:lnTo>
                  <a:lnTo>
                    <a:pt x="5060010" y="1880831"/>
                  </a:lnTo>
                  <a:lnTo>
                    <a:pt x="5040960" y="1880831"/>
                  </a:lnTo>
                  <a:lnTo>
                    <a:pt x="5040960" y="1942477"/>
                  </a:lnTo>
                  <a:lnTo>
                    <a:pt x="5009350" y="1942477"/>
                  </a:lnTo>
                  <a:lnTo>
                    <a:pt x="5009350" y="1961527"/>
                  </a:lnTo>
                  <a:lnTo>
                    <a:pt x="5085550" y="1961527"/>
                  </a:lnTo>
                  <a:lnTo>
                    <a:pt x="5085550" y="1942477"/>
                  </a:lnTo>
                  <a:close/>
                </a:path>
                <a:path w="6551295" h="2014854">
                  <a:moveTo>
                    <a:pt x="5113985" y="1032103"/>
                  </a:moveTo>
                  <a:lnTo>
                    <a:pt x="5109718" y="1023581"/>
                  </a:lnTo>
                  <a:lnTo>
                    <a:pt x="5107635" y="1019403"/>
                  </a:lnTo>
                  <a:lnTo>
                    <a:pt x="5050485" y="905103"/>
                  </a:lnTo>
                  <a:lnTo>
                    <a:pt x="4986985" y="1032103"/>
                  </a:lnTo>
                  <a:lnTo>
                    <a:pt x="5113985" y="1032103"/>
                  </a:lnTo>
                  <a:close/>
                </a:path>
                <a:path w="6551295" h="2014854">
                  <a:moveTo>
                    <a:pt x="5218900" y="1942477"/>
                  </a:moveTo>
                  <a:lnTo>
                    <a:pt x="5142700" y="1942477"/>
                  </a:lnTo>
                  <a:lnTo>
                    <a:pt x="5142700" y="1961527"/>
                  </a:lnTo>
                  <a:lnTo>
                    <a:pt x="5218900" y="1961527"/>
                  </a:lnTo>
                  <a:lnTo>
                    <a:pt x="5218900" y="1942477"/>
                  </a:lnTo>
                  <a:close/>
                </a:path>
                <a:path w="6551295" h="2014854">
                  <a:moveTo>
                    <a:pt x="5352250" y="1942477"/>
                  </a:moveTo>
                  <a:lnTo>
                    <a:pt x="5276050" y="1942477"/>
                  </a:lnTo>
                  <a:lnTo>
                    <a:pt x="5276050" y="1961527"/>
                  </a:lnTo>
                  <a:lnTo>
                    <a:pt x="5352250" y="1961527"/>
                  </a:lnTo>
                  <a:lnTo>
                    <a:pt x="5352250" y="1942477"/>
                  </a:lnTo>
                  <a:close/>
                </a:path>
                <a:path w="6551295" h="2014854">
                  <a:moveTo>
                    <a:pt x="5485600" y="1942477"/>
                  </a:moveTo>
                  <a:lnTo>
                    <a:pt x="5409400" y="1942477"/>
                  </a:lnTo>
                  <a:lnTo>
                    <a:pt x="5409400" y="1961527"/>
                  </a:lnTo>
                  <a:lnTo>
                    <a:pt x="5485600" y="1961527"/>
                  </a:lnTo>
                  <a:lnTo>
                    <a:pt x="5485600" y="1942477"/>
                  </a:lnTo>
                  <a:close/>
                </a:path>
                <a:path w="6551295" h="2014854">
                  <a:moveTo>
                    <a:pt x="5618950" y="1942477"/>
                  </a:moveTo>
                  <a:lnTo>
                    <a:pt x="5542750" y="1942477"/>
                  </a:lnTo>
                  <a:lnTo>
                    <a:pt x="5542750" y="1961527"/>
                  </a:lnTo>
                  <a:lnTo>
                    <a:pt x="5618950" y="1961527"/>
                  </a:lnTo>
                  <a:lnTo>
                    <a:pt x="5618950" y="1942477"/>
                  </a:lnTo>
                  <a:close/>
                </a:path>
                <a:path w="6551295" h="2014854">
                  <a:moveTo>
                    <a:pt x="5661406" y="1851571"/>
                  </a:moveTo>
                  <a:lnTo>
                    <a:pt x="5642356" y="1851571"/>
                  </a:lnTo>
                  <a:lnTo>
                    <a:pt x="5642356" y="1927771"/>
                  </a:lnTo>
                  <a:lnTo>
                    <a:pt x="5661406" y="1927771"/>
                  </a:lnTo>
                  <a:lnTo>
                    <a:pt x="5661406" y="1851571"/>
                  </a:lnTo>
                  <a:close/>
                </a:path>
                <a:path w="6551295" h="2014854">
                  <a:moveTo>
                    <a:pt x="5661406" y="1718221"/>
                  </a:moveTo>
                  <a:lnTo>
                    <a:pt x="5642356" y="1718221"/>
                  </a:lnTo>
                  <a:lnTo>
                    <a:pt x="5642356" y="1794421"/>
                  </a:lnTo>
                  <a:lnTo>
                    <a:pt x="5661406" y="1794421"/>
                  </a:lnTo>
                  <a:lnTo>
                    <a:pt x="5661406" y="1718221"/>
                  </a:lnTo>
                  <a:close/>
                </a:path>
                <a:path w="6551295" h="2014854">
                  <a:moveTo>
                    <a:pt x="5661406" y="1584871"/>
                  </a:moveTo>
                  <a:lnTo>
                    <a:pt x="5642356" y="1584871"/>
                  </a:lnTo>
                  <a:lnTo>
                    <a:pt x="5642356" y="1661071"/>
                  </a:lnTo>
                  <a:lnTo>
                    <a:pt x="5661406" y="1661071"/>
                  </a:lnTo>
                  <a:lnTo>
                    <a:pt x="5661406" y="1584871"/>
                  </a:lnTo>
                  <a:close/>
                </a:path>
                <a:path w="6551295" h="2014854">
                  <a:moveTo>
                    <a:pt x="5661406" y="1451521"/>
                  </a:moveTo>
                  <a:lnTo>
                    <a:pt x="5642356" y="1451521"/>
                  </a:lnTo>
                  <a:lnTo>
                    <a:pt x="5642356" y="1527721"/>
                  </a:lnTo>
                  <a:lnTo>
                    <a:pt x="5661406" y="1527721"/>
                  </a:lnTo>
                  <a:lnTo>
                    <a:pt x="5661406" y="1451521"/>
                  </a:lnTo>
                  <a:close/>
                </a:path>
                <a:path w="6551295" h="2014854">
                  <a:moveTo>
                    <a:pt x="5661406" y="1318171"/>
                  </a:moveTo>
                  <a:lnTo>
                    <a:pt x="5642356" y="1318171"/>
                  </a:lnTo>
                  <a:lnTo>
                    <a:pt x="5642356" y="1394371"/>
                  </a:lnTo>
                  <a:lnTo>
                    <a:pt x="5661406" y="1394371"/>
                  </a:lnTo>
                  <a:lnTo>
                    <a:pt x="5661406" y="1318171"/>
                  </a:lnTo>
                  <a:close/>
                </a:path>
                <a:path w="6551295" h="2014854">
                  <a:moveTo>
                    <a:pt x="5715381" y="1304798"/>
                  </a:moveTo>
                  <a:lnTo>
                    <a:pt x="5651881" y="1177798"/>
                  </a:lnTo>
                  <a:lnTo>
                    <a:pt x="5588381" y="1304798"/>
                  </a:lnTo>
                  <a:lnTo>
                    <a:pt x="5715381" y="1304798"/>
                  </a:lnTo>
                  <a:close/>
                </a:path>
                <a:path w="6551295" h="2014854">
                  <a:moveTo>
                    <a:pt x="5963793" y="54000"/>
                  </a:moveTo>
                  <a:lnTo>
                    <a:pt x="5887593" y="54000"/>
                  </a:lnTo>
                  <a:lnTo>
                    <a:pt x="5887593" y="73050"/>
                  </a:lnTo>
                  <a:lnTo>
                    <a:pt x="5963793" y="73050"/>
                  </a:lnTo>
                  <a:lnTo>
                    <a:pt x="5963793" y="54000"/>
                  </a:lnTo>
                  <a:close/>
                </a:path>
                <a:path w="6551295" h="2014854">
                  <a:moveTo>
                    <a:pt x="6097143" y="54000"/>
                  </a:moveTo>
                  <a:lnTo>
                    <a:pt x="6020943" y="54000"/>
                  </a:lnTo>
                  <a:lnTo>
                    <a:pt x="6020943" y="73050"/>
                  </a:lnTo>
                  <a:lnTo>
                    <a:pt x="6097143" y="73050"/>
                  </a:lnTo>
                  <a:lnTo>
                    <a:pt x="6097143" y="54000"/>
                  </a:lnTo>
                  <a:close/>
                </a:path>
                <a:path w="6551295" h="2014854">
                  <a:moveTo>
                    <a:pt x="6230493" y="54000"/>
                  </a:moveTo>
                  <a:lnTo>
                    <a:pt x="6154293" y="54000"/>
                  </a:lnTo>
                  <a:lnTo>
                    <a:pt x="6154293" y="73050"/>
                  </a:lnTo>
                  <a:lnTo>
                    <a:pt x="6230493" y="73050"/>
                  </a:lnTo>
                  <a:lnTo>
                    <a:pt x="6230493" y="54000"/>
                  </a:lnTo>
                  <a:close/>
                </a:path>
                <a:path w="6551295" h="2014854">
                  <a:moveTo>
                    <a:pt x="6363843" y="54000"/>
                  </a:moveTo>
                  <a:lnTo>
                    <a:pt x="6287643" y="54000"/>
                  </a:lnTo>
                  <a:lnTo>
                    <a:pt x="6287643" y="73050"/>
                  </a:lnTo>
                  <a:lnTo>
                    <a:pt x="6363843" y="73050"/>
                  </a:lnTo>
                  <a:lnTo>
                    <a:pt x="6363843" y="54000"/>
                  </a:lnTo>
                  <a:close/>
                </a:path>
                <a:path w="6551295" h="2014854">
                  <a:moveTo>
                    <a:pt x="6550838" y="63525"/>
                  </a:moveTo>
                  <a:lnTo>
                    <a:pt x="6531788" y="54000"/>
                  </a:lnTo>
                  <a:lnTo>
                    <a:pt x="6423838" y="25"/>
                  </a:lnTo>
                  <a:lnTo>
                    <a:pt x="6423838" y="54000"/>
                  </a:lnTo>
                  <a:lnTo>
                    <a:pt x="6420993" y="54000"/>
                  </a:lnTo>
                  <a:lnTo>
                    <a:pt x="6420993" y="73050"/>
                  </a:lnTo>
                  <a:lnTo>
                    <a:pt x="6423838" y="73050"/>
                  </a:lnTo>
                  <a:lnTo>
                    <a:pt x="6423838" y="127025"/>
                  </a:lnTo>
                  <a:lnTo>
                    <a:pt x="6531788" y="73050"/>
                  </a:lnTo>
                  <a:lnTo>
                    <a:pt x="6550838" y="635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8" name="object 2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63313" y="5097093"/>
            <a:ext cx="477306" cy="328812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282533" y="5047879"/>
            <a:ext cx="1256006" cy="374045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6228874" y="6788208"/>
            <a:ext cx="205740" cy="654685"/>
            <a:chOff x="6228874" y="6788208"/>
            <a:chExt cx="205740" cy="654685"/>
          </a:xfrm>
        </p:grpSpPr>
        <p:sp>
          <p:nvSpPr>
            <p:cNvPr id="31" name="object 31"/>
            <p:cNvSpPr/>
            <p:nvPr/>
          </p:nvSpPr>
          <p:spPr>
            <a:xfrm>
              <a:off x="6241574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179771" y="0"/>
                  </a:moveTo>
                  <a:lnTo>
                    <a:pt x="0" y="0"/>
                  </a:lnTo>
                  <a:lnTo>
                    <a:pt x="0" y="629202"/>
                  </a:lnTo>
                  <a:lnTo>
                    <a:pt x="179771" y="629202"/>
                  </a:lnTo>
                  <a:lnTo>
                    <a:pt x="179771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241574" y="6800908"/>
              <a:ext cx="180340" cy="629285"/>
            </a:xfrm>
            <a:custGeom>
              <a:avLst/>
              <a:gdLst/>
              <a:ahLst/>
              <a:cxnLst/>
              <a:rect l="l" t="t" r="r" b="b"/>
              <a:pathLst>
                <a:path w="180339" h="629284">
                  <a:moveTo>
                    <a:pt x="0" y="0"/>
                  </a:moveTo>
                  <a:lnTo>
                    <a:pt x="179771" y="0"/>
                  </a:lnTo>
                  <a:lnTo>
                    <a:pt x="179771" y="629203"/>
                  </a:lnTo>
                  <a:lnTo>
                    <a:pt x="0" y="6292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39990" y="7152131"/>
            <a:ext cx="15774669" cy="268224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73101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Trebuchet MS"/>
                <a:cs typeface="Trebuchet MS"/>
              </a:rPr>
              <a:t>Time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Representation</a:t>
            </a:r>
            <a:endParaRPr sz="2000">
              <a:latin typeface="Trebuchet MS"/>
              <a:cs typeface="Trebuchet MS"/>
            </a:endParaRPr>
          </a:p>
          <a:p>
            <a:pPr marL="5069840" marR="9421495" indent="-547370">
              <a:lnSpc>
                <a:spcPts val="2210"/>
              </a:lnSpc>
              <a:spcBef>
                <a:spcPts val="400"/>
              </a:spcBef>
            </a:pPr>
            <a:r>
              <a:rPr sz="2000" spc="-10" dirty="0">
                <a:latin typeface="Trebuchet MS"/>
                <a:cs typeface="Trebuchet MS"/>
              </a:rPr>
              <a:t>Fully-connected Layers</a:t>
            </a:r>
            <a:endParaRPr sz="2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Trebuchet MS"/>
                <a:cs typeface="Trebuchet MS"/>
              </a:rPr>
              <a:t>Time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representation: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sinusoidal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positional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embeddings</a:t>
            </a:r>
            <a:r>
              <a:rPr sz="2300" spc="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or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random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Fourier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features.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2300">
              <a:latin typeface="Trebuchet MS"/>
              <a:cs typeface="Trebuchet MS"/>
            </a:endParaRPr>
          </a:p>
          <a:p>
            <a:pPr marL="12700" marR="5080">
              <a:lnSpc>
                <a:spcPts val="2500"/>
              </a:lnSpc>
            </a:pPr>
            <a:r>
              <a:rPr sz="2300" dirty="0">
                <a:latin typeface="Trebuchet MS"/>
                <a:cs typeface="Trebuchet MS"/>
              </a:rPr>
              <a:t>Time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features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fed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residual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blocks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using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either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simple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spatial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addition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or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using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adaptive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group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normalization </a:t>
            </a:r>
            <a:r>
              <a:rPr sz="2300" dirty="0">
                <a:latin typeface="Trebuchet MS"/>
                <a:cs typeface="Trebuchet MS"/>
              </a:rPr>
              <a:t>layers.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(see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Dharivwal</a:t>
            </a:r>
            <a:r>
              <a:rPr sz="2300" u="sng" spc="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and</a:t>
            </a:r>
            <a:r>
              <a:rPr sz="2300" u="sng" spc="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Nichol</a:t>
            </a:r>
            <a:r>
              <a:rPr sz="2300" u="sng" spc="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3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NeurIPS</a:t>
            </a:r>
            <a:r>
              <a:rPr sz="2300" u="sng" spc="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3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2021</a:t>
            </a:r>
            <a:r>
              <a:rPr sz="2300" spc="-10" dirty="0">
                <a:latin typeface="Trebuchet MS"/>
                <a:cs typeface="Trebuchet MS"/>
              </a:rPr>
              <a:t>)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34" name="object 3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20701" y="4294871"/>
            <a:ext cx="1672062" cy="1672064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848537" y="4294871"/>
            <a:ext cx="1672064" cy="1672064"/>
          </a:xfrm>
          <a:prstGeom prst="rect">
            <a:avLst/>
          </a:prstGeom>
        </p:spPr>
      </p:pic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3241975" y="6761078"/>
          <a:ext cx="1139190" cy="22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0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5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71C5"/>
                      </a:solidFill>
                      <a:prstDash val="solid"/>
                    </a:lnL>
                    <a:lnR w="28575">
                      <a:solidFill>
                        <a:srgbClr val="0071C5"/>
                      </a:solidFill>
                      <a:prstDash val="solid"/>
                    </a:lnR>
                    <a:lnT w="28575">
                      <a:solidFill>
                        <a:srgbClr val="0071C5"/>
                      </a:solidFill>
                      <a:prstDash val="solid"/>
                    </a:lnT>
                    <a:lnB w="28575">
                      <a:solidFill>
                        <a:srgbClr val="0071C5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26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56573" y="1066800"/>
            <a:ext cx="197294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Part</a:t>
            </a:r>
            <a:r>
              <a:rPr spc="-75" dirty="0"/>
              <a:t> </a:t>
            </a:r>
            <a:r>
              <a:rPr dirty="0"/>
              <a:t>(1):</a:t>
            </a:r>
            <a:r>
              <a:rPr spc="-75" dirty="0"/>
              <a:t> </a:t>
            </a:r>
            <a:r>
              <a:rPr dirty="0"/>
              <a:t>Denoising</a:t>
            </a:r>
            <a:r>
              <a:rPr spc="-85" dirty="0"/>
              <a:t> </a:t>
            </a:r>
            <a:r>
              <a:rPr dirty="0"/>
              <a:t>Diffusion</a:t>
            </a:r>
            <a:r>
              <a:rPr spc="-80" dirty="0"/>
              <a:t> </a:t>
            </a:r>
            <a:r>
              <a:rPr dirty="0"/>
              <a:t>Probabilistic</a:t>
            </a:r>
            <a:r>
              <a:rPr spc="-70" dirty="0"/>
              <a:t> </a:t>
            </a:r>
            <a:r>
              <a:rPr spc="-10" dirty="0"/>
              <a:t>Models</a:t>
            </a: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Part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(2):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spc="-20" dirty="0">
                <a:solidFill>
                  <a:srgbClr val="C00000"/>
                </a:solidFill>
                <a:latin typeface="Trebuchet MS"/>
                <a:cs typeface="Trebuchet MS"/>
              </a:rPr>
              <a:t>Score-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based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Generative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Modeling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with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Differential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C00000"/>
                </a:solidFill>
                <a:latin typeface="Trebuchet MS"/>
                <a:cs typeface="Trebuchet MS"/>
              </a:rPr>
              <a:t>Equations</a:t>
            </a: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(3):</a:t>
            </a:r>
            <a:r>
              <a:rPr spc="-65" dirty="0"/>
              <a:t> </a:t>
            </a:r>
            <a:r>
              <a:rPr dirty="0"/>
              <a:t>Accelerated</a:t>
            </a:r>
            <a:r>
              <a:rPr spc="-65" dirty="0"/>
              <a:t> </a:t>
            </a:r>
            <a:r>
              <a:rPr spc="-10" dirty="0"/>
              <a:t>Sampling</a:t>
            </a: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dirty="0"/>
              <a:t>Part</a:t>
            </a:r>
            <a:r>
              <a:rPr spc="-55" dirty="0"/>
              <a:t> </a:t>
            </a:r>
            <a:r>
              <a:rPr dirty="0"/>
              <a:t>(4):</a:t>
            </a:r>
            <a:r>
              <a:rPr spc="-60" dirty="0"/>
              <a:t> </a:t>
            </a:r>
            <a:r>
              <a:rPr dirty="0"/>
              <a:t>Conditional</a:t>
            </a:r>
            <a:r>
              <a:rPr spc="-60" dirty="0"/>
              <a:t> </a:t>
            </a:r>
            <a:r>
              <a:rPr dirty="0"/>
              <a:t>Generation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Guidance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080385">
              <a:lnSpc>
                <a:spcPct val="100000"/>
              </a:lnSpc>
              <a:spcBef>
                <a:spcPts val="100"/>
              </a:spcBef>
            </a:pPr>
            <a:r>
              <a:rPr dirty="0"/>
              <a:t>Crash</a:t>
            </a:r>
            <a:r>
              <a:rPr spc="-165" dirty="0"/>
              <a:t> </a:t>
            </a:r>
            <a:r>
              <a:rPr dirty="0"/>
              <a:t>Course</a:t>
            </a:r>
            <a:r>
              <a:rPr spc="-155" dirty="0"/>
              <a:t> </a:t>
            </a:r>
            <a:r>
              <a:rPr dirty="0"/>
              <a:t>in</a:t>
            </a:r>
            <a:r>
              <a:rPr spc="-160" dirty="0"/>
              <a:t> </a:t>
            </a:r>
            <a:r>
              <a:rPr dirty="0"/>
              <a:t>Differential</a:t>
            </a:r>
            <a:r>
              <a:rPr spc="-155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9319" y="2365247"/>
            <a:ext cx="521017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Trebuchet MS"/>
                <a:cs typeface="Trebuchet MS"/>
              </a:rPr>
              <a:t>Ordinary</a:t>
            </a:r>
            <a:r>
              <a:rPr sz="2300" b="1" spc="7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Differential</a:t>
            </a:r>
            <a:r>
              <a:rPr sz="2300" b="1" spc="5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Equation</a:t>
            </a:r>
            <a:r>
              <a:rPr sz="2300" b="1" spc="6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(ODE):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0700" y="3046328"/>
            <a:ext cx="195580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68145" algn="l"/>
              </a:tabLst>
            </a:pPr>
            <a:r>
              <a:rPr sz="3050" spc="850" dirty="0">
                <a:latin typeface="Calibri"/>
                <a:cs typeface="Calibri"/>
              </a:rPr>
              <a:t>=</a:t>
            </a:r>
            <a:r>
              <a:rPr sz="3050" spc="170" dirty="0">
                <a:latin typeface="Calibri"/>
                <a:cs typeface="Calibri"/>
              </a:rPr>
              <a:t> </a:t>
            </a:r>
            <a:r>
              <a:rPr sz="3050" b="1" spc="114" dirty="0">
                <a:latin typeface="Calibri"/>
                <a:cs typeface="Calibri"/>
              </a:rPr>
              <a:t>f</a:t>
            </a:r>
            <a:r>
              <a:rPr sz="3050" b="1" spc="-355" dirty="0">
                <a:latin typeface="Calibri"/>
                <a:cs typeface="Calibri"/>
              </a:rPr>
              <a:t> </a:t>
            </a:r>
            <a:r>
              <a:rPr sz="3050" spc="320" dirty="0">
                <a:latin typeface="Calibri"/>
                <a:cs typeface="Calibri"/>
              </a:rPr>
              <a:t>(</a:t>
            </a:r>
            <a:r>
              <a:rPr sz="3050" b="1" spc="320" dirty="0">
                <a:latin typeface="Calibri"/>
                <a:cs typeface="Calibri"/>
              </a:rPr>
              <a:t>x</a:t>
            </a:r>
            <a:r>
              <a:rPr sz="3050" i="1" spc="320" dirty="0">
                <a:latin typeface="Cambria"/>
                <a:cs typeface="Cambria"/>
              </a:rPr>
              <a:t>,</a:t>
            </a:r>
            <a:r>
              <a:rPr sz="3050" i="1" spc="-150" dirty="0">
                <a:latin typeface="Cambria"/>
                <a:cs typeface="Cambria"/>
              </a:rPr>
              <a:t> </a:t>
            </a:r>
            <a:r>
              <a:rPr sz="3050" i="1" spc="130" dirty="0">
                <a:latin typeface="Cambria"/>
                <a:cs typeface="Cambria"/>
              </a:rPr>
              <a:t>t</a:t>
            </a:r>
            <a:r>
              <a:rPr sz="3050" spc="130" dirty="0">
                <a:latin typeface="Calibri"/>
                <a:cs typeface="Calibri"/>
              </a:rPr>
              <a:t>)</a:t>
            </a:r>
            <a:r>
              <a:rPr sz="3050" dirty="0">
                <a:latin typeface="Calibri"/>
                <a:cs typeface="Calibri"/>
              </a:rPr>
              <a:t>	</a:t>
            </a:r>
            <a:r>
              <a:rPr sz="2300" spc="-35" dirty="0">
                <a:latin typeface="Trebuchet MS"/>
                <a:cs typeface="Trebuchet MS"/>
              </a:rPr>
              <a:t>or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23864" y="3052354"/>
            <a:ext cx="225933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245" dirty="0">
                <a:latin typeface="Calibri"/>
                <a:cs typeface="Calibri"/>
              </a:rPr>
              <a:t>d</a:t>
            </a:r>
            <a:r>
              <a:rPr sz="2900" b="1" spc="245" dirty="0">
                <a:latin typeface="Calibri"/>
                <a:cs typeface="Calibri"/>
              </a:rPr>
              <a:t>x</a:t>
            </a:r>
            <a:r>
              <a:rPr sz="2900" b="1" spc="155" dirty="0">
                <a:latin typeface="Calibri"/>
                <a:cs typeface="Calibri"/>
              </a:rPr>
              <a:t> </a:t>
            </a:r>
            <a:r>
              <a:rPr sz="2900" spc="795" dirty="0">
                <a:latin typeface="Calibri"/>
                <a:cs typeface="Calibri"/>
              </a:rPr>
              <a:t>=</a:t>
            </a:r>
            <a:r>
              <a:rPr sz="2900" spc="155" dirty="0">
                <a:latin typeface="Calibri"/>
                <a:cs typeface="Calibri"/>
              </a:rPr>
              <a:t> </a:t>
            </a:r>
            <a:r>
              <a:rPr sz="2900" b="1" spc="100" dirty="0">
                <a:latin typeface="Calibri"/>
                <a:cs typeface="Calibri"/>
              </a:rPr>
              <a:t>f</a:t>
            </a:r>
            <a:r>
              <a:rPr sz="2900" b="1" spc="-340" dirty="0">
                <a:latin typeface="Calibri"/>
                <a:cs typeface="Calibri"/>
              </a:rPr>
              <a:t> </a:t>
            </a:r>
            <a:r>
              <a:rPr sz="2900" spc="290" dirty="0">
                <a:latin typeface="Calibri"/>
                <a:cs typeface="Calibri"/>
              </a:rPr>
              <a:t>(</a:t>
            </a:r>
            <a:r>
              <a:rPr sz="2900" b="1" spc="290" dirty="0">
                <a:latin typeface="Calibri"/>
                <a:cs typeface="Calibri"/>
              </a:rPr>
              <a:t>x</a:t>
            </a:r>
            <a:r>
              <a:rPr sz="2900" i="1" spc="290" dirty="0">
                <a:latin typeface="Cambria"/>
                <a:cs typeface="Cambria"/>
              </a:rPr>
              <a:t>,</a:t>
            </a:r>
            <a:r>
              <a:rPr sz="2900" i="1" spc="-150" dirty="0">
                <a:latin typeface="Cambria"/>
                <a:cs typeface="Cambria"/>
              </a:rPr>
              <a:t> </a:t>
            </a:r>
            <a:r>
              <a:rPr sz="2900" i="1" spc="75" dirty="0">
                <a:latin typeface="Cambria"/>
                <a:cs typeface="Cambria"/>
              </a:rPr>
              <a:t>t</a:t>
            </a:r>
            <a:r>
              <a:rPr sz="2900" spc="75" dirty="0">
                <a:latin typeface="Calibri"/>
                <a:cs typeface="Calibri"/>
              </a:rPr>
              <a:t>)d</a:t>
            </a:r>
            <a:r>
              <a:rPr sz="2900" i="1" spc="75" dirty="0">
                <a:latin typeface="Cambria"/>
                <a:cs typeface="Cambria"/>
              </a:rPr>
              <a:t>t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0130" y="2776959"/>
            <a:ext cx="480059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250" dirty="0">
                <a:latin typeface="Calibri"/>
                <a:cs typeface="Calibri"/>
              </a:rPr>
              <a:t>d</a:t>
            </a:r>
            <a:r>
              <a:rPr sz="3050" b="1" spc="250" dirty="0">
                <a:latin typeface="Calibri"/>
                <a:cs typeface="Calibri"/>
              </a:rPr>
              <a:t>x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2824" y="3347855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4">
                <a:moveTo>
                  <a:pt x="0" y="0"/>
                </a:moveTo>
                <a:lnTo>
                  <a:pt x="454913" y="0"/>
                </a:lnTo>
              </a:path>
            </a:pathLst>
          </a:custGeom>
          <a:ln w="156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8245" y="3310113"/>
            <a:ext cx="3841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45" dirty="0">
                <a:latin typeface="Calibri"/>
                <a:cs typeface="Calibri"/>
              </a:rPr>
              <a:t>d</a:t>
            </a:r>
            <a:r>
              <a:rPr sz="3050" i="1" spc="45" dirty="0">
                <a:latin typeface="Cambria"/>
                <a:cs typeface="Cambria"/>
              </a:rPr>
              <a:t>t</a:t>
            </a:r>
            <a:endParaRPr sz="305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09431" y="4046155"/>
            <a:ext cx="4607560" cy="3476625"/>
            <a:chOff x="1109431" y="4046155"/>
            <a:chExt cx="4607560" cy="347662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0230" y="4096955"/>
              <a:ext cx="4505497" cy="3374967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134831" y="4071555"/>
              <a:ext cx="4556760" cy="3425825"/>
            </a:xfrm>
            <a:custGeom>
              <a:avLst/>
              <a:gdLst/>
              <a:ahLst/>
              <a:cxnLst/>
              <a:rect l="l" t="t" r="r" b="b"/>
              <a:pathLst>
                <a:path w="4556760" h="3425825">
                  <a:moveTo>
                    <a:pt x="0" y="0"/>
                  </a:moveTo>
                  <a:lnTo>
                    <a:pt x="4556297" y="0"/>
                  </a:lnTo>
                  <a:lnTo>
                    <a:pt x="4556297" y="3425766"/>
                  </a:lnTo>
                  <a:lnTo>
                    <a:pt x="0" y="3425766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B9B9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909693" y="4086062"/>
            <a:ext cx="114300" cy="3375025"/>
          </a:xfrm>
          <a:custGeom>
            <a:avLst/>
            <a:gdLst/>
            <a:ahLst/>
            <a:cxnLst/>
            <a:rect l="l" t="t" r="r" b="b"/>
            <a:pathLst>
              <a:path w="114300" h="3375025">
                <a:moveTo>
                  <a:pt x="76200" y="95246"/>
                </a:moveTo>
                <a:lnTo>
                  <a:pt x="38100" y="95246"/>
                </a:lnTo>
                <a:lnTo>
                  <a:pt x="38098" y="3374967"/>
                </a:lnTo>
                <a:lnTo>
                  <a:pt x="76198" y="3374967"/>
                </a:lnTo>
                <a:lnTo>
                  <a:pt x="76200" y="95246"/>
                </a:lnTo>
                <a:close/>
              </a:path>
              <a:path w="114300" h="3375025">
                <a:moveTo>
                  <a:pt x="57150" y="0"/>
                </a:moveTo>
                <a:lnTo>
                  <a:pt x="0" y="114300"/>
                </a:lnTo>
                <a:lnTo>
                  <a:pt x="38099" y="114300"/>
                </a:lnTo>
                <a:lnTo>
                  <a:pt x="38100" y="95246"/>
                </a:lnTo>
                <a:lnTo>
                  <a:pt x="104773" y="95246"/>
                </a:lnTo>
                <a:lnTo>
                  <a:pt x="57150" y="0"/>
                </a:lnTo>
                <a:close/>
              </a:path>
              <a:path w="114300" h="3375025">
                <a:moveTo>
                  <a:pt x="104773" y="95246"/>
                </a:moveTo>
                <a:lnTo>
                  <a:pt x="76200" y="95246"/>
                </a:lnTo>
                <a:lnTo>
                  <a:pt x="76199" y="114300"/>
                </a:lnTo>
                <a:lnTo>
                  <a:pt x="114300" y="114300"/>
                </a:lnTo>
                <a:lnTo>
                  <a:pt x="104773" y="95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150238" y="7587275"/>
            <a:ext cx="4561205" cy="114300"/>
          </a:xfrm>
          <a:custGeom>
            <a:avLst/>
            <a:gdLst/>
            <a:ahLst/>
            <a:cxnLst/>
            <a:rect l="l" t="t" r="r" b="b"/>
            <a:pathLst>
              <a:path w="4561205" h="114300">
                <a:moveTo>
                  <a:pt x="4446692" y="0"/>
                </a:moveTo>
                <a:lnTo>
                  <a:pt x="4446692" y="114299"/>
                </a:lnTo>
                <a:lnTo>
                  <a:pt x="4522892" y="76199"/>
                </a:lnTo>
                <a:lnTo>
                  <a:pt x="4465740" y="76199"/>
                </a:lnTo>
                <a:lnTo>
                  <a:pt x="4465740" y="38099"/>
                </a:lnTo>
                <a:lnTo>
                  <a:pt x="4522892" y="38099"/>
                </a:lnTo>
                <a:lnTo>
                  <a:pt x="4446692" y="0"/>
                </a:lnTo>
                <a:close/>
              </a:path>
              <a:path w="4561205" h="114300">
                <a:moveTo>
                  <a:pt x="444669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446692" y="76199"/>
                </a:lnTo>
                <a:lnTo>
                  <a:pt x="4446692" y="38099"/>
                </a:lnTo>
                <a:close/>
              </a:path>
              <a:path w="4561205" h="114300">
                <a:moveTo>
                  <a:pt x="4522892" y="38099"/>
                </a:moveTo>
                <a:lnTo>
                  <a:pt x="4465740" y="38099"/>
                </a:lnTo>
                <a:lnTo>
                  <a:pt x="4465740" y="76199"/>
                </a:lnTo>
                <a:lnTo>
                  <a:pt x="4522892" y="76199"/>
                </a:lnTo>
                <a:lnTo>
                  <a:pt x="4560992" y="57149"/>
                </a:lnTo>
                <a:lnTo>
                  <a:pt x="4522892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06824" y="7310562"/>
            <a:ext cx="189865" cy="572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50" i="1" spc="10" dirty="0">
                <a:latin typeface="Cambria"/>
                <a:cs typeface="Cambria"/>
              </a:rPr>
              <a:t>t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3938" y="4035262"/>
            <a:ext cx="4607560" cy="3476625"/>
            <a:chOff x="1123938" y="4035262"/>
            <a:chExt cx="4607560" cy="3476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738" y="4086062"/>
              <a:ext cx="4505497" cy="33749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9338" y="4060662"/>
              <a:ext cx="4556760" cy="3425825"/>
            </a:xfrm>
            <a:custGeom>
              <a:avLst/>
              <a:gdLst/>
              <a:ahLst/>
              <a:cxnLst/>
              <a:rect l="l" t="t" r="r" b="b"/>
              <a:pathLst>
                <a:path w="4556760" h="3425825">
                  <a:moveTo>
                    <a:pt x="0" y="0"/>
                  </a:moveTo>
                  <a:lnTo>
                    <a:pt x="4556297" y="0"/>
                  </a:lnTo>
                  <a:lnTo>
                    <a:pt x="4556297" y="3425767"/>
                  </a:lnTo>
                  <a:lnTo>
                    <a:pt x="0" y="342576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B9B9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080385">
              <a:lnSpc>
                <a:spcPct val="100000"/>
              </a:lnSpc>
              <a:spcBef>
                <a:spcPts val="100"/>
              </a:spcBef>
            </a:pPr>
            <a:r>
              <a:rPr dirty="0"/>
              <a:t>Crash</a:t>
            </a:r>
            <a:r>
              <a:rPr spc="-165" dirty="0"/>
              <a:t> </a:t>
            </a:r>
            <a:r>
              <a:rPr dirty="0"/>
              <a:t>Course</a:t>
            </a:r>
            <a:r>
              <a:rPr spc="-155" dirty="0"/>
              <a:t> </a:t>
            </a:r>
            <a:r>
              <a:rPr dirty="0"/>
              <a:t>in</a:t>
            </a:r>
            <a:r>
              <a:rPr spc="-160" dirty="0"/>
              <a:t> </a:t>
            </a:r>
            <a:r>
              <a:rPr dirty="0"/>
              <a:t>Differential</a:t>
            </a:r>
            <a:r>
              <a:rPr spc="-155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9319" y="2365247"/>
            <a:ext cx="521017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Trebuchet MS"/>
                <a:cs typeface="Trebuchet MS"/>
              </a:rPr>
              <a:t>Ordinary</a:t>
            </a:r>
            <a:r>
              <a:rPr sz="2300" b="1" spc="7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Differential</a:t>
            </a:r>
            <a:r>
              <a:rPr sz="2300" b="1" spc="5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Equation</a:t>
            </a:r>
            <a:r>
              <a:rPr sz="2300" b="1" spc="6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(ODE):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0700" y="3046328"/>
            <a:ext cx="195580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68145" algn="l"/>
              </a:tabLst>
            </a:pPr>
            <a:r>
              <a:rPr sz="3050" spc="850" dirty="0">
                <a:latin typeface="Calibri"/>
                <a:cs typeface="Calibri"/>
              </a:rPr>
              <a:t>=</a:t>
            </a:r>
            <a:r>
              <a:rPr sz="3050" spc="170" dirty="0">
                <a:latin typeface="Calibri"/>
                <a:cs typeface="Calibri"/>
              </a:rPr>
              <a:t> </a:t>
            </a:r>
            <a:r>
              <a:rPr sz="3050" b="1" spc="114" dirty="0">
                <a:latin typeface="Calibri"/>
                <a:cs typeface="Calibri"/>
              </a:rPr>
              <a:t>f</a:t>
            </a:r>
            <a:r>
              <a:rPr sz="3050" b="1" spc="-355" dirty="0">
                <a:latin typeface="Calibri"/>
                <a:cs typeface="Calibri"/>
              </a:rPr>
              <a:t> </a:t>
            </a:r>
            <a:r>
              <a:rPr sz="3050" spc="320" dirty="0">
                <a:latin typeface="Calibri"/>
                <a:cs typeface="Calibri"/>
              </a:rPr>
              <a:t>(</a:t>
            </a:r>
            <a:r>
              <a:rPr sz="3050" b="1" spc="320" dirty="0">
                <a:latin typeface="Calibri"/>
                <a:cs typeface="Calibri"/>
              </a:rPr>
              <a:t>x</a:t>
            </a:r>
            <a:r>
              <a:rPr sz="3050" i="1" spc="320" dirty="0">
                <a:latin typeface="Cambria"/>
                <a:cs typeface="Cambria"/>
              </a:rPr>
              <a:t>,</a:t>
            </a:r>
            <a:r>
              <a:rPr sz="3050" i="1" spc="-150" dirty="0">
                <a:latin typeface="Cambria"/>
                <a:cs typeface="Cambria"/>
              </a:rPr>
              <a:t> </a:t>
            </a:r>
            <a:r>
              <a:rPr sz="3050" i="1" spc="130" dirty="0">
                <a:latin typeface="Cambria"/>
                <a:cs typeface="Cambria"/>
              </a:rPr>
              <a:t>t</a:t>
            </a:r>
            <a:r>
              <a:rPr sz="3050" spc="130" dirty="0">
                <a:latin typeface="Calibri"/>
                <a:cs typeface="Calibri"/>
              </a:rPr>
              <a:t>)</a:t>
            </a:r>
            <a:r>
              <a:rPr sz="3050" dirty="0">
                <a:latin typeface="Calibri"/>
                <a:cs typeface="Calibri"/>
              </a:rPr>
              <a:t>	</a:t>
            </a:r>
            <a:r>
              <a:rPr sz="2300" spc="-35" dirty="0">
                <a:latin typeface="Trebuchet MS"/>
                <a:cs typeface="Trebuchet MS"/>
              </a:rPr>
              <a:t>or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3864" y="3052354"/>
            <a:ext cx="225933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245" dirty="0">
                <a:latin typeface="Calibri"/>
                <a:cs typeface="Calibri"/>
              </a:rPr>
              <a:t>d</a:t>
            </a:r>
            <a:r>
              <a:rPr sz="2900" b="1" spc="245" dirty="0">
                <a:latin typeface="Calibri"/>
                <a:cs typeface="Calibri"/>
              </a:rPr>
              <a:t>x</a:t>
            </a:r>
            <a:r>
              <a:rPr sz="2900" b="1" spc="155" dirty="0">
                <a:latin typeface="Calibri"/>
                <a:cs typeface="Calibri"/>
              </a:rPr>
              <a:t> </a:t>
            </a:r>
            <a:r>
              <a:rPr sz="2900" spc="795" dirty="0">
                <a:latin typeface="Calibri"/>
                <a:cs typeface="Calibri"/>
              </a:rPr>
              <a:t>=</a:t>
            </a:r>
            <a:r>
              <a:rPr sz="2900" spc="155" dirty="0">
                <a:latin typeface="Calibri"/>
                <a:cs typeface="Calibri"/>
              </a:rPr>
              <a:t> </a:t>
            </a:r>
            <a:r>
              <a:rPr sz="2900" b="1" spc="100" dirty="0">
                <a:latin typeface="Calibri"/>
                <a:cs typeface="Calibri"/>
              </a:rPr>
              <a:t>f</a:t>
            </a:r>
            <a:r>
              <a:rPr sz="2900" b="1" spc="-340" dirty="0">
                <a:latin typeface="Calibri"/>
                <a:cs typeface="Calibri"/>
              </a:rPr>
              <a:t> </a:t>
            </a:r>
            <a:r>
              <a:rPr sz="2900" spc="290" dirty="0">
                <a:latin typeface="Calibri"/>
                <a:cs typeface="Calibri"/>
              </a:rPr>
              <a:t>(</a:t>
            </a:r>
            <a:r>
              <a:rPr sz="2900" b="1" spc="290" dirty="0">
                <a:latin typeface="Calibri"/>
                <a:cs typeface="Calibri"/>
              </a:rPr>
              <a:t>x</a:t>
            </a:r>
            <a:r>
              <a:rPr sz="2900" i="1" spc="290" dirty="0">
                <a:latin typeface="Cambria"/>
                <a:cs typeface="Cambria"/>
              </a:rPr>
              <a:t>,</a:t>
            </a:r>
            <a:r>
              <a:rPr sz="2900" i="1" spc="-150" dirty="0">
                <a:latin typeface="Cambria"/>
                <a:cs typeface="Cambria"/>
              </a:rPr>
              <a:t> </a:t>
            </a:r>
            <a:r>
              <a:rPr sz="2900" i="1" spc="75" dirty="0">
                <a:latin typeface="Cambria"/>
                <a:cs typeface="Cambria"/>
              </a:rPr>
              <a:t>t</a:t>
            </a:r>
            <a:r>
              <a:rPr sz="2900" spc="75" dirty="0">
                <a:latin typeface="Calibri"/>
                <a:cs typeface="Calibri"/>
              </a:rPr>
              <a:t>)d</a:t>
            </a:r>
            <a:r>
              <a:rPr sz="2900" i="1" spc="75" dirty="0">
                <a:latin typeface="Cambria"/>
                <a:cs typeface="Cambria"/>
              </a:rPr>
              <a:t>t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0130" y="2776959"/>
            <a:ext cx="480059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250" dirty="0">
                <a:latin typeface="Calibri"/>
                <a:cs typeface="Calibri"/>
              </a:rPr>
              <a:t>d</a:t>
            </a:r>
            <a:r>
              <a:rPr sz="3050" b="1" spc="250" dirty="0">
                <a:latin typeface="Calibri"/>
                <a:cs typeface="Calibri"/>
              </a:rPr>
              <a:t>x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2824" y="3347855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4">
                <a:moveTo>
                  <a:pt x="0" y="0"/>
                </a:moveTo>
                <a:lnTo>
                  <a:pt x="454913" y="0"/>
                </a:lnTo>
              </a:path>
            </a:pathLst>
          </a:custGeom>
          <a:ln w="156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8245" y="3310113"/>
            <a:ext cx="3841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45" dirty="0">
                <a:latin typeface="Calibri"/>
                <a:cs typeface="Calibri"/>
              </a:rPr>
              <a:t>d</a:t>
            </a:r>
            <a:r>
              <a:rPr sz="3050" i="1" spc="45" dirty="0">
                <a:latin typeface="Cambria"/>
                <a:cs typeface="Cambria"/>
              </a:rPr>
              <a:t>t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8259" y="8174735"/>
            <a:ext cx="1372870" cy="16014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5250" marR="18415" indent="-66675">
              <a:lnSpc>
                <a:spcPts val="2500"/>
              </a:lnSpc>
              <a:spcBef>
                <a:spcPts val="400"/>
              </a:spcBef>
            </a:pPr>
            <a:r>
              <a:rPr sz="2300" spc="-10" dirty="0">
                <a:latin typeface="Trebuchet MS"/>
                <a:cs typeface="Trebuchet MS"/>
              </a:rPr>
              <a:t>Analytical Solution:</a:t>
            </a:r>
            <a:endParaRPr sz="2300">
              <a:latin typeface="Trebuchet MS"/>
              <a:cs typeface="Trebuchet MS"/>
            </a:endParaRPr>
          </a:p>
          <a:p>
            <a:pPr marL="12700" marR="5080" indent="102870">
              <a:lnSpc>
                <a:spcPts val="2520"/>
              </a:lnSpc>
              <a:spcBef>
                <a:spcPts val="2110"/>
              </a:spcBef>
            </a:pPr>
            <a:r>
              <a:rPr sz="2300" spc="-10" dirty="0">
                <a:latin typeface="Trebuchet MS"/>
                <a:cs typeface="Trebuchet MS"/>
              </a:rPr>
              <a:t>Iterative Numerical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24538" y="2365247"/>
            <a:ext cx="53505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Trebuchet MS"/>
                <a:cs typeface="Trebuchet MS"/>
              </a:rPr>
              <a:t>Stochastic</a:t>
            </a:r>
            <a:r>
              <a:rPr sz="2300" b="1" spc="8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Differential</a:t>
            </a:r>
            <a:r>
              <a:rPr sz="2300" b="1" spc="7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Equation</a:t>
            </a:r>
            <a:r>
              <a:rPr sz="2300" b="1" spc="85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(SDE):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69408" y="3933444"/>
            <a:ext cx="4053204" cy="613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  <a:tabLst>
                <a:tab pos="1889125" algn="l"/>
              </a:tabLst>
            </a:pPr>
            <a:r>
              <a:rPr sz="2000" dirty="0">
                <a:latin typeface="Arial MT"/>
                <a:cs typeface="Arial MT"/>
              </a:rPr>
              <a:t>drift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coefficient</a:t>
            </a:r>
            <a:r>
              <a:rPr sz="2000" dirty="0">
                <a:latin typeface="Arial MT"/>
                <a:cs typeface="Arial MT"/>
              </a:rPr>
              <a:t>	diffusion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coefficient</a:t>
            </a:r>
            <a:endParaRPr sz="2000" dirty="0">
              <a:latin typeface="Arial MT"/>
              <a:cs typeface="Arial MT"/>
            </a:endParaRPr>
          </a:p>
          <a:p>
            <a:pPr marR="22860" algn="r">
              <a:lnSpc>
                <a:spcPts val="2490"/>
              </a:lnSpc>
            </a:pPr>
            <a:endParaRPr sz="2300" dirty="0">
              <a:latin typeface="Segoe UI Symbol"/>
              <a:cs typeface="Segoe UI Symbo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929165" y="5548128"/>
            <a:ext cx="4607560" cy="3476625"/>
            <a:chOff x="8929165" y="5548128"/>
            <a:chExt cx="4607560" cy="347662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79964" y="5598929"/>
              <a:ext cx="4505492" cy="337496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954565" y="5573528"/>
              <a:ext cx="4556760" cy="3425825"/>
            </a:xfrm>
            <a:custGeom>
              <a:avLst/>
              <a:gdLst/>
              <a:ahLst/>
              <a:cxnLst/>
              <a:rect l="l" t="t" r="r" b="b"/>
              <a:pathLst>
                <a:path w="4556759" h="3425825">
                  <a:moveTo>
                    <a:pt x="0" y="0"/>
                  </a:moveTo>
                  <a:lnTo>
                    <a:pt x="4556297" y="0"/>
                  </a:lnTo>
                  <a:lnTo>
                    <a:pt x="4556297" y="3425768"/>
                  </a:lnTo>
                  <a:lnTo>
                    <a:pt x="0" y="3425768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B9B9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8176034" y="2369094"/>
            <a:ext cx="0" cy="7305040"/>
          </a:xfrm>
          <a:custGeom>
            <a:avLst/>
            <a:gdLst/>
            <a:ahLst/>
            <a:cxnLst/>
            <a:rect l="l" t="t" r="r" b="b"/>
            <a:pathLst>
              <a:path h="7305040">
                <a:moveTo>
                  <a:pt x="0" y="0"/>
                </a:moveTo>
                <a:lnTo>
                  <a:pt x="1" y="7304874"/>
                </a:lnTo>
              </a:path>
            </a:pathLst>
          </a:custGeom>
          <a:ln w="3175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5100681" y="2753868"/>
            <a:ext cx="18180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Wiener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 (Gaussian </a:t>
            </a:r>
            <a:r>
              <a:rPr sz="2000" dirty="0">
                <a:latin typeface="Arial MT"/>
                <a:cs typeface="Arial MT"/>
              </a:rPr>
              <a:t>White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Noise)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207911" y="3189189"/>
            <a:ext cx="1448435" cy="304800"/>
          </a:xfrm>
          <a:custGeom>
            <a:avLst/>
            <a:gdLst/>
            <a:ahLst/>
            <a:cxnLst/>
            <a:rect l="l" t="t" r="r" b="b"/>
            <a:pathLst>
              <a:path w="1448434" h="304800">
                <a:moveTo>
                  <a:pt x="304800" y="0"/>
                </a:moveTo>
                <a:lnTo>
                  <a:pt x="0" y="152400"/>
                </a:lnTo>
                <a:lnTo>
                  <a:pt x="304800" y="304800"/>
                </a:lnTo>
                <a:lnTo>
                  <a:pt x="304800" y="203200"/>
                </a:lnTo>
                <a:lnTo>
                  <a:pt x="254000" y="203200"/>
                </a:lnTo>
                <a:lnTo>
                  <a:pt x="254000" y="101600"/>
                </a:lnTo>
                <a:lnTo>
                  <a:pt x="304800" y="101600"/>
                </a:lnTo>
                <a:lnTo>
                  <a:pt x="304800" y="0"/>
                </a:lnTo>
                <a:close/>
              </a:path>
              <a:path w="1448434" h="304800">
                <a:moveTo>
                  <a:pt x="304800" y="101600"/>
                </a:moveTo>
                <a:lnTo>
                  <a:pt x="254000" y="101600"/>
                </a:lnTo>
                <a:lnTo>
                  <a:pt x="254000" y="203200"/>
                </a:lnTo>
                <a:lnTo>
                  <a:pt x="304800" y="203200"/>
                </a:lnTo>
                <a:lnTo>
                  <a:pt x="304800" y="101600"/>
                </a:lnTo>
                <a:close/>
              </a:path>
              <a:path w="1448434" h="304800">
                <a:moveTo>
                  <a:pt x="1448307" y="101600"/>
                </a:moveTo>
                <a:lnTo>
                  <a:pt x="304800" y="101600"/>
                </a:lnTo>
                <a:lnTo>
                  <a:pt x="304800" y="203200"/>
                </a:lnTo>
                <a:lnTo>
                  <a:pt x="1448307" y="203200"/>
                </a:lnTo>
                <a:lnTo>
                  <a:pt x="1448307" y="10160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08677" y="3783150"/>
            <a:ext cx="3395373" cy="248066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4056374" y="4718502"/>
            <a:ext cx="29781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b="1" i="1" spc="235" dirty="0">
                <a:latin typeface="Verdana"/>
                <a:cs typeface="Verdana"/>
              </a:rPr>
              <a:t>r</a:t>
            </a:r>
            <a:r>
              <a:rPr sz="1725" i="1" spc="352" baseline="-12077" dirty="0">
                <a:latin typeface="Calibri"/>
                <a:cs typeface="Calibri"/>
              </a:rPr>
              <a:t>t</a:t>
            </a:r>
            <a:endParaRPr sz="1725" baseline="-12077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09693" y="4086062"/>
            <a:ext cx="114300" cy="3375025"/>
          </a:xfrm>
          <a:custGeom>
            <a:avLst/>
            <a:gdLst/>
            <a:ahLst/>
            <a:cxnLst/>
            <a:rect l="l" t="t" r="r" b="b"/>
            <a:pathLst>
              <a:path w="114300" h="3375025">
                <a:moveTo>
                  <a:pt x="76200" y="95246"/>
                </a:moveTo>
                <a:lnTo>
                  <a:pt x="38100" y="95246"/>
                </a:lnTo>
                <a:lnTo>
                  <a:pt x="38098" y="3374967"/>
                </a:lnTo>
                <a:lnTo>
                  <a:pt x="76198" y="3374967"/>
                </a:lnTo>
                <a:lnTo>
                  <a:pt x="76200" y="95246"/>
                </a:lnTo>
                <a:close/>
              </a:path>
              <a:path w="114300" h="3375025">
                <a:moveTo>
                  <a:pt x="57150" y="0"/>
                </a:moveTo>
                <a:lnTo>
                  <a:pt x="0" y="114300"/>
                </a:lnTo>
                <a:lnTo>
                  <a:pt x="38099" y="114300"/>
                </a:lnTo>
                <a:lnTo>
                  <a:pt x="38100" y="95246"/>
                </a:lnTo>
                <a:lnTo>
                  <a:pt x="104773" y="95246"/>
                </a:lnTo>
                <a:lnTo>
                  <a:pt x="57150" y="0"/>
                </a:lnTo>
                <a:close/>
              </a:path>
              <a:path w="114300" h="3375025">
                <a:moveTo>
                  <a:pt x="104773" y="95246"/>
                </a:moveTo>
                <a:lnTo>
                  <a:pt x="76200" y="95246"/>
                </a:lnTo>
                <a:lnTo>
                  <a:pt x="76199" y="114300"/>
                </a:lnTo>
                <a:lnTo>
                  <a:pt x="114300" y="114300"/>
                </a:lnTo>
                <a:lnTo>
                  <a:pt x="104773" y="95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50238" y="7587275"/>
            <a:ext cx="4561205" cy="114300"/>
          </a:xfrm>
          <a:custGeom>
            <a:avLst/>
            <a:gdLst/>
            <a:ahLst/>
            <a:cxnLst/>
            <a:rect l="l" t="t" r="r" b="b"/>
            <a:pathLst>
              <a:path w="4561205" h="114300">
                <a:moveTo>
                  <a:pt x="4446692" y="0"/>
                </a:moveTo>
                <a:lnTo>
                  <a:pt x="4446692" y="114299"/>
                </a:lnTo>
                <a:lnTo>
                  <a:pt x="4522892" y="76199"/>
                </a:lnTo>
                <a:lnTo>
                  <a:pt x="4465740" y="76199"/>
                </a:lnTo>
                <a:lnTo>
                  <a:pt x="4465740" y="38099"/>
                </a:lnTo>
                <a:lnTo>
                  <a:pt x="4522892" y="38099"/>
                </a:lnTo>
                <a:lnTo>
                  <a:pt x="4446692" y="0"/>
                </a:lnTo>
                <a:close/>
              </a:path>
              <a:path w="4561205" h="114300">
                <a:moveTo>
                  <a:pt x="444669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446692" y="76199"/>
                </a:lnTo>
                <a:lnTo>
                  <a:pt x="4446692" y="38099"/>
                </a:lnTo>
                <a:close/>
              </a:path>
              <a:path w="4561205" h="114300">
                <a:moveTo>
                  <a:pt x="4522892" y="38099"/>
                </a:moveTo>
                <a:lnTo>
                  <a:pt x="4465740" y="38099"/>
                </a:lnTo>
                <a:lnTo>
                  <a:pt x="4465740" y="76199"/>
                </a:lnTo>
                <a:lnTo>
                  <a:pt x="4522892" y="76199"/>
                </a:lnTo>
                <a:lnTo>
                  <a:pt x="4560992" y="57149"/>
                </a:lnTo>
                <a:lnTo>
                  <a:pt x="4522892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806824" y="7310562"/>
            <a:ext cx="189865" cy="572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50" i="1" spc="10" dirty="0">
                <a:latin typeface="Cambria"/>
                <a:cs typeface="Cambria"/>
              </a:rPr>
              <a:t>t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8749255" y="5586812"/>
            <a:ext cx="114300" cy="3375025"/>
          </a:xfrm>
          <a:custGeom>
            <a:avLst/>
            <a:gdLst/>
            <a:ahLst/>
            <a:cxnLst/>
            <a:rect l="l" t="t" r="r" b="b"/>
            <a:pathLst>
              <a:path w="114300" h="3375025">
                <a:moveTo>
                  <a:pt x="76200" y="95247"/>
                </a:moveTo>
                <a:lnTo>
                  <a:pt x="38100" y="95247"/>
                </a:lnTo>
                <a:lnTo>
                  <a:pt x="38098" y="3374967"/>
                </a:lnTo>
                <a:lnTo>
                  <a:pt x="76198" y="3374967"/>
                </a:lnTo>
                <a:lnTo>
                  <a:pt x="76200" y="95247"/>
                </a:lnTo>
                <a:close/>
              </a:path>
              <a:path w="114300" h="3375025">
                <a:moveTo>
                  <a:pt x="57150" y="0"/>
                </a:moveTo>
                <a:lnTo>
                  <a:pt x="0" y="114300"/>
                </a:lnTo>
                <a:lnTo>
                  <a:pt x="38099" y="114300"/>
                </a:lnTo>
                <a:lnTo>
                  <a:pt x="38100" y="95247"/>
                </a:lnTo>
                <a:lnTo>
                  <a:pt x="104773" y="95247"/>
                </a:lnTo>
                <a:lnTo>
                  <a:pt x="57150" y="0"/>
                </a:lnTo>
                <a:close/>
              </a:path>
              <a:path w="114300" h="3375025">
                <a:moveTo>
                  <a:pt x="104773" y="95247"/>
                </a:moveTo>
                <a:lnTo>
                  <a:pt x="76200" y="95247"/>
                </a:lnTo>
                <a:lnTo>
                  <a:pt x="76199" y="114300"/>
                </a:lnTo>
                <a:lnTo>
                  <a:pt x="114300" y="114300"/>
                </a:lnTo>
                <a:lnTo>
                  <a:pt x="104773" y="952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8989799" y="9088028"/>
            <a:ext cx="4561205" cy="114300"/>
          </a:xfrm>
          <a:custGeom>
            <a:avLst/>
            <a:gdLst/>
            <a:ahLst/>
            <a:cxnLst/>
            <a:rect l="l" t="t" r="r" b="b"/>
            <a:pathLst>
              <a:path w="4561205" h="114300">
                <a:moveTo>
                  <a:pt x="4446699" y="0"/>
                </a:moveTo>
                <a:lnTo>
                  <a:pt x="4446699" y="114300"/>
                </a:lnTo>
                <a:lnTo>
                  <a:pt x="4522899" y="76200"/>
                </a:lnTo>
                <a:lnTo>
                  <a:pt x="4465736" y="76200"/>
                </a:lnTo>
                <a:lnTo>
                  <a:pt x="4465736" y="38100"/>
                </a:lnTo>
                <a:lnTo>
                  <a:pt x="4522899" y="38100"/>
                </a:lnTo>
                <a:lnTo>
                  <a:pt x="4446699" y="0"/>
                </a:lnTo>
                <a:close/>
              </a:path>
              <a:path w="4561205" h="114300">
                <a:moveTo>
                  <a:pt x="444669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446699" y="76200"/>
                </a:lnTo>
                <a:lnTo>
                  <a:pt x="4446699" y="38100"/>
                </a:lnTo>
                <a:close/>
              </a:path>
              <a:path w="4561205" h="114300">
                <a:moveTo>
                  <a:pt x="4522899" y="38100"/>
                </a:moveTo>
                <a:lnTo>
                  <a:pt x="4465736" y="38100"/>
                </a:lnTo>
                <a:lnTo>
                  <a:pt x="4465736" y="76200"/>
                </a:lnTo>
                <a:lnTo>
                  <a:pt x="4522899" y="76200"/>
                </a:lnTo>
                <a:lnTo>
                  <a:pt x="4560999" y="57150"/>
                </a:lnTo>
                <a:lnTo>
                  <a:pt x="4522899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3646384" y="8811308"/>
            <a:ext cx="189865" cy="572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50" i="1" spc="10" dirty="0">
                <a:latin typeface="Cambria"/>
                <a:cs typeface="Cambria"/>
              </a:rPr>
              <a:t>t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0809" y="9734852"/>
            <a:ext cx="1208405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300" spc="-10" dirty="0">
                <a:latin typeface="Trebuchet MS"/>
                <a:cs typeface="Trebuchet MS"/>
              </a:rPr>
              <a:t>Solution: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28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4949FD6-6B7A-314A-9BC8-70ED1E00AE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559" y="2788431"/>
            <a:ext cx="4305300" cy="10795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E2CEF81-AA55-0D4B-8E80-D4458544D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569" y="7989828"/>
            <a:ext cx="5537200" cy="1917700"/>
          </a:xfrm>
          <a:prstGeom prst="rect">
            <a:avLst/>
          </a:prstGeom>
        </p:spPr>
      </p:pic>
      <p:sp>
        <p:nvSpPr>
          <p:cNvPr id="49" name="object 9">
            <a:extLst>
              <a:ext uri="{FF2B5EF4-FFF2-40B4-BE49-F238E27FC236}">
                <a16:creationId xmlns:a16="http://schemas.microsoft.com/office/drawing/2014/main" id="{EE6399AB-07B1-BE49-99DC-50176C31EDDC}"/>
              </a:ext>
            </a:extLst>
          </p:cNvPr>
          <p:cNvSpPr txBox="1"/>
          <p:nvPr/>
        </p:nvSpPr>
        <p:spPr>
          <a:xfrm>
            <a:off x="576118" y="4055337"/>
            <a:ext cx="480059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250" dirty="0">
                <a:latin typeface="Calibri"/>
                <a:cs typeface="Calibri"/>
              </a:rPr>
              <a:t>x</a:t>
            </a:r>
            <a:endParaRPr sz="3050" dirty="0">
              <a:latin typeface="Calibri"/>
              <a:cs typeface="Calibri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325013D-65E0-A747-B2CA-1B440648F0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7" y="4294066"/>
            <a:ext cx="4267200" cy="939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77BA9A0-4233-3E4E-B304-4E2A5B7361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559" y="9306305"/>
            <a:ext cx="90424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23938" y="4035262"/>
            <a:ext cx="4607560" cy="3476625"/>
            <a:chOff x="1123938" y="4035262"/>
            <a:chExt cx="4607560" cy="34766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4738" y="4086062"/>
              <a:ext cx="4505497" cy="337496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149338" y="4060662"/>
              <a:ext cx="4556760" cy="3425825"/>
            </a:xfrm>
            <a:custGeom>
              <a:avLst/>
              <a:gdLst/>
              <a:ahLst/>
              <a:cxnLst/>
              <a:rect l="l" t="t" r="r" b="b"/>
              <a:pathLst>
                <a:path w="4556760" h="3425825">
                  <a:moveTo>
                    <a:pt x="0" y="0"/>
                  </a:moveTo>
                  <a:lnTo>
                    <a:pt x="4556297" y="0"/>
                  </a:lnTo>
                  <a:lnTo>
                    <a:pt x="4556297" y="3425767"/>
                  </a:lnTo>
                  <a:lnTo>
                    <a:pt x="0" y="342576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B9B9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080385">
              <a:lnSpc>
                <a:spcPct val="100000"/>
              </a:lnSpc>
              <a:spcBef>
                <a:spcPts val="100"/>
              </a:spcBef>
            </a:pPr>
            <a:r>
              <a:rPr dirty="0"/>
              <a:t>Crash</a:t>
            </a:r>
            <a:r>
              <a:rPr spc="-165" dirty="0"/>
              <a:t> </a:t>
            </a:r>
            <a:r>
              <a:rPr dirty="0"/>
              <a:t>Course</a:t>
            </a:r>
            <a:r>
              <a:rPr spc="-155" dirty="0"/>
              <a:t> </a:t>
            </a:r>
            <a:r>
              <a:rPr dirty="0"/>
              <a:t>in</a:t>
            </a:r>
            <a:r>
              <a:rPr spc="-160" dirty="0"/>
              <a:t> </a:t>
            </a:r>
            <a:r>
              <a:rPr dirty="0"/>
              <a:t>Differential</a:t>
            </a:r>
            <a:r>
              <a:rPr spc="-155" dirty="0"/>
              <a:t> </a:t>
            </a:r>
            <a:r>
              <a:rPr spc="-10" dirty="0"/>
              <a:t>Equations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09319" y="2365247"/>
            <a:ext cx="521017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Trebuchet MS"/>
                <a:cs typeface="Trebuchet MS"/>
              </a:rPr>
              <a:t>Ordinary</a:t>
            </a:r>
            <a:r>
              <a:rPr sz="2300" b="1" spc="7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Differential</a:t>
            </a:r>
            <a:r>
              <a:rPr sz="2300" b="1" spc="5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Equation</a:t>
            </a:r>
            <a:r>
              <a:rPr sz="2300" b="1" spc="6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(ODE):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30700" y="3046328"/>
            <a:ext cx="195580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668145" algn="l"/>
              </a:tabLst>
            </a:pPr>
            <a:r>
              <a:rPr sz="3050" spc="850" dirty="0">
                <a:latin typeface="Calibri"/>
                <a:cs typeface="Calibri"/>
              </a:rPr>
              <a:t>=</a:t>
            </a:r>
            <a:r>
              <a:rPr sz="3050" spc="170" dirty="0">
                <a:latin typeface="Calibri"/>
                <a:cs typeface="Calibri"/>
              </a:rPr>
              <a:t> </a:t>
            </a:r>
            <a:r>
              <a:rPr sz="3050" b="1" spc="114" dirty="0">
                <a:latin typeface="Calibri"/>
                <a:cs typeface="Calibri"/>
              </a:rPr>
              <a:t>f</a:t>
            </a:r>
            <a:r>
              <a:rPr sz="3050" b="1" spc="-355" dirty="0">
                <a:latin typeface="Calibri"/>
                <a:cs typeface="Calibri"/>
              </a:rPr>
              <a:t> </a:t>
            </a:r>
            <a:r>
              <a:rPr sz="3050" spc="320" dirty="0">
                <a:latin typeface="Calibri"/>
                <a:cs typeface="Calibri"/>
              </a:rPr>
              <a:t>(</a:t>
            </a:r>
            <a:r>
              <a:rPr sz="3050" b="1" spc="320" dirty="0">
                <a:latin typeface="Calibri"/>
                <a:cs typeface="Calibri"/>
              </a:rPr>
              <a:t>x</a:t>
            </a:r>
            <a:r>
              <a:rPr sz="3050" i="1" spc="320" dirty="0">
                <a:latin typeface="Cambria"/>
                <a:cs typeface="Cambria"/>
              </a:rPr>
              <a:t>,</a:t>
            </a:r>
            <a:r>
              <a:rPr sz="3050" i="1" spc="-150" dirty="0">
                <a:latin typeface="Cambria"/>
                <a:cs typeface="Cambria"/>
              </a:rPr>
              <a:t> </a:t>
            </a:r>
            <a:r>
              <a:rPr sz="3050" i="1" spc="130" dirty="0">
                <a:latin typeface="Cambria"/>
                <a:cs typeface="Cambria"/>
              </a:rPr>
              <a:t>t</a:t>
            </a:r>
            <a:r>
              <a:rPr sz="3050" spc="130" dirty="0">
                <a:latin typeface="Calibri"/>
                <a:cs typeface="Calibri"/>
              </a:rPr>
              <a:t>)</a:t>
            </a:r>
            <a:r>
              <a:rPr sz="3050" dirty="0">
                <a:latin typeface="Calibri"/>
                <a:cs typeface="Calibri"/>
              </a:rPr>
              <a:t>	</a:t>
            </a:r>
            <a:r>
              <a:rPr sz="2300" spc="-35" dirty="0">
                <a:latin typeface="Trebuchet MS"/>
                <a:cs typeface="Trebuchet MS"/>
              </a:rPr>
              <a:t>or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23864" y="3052354"/>
            <a:ext cx="225933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245" dirty="0">
                <a:latin typeface="Calibri"/>
                <a:cs typeface="Calibri"/>
              </a:rPr>
              <a:t>d</a:t>
            </a:r>
            <a:r>
              <a:rPr sz="2900" b="1" spc="245" dirty="0">
                <a:latin typeface="Calibri"/>
                <a:cs typeface="Calibri"/>
              </a:rPr>
              <a:t>x</a:t>
            </a:r>
            <a:r>
              <a:rPr sz="2900" b="1" spc="155" dirty="0">
                <a:latin typeface="Calibri"/>
                <a:cs typeface="Calibri"/>
              </a:rPr>
              <a:t> </a:t>
            </a:r>
            <a:r>
              <a:rPr sz="2900" spc="795" dirty="0">
                <a:latin typeface="Calibri"/>
                <a:cs typeface="Calibri"/>
              </a:rPr>
              <a:t>=</a:t>
            </a:r>
            <a:r>
              <a:rPr sz="2900" spc="155" dirty="0">
                <a:latin typeface="Calibri"/>
                <a:cs typeface="Calibri"/>
              </a:rPr>
              <a:t> </a:t>
            </a:r>
            <a:r>
              <a:rPr sz="2900" b="1" spc="100" dirty="0">
                <a:latin typeface="Calibri"/>
                <a:cs typeface="Calibri"/>
              </a:rPr>
              <a:t>f</a:t>
            </a:r>
            <a:r>
              <a:rPr sz="2900" b="1" spc="-340" dirty="0">
                <a:latin typeface="Calibri"/>
                <a:cs typeface="Calibri"/>
              </a:rPr>
              <a:t> </a:t>
            </a:r>
            <a:r>
              <a:rPr sz="2900" spc="290" dirty="0">
                <a:latin typeface="Calibri"/>
                <a:cs typeface="Calibri"/>
              </a:rPr>
              <a:t>(</a:t>
            </a:r>
            <a:r>
              <a:rPr sz="2900" b="1" spc="290" dirty="0">
                <a:latin typeface="Calibri"/>
                <a:cs typeface="Calibri"/>
              </a:rPr>
              <a:t>x</a:t>
            </a:r>
            <a:r>
              <a:rPr sz="2900" i="1" spc="290" dirty="0">
                <a:latin typeface="Cambria"/>
                <a:cs typeface="Cambria"/>
              </a:rPr>
              <a:t>,</a:t>
            </a:r>
            <a:r>
              <a:rPr sz="2900" i="1" spc="-150" dirty="0">
                <a:latin typeface="Cambria"/>
                <a:cs typeface="Cambria"/>
              </a:rPr>
              <a:t> </a:t>
            </a:r>
            <a:r>
              <a:rPr sz="2900" i="1" spc="75" dirty="0">
                <a:latin typeface="Cambria"/>
                <a:cs typeface="Cambria"/>
              </a:rPr>
              <a:t>t</a:t>
            </a:r>
            <a:r>
              <a:rPr sz="2900" spc="75" dirty="0">
                <a:latin typeface="Calibri"/>
                <a:cs typeface="Calibri"/>
              </a:rPr>
              <a:t>)d</a:t>
            </a:r>
            <a:r>
              <a:rPr sz="2900" i="1" spc="75" dirty="0">
                <a:latin typeface="Cambria"/>
                <a:cs typeface="Cambria"/>
              </a:rPr>
              <a:t>t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0130" y="2776959"/>
            <a:ext cx="480059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250" dirty="0">
                <a:latin typeface="Calibri"/>
                <a:cs typeface="Calibri"/>
              </a:rPr>
              <a:t>d</a:t>
            </a:r>
            <a:r>
              <a:rPr sz="3050" b="1" spc="250" dirty="0">
                <a:latin typeface="Calibri"/>
                <a:cs typeface="Calibri"/>
              </a:rPr>
              <a:t>x</a:t>
            </a:r>
            <a:endParaRPr sz="305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32824" y="3347855"/>
            <a:ext cx="455295" cy="0"/>
          </a:xfrm>
          <a:custGeom>
            <a:avLst/>
            <a:gdLst/>
            <a:ahLst/>
            <a:cxnLst/>
            <a:rect l="l" t="t" r="r" b="b"/>
            <a:pathLst>
              <a:path w="455294">
                <a:moveTo>
                  <a:pt x="0" y="0"/>
                </a:moveTo>
                <a:lnTo>
                  <a:pt x="454913" y="0"/>
                </a:lnTo>
              </a:path>
            </a:pathLst>
          </a:custGeom>
          <a:ln w="1563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8245" y="3310113"/>
            <a:ext cx="38417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spc="45" dirty="0">
                <a:latin typeface="Calibri"/>
                <a:cs typeface="Calibri"/>
              </a:rPr>
              <a:t>d</a:t>
            </a:r>
            <a:r>
              <a:rPr sz="3050" i="1" spc="45" dirty="0">
                <a:latin typeface="Cambria"/>
                <a:cs typeface="Cambria"/>
              </a:rPr>
              <a:t>t</a:t>
            </a:r>
            <a:endParaRPr sz="305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8259" y="8174735"/>
            <a:ext cx="1372870" cy="160147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95250" marR="18415" indent="-66675">
              <a:lnSpc>
                <a:spcPts val="2500"/>
              </a:lnSpc>
              <a:spcBef>
                <a:spcPts val="400"/>
              </a:spcBef>
            </a:pPr>
            <a:r>
              <a:rPr sz="2300" spc="-10" dirty="0">
                <a:latin typeface="Trebuchet MS"/>
                <a:cs typeface="Trebuchet MS"/>
              </a:rPr>
              <a:t>Analytical Solution:</a:t>
            </a:r>
            <a:endParaRPr sz="2300">
              <a:latin typeface="Trebuchet MS"/>
              <a:cs typeface="Trebuchet MS"/>
            </a:endParaRPr>
          </a:p>
          <a:p>
            <a:pPr marL="12700" marR="5080" indent="102870">
              <a:lnSpc>
                <a:spcPts val="2520"/>
              </a:lnSpc>
              <a:spcBef>
                <a:spcPts val="2110"/>
              </a:spcBef>
            </a:pPr>
            <a:r>
              <a:rPr sz="2300" spc="-10" dirty="0">
                <a:latin typeface="Trebuchet MS"/>
                <a:cs typeface="Trebuchet MS"/>
              </a:rPr>
              <a:t>Iterative Numerical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24538" y="2365247"/>
            <a:ext cx="535051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latin typeface="Trebuchet MS"/>
                <a:cs typeface="Trebuchet MS"/>
              </a:rPr>
              <a:t>Stochastic</a:t>
            </a:r>
            <a:r>
              <a:rPr sz="2300" b="1" spc="8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Differential</a:t>
            </a:r>
            <a:r>
              <a:rPr sz="2300" b="1" spc="7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Equation</a:t>
            </a:r>
            <a:r>
              <a:rPr sz="2300" b="1" spc="85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(SDE):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269408" y="3933444"/>
            <a:ext cx="4053204" cy="613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30"/>
              </a:lnSpc>
              <a:spcBef>
                <a:spcPts val="100"/>
              </a:spcBef>
              <a:tabLst>
                <a:tab pos="1889125" algn="l"/>
              </a:tabLst>
            </a:pPr>
            <a:r>
              <a:rPr sz="2000" dirty="0">
                <a:latin typeface="Arial MT"/>
                <a:cs typeface="Arial MT"/>
              </a:rPr>
              <a:t>drift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coefficient</a:t>
            </a:r>
            <a:r>
              <a:rPr sz="2000" dirty="0">
                <a:latin typeface="Arial MT"/>
                <a:cs typeface="Arial MT"/>
              </a:rPr>
              <a:t>	diffusion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coefficient</a:t>
            </a:r>
            <a:endParaRPr sz="2000" dirty="0">
              <a:latin typeface="Arial MT"/>
              <a:cs typeface="Arial MT"/>
            </a:endParaRPr>
          </a:p>
          <a:p>
            <a:pPr marR="22860" algn="r">
              <a:lnSpc>
                <a:spcPts val="2490"/>
              </a:lnSpc>
            </a:pPr>
            <a:endParaRPr sz="2300" dirty="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176034" y="2369094"/>
            <a:ext cx="0" cy="7305040"/>
          </a:xfrm>
          <a:custGeom>
            <a:avLst/>
            <a:gdLst/>
            <a:ahLst/>
            <a:cxnLst/>
            <a:rect l="l" t="t" r="r" b="b"/>
            <a:pathLst>
              <a:path h="7305040">
                <a:moveTo>
                  <a:pt x="0" y="0"/>
                </a:moveTo>
                <a:lnTo>
                  <a:pt x="1" y="7304874"/>
                </a:lnTo>
              </a:path>
            </a:pathLst>
          </a:custGeom>
          <a:ln w="31750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5100681" y="2753868"/>
            <a:ext cx="181800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Wiener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Process (Gaussian </a:t>
            </a:r>
            <a:r>
              <a:rPr sz="2000" dirty="0">
                <a:latin typeface="Arial MT"/>
                <a:cs typeface="Arial MT"/>
              </a:rPr>
              <a:t>White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Noise)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3207911" y="3189189"/>
            <a:ext cx="1448435" cy="304800"/>
          </a:xfrm>
          <a:custGeom>
            <a:avLst/>
            <a:gdLst/>
            <a:ahLst/>
            <a:cxnLst/>
            <a:rect l="l" t="t" r="r" b="b"/>
            <a:pathLst>
              <a:path w="1448434" h="304800">
                <a:moveTo>
                  <a:pt x="304800" y="0"/>
                </a:moveTo>
                <a:lnTo>
                  <a:pt x="0" y="152400"/>
                </a:lnTo>
                <a:lnTo>
                  <a:pt x="304800" y="304800"/>
                </a:lnTo>
                <a:lnTo>
                  <a:pt x="304800" y="203200"/>
                </a:lnTo>
                <a:lnTo>
                  <a:pt x="254000" y="203200"/>
                </a:lnTo>
                <a:lnTo>
                  <a:pt x="254000" y="101600"/>
                </a:lnTo>
                <a:lnTo>
                  <a:pt x="304800" y="101600"/>
                </a:lnTo>
                <a:lnTo>
                  <a:pt x="304800" y="0"/>
                </a:lnTo>
                <a:close/>
              </a:path>
              <a:path w="1448434" h="304800">
                <a:moveTo>
                  <a:pt x="304800" y="101600"/>
                </a:moveTo>
                <a:lnTo>
                  <a:pt x="254000" y="101600"/>
                </a:lnTo>
                <a:lnTo>
                  <a:pt x="254000" y="203200"/>
                </a:lnTo>
                <a:lnTo>
                  <a:pt x="304800" y="203200"/>
                </a:lnTo>
                <a:lnTo>
                  <a:pt x="304800" y="101600"/>
                </a:lnTo>
                <a:close/>
              </a:path>
              <a:path w="1448434" h="304800">
                <a:moveTo>
                  <a:pt x="1448307" y="101600"/>
                </a:moveTo>
                <a:lnTo>
                  <a:pt x="304800" y="101600"/>
                </a:lnTo>
                <a:lnTo>
                  <a:pt x="304800" y="203200"/>
                </a:lnTo>
                <a:lnTo>
                  <a:pt x="1448307" y="203200"/>
                </a:lnTo>
                <a:lnTo>
                  <a:pt x="1448307" y="10160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08677" y="3783150"/>
            <a:ext cx="3395373" cy="2480664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14056374" y="4718502"/>
            <a:ext cx="297815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50" b="1" i="1" spc="235" dirty="0">
                <a:latin typeface="Verdana"/>
                <a:cs typeface="Verdana"/>
              </a:rPr>
              <a:t>r</a:t>
            </a:r>
            <a:r>
              <a:rPr sz="1725" i="1" spc="352" baseline="-12077" dirty="0">
                <a:latin typeface="Calibri"/>
                <a:cs typeface="Calibri"/>
              </a:rPr>
              <a:t>t</a:t>
            </a:r>
            <a:endParaRPr sz="1725" baseline="-12077">
              <a:latin typeface="Calibri"/>
              <a:cs typeface="Calibri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909693" y="4086062"/>
            <a:ext cx="114300" cy="3375025"/>
          </a:xfrm>
          <a:custGeom>
            <a:avLst/>
            <a:gdLst/>
            <a:ahLst/>
            <a:cxnLst/>
            <a:rect l="l" t="t" r="r" b="b"/>
            <a:pathLst>
              <a:path w="114300" h="3375025">
                <a:moveTo>
                  <a:pt x="76200" y="95246"/>
                </a:moveTo>
                <a:lnTo>
                  <a:pt x="38100" y="95246"/>
                </a:lnTo>
                <a:lnTo>
                  <a:pt x="38098" y="3374967"/>
                </a:lnTo>
                <a:lnTo>
                  <a:pt x="76198" y="3374967"/>
                </a:lnTo>
                <a:lnTo>
                  <a:pt x="76200" y="95246"/>
                </a:lnTo>
                <a:close/>
              </a:path>
              <a:path w="114300" h="3375025">
                <a:moveTo>
                  <a:pt x="57150" y="0"/>
                </a:moveTo>
                <a:lnTo>
                  <a:pt x="0" y="114300"/>
                </a:lnTo>
                <a:lnTo>
                  <a:pt x="38099" y="114300"/>
                </a:lnTo>
                <a:lnTo>
                  <a:pt x="38100" y="95246"/>
                </a:lnTo>
                <a:lnTo>
                  <a:pt x="104773" y="95246"/>
                </a:lnTo>
                <a:lnTo>
                  <a:pt x="57150" y="0"/>
                </a:lnTo>
                <a:close/>
              </a:path>
              <a:path w="114300" h="3375025">
                <a:moveTo>
                  <a:pt x="104773" y="95246"/>
                </a:moveTo>
                <a:lnTo>
                  <a:pt x="76200" y="95246"/>
                </a:lnTo>
                <a:lnTo>
                  <a:pt x="76199" y="114300"/>
                </a:lnTo>
                <a:lnTo>
                  <a:pt x="114300" y="114300"/>
                </a:lnTo>
                <a:lnTo>
                  <a:pt x="104773" y="9524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50238" y="7587275"/>
            <a:ext cx="4561205" cy="114300"/>
          </a:xfrm>
          <a:custGeom>
            <a:avLst/>
            <a:gdLst/>
            <a:ahLst/>
            <a:cxnLst/>
            <a:rect l="l" t="t" r="r" b="b"/>
            <a:pathLst>
              <a:path w="4561205" h="114300">
                <a:moveTo>
                  <a:pt x="4446692" y="0"/>
                </a:moveTo>
                <a:lnTo>
                  <a:pt x="4446692" y="114299"/>
                </a:lnTo>
                <a:lnTo>
                  <a:pt x="4522892" y="76199"/>
                </a:lnTo>
                <a:lnTo>
                  <a:pt x="4465740" y="76199"/>
                </a:lnTo>
                <a:lnTo>
                  <a:pt x="4465740" y="38099"/>
                </a:lnTo>
                <a:lnTo>
                  <a:pt x="4522892" y="38099"/>
                </a:lnTo>
                <a:lnTo>
                  <a:pt x="4446692" y="0"/>
                </a:lnTo>
                <a:close/>
              </a:path>
              <a:path w="4561205" h="114300">
                <a:moveTo>
                  <a:pt x="444669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446692" y="76199"/>
                </a:lnTo>
                <a:lnTo>
                  <a:pt x="4446692" y="38099"/>
                </a:lnTo>
                <a:close/>
              </a:path>
              <a:path w="4561205" h="114300">
                <a:moveTo>
                  <a:pt x="4522892" y="38099"/>
                </a:moveTo>
                <a:lnTo>
                  <a:pt x="4465740" y="38099"/>
                </a:lnTo>
                <a:lnTo>
                  <a:pt x="4465740" y="76199"/>
                </a:lnTo>
                <a:lnTo>
                  <a:pt x="4522892" y="76199"/>
                </a:lnTo>
                <a:lnTo>
                  <a:pt x="4560992" y="57149"/>
                </a:lnTo>
                <a:lnTo>
                  <a:pt x="4522892" y="380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5806824" y="7310562"/>
            <a:ext cx="189865" cy="572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550" i="1" spc="10" dirty="0">
                <a:latin typeface="Cambria"/>
                <a:cs typeface="Cambria"/>
              </a:rPr>
              <a:t>t</a:t>
            </a:r>
            <a:endParaRPr sz="3550">
              <a:latin typeface="Cambria"/>
              <a:cs typeface="Cambri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30809" y="9734852"/>
            <a:ext cx="1208405" cy="3651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20"/>
              </a:lnSpc>
            </a:pPr>
            <a:r>
              <a:rPr sz="2300" spc="-10" dirty="0">
                <a:latin typeface="Trebuchet MS"/>
                <a:cs typeface="Trebuchet MS"/>
              </a:rPr>
              <a:t>Solution: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28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4949FD6-6B7A-314A-9BC8-70ED1E00AE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559" y="2788431"/>
            <a:ext cx="4305300" cy="1079500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DE2CEF81-AA55-0D4B-8E80-D4458544DB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569" y="7989828"/>
            <a:ext cx="5537200" cy="1917700"/>
          </a:xfrm>
          <a:prstGeom prst="rect">
            <a:avLst/>
          </a:prstGeom>
        </p:spPr>
      </p:pic>
      <p:sp>
        <p:nvSpPr>
          <p:cNvPr id="49" name="object 9">
            <a:extLst>
              <a:ext uri="{FF2B5EF4-FFF2-40B4-BE49-F238E27FC236}">
                <a16:creationId xmlns:a16="http://schemas.microsoft.com/office/drawing/2014/main" id="{EE6399AB-07B1-BE49-99DC-50176C31EDDC}"/>
              </a:ext>
            </a:extLst>
          </p:cNvPr>
          <p:cNvSpPr txBox="1"/>
          <p:nvPr/>
        </p:nvSpPr>
        <p:spPr>
          <a:xfrm>
            <a:off x="576118" y="4055337"/>
            <a:ext cx="480059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250" dirty="0">
                <a:latin typeface="Calibri"/>
                <a:cs typeface="Calibri"/>
              </a:rPr>
              <a:t>x</a:t>
            </a:r>
            <a:endParaRPr sz="3050" dirty="0">
              <a:latin typeface="Calibri"/>
              <a:cs typeface="Calibri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9325013D-65E0-A747-B2CA-1B440648F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5327" y="4294066"/>
            <a:ext cx="4267200" cy="939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77BA9A0-4233-3E4E-B304-4E2A5B7361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559" y="9306305"/>
            <a:ext cx="9042400" cy="469900"/>
          </a:xfrm>
          <a:prstGeom prst="rect">
            <a:avLst/>
          </a:prstGeom>
        </p:spPr>
      </p:pic>
      <p:grpSp>
        <p:nvGrpSpPr>
          <p:cNvPr id="41" name="object 4">
            <a:extLst>
              <a:ext uri="{FF2B5EF4-FFF2-40B4-BE49-F238E27FC236}">
                <a16:creationId xmlns:a16="http://schemas.microsoft.com/office/drawing/2014/main" id="{56AC97F9-D444-4C4C-9C45-9FF59335D17D}"/>
              </a:ext>
            </a:extLst>
          </p:cNvPr>
          <p:cNvGrpSpPr/>
          <p:nvPr/>
        </p:nvGrpSpPr>
        <p:grpSpPr>
          <a:xfrm>
            <a:off x="8929165" y="5548128"/>
            <a:ext cx="4607560" cy="3476625"/>
            <a:chOff x="8929165" y="5548128"/>
            <a:chExt cx="4607560" cy="3476625"/>
          </a:xfrm>
        </p:grpSpPr>
        <p:pic>
          <p:nvPicPr>
            <p:cNvPr id="42" name="object 5">
              <a:extLst>
                <a:ext uri="{FF2B5EF4-FFF2-40B4-BE49-F238E27FC236}">
                  <a16:creationId xmlns:a16="http://schemas.microsoft.com/office/drawing/2014/main" id="{71D30839-BDB9-4F49-BB8A-4C2779412F0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979965" y="5598928"/>
              <a:ext cx="4505491" cy="3374967"/>
            </a:xfrm>
            <a:prstGeom prst="rect">
              <a:avLst/>
            </a:prstGeom>
          </p:spPr>
        </p:pic>
        <p:sp>
          <p:nvSpPr>
            <p:cNvPr id="45" name="object 6">
              <a:extLst>
                <a:ext uri="{FF2B5EF4-FFF2-40B4-BE49-F238E27FC236}">
                  <a16:creationId xmlns:a16="http://schemas.microsoft.com/office/drawing/2014/main" id="{6102A117-0CC7-7E47-B536-8113AB973B76}"/>
                </a:ext>
              </a:extLst>
            </p:cNvPr>
            <p:cNvSpPr/>
            <p:nvPr/>
          </p:nvSpPr>
          <p:spPr>
            <a:xfrm>
              <a:off x="8954565" y="5573528"/>
              <a:ext cx="4556760" cy="3425825"/>
            </a:xfrm>
            <a:custGeom>
              <a:avLst/>
              <a:gdLst/>
              <a:ahLst/>
              <a:cxnLst/>
              <a:rect l="l" t="t" r="r" b="b"/>
              <a:pathLst>
                <a:path w="4556759" h="3425825">
                  <a:moveTo>
                    <a:pt x="0" y="0"/>
                  </a:moveTo>
                  <a:lnTo>
                    <a:pt x="4556297" y="0"/>
                  </a:lnTo>
                  <a:lnTo>
                    <a:pt x="4556297" y="3425767"/>
                  </a:lnTo>
                  <a:lnTo>
                    <a:pt x="0" y="342576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B9B9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80469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30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Forward</a:t>
            </a:r>
            <a:r>
              <a:rPr spc="-235" dirty="0"/>
              <a:t> </a:t>
            </a:r>
            <a:r>
              <a:rPr dirty="0"/>
              <a:t>Diffusion</a:t>
            </a:r>
            <a:r>
              <a:rPr spc="-235" dirty="0"/>
              <a:t> </a:t>
            </a:r>
            <a:r>
              <a:rPr dirty="0"/>
              <a:t>Process</a:t>
            </a:r>
            <a:r>
              <a:rPr spc="-235" dirty="0"/>
              <a:t> </a:t>
            </a:r>
            <a:r>
              <a:rPr dirty="0"/>
              <a:t>as</a:t>
            </a:r>
            <a:r>
              <a:rPr spc="-229" dirty="0"/>
              <a:t> </a:t>
            </a:r>
            <a:r>
              <a:rPr dirty="0"/>
              <a:t>Stochastic</a:t>
            </a:r>
            <a:r>
              <a:rPr spc="-229" dirty="0"/>
              <a:t> </a:t>
            </a:r>
            <a:r>
              <a:rPr dirty="0"/>
              <a:t>Differential</a:t>
            </a:r>
            <a:r>
              <a:rPr spc="-229" dirty="0"/>
              <a:t> </a:t>
            </a:r>
            <a:r>
              <a:rPr spc="-10" dirty="0"/>
              <a:t>Equation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990" y="2727959"/>
            <a:ext cx="10521950" cy="75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Consider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limit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many</a:t>
            </a:r>
            <a:r>
              <a:rPr sz="2300" b="1" spc="5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small</a:t>
            </a:r>
            <a:r>
              <a:rPr sz="2300" b="1" spc="4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steps</a:t>
            </a:r>
            <a:r>
              <a:rPr sz="2300" spc="-10" dirty="0">
                <a:latin typeface="Trebuchet MS"/>
                <a:cs typeface="Trebuchet MS"/>
              </a:rPr>
              <a:t>:</a:t>
            </a:r>
            <a:endParaRPr sz="2300">
              <a:latin typeface="Trebuchet MS"/>
              <a:cs typeface="Trebuchet MS"/>
            </a:endParaRPr>
          </a:p>
          <a:p>
            <a:pPr marL="6090285">
              <a:lnSpc>
                <a:spcPct val="100000"/>
              </a:lnSpc>
              <a:spcBef>
                <a:spcPts val="90"/>
              </a:spcBef>
            </a:pPr>
            <a:r>
              <a:rPr sz="2400" dirty="0">
                <a:latin typeface="Arial MT"/>
                <a:cs typeface="Arial MT"/>
              </a:rPr>
              <a:t>Forward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diffusion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(fixed)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0675" y="9707371"/>
            <a:ext cx="103593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Song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et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al.,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“Score-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Based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Generative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Modeling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through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Stochastic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Differential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Equations”,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2"/>
              </a:rPr>
              <a:t>ICLR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996501" y="3520579"/>
            <a:ext cx="6214745" cy="142875"/>
          </a:xfrm>
          <a:custGeom>
            <a:avLst/>
            <a:gdLst/>
            <a:ahLst/>
            <a:cxnLst/>
            <a:rect l="l" t="t" r="r" b="b"/>
            <a:pathLst>
              <a:path w="6214745" h="142875">
                <a:moveTo>
                  <a:pt x="6151249" y="71311"/>
                </a:moveTo>
                <a:lnTo>
                  <a:pt x="6079506" y="113161"/>
                </a:lnTo>
                <a:lnTo>
                  <a:pt x="6074797" y="117352"/>
                </a:lnTo>
                <a:lnTo>
                  <a:pt x="6072153" y="122833"/>
                </a:lnTo>
                <a:lnTo>
                  <a:pt x="6071757" y="128906"/>
                </a:lnTo>
                <a:lnTo>
                  <a:pt x="6073792" y="134872"/>
                </a:lnTo>
                <a:lnTo>
                  <a:pt x="6077983" y="139580"/>
                </a:lnTo>
                <a:lnTo>
                  <a:pt x="6083465" y="142225"/>
                </a:lnTo>
                <a:lnTo>
                  <a:pt x="6089538" y="142621"/>
                </a:lnTo>
                <a:lnTo>
                  <a:pt x="6095504" y="140585"/>
                </a:lnTo>
                <a:lnTo>
                  <a:pt x="6187046" y="87186"/>
                </a:lnTo>
                <a:lnTo>
                  <a:pt x="6182696" y="87186"/>
                </a:lnTo>
                <a:lnTo>
                  <a:pt x="6182696" y="85023"/>
                </a:lnTo>
                <a:lnTo>
                  <a:pt x="6174756" y="85023"/>
                </a:lnTo>
                <a:lnTo>
                  <a:pt x="6151249" y="71311"/>
                </a:lnTo>
                <a:close/>
              </a:path>
              <a:path w="6214745" h="142875">
                <a:moveTo>
                  <a:pt x="6124035" y="55436"/>
                </a:moveTo>
                <a:lnTo>
                  <a:pt x="0" y="55436"/>
                </a:lnTo>
                <a:lnTo>
                  <a:pt x="0" y="87186"/>
                </a:lnTo>
                <a:lnTo>
                  <a:pt x="6124035" y="87186"/>
                </a:lnTo>
                <a:lnTo>
                  <a:pt x="6151249" y="71311"/>
                </a:lnTo>
                <a:lnTo>
                  <a:pt x="6124035" y="55436"/>
                </a:lnTo>
                <a:close/>
              </a:path>
              <a:path w="6214745" h="142875">
                <a:moveTo>
                  <a:pt x="6187046" y="55436"/>
                </a:moveTo>
                <a:lnTo>
                  <a:pt x="6182696" y="55436"/>
                </a:lnTo>
                <a:lnTo>
                  <a:pt x="6182696" y="87186"/>
                </a:lnTo>
                <a:lnTo>
                  <a:pt x="6187046" y="87186"/>
                </a:lnTo>
                <a:lnTo>
                  <a:pt x="6214261" y="71311"/>
                </a:lnTo>
                <a:lnTo>
                  <a:pt x="6187046" y="55436"/>
                </a:lnTo>
                <a:close/>
              </a:path>
              <a:path w="6214745" h="142875">
                <a:moveTo>
                  <a:pt x="6174756" y="57598"/>
                </a:moveTo>
                <a:lnTo>
                  <a:pt x="6151249" y="71311"/>
                </a:lnTo>
                <a:lnTo>
                  <a:pt x="6174756" y="85023"/>
                </a:lnTo>
                <a:lnTo>
                  <a:pt x="6174756" y="57598"/>
                </a:lnTo>
                <a:close/>
              </a:path>
              <a:path w="6214745" h="142875">
                <a:moveTo>
                  <a:pt x="6182696" y="57598"/>
                </a:moveTo>
                <a:lnTo>
                  <a:pt x="6174756" y="57598"/>
                </a:lnTo>
                <a:lnTo>
                  <a:pt x="6174756" y="85023"/>
                </a:lnTo>
                <a:lnTo>
                  <a:pt x="6182696" y="85023"/>
                </a:lnTo>
                <a:lnTo>
                  <a:pt x="6182696" y="57598"/>
                </a:lnTo>
                <a:close/>
              </a:path>
              <a:path w="6214745" h="142875">
                <a:moveTo>
                  <a:pt x="6089538" y="0"/>
                </a:moveTo>
                <a:lnTo>
                  <a:pt x="6083465" y="395"/>
                </a:lnTo>
                <a:lnTo>
                  <a:pt x="6077983" y="3040"/>
                </a:lnTo>
                <a:lnTo>
                  <a:pt x="6073792" y="7748"/>
                </a:lnTo>
                <a:lnTo>
                  <a:pt x="6071757" y="13715"/>
                </a:lnTo>
                <a:lnTo>
                  <a:pt x="6072153" y="19788"/>
                </a:lnTo>
                <a:lnTo>
                  <a:pt x="6074797" y="25269"/>
                </a:lnTo>
                <a:lnTo>
                  <a:pt x="6079506" y="29460"/>
                </a:lnTo>
                <a:lnTo>
                  <a:pt x="6151249" y="71311"/>
                </a:lnTo>
                <a:lnTo>
                  <a:pt x="6174756" y="57598"/>
                </a:lnTo>
                <a:lnTo>
                  <a:pt x="6182696" y="57598"/>
                </a:lnTo>
                <a:lnTo>
                  <a:pt x="6182696" y="55436"/>
                </a:lnTo>
                <a:lnTo>
                  <a:pt x="6187046" y="55436"/>
                </a:lnTo>
                <a:lnTo>
                  <a:pt x="6095504" y="2036"/>
                </a:lnTo>
                <a:lnTo>
                  <a:pt x="6089538" y="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33525" y="4385564"/>
            <a:ext cx="6540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rebuchet MS"/>
                <a:cs typeface="Trebuchet MS"/>
              </a:rPr>
              <a:t>Data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953002" y="4385564"/>
            <a:ext cx="762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Trebuchet MS"/>
                <a:cs typeface="Trebuchet MS"/>
              </a:rPr>
              <a:t>Noise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767015" y="3745980"/>
            <a:ext cx="1672064" cy="16720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138" y="3745980"/>
            <a:ext cx="1672064" cy="167206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7118" y="3745980"/>
            <a:ext cx="1672064" cy="167206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39098" y="3745980"/>
            <a:ext cx="1672064" cy="1672064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571079" y="3745980"/>
            <a:ext cx="1672064" cy="1672064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303060" y="3745980"/>
            <a:ext cx="1672062" cy="167206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35040" y="3745980"/>
            <a:ext cx="1672064" cy="1672064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4217946" y="5954186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5" h="200025">
                <a:moveTo>
                  <a:pt x="17736" y="33774"/>
                </a:moveTo>
                <a:lnTo>
                  <a:pt x="0" y="67495"/>
                </a:lnTo>
                <a:lnTo>
                  <a:pt x="38726" y="86754"/>
                </a:lnTo>
                <a:lnTo>
                  <a:pt x="82891" y="104678"/>
                </a:lnTo>
                <a:lnTo>
                  <a:pt x="132217" y="121259"/>
                </a:lnTo>
                <a:lnTo>
                  <a:pt x="186405" y="136457"/>
                </a:lnTo>
                <a:lnTo>
                  <a:pt x="245317" y="150243"/>
                </a:lnTo>
                <a:lnTo>
                  <a:pt x="308278" y="162473"/>
                </a:lnTo>
                <a:lnTo>
                  <a:pt x="375155" y="173112"/>
                </a:lnTo>
                <a:lnTo>
                  <a:pt x="445642" y="182083"/>
                </a:lnTo>
                <a:lnTo>
                  <a:pt x="527944" y="190018"/>
                </a:lnTo>
                <a:lnTo>
                  <a:pt x="611089" y="195513"/>
                </a:lnTo>
                <a:lnTo>
                  <a:pt x="694535" y="198635"/>
                </a:lnTo>
                <a:lnTo>
                  <a:pt x="777735" y="199450"/>
                </a:lnTo>
                <a:lnTo>
                  <a:pt x="860146" y="198023"/>
                </a:lnTo>
                <a:lnTo>
                  <a:pt x="941223" y="194417"/>
                </a:lnTo>
                <a:lnTo>
                  <a:pt x="1020423" y="188696"/>
                </a:lnTo>
                <a:lnTo>
                  <a:pt x="1097205" y="180919"/>
                </a:lnTo>
                <a:lnTo>
                  <a:pt x="1171030" y="171146"/>
                </a:lnTo>
                <a:lnTo>
                  <a:pt x="1229830" y="161357"/>
                </a:lnTo>
                <a:lnTo>
                  <a:pt x="777078" y="161357"/>
                </a:lnTo>
                <a:lnTo>
                  <a:pt x="694910" y="160538"/>
                </a:lnTo>
                <a:lnTo>
                  <a:pt x="612517" y="157440"/>
                </a:lnTo>
                <a:lnTo>
                  <a:pt x="530459" y="152002"/>
                </a:lnTo>
                <a:lnTo>
                  <a:pt x="449304" y="144160"/>
                </a:lnTo>
                <a:lnTo>
                  <a:pt x="379970" y="135318"/>
                </a:lnTo>
                <a:lnTo>
                  <a:pt x="314270" y="124847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2"/>
                </a:lnTo>
                <a:lnTo>
                  <a:pt x="95552" y="68743"/>
                </a:lnTo>
                <a:lnTo>
                  <a:pt x="53679" y="51711"/>
                </a:lnTo>
                <a:lnTo>
                  <a:pt x="34941" y="42843"/>
                </a:lnTo>
                <a:lnTo>
                  <a:pt x="17736" y="33774"/>
                </a:lnTo>
                <a:close/>
              </a:path>
              <a:path w="1550035" h="200025">
                <a:moveTo>
                  <a:pt x="1538493" y="59839"/>
                </a:moveTo>
                <a:lnTo>
                  <a:pt x="1455874" y="59839"/>
                </a:lnTo>
                <a:lnTo>
                  <a:pt x="1472459" y="94141"/>
                </a:lnTo>
                <a:lnTo>
                  <a:pt x="1455446" y="102368"/>
                </a:lnTo>
                <a:lnTo>
                  <a:pt x="1489228" y="170837"/>
                </a:lnTo>
                <a:lnTo>
                  <a:pt x="1538493" y="59839"/>
                </a:lnTo>
                <a:close/>
              </a:path>
              <a:path w="1550035" h="200025">
                <a:moveTo>
                  <a:pt x="1438587" y="68198"/>
                </a:moveTo>
                <a:lnTo>
                  <a:pt x="1386625" y="85745"/>
                </a:lnTo>
                <a:lnTo>
                  <a:pt x="1329274" y="101532"/>
                </a:lnTo>
                <a:lnTo>
                  <a:pt x="1266837" y="115658"/>
                </a:lnTo>
                <a:lnTo>
                  <a:pt x="1164776" y="133563"/>
                </a:lnTo>
                <a:lnTo>
                  <a:pt x="1092210" y="143148"/>
                </a:lnTo>
                <a:lnTo>
                  <a:pt x="1016588" y="150789"/>
                </a:lnTo>
                <a:lnTo>
                  <a:pt x="938481" y="156417"/>
                </a:lnTo>
                <a:lnTo>
                  <a:pt x="858456" y="159961"/>
                </a:lnTo>
                <a:lnTo>
                  <a:pt x="777078" y="161357"/>
                </a:lnTo>
                <a:lnTo>
                  <a:pt x="1229830" y="161357"/>
                </a:lnTo>
                <a:lnTo>
                  <a:pt x="1274861" y="152905"/>
                </a:lnTo>
                <a:lnTo>
                  <a:pt x="1338941" y="138385"/>
                </a:lnTo>
                <a:lnTo>
                  <a:pt x="1398106" y="122071"/>
                </a:lnTo>
                <a:lnTo>
                  <a:pt x="1453531" y="103294"/>
                </a:lnTo>
                <a:lnTo>
                  <a:pt x="1455446" y="102368"/>
                </a:lnTo>
                <a:lnTo>
                  <a:pt x="1438587" y="68198"/>
                </a:lnTo>
                <a:close/>
              </a:path>
              <a:path w="1550035" h="200025">
                <a:moveTo>
                  <a:pt x="1455874" y="59839"/>
                </a:moveTo>
                <a:lnTo>
                  <a:pt x="1438587" y="68198"/>
                </a:lnTo>
                <a:lnTo>
                  <a:pt x="1455446" y="102368"/>
                </a:lnTo>
                <a:lnTo>
                  <a:pt x="1472459" y="94141"/>
                </a:lnTo>
                <a:lnTo>
                  <a:pt x="1455874" y="59839"/>
                </a:lnTo>
                <a:close/>
              </a:path>
              <a:path w="1550035" h="200025">
                <a:moveTo>
                  <a:pt x="1404938" y="0"/>
                </a:moveTo>
                <a:lnTo>
                  <a:pt x="1438587" y="68198"/>
                </a:lnTo>
                <a:lnTo>
                  <a:pt x="1455874" y="59839"/>
                </a:lnTo>
                <a:lnTo>
                  <a:pt x="1538493" y="59839"/>
                </a:lnTo>
                <a:lnTo>
                  <a:pt x="1549586" y="34846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994930" y="5954186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6" y="33774"/>
                </a:moveTo>
                <a:lnTo>
                  <a:pt x="0" y="67495"/>
                </a:lnTo>
                <a:lnTo>
                  <a:pt x="38726" y="86754"/>
                </a:lnTo>
                <a:lnTo>
                  <a:pt x="82891" y="104678"/>
                </a:lnTo>
                <a:lnTo>
                  <a:pt x="132217" y="121259"/>
                </a:lnTo>
                <a:lnTo>
                  <a:pt x="186405" y="136457"/>
                </a:lnTo>
                <a:lnTo>
                  <a:pt x="245317" y="150243"/>
                </a:lnTo>
                <a:lnTo>
                  <a:pt x="308278" y="162473"/>
                </a:lnTo>
                <a:lnTo>
                  <a:pt x="375155" y="173112"/>
                </a:lnTo>
                <a:lnTo>
                  <a:pt x="445642" y="182083"/>
                </a:lnTo>
                <a:lnTo>
                  <a:pt x="527944" y="190018"/>
                </a:lnTo>
                <a:lnTo>
                  <a:pt x="611089" y="195513"/>
                </a:lnTo>
                <a:lnTo>
                  <a:pt x="694535" y="198635"/>
                </a:lnTo>
                <a:lnTo>
                  <a:pt x="777735" y="199450"/>
                </a:lnTo>
                <a:lnTo>
                  <a:pt x="860145" y="198023"/>
                </a:lnTo>
                <a:lnTo>
                  <a:pt x="941223" y="194417"/>
                </a:lnTo>
                <a:lnTo>
                  <a:pt x="1020423" y="188696"/>
                </a:lnTo>
                <a:lnTo>
                  <a:pt x="1097205" y="180919"/>
                </a:lnTo>
                <a:lnTo>
                  <a:pt x="1171030" y="171146"/>
                </a:lnTo>
                <a:lnTo>
                  <a:pt x="1229830" y="161357"/>
                </a:lnTo>
                <a:lnTo>
                  <a:pt x="777078" y="161357"/>
                </a:lnTo>
                <a:lnTo>
                  <a:pt x="694910" y="160538"/>
                </a:lnTo>
                <a:lnTo>
                  <a:pt x="612517" y="157440"/>
                </a:lnTo>
                <a:lnTo>
                  <a:pt x="530459" y="152002"/>
                </a:lnTo>
                <a:lnTo>
                  <a:pt x="449304" y="144160"/>
                </a:lnTo>
                <a:lnTo>
                  <a:pt x="379970" y="135318"/>
                </a:lnTo>
                <a:lnTo>
                  <a:pt x="314270" y="124847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2"/>
                </a:lnTo>
                <a:lnTo>
                  <a:pt x="95552" y="68743"/>
                </a:lnTo>
                <a:lnTo>
                  <a:pt x="53679" y="51711"/>
                </a:lnTo>
                <a:lnTo>
                  <a:pt x="34941" y="42843"/>
                </a:lnTo>
                <a:lnTo>
                  <a:pt x="17736" y="33774"/>
                </a:lnTo>
                <a:close/>
              </a:path>
              <a:path w="1550034" h="200025">
                <a:moveTo>
                  <a:pt x="1538492" y="59839"/>
                </a:moveTo>
                <a:lnTo>
                  <a:pt x="1455874" y="59839"/>
                </a:lnTo>
                <a:lnTo>
                  <a:pt x="1472459" y="94141"/>
                </a:lnTo>
                <a:lnTo>
                  <a:pt x="1455445" y="102368"/>
                </a:lnTo>
                <a:lnTo>
                  <a:pt x="1489227" y="170837"/>
                </a:lnTo>
                <a:lnTo>
                  <a:pt x="1538492" y="59839"/>
                </a:lnTo>
                <a:close/>
              </a:path>
              <a:path w="1550034" h="200025">
                <a:moveTo>
                  <a:pt x="1438587" y="68198"/>
                </a:moveTo>
                <a:lnTo>
                  <a:pt x="1386625" y="85745"/>
                </a:lnTo>
                <a:lnTo>
                  <a:pt x="1329274" y="101532"/>
                </a:lnTo>
                <a:lnTo>
                  <a:pt x="1266837" y="115658"/>
                </a:lnTo>
                <a:lnTo>
                  <a:pt x="1164776" y="133563"/>
                </a:lnTo>
                <a:lnTo>
                  <a:pt x="1092210" y="143148"/>
                </a:lnTo>
                <a:lnTo>
                  <a:pt x="1016588" y="150789"/>
                </a:lnTo>
                <a:lnTo>
                  <a:pt x="938481" y="156417"/>
                </a:lnTo>
                <a:lnTo>
                  <a:pt x="858456" y="159961"/>
                </a:lnTo>
                <a:lnTo>
                  <a:pt x="777078" y="161357"/>
                </a:lnTo>
                <a:lnTo>
                  <a:pt x="1229830" y="161357"/>
                </a:lnTo>
                <a:lnTo>
                  <a:pt x="1274861" y="152905"/>
                </a:lnTo>
                <a:lnTo>
                  <a:pt x="1338941" y="138385"/>
                </a:lnTo>
                <a:lnTo>
                  <a:pt x="1398106" y="122071"/>
                </a:lnTo>
                <a:lnTo>
                  <a:pt x="1453531" y="103294"/>
                </a:lnTo>
                <a:lnTo>
                  <a:pt x="1455445" y="102368"/>
                </a:lnTo>
                <a:lnTo>
                  <a:pt x="1438587" y="68198"/>
                </a:lnTo>
                <a:close/>
              </a:path>
              <a:path w="1550034" h="200025">
                <a:moveTo>
                  <a:pt x="1455874" y="59839"/>
                </a:moveTo>
                <a:lnTo>
                  <a:pt x="1438587" y="68198"/>
                </a:lnTo>
                <a:lnTo>
                  <a:pt x="1455445" y="102368"/>
                </a:lnTo>
                <a:lnTo>
                  <a:pt x="1472459" y="94141"/>
                </a:lnTo>
                <a:lnTo>
                  <a:pt x="1455874" y="59839"/>
                </a:lnTo>
                <a:close/>
              </a:path>
              <a:path w="1550034" h="200025">
                <a:moveTo>
                  <a:pt x="1404938" y="0"/>
                </a:moveTo>
                <a:lnTo>
                  <a:pt x="1438587" y="68198"/>
                </a:lnTo>
                <a:lnTo>
                  <a:pt x="1455874" y="59839"/>
                </a:lnTo>
                <a:lnTo>
                  <a:pt x="1538492" y="59839"/>
                </a:lnTo>
                <a:lnTo>
                  <a:pt x="1549585" y="34846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771914" y="5954186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6" y="33774"/>
                </a:moveTo>
                <a:lnTo>
                  <a:pt x="0" y="67495"/>
                </a:lnTo>
                <a:lnTo>
                  <a:pt x="38726" y="86754"/>
                </a:lnTo>
                <a:lnTo>
                  <a:pt x="82891" y="104678"/>
                </a:lnTo>
                <a:lnTo>
                  <a:pt x="132217" y="121259"/>
                </a:lnTo>
                <a:lnTo>
                  <a:pt x="186405" y="136457"/>
                </a:lnTo>
                <a:lnTo>
                  <a:pt x="245317" y="150243"/>
                </a:lnTo>
                <a:lnTo>
                  <a:pt x="308278" y="162473"/>
                </a:lnTo>
                <a:lnTo>
                  <a:pt x="375155" y="173112"/>
                </a:lnTo>
                <a:lnTo>
                  <a:pt x="445642" y="182083"/>
                </a:lnTo>
                <a:lnTo>
                  <a:pt x="527944" y="190018"/>
                </a:lnTo>
                <a:lnTo>
                  <a:pt x="611089" y="195513"/>
                </a:lnTo>
                <a:lnTo>
                  <a:pt x="694535" y="198635"/>
                </a:lnTo>
                <a:lnTo>
                  <a:pt x="777735" y="199450"/>
                </a:lnTo>
                <a:lnTo>
                  <a:pt x="860145" y="198023"/>
                </a:lnTo>
                <a:lnTo>
                  <a:pt x="941223" y="194417"/>
                </a:lnTo>
                <a:lnTo>
                  <a:pt x="1020423" y="188696"/>
                </a:lnTo>
                <a:lnTo>
                  <a:pt x="1097205" y="180919"/>
                </a:lnTo>
                <a:lnTo>
                  <a:pt x="1171028" y="171146"/>
                </a:lnTo>
                <a:lnTo>
                  <a:pt x="1229829" y="161357"/>
                </a:lnTo>
                <a:lnTo>
                  <a:pt x="777078" y="161357"/>
                </a:lnTo>
                <a:lnTo>
                  <a:pt x="694910" y="160538"/>
                </a:lnTo>
                <a:lnTo>
                  <a:pt x="612517" y="157440"/>
                </a:lnTo>
                <a:lnTo>
                  <a:pt x="530459" y="152002"/>
                </a:lnTo>
                <a:lnTo>
                  <a:pt x="449304" y="144160"/>
                </a:lnTo>
                <a:lnTo>
                  <a:pt x="379970" y="135318"/>
                </a:lnTo>
                <a:lnTo>
                  <a:pt x="314270" y="124847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2"/>
                </a:lnTo>
                <a:lnTo>
                  <a:pt x="95552" y="68743"/>
                </a:lnTo>
                <a:lnTo>
                  <a:pt x="53679" y="51711"/>
                </a:lnTo>
                <a:lnTo>
                  <a:pt x="34940" y="42843"/>
                </a:lnTo>
                <a:lnTo>
                  <a:pt x="17736" y="33774"/>
                </a:lnTo>
                <a:close/>
              </a:path>
              <a:path w="1550034" h="200025">
                <a:moveTo>
                  <a:pt x="1538492" y="59839"/>
                </a:moveTo>
                <a:lnTo>
                  <a:pt x="1455874" y="59839"/>
                </a:lnTo>
                <a:lnTo>
                  <a:pt x="1472459" y="94141"/>
                </a:lnTo>
                <a:lnTo>
                  <a:pt x="1455445" y="102368"/>
                </a:lnTo>
                <a:lnTo>
                  <a:pt x="1489227" y="170837"/>
                </a:lnTo>
                <a:lnTo>
                  <a:pt x="1538492" y="59839"/>
                </a:lnTo>
                <a:close/>
              </a:path>
              <a:path w="1550034" h="200025">
                <a:moveTo>
                  <a:pt x="1438587" y="68198"/>
                </a:moveTo>
                <a:lnTo>
                  <a:pt x="1386625" y="85745"/>
                </a:lnTo>
                <a:lnTo>
                  <a:pt x="1329274" y="101532"/>
                </a:lnTo>
                <a:lnTo>
                  <a:pt x="1266837" y="115658"/>
                </a:lnTo>
                <a:lnTo>
                  <a:pt x="1164776" y="133563"/>
                </a:lnTo>
                <a:lnTo>
                  <a:pt x="1092210" y="143148"/>
                </a:lnTo>
                <a:lnTo>
                  <a:pt x="1016588" y="150789"/>
                </a:lnTo>
                <a:lnTo>
                  <a:pt x="938481" y="156417"/>
                </a:lnTo>
                <a:lnTo>
                  <a:pt x="858456" y="159961"/>
                </a:lnTo>
                <a:lnTo>
                  <a:pt x="777078" y="161357"/>
                </a:lnTo>
                <a:lnTo>
                  <a:pt x="1229829" y="161357"/>
                </a:lnTo>
                <a:lnTo>
                  <a:pt x="1274861" y="152905"/>
                </a:lnTo>
                <a:lnTo>
                  <a:pt x="1338941" y="138385"/>
                </a:lnTo>
                <a:lnTo>
                  <a:pt x="1398106" y="122071"/>
                </a:lnTo>
                <a:lnTo>
                  <a:pt x="1453531" y="103294"/>
                </a:lnTo>
                <a:lnTo>
                  <a:pt x="1455445" y="102368"/>
                </a:lnTo>
                <a:lnTo>
                  <a:pt x="1438587" y="68198"/>
                </a:lnTo>
                <a:close/>
              </a:path>
              <a:path w="1550034" h="200025">
                <a:moveTo>
                  <a:pt x="1455874" y="59839"/>
                </a:moveTo>
                <a:lnTo>
                  <a:pt x="1438587" y="68198"/>
                </a:lnTo>
                <a:lnTo>
                  <a:pt x="1455445" y="102368"/>
                </a:lnTo>
                <a:lnTo>
                  <a:pt x="1472459" y="94141"/>
                </a:lnTo>
                <a:lnTo>
                  <a:pt x="1455874" y="59839"/>
                </a:lnTo>
                <a:close/>
              </a:path>
              <a:path w="1550034" h="200025">
                <a:moveTo>
                  <a:pt x="1404938" y="0"/>
                </a:moveTo>
                <a:lnTo>
                  <a:pt x="1438587" y="68198"/>
                </a:lnTo>
                <a:lnTo>
                  <a:pt x="1455874" y="59839"/>
                </a:lnTo>
                <a:lnTo>
                  <a:pt x="1538492" y="59839"/>
                </a:lnTo>
                <a:lnTo>
                  <a:pt x="1549585" y="34846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9548898" y="5954186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6" y="33774"/>
                </a:moveTo>
                <a:lnTo>
                  <a:pt x="0" y="67495"/>
                </a:lnTo>
                <a:lnTo>
                  <a:pt x="38726" y="86754"/>
                </a:lnTo>
                <a:lnTo>
                  <a:pt x="82891" y="104678"/>
                </a:lnTo>
                <a:lnTo>
                  <a:pt x="132217" y="121259"/>
                </a:lnTo>
                <a:lnTo>
                  <a:pt x="186405" y="136457"/>
                </a:lnTo>
                <a:lnTo>
                  <a:pt x="245317" y="150243"/>
                </a:lnTo>
                <a:lnTo>
                  <a:pt x="308278" y="162473"/>
                </a:lnTo>
                <a:lnTo>
                  <a:pt x="375155" y="173112"/>
                </a:lnTo>
                <a:lnTo>
                  <a:pt x="445643" y="182083"/>
                </a:lnTo>
                <a:lnTo>
                  <a:pt x="527944" y="190018"/>
                </a:lnTo>
                <a:lnTo>
                  <a:pt x="611089" y="195513"/>
                </a:lnTo>
                <a:lnTo>
                  <a:pt x="694535" y="198635"/>
                </a:lnTo>
                <a:lnTo>
                  <a:pt x="777735" y="199450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23" y="188696"/>
                </a:lnTo>
                <a:lnTo>
                  <a:pt x="1097205" y="180919"/>
                </a:lnTo>
                <a:lnTo>
                  <a:pt x="1171028" y="171146"/>
                </a:lnTo>
                <a:lnTo>
                  <a:pt x="1229829" y="161357"/>
                </a:lnTo>
                <a:lnTo>
                  <a:pt x="777078" y="161357"/>
                </a:lnTo>
                <a:lnTo>
                  <a:pt x="694910" y="160538"/>
                </a:lnTo>
                <a:lnTo>
                  <a:pt x="612517" y="157440"/>
                </a:lnTo>
                <a:lnTo>
                  <a:pt x="530459" y="152002"/>
                </a:lnTo>
                <a:lnTo>
                  <a:pt x="449304" y="144160"/>
                </a:lnTo>
                <a:lnTo>
                  <a:pt x="379970" y="135318"/>
                </a:lnTo>
                <a:lnTo>
                  <a:pt x="314270" y="124847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2"/>
                </a:lnTo>
                <a:lnTo>
                  <a:pt x="95552" y="68743"/>
                </a:lnTo>
                <a:lnTo>
                  <a:pt x="53679" y="51711"/>
                </a:lnTo>
                <a:lnTo>
                  <a:pt x="34940" y="42843"/>
                </a:lnTo>
                <a:lnTo>
                  <a:pt x="17736" y="33774"/>
                </a:lnTo>
                <a:close/>
              </a:path>
              <a:path w="1550034" h="200025">
                <a:moveTo>
                  <a:pt x="1538492" y="59839"/>
                </a:moveTo>
                <a:lnTo>
                  <a:pt x="1455874" y="59839"/>
                </a:lnTo>
                <a:lnTo>
                  <a:pt x="1472459" y="94141"/>
                </a:lnTo>
                <a:lnTo>
                  <a:pt x="1455445" y="102368"/>
                </a:lnTo>
                <a:lnTo>
                  <a:pt x="1489227" y="170837"/>
                </a:lnTo>
                <a:lnTo>
                  <a:pt x="1538492" y="59839"/>
                </a:lnTo>
                <a:close/>
              </a:path>
              <a:path w="1550034" h="200025">
                <a:moveTo>
                  <a:pt x="1438587" y="68198"/>
                </a:moveTo>
                <a:lnTo>
                  <a:pt x="1386625" y="85745"/>
                </a:lnTo>
                <a:lnTo>
                  <a:pt x="1329274" y="101532"/>
                </a:lnTo>
                <a:lnTo>
                  <a:pt x="1266837" y="115658"/>
                </a:lnTo>
                <a:lnTo>
                  <a:pt x="1164776" y="133563"/>
                </a:lnTo>
                <a:lnTo>
                  <a:pt x="1092210" y="143148"/>
                </a:lnTo>
                <a:lnTo>
                  <a:pt x="1016588" y="150789"/>
                </a:lnTo>
                <a:lnTo>
                  <a:pt x="938481" y="156417"/>
                </a:lnTo>
                <a:lnTo>
                  <a:pt x="858456" y="159961"/>
                </a:lnTo>
                <a:lnTo>
                  <a:pt x="777078" y="161357"/>
                </a:lnTo>
                <a:lnTo>
                  <a:pt x="1229829" y="161357"/>
                </a:lnTo>
                <a:lnTo>
                  <a:pt x="1274861" y="152905"/>
                </a:lnTo>
                <a:lnTo>
                  <a:pt x="1338941" y="138385"/>
                </a:lnTo>
                <a:lnTo>
                  <a:pt x="1398106" y="122071"/>
                </a:lnTo>
                <a:lnTo>
                  <a:pt x="1453531" y="103294"/>
                </a:lnTo>
                <a:lnTo>
                  <a:pt x="1455445" y="102368"/>
                </a:lnTo>
                <a:lnTo>
                  <a:pt x="1438587" y="68198"/>
                </a:lnTo>
                <a:close/>
              </a:path>
              <a:path w="1550034" h="200025">
                <a:moveTo>
                  <a:pt x="1455874" y="59839"/>
                </a:moveTo>
                <a:lnTo>
                  <a:pt x="1438587" y="68198"/>
                </a:lnTo>
                <a:lnTo>
                  <a:pt x="1455445" y="102368"/>
                </a:lnTo>
                <a:lnTo>
                  <a:pt x="1472459" y="94141"/>
                </a:lnTo>
                <a:lnTo>
                  <a:pt x="1455874" y="59839"/>
                </a:lnTo>
                <a:close/>
              </a:path>
              <a:path w="1550034" h="200025">
                <a:moveTo>
                  <a:pt x="1404938" y="0"/>
                </a:moveTo>
                <a:lnTo>
                  <a:pt x="1438587" y="68198"/>
                </a:lnTo>
                <a:lnTo>
                  <a:pt x="1455874" y="59839"/>
                </a:lnTo>
                <a:lnTo>
                  <a:pt x="1538492" y="59839"/>
                </a:lnTo>
                <a:lnTo>
                  <a:pt x="1549585" y="34846"/>
                </a:lnTo>
                <a:lnTo>
                  <a:pt x="1404938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325883" y="5954186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36" y="33774"/>
                </a:moveTo>
                <a:lnTo>
                  <a:pt x="0" y="67495"/>
                </a:lnTo>
                <a:lnTo>
                  <a:pt x="38726" y="86754"/>
                </a:lnTo>
                <a:lnTo>
                  <a:pt x="82891" y="104678"/>
                </a:lnTo>
                <a:lnTo>
                  <a:pt x="132217" y="121259"/>
                </a:lnTo>
                <a:lnTo>
                  <a:pt x="186405" y="136457"/>
                </a:lnTo>
                <a:lnTo>
                  <a:pt x="245317" y="150243"/>
                </a:lnTo>
                <a:lnTo>
                  <a:pt x="308278" y="162473"/>
                </a:lnTo>
                <a:lnTo>
                  <a:pt x="375155" y="173112"/>
                </a:lnTo>
                <a:lnTo>
                  <a:pt x="445643" y="182083"/>
                </a:lnTo>
                <a:lnTo>
                  <a:pt x="527944" y="190018"/>
                </a:lnTo>
                <a:lnTo>
                  <a:pt x="611089" y="195513"/>
                </a:lnTo>
                <a:lnTo>
                  <a:pt x="694535" y="198635"/>
                </a:lnTo>
                <a:lnTo>
                  <a:pt x="777735" y="199450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23" y="188696"/>
                </a:lnTo>
                <a:lnTo>
                  <a:pt x="1097205" y="180919"/>
                </a:lnTo>
                <a:lnTo>
                  <a:pt x="1171028" y="171146"/>
                </a:lnTo>
                <a:lnTo>
                  <a:pt x="1229829" y="161357"/>
                </a:lnTo>
                <a:lnTo>
                  <a:pt x="777078" y="161357"/>
                </a:lnTo>
                <a:lnTo>
                  <a:pt x="694910" y="160538"/>
                </a:lnTo>
                <a:lnTo>
                  <a:pt x="612517" y="157440"/>
                </a:lnTo>
                <a:lnTo>
                  <a:pt x="530459" y="152002"/>
                </a:lnTo>
                <a:lnTo>
                  <a:pt x="449303" y="144160"/>
                </a:lnTo>
                <a:lnTo>
                  <a:pt x="379970" y="135318"/>
                </a:lnTo>
                <a:lnTo>
                  <a:pt x="314270" y="124847"/>
                </a:lnTo>
                <a:lnTo>
                  <a:pt x="252587" y="112843"/>
                </a:lnTo>
                <a:lnTo>
                  <a:pt x="195475" y="99452"/>
                </a:lnTo>
                <a:lnTo>
                  <a:pt x="142948" y="84702"/>
                </a:lnTo>
                <a:lnTo>
                  <a:pt x="95552" y="68743"/>
                </a:lnTo>
                <a:lnTo>
                  <a:pt x="53679" y="51711"/>
                </a:lnTo>
                <a:lnTo>
                  <a:pt x="34940" y="42843"/>
                </a:lnTo>
                <a:lnTo>
                  <a:pt x="17736" y="33774"/>
                </a:lnTo>
                <a:close/>
              </a:path>
              <a:path w="1550034" h="200025">
                <a:moveTo>
                  <a:pt x="1538488" y="59839"/>
                </a:moveTo>
                <a:lnTo>
                  <a:pt x="1455879" y="59839"/>
                </a:lnTo>
                <a:lnTo>
                  <a:pt x="1472465" y="94141"/>
                </a:lnTo>
                <a:lnTo>
                  <a:pt x="1455447" y="102367"/>
                </a:lnTo>
                <a:lnTo>
                  <a:pt x="1489229" y="170837"/>
                </a:lnTo>
                <a:lnTo>
                  <a:pt x="1538488" y="59839"/>
                </a:lnTo>
                <a:close/>
              </a:path>
              <a:path w="1550034" h="200025">
                <a:moveTo>
                  <a:pt x="1438588" y="68197"/>
                </a:moveTo>
                <a:lnTo>
                  <a:pt x="1386626" y="85745"/>
                </a:lnTo>
                <a:lnTo>
                  <a:pt x="1329274" y="101532"/>
                </a:lnTo>
                <a:lnTo>
                  <a:pt x="1266837" y="115658"/>
                </a:lnTo>
                <a:lnTo>
                  <a:pt x="1164776" y="133563"/>
                </a:lnTo>
                <a:lnTo>
                  <a:pt x="1092210" y="143148"/>
                </a:lnTo>
                <a:lnTo>
                  <a:pt x="1016588" y="150789"/>
                </a:lnTo>
                <a:lnTo>
                  <a:pt x="938481" y="156417"/>
                </a:lnTo>
                <a:lnTo>
                  <a:pt x="858456" y="159961"/>
                </a:lnTo>
                <a:lnTo>
                  <a:pt x="777078" y="161357"/>
                </a:lnTo>
                <a:lnTo>
                  <a:pt x="1229829" y="161357"/>
                </a:lnTo>
                <a:lnTo>
                  <a:pt x="1274861" y="152905"/>
                </a:lnTo>
                <a:lnTo>
                  <a:pt x="1338941" y="138385"/>
                </a:lnTo>
                <a:lnTo>
                  <a:pt x="1398107" y="122071"/>
                </a:lnTo>
                <a:lnTo>
                  <a:pt x="1453530" y="103294"/>
                </a:lnTo>
                <a:lnTo>
                  <a:pt x="1455447" y="102367"/>
                </a:lnTo>
                <a:lnTo>
                  <a:pt x="1438588" y="68197"/>
                </a:lnTo>
                <a:close/>
              </a:path>
              <a:path w="1550034" h="200025">
                <a:moveTo>
                  <a:pt x="1455879" y="59839"/>
                </a:moveTo>
                <a:lnTo>
                  <a:pt x="1438588" y="68197"/>
                </a:lnTo>
                <a:lnTo>
                  <a:pt x="1455447" y="102367"/>
                </a:lnTo>
                <a:lnTo>
                  <a:pt x="1472465" y="94141"/>
                </a:lnTo>
                <a:lnTo>
                  <a:pt x="1455879" y="59839"/>
                </a:lnTo>
                <a:close/>
              </a:path>
              <a:path w="1550034" h="200025">
                <a:moveTo>
                  <a:pt x="1404940" y="0"/>
                </a:moveTo>
                <a:lnTo>
                  <a:pt x="1438588" y="68197"/>
                </a:lnTo>
                <a:lnTo>
                  <a:pt x="1455879" y="59839"/>
                </a:lnTo>
                <a:lnTo>
                  <a:pt x="1538488" y="59839"/>
                </a:lnTo>
                <a:lnTo>
                  <a:pt x="1549580" y="34846"/>
                </a:lnTo>
                <a:lnTo>
                  <a:pt x="1404940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3102869" y="5954186"/>
            <a:ext cx="1550035" cy="200025"/>
          </a:xfrm>
          <a:custGeom>
            <a:avLst/>
            <a:gdLst/>
            <a:ahLst/>
            <a:cxnLst/>
            <a:rect l="l" t="t" r="r" b="b"/>
            <a:pathLst>
              <a:path w="1550034" h="200025">
                <a:moveTo>
                  <a:pt x="17729" y="33774"/>
                </a:moveTo>
                <a:lnTo>
                  <a:pt x="18669" y="77293"/>
                </a:lnTo>
                <a:lnTo>
                  <a:pt x="60147" y="95883"/>
                </a:lnTo>
                <a:lnTo>
                  <a:pt x="107059" y="113183"/>
                </a:lnTo>
                <a:lnTo>
                  <a:pt x="158724" y="129034"/>
                </a:lnTo>
                <a:lnTo>
                  <a:pt x="215226" y="143517"/>
                </a:lnTo>
                <a:lnTo>
                  <a:pt x="308279" y="162473"/>
                </a:lnTo>
                <a:lnTo>
                  <a:pt x="375157" y="173112"/>
                </a:lnTo>
                <a:lnTo>
                  <a:pt x="445642" y="182083"/>
                </a:lnTo>
                <a:lnTo>
                  <a:pt x="527938" y="190018"/>
                </a:lnTo>
                <a:lnTo>
                  <a:pt x="611085" y="195513"/>
                </a:lnTo>
                <a:lnTo>
                  <a:pt x="694537" y="198635"/>
                </a:lnTo>
                <a:lnTo>
                  <a:pt x="777735" y="199450"/>
                </a:lnTo>
                <a:lnTo>
                  <a:pt x="860145" y="198023"/>
                </a:lnTo>
                <a:lnTo>
                  <a:pt x="941222" y="194417"/>
                </a:lnTo>
                <a:lnTo>
                  <a:pt x="1020419" y="188696"/>
                </a:lnTo>
                <a:lnTo>
                  <a:pt x="1097203" y="180919"/>
                </a:lnTo>
                <a:lnTo>
                  <a:pt x="1171028" y="171146"/>
                </a:lnTo>
                <a:lnTo>
                  <a:pt x="1229831" y="161357"/>
                </a:lnTo>
                <a:lnTo>
                  <a:pt x="777074" y="161357"/>
                </a:lnTo>
                <a:lnTo>
                  <a:pt x="694905" y="160538"/>
                </a:lnTo>
                <a:lnTo>
                  <a:pt x="612521" y="157440"/>
                </a:lnTo>
                <a:lnTo>
                  <a:pt x="530453" y="152002"/>
                </a:lnTo>
                <a:lnTo>
                  <a:pt x="449300" y="144160"/>
                </a:lnTo>
                <a:lnTo>
                  <a:pt x="379971" y="135318"/>
                </a:lnTo>
                <a:lnTo>
                  <a:pt x="314261" y="124847"/>
                </a:lnTo>
                <a:lnTo>
                  <a:pt x="252590" y="112843"/>
                </a:lnTo>
                <a:lnTo>
                  <a:pt x="195478" y="99452"/>
                </a:lnTo>
                <a:lnTo>
                  <a:pt x="142951" y="84702"/>
                </a:lnTo>
                <a:lnTo>
                  <a:pt x="95554" y="68743"/>
                </a:lnTo>
                <a:lnTo>
                  <a:pt x="53682" y="51711"/>
                </a:lnTo>
                <a:lnTo>
                  <a:pt x="34937" y="42843"/>
                </a:lnTo>
                <a:lnTo>
                  <a:pt x="17729" y="33774"/>
                </a:lnTo>
                <a:close/>
              </a:path>
              <a:path w="1550034" h="200025">
                <a:moveTo>
                  <a:pt x="1538486" y="59839"/>
                </a:moveTo>
                <a:lnTo>
                  <a:pt x="1455877" y="59839"/>
                </a:lnTo>
                <a:lnTo>
                  <a:pt x="1472463" y="94141"/>
                </a:lnTo>
                <a:lnTo>
                  <a:pt x="1455444" y="102367"/>
                </a:lnTo>
                <a:lnTo>
                  <a:pt x="1489227" y="170837"/>
                </a:lnTo>
                <a:lnTo>
                  <a:pt x="1538486" y="59839"/>
                </a:lnTo>
                <a:close/>
              </a:path>
              <a:path w="1550034" h="200025">
                <a:moveTo>
                  <a:pt x="1438585" y="68197"/>
                </a:moveTo>
                <a:lnTo>
                  <a:pt x="1386624" y="85745"/>
                </a:lnTo>
                <a:lnTo>
                  <a:pt x="1329270" y="101532"/>
                </a:lnTo>
                <a:lnTo>
                  <a:pt x="1266837" y="115658"/>
                </a:lnTo>
                <a:lnTo>
                  <a:pt x="1164780" y="133563"/>
                </a:lnTo>
                <a:lnTo>
                  <a:pt x="1092212" y="143148"/>
                </a:lnTo>
                <a:lnTo>
                  <a:pt x="1016584" y="150789"/>
                </a:lnTo>
                <a:lnTo>
                  <a:pt x="938479" y="156417"/>
                </a:lnTo>
                <a:lnTo>
                  <a:pt x="858456" y="159961"/>
                </a:lnTo>
                <a:lnTo>
                  <a:pt x="777074" y="161357"/>
                </a:lnTo>
                <a:lnTo>
                  <a:pt x="1229831" y="161357"/>
                </a:lnTo>
                <a:lnTo>
                  <a:pt x="1274864" y="152905"/>
                </a:lnTo>
                <a:lnTo>
                  <a:pt x="1338935" y="138385"/>
                </a:lnTo>
                <a:lnTo>
                  <a:pt x="1398105" y="122071"/>
                </a:lnTo>
                <a:lnTo>
                  <a:pt x="1453527" y="103294"/>
                </a:lnTo>
                <a:lnTo>
                  <a:pt x="1455444" y="102367"/>
                </a:lnTo>
                <a:lnTo>
                  <a:pt x="1438585" y="68197"/>
                </a:lnTo>
                <a:close/>
              </a:path>
              <a:path w="1550034" h="200025">
                <a:moveTo>
                  <a:pt x="1455877" y="59839"/>
                </a:moveTo>
                <a:lnTo>
                  <a:pt x="1438585" y="68197"/>
                </a:lnTo>
                <a:lnTo>
                  <a:pt x="1455444" y="102367"/>
                </a:lnTo>
                <a:lnTo>
                  <a:pt x="1472463" y="94141"/>
                </a:lnTo>
                <a:lnTo>
                  <a:pt x="1455877" y="59839"/>
                </a:lnTo>
                <a:close/>
              </a:path>
              <a:path w="1550034" h="200025">
                <a:moveTo>
                  <a:pt x="1404937" y="0"/>
                </a:moveTo>
                <a:lnTo>
                  <a:pt x="1438585" y="68197"/>
                </a:lnTo>
                <a:lnTo>
                  <a:pt x="1455877" y="59839"/>
                </a:lnTo>
                <a:lnTo>
                  <a:pt x="1538486" y="59839"/>
                </a:lnTo>
                <a:lnTo>
                  <a:pt x="1549577" y="34846"/>
                </a:lnTo>
                <a:lnTo>
                  <a:pt x="1404937" y="0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058937" y="5397500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0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93185" y="5397500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1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527431" y="5397500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2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261675" y="5397500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3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95922" y="5397500"/>
            <a:ext cx="31115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4</a:t>
            </a:r>
            <a:endParaRPr sz="2400" baseline="-17361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767474" y="5397500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466799" y="5397500"/>
            <a:ext cx="3073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latin typeface="Calibri"/>
                <a:cs typeface="Calibri"/>
              </a:rPr>
              <a:t>x</a:t>
            </a:r>
            <a:r>
              <a:rPr sz="2400" spc="-37" baseline="-17361" dirty="0">
                <a:latin typeface="Calibri"/>
                <a:cs typeface="Calibri"/>
              </a:rPr>
              <a:t>T</a:t>
            </a:r>
            <a:endParaRPr sz="2400" baseline="-17361">
              <a:latin typeface="Calibri"/>
              <a:cs typeface="Calibri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C7CA1196-92D4-AA47-B597-E75EDFC714A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157" y="6567072"/>
            <a:ext cx="5689600" cy="2755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31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100"/>
              </a:spcBef>
            </a:pPr>
            <a:r>
              <a:rPr dirty="0"/>
              <a:t>Forward</a:t>
            </a:r>
            <a:r>
              <a:rPr spc="-235" dirty="0"/>
              <a:t> </a:t>
            </a:r>
            <a:r>
              <a:rPr dirty="0"/>
              <a:t>Diffusion</a:t>
            </a:r>
            <a:r>
              <a:rPr spc="-235" dirty="0"/>
              <a:t> </a:t>
            </a:r>
            <a:r>
              <a:rPr dirty="0"/>
              <a:t>Process</a:t>
            </a:r>
            <a:r>
              <a:rPr spc="-235" dirty="0"/>
              <a:t> </a:t>
            </a:r>
            <a:r>
              <a:rPr dirty="0"/>
              <a:t>as</a:t>
            </a:r>
            <a:r>
              <a:rPr spc="-229" dirty="0"/>
              <a:t> </a:t>
            </a:r>
            <a:r>
              <a:rPr dirty="0"/>
              <a:t>Stochastic</a:t>
            </a:r>
            <a:r>
              <a:rPr spc="-229" dirty="0"/>
              <a:t> </a:t>
            </a:r>
            <a:r>
              <a:rPr dirty="0"/>
              <a:t>Differential</a:t>
            </a:r>
            <a:r>
              <a:rPr spc="-229" dirty="0"/>
              <a:t> </a:t>
            </a:r>
            <a:r>
              <a:rPr spc="-10" dirty="0"/>
              <a:t>Equation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908525" y="8262619"/>
            <a:ext cx="3443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Forward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SDE: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20961" y="3433808"/>
            <a:ext cx="9012555" cy="2992755"/>
            <a:chOff x="4620961" y="3433808"/>
            <a:chExt cx="9012555" cy="299275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2712" y="3630405"/>
              <a:ext cx="1157257" cy="276407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636836" y="3614530"/>
              <a:ext cx="1197610" cy="2795905"/>
            </a:xfrm>
            <a:custGeom>
              <a:avLst/>
              <a:gdLst/>
              <a:ahLst/>
              <a:cxnLst/>
              <a:rect l="l" t="t" r="r" b="b"/>
              <a:pathLst>
                <a:path w="1197610" h="2795904">
                  <a:moveTo>
                    <a:pt x="1197245" y="2795823"/>
                  </a:moveTo>
                  <a:lnTo>
                    <a:pt x="1197245" y="0"/>
                  </a:lnTo>
                  <a:lnTo>
                    <a:pt x="0" y="0"/>
                  </a:lnTo>
                  <a:lnTo>
                    <a:pt x="0" y="2795823"/>
                  </a:lnTo>
                  <a:lnTo>
                    <a:pt x="1197245" y="2795823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74734" y="3636383"/>
              <a:ext cx="1107030" cy="275210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2419882" y="3614525"/>
              <a:ext cx="1197610" cy="2795905"/>
            </a:xfrm>
            <a:custGeom>
              <a:avLst/>
              <a:gdLst/>
              <a:ahLst/>
              <a:cxnLst/>
              <a:rect l="l" t="t" r="r" b="b"/>
              <a:pathLst>
                <a:path w="1197609" h="2795904">
                  <a:moveTo>
                    <a:pt x="1197247" y="0"/>
                  </a:moveTo>
                  <a:lnTo>
                    <a:pt x="1197247" y="2795823"/>
                  </a:lnTo>
                  <a:lnTo>
                    <a:pt x="0" y="2795823"/>
                  </a:lnTo>
                  <a:lnTo>
                    <a:pt x="0" y="0"/>
                  </a:lnTo>
                  <a:lnTo>
                    <a:pt x="1197247" y="0"/>
                  </a:lnTo>
                  <a:close/>
                </a:path>
              </a:pathLst>
            </a:custGeom>
            <a:ln w="317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8210" y="3630401"/>
              <a:ext cx="6658964" cy="276407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079668" y="3433808"/>
              <a:ext cx="6214745" cy="142875"/>
            </a:xfrm>
            <a:custGeom>
              <a:avLst/>
              <a:gdLst/>
              <a:ahLst/>
              <a:cxnLst/>
              <a:rect l="l" t="t" r="r" b="b"/>
              <a:pathLst>
                <a:path w="6214745" h="142875">
                  <a:moveTo>
                    <a:pt x="6151249" y="71310"/>
                  </a:moveTo>
                  <a:lnTo>
                    <a:pt x="6079506" y="113160"/>
                  </a:lnTo>
                  <a:lnTo>
                    <a:pt x="6074797" y="117351"/>
                  </a:lnTo>
                  <a:lnTo>
                    <a:pt x="6072153" y="122833"/>
                  </a:lnTo>
                  <a:lnTo>
                    <a:pt x="6071757" y="128905"/>
                  </a:lnTo>
                  <a:lnTo>
                    <a:pt x="6073794" y="134872"/>
                  </a:lnTo>
                  <a:lnTo>
                    <a:pt x="6077984" y="139581"/>
                  </a:lnTo>
                  <a:lnTo>
                    <a:pt x="6083465" y="142225"/>
                  </a:lnTo>
                  <a:lnTo>
                    <a:pt x="6089538" y="142621"/>
                  </a:lnTo>
                  <a:lnTo>
                    <a:pt x="6095504" y="140585"/>
                  </a:lnTo>
                  <a:lnTo>
                    <a:pt x="6187047" y="87185"/>
                  </a:lnTo>
                  <a:lnTo>
                    <a:pt x="6182696" y="87185"/>
                  </a:lnTo>
                  <a:lnTo>
                    <a:pt x="6182696" y="85023"/>
                  </a:lnTo>
                  <a:lnTo>
                    <a:pt x="6174756" y="85023"/>
                  </a:lnTo>
                  <a:lnTo>
                    <a:pt x="6151249" y="71310"/>
                  </a:lnTo>
                  <a:close/>
                </a:path>
                <a:path w="6214745" h="142875">
                  <a:moveTo>
                    <a:pt x="6124034" y="55435"/>
                  </a:moveTo>
                  <a:lnTo>
                    <a:pt x="0" y="55435"/>
                  </a:lnTo>
                  <a:lnTo>
                    <a:pt x="0" y="87185"/>
                  </a:lnTo>
                  <a:lnTo>
                    <a:pt x="6124035" y="87185"/>
                  </a:lnTo>
                  <a:lnTo>
                    <a:pt x="6151249" y="71310"/>
                  </a:lnTo>
                  <a:lnTo>
                    <a:pt x="6124034" y="55435"/>
                  </a:lnTo>
                  <a:close/>
                </a:path>
                <a:path w="6214745" h="142875">
                  <a:moveTo>
                    <a:pt x="6187047" y="55435"/>
                  </a:moveTo>
                  <a:lnTo>
                    <a:pt x="6182696" y="55435"/>
                  </a:lnTo>
                  <a:lnTo>
                    <a:pt x="6182696" y="87185"/>
                  </a:lnTo>
                  <a:lnTo>
                    <a:pt x="6187047" y="87185"/>
                  </a:lnTo>
                  <a:lnTo>
                    <a:pt x="6214261" y="71310"/>
                  </a:lnTo>
                  <a:lnTo>
                    <a:pt x="6187047" y="55435"/>
                  </a:lnTo>
                  <a:close/>
                </a:path>
                <a:path w="6214745" h="142875">
                  <a:moveTo>
                    <a:pt x="6174756" y="57598"/>
                  </a:moveTo>
                  <a:lnTo>
                    <a:pt x="6151249" y="71310"/>
                  </a:lnTo>
                  <a:lnTo>
                    <a:pt x="6174756" y="85023"/>
                  </a:lnTo>
                  <a:lnTo>
                    <a:pt x="6174756" y="57598"/>
                  </a:lnTo>
                  <a:close/>
                </a:path>
                <a:path w="6214745" h="142875">
                  <a:moveTo>
                    <a:pt x="6182696" y="57598"/>
                  </a:moveTo>
                  <a:lnTo>
                    <a:pt x="6174756" y="57598"/>
                  </a:lnTo>
                  <a:lnTo>
                    <a:pt x="6174756" y="85023"/>
                  </a:lnTo>
                  <a:lnTo>
                    <a:pt x="6182696" y="85023"/>
                  </a:lnTo>
                  <a:lnTo>
                    <a:pt x="6182696" y="57598"/>
                  </a:lnTo>
                  <a:close/>
                </a:path>
                <a:path w="6214745" h="142875">
                  <a:moveTo>
                    <a:pt x="6089538" y="0"/>
                  </a:moveTo>
                  <a:lnTo>
                    <a:pt x="6083465" y="396"/>
                  </a:lnTo>
                  <a:lnTo>
                    <a:pt x="6077984" y="3040"/>
                  </a:lnTo>
                  <a:lnTo>
                    <a:pt x="6073794" y="7749"/>
                  </a:lnTo>
                  <a:lnTo>
                    <a:pt x="6071757" y="13715"/>
                  </a:lnTo>
                  <a:lnTo>
                    <a:pt x="6072153" y="19788"/>
                  </a:lnTo>
                  <a:lnTo>
                    <a:pt x="6074797" y="25269"/>
                  </a:lnTo>
                  <a:lnTo>
                    <a:pt x="6079506" y="29460"/>
                  </a:lnTo>
                  <a:lnTo>
                    <a:pt x="6151249" y="71310"/>
                  </a:lnTo>
                  <a:lnTo>
                    <a:pt x="6174756" y="57598"/>
                  </a:lnTo>
                  <a:lnTo>
                    <a:pt x="6182696" y="57598"/>
                  </a:lnTo>
                  <a:lnTo>
                    <a:pt x="6182696" y="55435"/>
                  </a:lnTo>
                  <a:lnTo>
                    <a:pt x="6187047" y="55435"/>
                  </a:lnTo>
                  <a:lnTo>
                    <a:pt x="6095504" y="2035"/>
                  </a:lnTo>
                  <a:lnTo>
                    <a:pt x="6089538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453507" y="3561651"/>
            <a:ext cx="978535" cy="454659"/>
          </a:xfrm>
          <a:custGeom>
            <a:avLst/>
            <a:gdLst/>
            <a:ahLst/>
            <a:cxnLst/>
            <a:rect l="l" t="t" r="r" b="b"/>
            <a:pathLst>
              <a:path w="978535" h="454660">
                <a:moveTo>
                  <a:pt x="828180" y="408088"/>
                </a:moveTo>
                <a:lnTo>
                  <a:pt x="807857" y="454644"/>
                </a:lnTo>
                <a:lnTo>
                  <a:pt x="978014" y="445781"/>
                </a:lnTo>
                <a:lnTo>
                  <a:pt x="955033" y="418250"/>
                </a:lnTo>
                <a:lnTo>
                  <a:pt x="851460" y="418250"/>
                </a:lnTo>
                <a:lnTo>
                  <a:pt x="828180" y="408088"/>
                </a:lnTo>
                <a:close/>
              </a:path>
              <a:path w="978535" h="454660">
                <a:moveTo>
                  <a:pt x="848504" y="361531"/>
                </a:moveTo>
                <a:lnTo>
                  <a:pt x="828180" y="408088"/>
                </a:lnTo>
                <a:lnTo>
                  <a:pt x="851460" y="418250"/>
                </a:lnTo>
                <a:lnTo>
                  <a:pt x="871783" y="371693"/>
                </a:lnTo>
                <a:lnTo>
                  <a:pt x="848504" y="361531"/>
                </a:lnTo>
                <a:close/>
              </a:path>
              <a:path w="978535" h="454660">
                <a:moveTo>
                  <a:pt x="868828" y="314973"/>
                </a:moveTo>
                <a:lnTo>
                  <a:pt x="848504" y="361531"/>
                </a:lnTo>
                <a:lnTo>
                  <a:pt x="871783" y="371693"/>
                </a:lnTo>
                <a:lnTo>
                  <a:pt x="851460" y="418250"/>
                </a:lnTo>
                <a:lnTo>
                  <a:pt x="955033" y="418250"/>
                </a:lnTo>
                <a:lnTo>
                  <a:pt x="868828" y="314973"/>
                </a:lnTo>
                <a:close/>
              </a:path>
              <a:path w="978535" h="454660">
                <a:moveTo>
                  <a:pt x="20323" y="0"/>
                </a:moveTo>
                <a:lnTo>
                  <a:pt x="0" y="46556"/>
                </a:lnTo>
                <a:lnTo>
                  <a:pt x="828180" y="408088"/>
                </a:lnTo>
                <a:lnTo>
                  <a:pt x="848504" y="361531"/>
                </a:lnTo>
                <a:lnTo>
                  <a:pt x="203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419725" y="4890819"/>
            <a:ext cx="944880" cy="198755"/>
          </a:xfrm>
          <a:custGeom>
            <a:avLst/>
            <a:gdLst/>
            <a:ahLst/>
            <a:cxnLst/>
            <a:rect l="l" t="t" r="r" b="b"/>
            <a:pathLst>
              <a:path w="944879" h="198754">
                <a:moveTo>
                  <a:pt x="790221" y="148119"/>
                </a:moveTo>
                <a:lnTo>
                  <a:pt x="783987" y="198536"/>
                </a:lnTo>
                <a:lnTo>
                  <a:pt x="917434" y="151236"/>
                </a:lnTo>
                <a:lnTo>
                  <a:pt x="815428" y="151236"/>
                </a:lnTo>
                <a:lnTo>
                  <a:pt x="790221" y="148119"/>
                </a:lnTo>
                <a:close/>
              </a:path>
              <a:path w="944879" h="198754">
                <a:moveTo>
                  <a:pt x="796454" y="97703"/>
                </a:moveTo>
                <a:lnTo>
                  <a:pt x="790221" y="148119"/>
                </a:lnTo>
                <a:lnTo>
                  <a:pt x="815428" y="151236"/>
                </a:lnTo>
                <a:lnTo>
                  <a:pt x="821663" y="100820"/>
                </a:lnTo>
                <a:lnTo>
                  <a:pt x="796454" y="97703"/>
                </a:lnTo>
                <a:close/>
              </a:path>
              <a:path w="944879" h="198754">
                <a:moveTo>
                  <a:pt x="802688" y="47288"/>
                </a:moveTo>
                <a:lnTo>
                  <a:pt x="796454" y="97703"/>
                </a:lnTo>
                <a:lnTo>
                  <a:pt x="821663" y="100820"/>
                </a:lnTo>
                <a:lnTo>
                  <a:pt x="815428" y="151236"/>
                </a:lnTo>
                <a:lnTo>
                  <a:pt x="917434" y="151236"/>
                </a:lnTo>
                <a:lnTo>
                  <a:pt x="944586" y="141612"/>
                </a:lnTo>
                <a:lnTo>
                  <a:pt x="802688" y="47288"/>
                </a:lnTo>
                <a:close/>
              </a:path>
              <a:path w="944879" h="198754">
                <a:moveTo>
                  <a:pt x="6233" y="0"/>
                </a:moveTo>
                <a:lnTo>
                  <a:pt x="0" y="50416"/>
                </a:lnTo>
                <a:lnTo>
                  <a:pt x="790221" y="148119"/>
                </a:lnTo>
                <a:lnTo>
                  <a:pt x="796454" y="97703"/>
                </a:lnTo>
                <a:lnTo>
                  <a:pt x="623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457717" y="5953023"/>
            <a:ext cx="944880" cy="289560"/>
          </a:xfrm>
          <a:custGeom>
            <a:avLst/>
            <a:gdLst/>
            <a:ahLst/>
            <a:cxnLst/>
            <a:rect l="l" t="t" r="r" b="b"/>
            <a:pathLst>
              <a:path w="944879" h="289560">
                <a:moveTo>
                  <a:pt x="790157" y="49385"/>
                </a:moveTo>
                <a:lnTo>
                  <a:pt x="0" y="239861"/>
                </a:lnTo>
                <a:lnTo>
                  <a:pt x="11903" y="289246"/>
                </a:lnTo>
                <a:lnTo>
                  <a:pt x="802062" y="98770"/>
                </a:lnTo>
                <a:lnTo>
                  <a:pt x="790157" y="49385"/>
                </a:lnTo>
                <a:close/>
              </a:path>
              <a:path w="944879" h="289560">
                <a:moveTo>
                  <a:pt x="938248" y="43432"/>
                </a:moveTo>
                <a:lnTo>
                  <a:pt x="814849" y="43432"/>
                </a:lnTo>
                <a:lnTo>
                  <a:pt x="826754" y="92817"/>
                </a:lnTo>
                <a:lnTo>
                  <a:pt x="802062" y="98770"/>
                </a:lnTo>
                <a:lnTo>
                  <a:pt x="813967" y="148155"/>
                </a:lnTo>
                <a:lnTo>
                  <a:pt x="938248" y="43432"/>
                </a:lnTo>
                <a:close/>
              </a:path>
              <a:path w="944879" h="289560">
                <a:moveTo>
                  <a:pt x="814849" y="43432"/>
                </a:moveTo>
                <a:lnTo>
                  <a:pt x="790157" y="49385"/>
                </a:lnTo>
                <a:lnTo>
                  <a:pt x="802062" y="98770"/>
                </a:lnTo>
                <a:lnTo>
                  <a:pt x="826754" y="92817"/>
                </a:lnTo>
                <a:lnTo>
                  <a:pt x="814849" y="43432"/>
                </a:lnTo>
                <a:close/>
              </a:path>
              <a:path w="944879" h="289560">
                <a:moveTo>
                  <a:pt x="778252" y="0"/>
                </a:moveTo>
                <a:lnTo>
                  <a:pt x="790157" y="49385"/>
                </a:lnTo>
                <a:lnTo>
                  <a:pt x="814849" y="43432"/>
                </a:lnTo>
                <a:lnTo>
                  <a:pt x="938248" y="43432"/>
                </a:lnTo>
                <a:lnTo>
                  <a:pt x="944265" y="38362"/>
                </a:lnTo>
                <a:lnTo>
                  <a:pt x="7782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3889646" y="4704800"/>
            <a:ext cx="979805" cy="338455"/>
          </a:xfrm>
          <a:custGeom>
            <a:avLst/>
            <a:gdLst/>
            <a:ahLst/>
            <a:cxnLst/>
            <a:rect l="l" t="t" r="r" b="b"/>
            <a:pathLst>
              <a:path w="979805" h="338454">
                <a:moveTo>
                  <a:pt x="125006" y="191844"/>
                </a:moveTo>
                <a:lnTo>
                  <a:pt x="0" y="307634"/>
                </a:lnTo>
                <a:lnTo>
                  <a:pt x="167640" y="338161"/>
                </a:lnTo>
                <a:lnTo>
                  <a:pt x="155498" y="296494"/>
                </a:lnTo>
                <a:lnTo>
                  <a:pt x="129044" y="296494"/>
                </a:lnTo>
                <a:lnTo>
                  <a:pt x="114833" y="247722"/>
                </a:lnTo>
                <a:lnTo>
                  <a:pt x="139217" y="240617"/>
                </a:lnTo>
                <a:lnTo>
                  <a:pt x="125006" y="191844"/>
                </a:lnTo>
                <a:close/>
              </a:path>
              <a:path w="979805" h="338454">
                <a:moveTo>
                  <a:pt x="139217" y="240617"/>
                </a:moveTo>
                <a:lnTo>
                  <a:pt x="114833" y="247722"/>
                </a:lnTo>
                <a:lnTo>
                  <a:pt x="129044" y="296494"/>
                </a:lnTo>
                <a:lnTo>
                  <a:pt x="153428" y="289389"/>
                </a:lnTo>
                <a:lnTo>
                  <a:pt x="139217" y="240617"/>
                </a:lnTo>
                <a:close/>
              </a:path>
              <a:path w="979805" h="338454">
                <a:moveTo>
                  <a:pt x="153428" y="289389"/>
                </a:moveTo>
                <a:lnTo>
                  <a:pt x="129044" y="296494"/>
                </a:lnTo>
                <a:lnTo>
                  <a:pt x="155498" y="296494"/>
                </a:lnTo>
                <a:lnTo>
                  <a:pt x="153428" y="289389"/>
                </a:lnTo>
                <a:close/>
              </a:path>
              <a:path w="979805" h="338454">
                <a:moveTo>
                  <a:pt x="965047" y="0"/>
                </a:moveTo>
                <a:lnTo>
                  <a:pt x="139217" y="240617"/>
                </a:lnTo>
                <a:lnTo>
                  <a:pt x="153428" y="289389"/>
                </a:lnTo>
                <a:lnTo>
                  <a:pt x="979258" y="48771"/>
                </a:lnTo>
                <a:lnTo>
                  <a:pt x="9650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5976918" y="6528814"/>
            <a:ext cx="6334760" cy="876300"/>
            <a:chOff x="5976918" y="6528814"/>
            <a:chExt cx="6334760" cy="876300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433163" y="6528814"/>
              <a:ext cx="877915" cy="87576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6918" y="6528814"/>
              <a:ext cx="877915" cy="87576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86293" y="6528814"/>
              <a:ext cx="877915" cy="875767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95666" y="6528814"/>
              <a:ext cx="877915" cy="87576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05042" y="6528814"/>
              <a:ext cx="877915" cy="8757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14417" y="6528814"/>
              <a:ext cx="877915" cy="87576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523791" y="6528814"/>
              <a:ext cx="877915" cy="87576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899410" y="3029204"/>
            <a:ext cx="44443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Arial MT"/>
                <a:cs typeface="Arial MT"/>
              </a:rPr>
              <a:t>Forward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diffusion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process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(fixed)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49639" y="4237117"/>
            <a:ext cx="1024724" cy="102222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223368" y="2994007"/>
            <a:ext cx="1024728" cy="102222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109712" y="4414276"/>
            <a:ext cx="1024727" cy="102472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8636" y="5810115"/>
            <a:ext cx="1003374" cy="1000918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6277481" y="7314400"/>
            <a:ext cx="356235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200" b="1" spc="85" dirty="0">
                <a:latin typeface="Calibri"/>
                <a:cs typeface="Calibri"/>
              </a:rPr>
              <a:t>x</a:t>
            </a:r>
            <a:r>
              <a:rPr sz="2250" spc="127" baseline="-12962" dirty="0">
                <a:latin typeface="Verdana"/>
                <a:cs typeface="Verdana"/>
              </a:rPr>
              <a:t>0</a:t>
            </a:r>
            <a:endParaRPr sz="2250" baseline="-12962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760779" y="7303974"/>
            <a:ext cx="38989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250" b="1" spc="295" dirty="0">
                <a:latin typeface="Calibri"/>
                <a:cs typeface="Calibri"/>
              </a:rPr>
              <a:t>x</a:t>
            </a:r>
            <a:r>
              <a:rPr sz="2400" i="1" spc="442" baseline="-12152" dirty="0">
                <a:latin typeface="Calibri"/>
                <a:cs typeface="Calibri"/>
              </a:rPr>
              <a:t>T</a:t>
            </a:r>
            <a:endParaRPr sz="2400" baseline="-12152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030997" y="7314401"/>
            <a:ext cx="329565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200" b="1" spc="210" dirty="0">
                <a:latin typeface="Calibri"/>
                <a:cs typeface="Calibri"/>
              </a:rPr>
              <a:t>x</a:t>
            </a:r>
            <a:r>
              <a:rPr sz="2250" i="1" spc="315" baseline="-12962" dirty="0">
                <a:latin typeface="Calibri"/>
                <a:cs typeface="Calibri"/>
              </a:rPr>
              <a:t>t</a:t>
            </a:r>
            <a:endParaRPr sz="2250" baseline="-12962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652608" y="7247635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0389792" y="7247635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17786" y="6389356"/>
            <a:ext cx="808355" cy="4051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450" i="1" spc="140" dirty="0">
                <a:latin typeface="Cambria"/>
                <a:cs typeface="Cambria"/>
              </a:rPr>
              <a:t>q</a:t>
            </a:r>
            <a:r>
              <a:rPr sz="2450" spc="140" dirty="0">
                <a:latin typeface="Calibri"/>
                <a:cs typeface="Calibri"/>
              </a:rPr>
              <a:t>(</a:t>
            </a:r>
            <a:r>
              <a:rPr sz="2450" b="1" spc="140" dirty="0">
                <a:latin typeface="Calibri"/>
                <a:cs typeface="Calibri"/>
              </a:rPr>
              <a:t>x</a:t>
            </a:r>
            <a:r>
              <a:rPr sz="2625" spc="209" baseline="-11111" dirty="0">
                <a:latin typeface="Verdana"/>
                <a:cs typeface="Verdana"/>
              </a:rPr>
              <a:t>0</a:t>
            </a:r>
            <a:r>
              <a:rPr sz="2450" spc="140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2624098" y="6387374"/>
            <a:ext cx="809625" cy="3784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2300" i="1" spc="180" dirty="0">
                <a:latin typeface="Cambria"/>
                <a:cs typeface="Cambria"/>
              </a:rPr>
              <a:t>q</a:t>
            </a:r>
            <a:r>
              <a:rPr sz="2300" spc="180" dirty="0">
                <a:latin typeface="Calibri"/>
                <a:cs typeface="Calibri"/>
              </a:rPr>
              <a:t>(</a:t>
            </a:r>
            <a:r>
              <a:rPr sz="2300" b="1" spc="180" dirty="0">
                <a:latin typeface="Calibri"/>
                <a:cs typeface="Calibri"/>
              </a:rPr>
              <a:t>x</a:t>
            </a:r>
            <a:r>
              <a:rPr sz="2400" i="1" spc="270" baseline="-12152" dirty="0">
                <a:latin typeface="Calibri"/>
                <a:cs typeface="Calibri"/>
              </a:rPr>
              <a:t>T</a:t>
            </a:r>
            <a:r>
              <a:rPr sz="2400" i="1" spc="22" baseline="-12152" dirty="0">
                <a:latin typeface="Calibri"/>
                <a:cs typeface="Calibri"/>
              </a:rPr>
              <a:t> </a:t>
            </a:r>
            <a:r>
              <a:rPr sz="2300" spc="145" dirty="0"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50675" y="9707371"/>
            <a:ext cx="2400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Song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et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al.,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ICLR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57DC36F3-1B87-7941-BAD7-26086471F05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556" y="7893523"/>
            <a:ext cx="53467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33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15" dirty="0"/>
              <a:t> </a:t>
            </a:r>
            <a:r>
              <a:rPr dirty="0"/>
              <a:t>Generative</a:t>
            </a:r>
            <a:r>
              <a:rPr spc="-215" dirty="0"/>
              <a:t> </a:t>
            </a:r>
            <a:r>
              <a:rPr dirty="0"/>
              <a:t>Reverse</a:t>
            </a:r>
            <a:r>
              <a:rPr spc="-215" dirty="0"/>
              <a:t> </a:t>
            </a:r>
            <a:r>
              <a:rPr dirty="0"/>
              <a:t>Stochastic</a:t>
            </a:r>
            <a:r>
              <a:rPr spc="-210" dirty="0"/>
              <a:t> </a:t>
            </a:r>
            <a:r>
              <a:rPr dirty="0"/>
              <a:t>Differential</a:t>
            </a:r>
            <a:r>
              <a:rPr spc="-210" dirty="0"/>
              <a:t> </a:t>
            </a:r>
            <a:r>
              <a:rPr spc="-10" dirty="0"/>
              <a:t>Equation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6366547" y="2824783"/>
            <a:ext cx="5840730" cy="1927225"/>
            <a:chOff x="6366547" y="2824783"/>
            <a:chExt cx="5840730" cy="19272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598" y="2975724"/>
              <a:ext cx="750401" cy="17567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76072" y="2966199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3" y="1775850"/>
                  </a:moveTo>
                  <a:lnTo>
                    <a:pt x="774793" y="0"/>
                  </a:lnTo>
                  <a:lnTo>
                    <a:pt x="0" y="0"/>
                  </a:lnTo>
                  <a:lnTo>
                    <a:pt x="0" y="1775850"/>
                  </a:lnTo>
                  <a:lnTo>
                    <a:pt x="774793" y="17758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7639" y="2979523"/>
              <a:ext cx="717830" cy="174919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422838" y="2966195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4" y="0"/>
                  </a:moveTo>
                  <a:lnTo>
                    <a:pt x="774794" y="1775850"/>
                  </a:lnTo>
                  <a:lnTo>
                    <a:pt x="0" y="1775850"/>
                  </a:lnTo>
                  <a:lnTo>
                    <a:pt x="0" y="0"/>
                  </a:lnTo>
                  <a:lnTo>
                    <a:pt x="774794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1343" y="2975721"/>
              <a:ext cx="4317876" cy="175680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310882" y="2824783"/>
              <a:ext cx="4029710" cy="142875"/>
            </a:xfrm>
            <a:custGeom>
              <a:avLst/>
              <a:gdLst/>
              <a:ahLst/>
              <a:cxnLst/>
              <a:rect l="l" t="t" r="r" b="b"/>
              <a:pathLst>
                <a:path w="4029709" h="142875">
                  <a:moveTo>
                    <a:pt x="3966532" y="71311"/>
                  </a:moveTo>
                  <a:lnTo>
                    <a:pt x="3894789" y="113160"/>
                  </a:lnTo>
                  <a:lnTo>
                    <a:pt x="3890080" y="117352"/>
                  </a:lnTo>
                  <a:lnTo>
                    <a:pt x="3887435" y="122833"/>
                  </a:lnTo>
                  <a:lnTo>
                    <a:pt x="3887039" y="128906"/>
                  </a:lnTo>
                  <a:lnTo>
                    <a:pt x="3889075" y="134872"/>
                  </a:lnTo>
                  <a:lnTo>
                    <a:pt x="3893266" y="139581"/>
                  </a:lnTo>
                  <a:lnTo>
                    <a:pt x="3898748" y="142225"/>
                  </a:lnTo>
                  <a:lnTo>
                    <a:pt x="3904821" y="142621"/>
                  </a:lnTo>
                  <a:lnTo>
                    <a:pt x="3910787" y="140586"/>
                  </a:lnTo>
                  <a:lnTo>
                    <a:pt x="4002329" y="87186"/>
                  </a:lnTo>
                  <a:lnTo>
                    <a:pt x="3998037" y="87186"/>
                  </a:lnTo>
                  <a:lnTo>
                    <a:pt x="3998037" y="85023"/>
                  </a:lnTo>
                  <a:lnTo>
                    <a:pt x="3990039" y="85023"/>
                  </a:lnTo>
                  <a:lnTo>
                    <a:pt x="3966532" y="71311"/>
                  </a:lnTo>
                  <a:close/>
                </a:path>
                <a:path w="4029709" h="142875">
                  <a:moveTo>
                    <a:pt x="3939318" y="55436"/>
                  </a:moveTo>
                  <a:lnTo>
                    <a:pt x="0" y="55436"/>
                  </a:lnTo>
                  <a:lnTo>
                    <a:pt x="0" y="87186"/>
                  </a:lnTo>
                  <a:lnTo>
                    <a:pt x="3939315" y="87186"/>
                  </a:lnTo>
                  <a:lnTo>
                    <a:pt x="3966530" y="71311"/>
                  </a:lnTo>
                  <a:lnTo>
                    <a:pt x="3939318" y="55436"/>
                  </a:lnTo>
                  <a:close/>
                </a:path>
                <a:path w="4029709" h="142875">
                  <a:moveTo>
                    <a:pt x="4002329" y="55436"/>
                  </a:moveTo>
                  <a:lnTo>
                    <a:pt x="3998037" y="55436"/>
                  </a:lnTo>
                  <a:lnTo>
                    <a:pt x="3998037" y="87186"/>
                  </a:lnTo>
                  <a:lnTo>
                    <a:pt x="4002329" y="87186"/>
                  </a:lnTo>
                  <a:lnTo>
                    <a:pt x="4029543" y="71311"/>
                  </a:lnTo>
                  <a:lnTo>
                    <a:pt x="4002329" y="55436"/>
                  </a:lnTo>
                  <a:close/>
                </a:path>
                <a:path w="4029709" h="142875">
                  <a:moveTo>
                    <a:pt x="3990039" y="57598"/>
                  </a:moveTo>
                  <a:lnTo>
                    <a:pt x="3966532" y="71311"/>
                  </a:lnTo>
                  <a:lnTo>
                    <a:pt x="3990039" y="85023"/>
                  </a:lnTo>
                  <a:lnTo>
                    <a:pt x="3990039" y="57598"/>
                  </a:lnTo>
                  <a:close/>
                </a:path>
                <a:path w="4029709" h="142875">
                  <a:moveTo>
                    <a:pt x="3998037" y="57598"/>
                  </a:moveTo>
                  <a:lnTo>
                    <a:pt x="3990039" y="57598"/>
                  </a:lnTo>
                  <a:lnTo>
                    <a:pt x="3990039" y="85023"/>
                  </a:lnTo>
                  <a:lnTo>
                    <a:pt x="3998037" y="85023"/>
                  </a:lnTo>
                  <a:lnTo>
                    <a:pt x="3998037" y="57598"/>
                  </a:lnTo>
                  <a:close/>
                </a:path>
                <a:path w="4029709" h="142875">
                  <a:moveTo>
                    <a:pt x="3904821" y="0"/>
                  </a:moveTo>
                  <a:lnTo>
                    <a:pt x="3898748" y="396"/>
                  </a:lnTo>
                  <a:lnTo>
                    <a:pt x="3893266" y="3040"/>
                  </a:lnTo>
                  <a:lnTo>
                    <a:pt x="3889075" y="7749"/>
                  </a:lnTo>
                  <a:lnTo>
                    <a:pt x="3887039" y="13715"/>
                  </a:lnTo>
                  <a:lnTo>
                    <a:pt x="3887435" y="19788"/>
                  </a:lnTo>
                  <a:lnTo>
                    <a:pt x="3890080" y="25269"/>
                  </a:lnTo>
                  <a:lnTo>
                    <a:pt x="3894789" y="29461"/>
                  </a:lnTo>
                  <a:lnTo>
                    <a:pt x="3966532" y="71311"/>
                  </a:lnTo>
                  <a:lnTo>
                    <a:pt x="3990039" y="57598"/>
                  </a:lnTo>
                  <a:lnTo>
                    <a:pt x="3998037" y="57598"/>
                  </a:lnTo>
                  <a:lnTo>
                    <a:pt x="3998037" y="55436"/>
                  </a:lnTo>
                  <a:lnTo>
                    <a:pt x="4002329" y="55436"/>
                  </a:lnTo>
                  <a:lnTo>
                    <a:pt x="3910787" y="2035"/>
                  </a:lnTo>
                  <a:lnTo>
                    <a:pt x="3904821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5604592" y="2923468"/>
            <a:ext cx="638175" cy="302260"/>
          </a:xfrm>
          <a:custGeom>
            <a:avLst/>
            <a:gdLst/>
            <a:ahLst/>
            <a:cxnLst/>
            <a:rect l="l" t="t" r="r" b="b"/>
            <a:pathLst>
              <a:path w="638175" h="302260">
                <a:moveTo>
                  <a:pt x="487473" y="255288"/>
                </a:moveTo>
                <a:lnTo>
                  <a:pt x="467489" y="301992"/>
                </a:lnTo>
                <a:lnTo>
                  <a:pt x="637578" y="291887"/>
                </a:lnTo>
                <a:lnTo>
                  <a:pt x="615037" y="265280"/>
                </a:lnTo>
                <a:lnTo>
                  <a:pt x="510825" y="265280"/>
                </a:lnTo>
                <a:lnTo>
                  <a:pt x="487473" y="255288"/>
                </a:lnTo>
                <a:close/>
              </a:path>
              <a:path w="638175" h="302260">
                <a:moveTo>
                  <a:pt x="507458" y="208583"/>
                </a:moveTo>
                <a:lnTo>
                  <a:pt x="487473" y="255288"/>
                </a:lnTo>
                <a:lnTo>
                  <a:pt x="510825" y="265280"/>
                </a:lnTo>
                <a:lnTo>
                  <a:pt x="530810" y="218575"/>
                </a:lnTo>
                <a:lnTo>
                  <a:pt x="507458" y="208583"/>
                </a:lnTo>
                <a:close/>
              </a:path>
              <a:path w="638175" h="302260">
                <a:moveTo>
                  <a:pt x="527442" y="161879"/>
                </a:moveTo>
                <a:lnTo>
                  <a:pt x="507458" y="208583"/>
                </a:lnTo>
                <a:lnTo>
                  <a:pt x="530810" y="218575"/>
                </a:lnTo>
                <a:lnTo>
                  <a:pt x="510825" y="265280"/>
                </a:lnTo>
                <a:lnTo>
                  <a:pt x="615037" y="265280"/>
                </a:lnTo>
                <a:lnTo>
                  <a:pt x="527442" y="161879"/>
                </a:lnTo>
                <a:close/>
              </a:path>
              <a:path w="638175" h="302260">
                <a:moveTo>
                  <a:pt x="19984" y="0"/>
                </a:moveTo>
                <a:lnTo>
                  <a:pt x="0" y="46704"/>
                </a:lnTo>
                <a:lnTo>
                  <a:pt x="487473" y="255288"/>
                </a:lnTo>
                <a:lnTo>
                  <a:pt x="507458" y="208583"/>
                </a:lnTo>
                <a:lnTo>
                  <a:pt x="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585055" y="3767628"/>
            <a:ext cx="614045" cy="156845"/>
          </a:xfrm>
          <a:custGeom>
            <a:avLst/>
            <a:gdLst/>
            <a:ahLst/>
            <a:cxnLst/>
            <a:rect l="l" t="t" r="r" b="b"/>
            <a:pathLst>
              <a:path w="614045" h="156845">
                <a:moveTo>
                  <a:pt x="459185" y="106080"/>
                </a:moveTo>
                <a:lnTo>
                  <a:pt x="453073" y="156510"/>
                </a:lnTo>
                <a:lnTo>
                  <a:pt x="585714" y="109136"/>
                </a:lnTo>
                <a:lnTo>
                  <a:pt x="484400" y="109136"/>
                </a:lnTo>
                <a:lnTo>
                  <a:pt x="459185" y="106080"/>
                </a:lnTo>
                <a:close/>
              </a:path>
              <a:path w="614045" h="156845">
                <a:moveTo>
                  <a:pt x="465297" y="55648"/>
                </a:moveTo>
                <a:lnTo>
                  <a:pt x="459185" y="106080"/>
                </a:lnTo>
                <a:lnTo>
                  <a:pt x="484400" y="109136"/>
                </a:lnTo>
                <a:lnTo>
                  <a:pt x="490512" y="58704"/>
                </a:lnTo>
                <a:lnTo>
                  <a:pt x="465297" y="55648"/>
                </a:lnTo>
                <a:close/>
              </a:path>
              <a:path w="614045" h="156845">
                <a:moveTo>
                  <a:pt x="471408" y="5218"/>
                </a:moveTo>
                <a:lnTo>
                  <a:pt x="465297" y="55648"/>
                </a:lnTo>
                <a:lnTo>
                  <a:pt x="490512" y="58704"/>
                </a:lnTo>
                <a:lnTo>
                  <a:pt x="484400" y="109136"/>
                </a:lnTo>
                <a:lnTo>
                  <a:pt x="585714" y="109136"/>
                </a:lnTo>
                <a:lnTo>
                  <a:pt x="613534" y="99199"/>
                </a:lnTo>
                <a:lnTo>
                  <a:pt x="471408" y="5218"/>
                </a:lnTo>
                <a:close/>
              </a:path>
              <a:path w="614045" h="156845">
                <a:moveTo>
                  <a:pt x="6111" y="0"/>
                </a:moveTo>
                <a:lnTo>
                  <a:pt x="0" y="50431"/>
                </a:lnTo>
                <a:lnTo>
                  <a:pt x="459185" y="106080"/>
                </a:lnTo>
                <a:lnTo>
                  <a:pt x="465297" y="55648"/>
                </a:lnTo>
                <a:lnTo>
                  <a:pt x="6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08744" y="4437210"/>
            <a:ext cx="614680" cy="207645"/>
          </a:xfrm>
          <a:custGeom>
            <a:avLst/>
            <a:gdLst/>
            <a:ahLst/>
            <a:cxnLst/>
            <a:rect l="l" t="t" r="r" b="b"/>
            <a:pathLst>
              <a:path w="614679" h="207645">
                <a:moveTo>
                  <a:pt x="460115" y="49438"/>
                </a:moveTo>
                <a:lnTo>
                  <a:pt x="0" y="158156"/>
                </a:lnTo>
                <a:lnTo>
                  <a:pt x="11681" y="207595"/>
                </a:lnTo>
                <a:lnTo>
                  <a:pt x="471797" y="98878"/>
                </a:lnTo>
                <a:lnTo>
                  <a:pt x="460115" y="49438"/>
                </a:lnTo>
                <a:close/>
              </a:path>
              <a:path w="614679" h="207645">
                <a:moveTo>
                  <a:pt x="608901" y="43597"/>
                </a:moveTo>
                <a:lnTo>
                  <a:pt x="484835" y="43597"/>
                </a:lnTo>
                <a:lnTo>
                  <a:pt x="496516" y="93037"/>
                </a:lnTo>
                <a:lnTo>
                  <a:pt x="471797" y="98878"/>
                </a:lnTo>
                <a:lnTo>
                  <a:pt x="483478" y="148316"/>
                </a:lnTo>
                <a:lnTo>
                  <a:pt x="608901" y="43597"/>
                </a:lnTo>
                <a:close/>
              </a:path>
              <a:path w="614679" h="207645">
                <a:moveTo>
                  <a:pt x="484835" y="43597"/>
                </a:moveTo>
                <a:lnTo>
                  <a:pt x="460115" y="49438"/>
                </a:lnTo>
                <a:lnTo>
                  <a:pt x="471797" y="98878"/>
                </a:lnTo>
                <a:lnTo>
                  <a:pt x="496516" y="93037"/>
                </a:lnTo>
                <a:lnTo>
                  <a:pt x="484835" y="43597"/>
                </a:lnTo>
                <a:close/>
              </a:path>
              <a:path w="614679" h="207645">
                <a:moveTo>
                  <a:pt x="448434" y="0"/>
                </a:moveTo>
                <a:lnTo>
                  <a:pt x="460115" y="49438"/>
                </a:lnTo>
                <a:lnTo>
                  <a:pt x="484835" y="43597"/>
                </a:lnTo>
                <a:lnTo>
                  <a:pt x="608901" y="43597"/>
                </a:lnTo>
                <a:lnTo>
                  <a:pt x="614272" y="39113"/>
                </a:lnTo>
                <a:lnTo>
                  <a:pt x="448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2375115" y="3649667"/>
            <a:ext cx="637540" cy="236220"/>
          </a:xfrm>
          <a:custGeom>
            <a:avLst/>
            <a:gdLst/>
            <a:ahLst/>
            <a:cxnLst/>
            <a:rect l="l" t="t" r="r" b="b"/>
            <a:pathLst>
              <a:path w="637540" h="236220">
                <a:moveTo>
                  <a:pt x="125615" y="89330"/>
                </a:moveTo>
                <a:lnTo>
                  <a:pt x="0" y="204452"/>
                </a:lnTo>
                <a:lnTo>
                  <a:pt x="167467" y="235872"/>
                </a:lnTo>
                <a:lnTo>
                  <a:pt x="155508" y="194000"/>
                </a:lnTo>
                <a:lnTo>
                  <a:pt x="129092" y="194000"/>
                </a:lnTo>
                <a:lnTo>
                  <a:pt x="115142" y="145153"/>
                </a:lnTo>
                <a:lnTo>
                  <a:pt x="139566" y="138177"/>
                </a:lnTo>
                <a:lnTo>
                  <a:pt x="125615" y="89330"/>
                </a:lnTo>
                <a:close/>
              </a:path>
              <a:path w="637540" h="236220">
                <a:moveTo>
                  <a:pt x="139566" y="138177"/>
                </a:moveTo>
                <a:lnTo>
                  <a:pt x="115142" y="145153"/>
                </a:lnTo>
                <a:lnTo>
                  <a:pt x="129092" y="194000"/>
                </a:lnTo>
                <a:lnTo>
                  <a:pt x="153516" y="187024"/>
                </a:lnTo>
                <a:lnTo>
                  <a:pt x="139566" y="138177"/>
                </a:lnTo>
                <a:close/>
              </a:path>
              <a:path w="637540" h="236220">
                <a:moveTo>
                  <a:pt x="153516" y="187024"/>
                </a:moveTo>
                <a:lnTo>
                  <a:pt x="129092" y="194000"/>
                </a:lnTo>
                <a:lnTo>
                  <a:pt x="155508" y="194000"/>
                </a:lnTo>
                <a:lnTo>
                  <a:pt x="153516" y="187024"/>
                </a:lnTo>
                <a:close/>
              </a:path>
              <a:path w="637540" h="236220">
                <a:moveTo>
                  <a:pt x="623385" y="0"/>
                </a:moveTo>
                <a:lnTo>
                  <a:pt x="139566" y="138177"/>
                </a:lnTo>
                <a:lnTo>
                  <a:pt x="153516" y="187024"/>
                </a:lnTo>
                <a:lnTo>
                  <a:pt x="637343" y="48846"/>
                </a:lnTo>
                <a:lnTo>
                  <a:pt x="623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7244253" y="4817905"/>
            <a:ext cx="4107815" cy="556895"/>
            <a:chOff x="7244253" y="4817905"/>
            <a:chExt cx="4107815" cy="556895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2251" y="4817905"/>
              <a:ext cx="569267" cy="55662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4253" y="4817905"/>
              <a:ext cx="569267" cy="55662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3921" y="4817905"/>
              <a:ext cx="569267" cy="55662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23587" y="4817905"/>
              <a:ext cx="569267" cy="5566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13253" y="4817905"/>
              <a:ext cx="569267" cy="5566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02919" y="4817905"/>
              <a:ext cx="569267" cy="55662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92586" y="4817905"/>
              <a:ext cx="569267" cy="55662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640571" y="2581147"/>
            <a:ext cx="3336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Forward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(fixed)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27279" y="3361340"/>
            <a:ext cx="664465" cy="64970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10337" y="2571239"/>
            <a:ext cx="664465" cy="649707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36639" y="3473940"/>
            <a:ext cx="664465" cy="651299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9690" y="4361111"/>
            <a:ext cx="650618" cy="636168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060974" y="7298435"/>
            <a:ext cx="6474460" cy="10071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800100">
              <a:lnSpc>
                <a:spcPct val="101299"/>
              </a:lnSpc>
              <a:spcBef>
                <a:spcPts val="50"/>
              </a:spcBef>
            </a:pPr>
            <a:r>
              <a:rPr sz="3200" dirty="0">
                <a:latin typeface="Arial MT"/>
                <a:cs typeface="Arial MT"/>
              </a:rPr>
              <a:t>But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what</a:t>
            </a:r>
            <a:r>
              <a:rPr sz="3200" spc="-2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about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30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reverse </a:t>
            </a:r>
            <a:r>
              <a:rPr sz="3200" dirty="0">
                <a:latin typeface="Arial MT"/>
                <a:cs typeface="Arial MT"/>
              </a:rPr>
              <a:t>direction,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necessary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for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generation?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908165" y="5255362"/>
            <a:ext cx="38989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250" b="1" spc="295" dirty="0">
                <a:latin typeface="Calibri"/>
                <a:cs typeface="Calibri"/>
              </a:rPr>
              <a:t>x</a:t>
            </a:r>
            <a:r>
              <a:rPr sz="2400" i="1" spc="442" baseline="-12152" dirty="0">
                <a:latin typeface="Calibri"/>
                <a:cs typeface="Calibri"/>
              </a:rPr>
              <a:t>T</a:t>
            </a:r>
            <a:endParaRPr sz="2400" baseline="-12152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46972" y="5261648"/>
            <a:ext cx="212344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818639" algn="l"/>
              </a:tabLst>
            </a:pPr>
            <a:r>
              <a:rPr sz="2200" b="1" spc="85" dirty="0">
                <a:latin typeface="Calibri"/>
                <a:cs typeface="Calibri"/>
              </a:rPr>
              <a:t>x</a:t>
            </a:r>
            <a:r>
              <a:rPr sz="2250" spc="127" baseline="-12962" dirty="0">
                <a:latin typeface="Verdana"/>
                <a:cs typeface="Verdana"/>
              </a:rPr>
              <a:t>0</a:t>
            </a:r>
            <a:r>
              <a:rPr sz="2250" baseline="-12962" dirty="0">
                <a:latin typeface="Verdana"/>
                <a:cs typeface="Verdana"/>
              </a:rPr>
              <a:t>	</a:t>
            </a:r>
            <a:r>
              <a:rPr sz="2200" b="1" spc="210" dirty="0">
                <a:latin typeface="Calibri"/>
                <a:cs typeface="Calibri"/>
              </a:rPr>
              <a:t>x</a:t>
            </a:r>
            <a:r>
              <a:rPr sz="2250" i="1" spc="315" baseline="-12962" dirty="0">
                <a:latin typeface="Calibri"/>
                <a:cs typeface="Calibri"/>
              </a:rPr>
              <a:t>t</a:t>
            </a:r>
            <a:endParaRPr sz="2250" baseline="-12962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95119" y="5220715"/>
            <a:ext cx="2001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8000" algn="l"/>
              </a:tabLst>
            </a:pPr>
            <a:r>
              <a:rPr sz="2400" spc="-50" dirty="0">
                <a:latin typeface="Calibri"/>
                <a:cs typeface="Calibri"/>
              </a:rPr>
              <a:t>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908525" y="5958332"/>
            <a:ext cx="3443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Forward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SDE: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405589" y="4723566"/>
            <a:ext cx="720090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20" dirty="0">
                <a:latin typeface="Cambria"/>
                <a:cs typeface="Cambria"/>
              </a:rPr>
              <a:t>q</a:t>
            </a:r>
            <a:r>
              <a:rPr sz="2150" spc="120" dirty="0">
                <a:latin typeface="Calibri"/>
                <a:cs typeface="Calibri"/>
              </a:rPr>
              <a:t>(</a:t>
            </a:r>
            <a:r>
              <a:rPr sz="2150" b="1" spc="120" dirty="0">
                <a:latin typeface="Calibri"/>
                <a:cs typeface="Calibri"/>
              </a:rPr>
              <a:t>x</a:t>
            </a:r>
            <a:r>
              <a:rPr sz="2250" spc="179" baseline="-12962" dirty="0">
                <a:latin typeface="Verdana"/>
                <a:cs typeface="Verdana"/>
              </a:rPr>
              <a:t>0</a:t>
            </a:r>
            <a:r>
              <a:rPr sz="2150" spc="12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431927" y="4723673"/>
            <a:ext cx="770255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85" dirty="0">
                <a:latin typeface="Cambria"/>
                <a:cs typeface="Cambria"/>
              </a:rPr>
              <a:t>q</a:t>
            </a:r>
            <a:r>
              <a:rPr sz="2150" spc="185" dirty="0">
                <a:latin typeface="Calibri"/>
                <a:cs typeface="Calibri"/>
              </a:rPr>
              <a:t>(</a:t>
            </a:r>
            <a:r>
              <a:rPr sz="2150" b="1" spc="185" dirty="0">
                <a:latin typeface="Calibri"/>
                <a:cs typeface="Calibri"/>
              </a:rPr>
              <a:t>x</a:t>
            </a:r>
            <a:r>
              <a:rPr sz="2250" i="1" spc="277" baseline="-12962" dirty="0">
                <a:latin typeface="Calibri"/>
                <a:cs typeface="Calibri"/>
              </a:rPr>
              <a:t>T</a:t>
            </a:r>
            <a:r>
              <a:rPr sz="2250" i="1" spc="22" baseline="-12962" dirty="0">
                <a:latin typeface="Calibri"/>
                <a:cs typeface="Calibri"/>
              </a:rPr>
              <a:t> </a:t>
            </a:r>
            <a:r>
              <a:rPr sz="2150" spc="145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50675" y="9707371"/>
            <a:ext cx="2400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Song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et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al.,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ICLR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E541C30C-23CB-154D-9C53-A41E2AD408E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49" y="5753100"/>
            <a:ext cx="51943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2992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15" dirty="0"/>
              <a:t> </a:t>
            </a:r>
            <a:r>
              <a:rPr dirty="0"/>
              <a:t>Generative</a:t>
            </a:r>
            <a:r>
              <a:rPr spc="-215" dirty="0"/>
              <a:t> </a:t>
            </a:r>
            <a:r>
              <a:rPr dirty="0"/>
              <a:t>Reverse</a:t>
            </a:r>
            <a:r>
              <a:rPr spc="-215" dirty="0"/>
              <a:t> </a:t>
            </a:r>
            <a:r>
              <a:rPr dirty="0"/>
              <a:t>Stochastic</a:t>
            </a:r>
            <a:r>
              <a:rPr spc="-210" dirty="0"/>
              <a:t> </a:t>
            </a:r>
            <a:r>
              <a:rPr dirty="0"/>
              <a:t>Differential</a:t>
            </a:r>
            <a:r>
              <a:rPr spc="-210" dirty="0"/>
              <a:t> </a:t>
            </a:r>
            <a:r>
              <a:rPr spc="-10" dirty="0"/>
              <a:t>Equation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6366547" y="2824783"/>
            <a:ext cx="5840730" cy="1927225"/>
            <a:chOff x="6366547" y="2824783"/>
            <a:chExt cx="5840730" cy="192722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598" y="2975724"/>
              <a:ext cx="750401" cy="17567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76072" y="2966199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3" y="1775850"/>
                  </a:moveTo>
                  <a:lnTo>
                    <a:pt x="774793" y="0"/>
                  </a:lnTo>
                  <a:lnTo>
                    <a:pt x="0" y="0"/>
                  </a:lnTo>
                  <a:lnTo>
                    <a:pt x="0" y="1775850"/>
                  </a:lnTo>
                  <a:lnTo>
                    <a:pt x="774793" y="17758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7639" y="2979523"/>
              <a:ext cx="717830" cy="17491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1422838" y="2966195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4" y="0"/>
                  </a:moveTo>
                  <a:lnTo>
                    <a:pt x="774794" y="1775850"/>
                  </a:lnTo>
                  <a:lnTo>
                    <a:pt x="0" y="1775850"/>
                  </a:lnTo>
                  <a:lnTo>
                    <a:pt x="0" y="0"/>
                  </a:lnTo>
                  <a:lnTo>
                    <a:pt x="774794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1343" y="2975721"/>
              <a:ext cx="4317876" cy="17568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10882" y="2824783"/>
              <a:ext cx="4029710" cy="142875"/>
            </a:xfrm>
            <a:custGeom>
              <a:avLst/>
              <a:gdLst/>
              <a:ahLst/>
              <a:cxnLst/>
              <a:rect l="l" t="t" r="r" b="b"/>
              <a:pathLst>
                <a:path w="4029709" h="142875">
                  <a:moveTo>
                    <a:pt x="3966532" y="71311"/>
                  </a:moveTo>
                  <a:lnTo>
                    <a:pt x="3894789" y="113160"/>
                  </a:lnTo>
                  <a:lnTo>
                    <a:pt x="3890080" y="117352"/>
                  </a:lnTo>
                  <a:lnTo>
                    <a:pt x="3887435" y="122833"/>
                  </a:lnTo>
                  <a:lnTo>
                    <a:pt x="3887039" y="128906"/>
                  </a:lnTo>
                  <a:lnTo>
                    <a:pt x="3889075" y="134872"/>
                  </a:lnTo>
                  <a:lnTo>
                    <a:pt x="3893266" y="139581"/>
                  </a:lnTo>
                  <a:lnTo>
                    <a:pt x="3898748" y="142225"/>
                  </a:lnTo>
                  <a:lnTo>
                    <a:pt x="3904821" y="142621"/>
                  </a:lnTo>
                  <a:lnTo>
                    <a:pt x="3910787" y="140586"/>
                  </a:lnTo>
                  <a:lnTo>
                    <a:pt x="4002329" y="87186"/>
                  </a:lnTo>
                  <a:lnTo>
                    <a:pt x="3998037" y="87186"/>
                  </a:lnTo>
                  <a:lnTo>
                    <a:pt x="3998037" y="85023"/>
                  </a:lnTo>
                  <a:lnTo>
                    <a:pt x="3990039" y="85023"/>
                  </a:lnTo>
                  <a:lnTo>
                    <a:pt x="3966532" y="71311"/>
                  </a:lnTo>
                  <a:close/>
                </a:path>
                <a:path w="4029709" h="142875">
                  <a:moveTo>
                    <a:pt x="3939318" y="55436"/>
                  </a:moveTo>
                  <a:lnTo>
                    <a:pt x="0" y="55436"/>
                  </a:lnTo>
                  <a:lnTo>
                    <a:pt x="0" y="87186"/>
                  </a:lnTo>
                  <a:lnTo>
                    <a:pt x="3939315" y="87186"/>
                  </a:lnTo>
                  <a:lnTo>
                    <a:pt x="3966530" y="71311"/>
                  </a:lnTo>
                  <a:lnTo>
                    <a:pt x="3939318" y="55436"/>
                  </a:lnTo>
                  <a:close/>
                </a:path>
                <a:path w="4029709" h="142875">
                  <a:moveTo>
                    <a:pt x="4002329" y="55436"/>
                  </a:moveTo>
                  <a:lnTo>
                    <a:pt x="3998037" y="55436"/>
                  </a:lnTo>
                  <a:lnTo>
                    <a:pt x="3998037" y="87186"/>
                  </a:lnTo>
                  <a:lnTo>
                    <a:pt x="4002329" y="87186"/>
                  </a:lnTo>
                  <a:lnTo>
                    <a:pt x="4029543" y="71311"/>
                  </a:lnTo>
                  <a:lnTo>
                    <a:pt x="4002329" y="55436"/>
                  </a:lnTo>
                  <a:close/>
                </a:path>
                <a:path w="4029709" h="142875">
                  <a:moveTo>
                    <a:pt x="3990039" y="57598"/>
                  </a:moveTo>
                  <a:lnTo>
                    <a:pt x="3966532" y="71311"/>
                  </a:lnTo>
                  <a:lnTo>
                    <a:pt x="3990039" y="85023"/>
                  </a:lnTo>
                  <a:lnTo>
                    <a:pt x="3990039" y="57598"/>
                  </a:lnTo>
                  <a:close/>
                </a:path>
                <a:path w="4029709" h="142875">
                  <a:moveTo>
                    <a:pt x="3998037" y="57598"/>
                  </a:moveTo>
                  <a:lnTo>
                    <a:pt x="3990039" y="57598"/>
                  </a:lnTo>
                  <a:lnTo>
                    <a:pt x="3990039" y="85023"/>
                  </a:lnTo>
                  <a:lnTo>
                    <a:pt x="3998037" y="85023"/>
                  </a:lnTo>
                  <a:lnTo>
                    <a:pt x="3998037" y="57598"/>
                  </a:lnTo>
                  <a:close/>
                </a:path>
                <a:path w="4029709" h="142875">
                  <a:moveTo>
                    <a:pt x="3904821" y="0"/>
                  </a:moveTo>
                  <a:lnTo>
                    <a:pt x="3898748" y="396"/>
                  </a:lnTo>
                  <a:lnTo>
                    <a:pt x="3893266" y="3040"/>
                  </a:lnTo>
                  <a:lnTo>
                    <a:pt x="3889075" y="7749"/>
                  </a:lnTo>
                  <a:lnTo>
                    <a:pt x="3887039" y="13715"/>
                  </a:lnTo>
                  <a:lnTo>
                    <a:pt x="3887435" y="19788"/>
                  </a:lnTo>
                  <a:lnTo>
                    <a:pt x="3890080" y="25269"/>
                  </a:lnTo>
                  <a:lnTo>
                    <a:pt x="3894789" y="29461"/>
                  </a:lnTo>
                  <a:lnTo>
                    <a:pt x="3966532" y="71311"/>
                  </a:lnTo>
                  <a:lnTo>
                    <a:pt x="3990039" y="57598"/>
                  </a:lnTo>
                  <a:lnTo>
                    <a:pt x="3998037" y="57598"/>
                  </a:lnTo>
                  <a:lnTo>
                    <a:pt x="3998037" y="55436"/>
                  </a:lnTo>
                  <a:lnTo>
                    <a:pt x="4002329" y="55436"/>
                  </a:lnTo>
                  <a:lnTo>
                    <a:pt x="3910787" y="2035"/>
                  </a:lnTo>
                  <a:lnTo>
                    <a:pt x="3904821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5604592" y="2923468"/>
            <a:ext cx="638175" cy="302260"/>
          </a:xfrm>
          <a:custGeom>
            <a:avLst/>
            <a:gdLst/>
            <a:ahLst/>
            <a:cxnLst/>
            <a:rect l="l" t="t" r="r" b="b"/>
            <a:pathLst>
              <a:path w="638175" h="302260">
                <a:moveTo>
                  <a:pt x="487473" y="255288"/>
                </a:moveTo>
                <a:lnTo>
                  <a:pt x="467489" y="301992"/>
                </a:lnTo>
                <a:lnTo>
                  <a:pt x="637578" y="291887"/>
                </a:lnTo>
                <a:lnTo>
                  <a:pt x="615037" y="265280"/>
                </a:lnTo>
                <a:lnTo>
                  <a:pt x="510825" y="265280"/>
                </a:lnTo>
                <a:lnTo>
                  <a:pt x="487473" y="255288"/>
                </a:lnTo>
                <a:close/>
              </a:path>
              <a:path w="638175" h="302260">
                <a:moveTo>
                  <a:pt x="507458" y="208583"/>
                </a:moveTo>
                <a:lnTo>
                  <a:pt x="487473" y="255288"/>
                </a:lnTo>
                <a:lnTo>
                  <a:pt x="510825" y="265280"/>
                </a:lnTo>
                <a:lnTo>
                  <a:pt x="530810" y="218575"/>
                </a:lnTo>
                <a:lnTo>
                  <a:pt x="507458" y="208583"/>
                </a:lnTo>
                <a:close/>
              </a:path>
              <a:path w="638175" h="302260">
                <a:moveTo>
                  <a:pt x="527442" y="161879"/>
                </a:moveTo>
                <a:lnTo>
                  <a:pt x="507458" y="208583"/>
                </a:lnTo>
                <a:lnTo>
                  <a:pt x="530810" y="218575"/>
                </a:lnTo>
                <a:lnTo>
                  <a:pt x="510825" y="265280"/>
                </a:lnTo>
                <a:lnTo>
                  <a:pt x="615037" y="265280"/>
                </a:lnTo>
                <a:lnTo>
                  <a:pt x="527442" y="161879"/>
                </a:lnTo>
                <a:close/>
              </a:path>
              <a:path w="638175" h="302260">
                <a:moveTo>
                  <a:pt x="19984" y="0"/>
                </a:moveTo>
                <a:lnTo>
                  <a:pt x="0" y="46704"/>
                </a:lnTo>
                <a:lnTo>
                  <a:pt x="487473" y="255288"/>
                </a:lnTo>
                <a:lnTo>
                  <a:pt x="507458" y="208583"/>
                </a:lnTo>
                <a:lnTo>
                  <a:pt x="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585055" y="3767628"/>
            <a:ext cx="614045" cy="156845"/>
          </a:xfrm>
          <a:custGeom>
            <a:avLst/>
            <a:gdLst/>
            <a:ahLst/>
            <a:cxnLst/>
            <a:rect l="l" t="t" r="r" b="b"/>
            <a:pathLst>
              <a:path w="614045" h="156845">
                <a:moveTo>
                  <a:pt x="459185" y="106080"/>
                </a:moveTo>
                <a:lnTo>
                  <a:pt x="453073" y="156510"/>
                </a:lnTo>
                <a:lnTo>
                  <a:pt x="585714" y="109136"/>
                </a:lnTo>
                <a:lnTo>
                  <a:pt x="484400" y="109136"/>
                </a:lnTo>
                <a:lnTo>
                  <a:pt x="459185" y="106080"/>
                </a:lnTo>
                <a:close/>
              </a:path>
              <a:path w="614045" h="156845">
                <a:moveTo>
                  <a:pt x="465297" y="55648"/>
                </a:moveTo>
                <a:lnTo>
                  <a:pt x="459185" y="106080"/>
                </a:lnTo>
                <a:lnTo>
                  <a:pt x="484400" y="109136"/>
                </a:lnTo>
                <a:lnTo>
                  <a:pt x="490512" y="58704"/>
                </a:lnTo>
                <a:lnTo>
                  <a:pt x="465297" y="55648"/>
                </a:lnTo>
                <a:close/>
              </a:path>
              <a:path w="614045" h="156845">
                <a:moveTo>
                  <a:pt x="471408" y="5218"/>
                </a:moveTo>
                <a:lnTo>
                  <a:pt x="465297" y="55648"/>
                </a:lnTo>
                <a:lnTo>
                  <a:pt x="490512" y="58704"/>
                </a:lnTo>
                <a:lnTo>
                  <a:pt x="484400" y="109136"/>
                </a:lnTo>
                <a:lnTo>
                  <a:pt x="585714" y="109136"/>
                </a:lnTo>
                <a:lnTo>
                  <a:pt x="613534" y="99199"/>
                </a:lnTo>
                <a:lnTo>
                  <a:pt x="471408" y="5218"/>
                </a:lnTo>
                <a:close/>
              </a:path>
              <a:path w="614045" h="156845">
                <a:moveTo>
                  <a:pt x="6111" y="0"/>
                </a:moveTo>
                <a:lnTo>
                  <a:pt x="0" y="50431"/>
                </a:lnTo>
                <a:lnTo>
                  <a:pt x="459185" y="106080"/>
                </a:lnTo>
                <a:lnTo>
                  <a:pt x="465297" y="55648"/>
                </a:lnTo>
                <a:lnTo>
                  <a:pt x="6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608744" y="4437210"/>
            <a:ext cx="614680" cy="207645"/>
          </a:xfrm>
          <a:custGeom>
            <a:avLst/>
            <a:gdLst/>
            <a:ahLst/>
            <a:cxnLst/>
            <a:rect l="l" t="t" r="r" b="b"/>
            <a:pathLst>
              <a:path w="614679" h="207645">
                <a:moveTo>
                  <a:pt x="460115" y="49438"/>
                </a:moveTo>
                <a:lnTo>
                  <a:pt x="0" y="158156"/>
                </a:lnTo>
                <a:lnTo>
                  <a:pt x="11681" y="207595"/>
                </a:lnTo>
                <a:lnTo>
                  <a:pt x="471797" y="98878"/>
                </a:lnTo>
                <a:lnTo>
                  <a:pt x="460115" y="49438"/>
                </a:lnTo>
                <a:close/>
              </a:path>
              <a:path w="614679" h="207645">
                <a:moveTo>
                  <a:pt x="608901" y="43597"/>
                </a:moveTo>
                <a:lnTo>
                  <a:pt x="484835" y="43597"/>
                </a:lnTo>
                <a:lnTo>
                  <a:pt x="496516" y="93037"/>
                </a:lnTo>
                <a:lnTo>
                  <a:pt x="471797" y="98878"/>
                </a:lnTo>
                <a:lnTo>
                  <a:pt x="483478" y="148316"/>
                </a:lnTo>
                <a:lnTo>
                  <a:pt x="608901" y="43597"/>
                </a:lnTo>
                <a:close/>
              </a:path>
              <a:path w="614679" h="207645">
                <a:moveTo>
                  <a:pt x="484835" y="43597"/>
                </a:moveTo>
                <a:lnTo>
                  <a:pt x="460115" y="49438"/>
                </a:lnTo>
                <a:lnTo>
                  <a:pt x="471797" y="98878"/>
                </a:lnTo>
                <a:lnTo>
                  <a:pt x="496516" y="93037"/>
                </a:lnTo>
                <a:lnTo>
                  <a:pt x="484835" y="43597"/>
                </a:lnTo>
                <a:close/>
              </a:path>
              <a:path w="614679" h="207645">
                <a:moveTo>
                  <a:pt x="448434" y="0"/>
                </a:moveTo>
                <a:lnTo>
                  <a:pt x="460115" y="49438"/>
                </a:lnTo>
                <a:lnTo>
                  <a:pt x="484835" y="43597"/>
                </a:lnTo>
                <a:lnTo>
                  <a:pt x="608901" y="43597"/>
                </a:lnTo>
                <a:lnTo>
                  <a:pt x="614272" y="39113"/>
                </a:lnTo>
                <a:lnTo>
                  <a:pt x="448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2375115" y="3649667"/>
            <a:ext cx="637540" cy="236220"/>
          </a:xfrm>
          <a:custGeom>
            <a:avLst/>
            <a:gdLst/>
            <a:ahLst/>
            <a:cxnLst/>
            <a:rect l="l" t="t" r="r" b="b"/>
            <a:pathLst>
              <a:path w="637540" h="236220">
                <a:moveTo>
                  <a:pt x="125615" y="89330"/>
                </a:moveTo>
                <a:lnTo>
                  <a:pt x="0" y="204452"/>
                </a:lnTo>
                <a:lnTo>
                  <a:pt x="167467" y="235872"/>
                </a:lnTo>
                <a:lnTo>
                  <a:pt x="155508" y="194000"/>
                </a:lnTo>
                <a:lnTo>
                  <a:pt x="129092" y="194000"/>
                </a:lnTo>
                <a:lnTo>
                  <a:pt x="115142" y="145153"/>
                </a:lnTo>
                <a:lnTo>
                  <a:pt x="139566" y="138177"/>
                </a:lnTo>
                <a:lnTo>
                  <a:pt x="125615" y="89330"/>
                </a:lnTo>
                <a:close/>
              </a:path>
              <a:path w="637540" h="236220">
                <a:moveTo>
                  <a:pt x="139566" y="138177"/>
                </a:moveTo>
                <a:lnTo>
                  <a:pt x="115142" y="145153"/>
                </a:lnTo>
                <a:lnTo>
                  <a:pt x="129092" y="194000"/>
                </a:lnTo>
                <a:lnTo>
                  <a:pt x="153516" y="187024"/>
                </a:lnTo>
                <a:lnTo>
                  <a:pt x="139566" y="138177"/>
                </a:lnTo>
                <a:close/>
              </a:path>
              <a:path w="637540" h="236220">
                <a:moveTo>
                  <a:pt x="153516" y="187024"/>
                </a:moveTo>
                <a:lnTo>
                  <a:pt x="129092" y="194000"/>
                </a:lnTo>
                <a:lnTo>
                  <a:pt x="155508" y="194000"/>
                </a:lnTo>
                <a:lnTo>
                  <a:pt x="153516" y="187024"/>
                </a:lnTo>
                <a:close/>
              </a:path>
              <a:path w="637540" h="236220">
                <a:moveTo>
                  <a:pt x="623385" y="0"/>
                </a:moveTo>
                <a:lnTo>
                  <a:pt x="139566" y="138177"/>
                </a:lnTo>
                <a:lnTo>
                  <a:pt x="153516" y="187024"/>
                </a:lnTo>
                <a:lnTo>
                  <a:pt x="637343" y="48846"/>
                </a:lnTo>
                <a:lnTo>
                  <a:pt x="623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7244253" y="4817905"/>
            <a:ext cx="4107815" cy="556895"/>
            <a:chOff x="7244253" y="4817905"/>
            <a:chExt cx="4107815" cy="556895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2251" y="4817905"/>
              <a:ext cx="569267" cy="55662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4253" y="4817905"/>
              <a:ext cx="569267" cy="5566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3921" y="4817905"/>
              <a:ext cx="569267" cy="55662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23587" y="4817905"/>
              <a:ext cx="569267" cy="55662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13253" y="4817905"/>
              <a:ext cx="569267" cy="55662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02919" y="4817905"/>
              <a:ext cx="569267" cy="55662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92586" y="4817905"/>
              <a:ext cx="569267" cy="556623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7640571" y="2581147"/>
            <a:ext cx="3336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Forward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(fixed)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2" name="object 3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27279" y="3361340"/>
            <a:ext cx="664465" cy="64970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10337" y="2571239"/>
            <a:ext cx="664465" cy="64970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36639" y="3473940"/>
            <a:ext cx="664465" cy="65129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9690" y="4361111"/>
            <a:ext cx="650618" cy="636168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2192686" y="7445756"/>
            <a:ext cx="287401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71475" marR="5080" indent="-358775">
              <a:lnSpc>
                <a:spcPct val="100800"/>
              </a:lnSpc>
              <a:spcBef>
                <a:spcPts val="75"/>
              </a:spcBef>
            </a:pPr>
            <a:r>
              <a:rPr sz="2400" b="1" dirty="0">
                <a:latin typeface="Arial"/>
                <a:cs typeface="Arial"/>
              </a:rPr>
              <a:t>Reverse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Generative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SDE: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777904" y="9310337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2"/>
                </a:lnTo>
                <a:lnTo>
                  <a:pt x="0" y="58882"/>
                </a:lnTo>
                <a:lnTo>
                  <a:pt x="0" y="176646"/>
                </a:lnTo>
                <a:lnTo>
                  <a:pt x="200889" y="176646"/>
                </a:lnTo>
                <a:lnTo>
                  <a:pt x="200889" y="235528"/>
                </a:lnTo>
                <a:lnTo>
                  <a:pt x="318654" y="117764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10908165" y="5255362"/>
            <a:ext cx="38989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250" b="1" spc="295" dirty="0">
                <a:latin typeface="Calibri"/>
                <a:cs typeface="Calibri"/>
              </a:rPr>
              <a:t>x</a:t>
            </a:r>
            <a:r>
              <a:rPr sz="2400" i="1" spc="442" baseline="-12152" dirty="0">
                <a:latin typeface="Calibri"/>
                <a:cs typeface="Calibri"/>
              </a:rPr>
              <a:t>T</a:t>
            </a:r>
            <a:endParaRPr sz="2400" baseline="-12152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346972" y="5261648"/>
            <a:ext cx="212344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818639" algn="l"/>
              </a:tabLst>
            </a:pPr>
            <a:r>
              <a:rPr sz="2200" b="1" spc="85" dirty="0">
                <a:latin typeface="Calibri"/>
                <a:cs typeface="Calibri"/>
              </a:rPr>
              <a:t>x</a:t>
            </a:r>
            <a:r>
              <a:rPr sz="2250" spc="127" baseline="-12962" dirty="0">
                <a:latin typeface="Verdana"/>
                <a:cs typeface="Verdana"/>
              </a:rPr>
              <a:t>0</a:t>
            </a:r>
            <a:r>
              <a:rPr sz="2250" baseline="-12962" dirty="0">
                <a:latin typeface="Verdana"/>
                <a:cs typeface="Verdana"/>
              </a:rPr>
              <a:t>	</a:t>
            </a:r>
            <a:r>
              <a:rPr sz="2200" b="1" spc="210" dirty="0">
                <a:latin typeface="Calibri"/>
                <a:cs typeface="Calibri"/>
              </a:rPr>
              <a:t>x</a:t>
            </a:r>
            <a:r>
              <a:rPr sz="2250" i="1" spc="315" baseline="-12962" dirty="0">
                <a:latin typeface="Calibri"/>
                <a:cs typeface="Calibri"/>
              </a:rPr>
              <a:t>t</a:t>
            </a:r>
            <a:endParaRPr sz="2250" baseline="-12962">
              <a:latin typeface="Calibri"/>
              <a:cs typeface="Calibr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295119" y="5220715"/>
            <a:ext cx="2001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8000" algn="l"/>
              </a:tabLst>
            </a:pPr>
            <a:r>
              <a:rPr sz="2400" spc="-50" dirty="0">
                <a:latin typeface="Calibri"/>
                <a:cs typeface="Calibri"/>
              </a:rPr>
              <a:t>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320752" y="9230276"/>
            <a:ext cx="1052766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b="1" dirty="0">
                <a:latin typeface="Arial"/>
                <a:cs typeface="Arial"/>
              </a:rPr>
              <a:t>Simulate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reverse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process: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generation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from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random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noise!</a:t>
            </a:r>
            <a:endParaRPr sz="2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50675" y="9546146"/>
            <a:ext cx="24009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Song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et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al.,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ICLR,</a:t>
            </a:r>
            <a:r>
              <a:rPr sz="1800" i="1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6615320" y="9798970"/>
            <a:ext cx="180975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34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50675" y="9814370"/>
            <a:ext cx="643064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Anderson,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in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Stochastic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Processes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and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their</a:t>
            </a:r>
            <a:r>
              <a:rPr sz="1800" i="1" u="sng" spc="-1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Applications,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1982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908525" y="5958332"/>
            <a:ext cx="3443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Forward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SDE:</a:t>
            </a:r>
            <a:endParaRPr sz="2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405589" y="4723566"/>
            <a:ext cx="720090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20" dirty="0">
                <a:latin typeface="Cambria"/>
                <a:cs typeface="Cambria"/>
              </a:rPr>
              <a:t>q</a:t>
            </a:r>
            <a:r>
              <a:rPr sz="2150" spc="120" dirty="0">
                <a:latin typeface="Calibri"/>
                <a:cs typeface="Calibri"/>
              </a:rPr>
              <a:t>(</a:t>
            </a:r>
            <a:r>
              <a:rPr sz="2150" b="1" spc="120" dirty="0">
                <a:latin typeface="Calibri"/>
                <a:cs typeface="Calibri"/>
              </a:rPr>
              <a:t>x</a:t>
            </a:r>
            <a:r>
              <a:rPr sz="2250" spc="179" baseline="-12962" dirty="0">
                <a:latin typeface="Verdana"/>
                <a:cs typeface="Verdana"/>
              </a:rPr>
              <a:t>0</a:t>
            </a:r>
            <a:r>
              <a:rPr sz="2150" spc="12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1431927" y="4723673"/>
            <a:ext cx="770255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85" dirty="0">
                <a:latin typeface="Cambria"/>
                <a:cs typeface="Cambria"/>
              </a:rPr>
              <a:t>q</a:t>
            </a:r>
            <a:r>
              <a:rPr sz="2150" spc="185" dirty="0">
                <a:latin typeface="Calibri"/>
                <a:cs typeface="Calibri"/>
              </a:rPr>
              <a:t>(</a:t>
            </a:r>
            <a:r>
              <a:rPr sz="2150" b="1" spc="185" dirty="0">
                <a:latin typeface="Calibri"/>
                <a:cs typeface="Calibri"/>
              </a:rPr>
              <a:t>x</a:t>
            </a:r>
            <a:r>
              <a:rPr sz="2250" i="1" spc="277" baseline="-12962" dirty="0">
                <a:latin typeface="Calibri"/>
                <a:cs typeface="Calibri"/>
              </a:rPr>
              <a:t>T</a:t>
            </a:r>
            <a:r>
              <a:rPr sz="2250" i="1" spc="22" baseline="-12962" dirty="0">
                <a:latin typeface="Calibri"/>
                <a:cs typeface="Calibri"/>
              </a:rPr>
              <a:t> </a:t>
            </a:r>
            <a:r>
              <a:rPr sz="2150" spc="145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8D9C25B5-B127-CC4E-92C8-11EBF7424AA0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49" y="5753100"/>
            <a:ext cx="5194300" cy="9779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FC692085-2079-4C42-B53F-9E53E81CC839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441" y="6840454"/>
            <a:ext cx="9182100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15" dirty="0"/>
              <a:t> </a:t>
            </a:r>
            <a:r>
              <a:rPr dirty="0"/>
              <a:t>Generative</a:t>
            </a:r>
            <a:r>
              <a:rPr spc="-215" dirty="0"/>
              <a:t> </a:t>
            </a:r>
            <a:r>
              <a:rPr dirty="0"/>
              <a:t>Reverse</a:t>
            </a:r>
            <a:r>
              <a:rPr spc="-215" dirty="0"/>
              <a:t> </a:t>
            </a:r>
            <a:r>
              <a:rPr dirty="0"/>
              <a:t>Stochastic</a:t>
            </a:r>
            <a:r>
              <a:rPr spc="-210" dirty="0"/>
              <a:t> </a:t>
            </a:r>
            <a:r>
              <a:rPr dirty="0"/>
              <a:t>Differential</a:t>
            </a:r>
            <a:r>
              <a:rPr spc="-210" dirty="0"/>
              <a:t> </a:t>
            </a:r>
            <a:r>
              <a:rPr spc="-10" dirty="0"/>
              <a:t>Equation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736639" y="2571239"/>
            <a:ext cx="9055100" cy="2803525"/>
            <a:chOff x="4736639" y="2571239"/>
            <a:chExt cx="9055100" cy="280352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598" y="2975724"/>
              <a:ext cx="750401" cy="17567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41343" y="2975720"/>
              <a:ext cx="5046764" cy="175680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82251" y="4817904"/>
              <a:ext cx="569267" cy="55662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44254" y="4817904"/>
              <a:ext cx="569267" cy="55662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833921" y="4817904"/>
              <a:ext cx="569267" cy="55662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23587" y="4817904"/>
              <a:ext cx="569267" cy="55662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013253" y="4817904"/>
              <a:ext cx="569267" cy="55662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602919" y="4817904"/>
              <a:ext cx="569267" cy="55662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192587" y="4817904"/>
              <a:ext cx="569267" cy="55662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127278" y="3361340"/>
              <a:ext cx="664465" cy="64970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10337" y="2571239"/>
              <a:ext cx="664465" cy="64970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36639" y="3473940"/>
              <a:ext cx="664465" cy="651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39690" y="4361111"/>
              <a:ext cx="650618" cy="636168"/>
            </a:xfrm>
            <a:prstGeom prst="rect">
              <a:avLst/>
            </a:prstGeom>
          </p:spPr>
        </p:pic>
      </p:grpSp>
      <p:sp>
        <p:nvSpPr>
          <p:cNvPr id="20" name="object 36">
            <a:extLst>
              <a:ext uri="{FF2B5EF4-FFF2-40B4-BE49-F238E27FC236}">
                <a16:creationId xmlns:a16="http://schemas.microsoft.com/office/drawing/2014/main" id="{9EFBDC23-E032-0E45-A182-59130995DC8B}"/>
              </a:ext>
            </a:extLst>
          </p:cNvPr>
          <p:cNvSpPr txBox="1"/>
          <p:nvPr/>
        </p:nvSpPr>
        <p:spPr>
          <a:xfrm>
            <a:off x="2192686" y="7445756"/>
            <a:ext cx="2874010" cy="7600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371475" marR="5080" indent="-358775">
              <a:lnSpc>
                <a:spcPct val="100800"/>
              </a:lnSpc>
              <a:spcBef>
                <a:spcPts val="75"/>
              </a:spcBef>
            </a:pPr>
            <a:r>
              <a:rPr sz="2400" b="1" dirty="0">
                <a:latin typeface="Arial"/>
                <a:cs typeface="Arial"/>
              </a:rPr>
              <a:t>Reverse</a:t>
            </a:r>
            <a:r>
              <a:rPr sz="2400" b="1" spc="-10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Generative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SDE: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21" name="object 43">
            <a:extLst>
              <a:ext uri="{FF2B5EF4-FFF2-40B4-BE49-F238E27FC236}">
                <a16:creationId xmlns:a16="http://schemas.microsoft.com/office/drawing/2014/main" id="{9E164B87-2316-CD46-A2DB-28F8536105B7}"/>
              </a:ext>
            </a:extLst>
          </p:cNvPr>
          <p:cNvSpPr/>
          <p:nvPr/>
        </p:nvSpPr>
        <p:spPr>
          <a:xfrm>
            <a:off x="3777904" y="9310337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2"/>
                </a:lnTo>
                <a:lnTo>
                  <a:pt x="0" y="58882"/>
                </a:lnTo>
                <a:lnTo>
                  <a:pt x="0" y="176646"/>
                </a:lnTo>
                <a:lnTo>
                  <a:pt x="200889" y="176646"/>
                </a:lnTo>
                <a:lnTo>
                  <a:pt x="200889" y="235528"/>
                </a:lnTo>
                <a:lnTo>
                  <a:pt x="318654" y="117764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55">
            <a:extLst>
              <a:ext uri="{FF2B5EF4-FFF2-40B4-BE49-F238E27FC236}">
                <a16:creationId xmlns:a16="http://schemas.microsoft.com/office/drawing/2014/main" id="{523A8824-2202-A34F-991A-848A20F1EA4B}"/>
              </a:ext>
            </a:extLst>
          </p:cNvPr>
          <p:cNvSpPr txBox="1"/>
          <p:nvPr/>
        </p:nvSpPr>
        <p:spPr>
          <a:xfrm>
            <a:off x="4320752" y="9230276"/>
            <a:ext cx="1052766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b="1" dirty="0">
                <a:latin typeface="Arial"/>
                <a:cs typeface="Arial"/>
              </a:rPr>
              <a:t>Simulate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reverse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process: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Data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generation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from</a:t>
            </a:r>
            <a:r>
              <a:rPr sz="2400" b="1" spc="-7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random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noise!</a:t>
            </a:r>
            <a:endParaRPr sz="2400">
              <a:latin typeface="Arial"/>
              <a:cs typeface="Arial"/>
            </a:endParaRPr>
          </a:p>
        </p:txBody>
      </p:sp>
      <p:sp>
        <p:nvSpPr>
          <p:cNvPr id="23" name="object 56">
            <a:extLst>
              <a:ext uri="{FF2B5EF4-FFF2-40B4-BE49-F238E27FC236}">
                <a16:creationId xmlns:a16="http://schemas.microsoft.com/office/drawing/2014/main" id="{3AA11369-2483-2B42-8F4B-F437A647238E}"/>
              </a:ext>
            </a:extLst>
          </p:cNvPr>
          <p:cNvSpPr txBox="1"/>
          <p:nvPr/>
        </p:nvSpPr>
        <p:spPr>
          <a:xfrm>
            <a:off x="550675" y="9546146"/>
            <a:ext cx="24009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Song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et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al.,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3"/>
              </a:rPr>
              <a:t>ICLR,</a:t>
            </a:r>
            <a:r>
              <a:rPr sz="1800" i="1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3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58">
            <a:extLst>
              <a:ext uri="{FF2B5EF4-FFF2-40B4-BE49-F238E27FC236}">
                <a16:creationId xmlns:a16="http://schemas.microsoft.com/office/drawing/2014/main" id="{11579E20-1BC0-0248-90E9-1111002FF39E}"/>
              </a:ext>
            </a:extLst>
          </p:cNvPr>
          <p:cNvSpPr txBox="1"/>
          <p:nvPr/>
        </p:nvSpPr>
        <p:spPr>
          <a:xfrm>
            <a:off x="550675" y="9814370"/>
            <a:ext cx="643064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Anderson,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in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Stochastic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Processes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and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their</a:t>
            </a:r>
            <a:r>
              <a:rPr sz="1800" i="1" u="sng" spc="-1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Applications,</a:t>
            </a:r>
            <a:r>
              <a:rPr sz="1800" i="1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1982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5" name="object 52">
            <a:extLst>
              <a:ext uri="{FF2B5EF4-FFF2-40B4-BE49-F238E27FC236}">
                <a16:creationId xmlns:a16="http://schemas.microsoft.com/office/drawing/2014/main" id="{204FDA6D-448B-6F42-84DB-4C88E43B7FD1}"/>
              </a:ext>
            </a:extLst>
          </p:cNvPr>
          <p:cNvSpPr txBox="1"/>
          <p:nvPr/>
        </p:nvSpPr>
        <p:spPr>
          <a:xfrm>
            <a:off x="1908525" y="5958332"/>
            <a:ext cx="344360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Forward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Diffusion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SDE: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5E943F5-E9F2-F549-A8C5-C94578A9CDE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6849" y="5753100"/>
            <a:ext cx="5194300" cy="977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BB5D16D-439D-AD41-8B8A-58C52629F76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9441" y="6840454"/>
            <a:ext cx="9182100" cy="2362200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0" y="2439797"/>
            <a:ext cx="17581245" cy="7819390"/>
          </a:xfrm>
          <a:custGeom>
            <a:avLst/>
            <a:gdLst/>
            <a:ahLst/>
            <a:cxnLst/>
            <a:rect l="l" t="t" r="r" b="b"/>
            <a:pathLst>
              <a:path w="17581245" h="7819390">
                <a:moveTo>
                  <a:pt x="17580876" y="0"/>
                </a:moveTo>
                <a:lnTo>
                  <a:pt x="0" y="0"/>
                </a:lnTo>
                <a:lnTo>
                  <a:pt x="0" y="7819057"/>
                </a:lnTo>
                <a:lnTo>
                  <a:pt x="17580876" y="7819057"/>
                </a:lnTo>
                <a:lnTo>
                  <a:pt x="17580876" y="0"/>
                </a:lnTo>
                <a:close/>
              </a:path>
            </a:pathLst>
          </a:custGeom>
          <a:solidFill>
            <a:srgbClr val="FFFFFF">
              <a:alpha val="858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32968" y="5054091"/>
            <a:ext cx="1211183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9138285" algn="l"/>
              </a:tabLst>
            </a:pPr>
            <a:r>
              <a:rPr sz="4000" b="1" dirty="0">
                <a:latin typeface="Arial"/>
                <a:cs typeface="Arial"/>
              </a:rPr>
              <a:t>But</a:t>
            </a:r>
            <a:r>
              <a:rPr sz="4000" b="1" spc="-40" dirty="0">
                <a:latin typeface="Arial"/>
                <a:cs typeface="Arial"/>
              </a:rPr>
              <a:t> </a:t>
            </a:r>
            <a:r>
              <a:rPr sz="4000" b="1" dirty="0">
                <a:latin typeface="Arial"/>
                <a:cs typeface="Arial"/>
              </a:rPr>
              <a:t>how</a:t>
            </a:r>
            <a:r>
              <a:rPr sz="4000" b="1" spc="-40" dirty="0">
                <a:latin typeface="Arial"/>
                <a:cs typeface="Arial"/>
              </a:rPr>
              <a:t> </a:t>
            </a:r>
            <a:r>
              <a:rPr sz="4000" b="1" dirty="0">
                <a:latin typeface="Arial"/>
                <a:cs typeface="Arial"/>
              </a:rPr>
              <a:t>to</a:t>
            </a:r>
            <a:r>
              <a:rPr sz="4000" b="1" spc="-55" dirty="0">
                <a:latin typeface="Arial"/>
                <a:cs typeface="Arial"/>
              </a:rPr>
              <a:t> </a:t>
            </a:r>
            <a:r>
              <a:rPr sz="4000" b="1" dirty="0">
                <a:latin typeface="Arial"/>
                <a:cs typeface="Arial"/>
              </a:rPr>
              <a:t>get</a:t>
            </a:r>
            <a:r>
              <a:rPr sz="4000" b="1" spc="-35" dirty="0">
                <a:latin typeface="Arial"/>
                <a:cs typeface="Arial"/>
              </a:rPr>
              <a:t> </a:t>
            </a:r>
            <a:r>
              <a:rPr sz="4000" b="1" dirty="0">
                <a:latin typeface="Arial"/>
                <a:cs typeface="Arial"/>
              </a:rPr>
              <a:t>the</a:t>
            </a:r>
            <a:r>
              <a:rPr sz="4000" b="1" spc="-45" dirty="0">
                <a:latin typeface="Arial"/>
                <a:cs typeface="Arial"/>
              </a:rPr>
              <a:t> </a:t>
            </a:r>
            <a:r>
              <a:rPr sz="4000" b="1" dirty="0">
                <a:latin typeface="Arial"/>
                <a:cs typeface="Arial"/>
              </a:rPr>
              <a:t>score</a:t>
            </a:r>
            <a:r>
              <a:rPr sz="4000" b="1" spc="-50" dirty="0">
                <a:latin typeface="Arial"/>
                <a:cs typeface="Arial"/>
              </a:rPr>
              <a:t> </a:t>
            </a:r>
            <a:r>
              <a:rPr sz="4000" b="1" dirty="0">
                <a:latin typeface="Arial"/>
                <a:cs typeface="Arial"/>
              </a:rPr>
              <a:t>function</a:t>
            </a:r>
            <a:r>
              <a:rPr sz="4000" b="1" spc="-105" dirty="0">
                <a:latin typeface="Arial"/>
                <a:cs typeface="Arial"/>
              </a:rPr>
              <a:t> </a:t>
            </a:r>
            <a:r>
              <a:rPr lang="zh-CN" altLang="en-US" sz="5700" b="1" i="1" spc="1342" baseline="2923" dirty="0">
                <a:solidFill>
                  <a:srgbClr val="FF0000"/>
                </a:solidFill>
                <a:latin typeface="Arial"/>
                <a:cs typeface="Arial"/>
              </a:rPr>
              <a:t>            </a:t>
            </a:r>
            <a:r>
              <a:rPr sz="4000" b="1" spc="240" dirty="0">
                <a:latin typeface="Arial"/>
                <a:cs typeface="Arial"/>
              </a:rPr>
              <a:t>?</a:t>
            </a:r>
            <a:endParaRPr sz="4000" dirty="0">
              <a:latin typeface="Arial"/>
              <a:cs typeface="Arial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C32479D5-F4D8-524D-B5B9-6CC6C0A7161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5128578"/>
            <a:ext cx="2882900" cy="5969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38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118860">
              <a:lnSpc>
                <a:spcPct val="100000"/>
              </a:lnSpc>
              <a:spcBef>
                <a:spcPts val="100"/>
              </a:spcBef>
            </a:pPr>
            <a:r>
              <a:rPr dirty="0"/>
              <a:t>Score</a:t>
            </a:r>
            <a:r>
              <a:rPr spc="-135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859932" y="5757671"/>
            <a:ext cx="936498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Naïve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idea,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learn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score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function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direct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regression?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366547" y="2824783"/>
            <a:ext cx="5840730" cy="1927225"/>
            <a:chOff x="6366547" y="2824783"/>
            <a:chExt cx="5840730" cy="19272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598" y="2975724"/>
              <a:ext cx="750401" cy="17567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376072" y="2966199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3" y="1775850"/>
                  </a:moveTo>
                  <a:lnTo>
                    <a:pt x="774793" y="0"/>
                  </a:lnTo>
                  <a:lnTo>
                    <a:pt x="0" y="0"/>
                  </a:lnTo>
                  <a:lnTo>
                    <a:pt x="0" y="1775850"/>
                  </a:lnTo>
                  <a:lnTo>
                    <a:pt x="774793" y="17758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7639" y="2979523"/>
              <a:ext cx="717830" cy="17491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1422838" y="2966195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4" y="0"/>
                  </a:moveTo>
                  <a:lnTo>
                    <a:pt x="774794" y="1775850"/>
                  </a:lnTo>
                  <a:lnTo>
                    <a:pt x="0" y="1775850"/>
                  </a:lnTo>
                  <a:lnTo>
                    <a:pt x="0" y="0"/>
                  </a:lnTo>
                  <a:lnTo>
                    <a:pt x="774794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1343" y="2975721"/>
              <a:ext cx="4317876" cy="175680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310882" y="2824783"/>
              <a:ext cx="4029710" cy="142875"/>
            </a:xfrm>
            <a:custGeom>
              <a:avLst/>
              <a:gdLst/>
              <a:ahLst/>
              <a:cxnLst/>
              <a:rect l="l" t="t" r="r" b="b"/>
              <a:pathLst>
                <a:path w="4029709" h="142875">
                  <a:moveTo>
                    <a:pt x="3966532" y="71311"/>
                  </a:moveTo>
                  <a:lnTo>
                    <a:pt x="3894789" y="113160"/>
                  </a:lnTo>
                  <a:lnTo>
                    <a:pt x="3890080" y="117352"/>
                  </a:lnTo>
                  <a:lnTo>
                    <a:pt x="3887435" y="122833"/>
                  </a:lnTo>
                  <a:lnTo>
                    <a:pt x="3887039" y="128906"/>
                  </a:lnTo>
                  <a:lnTo>
                    <a:pt x="3889075" y="134872"/>
                  </a:lnTo>
                  <a:lnTo>
                    <a:pt x="3893266" y="139581"/>
                  </a:lnTo>
                  <a:lnTo>
                    <a:pt x="3898748" y="142225"/>
                  </a:lnTo>
                  <a:lnTo>
                    <a:pt x="3904821" y="142621"/>
                  </a:lnTo>
                  <a:lnTo>
                    <a:pt x="3910787" y="140586"/>
                  </a:lnTo>
                  <a:lnTo>
                    <a:pt x="4002329" y="87186"/>
                  </a:lnTo>
                  <a:lnTo>
                    <a:pt x="3998037" y="87186"/>
                  </a:lnTo>
                  <a:lnTo>
                    <a:pt x="3998037" y="85023"/>
                  </a:lnTo>
                  <a:lnTo>
                    <a:pt x="3990039" y="85023"/>
                  </a:lnTo>
                  <a:lnTo>
                    <a:pt x="3966532" y="71311"/>
                  </a:lnTo>
                  <a:close/>
                </a:path>
                <a:path w="4029709" h="142875">
                  <a:moveTo>
                    <a:pt x="3939318" y="55436"/>
                  </a:moveTo>
                  <a:lnTo>
                    <a:pt x="0" y="55436"/>
                  </a:lnTo>
                  <a:lnTo>
                    <a:pt x="0" y="87186"/>
                  </a:lnTo>
                  <a:lnTo>
                    <a:pt x="3939315" y="87186"/>
                  </a:lnTo>
                  <a:lnTo>
                    <a:pt x="3966530" y="71311"/>
                  </a:lnTo>
                  <a:lnTo>
                    <a:pt x="3939318" y="55436"/>
                  </a:lnTo>
                  <a:close/>
                </a:path>
                <a:path w="4029709" h="142875">
                  <a:moveTo>
                    <a:pt x="4002329" y="55436"/>
                  </a:moveTo>
                  <a:lnTo>
                    <a:pt x="3998037" y="55436"/>
                  </a:lnTo>
                  <a:lnTo>
                    <a:pt x="3998037" y="87186"/>
                  </a:lnTo>
                  <a:lnTo>
                    <a:pt x="4002329" y="87186"/>
                  </a:lnTo>
                  <a:lnTo>
                    <a:pt x="4029543" y="71311"/>
                  </a:lnTo>
                  <a:lnTo>
                    <a:pt x="4002329" y="55436"/>
                  </a:lnTo>
                  <a:close/>
                </a:path>
                <a:path w="4029709" h="142875">
                  <a:moveTo>
                    <a:pt x="3990039" y="57598"/>
                  </a:moveTo>
                  <a:lnTo>
                    <a:pt x="3966532" y="71311"/>
                  </a:lnTo>
                  <a:lnTo>
                    <a:pt x="3990039" y="85023"/>
                  </a:lnTo>
                  <a:lnTo>
                    <a:pt x="3990039" y="57598"/>
                  </a:lnTo>
                  <a:close/>
                </a:path>
                <a:path w="4029709" h="142875">
                  <a:moveTo>
                    <a:pt x="3998037" y="57598"/>
                  </a:moveTo>
                  <a:lnTo>
                    <a:pt x="3990039" y="57598"/>
                  </a:lnTo>
                  <a:lnTo>
                    <a:pt x="3990039" y="85023"/>
                  </a:lnTo>
                  <a:lnTo>
                    <a:pt x="3998037" y="85023"/>
                  </a:lnTo>
                  <a:lnTo>
                    <a:pt x="3998037" y="57598"/>
                  </a:lnTo>
                  <a:close/>
                </a:path>
                <a:path w="4029709" h="142875">
                  <a:moveTo>
                    <a:pt x="3904821" y="0"/>
                  </a:moveTo>
                  <a:lnTo>
                    <a:pt x="3898748" y="396"/>
                  </a:lnTo>
                  <a:lnTo>
                    <a:pt x="3893266" y="3040"/>
                  </a:lnTo>
                  <a:lnTo>
                    <a:pt x="3889075" y="7749"/>
                  </a:lnTo>
                  <a:lnTo>
                    <a:pt x="3887039" y="13715"/>
                  </a:lnTo>
                  <a:lnTo>
                    <a:pt x="3887435" y="19788"/>
                  </a:lnTo>
                  <a:lnTo>
                    <a:pt x="3890080" y="25269"/>
                  </a:lnTo>
                  <a:lnTo>
                    <a:pt x="3894789" y="29461"/>
                  </a:lnTo>
                  <a:lnTo>
                    <a:pt x="3966532" y="71311"/>
                  </a:lnTo>
                  <a:lnTo>
                    <a:pt x="3990039" y="57598"/>
                  </a:lnTo>
                  <a:lnTo>
                    <a:pt x="3998037" y="57598"/>
                  </a:lnTo>
                  <a:lnTo>
                    <a:pt x="3998037" y="55436"/>
                  </a:lnTo>
                  <a:lnTo>
                    <a:pt x="4002329" y="55436"/>
                  </a:lnTo>
                  <a:lnTo>
                    <a:pt x="3910787" y="2035"/>
                  </a:lnTo>
                  <a:lnTo>
                    <a:pt x="3904821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/>
          <p:nvPr/>
        </p:nvSpPr>
        <p:spPr>
          <a:xfrm>
            <a:off x="5604592" y="2923468"/>
            <a:ext cx="638175" cy="302260"/>
          </a:xfrm>
          <a:custGeom>
            <a:avLst/>
            <a:gdLst/>
            <a:ahLst/>
            <a:cxnLst/>
            <a:rect l="l" t="t" r="r" b="b"/>
            <a:pathLst>
              <a:path w="638175" h="302260">
                <a:moveTo>
                  <a:pt x="487473" y="255288"/>
                </a:moveTo>
                <a:lnTo>
                  <a:pt x="467489" y="301992"/>
                </a:lnTo>
                <a:lnTo>
                  <a:pt x="637578" y="291887"/>
                </a:lnTo>
                <a:lnTo>
                  <a:pt x="615037" y="265280"/>
                </a:lnTo>
                <a:lnTo>
                  <a:pt x="510825" y="265280"/>
                </a:lnTo>
                <a:lnTo>
                  <a:pt x="487473" y="255288"/>
                </a:lnTo>
                <a:close/>
              </a:path>
              <a:path w="638175" h="302260">
                <a:moveTo>
                  <a:pt x="507458" y="208583"/>
                </a:moveTo>
                <a:lnTo>
                  <a:pt x="487473" y="255288"/>
                </a:lnTo>
                <a:lnTo>
                  <a:pt x="510825" y="265280"/>
                </a:lnTo>
                <a:lnTo>
                  <a:pt x="530810" y="218575"/>
                </a:lnTo>
                <a:lnTo>
                  <a:pt x="507458" y="208583"/>
                </a:lnTo>
                <a:close/>
              </a:path>
              <a:path w="638175" h="302260">
                <a:moveTo>
                  <a:pt x="527442" y="161879"/>
                </a:moveTo>
                <a:lnTo>
                  <a:pt x="507458" y="208583"/>
                </a:lnTo>
                <a:lnTo>
                  <a:pt x="530810" y="218575"/>
                </a:lnTo>
                <a:lnTo>
                  <a:pt x="510825" y="265280"/>
                </a:lnTo>
                <a:lnTo>
                  <a:pt x="615037" y="265280"/>
                </a:lnTo>
                <a:lnTo>
                  <a:pt x="527442" y="161879"/>
                </a:lnTo>
                <a:close/>
              </a:path>
              <a:path w="638175" h="302260">
                <a:moveTo>
                  <a:pt x="19984" y="0"/>
                </a:moveTo>
                <a:lnTo>
                  <a:pt x="0" y="46704"/>
                </a:lnTo>
                <a:lnTo>
                  <a:pt x="487473" y="255288"/>
                </a:lnTo>
                <a:lnTo>
                  <a:pt x="507458" y="208583"/>
                </a:lnTo>
                <a:lnTo>
                  <a:pt x="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85055" y="3767628"/>
            <a:ext cx="614045" cy="156845"/>
          </a:xfrm>
          <a:custGeom>
            <a:avLst/>
            <a:gdLst/>
            <a:ahLst/>
            <a:cxnLst/>
            <a:rect l="l" t="t" r="r" b="b"/>
            <a:pathLst>
              <a:path w="614045" h="156845">
                <a:moveTo>
                  <a:pt x="459185" y="106080"/>
                </a:moveTo>
                <a:lnTo>
                  <a:pt x="453073" y="156510"/>
                </a:lnTo>
                <a:lnTo>
                  <a:pt x="585714" y="109136"/>
                </a:lnTo>
                <a:lnTo>
                  <a:pt x="484400" y="109136"/>
                </a:lnTo>
                <a:lnTo>
                  <a:pt x="459185" y="106080"/>
                </a:lnTo>
                <a:close/>
              </a:path>
              <a:path w="614045" h="156845">
                <a:moveTo>
                  <a:pt x="465297" y="55648"/>
                </a:moveTo>
                <a:lnTo>
                  <a:pt x="459185" y="106080"/>
                </a:lnTo>
                <a:lnTo>
                  <a:pt x="484400" y="109136"/>
                </a:lnTo>
                <a:lnTo>
                  <a:pt x="490512" y="58704"/>
                </a:lnTo>
                <a:lnTo>
                  <a:pt x="465297" y="55648"/>
                </a:lnTo>
                <a:close/>
              </a:path>
              <a:path w="614045" h="156845">
                <a:moveTo>
                  <a:pt x="471408" y="5218"/>
                </a:moveTo>
                <a:lnTo>
                  <a:pt x="465297" y="55648"/>
                </a:lnTo>
                <a:lnTo>
                  <a:pt x="490512" y="58704"/>
                </a:lnTo>
                <a:lnTo>
                  <a:pt x="484400" y="109136"/>
                </a:lnTo>
                <a:lnTo>
                  <a:pt x="585714" y="109136"/>
                </a:lnTo>
                <a:lnTo>
                  <a:pt x="613534" y="99199"/>
                </a:lnTo>
                <a:lnTo>
                  <a:pt x="471408" y="5218"/>
                </a:lnTo>
                <a:close/>
              </a:path>
              <a:path w="614045" h="156845">
                <a:moveTo>
                  <a:pt x="6111" y="0"/>
                </a:moveTo>
                <a:lnTo>
                  <a:pt x="0" y="50431"/>
                </a:lnTo>
                <a:lnTo>
                  <a:pt x="459185" y="106080"/>
                </a:lnTo>
                <a:lnTo>
                  <a:pt x="465297" y="55648"/>
                </a:lnTo>
                <a:lnTo>
                  <a:pt x="6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08744" y="4437210"/>
            <a:ext cx="614680" cy="207645"/>
          </a:xfrm>
          <a:custGeom>
            <a:avLst/>
            <a:gdLst/>
            <a:ahLst/>
            <a:cxnLst/>
            <a:rect l="l" t="t" r="r" b="b"/>
            <a:pathLst>
              <a:path w="614679" h="207645">
                <a:moveTo>
                  <a:pt x="460115" y="49438"/>
                </a:moveTo>
                <a:lnTo>
                  <a:pt x="0" y="158156"/>
                </a:lnTo>
                <a:lnTo>
                  <a:pt x="11681" y="207595"/>
                </a:lnTo>
                <a:lnTo>
                  <a:pt x="471797" y="98878"/>
                </a:lnTo>
                <a:lnTo>
                  <a:pt x="460115" y="49438"/>
                </a:lnTo>
                <a:close/>
              </a:path>
              <a:path w="614679" h="207645">
                <a:moveTo>
                  <a:pt x="608901" y="43597"/>
                </a:moveTo>
                <a:lnTo>
                  <a:pt x="484835" y="43597"/>
                </a:lnTo>
                <a:lnTo>
                  <a:pt x="496516" y="93037"/>
                </a:lnTo>
                <a:lnTo>
                  <a:pt x="471797" y="98878"/>
                </a:lnTo>
                <a:lnTo>
                  <a:pt x="483478" y="148316"/>
                </a:lnTo>
                <a:lnTo>
                  <a:pt x="608901" y="43597"/>
                </a:lnTo>
                <a:close/>
              </a:path>
              <a:path w="614679" h="207645">
                <a:moveTo>
                  <a:pt x="484835" y="43597"/>
                </a:moveTo>
                <a:lnTo>
                  <a:pt x="460115" y="49438"/>
                </a:lnTo>
                <a:lnTo>
                  <a:pt x="471797" y="98878"/>
                </a:lnTo>
                <a:lnTo>
                  <a:pt x="496516" y="93037"/>
                </a:lnTo>
                <a:lnTo>
                  <a:pt x="484835" y="43597"/>
                </a:lnTo>
                <a:close/>
              </a:path>
              <a:path w="614679" h="207645">
                <a:moveTo>
                  <a:pt x="448434" y="0"/>
                </a:moveTo>
                <a:lnTo>
                  <a:pt x="460115" y="49438"/>
                </a:lnTo>
                <a:lnTo>
                  <a:pt x="484835" y="43597"/>
                </a:lnTo>
                <a:lnTo>
                  <a:pt x="608901" y="43597"/>
                </a:lnTo>
                <a:lnTo>
                  <a:pt x="614272" y="39113"/>
                </a:lnTo>
                <a:lnTo>
                  <a:pt x="448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2375115" y="3649667"/>
            <a:ext cx="637540" cy="236220"/>
          </a:xfrm>
          <a:custGeom>
            <a:avLst/>
            <a:gdLst/>
            <a:ahLst/>
            <a:cxnLst/>
            <a:rect l="l" t="t" r="r" b="b"/>
            <a:pathLst>
              <a:path w="637540" h="236220">
                <a:moveTo>
                  <a:pt x="125615" y="89330"/>
                </a:moveTo>
                <a:lnTo>
                  <a:pt x="0" y="204452"/>
                </a:lnTo>
                <a:lnTo>
                  <a:pt x="167467" y="235872"/>
                </a:lnTo>
                <a:lnTo>
                  <a:pt x="155508" y="194000"/>
                </a:lnTo>
                <a:lnTo>
                  <a:pt x="129092" y="194000"/>
                </a:lnTo>
                <a:lnTo>
                  <a:pt x="115142" y="145153"/>
                </a:lnTo>
                <a:lnTo>
                  <a:pt x="139566" y="138177"/>
                </a:lnTo>
                <a:lnTo>
                  <a:pt x="125615" y="89330"/>
                </a:lnTo>
                <a:close/>
              </a:path>
              <a:path w="637540" h="236220">
                <a:moveTo>
                  <a:pt x="139566" y="138177"/>
                </a:moveTo>
                <a:lnTo>
                  <a:pt x="115142" y="145153"/>
                </a:lnTo>
                <a:lnTo>
                  <a:pt x="129092" y="194000"/>
                </a:lnTo>
                <a:lnTo>
                  <a:pt x="153516" y="187024"/>
                </a:lnTo>
                <a:lnTo>
                  <a:pt x="139566" y="138177"/>
                </a:lnTo>
                <a:close/>
              </a:path>
              <a:path w="637540" h="236220">
                <a:moveTo>
                  <a:pt x="153516" y="187024"/>
                </a:moveTo>
                <a:lnTo>
                  <a:pt x="129092" y="194000"/>
                </a:lnTo>
                <a:lnTo>
                  <a:pt x="155508" y="194000"/>
                </a:lnTo>
                <a:lnTo>
                  <a:pt x="153516" y="187024"/>
                </a:lnTo>
                <a:close/>
              </a:path>
              <a:path w="637540" h="236220">
                <a:moveTo>
                  <a:pt x="623385" y="0"/>
                </a:moveTo>
                <a:lnTo>
                  <a:pt x="139566" y="138177"/>
                </a:lnTo>
                <a:lnTo>
                  <a:pt x="153516" y="187024"/>
                </a:lnTo>
                <a:lnTo>
                  <a:pt x="637343" y="48846"/>
                </a:lnTo>
                <a:lnTo>
                  <a:pt x="6233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7244253" y="4817905"/>
            <a:ext cx="4107815" cy="556895"/>
            <a:chOff x="7244253" y="4817905"/>
            <a:chExt cx="4107815" cy="556895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2251" y="4817905"/>
              <a:ext cx="569267" cy="55662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4253" y="4817905"/>
              <a:ext cx="569267" cy="55662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3921" y="4817905"/>
              <a:ext cx="569267" cy="5566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23587" y="4817905"/>
              <a:ext cx="569267" cy="55662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13253" y="4817905"/>
              <a:ext cx="569267" cy="55662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02919" y="4817905"/>
              <a:ext cx="569267" cy="55662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92586" y="4817905"/>
              <a:ext cx="569267" cy="556623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7640571" y="2581147"/>
            <a:ext cx="3336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Forward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(fixed)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27279" y="3361340"/>
            <a:ext cx="664465" cy="649706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10337" y="2571239"/>
            <a:ext cx="664465" cy="64970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36639" y="3473940"/>
            <a:ext cx="664465" cy="65129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9690" y="4361111"/>
            <a:ext cx="650618" cy="636168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0908165" y="5255362"/>
            <a:ext cx="38989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250" b="1" spc="295" dirty="0">
                <a:latin typeface="Calibri"/>
                <a:cs typeface="Calibri"/>
              </a:rPr>
              <a:t>x</a:t>
            </a:r>
            <a:r>
              <a:rPr sz="2400" i="1" spc="442" baseline="-12152" dirty="0">
                <a:latin typeface="Calibri"/>
                <a:cs typeface="Calibri"/>
              </a:rPr>
              <a:t>T</a:t>
            </a:r>
            <a:endParaRPr sz="2400" baseline="-12152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46972" y="5261648"/>
            <a:ext cx="212344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1818639" algn="l"/>
              </a:tabLst>
            </a:pPr>
            <a:r>
              <a:rPr sz="2200" b="1" spc="85" dirty="0">
                <a:latin typeface="Calibri"/>
                <a:cs typeface="Calibri"/>
              </a:rPr>
              <a:t>x</a:t>
            </a:r>
            <a:r>
              <a:rPr sz="2250" spc="127" baseline="-12962" dirty="0">
                <a:latin typeface="Verdana"/>
                <a:cs typeface="Verdana"/>
              </a:rPr>
              <a:t>0</a:t>
            </a:r>
            <a:r>
              <a:rPr sz="2250" baseline="-12962" dirty="0">
                <a:latin typeface="Verdana"/>
                <a:cs typeface="Verdana"/>
              </a:rPr>
              <a:t>	</a:t>
            </a:r>
            <a:r>
              <a:rPr sz="2200" b="1" spc="210" dirty="0">
                <a:latin typeface="Calibri"/>
                <a:cs typeface="Calibri"/>
              </a:rPr>
              <a:t>x</a:t>
            </a:r>
            <a:r>
              <a:rPr sz="2250" i="1" spc="315" baseline="-12962" dirty="0">
                <a:latin typeface="Calibri"/>
                <a:cs typeface="Calibri"/>
              </a:rPr>
              <a:t>t</a:t>
            </a:r>
            <a:endParaRPr sz="2250" baseline="-12962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95119" y="5220715"/>
            <a:ext cx="2001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8000" algn="l"/>
              </a:tabLst>
            </a:pPr>
            <a:r>
              <a:rPr sz="2400" spc="-50" dirty="0">
                <a:latin typeface="Calibri"/>
                <a:cs typeface="Calibri"/>
              </a:rPr>
              <a:t>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50675" y="9524492"/>
            <a:ext cx="10787380" cy="56832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21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Vincent,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“A</a:t>
            </a:r>
            <a:r>
              <a:rPr sz="1800" u="sng" spc="-1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Connection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Between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Score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Matching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and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Denoising</a:t>
            </a:r>
            <a:r>
              <a:rPr sz="1800" u="sng" spc="-114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Autoencoders”,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Neural</a:t>
            </a:r>
            <a:r>
              <a:rPr sz="1800" i="1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Computation,</a:t>
            </a:r>
            <a:r>
              <a:rPr sz="1800" i="1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2011</a:t>
            </a:r>
            <a:r>
              <a:rPr sz="1800" spc="-20" dirty="0">
                <a:solidFill>
                  <a:srgbClr val="0071C5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Song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and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Ermon,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“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Generative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Modeling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by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Estimating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Gradients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of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the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Data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Distribution”,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NeurIPS,</a:t>
            </a:r>
            <a:r>
              <a:rPr sz="1800" i="1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2019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05589" y="4723566"/>
            <a:ext cx="720090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20" dirty="0">
                <a:latin typeface="Cambria"/>
                <a:cs typeface="Cambria"/>
              </a:rPr>
              <a:t>q</a:t>
            </a:r>
            <a:r>
              <a:rPr sz="2150" spc="120" dirty="0">
                <a:latin typeface="Calibri"/>
                <a:cs typeface="Calibri"/>
              </a:rPr>
              <a:t>(</a:t>
            </a:r>
            <a:r>
              <a:rPr sz="2150" b="1" spc="120" dirty="0">
                <a:latin typeface="Calibri"/>
                <a:cs typeface="Calibri"/>
              </a:rPr>
              <a:t>x</a:t>
            </a:r>
            <a:r>
              <a:rPr sz="2250" spc="179" baseline="-12962" dirty="0">
                <a:latin typeface="Verdana"/>
                <a:cs typeface="Verdana"/>
              </a:rPr>
              <a:t>0</a:t>
            </a:r>
            <a:r>
              <a:rPr sz="2150" spc="12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1431927" y="4723673"/>
            <a:ext cx="770255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85" dirty="0">
                <a:latin typeface="Cambria"/>
                <a:cs typeface="Cambria"/>
              </a:rPr>
              <a:t>q</a:t>
            </a:r>
            <a:r>
              <a:rPr sz="2150" spc="185" dirty="0">
                <a:latin typeface="Calibri"/>
                <a:cs typeface="Calibri"/>
              </a:rPr>
              <a:t>(</a:t>
            </a:r>
            <a:r>
              <a:rPr sz="2150" b="1" spc="185" dirty="0">
                <a:latin typeface="Calibri"/>
                <a:cs typeface="Calibri"/>
              </a:rPr>
              <a:t>x</a:t>
            </a:r>
            <a:r>
              <a:rPr sz="2250" i="1" spc="277" baseline="-12962" dirty="0">
                <a:latin typeface="Calibri"/>
                <a:cs typeface="Calibri"/>
              </a:rPr>
              <a:t>T</a:t>
            </a:r>
            <a:r>
              <a:rPr sz="2250" i="1" spc="22" baseline="-12962" dirty="0">
                <a:latin typeface="Calibri"/>
                <a:cs typeface="Calibri"/>
              </a:rPr>
              <a:t> </a:t>
            </a:r>
            <a:r>
              <a:rPr sz="2150" spc="145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11969509-20F9-A149-B416-60BAB5B04CB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220" y="6456416"/>
            <a:ext cx="12674600" cy="2882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39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766945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225" dirty="0"/>
              <a:t> </a:t>
            </a:r>
            <a:r>
              <a:rPr dirty="0"/>
              <a:t>Score</a:t>
            </a:r>
            <a:r>
              <a:rPr spc="-215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3519" y="5752700"/>
            <a:ext cx="10173970" cy="1021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indent="-342900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91795" algn="l"/>
              </a:tabLst>
            </a:pPr>
            <a:r>
              <a:rPr sz="2300" dirty="0">
                <a:latin typeface="Trebuchet MS"/>
                <a:cs typeface="Trebuchet MS"/>
              </a:rPr>
              <a:t>Instead,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individual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data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points</a:t>
            </a:r>
            <a:r>
              <a:rPr sz="2300" spc="65" dirty="0">
                <a:latin typeface="Trebuchet MS"/>
                <a:cs typeface="Trebuchet MS"/>
              </a:rPr>
              <a:t> </a:t>
            </a:r>
            <a:r>
              <a:rPr sz="3975" b="1" spc="172" baseline="2096" dirty="0">
                <a:latin typeface="Calibri"/>
                <a:cs typeface="Calibri"/>
              </a:rPr>
              <a:t>x</a:t>
            </a:r>
            <a:r>
              <a:rPr sz="2775" spc="172" baseline="-9009" dirty="0">
                <a:latin typeface="Verdana"/>
                <a:cs typeface="Verdana"/>
              </a:rPr>
              <a:t>0</a:t>
            </a:r>
            <a:r>
              <a:rPr sz="2300" spc="114" dirty="0">
                <a:latin typeface="Trebuchet MS"/>
                <a:cs typeface="Trebuchet MS"/>
              </a:rPr>
              <a:t>.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Diffused</a:t>
            </a:r>
            <a:r>
              <a:rPr sz="2300" spc="-30" dirty="0">
                <a:latin typeface="Trebuchet MS"/>
                <a:cs typeface="Trebuchet MS"/>
              </a:rPr>
              <a:t> </a:t>
            </a:r>
            <a:r>
              <a:rPr sz="3675" i="1" spc="254" baseline="2267" dirty="0">
                <a:latin typeface="Cambria"/>
                <a:cs typeface="Cambria"/>
              </a:rPr>
              <a:t>q</a:t>
            </a:r>
            <a:r>
              <a:rPr sz="2550" i="1" spc="254" baseline="-8169" dirty="0">
                <a:latin typeface="Calibri"/>
                <a:cs typeface="Calibri"/>
              </a:rPr>
              <a:t>t</a:t>
            </a:r>
            <a:r>
              <a:rPr sz="3675" spc="254" baseline="2267" dirty="0">
                <a:latin typeface="Calibri"/>
                <a:cs typeface="Calibri"/>
              </a:rPr>
              <a:t>(</a:t>
            </a:r>
            <a:r>
              <a:rPr sz="3675" b="1" spc="254" baseline="2267" dirty="0">
                <a:latin typeface="Calibri"/>
                <a:cs typeface="Calibri"/>
              </a:rPr>
              <a:t>x</a:t>
            </a:r>
            <a:r>
              <a:rPr sz="2550" i="1" spc="254" baseline="-8169" dirty="0">
                <a:latin typeface="Calibri"/>
                <a:cs typeface="Calibri"/>
              </a:rPr>
              <a:t>t</a:t>
            </a:r>
            <a:r>
              <a:rPr sz="3675" i="1" spc="254" baseline="2267" dirty="0">
                <a:latin typeface="Times New Roman"/>
                <a:cs typeface="Times New Roman"/>
              </a:rPr>
              <a:t>|</a:t>
            </a:r>
            <a:r>
              <a:rPr sz="3675" b="1" spc="254" baseline="2267" dirty="0">
                <a:latin typeface="Calibri"/>
                <a:cs typeface="Calibri"/>
              </a:rPr>
              <a:t>x</a:t>
            </a:r>
            <a:r>
              <a:rPr sz="2550" spc="254" baseline="-8169" dirty="0">
                <a:latin typeface="Verdana"/>
                <a:cs typeface="Verdana"/>
              </a:rPr>
              <a:t>0</a:t>
            </a:r>
            <a:r>
              <a:rPr sz="3675" spc="254" baseline="2267" dirty="0">
                <a:latin typeface="Calibri"/>
                <a:cs typeface="Calibri"/>
              </a:rPr>
              <a:t>)</a:t>
            </a:r>
            <a:r>
              <a:rPr sz="3675" spc="-284" baseline="2267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Trebuchet MS"/>
                <a:cs typeface="Trebuchet MS"/>
              </a:rPr>
              <a:t>is</a:t>
            </a:r>
            <a:r>
              <a:rPr sz="2400" b="1" i="1" spc="-1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tractable!</a:t>
            </a:r>
            <a:endParaRPr sz="2300">
              <a:latin typeface="Trebuchet MS"/>
              <a:cs typeface="Trebuchet MS"/>
            </a:endParaRPr>
          </a:p>
          <a:p>
            <a:pPr marL="380365" indent="-342265">
              <a:lnSpc>
                <a:spcPct val="100000"/>
              </a:lnSpc>
              <a:spcBef>
                <a:spcPts val="1900"/>
              </a:spcBef>
              <a:buClr>
                <a:srgbClr val="CDCDCD"/>
              </a:buClr>
              <a:buFont typeface="Arial MT"/>
              <a:buChar char="•"/>
              <a:tabLst>
                <a:tab pos="380365" algn="l"/>
              </a:tabLst>
            </a:pPr>
            <a:r>
              <a:rPr sz="2300" b="1" dirty="0">
                <a:latin typeface="Trebuchet MS"/>
                <a:cs typeface="Trebuchet MS"/>
              </a:rPr>
              <a:t>Denoising</a:t>
            </a:r>
            <a:r>
              <a:rPr sz="2300" b="1" spc="8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Score</a:t>
            </a:r>
            <a:r>
              <a:rPr sz="2300" b="1" spc="75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Matching</a:t>
            </a:r>
            <a:r>
              <a:rPr sz="2300" spc="-10" dirty="0">
                <a:latin typeface="Trebuchet MS"/>
                <a:cs typeface="Trebuchet MS"/>
              </a:rPr>
              <a:t>: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66547" y="2824783"/>
            <a:ext cx="5840730" cy="1927225"/>
            <a:chOff x="6366547" y="2824783"/>
            <a:chExt cx="5840730" cy="19272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598" y="2975724"/>
              <a:ext cx="750401" cy="17567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76072" y="2966199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3" y="1775850"/>
                  </a:moveTo>
                  <a:lnTo>
                    <a:pt x="774793" y="0"/>
                  </a:lnTo>
                  <a:lnTo>
                    <a:pt x="0" y="0"/>
                  </a:lnTo>
                  <a:lnTo>
                    <a:pt x="0" y="1775850"/>
                  </a:lnTo>
                  <a:lnTo>
                    <a:pt x="774793" y="17758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7639" y="2979523"/>
              <a:ext cx="717830" cy="174919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22837" y="2966195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4" y="0"/>
                  </a:moveTo>
                  <a:lnTo>
                    <a:pt x="774794" y="1775850"/>
                  </a:lnTo>
                  <a:lnTo>
                    <a:pt x="0" y="1775850"/>
                  </a:lnTo>
                  <a:lnTo>
                    <a:pt x="0" y="0"/>
                  </a:lnTo>
                  <a:lnTo>
                    <a:pt x="774794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1342" y="2975721"/>
              <a:ext cx="4317878" cy="17568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310882" y="2824783"/>
              <a:ext cx="4029710" cy="142875"/>
            </a:xfrm>
            <a:custGeom>
              <a:avLst/>
              <a:gdLst/>
              <a:ahLst/>
              <a:cxnLst/>
              <a:rect l="l" t="t" r="r" b="b"/>
              <a:pathLst>
                <a:path w="4029709" h="142875">
                  <a:moveTo>
                    <a:pt x="3966532" y="71311"/>
                  </a:moveTo>
                  <a:lnTo>
                    <a:pt x="3894789" y="113160"/>
                  </a:lnTo>
                  <a:lnTo>
                    <a:pt x="3890080" y="117352"/>
                  </a:lnTo>
                  <a:lnTo>
                    <a:pt x="3887435" y="122833"/>
                  </a:lnTo>
                  <a:lnTo>
                    <a:pt x="3887039" y="128906"/>
                  </a:lnTo>
                  <a:lnTo>
                    <a:pt x="3889075" y="134872"/>
                  </a:lnTo>
                  <a:lnTo>
                    <a:pt x="3893266" y="139581"/>
                  </a:lnTo>
                  <a:lnTo>
                    <a:pt x="3898748" y="142225"/>
                  </a:lnTo>
                  <a:lnTo>
                    <a:pt x="3904821" y="142621"/>
                  </a:lnTo>
                  <a:lnTo>
                    <a:pt x="3910787" y="140586"/>
                  </a:lnTo>
                  <a:lnTo>
                    <a:pt x="4002329" y="87186"/>
                  </a:lnTo>
                  <a:lnTo>
                    <a:pt x="3998037" y="87186"/>
                  </a:lnTo>
                  <a:lnTo>
                    <a:pt x="3998037" y="85023"/>
                  </a:lnTo>
                  <a:lnTo>
                    <a:pt x="3990039" y="85023"/>
                  </a:lnTo>
                  <a:lnTo>
                    <a:pt x="3966532" y="71311"/>
                  </a:lnTo>
                  <a:close/>
                </a:path>
                <a:path w="4029709" h="142875">
                  <a:moveTo>
                    <a:pt x="3939318" y="55436"/>
                  </a:moveTo>
                  <a:lnTo>
                    <a:pt x="0" y="55436"/>
                  </a:lnTo>
                  <a:lnTo>
                    <a:pt x="0" y="87186"/>
                  </a:lnTo>
                  <a:lnTo>
                    <a:pt x="3939315" y="87186"/>
                  </a:lnTo>
                  <a:lnTo>
                    <a:pt x="3966530" y="71311"/>
                  </a:lnTo>
                  <a:lnTo>
                    <a:pt x="3939318" y="55436"/>
                  </a:lnTo>
                  <a:close/>
                </a:path>
                <a:path w="4029709" h="142875">
                  <a:moveTo>
                    <a:pt x="4002329" y="55436"/>
                  </a:moveTo>
                  <a:lnTo>
                    <a:pt x="3998037" y="55436"/>
                  </a:lnTo>
                  <a:lnTo>
                    <a:pt x="3998037" y="87186"/>
                  </a:lnTo>
                  <a:lnTo>
                    <a:pt x="4002329" y="87186"/>
                  </a:lnTo>
                  <a:lnTo>
                    <a:pt x="4029543" y="71311"/>
                  </a:lnTo>
                  <a:lnTo>
                    <a:pt x="4002329" y="55436"/>
                  </a:lnTo>
                  <a:close/>
                </a:path>
                <a:path w="4029709" h="142875">
                  <a:moveTo>
                    <a:pt x="3990039" y="57598"/>
                  </a:moveTo>
                  <a:lnTo>
                    <a:pt x="3966532" y="71311"/>
                  </a:lnTo>
                  <a:lnTo>
                    <a:pt x="3990039" y="85023"/>
                  </a:lnTo>
                  <a:lnTo>
                    <a:pt x="3990039" y="57598"/>
                  </a:lnTo>
                  <a:close/>
                </a:path>
                <a:path w="4029709" h="142875">
                  <a:moveTo>
                    <a:pt x="3998037" y="57598"/>
                  </a:moveTo>
                  <a:lnTo>
                    <a:pt x="3990039" y="57598"/>
                  </a:lnTo>
                  <a:lnTo>
                    <a:pt x="3990039" y="85023"/>
                  </a:lnTo>
                  <a:lnTo>
                    <a:pt x="3998037" y="85023"/>
                  </a:lnTo>
                  <a:lnTo>
                    <a:pt x="3998037" y="57598"/>
                  </a:lnTo>
                  <a:close/>
                </a:path>
                <a:path w="4029709" h="142875">
                  <a:moveTo>
                    <a:pt x="3904821" y="0"/>
                  </a:moveTo>
                  <a:lnTo>
                    <a:pt x="3898748" y="396"/>
                  </a:lnTo>
                  <a:lnTo>
                    <a:pt x="3893266" y="3040"/>
                  </a:lnTo>
                  <a:lnTo>
                    <a:pt x="3889075" y="7749"/>
                  </a:lnTo>
                  <a:lnTo>
                    <a:pt x="3887039" y="13715"/>
                  </a:lnTo>
                  <a:lnTo>
                    <a:pt x="3887435" y="19788"/>
                  </a:lnTo>
                  <a:lnTo>
                    <a:pt x="3890080" y="25269"/>
                  </a:lnTo>
                  <a:lnTo>
                    <a:pt x="3894789" y="29461"/>
                  </a:lnTo>
                  <a:lnTo>
                    <a:pt x="3966532" y="71311"/>
                  </a:lnTo>
                  <a:lnTo>
                    <a:pt x="3990039" y="57598"/>
                  </a:lnTo>
                  <a:lnTo>
                    <a:pt x="3998037" y="57598"/>
                  </a:lnTo>
                  <a:lnTo>
                    <a:pt x="3998037" y="55436"/>
                  </a:lnTo>
                  <a:lnTo>
                    <a:pt x="4002329" y="55436"/>
                  </a:lnTo>
                  <a:lnTo>
                    <a:pt x="3910787" y="2035"/>
                  </a:lnTo>
                  <a:lnTo>
                    <a:pt x="3904821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604592" y="2923468"/>
            <a:ext cx="638175" cy="302260"/>
          </a:xfrm>
          <a:custGeom>
            <a:avLst/>
            <a:gdLst/>
            <a:ahLst/>
            <a:cxnLst/>
            <a:rect l="l" t="t" r="r" b="b"/>
            <a:pathLst>
              <a:path w="638175" h="302260">
                <a:moveTo>
                  <a:pt x="487473" y="255288"/>
                </a:moveTo>
                <a:lnTo>
                  <a:pt x="467489" y="301992"/>
                </a:lnTo>
                <a:lnTo>
                  <a:pt x="637578" y="291887"/>
                </a:lnTo>
                <a:lnTo>
                  <a:pt x="615037" y="265280"/>
                </a:lnTo>
                <a:lnTo>
                  <a:pt x="510825" y="265280"/>
                </a:lnTo>
                <a:lnTo>
                  <a:pt x="487473" y="255288"/>
                </a:lnTo>
                <a:close/>
              </a:path>
              <a:path w="638175" h="302260">
                <a:moveTo>
                  <a:pt x="507458" y="208583"/>
                </a:moveTo>
                <a:lnTo>
                  <a:pt x="487473" y="255288"/>
                </a:lnTo>
                <a:lnTo>
                  <a:pt x="510825" y="265280"/>
                </a:lnTo>
                <a:lnTo>
                  <a:pt x="530810" y="218575"/>
                </a:lnTo>
                <a:lnTo>
                  <a:pt x="507458" y="208583"/>
                </a:lnTo>
                <a:close/>
              </a:path>
              <a:path w="638175" h="302260">
                <a:moveTo>
                  <a:pt x="527442" y="161879"/>
                </a:moveTo>
                <a:lnTo>
                  <a:pt x="507458" y="208583"/>
                </a:lnTo>
                <a:lnTo>
                  <a:pt x="530810" y="218575"/>
                </a:lnTo>
                <a:lnTo>
                  <a:pt x="510825" y="265280"/>
                </a:lnTo>
                <a:lnTo>
                  <a:pt x="615037" y="265280"/>
                </a:lnTo>
                <a:lnTo>
                  <a:pt x="527442" y="161879"/>
                </a:lnTo>
                <a:close/>
              </a:path>
              <a:path w="638175" h="302260">
                <a:moveTo>
                  <a:pt x="19984" y="0"/>
                </a:moveTo>
                <a:lnTo>
                  <a:pt x="0" y="46704"/>
                </a:lnTo>
                <a:lnTo>
                  <a:pt x="487473" y="255288"/>
                </a:lnTo>
                <a:lnTo>
                  <a:pt x="507458" y="208583"/>
                </a:lnTo>
                <a:lnTo>
                  <a:pt x="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85055" y="3767628"/>
            <a:ext cx="614045" cy="156845"/>
          </a:xfrm>
          <a:custGeom>
            <a:avLst/>
            <a:gdLst/>
            <a:ahLst/>
            <a:cxnLst/>
            <a:rect l="l" t="t" r="r" b="b"/>
            <a:pathLst>
              <a:path w="614045" h="156845">
                <a:moveTo>
                  <a:pt x="459185" y="106080"/>
                </a:moveTo>
                <a:lnTo>
                  <a:pt x="453073" y="156510"/>
                </a:lnTo>
                <a:lnTo>
                  <a:pt x="585714" y="109136"/>
                </a:lnTo>
                <a:lnTo>
                  <a:pt x="484400" y="109136"/>
                </a:lnTo>
                <a:lnTo>
                  <a:pt x="459185" y="106080"/>
                </a:lnTo>
                <a:close/>
              </a:path>
              <a:path w="614045" h="156845">
                <a:moveTo>
                  <a:pt x="465297" y="55648"/>
                </a:moveTo>
                <a:lnTo>
                  <a:pt x="459185" y="106080"/>
                </a:lnTo>
                <a:lnTo>
                  <a:pt x="484400" y="109136"/>
                </a:lnTo>
                <a:lnTo>
                  <a:pt x="490512" y="58704"/>
                </a:lnTo>
                <a:lnTo>
                  <a:pt x="465297" y="55648"/>
                </a:lnTo>
                <a:close/>
              </a:path>
              <a:path w="614045" h="156845">
                <a:moveTo>
                  <a:pt x="471408" y="5218"/>
                </a:moveTo>
                <a:lnTo>
                  <a:pt x="465297" y="55648"/>
                </a:lnTo>
                <a:lnTo>
                  <a:pt x="490512" y="58704"/>
                </a:lnTo>
                <a:lnTo>
                  <a:pt x="484400" y="109136"/>
                </a:lnTo>
                <a:lnTo>
                  <a:pt x="585714" y="109136"/>
                </a:lnTo>
                <a:lnTo>
                  <a:pt x="613534" y="99199"/>
                </a:lnTo>
                <a:lnTo>
                  <a:pt x="471408" y="5218"/>
                </a:lnTo>
                <a:close/>
              </a:path>
              <a:path w="614045" h="156845">
                <a:moveTo>
                  <a:pt x="6111" y="0"/>
                </a:moveTo>
                <a:lnTo>
                  <a:pt x="0" y="50431"/>
                </a:lnTo>
                <a:lnTo>
                  <a:pt x="459185" y="106080"/>
                </a:lnTo>
                <a:lnTo>
                  <a:pt x="465297" y="55648"/>
                </a:lnTo>
                <a:lnTo>
                  <a:pt x="6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08744" y="4437210"/>
            <a:ext cx="614680" cy="207645"/>
          </a:xfrm>
          <a:custGeom>
            <a:avLst/>
            <a:gdLst/>
            <a:ahLst/>
            <a:cxnLst/>
            <a:rect l="l" t="t" r="r" b="b"/>
            <a:pathLst>
              <a:path w="614679" h="207645">
                <a:moveTo>
                  <a:pt x="460115" y="49438"/>
                </a:moveTo>
                <a:lnTo>
                  <a:pt x="0" y="158156"/>
                </a:lnTo>
                <a:lnTo>
                  <a:pt x="11681" y="207595"/>
                </a:lnTo>
                <a:lnTo>
                  <a:pt x="471797" y="98878"/>
                </a:lnTo>
                <a:lnTo>
                  <a:pt x="460115" y="49438"/>
                </a:lnTo>
                <a:close/>
              </a:path>
              <a:path w="614679" h="207645">
                <a:moveTo>
                  <a:pt x="608901" y="43597"/>
                </a:moveTo>
                <a:lnTo>
                  <a:pt x="484835" y="43597"/>
                </a:lnTo>
                <a:lnTo>
                  <a:pt x="496516" y="93037"/>
                </a:lnTo>
                <a:lnTo>
                  <a:pt x="471797" y="98878"/>
                </a:lnTo>
                <a:lnTo>
                  <a:pt x="483478" y="148316"/>
                </a:lnTo>
                <a:lnTo>
                  <a:pt x="608901" y="43597"/>
                </a:lnTo>
                <a:close/>
              </a:path>
              <a:path w="614679" h="207645">
                <a:moveTo>
                  <a:pt x="484835" y="43597"/>
                </a:moveTo>
                <a:lnTo>
                  <a:pt x="460115" y="49438"/>
                </a:lnTo>
                <a:lnTo>
                  <a:pt x="471797" y="98878"/>
                </a:lnTo>
                <a:lnTo>
                  <a:pt x="496516" y="93037"/>
                </a:lnTo>
                <a:lnTo>
                  <a:pt x="484835" y="43597"/>
                </a:lnTo>
                <a:close/>
              </a:path>
              <a:path w="614679" h="207645">
                <a:moveTo>
                  <a:pt x="448434" y="0"/>
                </a:moveTo>
                <a:lnTo>
                  <a:pt x="460115" y="49438"/>
                </a:lnTo>
                <a:lnTo>
                  <a:pt x="484835" y="43597"/>
                </a:lnTo>
                <a:lnTo>
                  <a:pt x="608901" y="43597"/>
                </a:lnTo>
                <a:lnTo>
                  <a:pt x="614272" y="39113"/>
                </a:lnTo>
                <a:lnTo>
                  <a:pt x="448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375115" y="3469060"/>
            <a:ext cx="619125" cy="288925"/>
          </a:xfrm>
          <a:custGeom>
            <a:avLst/>
            <a:gdLst/>
            <a:ahLst/>
            <a:cxnLst/>
            <a:rect l="l" t="t" r="r" b="b"/>
            <a:pathLst>
              <a:path w="619125" h="288925">
                <a:moveTo>
                  <a:pt x="111433" y="148095"/>
                </a:moveTo>
                <a:lnTo>
                  <a:pt x="0" y="276994"/>
                </a:lnTo>
                <a:lnTo>
                  <a:pt x="169978" y="288803"/>
                </a:lnTo>
                <a:lnTo>
                  <a:pt x="154523" y="251658"/>
                </a:lnTo>
                <a:lnTo>
                  <a:pt x="127012" y="251658"/>
                </a:lnTo>
                <a:lnTo>
                  <a:pt x="107497" y="204755"/>
                </a:lnTo>
                <a:lnTo>
                  <a:pt x="130948" y="194998"/>
                </a:lnTo>
                <a:lnTo>
                  <a:pt x="111433" y="148095"/>
                </a:lnTo>
                <a:close/>
              </a:path>
              <a:path w="619125" h="288925">
                <a:moveTo>
                  <a:pt x="130948" y="194998"/>
                </a:moveTo>
                <a:lnTo>
                  <a:pt x="107497" y="204755"/>
                </a:lnTo>
                <a:lnTo>
                  <a:pt x="127012" y="251658"/>
                </a:lnTo>
                <a:lnTo>
                  <a:pt x="150463" y="241900"/>
                </a:lnTo>
                <a:lnTo>
                  <a:pt x="130948" y="194998"/>
                </a:lnTo>
                <a:close/>
              </a:path>
              <a:path w="619125" h="288925">
                <a:moveTo>
                  <a:pt x="150463" y="241900"/>
                </a:moveTo>
                <a:lnTo>
                  <a:pt x="127012" y="251658"/>
                </a:lnTo>
                <a:lnTo>
                  <a:pt x="154523" y="251658"/>
                </a:lnTo>
                <a:lnTo>
                  <a:pt x="150463" y="241900"/>
                </a:lnTo>
                <a:close/>
              </a:path>
              <a:path w="619125" h="288925">
                <a:moveTo>
                  <a:pt x="599611" y="0"/>
                </a:moveTo>
                <a:lnTo>
                  <a:pt x="130948" y="194998"/>
                </a:lnTo>
                <a:lnTo>
                  <a:pt x="150463" y="241900"/>
                </a:lnTo>
                <a:lnTo>
                  <a:pt x="619118" y="46902"/>
                </a:lnTo>
                <a:lnTo>
                  <a:pt x="5996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7244253" y="4817905"/>
            <a:ext cx="4107815" cy="556895"/>
            <a:chOff x="7244253" y="4817905"/>
            <a:chExt cx="4107815" cy="55689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2251" y="4817905"/>
              <a:ext cx="569267" cy="55662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4253" y="4817905"/>
              <a:ext cx="569267" cy="55662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3921" y="4817905"/>
              <a:ext cx="569267" cy="5566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23587" y="4817905"/>
              <a:ext cx="569267" cy="55662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13253" y="4817905"/>
              <a:ext cx="569267" cy="55662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02919" y="4817905"/>
              <a:ext cx="569267" cy="55662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92586" y="4817905"/>
              <a:ext cx="569267" cy="55662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640571" y="2581147"/>
            <a:ext cx="3336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Forward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(fixed)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27279" y="3012205"/>
            <a:ext cx="664465" cy="64970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10337" y="2571239"/>
            <a:ext cx="664465" cy="6497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36639" y="3473940"/>
            <a:ext cx="664465" cy="6512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9690" y="4361111"/>
            <a:ext cx="650618" cy="636168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385072" y="5261648"/>
            <a:ext cx="19431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b="1" spc="260" dirty="0">
                <a:latin typeface="Calibri"/>
                <a:cs typeface="Calibri"/>
              </a:rPr>
              <a:t>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33565" y="5255362"/>
            <a:ext cx="20193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50" b="1" spc="290" dirty="0">
                <a:latin typeface="Calibri"/>
                <a:cs typeface="Calibri"/>
              </a:rPr>
              <a:t>x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109802" y="5386041"/>
            <a:ext cx="1625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250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53443" y="5261649"/>
            <a:ext cx="19431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b="1" spc="260" dirty="0">
                <a:latin typeface="Calibri"/>
                <a:cs typeface="Calibri"/>
              </a:rPr>
              <a:t>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54158" y="5387025"/>
            <a:ext cx="187833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780539" algn="l"/>
              </a:tabLst>
            </a:pPr>
            <a:r>
              <a:rPr sz="1500" spc="-50" dirty="0">
                <a:latin typeface="Verdana"/>
                <a:cs typeface="Verdana"/>
              </a:rPr>
              <a:t>0</a:t>
            </a:r>
            <a:r>
              <a:rPr sz="1500" dirty="0">
                <a:latin typeface="Verdana"/>
                <a:cs typeface="Verdana"/>
              </a:rPr>
              <a:t>	</a:t>
            </a:r>
            <a:r>
              <a:rPr sz="1500" i="1" spc="110" dirty="0">
                <a:latin typeface="Calibri"/>
                <a:cs typeface="Calibri"/>
              </a:rPr>
              <a:t>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95119" y="5220715"/>
            <a:ext cx="2001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8000" algn="l"/>
              </a:tabLst>
            </a:pPr>
            <a:r>
              <a:rPr sz="2400" spc="-50" dirty="0">
                <a:latin typeface="Calibri"/>
                <a:cs typeface="Calibri"/>
              </a:rPr>
              <a:t>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0675" y="9268459"/>
            <a:ext cx="3802379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Vincent,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in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Neural</a:t>
            </a:r>
            <a:r>
              <a:rPr sz="1800" i="1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Computation,</a:t>
            </a:r>
            <a:r>
              <a:rPr sz="1800" i="1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2011</a:t>
            </a:r>
            <a:r>
              <a:rPr sz="1800" spc="-25" dirty="0">
                <a:solidFill>
                  <a:srgbClr val="0071C5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Song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and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Ermon,</a:t>
            </a:r>
            <a:r>
              <a:rPr sz="18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NeurIPS,</a:t>
            </a:r>
            <a:r>
              <a:rPr sz="1800" i="1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2019</a:t>
            </a:r>
            <a:r>
              <a:rPr sz="1800" spc="-20" dirty="0">
                <a:solidFill>
                  <a:srgbClr val="0071C5"/>
                </a:solidFill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Song</a:t>
            </a:r>
            <a:r>
              <a:rPr sz="1800" u="heavy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et</a:t>
            </a:r>
            <a:r>
              <a:rPr sz="1800" u="heavy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al.</a:t>
            </a:r>
            <a:r>
              <a:rPr sz="1800" u="heavy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i="1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6"/>
              </a:rPr>
              <a:t>ICLR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,</a:t>
            </a:r>
            <a:r>
              <a:rPr sz="1800" u="heavy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heavy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405589" y="4723566"/>
            <a:ext cx="720090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20" dirty="0">
                <a:latin typeface="Cambria"/>
                <a:cs typeface="Cambria"/>
              </a:rPr>
              <a:t>q</a:t>
            </a:r>
            <a:r>
              <a:rPr sz="2150" spc="120" dirty="0">
                <a:latin typeface="Calibri"/>
                <a:cs typeface="Calibri"/>
              </a:rPr>
              <a:t>(</a:t>
            </a:r>
            <a:r>
              <a:rPr sz="2150" b="1" spc="120" dirty="0">
                <a:latin typeface="Calibri"/>
                <a:cs typeface="Calibri"/>
              </a:rPr>
              <a:t>x</a:t>
            </a:r>
            <a:r>
              <a:rPr sz="2250" spc="179" baseline="-12962" dirty="0">
                <a:latin typeface="Verdana"/>
                <a:cs typeface="Verdana"/>
              </a:rPr>
              <a:t>0</a:t>
            </a:r>
            <a:r>
              <a:rPr sz="2150" spc="12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1431927" y="4723673"/>
            <a:ext cx="770255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85" dirty="0">
                <a:latin typeface="Cambria"/>
                <a:cs typeface="Cambria"/>
              </a:rPr>
              <a:t>q</a:t>
            </a:r>
            <a:r>
              <a:rPr sz="2150" spc="185" dirty="0">
                <a:latin typeface="Calibri"/>
                <a:cs typeface="Calibri"/>
              </a:rPr>
              <a:t>(</a:t>
            </a:r>
            <a:r>
              <a:rPr sz="2150" b="1" spc="185" dirty="0">
                <a:latin typeface="Calibri"/>
                <a:cs typeface="Calibri"/>
              </a:rPr>
              <a:t>x</a:t>
            </a:r>
            <a:r>
              <a:rPr sz="2250" i="1" spc="277" baseline="-12962" dirty="0">
                <a:latin typeface="Calibri"/>
                <a:cs typeface="Calibri"/>
              </a:rPr>
              <a:t>T</a:t>
            </a:r>
            <a:r>
              <a:rPr sz="2250" i="1" spc="22" baseline="-12962" dirty="0">
                <a:latin typeface="Calibri"/>
                <a:cs typeface="Calibri"/>
              </a:rPr>
              <a:t> </a:t>
            </a:r>
            <a:r>
              <a:rPr sz="2150" spc="145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A11EC26F-FF80-C242-9E45-D041B385DCD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2088" y="3923537"/>
            <a:ext cx="4697123" cy="186739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2D0F22DB-EF1C-4548-8A63-50240BB40F0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6822726"/>
            <a:ext cx="11417300" cy="18669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3378BCDC-7B0A-4942-A5F7-A7620855865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213" y="9085806"/>
            <a:ext cx="74041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25726" y="9103868"/>
            <a:ext cx="4006850" cy="89408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400" b="1" dirty="0">
                <a:latin typeface="Arial"/>
                <a:cs typeface="Arial"/>
              </a:rPr>
              <a:t>Same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objectives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in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Part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spc="-20" dirty="0">
                <a:latin typeface="Arial"/>
                <a:cs typeface="Arial"/>
              </a:rPr>
              <a:t>(1)!</a:t>
            </a:r>
            <a:endParaRPr sz="2400">
              <a:latin typeface="Arial"/>
              <a:cs typeface="Arial"/>
            </a:endParaRPr>
          </a:p>
          <a:p>
            <a:pPr marL="2602230">
              <a:lnSpc>
                <a:spcPct val="100000"/>
              </a:lnSpc>
              <a:spcBef>
                <a:spcPts val="84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40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766945">
              <a:lnSpc>
                <a:spcPct val="100000"/>
              </a:lnSpc>
              <a:spcBef>
                <a:spcPts val="100"/>
              </a:spcBef>
            </a:pPr>
            <a:r>
              <a:rPr dirty="0"/>
              <a:t>Denoising</a:t>
            </a:r>
            <a:r>
              <a:rPr spc="-225" dirty="0"/>
              <a:t> </a:t>
            </a:r>
            <a:r>
              <a:rPr dirty="0"/>
              <a:t>Score</a:t>
            </a:r>
            <a:r>
              <a:rPr spc="-215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23519" y="5752700"/>
            <a:ext cx="10173970" cy="1021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795" indent="-342900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91795" algn="l"/>
              </a:tabLst>
            </a:pPr>
            <a:r>
              <a:rPr sz="2300" dirty="0">
                <a:latin typeface="Trebuchet MS"/>
                <a:cs typeface="Trebuchet MS"/>
              </a:rPr>
              <a:t>Instead,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diffuse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individual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data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points</a:t>
            </a:r>
            <a:r>
              <a:rPr sz="2300" spc="65" dirty="0">
                <a:latin typeface="Trebuchet MS"/>
                <a:cs typeface="Trebuchet MS"/>
              </a:rPr>
              <a:t> </a:t>
            </a:r>
            <a:r>
              <a:rPr sz="3975" b="1" spc="172" baseline="2096" dirty="0">
                <a:latin typeface="Calibri"/>
                <a:cs typeface="Calibri"/>
              </a:rPr>
              <a:t>x</a:t>
            </a:r>
            <a:r>
              <a:rPr sz="2775" spc="172" baseline="-9009" dirty="0">
                <a:latin typeface="Verdana"/>
                <a:cs typeface="Verdana"/>
              </a:rPr>
              <a:t>0</a:t>
            </a:r>
            <a:r>
              <a:rPr sz="2300" spc="114" dirty="0">
                <a:latin typeface="Trebuchet MS"/>
                <a:cs typeface="Trebuchet MS"/>
              </a:rPr>
              <a:t>.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Diffused</a:t>
            </a:r>
            <a:r>
              <a:rPr sz="2300" spc="-30" dirty="0">
                <a:latin typeface="Trebuchet MS"/>
                <a:cs typeface="Trebuchet MS"/>
              </a:rPr>
              <a:t> </a:t>
            </a:r>
            <a:r>
              <a:rPr sz="3675" i="1" spc="254" baseline="2267" dirty="0">
                <a:latin typeface="Cambria"/>
                <a:cs typeface="Cambria"/>
              </a:rPr>
              <a:t>q</a:t>
            </a:r>
            <a:r>
              <a:rPr sz="2550" i="1" spc="254" baseline="-8169" dirty="0">
                <a:latin typeface="Calibri"/>
                <a:cs typeface="Calibri"/>
              </a:rPr>
              <a:t>t</a:t>
            </a:r>
            <a:r>
              <a:rPr sz="3675" spc="254" baseline="2267" dirty="0">
                <a:latin typeface="Calibri"/>
                <a:cs typeface="Calibri"/>
              </a:rPr>
              <a:t>(</a:t>
            </a:r>
            <a:r>
              <a:rPr sz="3675" b="1" spc="254" baseline="2267" dirty="0">
                <a:latin typeface="Calibri"/>
                <a:cs typeface="Calibri"/>
              </a:rPr>
              <a:t>x</a:t>
            </a:r>
            <a:r>
              <a:rPr sz="2550" i="1" spc="254" baseline="-8169" dirty="0">
                <a:latin typeface="Calibri"/>
                <a:cs typeface="Calibri"/>
              </a:rPr>
              <a:t>t</a:t>
            </a:r>
            <a:r>
              <a:rPr sz="3675" i="1" spc="254" baseline="2267" dirty="0">
                <a:latin typeface="Times New Roman"/>
                <a:cs typeface="Times New Roman"/>
              </a:rPr>
              <a:t>|</a:t>
            </a:r>
            <a:r>
              <a:rPr sz="3675" b="1" spc="254" baseline="2267" dirty="0">
                <a:latin typeface="Calibri"/>
                <a:cs typeface="Calibri"/>
              </a:rPr>
              <a:t>x</a:t>
            </a:r>
            <a:r>
              <a:rPr sz="2550" spc="254" baseline="-8169" dirty="0">
                <a:latin typeface="Verdana"/>
                <a:cs typeface="Verdana"/>
              </a:rPr>
              <a:t>0</a:t>
            </a:r>
            <a:r>
              <a:rPr sz="3675" spc="254" baseline="2267" dirty="0">
                <a:latin typeface="Calibri"/>
                <a:cs typeface="Calibri"/>
              </a:rPr>
              <a:t>)</a:t>
            </a:r>
            <a:r>
              <a:rPr sz="3675" spc="-284" baseline="2267" dirty="0">
                <a:latin typeface="Calibri"/>
                <a:cs typeface="Calibri"/>
              </a:rPr>
              <a:t> </a:t>
            </a:r>
            <a:r>
              <a:rPr sz="2400" b="1" i="1" spc="-50" dirty="0">
                <a:latin typeface="Trebuchet MS"/>
                <a:cs typeface="Trebuchet MS"/>
              </a:rPr>
              <a:t>is</a:t>
            </a:r>
            <a:r>
              <a:rPr sz="2400" b="1" i="1" spc="-1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tractable!</a:t>
            </a:r>
            <a:endParaRPr sz="2300">
              <a:latin typeface="Trebuchet MS"/>
              <a:cs typeface="Trebuchet MS"/>
            </a:endParaRPr>
          </a:p>
          <a:p>
            <a:pPr marL="380365" indent="-342265">
              <a:lnSpc>
                <a:spcPct val="100000"/>
              </a:lnSpc>
              <a:spcBef>
                <a:spcPts val="1900"/>
              </a:spcBef>
              <a:buClr>
                <a:srgbClr val="CDCDCD"/>
              </a:buClr>
              <a:buFont typeface="Arial MT"/>
              <a:buChar char="•"/>
              <a:tabLst>
                <a:tab pos="380365" algn="l"/>
              </a:tabLst>
            </a:pPr>
            <a:r>
              <a:rPr sz="2300" b="1" dirty="0">
                <a:latin typeface="Trebuchet MS"/>
                <a:cs typeface="Trebuchet MS"/>
              </a:rPr>
              <a:t>Denoising</a:t>
            </a:r>
            <a:r>
              <a:rPr sz="2300" b="1" spc="8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Score</a:t>
            </a:r>
            <a:r>
              <a:rPr sz="2300" b="1" spc="75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Matching</a:t>
            </a:r>
            <a:r>
              <a:rPr sz="2300" spc="-10" dirty="0">
                <a:latin typeface="Trebuchet MS"/>
                <a:cs typeface="Trebuchet MS"/>
              </a:rPr>
              <a:t>:</a:t>
            </a:r>
            <a:endParaRPr sz="2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66547" y="2824783"/>
            <a:ext cx="5840730" cy="1927225"/>
            <a:chOff x="6366547" y="2824783"/>
            <a:chExt cx="5840730" cy="19272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5598" y="2975724"/>
              <a:ext cx="750401" cy="17567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76072" y="2966199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3" y="1775850"/>
                  </a:moveTo>
                  <a:lnTo>
                    <a:pt x="774793" y="0"/>
                  </a:lnTo>
                  <a:lnTo>
                    <a:pt x="0" y="0"/>
                  </a:lnTo>
                  <a:lnTo>
                    <a:pt x="0" y="1775850"/>
                  </a:lnTo>
                  <a:lnTo>
                    <a:pt x="774793" y="17758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7639" y="2979523"/>
              <a:ext cx="717830" cy="174919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422837" y="2966195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4" y="0"/>
                  </a:moveTo>
                  <a:lnTo>
                    <a:pt x="774794" y="1775850"/>
                  </a:lnTo>
                  <a:lnTo>
                    <a:pt x="0" y="1775850"/>
                  </a:lnTo>
                  <a:lnTo>
                    <a:pt x="0" y="0"/>
                  </a:lnTo>
                  <a:lnTo>
                    <a:pt x="774794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1342" y="2975721"/>
              <a:ext cx="4317878" cy="17568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310882" y="2824783"/>
              <a:ext cx="4029710" cy="142875"/>
            </a:xfrm>
            <a:custGeom>
              <a:avLst/>
              <a:gdLst/>
              <a:ahLst/>
              <a:cxnLst/>
              <a:rect l="l" t="t" r="r" b="b"/>
              <a:pathLst>
                <a:path w="4029709" h="142875">
                  <a:moveTo>
                    <a:pt x="3966532" y="71311"/>
                  </a:moveTo>
                  <a:lnTo>
                    <a:pt x="3894789" y="113160"/>
                  </a:lnTo>
                  <a:lnTo>
                    <a:pt x="3890080" y="117352"/>
                  </a:lnTo>
                  <a:lnTo>
                    <a:pt x="3887435" y="122833"/>
                  </a:lnTo>
                  <a:lnTo>
                    <a:pt x="3887039" y="128906"/>
                  </a:lnTo>
                  <a:lnTo>
                    <a:pt x="3889075" y="134872"/>
                  </a:lnTo>
                  <a:lnTo>
                    <a:pt x="3893266" y="139581"/>
                  </a:lnTo>
                  <a:lnTo>
                    <a:pt x="3898748" y="142225"/>
                  </a:lnTo>
                  <a:lnTo>
                    <a:pt x="3904821" y="142621"/>
                  </a:lnTo>
                  <a:lnTo>
                    <a:pt x="3910787" y="140586"/>
                  </a:lnTo>
                  <a:lnTo>
                    <a:pt x="4002329" y="87186"/>
                  </a:lnTo>
                  <a:lnTo>
                    <a:pt x="3998037" y="87186"/>
                  </a:lnTo>
                  <a:lnTo>
                    <a:pt x="3998037" y="85023"/>
                  </a:lnTo>
                  <a:lnTo>
                    <a:pt x="3990039" y="85023"/>
                  </a:lnTo>
                  <a:lnTo>
                    <a:pt x="3966532" y="71311"/>
                  </a:lnTo>
                  <a:close/>
                </a:path>
                <a:path w="4029709" h="142875">
                  <a:moveTo>
                    <a:pt x="3939318" y="55436"/>
                  </a:moveTo>
                  <a:lnTo>
                    <a:pt x="0" y="55436"/>
                  </a:lnTo>
                  <a:lnTo>
                    <a:pt x="0" y="87186"/>
                  </a:lnTo>
                  <a:lnTo>
                    <a:pt x="3939315" y="87186"/>
                  </a:lnTo>
                  <a:lnTo>
                    <a:pt x="3966530" y="71311"/>
                  </a:lnTo>
                  <a:lnTo>
                    <a:pt x="3939318" y="55436"/>
                  </a:lnTo>
                  <a:close/>
                </a:path>
                <a:path w="4029709" h="142875">
                  <a:moveTo>
                    <a:pt x="4002329" y="55436"/>
                  </a:moveTo>
                  <a:lnTo>
                    <a:pt x="3998037" y="55436"/>
                  </a:lnTo>
                  <a:lnTo>
                    <a:pt x="3998037" y="87186"/>
                  </a:lnTo>
                  <a:lnTo>
                    <a:pt x="4002329" y="87186"/>
                  </a:lnTo>
                  <a:lnTo>
                    <a:pt x="4029543" y="71311"/>
                  </a:lnTo>
                  <a:lnTo>
                    <a:pt x="4002329" y="55436"/>
                  </a:lnTo>
                  <a:close/>
                </a:path>
                <a:path w="4029709" h="142875">
                  <a:moveTo>
                    <a:pt x="3990039" y="57598"/>
                  </a:moveTo>
                  <a:lnTo>
                    <a:pt x="3966532" y="71311"/>
                  </a:lnTo>
                  <a:lnTo>
                    <a:pt x="3990039" y="85023"/>
                  </a:lnTo>
                  <a:lnTo>
                    <a:pt x="3990039" y="57598"/>
                  </a:lnTo>
                  <a:close/>
                </a:path>
                <a:path w="4029709" h="142875">
                  <a:moveTo>
                    <a:pt x="3998037" y="57598"/>
                  </a:moveTo>
                  <a:lnTo>
                    <a:pt x="3990039" y="57598"/>
                  </a:lnTo>
                  <a:lnTo>
                    <a:pt x="3990039" y="85023"/>
                  </a:lnTo>
                  <a:lnTo>
                    <a:pt x="3998037" y="85023"/>
                  </a:lnTo>
                  <a:lnTo>
                    <a:pt x="3998037" y="57598"/>
                  </a:lnTo>
                  <a:close/>
                </a:path>
                <a:path w="4029709" h="142875">
                  <a:moveTo>
                    <a:pt x="3904821" y="0"/>
                  </a:moveTo>
                  <a:lnTo>
                    <a:pt x="3898748" y="396"/>
                  </a:lnTo>
                  <a:lnTo>
                    <a:pt x="3893266" y="3040"/>
                  </a:lnTo>
                  <a:lnTo>
                    <a:pt x="3889075" y="7749"/>
                  </a:lnTo>
                  <a:lnTo>
                    <a:pt x="3887039" y="13715"/>
                  </a:lnTo>
                  <a:lnTo>
                    <a:pt x="3887435" y="19788"/>
                  </a:lnTo>
                  <a:lnTo>
                    <a:pt x="3890080" y="25269"/>
                  </a:lnTo>
                  <a:lnTo>
                    <a:pt x="3894789" y="29461"/>
                  </a:lnTo>
                  <a:lnTo>
                    <a:pt x="3966532" y="71311"/>
                  </a:lnTo>
                  <a:lnTo>
                    <a:pt x="3990039" y="57598"/>
                  </a:lnTo>
                  <a:lnTo>
                    <a:pt x="3998037" y="57598"/>
                  </a:lnTo>
                  <a:lnTo>
                    <a:pt x="3998037" y="55436"/>
                  </a:lnTo>
                  <a:lnTo>
                    <a:pt x="4002329" y="55436"/>
                  </a:lnTo>
                  <a:lnTo>
                    <a:pt x="3910787" y="2035"/>
                  </a:lnTo>
                  <a:lnTo>
                    <a:pt x="3904821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604592" y="2923468"/>
            <a:ext cx="638175" cy="302260"/>
          </a:xfrm>
          <a:custGeom>
            <a:avLst/>
            <a:gdLst/>
            <a:ahLst/>
            <a:cxnLst/>
            <a:rect l="l" t="t" r="r" b="b"/>
            <a:pathLst>
              <a:path w="638175" h="302260">
                <a:moveTo>
                  <a:pt x="487473" y="255288"/>
                </a:moveTo>
                <a:lnTo>
                  <a:pt x="467489" y="301992"/>
                </a:lnTo>
                <a:lnTo>
                  <a:pt x="637578" y="291887"/>
                </a:lnTo>
                <a:lnTo>
                  <a:pt x="615037" y="265280"/>
                </a:lnTo>
                <a:lnTo>
                  <a:pt x="510825" y="265280"/>
                </a:lnTo>
                <a:lnTo>
                  <a:pt x="487473" y="255288"/>
                </a:lnTo>
                <a:close/>
              </a:path>
              <a:path w="638175" h="302260">
                <a:moveTo>
                  <a:pt x="507458" y="208583"/>
                </a:moveTo>
                <a:lnTo>
                  <a:pt x="487473" y="255288"/>
                </a:lnTo>
                <a:lnTo>
                  <a:pt x="510825" y="265280"/>
                </a:lnTo>
                <a:lnTo>
                  <a:pt x="530810" y="218575"/>
                </a:lnTo>
                <a:lnTo>
                  <a:pt x="507458" y="208583"/>
                </a:lnTo>
                <a:close/>
              </a:path>
              <a:path w="638175" h="302260">
                <a:moveTo>
                  <a:pt x="527442" y="161879"/>
                </a:moveTo>
                <a:lnTo>
                  <a:pt x="507458" y="208583"/>
                </a:lnTo>
                <a:lnTo>
                  <a:pt x="530810" y="218575"/>
                </a:lnTo>
                <a:lnTo>
                  <a:pt x="510825" y="265280"/>
                </a:lnTo>
                <a:lnTo>
                  <a:pt x="615037" y="265280"/>
                </a:lnTo>
                <a:lnTo>
                  <a:pt x="527442" y="161879"/>
                </a:lnTo>
                <a:close/>
              </a:path>
              <a:path w="638175" h="302260">
                <a:moveTo>
                  <a:pt x="19984" y="0"/>
                </a:moveTo>
                <a:lnTo>
                  <a:pt x="0" y="46704"/>
                </a:lnTo>
                <a:lnTo>
                  <a:pt x="487473" y="255288"/>
                </a:lnTo>
                <a:lnTo>
                  <a:pt x="507458" y="208583"/>
                </a:lnTo>
                <a:lnTo>
                  <a:pt x="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585055" y="3767628"/>
            <a:ext cx="614045" cy="156845"/>
          </a:xfrm>
          <a:custGeom>
            <a:avLst/>
            <a:gdLst/>
            <a:ahLst/>
            <a:cxnLst/>
            <a:rect l="l" t="t" r="r" b="b"/>
            <a:pathLst>
              <a:path w="614045" h="156845">
                <a:moveTo>
                  <a:pt x="459185" y="106080"/>
                </a:moveTo>
                <a:lnTo>
                  <a:pt x="453073" y="156510"/>
                </a:lnTo>
                <a:lnTo>
                  <a:pt x="585714" y="109136"/>
                </a:lnTo>
                <a:lnTo>
                  <a:pt x="484400" y="109136"/>
                </a:lnTo>
                <a:lnTo>
                  <a:pt x="459185" y="106080"/>
                </a:lnTo>
                <a:close/>
              </a:path>
              <a:path w="614045" h="156845">
                <a:moveTo>
                  <a:pt x="465297" y="55648"/>
                </a:moveTo>
                <a:lnTo>
                  <a:pt x="459185" y="106080"/>
                </a:lnTo>
                <a:lnTo>
                  <a:pt x="484400" y="109136"/>
                </a:lnTo>
                <a:lnTo>
                  <a:pt x="490512" y="58704"/>
                </a:lnTo>
                <a:lnTo>
                  <a:pt x="465297" y="55648"/>
                </a:lnTo>
                <a:close/>
              </a:path>
              <a:path w="614045" h="156845">
                <a:moveTo>
                  <a:pt x="471408" y="5218"/>
                </a:moveTo>
                <a:lnTo>
                  <a:pt x="465297" y="55648"/>
                </a:lnTo>
                <a:lnTo>
                  <a:pt x="490512" y="58704"/>
                </a:lnTo>
                <a:lnTo>
                  <a:pt x="484400" y="109136"/>
                </a:lnTo>
                <a:lnTo>
                  <a:pt x="585714" y="109136"/>
                </a:lnTo>
                <a:lnTo>
                  <a:pt x="613534" y="99199"/>
                </a:lnTo>
                <a:lnTo>
                  <a:pt x="471408" y="5218"/>
                </a:lnTo>
                <a:close/>
              </a:path>
              <a:path w="614045" h="156845">
                <a:moveTo>
                  <a:pt x="6111" y="0"/>
                </a:moveTo>
                <a:lnTo>
                  <a:pt x="0" y="50431"/>
                </a:lnTo>
                <a:lnTo>
                  <a:pt x="459185" y="106080"/>
                </a:lnTo>
                <a:lnTo>
                  <a:pt x="465297" y="55648"/>
                </a:lnTo>
                <a:lnTo>
                  <a:pt x="6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608744" y="4437210"/>
            <a:ext cx="614680" cy="207645"/>
          </a:xfrm>
          <a:custGeom>
            <a:avLst/>
            <a:gdLst/>
            <a:ahLst/>
            <a:cxnLst/>
            <a:rect l="l" t="t" r="r" b="b"/>
            <a:pathLst>
              <a:path w="614679" h="207645">
                <a:moveTo>
                  <a:pt x="460115" y="49438"/>
                </a:moveTo>
                <a:lnTo>
                  <a:pt x="0" y="158156"/>
                </a:lnTo>
                <a:lnTo>
                  <a:pt x="11681" y="207595"/>
                </a:lnTo>
                <a:lnTo>
                  <a:pt x="471797" y="98878"/>
                </a:lnTo>
                <a:lnTo>
                  <a:pt x="460115" y="49438"/>
                </a:lnTo>
                <a:close/>
              </a:path>
              <a:path w="614679" h="207645">
                <a:moveTo>
                  <a:pt x="608901" y="43597"/>
                </a:moveTo>
                <a:lnTo>
                  <a:pt x="484835" y="43597"/>
                </a:lnTo>
                <a:lnTo>
                  <a:pt x="496516" y="93037"/>
                </a:lnTo>
                <a:lnTo>
                  <a:pt x="471797" y="98878"/>
                </a:lnTo>
                <a:lnTo>
                  <a:pt x="483478" y="148316"/>
                </a:lnTo>
                <a:lnTo>
                  <a:pt x="608901" y="43597"/>
                </a:lnTo>
                <a:close/>
              </a:path>
              <a:path w="614679" h="207645">
                <a:moveTo>
                  <a:pt x="484835" y="43597"/>
                </a:moveTo>
                <a:lnTo>
                  <a:pt x="460115" y="49438"/>
                </a:lnTo>
                <a:lnTo>
                  <a:pt x="471797" y="98878"/>
                </a:lnTo>
                <a:lnTo>
                  <a:pt x="496516" y="93037"/>
                </a:lnTo>
                <a:lnTo>
                  <a:pt x="484835" y="43597"/>
                </a:lnTo>
                <a:close/>
              </a:path>
              <a:path w="614679" h="207645">
                <a:moveTo>
                  <a:pt x="448434" y="0"/>
                </a:moveTo>
                <a:lnTo>
                  <a:pt x="460115" y="49438"/>
                </a:lnTo>
                <a:lnTo>
                  <a:pt x="484835" y="43597"/>
                </a:lnTo>
                <a:lnTo>
                  <a:pt x="608901" y="43597"/>
                </a:lnTo>
                <a:lnTo>
                  <a:pt x="614272" y="39113"/>
                </a:lnTo>
                <a:lnTo>
                  <a:pt x="448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375115" y="3469060"/>
            <a:ext cx="619125" cy="288925"/>
          </a:xfrm>
          <a:custGeom>
            <a:avLst/>
            <a:gdLst/>
            <a:ahLst/>
            <a:cxnLst/>
            <a:rect l="l" t="t" r="r" b="b"/>
            <a:pathLst>
              <a:path w="619125" h="288925">
                <a:moveTo>
                  <a:pt x="111433" y="148095"/>
                </a:moveTo>
                <a:lnTo>
                  <a:pt x="0" y="276994"/>
                </a:lnTo>
                <a:lnTo>
                  <a:pt x="169978" y="288803"/>
                </a:lnTo>
                <a:lnTo>
                  <a:pt x="154523" y="251658"/>
                </a:lnTo>
                <a:lnTo>
                  <a:pt x="127012" y="251658"/>
                </a:lnTo>
                <a:lnTo>
                  <a:pt x="107497" y="204755"/>
                </a:lnTo>
                <a:lnTo>
                  <a:pt x="130948" y="194998"/>
                </a:lnTo>
                <a:lnTo>
                  <a:pt x="111433" y="148095"/>
                </a:lnTo>
                <a:close/>
              </a:path>
              <a:path w="619125" h="288925">
                <a:moveTo>
                  <a:pt x="130948" y="194998"/>
                </a:moveTo>
                <a:lnTo>
                  <a:pt x="107497" y="204755"/>
                </a:lnTo>
                <a:lnTo>
                  <a:pt x="127012" y="251658"/>
                </a:lnTo>
                <a:lnTo>
                  <a:pt x="150463" y="241900"/>
                </a:lnTo>
                <a:lnTo>
                  <a:pt x="130948" y="194998"/>
                </a:lnTo>
                <a:close/>
              </a:path>
              <a:path w="619125" h="288925">
                <a:moveTo>
                  <a:pt x="150463" y="241900"/>
                </a:moveTo>
                <a:lnTo>
                  <a:pt x="127012" y="251658"/>
                </a:lnTo>
                <a:lnTo>
                  <a:pt x="154523" y="251658"/>
                </a:lnTo>
                <a:lnTo>
                  <a:pt x="150463" y="241900"/>
                </a:lnTo>
                <a:close/>
              </a:path>
              <a:path w="619125" h="288925">
                <a:moveTo>
                  <a:pt x="599611" y="0"/>
                </a:moveTo>
                <a:lnTo>
                  <a:pt x="130948" y="194998"/>
                </a:lnTo>
                <a:lnTo>
                  <a:pt x="150463" y="241900"/>
                </a:lnTo>
                <a:lnTo>
                  <a:pt x="619118" y="46902"/>
                </a:lnTo>
                <a:lnTo>
                  <a:pt x="5996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7244253" y="4817905"/>
            <a:ext cx="4107815" cy="556895"/>
            <a:chOff x="7244253" y="4817905"/>
            <a:chExt cx="4107815" cy="55689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82251" y="4817905"/>
              <a:ext cx="569267" cy="55662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44253" y="4817905"/>
              <a:ext cx="569267" cy="55662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33921" y="4817905"/>
              <a:ext cx="569267" cy="5566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423587" y="4817905"/>
              <a:ext cx="569267" cy="55662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013253" y="4817905"/>
              <a:ext cx="569267" cy="55662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602919" y="4817905"/>
              <a:ext cx="569267" cy="55662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192586" y="4817905"/>
              <a:ext cx="569267" cy="55662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640571" y="2581147"/>
            <a:ext cx="3336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Forward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(fixed)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127279" y="3012205"/>
            <a:ext cx="664465" cy="64970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810337" y="2571239"/>
            <a:ext cx="664465" cy="64970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736639" y="3473940"/>
            <a:ext cx="664465" cy="6512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39690" y="4361111"/>
            <a:ext cx="650618" cy="636168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7385072" y="5261648"/>
            <a:ext cx="19431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b="1" spc="260" dirty="0">
                <a:latin typeface="Calibri"/>
                <a:cs typeface="Calibri"/>
              </a:rPr>
              <a:t>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33565" y="5255362"/>
            <a:ext cx="201930" cy="3740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250" b="1" spc="290" dirty="0">
                <a:latin typeface="Calibri"/>
                <a:cs typeface="Calibri"/>
              </a:rPr>
              <a:t>x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109802" y="5386041"/>
            <a:ext cx="16256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i="1" spc="250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53443" y="5261649"/>
            <a:ext cx="194310" cy="360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200" b="1" spc="260" dirty="0">
                <a:latin typeface="Calibri"/>
                <a:cs typeface="Calibri"/>
              </a:rPr>
              <a:t>x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554158" y="5387025"/>
            <a:ext cx="1878330" cy="2597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780539" algn="l"/>
              </a:tabLst>
            </a:pPr>
            <a:r>
              <a:rPr sz="1500" spc="-50" dirty="0">
                <a:latin typeface="Verdana"/>
                <a:cs typeface="Verdana"/>
              </a:rPr>
              <a:t>0</a:t>
            </a:r>
            <a:r>
              <a:rPr sz="1500" dirty="0">
                <a:latin typeface="Verdana"/>
                <a:cs typeface="Verdana"/>
              </a:rPr>
              <a:t>	</a:t>
            </a:r>
            <a:r>
              <a:rPr sz="1500" i="1" spc="110" dirty="0">
                <a:latin typeface="Calibri"/>
                <a:cs typeface="Calibri"/>
              </a:rPr>
              <a:t>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8295119" y="5220715"/>
            <a:ext cx="20015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8000" algn="l"/>
              </a:tabLst>
            </a:pPr>
            <a:r>
              <a:rPr sz="2400" spc="-50" dirty="0">
                <a:latin typeface="Calibri"/>
                <a:cs typeface="Calibri"/>
              </a:rPr>
              <a:t>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50675" y="9268459"/>
            <a:ext cx="3802379" cy="84581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Vincent,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in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Neural</a:t>
            </a:r>
            <a:r>
              <a:rPr sz="1800" i="1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Computation,</a:t>
            </a:r>
            <a:r>
              <a:rPr sz="1800" i="1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4"/>
              </a:rPr>
              <a:t> </a:t>
            </a:r>
            <a:r>
              <a:rPr sz="18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4"/>
              </a:rPr>
              <a:t>2011</a:t>
            </a:r>
            <a:r>
              <a:rPr sz="1800" spc="-25" dirty="0">
                <a:solidFill>
                  <a:srgbClr val="0071C5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Song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and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Ermon,</a:t>
            </a:r>
            <a:r>
              <a:rPr sz="18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NeurIPS,</a:t>
            </a:r>
            <a:r>
              <a:rPr sz="1800" i="1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5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5"/>
              </a:rPr>
              <a:t>2019</a:t>
            </a:r>
            <a:r>
              <a:rPr sz="1800" spc="-20" dirty="0">
                <a:solidFill>
                  <a:srgbClr val="0071C5"/>
                </a:solidFill>
                <a:latin typeface="Arial MT"/>
                <a:cs typeface="Arial MT"/>
              </a:rPr>
              <a:t> 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Song</a:t>
            </a:r>
            <a:r>
              <a:rPr sz="1800" u="heavy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et</a:t>
            </a:r>
            <a:r>
              <a:rPr sz="1800" u="heavy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al.</a:t>
            </a:r>
            <a:r>
              <a:rPr sz="1800" u="heavy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i="1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6"/>
              </a:rPr>
              <a:t>ICLR</a:t>
            </a:r>
            <a:r>
              <a:rPr sz="1800" u="heavy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,</a:t>
            </a:r>
            <a:r>
              <a:rPr sz="1800" u="heavy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heavy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6718723" y="5276024"/>
            <a:ext cx="101600" cy="27178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5"/>
              </a:spcBef>
            </a:pPr>
            <a:r>
              <a:rPr sz="1600" i="1" spc="105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499873" y="5115749"/>
            <a:ext cx="3640454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sz="2300" i="1" spc="160" dirty="0">
                <a:latin typeface="Cambria"/>
                <a:cs typeface="Cambria"/>
              </a:rPr>
              <a:t>q</a:t>
            </a:r>
            <a:r>
              <a:rPr sz="2400" i="1" spc="240" baseline="-12152" dirty="0">
                <a:latin typeface="Calibri"/>
                <a:cs typeface="Calibri"/>
              </a:rPr>
              <a:t>t</a:t>
            </a:r>
            <a:r>
              <a:rPr sz="2300" spc="160" dirty="0">
                <a:latin typeface="Calibri"/>
                <a:cs typeface="Calibri"/>
              </a:rPr>
              <a:t>(</a:t>
            </a:r>
            <a:r>
              <a:rPr sz="2300" b="1" spc="160" dirty="0">
                <a:latin typeface="Calibri"/>
                <a:cs typeface="Calibri"/>
              </a:rPr>
              <a:t>x</a:t>
            </a:r>
            <a:r>
              <a:rPr sz="2400" i="1" spc="240" baseline="-12152" dirty="0">
                <a:latin typeface="Calibri"/>
                <a:cs typeface="Calibri"/>
              </a:rPr>
              <a:t>t</a:t>
            </a:r>
            <a:r>
              <a:rPr sz="2300" i="1" spc="160" dirty="0">
                <a:latin typeface="Arial"/>
                <a:cs typeface="Arial"/>
              </a:rPr>
              <a:t>|</a:t>
            </a:r>
            <a:r>
              <a:rPr sz="2300" b="1" spc="160" dirty="0">
                <a:latin typeface="Calibri"/>
                <a:cs typeface="Calibri"/>
              </a:rPr>
              <a:t>x</a:t>
            </a:r>
            <a:r>
              <a:rPr sz="2400" spc="240" baseline="-12152" dirty="0">
                <a:latin typeface="Verdana"/>
                <a:cs typeface="Verdana"/>
              </a:rPr>
              <a:t>0</a:t>
            </a:r>
            <a:r>
              <a:rPr sz="2300" spc="160" dirty="0">
                <a:latin typeface="Calibri"/>
                <a:cs typeface="Calibri"/>
              </a:rPr>
              <a:t>)</a:t>
            </a:r>
            <a:r>
              <a:rPr sz="2300" spc="125" dirty="0">
                <a:latin typeface="Calibri"/>
                <a:cs typeface="Calibri"/>
              </a:rPr>
              <a:t> </a:t>
            </a:r>
            <a:r>
              <a:rPr sz="2300" spc="630" dirty="0">
                <a:latin typeface="Calibri"/>
                <a:cs typeface="Calibri"/>
              </a:rPr>
              <a:t>=</a:t>
            </a:r>
            <a:r>
              <a:rPr sz="2300" spc="125" dirty="0">
                <a:latin typeface="Calibri"/>
                <a:cs typeface="Calibri"/>
              </a:rPr>
              <a:t> </a:t>
            </a:r>
            <a:r>
              <a:rPr sz="2300" i="1" spc="215" dirty="0">
                <a:latin typeface="Arial"/>
                <a:cs typeface="Arial"/>
              </a:rPr>
              <a:t>N</a:t>
            </a:r>
            <a:r>
              <a:rPr sz="2300" i="1" spc="-295" dirty="0">
                <a:latin typeface="Arial"/>
                <a:cs typeface="Arial"/>
              </a:rPr>
              <a:t> </a:t>
            </a:r>
            <a:r>
              <a:rPr sz="2300" spc="200" dirty="0">
                <a:latin typeface="Calibri"/>
                <a:cs typeface="Calibri"/>
              </a:rPr>
              <a:t>(</a:t>
            </a:r>
            <a:r>
              <a:rPr sz="2300" b="1" spc="200" dirty="0">
                <a:latin typeface="Calibri"/>
                <a:cs typeface="Calibri"/>
              </a:rPr>
              <a:t>x</a:t>
            </a:r>
            <a:r>
              <a:rPr sz="2400" i="1" spc="300" baseline="-12152" dirty="0">
                <a:latin typeface="Calibri"/>
                <a:cs typeface="Calibri"/>
              </a:rPr>
              <a:t>t</a:t>
            </a:r>
            <a:r>
              <a:rPr sz="2300" spc="200" dirty="0">
                <a:latin typeface="Calibri"/>
                <a:cs typeface="Calibri"/>
              </a:rPr>
              <a:t>;</a:t>
            </a:r>
            <a:r>
              <a:rPr sz="2300" spc="-130" dirty="0">
                <a:latin typeface="Calibri"/>
                <a:cs typeface="Calibri"/>
              </a:rPr>
              <a:t> </a:t>
            </a:r>
            <a:r>
              <a:rPr sz="2300" i="1" spc="145" dirty="0">
                <a:latin typeface="Cambria"/>
                <a:cs typeface="Cambria"/>
              </a:rPr>
              <a:t>ц</a:t>
            </a:r>
            <a:r>
              <a:rPr sz="2400" i="1" spc="217" baseline="-12152" dirty="0">
                <a:latin typeface="Calibri"/>
                <a:cs typeface="Calibri"/>
              </a:rPr>
              <a:t>t</a:t>
            </a:r>
            <a:r>
              <a:rPr sz="2300" b="1" spc="145" dirty="0">
                <a:latin typeface="Calibri"/>
                <a:cs typeface="Calibri"/>
              </a:rPr>
              <a:t>x</a:t>
            </a:r>
            <a:r>
              <a:rPr sz="2400" spc="217" baseline="-12152" dirty="0">
                <a:latin typeface="Verdana"/>
                <a:cs typeface="Verdana"/>
              </a:rPr>
              <a:t>0</a:t>
            </a:r>
            <a:r>
              <a:rPr sz="2300" i="1" spc="145" dirty="0">
                <a:latin typeface="Cambria"/>
                <a:cs typeface="Cambria"/>
              </a:rPr>
              <a:t>,</a:t>
            </a:r>
            <a:r>
              <a:rPr sz="2300" i="1" spc="-114" dirty="0">
                <a:latin typeface="Cambria"/>
                <a:cs typeface="Cambria"/>
              </a:rPr>
              <a:t> </a:t>
            </a:r>
            <a:r>
              <a:rPr sz="2300" i="1" spc="155" dirty="0">
                <a:latin typeface="Cambria"/>
                <a:cs typeface="Cambria"/>
              </a:rPr>
              <a:t>σ</a:t>
            </a:r>
            <a:r>
              <a:rPr sz="2400" spc="232" baseline="32986" dirty="0">
                <a:latin typeface="Verdana"/>
                <a:cs typeface="Verdana"/>
              </a:rPr>
              <a:t>2</a:t>
            </a:r>
            <a:r>
              <a:rPr sz="2300" b="1" spc="155" dirty="0">
                <a:latin typeface="Calibri"/>
                <a:cs typeface="Calibri"/>
              </a:rPr>
              <a:t>I</a:t>
            </a:r>
            <a:r>
              <a:rPr sz="2300" spc="155" dirty="0">
                <a:latin typeface="Calibri"/>
                <a:cs typeface="Calibri"/>
              </a:rPr>
              <a:t>)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14557057" y="4784676"/>
            <a:ext cx="144145" cy="0"/>
          </a:xfrm>
          <a:custGeom>
            <a:avLst/>
            <a:gdLst/>
            <a:ahLst/>
            <a:cxnLst/>
            <a:rect l="l" t="t" r="r" b="b"/>
            <a:pathLst>
              <a:path w="144144">
                <a:moveTo>
                  <a:pt x="0" y="0"/>
                </a:moveTo>
                <a:lnTo>
                  <a:pt x="144096" y="0"/>
                </a:lnTo>
              </a:path>
            </a:pathLst>
          </a:custGeom>
          <a:ln w="115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14557061" y="4753525"/>
            <a:ext cx="156845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250" spc="-50" dirty="0">
                <a:latin typeface="Calibri"/>
                <a:cs typeface="Calibri"/>
              </a:rPr>
              <a:t>2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812538" y="4685507"/>
            <a:ext cx="1704339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1604010" algn="l"/>
              </a:tabLst>
            </a:pPr>
            <a:r>
              <a:rPr sz="1550" i="1" spc="105" dirty="0">
                <a:latin typeface="Calibri"/>
                <a:cs typeface="Calibri"/>
              </a:rPr>
              <a:t>t</a:t>
            </a:r>
            <a:r>
              <a:rPr sz="1550" i="1" dirty="0">
                <a:latin typeface="Calibri"/>
                <a:cs typeface="Calibri"/>
              </a:rPr>
              <a:t>	</a:t>
            </a:r>
            <a:r>
              <a:rPr sz="1550" i="1" spc="105" dirty="0">
                <a:latin typeface="Calibri"/>
                <a:cs typeface="Calibri"/>
              </a:rPr>
              <a:t>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16471315" y="4590474"/>
            <a:ext cx="506730" cy="0"/>
          </a:xfrm>
          <a:custGeom>
            <a:avLst/>
            <a:gdLst/>
            <a:ahLst/>
            <a:cxnLst/>
            <a:rect l="l" t="t" r="r" b="b"/>
            <a:pathLst>
              <a:path w="506730">
                <a:moveTo>
                  <a:pt x="0" y="0"/>
                </a:moveTo>
                <a:lnTo>
                  <a:pt x="506465" y="0"/>
                </a:lnTo>
              </a:path>
            </a:pathLst>
          </a:custGeom>
          <a:ln w="115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13452107" y="4555822"/>
            <a:ext cx="397891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20"/>
              </a:spcBef>
              <a:tabLst>
                <a:tab pos="541655" algn="l"/>
                <a:tab pos="2113915" algn="l"/>
              </a:tabLst>
            </a:pPr>
            <a:r>
              <a:rPr sz="2250" spc="175" dirty="0">
                <a:latin typeface="Calibri"/>
                <a:cs typeface="Calibri"/>
              </a:rPr>
              <a:t>d</a:t>
            </a:r>
            <a:r>
              <a:rPr sz="2250" b="1" spc="175" dirty="0">
                <a:latin typeface="Calibri"/>
                <a:cs typeface="Calibri"/>
              </a:rPr>
              <a:t>x</a:t>
            </a:r>
            <a:r>
              <a:rPr sz="2250" b="1" dirty="0">
                <a:latin typeface="Calibri"/>
                <a:cs typeface="Calibri"/>
              </a:rPr>
              <a:t>	</a:t>
            </a:r>
            <a:r>
              <a:rPr sz="2250" spc="630" dirty="0">
                <a:latin typeface="Calibri"/>
                <a:cs typeface="Calibri"/>
              </a:rPr>
              <a:t>=</a:t>
            </a:r>
            <a:r>
              <a:rPr sz="2250" spc="120" dirty="0">
                <a:latin typeface="Calibri"/>
                <a:cs typeface="Calibri"/>
              </a:rPr>
              <a:t> </a:t>
            </a:r>
            <a:r>
              <a:rPr sz="2250" i="1" spc="-495" dirty="0">
                <a:latin typeface="Arial"/>
                <a:cs typeface="Arial"/>
              </a:rPr>
              <a:t>—</a:t>
            </a:r>
            <a:r>
              <a:rPr sz="2250" i="1" spc="-350" dirty="0">
                <a:latin typeface="Arial"/>
                <a:cs typeface="Arial"/>
              </a:rPr>
              <a:t> </a:t>
            </a:r>
            <a:r>
              <a:rPr sz="3375" spc="-30" baseline="38271" dirty="0">
                <a:latin typeface="Calibri"/>
                <a:cs typeface="Calibri"/>
              </a:rPr>
              <a:t>1</a:t>
            </a:r>
            <a:r>
              <a:rPr sz="3375" spc="-359" baseline="38271" dirty="0">
                <a:latin typeface="Calibri"/>
                <a:cs typeface="Calibri"/>
              </a:rPr>
              <a:t> </a:t>
            </a:r>
            <a:r>
              <a:rPr sz="2250" i="1" spc="180" dirty="0">
                <a:latin typeface="Cambria"/>
                <a:cs typeface="Cambria"/>
              </a:rPr>
              <a:t>β</a:t>
            </a:r>
            <a:r>
              <a:rPr sz="2250" spc="180" dirty="0">
                <a:latin typeface="Calibri"/>
                <a:cs typeface="Calibri"/>
              </a:rPr>
              <a:t>(</a:t>
            </a:r>
            <a:r>
              <a:rPr sz="2250" i="1" spc="180" dirty="0">
                <a:latin typeface="Cambria"/>
                <a:cs typeface="Cambria"/>
              </a:rPr>
              <a:t>t</a:t>
            </a:r>
            <a:r>
              <a:rPr sz="2250" spc="180" dirty="0">
                <a:latin typeface="Calibri"/>
                <a:cs typeface="Calibri"/>
              </a:rPr>
              <a:t>)</a:t>
            </a:r>
            <a:r>
              <a:rPr sz="2250" b="1" spc="180" dirty="0">
                <a:latin typeface="Calibri"/>
                <a:cs typeface="Calibri"/>
              </a:rPr>
              <a:t>x</a:t>
            </a:r>
            <a:r>
              <a:rPr sz="2250" b="1" dirty="0">
                <a:latin typeface="Calibri"/>
                <a:cs typeface="Calibri"/>
              </a:rPr>
              <a:t>	</a:t>
            </a:r>
            <a:r>
              <a:rPr sz="2250" spc="55" dirty="0">
                <a:latin typeface="Calibri"/>
                <a:cs typeface="Calibri"/>
              </a:rPr>
              <a:t>d</a:t>
            </a:r>
            <a:r>
              <a:rPr sz="2250" i="1" spc="55" dirty="0">
                <a:latin typeface="Cambria"/>
                <a:cs typeface="Cambria"/>
              </a:rPr>
              <a:t>t</a:t>
            </a:r>
            <a:r>
              <a:rPr sz="2250" i="1" spc="5" dirty="0">
                <a:latin typeface="Cambria"/>
                <a:cs typeface="Cambria"/>
              </a:rPr>
              <a:t> </a:t>
            </a:r>
            <a:r>
              <a:rPr sz="2250" spc="630" dirty="0">
                <a:latin typeface="Calibri"/>
                <a:cs typeface="Calibri"/>
              </a:rPr>
              <a:t>+</a:t>
            </a:r>
            <a:r>
              <a:rPr sz="2250" dirty="0">
                <a:latin typeface="Calibri"/>
                <a:cs typeface="Calibri"/>
              </a:rPr>
              <a:t> </a:t>
            </a:r>
            <a:r>
              <a:rPr sz="3375" spc="465" baseline="50617" dirty="0">
                <a:latin typeface="Segoe UI Symbol"/>
                <a:cs typeface="Segoe UI Symbol"/>
              </a:rPr>
              <a:t>p</a:t>
            </a:r>
            <a:r>
              <a:rPr sz="2250" i="1" spc="310" dirty="0">
                <a:latin typeface="Cambria"/>
                <a:cs typeface="Cambria"/>
              </a:rPr>
              <a:t>β</a:t>
            </a:r>
            <a:r>
              <a:rPr sz="2250" spc="310" dirty="0">
                <a:latin typeface="Calibri"/>
                <a:cs typeface="Calibri"/>
              </a:rPr>
              <a:t>(</a:t>
            </a:r>
            <a:r>
              <a:rPr sz="2250" i="1" spc="310" dirty="0">
                <a:latin typeface="Cambria"/>
                <a:cs typeface="Cambria"/>
              </a:rPr>
              <a:t>t</a:t>
            </a:r>
            <a:r>
              <a:rPr sz="2250" spc="310" dirty="0">
                <a:latin typeface="Calibri"/>
                <a:cs typeface="Calibri"/>
              </a:rPr>
              <a:t>)</a:t>
            </a:r>
            <a:r>
              <a:rPr sz="2250" spc="-125" dirty="0">
                <a:latin typeface="Calibri"/>
                <a:cs typeface="Calibri"/>
              </a:rPr>
              <a:t> </a:t>
            </a:r>
            <a:r>
              <a:rPr sz="2250" spc="265" dirty="0">
                <a:latin typeface="Calibri"/>
                <a:cs typeface="Calibri"/>
              </a:rPr>
              <a:t>d</a:t>
            </a:r>
            <a:r>
              <a:rPr sz="2250" b="1" i="1" spc="265" dirty="0">
                <a:latin typeface="Verdana"/>
                <a:cs typeface="Verdana"/>
              </a:rPr>
              <a:t>r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403502" y="4685507"/>
            <a:ext cx="99695" cy="2679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sz="1550" i="1" spc="105" dirty="0">
                <a:latin typeface="Calibri"/>
                <a:cs typeface="Calibri"/>
              </a:rPr>
              <a:t>t</a:t>
            </a:r>
            <a:endParaRPr sz="1550">
              <a:latin typeface="Calibri"/>
              <a:cs typeface="Calibr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3933309" y="4098035"/>
            <a:ext cx="311404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“Variance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Preserving”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SDE: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3127279" y="3996625"/>
            <a:ext cx="5003165" cy="1851025"/>
          </a:xfrm>
          <a:custGeom>
            <a:avLst/>
            <a:gdLst/>
            <a:ahLst/>
            <a:cxnLst/>
            <a:rect l="l" t="t" r="r" b="b"/>
            <a:pathLst>
              <a:path w="5003165" h="1851025">
                <a:moveTo>
                  <a:pt x="0" y="0"/>
                </a:moveTo>
                <a:lnTo>
                  <a:pt x="5002774" y="0"/>
                </a:lnTo>
                <a:lnTo>
                  <a:pt x="5002774" y="1850706"/>
                </a:lnTo>
                <a:lnTo>
                  <a:pt x="0" y="1850706"/>
                </a:lnTo>
                <a:lnTo>
                  <a:pt x="0" y="0"/>
                </a:lnTo>
                <a:close/>
              </a:path>
            </a:pathLst>
          </a:custGeom>
          <a:ln w="4445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6405589" y="4723566"/>
            <a:ext cx="720090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20" dirty="0">
                <a:latin typeface="Cambria"/>
                <a:cs typeface="Cambria"/>
              </a:rPr>
              <a:t>q</a:t>
            </a:r>
            <a:r>
              <a:rPr sz="2150" spc="120" dirty="0">
                <a:latin typeface="Calibri"/>
                <a:cs typeface="Calibri"/>
              </a:rPr>
              <a:t>(</a:t>
            </a:r>
            <a:r>
              <a:rPr sz="2150" b="1" spc="120" dirty="0">
                <a:latin typeface="Calibri"/>
                <a:cs typeface="Calibri"/>
              </a:rPr>
              <a:t>x</a:t>
            </a:r>
            <a:r>
              <a:rPr sz="2250" spc="179" baseline="-12962" dirty="0">
                <a:latin typeface="Verdana"/>
                <a:cs typeface="Verdana"/>
              </a:rPr>
              <a:t>0</a:t>
            </a:r>
            <a:r>
              <a:rPr sz="2150" spc="12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431927" y="4723673"/>
            <a:ext cx="770255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85" dirty="0">
                <a:latin typeface="Cambria"/>
                <a:cs typeface="Cambria"/>
              </a:rPr>
              <a:t>q</a:t>
            </a:r>
            <a:r>
              <a:rPr sz="2150" spc="185" dirty="0">
                <a:latin typeface="Calibri"/>
                <a:cs typeface="Calibri"/>
              </a:rPr>
              <a:t>(</a:t>
            </a:r>
            <a:r>
              <a:rPr sz="2150" b="1" spc="185" dirty="0">
                <a:latin typeface="Calibri"/>
                <a:cs typeface="Calibri"/>
              </a:rPr>
              <a:t>x</a:t>
            </a:r>
            <a:r>
              <a:rPr sz="2250" i="1" spc="277" baseline="-12962" dirty="0">
                <a:latin typeface="Calibri"/>
                <a:cs typeface="Calibri"/>
              </a:rPr>
              <a:t>T</a:t>
            </a:r>
            <a:r>
              <a:rPr sz="2250" i="1" spc="22" baseline="-12962" dirty="0">
                <a:latin typeface="Calibri"/>
                <a:cs typeface="Calibri"/>
              </a:rPr>
              <a:t> </a:t>
            </a:r>
            <a:r>
              <a:rPr sz="2150" spc="145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45AD9D4-34B5-5D41-B4FC-82B9BF868630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6822726"/>
            <a:ext cx="11417300" cy="186690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E1422F02-0AB9-674B-AC5D-B999A220769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2153" y="9112492"/>
            <a:ext cx="833120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690" y="3529632"/>
            <a:ext cx="15831185" cy="64592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20"/>
              </a:lnSpc>
            </a:pPr>
            <a:r>
              <a:rPr sz="2300" dirty="0">
                <a:latin typeface="Trebuchet MS"/>
                <a:cs typeface="Trebuchet MS"/>
              </a:rPr>
              <a:t>Noise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prediction</a:t>
            </a:r>
            <a:r>
              <a:rPr sz="2300" spc="7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network: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2300" dirty="0">
                <a:latin typeface="Trebuchet MS"/>
                <a:cs typeface="Trebuchet MS"/>
              </a:rPr>
              <a:t>Denoising</a:t>
            </a:r>
            <a:r>
              <a:rPr sz="2300" spc="9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network: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2300" dirty="0">
                <a:latin typeface="Trebuchet MS"/>
                <a:cs typeface="Trebuchet MS"/>
              </a:rPr>
              <a:t>v-</a:t>
            </a:r>
            <a:r>
              <a:rPr sz="2300" spc="-10" dirty="0">
                <a:latin typeface="Trebuchet MS"/>
                <a:cs typeface="Trebuchet MS"/>
              </a:rPr>
              <a:t>prediction: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2300">
              <a:latin typeface="Trebuchet MS"/>
              <a:cs typeface="Trebuchet MS"/>
            </a:endParaRPr>
          </a:p>
          <a:p>
            <a:pPr algn="r">
              <a:lnSpc>
                <a:spcPct val="100000"/>
              </a:lnSpc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44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411345">
              <a:lnSpc>
                <a:spcPct val="100000"/>
              </a:lnSpc>
              <a:spcBef>
                <a:spcPts val="100"/>
              </a:spcBef>
            </a:pPr>
            <a:r>
              <a:rPr dirty="0"/>
              <a:t>Different</a:t>
            </a:r>
            <a:r>
              <a:rPr spc="-240" dirty="0"/>
              <a:t> </a:t>
            </a:r>
            <a:r>
              <a:rPr spc="-10" dirty="0"/>
              <a:t>Parameterizations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67508" y="2393980"/>
            <a:ext cx="17846040" cy="7819390"/>
            <a:chOff x="267508" y="2393980"/>
            <a:chExt cx="17846040" cy="781939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292667" y="3471479"/>
              <a:ext cx="7785249" cy="6146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2667" y="5512666"/>
              <a:ext cx="8092563" cy="6146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13588" y="7847472"/>
              <a:ext cx="2560939" cy="25609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92667" y="7553853"/>
              <a:ext cx="8041344" cy="6146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67508" y="2393980"/>
              <a:ext cx="17846040" cy="7819390"/>
            </a:xfrm>
            <a:custGeom>
              <a:avLst/>
              <a:gdLst/>
              <a:ahLst/>
              <a:cxnLst/>
              <a:rect l="l" t="t" r="r" b="b"/>
              <a:pathLst>
                <a:path w="17846040" h="7819390">
                  <a:moveTo>
                    <a:pt x="17845646" y="0"/>
                  </a:moveTo>
                  <a:lnTo>
                    <a:pt x="0" y="0"/>
                  </a:lnTo>
                  <a:lnTo>
                    <a:pt x="0" y="7819057"/>
                  </a:lnTo>
                  <a:lnTo>
                    <a:pt x="17845646" y="7819057"/>
                  </a:lnTo>
                  <a:lnTo>
                    <a:pt x="17845646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235700" y="3859276"/>
            <a:ext cx="581723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50000"/>
              </a:lnSpc>
              <a:spcBef>
                <a:spcPts val="100"/>
              </a:spcBef>
            </a:pPr>
            <a:r>
              <a:rPr sz="4000" dirty="0">
                <a:latin typeface="Arial MT"/>
                <a:cs typeface="Arial MT"/>
              </a:rPr>
              <a:t>More</a:t>
            </a:r>
            <a:r>
              <a:rPr sz="4000" spc="-140" dirty="0">
                <a:latin typeface="Arial MT"/>
                <a:cs typeface="Arial MT"/>
              </a:rPr>
              <a:t> </a:t>
            </a:r>
            <a:r>
              <a:rPr sz="4000" dirty="0">
                <a:latin typeface="Arial MT"/>
                <a:cs typeface="Arial MT"/>
              </a:rPr>
              <a:t>sophisticated</a:t>
            </a:r>
            <a:r>
              <a:rPr sz="4000" spc="-135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model </a:t>
            </a:r>
            <a:r>
              <a:rPr sz="4000" dirty="0">
                <a:latin typeface="Arial MT"/>
                <a:cs typeface="Arial MT"/>
              </a:rPr>
              <a:t>parametrizations</a:t>
            </a:r>
            <a:r>
              <a:rPr sz="4000" spc="-165" dirty="0">
                <a:latin typeface="Arial MT"/>
                <a:cs typeface="Arial MT"/>
              </a:rPr>
              <a:t> </a:t>
            </a:r>
            <a:r>
              <a:rPr sz="4000" dirty="0">
                <a:latin typeface="Arial MT"/>
                <a:cs typeface="Arial MT"/>
              </a:rPr>
              <a:t>and</a:t>
            </a:r>
            <a:r>
              <a:rPr sz="4000" spc="-160" dirty="0">
                <a:latin typeface="Arial MT"/>
                <a:cs typeface="Arial MT"/>
              </a:rPr>
              <a:t> </a:t>
            </a:r>
            <a:r>
              <a:rPr sz="4000" spc="-20" dirty="0">
                <a:latin typeface="Arial MT"/>
                <a:cs typeface="Arial MT"/>
              </a:rPr>
              <a:t>loss </a:t>
            </a:r>
            <a:r>
              <a:rPr sz="4000" dirty="0">
                <a:latin typeface="Arial MT"/>
                <a:cs typeface="Arial MT"/>
              </a:rPr>
              <a:t>weightings</a:t>
            </a:r>
            <a:r>
              <a:rPr sz="4000" spc="-140" dirty="0">
                <a:latin typeface="Arial MT"/>
                <a:cs typeface="Arial MT"/>
              </a:rPr>
              <a:t> </a:t>
            </a:r>
            <a:r>
              <a:rPr sz="4000" spc="-10" dirty="0">
                <a:latin typeface="Arial MT"/>
                <a:cs typeface="Arial MT"/>
              </a:rPr>
              <a:t>possible!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98736" y="7445756"/>
            <a:ext cx="130905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ahoma"/>
                <a:cs typeface="Tahoma"/>
              </a:rPr>
              <a:t>Karras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al.,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"Elucidating</a:t>
            </a:r>
            <a:r>
              <a:rPr sz="2400" u="sng" spc="-6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24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the</a:t>
            </a:r>
            <a:r>
              <a:rPr sz="2400" u="sng" spc="-7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24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Design</a:t>
            </a:r>
            <a:r>
              <a:rPr sz="2400" u="sng" spc="-6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24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Space</a:t>
            </a:r>
            <a:r>
              <a:rPr sz="2400" u="sng" spc="-7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2400" u="sng" spc="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of</a:t>
            </a:r>
            <a:r>
              <a:rPr sz="2400" u="sng" spc="-7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24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Diffusion-Based</a:t>
            </a:r>
            <a:r>
              <a:rPr sz="2400" u="sng" spc="-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24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Generative</a:t>
            </a:r>
            <a:r>
              <a:rPr sz="2400" u="sng" spc="-7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 </a:t>
            </a:r>
            <a:r>
              <a:rPr sz="24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6"/>
              </a:rPr>
              <a:t>Models"</a:t>
            </a:r>
            <a:r>
              <a:rPr sz="2400" dirty="0">
                <a:latin typeface="Tahoma"/>
                <a:cs typeface="Tahoma"/>
              </a:rPr>
              <a:t>,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NeurIPS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2022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0993" y="2407441"/>
            <a:ext cx="7510145" cy="3182620"/>
            <a:chOff x="760993" y="2407441"/>
            <a:chExt cx="7510145" cy="31826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14287" y="2407441"/>
              <a:ext cx="5428178" cy="304528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5037" y="2454569"/>
              <a:ext cx="1030726" cy="29399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7187575" y="2437107"/>
              <a:ext cx="1066165" cy="2974975"/>
            </a:xfrm>
            <a:custGeom>
              <a:avLst/>
              <a:gdLst/>
              <a:ahLst/>
              <a:cxnLst/>
              <a:rect l="l" t="t" r="r" b="b"/>
              <a:pathLst>
                <a:path w="1066165" h="2974975">
                  <a:moveTo>
                    <a:pt x="1065650" y="0"/>
                  </a:moveTo>
                  <a:lnTo>
                    <a:pt x="1065650" y="2974917"/>
                  </a:lnTo>
                  <a:lnTo>
                    <a:pt x="0" y="2974916"/>
                  </a:lnTo>
                  <a:lnTo>
                    <a:pt x="0" y="0"/>
                  </a:lnTo>
                  <a:lnTo>
                    <a:pt x="1065650" y="0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5918" y="2456399"/>
              <a:ext cx="1027164" cy="29399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78455" y="2438936"/>
              <a:ext cx="1062355" cy="2974975"/>
            </a:xfrm>
            <a:custGeom>
              <a:avLst/>
              <a:gdLst/>
              <a:ahLst/>
              <a:cxnLst/>
              <a:rect l="l" t="t" r="r" b="b"/>
              <a:pathLst>
                <a:path w="1062355" h="2974975">
                  <a:moveTo>
                    <a:pt x="1062089" y="2974918"/>
                  </a:moveTo>
                  <a:lnTo>
                    <a:pt x="1062089" y="0"/>
                  </a:lnTo>
                  <a:lnTo>
                    <a:pt x="0" y="0"/>
                  </a:lnTo>
                  <a:lnTo>
                    <a:pt x="0" y="2974918"/>
                  </a:lnTo>
                  <a:lnTo>
                    <a:pt x="1062089" y="2974918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24399" y="5456575"/>
              <a:ext cx="4380230" cy="133350"/>
            </a:xfrm>
            <a:custGeom>
              <a:avLst/>
              <a:gdLst/>
              <a:ahLst/>
              <a:cxnLst/>
              <a:rect l="l" t="t" r="r" b="b"/>
              <a:pathLst>
                <a:path w="4380230" h="133350">
                  <a:moveTo>
                    <a:pt x="133350" y="0"/>
                  </a:moveTo>
                  <a:lnTo>
                    <a:pt x="0" y="66675"/>
                  </a:lnTo>
                  <a:lnTo>
                    <a:pt x="133350" y="133350"/>
                  </a:lnTo>
                  <a:lnTo>
                    <a:pt x="133350" y="88900"/>
                  </a:lnTo>
                  <a:lnTo>
                    <a:pt x="111123" y="88900"/>
                  </a:lnTo>
                  <a:lnTo>
                    <a:pt x="111123" y="44450"/>
                  </a:lnTo>
                  <a:lnTo>
                    <a:pt x="133350" y="44450"/>
                  </a:lnTo>
                  <a:lnTo>
                    <a:pt x="133350" y="0"/>
                  </a:lnTo>
                  <a:close/>
                </a:path>
                <a:path w="4380230" h="133350">
                  <a:moveTo>
                    <a:pt x="133350" y="44450"/>
                  </a:moveTo>
                  <a:lnTo>
                    <a:pt x="111123" y="44450"/>
                  </a:lnTo>
                  <a:lnTo>
                    <a:pt x="111123" y="88900"/>
                  </a:lnTo>
                  <a:lnTo>
                    <a:pt x="133350" y="88900"/>
                  </a:lnTo>
                  <a:lnTo>
                    <a:pt x="133350" y="44450"/>
                  </a:lnTo>
                  <a:close/>
                </a:path>
                <a:path w="4380230" h="133350">
                  <a:moveTo>
                    <a:pt x="4379747" y="44450"/>
                  </a:moveTo>
                  <a:lnTo>
                    <a:pt x="133350" y="44450"/>
                  </a:lnTo>
                  <a:lnTo>
                    <a:pt x="133350" y="88900"/>
                  </a:lnTo>
                  <a:lnTo>
                    <a:pt x="4379747" y="88900"/>
                  </a:lnTo>
                  <a:lnTo>
                    <a:pt x="4379747" y="4445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0189765" y="2401503"/>
            <a:ext cx="7510145" cy="3176270"/>
            <a:chOff x="10189765" y="2401503"/>
            <a:chExt cx="7510145" cy="317627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240682" y="2401503"/>
              <a:ext cx="5428178" cy="302123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633812" y="2442230"/>
              <a:ext cx="1030719" cy="29399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616343" y="2424767"/>
              <a:ext cx="1066165" cy="2974975"/>
            </a:xfrm>
            <a:custGeom>
              <a:avLst/>
              <a:gdLst/>
              <a:ahLst/>
              <a:cxnLst/>
              <a:rect l="l" t="t" r="r" b="b"/>
              <a:pathLst>
                <a:path w="1066165" h="2974975">
                  <a:moveTo>
                    <a:pt x="1065650" y="0"/>
                  </a:moveTo>
                  <a:lnTo>
                    <a:pt x="1065650" y="2974916"/>
                  </a:lnTo>
                  <a:lnTo>
                    <a:pt x="0" y="2974916"/>
                  </a:lnTo>
                  <a:lnTo>
                    <a:pt x="0" y="0"/>
                  </a:lnTo>
                  <a:lnTo>
                    <a:pt x="1065650" y="0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24691" y="2444060"/>
              <a:ext cx="1027164" cy="293999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207228" y="2426597"/>
              <a:ext cx="1062355" cy="2974975"/>
            </a:xfrm>
            <a:custGeom>
              <a:avLst/>
              <a:gdLst/>
              <a:ahLst/>
              <a:cxnLst/>
              <a:rect l="l" t="t" r="r" b="b"/>
              <a:pathLst>
                <a:path w="1062354" h="2974975">
                  <a:moveTo>
                    <a:pt x="1062090" y="2974918"/>
                  </a:moveTo>
                  <a:lnTo>
                    <a:pt x="1062090" y="0"/>
                  </a:lnTo>
                  <a:lnTo>
                    <a:pt x="0" y="0"/>
                  </a:lnTo>
                  <a:lnTo>
                    <a:pt x="0" y="2974918"/>
                  </a:lnTo>
                  <a:lnTo>
                    <a:pt x="1062090" y="2974918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753171" y="5444234"/>
              <a:ext cx="4380230" cy="133350"/>
            </a:xfrm>
            <a:custGeom>
              <a:avLst/>
              <a:gdLst/>
              <a:ahLst/>
              <a:cxnLst/>
              <a:rect l="l" t="t" r="r" b="b"/>
              <a:pathLst>
                <a:path w="4380230" h="133350">
                  <a:moveTo>
                    <a:pt x="133350" y="0"/>
                  </a:moveTo>
                  <a:lnTo>
                    <a:pt x="0" y="66675"/>
                  </a:lnTo>
                  <a:lnTo>
                    <a:pt x="133350" y="133350"/>
                  </a:lnTo>
                  <a:lnTo>
                    <a:pt x="133350" y="88900"/>
                  </a:lnTo>
                  <a:lnTo>
                    <a:pt x="111123" y="88900"/>
                  </a:lnTo>
                  <a:lnTo>
                    <a:pt x="111123" y="44450"/>
                  </a:lnTo>
                  <a:lnTo>
                    <a:pt x="133350" y="44450"/>
                  </a:lnTo>
                  <a:lnTo>
                    <a:pt x="133350" y="0"/>
                  </a:lnTo>
                  <a:close/>
                </a:path>
                <a:path w="4380230" h="133350">
                  <a:moveTo>
                    <a:pt x="133350" y="44450"/>
                  </a:moveTo>
                  <a:lnTo>
                    <a:pt x="111123" y="44450"/>
                  </a:lnTo>
                  <a:lnTo>
                    <a:pt x="111123" y="88900"/>
                  </a:lnTo>
                  <a:lnTo>
                    <a:pt x="133350" y="88900"/>
                  </a:lnTo>
                  <a:lnTo>
                    <a:pt x="133350" y="44450"/>
                  </a:lnTo>
                  <a:close/>
                </a:path>
                <a:path w="4380230" h="133350">
                  <a:moveTo>
                    <a:pt x="4379752" y="44450"/>
                  </a:moveTo>
                  <a:lnTo>
                    <a:pt x="133350" y="44450"/>
                  </a:lnTo>
                  <a:lnTo>
                    <a:pt x="133350" y="88900"/>
                  </a:lnTo>
                  <a:lnTo>
                    <a:pt x="4379752" y="88900"/>
                  </a:lnTo>
                  <a:lnTo>
                    <a:pt x="4379752" y="4445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566285">
              <a:lnSpc>
                <a:spcPct val="100000"/>
              </a:lnSpc>
              <a:spcBef>
                <a:spcPts val="100"/>
              </a:spcBef>
            </a:pPr>
            <a:r>
              <a:rPr dirty="0"/>
              <a:t>Synthesis</a:t>
            </a:r>
            <a:r>
              <a:rPr spc="-125" dirty="0"/>
              <a:t> </a:t>
            </a:r>
            <a:r>
              <a:rPr dirty="0"/>
              <a:t>with</a:t>
            </a:r>
            <a:r>
              <a:rPr spc="-125" dirty="0"/>
              <a:t> </a:t>
            </a:r>
            <a:r>
              <a:rPr dirty="0"/>
              <a:t>SDE</a:t>
            </a:r>
            <a:r>
              <a:rPr spc="-125" dirty="0"/>
              <a:t> </a:t>
            </a:r>
            <a:r>
              <a:rPr dirty="0"/>
              <a:t>vs.</a:t>
            </a:r>
            <a:r>
              <a:rPr spc="-120" dirty="0"/>
              <a:t> </a:t>
            </a:r>
            <a:r>
              <a:rPr spc="-25" dirty="0"/>
              <a:t>ODE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1061040" y="8049768"/>
            <a:ext cx="680656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b="1" dirty="0">
                <a:latin typeface="Trebuchet MS"/>
                <a:cs typeface="Trebuchet MS"/>
              </a:rPr>
              <a:t>Generative</a:t>
            </a:r>
            <a:r>
              <a:rPr sz="2300" b="1" spc="5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Reverse</a:t>
            </a:r>
            <a:r>
              <a:rPr sz="2300" b="1" spc="5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Diffusion</a:t>
            </a:r>
            <a:r>
              <a:rPr sz="2300" b="1" spc="5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SDE</a:t>
            </a:r>
            <a:r>
              <a:rPr sz="2300" b="1" spc="5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(stochastic):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148196" y="8046720"/>
            <a:ext cx="71710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b="1" dirty="0">
                <a:latin typeface="Trebuchet MS"/>
                <a:cs typeface="Trebuchet MS"/>
              </a:rPr>
              <a:t>Generative</a:t>
            </a:r>
            <a:r>
              <a:rPr sz="2300" b="1" spc="7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Probability</a:t>
            </a:r>
            <a:r>
              <a:rPr sz="2300" b="1" spc="8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Flow</a:t>
            </a:r>
            <a:r>
              <a:rPr sz="2300" b="1" spc="8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ODE</a:t>
            </a:r>
            <a:r>
              <a:rPr sz="2300" b="1" spc="7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(deterministic):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012431" y="5568188"/>
            <a:ext cx="3861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Generation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Probability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Flow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ODE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488075" y="6074270"/>
            <a:ext cx="6052185" cy="850900"/>
            <a:chOff x="1488075" y="6074270"/>
            <a:chExt cx="6052185" cy="850900"/>
          </a:xfrm>
        </p:grpSpPr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01237" y="6074270"/>
              <a:ext cx="838802" cy="85068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88075" y="6074270"/>
              <a:ext cx="838802" cy="85068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56937" y="6074270"/>
              <a:ext cx="838802" cy="85068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225797" y="6074270"/>
              <a:ext cx="838802" cy="85068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4657" y="6074270"/>
              <a:ext cx="838802" cy="85068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63518" y="6074270"/>
              <a:ext cx="838802" cy="85068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32378" y="6074270"/>
              <a:ext cx="838802" cy="85068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705176" y="6781024"/>
            <a:ext cx="438784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800" b="1" spc="130" dirty="0">
                <a:latin typeface="Calibri"/>
                <a:cs typeface="Calibri"/>
              </a:rPr>
              <a:t>x</a:t>
            </a:r>
            <a:r>
              <a:rPr sz="2925" spc="195" baseline="-12820" dirty="0">
                <a:latin typeface="Verdana"/>
                <a:cs typeface="Verdana"/>
              </a:rPr>
              <a:t>0</a:t>
            </a:r>
            <a:endParaRPr sz="2925" baseline="-1282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79966" y="6779458"/>
            <a:ext cx="465455" cy="458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50" b="1" spc="370" dirty="0">
                <a:latin typeface="Calibri"/>
                <a:cs typeface="Calibri"/>
              </a:rPr>
              <a:t>x</a:t>
            </a:r>
            <a:r>
              <a:rPr sz="2925" i="1" spc="555" baseline="-12820" dirty="0">
                <a:latin typeface="Calibri"/>
                <a:cs typeface="Calibri"/>
              </a:rPr>
              <a:t>T</a:t>
            </a:r>
            <a:endParaRPr sz="2925" baseline="-1282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23864" y="6780376"/>
            <a:ext cx="40386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800" b="1" spc="285" dirty="0">
                <a:latin typeface="Calibri"/>
                <a:cs typeface="Calibri"/>
              </a:rPr>
              <a:t>x</a:t>
            </a:r>
            <a:r>
              <a:rPr sz="2925" i="1" spc="427" baseline="-12820" dirty="0">
                <a:latin typeface="Calibri"/>
                <a:cs typeface="Calibri"/>
              </a:rPr>
              <a:t>t</a:t>
            </a:r>
            <a:endParaRPr sz="2925" baseline="-1282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92872" y="6790435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696430" y="6790435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03172" y="5580379"/>
            <a:ext cx="4022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Generation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Reverse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22593" y="5404449"/>
            <a:ext cx="7962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20" dirty="0">
                <a:latin typeface="Cambria"/>
                <a:cs typeface="Cambria"/>
              </a:rPr>
              <a:t>q</a:t>
            </a:r>
            <a:r>
              <a:rPr sz="2450" spc="120" dirty="0">
                <a:latin typeface="Calibri"/>
                <a:cs typeface="Calibri"/>
              </a:rPr>
              <a:t>(</a:t>
            </a:r>
            <a:r>
              <a:rPr sz="2450" b="1" spc="120" dirty="0">
                <a:latin typeface="Calibri"/>
                <a:cs typeface="Calibri"/>
              </a:rPr>
              <a:t>x</a:t>
            </a:r>
            <a:r>
              <a:rPr sz="2550" spc="179" baseline="-11437" dirty="0">
                <a:latin typeface="Verdana"/>
                <a:cs typeface="Verdana"/>
              </a:rPr>
              <a:t>0</a:t>
            </a:r>
            <a:r>
              <a:rPr sz="2450" spc="120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301841" y="5404449"/>
            <a:ext cx="85280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90" dirty="0">
                <a:latin typeface="Cambria"/>
                <a:cs typeface="Cambria"/>
              </a:rPr>
              <a:t>q</a:t>
            </a:r>
            <a:r>
              <a:rPr sz="2450" spc="190" dirty="0">
                <a:latin typeface="Calibri"/>
                <a:cs typeface="Calibri"/>
              </a:rPr>
              <a:t>(</a:t>
            </a:r>
            <a:r>
              <a:rPr sz="2450" b="1" spc="190" dirty="0">
                <a:latin typeface="Calibri"/>
                <a:cs typeface="Calibri"/>
              </a:rPr>
              <a:t>x</a:t>
            </a:r>
            <a:r>
              <a:rPr sz="2550" i="1" spc="284" baseline="-11437" dirty="0">
                <a:latin typeface="Calibri"/>
                <a:cs typeface="Calibri"/>
              </a:rPr>
              <a:t>T</a:t>
            </a:r>
            <a:r>
              <a:rPr sz="2550" i="1" spc="22" baseline="-11437" dirty="0">
                <a:latin typeface="Calibri"/>
                <a:cs typeface="Calibri"/>
              </a:rPr>
              <a:t> </a:t>
            </a:r>
            <a:r>
              <a:rPr sz="2450" spc="155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335383" y="5407243"/>
            <a:ext cx="7962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20" dirty="0">
                <a:latin typeface="Cambria"/>
                <a:cs typeface="Cambria"/>
              </a:rPr>
              <a:t>q</a:t>
            </a:r>
            <a:r>
              <a:rPr sz="2450" spc="120" dirty="0">
                <a:latin typeface="Calibri"/>
                <a:cs typeface="Calibri"/>
              </a:rPr>
              <a:t>(</a:t>
            </a:r>
            <a:r>
              <a:rPr sz="2450" b="1" spc="120" dirty="0">
                <a:latin typeface="Calibri"/>
                <a:cs typeface="Calibri"/>
              </a:rPr>
              <a:t>x</a:t>
            </a:r>
            <a:r>
              <a:rPr sz="2550" spc="179" baseline="-11437" dirty="0">
                <a:latin typeface="Verdana"/>
                <a:cs typeface="Verdana"/>
              </a:rPr>
              <a:t>0</a:t>
            </a:r>
            <a:r>
              <a:rPr sz="2450" spc="120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714630" y="5407243"/>
            <a:ext cx="85280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90" dirty="0">
                <a:latin typeface="Cambria"/>
                <a:cs typeface="Cambria"/>
              </a:rPr>
              <a:t>q</a:t>
            </a:r>
            <a:r>
              <a:rPr sz="2450" spc="190" dirty="0">
                <a:latin typeface="Calibri"/>
                <a:cs typeface="Calibri"/>
              </a:rPr>
              <a:t>(</a:t>
            </a:r>
            <a:r>
              <a:rPr sz="2450" b="1" spc="190" dirty="0">
                <a:latin typeface="Calibri"/>
                <a:cs typeface="Calibri"/>
              </a:rPr>
              <a:t>x</a:t>
            </a:r>
            <a:r>
              <a:rPr sz="2550" i="1" spc="284" baseline="-11437" dirty="0">
                <a:latin typeface="Calibri"/>
                <a:cs typeface="Calibri"/>
              </a:rPr>
              <a:t>T</a:t>
            </a:r>
            <a:r>
              <a:rPr sz="2550" i="1" spc="22" baseline="-11437" dirty="0">
                <a:latin typeface="Calibri"/>
                <a:cs typeface="Calibri"/>
              </a:rPr>
              <a:t> </a:t>
            </a:r>
            <a:r>
              <a:rPr sz="2450" spc="155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262145" y="2427912"/>
            <a:ext cx="5372100" cy="2966085"/>
          </a:xfrm>
          <a:custGeom>
            <a:avLst/>
            <a:gdLst/>
            <a:ahLst/>
            <a:cxnLst/>
            <a:rect l="l" t="t" r="r" b="b"/>
            <a:pathLst>
              <a:path w="5372100" h="2966085">
                <a:moveTo>
                  <a:pt x="0" y="0"/>
                </a:moveTo>
                <a:lnTo>
                  <a:pt x="5371665" y="0"/>
                </a:lnTo>
                <a:lnTo>
                  <a:pt x="5371665" y="2965812"/>
                </a:lnTo>
                <a:lnTo>
                  <a:pt x="0" y="296581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7" name="object 47"/>
          <p:cNvGrpSpPr/>
          <p:nvPr/>
        </p:nvGrpSpPr>
        <p:grpSpPr>
          <a:xfrm>
            <a:off x="10928680" y="6089852"/>
            <a:ext cx="6052185" cy="850900"/>
            <a:chOff x="10928680" y="6089852"/>
            <a:chExt cx="6052185" cy="850900"/>
          </a:xfrm>
        </p:grpSpPr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141839" y="6089852"/>
              <a:ext cx="838802" cy="85068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928680" y="6089852"/>
              <a:ext cx="838801" cy="850688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97540" y="6089852"/>
              <a:ext cx="838802" cy="85068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666400" y="6089852"/>
              <a:ext cx="838802" cy="85068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535266" y="6089852"/>
              <a:ext cx="838796" cy="85068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404124" y="6089852"/>
              <a:ext cx="838796" cy="85068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272982" y="6089852"/>
              <a:ext cx="838802" cy="850688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1145779" y="6796594"/>
            <a:ext cx="438784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800" b="1" spc="130" dirty="0">
                <a:latin typeface="Calibri"/>
                <a:cs typeface="Calibri"/>
              </a:rPr>
              <a:t>x</a:t>
            </a:r>
            <a:r>
              <a:rPr sz="2925" spc="195" baseline="-12820" dirty="0">
                <a:latin typeface="Verdana"/>
                <a:cs typeface="Verdana"/>
              </a:rPr>
              <a:t>0</a:t>
            </a:r>
            <a:endParaRPr sz="2925" baseline="-1282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6320571" y="6795041"/>
            <a:ext cx="465455" cy="458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850" b="1" spc="370" dirty="0">
                <a:latin typeface="Calibri"/>
                <a:cs typeface="Calibri"/>
              </a:rPr>
              <a:t>x</a:t>
            </a:r>
            <a:r>
              <a:rPr sz="2925" i="1" spc="555" baseline="-12820" dirty="0">
                <a:latin typeface="Calibri"/>
                <a:cs typeface="Calibri"/>
              </a:rPr>
              <a:t>T</a:t>
            </a:r>
            <a:endParaRPr sz="2925" baseline="-12820">
              <a:latin typeface="Calibri"/>
              <a:cs typeface="Calibr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3764466" y="6795958"/>
            <a:ext cx="403860" cy="4578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2800" b="1" spc="285" dirty="0">
                <a:latin typeface="Calibri"/>
                <a:cs typeface="Calibri"/>
              </a:rPr>
              <a:t>x</a:t>
            </a:r>
            <a:r>
              <a:rPr sz="2925" i="1" spc="427" baseline="-12820" dirty="0">
                <a:latin typeface="Calibri"/>
                <a:cs typeface="Calibri"/>
              </a:rPr>
              <a:t>t</a:t>
            </a:r>
            <a:endParaRPr sz="2925" baseline="-12820">
              <a:latin typeface="Calibri"/>
              <a:cs typeface="Calibr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533477" y="6805676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137027" y="6805676"/>
            <a:ext cx="2362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1833373" y="2441660"/>
            <a:ext cx="5353685" cy="2966085"/>
          </a:xfrm>
          <a:custGeom>
            <a:avLst/>
            <a:gdLst/>
            <a:ahLst/>
            <a:cxnLst/>
            <a:rect l="l" t="t" r="r" b="b"/>
            <a:pathLst>
              <a:path w="5353684" h="2966085">
                <a:moveTo>
                  <a:pt x="0" y="0"/>
                </a:moveTo>
                <a:lnTo>
                  <a:pt x="5353327" y="0"/>
                </a:lnTo>
                <a:lnTo>
                  <a:pt x="5353327" y="2965812"/>
                </a:lnTo>
                <a:lnTo>
                  <a:pt x="0" y="2965812"/>
                </a:lnTo>
                <a:lnTo>
                  <a:pt x="0" y="0"/>
                </a:lnTo>
                <a:close/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16615320" y="9798970"/>
            <a:ext cx="180975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45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483770" y="9829610"/>
            <a:ext cx="24009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Song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et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al.,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3"/>
              </a:rPr>
              <a:t>ICLR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3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18343990-BAD5-5F4F-8E84-EA5438EDB46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024" y="8572000"/>
            <a:ext cx="6629400" cy="812800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7D88ED3B-2965-BE4F-9214-8369E992D39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498" y="8491892"/>
            <a:ext cx="44958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6823" y="1066800"/>
            <a:ext cx="559625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Probability</a:t>
            </a:r>
            <a:r>
              <a:rPr spc="-245" dirty="0"/>
              <a:t> </a:t>
            </a:r>
            <a:r>
              <a:rPr dirty="0"/>
              <a:t>Flow</a:t>
            </a:r>
            <a:r>
              <a:rPr spc="-245" dirty="0"/>
              <a:t> </a:t>
            </a:r>
            <a:r>
              <a:rPr spc="-25" dirty="0"/>
              <a:t>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1699" y="9256268"/>
            <a:ext cx="2756535" cy="56515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Chen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et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al.,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2"/>
              </a:rPr>
              <a:t>NeurIPS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,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2"/>
              </a:rPr>
              <a:t>2018</a:t>
            </a:r>
            <a:r>
              <a:rPr sz="1800" spc="-20" dirty="0">
                <a:solidFill>
                  <a:srgbClr val="0071C5"/>
                </a:solidFill>
                <a:latin typeface="Arial MT"/>
                <a:cs typeface="Arial MT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Grathwohl,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3"/>
              </a:rPr>
              <a:t>ICLR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2019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67739" y="6407085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2"/>
                </a:lnTo>
                <a:lnTo>
                  <a:pt x="0" y="58882"/>
                </a:lnTo>
                <a:lnTo>
                  <a:pt x="0" y="176646"/>
                </a:lnTo>
                <a:lnTo>
                  <a:pt x="200889" y="176646"/>
                </a:lnTo>
                <a:lnTo>
                  <a:pt x="200889" y="235527"/>
                </a:lnTo>
                <a:lnTo>
                  <a:pt x="318654" y="117764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67739" y="7795297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2"/>
                </a:lnTo>
                <a:lnTo>
                  <a:pt x="0" y="58882"/>
                </a:lnTo>
                <a:lnTo>
                  <a:pt x="0" y="176645"/>
                </a:lnTo>
                <a:lnTo>
                  <a:pt x="200889" y="176645"/>
                </a:lnTo>
                <a:lnTo>
                  <a:pt x="200889" y="235527"/>
                </a:lnTo>
                <a:lnTo>
                  <a:pt x="318654" y="117763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417759" y="2792177"/>
            <a:ext cx="812062" cy="222738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28805" y="2759395"/>
          <a:ext cx="6200774" cy="22523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3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9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70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52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3730" y="2792176"/>
            <a:ext cx="798120" cy="222738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299762" y="2918157"/>
            <a:ext cx="504190" cy="213995"/>
          </a:xfrm>
          <a:custGeom>
            <a:avLst/>
            <a:gdLst/>
            <a:ahLst/>
            <a:cxnLst/>
            <a:rect l="l" t="t" r="r" b="b"/>
            <a:pathLst>
              <a:path w="504189" h="213994">
                <a:moveTo>
                  <a:pt x="351142" y="165556"/>
                </a:moveTo>
                <a:lnTo>
                  <a:pt x="335037" y="213735"/>
                </a:lnTo>
                <a:lnTo>
                  <a:pt x="503734" y="189782"/>
                </a:lnTo>
                <a:lnTo>
                  <a:pt x="487588" y="173608"/>
                </a:lnTo>
                <a:lnTo>
                  <a:pt x="375232" y="173608"/>
                </a:lnTo>
                <a:lnTo>
                  <a:pt x="351142" y="165556"/>
                </a:lnTo>
                <a:close/>
              </a:path>
              <a:path w="504189" h="213994">
                <a:moveTo>
                  <a:pt x="367247" y="117377"/>
                </a:moveTo>
                <a:lnTo>
                  <a:pt x="351142" y="165556"/>
                </a:lnTo>
                <a:lnTo>
                  <a:pt x="375232" y="173608"/>
                </a:lnTo>
                <a:lnTo>
                  <a:pt x="391337" y="125430"/>
                </a:lnTo>
                <a:lnTo>
                  <a:pt x="367247" y="117377"/>
                </a:lnTo>
                <a:close/>
              </a:path>
              <a:path w="504189" h="213994">
                <a:moveTo>
                  <a:pt x="383353" y="69197"/>
                </a:moveTo>
                <a:lnTo>
                  <a:pt x="367247" y="117377"/>
                </a:lnTo>
                <a:lnTo>
                  <a:pt x="391337" y="125430"/>
                </a:lnTo>
                <a:lnTo>
                  <a:pt x="375232" y="173608"/>
                </a:lnTo>
                <a:lnTo>
                  <a:pt x="487588" y="173608"/>
                </a:lnTo>
                <a:lnTo>
                  <a:pt x="383353" y="69197"/>
                </a:lnTo>
                <a:close/>
              </a:path>
              <a:path w="504189" h="213994">
                <a:moveTo>
                  <a:pt x="16106" y="0"/>
                </a:moveTo>
                <a:lnTo>
                  <a:pt x="0" y="48179"/>
                </a:lnTo>
                <a:lnTo>
                  <a:pt x="351142" y="165556"/>
                </a:lnTo>
                <a:lnTo>
                  <a:pt x="367247" y="117377"/>
                </a:lnTo>
                <a:lnTo>
                  <a:pt x="161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46987" y="3824892"/>
            <a:ext cx="553720" cy="151765"/>
          </a:xfrm>
          <a:custGeom>
            <a:avLst/>
            <a:gdLst/>
            <a:ahLst/>
            <a:cxnLst/>
            <a:rect l="l" t="t" r="r" b="b"/>
            <a:pathLst>
              <a:path w="553720" h="151764">
                <a:moveTo>
                  <a:pt x="399255" y="100986"/>
                </a:moveTo>
                <a:lnTo>
                  <a:pt x="393682" y="151479"/>
                </a:lnTo>
                <a:lnTo>
                  <a:pt x="522880" y="103772"/>
                </a:lnTo>
                <a:lnTo>
                  <a:pt x="424501" y="103772"/>
                </a:lnTo>
                <a:lnTo>
                  <a:pt x="399255" y="100986"/>
                </a:lnTo>
                <a:close/>
              </a:path>
              <a:path w="553720" h="151764">
                <a:moveTo>
                  <a:pt x="404828" y="50492"/>
                </a:moveTo>
                <a:lnTo>
                  <a:pt x="399255" y="100986"/>
                </a:lnTo>
                <a:lnTo>
                  <a:pt x="424501" y="103772"/>
                </a:lnTo>
                <a:lnTo>
                  <a:pt x="430075" y="53279"/>
                </a:lnTo>
                <a:lnTo>
                  <a:pt x="404828" y="50492"/>
                </a:lnTo>
                <a:close/>
              </a:path>
              <a:path w="553720" h="151764">
                <a:moveTo>
                  <a:pt x="410401" y="0"/>
                </a:moveTo>
                <a:lnTo>
                  <a:pt x="404828" y="50492"/>
                </a:lnTo>
                <a:lnTo>
                  <a:pt x="430075" y="53279"/>
                </a:lnTo>
                <a:lnTo>
                  <a:pt x="424501" y="103772"/>
                </a:lnTo>
                <a:lnTo>
                  <a:pt x="522880" y="103772"/>
                </a:lnTo>
                <a:lnTo>
                  <a:pt x="553521" y="92458"/>
                </a:lnTo>
                <a:lnTo>
                  <a:pt x="410401" y="0"/>
                </a:lnTo>
                <a:close/>
              </a:path>
              <a:path w="553720" h="151764">
                <a:moveTo>
                  <a:pt x="5572" y="6426"/>
                </a:moveTo>
                <a:lnTo>
                  <a:pt x="0" y="56920"/>
                </a:lnTo>
                <a:lnTo>
                  <a:pt x="399255" y="100986"/>
                </a:lnTo>
                <a:lnTo>
                  <a:pt x="404828" y="50492"/>
                </a:lnTo>
                <a:lnTo>
                  <a:pt x="5572" y="64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302722" y="4668803"/>
            <a:ext cx="546100" cy="179705"/>
          </a:xfrm>
          <a:custGeom>
            <a:avLst/>
            <a:gdLst/>
            <a:ahLst/>
            <a:cxnLst/>
            <a:rect l="l" t="t" r="r" b="b"/>
            <a:pathLst>
              <a:path w="546100" h="179704">
                <a:moveTo>
                  <a:pt x="391554" y="49768"/>
                </a:moveTo>
                <a:lnTo>
                  <a:pt x="0" y="129910"/>
                </a:lnTo>
                <a:lnTo>
                  <a:pt x="10185" y="179678"/>
                </a:lnTo>
                <a:lnTo>
                  <a:pt x="401740" y="99536"/>
                </a:lnTo>
                <a:lnTo>
                  <a:pt x="391554" y="49768"/>
                </a:lnTo>
                <a:close/>
              </a:path>
              <a:path w="546100" h="179704">
                <a:moveTo>
                  <a:pt x="545211" y="44674"/>
                </a:moveTo>
                <a:lnTo>
                  <a:pt x="416439" y="44674"/>
                </a:lnTo>
                <a:lnTo>
                  <a:pt x="426624" y="94443"/>
                </a:lnTo>
                <a:lnTo>
                  <a:pt x="401740" y="99536"/>
                </a:lnTo>
                <a:lnTo>
                  <a:pt x="411927" y="149305"/>
                </a:lnTo>
                <a:lnTo>
                  <a:pt x="545211" y="44674"/>
                </a:lnTo>
                <a:close/>
              </a:path>
              <a:path w="546100" h="179704">
                <a:moveTo>
                  <a:pt x="416439" y="44674"/>
                </a:moveTo>
                <a:lnTo>
                  <a:pt x="391554" y="49768"/>
                </a:lnTo>
                <a:lnTo>
                  <a:pt x="401740" y="99536"/>
                </a:lnTo>
                <a:lnTo>
                  <a:pt x="426624" y="94443"/>
                </a:lnTo>
                <a:lnTo>
                  <a:pt x="416439" y="44674"/>
                </a:lnTo>
                <a:close/>
              </a:path>
              <a:path w="546100" h="179704">
                <a:moveTo>
                  <a:pt x="381368" y="0"/>
                </a:moveTo>
                <a:lnTo>
                  <a:pt x="391554" y="49768"/>
                </a:lnTo>
                <a:lnTo>
                  <a:pt x="416439" y="44674"/>
                </a:lnTo>
                <a:lnTo>
                  <a:pt x="545211" y="44674"/>
                </a:lnTo>
                <a:lnTo>
                  <a:pt x="545952" y="44093"/>
                </a:lnTo>
                <a:lnTo>
                  <a:pt x="3813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504656" y="2590364"/>
            <a:ext cx="659000" cy="619634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62757" y="3553048"/>
            <a:ext cx="659000" cy="621153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28130" y="4517251"/>
            <a:ext cx="659295" cy="619911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12431793" y="3566858"/>
            <a:ext cx="574040" cy="255270"/>
          </a:xfrm>
          <a:custGeom>
            <a:avLst/>
            <a:gdLst/>
            <a:ahLst/>
            <a:cxnLst/>
            <a:rect l="l" t="t" r="r" b="b"/>
            <a:pathLst>
              <a:path w="574040" h="255270">
                <a:moveTo>
                  <a:pt x="115404" y="112801"/>
                </a:moveTo>
                <a:lnTo>
                  <a:pt x="0" y="238155"/>
                </a:lnTo>
                <a:lnTo>
                  <a:pt x="169527" y="255267"/>
                </a:lnTo>
                <a:lnTo>
                  <a:pt x="154913" y="216799"/>
                </a:lnTo>
                <a:lnTo>
                  <a:pt x="127741" y="216799"/>
                </a:lnTo>
                <a:lnTo>
                  <a:pt x="109701" y="169310"/>
                </a:lnTo>
                <a:lnTo>
                  <a:pt x="133445" y="160289"/>
                </a:lnTo>
                <a:lnTo>
                  <a:pt x="115404" y="112801"/>
                </a:lnTo>
                <a:close/>
              </a:path>
              <a:path w="574040" h="255270">
                <a:moveTo>
                  <a:pt x="133445" y="160289"/>
                </a:moveTo>
                <a:lnTo>
                  <a:pt x="109701" y="169310"/>
                </a:lnTo>
                <a:lnTo>
                  <a:pt x="127741" y="216799"/>
                </a:lnTo>
                <a:lnTo>
                  <a:pt x="151486" y="207778"/>
                </a:lnTo>
                <a:lnTo>
                  <a:pt x="133445" y="160289"/>
                </a:lnTo>
                <a:close/>
              </a:path>
              <a:path w="574040" h="255270">
                <a:moveTo>
                  <a:pt x="151486" y="207778"/>
                </a:moveTo>
                <a:lnTo>
                  <a:pt x="127741" y="216799"/>
                </a:lnTo>
                <a:lnTo>
                  <a:pt x="154913" y="216799"/>
                </a:lnTo>
                <a:lnTo>
                  <a:pt x="151486" y="207778"/>
                </a:lnTo>
                <a:close/>
              </a:path>
              <a:path w="574040" h="255270">
                <a:moveTo>
                  <a:pt x="555378" y="0"/>
                </a:moveTo>
                <a:lnTo>
                  <a:pt x="133445" y="160289"/>
                </a:lnTo>
                <a:lnTo>
                  <a:pt x="151486" y="207778"/>
                </a:lnTo>
                <a:lnTo>
                  <a:pt x="573425" y="47489"/>
                </a:lnTo>
                <a:lnTo>
                  <a:pt x="5553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167487" y="3268491"/>
            <a:ext cx="657758" cy="618467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7273786" y="2659270"/>
            <a:ext cx="3833495" cy="95250"/>
          </a:xfrm>
          <a:custGeom>
            <a:avLst/>
            <a:gdLst/>
            <a:ahLst/>
            <a:cxnLst/>
            <a:rect l="l" t="t" r="r" b="b"/>
            <a:pathLst>
              <a:path w="3833495" h="95250">
                <a:moveTo>
                  <a:pt x="3738079" y="0"/>
                </a:moveTo>
                <a:lnTo>
                  <a:pt x="3738079" y="95250"/>
                </a:lnTo>
                <a:lnTo>
                  <a:pt x="3801579" y="63500"/>
                </a:lnTo>
                <a:lnTo>
                  <a:pt x="3753957" y="63500"/>
                </a:lnTo>
                <a:lnTo>
                  <a:pt x="3753957" y="31750"/>
                </a:lnTo>
                <a:lnTo>
                  <a:pt x="3801579" y="31750"/>
                </a:lnTo>
                <a:lnTo>
                  <a:pt x="3738079" y="0"/>
                </a:lnTo>
                <a:close/>
              </a:path>
              <a:path w="3833495" h="95250">
                <a:moveTo>
                  <a:pt x="3738079" y="31750"/>
                </a:moveTo>
                <a:lnTo>
                  <a:pt x="0" y="31750"/>
                </a:lnTo>
                <a:lnTo>
                  <a:pt x="0" y="63500"/>
                </a:lnTo>
                <a:lnTo>
                  <a:pt x="3738079" y="63500"/>
                </a:lnTo>
                <a:lnTo>
                  <a:pt x="3738079" y="31750"/>
                </a:lnTo>
                <a:close/>
              </a:path>
              <a:path w="3833495" h="95250">
                <a:moveTo>
                  <a:pt x="3801579" y="31750"/>
                </a:moveTo>
                <a:lnTo>
                  <a:pt x="3753957" y="31750"/>
                </a:lnTo>
                <a:lnTo>
                  <a:pt x="3753957" y="63500"/>
                </a:lnTo>
                <a:lnTo>
                  <a:pt x="3801579" y="63500"/>
                </a:lnTo>
                <a:lnTo>
                  <a:pt x="3833329" y="47625"/>
                </a:lnTo>
                <a:lnTo>
                  <a:pt x="3801579" y="3175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407148" y="1794764"/>
            <a:ext cx="547433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Diffusion</a:t>
            </a:r>
            <a:r>
              <a:rPr sz="3000" spc="-6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Models</a:t>
            </a:r>
            <a:r>
              <a:rPr sz="3000" spc="-6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as</a:t>
            </a:r>
            <a:r>
              <a:rPr sz="3000" spc="-5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Neural</a:t>
            </a:r>
            <a:r>
              <a:rPr sz="3000" spc="-5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spc="-20" dirty="0">
                <a:solidFill>
                  <a:srgbClr val="890C58"/>
                </a:solidFill>
                <a:latin typeface="Trebuchet MS"/>
                <a:cs typeface="Trebuchet MS"/>
              </a:rPr>
              <a:t>ODEs</a:t>
            </a:r>
            <a:endParaRPr sz="30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375"/>
              </a:spcBef>
            </a:pPr>
            <a:r>
              <a:rPr sz="1600" dirty="0">
                <a:latin typeface="Arial MT"/>
                <a:cs typeface="Arial MT"/>
              </a:rPr>
              <a:t>Encoding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Probability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Flow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ODE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33930" y="5053779"/>
            <a:ext cx="3820160" cy="95250"/>
          </a:xfrm>
          <a:custGeom>
            <a:avLst/>
            <a:gdLst/>
            <a:ahLst/>
            <a:cxnLst/>
            <a:rect l="l" t="t" r="r" b="b"/>
            <a:pathLst>
              <a:path w="3820159" h="95250">
                <a:moveTo>
                  <a:pt x="95250" y="0"/>
                </a:moveTo>
                <a:lnTo>
                  <a:pt x="0" y="47625"/>
                </a:lnTo>
                <a:lnTo>
                  <a:pt x="95250" y="95250"/>
                </a:lnTo>
                <a:lnTo>
                  <a:pt x="95250" y="63500"/>
                </a:lnTo>
                <a:lnTo>
                  <a:pt x="79366" y="63500"/>
                </a:lnTo>
                <a:lnTo>
                  <a:pt x="79366" y="31750"/>
                </a:lnTo>
                <a:lnTo>
                  <a:pt x="95250" y="31750"/>
                </a:lnTo>
                <a:lnTo>
                  <a:pt x="95250" y="0"/>
                </a:lnTo>
                <a:close/>
              </a:path>
              <a:path w="3820159" h="95250">
                <a:moveTo>
                  <a:pt x="95250" y="31750"/>
                </a:moveTo>
                <a:lnTo>
                  <a:pt x="79366" y="31750"/>
                </a:lnTo>
                <a:lnTo>
                  <a:pt x="79366" y="63500"/>
                </a:lnTo>
                <a:lnTo>
                  <a:pt x="95250" y="63500"/>
                </a:lnTo>
                <a:lnTo>
                  <a:pt x="95250" y="31750"/>
                </a:lnTo>
                <a:close/>
              </a:path>
              <a:path w="3820159" h="95250">
                <a:moveTo>
                  <a:pt x="3820139" y="31750"/>
                </a:moveTo>
                <a:lnTo>
                  <a:pt x="95250" y="31750"/>
                </a:lnTo>
                <a:lnTo>
                  <a:pt x="95250" y="63500"/>
                </a:lnTo>
                <a:lnTo>
                  <a:pt x="3820139" y="63500"/>
                </a:lnTo>
                <a:lnTo>
                  <a:pt x="3820139" y="31750"/>
                </a:lnTo>
                <a:close/>
              </a:path>
            </a:pathLst>
          </a:custGeom>
          <a:solidFill>
            <a:srgbClr val="5E5E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7427910" y="5093715"/>
            <a:ext cx="343344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Generation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with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Probability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Flow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ODE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378631" y="5411354"/>
            <a:ext cx="3415029" cy="480059"/>
            <a:chOff x="7378631" y="5411354"/>
            <a:chExt cx="3415029" cy="480059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19955" y="5411354"/>
              <a:ext cx="473261" cy="4799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78631" y="5411354"/>
              <a:ext cx="473261" cy="47995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68853" y="5411354"/>
              <a:ext cx="473261" cy="47995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59074" y="5411354"/>
              <a:ext cx="473261" cy="47995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849295" y="5411354"/>
              <a:ext cx="473261" cy="47995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339514" y="5411354"/>
              <a:ext cx="473261" cy="47995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29735" y="5411354"/>
              <a:ext cx="473261" cy="47995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468159" y="5784132"/>
            <a:ext cx="309245" cy="3136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900" b="1" spc="35" dirty="0">
                <a:latin typeface="Calibri"/>
                <a:cs typeface="Calibri"/>
              </a:rPr>
              <a:t>x</a:t>
            </a:r>
            <a:r>
              <a:rPr sz="1950" spc="52" baseline="-12820" dirty="0">
                <a:latin typeface="Verdana"/>
                <a:cs typeface="Verdana"/>
              </a:rPr>
              <a:t>0</a:t>
            </a:r>
            <a:endParaRPr sz="1950" baseline="-1282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982952" y="5705347"/>
            <a:ext cx="8789670" cy="2379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620">
              <a:lnSpc>
                <a:spcPct val="100000"/>
              </a:lnSpc>
              <a:spcBef>
                <a:spcPts val="100"/>
              </a:spcBef>
              <a:tabLst>
                <a:tab pos="993140" algn="l"/>
                <a:tab pos="1729739" algn="l"/>
                <a:tab pos="2472690" algn="l"/>
              </a:tabLst>
            </a:pPr>
            <a:r>
              <a:rPr sz="2400" spc="-50" dirty="0">
                <a:latin typeface="Calibri"/>
                <a:cs typeface="Calibri"/>
              </a:rPr>
              <a:t>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850" b="1" spc="209" baseline="-2923" dirty="0">
                <a:latin typeface="Calibri"/>
                <a:cs typeface="Calibri"/>
              </a:rPr>
              <a:t>x</a:t>
            </a:r>
            <a:r>
              <a:rPr sz="1950" i="1" spc="209" baseline="-17094" dirty="0">
                <a:latin typeface="Calibri"/>
                <a:cs typeface="Calibri"/>
              </a:rPr>
              <a:t>t</a:t>
            </a:r>
            <a:r>
              <a:rPr sz="1950" i="1" baseline="-17094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…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925" b="1" spc="315" baseline="-4273" dirty="0">
                <a:latin typeface="Calibri"/>
                <a:cs typeface="Calibri"/>
              </a:rPr>
              <a:t>x</a:t>
            </a:r>
            <a:r>
              <a:rPr sz="2025" i="1" spc="315" baseline="-18518" dirty="0">
                <a:latin typeface="Calibri"/>
                <a:cs typeface="Calibri"/>
              </a:rPr>
              <a:t>T</a:t>
            </a:r>
            <a:endParaRPr sz="2025" baseline="-18518">
              <a:latin typeface="Calibri"/>
              <a:cs typeface="Calibri"/>
            </a:endParaRPr>
          </a:p>
          <a:p>
            <a:pPr marL="50165" marR="3350895" indent="-12700">
              <a:lnSpc>
                <a:spcPct val="151300"/>
              </a:lnSpc>
              <a:spcBef>
                <a:spcPts val="365"/>
              </a:spcBef>
            </a:pPr>
            <a:r>
              <a:rPr sz="2300" dirty="0">
                <a:latin typeface="Trebuchet MS"/>
                <a:cs typeface="Trebuchet MS"/>
              </a:rPr>
              <a:t>Enables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advanced</a:t>
            </a:r>
            <a:r>
              <a:rPr sz="2300" b="1" spc="40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ODE</a:t>
            </a:r>
            <a:r>
              <a:rPr sz="2300" b="1" spc="40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solvers </a:t>
            </a:r>
            <a:r>
              <a:rPr sz="2300" b="1" dirty="0">
                <a:latin typeface="Trebuchet MS"/>
                <a:cs typeface="Trebuchet MS"/>
              </a:rPr>
              <a:t>Deterministic</a:t>
            </a:r>
            <a:r>
              <a:rPr sz="2300" b="1" spc="5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encoding</a:t>
            </a:r>
            <a:r>
              <a:rPr sz="2300" b="1" spc="5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and</a:t>
            </a:r>
            <a:r>
              <a:rPr sz="2300" b="1" spc="45" dirty="0">
                <a:latin typeface="Trebuchet MS"/>
                <a:cs typeface="Trebuchet MS"/>
              </a:rPr>
              <a:t> </a:t>
            </a:r>
            <a:r>
              <a:rPr sz="2300" b="1" spc="-10" dirty="0">
                <a:latin typeface="Trebuchet MS"/>
                <a:cs typeface="Trebuchet MS"/>
              </a:rPr>
              <a:t>generation</a:t>
            </a:r>
            <a:endParaRPr sz="2300">
              <a:latin typeface="Trebuchet MS"/>
              <a:cs typeface="Trebuchet MS"/>
            </a:endParaRPr>
          </a:p>
          <a:p>
            <a:pPr marL="50165">
              <a:lnSpc>
                <a:spcPct val="100000"/>
              </a:lnSpc>
              <a:spcBef>
                <a:spcPts val="20"/>
              </a:spcBef>
            </a:pPr>
            <a:r>
              <a:rPr sz="2300" dirty="0">
                <a:latin typeface="Trebuchet MS"/>
                <a:cs typeface="Trebuchet MS"/>
              </a:rPr>
              <a:t>(semantic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image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interpolation,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etc.)</a:t>
            </a:r>
            <a:endParaRPr sz="230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1395"/>
              </a:spcBef>
            </a:pPr>
            <a:r>
              <a:rPr sz="2300" b="1" dirty="0">
                <a:latin typeface="Trebuchet MS"/>
                <a:cs typeface="Trebuchet MS"/>
              </a:rPr>
              <a:t>Log-likelihood</a:t>
            </a:r>
            <a:r>
              <a:rPr sz="2300" b="1" spc="75" dirty="0">
                <a:latin typeface="Trebuchet MS"/>
                <a:cs typeface="Trebuchet MS"/>
              </a:rPr>
              <a:t> </a:t>
            </a:r>
            <a:r>
              <a:rPr sz="2300" b="1" dirty="0">
                <a:latin typeface="Trebuchet MS"/>
                <a:cs typeface="Trebuchet MS"/>
              </a:rPr>
              <a:t>computation</a:t>
            </a:r>
            <a:r>
              <a:rPr sz="2300" b="1" spc="9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(instantaneous</a:t>
            </a:r>
            <a:r>
              <a:rPr sz="2300" spc="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change</a:t>
            </a:r>
            <a:r>
              <a:rPr sz="2300" spc="8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variables):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479969" y="6935851"/>
            <a:ext cx="318770" cy="235585"/>
          </a:xfrm>
          <a:custGeom>
            <a:avLst/>
            <a:gdLst/>
            <a:ahLst/>
            <a:cxnLst/>
            <a:rect l="l" t="t" r="r" b="b"/>
            <a:pathLst>
              <a:path w="318770" h="235584">
                <a:moveTo>
                  <a:pt x="200889" y="0"/>
                </a:moveTo>
                <a:lnTo>
                  <a:pt x="200889" y="58882"/>
                </a:lnTo>
                <a:lnTo>
                  <a:pt x="0" y="58882"/>
                </a:lnTo>
                <a:lnTo>
                  <a:pt x="0" y="176645"/>
                </a:lnTo>
                <a:lnTo>
                  <a:pt x="200889" y="176645"/>
                </a:lnTo>
                <a:lnTo>
                  <a:pt x="200889" y="235527"/>
                </a:lnTo>
                <a:lnTo>
                  <a:pt x="318654" y="117764"/>
                </a:lnTo>
                <a:lnTo>
                  <a:pt x="200889" y="0"/>
                </a:lnTo>
                <a:close/>
              </a:path>
            </a:pathLst>
          </a:custGeom>
          <a:solidFill>
            <a:srgbClr val="76B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6125370" y="5008268"/>
            <a:ext cx="720090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20" dirty="0">
                <a:latin typeface="Cambria"/>
                <a:cs typeface="Cambria"/>
              </a:rPr>
              <a:t>q</a:t>
            </a:r>
            <a:r>
              <a:rPr sz="2150" spc="120" dirty="0">
                <a:latin typeface="Calibri"/>
                <a:cs typeface="Calibri"/>
              </a:rPr>
              <a:t>(</a:t>
            </a:r>
            <a:r>
              <a:rPr sz="2150" b="1" spc="120" dirty="0">
                <a:latin typeface="Calibri"/>
                <a:cs typeface="Calibri"/>
              </a:rPr>
              <a:t>x</a:t>
            </a:r>
            <a:r>
              <a:rPr sz="2250" spc="179" baseline="-12962" dirty="0">
                <a:latin typeface="Verdana"/>
                <a:cs typeface="Verdana"/>
              </a:rPr>
              <a:t>0</a:t>
            </a:r>
            <a:r>
              <a:rPr sz="2150" spc="12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461422" y="5008383"/>
            <a:ext cx="770255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85" dirty="0">
                <a:latin typeface="Cambria"/>
                <a:cs typeface="Cambria"/>
              </a:rPr>
              <a:t>q</a:t>
            </a:r>
            <a:r>
              <a:rPr sz="2150" spc="185" dirty="0">
                <a:latin typeface="Calibri"/>
                <a:cs typeface="Calibri"/>
              </a:rPr>
              <a:t>(</a:t>
            </a:r>
            <a:r>
              <a:rPr sz="2150" b="1" spc="185" dirty="0">
                <a:latin typeface="Calibri"/>
                <a:cs typeface="Calibri"/>
              </a:rPr>
              <a:t>x</a:t>
            </a:r>
            <a:r>
              <a:rPr sz="2250" i="1" spc="277" baseline="-12962" dirty="0">
                <a:latin typeface="Calibri"/>
                <a:cs typeface="Calibri"/>
              </a:rPr>
              <a:t>T</a:t>
            </a:r>
            <a:r>
              <a:rPr sz="2250" i="1" spc="22" baseline="-12962" dirty="0">
                <a:latin typeface="Calibri"/>
                <a:cs typeface="Calibri"/>
              </a:rPr>
              <a:t> </a:t>
            </a:r>
            <a:r>
              <a:rPr sz="2150" spc="145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904174" y="2789557"/>
            <a:ext cx="4482031" cy="2227390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16615320" y="9798970"/>
            <a:ext cx="180975" cy="20256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47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1699" y="9823514"/>
            <a:ext cx="2400935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Song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et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al.,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"/>
                <a:cs typeface="Arial"/>
                <a:hlinkClick r:id="rId16"/>
              </a:rPr>
              <a:t>ICLR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,</a:t>
            </a:r>
            <a:r>
              <a:rPr sz="18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16"/>
              </a:rPr>
              <a:t>2021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48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156573" y="1066800"/>
            <a:ext cx="197294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Part</a:t>
            </a:r>
            <a:r>
              <a:rPr spc="-75" dirty="0"/>
              <a:t> </a:t>
            </a:r>
            <a:r>
              <a:rPr dirty="0"/>
              <a:t>(1):</a:t>
            </a:r>
            <a:r>
              <a:rPr spc="-75" dirty="0"/>
              <a:t> </a:t>
            </a:r>
            <a:r>
              <a:rPr dirty="0"/>
              <a:t>Denoising</a:t>
            </a:r>
            <a:r>
              <a:rPr spc="-85" dirty="0"/>
              <a:t> </a:t>
            </a:r>
            <a:r>
              <a:rPr dirty="0"/>
              <a:t>Diffusion</a:t>
            </a:r>
            <a:r>
              <a:rPr spc="-80" dirty="0"/>
              <a:t> </a:t>
            </a:r>
            <a:r>
              <a:rPr dirty="0"/>
              <a:t>Probabilistic</a:t>
            </a:r>
            <a:r>
              <a:rPr spc="-70" dirty="0"/>
              <a:t> </a:t>
            </a:r>
            <a:r>
              <a:rPr spc="-10" dirty="0"/>
              <a:t>Models</a:t>
            </a: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(2):</a:t>
            </a:r>
            <a:r>
              <a:rPr spc="-70" dirty="0"/>
              <a:t> </a:t>
            </a:r>
            <a:r>
              <a:rPr spc="-10" dirty="0"/>
              <a:t>Score-</a:t>
            </a:r>
            <a:r>
              <a:rPr dirty="0"/>
              <a:t>based</a:t>
            </a:r>
            <a:r>
              <a:rPr spc="-65" dirty="0"/>
              <a:t> </a:t>
            </a:r>
            <a:r>
              <a:rPr dirty="0"/>
              <a:t>Generative</a:t>
            </a:r>
            <a:r>
              <a:rPr spc="-65" dirty="0"/>
              <a:t> </a:t>
            </a:r>
            <a:r>
              <a:rPr dirty="0"/>
              <a:t>Modeling</a:t>
            </a:r>
            <a:r>
              <a:rPr spc="-7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Differential</a:t>
            </a:r>
            <a:r>
              <a:rPr spc="-70" dirty="0"/>
              <a:t> </a:t>
            </a:r>
            <a:r>
              <a:rPr spc="-10" dirty="0"/>
              <a:t>Equations</a:t>
            </a:r>
          </a:p>
          <a:p>
            <a:pPr marL="12700">
              <a:lnSpc>
                <a:spcPct val="100000"/>
              </a:lnSpc>
              <a:spcBef>
                <a:spcPts val="2640"/>
              </a:spcBef>
            </a:pP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Part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(3):</a:t>
            </a:r>
            <a:r>
              <a:rPr b="1" spc="-7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Accelerated</a:t>
            </a:r>
            <a:r>
              <a:rPr b="1" spc="-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C00000"/>
                </a:solidFill>
                <a:latin typeface="Trebuchet MS"/>
                <a:cs typeface="Trebuchet MS"/>
              </a:rPr>
              <a:t>Sampling</a:t>
            </a: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dirty="0"/>
              <a:t>Part</a:t>
            </a:r>
            <a:r>
              <a:rPr spc="-55" dirty="0"/>
              <a:t> </a:t>
            </a:r>
            <a:r>
              <a:rPr dirty="0"/>
              <a:t>(4):</a:t>
            </a:r>
            <a:r>
              <a:rPr spc="-60" dirty="0"/>
              <a:t> </a:t>
            </a:r>
            <a:r>
              <a:rPr dirty="0"/>
              <a:t>Conditional</a:t>
            </a:r>
            <a:r>
              <a:rPr spc="-60" dirty="0"/>
              <a:t> </a:t>
            </a:r>
            <a:r>
              <a:rPr dirty="0"/>
              <a:t>Generation</a:t>
            </a:r>
            <a:r>
              <a:rPr spc="-65" dirty="0"/>
              <a:t> </a:t>
            </a:r>
            <a:r>
              <a:rPr dirty="0"/>
              <a:t>and</a:t>
            </a:r>
            <a:r>
              <a:rPr spc="-55" dirty="0"/>
              <a:t> </a:t>
            </a:r>
            <a:r>
              <a:rPr spc="-10" dirty="0"/>
              <a:t>Guidance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8600" y="1066800"/>
            <a:ext cx="1021461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55" dirty="0"/>
              <a:t> </a:t>
            </a:r>
            <a:r>
              <a:rPr dirty="0"/>
              <a:t>makes</a:t>
            </a:r>
            <a:r>
              <a:rPr spc="-155" dirty="0"/>
              <a:t> </a:t>
            </a:r>
            <a:r>
              <a:rPr dirty="0"/>
              <a:t>a</a:t>
            </a:r>
            <a:r>
              <a:rPr spc="-160" dirty="0"/>
              <a:t> </a:t>
            </a:r>
            <a:r>
              <a:rPr dirty="0"/>
              <a:t>good</a:t>
            </a:r>
            <a:r>
              <a:rPr spc="-155" dirty="0"/>
              <a:t> </a:t>
            </a:r>
            <a:r>
              <a:rPr dirty="0"/>
              <a:t>generative</a:t>
            </a:r>
            <a:r>
              <a:rPr spc="-155" dirty="0"/>
              <a:t> </a:t>
            </a:r>
            <a:r>
              <a:rPr spc="-10" dirty="0"/>
              <a:t>model?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3179" y="3770880"/>
            <a:ext cx="6943977" cy="61661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17856" y="6312915"/>
            <a:ext cx="2693670" cy="1214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indent="-635" algn="ctr">
              <a:lnSpc>
                <a:spcPts val="3000"/>
              </a:lnSpc>
              <a:spcBef>
                <a:spcPts val="500"/>
              </a:spcBef>
            </a:pPr>
            <a:r>
              <a:rPr sz="2800" spc="-10" dirty="0">
                <a:solidFill>
                  <a:srgbClr val="C00000"/>
                </a:solidFill>
                <a:latin typeface="Trebuchet MS"/>
                <a:cs typeface="Trebuchet MS"/>
              </a:rPr>
              <a:t>Generative Adversarial </a:t>
            </a:r>
            <a:r>
              <a:rPr sz="2800" dirty="0">
                <a:solidFill>
                  <a:srgbClr val="C00000"/>
                </a:solidFill>
                <a:latin typeface="Trebuchet MS"/>
                <a:cs typeface="Trebuchet MS"/>
              </a:rPr>
              <a:t>Networks</a:t>
            </a:r>
            <a:r>
              <a:rPr sz="2800" spc="-8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C00000"/>
                </a:solidFill>
                <a:latin typeface="Trebuchet MS"/>
                <a:cs typeface="Trebuchet MS"/>
              </a:rPr>
              <a:t>(GANs)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5112" y="9697156"/>
            <a:ext cx="778573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u="dash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Tackling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the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Generative</a:t>
            </a:r>
            <a:r>
              <a:rPr sz="1600" u="dash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Learning</a:t>
            </a:r>
            <a:r>
              <a:rPr sz="1600" u="dash" spc="-6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Trilemma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with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Denoising</a:t>
            </a:r>
            <a:r>
              <a:rPr sz="1600" u="dash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Diffusion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GANs,</a:t>
            </a:r>
            <a:r>
              <a:rPr sz="1600" u="dash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ICLR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2022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49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932740" y="6312915"/>
            <a:ext cx="1540510" cy="1214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66675" marR="5080" indent="-53975" algn="just">
              <a:lnSpc>
                <a:spcPts val="3000"/>
              </a:lnSpc>
              <a:spcBef>
                <a:spcPts val="500"/>
              </a:spcBef>
            </a:pPr>
            <a:r>
              <a:rPr sz="2800" spc="-10" dirty="0">
                <a:solidFill>
                  <a:srgbClr val="0071C5"/>
                </a:solidFill>
                <a:latin typeface="Trebuchet MS"/>
                <a:cs typeface="Trebuchet MS"/>
              </a:rPr>
              <a:t>Denoising Diffusion Models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820976" y="8278876"/>
            <a:ext cx="3754120" cy="83311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01930" marR="5080" indent="-189865">
              <a:lnSpc>
                <a:spcPts val="3000"/>
              </a:lnSpc>
              <a:spcBef>
                <a:spcPts val="500"/>
              </a:spcBef>
            </a:pPr>
            <a:r>
              <a:rPr sz="2800" dirty="0">
                <a:solidFill>
                  <a:srgbClr val="0071C5"/>
                </a:solidFill>
                <a:latin typeface="Trebuchet MS"/>
                <a:cs typeface="Trebuchet MS"/>
              </a:rPr>
              <a:t>Often</a:t>
            </a:r>
            <a:r>
              <a:rPr sz="2800" spc="-75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0071C5"/>
                </a:solidFill>
                <a:latin typeface="Trebuchet MS"/>
                <a:cs typeface="Trebuchet MS"/>
              </a:rPr>
              <a:t>requires</a:t>
            </a:r>
            <a:r>
              <a:rPr sz="2800" spc="-60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0071C5"/>
                </a:solidFill>
                <a:latin typeface="Trebuchet MS"/>
                <a:cs typeface="Trebuchet MS"/>
              </a:rPr>
              <a:t>1000s</a:t>
            </a:r>
            <a:r>
              <a:rPr sz="2800" spc="-65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2800" spc="-25" dirty="0">
                <a:solidFill>
                  <a:srgbClr val="0071C5"/>
                </a:solidFill>
                <a:latin typeface="Trebuchet MS"/>
                <a:cs typeface="Trebuchet MS"/>
              </a:rPr>
              <a:t>of </a:t>
            </a:r>
            <a:r>
              <a:rPr sz="2800" dirty="0">
                <a:solidFill>
                  <a:srgbClr val="0071C5"/>
                </a:solidFill>
                <a:latin typeface="Trebuchet MS"/>
                <a:cs typeface="Trebuchet MS"/>
              </a:rPr>
              <a:t>network</a:t>
            </a:r>
            <a:r>
              <a:rPr sz="2800" spc="-85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0071C5"/>
                </a:solidFill>
                <a:latin typeface="Trebuchet MS"/>
                <a:cs typeface="Trebuchet MS"/>
              </a:rPr>
              <a:t>evaluations!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2687" y="1794764"/>
            <a:ext cx="5763260" cy="1992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The</a:t>
            </a:r>
            <a:r>
              <a:rPr sz="3000" spc="-6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generative</a:t>
            </a:r>
            <a:r>
              <a:rPr sz="3000" spc="-6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learning</a:t>
            </a:r>
            <a:r>
              <a:rPr sz="3000" spc="-7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890C58"/>
                </a:solidFill>
                <a:latin typeface="Trebuchet MS"/>
                <a:cs typeface="Trebuchet MS"/>
              </a:rPr>
              <a:t>trilemma</a:t>
            </a:r>
            <a:endParaRPr sz="3000">
              <a:latin typeface="Trebuchet MS"/>
              <a:cs typeface="Trebuchet MS"/>
            </a:endParaRPr>
          </a:p>
          <a:p>
            <a:pPr marL="898525" marR="760730" indent="635" algn="ctr">
              <a:lnSpc>
                <a:spcPts val="3000"/>
              </a:lnSpc>
              <a:spcBef>
                <a:spcPts val="2925"/>
              </a:spcBef>
            </a:pPr>
            <a:r>
              <a:rPr sz="2800" spc="-10" dirty="0">
                <a:solidFill>
                  <a:srgbClr val="76B900"/>
                </a:solidFill>
                <a:latin typeface="Trebuchet MS"/>
                <a:cs typeface="Trebuchet MS"/>
              </a:rPr>
              <a:t>Likelihood-</a:t>
            </a:r>
            <a:r>
              <a:rPr sz="2800" dirty="0">
                <a:solidFill>
                  <a:srgbClr val="76B900"/>
                </a:solidFill>
                <a:latin typeface="Trebuchet MS"/>
                <a:cs typeface="Trebuchet MS"/>
              </a:rPr>
              <a:t>based</a:t>
            </a:r>
            <a:r>
              <a:rPr sz="2800" spc="-25" dirty="0">
                <a:solidFill>
                  <a:srgbClr val="76B9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76B900"/>
                </a:solidFill>
                <a:latin typeface="Trebuchet MS"/>
                <a:cs typeface="Trebuchet MS"/>
              </a:rPr>
              <a:t>models </a:t>
            </a:r>
            <a:r>
              <a:rPr sz="2800" spc="-30" dirty="0">
                <a:solidFill>
                  <a:srgbClr val="76B900"/>
                </a:solidFill>
                <a:latin typeface="Trebuchet MS"/>
                <a:cs typeface="Trebuchet MS"/>
              </a:rPr>
              <a:t>(Variational</a:t>
            </a:r>
            <a:r>
              <a:rPr sz="2800" spc="-120" dirty="0">
                <a:solidFill>
                  <a:srgbClr val="76B9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76B900"/>
                </a:solidFill>
                <a:latin typeface="Trebuchet MS"/>
                <a:cs typeface="Trebuchet MS"/>
              </a:rPr>
              <a:t>Autoencoders </a:t>
            </a:r>
            <a:r>
              <a:rPr sz="2800" dirty="0">
                <a:solidFill>
                  <a:srgbClr val="76B900"/>
                </a:solidFill>
                <a:latin typeface="Trebuchet MS"/>
                <a:cs typeface="Trebuchet MS"/>
              </a:rPr>
              <a:t>&amp;</a:t>
            </a:r>
            <a:r>
              <a:rPr sz="2800" spc="-55" dirty="0">
                <a:solidFill>
                  <a:srgbClr val="76B900"/>
                </a:solidFill>
                <a:latin typeface="Trebuchet MS"/>
                <a:cs typeface="Trebuchet MS"/>
              </a:rPr>
              <a:t> </a:t>
            </a:r>
            <a:r>
              <a:rPr sz="2800" dirty="0">
                <a:solidFill>
                  <a:srgbClr val="76B900"/>
                </a:solidFill>
                <a:latin typeface="Trebuchet MS"/>
                <a:cs typeface="Trebuchet MS"/>
              </a:rPr>
              <a:t>Normalizing</a:t>
            </a:r>
            <a:r>
              <a:rPr sz="2800" spc="-55" dirty="0">
                <a:solidFill>
                  <a:srgbClr val="76B900"/>
                </a:solidFill>
                <a:latin typeface="Trebuchet MS"/>
                <a:cs typeface="Trebuchet MS"/>
              </a:rPr>
              <a:t> </a:t>
            </a:r>
            <a:r>
              <a:rPr sz="2800" spc="-10" dirty="0">
                <a:solidFill>
                  <a:srgbClr val="76B900"/>
                </a:solidFill>
                <a:latin typeface="Trebuchet MS"/>
                <a:cs typeface="Trebuchet MS"/>
              </a:rPr>
              <a:t>flows)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55934" y="7636764"/>
            <a:ext cx="150749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270" algn="ctr">
              <a:lnSpc>
                <a:spcPct val="100299"/>
              </a:lnSpc>
              <a:spcBef>
                <a:spcPts val="85"/>
              </a:spcBef>
            </a:pP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High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Quality Samples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24685" y="4595876"/>
            <a:ext cx="180022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FFFFFF"/>
                </a:solidFill>
                <a:latin typeface="Trebuchet MS"/>
                <a:cs typeface="Trebuchet MS"/>
              </a:rPr>
              <a:t>Mode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Coverage/ Diversity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8553" y="4792979"/>
            <a:ext cx="1663064" cy="99504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1959">
              <a:lnSpc>
                <a:spcPts val="3790"/>
              </a:lnSpc>
              <a:spcBef>
                <a:spcPts val="250"/>
              </a:spcBef>
            </a:pP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Fast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Sampling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8600" y="1066800"/>
            <a:ext cx="1021461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What</a:t>
            </a:r>
            <a:r>
              <a:rPr spc="-155" dirty="0"/>
              <a:t> </a:t>
            </a:r>
            <a:r>
              <a:rPr dirty="0"/>
              <a:t>makes</a:t>
            </a:r>
            <a:r>
              <a:rPr spc="-155" dirty="0"/>
              <a:t> </a:t>
            </a:r>
            <a:r>
              <a:rPr dirty="0"/>
              <a:t>a</a:t>
            </a:r>
            <a:r>
              <a:rPr spc="-160" dirty="0"/>
              <a:t> </a:t>
            </a:r>
            <a:r>
              <a:rPr dirty="0"/>
              <a:t>good</a:t>
            </a:r>
            <a:r>
              <a:rPr spc="-155" dirty="0"/>
              <a:t> </a:t>
            </a:r>
            <a:r>
              <a:rPr dirty="0"/>
              <a:t>generative</a:t>
            </a:r>
            <a:r>
              <a:rPr spc="-155" dirty="0"/>
              <a:t> </a:t>
            </a:r>
            <a:r>
              <a:rPr spc="-10" dirty="0"/>
              <a:t>model?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1287" y="1794764"/>
            <a:ext cx="9749155" cy="1393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75615" algn="ctr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The</a:t>
            </a:r>
            <a:r>
              <a:rPr sz="3000" spc="-6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generative</a:t>
            </a:r>
            <a:r>
              <a:rPr sz="3000" spc="-6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dirty="0">
                <a:solidFill>
                  <a:srgbClr val="890C58"/>
                </a:solidFill>
                <a:latin typeface="Trebuchet MS"/>
                <a:cs typeface="Trebuchet MS"/>
              </a:rPr>
              <a:t>learning</a:t>
            </a:r>
            <a:r>
              <a:rPr sz="3000" spc="-7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3000" spc="-10" dirty="0">
                <a:solidFill>
                  <a:srgbClr val="890C58"/>
                </a:solidFill>
                <a:latin typeface="Trebuchet MS"/>
                <a:cs typeface="Trebuchet MS"/>
              </a:rPr>
              <a:t>trilemma</a:t>
            </a:r>
            <a:endParaRPr sz="3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25"/>
              </a:spcBef>
            </a:pPr>
            <a:r>
              <a:rPr sz="3200" spc="-55" dirty="0">
                <a:solidFill>
                  <a:srgbClr val="EE6A00"/>
                </a:solidFill>
                <a:latin typeface="Trebuchet MS"/>
                <a:cs typeface="Trebuchet MS"/>
              </a:rPr>
              <a:t>Tackle</a:t>
            </a:r>
            <a:r>
              <a:rPr sz="3200" spc="-90" dirty="0">
                <a:solidFill>
                  <a:srgbClr val="EE6A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EE6A00"/>
                </a:solidFill>
                <a:latin typeface="Trebuchet MS"/>
                <a:cs typeface="Trebuchet MS"/>
              </a:rPr>
              <a:t>the</a:t>
            </a:r>
            <a:r>
              <a:rPr sz="3200" spc="-90" dirty="0">
                <a:solidFill>
                  <a:srgbClr val="EE6A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EE6A00"/>
                </a:solidFill>
                <a:latin typeface="Trebuchet MS"/>
                <a:cs typeface="Trebuchet MS"/>
              </a:rPr>
              <a:t>trilemma</a:t>
            </a:r>
            <a:r>
              <a:rPr sz="3200" spc="-85" dirty="0">
                <a:solidFill>
                  <a:srgbClr val="EE6A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EE6A00"/>
                </a:solidFill>
                <a:latin typeface="Trebuchet MS"/>
                <a:cs typeface="Trebuchet MS"/>
              </a:rPr>
              <a:t>by</a:t>
            </a:r>
            <a:r>
              <a:rPr sz="3200" spc="-95" dirty="0">
                <a:solidFill>
                  <a:srgbClr val="EE6A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EE6A00"/>
                </a:solidFill>
                <a:latin typeface="Trebuchet MS"/>
                <a:cs typeface="Trebuchet MS"/>
              </a:rPr>
              <a:t>accelerating</a:t>
            </a:r>
            <a:r>
              <a:rPr sz="3200" spc="-85" dirty="0">
                <a:solidFill>
                  <a:srgbClr val="EE6A00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EE6A00"/>
                </a:solidFill>
                <a:latin typeface="Trebuchet MS"/>
                <a:cs typeface="Trebuchet MS"/>
              </a:rPr>
              <a:t>diffusion</a:t>
            </a:r>
            <a:r>
              <a:rPr sz="3200" spc="-90" dirty="0">
                <a:solidFill>
                  <a:srgbClr val="EE6A00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EE6A00"/>
                </a:solidFill>
                <a:latin typeface="Trebuchet MS"/>
                <a:cs typeface="Trebuchet MS"/>
              </a:rPr>
              <a:t>models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24393" y="7007276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1" y="0"/>
                </a:moveTo>
                <a:lnTo>
                  <a:pt x="1336957" y="837"/>
                </a:lnTo>
                <a:lnTo>
                  <a:pt x="1288734" y="3333"/>
                </a:lnTo>
                <a:lnTo>
                  <a:pt x="1240959" y="7458"/>
                </a:lnTo>
                <a:lnTo>
                  <a:pt x="1193661" y="13186"/>
                </a:lnTo>
                <a:lnTo>
                  <a:pt x="1146866" y="20489"/>
                </a:lnTo>
                <a:lnTo>
                  <a:pt x="1100601" y="29340"/>
                </a:lnTo>
                <a:lnTo>
                  <a:pt x="1054895" y="39711"/>
                </a:lnTo>
                <a:lnTo>
                  <a:pt x="1009775" y="51574"/>
                </a:lnTo>
                <a:lnTo>
                  <a:pt x="965269" y="64903"/>
                </a:lnTo>
                <a:lnTo>
                  <a:pt x="921403" y="79669"/>
                </a:lnTo>
                <a:lnTo>
                  <a:pt x="878206" y="95846"/>
                </a:lnTo>
                <a:lnTo>
                  <a:pt x="835704" y="113405"/>
                </a:lnTo>
                <a:lnTo>
                  <a:pt x="793926" y="132320"/>
                </a:lnTo>
                <a:lnTo>
                  <a:pt x="752898" y="152562"/>
                </a:lnTo>
                <a:lnTo>
                  <a:pt x="712649" y="174104"/>
                </a:lnTo>
                <a:lnTo>
                  <a:pt x="673205" y="196920"/>
                </a:lnTo>
                <a:lnTo>
                  <a:pt x="634595" y="220981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8"/>
                </a:lnTo>
                <a:lnTo>
                  <a:pt x="455002" y="359003"/>
                </a:lnTo>
                <a:lnTo>
                  <a:pt x="421967" y="389959"/>
                </a:lnTo>
                <a:lnTo>
                  <a:pt x="389959" y="421968"/>
                </a:lnTo>
                <a:lnTo>
                  <a:pt x="359003" y="455002"/>
                </a:lnTo>
                <a:lnTo>
                  <a:pt x="329127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5"/>
                </a:lnTo>
                <a:lnTo>
                  <a:pt x="220981" y="634595"/>
                </a:lnTo>
                <a:lnTo>
                  <a:pt x="196920" y="673205"/>
                </a:lnTo>
                <a:lnTo>
                  <a:pt x="174104" y="712649"/>
                </a:lnTo>
                <a:lnTo>
                  <a:pt x="152562" y="752899"/>
                </a:lnTo>
                <a:lnTo>
                  <a:pt x="132319" y="793926"/>
                </a:lnTo>
                <a:lnTo>
                  <a:pt x="113405" y="835705"/>
                </a:lnTo>
                <a:lnTo>
                  <a:pt x="95846" y="878206"/>
                </a:lnTo>
                <a:lnTo>
                  <a:pt x="79669" y="921404"/>
                </a:lnTo>
                <a:lnTo>
                  <a:pt x="64903" y="965270"/>
                </a:lnTo>
                <a:lnTo>
                  <a:pt x="51574" y="1009776"/>
                </a:lnTo>
                <a:lnTo>
                  <a:pt x="39711" y="1054896"/>
                </a:lnTo>
                <a:lnTo>
                  <a:pt x="29340" y="1100602"/>
                </a:lnTo>
                <a:lnTo>
                  <a:pt x="20489" y="1146866"/>
                </a:lnTo>
                <a:lnTo>
                  <a:pt x="13186" y="1193662"/>
                </a:lnTo>
                <a:lnTo>
                  <a:pt x="7458" y="1240960"/>
                </a:lnTo>
                <a:lnTo>
                  <a:pt x="3333" y="1288735"/>
                </a:lnTo>
                <a:lnTo>
                  <a:pt x="837" y="1336958"/>
                </a:lnTo>
                <a:lnTo>
                  <a:pt x="0" y="1385603"/>
                </a:lnTo>
                <a:lnTo>
                  <a:pt x="837" y="1434247"/>
                </a:lnTo>
                <a:lnTo>
                  <a:pt x="3333" y="1482470"/>
                </a:lnTo>
                <a:lnTo>
                  <a:pt x="7458" y="1530244"/>
                </a:lnTo>
                <a:lnTo>
                  <a:pt x="13186" y="1577543"/>
                </a:lnTo>
                <a:lnTo>
                  <a:pt x="20489" y="1624338"/>
                </a:lnTo>
                <a:lnTo>
                  <a:pt x="29340" y="1670603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5"/>
                </a:lnTo>
                <a:lnTo>
                  <a:pt x="79669" y="1849801"/>
                </a:lnTo>
                <a:lnTo>
                  <a:pt x="95846" y="1892998"/>
                </a:lnTo>
                <a:lnTo>
                  <a:pt x="113405" y="1935500"/>
                </a:lnTo>
                <a:lnTo>
                  <a:pt x="132319" y="1977278"/>
                </a:lnTo>
                <a:lnTo>
                  <a:pt x="152562" y="2018306"/>
                </a:lnTo>
                <a:lnTo>
                  <a:pt x="174104" y="2058555"/>
                </a:lnTo>
                <a:lnTo>
                  <a:pt x="196920" y="2097999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1"/>
                </a:lnTo>
                <a:lnTo>
                  <a:pt x="300360" y="2247167"/>
                </a:lnTo>
                <a:lnTo>
                  <a:pt x="329127" y="2282170"/>
                </a:lnTo>
                <a:lnTo>
                  <a:pt x="359003" y="2316202"/>
                </a:lnTo>
                <a:lnTo>
                  <a:pt x="389959" y="2349237"/>
                </a:lnTo>
                <a:lnTo>
                  <a:pt x="421967" y="2381245"/>
                </a:lnTo>
                <a:lnTo>
                  <a:pt x="455002" y="2412201"/>
                </a:lnTo>
                <a:lnTo>
                  <a:pt x="489034" y="2442077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4"/>
                </a:lnTo>
                <a:lnTo>
                  <a:pt x="673205" y="2574284"/>
                </a:lnTo>
                <a:lnTo>
                  <a:pt x="712649" y="2597100"/>
                </a:lnTo>
                <a:lnTo>
                  <a:pt x="752898" y="2618642"/>
                </a:lnTo>
                <a:lnTo>
                  <a:pt x="793926" y="2638885"/>
                </a:lnTo>
                <a:lnTo>
                  <a:pt x="835704" y="2657799"/>
                </a:lnTo>
                <a:lnTo>
                  <a:pt x="878206" y="2675358"/>
                </a:lnTo>
                <a:lnTo>
                  <a:pt x="921403" y="2691535"/>
                </a:lnTo>
                <a:lnTo>
                  <a:pt x="965269" y="2706301"/>
                </a:lnTo>
                <a:lnTo>
                  <a:pt x="1009775" y="2719630"/>
                </a:lnTo>
                <a:lnTo>
                  <a:pt x="1054895" y="2731493"/>
                </a:lnTo>
                <a:lnTo>
                  <a:pt x="1100601" y="2741864"/>
                </a:lnTo>
                <a:lnTo>
                  <a:pt x="1146866" y="2750715"/>
                </a:lnTo>
                <a:lnTo>
                  <a:pt x="1193661" y="2758018"/>
                </a:lnTo>
                <a:lnTo>
                  <a:pt x="1240959" y="2763746"/>
                </a:lnTo>
                <a:lnTo>
                  <a:pt x="1288734" y="2767871"/>
                </a:lnTo>
                <a:lnTo>
                  <a:pt x="1336957" y="2770367"/>
                </a:lnTo>
                <a:lnTo>
                  <a:pt x="1385601" y="2771205"/>
                </a:lnTo>
                <a:lnTo>
                  <a:pt x="1434245" y="2770367"/>
                </a:lnTo>
                <a:lnTo>
                  <a:pt x="1482469" y="2767871"/>
                </a:lnTo>
                <a:lnTo>
                  <a:pt x="1530243" y="2763746"/>
                </a:lnTo>
                <a:lnTo>
                  <a:pt x="1577542" y="2758018"/>
                </a:lnTo>
                <a:lnTo>
                  <a:pt x="1624337" y="2750715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30"/>
                </a:lnTo>
                <a:lnTo>
                  <a:pt x="1805934" y="2706301"/>
                </a:lnTo>
                <a:lnTo>
                  <a:pt x="1849800" y="2691535"/>
                </a:lnTo>
                <a:lnTo>
                  <a:pt x="1892997" y="2675358"/>
                </a:lnTo>
                <a:lnTo>
                  <a:pt x="1935499" y="2657799"/>
                </a:lnTo>
                <a:lnTo>
                  <a:pt x="1977278" y="2638885"/>
                </a:lnTo>
                <a:lnTo>
                  <a:pt x="2018305" y="2618642"/>
                </a:lnTo>
                <a:lnTo>
                  <a:pt x="2058555" y="2597100"/>
                </a:lnTo>
                <a:lnTo>
                  <a:pt x="2097998" y="2574284"/>
                </a:lnTo>
                <a:lnTo>
                  <a:pt x="2136609" y="2550224"/>
                </a:lnTo>
                <a:lnTo>
                  <a:pt x="2174359" y="2524945"/>
                </a:lnTo>
                <a:lnTo>
                  <a:pt x="2211220" y="2498476"/>
                </a:lnTo>
                <a:lnTo>
                  <a:pt x="2247166" y="2470844"/>
                </a:lnTo>
                <a:lnTo>
                  <a:pt x="2282169" y="2442077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7"/>
                </a:lnTo>
                <a:lnTo>
                  <a:pt x="2412201" y="2316202"/>
                </a:lnTo>
                <a:lnTo>
                  <a:pt x="2442076" y="2282170"/>
                </a:lnTo>
                <a:lnTo>
                  <a:pt x="2470844" y="2247167"/>
                </a:lnTo>
                <a:lnTo>
                  <a:pt x="2498476" y="2211221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9"/>
                </a:lnTo>
                <a:lnTo>
                  <a:pt x="2597099" y="2058555"/>
                </a:lnTo>
                <a:lnTo>
                  <a:pt x="2618642" y="2018306"/>
                </a:lnTo>
                <a:lnTo>
                  <a:pt x="2638884" y="1977278"/>
                </a:lnTo>
                <a:lnTo>
                  <a:pt x="2657799" y="1935500"/>
                </a:lnTo>
                <a:lnTo>
                  <a:pt x="2675358" y="1892998"/>
                </a:lnTo>
                <a:lnTo>
                  <a:pt x="2691535" y="1849801"/>
                </a:lnTo>
                <a:lnTo>
                  <a:pt x="2706301" y="1805935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3"/>
                </a:lnTo>
                <a:lnTo>
                  <a:pt x="2750714" y="1624338"/>
                </a:lnTo>
                <a:lnTo>
                  <a:pt x="2758017" y="1577543"/>
                </a:lnTo>
                <a:lnTo>
                  <a:pt x="2763745" y="1530244"/>
                </a:lnTo>
                <a:lnTo>
                  <a:pt x="2767871" y="1482470"/>
                </a:lnTo>
                <a:lnTo>
                  <a:pt x="2770366" y="1434247"/>
                </a:lnTo>
                <a:lnTo>
                  <a:pt x="2771204" y="1385603"/>
                </a:lnTo>
                <a:lnTo>
                  <a:pt x="2770366" y="1336958"/>
                </a:lnTo>
                <a:lnTo>
                  <a:pt x="2767871" y="1288735"/>
                </a:lnTo>
                <a:lnTo>
                  <a:pt x="2763745" y="1240960"/>
                </a:lnTo>
                <a:lnTo>
                  <a:pt x="2758017" y="1193662"/>
                </a:lnTo>
                <a:lnTo>
                  <a:pt x="2750714" y="1146866"/>
                </a:lnTo>
                <a:lnTo>
                  <a:pt x="2741864" y="1100602"/>
                </a:lnTo>
                <a:lnTo>
                  <a:pt x="2731493" y="1054896"/>
                </a:lnTo>
                <a:lnTo>
                  <a:pt x="2719629" y="1009776"/>
                </a:lnTo>
                <a:lnTo>
                  <a:pt x="2706301" y="965270"/>
                </a:lnTo>
                <a:lnTo>
                  <a:pt x="2691535" y="921404"/>
                </a:lnTo>
                <a:lnTo>
                  <a:pt x="2675358" y="878206"/>
                </a:lnTo>
                <a:lnTo>
                  <a:pt x="2657799" y="835705"/>
                </a:lnTo>
                <a:lnTo>
                  <a:pt x="2638884" y="793926"/>
                </a:lnTo>
                <a:lnTo>
                  <a:pt x="2618642" y="752899"/>
                </a:lnTo>
                <a:lnTo>
                  <a:pt x="2597099" y="712649"/>
                </a:lnTo>
                <a:lnTo>
                  <a:pt x="2574284" y="673205"/>
                </a:lnTo>
                <a:lnTo>
                  <a:pt x="2550223" y="634595"/>
                </a:lnTo>
                <a:lnTo>
                  <a:pt x="2524945" y="596845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2"/>
                </a:lnTo>
                <a:lnTo>
                  <a:pt x="2381245" y="421968"/>
                </a:lnTo>
                <a:lnTo>
                  <a:pt x="2349236" y="389959"/>
                </a:lnTo>
                <a:lnTo>
                  <a:pt x="2316202" y="359003"/>
                </a:lnTo>
                <a:lnTo>
                  <a:pt x="2282169" y="329128"/>
                </a:lnTo>
                <a:lnTo>
                  <a:pt x="2247166" y="300360"/>
                </a:lnTo>
                <a:lnTo>
                  <a:pt x="2211220" y="272728"/>
                </a:lnTo>
                <a:lnTo>
                  <a:pt x="2174359" y="246259"/>
                </a:lnTo>
                <a:lnTo>
                  <a:pt x="2136609" y="220981"/>
                </a:lnTo>
                <a:lnTo>
                  <a:pt x="2097998" y="196920"/>
                </a:lnTo>
                <a:lnTo>
                  <a:pt x="2058555" y="174104"/>
                </a:lnTo>
                <a:lnTo>
                  <a:pt x="2018305" y="152562"/>
                </a:lnTo>
                <a:lnTo>
                  <a:pt x="1977278" y="132320"/>
                </a:lnTo>
                <a:lnTo>
                  <a:pt x="1935499" y="113405"/>
                </a:lnTo>
                <a:lnTo>
                  <a:pt x="1892997" y="95846"/>
                </a:lnTo>
                <a:lnTo>
                  <a:pt x="1849800" y="79669"/>
                </a:lnTo>
                <a:lnTo>
                  <a:pt x="1805934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7" y="20489"/>
                </a:lnTo>
                <a:lnTo>
                  <a:pt x="1577542" y="13186"/>
                </a:lnTo>
                <a:lnTo>
                  <a:pt x="1530243" y="7458"/>
                </a:lnTo>
                <a:lnTo>
                  <a:pt x="1482469" y="3333"/>
                </a:lnTo>
                <a:lnTo>
                  <a:pt x="1434245" y="837"/>
                </a:lnTo>
                <a:lnTo>
                  <a:pt x="1385601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55934" y="7636764"/>
            <a:ext cx="150749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270" algn="ctr">
              <a:lnSpc>
                <a:spcPct val="100299"/>
              </a:lnSpc>
              <a:spcBef>
                <a:spcPts val="85"/>
              </a:spcBef>
            </a:pP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High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Quality Samples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39194" y="3920311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20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20"/>
                </a:lnTo>
                <a:lnTo>
                  <a:pt x="634595" y="220981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8"/>
                </a:lnTo>
                <a:lnTo>
                  <a:pt x="455002" y="359003"/>
                </a:lnTo>
                <a:lnTo>
                  <a:pt x="421968" y="389959"/>
                </a:lnTo>
                <a:lnTo>
                  <a:pt x="389959" y="421968"/>
                </a:lnTo>
                <a:lnTo>
                  <a:pt x="359003" y="455002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5"/>
                </a:lnTo>
                <a:lnTo>
                  <a:pt x="220981" y="634595"/>
                </a:lnTo>
                <a:lnTo>
                  <a:pt x="196920" y="673205"/>
                </a:lnTo>
                <a:lnTo>
                  <a:pt x="174104" y="712649"/>
                </a:lnTo>
                <a:lnTo>
                  <a:pt x="152562" y="752899"/>
                </a:lnTo>
                <a:lnTo>
                  <a:pt x="132320" y="793926"/>
                </a:lnTo>
                <a:lnTo>
                  <a:pt x="113405" y="835705"/>
                </a:lnTo>
                <a:lnTo>
                  <a:pt x="95846" y="878206"/>
                </a:lnTo>
                <a:lnTo>
                  <a:pt x="79669" y="921404"/>
                </a:lnTo>
                <a:lnTo>
                  <a:pt x="64903" y="965270"/>
                </a:lnTo>
                <a:lnTo>
                  <a:pt x="51574" y="1009776"/>
                </a:lnTo>
                <a:lnTo>
                  <a:pt x="39711" y="1054896"/>
                </a:lnTo>
                <a:lnTo>
                  <a:pt x="29340" y="1100602"/>
                </a:lnTo>
                <a:lnTo>
                  <a:pt x="20489" y="1146866"/>
                </a:lnTo>
                <a:lnTo>
                  <a:pt x="13186" y="1193662"/>
                </a:lnTo>
                <a:lnTo>
                  <a:pt x="7458" y="1240960"/>
                </a:lnTo>
                <a:lnTo>
                  <a:pt x="3333" y="1288735"/>
                </a:lnTo>
                <a:lnTo>
                  <a:pt x="837" y="1336958"/>
                </a:lnTo>
                <a:lnTo>
                  <a:pt x="0" y="1385603"/>
                </a:lnTo>
                <a:lnTo>
                  <a:pt x="837" y="1434247"/>
                </a:lnTo>
                <a:lnTo>
                  <a:pt x="3333" y="1482470"/>
                </a:lnTo>
                <a:lnTo>
                  <a:pt x="7458" y="1530244"/>
                </a:lnTo>
                <a:lnTo>
                  <a:pt x="13186" y="1577543"/>
                </a:lnTo>
                <a:lnTo>
                  <a:pt x="20489" y="1624338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5"/>
                </a:lnTo>
                <a:lnTo>
                  <a:pt x="79669" y="1849801"/>
                </a:lnTo>
                <a:lnTo>
                  <a:pt x="95846" y="1892998"/>
                </a:lnTo>
                <a:lnTo>
                  <a:pt x="113405" y="1935500"/>
                </a:lnTo>
                <a:lnTo>
                  <a:pt x="132320" y="1977278"/>
                </a:lnTo>
                <a:lnTo>
                  <a:pt x="152562" y="2018306"/>
                </a:lnTo>
                <a:lnTo>
                  <a:pt x="174104" y="2058555"/>
                </a:lnTo>
                <a:lnTo>
                  <a:pt x="196920" y="2097999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1"/>
                </a:lnTo>
                <a:lnTo>
                  <a:pt x="300360" y="2247167"/>
                </a:lnTo>
                <a:lnTo>
                  <a:pt x="329128" y="2282170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70"/>
                </a:lnTo>
                <a:lnTo>
                  <a:pt x="2470844" y="2247167"/>
                </a:lnTo>
                <a:lnTo>
                  <a:pt x="2498476" y="2211221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9"/>
                </a:lnTo>
                <a:lnTo>
                  <a:pt x="2597099" y="2058555"/>
                </a:lnTo>
                <a:lnTo>
                  <a:pt x="2618642" y="2018306"/>
                </a:lnTo>
                <a:lnTo>
                  <a:pt x="2638884" y="1977278"/>
                </a:lnTo>
                <a:lnTo>
                  <a:pt x="2657799" y="1935500"/>
                </a:lnTo>
                <a:lnTo>
                  <a:pt x="2675358" y="1892998"/>
                </a:lnTo>
                <a:lnTo>
                  <a:pt x="2691535" y="1849801"/>
                </a:lnTo>
                <a:lnTo>
                  <a:pt x="2706301" y="1805935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8"/>
                </a:lnTo>
                <a:lnTo>
                  <a:pt x="2758017" y="1577543"/>
                </a:lnTo>
                <a:lnTo>
                  <a:pt x="2763745" y="1530244"/>
                </a:lnTo>
                <a:lnTo>
                  <a:pt x="2767871" y="1482470"/>
                </a:lnTo>
                <a:lnTo>
                  <a:pt x="2770366" y="1434247"/>
                </a:lnTo>
                <a:lnTo>
                  <a:pt x="2771204" y="1385603"/>
                </a:lnTo>
                <a:lnTo>
                  <a:pt x="2770366" y="1336958"/>
                </a:lnTo>
                <a:lnTo>
                  <a:pt x="2767871" y="1288735"/>
                </a:lnTo>
                <a:lnTo>
                  <a:pt x="2763745" y="1240960"/>
                </a:lnTo>
                <a:lnTo>
                  <a:pt x="2758017" y="1193662"/>
                </a:lnTo>
                <a:lnTo>
                  <a:pt x="2750714" y="1146866"/>
                </a:lnTo>
                <a:lnTo>
                  <a:pt x="2741864" y="1100602"/>
                </a:lnTo>
                <a:lnTo>
                  <a:pt x="2731493" y="1054896"/>
                </a:lnTo>
                <a:lnTo>
                  <a:pt x="2719629" y="1009776"/>
                </a:lnTo>
                <a:lnTo>
                  <a:pt x="2706301" y="965270"/>
                </a:lnTo>
                <a:lnTo>
                  <a:pt x="2691535" y="921404"/>
                </a:lnTo>
                <a:lnTo>
                  <a:pt x="2675358" y="878206"/>
                </a:lnTo>
                <a:lnTo>
                  <a:pt x="2657799" y="835705"/>
                </a:lnTo>
                <a:lnTo>
                  <a:pt x="2638884" y="793926"/>
                </a:lnTo>
                <a:lnTo>
                  <a:pt x="2618642" y="752899"/>
                </a:lnTo>
                <a:lnTo>
                  <a:pt x="2597099" y="712649"/>
                </a:lnTo>
                <a:lnTo>
                  <a:pt x="2574284" y="673205"/>
                </a:lnTo>
                <a:lnTo>
                  <a:pt x="2550223" y="634595"/>
                </a:lnTo>
                <a:lnTo>
                  <a:pt x="2524945" y="596845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2"/>
                </a:lnTo>
                <a:lnTo>
                  <a:pt x="2381245" y="421968"/>
                </a:lnTo>
                <a:lnTo>
                  <a:pt x="2349236" y="389959"/>
                </a:lnTo>
                <a:lnTo>
                  <a:pt x="2316202" y="359003"/>
                </a:lnTo>
                <a:lnTo>
                  <a:pt x="2282170" y="329128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1"/>
                </a:lnTo>
                <a:lnTo>
                  <a:pt x="2097999" y="196920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20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224685" y="4595876"/>
            <a:ext cx="180022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000" spc="-20" dirty="0">
                <a:solidFill>
                  <a:srgbClr val="FFFFFF"/>
                </a:solidFill>
                <a:latin typeface="Trebuchet MS"/>
                <a:cs typeface="Trebuchet MS"/>
              </a:rPr>
              <a:t>Mode </a:t>
            </a: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Coverage/ Diversity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914801" y="3920311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1" y="0"/>
                </a:moveTo>
                <a:lnTo>
                  <a:pt x="1336957" y="837"/>
                </a:lnTo>
                <a:lnTo>
                  <a:pt x="1288734" y="3333"/>
                </a:lnTo>
                <a:lnTo>
                  <a:pt x="1240959" y="7458"/>
                </a:lnTo>
                <a:lnTo>
                  <a:pt x="1193660" y="13186"/>
                </a:lnTo>
                <a:lnTo>
                  <a:pt x="1146865" y="20489"/>
                </a:lnTo>
                <a:lnTo>
                  <a:pt x="1100601" y="29340"/>
                </a:lnTo>
                <a:lnTo>
                  <a:pt x="1054895" y="39711"/>
                </a:lnTo>
                <a:lnTo>
                  <a:pt x="1009775" y="51574"/>
                </a:lnTo>
                <a:lnTo>
                  <a:pt x="965268" y="64903"/>
                </a:lnTo>
                <a:lnTo>
                  <a:pt x="921403" y="79669"/>
                </a:lnTo>
                <a:lnTo>
                  <a:pt x="878205" y="95846"/>
                </a:lnTo>
                <a:lnTo>
                  <a:pt x="835704" y="113405"/>
                </a:lnTo>
                <a:lnTo>
                  <a:pt x="793925" y="132320"/>
                </a:lnTo>
                <a:lnTo>
                  <a:pt x="752898" y="152562"/>
                </a:lnTo>
                <a:lnTo>
                  <a:pt x="712648" y="174104"/>
                </a:lnTo>
                <a:lnTo>
                  <a:pt x="673205" y="196920"/>
                </a:lnTo>
                <a:lnTo>
                  <a:pt x="634594" y="220981"/>
                </a:lnTo>
                <a:lnTo>
                  <a:pt x="596844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8"/>
                </a:lnTo>
                <a:lnTo>
                  <a:pt x="455001" y="359003"/>
                </a:lnTo>
                <a:lnTo>
                  <a:pt x="421967" y="389959"/>
                </a:lnTo>
                <a:lnTo>
                  <a:pt x="389958" y="421968"/>
                </a:lnTo>
                <a:lnTo>
                  <a:pt x="359002" y="455002"/>
                </a:lnTo>
                <a:lnTo>
                  <a:pt x="329127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5"/>
                </a:lnTo>
                <a:lnTo>
                  <a:pt x="220980" y="634595"/>
                </a:lnTo>
                <a:lnTo>
                  <a:pt x="196919" y="673205"/>
                </a:lnTo>
                <a:lnTo>
                  <a:pt x="174104" y="712649"/>
                </a:lnTo>
                <a:lnTo>
                  <a:pt x="152562" y="752899"/>
                </a:lnTo>
                <a:lnTo>
                  <a:pt x="132319" y="793926"/>
                </a:lnTo>
                <a:lnTo>
                  <a:pt x="113405" y="835705"/>
                </a:lnTo>
                <a:lnTo>
                  <a:pt x="95846" y="878206"/>
                </a:lnTo>
                <a:lnTo>
                  <a:pt x="79669" y="921404"/>
                </a:lnTo>
                <a:lnTo>
                  <a:pt x="64903" y="965270"/>
                </a:lnTo>
                <a:lnTo>
                  <a:pt x="51574" y="1009776"/>
                </a:lnTo>
                <a:lnTo>
                  <a:pt x="39711" y="1054896"/>
                </a:lnTo>
                <a:lnTo>
                  <a:pt x="29340" y="1100602"/>
                </a:lnTo>
                <a:lnTo>
                  <a:pt x="20489" y="1146866"/>
                </a:lnTo>
                <a:lnTo>
                  <a:pt x="13186" y="1193662"/>
                </a:lnTo>
                <a:lnTo>
                  <a:pt x="7458" y="1240960"/>
                </a:lnTo>
                <a:lnTo>
                  <a:pt x="3333" y="1288735"/>
                </a:lnTo>
                <a:lnTo>
                  <a:pt x="837" y="1336958"/>
                </a:lnTo>
                <a:lnTo>
                  <a:pt x="0" y="1385603"/>
                </a:lnTo>
                <a:lnTo>
                  <a:pt x="837" y="1434247"/>
                </a:lnTo>
                <a:lnTo>
                  <a:pt x="3333" y="1482470"/>
                </a:lnTo>
                <a:lnTo>
                  <a:pt x="7458" y="1530244"/>
                </a:lnTo>
                <a:lnTo>
                  <a:pt x="13186" y="1577543"/>
                </a:lnTo>
                <a:lnTo>
                  <a:pt x="20489" y="1624338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5"/>
                </a:lnTo>
                <a:lnTo>
                  <a:pt x="79669" y="1849801"/>
                </a:lnTo>
                <a:lnTo>
                  <a:pt x="95846" y="1892998"/>
                </a:lnTo>
                <a:lnTo>
                  <a:pt x="113405" y="1935500"/>
                </a:lnTo>
                <a:lnTo>
                  <a:pt x="132319" y="1977278"/>
                </a:lnTo>
                <a:lnTo>
                  <a:pt x="152562" y="2018306"/>
                </a:lnTo>
                <a:lnTo>
                  <a:pt x="174104" y="2058555"/>
                </a:lnTo>
                <a:lnTo>
                  <a:pt x="196919" y="2097999"/>
                </a:lnTo>
                <a:lnTo>
                  <a:pt x="220980" y="2136609"/>
                </a:lnTo>
                <a:lnTo>
                  <a:pt x="246259" y="2174359"/>
                </a:lnTo>
                <a:lnTo>
                  <a:pt x="272728" y="2211221"/>
                </a:lnTo>
                <a:lnTo>
                  <a:pt x="300360" y="2247167"/>
                </a:lnTo>
                <a:lnTo>
                  <a:pt x="329127" y="2282170"/>
                </a:lnTo>
                <a:lnTo>
                  <a:pt x="359002" y="2316202"/>
                </a:lnTo>
                <a:lnTo>
                  <a:pt x="389958" y="2349236"/>
                </a:lnTo>
                <a:lnTo>
                  <a:pt x="421967" y="2381245"/>
                </a:lnTo>
                <a:lnTo>
                  <a:pt x="455001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4" y="2524945"/>
                </a:lnTo>
                <a:lnTo>
                  <a:pt x="634594" y="2550223"/>
                </a:lnTo>
                <a:lnTo>
                  <a:pt x="673205" y="2574284"/>
                </a:lnTo>
                <a:lnTo>
                  <a:pt x="712648" y="2597099"/>
                </a:lnTo>
                <a:lnTo>
                  <a:pt x="752898" y="2618642"/>
                </a:lnTo>
                <a:lnTo>
                  <a:pt x="793925" y="2638884"/>
                </a:lnTo>
                <a:lnTo>
                  <a:pt x="835704" y="2657799"/>
                </a:lnTo>
                <a:lnTo>
                  <a:pt x="878205" y="2675358"/>
                </a:lnTo>
                <a:lnTo>
                  <a:pt x="921403" y="2691535"/>
                </a:lnTo>
                <a:lnTo>
                  <a:pt x="965268" y="2706301"/>
                </a:lnTo>
                <a:lnTo>
                  <a:pt x="1009775" y="2719629"/>
                </a:lnTo>
                <a:lnTo>
                  <a:pt x="1054895" y="2731493"/>
                </a:lnTo>
                <a:lnTo>
                  <a:pt x="1100601" y="2741864"/>
                </a:lnTo>
                <a:lnTo>
                  <a:pt x="1146865" y="2750714"/>
                </a:lnTo>
                <a:lnTo>
                  <a:pt x="1193660" y="2758017"/>
                </a:lnTo>
                <a:lnTo>
                  <a:pt x="1240959" y="2763745"/>
                </a:lnTo>
                <a:lnTo>
                  <a:pt x="1288734" y="2767871"/>
                </a:lnTo>
                <a:lnTo>
                  <a:pt x="1336957" y="2770366"/>
                </a:lnTo>
                <a:lnTo>
                  <a:pt x="1385601" y="2771204"/>
                </a:lnTo>
                <a:lnTo>
                  <a:pt x="1434245" y="2770366"/>
                </a:lnTo>
                <a:lnTo>
                  <a:pt x="1482469" y="2767871"/>
                </a:lnTo>
                <a:lnTo>
                  <a:pt x="1530243" y="2763745"/>
                </a:lnTo>
                <a:lnTo>
                  <a:pt x="1577542" y="2758017"/>
                </a:lnTo>
                <a:lnTo>
                  <a:pt x="1624337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4" y="2706301"/>
                </a:lnTo>
                <a:lnTo>
                  <a:pt x="1849800" y="2691535"/>
                </a:lnTo>
                <a:lnTo>
                  <a:pt x="1892997" y="2675358"/>
                </a:lnTo>
                <a:lnTo>
                  <a:pt x="1935499" y="2657799"/>
                </a:lnTo>
                <a:lnTo>
                  <a:pt x="1977278" y="2638884"/>
                </a:lnTo>
                <a:lnTo>
                  <a:pt x="2018305" y="2618642"/>
                </a:lnTo>
                <a:lnTo>
                  <a:pt x="2058555" y="2597099"/>
                </a:lnTo>
                <a:lnTo>
                  <a:pt x="2097998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0" y="2498476"/>
                </a:lnTo>
                <a:lnTo>
                  <a:pt x="2247166" y="2470844"/>
                </a:lnTo>
                <a:lnTo>
                  <a:pt x="2282169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70"/>
                </a:lnTo>
                <a:lnTo>
                  <a:pt x="2470844" y="2247167"/>
                </a:lnTo>
                <a:lnTo>
                  <a:pt x="2498476" y="2211221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9"/>
                </a:lnTo>
                <a:lnTo>
                  <a:pt x="2597099" y="2058555"/>
                </a:lnTo>
                <a:lnTo>
                  <a:pt x="2618642" y="2018306"/>
                </a:lnTo>
                <a:lnTo>
                  <a:pt x="2638884" y="1977278"/>
                </a:lnTo>
                <a:lnTo>
                  <a:pt x="2657799" y="1935500"/>
                </a:lnTo>
                <a:lnTo>
                  <a:pt x="2675358" y="1892998"/>
                </a:lnTo>
                <a:lnTo>
                  <a:pt x="2691535" y="1849801"/>
                </a:lnTo>
                <a:lnTo>
                  <a:pt x="2706301" y="1805935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8"/>
                </a:lnTo>
                <a:lnTo>
                  <a:pt x="2758017" y="1577543"/>
                </a:lnTo>
                <a:lnTo>
                  <a:pt x="2763745" y="1530244"/>
                </a:lnTo>
                <a:lnTo>
                  <a:pt x="2767871" y="1482470"/>
                </a:lnTo>
                <a:lnTo>
                  <a:pt x="2770366" y="1434247"/>
                </a:lnTo>
                <a:lnTo>
                  <a:pt x="2771204" y="1385603"/>
                </a:lnTo>
                <a:lnTo>
                  <a:pt x="2770366" y="1336958"/>
                </a:lnTo>
                <a:lnTo>
                  <a:pt x="2767871" y="1288735"/>
                </a:lnTo>
                <a:lnTo>
                  <a:pt x="2763745" y="1240960"/>
                </a:lnTo>
                <a:lnTo>
                  <a:pt x="2758017" y="1193662"/>
                </a:lnTo>
                <a:lnTo>
                  <a:pt x="2750714" y="1146866"/>
                </a:lnTo>
                <a:lnTo>
                  <a:pt x="2741864" y="1100602"/>
                </a:lnTo>
                <a:lnTo>
                  <a:pt x="2731493" y="1054896"/>
                </a:lnTo>
                <a:lnTo>
                  <a:pt x="2719629" y="1009776"/>
                </a:lnTo>
                <a:lnTo>
                  <a:pt x="2706301" y="965270"/>
                </a:lnTo>
                <a:lnTo>
                  <a:pt x="2691535" y="921404"/>
                </a:lnTo>
                <a:lnTo>
                  <a:pt x="2675358" y="878206"/>
                </a:lnTo>
                <a:lnTo>
                  <a:pt x="2657799" y="835705"/>
                </a:lnTo>
                <a:lnTo>
                  <a:pt x="2638884" y="793926"/>
                </a:lnTo>
                <a:lnTo>
                  <a:pt x="2618642" y="752899"/>
                </a:lnTo>
                <a:lnTo>
                  <a:pt x="2597099" y="712649"/>
                </a:lnTo>
                <a:lnTo>
                  <a:pt x="2574284" y="673205"/>
                </a:lnTo>
                <a:lnTo>
                  <a:pt x="2550223" y="634595"/>
                </a:lnTo>
                <a:lnTo>
                  <a:pt x="2524945" y="596845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2"/>
                </a:lnTo>
                <a:lnTo>
                  <a:pt x="2381245" y="421968"/>
                </a:lnTo>
                <a:lnTo>
                  <a:pt x="2349236" y="389959"/>
                </a:lnTo>
                <a:lnTo>
                  <a:pt x="2316202" y="359003"/>
                </a:lnTo>
                <a:lnTo>
                  <a:pt x="2282169" y="329128"/>
                </a:lnTo>
                <a:lnTo>
                  <a:pt x="2247166" y="300360"/>
                </a:lnTo>
                <a:lnTo>
                  <a:pt x="2211220" y="272728"/>
                </a:lnTo>
                <a:lnTo>
                  <a:pt x="2174359" y="246259"/>
                </a:lnTo>
                <a:lnTo>
                  <a:pt x="2136609" y="220981"/>
                </a:lnTo>
                <a:lnTo>
                  <a:pt x="2097998" y="196920"/>
                </a:lnTo>
                <a:lnTo>
                  <a:pt x="2058555" y="174104"/>
                </a:lnTo>
                <a:lnTo>
                  <a:pt x="2018305" y="152562"/>
                </a:lnTo>
                <a:lnTo>
                  <a:pt x="1977278" y="132320"/>
                </a:lnTo>
                <a:lnTo>
                  <a:pt x="1935499" y="113405"/>
                </a:lnTo>
                <a:lnTo>
                  <a:pt x="1892997" y="95846"/>
                </a:lnTo>
                <a:lnTo>
                  <a:pt x="1849800" y="79669"/>
                </a:lnTo>
                <a:lnTo>
                  <a:pt x="1805934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7" y="20489"/>
                </a:lnTo>
                <a:lnTo>
                  <a:pt x="1577542" y="13186"/>
                </a:lnTo>
                <a:lnTo>
                  <a:pt x="1530243" y="7458"/>
                </a:lnTo>
                <a:lnTo>
                  <a:pt x="1482469" y="3333"/>
                </a:lnTo>
                <a:lnTo>
                  <a:pt x="1434245" y="837"/>
                </a:lnTo>
                <a:lnTo>
                  <a:pt x="1385601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468553" y="4792979"/>
            <a:ext cx="1663064" cy="995044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 indent="441959">
              <a:lnSpc>
                <a:spcPts val="3790"/>
              </a:lnSpc>
              <a:spcBef>
                <a:spcPts val="250"/>
              </a:spcBef>
            </a:pP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Fast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Sampling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756400" y="3797880"/>
            <a:ext cx="6931659" cy="6141085"/>
            <a:chOff x="5756400" y="3797880"/>
            <a:chExt cx="6931659" cy="6141085"/>
          </a:xfrm>
        </p:grpSpPr>
        <p:sp>
          <p:nvSpPr>
            <p:cNvPr id="11" name="object 11"/>
            <p:cNvSpPr/>
            <p:nvPr/>
          </p:nvSpPr>
          <p:spPr>
            <a:xfrm>
              <a:off x="5973268" y="5989760"/>
              <a:ext cx="2008505" cy="3223895"/>
            </a:xfrm>
            <a:custGeom>
              <a:avLst/>
              <a:gdLst/>
              <a:ahLst/>
              <a:cxnLst/>
              <a:rect l="l" t="t" r="r" b="b"/>
              <a:pathLst>
                <a:path w="2008504" h="3223895">
                  <a:moveTo>
                    <a:pt x="0" y="0"/>
                  </a:moveTo>
                  <a:lnTo>
                    <a:pt x="2008116" y="3223511"/>
                  </a:lnTo>
                </a:path>
              </a:pathLst>
            </a:custGeom>
            <a:ln w="571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26127" y="3826455"/>
              <a:ext cx="4074160" cy="1270"/>
            </a:xfrm>
            <a:custGeom>
              <a:avLst/>
              <a:gdLst/>
              <a:ahLst/>
              <a:cxnLst/>
              <a:rect l="l" t="t" r="r" b="b"/>
              <a:pathLst>
                <a:path w="4074159" h="1270">
                  <a:moveTo>
                    <a:pt x="0" y="0"/>
                  </a:moveTo>
                  <a:lnTo>
                    <a:pt x="4073712" y="1107"/>
                  </a:lnTo>
                </a:path>
              </a:pathLst>
            </a:custGeom>
            <a:ln w="571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428940" y="5992215"/>
              <a:ext cx="2036445" cy="3267710"/>
            </a:xfrm>
            <a:custGeom>
              <a:avLst/>
              <a:gdLst/>
              <a:ahLst/>
              <a:cxnLst/>
              <a:rect l="l" t="t" r="r" b="b"/>
              <a:pathLst>
                <a:path w="2036445" h="3267709">
                  <a:moveTo>
                    <a:pt x="0" y="3267643"/>
                  </a:moveTo>
                  <a:lnTo>
                    <a:pt x="2036352" y="0"/>
                  </a:lnTo>
                </a:path>
              </a:pathLst>
            </a:custGeom>
            <a:ln w="571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784975" y="3826455"/>
              <a:ext cx="1441450" cy="2178685"/>
            </a:xfrm>
            <a:custGeom>
              <a:avLst/>
              <a:gdLst/>
              <a:ahLst/>
              <a:cxnLst/>
              <a:rect l="l" t="t" r="r" b="b"/>
              <a:pathLst>
                <a:path w="1441450" h="2178685">
                  <a:moveTo>
                    <a:pt x="1441149" y="0"/>
                  </a:moveTo>
                  <a:lnTo>
                    <a:pt x="1392605" y="810"/>
                  </a:lnTo>
                  <a:lnTo>
                    <a:pt x="1344464" y="3213"/>
                  </a:lnTo>
                  <a:lnTo>
                    <a:pt x="1296749" y="7182"/>
                  </a:lnTo>
                  <a:lnTo>
                    <a:pt x="1249488" y="12694"/>
                  </a:lnTo>
                  <a:lnTo>
                    <a:pt x="1202704" y="19721"/>
                  </a:lnTo>
                  <a:lnTo>
                    <a:pt x="1156423" y="28239"/>
                  </a:lnTo>
                  <a:lnTo>
                    <a:pt x="1110670" y="38223"/>
                  </a:lnTo>
                  <a:lnTo>
                    <a:pt x="1065471" y="49648"/>
                  </a:lnTo>
                  <a:lnTo>
                    <a:pt x="1020850" y="62487"/>
                  </a:lnTo>
                  <a:lnTo>
                    <a:pt x="976833" y="76716"/>
                  </a:lnTo>
                  <a:lnTo>
                    <a:pt x="933445" y="92309"/>
                  </a:lnTo>
                  <a:lnTo>
                    <a:pt x="890711" y="109242"/>
                  </a:lnTo>
                  <a:lnTo>
                    <a:pt x="848657" y="127488"/>
                  </a:lnTo>
                  <a:lnTo>
                    <a:pt x="807308" y="147023"/>
                  </a:lnTo>
                  <a:lnTo>
                    <a:pt x="766688" y="167822"/>
                  </a:lnTo>
                  <a:lnTo>
                    <a:pt x="726823" y="189858"/>
                  </a:lnTo>
                  <a:lnTo>
                    <a:pt x="687739" y="213106"/>
                  </a:lnTo>
                  <a:lnTo>
                    <a:pt x="649461" y="237542"/>
                  </a:lnTo>
                  <a:lnTo>
                    <a:pt x="612013" y="263140"/>
                  </a:lnTo>
                  <a:lnTo>
                    <a:pt x="575422" y="289875"/>
                  </a:lnTo>
                  <a:lnTo>
                    <a:pt x="539711" y="317721"/>
                  </a:lnTo>
                  <a:lnTo>
                    <a:pt x="504907" y="346653"/>
                  </a:lnTo>
                  <a:lnTo>
                    <a:pt x="471035" y="376646"/>
                  </a:lnTo>
                  <a:lnTo>
                    <a:pt x="438120" y="407675"/>
                  </a:lnTo>
                  <a:lnTo>
                    <a:pt x="406186" y="439713"/>
                  </a:lnTo>
                  <a:lnTo>
                    <a:pt x="375260" y="472737"/>
                  </a:lnTo>
                  <a:lnTo>
                    <a:pt x="345367" y="506720"/>
                  </a:lnTo>
                  <a:lnTo>
                    <a:pt x="316532" y="541637"/>
                  </a:lnTo>
                  <a:lnTo>
                    <a:pt x="288779" y="577463"/>
                  </a:lnTo>
                  <a:lnTo>
                    <a:pt x="262135" y="614173"/>
                  </a:lnTo>
                  <a:lnTo>
                    <a:pt x="236624" y="651742"/>
                  </a:lnTo>
                  <a:lnTo>
                    <a:pt x="212272" y="690143"/>
                  </a:lnTo>
                  <a:lnTo>
                    <a:pt x="189104" y="729352"/>
                  </a:lnTo>
                  <a:lnTo>
                    <a:pt x="167144" y="769343"/>
                  </a:lnTo>
                  <a:lnTo>
                    <a:pt x="146419" y="810092"/>
                  </a:lnTo>
                  <a:lnTo>
                    <a:pt x="126954" y="851573"/>
                  </a:lnTo>
                  <a:lnTo>
                    <a:pt x="108774" y="893760"/>
                  </a:lnTo>
                  <a:lnTo>
                    <a:pt x="91903" y="936628"/>
                  </a:lnTo>
                  <a:lnTo>
                    <a:pt x="76368" y="980152"/>
                  </a:lnTo>
                  <a:lnTo>
                    <a:pt x="62193" y="1024307"/>
                  </a:lnTo>
                  <a:lnTo>
                    <a:pt x="49404" y="1069067"/>
                  </a:lnTo>
                  <a:lnTo>
                    <a:pt x="38025" y="1114407"/>
                  </a:lnTo>
                  <a:lnTo>
                    <a:pt x="28083" y="1160302"/>
                  </a:lnTo>
                  <a:lnTo>
                    <a:pt x="19602" y="1206727"/>
                  </a:lnTo>
                  <a:lnTo>
                    <a:pt x="12608" y="1253655"/>
                  </a:lnTo>
                  <a:lnTo>
                    <a:pt x="7125" y="1301062"/>
                  </a:lnTo>
                  <a:lnTo>
                    <a:pt x="3179" y="1348923"/>
                  </a:lnTo>
                  <a:lnTo>
                    <a:pt x="796" y="1397212"/>
                  </a:lnTo>
                  <a:lnTo>
                    <a:pt x="0" y="1445904"/>
                  </a:lnTo>
                  <a:lnTo>
                    <a:pt x="918" y="1497321"/>
                  </a:lnTo>
                  <a:lnTo>
                    <a:pt x="3650" y="1548567"/>
                  </a:lnTo>
                  <a:lnTo>
                    <a:pt x="8186" y="1599595"/>
                  </a:lnTo>
                  <a:lnTo>
                    <a:pt x="14511" y="1650360"/>
                  </a:lnTo>
                  <a:lnTo>
                    <a:pt x="22613" y="1700814"/>
                  </a:lnTo>
                  <a:lnTo>
                    <a:pt x="32479" y="1750911"/>
                  </a:lnTo>
                  <a:lnTo>
                    <a:pt x="44098" y="1800605"/>
                  </a:lnTo>
                  <a:lnTo>
                    <a:pt x="57456" y="1849849"/>
                  </a:lnTo>
                  <a:lnTo>
                    <a:pt x="72540" y="1898597"/>
                  </a:lnTo>
                  <a:lnTo>
                    <a:pt x="89339" y="1946802"/>
                  </a:lnTo>
                  <a:lnTo>
                    <a:pt x="107840" y="1994418"/>
                  </a:lnTo>
                  <a:lnTo>
                    <a:pt x="128029" y="2041399"/>
                  </a:lnTo>
                  <a:lnTo>
                    <a:pt x="149894" y="2087697"/>
                  </a:lnTo>
                  <a:lnTo>
                    <a:pt x="173424" y="2133268"/>
                  </a:lnTo>
                  <a:lnTo>
                    <a:pt x="198605" y="2178064"/>
                  </a:lnTo>
                </a:path>
              </a:pathLst>
            </a:custGeom>
            <a:ln w="57150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299950" y="3828231"/>
              <a:ext cx="1359535" cy="2162810"/>
            </a:xfrm>
            <a:custGeom>
              <a:avLst/>
              <a:gdLst/>
              <a:ahLst/>
              <a:cxnLst/>
              <a:rect l="l" t="t" r="r" b="b"/>
              <a:pathLst>
                <a:path w="1359534" h="2162810">
                  <a:moveTo>
                    <a:pt x="1165351" y="2162688"/>
                  </a:moveTo>
                  <a:lnTo>
                    <a:pt x="1188970" y="2120170"/>
                  </a:lnTo>
                  <a:lnTo>
                    <a:pt x="1211012" y="2077206"/>
                  </a:lnTo>
                  <a:lnTo>
                    <a:pt x="1231485" y="2033831"/>
                  </a:lnTo>
                  <a:lnTo>
                    <a:pt x="1250398" y="1990079"/>
                  </a:lnTo>
                  <a:lnTo>
                    <a:pt x="1267762" y="1945985"/>
                  </a:lnTo>
                  <a:lnTo>
                    <a:pt x="1283584" y="1901583"/>
                  </a:lnTo>
                  <a:lnTo>
                    <a:pt x="1297875" y="1856908"/>
                  </a:lnTo>
                  <a:lnTo>
                    <a:pt x="1310644" y="1811993"/>
                  </a:lnTo>
                  <a:lnTo>
                    <a:pt x="1321900" y="1766875"/>
                  </a:lnTo>
                  <a:lnTo>
                    <a:pt x="1331651" y="1721587"/>
                  </a:lnTo>
                  <a:lnTo>
                    <a:pt x="1339909" y="1676163"/>
                  </a:lnTo>
                  <a:lnTo>
                    <a:pt x="1346680" y="1630638"/>
                  </a:lnTo>
                  <a:lnTo>
                    <a:pt x="1351976" y="1585048"/>
                  </a:lnTo>
                  <a:lnTo>
                    <a:pt x="1355804" y="1539425"/>
                  </a:lnTo>
                  <a:lnTo>
                    <a:pt x="1358175" y="1493805"/>
                  </a:lnTo>
                  <a:lnTo>
                    <a:pt x="1359098" y="1448223"/>
                  </a:lnTo>
                  <a:lnTo>
                    <a:pt x="1358581" y="1402712"/>
                  </a:lnTo>
                  <a:lnTo>
                    <a:pt x="1356635" y="1357307"/>
                  </a:lnTo>
                  <a:lnTo>
                    <a:pt x="1353267" y="1312044"/>
                  </a:lnTo>
                  <a:lnTo>
                    <a:pt x="1348489" y="1266955"/>
                  </a:lnTo>
                  <a:lnTo>
                    <a:pt x="1342308" y="1222076"/>
                  </a:lnTo>
                  <a:lnTo>
                    <a:pt x="1334734" y="1177442"/>
                  </a:lnTo>
                  <a:lnTo>
                    <a:pt x="1325776" y="1133086"/>
                  </a:lnTo>
                  <a:lnTo>
                    <a:pt x="1315443" y="1089044"/>
                  </a:lnTo>
                  <a:lnTo>
                    <a:pt x="1303746" y="1045350"/>
                  </a:lnTo>
                  <a:lnTo>
                    <a:pt x="1290692" y="1002038"/>
                  </a:lnTo>
                  <a:lnTo>
                    <a:pt x="1276292" y="959142"/>
                  </a:lnTo>
                  <a:lnTo>
                    <a:pt x="1260553" y="916698"/>
                  </a:lnTo>
                  <a:lnTo>
                    <a:pt x="1243487" y="874740"/>
                  </a:lnTo>
                  <a:lnTo>
                    <a:pt x="1225102" y="833303"/>
                  </a:lnTo>
                  <a:lnTo>
                    <a:pt x="1205406" y="792420"/>
                  </a:lnTo>
                  <a:lnTo>
                    <a:pt x="1184410" y="752126"/>
                  </a:lnTo>
                  <a:lnTo>
                    <a:pt x="1162123" y="712457"/>
                  </a:lnTo>
                  <a:lnTo>
                    <a:pt x="1138553" y="673446"/>
                  </a:lnTo>
                  <a:lnTo>
                    <a:pt x="1113711" y="635127"/>
                  </a:lnTo>
                  <a:lnTo>
                    <a:pt x="1087605" y="597537"/>
                  </a:lnTo>
                  <a:lnTo>
                    <a:pt x="1060244" y="560708"/>
                  </a:lnTo>
                  <a:lnTo>
                    <a:pt x="1031639" y="524675"/>
                  </a:lnTo>
                  <a:lnTo>
                    <a:pt x="1001797" y="489474"/>
                  </a:lnTo>
                  <a:lnTo>
                    <a:pt x="970729" y="455138"/>
                  </a:lnTo>
                  <a:lnTo>
                    <a:pt x="938443" y="421702"/>
                  </a:lnTo>
                  <a:lnTo>
                    <a:pt x="904949" y="389200"/>
                  </a:lnTo>
                  <a:lnTo>
                    <a:pt x="870256" y="357668"/>
                  </a:lnTo>
                  <a:lnTo>
                    <a:pt x="834373" y="327139"/>
                  </a:lnTo>
                  <a:lnTo>
                    <a:pt x="797310" y="297648"/>
                  </a:lnTo>
                  <a:lnTo>
                    <a:pt x="759075" y="269229"/>
                  </a:lnTo>
                  <a:lnTo>
                    <a:pt x="719678" y="241918"/>
                  </a:lnTo>
                  <a:lnTo>
                    <a:pt x="679129" y="215748"/>
                  </a:lnTo>
                  <a:lnTo>
                    <a:pt x="637436" y="190754"/>
                  </a:lnTo>
                  <a:lnTo>
                    <a:pt x="592095" y="165657"/>
                  </a:lnTo>
                  <a:lnTo>
                    <a:pt x="545964" y="142245"/>
                  </a:lnTo>
                  <a:lnTo>
                    <a:pt x="499092" y="120532"/>
                  </a:lnTo>
                  <a:lnTo>
                    <a:pt x="451524" y="100534"/>
                  </a:lnTo>
                  <a:lnTo>
                    <a:pt x="403310" y="82262"/>
                  </a:lnTo>
                  <a:lnTo>
                    <a:pt x="354495" y="65733"/>
                  </a:lnTo>
                  <a:lnTo>
                    <a:pt x="305129" y="50960"/>
                  </a:lnTo>
                  <a:lnTo>
                    <a:pt x="255258" y="37958"/>
                  </a:lnTo>
                  <a:lnTo>
                    <a:pt x="204930" y="26740"/>
                  </a:lnTo>
                  <a:lnTo>
                    <a:pt x="154193" y="17321"/>
                  </a:lnTo>
                  <a:lnTo>
                    <a:pt x="103094" y="9715"/>
                  </a:lnTo>
                  <a:lnTo>
                    <a:pt x="51680" y="3936"/>
                  </a:lnTo>
                  <a:lnTo>
                    <a:pt x="0" y="0"/>
                  </a:lnTo>
                </a:path>
              </a:pathLst>
            </a:custGeom>
            <a:ln w="57149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981377" y="9211923"/>
              <a:ext cx="2449830" cy="698500"/>
            </a:xfrm>
            <a:custGeom>
              <a:avLst/>
              <a:gdLst/>
              <a:ahLst/>
              <a:cxnLst/>
              <a:rect l="l" t="t" r="r" b="b"/>
              <a:pathLst>
                <a:path w="2449829" h="698500">
                  <a:moveTo>
                    <a:pt x="0" y="0"/>
                  </a:moveTo>
                  <a:lnTo>
                    <a:pt x="25344" y="40465"/>
                  </a:lnTo>
                  <a:lnTo>
                    <a:pt x="51803" y="79807"/>
                  </a:lnTo>
                  <a:lnTo>
                    <a:pt x="79341" y="118017"/>
                  </a:lnTo>
                  <a:lnTo>
                    <a:pt x="107928" y="155087"/>
                  </a:lnTo>
                  <a:lnTo>
                    <a:pt x="137529" y="191010"/>
                  </a:lnTo>
                  <a:lnTo>
                    <a:pt x="168113" y="225776"/>
                  </a:lnTo>
                  <a:lnTo>
                    <a:pt x="199646" y="259379"/>
                  </a:lnTo>
                  <a:lnTo>
                    <a:pt x="232096" y="291810"/>
                  </a:lnTo>
                  <a:lnTo>
                    <a:pt x="265430" y="323060"/>
                  </a:lnTo>
                  <a:lnTo>
                    <a:pt x="299615" y="353122"/>
                  </a:lnTo>
                  <a:lnTo>
                    <a:pt x="334618" y="381989"/>
                  </a:lnTo>
                  <a:lnTo>
                    <a:pt x="370407" y="409651"/>
                  </a:lnTo>
                  <a:lnTo>
                    <a:pt x="406949" y="436100"/>
                  </a:lnTo>
                  <a:lnTo>
                    <a:pt x="444211" y="461330"/>
                  </a:lnTo>
                  <a:lnTo>
                    <a:pt x="482160" y="485331"/>
                  </a:lnTo>
                  <a:lnTo>
                    <a:pt x="520764" y="508095"/>
                  </a:lnTo>
                  <a:lnTo>
                    <a:pt x="559990" y="529615"/>
                  </a:lnTo>
                  <a:lnTo>
                    <a:pt x="599805" y="549883"/>
                  </a:lnTo>
                  <a:lnTo>
                    <a:pt x="640177" y="568890"/>
                  </a:lnTo>
                  <a:lnTo>
                    <a:pt x="681072" y="586628"/>
                  </a:lnTo>
                  <a:lnTo>
                    <a:pt x="722457" y="603090"/>
                  </a:lnTo>
                  <a:lnTo>
                    <a:pt x="764301" y="618267"/>
                  </a:lnTo>
                  <a:lnTo>
                    <a:pt x="806571" y="632151"/>
                  </a:lnTo>
                  <a:lnTo>
                    <a:pt x="849232" y="644734"/>
                  </a:lnTo>
                  <a:lnTo>
                    <a:pt x="892254" y="656008"/>
                  </a:lnTo>
                  <a:lnTo>
                    <a:pt x="935602" y="665966"/>
                  </a:lnTo>
                  <a:lnTo>
                    <a:pt x="979245" y="674598"/>
                  </a:lnTo>
                  <a:lnTo>
                    <a:pt x="1023150" y="681897"/>
                  </a:lnTo>
                  <a:lnTo>
                    <a:pt x="1067283" y="687855"/>
                  </a:lnTo>
                  <a:lnTo>
                    <a:pt x="1111612" y="692464"/>
                  </a:lnTo>
                  <a:lnTo>
                    <a:pt x="1156104" y="695716"/>
                  </a:lnTo>
                  <a:lnTo>
                    <a:pt x="1200727" y="697602"/>
                  </a:lnTo>
                  <a:lnTo>
                    <a:pt x="1245447" y="698116"/>
                  </a:lnTo>
                  <a:lnTo>
                    <a:pt x="1290233" y="697247"/>
                  </a:lnTo>
                  <a:lnTo>
                    <a:pt x="1335051" y="694990"/>
                  </a:lnTo>
                  <a:lnTo>
                    <a:pt x="1379868" y="691334"/>
                  </a:lnTo>
                  <a:lnTo>
                    <a:pt x="1424652" y="686274"/>
                  </a:lnTo>
                  <a:lnTo>
                    <a:pt x="1469369" y="679799"/>
                  </a:lnTo>
                  <a:lnTo>
                    <a:pt x="1513988" y="671903"/>
                  </a:lnTo>
                  <a:lnTo>
                    <a:pt x="1558476" y="662578"/>
                  </a:lnTo>
                  <a:lnTo>
                    <a:pt x="1602799" y="651814"/>
                  </a:lnTo>
                  <a:lnTo>
                    <a:pt x="1646924" y="639605"/>
                  </a:lnTo>
                  <a:lnTo>
                    <a:pt x="1690820" y="625942"/>
                  </a:lnTo>
                  <a:lnTo>
                    <a:pt x="1734454" y="610817"/>
                  </a:lnTo>
                  <a:lnTo>
                    <a:pt x="1777792" y="594222"/>
                  </a:lnTo>
                  <a:lnTo>
                    <a:pt x="1820802" y="576149"/>
                  </a:lnTo>
                  <a:lnTo>
                    <a:pt x="1863450" y="556590"/>
                  </a:lnTo>
                  <a:lnTo>
                    <a:pt x="1905706" y="535536"/>
                  </a:lnTo>
                  <a:lnTo>
                    <a:pt x="1947534" y="512981"/>
                  </a:lnTo>
                  <a:lnTo>
                    <a:pt x="1988904" y="488915"/>
                  </a:lnTo>
                  <a:lnTo>
                    <a:pt x="2030945" y="462552"/>
                  </a:lnTo>
                  <a:lnTo>
                    <a:pt x="2071994" y="434815"/>
                  </a:lnTo>
                  <a:lnTo>
                    <a:pt x="2112022" y="405735"/>
                  </a:lnTo>
                  <a:lnTo>
                    <a:pt x="2150996" y="375340"/>
                  </a:lnTo>
                  <a:lnTo>
                    <a:pt x="2188886" y="343662"/>
                  </a:lnTo>
                  <a:lnTo>
                    <a:pt x="2225661" y="310729"/>
                  </a:lnTo>
                  <a:lnTo>
                    <a:pt x="2261288" y="276572"/>
                  </a:lnTo>
                  <a:lnTo>
                    <a:pt x="2295738" y="241221"/>
                  </a:lnTo>
                  <a:lnTo>
                    <a:pt x="2328978" y="204705"/>
                  </a:lnTo>
                  <a:lnTo>
                    <a:pt x="2360979" y="167055"/>
                  </a:lnTo>
                  <a:lnTo>
                    <a:pt x="2391707" y="128300"/>
                  </a:lnTo>
                  <a:lnTo>
                    <a:pt x="2421133" y="88470"/>
                  </a:lnTo>
                  <a:lnTo>
                    <a:pt x="2449226" y="47595"/>
                  </a:lnTo>
                </a:path>
              </a:pathLst>
            </a:custGeom>
            <a:ln w="57149">
              <a:solidFill>
                <a:srgbClr val="703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01951" y="5285873"/>
              <a:ext cx="2007235" cy="1994535"/>
            </a:xfrm>
            <a:custGeom>
              <a:avLst/>
              <a:gdLst/>
              <a:ahLst/>
              <a:cxnLst/>
              <a:rect l="l" t="t" r="r" b="b"/>
              <a:pathLst>
                <a:path w="2007234" h="1994534">
                  <a:moveTo>
                    <a:pt x="1003579" y="0"/>
                  </a:moveTo>
                  <a:lnTo>
                    <a:pt x="954955" y="1149"/>
                  </a:lnTo>
                  <a:lnTo>
                    <a:pt x="906928" y="4564"/>
                  </a:lnTo>
                  <a:lnTo>
                    <a:pt x="859550" y="10192"/>
                  </a:lnTo>
                  <a:lnTo>
                    <a:pt x="812876" y="17980"/>
                  </a:lnTo>
                  <a:lnTo>
                    <a:pt x="766956" y="27877"/>
                  </a:lnTo>
                  <a:lnTo>
                    <a:pt x="721843" y="39830"/>
                  </a:lnTo>
                  <a:lnTo>
                    <a:pt x="677591" y="53786"/>
                  </a:lnTo>
                  <a:lnTo>
                    <a:pt x="634252" y="69694"/>
                  </a:lnTo>
                  <a:lnTo>
                    <a:pt x="591878" y="87502"/>
                  </a:lnTo>
                  <a:lnTo>
                    <a:pt x="550521" y="107157"/>
                  </a:lnTo>
                  <a:lnTo>
                    <a:pt x="510235" y="128606"/>
                  </a:lnTo>
                  <a:lnTo>
                    <a:pt x="471072" y="151798"/>
                  </a:lnTo>
                  <a:lnTo>
                    <a:pt x="433085" y="176681"/>
                  </a:lnTo>
                  <a:lnTo>
                    <a:pt x="396325" y="203202"/>
                  </a:lnTo>
                  <a:lnTo>
                    <a:pt x="360846" y="231309"/>
                  </a:lnTo>
                  <a:lnTo>
                    <a:pt x="326701" y="260949"/>
                  </a:lnTo>
                  <a:lnTo>
                    <a:pt x="293941" y="292071"/>
                  </a:lnTo>
                  <a:lnTo>
                    <a:pt x="262620" y="324623"/>
                  </a:lnTo>
                  <a:lnTo>
                    <a:pt x="232790" y="358551"/>
                  </a:lnTo>
                  <a:lnTo>
                    <a:pt x="204503" y="393804"/>
                  </a:lnTo>
                  <a:lnTo>
                    <a:pt x="177812" y="430330"/>
                  </a:lnTo>
                  <a:lnTo>
                    <a:pt x="152770" y="468076"/>
                  </a:lnTo>
                  <a:lnTo>
                    <a:pt x="129430" y="506989"/>
                  </a:lnTo>
                  <a:lnTo>
                    <a:pt x="107843" y="547019"/>
                  </a:lnTo>
                  <a:lnTo>
                    <a:pt x="88062" y="588113"/>
                  </a:lnTo>
                  <a:lnTo>
                    <a:pt x="70141" y="630217"/>
                  </a:lnTo>
                  <a:lnTo>
                    <a:pt x="54131" y="673281"/>
                  </a:lnTo>
                  <a:lnTo>
                    <a:pt x="40085" y="717252"/>
                  </a:lnTo>
                  <a:lnTo>
                    <a:pt x="28056" y="762077"/>
                  </a:lnTo>
                  <a:lnTo>
                    <a:pt x="18096" y="807705"/>
                  </a:lnTo>
                  <a:lnTo>
                    <a:pt x="10257" y="854083"/>
                  </a:lnTo>
                  <a:lnTo>
                    <a:pt x="4594" y="901159"/>
                  </a:lnTo>
                  <a:lnTo>
                    <a:pt x="1157" y="948881"/>
                  </a:lnTo>
                  <a:lnTo>
                    <a:pt x="0" y="997196"/>
                  </a:lnTo>
                  <a:lnTo>
                    <a:pt x="1157" y="1045511"/>
                  </a:lnTo>
                  <a:lnTo>
                    <a:pt x="4594" y="1093232"/>
                  </a:lnTo>
                  <a:lnTo>
                    <a:pt x="10257" y="1140308"/>
                  </a:lnTo>
                  <a:lnTo>
                    <a:pt x="18096" y="1186686"/>
                  </a:lnTo>
                  <a:lnTo>
                    <a:pt x="28056" y="1232314"/>
                  </a:lnTo>
                  <a:lnTo>
                    <a:pt x="40085" y="1277139"/>
                  </a:lnTo>
                  <a:lnTo>
                    <a:pt x="54131" y="1321110"/>
                  </a:lnTo>
                  <a:lnTo>
                    <a:pt x="70141" y="1364174"/>
                  </a:lnTo>
                  <a:lnTo>
                    <a:pt x="88062" y="1406279"/>
                  </a:lnTo>
                  <a:lnTo>
                    <a:pt x="107843" y="1447372"/>
                  </a:lnTo>
                  <a:lnTo>
                    <a:pt x="129430" y="1487402"/>
                  </a:lnTo>
                  <a:lnTo>
                    <a:pt x="152770" y="1526316"/>
                  </a:lnTo>
                  <a:lnTo>
                    <a:pt x="177812" y="1564062"/>
                  </a:lnTo>
                  <a:lnTo>
                    <a:pt x="204503" y="1600587"/>
                  </a:lnTo>
                  <a:lnTo>
                    <a:pt x="232790" y="1635840"/>
                  </a:lnTo>
                  <a:lnTo>
                    <a:pt x="262620" y="1669769"/>
                  </a:lnTo>
                  <a:lnTo>
                    <a:pt x="293941" y="1702320"/>
                  </a:lnTo>
                  <a:lnTo>
                    <a:pt x="326701" y="1733442"/>
                  </a:lnTo>
                  <a:lnTo>
                    <a:pt x="360846" y="1763083"/>
                  </a:lnTo>
                  <a:lnTo>
                    <a:pt x="396325" y="1791189"/>
                  </a:lnTo>
                  <a:lnTo>
                    <a:pt x="433085" y="1817710"/>
                  </a:lnTo>
                  <a:lnTo>
                    <a:pt x="471072" y="1842593"/>
                  </a:lnTo>
                  <a:lnTo>
                    <a:pt x="510235" y="1865785"/>
                  </a:lnTo>
                  <a:lnTo>
                    <a:pt x="550521" y="1887235"/>
                  </a:lnTo>
                  <a:lnTo>
                    <a:pt x="591878" y="1906890"/>
                  </a:lnTo>
                  <a:lnTo>
                    <a:pt x="634252" y="1924697"/>
                  </a:lnTo>
                  <a:lnTo>
                    <a:pt x="677591" y="1940605"/>
                  </a:lnTo>
                  <a:lnTo>
                    <a:pt x="721843" y="1954562"/>
                  </a:lnTo>
                  <a:lnTo>
                    <a:pt x="766956" y="1966515"/>
                  </a:lnTo>
                  <a:lnTo>
                    <a:pt x="812876" y="1976411"/>
                  </a:lnTo>
                  <a:lnTo>
                    <a:pt x="859550" y="1984200"/>
                  </a:lnTo>
                  <a:lnTo>
                    <a:pt x="906928" y="1989827"/>
                  </a:lnTo>
                  <a:lnTo>
                    <a:pt x="954955" y="1993242"/>
                  </a:lnTo>
                  <a:lnTo>
                    <a:pt x="1003579" y="1994392"/>
                  </a:lnTo>
                  <a:lnTo>
                    <a:pt x="1052203" y="1993242"/>
                  </a:lnTo>
                  <a:lnTo>
                    <a:pt x="1100230" y="1989827"/>
                  </a:lnTo>
                  <a:lnTo>
                    <a:pt x="1147608" y="1984200"/>
                  </a:lnTo>
                  <a:lnTo>
                    <a:pt x="1194283" y="1976411"/>
                  </a:lnTo>
                  <a:lnTo>
                    <a:pt x="1240203" y="1966515"/>
                  </a:lnTo>
                  <a:lnTo>
                    <a:pt x="1285315" y="1954562"/>
                  </a:lnTo>
                  <a:lnTo>
                    <a:pt x="1329567" y="1940605"/>
                  </a:lnTo>
                  <a:lnTo>
                    <a:pt x="1372907" y="1924697"/>
                  </a:lnTo>
                  <a:lnTo>
                    <a:pt x="1415281" y="1906890"/>
                  </a:lnTo>
                  <a:lnTo>
                    <a:pt x="1456637" y="1887235"/>
                  </a:lnTo>
                  <a:lnTo>
                    <a:pt x="1496924" y="1865785"/>
                  </a:lnTo>
                  <a:lnTo>
                    <a:pt x="1536087" y="1842593"/>
                  </a:lnTo>
                  <a:lnTo>
                    <a:pt x="1574074" y="1817710"/>
                  </a:lnTo>
                  <a:lnTo>
                    <a:pt x="1610834" y="1791189"/>
                  </a:lnTo>
                  <a:lnTo>
                    <a:pt x="1646312" y="1763083"/>
                  </a:lnTo>
                  <a:lnTo>
                    <a:pt x="1680458" y="1733442"/>
                  </a:lnTo>
                  <a:lnTo>
                    <a:pt x="1713218" y="1702320"/>
                  </a:lnTo>
                  <a:lnTo>
                    <a:pt x="1744539" y="1669769"/>
                  </a:lnTo>
                  <a:lnTo>
                    <a:pt x="1774369" y="1635840"/>
                  </a:lnTo>
                  <a:lnTo>
                    <a:pt x="1802656" y="1600587"/>
                  </a:lnTo>
                  <a:lnTo>
                    <a:pt x="1829347" y="1564062"/>
                  </a:lnTo>
                  <a:lnTo>
                    <a:pt x="1854389" y="1526316"/>
                  </a:lnTo>
                  <a:lnTo>
                    <a:pt x="1877729" y="1487402"/>
                  </a:lnTo>
                  <a:lnTo>
                    <a:pt x="1899316" y="1447372"/>
                  </a:lnTo>
                  <a:lnTo>
                    <a:pt x="1919097" y="1406279"/>
                  </a:lnTo>
                  <a:lnTo>
                    <a:pt x="1937018" y="1364174"/>
                  </a:lnTo>
                  <a:lnTo>
                    <a:pt x="1953028" y="1321110"/>
                  </a:lnTo>
                  <a:lnTo>
                    <a:pt x="1967074" y="1277139"/>
                  </a:lnTo>
                  <a:lnTo>
                    <a:pt x="1979104" y="1232314"/>
                  </a:lnTo>
                  <a:lnTo>
                    <a:pt x="1989064" y="1186686"/>
                  </a:lnTo>
                  <a:lnTo>
                    <a:pt x="1996902" y="1140308"/>
                  </a:lnTo>
                  <a:lnTo>
                    <a:pt x="2002565" y="1093232"/>
                  </a:lnTo>
                  <a:lnTo>
                    <a:pt x="2006002" y="1045511"/>
                  </a:lnTo>
                  <a:lnTo>
                    <a:pt x="2007160" y="997196"/>
                  </a:lnTo>
                  <a:lnTo>
                    <a:pt x="2006002" y="948881"/>
                  </a:lnTo>
                  <a:lnTo>
                    <a:pt x="2002565" y="901159"/>
                  </a:lnTo>
                  <a:lnTo>
                    <a:pt x="1996902" y="854083"/>
                  </a:lnTo>
                  <a:lnTo>
                    <a:pt x="1989064" y="807705"/>
                  </a:lnTo>
                  <a:lnTo>
                    <a:pt x="1979104" y="762077"/>
                  </a:lnTo>
                  <a:lnTo>
                    <a:pt x="1967074" y="717252"/>
                  </a:lnTo>
                  <a:lnTo>
                    <a:pt x="1953028" y="673281"/>
                  </a:lnTo>
                  <a:lnTo>
                    <a:pt x="1937018" y="630217"/>
                  </a:lnTo>
                  <a:lnTo>
                    <a:pt x="1919097" y="588113"/>
                  </a:lnTo>
                  <a:lnTo>
                    <a:pt x="1899316" y="547019"/>
                  </a:lnTo>
                  <a:lnTo>
                    <a:pt x="1877729" y="506989"/>
                  </a:lnTo>
                  <a:lnTo>
                    <a:pt x="1854389" y="468076"/>
                  </a:lnTo>
                  <a:lnTo>
                    <a:pt x="1829347" y="430330"/>
                  </a:lnTo>
                  <a:lnTo>
                    <a:pt x="1802656" y="393804"/>
                  </a:lnTo>
                  <a:lnTo>
                    <a:pt x="1774369" y="358551"/>
                  </a:lnTo>
                  <a:lnTo>
                    <a:pt x="1744539" y="324623"/>
                  </a:lnTo>
                  <a:lnTo>
                    <a:pt x="1713218" y="292071"/>
                  </a:lnTo>
                  <a:lnTo>
                    <a:pt x="1680458" y="260949"/>
                  </a:lnTo>
                  <a:lnTo>
                    <a:pt x="1646312" y="231309"/>
                  </a:lnTo>
                  <a:lnTo>
                    <a:pt x="1610834" y="203202"/>
                  </a:lnTo>
                  <a:lnTo>
                    <a:pt x="1574074" y="176681"/>
                  </a:lnTo>
                  <a:lnTo>
                    <a:pt x="1536087" y="151798"/>
                  </a:lnTo>
                  <a:lnTo>
                    <a:pt x="1496924" y="128606"/>
                  </a:lnTo>
                  <a:lnTo>
                    <a:pt x="1456637" y="107157"/>
                  </a:lnTo>
                  <a:lnTo>
                    <a:pt x="1415281" y="87502"/>
                  </a:lnTo>
                  <a:lnTo>
                    <a:pt x="1372907" y="69694"/>
                  </a:lnTo>
                  <a:lnTo>
                    <a:pt x="1329567" y="53786"/>
                  </a:lnTo>
                  <a:lnTo>
                    <a:pt x="1285315" y="39830"/>
                  </a:lnTo>
                  <a:lnTo>
                    <a:pt x="1240203" y="27877"/>
                  </a:lnTo>
                  <a:lnTo>
                    <a:pt x="1194283" y="17980"/>
                  </a:lnTo>
                  <a:lnTo>
                    <a:pt x="1147608" y="10192"/>
                  </a:lnTo>
                  <a:lnTo>
                    <a:pt x="1100230" y="4564"/>
                  </a:lnTo>
                  <a:lnTo>
                    <a:pt x="1052203" y="1149"/>
                  </a:lnTo>
                  <a:lnTo>
                    <a:pt x="10035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201951" y="5285873"/>
              <a:ext cx="2007235" cy="1994535"/>
            </a:xfrm>
            <a:custGeom>
              <a:avLst/>
              <a:gdLst/>
              <a:ahLst/>
              <a:cxnLst/>
              <a:rect l="l" t="t" r="r" b="b"/>
              <a:pathLst>
                <a:path w="2007234" h="1994534">
                  <a:moveTo>
                    <a:pt x="0" y="997196"/>
                  </a:moveTo>
                  <a:lnTo>
                    <a:pt x="1157" y="948880"/>
                  </a:lnTo>
                  <a:lnTo>
                    <a:pt x="4594" y="901159"/>
                  </a:lnTo>
                  <a:lnTo>
                    <a:pt x="10257" y="854083"/>
                  </a:lnTo>
                  <a:lnTo>
                    <a:pt x="18096" y="807705"/>
                  </a:lnTo>
                  <a:lnTo>
                    <a:pt x="28056" y="762077"/>
                  </a:lnTo>
                  <a:lnTo>
                    <a:pt x="40085" y="717252"/>
                  </a:lnTo>
                  <a:lnTo>
                    <a:pt x="54131" y="673281"/>
                  </a:lnTo>
                  <a:lnTo>
                    <a:pt x="70141" y="630217"/>
                  </a:lnTo>
                  <a:lnTo>
                    <a:pt x="88062" y="588113"/>
                  </a:lnTo>
                  <a:lnTo>
                    <a:pt x="107843" y="547019"/>
                  </a:lnTo>
                  <a:lnTo>
                    <a:pt x="129430" y="506989"/>
                  </a:lnTo>
                  <a:lnTo>
                    <a:pt x="152770" y="468076"/>
                  </a:lnTo>
                  <a:lnTo>
                    <a:pt x="177812" y="430330"/>
                  </a:lnTo>
                  <a:lnTo>
                    <a:pt x="204503" y="393804"/>
                  </a:lnTo>
                  <a:lnTo>
                    <a:pt x="232790" y="358551"/>
                  </a:lnTo>
                  <a:lnTo>
                    <a:pt x="262620" y="324623"/>
                  </a:lnTo>
                  <a:lnTo>
                    <a:pt x="293941" y="292071"/>
                  </a:lnTo>
                  <a:lnTo>
                    <a:pt x="326701" y="260949"/>
                  </a:lnTo>
                  <a:lnTo>
                    <a:pt x="360846" y="231309"/>
                  </a:lnTo>
                  <a:lnTo>
                    <a:pt x="396325" y="203202"/>
                  </a:lnTo>
                  <a:lnTo>
                    <a:pt x="433085" y="176681"/>
                  </a:lnTo>
                  <a:lnTo>
                    <a:pt x="471072" y="151799"/>
                  </a:lnTo>
                  <a:lnTo>
                    <a:pt x="510235" y="128606"/>
                  </a:lnTo>
                  <a:lnTo>
                    <a:pt x="550521" y="107157"/>
                  </a:lnTo>
                  <a:lnTo>
                    <a:pt x="591878" y="87502"/>
                  </a:lnTo>
                  <a:lnTo>
                    <a:pt x="634252" y="69694"/>
                  </a:lnTo>
                  <a:lnTo>
                    <a:pt x="677592" y="53786"/>
                  </a:lnTo>
                  <a:lnTo>
                    <a:pt x="721844" y="39830"/>
                  </a:lnTo>
                  <a:lnTo>
                    <a:pt x="766956" y="27877"/>
                  </a:lnTo>
                  <a:lnTo>
                    <a:pt x="812876" y="17980"/>
                  </a:lnTo>
                  <a:lnTo>
                    <a:pt x="859551" y="10192"/>
                  </a:lnTo>
                  <a:lnTo>
                    <a:pt x="906928" y="4564"/>
                  </a:lnTo>
                  <a:lnTo>
                    <a:pt x="954955" y="1149"/>
                  </a:lnTo>
                  <a:lnTo>
                    <a:pt x="1003580" y="0"/>
                  </a:lnTo>
                  <a:lnTo>
                    <a:pt x="1052204" y="1149"/>
                  </a:lnTo>
                  <a:lnTo>
                    <a:pt x="1100231" y="4564"/>
                  </a:lnTo>
                  <a:lnTo>
                    <a:pt x="1147608" y="10192"/>
                  </a:lnTo>
                  <a:lnTo>
                    <a:pt x="1194283" y="17980"/>
                  </a:lnTo>
                  <a:lnTo>
                    <a:pt x="1240203" y="27877"/>
                  </a:lnTo>
                  <a:lnTo>
                    <a:pt x="1285315" y="39830"/>
                  </a:lnTo>
                  <a:lnTo>
                    <a:pt x="1329568" y="53786"/>
                  </a:lnTo>
                  <a:lnTo>
                    <a:pt x="1372907" y="69694"/>
                  </a:lnTo>
                  <a:lnTo>
                    <a:pt x="1415281" y="87502"/>
                  </a:lnTo>
                  <a:lnTo>
                    <a:pt x="1456638" y="107157"/>
                  </a:lnTo>
                  <a:lnTo>
                    <a:pt x="1496924" y="128606"/>
                  </a:lnTo>
                  <a:lnTo>
                    <a:pt x="1536087" y="151799"/>
                  </a:lnTo>
                  <a:lnTo>
                    <a:pt x="1574074" y="176681"/>
                  </a:lnTo>
                  <a:lnTo>
                    <a:pt x="1610834" y="203202"/>
                  </a:lnTo>
                  <a:lnTo>
                    <a:pt x="1646313" y="231309"/>
                  </a:lnTo>
                  <a:lnTo>
                    <a:pt x="1680458" y="260949"/>
                  </a:lnTo>
                  <a:lnTo>
                    <a:pt x="1713218" y="292071"/>
                  </a:lnTo>
                  <a:lnTo>
                    <a:pt x="1744539" y="324623"/>
                  </a:lnTo>
                  <a:lnTo>
                    <a:pt x="1774369" y="358551"/>
                  </a:lnTo>
                  <a:lnTo>
                    <a:pt x="1802656" y="393804"/>
                  </a:lnTo>
                  <a:lnTo>
                    <a:pt x="1829347" y="430330"/>
                  </a:lnTo>
                  <a:lnTo>
                    <a:pt x="1854389" y="468076"/>
                  </a:lnTo>
                  <a:lnTo>
                    <a:pt x="1877729" y="506989"/>
                  </a:lnTo>
                  <a:lnTo>
                    <a:pt x="1899316" y="547019"/>
                  </a:lnTo>
                  <a:lnTo>
                    <a:pt x="1919097" y="588113"/>
                  </a:lnTo>
                  <a:lnTo>
                    <a:pt x="1937018" y="630217"/>
                  </a:lnTo>
                  <a:lnTo>
                    <a:pt x="1953028" y="673281"/>
                  </a:lnTo>
                  <a:lnTo>
                    <a:pt x="1967074" y="717252"/>
                  </a:lnTo>
                  <a:lnTo>
                    <a:pt x="1979104" y="762077"/>
                  </a:lnTo>
                  <a:lnTo>
                    <a:pt x="1989063" y="807705"/>
                  </a:lnTo>
                  <a:lnTo>
                    <a:pt x="1996902" y="854083"/>
                  </a:lnTo>
                  <a:lnTo>
                    <a:pt x="2002565" y="901159"/>
                  </a:lnTo>
                  <a:lnTo>
                    <a:pt x="2006002" y="948880"/>
                  </a:lnTo>
                  <a:lnTo>
                    <a:pt x="2007160" y="997196"/>
                  </a:lnTo>
                  <a:lnTo>
                    <a:pt x="2006002" y="1045511"/>
                  </a:lnTo>
                  <a:lnTo>
                    <a:pt x="2002565" y="1093232"/>
                  </a:lnTo>
                  <a:lnTo>
                    <a:pt x="1996902" y="1140308"/>
                  </a:lnTo>
                  <a:lnTo>
                    <a:pt x="1989063" y="1186686"/>
                  </a:lnTo>
                  <a:lnTo>
                    <a:pt x="1979104" y="1232314"/>
                  </a:lnTo>
                  <a:lnTo>
                    <a:pt x="1967074" y="1277139"/>
                  </a:lnTo>
                  <a:lnTo>
                    <a:pt x="1953028" y="1321110"/>
                  </a:lnTo>
                  <a:lnTo>
                    <a:pt x="1937018" y="1364174"/>
                  </a:lnTo>
                  <a:lnTo>
                    <a:pt x="1919097" y="1406278"/>
                  </a:lnTo>
                  <a:lnTo>
                    <a:pt x="1899316" y="1447372"/>
                  </a:lnTo>
                  <a:lnTo>
                    <a:pt x="1877729" y="1487401"/>
                  </a:lnTo>
                  <a:lnTo>
                    <a:pt x="1854389" y="1526315"/>
                  </a:lnTo>
                  <a:lnTo>
                    <a:pt x="1829347" y="1564061"/>
                  </a:lnTo>
                  <a:lnTo>
                    <a:pt x="1802656" y="1600587"/>
                  </a:lnTo>
                  <a:lnTo>
                    <a:pt x="1774369" y="1635840"/>
                  </a:lnTo>
                  <a:lnTo>
                    <a:pt x="1744539" y="1669768"/>
                  </a:lnTo>
                  <a:lnTo>
                    <a:pt x="1713218" y="1702320"/>
                  </a:lnTo>
                  <a:lnTo>
                    <a:pt x="1680458" y="1733442"/>
                  </a:lnTo>
                  <a:lnTo>
                    <a:pt x="1646313" y="1763082"/>
                  </a:lnTo>
                  <a:lnTo>
                    <a:pt x="1610834" y="1791189"/>
                  </a:lnTo>
                  <a:lnTo>
                    <a:pt x="1574074" y="1817710"/>
                  </a:lnTo>
                  <a:lnTo>
                    <a:pt x="1536087" y="1842592"/>
                  </a:lnTo>
                  <a:lnTo>
                    <a:pt x="1496924" y="1865785"/>
                  </a:lnTo>
                  <a:lnTo>
                    <a:pt x="1456638" y="1887234"/>
                  </a:lnTo>
                  <a:lnTo>
                    <a:pt x="1415281" y="1906889"/>
                  </a:lnTo>
                  <a:lnTo>
                    <a:pt x="1372907" y="1924697"/>
                  </a:lnTo>
                  <a:lnTo>
                    <a:pt x="1329568" y="1940605"/>
                  </a:lnTo>
                  <a:lnTo>
                    <a:pt x="1285315" y="1954561"/>
                  </a:lnTo>
                  <a:lnTo>
                    <a:pt x="1240203" y="1966514"/>
                  </a:lnTo>
                  <a:lnTo>
                    <a:pt x="1194283" y="1976411"/>
                  </a:lnTo>
                  <a:lnTo>
                    <a:pt x="1147608" y="1984199"/>
                  </a:lnTo>
                  <a:lnTo>
                    <a:pt x="1100231" y="1989827"/>
                  </a:lnTo>
                  <a:lnTo>
                    <a:pt x="1052204" y="1993242"/>
                  </a:lnTo>
                  <a:lnTo>
                    <a:pt x="1003580" y="1994392"/>
                  </a:lnTo>
                  <a:lnTo>
                    <a:pt x="954955" y="1993242"/>
                  </a:lnTo>
                  <a:lnTo>
                    <a:pt x="906928" y="1989827"/>
                  </a:lnTo>
                  <a:lnTo>
                    <a:pt x="859551" y="1984199"/>
                  </a:lnTo>
                  <a:lnTo>
                    <a:pt x="812876" y="1976411"/>
                  </a:lnTo>
                  <a:lnTo>
                    <a:pt x="766956" y="1966514"/>
                  </a:lnTo>
                  <a:lnTo>
                    <a:pt x="721844" y="1954561"/>
                  </a:lnTo>
                  <a:lnTo>
                    <a:pt x="677592" y="1940605"/>
                  </a:lnTo>
                  <a:lnTo>
                    <a:pt x="634252" y="1924697"/>
                  </a:lnTo>
                  <a:lnTo>
                    <a:pt x="591878" y="1906889"/>
                  </a:lnTo>
                  <a:lnTo>
                    <a:pt x="550521" y="1887234"/>
                  </a:lnTo>
                  <a:lnTo>
                    <a:pt x="510235" y="1865785"/>
                  </a:lnTo>
                  <a:lnTo>
                    <a:pt x="471072" y="1842592"/>
                  </a:lnTo>
                  <a:lnTo>
                    <a:pt x="433085" y="1817710"/>
                  </a:lnTo>
                  <a:lnTo>
                    <a:pt x="396325" y="1791189"/>
                  </a:lnTo>
                  <a:lnTo>
                    <a:pt x="360846" y="1763082"/>
                  </a:lnTo>
                  <a:lnTo>
                    <a:pt x="326701" y="1733442"/>
                  </a:lnTo>
                  <a:lnTo>
                    <a:pt x="293941" y="1702320"/>
                  </a:lnTo>
                  <a:lnTo>
                    <a:pt x="262620" y="1669768"/>
                  </a:lnTo>
                  <a:lnTo>
                    <a:pt x="232790" y="1635840"/>
                  </a:lnTo>
                  <a:lnTo>
                    <a:pt x="204503" y="1600587"/>
                  </a:lnTo>
                  <a:lnTo>
                    <a:pt x="177812" y="1564061"/>
                  </a:lnTo>
                  <a:lnTo>
                    <a:pt x="152770" y="1526315"/>
                  </a:lnTo>
                  <a:lnTo>
                    <a:pt x="129430" y="1487401"/>
                  </a:lnTo>
                  <a:lnTo>
                    <a:pt x="107843" y="1447372"/>
                  </a:lnTo>
                  <a:lnTo>
                    <a:pt x="88062" y="1406278"/>
                  </a:lnTo>
                  <a:lnTo>
                    <a:pt x="70141" y="1364174"/>
                  </a:lnTo>
                  <a:lnTo>
                    <a:pt x="54131" y="1321110"/>
                  </a:lnTo>
                  <a:lnTo>
                    <a:pt x="40085" y="1277139"/>
                  </a:lnTo>
                  <a:lnTo>
                    <a:pt x="28056" y="1232314"/>
                  </a:lnTo>
                  <a:lnTo>
                    <a:pt x="18096" y="1186686"/>
                  </a:lnTo>
                  <a:lnTo>
                    <a:pt x="10257" y="1140308"/>
                  </a:lnTo>
                  <a:lnTo>
                    <a:pt x="4594" y="1093232"/>
                  </a:lnTo>
                  <a:lnTo>
                    <a:pt x="1157" y="1045511"/>
                  </a:lnTo>
                  <a:lnTo>
                    <a:pt x="0" y="997196"/>
                  </a:lnTo>
                  <a:close/>
                </a:path>
              </a:pathLst>
            </a:custGeom>
            <a:ln w="571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869935" y="4925567"/>
              <a:ext cx="2700528" cy="2700527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235112" y="9697156"/>
            <a:ext cx="778573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u="dash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Tackling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the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Generative</a:t>
            </a:r>
            <a:r>
              <a:rPr sz="1600" u="dash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Learning</a:t>
            </a:r>
            <a:r>
              <a:rPr sz="1600" u="dash" spc="-6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Trilemma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with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Denoising</a:t>
            </a:r>
            <a:r>
              <a:rPr sz="1600" u="dash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Diffusion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GANs,</a:t>
            </a:r>
            <a:r>
              <a:rPr sz="1600" u="dash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ICLR</a:t>
            </a:r>
            <a:r>
              <a:rPr sz="16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600" u="dash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3"/>
              </a:rPr>
              <a:t>2022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860925">
              <a:lnSpc>
                <a:spcPct val="100000"/>
              </a:lnSpc>
              <a:spcBef>
                <a:spcPts val="100"/>
              </a:spcBef>
            </a:pPr>
            <a:r>
              <a:rPr dirty="0"/>
              <a:t>Acceleration</a:t>
            </a:r>
            <a:r>
              <a:rPr spc="-31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19197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5" y="2763745"/>
                </a:lnTo>
                <a:lnTo>
                  <a:pt x="1577543" y="2758017"/>
                </a:lnTo>
                <a:lnTo>
                  <a:pt x="1624339" y="2750714"/>
                </a:lnTo>
                <a:lnTo>
                  <a:pt x="1670603" y="2741864"/>
                </a:lnTo>
                <a:lnTo>
                  <a:pt x="1716309" y="2731493"/>
                </a:lnTo>
                <a:lnTo>
                  <a:pt x="1761429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9" y="2675358"/>
                </a:lnTo>
                <a:lnTo>
                  <a:pt x="1935500" y="2657799"/>
                </a:lnTo>
                <a:lnTo>
                  <a:pt x="1977279" y="2638884"/>
                </a:lnTo>
                <a:lnTo>
                  <a:pt x="2018306" y="2618642"/>
                </a:lnTo>
                <a:lnTo>
                  <a:pt x="2058556" y="2597099"/>
                </a:lnTo>
                <a:lnTo>
                  <a:pt x="2097999" y="2574284"/>
                </a:lnTo>
                <a:lnTo>
                  <a:pt x="2136610" y="2550223"/>
                </a:lnTo>
                <a:lnTo>
                  <a:pt x="2174360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3" y="2412201"/>
                </a:lnTo>
                <a:lnTo>
                  <a:pt x="2349237" y="2381245"/>
                </a:lnTo>
                <a:lnTo>
                  <a:pt x="2381246" y="2349236"/>
                </a:lnTo>
                <a:lnTo>
                  <a:pt x="2412201" y="2316202"/>
                </a:lnTo>
                <a:lnTo>
                  <a:pt x="2442077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4" y="2136609"/>
                </a:lnTo>
                <a:lnTo>
                  <a:pt x="2574284" y="2097998"/>
                </a:lnTo>
                <a:lnTo>
                  <a:pt x="2597100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30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8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8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30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100" y="712648"/>
                </a:lnTo>
                <a:lnTo>
                  <a:pt x="2574284" y="673205"/>
                </a:lnTo>
                <a:lnTo>
                  <a:pt x="2550224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7" y="489034"/>
                </a:lnTo>
                <a:lnTo>
                  <a:pt x="2412201" y="455001"/>
                </a:lnTo>
                <a:lnTo>
                  <a:pt x="2381246" y="421967"/>
                </a:lnTo>
                <a:lnTo>
                  <a:pt x="2349237" y="389958"/>
                </a:lnTo>
                <a:lnTo>
                  <a:pt x="2316203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60" y="246259"/>
                </a:lnTo>
                <a:lnTo>
                  <a:pt x="2136610" y="220980"/>
                </a:lnTo>
                <a:lnTo>
                  <a:pt x="2097999" y="196919"/>
                </a:lnTo>
                <a:lnTo>
                  <a:pt x="2058556" y="174104"/>
                </a:lnTo>
                <a:lnTo>
                  <a:pt x="2018306" y="152562"/>
                </a:lnTo>
                <a:lnTo>
                  <a:pt x="1977279" y="132319"/>
                </a:lnTo>
                <a:lnTo>
                  <a:pt x="1935500" y="113405"/>
                </a:lnTo>
                <a:lnTo>
                  <a:pt x="1892999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9" y="51574"/>
                </a:lnTo>
                <a:lnTo>
                  <a:pt x="1716309" y="39711"/>
                </a:lnTo>
                <a:lnTo>
                  <a:pt x="1670603" y="29340"/>
                </a:lnTo>
                <a:lnTo>
                  <a:pt x="1624339" y="20489"/>
                </a:lnTo>
                <a:lnTo>
                  <a:pt x="1577543" y="13186"/>
                </a:lnTo>
                <a:lnTo>
                  <a:pt x="1530245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6346" y="3842003"/>
            <a:ext cx="1777364" cy="14916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ctr">
              <a:lnSpc>
                <a:spcPts val="3790"/>
              </a:lnSpc>
              <a:spcBef>
                <a:spcPts val="26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ODE/SDE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ts val="3795"/>
              </a:lnSpc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Solvers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4686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41988" y="4145788"/>
            <a:ext cx="177673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0160">
              <a:lnSpc>
                <a:spcPct val="101400"/>
              </a:lnSpc>
              <a:spcBef>
                <a:spcPts val="50"/>
              </a:spcBef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Distillation </a:t>
            </a:r>
            <a:r>
              <a:rPr sz="2800" spc="-45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111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21239" y="3842003"/>
            <a:ext cx="175133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9525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Low-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dim.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Diffusion 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066712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8" y="0"/>
                </a:moveTo>
                <a:lnTo>
                  <a:pt x="1336963" y="837"/>
                </a:lnTo>
                <a:lnTo>
                  <a:pt x="1288740" y="3333"/>
                </a:lnTo>
                <a:lnTo>
                  <a:pt x="1240965" y="7458"/>
                </a:lnTo>
                <a:lnTo>
                  <a:pt x="1193666" y="13186"/>
                </a:lnTo>
                <a:lnTo>
                  <a:pt x="1146870" y="20489"/>
                </a:lnTo>
                <a:lnTo>
                  <a:pt x="1100606" y="29340"/>
                </a:lnTo>
                <a:lnTo>
                  <a:pt x="1054900" y="39711"/>
                </a:lnTo>
                <a:lnTo>
                  <a:pt x="1009780" y="51574"/>
                </a:lnTo>
                <a:lnTo>
                  <a:pt x="965273" y="64903"/>
                </a:lnTo>
                <a:lnTo>
                  <a:pt x="921407" y="79669"/>
                </a:lnTo>
                <a:lnTo>
                  <a:pt x="878209" y="95846"/>
                </a:lnTo>
                <a:lnTo>
                  <a:pt x="835707" y="113405"/>
                </a:lnTo>
                <a:lnTo>
                  <a:pt x="793929" y="132319"/>
                </a:lnTo>
                <a:lnTo>
                  <a:pt x="752901" y="152562"/>
                </a:lnTo>
                <a:lnTo>
                  <a:pt x="712651" y="174104"/>
                </a:lnTo>
                <a:lnTo>
                  <a:pt x="673207" y="196919"/>
                </a:lnTo>
                <a:lnTo>
                  <a:pt x="634597" y="220980"/>
                </a:lnTo>
                <a:lnTo>
                  <a:pt x="596847" y="246259"/>
                </a:lnTo>
                <a:lnTo>
                  <a:pt x="559985" y="272728"/>
                </a:lnTo>
                <a:lnTo>
                  <a:pt x="524039" y="300360"/>
                </a:lnTo>
                <a:lnTo>
                  <a:pt x="489036" y="329127"/>
                </a:lnTo>
                <a:lnTo>
                  <a:pt x="455003" y="359002"/>
                </a:lnTo>
                <a:lnTo>
                  <a:pt x="421969" y="389958"/>
                </a:lnTo>
                <a:lnTo>
                  <a:pt x="389960" y="421967"/>
                </a:lnTo>
                <a:lnTo>
                  <a:pt x="359004" y="455001"/>
                </a:lnTo>
                <a:lnTo>
                  <a:pt x="329128" y="489034"/>
                </a:lnTo>
                <a:lnTo>
                  <a:pt x="300361" y="524037"/>
                </a:lnTo>
                <a:lnTo>
                  <a:pt x="272729" y="559983"/>
                </a:lnTo>
                <a:lnTo>
                  <a:pt x="246260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5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5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60" y="2174359"/>
                </a:lnTo>
                <a:lnTo>
                  <a:pt x="272729" y="2211220"/>
                </a:lnTo>
                <a:lnTo>
                  <a:pt x="300361" y="2247166"/>
                </a:lnTo>
                <a:lnTo>
                  <a:pt x="329128" y="2282169"/>
                </a:lnTo>
                <a:lnTo>
                  <a:pt x="359004" y="2316202"/>
                </a:lnTo>
                <a:lnTo>
                  <a:pt x="389960" y="2349236"/>
                </a:lnTo>
                <a:lnTo>
                  <a:pt x="421969" y="2381245"/>
                </a:lnTo>
                <a:lnTo>
                  <a:pt x="455003" y="2412201"/>
                </a:lnTo>
                <a:lnTo>
                  <a:pt x="489036" y="2442076"/>
                </a:lnTo>
                <a:lnTo>
                  <a:pt x="524039" y="2470844"/>
                </a:lnTo>
                <a:lnTo>
                  <a:pt x="559985" y="2498476"/>
                </a:lnTo>
                <a:lnTo>
                  <a:pt x="596847" y="2524945"/>
                </a:lnTo>
                <a:lnTo>
                  <a:pt x="634597" y="2550223"/>
                </a:lnTo>
                <a:lnTo>
                  <a:pt x="673207" y="2574284"/>
                </a:lnTo>
                <a:lnTo>
                  <a:pt x="712651" y="2597099"/>
                </a:lnTo>
                <a:lnTo>
                  <a:pt x="752901" y="2618642"/>
                </a:lnTo>
                <a:lnTo>
                  <a:pt x="793929" y="2638884"/>
                </a:lnTo>
                <a:lnTo>
                  <a:pt x="835707" y="2657799"/>
                </a:lnTo>
                <a:lnTo>
                  <a:pt x="878209" y="2675358"/>
                </a:lnTo>
                <a:lnTo>
                  <a:pt x="921407" y="2691535"/>
                </a:lnTo>
                <a:lnTo>
                  <a:pt x="965273" y="2706301"/>
                </a:lnTo>
                <a:lnTo>
                  <a:pt x="1009780" y="2719629"/>
                </a:lnTo>
                <a:lnTo>
                  <a:pt x="1054900" y="2731493"/>
                </a:lnTo>
                <a:lnTo>
                  <a:pt x="1100606" y="2741864"/>
                </a:lnTo>
                <a:lnTo>
                  <a:pt x="1146870" y="2750714"/>
                </a:lnTo>
                <a:lnTo>
                  <a:pt x="1193666" y="2758017"/>
                </a:lnTo>
                <a:lnTo>
                  <a:pt x="1240965" y="2763745"/>
                </a:lnTo>
                <a:lnTo>
                  <a:pt x="1288740" y="2767871"/>
                </a:lnTo>
                <a:lnTo>
                  <a:pt x="1336963" y="2770366"/>
                </a:lnTo>
                <a:lnTo>
                  <a:pt x="1385608" y="2771204"/>
                </a:lnTo>
                <a:lnTo>
                  <a:pt x="1434252" y="2770366"/>
                </a:lnTo>
                <a:lnTo>
                  <a:pt x="1482475" y="2767871"/>
                </a:lnTo>
                <a:lnTo>
                  <a:pt x="1530250" y="2763745"/>
                </a:lnTo>
                <a:lnTo>
                  <a:pt x="1577549" y="2758017"/>
                </a:lnTo>
                <a:lnTo>
                  <a:pt x="1624344" y="2750714"/>
                </a:lnTo>
                <a:lnTo>
                  <a:pt x="1670609" y="2741864"/>
                </a:lnTo>
                <a:lnTo>
                  <a:pt x="1716315" y="2731493"/>
                </a:lnTo>
                <a:lnTo>
                  <a:pt x="1761435" y="2719629"/>
                </a:lnTo>
                <a:lnTo>
                  <a:pt x="1805941" y="2706301"/>
                </a:lnTo>
                <a:lnTo>
                  <a:pt x="1849807" y="2691535"/>
                </a:lnTo>
                <a:lnTo>
                  <a:pt x="1893004" y="2675358"/>
                </a:lnTo>
                <a:lnTo>
                  <a:pt x="1935506" y="2657799"/>
                </a:lnTo>
                <a:lnTo>
                  <a:pt x="1977284" y="2638884"/>
                </a:lnTo>
                <a:lnTo>
                  <a:pt x="2018312" y="2618642"/>
                </a:lnTo>
                <a:lnTo>
                  <a:pt x="2058561" y="2597099"/>
                </a:lnTo>
                <a:lnTo>
                  <a:pt x="2098004" y="2574284"/>
                </a:lnTo>
                <a:lnTo>
                  <a:pt x="2136615" y="2550223"/>
                </a:lnTo>
                <a:lnTo>
                  <a:pt x="2174364" y="2524945"/>
                </a:lnTo>
                <a:lnTo>
                  <a:pt x="2211226" y="2498476"/>
                </a:lnTo>
                <a:lnTo>
                  <a:pt x="2247171" y="2470844"/>
                </a:lnTo>
                <a:lnTo>
                  <a:pt x="2282174" y="2442076"/>
                </a:lnTo>
                <a:lnTo>
                  <a:pt x="2316206" y="2412201"/>
                </a:lnTo>
                <a:lnTo>
                  <a:pt x="2349240" y="2381245"/>
                </a:lnTo>
                <a:lnTo>
                  <a:pt x="2381249" y="2349236"/>
                </a:lnTo>
                <a:lnTo>
                  <a:pt x="2412204" y="2316202"/>
                </a:lnTo>
                <a:lnTo>
                  <a:pt x="2442079" y="2282169"/>
                </a:lnTo>
                <a:lnTo>
                  <a:pt x="2470846" y="2247166"/>
                </a:lnTo>
                <a:lnTo>
                  <a:pt x="2498478" y="2211220"/>
                </a:lnTo>
                <a:lnTo>
                  <a:pt x="2524947" y="2174359"/>
                </a:lnTo>
                <a:lnTo>
                  <a:pt x="2550225" y="2136609"/>
                </a:lnTo>
                <a:lnTo>
                  <a:pt x="2574286" y="2097998"/>
                </a:lnTo>
                <a:lnTo>
                  <a:pt x="2597101" y="2058555"/>
                </a:lnTo>
                <a:lnTo>
                  <a:pt x="2618643" y="2018305"/>
                </a:lnTo>
                <a:lnTo>
                  <a:pt x="2638885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2" y="1716308"/>
                </a:lnTo>
                <a:lnTo>
                  <a:pt x="2741863" y="1670602"/>
                </a:lnTo>
                <a:lnTo>
                  <a:pt x="2750713" y="1624337"/>
                </a:lnTo>
                <a:lnTo>
                  <a:pt x="2758016" y="1577542"/>
                </a:lnTo>
                <a:lnTo>
                  <a:pt x="2763744" y="1530243"/>
                </a:lnTo>
                <a:lnTo>
                  <a:pt x="2767870" y="1482469"/>
                </a:lnTo>
                <a:lnTo>
                  <a:pt x="2770365" y="1434245"/>
                </a:lnTo>
                <a:lnTo>
                  <a:pt x="2771203" y="1385601"/>
                </a:lnTo>
                <a:lnTo>
                  <a:pt x="2770365" y="1336957"/>
                </a:lnTo>
                <a:lnTo>
                  <a:pt x="2767870" y="1288734"/>
                </a:lnTo>
                <a:lnTo>
                  <a:pt x="2763744" y="1240959"/>
                </a:lnTo>
                <a:lnTo>
                  <a:pt x="2758016" y="1193660"/>
                </a:lnTo>
                <a:lnTo>
                  <a:pt x="2750713" y="1146865"/>
                </a:lnTo>
                <a:lnTo>
                  <a:pt x="2741863" y="1100601"/>
                </a:lnTo>
                <a:lnTo>
                  <a:pt x="2731492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5" y="793925"/>
                </a:lnTo>
                <a:lnTo>
                  <a:pt x="2618643" y="752898"/>
                </a:lnTo>
                <a:lnTo>
                  <a:pt x="2597101" y="712648"/>
                </a:lnTo>
                <a:lnTo>
                  <a:pt x="2574286" y="673205"/>
                </a:lnTo>
                <a:lnTo>
                  <a:pt x="2550225" y="634594"/>
                </a:lnTo>
                <a:lnTo>
                  <a:pt x="2524947" y="596844"/>
                </a:lnTo>
                <a:lnTo>
                  <a:pt x="2498478" y="559983"/>
                </a:lnTo>
                <a:lnTo>
                  <a:pt x="2470846" y="524037"/>
                </a:lnTo>
                <a:lnTo>
                  <a:pt x="2442079" y="489034"/>
                </a:lnTo>
                <a:lnTo>
                  <a:pt x="2412204" y="455001"/>
                </a:lnTo>
                <a:lnTo>
                  <a:pt x="2381249" y="421967"/>
                </a:lnTo>
                <a:lnTo>
                  <a:pt x="2349240" y="389958"/>
                </a:lnTo>
                <a:lnTo>
                  <a:pt x="2316206" y="359002"/>
                </a:lnTo>
                <a:lnTo>
                  <a:pt x="2282174" y="329127"/>
                </a:lnTo>
                <a:lnTo>
                  <a:pt x="2247171" y="300360"/>
                </a:lnTo>
                <a:lnTo>
                  <a:pt x="2211226" y="272728"/>
                </a:lnTo>
                <a:lnTo>
                  <a:pt x="2174364" y="246259"/>
                </a:lnTo>
                <a:lnTo>
                  <a:pt x="2136615" y="220980"/>
                </a:lnTo>
                <a:lnTo>
                  <a:pt x="2098004" y="196919"/>
                </a:lnTo>
                <a:lnTo>
                  <a:pt x="2058561" y="174104"/>
                </a:lnTo>
                <a:lnTo>
                  <a:pt x="2018312" y="152562"/>
                </a:lnTo>
                <a:lnTo>
                  <a:pt x="1977284" y="132319"/>
                </a:lnTo>
                <a:lnTo>
                  <a:pt x="1935506" y="113405"/>
                </a:lnTo>
                <a:lnTo>
                  <a:pt x="1893004" y="95846"/>
                </a:lnTo>
                <a:lnTo>
                  <a:pt x="1849807" y="79669"/>
                </a:lnTo>
                <a:lnTo>
                  <a:pt x="1805941" y="64903"/>
                </a:lnTo>
                <a:lnTo>
                  <a:pt x="1761435" y="51574"/>
                </a:lnTo>
                <a:lnTo>
                  <a:pt x="1716315" y="39711"/>
                </a:lnTo>
                <a:lnTo>
                  <a:pt x="1670609" y="29340"/>
                </a:lnTo>
                <a:lnTo>
                  <a:pt x="1624344" y="20489"/>
                </a:lnTo>
                <a:lnTo>
                  <a:pt x="1577549" y="13186"/>
                </a:lnTo>
                <a:lnTo>
                  <a:pt x="1530250" y="7458"/>
                </a:lnTo>
                <a:lnTo>
                  <a:pt x="1482475" y="3333"/>
                </a:lnTo>
                <a:lnTo>
                  <a:pt x="1434252" y="837"/>
                </a:lnTo>
                <a:lnTo>
                  <a:pt x="1385608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63320" y="3842003"/>
            <a:ext cx="1777364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034" marR="5080" indent="-13970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Diffusion Processes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246352" y="6868573"/>
            <a:ext cx="5840730" cy="1927225"/>
            <a:chOff x="6246352" y="6868573"/>
            <a:chExt cx="5840730" cy="192722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65404" y="7019515"/>
              <a:ext cx="750401" cy="175679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255877" y="7009988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3" y="1775850"/>
                  </a:moveTo>
                  <a:lnTo>
                    <a:pt x="774793" y="0"/>
                  </a:lnTo>
                  <a:lnTo>
                    <a:pt x="0" y="0"/>
                  </a:lnTo>
                  <a:lnTo>
                    <a:pt x="0" y="1775850"/>
                  </a:lnTo>
                  <a:lnTo>
                    <a:pt x="774793" y="177585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7444" y="7023313"/>
              <a:ext cx="717831" cy="174919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302644" y="7009986"/>
              <a:ext cx="775335" cy="1776095"/>
            </a:xfrm>
            <a:custGeom>
              <a:avLst/>
              <a:gdLst/>
              <a:ahLst/>
              <a:cxnLst/>
              <a:rect l="l" t="t" r="r" b="b"/>
              <a:pathLst>
                <a:path w="775334" h="1776095">
                  <a:moveTo>
                    <a:pt x="774794" y="0"/>
                  </a:moveTo>
                  <a:lnTo>
                    <a:pt x="774794" y="1775850"/>
                  </a:lnTo>
                  <a:lnTo>
                    <a:pt x="0" y="1775850"/>
                  </a:lnTo>
                  <a:lnTo>
                    <a:pt x="0" y="0"/>
                  </a:lnTo>
                  <a:lnTo>
                    <a:pt x="774794" y="0"/>
                  </a:lnTo>
                  <a:close/>
                </a:path>
              </a:pathLst>
            </a:custGeom>
            <a:ln w="190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21148" y="7019511"/>
              <a:ext cx="4317878" cy="175680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90686" y="6868573"/>
              <a:ext cx="4029710" cy="142875"/>
            </a:xfrm>
            <a:custGeom>
              <a:avLst/>
              <a:gdLst/>
              <a:ahLst/>
              <a:cxnLst/>
              <a:rect l="l" t="t" r="r" b="b"/>
              <a:pathLst>
                <a:path w="4029709" h="142875">
                  <a:moveTo>
                    <a:pt x="3966532" y="71311"/>
                  </a:moveTo>
                  <a:lnTo>
                    <a:pt x="3894789" y="113161"/>
                  </a:lnTo>
                  <a:lnTo>
                    <a:pt x="3890080" y="117352"/>
                  </a:lnTo>
                  <a:lnTo>
                    <a:pt x="3887435" y="122833"/>
                  </a:lnTo>
                  <a:lnTo>
                    <a:pt x="3887039" y="128905"/>
                  </a:lnTo>
                  <a:lnTo>
                    <a:pt x="3889075" y="134871"/>
                  </a:lnTo>
                  <a:lnTo>
                    <a:pt x="3893266" y="139581"/>
                  </a:lnTo>
                  <a:lnTo>
                    <a:pt x="3898748" y="142226"/>
                  </a:lnTo>
                  <a:lnTo>
                    <a:pt x="3904821" y="142622"/>
                  </a:lnTo>
                  <a:lnTo>
                    <a:pt x="3910787" y="140585"/>
                  </a:lnTo>
                  <a:lnTo>
                    <a:pt x="4002329" y="87186"/>
                  </a:lnTo>
                  <a:lnTo>
                    <a:pt x="3998037" y="87186"/>
                  </a:lnTo>
                  <a:lnTo>
                    <a:pt x="3998037" y="85023"/>
                  </a:lnTo>
                  <a:lnTo>
                    <a:pt x="3990039" y="85023"/>
                  </a:lnTo>
                  <a:lnTo>
                    <a:pt x="3966532" y="71311"/>
                  </a:lnTo>
                  <a:close/>
                </a:path>
                <a:path w="4029709" h="142875">
                  <a:moveTo>
                    <a:pt x="3939318" y="55436"/>
                  </a:moveTo>
                  <a:lnTo>
                    <a:pt x="0" y="55436"/>
                  </a:lnTo>
                  <a:lnTo>
                    <a:pt x="0" y="87186"/>
                  </a:lnTo>
                  <a:lnTo>
                    <a:pt x="3939318" y="87186"/>
                  </a:lnTo>
                  <a:lnTo>
                    <a:pt x="3966532" y="71311"/>
                  </a:lnTo>
                  <a:lnTo>
                    <a:pt x="3939318" y="55436"/>
                  </a:lnTo>
                  <a:close/>
                </a:path>
                <a:path w="4029709" h="142875">
                  <a:moveTo>
                    <a:pt x="4002329" y="55436"/>
                  </a:moveTo>
                  <a:lnTo>
                    <a:pt x="3998037" y="55436"/>
                  </a:lnTo>
                  <a:lnTo>
                    <a:pt x="3998037" y="87186"/>
                  </a:lnTo>
                  <a:lnTo>
                    <a:pt x="4002329" y="87186"/>
                  </a:lnTo>
                  <a:lnTo>
                    <a:pt x="4029543" y="71311"/>
                  </a:lnTo>
                  <a:lnTo>
                    <a:pt x="4002329" y="55436"/>
                  </a:lnTo>
                  <a:close/>
                </a:path>
                <a:path w="4029709" h="142875">
                  <a:moveTo>
                    <a:pt x="3990039" y="57598"/>
                  </a:moveTo>
                  <a:lnTo>
                    <a:pt x="3966532" y="71311"/>
                  </a:lnTo>
                  <a:lnTo>
                    <a:pt x="3990039" y="85023"/>
                  </a:lnTo>
                  <a:lnTo>
                    <a:pt x="3990039" y="57598"/>
                  </a:lnTo>
                  <a:close/>
                </a:path>
                <a:path w="4029709" h="142875">
                  <a:moveTo>
                    <a:pt x="3998037" y="57598"/>
                  </a:moveTo>
                  <a:lnTo>
                    <a:pt x="3990039" y="57598"/>
                  </a:lnTo>
                  <a:lnTo>
                    <a:pt x="3990039" y="85023"/>
                  </a:lnTo>
                  <a:lnTo>
                    <a:pt x="3998037" y="85023"/>
                  </a:lnTo>
                  <a:lnTo>
                    <a:pt x="3998037" y="57598"/>
                  </a:lnTo>
                  <a:close/>
                </a:path>
                <a:path w="4029709" h="142875">
                  <a:moveTo>
                    <a:pt x="3904821" y="0"/>
                  </a:moveTo>
                  <a:lnTo>
                    <a:pt x="3898748" y="395"/>
                  </a:lnTo>
                  <a:lnTo>
                    <a:pt x="3893266" y="3040"/>
                  </a:lnTo>
                  <a:lnTo>
                    <a:pt x="3889075" y="7750"/>
                  </a:lnTo>
                  <a:lnTo>
                    <a:pt x="3887039" y="13716"/>
                  </a:lnTo>
                  <a:lnTo>
                    <a:pt x="3887435" y="19788"/>
                  </a:lnTo>
                  <a:lnTo>
                    <a:pt x="3890080" y="25269"/>
                  </a:lnTo>
                  <a:lnTo>
                    <a:pt x="3894789" y="29460"/>
                  </a:lnTo>
                  <a:lnTo>
                    <a:pt x="3966532" y="71311"/>
                  </a:lnTo>
                  <a:lnTo>
                    <a:pt x="3990039" y="57598"/>
                  </a:lnTo>
                  <a:lnTo>
                    <a:pt x="3998037" y="57598"/>
                  </a:lnTo>
                  <a:lnTo>
                    <a:pt x="3998037" y="55436"/>
                  </a:lnTo>
                  <a:lnTo>
                    <a:pt x="4002329" y="55436"/>
                  </a:lnTo>
                  <a:lnTo>
                    <a:pt x="3910787" y="2036"/>
                  </a:lnTo>
                  <a:lnTo>
                    <a:pt x="3904821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/>
          <p:nvPr/>
        </p:nvSpPr>
        <p:spPr>
          <a:xfrm>
            <a:off x="5484397" y="6967259"/>
            <a:ext cx="638175" cy="302260"/>
          </a:xfrm>
          <a:custGeom>
            <a:avLst/>
            <a:gdLst/>
            <a:ahLst/>
            <a:cxnLst/>
            <a:rect l="l" t="t" r="r" b="b"/>
            <a:pathLst>
              <a:path w="638175" h="302259">
                <a:moveTo>
                  <a:pt x="487474" y="255287"/>
                </a:moveTo>
                <a:lnTo>
                  <a:pt x="467489" y="301992"/>
                </a:lnTo>
                <a:lnTo>
                  <a:pt x="637578" y="291887"/>
                </a:lnTo>
                <a:lnTo>
                  <a:pt x="615036" y="265278"/>
                </a:lnTo>
                <a:lnTo>
                  <a:pt x="510825" y="265278"/>
                </a:lnTo>
                <a:lnTo>
                  <a:pt x="487474" y="255287"/>
                </a:lnTo>
                <a:close/>
              </a:path>
              <a:path w="638175" h="302259">
                <a:moveTo>
                  <a:pt x="507458" y="208582"/>
                </a:moveTo>
                <a:lnTo>
                  <a:pt x="487474" y="255287"/>
                </a:lnTo>
                <a:lnTo>
                  <a:pt x="510825" y="265278"/>
                </a:lnTo>
                <a:lnTo>
                  <a:pt x="530810" y="218574"/>
                </a:lnTo>
                <a:lnTo>
                  <a:pt x="507458" y="208582"/>
                </a:lnTo>
                <a:close/>
              </a:path>
              <a:path w="638175" h="302259">
                <a:moveTo>
                  <a:pt x="527442" y="161879"/>
                </a:moveTo>
                <a:lnTo>
                  <a:pt x="507458" y="208582"/>
                </a:lnTo>
                <a:lnTo>
                  <a:pt x="530810" y="218574"/>
                </a:lnTo>
                <a:lnTo>
                  <a:pt x="510825" y="265278"/>
                </a:lnTo>
                <a:lnTo>
                  <a:pt x="615036" y="265278"/>
                </a:lnTo>
                <a:lnTo>
                  <a:pt x="527442" y="161879"/>
                </a:lnTo>
                <a:close/>
              </a:path>
              <a:path w="638175" h="302259">
                <a:moveTo>
                  <a:pt x="19984" y="0"/>
                </a:moveTo>
                <a:lnTo>
                  <a:pt x="0" y="46702"/>
                </a:lnTo>
                <a:lnTo>
                  <a:pt x="487474" y="255287"/>
                </a:lnTo>
                <a:lnTo>
                  <a:pt x="507458" y="208582"/>
                </a:lnTo>
                <a:lnTo>
                  <a:pt x="199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464860" y="7811419"/>
            <a:ext cx="614045" cy="156845"/>
          </a:xfrm>
          <a:custGeom>
            <a:avLst/>
            <a:gdLst/>
            <a:ahLst/>
            <a:cxnLst/>
            <a:rect l="l" t="t" r="r" b="b"/>
            <a:pathLst>
              <a:path w="614045" h="156845">
                <a:moveTo>
                  <a:pt x="459185" y="106079"/>
                </a:moveTo>
                <a:lnTo>
                  <a:pt x="453073" y="156510"/>
                </a:lnTo>
                <a:lnTo>
                  <a:pt x="585717" y="109134"/>
                </a:lnTo>
                <a:lnTo>
                  <a:pt x="484400" y="109134"/>
                </a:lnTo>
                <a:lnTo>
                  <a:pt x="459185" y="106079"/>
                </a:lnTo>
                <a:close/>
              </a:path>
              <a:path w="614045" h="156845">
                <a:moveTo>
                  <a:pt x="465297" y="55648"/>
                </a:moveTo>
                <a:lnTo>
                  <a:pt x="459185" y="106079"/>
                </a:lnTo>
                <a:lnTo>
                  <a:pt x="484400" y="109134"/>
                </a:lnTo>
                <a:lnTo>
                  <a:pt x="490512" y="58704"/>
                </a:lnTo>
                <a:lnTo>
                  <a:pt x="465297" y="55648"/>
                </a:lnTo>
                <a:close/>
              </a:path>
              <a:path w="614045" h="156845">
                <a:moveTo>
                  <a:pt x="471408" y="5217"/>
                </a:moveTo>
                <a:lnTo>
                  <a:pt x="465297" y="55648"/>
                </a:lnTo>
                <a:lnTo>
                  <a:pt x="490512" y="58704"/>
                </a:lnTo>
                <a:lnTo>
                  <a:pt x="484400" y="109134"/>
                </a:lnTo>
                <a:lnTo>
                  <a:pt x="585717" y="109134"/>
                </a:lnTo>
                <a:lnTo>
                  <a:pt x="613534" y="99199"/>
                </a:lnTo>
                <a:lnTo>
                  <a:pt x="471408" y="5217"/>
                </a:lnTo>
                <a:close/>
              </a:path>
              <a:path w="614045" h="156845">
                <a:moveTo>
                  <a:pt x="6112" y="0"/>
                </a:moveTo>
                <a:lnTo>
                  <a:pt x="0" y="50430"/>
                </a:lnTo>
                <a:lnTo>
                  <a:pt x="459185" y="106079"/>
                </a:lnTo>
                <a:lnTo>
                  <a:pt x="465297" y="55648"/>
                </a:lnTo>
                <a:lnTo>
                  <a:pt x="6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488548" y="8481001"/>
            <a:ext cx="614680" cy="207645"/>
          </a:xfrm>
          <a:custGeom>
            <a:avLst/>
            <a:gdLst/>
            <a:ahLst/>
            <a:cxnLst/>
            <a:rect l="l" t="t" r="r" b="b"/>
            <a:pathLst>
              <a:path w="614679" h="207645">
                <a:moveTo>
                  <a:pt x="460115" y="49438"/>
                </a:moveTo>
                <a:lnTo>
                  <a:pt x="0" y="158155"/>
                </a:lnTo>
                <a:lnTo>
                  <a:pt x="11681" y="207594"/>
                </a:lnTo>
                <a:lnTo>
                  <a:pt x="471797" y="98877"/>
                </a:lnTo>
                <a:lnTo>
                  <a:pt x="460115" y="49438"/>
                </a:lnTo>
                <a:close/>
              </a:path>
              <a:path w="614679" h="207645">
                <a:moveTo>
                  <a:pt x="608901" y="43597"/>
                </a:moveTo>
                <a:lnTo>
                  <a:pt x="484835" y="43597"/>
                </a:lnTo>
                <a:lnTo>
                  <a:pt x="496516" y="93036"/>
                </a:lnTo>
                <a:lnTo>
                  <a:pt x="471797" y="98877"/>
                </a:lnTo>
                <a:lnTo>
                  <a:pt x="483478" y="148315"/>
                </a:lnTo>
                <a:lnTo>
                  <a:pt x="608901" y="43597"/>
                </a:lnTo>
                <a:close/>
              </a:path>
              <a:path w="614679" h="207645">
                <a:moveTo>
                  <a:pt x="484835" y="43597"/>
                </a:moveTo>
                <a:lnTo>
                  <a:pt x="460115" y="49438"/>
                </a:lnTo>
                <a:lnTo>
                  <a:pt x="471797" y="98877"/>
                </a:lnTo>
                <a:lnTo>
                  <a:pt x="496516" y="93036"/>
                </a:lnTo>
                <a:lnTo>
                  <a:pt x="484835" y="43597"/>
                </a:lnTo>
                <a:close/>
              </a:path>
              <a:path w="614679" h="207645">
                <a:moveTo>
                  <a:pt x="448434" y="0"/>
                </a:moveTo>
                <a:lnTo>
                  <a:pt x="460115" y="49438"/>
                </a:lnTo>
                <a:lnTo>
                  <a:pt x="484835" y="43597"/>
                </a:lnTo>
                <a:lnTo>
                  <a:pt x="608901" y="43597"/>
                </a:lnTo>
                <a:lnTo>
                  <a:pt x="614272" y="39113"/>
                </a:lnTo>
                <a:lnTo>
                  <a:pt x="44843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2254920" y="7693458"/>
            <a:ext cx="637540" cy="236220"/>
          </a:xfrm>
          <a:custGeom>
            <a:avLst/>
            <a:gdLst/>
            <a:ahLst/>
            <a:cxnLst/>
            <a:rect l="l" t="t" r="r" b="b"/>
            <a:pathLst>
              <a:path w="637540" h="236220">
                <a:moveTo>
                  <a:pt x="125614" y="89330"/>
                </a:moveTo>
                <a:lnTo>
                  <a:pt x="0" y="204452"/>
                </a:lnTo>
                <a:lnTo>
                  <a:pt x="167466" y="235870"/>
                </a:lnTo>
                <a:lnTo>
                  <a:pt x="155507" y="194000"/>
                </a:lnTo>
                <a:lnTo>
                  <a:pt x="129091" y="194000"/>
                </a:lnTo>
                <a:lnTo>
                  <a:pt x="115142" y="145152"/>
                </a:lnTo>
                <a:lnTo>
                  <a:pt x="139564" y="138177"/>
                </a:lnTo>
                <a:lnTo>
                  <a:pt x="125614" y="89330"/>
                </a:lnTo>
                <a:close/>
              </a:path>
              <a:path w="637540" h="236220">
                <a:moveTo>
                  <a:pt x="139564" y="138177"/>
                </a:moveTo>
                <a:lnTo>
                  <a:pt x="115142" y="145152"/>
                </a:lnTo>
                <a:lnTo>
                  <a:pt x="129091" y="194000"/>
                </a:lnTo>
                <a:lnTo>
                  <a:pt x="153515" y="187024"/>
                </a:lnTo>
                <a:lnTo>
                  <a:pt x="139564" y="138177"/>
                </a:lnTo>
                <a:close/>
              </a:path>
              <a:path w="637540" h="236220">
                <a:moveTo>
                  <a:pt x="153515" y="187024"/>
                </a:moveTo>
                <a:lnTo>
                  <a:pt x="129091" y="194000"/>
                </a:lnTo>
                <a:lnTo>
                  <a:pt x="155507" y="194000"/>
                </a:lnTo>
                <a:lnTo>
                  <a:pt x="153515" y="187024"/>
                </a:lnTo>
                <a:close/>
              </a:path>
              <a:path w="637540" h="236220">
                <a:moveTo>
                  <a:pt x="623387" y="0"/>
                </a:moveTo>
                <a:lnTo>
                  <a:pt x="139564" y="138177"/>
                </a:lnTo>
                <a:lnTo>
                  <a:pt x="153515" y="187024"/>
                </a:lnTo>
                <a:lnTo>
                  <a:pt x="637344" y="48846"/>
                </a:lnTo>
                <a:lnTo>
                  <a:pt x="6233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7124058" y="8861695"/>
            <a:ext cx="4107815" cy="556895"/>
            <a:chOff x="7124058" y="8861695"/>
            <a:chExt cx="4107815" cy="55689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662058" y="8861695"/>
              <a:ext cx="569267" cy="55662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24058" y="8861695"/>
              <a:ext cx="569267" cy="55662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13726" y="8861695"/>
              <a:ext cx="569267" cy="55662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303392" y="8861695"/>
              <a:ext cx="569267" cy="55662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893058" y="8861695"/>
              <a:ext cx="569267" cy="55662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82725" y="8861695"/>
              <a:ext cx="569267" cy="55662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072391" y="8861695"/>
              <a:ext cx="569267" cy="55662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520377" y="6625843"/>
            <a:ext cx="3336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Forward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(fixed)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07086" y="7405130"/>
            <a:ext cx="664463" cy="649706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90141" y="6615030"/>
            <a:ext cx="664465" cy="649706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16443" y="7517730"/>
            <a:ext cx="664465" cy="65129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719495" y="8404901"/>
            <a:ext cx="650618" cy="636167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6285395" y="8767354"/>
            <a:ext cx="720090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20" dirty="0">
                <a:latin typeface="Cambria"/>
                <a:cs typeface="Cambria"/>
              </a:rPr>
              <a:t>q</a:t>
            </a:r>
            <a:r>
              <a:rPr sz="2150" spc="120" dirty="0">
                <a:latin typeface="Calibri"/>
                <a:cs typeface="Calibri"/>
              </a:rPr>
              <a:t>(</a:t>
            </a:r>
            <a:r>
              <a:rPr sz="2150" b="1" spc="120" dirty="0">
                <a:latin typeface="Calibri"/>
                <a:cs typeface="Calibri"/>
              </a:rPr>
              <a:t>x</a:t>
            </a:r>
            <a:r>
              <a:rPr sz="2250" spc="179" baseline="-12962" dirty="0">
                <a:latin typeface="Verdana"/>
                <a:cs typeface="Verdana"/>
              </a:rPr>
              <a:t>0</a:t>
            </a:r>
            <a:r>
              <a:rPr sz="2150" spc="120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51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11311732" y="8767468"/>
            <a:ext cx="770255" cy="3594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40"/>
              </a:spcBef>
            </a:pPr>
            <a:r>
              <a:rPr sz="2150" i="1" spc="185" dirty="0">
                <a:latin typeface="Cambria"/>
                <a:cs typeface="Cambria"/>
              </a:rPr>
              <a:t>q</a:t>
            </a:r>
            <a:r>
              <a:rPr sz="2150" spc="185" dirty="0">
                <a:latin typeface="Calibri"/>
                <a:cs typeface="Calibri"/>
              </a:rPr>
              <a:t>(</a:t>
            </a:r>
            <a:r>
              <a:rPr sz="2150" b="1" spc="185" dirty="0">
                <a:latin typeface="Calibri"/>
                <a:cs typeface="Calibri"/>
              </a:rPr>
              <a:t>x</a:t>
            </a:r>
            <a:r>
              <a:rPr sz="2250" i="1" spc="277" baseline="-12962" dirty="0">
                <a:latin typeface="Calibri"/>
                <a:cs typeface="Calibri"/>
              </a:rPr>
              <a:t>T</a:t>
            </a:r>
            <a:r>
              <a:rPr sz="2250" i="1" spc="22" baseline="-12962" dirty="0">
                <a:latin typeface="Calibri"/>
                <a:cs typeface="Calibri"/>
              </a:rPr>
              <a:t> </a:t>
            </a:r>
            <a:r>
              <a:rPr sz="2150" spc="145" dirty="0">
                <a:latin typeface="Calibri"/>
                <a:cs typeface="Calibri"/>
              </a:rPr>
              <a:t>)</a:t>
            </a:r>
            <a:endParaRPr sz="2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860925">
              <a:lnSpc>
                <a:spcPct val="100000"/>
              </a:lnSpc>
              <a:spcBef>
                <a:spcPts val="100"/>
              </a:spcBef>
            </a:pPr>
            <a:r>
              <a:rPr dirty="0"/>
              <a:t>Acceleration</a:t>
            </a:r>
            <a:r>
              <a:rPr spc="-31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19197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5" y="2763745"/>
                </a:lnTo>
                <a:lnTo>
                  <a:pt x="1577543" y="2758017"/>
                </a:lnTo>
                <a:lnTo>
                  <a:pt x="1624339" y="2750714"/>
                </a:lnTo>
                <a:lnTo>
                  <a:pt x="1670603" y="2741864"/>
                </a:lnTo>
                <a:lnTo>
                  <a:pt x="1716309" y="2731493"/>
                </a:lnTo>
                <a:lnTo>
                  <a:pt x="1761429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9" y="2675358"/>
                </a:lnTo>
                <a:lnTo>
                  <a:pt x="1935500" y="2657799"/>
                </a:lnTo>
                <a:lnTo>
                  <a:pt x="1977279" y="2638884"/>
                </a:lnTo>
                <a:lnTo>
                  <a:pt x="2018306" y="2618642"/>
                </a:lnTo>
                <a:lnTo>
                  <a:pt x="2058556" y="2597099"/>
                </a:lnTo>
                <a:lnTo>
                  <a:pt x="2097999" y="2574284"/>
                </a:lnTo>
                <a:lnTo>
                  <a:pt x="2136610" y="2550223"/>
                </a:lnTo>
                <a:lnTo>
                  <a:pt x="2174360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3" y="2412201"/>
                </a:lnTo>
                <a:lnTo>
                  <a:pt x="2349237" y="2381245"/>
                </a:lnTo>
                <a:lnTo>
                  <a:pt x="2381246" y="2349236"/>
                </a:lnTo>
                <a:lnTo>
                  <a:pt x="2412201" y="2316202"/>
                </a:lnTo>
                <a:lnTo>
                  <a:pt x="2442077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4" y="2136609"/>
                </a:lnTo>
                <a:lnTo>
                  <a:pt x="2574284" y="2097998"/>
                </a:lnTo>
                <a:lnTo>
                  <a:pt x="2597100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30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8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8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30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100" y="712648"/>
                </a:lnTo>
                <a:lnTo>
                  <a:pt x="2574284" y="673205"/>
                </a:lnTo>
                <a:lnTo>
                  <a:pt x="2550224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7" y="489034"/>
                </a:lnTo>
                <a:lnTo>
                  <a:pt x="2412201" y="455001"/>
                </a:lnTo>
                <a:lnTo>
                  <a:pt x="2381246" y="421967"/>
                </a:lnTo>
                <a:lnTo>
                  <a:pt x="2349237" y="389958"/>
                </a:lnTo>
                <a:lnTo>
                  <a:pt x="2316203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60" y="246259"/>
                </a:lnTo>
                <a:lnTo>
                  <a:pt x="2136610" y="220980"/>
                </a:lnTo>
                <a:lnTo>
                  <a:pt x="2097999" y="196919"/>
                </a:lnTo>
                <a:lnTo>
                  <a:pt x="2058556" y="174104"/>
                </a:lnTo>
                <a:lnTo>
                  <a:pt x="2018306" y="152562"/>
                </a:lnTo>
                <a:lnTo>
                  <a:pt x="1977279" y="132319"/>
                </a:lnTo>
                <a:lnTo>
                  <a:pt x="1935500" y="113405"/>
                </a:lnTo>
                <a:lnTo>
                  <a:pt x="1892999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9" y="51574"/>
                </a:lnTo>
                <a:lnTo>
                  <a:pt x="1716309" y="39711"/>
                </a:lnTo>
                <a:lnTo>
                  <a:pt x="1670603" y="29340"/>
                </a:lnTo>
                <a:lnTo>
                  <a:pt x="1624339" y="20489"/>
                </a:lnTo>
                <a:lnTo>
                  <a:pt x="1577543" y="13186"/>
                </a:lnTo>
                <a:lnTo>
                  <a:pt x="1530245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6346" y="3842003"/>
            <a:ext cx="1777364" cy="14916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ctr">
              <a:lnSpc>
                <a:spcPts val="3790"/>
              </a:lnSpc>
              <a:spcBef>
                <a:spcPts val="26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ODE/SDE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ts val="3795"/>
              </a:lnSpc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Solvers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4686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41988" y="4145788"/>
            <a:ext cx="177673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0160">
              <a:lnSpc>
                <a:spcPct val="101400"/>
              </a:lnSpc>
              <a:spcBef>
                <a:spcPts val="50"/>
              </a:spcBef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Distillation </a:t>
            </a:r>
            <a:r>
              <a:rPr sz="2800" spc="-45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111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21239" y="3842003"/>
            <a:ext cx="175133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9525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Low-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dim.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Diffusion 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066712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8" y="0"/>
                </a:moveTo>
                <a:lnTo>
                  <a:pt x="1336963" y="837"/>
                </a:lnTo>
                <a:lnTo>
                  <a:pt x="1288740" y="3333"/>
                </a:lnTo>
                <a:lnTo>
                  <a:pt x="1240965" y="7458"/>
                </a:lnTo>
                <a:lnTo>
                  <a:pt x="1193666" y="13186"/>
                </a:lnTo>
                <a:lnTo>
                  <a:pt x="1146870" y="20489"/>
                </a:lnTo>
                <a:lnTo>
                  <a:pt x="1100606" y="29340"/>
                </a:lnTo>
                <a:lnTo>
                  <a:pt x="1054900" y="39711"/>
                </a:lnTo>
                <a:lnTo>
                  <a:pt x="1009780" y="51574"/>
                </a:lnTo>
                <a:lnTo>
                  <a:pt x="965273" y="64903"/>
                </a:lnTo>
                <a:lnTo>
                  <a:pt x="921407" y="79669"/>
                </a:lnTo>
                <a:lnTo>
                  <a:pt x="878209" y="95846"/>
                </a:lnTo>
                <a:lnTo>
                  <a:pt x="835707" y="113405"/>
                </a:lnTo>
                <a:lnTo>
                  <a:pt x="793929" y="132319"/>
                </a:lnTo>
                <a:lnTo>
                  <a:pt x="752901" y="152562"/>
                </a:lnTo>
                <a:lnTo>
                  <a:pt x="712651" y="174104"/>
                </a:lnTo>
                <a:lnTo>
                  <a:pt x="673207" y="196919"/>
                </a:lnTo>
                <a:lnTo>
                  <a:pt x="634597" y="220980"/>
                </a:lnTo>
                <a:lnTo>
                  <a:pt x="596847" y="246259"/>
                </a:lnTo>
                <a:lnTo>
                  <a:pt x="559985" y="272728"/>
                </a:lnTo>
                <a:lnTo>
                  <a:pt x="524039" y="300360"/>
                </a:lnTo>
                <a:lnTo>
                  <a:pt x="489036" y="329127"/>
                </a:lnTo>
                <a:lnTo>
                  <a:pt x="455003" y="359002"/>
                </a:lnTo>
                <a:lnTo>
                  <a:pt x="421969" y="389958"/>
                </a:lnTo>
                <a:lnTo>
                  <a:pt x="389960" y="421967"/>
                </a:lnTo>
                <a:lnTo>
                  <a:pt x="359004" y="455001"/>
                </a:lnTo>
                <a:lnTo>
                  <a:pt x="329128" y="489034"/>
                </a:lnTo>
                <a:lnTo>
                  <a:pt x="300361" y="524037"/>
                </a:lnTo>
                <a:lnTo>
                  <a:pt x="272729" y="559983"/>
                </a:lnTo>
                <a:lnTo>
                  <a:pt x="246260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5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5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60" y="2174359"/>
                </a:lnTo>
                <a:lnTo>
                  <a:pt x="272729" y="2211220"/>
                </a:lnTo>
                <a:lnTo>
                  <a:pt x="300361" y="2247166"/>
                </a:lnTo>
                <a:lnTo>
                  <a:pt x="329128" y="2282169"/>
                </a:lnTo>
                <a:lnTo>
                  <a:pt x="359004" y="2316202"/>
                </a:lnTo>
                <a:lnTo>
                  <a:pt x="389960" y="2349236"/>
                </a:lnTo>
                <a:lnTo>
                  <a:pt x="421969" y="2381245"/>
                </a:lnTo>
                <a:lnTo>
                  <a:pt x="455003" y="2412201"/>
                </a:lnTo>
                <a:lnTo>
                  <a:pt x="489036" y="2442076"/>
                </a:lnTo>
                <a:lnTo>
                  <a:pt x="524039" y="2470844"/>
                </a:lnTo>
                <a:lnTo>
                  <a:pt x="559985" y="2498476"/>
                </a:lnTo>
                <a:lnTo>
                  <a:pt x="596847" y="2524945"/>
                </a:lnTo>
                <a:lnTo>
                  <a:pt x="634597" y="2550223"/>
                </a:lnTo>
                <a:lnTo>
                  <a:pt x="673207" y="2574284"/>
                </a:lnTo>
                <a:lnTo>
                  <a:pt x="712651" y="2597099"/>
                </a:lnTo>
                <a:lnTo>
                  <a:pt x="752901" y="2618642"/>
                </a:lnTo>
                <a:lnTo>
                  <a:pt x="793929" y="2638884"/>
                </a:lnTo>
                <a:lnTo>
                  <a:pt x="835707" y="2657799"/>
                </a:lnTo>
                <a:lnTo>
                  <a:pt x="878209" y="2675358"/>
                </a:lnTo>
                <a:lnTo>
                  <a:pt x="921407" y="2691535"/>
                </a:lnTo>
                <a:lnTo>
                  <a:pt x="965273" y="2706301"/>
                </a:lnTo>
                <a:lnTo>
                  <a:pt x="1009780" y="2719629"/>
                </a:lnTo>
                <a:lnTo>
                  <a:pt x="1054900" y="2731493"/>
                </a:lnTo>
                <a:lnTo>
                  <a:pt x="1100606" y="2741864"/>
                </a:lnTo>
                <a:lnTo>
                  <a:pt x="1146870" y="2750714"/>
                </a:lnTo>
                <a:lnTo>
                  <a:pt x="1193666" y="2758017"/>
                </a:lnTo>
                <a:lnTo>
                  <a:pt x="1240965" y="2763745"/>
                </a:lnTo>
                <a:lnTo>
                  <a:pt x="1288740" y="2767871"/>
                </a:lnTo>
                <a:lnTo>
                  <a:pt x="1336963" y="2770366"/>
                </a:lnTo>
                <a:lnTo>
                  <a:pt x="1385608" y="2771204"/>
                </a:lnTo>
                <a:lnTo>
                  <a:pt x="1434252" y="2770366"/>
                </a:lnTo>
                <a:lnTo>
                  <a:pt x="1482475" y="2767871"/>
                </a:lnTo>
                <a:lnTo>
                  <a:pt x="1530250" y="2763745"/>
                </a:lnTo>
                <a:lnTo>
                  <a:pt x="1577549" y="2758017"/>
                </a:lnTo>
                <a:lnTo>
                  <a:pt x="1624344" y="2750714"/>
                </a:lnTo>
                <a:lnTo>
                  <a:pt x="1670609" y="2741864"/>
                </a:lnTo>
                <a:lnTo>
                  <a:pt x="1716315" y="2731493"/>
                </a:lnTo>
                <a:lnTo>
                  <a:pt x="1761435" y="2719629"/>
                </a:lnTo>
                <a:lnTo>
                  <a:pt x="1805941" y="2706301"/>
                </a:lnTo>
                <a:lnTo>
                  <a:pt x="1849807" y="2691535"/>
                </a:lnTo>
                <a:lnTo>
                  <a:pt x="1893004" y="2675358"/>
                </a:lnTo>
                <a:lnTo>
                  <a:pt x="1935506" y="2657799"/>
                </a:lnTo>
                <a:lnTo>
                  <a:pt x="1977284" y="2638884"/>
                </a:lnTo>
                <a:lnTo>
                  <a:pt x="2018312" y="2618642"/>
                </a:lnTo>
                <a:lnTo>
                  <a:pt x="2058561" y="2597099"/>
                </a:lnTo>
                <a:lnTo>
                  <a:pt x="2098004" y="2574284"/>
                </a:lnTo>
                <a:lnTo>
                  <a:pt x="2136615" y="2550223"/>
                </a:lnTo>
                <a:lnTo>
                  <a:pt x="2174364" y="2524945"/>
                </a:lnTo>
                <a:lnTo>
                  <a:pt x="2211226" y="2498476"/>
                </a:lnTo>
                <a:lnTo>
                  <a:pt x="2247171" y="2470844"/>
                </a:lnTo>
                <a:lnTo>
                  <a:pt x="2282174" y="2442076"/>
                </a:lnTo>
                <a:lnTo>
                  <a:pt x="2316206" y="2412201"/>
                </a:lnTo>
                <a:lnTo>
                  <a:pt x="2349240" y="2381245"/>
                </a:lnTo>
                <a:lnTo>
                  <a:pt x="2381249" y="2349236"/>
                </a:lnTo>
                <a:lnTo>
                  <a:pt x="2412204" y="2316202"/>
                </a:lnTo>
                <a:lnTo>
                  <a:pt x="2442079" y="2282169"/>
                </a:lnTo>
                <a:lnTo>
                  <a:pt x="2470846" y="2247166"/>
                </a:lnTo>
                <a:lnTo>
                  <a:pt x="2498478" y="2211220"/>
                </a:lnTo>
                <a:lnTo>
                  <a:pt x="2524947" y="2174359"/>
                </a:lnTo>
                <a:lnTo>
                  <a:pt x="2550225" y="2136609"/>
                </a:lnTo>
                <a:lnTo>
                  <a:pt x="2574286" y="2097998"/>
                </a:lnTo>
                <a:lnTo>
                  <a:pt x="2597101" y="2058555"/>
                </a:lnTo>
                <a:lnTo>
                  <a:pt x="2618643" y="2018305"/>
                </a:lnTo>
                <a:lnTo>
                  <a:pt x="2638885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2" y="1716308"/>
                </a:lnTo>
                <a:lnTo>
                  <a:pt x="2741863" y="1670602"/>
                </a:lnTo>
                <a:lnTo>
                  <a:pt x="2750713" y="1624337"/>
                </a:lnTo>
                <a:lnTo>
                  <a:pt x="2758016" y="1577542"/>
                </a:lnTo>
                <a:lnTo>
                  <a:pt x="2763744" y="1530243"/>
                </a:lnTo>
                <a:lnTo>
                  <a:pt x="2767870" y="1482469"/>
                </a:lnTo>
                <a:lnTo>
                  <a:pt x="2770365" y="1434245"/>
                </a:lnTo>
                <a:lnTo>
                  <a:pt x="2771203" y="1385601"/>
                </a:lnTo>
                <a:lnTo>
                  <a:pt x="2770365" y="1336957"/>
                </a:lnTo>
                <a:lnTo>
                  <a:pt x="2767870" y="1288734"/>
                </a:lnTo>
                <a:lnTo>
                  <a:pt x="2763744" y="1240959"/>
                </a:lnTo>
                <a:lnTo>
                  <a:pt x="2758016" y="1193660"/>
                </a:lnTo>
                <a:lnTo>
                  <a:pt x="2750713" y="1146865"/>
                </a:lnTo>
                <a:lnTo>
                  <a:pt x="2741863" y="1100601"/>
                </a:lnTo>
                <a:lnTo>
                  <a:pt x="2731492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5" y="793925"/>
                </a:lnTo>
                <a:lnTo>
                  <a:pt x="2618643" y="752898"/>
                </a:lnTo>
                <a:lnTo>
                  <a:pt x="2597101" y="712648"/>
                </a:lnTo>
                <a:lnTo>
                  <a:pt x="2574286" y="673205"/>
                </a:lnTo>
                <a:lnTo>
                  <a:pt x="2550225" y="634594"/>
                </a:lnTo>
                <a:lnTo>
                  <a:pt x="2524947" y="596844"/>
                </a:lnTo>
                <a:lnTo>
                  <a:pt x="2498478" y="559983"/>
                </a:lnTo>
                <a:lnTo>
                  <a:pt x="2470846" y="524037"/>
                </a:lnTo>
                <a:lnTo>
                  <a:pt x="2442079" y="489034"/>
                </a:lnTo>
                <a:lnTo>
                  <a:pt x="2412204" y="455001"/>
                </a:lnTo>
                <a:lnTo>
                  <a:pt x="2381249" y="421967"/>
                </a:lnTo>
                <a:lnTo>
                  <a:pt x="2349240" y="389958"/>
                </a:lnTo>
                <a:lnTo>
                  <a:pt x="2316206" y="359002"/>
                </a:lnTo>
                <a:lnTo>
                  <a:pt x="2282174" y="329127"/>
                </a:lnTo>
                <a:lnTo>
                  <a:pt x="2247171" y="300360"/>
                </a:lnTo>
                <a:lnTo>
                  <a:pt x="2211226" y="272728"/>
                </a:lnTo>
                <a:lnTo>
                  <a:pt x="2174364" y="246259"/>
                </a:lnTo>
                <a:lnTo>
                  <a:pt x="2136615" y="220980"/>
                </a:lnTo>
                <a:lnTo>
                  <a:pt x="2098004" y="196919"/>
                </a:lnTo>
                <a:lnTo>
                  <a:pt x="2058561" y="174104"/>
                </a:lnTo>
                <a:lnTo>
                  <a:pt x="2018312" y="152562"/>
                </a:lnTo>
                <a:lnTo>
                  <a:pt x="1977284" y="132319"/>
                </a:lnTo>
                <a:lnTo>
                  <a:pt x="1935506" y="113405"/>
                </a:lnTo>
                <a:lnTo>
                  <a:pt x="1893004" y="95846"/>
                </a:lnTo>
                <a:lnTo>
                  <a:pt x="1849807" y="79669"/>
                </a:lnTo>
                <a:lnTo>
                  <a:pt x="1805941" y="64903"/>
                </a:lnTo>
                <a:lnTo>
                  <a:pt x="1761435" y="51574"/>
                </a:lnTo>
                <a:lnTo>
                  <a:pt x="1716315" y="39711"/>
                </a:lnTo>
                <a:lnTo>
                  <a:pt x="1670609" y="29340"/>
                </a:lnTo>
                <a:lnTo>
                  <a:pt x="1624344" y="20489"/>
                </a:lnTo>
                <a:lnTo>
                  <a:pt x="1577549" y="13186"/>
                </a:lnTo>
                <a:lnTo>
                  <a:pt x="1530250" y="7458"/>
                </a:lnTo>
                <a:lnTo>
                  <a:pt x="1482475" y="3333"/>
                </a:lnTo>
                <a:lnTo>
                  <a:pt x="1434252" y="837"/>
                </a:lnTo>
                <a:lnTo>
                  <a:pt x="1385608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63320" y="3842003"/>
            <a:ext cx="1777364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034" marR="5080" indent="-13970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Diffusion 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Generative</a:t>
            </a:r>
            <a:r>
              <a:rPr spc="-235" dirty="0"/>
              <a:t> </a:t>
            </a:r>
            <a:r>
              <a:rPr spc="-20" dirty="0"/>
              <a:t>ODEs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Solve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ODEs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with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as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little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function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evaluations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as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possible</a:t>
            </a:r>
            <a:endParaRPr sz="3000"/>
          </a:p>
        </p:txBody>
      </p:sp>
      <p:grpSp>
        <p:nvGrpSpPr>
          <p:cNvPr id="3" name="object 3"/>
          <p:cNvGrpSpPr/>
          <p:nvPr/>
        </p:nvGrpSpPr>
        <p:grpSpPr>
          <a:xfrm>
            <a:off x="1061965" y="3862551"/>
            <a:ext cx="8815705" cy="4759325"/>
            <a:chOff x="1061965" y="3862551"/>
            <a:chExt cx="8815705" cy="47593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1965" y="3862551"/>
              <a:ext cx="8815363" cy="441431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332" y="8276305"/>
              <a:ext cx="765606" cy="34545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92023" y="8276305"/>
              <a:ext cx="765606" cy="34545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177442" y="8263128"/>
            <a:ext cx="22047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20" dirty="0">
                <a:latin typeface="Arial MT"/>
                <a:cs typeface="Arial MT"/>
              </a:rPr>
              <a:t>ODE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Trajectories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180453" y="8386315"/>
            <a:ext cx="875030" cy="114300"/>
            <a:chOff x="3180453" y="8386315"/>
            <a:chExt cx="875030" cy="114300"/>
          </a:xfrm>
        </p:grpSpPr>
        <p:sp>
          <p:nvSpPr>
            <p:cNvPr id="9" name="object 9"/>
            <p:cNvSpPr/>
            <p:nvPr/>
          </p:nvSpPr>
          <p:spPr>
            <a:xfrm>
              <a:off x="3437474" y="8386315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61785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617854" h="114300">
                  <a:moveTo>
                    <a:pt x="617719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617719" y="76200"/>
                  </a:lnTo>
                  <a:lnTo>
                    <a:pt x="617719" y="38100"/>
                  </a:lnTo>
                  <a:close/>
                </a:path>
              </a:pathLst>
            </a:custGeom>
            <a:solidFill>
              <a:srgbClr val="76B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0453" y="8443465"/>
              <a:ext cx="875030" cy="0"/>
            </a:xfrm>
            <a:custGeom>
              <a:avLst/>
              <a:gdLst/>
              <a:ahLst/>
              <a:cxnLst/>
              <a:rect l="l" t="t" r="r" b="b"/>
              <a:pathLst>
                <a:path w="875029">
                  <a:moveTo>
                    <a:pt x="0" y="0"/>
                  </a:moveTo>
                  <a:lnTo>
                    <a:pt x="874741" y="1"/>
                  </a:lnTo>
                </a:path>
              </a:pathLst>
            </a:custGeom>
            <a:ln w="38100">
              <a:solidFill>
                <a:srgbClr val="76B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3482B4F-4045-D142-AD6C-68C0597405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346" y="2768352"/>
            <a:ext cx="3276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1965" y="3862551"/>
            <a:ext cx="14912975" cy="4759325"/>
            <a:chOff x="1061965" y="3862551"/>
            <a:chExt cx="14912975" cy="4759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1965" y="3862551"/>
              <a:ext cx="8815363" cy="44143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332" y="8276305"/>
              <a:ext cx="765606" cy="3454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92023" y="8276305"/>
              <a:ext cx="765606" cy="3454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81659" y="5882792"/>
              <a:ext cx="11374120" cy="661035"/>
            </a:xfrm>
            <a:custGeom>
              <a:avLst/>
              <a:gdLst/>
              <a:ahLst/>
              <a:cxnLst/>
              <a:rect l="l" t="t" r="r" b="b"/>
              <a:pathLst>
                <a:path w="11374119" h="661034">
                  <a:moveTo>
                    <a:pt x="0" y="0"/>
                  </a:moveTo>
                  <a:lnTo>
                    <a:pt x="11373957" y="66093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81659" y="3919800"/>
              <a:ext cx="11374120" cy="1216025"/>
            </a:xfrm>
            <a:custGeom>
              <a:avLst/>
              <a:gdLst/>
              <a:ahLst/>
              <a:cxnLst/>
              <a:rect l="l" t="t" r="r" b="b"/>
              <a:pathLst>
                <a:path w="11374119" h="1216025">
                  <a:moveTo>
                    <a:pt x="0" y="1215813"/>
                  </a:moveTo>
                  <a:lnTo>
                    <a:pt x="11373957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Generative</a:t>
            </a:r>
            <a:r>
              <a:rPr spc="-235" dirty="0"/>
              <a:t> </a:t>
            </a:r>
            <a:r>
              <a:rPr spc="-20" dirty="0"/>
              <a:t>ODEs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Solve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ODEs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with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as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little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function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evaluations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as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possible</a:t>
            </a:r>
            <a:endParaRPr sz="3000"/>
          </a:p>
        </p:txBody>
      </p:sp>
      <p:sp>
        <p:nvSpPr>
          <p:cNvPr id="9" name="object 9"/>
          <p:cNvSpPr txBox="1"/>
          <p:nvPr/>
        </p:nvSpPr>
        <p:spPr>
          <a:xfrm>
            <a:off x="4177442" y="8263128"/>
            <a:ext cx="22047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20" dirty="0">
                <a:latin typeface="Arial MT"/>
                <a:cs typeface="Arial MT"/>
              </a:rPr>
              <a:t>ODE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Trajectories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39846" y="3862551"/>
            <a:ext cx="12816205" cy="4638675"/>
            <a:chOff x="3139846" y="3862551"/>
            <a:chExt cx="12816205" cy="4638675"/>
          </a:xfrm>
        </p:grpSpPr>
        <p:sp>
          <p:nvSpPr>
            <p:cNvPr id="11" name="object 11"/>
            <p:cNvSpPr/>
            <p:nvPr/>
          </p:nvSpPr>
          <p:spPr>
            <a:xfrm>
              <a:off x="3437474" y="8386315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61785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617854" h="114300">
                  <a:moveTo>
                    <a:pt x="617719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617719" y="76200"/>
                  </a:lnTo>
                  <a:lnTo>
                    <a:pt x="617719" y="38100"/>
                  </a:lnTo>
                  <a:close/>
                </a:path>
              </a:pathLst>
            </a:custGeom>
            <a:solidFill>
              <a:srgbClr val="76B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0453" y="8443465"/>
              <a:ext cx="875030" cy="0"/>
            </a:xfrm>
            <a:custGeom>
              <a:avLst/>
              <a:gdLst/>
              <a:ahLst/>
              <a:cxnLst/>
              <a:rect l="l" t="t" r="r" b="b"/>
              <a:pathLst>
                <a:path w="875029">
                  <a:moveTo>
                    <a:pt x="0" y="0"/>
                  </a:moveTo>
                  <a:lnTo>
                    <a:pt x="874741" y="1"/>
                  </a:lnTo>
                </a:path>
              </a:pathLst>
            </a:custGeom>
            <a:ln w="38100">
              <a:solidFill>
                <a:srgbClr val="76B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63468" y="3862551"/>
              <a:ext cx="3892147" cy="27040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6015" y="5376672"/>
              <a:ext cx="1207008" cy="2499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01730" y="5438208"/>
              <a:ext cx="1042669" cy="85725"/>
            </a:xfrm>
            <a:custGeom>
              <a:avLst/>
              <a:gdLst/>
              <a:ahLst/>
              <a:cxnLst/>
              <a:rect l="l" t="t" r="r" b="b"/>
              <a:pathLst>
                <a:path w="1042670" h="85725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437" y="57150"/>
                  </a:lnTo>
                  <a:lnTo>
                    <a:pt x="71437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1042670" h="85725">
                  <a:moveTo>
                    <a:pt x="85725" y="28575"/>
                  </a:moveTo>
                  <a:lnTo>
                    <a:pt x="71437" y="28575"/>
                  </a:lnTo>
                  <a:lnTo>
                    <a:pt x="71437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w="1042670" h="85725">
                  <a:moveTo>
                    <a:pt x="1042136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1042136" y="57150"/>
                  </a:lnTo>
                  <a:lnTo>
                    <a:pt x="1042136" y="28575"/>
                  </a:lnTo>
                  <a:close/>
                </a:path>
              </a:pathLst>
            </a:custGeom>
            <a:solidFill>
              <a:srgbClr val="B4C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06944" y="5428477"/>
              <a:ext cx="105186" cy="10518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2432792" y="5041392"/>
              <a:ext cx="2572511" cy="53949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2702743" y="5171078"/>
              <a:ext cx="2263775" cy="228600"/>
            </a:xfrm>
            <a:custGeom>
              <a:avLst/>
              <a:gdLst/>
              <a:ahLst/>
              <a:cxnLst/>
              <a:rect l="l" t="t" r="r" b="b"/>
              <a:pathLst>
                <a:path w="2263775" h="228600">
                  <a:moveTo>
                    <a:pt x="225399" y="0"/>
                  </a:moveTo>
                  <a:lnTo>
                    <a:pt x="0" y="120496"/>
                  </a:lnTo>
                  <a:lnTo>
                    <a:pt x="231635" y="228514"/>
                  </a:lnTo>
                  <a:lnTo>
                    <a:pt x="229585" y="153382"/>
                  </a:lnTo>
                  <a:lnTo>
                    <a:pt x="191465" y="153382"/>
                  </a:lnTo>
                  <a:lnTo>
                    <a:pt x="189395" y="77212"/>
                  </a:lnTo>
                  <a:lnTo>
                    <a:pt x="227478" y="76172"/>
                  </a:lnTo>
                  <a:lnTo>
                    <a:pt x="225399" y="0"/>
                  </a:lnTo>
                  <a:close/>
                </a:path>
                <a:path w="2263775" h="228600">
                  <a:moveTo>
                    <a:pt x="227478" y="76172"/>
                  </a:moveTo>
                  <a:lnTo>
                    <a:pt x="189395" y="77212"/>
                  </a:lnTo>
                  <a:lnTo>
                    <a:pt x="191436" y="152343"/>
                  </a:lnTo>
                  <a:lnTo>
                    <a:pt x="191465" y="153382"/>
                  </a:lnTo>
                  <a:lnTo>
                    <a:pt x="229556" y="152343"/>
                  </a:lnTo>
                  <a:lnTo>
                    <a:pt x="227506" y="77212"/>
                  </a:lnTo>
                  <a:lnTo>
                    <a:pt x="227478" y="76172"/>
                  </a:lnTo>
                  <a:close/>
                </a:path>
                <a:path w="2263775" h="228600">
                  <a:moveTo>
                    <a:pt x="229556" y="152343"/>
                  </a:moveTo>
                  <a:lnTo>
                    <a:pt x="191465" y="153382"/>
                  </a:lnTo>
                  <a:lnTo>
                    <a:pt x="229585" y="153382"/>
                  </a:lnTo>
                  <a:lnTo>
                    <a:pt x="229556" y="152343"/>
                  </a:lnTo>
                  <a:close/>
                </a:path>
                <a:path w="2263775" h="228600">
                  <a:moveTo>
                    <a:pt x="2261628" y="20636"/>
                  </a:moveTo>
                  <a:lnTo>
                    <a:pt x="227478" y="76172"/>
                  </a:lnTo>
                  <a:lnTo>
                    <a:pt x="229556" y="152343"/>
                  </a:lnTo>
                  <a:lnTo>
                    <a:pt x="2263711" y="96807"/>
                  </a:lnTo>
                  <a:lnTo>
                    <a:pt x="2261628" y="20636"/>
                  </a:lnTo>
                  <a:close/>
                </a:path>
              </a:pathLst>
            </a:custGeom>
            <a:solidFill>
              <a:srgbClr val="B4C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12822" y="5172127"/>
              <a:ext cx="105181" cy="10518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168421" y="5140367"/>
              <a:ext cx="1413510" cy="765810"/>
            </a:xfrm>
            <a:custGeom>
              <a:avLst/>
              <a:gdLst/>
              <a:ahLst/>
              <a:cxnLst/>
              <a:rect l="l" t="t" r="r" b="b"/>
              <a:pathLst>
                <a:path w="1413510" h="765810">
                  <a:moveTo>
                    <a:pt x="0" y="0"/>
                  </a:moveTo>
                  <a:lnTo>
                    <a:pt x="1413238" y="0"/>
                  </a:lnTo>
                  <a:lnTo>
                    <a:pt x="1413238" y="765274"/>
                  </a:lnTo>
                  <a:lnTo>
                    <a:pt x="0" y="765274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168421" y="3920359"/>
              <a:ext cx="8956675" cy="1220470"/>
            </a:xfrm>
            <a:custGeom>
              <a:avLst/>
              <a:gdLst/>
              <a:ahLst/>
              <a:cxnLst/>
              <a:rect l="l" t="t" r="r" b="b"/>
              <a:pathLst>
                <a:path w="8956675" h="1220470">
                  <a:moveTo>
                    <a:pt x="0" y="1220008"/>
                  </a:moveTo>
                  <a:lnTo>
                    <a:pt x="8956142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68421" y="5905641"/>
              <a:ext cx="8895080" cy="638175"/>
            </a:xfrm>
            <a:custGeom>
              <a:avLst/>
              <a:gdLst/>
              <a:ahLst/>
              <a:cxnLst/>
              <a:rect l="l" t="t" r="r" b="b"/>
              <a:pathLst>
                <a:path w="8895080" h="638175">
                  <a:moveTo>
                    <a:pt x="0" y="0"/>
                  </a:moveTo>
                  <a:lnTo>
                    <a:pt x="8895047" y="638081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704319" y="7050024"/>
              <a:ext cx="813816" cy="31089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1860136" y="7128347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114300" y="0"/>
                  </a:moveTo>
                  <a:lnTo>
                    <a:pt x="0" y="57150"/>
                  </a:lnTo>
                  <a:lnTo>
                    <a:pt x="114301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61785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617854" h="114300">
                  <a:moveTo>
                    <a:pt x="617726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617726" y="76200"/>
                  </a:lnTo>
                  <a:lnTo>
                    <a:pt x="617726" y="38100"/>
                  </a:lnTo>
                  <a:close/>
                </a:path>
              </a:pathLst>
            </a:custGeom>
            <a:solidFill>
              <a:srgbClr val="B4C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54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12677938" y="6902704"/>
            <a:ext cx="3271520" cy="60769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Trebuchet MS"/>
                <a:cs typeface="Trebuchet MS"/>
              </a:rPr>
              <a:t>First</a:t>
            </a:r>
            <a:r>
              <a:rPr sz="1900" spc="-8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Truncated</a:t>
            </a:r>
            <a:r>
              <a:rPr sz="1900" spc="-8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Taylor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method </a:t>
            </a:r>
            <a:r>
              <a:rPr sz="1900" dirty="0">
                <a:latin typeface="Trebuchet MS"/>
                <a:cs typeface="Trebuchet MS"/>
              </a:rPr>
              <a:t>(Euler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Method)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05168" y="9527540"/>
            <a:ext cx="9204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latin typeface="Tahoma"/>
                <a:cs typeface="Tahoma"/>
              </a:rPr>
              <a:t>Song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et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al.,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"Denoising</a:t>
            </a:r>
            <a:r>
              <a:rPr sz="2400" u="dash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24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Diffusion</a:t>
            </a:r>
            <a:r>
              <a:rPr sz="2400" u="dash" spc="-8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2400" u="dash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Implicit</a:t>
            </a:r>
            <a:r>
              <a:rPr sz="2400" u="dash" spc="-8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2400" u="dash" spc="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Models</a:t>
            </a:r>
            <a:r>
              <a:rPr sz="2400" u="dash" spc="-8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 </a:t>
            </a:r>
            <a:r>
              <a:rPr sz="24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0"/>
              </a:rPr>
              <a:t>(DDIM)"</a:t>
            </a:r>
            <a:r>
              <a:rPr sz="2400" spc="-45" dirty="0">
                <a:latin typeface="Tahoma"/>
                <a:cs typeface="Tahoma"/>
              </a:rPr>
              <a:t>,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ICLR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2021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B384E92-CE2A-3543-A635-C3204A9A323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346" y="2768352"/>
            <a:ext cx="3276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61965" y="3862551"/>
            <a:ext cx="14912975" cy="4759325"/>
            <a:chOff x="1061965" y="3862551"/>
            <a:chExt cx="14912975" cy="4759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1965" y="3862551"/>
              <a:ext cx="8815363" cy="44143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7332" y="8276305"/>
              <a:ext cx="765606" cy="3454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92023" y="8276305"/>
              <a:ext cx="765606" cy="34545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581659" y="5882792"/>
              <a:ext cx="11374120" cy="661035"/>
            </a:xfrm>
            <a:custGeom>
              <a:avLst/>
              <a:gdLst/>
              <a:ahLst/>
              <a:cxnLst/>
              <a:rect l="l" t="t" r="r" b="b"/>
              <a:pathLst>
                <a:path w="11374119" h="661034">
                  <a:moveTo>
                    <a:pt x="0" y="0"/>
                  </a:moveTo>
                  <a:lnTo>
                    <a:pt x="11373957" y="66093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581659" y="3919800"/>
              <a:ext cx="11374120" cy="1216025"/>
            </a:xfrm>
            <a:custGeom>
              <a:avLst/>
              <a:gdLst/>
              <a:ahLst/>
              <a:cxnLst/>
              <a:rect l="l" t="t" r="r" b="b"/>
              <a:pathLst>
                <a:path w="11374119" h="1216025">
                  <a:moveTo>
                    <a:pt x="0" y="1215813"/>
                  </a:moveTo>
                  <a:lnTo>
                    <a:pt x="11373957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Generative</a:t>
            </a:r>
            <a:r>
              <a:rPr spc="-235" dirty="0"/>
              <a:t> </a:t>
            </a:r>
            <a:r>
              <a:rPr spc="-20" dirty="0"/>
              <a:t>ODEs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Solve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ODEs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with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as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little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function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evaluations</a:t>
            </a:r>
            <a:r>
              <a:rPr sz="3000" spc="-5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as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possible</a:t>
            </a:r>
            <a:endParaRPr sz="3000"/>
          </a:p>
        </p:txBody>
      </p:sp>
      <p:sp>
        <p:nvSpPr>
          <p:cNvPr id="9" name="object 9"/>
          <p:cNvSpPr txBox="1"/>
          <p:nvPr/>
        </p:nvSpPr>
        <p:spPr>
          <a:xfrm>
            <a:off x="4177442" y="8263128"/>
            <a:ext cx="220472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20" dirty="0">
                <a:latin typeface="Arial MT"/>
                <a:cs typeface="Arial MT"/>
              </a:rPr>
              <a:t>ODE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Trajectories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139846" y="3862551"/>
            <a:ext cx="12816205" cy="5467985"/>
            <a:chOff x="3139846" y="3862551"/>
            <a:chExt cx="12816205" cy="5467985"/>
          </a:xfrm>
        </p:grpSpPr>
        <p:sp>
          <p:nvSpPr>
            <p:cNvPr id="11" name="object 11"/>
            <p:cNvSpPr/>
            <p:nvPr/>
          </p:nvSpPr>
          <p:spPr>
            <a:xfrm>
              <a:off x="3437474" y="8386315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114300" y="0"/>
                  </a:moveTo>
                  <a:lnTo>
                    <a:pt x="0" y="57150"/>
                  </a:lnTo>
                  <a:lnTo>
                    <a:pt x="114300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61785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617854" h="114300">
                  <a:moveTo>
                    <a:pt x="617719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617719" y="76200"/>
                  </a:lnTo>
                  <a:lnTo>
                    <a:pt x="617719" y="38100"/>
                  </a:lnTo>
                  <a:close/>
                </a:path>
              </a:pathLst>
            </a:custGeom>
            <a:solidFill>
              <a:srgbClr val="76B9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180453" y="8443465"/>
              <a:ext cx="875030" cy="0"/>
            </a:xfrm>
            <a:custGeom>
              <a:avLst/>
              <a:gdLst/>
              <a:ahLst/>
              <a:cxnLst/>
              <a:rect l="l" t="t" r="r" b="b"/>
              <a:pathLst>
                <a:path w="875029">
                  <a:moveTo>
                    <a:pt x="0" y="0"/>
                  </a:moveTo>
                  <a:lnTo>
                    <a:pt x="874741" y="1"/>
                  </a:lnTo>
                </a:path>
              </a:pathLst>
            </a:custGeom>
            <a:ln w="38100">
              <a:solidFill>
                <a:srgbClr val="76B9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63468" y="3862551"/>
              <a:ext cx="3892147" cy="27040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76015" y="5376672"/>
              <a:ext cx="1207008" cy="24993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301730" y="5438208"/>
              <a:ext cx="1042669" cy="85725"/>
            </a:xfrm>
            <a:custGeom>
              <a:avLst/>
              <a:gdLst/>
              <a:ahLst/>
              <a:cxnLst/>
              <a:rect l="l" t="t" r="r" b="b"/>
              <a:pathLst>
                <a:path w="1042670" h="85725">
                  <a:moveTo>
                    <a:pt x="85725" y="0"/>
                  </a:moveTo>
                  <a:lnTo>
                    <a:pt x="0" y="42862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71437" y="57150"/>
                  </a:lnTo>
                  <a:lnTo>
                    <a:pt x="71437" y="28575"/>
                  </a:lnTo>
                  <a:lnTo>
                    <a:pt x="85725" y="28575"/>
                  </a:lnTo>
                  <a:lnTo>
                    <a:pt x="85725" y="0"/>
                  </a:lnTo>
                  <a:close/>
                </a:path>
                <a:path w="1042670" h="85725">
                  <a:moveTo>
                    <a:pt x="85725" y="28575"/>
                  </a:moveTo>
                  <a:lnTo>
                    <a:pt x="71437" y="28575"/>
                  </a:lnTo>
                  <a:lnTo>
                    <a:pt x="71437" y="57150"/>
                  </a:lnTo>
                  <a:lnTo>
                    <a:pt x="85725" y="57150"/>
                  </a:lnTo>
                  <a:lnTo>
                    <a:pt x="85725" y="28575"/>
                  </a:lnTo>
                  <a:close/>
                </a:path>
                <a:path w="1042670" h="85725">
                  <a:moveTo>
                    <a:pt x="1042136" y="28575"/>
                  </a:moveTo>
                  <a:lnTo>
                    <a:pt x="85725" y="28575"/>
                  </a:lnTo>
                  <a:lnTo>
                    <a:pt x="85725" y="57150"/>
                  </a:lnTo>
                  <a:lnTo>
                    <a:pt x="1042136" y="57150"/>
                  </a:lnTo>
                  <a:lnTo>
                    <a:pt x="1042136" y="28575"/>
                  </a:lnTo>
                  <a:close/>
                </a:path>
              </a:pathLst>
            </a:custGeom>
            <a:solidFill>
              <a:srgbClr val="B4C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432792" y="5041392"/>
              <a:ext cx="2572511" cy="53949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702743" y="5171078"/>
              <a:ext cx="2263775" cy="228600"/>
            </a:xfrm>
            <a:custGeom>
              <a:avLst/>
              <a:gdLst/>
              <a:ahLst/>
              <a:cxnLst/>
              <a:rect l="l" t="t" r="r" b="b"/>
              <a:pathLst>
                <a:path w="2263775" h="228600">
                  <a:moveTo>
                    <a:pt x="225399" y="0"/>
                  </a:moveTo>
                  <a:lnTo>
                    <a:pt x="0" y="120496"/>
                  </a:lnTo>
                  <a:lnTo>
                    <a:pt x="231635" y="228514"/>
                  </a:lnTo>
                  <a:lnTo>
                    <a:pt x="229585" y="153382"/>
                  </a:lnTo>
                  <a:lnTo>
                    <a:pt x="191465" y="153382"/>
                  </a:lnTo>
                  <a:lnTo>
                    <a:pt x="189395" y="77212"/>
                  </a:lnTo>
                  <a:lnTo>
                    <a:pt x="227478" y="76172"/>
                  </a:lnTo>
                  <a:lnTo>
                    <a:pt x="225399" y="0"/>
                  </a:lnTo>
                  <a:close/>
                </a:path>
                <a:path w="2263775" h="228600">
                  <a:moveTo>
                    <a:pt x="227478" y="76172"/>
                  </a:moveTo>
                  <a:lnTo>
                    <a:pt x="189395" y="77212"/>
                  </a:lnTo>
                  <a:lnTo>
                    <a:pt x="191436" y="152343"/>
                  </a:lnTo>
                  <a:lnTo>
                    <a:pt x="191465" y="153382"/>
                  </a:lnTo>
                  <a:lnTo>
                    <a:pt x="229556" y="152343"/>
                  </a:lnTo>
                  <a:lnTo>
                    <a:pt x="227506" y="77212"/>
                  </a:lnTo>
                  <a:lnTo>
                    <a:pt x="227478" y="76172"/>
                  </a:lnTo>
                  <a:close/>
                </a:path>
                <a:path w="2263775" h="228600">
                  <a:moveTo>
                    <a:pt x="229556" y="152343"/>
                  </a:moveTo>
                  <a:lnTo>
                    <a:pt x="191465" y="153382"/>
                  </a:lnTo>
                  <a:lnTo>
                    <a:pt x="229585" y="153382"/>
                  </a:lnTo>
                  <a:lnTo>
                    <a:pt x="229556" y="152343"/>
                  </a:lnTo>
                  <a:close/>
                </a:path>
                <a:path w="2263775" h="228600">
                  <a:moveTo>
                    <a:pt x="2261628" y="20636"/>
                  </a:moveTo>
                  <a:lnTo>
                    <a:pt x="227478" y="76172"/>
                  </a:lnTo>
                  <a:lnTo>
                    <a:pt x="229556" y="152343"/>
                  </a:lnTo>
                  <a:lnTo>
                    <a:pt x="2263711" y="96807"/>
                  </a:lnTo>
                  <a:lnTo>
                    <a:pt x="2261628" y="20636"/>
                  </a:lnTo>
                  <a:close/>
                </a:path>
              </a:pathLst>
            </a:custGeom>
            <a:solidFill>
              <a:srgbClr val="B4C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68421" y="5140367"/>
              <a:ext cx="1413510" cy="765810"/>
            </a:xfrm>
            <a:custGeom>
              <a:avLst/>
              <a:gdLst/>
              <a:ahLst/>
              <a:cxnLst/>
              <a:rect l="l" t="t" r="r" b="b"/>
              <a:pathLst>
                <a:path w="1413510" h="765810">
                  <a:moveTo>
                    <a:pt x="0" y="0"/>
                  </a:moveTo>
                  <a:lnTo>
                    <a:pt x="1413238" y="0"/>
                  </a:lnTo>
                  <a:lnTo>
                    <a:pt x="1413238" y="765274"/>
                  </a:lnTo>
                  <a:lnTo>
                    <a:pt x="0" y="765274"/>
                  </a:lnTo>
                  <a:lnTo>
                    <a:pt x="0" y="0"/>
                  </a:lnTo>
                  <a:close/>
                </a:path>
              </a:pathLst>
            </a:custGeom>
            <a:ln w="5715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68421" y="3920359"/>
              <a:ext cx="8956675" cy="1220470"/>
            </a:xfrm>
            <a:custGeom>
              <a:avLst/>
              <a:gdLst/>
              <a:ahLst/>
              <a:cxnLst/>
              <a:rect l="l" t="t" r="r" b="b"/>
              <a:pathLst>
                <a:path w="8956675" h="1220470">
                  <a:moveTo>
                    <a:pt x="0" y="1220008"/>
                  </a:moveTo>
                  <a:lnTo>
                    <a:pt x="8956142" y="0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68421" y="5905641"/>
              <a:ext cx="8895080" cy="638175"/>
            </a:xfrm>
            <a:custGeom>
              <a:avLst/>
              <a:gdLst/>
              <a:ahLst/>
              <a:cxnLst/>
              <a:rect l="l" t="t" r="r" b="b"/>
              <a:pathLst>
                <a:path w="8895080" h="638175">
                  <a:moveTo>
                    <a:pt x="0" y="0"/>
                  </a:moveTo>
                  <a:lnTo>
                    <a:pt x="8895047" y="638081"/>
                  </a:lnTo>
                </a:path>
              </a:pathLst>
            </a:custGeom>
            <a:ln w="38100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04319" y="7050024"/>
              <a:ext cx="813816" cy="31089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1860136" y="7128347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114300" y="0"/>
                  </a:moveTo>
                  <a:lnTo>
                    <a:pt x="0" y="57150"/>
                  </a:lnTo>
                  <a:lnTo>
                    <a:pt x="114301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61785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617854" h="114300">
                  <a:moveTo>
                    <a:pt x="617726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617726" y="76200"/>
                  </a:lnTo>
                  <a:lnTo>
                    <a:pt x="617726" y="38100"/>
                  </a:lnTo>
                  <a:close/>
                </a:path>
              </a:pathLst>
            </a:custGeom>
            <a:solidFill>
              <a:srgbClr val="B4C7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72967" y="5455920"/>
              <a:ext cx="1237487" cy="29565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299010" y="5475409"/>
              <a:ext cx="1072515" cy="147955"/>
            </a:xfrm>
            <a:custGeom>
              <a:avLst/>
              <a:gdLst/>
              <a:ahLst/>
              <a:cxnLst/>
              <a:rect l="l" t="t" r="r" b="b"/>
              <a:pathLst>
                <a:path w="1072514" h="147954">
                  <a:moveTo>
                    <a:pt x="69867" y="65504"/>
                  </a:moveTo>
                  <a:lnTo>
                    <a:pt x="0" y="131113"/>
                  </a:lnTo>
                  <a:lnTo>
                    <a:pt x="94407" y="147641"/>
                  </a:lnTo>
                  <a:lnTo>
                    <a:pt x="87486" y="124475"/>
                  </a:lnTo>
                  <a:lnTo>
                    <a:pt x="72104" y="124475"/>
                  </a:lnTo>
                  <a:lnTo>
                    <a:pt x="64791" y="96851"/>
                  </a:lnTo>
                  <a:lnTo>
                    <a:pt x="78028" y="93351"/>
                  </a:lnTo>
                  <a:lnTo>
                    <a:pt x="78187" y="93351"/>
                  </a:lnTo>
                  <a:lnTo>
                    <a:pt x="69867" y="65504"/>
                  </a:lnTo>
                  <a:close/>
                </a:path>
                <a:path w="1072514" h="147954">
                  <a:moveTo>
                    <a:pt x="1071267" y="0"/>
                  </a:moveTo>
                  <a:lnTo>
                    <a:pt x="938425" y="3335"/>
                  </a:lnTo>
                  <a:lnTo>
                    <a:pt x="805799" y="8500"/>
                  </a:lnTo>
                  <a:lnTo>
                    <a:pt x="673437" y="15535"/>
                  </a:lnTo>
                  <a:lnTo>
                    <a:pt x="541199" y="24486"/>
                  </a:lnTo>
                  <a:lnTo>
                    <a:pt x="472720" y="29942"/>
                  </a:lnTo>
                  <a:lnTo>
                    <a:pt x="404164" y="36320"/>
                  </a:lnTo>
                  <a:lnTo>
                    <a:pt x="335357" y="44070"/>
                  </a:lnTo>
                  <a:lnTo>
                    <a:pt x="267039" y="53522"/>
                  </a:lnTo>
                  <a:lnTo>
                    <a:pt x="198686" y="65184"/>
                  </a:lnTo>
                  <a:lnTo>
                    <a:pt x="130618" y="79446"/>
                  </a:lnTo>
                  <a:lnTo>
                    <a:pt x="64791" y="96851"/>
                  </a:lnTo>
                  <a:lnTo>
                    <a:pt x="72104" y="124475"/>
                  </a:lnTo>
                  <a:lnTo>
                    <a:pt x="86357" y="120697"/>
                  </a:lnTo>
                  <a:lnTo>
                    <a:pt x="78187" y="93351"/>
                  </a:lnTo>
                  <a:lnTo>
                    <a:pt x="203494" y="93351"/>
                  </a:lnTo>
                  <a:lnTo>
                    <a:pt x="270957" y="81827"/>
                  </a:lnTo>
                  <a:lnTo>
                    <a:pt x="338764" y="72436"/>
                  </a:lnTo>
                  <a:lnTo>
                    <a:pt x="406811" y="64772"/>
                  </a:lnTo>
                  <a:lnTo>
                    <a:pt x="474991" y="58427"/>
                  </a:lnTo>
                  <a:lnTo>
                    <a:pt x="543129" y="52997"/>
                  </a:lnTo>
                  <a:lnTo>
                    <a:pt x="674955" y="44070"/>
                  </a:lnTo>
                  <a:lnTo>
                    <a:pt x="806912" y="37053"/>
                  </a:lnTo>
                  <a:lnTo>
                    <a:pt x="939142" y="31901"/>
                  </a:lnTo>
                  <a:lnTo>
                    <a:pt x="1071985" y="28566"/>
                  </a:lnTo>
                  <a:lnTo>
                    <a:pt x="1071351" y="3335"/>
                  </a:lnTo>
                  <a:lnTo>
                    <a:pt x="1071267" y="0"/>
                  </a:lnTo>
                  <a:close/>
                </a:path>
                <a:path w="1072514" h="147954">
                  <a:moveTo>
                    <a:pt x="86357" y="120697"/>
                  </a:moveTo>
                  <a:lnTo>
                    <a:pt x="72104" y="124475"/>
                  </a:lnTo>
                  <a:lnTo>
                    <a:pt x="87486" y="124475"/>
                  </a:lnTo>
                  <a:lnTo>
                    <a:pt x="86357" y="120697"/>
                  </a:lnTo>
                  <a:close/>
                </a:path>
                <a:path w="1072514" h="147954">
                  <a:moveTo>
                    <a:pt x="203494" y="93351"/>
                  </a:moveTo>
                  <a:lnTo>
                    <a:pt x="78187" y="93351"/>
                  </a:lnTo>
                  <a:lnTo>
                    <a:pt x="86357" y="120697"/>
                  </a:lnTo>
                  <a:lnTo>
                    <a:pt x="136483" y="107412"/>
                  </a:lnTo>
                  <a:lnTo>
                    <a:pt x="203494" y="93351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306944" y="5428477"/>
              <a:ext cx="105186" cy="10518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33376" y="5166360"/>
              <a:ext cx="2487168" cy="71627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2801600" y="5186642"/>
              <a:ext cx="2181225" cy="415925"/>
            </a:xfrm>
            <a:custGeom>
              <a:avLst/>
              <a:gdLst/>
              <a:ahLst/>
              <a:cxnLst/>
              <a:rect l="l" t="t" r="r" b="b"/>
              <a:pathLst>
                <a:path w="2181225" h="415925">
                  <a:moveTo>
                    <a:pt x="160502" y="207966"/>
                  </a:moveTo>
                  <a:lnTo>
                    <a:pt x="0" y="406862"/>
                  </a:lnTo>
                  <a:lnTo>
                    <a:pt x="255422" y="415931"/>
                  </a:lnTo>
                  <a:lnTo>
                    <a:pt x="231298" y="363077"/>
                  </a:lnTo>
                  <a:lnTo>
                    <a:pt x="187617" y="363077"/>
                  </a:lnTo>
                  <a:lnTo>
                    <a:pt x="158991" y="292458"/>
                  </a:lnTo>
                  <a:lnTo>
                    <a:pt x="192818" y="278768"/>
                  </a:lnTo>
                  <a:lnTo>
                    <a:pt x="160502" y="207966"/>
                  </a:lnTo>
                  <a:close/>
                </a:path>
                <a:path w="2181225" h="415925">
                  <a:moveTo>
                    <a:pt x="192818" y="278768"/>
                  </a:moveTo>
                  <a:lnTo>
                    <a:pt x="158991" y="292458"/>
                  </a:lnTo>
                  <a:lnTo>
                    <a:pt x="187617" y="363077"/>
                  </a:lnTo>
                  <a:lnTo>
                    <a:pt x="224469" y="348115"/>
                  </a:lnTo>
                  <a:lnTo>
                    <a:pt x="192818" y="278768"/>
                  </a:lnTo>
                  <a:close/>
                </a:path>
                <a:path w="2181225" h="415925">
                  <a:moveTo>
                    <a:pt x="224469" y="348115"/>
                  </a:moveTo>
                  <a:lnTo>
                    <a:pt x="187617" y="363077"/>
                  </a:lnTo>
                  <a:lnTo>
                    <a:pt x="231298" y="363077"/>
                  </a:lnTo>
                  <a:lnTo>
                    <a:pt x="224469" y="348115"/>
                  </a:lnTo>
                  <a:close/>
                </a:path>
                <a:path w="2181225" h="415925">
                  <a:moveTo>
                    <a:pt x="2178354" y="0"/>
                  </a:moveTo>
                  <a:lnTo>
                    <a:pt x="2043125" y="4551"/>
                  </a:lnTo>
                  <a:lnTo>
                    <a:pt x="1907755" y="10542"/>
                  </a:lnTo>
                  <a:lnTo>
                    <a:pt x="1772577" y="17975"/>
                  </a:lnTo>
                  <a:lnTo>
                    <a:pt x="1637576" y="26869"/>
                  </a:lnTo>
                  <a:lnTo>
                    <a:pt x="1502714" y="37242"/>
                  </a:lnTo>
                  <a:lnTo>
                    <a:pt x="1367942" y="49113"/>
                  </a:lnTo>
                  <a:lnTo>
                    <a:pt x="1233220" y="62497"/>
                  </a:lnTo>
                  <a:lnTo>
                    <a:pt x="1098537" y="77415"/>
                  </a:lnTo>
                  <a:lnTo>
                    <a:pt x="959116" y="94653"/>
                  </a:lnTo>
                  <a:lnTo>
                    <a:pt x="819289" y="114835"/>
                  </a:lnTo>
                  <a:lnTo>
                    <a:pt x="748995" y="126493"/>
                  </a:lnTo>
                  <a:lnTo>
                    <a:pt x="678903" y="139353"/>
                  </a:lnTo>
                  <a:lnTo>
                    <a:pt x="608799" y="153616"/>
                  </a:lnTo>
                  <a:lnTo>
                    <a:pt x="538721" y="169451"/>
                  </a:lnTo>
                  <a:lnTo>
                    <a:pt x="468706" y="187025"/>
                  </a:lnTo>
                  <a:lnTo>
                    <a:pt x="398780" y="206505"/>
                  </a:lnTo>
                  <a:lnTo>
                    <a:pt x="328968" y="228061"/>
                  </a:lnTo>
                  <a:lnTo>
                    <a:pt x="259308" y="251860"/>
                  </a:lnTo>
                  <a:lnTo>
                    <a:pt x="192818" y="278768"/>
                  </a:lnTo>
                  <a:lnTo>
                    <a:pt x="224469" y="348115"/>
                  </a:lnTo>
                  <a:lnTo>
                    <a:pt x="283959" y="323961"/>
                  </a:lnTo>
                  <a:lnTo>
                    <a:pt x="351459" y="300865"/>
                  </a:lnTo>
                  <a:lnTo>
                    <a:pt x="419239" y="279908"/>
                  </a:lnTo>
                  <a:lnTo>
                    <a:pt x="487273" y="260930"/>
                  </a:lnTo>
                  <a:lnTo>
                    <a:pt x="555536" y="243775"/>
                  </a:lnTo>
                  <a:lnTo>
                    <a:pt x="624001" y="228285"/>
                  </a:lnTo>
                  <a:lnTo>
                    <a:pt x="692657" y="214301"/>
                  </a:lnTo>
                  <a:lnTo>
                    <a:pt x="761466" y="201665"/>
                  </a:lnTo>
                  <a:lnTo>
                    <a:pt x="830186" y="190253"/>
                  </a:lnTo>
                  <a:lnTo>
                    <a:pt x="968476" y="170276"/>
                  </a:lnTo>
                  <a:lnTo>
                    <a:pt x="1106932" y="153151"/>
                  </a:lnTo>
                  <a:lnTo>
                    <a:pt x="1240764" y="138324"/>
                  </a:lnTo>
                  <a:lnTo>
                    <a:pt x="1374622" y="125020"/>
                  </a:lnTo>
                  <a:lnTo>
                    <a:pt x="1508556" y="113219"/>
                  </a:lnTo>
                  <a:lnTo>
                    <a:pt x="1642592" y="102904"/>
                  </a:lnTo>
                  <a:lnTo>
                    <a:pt x="1776768" y="94060"/>
                  </a:lnTo>
                  <a:lnTo>
                    <a:pt x="1911121" y="86667"/>
                  </a:lnTo>
                  <a:lnTo>
                    <a:pt x="2045690" y="80708"/>
                  </a:lnTo>
                  <a:lnTo>
                    <a:pt x="2180907" y="76156"/>
                  </a:lnTo>
                  <a:lnTo>
                    <a:pt x="2178354" y="0"/>
                  </a:lnTo>
                  <a:close/>
                </a:path>
              </a:pathLst>
            </a:custGeom>
            <a:solidFill>
              <a:srgbClr val="F8CBA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912822" y="5172127"/>
              <a:ext cx="105181" cy="1051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04319" y="7778496"/>
              <a:ext cx="813816" cy="30784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1860136" y="7854750"/>
              <a:ext cx="617855" cy="114300"/>
            </a:xfrm>
            <a:custGeom>
              <a:avLst/>
              <a:gdLst/>
              <a:ahLst/>
              <a:cxnLst/>
              <a:rect l="l" t="t" r="r" b="b"/>
              <a:pathLst>
                <a:path w="617854" h="114300">
                  <a:moveTo>
                    <a:pt x="114300" y="0"/>
                  </a:moveTo>
                  <a:lnTo>
                    <a:pt x="0" y="57150"/>
                  </a:lnTo>
                  <a:lnTo>
                    <a:pt x="114301" y="114300"/>
                  </a:lnTo>
                  <a:lnTo>
                    <a:pt x="114300" y="76200"/>
                  </a:lnTo>
                  <a:lnTo>
                    <a:pt x="95250" y="76200"/>
                  </a:lnTo>
                  <a:lnTo>
                    <a:pt x="95250" y="38100"/>
                  </a:lnTo>
                  <a:lnTo>
                    <a:pt x="114300" y="38100"/>
                  </a:lnTo>
                  <a:lnTo>
                    <a:pt x="114300" y="0"/>
                  </a:lnTo>
                  <a:close/>
                </a:path>
                <a:path w="617854" h="114300">
                  <a:moveTo>
                    <a:pt x="114300" y="38100"/>
                  </a:moveTo>
                  <a:lnTo>
                    <a:pt x="95250" y="38100"/>
                  </a:lnTo>
                  <a:lnTo>
                    <a:pt x="95250" y="76200"/>
                  </a:lnTo>
                  <a:lnTo>
                    <a:pt x="114300" y="76200"/>
                  </a:lnTo>
                  <a:lnTo>
                    <a:pt x="114300" y="38100"/>
                  </a:lnTo>
                  <a:close/>
                </a:path>
                <a:path w="617854" h="114300">
                  <a:moveTo>
                    <a:pt x="617726" y="38100"/>
                  </a:moveTo>
                  <a:lnTo>
                    <a:pt x="114300" y="38100"/>
                  </a:lnTo>
                  <a:lnTo>
                    <a:pt x="114300" y="76200"/>
                  </a:lnTo>
                  <a:lnTo>
                    <a:pt x="617726" y="76200"/>
                  </a:lnTo>
                  <a:lnTo>
                    <a:pt x="617726" y="38100"/>
                  </a:lnTo>
                  <a:close/>
                </a:path>
              </a:pathLst>
            </a:custGeom>
            <a:solidFill>
              <a:srgbClr val="F8CBA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366247" y="8570975"/>
              <a:ext cx="758951" cy="758952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55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12677938" y="6902704"/>
            <a:ext cx="3271520" cy="139446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sz="1900" dirty="0">
                <a:latin typeface="Trebuchet MS"/>
                <a:cs typeface="Trebuchet MS"/>
              </a:rPr>
              <a:t>First</a:t>
            </a:r>
            <a:r>
              <a:rPr sz="1900" spc="-85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Truncated</a:t>
            </a:r>
            <a:r>
              <a:rPr sz="1900" spc="-80" dirty="0">
                <a:latin typeface="Trebuchet MS"/>
                <a:cs typeface="Trebuchet MS"/>
              </a:rPr>
              <a:t> </a:t>
            </a:r>
            <a:r>
              <a:rPr sz="1900" spc="-30" dirty="0">
                <a:latin typeface="Trebuchet MS"/>
                <a:cs typeface="Trebuchet MS"/>
              </a:rPr>
              <a:t>Taylor</a:t>
            </a:r>
            <a:r>
              <a:rPr sz="1900" spc="-4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method </a:t>
            </a:r>
            <a:r>
              <a:rPr sz="1900" dirty="0">
                <a:latin typeface="Trebuchet MS"/>
                <a:cs typeface="Trebuchet MS"/>
              </a:rPr>
              <a:t>(Euler</a:t>
            </a:r>
            <a:r>
              <a:rPr sz="1900" spc="-40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Method)</a:t>
            </a:r>
            <a:endParaRPr sz="1900">
              <a:latin typeface="Trebuchet MS"/>
              <a:cs typeface="Trebuchet MS"/>
            </a:endParaRPr>
          </a:p>
          <a:p>
            <a:pPr marL="12700" marR="336550">
              <a:lnSpc>
                <a:spcPct val="101099"/>
              </a:lnSpc>
              <a:spcBef>
                <a:spcPts val="1580"/>
              </a:spcBef>
            </a:pPr>
            <a:r>
              <a:rPr sz="1900" dirty="0">
                <a:latin typeface="Trebuchet MS"/>
                <a:cs typeface="Trebuchet MS"/>
              </a:rPr>
              <a:t>Higher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order</a:t>
            </a:r>
            <a:r>
              <a:rPr sz="1900" spc="-35" dirty="0">
                <a:latin typeface="Trebuchet MS"/>
                <a:cs typeface="Trebuchet MS"/>
              </a:rPr>
              <a:t> </a:t>
            </a:r>
            <a:r>
              <a:rPr sz="1900" spc="-10" dirty="0">
                <a:latin typeface="Trebuchet MS"/>
                <a:cs typeface="Trebuchet MS"/>
              </a:rPr>
              <a:t>methods </a:t>
            </a:r>
            <a:r>
              <a:rPr sz="1900" dirty="0">
                <a:latin typeface="Trebuchet MS"/>
                <a:cs typeface="Trebuchet MS"/>
              </a:rPr>
              <a:t>(RK4,</a:t>
            </a:r>
            <a:r>
              <a:rPr sz="1900" spc="-65" dirty="0">
                <a:latin typeface="Trebuchet MS"/>
                <a:cs typeface="Trebuchet MS"/>
              </a:rPr>
              <a:t> </a:t>
            </a:r>
            <a:r>
              <a:rPr sz="1900" dirty="0">
                <a:latin typeface="Trebuchet MS"/>
                <a:cs typeface="Trebuchet MS"/>
              </a:rPr>
              <a:t>Multistepping,</a:t>
            </a:r>
            <a:r>
              <a:rPr sz="1900" spc="-60" dirty="0">
                <a:latin typeface="Trebuchet MS"/>
                <a:cs typeface="Trebuchet MS"/>
              </a:rPr>
              <a:t> </a:t>
            </a:r>
            <a:r>
              <a:rPr sz="1900" spc="-20" dirty="0">
                <a:latin typeface="Trebuchet MS"/>
                <a:cs typeface="Trebuchet MS"/>
              </a:rPr>
              <a:t>Heun)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304219" y="8747252"/>
            <a:ext cx="666178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Approximate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the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higher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order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dirty="0">
                <a:solidFill>
                  <a:srgbClr val="FF0000"/>
                </a:solidFill>
                <a:latin typeface="Trebuchet MS"/>
                <a:cs typeface="Trebuchet MS"/>
              </a:rPr>
              <a:t>terms</a:t>
            </a:r>
            <a:r>
              <a:rPr sz="24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rebuchet MS"/>
                <a:cs typeface="Trebuchet MS"/>
              </a:rPr>
              <a:t>numerically</a:t>
            </a:r>
            <a:endParaRPr sz="2400">
              <a:latin typeface="Trebuchet MS"/>
              <a:cs typeface="Trebuchet MS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F51A68C-77B8-B64E-B4F1-B7D210E648A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346" y="2768352"/>
            <a:ext cx="3276600" cy="7493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1874" y="1066800"/>
            <a:ext cx="1623250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145" dirty="0"/>
              <a:t> </a:t>
            </a:r>
            <a:r>
              <a:rPr dirty="0"/>
              <a:t>Rich</a:t>
            </a:r>
            <a:r>
              <a:rPr spc="-140" dirty="0"/>
              <a:t> </a:t>
            </a:r>
            <a:r>
              <a:rPr dirty="0"/>
              <a:t>Body</a:t>
            </a:r>
            <a:r>
              <a:rPr spc="-13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dirty="0"/>
              <a:t>Work</a:t>
            </a:r>
            <a:r>
              <a:rPr spc="-140" dirty="0"/>
              <a:t> </a:t>
            </a:r>
            <a:r>
              <a:rPr dirty="0"/>
              <a:t>on</a:t>
            </a:r>
            <a:r>
              <a:rPr spc="-140" dirty="0"/>
              <a:t> </a:t>
            </a:r>
            <a:r>
              <a:rPr dirty="0"/>
              <a:t>ODE/SDE</a:t>
            </a:r>
            <a:r>
              <a:rPr spc="-135" dirty="0"/>
              <a:t> </a:t>
            </a:r>
            <a:r>
              <a:rPr dirty="0"/>
              <a:t>Solvers</a:t>
            </a:r>
            <a:r>
              <a:rPr spc="-135" dirty="0"/>
              <a:t> </a:t>
            </a:r>
            <a:r>
              <a:rPr dirty="0"/>
              <a:t>for</a:t>
            </a:r>
            <a:r>
              <a:rPr spc="-135" dirty="0"/>
              <a:t> </a:t>
            </a:r>
            <a:r>
              <a:rPr dirty="0"/>
              <a:t>Diffusion</a:t>
            </a:r>
            <a:r>
              <a:rPr spc="-135" dirty="0"/>
              <a:t> </a:t>
            </a:r>
            <a:r>
              <a:rPr spc="-10" dirty="0"/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2090419"/>
            <a:ext cx="12466955" cy="707644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583565" indent="-570865">
              <a:lnSpc>
                <a:spcPct val="100000"/>
              </a:lnSpc>
              <a:spcBef>
                <a:spcPts val="1010"/>
              </a:spcBef>
              <a:buClr>
                <a:srgbClr val="CDCDCD"/>
              </a:buClr>
              <a:buFont typeface="Arial MT"/>
              <a:buChar char="•"/>
              <a:tabLst>
                <a:tab pos="583565" algn="l"/>
              </a:tabLst>
            </a:pPr>
            <a:r>
              <a:rPr sz="2400" spc="-20" dirty="0">
                <a:latin typeface="Trebuchet MS"/>
                <a:cs typeface="Trebuchet MS"/>
              </a:rPr>
              <a:t>Runge-</a:t>
            </a:r>
            <a:r>
              <a:rPr sz="2400" dirty="0">
                <a:latin typeface="Trebuchet MS"/>
                <a:cs typeface="Trebuchet MS"/>
              </a:rPr>
              <a:t>Kutta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adaptive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step-</a:t>
            </a:r>
            <a:r>
              <a:rPr sz="2400" dirty="0">
                <a:latin typeface="Trebuchet MS"/>
                <a:cs typeface="Trebuchet MS"/>
              </a:rPr>
              <a:t>size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ODE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solver:</a:t>
            </a:r>
            <a:endParaRPr sz="2400">
              <a:latin typeface="Trebuchet MS"/>
              <a:cs typeface="Trebuchet MS"/>
            </a:endParaRPr>
          </a:p>
          <a:p>
            <a:pPr marL="1536065" lvl="1" indent="-570865">
              <a:lnSpc>
                <a:spcPct val="100000"/>
              </a:lnSpc>
              <a:spcBef>
                <a:spcPts val="610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Song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et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al.,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“Score-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Based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Generative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Modeling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through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Stochastic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Differential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Equations”,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ICLR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2021</a:t>
            </a:r>
            <a:endParaRPr sz="1600">
              <a:latin typeface="Trebuchet MS"/>
              <a:cs typeface="Trebuchet MS"/>
            </a:endParaRPr>
          </a:p>
          <a:p>
            <a:pPr marL="583565" indent="-570865">
              <a:lnSpc>
                <a:spcPct val="100000"/>
              </a:lnSpc>
              <a:spcBef>
                <a:spcPts val="1190"/>
              </a:spcBef>
              <a:buClr>
                <a:srgbClr val="CDCDCD"/>
              </a:buClr>
              <a:buFont typeface="Arial MT"/>
              <a:buChar char="•"/>
              <a:tabLst>
                <a:tab pos="583565" algn="l"/>
              </a:tabLst>
            </a:pPr>
            <a:r>
              <a:rPr sz="2400" spc="-10" dirty="0">
                <a:latin typeface="Trebuchet MS"/>
                <a:cs typeface="Trebuchet MS"/>
              </a:rPr>
              <a:t>Higher-</a:t>
            </a:r>
            <a:r>
              <a:rPr sz="2400" dirty="0">
                <a:latin typeface="Trebuchet MS"/>
                <a:cs typeface="Trebuchet MS"/>
              </a:rPr>
              <a:t>Order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adaptive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step-</a:t>
            </a:r>
            <a:r>
              <a:rPr sz="2400" dirty="0">
                <a:latin typeface="Trebuchet MS"/>
                <a:cs typeface="Trebuchet MS"/>
              </a:rPr>
              <a:t>size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SDE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solver:</a:t>
            </a:r>
            <a:endParaRPr sz="2400">
              <a:latin typeface="Trebuchet MS"/>
              <a:cs typeface="Trebuchet MS"/>
            </a:endParaRPr>
          </a:p>
          <a:p>
            <a:pPr marL="1536065" lvl="1" indent="-570865">
              <a:lnSpc>
                <a:spcPct val="100000"/>
              </a:lnSpc>
              <a:spcBef>
                <a:spcPts val="610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Jolicoeur-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Martineau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et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al.,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“Gotta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Go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Fast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When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Generating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Data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with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Score-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Based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Models”,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6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arXiv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2021</a:t>
            </a:r>
            <a:endParaRPr sz="1600">
              <a:latin typeface="Trebuchet MS"/>
              <a:cs typeface="Trebuchet MS"/>
            </a:endParaRPr>
          </a:p>
          <a:p>
            <a:pPr marL="583565" indent="-570865">
              <a:lnSpc>
                <a:spcPct val="100000"/>
              </a:lnSpc>
              <a:spcBef>
                <a:spcPts val="1190"/>
              </a:spcBef>
              <a:buClr>
                <a:srgbClr val="CDCDCD"/>
              </a:buClr>
              <a:buFont typeface="Arial MT"/>
              <a:buChar char="•"/>
              <a:tabLst>
                <a:tab pos="583565" algn="l"/>
              </a:tabLst>
            </a:pPr>
            <a:r>
              <a:rPr sz="2400" dirty="0">
                <a:latin typeface="Trebuchet MS"/>
                <a:cs typeface="Trebuchet MS"/>
              </a:rPr>
              <a:t>Reparametrized,</a:t>
            </a:r>
            <a:r>
              <a:rPr sz="2400" spc="-12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smoother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ODE:</a:t>
            </a:r>
            <a:endParaRPr sz="2400">
              <a:latin typeface="Trebuchet MS"/>
              <a:cs typeface="Trebuchet MS"/>
            </a:endParaRPr>
          </a:p>
          <a:p>
            <a:pPr marL="1536065" lvl="1" indent="-570865">
              <a:lnSpc>
                <a:spcPct val="100000"/>
              </a:lnSpc>
              <a:spcBef>
                <a:spcPts val="610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Song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et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al.,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“Denoising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Diffusion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Implicit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Models”,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ICLR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2021</a:t>
            </a:r>
            <a:endParaRPr sz="1600">
              <a:latin typeface="Trebuchet MS"/>
              <a:cs typeface="Trebuchet MS"/>
            </a:endParaRPr>
          </a:p>
          <a:p>
            <a:pPr marL="1536065" lvl="1" indent="-570865">
              <a:lnSpc>
                <a:spcPct val="100000"/>
              </a:lnSpc>
              <a:spcBef>
                <a:spcPts val="95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Zhang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et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al.,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"gDDIM: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Generalized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denoising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diffusion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implicit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models",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arXiv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5"/>
              </a:rPr>
              <a:t>2022</a:t>
            </a:r>
            <a:endParaRPr sz="1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1070"/>
              </a:spcBef>
              <a:buClr>
                <a:srgbClr val="CDCDCD"/>
              </a:buClr>
              <a:buFont typeface="Arial MT"/>
              <a:buChar char="•"/>
              <a:tabLst>
                <a:tab pos="583565" algn="l"/>
              </a:tabLst>
            </a:pPr>
            <a:r>
              <a:rPr sz="2400" spc="-10" dirty="0">
                <a:latin typeface="Trebuchet MS"/>
                <a:cs typeface="Trebuchet MS"/>
              </a:rPr>
              <a:t>Higher-</a:t>
            </a:r>
            <a:r>
              <a:rPr sz="2400" dirty="0">
                <a:latin typeface="Trebuchet MS"/>
                <a:cs typeface="Trebuchet MS"/>
              </a:rPr>
              <a:t>Order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ODE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solver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linear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multistepping:</a:t>
            </a:r>
            <a:endParaRPr sz="2400">
              <a:latin typeface="Trebuchet MS"/>
              <a:cs typeface="Trebuchet MS"/>
            </a:endParaRPr>
          </a:p>
          <a:p>
            <a:pPr marL="1536065" lvl="1" indent="-570865">
              <a:lnSpc>
                <a:spcPct val="100000"/>
              </a:lnSpc>
              <a:spcBef>
                <a:spcPts val="730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Liu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et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al.,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“Pseudo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Numerical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Methods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for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Diffusion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Models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on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Manifolds”,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ICLR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2022</a:t>
            </a:r>
            <a:endParaRPr sz="1600">
              <a:latin typeface="Trebuchet MS"/>
              <a:cs typeface="Trebuchet MS"/>
            </a:endParaRPr>
          </a:p>
          <a:p>
            <a:pPr marL="583565" indent="-570865">
              <a:lnSpc>
                <a:spcPct val="100000"/>
              </a:lnSpc>
              <a:spcBef>
                <a:spcPts val="1070"/>
              </a:spcBef>
              <a:buClr>
                <a:srgbClr val="CDCDCD"/>
              </a:buClr>
              <a:buFont typeface="Arial MT"/>
              <a:buChar char="•"/>
              <a:tabLst>
                <a:tab pos="583565" algn="l"/>
              </a:tabLst>
            </a:pPr>
            <a:r>
              <a:rPr sz="2400" dirty="0">
                <a:latin typeface="Trebuchet MS"/>
                <a:cs typeface="Trebuchet MS"/>
              </a:rPr>
              <a:t>Exponential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ODE</a:t>
            </a:r>
            <a:r>
              <a:rPr sz="2400" spc="-5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Integrators:</a:t>
            </a:r>
            <a:endParaRPr sz="2400">
              <a:latin typeface="Trebuchet MS"/>
              <a:cs typeface="Trebuchet MS"/>
            </a:endParaRPr>
          </a:p>
          <a:p>
            <a:pPr marL="1536065" lvl="1" indent="-570865">
              <a:lnSpc>
                <a:spcPts val="1910"/>
              </a:lnSpc>
              <a:spcBef>
                <a:spcPts val="730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Zhang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and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Chen,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“Fast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Sampling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of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Diffusion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Models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with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Exponential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Integrator”,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arXiv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2022</a:t>
            </a:r>
            <a:endParaRPr sz="1600">
              <a:latin typeface="Trebuchet MS"/>
              <a:cs typeface="Trebuchet MS"/>
            </a:endParaRPr>
          </a:p>
          <a:p>
            <a:pPr marL="1536065" lvl="1" indent="-570865">
              <a:lnSpc>
                <a:spcPts val="1895"/>
              </a:lnSpc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Lu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et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al.,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“DPM-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Solver: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A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Fast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ODE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Solver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for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Diffusion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Probabilistic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Model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Sampling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in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Around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10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Steps”,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6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NeurIPS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2022</a:t>
            </a:r>
            <a:endParaRPr sz="1600">
              <a:latin typeface="Trebuchet MS"/>
              <a:cs typeface="Trebuchet MS"/>
            </a:endParaRPr>
          </a:p>
          <a:p>
            <a:pPr marL="1536065" lvl="1" indent="-570865">
              <a:lnSpc>
                <a:spcPts val="1910"/>
              </a:lnSpc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Lu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et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al.,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7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"DPM-</a:t>
            </a:r>
            <a:r>
              <a:rPr sz="1600" u="sng" spc="-7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Solver++: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Fast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Solver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for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Guided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Sampling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of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Diffusion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Probabilistic</a:t>
            </a:r>
            <a:r>
              <a:rPr sz="1600" u="sng" spc="-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Models",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NeurIPS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9"/>
              </a:rPr>
              <a:t> 2022</a:t>
            </a:r>
            <a:endParaRPr sz="1600">
              <a:latin typeface="Tahoma"/>
              <a:cs typeface="Tahoma"/>
            </a:endParaRPr>
          </a:p>
          <a:p>
            <a:pPr marL="583565" indent="-570865">
              <a:lnSpc>
                <a:spcPct val="100000"/>
              </a:lnSpc>
              <a:spcBef>
                <a:spcPts val="1170"/>
              </a:spcBef>
              <a:buClr>
                <a:srgbClr val="CDCDCD"/>
              </a:buClr>
              <a:buFont typeface="Arial MT"/>
              <a:buChar char="•"/>
              <a:tabLst>
                <a:tab pos="583565" algn="l"/>
              </a:tabLst>
            </a:pPr>
            <a:r>
              <a:rPr sz="2400" spc="-10" dirty="0">
                <a:latin typeface="Trebuchet MS"/>
                <a:cs typeface="Trebuchet MS"/>
              </a:rPr>
              <a:t>Higher-</a:t>
            </a:r>
            <a:r>
              <a:rPr sz="2400" dirty="0">
                <a:latin typeface="Trebuchet MS"/>
                <a:cs typeface="Trebuchet MS"/>
              </a:rPr>
              <a:t>Order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ODE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solver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with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Heun’s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Method:</a:t>
            </a:r>
            <a:endParaRPr sz="2400">
              <a:latin typeface="Trebuchet MS"/>
              <a:cs typeface="Trebuchet MS"/>
            </a:endParaRPr>
          </a:p>
          <a:p>
            <a:pPr marL="1536065" lvl="1" indent="-570865">
              <a:lnSpc>
                <a:spcPct val="100000"/>
              </a:lnSpc>
              <a:spcBef>
                <a:spcPts val="630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Karras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et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al.,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“Elucidating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the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Design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Space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of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Diffusion-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Based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Generative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Models”,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NeurIPS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,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2022</a:t>
            </a:r>
            <a:endParaRPr sz="1600">
              <a:latin typeface="Trebuchet MS"/>
              <a:cs typeface="Trebuchet MS"/>
            </a:endParaRPr>
          </a:p>
          <a:p>
            <a:pPr marL="583565" indent="-570865">
              <a:lnSpc>
                <a:spcPct val="100000"/>
              </a:lnSpc>
              <a:spcBef>
                <a:spcPts val="1170"/>
              </a:spcBef>
              <a:buClr>
                <a:srgbClr val="CDCDCD"/>
              </a:buClr>
              <a:buFont typeface="Arial MT"/>
              <a:buChar char="•"/>
              <a:tabLst>
                <a:tab pos="583565" algn="l"/>
              </a:tabLst>
            </a:pPr>
            <a:r>
              <a:rPr sz="2400" dirty="0">
                <a:latin typeface="Trebuchet MS"/>
                <a:cs typeface="Trebuchet MS"/>
              </a:rPr>
              <a:t>Many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-20" dirty="0">
                <a:latin typeface="Trebuchet MS"/>
                <a:cs typeface="Trebuchet MS"/>
              </a:rPr>
              <a:t>more:</a:t>
            </a:r>
            <a:endParaRPr sz="2400">
              <a:latin typeface="Trebuchet MS"/>
              <a:cs typeface="Trebuchet MS"/>
            </a:endParaRPr>
          </a:p>
          <a:p>
            <a:pPr marL="1536065" lvl="1" indent="-570865">
              <a:lnSpc>
                <a:spcPts val="1910"/>
              </a:lnSpc>
              <a:spcBef>
                <a:spcPts val="630"/>
              </a:spcBef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Zhao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et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al.,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"UniPC: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spc="114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A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Unified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Predictor-Corrector</a:t>
            </a:r>
            <a:r>
              <a:rPr sz="1600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Framework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for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Fast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Sampling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of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Diffusion</a:t>
            </a:r>
            <a:r>
              <a:rPr sz="1600" u="sng" spc="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Models",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arXiv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1"/>
              </a:rPr>
              <a:t>2023</a:t>
            </a:r>
            <a:endParaRPr sz="1600">
              <a:latin typeface="Tahoma"/>
              <a:cs typeface="Tahoma"/>
            </a:endParaRPr>
          </a:p>
          <a:p>
            <a:pPr marL="1536065" lvl="1" indent="-570865">
              <a:lnSpc>
                <a:spcPts val="1895"/>
              </a:lnSpc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Shih</a:t>
            </a:r>
            <a:r>
              <a:rPr sz="16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et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spc="-7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al.,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"Parallel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Sampling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of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Diffusion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Models",</a:t>
            </a:r>
            <a:r>
              <a:rPr sz="16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arxiv</a:t>
            </a:r>
            <a:r>
              <a:rPr sz="16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2"/>
              </a:rPr>
              <a:t>2023</a:t>
            </a:r>
            <a:endParaRPr sz="1600">
              <a:latin typeface="Tahoma"/>
              <a:cs typeface="Tahoma"/>
            </a:endParaRPr>
          </a:p>
          <a:p>
            <a:pPr marL="1536065" lvl="1" indent="-570865">
              <a:lnSpc>
                <a:spcPts val="1910"/>
              </a:lnSpc>
              <a:buClr>
                <a:srgbClr val="CDCDCD"/>
              </a:buClr>
              <a:buFont typeface="Arial MT"/>
              <a:buChar char="•"/>
              <a:tabLst>
                <a:tab pos="1536065" algn="l"/>
              </a:tabLst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Chen</a:t>
            </a:r>
            <a:r>
              <a:rPr sz="1600" u="sng" spc="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et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al.,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"A</a:t>
            </a:r>
            <a:r>
              <a:rPr sz="1600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Geometric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Perspective</a:t>
            </a:r>
            <a:r>
              <a:rPr sz="1600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on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Diffusion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Models",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arXiv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13"/>
              </a:rPr>
              <a:t>2023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860925">
              <a:lnSpc>
                <a:spcPct val="100000"/>
              </a:lnSpc>
              <a:spcBef>
                <a:spcPts val="100"/>
              </a:spcBef>
            </a:pPr>
            <a:r>
              <a:rPr dirty="0"/>
              <a:t>Acceleration</a:t>
            </a:r>
            <a:r>
              <a:rPr spc="-31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19197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5" y="2763745"/>
                </a:lnTo>
                <a:lnTo>
                  <a:pt x="1577543" y="2758017"/>
                </a:lnTo>
                <a:lnTo>
                  <a:pt x="1624339" y="2750714"/>
                </a:lnTo>
                <a:lnTo>
                  <a:pt x="1670603" y="2741864"/>
                </a:lnTo>
                <a:lnTo>
                  <a:pt x="1716309" y="2731493"/>
                </a:lnTo>
                <a:lnTo>
                  <a:pt x="1761429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9" y="2675358"/>
                </a:lnTo>
                <a:lnTo>
                  <a:pt x="1935500" y="2657799"/>
                </a:lnTo>
                <a:lnTo>
                  <a:pt x="1977279" y="2638884"/>
                </a:lnTo>
                <a:lnTo>
                  <a:pt x="2018306" y="2618642"/>
                </a:lnTo>
                <a:lnTo>
                  <a:pt x="2058556" y="2597099"/>
                </a:lnTo>
                <a:lnTo>
                  <a:pt x="2097999" y="2574284"/>
                </a:lnTo>
                <a:lnTo>
                  <a:pt x="2136610" y="2550223"/>
                </a:lnTo>
                <a:lnTo>
                  <a:pt x="2174360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3" y="2412201"/>
                </a:lnTo>
                <a:lnTo>
                  <a:pt x="2349237" y="2381245"/>
                </a:lnTo>
                <a:lnTo>
                  <a:pt x="2381246" y="2349236"/>
                </a:lnTo>
                <a:lnTo>
                  <a:pt x="2412201" y="2316202"/>
                </a:lnTo>
                <a:lnTo>
                  <a:pt x="2442077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4" y="2136609"/>
                </a:lnTo>
                <a:lnTo>
                  <a:pt x="2574284" y="2097998"/>
                </a:lnTo>
                <a:lnTo>
                  <a:pt x="2597100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30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8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8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30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100" y="712648"/>
                </a:lnTo>
                <a:lnTo>
                  <a:pt x="2574284" y="673205"/>
                </a:lnTo>
                <a:lnTo>
                  <a:pt x="2550224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7" y="489034"/>
                </a:lnTo>
                <a:lnTo>
                  <a:pt x="2412201" y="455001"/>
                </a:lnTo>
                <a:lnTo>
                  <a:pt x="2381246" y="421967"/>
                </a:lnTo>
                <a:lnTo>
                  <a:pt x="2349237" y="389958"/>
                </a:lnTo>
                <a:lnTo>
                  <a:pt x="2316203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60" y="246259"/>
                </a:lnTo>
                <a:lnTo>
                  <a:pt x="2136610" y="220980"/>
                </a:lnTo>
                <a:lnTo>
                  <a:pt x="2097999" y="196919"/>
                </a:lnTo>
                <a:lnTo>
                  <a:pt x="2058556" y="174104"/>
                </a:lnTo>
                <a:lnTo>
                  <a:pt x="2018306" y="152562"/>
                </a:lnTo>
                <a:lnTo>
                  <a:pt x="1977279" y="132319"/>
                </a:lnTo>
                <a:lnTo>
                  <a:pt x="1935500" y="113405"/>
                </a:lnTo>
                <a:lnTo>
                  <a:pt x="1892999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9" y="51574"/>
                </a:lnTo>
                <a:lnTo>
                  <a:pt x="1716309" y="39711"/>
                </a:lnTo>
                <a:lnTo>
                  <a:pt x="1670603" y="29340"/>
                </a:lnTo>
                <a:lnTo>
                  <a:pt x="1624339" y="20489"/>
                </a:lnTo>
                <a:lnTo>
                  <a:pt x="1577543" y="13186"/>
                </a:lnTo>
                <a:lnTo>
                  <a:pt x="1530245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6346" y="3842003"/>
            <a:ext cx="1777364" cy="14916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ctr">
              <a:lnSpc>
                <a:spcPts val="3790"/>
              </a:lnSpc>
              <a:spcBef>
                <a:spcPts val="26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ODE/SDE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ts val="3795"/>
              </a:lnSpc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Solvers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4686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41988" y="4145788"/>
            <a:ext cx="177673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0160">
              <a:lnSpc>
                <a:spcPct val="101400"/>
              </a:lnSpc>
              <a:spcBef>
                <a:spcPts val="50"/>
              </a:spcBef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Distillation </a:t>
            </a:r>
            <a:r>
              <a:rPr sz="2800" spc="-45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111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21239" y="3842003"/>
            <a:ext cx="175133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9525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Low-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dim.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Diffusion 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066712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8" y="0"/>
                </a:moveTo>
                <a:lnTo>
                  <a:pt x="1336963" y="837"/>
                </a:lnTo>
                <a:lnTo>
                  <a:pt x="1288740" y="3333"/>
                </a:lnTo>
                <a:lnTo>
                  <a:pt x="1240965" y="7458"/>
                </a:lnTo>
                <a:lnTo>
                  <a:pt x="1193666" y="13186"/>
                </a:lnTo>
                <a:lnTo>
                  <a:pt x="1146870" y="20489"/>
                </a:lnTo>
                <a:lnTo>
                  <a:pt x="1100606" y="29340"/>
                </a:lnTo>
                <a:lnTo>
                  <a:pt x="1054900" y="39711"/>
                </a:lnTo>
                <a:lnTo>
                  <a:pt x="1009780" y="51574"/>
                </a:lnTo>
                <a:lnTo>
                  <a:pt x="965273" y="64903"/>
                </a:lnTo>
                <a:lnTo>
                  <a:pt x="921407" y="79669"/>
                </a:lnTo>
                <a:lnTo>
                  <a:pt x="878209" y="95846"/>
                </a:lnTo>
                <a:lnTo>
                  <a:pt x="835707" y="113405"/>
                </a:lnTo>
                <a:lnTo>
                  <a:pt x="793929" y="132319"/>
                </a:lnTo>
                <a:lnTo>
                  <a:pt x="752901" y="152562"/>
                </a:lnTo>
                <a:lnTo>
                  <a:pt x="712651" y="174104"/>
                </a:lnTo>
                <a:lnTo>
                  <a:pt x="673207" y="196919"/>
                </a:lnTo>
                <a:lnTo>
                  <a:pt x="634597" y="220980"/>
                </a:lnTo>
                <a:lnTo>
                  <a:pt x="596847" y="246259"/>
                </a:lnTo>
                <a:lnTo>
                  <a:pt x="559985" y="272728"/>
                </a:lnTo>
                <a:lnTo>
                  <a:pt x="524039" y="300360"/>
                </a:lnTo>
                <a:lnTo>
                  <a:pt x="489036" y="329127"/>
                </a:lnTo>
                <a:lnTo>
                  <a:pt x="455003" y="359002"/>
                </a:lnTo>
                <a:lnTo>
                  <a:pt x="421969" y="389958"/>
                </a:lnTo>
                <a:lnTo>
                  <a:pt x="389960" y="421967"/>
                </a:lnTo>
                <a:lnTo>
                  <a:pt x="359004" y="455001"/>
                </a:lnTo>
                <a:lnTo>
                  <a:pt x="329128" y="489034"/>
                </a:lnTo>
                <a:lnTo>
                  <a:pt x="300361" y="524037"/>
                </a:lnTo>
                <a:lnTo>
                  <a:pt x="272729" y="559983"/>
                </a:lnTo>
                <a:lnTo>
                  <a:pt x="246260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5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5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60" y="2174359"/>
                </a:lnTo>
                <a:lnTo>
                  <a:pt x="272729" y="2211220"/>
                </a:lnTo>
                <a:lnTo>
                  <a:pt x="300361" y="2247166"/>
                </a:lnTo>
                <a:lnTo>
                  <a:pt x="329128" y="2282169"/>
                </a:lnTo>
                <a:lnTo>
                  <a:pt x="359004" y="2316202"/>
                </a:lnTo>
                <a:lnTo>
                  <a:pt x="389960" y="2349236"/>
                </a:lnTo>
                <a:lnTo>
                  <a:pt x="421969" y="2381245"/>
                </a:lnTo>
                <a:lnTo>
                  <a:pt x="455003" y="2412201"/>
                </a:lnTo>
                <a:lnTo>
                  <a:pt x="489036" y="2442076"/>
                </a:lnTo>
                <a:lnTo>
                  <a:pt x="524039" y="2470844"/>
                </a:lnTo>
                <a:lnTo>
                  <a:pt x="559985" y="2498476"/>
                </a:lnTo>
                <a:lnTo>
                  <a:pt x="596847" y="2524945"/>
                </a:lnTo>
                <a:lnTo>
                  <a:pt x="634597" y="2550223"/>
                </a:lnTo>
                <a:lnTo>
                  <a:pt x="673207" y="2574284"/>
                </a:lnTo>
                <a:lnTo>
                  <a:pt x="712651" y="2597099"/>
                </a:lnTo>
                <a:lnTo>
                  <a:pt x="752901" y="2618642"/>
                </a:lnTo>
                <a:lnTo>
                  <a:pt x="793929" y="2638884"/>
                </a:lnTo>
                <a:lnTo>
                  <a:pt x="835707" y="2657799"/>
                </a:lnTo>
                <a:lnTo>
                  <a:pt x="878209" y="2675358"/>
                </a:lnTo>
                <a:lnTo>
                  <a:pt x="921407" y="2691535"/>
                </a:lnTo>
                <a:lnTo>
                  <a:pt x="965273" y="2706301"/>
                </a:lnTo>
                <a:lnTo>
                  <a:pt x="1009780" y="2719629"/>
                </a:lnTo>
                <a:lnTo>
                  <a:pt x="1054900" y="2731493"/>
                </a:lnTo>
                <a:lnTo>
                  <a:pt x="1100606" y="2741864"/>
                </a:lnTo>
                <a:lnTo>
                  <a:pt x="1146870" y="2750714"/>
                </a:lnTo>
                <a:lnTo>
                  <a:pt x="1193666" y="2758017"/>
                </a:lnTo>
                <a:lnTo>
                  <a:pt x="1240965" y="2763745"/>
                </a:lnTo>
                <a:lnTo>
                  <a:pt x="1288740" y="2767871"/>
                </a:lnTo>
                <a:lnTo>
                  <a:pt x="1336963" y="2770366"/>
                </a:lnTo>
                <a:lnTo>
                  <a:pt x="1385608" y="2771204"/>
                </a:lnTo>
                <a:lnTo>
                  <a:pt x="1434252" y="2770366"/>
                </a:lnTo>
                <a:lnTo>
                  <a:pt x="1482475" y="2767871"/>
                </a:lnTo>
                <a:lnTo>
                  <a:pt x="1530250" y="2763745"/>
                </a:lnTo>
                <a:lnTo>
                  <a:pt x="1577549" y="2758017"/>
                </a:lnTo>
                <a:lnTo>
                  <a:pt x="1624344" y="2750714"/>
                </a:lnTo>
                <a:lnTo>
                  <a:pt x="1670609" y="2741864"/>
                </a:lnTo>
                <a:lnTo>
                  <a:pt x="1716315" y="2731493"/>
                </a:lnTo>
                <a:lnTo>
                  <a:pt x="1761435" y="2719629"/>
                </a:lnTo>
                <a:lnTo>
                  <a:pt x="1805941" y="2706301"/>
                </a:lnTo>
                <a:lnTo>
                  <a:pt x="1849807" y="2691535"/>
                </a:lnTo>
                <a:lnTo>
                  <a:pt x="1893004" y="2675358"/>
                </a:lnTo>
                <a:lnTo>
                  <a:pt x="1935506" y="2657799"/>
                </a:lnTo>
                <a:lnTo>
                  <a:pt x="1977284" y="2638884"/>
                </a:lnTo>
                <a:lnTo>
                  <a:pt x="2018312" y="2618642"/>
                </a:lnTo>
                <a:lnTo>
                  <a:pt x="2058561" y="2597099"/>
                </a:lnTo>
                <a:lnTo>
                  <a:pt x="2098004" y="2574284"/>
                </a:lnTo>
                <a:lnTo>
                  <a:pt x="2136615" y="2550223"/>
                </a:lnTo>
                <a:lnTo>
                  <a:pt x="2174364" y="2524945"/>
                </a:lnTo>
                <a:lnTo>
                  <a:pt x="2211226" y="2498476"/>
                </a:lnTo>
                <a:lnTo>
                  <a:pt x="2247171" y="2470844"/>
                </a:lnTo>
                <a:lnTo>
                  <a:pt x="2282174" y="2442076"/>
                </a:lnTo>
                <a:lnTo>
                  <a:pt x="2316206" y="2412201"/>
                </a:lnTo>
                <a:lnTo>
                  <a:pt x="2349240" y="2381245"/>
                </a:lnTo>
                <a:lnTo>
                  <a:pt x="2381249" y="2349236"/>
                </a:lnTo>
                <a:lnTo>
                  <a:pt x="2412204" y="2316202"/>
                </a:lnTo>
                <a:lnTo>
                  <a:pt x="2442079" y="2282169"/>
                </a:lnTo>
                <a:lnTo>
                  <a:pt x="2470846" y="2247166"/>
                </a:lnTo>
                <a:lnTo>
                  <a:pt x="2498478" y="2211220"/>
                </a:lnTo>
                <a:lnTo>
                  <a:pt x="2524947" y="2174359"/>
                </a:lnTo>
                <a:lnTo>
                  <a:pt x="2550225" y="2136609"/>
                </a:lnTo>
                <a:lnTo>
                  <a:pt x="2574286" y="2097998"/>
                </a:lnTo>
                <a:lnTo>
                  <a:pt x="2597101" y="2058555"/>
                </a:lnTo>
                <a:lnTo>
                  <a:pt x="2618643" y="2018305"/>
                </a:lnTo>
                <a:lnTo>
                  <a:pt x="2638885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2" y="1716308"/>
                </a:lnTo>
                <a:lnTo>
                  <a:pt x="2741863" y="1670602"/>
                </a:lnTo>
                <a:lnTo>
                  <a:pt x="2750713" y="1624337"/>
                </a:lnTo>
                <a:lnTo>
                  <a:pt x="2758016" y="1577542"/>
                </a:lnTo>
                <a:lnTo>
                  <a:pt x="2763744" y="1530243"/>
                </a:lnTo>
                <a:lnTo>
                  <a:pt x="2767870" y="1482469"/>
                </a:lnTo>
                <a:lnTo>
                  <a:pt x="2770365" y="1434245"/>
                </a:lnTo>
                <a:lnTo>
                  <a:pt x="2771203" y="1385601"/>
                </a:lnTo>
                <a:lnTo>
                  <a:pt x="2770365" y="1336957"/>
                </a:lnTo>
                <a:lnTo>
                  <a:pt x="2767870" y="1288734"/>
                </a:lnTo>
                <a:lnTo>
                  <a:pt x="2763744" y="1240959"/>
                </a:lnTo>
                <a:lnTo>
                  <a:pt x="2758016" y="1193660"/>
                </a:lnTo>
                <a:lnTo>
                  <a:pt x="2750713" y="1146865"/>
                </a:lnTo>
                <a:lnTo>
                  <a:pt x="2741863" y="1100601"/>
                </a:lnTo>
                <a:lnTo>
                  <a:pt x="2731492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5" y="793925"/>
                </a:lnTo>
                <a:lnTo>
                  <a:pt x="2618643" y="752898"/>
                </a:lnTo>
                <a:lnTo>
                  <a:pt x="2597101" y="712648"/>
                </a:lnTo>
                <a:lnTo>
                  <a:pt x="2574286" y="673205"/>
                </a:lnTo>
                <a:lnTo>
                  <a:pt x="2550225" y="634594"/>
                </a:lnTo>
                <a:lnTo>
                  <a:pt x="2524947" y="596844"/>
                </a:lnTo>
                <a:lnTo>
                  <a:pt x="2498478" y="559983"/>
                </a:lnTo>
                <a:lnTo>
                  <a:pt x="2470846" y="524037"/>
                </a:lnTo>
                <a:lnTo>
                  <a:pt x="2442079" y="489034"/>
                </a:lnTo>
                <a:lnTo>
                  <a:pt x="2412204" y="455001"/>
                </a:lnTo>
                <a:lnTo>
                  <a:pt x="2381249" y="421967"/>
                </a:lnTo>
                <a:lnTo>
                  <a:pt x="2349240" y="389958"/>
                </a:lnTo>
                <a:lnTo>
                  <a:pt x="2316206" y="359002"/>
                </a:lnTo>
                <a:lnTo>
                  <a:pt x="2282174" y="329127"/>
                </a:lnTo>
                <a:lnTo>
                  <a:pt x="2247171" y="300360"/>
                </a:lnTo>
                <a:lnTo>
                  <a:pt x="2211226" y="272728"/>
                </a:lnTo>
                <a:lnTo>
                  <a:pt x="2174364" y="246259"/>
                </a:lnTo>
                <a:lnTo>
                  <a:pt x="2136615" y="220980"/>
                </a:lnTo>
                <a:lnTo>
                  <a:pt x="2098004" y="196919"/>
                </a:lnTo>
                <a:lnTo>
                  <a:pt x="2058561" y="174104"/>
                </a:lnTo>
                <a:lnTo>
                  <a:pt x="2018312" y="152562"/>
                </a:lnTo>
                <a:lnTo>
                  <a:pt x="1977284" y="132319"/>
                </a:lnTo>
                <a:lnTo>
                  <a:pt x="1935506" y="113405"/>
                </a:lnTo>
                <a:lnTo>
                  <a:pt x="1893004" y="95846"/>
                </a:lnTo>
                <a:lnTo>
                  <a:pt x="1849807" y="79669"/>
                </a:lnTo>
                <a:lnTo>
                  <a:pt x="1805941" y="64903"/>
                </a:lnTo>
                <a:lnTo>
                  <a:pt x="1761435" y="51574"/>
                </a:lnTo>
                <a:lnTo>
                  <a:pt x="1716315" y="39711"/>
                </a:lnTo>
                <a:lnTo>
                  <a:pt x="1670609" y="29340"/>
                </a:lnTo>
                <a:lnTo>
                  <a:pt x="1624344" y="20489"/>
                </a:lnTo>
                <a:lnTo>
                  <a:pt x="1577549" y="13186"/>
                </a:lnTo>
                <a:lnTo>
                  <a:pt x="1530250" y="7458"/>
                </a:lnTo>
                <a:lnTo>
                  <a:pt x="1482475" y="3333"/>
                </a:lnTo>
                <a:lnTo>
                  <a:pt x="1434252" y="837"/>
                </a:lnTo>
                <a:lnTo>
                  <a:pt x="1385608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63320" y="3842003"/>
            <a:ext cx="1777364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034" marR="5080" indent="-13970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Diffusion 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1992" y="1066800"/>
            <a:ext cx="416687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ODE</a:t>
            </a:r>
            <a:r>
              <a:rPr spc="-85" dirty="0"/>
              <a:t> </a:t>
            </a:r>
            <a:r>
              <a:rPr spc="-10" dirty="0"/>
              <a:t>Distillation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13250" y="3036760"/>
            <a:ext cx="7510145" cy="3170555"/>
            <a:chOff x="5213250" y="3036760"/>
            <a:chExt cx="7510145" cy="31705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57295" y="3071685"/>
              <a:ext cx="1030725" cy="293999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639833" y="3054223"/>
              <a:ext cx="1066165" cy="2974975"/>
            </a:xfrm>
            <a:custGeom>
              <a:avLst/>
              <a:gdLst/>
              <a:ahLst/>
              <a:cxnLst/>
              <a:rect l="l" t="t" r="r" b="b"/>
              <a:pathLst>
                <a:path w="1066165" h="2974975">
                  <a:moveTo>
                    <a:pt x="1065650" y="0"/>
                  </a:moveTo>
                  <a:lnTo>
                    <a:pt x="1065650" y="2974916"/>
                  </a:lnTo>
                  <a:lnTo>
                    <a:pt x="0" y="2974916"/>
                  </a:lnTo>
                  <a:lnTo>
                    <a:pt x="0" y="0"/>
                  </a:lnTo>
                  <a:lnTo>
                    <a:pt x="1065650" y="0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48175" y="3073515"/>
              <a:ext cx="1013029" cy="293999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30712" y="3056051"/>
              <a:ext cx="1062355" cy="2974975"/>
            </a:xfrm>
            <a:custGeom>
              <a:avLst/>
              <a:gdLst/>
              <a:ahLst/>
              <a:cxnLst/>
              <a:rect l="l" t="t" r="r" b="b"/>
              <a:pathLst>
                <a:path w="1062354" h="2974975">
                  <a:moveTo>
                    <a:pt x="1062090" y="2974918"/>
                  </a:moveTo>
                  <a:lnTo>
                    <a:pt x="1062090" y="0"/>
                  </a:lnTo>
                  <a:lnTo>
                    <a:pt x="0" y="0"/>
                  </a:lnTo>
                  <a:lnTo>
                    <a:pt x="0" y="2974918"/>
                  </a:lnTo>
                  <a:lnTo>
                    <a:pt x="1062090" y="2974918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76657" y="6073689"/>
              <a:ext cx="4380230" cy="133350"/>
            </a:xfrm>
            <a:custGeom>
              <a:avLst/>
              <a:gdLst/>
              <a:ahLst/>
              <a:cxnLst/>
              <a:rect l="l" t="t" r="r" b="b"/>
              <a:pathLst>
                <a:path w="4380230" h="133350">
                  <a:moveTo>
                    <a:pt x="133350" y="0"/>
                  </a:moveTo>
                  <a:lnTo>
                    <a:pt x="0" y="66675"/>
                  </a:lnTo>
                  <a:lnTo>
                    <a:pt x="133350" y="133350"/>
                  </a:lnTo>
                  <a:lnTo>
                    <a:pt x="133350" y="88900"/>
                  </a:lnTo>
                  <a:lnTo>
                    <a:pt x="111123" y="88900"/>
                  </a:lnTo>
                  <a:lnTo>
                    <a:pt x="111123" y="44450"/>
                  </a:lnTo>
                  <a:lnTo>
                    <a:pt x="133350" y="44450"/>
                  </a:lnTo>
                  <a:lnTo>
                    <a:pt x="133350" y="0"/>
                  </a:lnTo>
                  <a:close/>
                </a:path>
                <a:path w="4380230" h="133350">
                  <a:moveTo>
                    <a:pt x="133350" y="44450"/>
                  </a:moveTo>
                  <a:lnTo>
                    <a:pt x="111123" y="44450"/>
                  </a:lnTo>
                  <a:lnTo>
                    <a:pt x="111123" y="88900"/>
                  </a:lnTo>
                  <a:lnTo>
                    <a:pt x="133350" y="88900"/>
                  </a:lnTo>
                  <a:lnTo>
                    <a:pt x="133350" y="44450"/>
                  </a:lnTo>
                  <a:close/>
                </a:path>
                <a:path w="4380230" h="133350">
                  <a:moveTo>
                    <a:pt x="4379747" y="44450"/>
                  </a:moveTo>
                  <a:lnTo>
                    <a:pt x="133350" y="44450"/>
                  </a:lnTo>
                  <a:lnTo>
                    <a:pt x="133350" y="88900"/>
                  </a:lnTo>
                  <a:lnTo>
                    <a:pt x="4379747" y="88900"/>
                  </a:lnTo>
                  <a:lnTo>
                    <a:pt x="4379747" y="4445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955430" y="6196076"/>
            <a:ext cx="4022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Generation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Reverse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74851" y="6021567"/>
            <a:ext cx="7962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20" dirty="0">
                <a:latin typeface="Cambria"/>
                <a:cs typeface="Cambria"/>
              </a:rPr>
              <a:t>q</a:t>
            </a:r>
            <a:r>
              <a:rPr sz="2450" spc="120" dirty="0">
                <a:latin typeface="Calibri"/>
                <a:cs typeface="Calibri"/>
              </a:rPr>
              <a:t>(</a:t>
            </a:r>
            <a:r>
              <a:rPr sz="2450" b="1" spc="120" dirty="0">
                <a:latin typeface="Calibri"/>
                <a:cs typeface="Calibri"/>
              </a:rPr>
              <a:t>x</a:t>
            </a:r>
            <a:r>
              <a:rPr sz="2550" spc="179" baseline="-11437" dirty="0">
                <a:latin typeface="Verdana"/>
                <a:cs typeface="Verdana"/>
              </a:rPr>
              <a:t>0</a:t>
            </a:r>
            <a:r>
              <a:rPr sz="2450" spc="120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54099" y="6021567"/>
            <a:ext cx="85280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90" dirty="0">
                <a:latin typeface="Cambria"/>
                <a:cs typeface="Cambria"/>
              </a:rPr>
              <a:t>q</a:t>
            </a:r>
            <a:r>
              <a:rPr sz="2450" spc="190" dirty="0">
                <a:latin typeface="Calibri"/>
                <a:cs typeface="Calibri"/>
              </a:rPr>
              <a:t>(</a:t>
            </a:r>
            <a:r>
              <a:rPr sz="2450" b="1" spc="190" dirty="0">
                <a:latin typeface="Calibri"/>
                <a:cs typeface="Calibri"/>
              </a:rPr>
              <a:t>x</a:t>
            </a:r>
            <a:r>
              <a:rPr sz="2550" i="1" spc="284" baseline="-11437" dirty="0">
                <a:latin typeface="Calibri"/>
                <a:cs typeface="Calibri"/>
              </a:rPr>
              <a:t>T</a:t>
            </a:r>
            <a:r>
              <a:rPr sz="2550" i="1" spc="22" baseline="-11437" dirty="0">
                <a:latin typeface="Calibri"/>
                <a:cs typeface="Calibri"/>
              </a:rPr>
              <a:t> </a:t>
            </a:r>
            <a:r>
              <a:rPr sz="2450" spc="155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72931" y="2965871"/>
            <a:ext cx="5393690" cy="3140075"/>
            <a:chOff x="6272931" y="2965871"/>
            <a:chExt cx="5393690" cy="3140075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2931" y="2965871"/>
              <a:ext cx="5393284" cy="313963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64634" y="5026903"/>
              <a:ext cx="182879" cy="1828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62472" y="4960620"/>
              <a:ext cx="182880" cy="1828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04931" y="5221072"/>
              <a:ext cx="304800" cy="228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1391" y="5253549"/>
              <a:ext cx="381000" cy="266700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5003031" y="7044435"/>
            <a:ext cx="62096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Trebuchet MS"/>
                <a:cs typeface="Trebuchet MS"/>
              </a:rPr>
              <a:t>Can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we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train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neural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network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to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dirty="0">
                <a:latin typeface="Trebuchet MS"/>
                <a:cs typeface="Trebuchet MS"/>
              </a:rPr>
              <a:t>directly</a:t>
            </a:r>
            <a:r>
              <a:rPr sz="2200" spc="-30" dirty="0">
                <a:latin typeface="Trebuchet MS"/>
                <a:cs typeface="Trebuchet MS"/>
              </a:rPr>
              <a:t> </a:t>
            </a:r>
            <a:r>
              <a:rPr sz="2200" spc="-10" dirty="0">
                <a:latin typeface="Trebuchet MS"/>
                <a:cs typeface="Trebuchet MS"/>
              </a:rPr>
              <a:t>predict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692997" y="7044435"/>
            <a:ext cx="12096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3470" algn="l"/>
              </a:tabLst>
            </a:pPr>
            <a:r>
              <a:rPr sz="2200" spc="-10" dirty="0">
                <a:latin typeface="Trebuchet MS"/>
                <a:cs typeface="Trebuchet MS"/>
              </a:rPr>
              <a:t>given</a:t>
            </a:r>
            <a:r>
              <a:rPr sz="2200" dirty="0">
                <a:latin typeface="Trebuchet MS"/>
                <a:cs typeface="Trebuchet MS"/>
              </a:rPr>
              <a:t>	</a:t>
            </a:r>
            <a:r>
              <a:rPr sz="2200" spc="-50" dirty="0">
                <a:latin typeface="Trebuchet MS"/>
                <a:cs typeface="Trebuchet MS"/>
              </a:rPr>
              <a:t>?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77569" y="7177913"/>
            <a:ext cx="343060" cy="24014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423182" y="7176756"/>
            <a:ext cx="273594" cy="198978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60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07112" y="1066800"/>
            <a:ext cx="607187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Progressive</a:t>
            </a:r>
            <a:r>
              <a:rPr spc="-350" dirty="0"/>
              <a:t> </a:t>
            </a:r>
            <a:r>
              <a:rPr spc="-10" dirty="0"/>
              <a:t>Distillation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4896" y="4863910"/>
            <a:ext cx="7764514" cy="373533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710469" y="2252472"/>
            <a:ext cx="14669769" cy="2116455"/>
          </a:xfrm>
          <a:prstGeom prst="rect">
            <a:avLst/>
          </a:prstGeom>
        </p:spPr>
        <p:txBody>
          <a:bodyPr vert="horz" wrap="square" lIns="0" tIns="18034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Distill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deterministic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ODE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sampler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same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architecture.</a:t>
            </a:r>
            <a:endParaRPr sz="2300">
              <a:latin typeface="Trebuchet MS"/>
              <a:cs typeface="Trebuchet MS"/>
            </a:endParaRPr>
          </a:p>
          <a:p>
            <a:pPr marL="355600" marR="5080" indent="-342900">
              <a:lnSpc>
                <a:spcPts val="4200"/>
              </a:lnSpc>
              <a:spcBef>
                <a:spcPts val="259"/>
              </a:spcBef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rebuchet MS"/>
                <a:cs typeface="Trebuchet MS"/>
              </a:rPr>
              <a:t>At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each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stage,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“student”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learned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distill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two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adjacent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sampling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steps</a:t>
            </a:r>
            <a:r>
              <a:rPr sz="2300" spc="-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“teacher”</a:t>
            </a:r>
            <a:r>
              <a:rPr sz="2300" spc="-6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to </a:t>
            </a:r>
            <a:r>
              <a:rPr sz="2300" dirty="0">
                <a:latin typeface="Trebuchet MS"/>
                <a:cs typeface="Trebuchet MS"/>
              </a:rPr>
              <a:t>one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sampling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step.</a:t>
            </a: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At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next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stage,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“student”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from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previous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stage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will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serve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as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new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“teacher”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model.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2368" y="9015983"/>
            <a:ext cx="225361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Distillation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stage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70281" y="9188270"/>
            <a:ext cx="3615054" cy="76200"/>
          </a:xfrm>
          <a:custGeom>
            <a:avLst/>
            <a:gdLst/>
            <a:ahLst/>
            <a:cxnLst/>
            <a:rect l="l" t="t" r="r" b="b"/>
            <a:pathLst>
              <a:path w="3615054" h="76200">
                <a:moveTo>
                  <a:pt x="3538838" y="0"/>
                </a:moveTo>
                <a:lnTo>
                  <a:pt x="3538838" y="76200"/>
                </a:lnTo>
                <a:lnTo>
                  <a:pt x="3595988" y="47625"/>
                </a:lnTo>
                <a:lnTo>
                  <a:pt x="3551543" y="47625"/>
                </a:lnTo>
                <a:lnTo>
                  <a:pt x="3551543" y="28575"/>
                </a:lnTo>
                <a:lnTo>
                  <a:pt x="3595988" y="28575"/>
                </a:lnTo>
                <a:lnTo>
                  <a:pt x="3538838" y="0"/>
                </a:lnTo>
                <a:close/>
              </a:path>
              <a:path w="3615054" h="76200">
                <a:moveTo>
                  <a:pt x="3538838" y="28575"/>
                </a:moveTo>
                <a:lnTo>
                  <a:pt x="0" y="28575"/>
                </a:lnTo>
                <a:lnTo>
                  <a:pt x="0" y="47625"/>
                </a:lnTo>
                <a:lnTo>
                  <a:pt x="3538838" y="47625"/>
                </a:lnTo>
                <a:lnTo>
                  <a:pt x="3538838" y="28575"/>
                </a:lnTo>
                <a:close/>
              </a:path>
              <a:path w="3615054" h="76200">
                <a:moveTo>
                  <a:pt x="3595988" y="28575"/>
                </a:moveTo>
                <a:lnTo>
                  <a:pt x="3551543" y="28575"/>
                </a:lnTo>
                <a:lnTo>
                  <a:pt x="3551543" y="47625"/>
                </a:lnTo>
                <a:lnTo>
                  <a:pt x="3595988" y="47625"/>
                </a:lnTo>
                <a:lnTo>
                  <a:pt x="3615038" y="38100"/>
                </a:lnTo>
                <a:lnTo>
                  <a:pt x="3595988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26440" y="9715228"/>
            <a:ext cx="93091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Salimans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&amp;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Ho,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“Progressive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distillation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for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fast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sampling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of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diffusion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models”,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ICLR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2022.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61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1779" y="2835169"/>
            <a:ext cx="16391051" cy="62797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9464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Progressive</a:t>
            </a:r>
            <a:r>
              <a:rPr spc="-215" dirty="0"/>
              <a:t> </a:t>
            </a:r>
            <a:r>
              <a:rPr dirty="0"/>
              <a:t>Distillation</a:t>
            </a:r>
            <a:r>
              <a:rPr spc="-220" dirty="0"/>
              <a:t> </a:t>
            </a:r>
            <a:r>
              <a:rPr dirty="0"/>
              <a:t>in</a:t>
            </a:r>
            <a:r>
              <a:rPr spc="-215" dirty="0"/>
              <a:t> </a:t>
            </a:r>
            <a:r>
              <a:rPr dirty="0"/>
              <a:t>Latent</a:t>
            </a:r>
            <a:r>
              <a:rPr spc="-215" dirty="0"/>
              <a:t> </a:t>
            </a:r>
            <a:r>
              <a:rPr spc="-10" dirty="0"/>
              <a:t>Space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26440" y="9640925"/>
            <a:ext cx="7947659" cy="2692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Meng</a:t>
            </a:r>
            <a:r>
              <a:rPr sz="1600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et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al.,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"On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Distillation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of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Guided</a:t>
            </a:r>
            <a:r>
              <a:rPr sz="1600" u="sng" spc="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Diffusion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Models",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spc="7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CVPR</a:t>
            </a:r>
            <a:r>
              <a:rPr sz="16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2023</a:t>
            </a:r>
            <a:r>
              <a:rPr sz="16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(Award</a:t>
            </a:r>
            <a:r>
              <a:rPr sz="1600" u="sng" spc="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6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Candidate)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5035550">
              <a:lnSpc>
                <a:spcPct val="100000"/>
              </a:lnSpc>
              <a:spcBef>
                <a:spcPts val="100"/>
              </a:spcBef>
            </a:pPr>
            <a:r>
              <a:rPr dirty="0"/>
              <a:t>Consistency</a:t>
            </a:r>
            <a:r>
              <a:rPr spc="-225" dirty="0"/>
              <a:t> </a:t>
            </a:r>
            <a:r>
              <a:rPr spc="-10" dirty="0"/>
              <a:t>Distillation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50740" y="6646164"/>
            <a:ext cx="7291070" cy="240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46760">
              <a:lnSpc>
                <a:spcPct val="150000"/>
              </a:lnSpc>
              <a:spcBef>
                <a:spcPts val="100"/>
              </a:spcBef>
              <a:tabLst>
                <a:tab pos="2074545" algn="l"/>
              </a:tabLst>
            </a:pPr>
            <a:r>
              <a:rPr sz="2000" dirty="0">
                <a:latin typeface="Trebuchet MS"/>
                <a:cs typeface="Trebuchet MS"/>
              </a:rPr>
              <a:t>Points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on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same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trajectory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should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generated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same </a:t>
            </a:r>
            <a:r>
              <a:rPr sz="2000" spc="-10" dirty="0">
                <a:latin typeface="Trebuchet MS"/>
                <a:cs typeface="Trebuchet MS"/>
              </a:rPr>
              <a:t>Assume</a:t>
            </a:r>
            <a:r>
              <a:rPr sz="2000" dirty="0">
                <a:latin typeface="Trebuchet MS"/>
                <a:cs typeface="Trebuchet MS"/>
              </a:rPr>
              <a:t>	is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the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current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estimation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Trebuchet MS"/>
                <a:cs typeface="Trebuchet MS"/>
              </a:rPr>
              <a:t>Basic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rebuchet MS"/>
                <a:cs typeface="Trebuchet MS"/>
              </a:rPr>
              <a:t>idea: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700"/>
              </a:spcBef>
              <a:buFont typeface="Arial MT"/>
              <a:buChar char="•"/>
              <a:tabLst>
                <a:tab pos="354965" algn="l"/>
                <a:tab pos="1313815" algn="l"/>
                <a:tab pos="2259965" algn="l"/>
              </a:tabLst>
            </a:pPr>
            <a:r>
              <a:rPr sz="2000" spc="-20" dirty="0">
                <a:latin typeface="Trebuchet MS"/>
                <a:cs typeface="Trebuchet MS"/>
              </a:rPr>
              <a:t>Find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25" dirty="0">
                <a:latin typeface="Trebuchet MS"/>
                <a:cs typeface="Trebuchet MS"/>
              </a:rPr>
              <a:t>and</a:t>
            </a:r>
            <a:r>
              <a:rPr sz="2000" dirty="0">
                <a:latin typeface="Trebuchet MS"/>
                <a:cs typeface="Trebuchet MS"/>
              </a:rPr>
              <a:t>	on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trajectory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by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solving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generative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ODE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spc="-25" dirty="0">
                <a:latin typeface="Trebuchet MS"/>
                <a:cs typeface="Trebuchet MS"/>
              </a:rPr>
              <a:t>in</a:t>
            </a:r>
            <a:endParaRPr sz="20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139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latin typeface="Trebuchet MS"/>
                <a:cs typeface="Trebuchet MS"/>
              </a:rPr>
              <a:t>Minimize: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7678" y="8352521"/>
            <a:ext cx="345688" cy="2419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7657" y="8352459"/>
            <a:ext cx="276550" cy="2074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36233" y="6919381"/>
            <a:ext cx="311120" cy="2074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1083" y="7284498"/>
            <a:ext cx="994091" cy="31219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921797" y="7383204"/>
            <a:ext cx="311119" cy="2074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40521" y="8991179"/>
            <a:ext cx="4251971" cy="55310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88327" y="8219364"/>
            <a:ext cx="542104" cy="36422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390420" y="2793200"/>
            <a:ext cx="9611628" cy="343023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69065" y="9724588"/>
            <a:ext cx="4027804" cy="2527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870"/>
              </a:lnSpc>
            </a:pP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Song</a:t>
            </a:r>
            <a:r>
              <a:rPr sz="16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et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al.,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Consistency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Models,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ICML</a:t>
            </a:r>
            <a:r>
              <a:rPr sz="1600" u="sng" spc="-8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 </a:t>
            </a:r>
            <a:r>
              <a:rPr sz="16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Arial MT"/>
                <a:cs typeface="Arial MT"/>
                <a:hlinkClick r:id="rId9"/>
              </a:rPr>
              <a:t>2023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63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65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213250" y="2922245"/>
            <a:ext cx="7510145" cy="3284854"/>
            <a:chOff x="5213250" y="2922245"/>
            <a:chExt cx="7510145" cy="328485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285631" y="2922245"/>
              <a:ext cx="5441991" cy="318823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57295" y="3071685"/>
              <a:ext cx="1030725" cy="2939991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1639833" y="3054223"/>
              <a:ext cx="1066165" cy="2974975"/>
            </a:xfrm>
            <a:custGeom>
              <a:avLst/>
              <a:gdLst/>
              <a:ahLst/>
              <a:cxnLst/>
              <a:rect l="l" t="t" r="r" b="b"/>
              <a:pathLst>
                <a:path w="1066165" h="2974975">
                  <a:moveTo>
                    <a:pt x="1065650" y="0"/>
                  </a:moveTo>
                  <a:lnTo>
                    <a:pt x="1065650" y="2974916"/>
                  </a:lnTo>
                  <a:lnTo>
                    <a:pt x="0" y="2974916"/>
                  </a:lnTo>
                  <a:lnTo>
                    <a:pt x="0" y="0"/>
                  </a:lnTo>
                  <a:lnTo>
                    <a:pt x="1065650" y="0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8175" y="3073515"/>
              <a:ext cx="1013029" cy="29399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230712" y="3056051"/>
              <a:ext cx="1062355" cy="2974975"/>
            </a:xfrm>
            <a:custGeom>
              <a:avLst/>
              <a:gdLst/>
              <a:ahLst/>
              <a:cxnLst/>
              <a:rect l="l" t="t" r="r" b="b"/>
              <a:pathLst>
                <a:path w="1062354" h="2974975">
                  <a:moveTo>
                    <a:pt x="1062090" y="2974918"/>
                  </a:moveTo>
                  <a:lnTo>
                    <a:pt x="1062090" y="0"/>
                  </a:lnTo>
                  <a:lnTo>
                    <a:pt x="0" y="0"/>
                  </a:lnTo>
                  <a:lnTo>
                    <a:pt x="0" y="2974918"/>
                  </a:lnTo>
                  <a:lnTo>
                    <a:pt x="1062090" y="2974918"/>
                  </a:lnTo>
                  <a:close/>
                </a:path>
              </a:pathLst>
            </a:custGeom>
            <a:ln w="349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776657" y="6073689"/>
              <a:ext cx="4380230" cy="133350"/>
            </a:xfrm>
            <a:custGeom>
              <a:avLst/>
              <a:gdLst/>
              <a:ahLst/>
              <a:cxnLst/>
              <a:rect l="l" t="t" r="r" b="b"/>
              <a:pathLst>
                <a:path w="4380230" h="133350">
                  <a:moveTo>
                    <a:pt x="133350" y="0"/>
                  </a:moveTo>
                  <a:lnTo>
                    <a:pt x="0" y="66675"/>
                  </a:lnTo>
                  <a:lnTo>
                    <a:pt x="133350" y="133350"/>
                  </a:lnTo>
                  <a:lnTo>
                    <a:pt x="133350" y="88900"/>
                  </a:lnTo>
                  <a:lnTo>
                    <a:pt x="111123" y="88900"/>
                  </a:lnTo>
                  <a:lnTo>
                    <a:pt x="111123" y="44450"/>
                  </a:lnTo>
                  <a:lnTo>
                    <a:pt x="133350" y="44450"/>
                  </a:lnTo>
                  <a:lnTo>
                    <a:pt x="133350" y="0"/>
                  </a:lnTo>
                  <a:close/>
                </a:path>
                <a:path w="4380230" h="133350">
                  <a:moveTo>
                    <a:pt x="133350" y="44450"/>
                  </a:moveTo>
                  <a:lnTo>
                    <a:pt x="111123" y="44450"/>
                  </a:lnTo>
                  <a:lnTo>
                    <a:pt x="111123" y="88900"/>
                  </a:lnTo>
                  <a:lnTo>
                    <a:pt x="133350" y="88900"/>
                  </a:lnTo>
                  <a:lnTo>
                    <a:pt x="133350" y="44450"/>
                  </a:lnTo>
                  <a:close/>
                </a:path>
                <a:path w="4380230" h="133350">
                  <a:moveTo>
                    <a:pt x="4379747" y="44450"/>
                  </a:moveTo>
                  <a:lnTo>
                    <a:pt x="133350" y="44450"/>
                  </a:lnTo>
                  <a:lnTo>
                    <a:pt x="133350" y="88900"/>
                  </a:lnTo>
                  <a:lnTo>
                    <a:pt x="4379747" y="88900"/>
                  </a:lnTo>
                  <a:lnTo>
                    <a:pt x="4379747" y="4445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108065">
              <a:lnSpc>
                <a:spcPct val="100000"/>
              </a:lnSpc>
              <a:spcBef>
                <a:spcPts val="100"/>
              </a:spcBef>
            </a:pPr>
            <a:r>
              <a:rPr dirty="0"/>
              <a:t>SDE</a:t>
            </a:r>
            <a:r>
              <a:rPr spc="-135" dirty="0"/>
              <a:t> </a:t>
            </a:r>
            <a:r>
              <a:rPr spc="-10" dirty="0"/>
              <a:t>Distillation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955430" y="6196076"/>
            <a:ext cx="40220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Generation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Reverse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Diffusion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SDE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74851" y="6021567"/>
            <a:ext cx="79629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20" dirty="0">
                <a:latin typeface="Cambria"/>
                <a:cs typeface="Cambria"/>
              </a:rPr>
              <a:t>q</a:t>
            </a:r>
            <a:r>
              <a:rPr sz="2450" spc="120" dirty="0">
                <a:latin typeface="Calibri"/>
                <a:cs typeface="Calibri"/>
              </a:rPr>
              <a:t>(</a:t>
            </a:r>
            <a:r>
              <a:rPr sz="2450" b="1" spc="120" dirty="0">
                <a:latin typeface="Calibri"/>
                <a:cs typeface="Calibri"/>
              </a:rPr>
              <a:t>x</a:t>
            </a:r>
            <a:r>
              <a:rPr sz="2550" spc="179" baseline="-11437" dirty="0">
                <a:latin typeface="Verdana"/>
                <a:cs typeface="Verdana"/>
              </a:rPr>
              <a:t>0</a:t>
            </a:r>
            <a:r>
              <a:rPr sz="2450" spc="120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754099" y="6021567"/>
            <a:ext cx="85280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450" i="1" spc="190" dirty="0">
                <a:latin typeface="Cambria"/>
                <a:cs typeface="Cambria"/>
              </a:rPr>
              <a:t>q</a:t>
            </a:r>
            <a:r>
              <a:rPr sz="2450" spc="190" dirty="0">
                <a:latin typeface="Calibri"/>
                <a:cs typeface="Calibri"/>
              </a:rPr>
              <a:t>(</a:t>
            </a:r>
            <a:r>
              <a:rPr sz="2450" b="1" spc="190" dirty="0">
                <a:latin typeface="Calibri"/>
                <a:cs typeface="Calibri"/>
              </a:rPr>
              <a:t>x</a:t>
            </a:r>
            <a:r>
              <a:rPr sz="2550" i="1" spc="284" baseline="-11437" dirty="0">
                <a:latin typeface="Calibri"/>
                <a:cs typeface="Calibri"/>
              </a:rPr>
              <a:t>T</a:t>
            </a:r>
            <a:r>
              <a:rPr sz="2550" i="1" spc="22" baseline="-11437" dirty="0">
                <a:latin typeface="Calibri"/>
                <a:cs typeface="Calibri"/>
              </a:rPr>
              <a:t> </a:t>
            </a:r>
            <a:r>
              <a:rPr sz="2450" spc="155" dirty="0">
                <a:latin typeface="Calibri"/>
                <a:cs typeface="Calibri"/>
              </a:rPr>
              <a:t>)</a:t>
            </a:r>
            <a:endParaRPr sz="24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272931" y="3046074"/>
            <a:ext cx="5379085" cy="2991485"/>
            <a:chOff x="6272931" y="3046074"/>
            <a:chExt cx="5379085" cy="2991485"/>
          </a:xfrm>
        </p:grpSpPr>
        <p:sp>
          <p:nvSpPr>
            <p:cNvPr id="15" name="object 15"/>
            <p:cNvSpPr/>
            <p:nvPr/>
          </p:nvSpPr>
          <p:spPr>
            <a:xfrm>
              <a:off x="6285631" y="3058774"/>
              <a:ext cx="5353685" cy="2966085"/>
            </a:xfrm>
            <a:custGeom>
              <a:avLst/>
              <a:gdLst/>
              <a:ahLst/>
              <a:cxnLst/>
              <a:rect l="l" t="t" r="r" b="b"/>
              <a:pathLst>
                <a:path w="5353684" h="2966085">
                  <a:moveTo>
                    <a:pt x="0" y="0"/>
                  </a:moveTo>
                  <a:lnTo>
                    <a:pt x="5353327" y="0"/>
                  </a:lnTo>
                  <a:lnTo>
                    <a:pt x="5353327" y="2965812"/>
                  </a:lnTo>
                  <a:lnTo>
                    <a:pt x="0" y="296581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16242" y="4462043"/>
              <a:ext cx="182879" cy="18288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62472" y="4960620"/>
              <a:ext cx="182880" cy="1828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04931" y="5221072"/>
              <a:ext cx="304800" cy="2286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63000" y="4688687"/>
              <a:ext cx="381000" cy="2667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338520" y="7146035"/>
            <a:ext cx="7340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Trebuchet MS"/>
                <a:cs typeface="Trebuchet MS"/>
              </a:rPr>
              <a:t>Can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we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train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neural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network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to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directly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predict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solidFill>
                  <a:srgbClr val="FF0000"/>
                </a:solidFill>
                <a:latin typeface="Trebuchet MS"/>
                <a:cs typeface="Trebuchet MS"/>
              </a:rPr>
              <a:t>distribution</a:t>
            </a:r>
            <a:r>
              <a:rPr sz="2000" spc="-4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Trebuchet MS"/>
                <a:cs typeface="Trebuchet MS"/>
              </a:rPr>
              <a:t>of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187120" y="7146035"/>
            <a:ext cx="10998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3775" algn="l"/>
              </a:tabLst>
            </a:pPr>
            <a:r>
              <a:rPr sz="2000" spc="-10" dirty="0">
                <a:latin typeface="Trebuchet MS"/>
                <a:cs typeface="Trebuchet MS"/>
              </a:rPr>
              <a:t>given</a:t>
            </a:r>
            <a:r>
              <a:rPr sz="2000" dirty="0">
                <a:latin typeface="Trebuchet MS"/>
                <a:cs typeface="Trebuchet MS"/>
              </a:rPr>
              <a:t>	</a:t>
            </a:r>
            <a:r>
              <a:rPr sz="2000" spc="-50" dirty="0">
                <a:latin typeface="Trebuchet MS"/>
                <a:cs typeface="Trebuchet MS"/>
              </a:rPr>
              <a:t>?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717082" y="7276889"/>
            <a:ext cx="343060" cy="240142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2839306" y="7268309"/>
            <a:ext cx="288861" cy="21008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437235" y="9293352"/>
            <a:ext cx="4571365" cy="704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Trebuchet MS"/>
                <a:cs typeface="Trebuchet MS"/>
              </a:rPr>
              <a:t>Energy-</a:t>
            </a:r>
            <a:r>
              <a:rPr sz="2300" dirty="0">
                <a:latin typeface="Trebuchet MS"/>
                <a:cs typeface="Trebuchet MS"/>
              </a:rPr>
              <a:t>based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Gao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et</a:t>
            </a:r>
            <a:r>
              <a:rPr sz="2300" spc="-4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al.</a:t>
            </a:r>
            <a:endParaRPr sz="2300">
              <a:latin typeface="Trebuchet MS"/>
              <a:cs typeface="Trebuchet MS"/>
            </a:endParaRPr>
          </a:p>
          <a:p>
            <a:pPr marR="1216660" algn="r">
              <a:lnSpc>
                <a:spcPct val="100000"/>
              </a:lnSpc>
              <a:spcBef>
                <a:spcPts val="1145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66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258695">
              <a:lnSpc>
                <a:spcPct val="100000"/>
              </a:lnSpc>
              <a:spcBef>
                <a:spcPts val="100"/>
              </a:spcBef>
            </a:pPr>
            <a:r>
              <a:rPr dirty="0"/>
              <a:t>Advanced</a:t>
            </a:r>
            <a:r>
              <a:rPr spc="-200" dirty="0"/>
              <a:t> </a:t>
            </a:r>
            <a:r>
              <a:rPr dirty="0"/>
              <a:t>Approximation</a:t>
            </a:r>
            <a:r>
              <a:rPr spc="-200" dirty="0"/>
              <a:t> </a:t>
            </a:r>
            <a:r>
              <a:rPr dirty="0"/>
              <a:t>of</a:t>
            </a:r>
            <a:r>
              <a:rPr spc="-195" dirty="0"/>
              <a:t> </a:t>
            </a:r>
            <a:r>
              <a:rPr dirty="0"/>
              <a:t>Reverse</a:t>
            </a:r>
            <a:r>
              <a:rPr spc="-195" dirty="0"/>
              <a:t> </a:t>
            </a:r>
            <a:r>
              <a:rPr spc="-10" dirty="0"/>
              <a:t>Process</a:t>
            </a:r>
          </a:p>
          <a:p>
            <a:pPr marL="2230120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Normal</a:t>
            </a:r>
            <a:r>
              <a:rPr sz="3000" spc="-7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assumption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in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denoising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distribution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holds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only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for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small</a:t>
            </a:r>
            <a:r>
              <a:rPr sz="3000" spc="-55" dirty="0">
                <a:solidFill>
                  <a:srgbClr val="890C58"/>
                </a:solidFill>
              </a:rPr>
              <a:t> </a:t>
            </a:r>
            <a:r>
              <a:rPr sz="3000" spc="-20" dirty="0">
                <a:solidFill>
                  <a:srgbClr val="890C58"/>
                </a:solidFill>
              </a:rPr>
              <a:t>step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906578" y="8729979"/>
            <a:ext cx="12036425" cy="124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426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598B00"/>
                </a:solidFill>
                <a:latin typeface="Arial MT"/>
                <a:cs typeface="Arial MT"/>
              </a:rPr>
              <a:t>Requires</a:t>
            </a:r>
            <a:r>
              <a:rPr sz="2800" spc="-100" dirty="0">
                <a:solidFill>
                  <a:srgbClr val="598B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8B00"/>
                </a:solidFill>
                <a:latin typeface="Arial MT"/>
                <a:cs typeface="Arial MT"/>
              </a:rPr>
              <a:t>more</a:t>
            </a:r>
            <a:r>
              <a:rPr sz="2800" spc="-80" dirty="0">
                <a:solidFill>
                  <a:srgbClr val="598B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8B00"/>
                </a:solidFill>
                <a:latin typeface="Arial MT"/>
                <a:cs typeface="Arial MT"/>
              </a:rPr>
              <a:t>complicated</a:t>
            </a:r>
            <a:r>
              <a:rPr sz="2800" spc="-85" dirty="0">
                <a:solidFill>
                  <a:srgbClr val="598B00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598B00"/>
                </a:solidFill>
                <a:latin typeface="Arial MT"/>
                <a:cs typeface="Arial MT"/>
              </a:rPr>
              <a:t>functional</a:t>
            </a:r>
            <a:r>
              <a:rPr sz="2800" spc="-80" dirty="0">
                <a:solidFill>
                  <a:srgbClr val="598B00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598B00"/>
                </a:solidFill>
                <a:latin typeface="Arial MT"/>
                <a:cs typeface="Arial MT"/>
              </a:rPr>
              <a:t>approximators!</a:t>
            </a:r>
            <a:endParaRPr sz="2800">
              <a:latin typeface="Arial MT"/>
              <a:cs typeface="Arial MT"/>
            </a:endParaRPr>
          </a:p>
          <a:p>
            <a:pPr marL="12700" marR="1793239">
              <a:lnSpc>
                <a:spcPts val="1989"/>
              </a:lnSpc>
              <a:spcBef>
                <a:spcPts val="2335"/>
              </a:spcBef>
            </a:pP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Xiao</a:t>
            </a:r>
            <a:r>
              <a:rPr sz="1800" u="dash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et</a:t>
            </a:r>
            <a:r>
              <a:rPr sz="1800" u="dash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al.,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“Tackling</a:t>
            </a:r>
            <a:r>
              <a:rPr sz="1800" u="dash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the</a:t>
            </a:r>
            <a:r>
              <a:rPr sz="18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Generative</a:t>
            </a:r>
            <a:r>
              <a:rPr sz="18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Learning</a:t>
            </a:r>
            <a:r>
              <a:rPr sz="1800" u="dash" spc="-8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Trilemma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with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Denoising</a:t>
            </a:r>
            <a:r>
              <a:rPr sz="1800" u="dash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Diffusion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GANs”,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ICLR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dash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2022.</a:t>
            </a:r>
            <a:r>
              <a:rPr sz="1800" spc="-10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Gao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et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al.,</a:t>
            </a:r>
            <a:r>
              <a:rPr sz="1800" u="dash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“Learning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energy-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based</a:t>
            </a:r>
            <a:r>
              <a:rPr sz="1800" u="dash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models</a:t>
            </a:r>
            <a:r>
              <a:rPr sz="18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by</a:t>
            </a:r>
            <a:r>
              <a:rPr sz="18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diffusion</a:t>
            </a:r>
            <a:r>
              <a:rPr sz="18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recovery</a:t>
            </a:r>
            <a:r>
              <a:rPr sz="1800" u="dash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likelihood”,</a:t>
            </a:r>
            <a:r>
              <a:rPr sz="18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ICLR</a:t>
            </a:r>
            <a:r>
              <a:rPr sz="1800" u="dash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dash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2021.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168456" y="3988474"/>
            <a:ext cx="1223010" cy="177165"/>
          </a:xfrm>
          <a:custGeom>
            <a:avLst/>
            <a:gdLst/>
            <a:ahLst/>
            <a:cxnLst/>
            <a:rect l="l" t="t" r="r" b="b"/>
            <a:pathLst>
              <a:path w="1223009" h="177164">
                <a:moveTo>
                  <a:pt x="71215" y="0"/>
                </a:moveTo>
                <a:lnTo>
                  <a:pt x="0" y="130634"/>
                </a:lnTo>
                <a:lnTo>
                  <a:pt x="141334" y="177125"/>
                </a:lnTo>
                <a:lnTo>
                  <a:pt x="116159" y="113532"/>
                </a:lnTo>
                <a:lnTo>
                  <a:pt x="116103" y="113389"/>
                </a:lnTo>
                <a:lnTo>
                  <a:pt x="95309" y="113389"/>
                </a:lnTo>
                <a:lnTo>
                  <a:pt x="81814" y="77759"/>
                </a:lnTo>
                <a:lnTo>
                  <a:pt x="99366" y="71111"/>
                </a:lnTo>
                <a:lnTo>
                  <a:pt x="71215" y="0"/>
                </a:lnTo>
                <a:close/>
              </a:path>
              <a:path w="1223009" h="177164">
                <a:moveTo>
                  <a:pt x="1048159" y="48545"/>
                </a:moveTo>
                <a:lnTo>
                  <a:pt x="633575" y="48545"/>
                </a:lnTo>
                <a:lnTo>
                  <a:pt x="699322" y="49700"/>
                </a:lnTo>
                <a:lnTo>
                  <a:pt x="765045" y="52519"/>
                </a:lnTo>
                <a:lnTo>
                  <a:pt x="830247" y="57045"/>
                </a:lnTo>
                <a:lnTo>
                  <a:pt x="894496" y="63319"/>
                </a:lnTo>
                <a:lnTo>
                  <a:pt x="944344" y="69578"/>
                </a:lnTo>
                <a:lnTo>
                  <a:pt x="990622" y="76612"/>
                </a:lnTo>
                <a:lnTo>
                  <a:pt x="1034818" y="84635"/>
                </a:lnTo>
                <a:lnTo>
                  <a:pt x="1076131" y="93501"/>
                </a:lnTo>
                <a:lnTo>
                  <a:pt x="1114346" y="103155"/>
                </a:lnTo>
                <a:lnTo>
                  <a:pt x="1180538" y="124564"/>
                </a:lnTo>
                <a:lnTo>
                  <a:pt x="1208046" y="136157"/>
                </a:lnTo>
                <a:lnTo>
                  <a:pt x="1222804" y="101031"/>
                </a:lnTo>
                <a:lnTo>
                  <a:pt x="1193175" y="88618"/>
                </a:lnTo>
                <a:lnTo>
                  <a:pt x="1160078" y="77010"/>
                </a:lnTo>
                <a:lnTo>
                  <a:pt x="1123672" y="66213"/>
                </a:lnTo>
                <a:lnTo>
                  <a:pt x="1084120" y="56248"/>
                </a:lnTo>
                <a:lnTo>
                  <a:pt x="1048159" y="48545"/>
                </a:lnTo>
                <a:close/>
              </a:path>
              <a:path w="1223009" h="177164">
                <a:moveTo>
                  <a:pt x="99366" y="71111"/>
                </a:moveTo>
                <a:lnTo>
                  <a:pt x="81814" y="77759"/>
                </a:lnTo>
                <a:lnTo>
                  <a:pt x="95309" y="113389"/>
                </a:lnTo>
                <a:lnTo>
                  <a:pt x="113391" y="106540"/>
                </a:lnTo>
                <a:lnTo>
                  <a:pt x="99366" y="71111"/>
                </a:lnTo>
                <a:close/>
              </a:path>
              <a:path w="1223009" h="177164">
                <a:moveTo>
                  <a:pt x="113391" y="106540"/>
                </a:moveTo>
                <a:lnTo>
                  <a:pt x="95309" y="113389"/>
                </a:lnTo>
                <a:lnTo>
                  <a:pt x="116103" y="113389"/>
                </a:lnTo>
                <a:lnTo>
                  <a:pt x="113391" y="106540"/>
                </a:lnTo>
                <a:close/>
              </a:path>
              <a:path w="1223009" h="177164">
                <a:moveTo>
                  <a:pt x="633295" y="10447"/>
                </a:moveTo>
                <a:lnTo>
                  <a:pt x="567014" y="10932"/>
                </a:lnTo>
                <a:lnTo>
                  <a:pt x="501592" y="13020"/>
                </a:lnTo>
                <a:lnTo>
                  <a:pt x="437473" y="16667"/>
                </a:lnTo>
                <a:lnTo>
                  <a:pt x="375094" y="21835"/>
                </a:lnTo>
                <a:lnTo>
                  <a:pt x="314892" y="28483"/>
                </a:lnTo>
                <a:lnTo>
                  <a:pt x="257300" y="36574"/>
                </a:lnTo>
                <a:lnTo>
                  <a:pt x="202747" y="46078"/>
                </a:lnTo>
                <a:lnTo>
                  <a:pt x="151348" y="57045"/>
                </a:lnTo>
                <a:lnTo>
                  <a:pt x="103414" y="69578"/>
                </a:lnTo>
                <a:lnTo>
                  <a:pt x="99366" y="71111"/>
                </a:lnTo>
                <a:lnTo>
                  <a:pt x="113391" y="106540"/>
                </a:lnTo>
                <a:lnTo>
                  <a:pt x="116909" y="105208"/>
                </a:lnTo>
                <a:lnTo>
                  <a:pt x="161203" y="93849"/>
                </a:lnTo>
                <a:lnTo>
                  <a:pt x="210675" y="83343"/>
                </a:lnTo>
                <a:lnTo>
                  <a:pt x="263831" y="74110"/>
                </a:lnTo>
                <a:lnTo>
                  <a:pt x="320187" y="66213"/>
                </a:lnTo>
                <a:lnTo>
                  <a:pt x="379271" y="59705"/>
                </a:lnTo>
                <a:lnTo>
                  <a:pt x="440615" y="54637"/>
                </a:lnTo>
                <a:lnTo>
                  <a:pt x="503753" y="51059"/>
                </a:lnTo>
                <a:lnTo>
                  <a:pt x="568220" y="49013"/>
                </a:lnTo>
                <a:lnTo>
                  <a:pt x="1048159" y="48545"/>
                </a:lnTo>
                <a:lnTo>
                  <a:pt x="1041626" y="47146"/>
                </a:lnTo>
                <a:lnTo>
                  <a:pt x="996350" y="38944"/>
                </a:lnTo>
                <a:lnTo>
                  <a:pt x="948484" y="31682"/>
                </a:lnTo>
                <a:lnTo>
                  <a:pt x="898192" y="25400"/>
                </a:lnTo>
                <a:lnTo>
                  <a:pt x="832888" y="19037"/>
                </a:lnTo>
                <a:lnTo>
                  <a:pt x="766671" y="14455"/>
                </a:lnTo>
                <a:lnTo>
                  <a:pt x="699996" y="11606"/>
                </a:lnTo>
                <a:lnTo>
                  <a:pt x="633295" y="10447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56905" y="7682555"/>
            <a:ext cx="4291965" cy="303530"/>
          </a:xfrm>
          <a:custGeom>
            <a:avLst/>
            <a:gdLst/>
            <a:ahLst/>
            <a:cxnLst/>
            <a:rect l="l" t="t" r="r" b="b"/>
            <a:pathLst>
              <a:path w="4291965" h="303529">
                <a:moveTo>
                  <a:pt x="112441" y="69683"/>
                </a:moveTo>
                <a:lnTo>
                  <a:pt x="97197" y="104602"/>
                </a:lnTo>
                <a:lnTo>
                  <a:pt x="99921" y="105763"/>
                </a:lnTo>
                <a:lnTo>
                  <a:pt x="123531" y="113708"/>
                </a:lnTo>
                <a:lnTo>
                  <a:pt x="172025" y="128379"/>
                </a:lnTo>
                <a:lnTo>
                  <a:pt x="252820" y="149377"/>
                </a:lnTo>
                <a:lnTo>
                  <a:pt x="312022" y="162753"/>
                </a:lnTo>
                <a:lnTo>
                  <a:pt x="375235" y="175600"/>
                </a:lnTo>
                <a:lnTo>
                  <a:pt x="442305" y="187911"/>
                </a:lnTo>
                <a:lnTo>
                  <a:pt x="513072" y="199677"/>
                </a:lnTo>
                <a:lnTo>
                  <a:pt x="587376" y="210884"/>
                </a:lnTo>
                <a:lnTo>
                  <a:pt x="665057" y="221522"/>
                </a:lnTo>
                <a:lnTo>
                  <a:pt x="745948" y="231576"/>
                </a:lnTo>
                <a:lnTo>
                  <a:pt x="829887" y="241035"/>
                </a:lnTo>
                <a:lnTo>
                  <a:pt x="916710" y="249885"/>
                </a:lnTo>
                <a:lnTo>
                  <a:pt x="1006250" y="258110"/>
                </a:lnTo>
                <a:lnTo>
                  <a:pt x="1192818" y="272633"/>
                </a:lnTo>
                <a:lnTo>
                  <a:pt x="1388263" y="284492"/>
                </a:lnTo>
                <a:lnTo>
                  <a:pt x="1591250" y="293570"/>
                </a:lnTo>
                <a:lnTo>
                  <a:pt x="1800837" y="299763"/>
                </a:lnTo>
                <a:lnTo>
                  <a:pt x="2018261" y="302966"/>
                </a:lnTo>
                <a:lnTo>
                  <a:pt x="2232037" y="302966"/>
                </a:lnTo>
                <a:lnTo>
                  <a:pt x="2451827" y="299763"/>
                </a:lnTo>
                <a:lnTo>
                  <a:pt x="2672473" y="293198"/>
                </a:lnTo>
                <a:lnTo>
                  <a:pt x="2897618" y="282830"/>
                </a:lnTo>
                <a:lnTo>
                  <a:pt x="3111226" y="269176"/>
                </a:lnTo>
                <a:lnTo>
                  <a:pt x="3167438" y="264866"/>
                </a:lnTo>
                <a:lnTo>
                  <a:pt x="2018461" y="264866"/>
                </a:lnTo>
                <a:lnTo>
                  <a:pt x="1801497" y="261666"/>
                </a:lnTo>
                <a:lnTo>
                  <a:pt x="1592806" y="255502"/>
                </a:lnTo>
                <a:lnTo>
                  <a:pt x="1390416" y="246453"/>
                </a:lnTo>
                <a:lnTo>
                  <a:pt x="1195608" y="234636"/>
                </a:lnTo>
                <a:lnTo>
                  <a:pt x="1009735" y="220169"/>
                </a:lnTo>
                <a:lnTo>
                  <a:pt x="920573" y="211982"/>
                </a:lnTo>
                <a:lnTo>
                  <a:pt x="834153" y="203175"/>
                </a:lnTo>
                <a:lnTo>
                  <a:pt x="750647" y="193767"/>
                </a:lnTo>
                <a:lnTo>
                  <a:pt x="670224" y="183774"/>
                </a:lnTo>
                <a:lnTo>
                  <a:pt x="593058" y="173210"/>
                </a:lnTo>
                <a:lnTo>
                  <a:pt x="519319" y="162092"/>
                </a:lnTo>
                <a:lnTo>
                  <a:pt x="449182" y="150436"/>
                </a:lnTo>
                <a:lnTo>
                  <a:pt x="382821" y="138262"/>
                </a:lnTo>
                <a:lnTo>
                  <a:pt x="320414" y="125587"/>
                </a:lnTo>
                <a:lnTo>
                  <a:pt x="262143" y="112435"/>
                </a:lnTo>
                <a:lnTo>
                  <a:pt x="208047" y="98786"/>
                </a:lnTo>
                <a:lnTo>
                  <a:pt x="158577" y="84740"/>
                </a:lnTo>
                <a:lnTo>
                  <a:pt x="114858" y="70713"/>
                </a:lnTo>
                <a:lnTo>
                  <a:pt x="112441" y="69683"/>
                </a:lnTo>
                <a:close/>
              </a:path>
              <a:path w="4291965" h="303529">
                <a:moveTo>
                  <a:pt x="4270524" y="9184"/>
                </a:moveTo>
                <a:lnTo>
                  <a:pt x="4236222" y="30446"/>
                </a:lnTo>
                <a:lnTo>
                  <a:pt x="4190946" y="51625"/>
                </a:lnTo>
                <a:lnTo>
                  <a:pt x="4135295" y="72376"/>
                </a:lnTo>
                <a:lnTo>
                  <a:pt x="4069775" y="92511"/>
                </a:lnTo>
                <a:lnTo>
                  <a:pt x="3994871" y="111911"/>
                </a:lnTo>
                <a:lnTo>
                  <a:pt x="3954028" y="121302"/>
                </a:lnTo>
                <a:lnTo>
                  <a:pt x="3911025" y="130477"/>
                </a:lnTo>
                <a:lnTo>
                  <a:pt x="3865877" y="139424"/>
                </a:lnTo>
                <a:lnTo>
                  <a:pt x="3818658" y="148135"/>
                </a:lnTo>
                <a:lnTo>
                  <a:pt x="3769408" y="156599"/>
                </a:lnTo>
                <a:lnTo>
                  <a:pt x="3718201" y="164810"/>
                </a:lnTo>
                <a:lnTo>
                  <a:pt x="3610048" y="180436"/>
                </a:lnTo>
                <a:lnTo>
                  <a:pt x="3494605" y="194948"/>
                </a:lnTo>
                <a:lnTo>
                  <a:pt x="3372279" y="208283"/>
                </a:lnTo>
                <a:lnTo>
                  <a:pt x="3243464" y="220378"/>
                </a:lnTo>
                <a:lnTo>
                  <a:pt x="3108558" y="231170"/>
                </a:lnTo>
                <a:lnTo>
                  <a:pt x="2895643" y="244782"/>
                </a:lnTo>
                <a:lnTo>
                  <a:pt x="2671339" y="255115"/>
                </a:lnTo>
                <a:lnTo>
                  <a:pt x="2451272" y="261666"/>
                </a:lnTo>
                <a:lnTo>
                  <a:pt x="2232044" y="264866"/>
                </a:lnTo>
                <a:lnTo>
                  <a:pt x="3167438" y="264866"/>
                </a:lnTo>
                <a:lnTo>
                  <a:pt x="3312085" y="252435"/>
                </a:lnTo>
                <a:lnTo>
                  <a:pt x="3438260" y="239659"/>
                </a:lnTo>
                <a:lnTo>
                  <a:pt x="3557800" y="225658"/>
                </a:lnTo>
                <a:lnTo>
                  <a:pt x="3670322" y="210492"/>
                </a:lnTo>
                <a:lnTo>
                  <a:pt x="3723827" y="202491"/>
                </a:lnTo>
                <a:lnTo>
                  <a:pt x="3775440" y="194219"/>
                </a:lnTo>
                <a:lnTo>
                  <a:pt x="3825110" y="185684"/>
                </a:lnTo>
                <a:lnTo>
                  <a:pt x="3872786" y="176893"/>
                </a:lnTo>
                <a:lnTo>
                  <a:pt x="3918430" y="167850"/>
                </a:lnTo>
                <a:lnTo>
                  <a:pt x="3961978" y="158565"/>
                </a:lnTo>
                <a:lnTo>
                  <a:pt x="4003405" y="149040"/>
                </a:lnTo>
                <a:lnTo>
                  <a:pt x="4042661" y="139283"/>
                </a:lnTo>
                <a:lnTo>
                  <a:pt x="4079694" y="129297"/>
                </a:lnTo>
                <a:lnTo>
                  <a:pt x="4146953" y="108647"/>
                </a:lnTo>
                <a:lnTo>
                  <a:pt x="4204878" y="87088"/>
                </a:lnTo>
                <a:lnTo>
                  <a:pt x="4253202" y="64556"/>
                </a:lnTo>
                <a:lnTo>
                  <a:pt x="4291746" y="40827"/>
                </a:lnTo>
                <a:lnTo>
                  <a:pt x="4270524" y="9184"/>
                </a:lnTo>
                <a:close/>
              </a:path>
              <a:path w="4291965" h="303529">
                <a:moveTo>
                  <a:pt x="142861" y="0"/>
                </a:moveTo>
                <a:lnTo>
                  <a:pt x="0" y="41564"/>
                </a:lnTo>
                <a:lnTo>
                  <a:pt x="66645" y="174588"/>
                </a:lnTo>
                <a:lnTo>
                  <a:pt x="97197" y="104602"/>
                </a:lnTo>
                <a:lnTo>
                  <a:pt x="79824" y="97196"/>
                </a:lnTo>
                <a:lnTo>
                  <a:pt x="94763" y="62147"/>
                </a:lnTo>
                <a:lnTo>
                  <a:pt x="115730" y="62147"/>
                </a:lnTo>
                <a:lnTo>
                  <a:pt x="142861" y="0"/>
                </a:lnTo>
                <a:close/>
              </a:path>
              <a:path w="4291965" h="303529">
                <a:moveTo>
                  <a:pt x="94763" y="62147"/>
                </a:moveTo>
                <a:lnTo>
                  <a:pt x="79824" y="97196"/>
                </a:lnTo>
                <a:lnTo>
                  <a:pt x="97197" y="104602"/>
                </a:lnTo>
                <a:lnTo>
                  <a:pt x="112441" y="69683"/>
                </a:lnTo>
                <a:lnTo>
                  <a:pt x="94763" y="62147"/>
                </a:lnTo>
                <a:close/>
              </a:path>
              <a:path w="4291965" h="303529">
                <a:moveTo>
                  <a:pt x="115730" y="62147"/>
                </a:moveTo>
                <a:lnTo>
                  <a:pt x="94763" y="62147"/>
                </a:lnTo>
                <a:lnTo>
                  <a:pt x="112441" y="69683"/>
                </a:lnTo>
                <a:lnTo>
                  <a:pt x="115730" y="62147"/>
                </a:lnTo>
                <a:close/>
              </a:path>
            </a:pathLst>
          </a:custGeom>
          <a:solidFill>
            <a:srgbClr val="59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06229" y="2822956"/>
            <a:ext cx="85801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B6476F"/>
                </a:solidFill>
                <a:latin typeface="Arial MT"/>
                <a:cs typeface="Arial MT"/>
              </a:rPr>
              <a:t>Denoising</a:t>
            </a:r>
            <a:r>
              <a:rPr sz="2800" spc="-65" dirty="0">
                <a:solidFill>
                  <a:srgbClr val="B6476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B6476F"/>
                </a:solidFill>
                <a:latin typeface="Arial MT"/>
                <a:cs typeface="Arial MT"/>
              </a:rPr>
              <a:t>Process</a:t>
            </a:r>
            <a:r>
              <a:rPr sz="2800" spc="-65" dirty="0">
                <a:solidFill>
                  <a:srgbClr val="B6476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B6476F"/>
                </a:solidFill>
                <a:latin typeface="Arial MT"/>
                <a:cs typeface="Arial MT"/>
              </a:rPr>
              <a:t>with</a:t>
            </a:r>
            <a:r>
              <a:rPr sz="2800" spc="-65" dirty="0">
                <a:solidFill>
                  <a:srgbClr val="B6476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B6476F"/>
                </a:solidFill>
                <a:latin typeface="Arial MT"/>
                <a:cs typeface="Arial MT"/>
              </a:rPr>
              <a:t>Uni-</a:t>
            </a:r>
            <a:r>
              <a:rPr sz="2800" dirty="0">
                <a:solidFill>
                  <a:srgbClr val="B6476F"/>
                </a:solidFill>
                <a:latin typeface="Arial MT"/>
                <a:cs typeface="Arial MT"/>
              </a:rPr>
              <a:t>modal</a:t>
            </a:r>
            <a:r>
              <a:rPr sz="2800" spc="-60" dirty="0">
                <a:solidFill>
                  <a:srgbClr val="B6476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B6476F"/>
                </a:solidFill>
                <a:latin typeface="Arial MT"/>
                <a:cs typeface="Arial MT"/>
              </a:rPr>
              <a:t>Normal</a:t>
            </a:r>
            <a:r>
              <a:rPr sz="2800" spc="-65" dirty="0">
                <a:solidFill>
                  <a:srgbClr val="B6476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B6476F"/>
                </a:solidFill>
                <a:latin typeface="Arial MT"/>
                <a:cs typeface="Arial MT"/>
              </a:rPr>
              <a:t>Distribution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675786" y="3988474"/>
            <a:ext cx="1223010" cy="177165"/>
          </a:xfrm>
          <a:custGeom>
            <a:avLst/>
            <a:gdLst/>
            <a:ahLst/>
            <a:cxnLst/>
            <a:rect l="l" t="t" r="r" b="b"/>
            <a:pathLst>
              <a:path w="1223009" h="177164">
                <a:moveTo>
                  <a:pt x="71215" y="0"/>
                </a:moveTo>
                <a:lnTo>
                  <a:pt x="0" y="130634"/>
                </a:lnTo>
                <a:lnTo>
                  <a:pt x="141335" y="177125"/>
                </a:lnTo>
                <a:lnTo>
                  <a:pt x="116160" y="113532"/>
                </a:lnTo>
                <a:lnTo>
                  <a:pt x="116103" y="113389"/>
                </a:lnTo>
                <a:lnTo>
                  <a:pt x="95310" y="113389"/>
                </a:lnTo>
                <a:lnTo>
                  <a:pt x="81815" y="77759"/>
                </a:lnTo>
                <a:lnTo>
                  <a:pt x="99367" y="71111"/>
                </a:lnTo>
                <a:lnTo>
                  <a:pt x="71215" y="0"/>
                </a:lnTo>
                <a:close/>
              </a:path>
              <a:path w="1223009" h="177164">
                <a:moveTo>
                  <a:pt x="1048156" y="48545"/>
                </a:moveTo>
                <a:lnTo>
                  <a:pt x="633571" y="48545"/>
                </a:lnTo>
                <a:lnTo>
                  <a:pt x="699329" y="49700"/>
                </a:lnTo>
                <a:lnTo>
                  <a:pt x="765041" y="52519"/>
                </a:lnTo>
                <a:lnTo>
                  <a:pt x="830248" y="57045"/>
                </a:lnTo>
                <a:lnTo>
                  <a:pt x="894491" y="63319"/>
                </a:lnTo>
                <a:lnTo>
                  <a:pt x="944347" y="69578"/>
                </a:lnTo>
                <a:lnTo>
                  <a:pt x="990626" y="76612"/>
                </a:lnTo>
                <a:lnTo>
                  <a:pt x="1034823" y="84635"/>
                </a:lnTo>
                <a:lnTo>
                  <a:pt x="1076135" y="93501"/>
                </a:lnTo>
                <a:lnTo>
                  <a:pt x="1114344" y="103155"/>
                </a:lnTo>
                <a:lnTo>
                  <a:pt x="1180541" y="124564"/>
                </a:lnTo>
                <a:lnTo>
                  <a:pt x="1208050" y="136157"/>
                </a:lnTo>
                <a:lnTo>
                  <a:pt x="1222808" y="101031"/>
                </a:lnTo>
                <a:lnTo>
                  <a:pt x="1193173" y="88618"/>
                </a:lnTo>
                <a:lnTo>
                  <a:pt x="1160073" y="77010"/>
                </a:lnTo>
                <a:lnTo>
                  <a:pt x="1123669" y="66213"/>
                </a:lnTo>
                <a:lnTo>
                  <a:pt x="1084122" y="56248"/>
                </a:lnTo>
                <a:lnTo>
                  <a:pt x="1048156" y="48545"/>
                </a:lnTo>
                <a:close/>
              </a:path>
              <a:path w="1223009" h="177164">
                <a:moveTo>
                  <a:pt x="99367" y="71111"/>
                </a:moveTo>
                <a:lnTo>
                  <a:pt x="81815" y="77759"/>
                </a:lnTo>
                <a:lnTo>
                  <a:pt x="95310" y="113389"/>
                </a:lnTo>
                <a:lnTo>
                  <a:pt x="113392" y="106540"/>
                </a:lnTo>
                <a:lnTo>
                  <a:pt x="99367" y="71111"/>
                </a:lnTo>
                <a:close/>
              </a:path>
              <a:path w="1223009" h="177164">
                <a:moveTo>
                  <a:pt x="113392" y="106540"/>
                </a:moveTo>
                <a:lnTo>
                  <a:pt x="95310" y="113389"/>
                </a:lnTo>
                <a:lnTo>
                  <a:pt x="116103" y="113389"/>
                </a:lnTo>
                <a:lnTo>
                  <a:pt x="113392" y="106540"/>
                </a:lnTo>
                <a:close/>
              </a:path>
              <a:path w="1223009" h="177164">
                <a:moveTo>
                  <a:pt x="633294" y="10447"/>
                </a:moveTo>
                <a:lnTo>
                  <a:pt x="567014" y="10932"/>
                </a:lnTo>
                <a:lnTo>
                  <a:pt x="501592" y="13020"/>
                </a:lnTo>
                <a:lnTo>
                  <a:pt x="437474" y="16667"/>
                </a:lnTo>
                <a:lnTo>
                  <a:pt x="375094" y="21835"/>
                </a:lnTo>
                <a:lnTo>
                  <a:pt x="314892" y="28483"/>
                </a:lnTo>
                <a:lnTo>
                  <a:pt x="257301" y="36574"/>
                </a:lnTo>
                <a:lnTo>
                  <a:pt x="202747" y="46078"/>
                </a:lnTo>
                <a:lnTo>
                  <a:pt x="151348" y="57045"/>
                </a:lnTo>
                <a:lnTo>
                  <a:pt x="103416" y="69578"/>
                </a:lnTo>
                <a:lnTo>
                  <a:pt x="99367" y="71111"/>
                </a:lnTo>
                <a:lnTo>
                  <a:pt x="113392" y="106540"/>
                </a:lnTo>
                <a:lnTo>
                  <a:pt x="116911" y="105208"/>
                </a:lnTo>
                <a:lnTo>
                  <a:pt x="161204" y="93849"/>
                </a:lnTo>
                <a:lnTo>
                  <a:pt x="210675" y="83343"/>
                </a:lnTo>
                <a:lnTo>
                  <a:pt x="263831" y="74110"/>
                </a:lnTo>
                <a:lnTo>
                  <a:pt x="320187" y="66213"/>
                </a:lnTo>
                <a:lnTo>
                  <a:pt x="379271" y="59705"/>
                </a:lnTo>
                <a:lnTo>
                  <a:pt x="440615" y="54637"/>
                </a:lnTo>
                <a:lnTo>
                  <a:pt x="503753" y="51059"/>
                </a:lnTo>
                <a:lnTo>
                  <a:pt x="568225" y="49013"/>
                </a:lnTo>
                <a:lnTo>
                  <a:pt x="1048156" y="48545"/>
                </a:lnTo>
                <a:lnTo>
                  <a:pt x="1041620" y="47146"/>
                </a:lnTo>
                <a:lnTo>
                  <a:pt x="996348" y="38944"/>
                </a:lnTo>
                <a:lnTo>
                  <a:pt x="948490" y="31682"/>
                </a:lnTo>
                <a:lnTo>
                  <a:pt x="898189" y="25400"/>
                </a:lnTo>
                <a:lnTo>
                  <a:pt x="832883" y="19037"/>
                </a:lnTo>
                <a:lnTo>
                  <a:pt x="766671" y="14455"/>
                </a:lnTo>
                <a:lnTo>
                  <a:pt x="699994" y="11606"/>
                </a:lnTo>
                <a:lnTo>
                  <a:pt x="633294" y="10447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183116" y="3988474"/>
            <a:ext cx="1223010" cy="177165"/>
          </a:xfrm>
          <a:custGeom>
            <a:avLst/>
            <a:gdLst/>
            <a:ahLst/>
            <a:cxnLst/>
            <a:rect l="l" t="t" r="r" b="b"/>
            <a:pathLst>
              <a:path w="1223009" h="177164">
                <a:moveTo>
                  <a:pt x="71216" y="0"/>
                </a:moveTo>
                <a:lnTo>
                  <a:pt x="0" y="130634"/>
                </a:lnTo>
                <a:lnTo>
                  <a:pt x="141335" y="177125"/>
                </a:lnTo>
                <a:lnTo>
                  <a:pt x="116161" y="113532"/>
                </a:lnTo>
                <a:lnTo>
                  <a:pt x="116104" y="113389"/>
                </a:lnTo>
                <a:lnTo>
                  <a:pt x="95310" y="113389"/>
                </a:lnTo>
                <a:lnTo>
                  <a:pt x="81815" y="77759"/>
                </a:lnTo>
                <a:lnTo>
                  <a:pt x="99367" y="71111"/>
                </a:lnTo>
                <a:lnTo>
                  <a:pt x="71216" y="0"/>
                </a:lnTo>
                <a:close/>
              </a:path>
              <a:path w="1223009" h="177164">
                <a:moveTo>
                  <a:pt x="1048157" y="48545"/>
                </a:moveTo>
                <a:lnTo>
                  <a:pt x="633571" y="48545"/>
                </a:lnTo>
                <a:lnTo>
                  <a:pt x="699329" y="49700"/>
                </a:lnTo>
                <a:lnTo>
                  <a:pt x="765041" y="52519"/>
                </a:lnTo>
                <a:lnTo>
                  <a:pt x="830249" y="57045"/>
                </a:lnTo>
                <a:lnTo>
                  <a:pt x="894491" y="63319"/>
                </a:lnTo>
                <a:lnTo>
                  <a:pt x="944347" y="69578"/>
                </a:lnTo>
                <a:lnTo>
                  <a:pt x="990627" y="76612"/>
                </a:lnTo>
                <a:lnTo>
                  <a:pt x="1034823" y="84635"/>
                </a:lnTo>
                <a:lnTo>
                  <a:pt x="1076135" y="93501"/>
                </a:lnTo>
                <a:lnTo>
                  <a:pt x="1114344" y="103155"/>
                </a:lnTo>
                <a:lnTo>
                  <a:pt x="1180542" y="124564"/>
                </a:lnTo>
                <a:lnTo>
                  <a:pt x="1208050" y="136157"/>
                </a:lnTo>
                <a:lnTo>
                  <a:pt x="1222808" y="101031"/>
                </a:lnTo>
                <a:lnTo>
                  <a:pt x="1193173" y="88618"/>
                </a:lnTo>
                <a:lnTo>
                  <a:pt x="1160073" y="77010"/>
                </a:lnTo>
                <a:lnTo>
                  <a:pt x="1123671" y="66213"/>
                </a:lnTo>
                <a:lnTo>
                  <a:pt x="1084122" y="56248"/>
                </a:lnTo>
                <a:lnTo>
                  <a:pt x="1048157" y="48545"/>
                </a:lnTo>
                <a:close/>
              </a:path>
              <a:path w="1223009" h="177164">
                <a:moveTo>
                  <a:pt x="99367" y="71111"/>
                </a:moveTo>
                <a:lnTo>
                  <a:pt x="81815" y="77759"/>
                </a:lnTo>
                <a:lnTo>
                  <a:pt x="95310" y="113389"/>
                </a:lnTo>
                <a:lnTo>
                  <a:pt x="113393" y="106540"/>
                </a:lnTo>
                <a:lnTo>
                  <a:pt x="99367" y="71111"/>
                </a:lnTo>
                <a:close/>
              </a:path>
              <a:path w="1223009" h="177164">
                <a:moveTo>
                  <a:pt x="113393" y="106540"/>
                </a:moveTo>
                <a:lnTo>
                  <a:pt x="95310" y="113389"/>
                </a:lnTo>
                <a:lnTo>
                  <a:pt x="116104" y="113389"/>
                </a:lnTo>
                <a:lnTo>
                  <a:pt x="113393" y="106540"/>
                </a:lnTo>
                <a:close/>
              </a:path>
              <a:path w="1223009" h="177164">
                <a:moveTo>
                  <a:pt x="633295" y="10447"/>
                </a:moveTo>
                <a:lnTo>
                  <a:pt x="567014" y="10932"/>
                </a:lnTo>
                <a:lnTo>
                  <a:pt x="501594" y="13020"/>
                </a:lnTo>
                <a:lnTo>
                  <a:pt x="437474" y="16667"/>
                </a:lnTo>
                <a:lnTo>
                  <a:pt x="375095" y="21835"/>
                </a:lnTo>
                <a:lnTo>
                  <a:pt x="314893" y="28483"/>
                </a:lnTo>
                <a:lnTo>
                  <a:pt x="257301" y="36574"/>
                </a:lnTo>
                <a:lnTo>
                  <a:pt x="202747" y="46078"/>
                </a:lnTo>
                <a:lnTo>
                  <a:pt x="151349" y="57045"/>
                </a:lnTo>
                <a:lnTo>
                  <a:pt x="103416" y="69578"/>
                </a:lnTo>
                <a:lnTo>
                  <a:pt x="99367" y="71111"/>
                </a:lnTo>
                <a:lnTo>
                  <a:pt x="113393" y="106540"/>
                </a:lnTo>
                <a:lnTo>
                  <a:pt x="116911" y="105208"/>
                </a:lnTo>
                <a:lnTo>
                  <a:pt x="161204" y="93849"/>
                </a:lnTo>
                <a:lnTo>
                  <a:pt x="210676" y="83343"/>
                </a:lnTo>
                <a:lnTo>
                  <a:pt x="263831" y="74110"/>
                </a:lnTo>
                <a:lnTo>
                  <a:pt x="320187" y="66213"/>
                </a:lnTo>
                <a:lnTo>
                  <a:pt x="379271" y="59705"/>
                </a:lnTo>
                <a:lnTo>
                  <a:pt x="440615" y="54637"/>
                </a:lnTo>
                <a:lnTo>
                  <a:pt x="503754" y="51059"/>
                </a:lnTo>
                <a:lnTo>
                  <a:pt x="568225" y="49013"/>
                </a:lnTo>
                <a:lnTo>
                  <a:pt x="1048157" y="48545"/>
                </a:lnTo>
                <a:lnTo>
                  <a:pt x="1041622" y="47146"/>
                </a:lnTo>
                <a:lnTo>
                  <a:pt x="996348" y="38944"/>
                </a:lnTo>
                <a:lnTo>
                  <a:pt x="948490" y="31682"/>
                </a:lnTo>
                <a:lnTo>
                  <a:pt x="898190" y="25400"/>
                </a:lnTo>
                <a:lnTo>
                  <a:pt x="832883" y="19037"/>
                </a:lnTo>
                <a:lnTo>
                  <a:pt x="766672" y="14455"/>
                </a:lnTo>
                <a:lnTo>
                  <a:pt x="699994" y="11606"/>
                </a:lnTo>
                <a:lnTo>
                  <a:pt x="633295" y="10447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690449" y="3988474"/>
            <a:ext cx="1223010" cy="177165"/>
          </a:xfrm>
          <a:custGeom>
            <a:avLst/>
            <a:gdLst/>
            <a:ahLst/>
            <a:cxnLst/>
            <a:rect l="l" t="t" r="r" b="b"/>
            <a:pathLst>
              <a:path w="1223009" h="177164">
                <a:moveTo>
                  <a:pt x="71215" y="0"/>
                </a:moveTo>
                <a:lnTo>
                  <a:pt x="0" y="130634"/>
                </a:lnTo>
                <a:lnTo>
                  <a:pt x="141334" y="177125"/>
                </a:lnTo>
                <a:lnTo>
                  <a:pt x="116159" y="113532"/>
                </a:lnTo>
                <a:lnTo>
                  <a:pt x="116103" y="113389"/>
                </a:lnTo>
                <a:lnTo>
                  <a:pt x="95309" y="113389"/>
                </a:lnTo>
                <a:lnTo>
                  <a:pt x="81814" y="77759"/>
                </a:lnTo>
                <a:lnTo>
                  <a:pt x="99366" y="71111"/>
                </a:lnTo>
                <a:lnTo>
                  <a:pt x="71215" y="0"/>
                </a:lnTo>
                <a:close/>
              </a:path>
              <a:path w="1223009" h="177164">
                <a:moveTo>
                  <a:pt x="1048155" y="48545"/>
                </a:moveTo>
                <a:lnTo>
                  <a:pt x="633569" y="48545"/>
                </a:lnTo>
                <a:lnTo>
                  <a:pt x="699329" y="49700"/>
                </a:lnTo>
                <a:lnTo>
                  <a:pt x="765041" y="52519"/>
                </a:lnTo>
                <a:lnTo>
                  <a:pt x="830248" y="57045"/>
                </a:lnTo>
                <a:lnTo>
                  <a:pt x="894491" y="63319"/>
                </a:lnTo>
                <a:lnTo>
                  <a:pt x="944346" y="69578"/>
                </a:lnTo>
                <a:lnTo>
                  <a:pt x="990626" y="76612"/>
                </a:lnTo>
                <a:lnTo>
                  <a:pt x="1034822" y="84635"/>
                </a:lnTo>
                <a:lnTo>
                  <a:pt x="1076135" y="93501"/>
                </a:lnTo>
                <a:lnTo>
                  <a:pt x="1114343" y="103155"/>
                </a:lnTo>
                <a:lnTo>
                  <a:pt x="1180541" y="124564"/>
                </a:lnTo>
                <a:lnTo>
                  <a:pt x="1208050" y="136157"/>
                </a:lnTo>
                <a:lnTo>
                  <a:pt x="1222806" y="101031"/>
                </a:lnTo>
                <a:lnTo>
                  <a:pt x="1193172" y="88618"/>
                </a:lnTo>
                <a:lnTo>
                  <a:pt x="1160072" y="77010"/>
                </a:lnTo>
                <a:lnTo>
                  <a:pt x="1123669" y="66213"/>
                </a:lnTo>
                <a:lnTo>
                  <a:pt x="1084121" y="56248"/>
                </a:lnTo>
                <a:lnTo>
                  <a:pt x="1048155" y="48545"/>
                </a:lnTo>
                <a:close/>
              </a:path>
              <a:path w="1223009" h="177164">
                <a:moveTo>
                  <a:pt x="99366" y="71111"/>
                </a:moveTo>
                <a:lnTo>
                  <a:pt x="81814" y="77759"/>
                </a:lnTo>
                <a:lnTo>
                  <a:pt x="95309" y="113389"/>
                </a:lnTo>
                <a:lnTo>
                  <a:pt x="113391" y="106540"/>
                </a:lnTo>
                <a:lnTo>
                  <a:pt x="99366" y="71111"/>
                </a:lnTo>
                <a:close/>
              </a:path>
              <a:path w="1223009" h="177164">
                <a:moveTo>
                  <a:pt x="113391" y="106540"/>
                </a:moveTo>
                <a:lnTo>
                  <a:pt x="95309" y="113389"/>
                </a:lnTo>
                <a:lnTo>
                  <a:pt x="116103" y="113389"/>
                </a:lnTo>
                <a:lnTo>
                  <a:pt x="113391" y="106540"/>
                </a:lnTo>
                <a:close/>
              </a:path>
              <a:path w="1223009" h="177164">
                <a:moveTo>
                  <a:pt x="633294" y="10447"/>
                </a:moveTo>
                <a:lnTo>
                  <a:pt x="567013" y="10932"/>
                </a:lnTo>
                <a:lnTo>
                  <a:pt x="501592" y="13020"/>
                </a:lnTo>
                <a:lnTo>
                  <a:pt x="437473" y="16667"/>
                </a:lnTo>
                <a:lnTo>
                  <a:pt x="375094" y="21835"/>
                </a:lnTo>
                <a:lnTo>
                  <a:pt x="314892" y="28483"/>
                </a:lnTo>
                <a:lnTo>
                  <a:pt x="257300" y="36574"/>
                </a:lnTo>
                <a:lnTo>
                  <a:pt x="202746" y="46078"/>
                </a:lnTo>
                <a:lnTo>
                  <a:pt x="151348" y="57045"/>
                </a:lnTo>
                <a:lnTo>
                  <a:pt x="103414" y="69578"/>
                </a:lnTo>
                <a:lnTo>
                  <a:pt x="99366" y="71111"/>
                </a:lnTo>
                <a:lnTo>
                  <a:pt x="113391" y="106540"/>
                </a:lnTo>
                <a:lnTo>
                  <a:pt x="116909" y="105208"/>
                </a:lnTo>
                <a:lnTo>
                  <a:pt x="161203" y="93849"/>
                </a:lnTo>
                <a:lnTo>
                  <a:pt x="210675" y="83343"/>
                </a:lnTo>
                <a:lnTo>
                  <a:pt x="263831" y="74110"/>
                </a:lnTo>
                <a:lnTo>
                  <a:pt x="320187" y="66213"/>
                </a:lnTo>
                <a:lnTo>
                  <a:pt x="379271" y="59705"/>
                </a:lnTo>
                <a:lnTo>
                  <a:pt x="440615" y="54637"/>
                </a:lnTo>
                <a:lnTo>
                  <a:pt x="503753" y="51059"/>
                </a:lnTo>
                <a:lnTo>
                  <a:pt x="568224" y="49013"/>
                </a:lnTo>
                <a:lnTo>
                  <a:pt x="1048155" y="48545"/>
                </a:lnTo>
                <a:lnTo>
                  <a:pt x="1041620" y="47146"/>
                </a:lnTo>
                <a:lnTo>
                  <a:pt x="996346" y="38944"/>
                </a:lnTo>
                <a:lnTo>
                  <a:pt x="948489" y="31682"/>
                </a:lnTo>
                <a:lnTo>
                  <a:pt x="898189" y="25400"/>
                </a:lnTo>
                <a:lnTo>
                  <a:pt x="832883" y="19037"/>
                </a:lnTo>
                <a:lnTo>
                  <a:pt x="766671" y="14455"/>
                </a:lnTo>
                <a:lnTo>
                  <a:pt x="699994" y="11606"/>
                </a:lnTo>
                <a:lnTo>
                  <a:pt x="633294" y="10447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97780" y="3988474"/>
            <a:ext cx="1223010" cy="177165"/>
          </a:xfrm>
          <a:custGeom>
            <a:avLst/>
            <a:gdLst/>
            <a:ahLst/>
            <a:cxnLst/>
            <a:rect l="l" t="t" r="r" b="b"/>
            <a:pathLst>
              <a:path w="1223009" h="177164">
                <a:moveTo>
                  <a:pt x="71216" y="0"/>
                </a:moveTo>
                <a:lnTo>
                  <a:pt x="0" y="130634"/>
                </a:lnTo>
                <a:lnTo>
                  <a:pt x="141335" y="177125"/>
                </a:lnTo>
                <a:lnTo>
                  <a:pt x="116161" y="113532"/>
                </a:lnTo>
                <a:lnTo>
                  <a:pt x="116104" y="113389"/>
                </a:lnTo>
                <a:lnTo>
                  <a:pt x="95310" y="113389"/>
                </a:lnTo>
                <a:lnTo>
                  <a:pt x="81815" y="77759"/>
                </a:lnTo>
                <a:lnTo>
                  <a:pt x="99367" y="71111"/>
                </a:lnTo>
                <a:lnTo>
                  <a:pt x="71216" y="0"/>
                </a:lnTo>
                <a:close/>
              </a:path>
              <a:path w="1223009" h="177164">
                <a:moveTo>
                  <a:pt x="1048157" y="48545"/>
                </a:moveTo>
                <a:lnTo>
                  <a:pt x="633571" y="48545"/>
                </a:lnTo>
                <a:lnTo>
                  <a:pt x="699329" y="49700"/>
                </a:lnTo>
                <a:lnTo>
                  <a:pt x="765041" y="52519"/>
                </a:lnTo>
                <a:lnTo>
                  <a:pt x="830249" y="57045"/>
                </a:lnTo>
                <a:lnTo>
                  <a:pt x="894491" y="63319"/>
                </a:lnTo>
                <a:lnTo>
                  <a:pt x="944347" y="69578"/>
                </a:lnTo>
                <a:lnTo>
                  <a:pt x="990627" y="76612"/>
                </a:lnTo>
                <a:lnTo>
                  <a:pt x="1034823" y="84635"/>
                </a:lnTo>
                <a:lnTo>
                  <a:pt x="1076135" y="93501"/>
                </a:lnTo>
                <a:lnTo>
                  <a:pt x="1114344" y="103155"/>
                </a:lnTo>
                <a:lnTo>
                  <a:pt x="1180542" y="124564"/>
                </a:lnTo>
                <a:lnTo>
                  <a:pt x="1208050" y="136157"/>
                </a:lnTo>
                <a:lnTo>
                  <a:pt x="1222808" y="101031"/>
                </a:lnTo>
                <a:lnTo>
                  <a:pt x="1193173" y="88618"/>
                </a:lnTo>
                <a:lnTo>
                  <a:pt x="1160073" y="77010"/>
                </a:lnTo>
                <a:lnTo>
                  <a:pt x="1123671" y="66213"/>
                </a:lnTo>
                <a:lnTo>
                  <a:pt x="1084122" y="56248"/>
                </a:lnTo>
                <a:lnTo>
                  <a:pt x="1048157" y="48545"/>
                </a:lnTo>
                <a:close/>
              </a:path>
              <a:path w="1223009" h="177164">
                <a:moveTo>
                  <a:pt x="99367" y="71111"/>
                </a:moveTo>
                <a:lnTo>
                  <a:pt x="81815" y="77759"/>
                </a:lnTo>
                <a:lnTo>
                  <a:pt x="95310" y="113389"/>
                </a:lnTo>
                <a:lnTo>
                  <a:pt x="113393" y="106540"/>
                </a:lnTo>
                <a:lnTo>
                  <a:pt x="99367" y="71111"/>
                </a:lnTo>
                <a:close/>
              </a:path>
              <a:path w="1223009" h="177164">
                <a:moveTo>
                  <a:pt x="113393" y="106540"/>
                </a:moveTo>
                <a:lnTo>
                  <a:pt x="95310" y="113389"/>
                </a:lnTo>
                <a:lnTo>
                  <a:pt x="116104" y="113389"/>
                </a:lnTo>
                <a:lnTo>
                  <a:pt x="113393" y="106540"/>
                </a:lnTo>
                <a:close/>
              </a:path>
              <a:path w="1223009" h="177164">
                <a:moveTo>
                  <a:pt x="633295" y="10447"/>
                </a:moveTo>
                <a:lnTo>
                  <a:pt x="567014" y="10932"/>
                </a:lnTo>
                <a:lnTo>
                  <a:pt x="501594" y="13020"/>
                </a:lnTo>
                <a:lnTo>
                  <a:pt x="437474" y="16667"/>
                </a:lnTo>
                <a:lnTo>
                  <a:pt x="375095" y="21835"/>
                </a:lnTo>
                <a:lnTo>
                  <a:pt x="314893" y="28483"/>
                </a:lnTo>
                <a:lnTo>
                  <a:pt x="257301" y="36574"/>
                </a:lnTo>
                <a:lnTo>
                  <a:pt x="202747" y="46078"/>
                </a:lnTo>
                <a:lnTo>
                  <a:pt x="151349" y="57045"/>
                </a:lnTo>
                <a:lnTo>
                  <a:pt x="103416" y="69578"/>
                </a:lnTo>
                <a:lnTo>
                  <a:pt x="99367" y="71111"/>
                </a:lnTo>
                <a:lnTo>
                  <a:pt x="113393" y="106540"/>
                </a:lnTo>
                <a:lnTo>
                  <a:pt x="116911" y="105208"/>
                </a:lnTo>
                <a:lnTo>
                  <a:pt x="161204" y="93849"/>
                </a:lnTo>
                <a:lnTo>
                  <a:pt x="210676" y="83343"/>
                </a:lnTo>
                <a:lnTo>
                  <a:pt x="263831" y="74110"/>
                </a:lnTo>
                <a:lnTo>
                  <a:pt x="320187" y="66213"/>
                </a:lnTo>
                <a:lnTo>
                  <a:pt x="379271" y="59705"/>
                </a:lnTo>
                <a:lnTo>
                  <a:pt x="440615" y="54637"/>
                </a:lnTo>
                <a:lnTo>
                  <a:pt x="503754" y="51059"/>
                </a:lnTo>
                <a:lnTo>
                  <a:pt x="568225" y="49013"/>
                </a:lnTo>
                <a:lnTo>
                  <a:pt x="1048157" y="48545"/>
                </a:lnTo>
                <a:lnTo>
                  <a:pt x="1041622" y="47146"/>
                </a:lnTo>
                <a:lnTo>
                  <a:pt x="996348" y="38944"/>
                </a:lnTo>
                <a:lnTo>
                  <a:pt x="948490" y="31682"/>
                </a:lnTo>
                <a:lnTo>
                  <a:pt x="898190" y="25400"/>
                </a:lnTo>
                <a:lnTo>
                  <a:pt x="832883" y="19037"/>
                </a:lnTo>
                <a:lnTo>
                  <a:pt x="766672" y="14455"/>
                </a:lnTo>
                <a:lnTo>
                  <a:pt x="699994" y="11606"/>
                </a:lnTo>
                <a:lnTo>
                  <a:pt x="633295" y="10447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705111" y="3988474"/>
            <a:ext cx="1223010" cy="177165"/>
          </a:xfrm>
          <a:custGeom>
            <a:avLst/>
            <a:gdLst/>
            <a:ahLst/>
            <a:cxnLst/>
            <a:rect l="l" t="t" r="r" b="b"/>
            <a:pathLst>
              <a:path w="1223010" h="177164">
                <a:moveTo>
                  <a:pt x="71216" y="0"/>
                </a:moveTo>
                <a:lnTo>
                  <a:pt x="0" y="130634"/>
                </a:lnTo>
                <a:lnTo>
                  <a:pt x="141335" y="177125"/>
                </a:lnTo>
                <a:lnTo>
                  <a:pt x="116161" y="113532"/>
                </a:lnTo>
                <a:lnTo>
                  <a:pt x="116104" y="113389"/>
                </a:lnTo>
                <a:lnTo>
                  <a:pt x="95310" y="113389"/>
                </a:lnTo>
                <a:lnTo>
                  <a:pt x="81815" y="77759"/>
                </a:lnTo>
                <a:lnTo>
                  <a:pt x="99367" y="71111"/>
                </a:lnTo>
                <a:lnTo>
                  <a:pt x="71216" y="0"/>
                </a:lnTo>
                <a:close/>
              </a:path>
              <a:path w="1223010" h="177164">
                <a:moveTo>
                  <a:pt x="1048157" y="48545"/>
                </a:moveTo>
                <a:lnTo>
                  <a:pt x="633571" y="48545"/>
                </a:lnTo>
                <a:lnTo>
                  <a:pt x="699329" y="49700"/>
                </a:lnTo>
                <a:lnTo>
                  <a:pt x="765041" y="52519"/>
                </a:lnTo>
                <a:lnTo>
                  <a:pt x="830249" y="57045"/>
                </a:lnTo>
                <a:lnTo>
                  <a:pt x="894491" y="63319"/>
                </a:lnTo>
                <a:lnTo>
                  <a:pt x="944347" y="69578"/>
                </a:lnTo>
                <a:lnTo>
                  <a:pt x="990627" y="76612"/>
                </a:lnTo>
                <a:lnTo>
                  <a:pt x="1034823" y="84635"/>
                </a:lnTo>
                <a:lnTo>
                  <a:pt x="1076135" y="93501"/>
                </a:lnTo>
                <a:lnTo>
                  <a:pt x="1114344" y="103155"/>
                </a:lnTo>
                <a:lnTo>
                  <a:pt x="1180542" y="124564"/>
                </a:lnTo>
                <a:lnTo>
                  <a:pt x="1208050" y="136157"/>
                </a:lnTo>
                <a:lnTo>
                  <a:pt x="1222808" y="101031"/>
                </a:lnTo>
                <a:lnTo>
                  <a:pt x="1193173" y="88618"/>
                </a:lnTo>
                <a:lnTo>
                  <a:pt x="1160073" y="77010"/>
                </a:lnTo>
                <a:lnTo>
                  <a:pt x="1123671" y="66213"/>
                </a:lnTo>
                <a:lnTo>
                  <a:pt x="1084122" y="56248"/>
                </a:lnTo>
                <a:lnTo>
                  <a:pt x="1048157" y="48545"/>
                </a:lnTo>
                <a:close/>
              </a:path>
              <a:path w="1223010" h="177164">
                <a:moveTo>
                  <a:pt x="99367" y="71111"/>
                </a:moveTo>
                <a:lnTo>
                  <a:pt x="81815" y="77759"/>
                </a:lnTo>
                <a:lnTo>
                  <a:pt x="95310" y="113389"/>
                </a:lnTo>
                <a:lnTo>
                  <a:pt x="113393" y="106540"/>
                </a:lnTo>
                <a:lnTo>
                  <a:pt x="99367" y="71111"/>
                </a:lnTo>
                <a:close/>
              </a:path>
              <a:path w="1223010" h="177164">
                <a:moveTo>
                  <a:pt x="113393" y="106540"/>
                </a:moveTo>
                <a:lnTo>
                  <a:pt x="95310" y="113389"/>
                </a:lnTo>
                <a:lnTo>
                  <a:pt x="116104" y="113389"/>
                </a:lnTo>
                <a:lnTo>
                  <a:pt x="113393" y="106540"/>
                </a:lnTo>
                <a:close/>
              </a:path>
              <a:path w="1223010" h="177164">
                <a:moveTo>
                  <a:pt x="633295" y="10447"/>
                </a:moveTo>
                <a:lnTo>
                  <a:pt x="567014" y="10932"/>
                </a:lnTo>
                <a:lnTo>
                  <a:pt x="501594" y="13020"/>
                </a:lnTo>
                <a:lnTo>
                  <a:pt x="437474" y="16667"/>
                </a:lnTo>
                <a:lnTo>
                  <a:pt x="375095" y="21835"/>
                </a:lnTo>
                <a:lnTo>
                  <a:pt x="314893" y="28483"/>
                </a:lnTo>
                <a:lnTo>
                  <a:pt x="257301" y="36574"/>
                </a:lnTo>
                <a:lnTo>
                  <a:pt x="202747" y="46078"/>
                </a:lnTo>
                <a:lnTo>
                  <a:pt x="151349" y="57045"/>
                </a:lnTo>
                <a:lnTo>
                  <a:pt x="103416" y="69578"/>
                </a:lnTo>
                <a:lnTo>
                  <a:pt x="99367" y="71111"/>
                </a:lnTo>
                <a:lnTo>
                  <a:pt x="113393" y="106540"/>
                </a:lnTo>
                <a:lnTo>
                  <a:pt x="116911" y="105208"/>
                </a:lnTo>
                <a:lnTo>
                  <a:pt x="161204" y="93849"/>
                </a:lnTo>
                <a:lnTo>
                  <a:pt x="210676" y="83343"/>
                </a:lnTo>
                <a:lnTo>
                  <a:pt x="263831" y="74110"/>
                </a:lnTo>
                <a:lnTo>
                  <a:pt x="320187" y="66213"/>
                </a:lnTo>
                <a:lnTo>
                  <a:pt x="379271" y="59705"/>
                </a:lnTo>
                <a:lnTo>
                  <a:pt x="440615" y="54637"/>
                </a:lnTo>
                <a:lnTo>
                  <a:pt x="503754" y="51059"/>
                </a:lnTo>
                <a:lnTo>
                  <a:pt x="568225" y="49013"/>
                </a:lnTo>
                <a:lnTo>
                  <a:pt x="1048157" y="48545"/>
                </a:lnTo>
                <a:lnTo>
                  <a:pt x="1041622" y="47146"/>
                </a:lnTo>
                <a:lnTo>
                  <a:pt x="996348" y="38944"/>
                </a:lnTo>
                <a:lnTo>
                  <a:pt x="948490" y="31682"/>
                </a:lnTo>
                <a:lnTo>
                  <a:pt x="898190" y="25400"/>
                </a:lnTo>
                <a:lnTo>
                  <a:pt x="832883" y="19037"/>
                </a:lnTo>
                <a:lnTo>
                  <a:pt x="766672" y="14455"/>
                </a:lnTo>
                <a:lnTo>
                  <a:pt x="699994" y="11606"/>
                </a:lnTo>
                <a:lnTo>
                  <a:pt x="633295" y="10447"/>
                </a:lnTo>
                <a:close/>
              </a:path>
            </a:pathLst>
          </a:custGeom>
          <a:solidFill>
            <a:srgbClr val="B647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600370" y="7715771"/>
            <a:ext cx="4291965" cy="303530"/>
          </a:xfrm>
          <a:custGeom>
            <a:avLst/>
            <a:gdLst/>
            <a:ahLst/>
            <a:cxnLst/>
            <a:rect l="l" t="t" r="r" b="b"/>
            <a:pathLst>
              <a:path w="4291965" h="303529">
                <a:moveTo>
                  <a:pt x="112442" y="69683"/>
                </a:moveTo>
                <a:lnTo>
                  <a:pt x="97198" y="104602"/>
                </a:lnTo>
                <a:lnTo>
                  <a:pt x="99921" y="105763"/>
                </a:lnTo>
                <a:lnTo>
                  <a:pt x="123531" y="113709"/>
                </a:lnTo>
                <a:lnTo>
                  <a:pt x="172026" y="128379"/>
                </a:lnTo>
                <a:lnTo>
                  <a:pt x="252821" y="149377"/>
                </a:lnTo>
                <a:lnTo>
                  <a:pt x="312023" y="162753"/>
                </a:lnTo>
                <a:lnTo>
                  <a:pt x="375236" y="175600"/>
                </a:lnTo>
                <a:lnTo>
                  <a:pt x="442305" y="187911"/>
                </a:lnTo>
                <a:lnTo>
                  <a:pt x="513073" y="199677"/>
                </a:lnTo>
                <a:lnTo>
                  <a:pt x="587377" y="210884"/>
                </a:lnTo>
                <a:lnTo>
                  <a:pt x="665057" y="221523"/>
                </a:lnTo>
                <a:lnTo>
                  <a:pt x="745949" y="231578"/>
                </a:lnTo>
                <a:lnTo>
                  <a:pt x="829889" y="241037"/>
                </a:lnTo>
                <a:lnTo>
                  <a:pt x="916711" y="249886"/>
                </a:lnTo>
                <a:lnTo>
                  <a:pt x="1006251" y="258110"/>
                </a:lnTo>
                <a:lnTo>
                  <a:pt x="1192819" y="272634"/>
                </a:lnTo>
                <a:lnTo>
                  <a:pt x="1388263" y="284492"/>
                </a:lnTo>
                <a:lnTo>
                  <a:pt x="1591251" y="293571"/>
                </a:lnTo>
                <a:lnTo>
                  <a:pt x="1800839" y="299764"/>
                </a:lnTo>
                <a:lnTo>
                  <a:pt x="2018376" y="302967"/>
                </a:lnTo>
                <a:lnTo>
                  <a:pt x="2232038" y="302967"/>
                </a:lnTo>
                <a:lnTo>
                  <a:pt x="2451828" y="299764"/>
                </a:lnTo>
                <a:lnTo>
                  <a:pt x="2672474" y="293198"/>
                </a:lnTo>
                <a:lnTo>
                  <a:pt x="2897618" y="282831"/>
                </a:lnTo>
                <a:lnTo>
                  <a:pt x="3111228" y="269177"/>
                </a:lnTo>
                <a:lnTo>
                  <a:pt x="3167439" y="264867"/>
                </a:lnTo>
                <a:lnTo>
                  <a:pt x="2018580" y="264867"/>
                </a:lnTo>
                <a:lnTo>
                  <a:pt x="1801498" y="261668"/>
                </a:lnTo>
                <a:lnTo>
                  <a:pt x="1592807" y="255503"/>
                </a:lnTo>
                <a:lnTo>
                  <a:pt x="1390416" y="246453"/>
                </a:lnTo>
                <a:lnTo>
                  <a:pt x="1195608" y="234637"/>
                </a:lnTo>
                <a:lnTo>
                  <a:pt x="1009736" y="220171"/>
                </a:lnTo>
                <a:lnTo>
                  <a:pt x="920573" y="211982"/>
                </a:lnTo>
                <a:lnTo>
                  <a:pt x="834155" y="203177"/>
                </a:lnTo>
                <a:lnTo>
                  <a:pt x="750648" y="193768"/>
                </a:lnTo>
                <a:lnTo>
                  <a:pt x="670225" y="183775"/>
                </a:lnTo>
                <a:lnTo>
                  <a:pt x="593059" y="173211"/>
                </a:lnTo>
                <a:lnTo>
                  <a:pt x="519319" y="162092"/>
                </a:lnTo>
                <a:lnTo>
                  <a:pt x="449182" y="150437"/>
                </a:lnTo>
                <a:lnTo>
                  <a:pt x="382822" y="138263"/>
                </a:lnTo>
                <a:lnTo>
                  <a:pt x="320415" y="125589"/>
                </a:lnTo>
                <a:lnTo>
                  <a:pt x="262144" y="112435"/>
                </a:lnTo>
                <a:lnTo>
                  <a:pt x="208047" y="98788"/>
                </a:lnTo>
                <a:lnTo>
                  <a:pt x="158578" y="84742"/>
                </a:lnTo>
                <a:lnTo>
                  <a:pt x="114860" y="70713"/>
                </a:lnTo>
                <a:lnTo>
                  <a:pt x="112442" y="69683"/>
                </a:lnTo>
                <a:close/>
              </a:path>
              <a:path w="4291965" h="303529">
                <a:moveTo>
                  <a:pt x="4270522" y="9185"/>
                </a:moveTo>
                <a:lnTo>
                  <a:pt x="4236228" y="30448"/>
                </a:lnTo>
                <a:lnTo>
                  <a:pt x="4190953" y="51625"/>
                </a:lnTo>
                <a:lnTo>
                  <a:pt x="4135293" y="72377"/>
                </a:lnTo>
                <a:lnTo>
                  <a:pt x="4069773" y="92513"/>
                </a:lnTo>
                <a:lnTo>
                  <a:pt x="3994867" y="111911"/>
                </a:lnTo>
                <a:lnTo>
                  <a:pt x="3954034" y="121304"/>
                </a:lnTo>
                <a:lnTo>
                  <a:pt x="3911020" y="130478"/>
                </a:lnTo>
                <a:lnTo>
                  <a:pt x="3865877" y="139425"/>
                </a:lnTo>
                <a:lnTo>
                  <a:pt x="3818658" y="148135"/>
                </a:lnTo>
                <a:lnTo>
                  <a:pt x="3769414" y="156599"/>
                </a:lnTo>
                <a:lnTo>
                  <a:pt x="3718198" y="164810"/>
                </a:lnTo>
                <a:lnTo>
                  <a:pt x="3665057" y="172759"/>
                </a:lnTo>
                <a:lnTo>
                  <a:pt x="3610046" y="180437"/>
                </a:lnTo>
                <a:lnTo>
                  <a:pt x="3494606" y="194950"/>
                </a:lnTo>
                <a:lnTo>
                  <a:pt x="3372280" y="208283"/>
                </a:lnTo>
                <a:lnTo>
                  <a:pt x="3243465" y="220379"/>
                </a:lnTo>
                <a:lnTo>
                  <a:pt x="3108559" y="231170"/>
                </a:lnTo>
                <a:lnTo>
                  <a:pt x="2895644" y="244782"/>
                </a:lnTo>
                <a:lnTo>
                  <a:pt x="2671340" y="255116"/>
                </a:lnTo>
                <a:lnTo>
                  <a:pt x="2451273" y="261668"/>
                </a:lnTo>
                <a:lnTo>
                  <a:pt x="2232045" y="264867"/>
                </a:lnTo>
                <a:lnTo>
                  <a:pt x="3167439" y="264867"/>
                </a:lnTo>
                <a:lnTo>
                  <a:pt x="3312086" y="252435"/>
                </a:lnTo>
                <a:lnTo>
                  <a:pt x="3438260" y="239659"/>
                </a:lnTo>
                <a:lnTo>
                  <a:pt x="3557802" y="225658"/>
                </a:lnTo>
                <a:lnTo>
                  <a:pt x="3670324" y="210493"/>
                </a:lnTo>
                <a:lnTo>
                  <a:pt x="3723833" y="202491"/>
                </a:lnTo>
                <a:lnTo>
                  <a:pt x="3775444" y="194219"/>
                </a:lnTo>
                <a:lnTo>
                  <a:pt x="3825111" y="185685"/>
                </a:lnTo>
                <a:lnTo>
                  <a:pt x="3872787" y="176893"/>
                </a:lnTo>
                <a:lnTo>
                  <a:pt x="3918426" y="167852"/>
                </a:lnTo>
                <a:lnTo>
                  <a:pt x="3961980" y="158565"/>
                </a:lnTo>
                <a:lnTo>
                  <a:pt x="4003407" y="149042"/>
                </a:lnTo>
                <a:lnTo>
                  <a:pt x="4042658" y="139284"/>
                </a:lnTo>
                <a:lnTo>
                  <a:pt x="4079695" y="129298"/>
                </a:lnTo>
                <a:lnTo>
                  <a:pt x="4146956" y="108648"/>
                </a:lnTo>
                <a:lnTo>
                  <a:pt x="4204878" y="87090"/>
                </a:lnTo>
                <a:lnTo>
                  <a:pt x="4253203" y="64557"/>
                </a:lnTo>
                <a:lnTo>
                  <a:pt x="4291741" y="40829"/>
                </a:lnTo>
                <a:lnTo>
                  <a:pt x="4270522" y="9185"/>
                </a:lnTo>
                <a:close/>
              </a:path>
              <a:path w="4291965" h="303529">
                <a:moveTo>
                  <a:pt x="142862" y="0"/>
                </a:moveTo>
                <a:lnTo>
                  <a:pt x="0" y="41565"/>
                </a:lnTo>
                <a:lnTo>
                  <a:pt x="66645" y="174589"/>
                </a:lnTo>
                <a:lnTo>
                  <a:pt x="97198" y="104602"/>
                </a:lnTo>
                <a:lnTo>
                  <a:pt x="79825" y="97198"/>
                </a:lnTo>
                <a:lnTo>
                  <a:pt x="94764" y="62148"/>
                </a:lnTo>
                <a:lnTo>
                  <a:pt x="115731" y="62148"/>
                </a:lnTo>
                <a:lnTo>
                  <a:pt x="142862" y="0"/>
                </a:lnTo>
                <a:close/>
              </a:path>
              <a:path w="4291965" h="303529">
                <a:moveTo>
                  <a:pt x="94764" y="62148"/>
                </a:moveTo>
                <a:lnTo>
                  <a:pt x="79825" y="97198"/>
                </a:lnTo>
                <a:lnTo>
                  <a:pt x="97198" y="104602"/>
                </a:lnTo>
                <a:lnTo>
                  <a:pt x="112442" y="69683"/>
                </a:lnTo>
                <a:lnTo>
                  <a:pt x="94764" y="62148"/>
                </a:lnTo>
                <a:close/>
              </a:path>
              <a:path w="4291965" h="303529">
                <a:moveTo>
                  <a:pt x="115731" y="62148"/>
                </a:moveTo>
                <a:lnTo>
                  <a:pt x="94764" y="62148"/>
                </a:lnTo>
                <a:lnTo>
                  <a:pt x="112442" y="69683"/>
                </a:lnTo>
                <a:lnTo>
                  <a:pt x="115731" y="62148"/>
                </a:lnTo>
                <a:close/>
              </a:path>
            </a:pathLst>
          </a:custGeom>
          <a:solidFill>
            <a:srgbClr val="598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4247927" y="4633467"/>
            <a:ext cx="9359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 MT"/>
                <a:cs typeface="Arial MT"/>
              </a:rPr>
              <a:t>Noise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53213" y="4241745"/>
            <a:ext cx="1426717" cy="143415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86114" y="4241745"/>
            <a:ext cx="1426724" cy="143415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63964" y="4241745"/>
            <a:ext cx="1426724" cy="143415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41814" y="4241745"/>
            <a:ext cx="1426723" cy="143415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19663" y="4241745"/>
            <a:ext cx="1426724" cy="143415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797514" y="4241745"/>
            <a:ext cx="1426723" cy="14341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275363" y="4241745"/>
            <a:ext cx="1426719" cy="143415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910305" y="4688332"/>
            <a:ext cx="777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2469888" y="3624071"/>
            <a:ext cx="567055" cy="290195"/>
            <a:chOff x="12469888" y="3624071"/>
            <a:chExt cx="567055" cy="290195"/>
          </a:xfrm>
        </p:grpSpPr>
        <p:sp>
          <p:nvSpPr>
            <p:cNvPr id="24" name="object 24"/>
            <p:cNvSpPr/>
            <p:nvPr/>
          </p:nvSpPr>
          <p:spPr>
            <a:xfrm>
              <a:off x="12469888" y="3904288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5">
                  <a:moveTo>
                    <a:pt x="0" y="1"/>
                  </a:moveTo>
                  <a:lnTo>
                    <a:pt x="566644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545567" y="3624071"/>
              <a:ext cx="405383" cy="268224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10989554" y="3624071"/>
            <a:ext cx="567055" cy="290195"/>
            <a:chOff x="10989554" y="3624071"/>
            <a:chExt cx="567055" cy="290195"/>
          </a:xfrm>
        </p:grpSpPr>
        <p:sp>
          <p:nvSpPr>
            <p:cNvPr id="27" name="object 27"/>
            <p:cNvSpPr/>
            <p:nvPr/>
          </p:nvSpPr>
          <p:spPr>
            <a:xfrm>
              <a:off x="10989554" y="3904288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1"/>
                  </a:moveTo>
                  <a:lnTo>
                    <a:pt x="566644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064240" y="3624071"/>
              <a:ext cx="405383" cy="268224"/>
            </a:xfrm>
            <a:prstGeom prst="rect">
              <a:avLst/>
            </a:prstGeom>
          </p:spPr>
        </p:pic>
      </p:grpSp>
      <p:grpSp>
        <p:nvGrpSpPr>
          <p:cNvPr id="29" name="object 29"/>
          <p:cNvGrpSpPr/>
          <p:nvPr/>
        </p:nvGrpSpPr>
        <p:grpSpPr>
          <a:xfrm>
            <a:off x="9509218" y="3624071"/>
            <a:ext cx="567055" cy="290195"/>
            <a:chOff x="9509218" y="3624071"/>
            <a:chExt cx="567055" cy="290195"/>
          </a:xfrm>
        </p:grpSpPr>
        <p:sp>
          <p:nvSpPr>
            <p:cNvPr id="30" name="object 30"/>
            <p:cNvSpPr/>
            <p:nvPr/>
          </p:nvSpPr>
          <p:spPr>
            <a:xfrm>
              <a:off x="9509218" y="3904288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1"/>
                  </a:moveTo>
                  <a:lnTo>
                    <a:pt x="566644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582912" y="3624071"/>
              <a:ext cx="405383" cy="268224"/>
            </a:xfrm>
            <a:prstGeom prst="rect">
              <a:avLst/>
            </a:prstGeom>
          </p:spPr>
        </p:pic>
      </p:grpSp>
      <p:grpSp>
        <p:nvGrpSpPr>
          <p:cNvPr id="32" name="object 32"/>
          <p:cNvGrpSpPr/>
          <p:nvPr/>
        </p:nvGrpSpPr>
        <p:grpSpPr>
          <a:xfrm>
            <a:off x="5068210" y="3624071"/>
            <a:ext cx="567055" cy="290195"/>
            <a:chOff x="5068210" y="3624071"/>
            <a:chExt cx="567055" cy="290195"/>
          </a:xfrm>
        </p:grpSpPr>
        <p:sp>
          <p:nvSpPr>
            <p:cNvPr id="33" name="object 33"/>
            <p:cNvSpPr/>
            <p:nvPr/>
          </p:nvSpPr>
          <p:spPr>
            <a:xfrm>
              <a:off x="5068210" y="3904288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1"/>
                  </a:moveTo>
                  <a:lnTo>
                    <a:pt x="566644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141975" y="3624071"/>
              <a:ext cx="405384" cy="268224"/>
            </a:xfrm>
            <a:prstGeom prst="rect">
              <a:avLst/>
            </a:prstGeom>
          </p:spPr>
        </p:pic>
      </p:grpSp>
      <p:grpSp>
        <p:nvGrpSpPr>
          <p:cNvPr id="35" name="object 35"/>
          <p:cNvGrpSpPr/>
          <p:nvPr/>
        </p:nvGrpSpPr>
        <p:grpSpPr>
          <a:xfrm>
            <a:off x="6548546" y="3624071"/>
            <a:ext cx="567055" cy="290195"/>
            <a:chOff x="6548546" y="3624071"/>
            <a:chExt cx="567055" cy="290195"/>
          </a:xfrm>
        </p:grpSpPr>
        <p:sp>
          <p:nvSpPr>
            <p:cNvPr id="36" name="object 36"/>
            <p:cNvSpPr/>
            <p:nvPr/>
          </p:nvSpPr>
          <p:spPr>
            <a:xfrm>
              <a:off x="6548546" y="3904288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1"/>
                  </a:moveTo>
                  <a:lnTo>
                    <a:pt x="566644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23304" y="3624071"/>
              <a:ext cx="405383" cy="268224"/>
            </a:xfrm>
            <a:prstGeom prst="rect">
              <a:avLst/>
            </a:prstGeom>
          </p:spPr>
        </p:pic>
      </p:grpSp>
      <p:grpSp>
        <p:nvGrpSpPr>
          <p:cNvPr id="38" name="object 38"/>
          <p:cNvGrpSpPr/>
          <p:nvPr/>
        </p:nvGrpSpPr>
        <p:grpSpPr>
          <a:xfrm>
            <a:off x="8028882" y="3624071"/>
            <a:ext cx="567055" cy="290195"/>
            <a:chOff x="8028882" y="3624071"/>
            <a:chExt cx="567055" cy="290195"/>
          </a:xfrm>
        </p:grpSpPr>
        <p:sp>
          <p:nvSpPr>
            <p:cNvPr id="39" name="object 39"/>
            <p:cNvSpPr/>
            <p:nvPr/>
          </p:nvSpPr>
          <p:spPr>
            <a:xfrm>
              <a:off x="8028882" y="3904288"/>
              <a:ext cx="567055" cy="0"/>
            </a:xfrm>
            <a:custGeom>
              <a:avLst/>
              <a:gdLst/>
              <a:ahLst/>
              <a:cxnLst/>
              <a:rect l="l" t="t" r="r" b="b"/>
              <a:pathLst>
                <a:path w="567054">
                  <a:moveTo>
                    <a:pt x="0" y="1"/>
                  </a:moveTo>
                  <a:lnTo>
                    <a:pt x="566644" y="0"/>
                  </a:lnTo>
                </a:path>
              </a:pathLst>
            </a:custGeom>
            <a:ln w="19050">
              <a:solidFill>
                <a:srgbClr val="B6476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04631" y="3624071"/>
              <a:ext cx="405383" cy="268224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10891893" y="8090501"/>
            <a:ext cx="1003935" cy="431800"/>
            <a:chOff x="10891893" y="8090501"/>
            <a:chExt cx="1003935" cy="431800"/>
          </a:xfrm>
        </p:grpSpPr>
        <p:sp>
          <p:nvSpPr>
            <p:cNvPr id="42" name="object 42"/>
            <p:cNvSpPr/>
            <p:nvPr/>
          </p:nvSpPr>
          <p:spPr>
            <a:xfrm>
              <a:off x="10891893" y="8512675"/>
              <a:ext cx="1003935" cy="0"/>
            </a:xfrm>
            <a:custGeom>
              <a:avLst/>
              <a:gdLst/>
              <a:ahLst/>
              <a:cxnLst/>
              <a:rect l="l" t="t" r="r" b="b"/>
              <a:pathLst>
                <a:path w="1003934">
                  <a:moveTo>
                    <a:pt x="0" y="1"/>
                  </a:moveTo>
                  <a:lnTo>
                    <a:pt x="1003762" y="0"/>
                  </a:lnTo>
                </a:path>
              </a:pathLst>
            </a:custGeom>
            <a:ln w="19050">
              <a:solidFill>
                <a:srgbClr val="59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0984850" y="8100026"/>
              <a:ext cx="776605" cy="379730"/>
            </a:xfrm>
            <a:custGeom>
              <a:avLst/>
              <a:gdLst/>
              <a:ahLst/>
              <a:cxnLst/>
              <a:rect l="l" t="t" r="r" b="b"/>
              <a:pathLst>
                <a:path w="776604" h="379729">
                  <a:moveTo>
                    <a:pt x="0" y="376456"/>
                  </a:moveTo>
                  <a:lnTo>
                    <a:pt x="49107" y="362128"/>
                  </a:lnTo>
                  <a:lnTo>
                    <a:pt x="96248" y="345399"/>
                  </a:lnTo>
                  <a:lnTo>
                    <a:pt x="139457" y="323870"/>
                  </a:lnTo>
                  <a:lnTo>
                    <a:pt x="176767" y="295142"/>
                  </a:lnTo>
                  <a:lnTo>
                    <a:pt x="200712" y="259363"/>
                  </a:lnTo>
                  <a:lnTo>
                    <a:pt x="219959" y="212261"/>
                  </a:lnTo>
                  <a:lnTo>
                    <a:pt x="236521" y="164677"/>
                  </a:lnTo>
                  <a:lnTo>
                    <a:pt x="252412" y="127453"/>
                  </a:lnTo>
                  <a:lnTo>
                    <a:pt x="269646" y="111431"/>
                  </a:lnTo>
                  <a:lnTo>
                    <a:pt x="287550" y="129284"/>
                  </a:lnTo>
                  <a:lnTo>
                    <a:pt x="304783" y="173784"/>
                  </a:lnTo>
                  <a:lnTo>
                    <a:pt x="322352" y="225922"/>
                  </a:lnTo>
                  <a:lnTo>
                    <a:pt x="341263" y="266688"/>
                  </a:lnTo>
                  <a:lnTo>
                    <a:pt x="379740" y="255666"/>
                  </a:lnTo>
                  <a:lnTo>
                    <a:pt x="398511" y="213318"/>
                  </a:lnTo>
                  <a:lnTo>
                    <a:pt x="418313" y="158959"/>
                  </a:lnTo>
                  <a:lnTo>
                    <a:pt x="438621" y="101518"/>
                  </a:lnTo>
                  <a:lnTo>
                    <a:pt x="458913" y="49925"/>
                  </a:lnTo>
                  <a:lnTo>
                    <a:pt x="478662" y="13109"/>
                  </a:lnTo>
                  <a:lnTo>
                    <a:pt x="497346" y="0"/>
                  </a:lnTo>
                  <a:lnTo>
                    <a:pt x="514589" y="14628"/>
                  </a:lnTo>
                  <a:lnTo>
                    <a:pt x="530731" y="50399"/>
                  </a:lnTo>
                  <a:lnTo>
                    <a:pt x="546323" y="100306"/>
                  </a:lnTo>
                  <a:lnTo>
                    <a:pt x="561914" y="157343"/>
                  </a:lnTo>
                  <a:lnTo>
                    <a:pt x="578057" y="214503"/>
                  </a:lnTo>
                  <a:lnTo>
                    <a:pt x="595299" y="264779"/>
                  </a:lnTo>
                  <a:lnTo>
                    <a:pt x="614193" y="301165"/>
                  </a:lnTo>
                  <a:lnTo>
                    <a:pt x="649513" y="339446"/>
                  </a:lnTo>
                  <a:lnTo>
                    <a:pt x="687035" y="362339"/>
                  </a:lnTo>
                  <a:lnTo>
                    <a:pt x="728582" y="374221"/>
                  </a:lnTo>
                  <a:lnTo>
                    <a:pt x="775981" y="379468"/>
                  </a:lnTo>
                </a:path>
              </a:pathLst>
            </a:custGeom>
            <a:ln w="19050">
              <a:solidFill>
                <a:srgbClr val="59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6209780" y="8155509"/>
            <a:ext cx="1062990" cy="367030"/>
            <a:chOff x="6209780" y="8155509"/>
            <a:chExt cx="1062990" cy="367030"/>
          </a:xfrm>
        </p:grpSpPr>
        <p:sp>
          <p:nvSpPr>
            <p:cNvPr id="45" name="object 45"/>
            <p:cNvSpPr/>
            <p:nvPr/>
          </p:nvSpPr>
          <p:spPr>
            <a:xfrm>
              <a:off x="6209780" y="8512674"/>
              <a:ext cx="1062990" cy="0"/>
            </a:xfrm>
            <a:custGeom>
              <a:avLst/>
              <a:gdLst/>
              <a:ahLst/>
              <a:cxnLst/>
              <a:rect l="l" t="t" r="r" b="b"/>
              <a:pathLst>
                <a:path w="1062990">
                  <a:moveTo>
                    <a:pt x="0" y="0"/>
                  </a:moveTo>
                  <a:lnTo>
                    <a:pt x="1062625" y="2"/>
                  </a:lnTo>
                </a:path>
              </a:pathLst>
            </a:custGeom>
            <a:ln w="19050">
              <a:solidFill>
                <a:srgbClr val="59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357766" y="8165034"/>
              <a:ext cx="776605" cy="314325"/>
            </a:xfrm>
            <a:custGeom>
              <a:avLst/>
              <a:gdLst/>
              <a:ahLst/>
              <a:cxnLst/>
              <a:rect l="l" t="t" r="r" b="b"/>
              <a:pathLst>
                <a:path w="776604" h="314325">
                  <a:moveTo>
                    <a:pt x="0" y="310959"/>
                  </a:moveTo>
                  <a:lnTo>
                    <a:pt x="41021" y="296632"/>
                  </a:lnTo>
                  <a:lnTo>
                    <a:pt x="80292" y="281352"/>
                  </a:lnTo>
                  <a:lnTo>
                    <a:pt x="116060" y="264165"/>
                  </a:lnTo>
                  <a:lnTo>
                    <a:pt x="169925" y="216010"/>
                  </a:lnTo>
                  <a:lnTo>
                    <a:pt x="187528" y="181998"/>
                  </a:lnTo>
                  <a:lnTo>
                    <a:pt x="202616" y="152164"/>
                  </a:lnTo>
                  <a:lnTo>
                    <a:pt x="218423" y="136589"/>
                  </a:lnTo>
                  <a:lnTo>
                    <a:pt x="234208" y="147373"/>
                  </a:lnTo>
                  <a:lnTo>
                    <a:pt x="248780" y="176004"/>
                  </a:lnTo>
                  <a:lnTo>
                    <a:pt x="264699" y="201637"/>
                  </a:lnTo>
                  <a:lnTo>
                    <a:pt x="284526" y="203431"/>
                  </a:lnTo>
                  <a:lnTo>
                    <a:pt x="303931" y="172556"/>
                  </a:lnTo>
                  <a:lnTo>
                    <a:pt x="325613" y="119059"/>
                  </a:lnTo>
                  <a:lnTo>
                    <a:pt x="349087" y="60657"/>
                  </a:lnTo>
                  <a:lnTo>
                    <a:pt x="373873" y="15065"/>
                  </a:lnTo>
                  <a:lnTo>
                    <a:pt x="422338" y="20834"/>
                  </a:lnTo>
                  <a:lnTo>
                    <a:pt x="447067" y="65765"/>
                  </a:lnTo>
                  <a:lnTo>
                    <a:pt x="472594" y="123693"/>
                  </a:lnTo>
                  <a:lnTo>
                    <a:pt x="497841" y="183518"/>
                  </a:lnTo>
                  <a:lnTo>
                    <a:pt x="521731" y="234140"/>
                  </a:lnTo>
                  <a:lnTo>
                    <a:pt x="543186" y="264460"/>
                  </a:lnTo>
                  <a:lnTo>
                    <a:pt x="571005" y="267435"/>
                  </a:lnTo>
                  <a:lnTo>
                    <a:pt x="595457" y="242119"/>
                  </a:lnTo>
                  <a:lnTo>
                    <a:pt x="617484" y="211264"/>
                  </a:lnTo>
                  <a:lnTo>
                    <a:pt x="638028" y="197619"/>
                  </a:lnTo>
                  <a:lnTo>
                    <a:pt x="656440" y="209947"/>
                  </a:lnTo>
                  <a:lnTo>
                    <a:pt x="672516" y="235217"/>
                  </a:lnTo>
                  <a:lnTo>
                    <a:pt x="687874" y="263484"/>
                  </a:lnTo>
                  <a:lnTo>
                    <a:pt x="704131" y="284804"/>
                  </a:lnTo>
                  <a:lnTo>
                    <a:pt x="720072" y="296769"/>
                  </a:lnTo>
                  <a:lnTo>
                    <a:pt x="735385" y="304602"/>
                  </a:lnTo>
                  <a:lnTo>
                    <a:pt x="753033" y="309801"/>
                  </a:lnTo>
                  <a:lnTo>
                    <a:pt x="775981" y="313865"/>
                  </a:lnTo>
                </a:path>
              </a:pathLst>
            </a:custGeom>
            <a:ln w="19050">
              <a:solidFill>
                <a:srgbClr val="598B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14246046" y="6480555"/>
            <a:ext cx="9359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" dirty="0">
                <a:latin typeface="Arial MT"/>
                <a:cs typeface="Arial MT"/>
              </a:rPr>
              <a:t>Noise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48" name="object 4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51333" y="6087226"/>
            <a:ext cx="1426718" cy="1434150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84236" y="6087226"/>
            <a:ext cx="1426724" cy="143415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317785" y="6087226"/>
            <a:ext cx="1426724" cy="1434150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2908426" y="6535419"/>
            <a:ext cx="7778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20" dirty="0">
                <a:latin typeface="Arial MT"/>
                <a:cs typeface="Arial MT"/>
              </a:rPr>
              <a:t>Data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800680" y="5879673"/>
            <a:ext cx="12208510" cy="0"/>
          </a:xfrm>
          <a:custGeom>
            <a:avLst/>
            <a:gdLst/>
            <a:ahLst/>
            <a:cxnLst/>
            <a:rect l="l" t="t" r="r" b="b"/>
            <a:pathLst>
              <a:path w="12208510">
                <a:moveTo>
                  <a:pt x="0" y="0"/>
                </a:moveTo>
                <a:lnTo>
                  <a:pt x="12208291" y="1"/>
                </a:lnTo>
              </a:path>
            </a:pathLst>
          </a:custGeom>
          <a:ln w="2857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3129285" y="8281665"/>
            <a:ext cx="281305" cy="1434465"/>
          </a:xfrm>
          <a:custGeom>
            <a:avLst/>
            <a:gdLst/>
            <a:ahLst/>
            <a:cxnLst/>
            <a:rect l="l" t="t" r="r" b="b"/>
            <a:pathLst>
              <a:path w="281305" h="1434465">
                <a:moveTo>
                  <a:pt x="280972" y="1434145"/>
                </a:moveTo>
                <a:lnTo>
                  <a:pt x="219189" y="1409097"/>
                </a:lnTo>
                <a:lnTo>
                  <a:pt x="193104" y="1380005"/>
                </a:lnTo>
                <a:lnTo>
                  <a:pt x="171348" y="1341842"/>
                </a:lnTo>
                <a:lnTo>
                  <a:pt x="154764" y="1296085"/>
                </a:lnTo>
                <a:lnTo>
                  <a:pt x="144195" y="1244214"/>
                </a:lnTo>
                <a:lnTo>
                  <a:pt x="140485" y="1187709"/>
                </a:lnTo>
                <a:lnTo>
                  <a:pt x="140486" y="963508"/>
                </a:lnTo>
                <a:lnTo>
                  <a:pt x="136776" y="907003"/>
                </a:lnTo>
                <a:lnTo>
                  <a:pt x="126207" y="855132"/>
                </a:lnTo>
                <a:lnTo>
                  <a:pt x="109623" y="809375"/>
                </a:lnTo>
                <a:lnTo>
                  <a:pt x="87867" y="771211"/>
                </a:lnTo>
                <a:lnTo>
                  <a:pt x="61782" y="742120"/>
                </a:lnTo>
                <a:lnTo>
                  <a:pt x="0" y="717072"/>
                </a:lnTo>
                <a:lnTo>
                  <a:pt x="32212" y="710563"/>
                </a:lnTo>
                <a:lnTo>
                  <a:pt x="87867" y="662933"/>
                </a:lnTo>
                <a:lnTo>
                  <a:pt x="109623" y="624769"/>
                </a:lnTo>
                <a:lnTo>
                  <a:pt x="126207" y="579012"/>
                </a:lnTo>
                <a:lnTo>
                  <a:pt x="136776" y="527141"/>
                </a:lnTo>
                <a:lnTo>
                  <a:pt x="140486" y="470636"/>
                </a:lnTo>
                <a:lnTo>
                  <a:pt x="140486" y="246436"/>
                </a:lnTo>
                <a:lnTo>
                  <a:pt x="144197" y="189930"/>
                </a:lnTo>
                <a:lnTo>
                  <a:pt x="154766" y="138059"/>
                </a:lnTo>
                <a:lnTo>
                  <a:pt x="171350" y="92302"/>
                </a:lnTo>
                <a:lnTo>
                  <a:pt x="193106" y="54139"/>
                </a:lnTo>
                <a:lnTo>
                  <a:pt x="219191" y="25048"/>
                </a:lnTo>
                <a:lnTo>
                  <a:pt x="248761" y="6508"/>
                </a:lnTo>
                <a:lnTo>
                  <a:pt x="280973" y="0"/>
                </a:lnTo>
              </a:path>
            </a:pathLst>
          </a:custGeom>
          <a:ln w="38100">
            <a:solidFill>
              <a:srgbClr val="588B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13437235" y="8354568"/>
            <a:ext cx="322135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GANs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used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Xiao</a:t>
            </a:r>
            <a:r>
              <a:rPr sz="2300" spc="-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et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al.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67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3293110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Training-</a:t>
            </a:r>
            <a:r>
              <a:rPr dirty="0"/>
              <a:t>based</a:t>
            </a:r>
            <a:r>
              <a:rPr spc="-145" dirty="0"/>
              <a:t> </a:t>
            </a:r>
            <a:r>
              <a:rPr dirty="0"/>
              <a:t>Sampling</a:t>
            </a:r>
            <a:r>
              <a:rPr spc="-15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2779268"/>
            <a:ext cx="14579600" cy="574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Trebuchet MS"/>
                <a:cs typeface="Trebuchet MS"/>
              </a:rPr>
              <a:t>Knowledge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distillation:</a:t>
            </a:r>
            <a:endParaRPr sz="24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620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Luhman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and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Luhman,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Knowledge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Distillation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in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Iterative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Generative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Models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for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Improved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Sampling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Speed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arXiv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2021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Clr>
                <a:srgbClr val="CDCDCD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300" dirty="0">
                <a:latin typeface="Trebuchet MS"/>
                <a:cs typeface="Trebuchet MS"/>
              </a:rPr>
              <a:t>Learned</a:t>
            </a:r>
            <a:r>
              <a:rPr sz="2300" spc="8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Samplers:</a:t>
            </a:r>
            <a:endParaRPr sz="23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64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Watson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"Learning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Fast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Samplers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for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Diffusion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Models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by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Differentiating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Through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Sample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Quality"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ICLR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2022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70"/>
              </a:spcBef>
              <a:buClr>
                <a:srgbClr val="CDCDCD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spcBef>
                <a:spcPts val="5"/>
              </a:spcBef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Trebuchet MS"/>
                <a:cs typeface="Trebuchet MS"/>
              </a:rPr>
              <a:t>Neural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Operators:</a:t>
            </a:r>
            <a:endParaRPr sz="24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52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Zheng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Fast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Sampling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of</a:t>
            </a:r>
            <a:r>
              <a:rPr sz="20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Diffusion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Models</a:t>
            </a:r>
            <a:r>
              <a:rPr sz="20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via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Operator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Learning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ICML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2023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75"/>
              </a:spcBef>
              <a:buClr>
                <a:srgbClr val="CDCDCD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400" dirty="0">
                <a:latin typeface="Trebuchet MS"/>
                <a:cs typeface="Trebuchet MS"/>
              </a:rPr>
              <a:t>Wavelet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Diffusion</a:t>
            </a:r>
            <a:r>
              <a:rPr sz="2400" spc="-8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Models:</a:t>
            </a:r>
            <a:endParaRPr sz="24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62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Phung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"Wavelet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Diffusion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Models</a:t>
            </a:r>
            <a:r>
              <a:rPr sz="20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Are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Fast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and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Scalable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Image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Generators"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CVPR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2023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75"/>
              </a:spcBef>
              <a:buClr>
                <a:srgbClr val="CDCDCD"/>
              </a:buClr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300" dirty="0">
                <a:latin typeface="Trebuchet MS"/>
                <a:cs typeface="Trebuchet MS"/>
              </a:rPr>
              <a:t>Distilled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ODE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Solvers:</a:t>
            </a:r>
            <a:endParaRPr sz="23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64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Dockhorn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"GENIE:</a:t>
            </a:r>
            <a:r>
              <a:rPr sz="20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Higher-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Order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Denoising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Diffusion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Solvers"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3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NeurIPS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2022</a:t>
            </a:r>
            <a:endParaRPr sz="2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860925">
              <a:lnSpc>
                <a:spcPct val="100000"/>
              </a:lnSpc>
              <a:spcBef>
                <a:spcPts val="100"/>
              </a:spcBef>
            </a:pPr>
            <a:r>
              <a:rPr dirty="0"/>
              <a:t>Acceleration</a:t>
            </a:r>
            <a:r>
              <a:rPr spc="-31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19197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5" y="2763745"/>
                </a:lnTo>
                <a:lnTo>
                  <a:pt x="1577543" y="2758017"/>
                </a:lnTo>
                <a:lnTo>
                  <a:pt x="1624339" y="2750714"/>
                </a:lnTo>
                <a:lnTo>
                  <a:pt x="1670603" y="2741864"/>
                </a:lnTo>
                <a:lnTo>
                  <a:pt x="1716309" y="2731493"/>
                </a:lnTo>
                <a:lnTo>
                  <a:pt x="1761429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9" y="2675358"/>
                </a:lnTo>
                <a:lnTo>
                  <a:pt x="1935500" y="2657799"/>
                </a:lnTo>
                <a:lnTo>
                  <a:pt x="1977279" y="2638884"/>
                </a:lnTo>
                <a:lnTo>
                  <a:pt x="2018306" y="2618642"/>
                </a:lnTo>
                <a:lnTo>
                  <a:pt x="2058556" y="2597099"/>
                </a:lnTo>
                <a:lnTo>
                  <a:pt x="2097999" y="2574284"/>
                </a:lnTo>
                <a:lnTo>
                  <a:pt x="2136610" y="2550223"/>
                </a:lnTo>
                <a:lnTo>
                  <a:pt x="2174360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3" y="2412201"/>
                </a:lnTo>
                <a:lnTo>
                  <a:pt x="2349237" y="2381245"/>
                </a:lnTo>
                <a:lnTo>
                  <a:pt x="2381246" y="2349236"/>
                </a:lnTo>
                <a:lnTo>
                  <a:pt x="2412201" y="2316202"/>
                </a:lnTo>
                <a:lnTo>
                  <a:pt x="2442077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4" y="2136609"/>
                </a:lnTo>
                <a:lnTo>
                  <a:pt x="2574284" y="2097998"/>
                </a:lnTo>
                <a:lnTo>
                  <a:pt x="2597100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30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8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8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30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100" y="712648"/>
                </a:lnTo>
                <a:lnTo>
                  <a:pt x="2574284" y="673205"/>
                </a:lnTo>
                <a:lnTo>
                  <a:pt x="2550224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7" y="489034"/>
                </a:lnTo>
                <a:lnTo>
                  <a:pt x="2412201" y="455001"/>
                </a:lnTo>
                <a:lnTo>
                  <a:pt x="2381246" y="421967"/>
                </a:lnTo>
                <a:lnTo>
                  <a:pt x="2349237" y="389958"/>
                </a:lnTo>
                <a:lnTo>
                  <a:pt x="2316203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60" y="246259"/>
                </a:lnTo>
                <a:lnTo>
                  <a:pt x="2136610" y="220980"/>
                </a:lnTo>
                <a:lnTo>
                  <a:pt x="2097999" y="196919"/>
                </a:lnTo>
                <a:lnTo>
                  <a:pt x="2058556" y="174104"/>
                </a:lnTo>
                <a:lnTo>
                  <a:pt x="2018306" y="152562"/>
                </a:lnTo>
                <a:lnTo>
                  <a:pt x="1977279" y="132319"/>
                </a:lnTo>
                <a:lnTo>
                  <a:pt x="1935500" y="113405"/>
                </a:lnTo>
                <a:lnTo>
                  <a:pt x="1892999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9" y="51574"/>
                </a:lnTo>
                <a:lnTo>
                  <a:pt x="1716309" y="39711"/>
                </a:lnTo>
                <a:lnTo>
                  <a:pt x="1670603" y="29340"/>
                </a:lnTo>
                <a:lnTo>
                  <a:pt x="1624339" y="20489"/>
                </a:lnTo>
                <a:lnTo>
                  <a:pt x="1577543" y="13186"/>
                </a:lnTo>
                <a:lnTo>
                  <a:pt x="1530245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6346" y="3842003"/>
            <a:ext cx="1777364" cy="14916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ctr">
              <a:lnSpc>
                <a:spcPts val="3790"/>
              </a:lnSpc>
              <a:spcBef>
                <a:spcPts val="26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ODE/SDE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ts val="3795"/>
              </a:lnSpc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Solvers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4686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41988" y="4145788"/>
            <a:ext cx="177673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0160">
              <a:lnSpc>
                <a:spcPct val="101400"/>
              </a:lnSpc>
              <a:spcBef>
                <a:spcPts val="50"/>
              </a:spcBef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Distillation </a:t>
            </a:r>
            <a:r>
              <a:rPr sz="2800" spc="-45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111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21239" y="3842003"/>
            <a:ext cx="175133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9525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Low-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dim.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Diffusion 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066712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8" y="0"/>
                </a:moveTo>
                <a:lnTo>
                  <a:pt x="1336963" y="837"/>
                </a:lnTo>
                <a:lnTo>
                  <a:pt x="1288740" y="3333"/>
                </a:lnTo>
                <a:lnTo>
                  <a:pt x="1240965" y="7458"/>
                </a:lnTo>
                <a:lnTo>
                  <a:pt x="1193666" y="13186"/>
                </a:lnTo>
                <a:lnTo>
                  <a:pt x="1146870" y="20489"/>
                </a:lnTo>
                <a:lnTo>
                  <a:pt x="1100606" y="29340"/>
                </a:lnTo>
                <a:lnTo>
                  <a:pt x="1054900" y="39711"/>
                </a:lnTo>
                <a:lnTo>
                  <a:pt x="1009780" y="51574"/>
                </a:lnTo>
                <a:lnTo>
                  <a:pt x="965273" y="64903"/>
                </a:lnTo>
                <a:lnTo>
                  <a:pt x="921407" y="79669"/>
                </a:lnTo>
                <a:lnTo>
                  <a:pt x="878209" y="95846"/>
                </a:lnTo>
                <a:lnTo>
                  <a:pt x="835707" y="113405"/>
                </a:lnTo>
                <a:lnTo>
                  <a:pt x="793929" y="132319"/>
                </a:lnTo>
                <a:lnTo>
                  <a:pt x="752901" y="152562"/>
                </a:lnTo>
                <a:lnTo>
                  <a:pt x="712651" y="174104"/>
                </a:lnTo>
                <a:lnTo>
                  <a:pt x="673207" y="196919"/>
                </a:lnTo>
                <a:lnTo>
                  <a:pt x="634597" y="220980"/>
                </a:lnTo>
                <a:lnTo>
                  <a:pt x="596847" y="246259"/>
                </a:lnTo>
                <a:lnTo>
                  <a:pt x="559985" y="272728"/>
                </a:lnTo>
                <a:lnTo>
                  <a:pt x="524039" y="300360"/>
                </a:lnTo>
                <a:lnTo>
                  <a:pt x="489036" y="329127"/>
                </a:lnTo>
                <a:lnTo>
                  <a:pt x="455003" y="359002"/>
                </a:lnTo>
                <a:lnTo>
                  <a:pt x="421969" y="389958"/>
                </a:lnTo>
                <a:lnTo>
                  <a:pt x="389960" y="421967"/>
                </a:lnTo>
                <a:lnTo>
                  <a:pt x="359004" y="455001"/>
                </a:lnTo>
                <a:lnTo>
                  <a:pt x="329128" y="489034"/>
                </a:lnTo>
                <a:lnTo>
                  <a:pt x="300361" y="524037"/>
                </a:lnTo>
                <a:lnTo>
                  <a:pt x="272729" y="559983"/>
                </a:lnTo>
                <a:lnTo>
                  <a:pt x="246260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5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5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60" y="2174359"/>
                </a:lnTo>
                <a:lnTo>
                  <a:pt x="272729" y="2211220"/>
                </a:lnTo>
                <a:lnTo>
                  <a:pt x="300361" y="2247166"/>
                </a:lnTo>
                <a:lnTo>
                  <a:pt x="329128" y="2282169"/>
                </a:lnTo>
                <a:lnTo>
                  <a:pt x="359004" y="2316202"/>
                </a:lnTo>
                <a:lnTo>
                  <a:pt x="389960" y="2349236"/>
                </a:lnTo>
                <a:lnTo>
                  <a:pt x="421969" y="2381245"/>
                </a:lnTo>
                <a:lnTo>
                  <a:pt x="455003" y="2412201"/>
                </a:lnTo>
                <a:lnTo>
                  <a:pt x="489036" y="2442076"/>
                </a:lnTo>
                <a:lnTo>
                  <a:pt x="524039" y="2470844"/>
                </a:lnTo>
                <a:lnTo>
                  <a:pt x="559985" y="2498476"/>
                </a:lnTo>
                <a:lnTo>
                  <a:pt x="596847" y="2524945"/>
                </a:lnTo>
                <a:lnTo>
                  <a:pt x="634597" y="2550223"/>
                </a:lnTo>
                <a:lnTo>
                  <a:pt x="673207" y="2574284"/>
                </a:lnTo>
                <a:lnTo>
                  <a:pt x="712651" y="2597099"/>
                </a:lnTo>
                <a:lnTo>
                  <a:pt x="752901" y="2618642"/>
                </a:lnTo>
                <a:lnTo>
                  <a:pt x="793929" y="2638884"/>
                </a:lnTo>
                <a:lnTo>
                  <a:pt x="835707" y="2657799"/>
                </a:lnTo>
                <a:lnTo>
                  <a:pt x="878209" y="2675358"/>
                </a:lnTo>
                <a:lnTo>
                  <a:pt x="921407" y="2691535"/>
                </a:lnTo>
                <a:lnTo>
                  <a:pt x="965273" y="2706301"/>
                </a:lnTo>
                <a:lnTo>
                  <a:pt x="1009780" y="2719629"/>
                </a:lnTo>
                <a:lnTo>
                  <a:pt x="1054900" y="2731493"/>
                </a:lnTo>
                <a:lnTo>
                  <a:pt x="1100606" y="2741864"/>
                </a:lnTo>
                <a:lnTo>
                  <a:pt x="1146870" y="2750714"/>
                </a:lnTo>
                <a:lnTo>
                  <a:pt x="1193666" y="2758017"/>
                </a:lnTo>
                <a:lnTo>
                  <a:pt x="1240965" y="2763745"/>
                </a:lnTo>
                <a:lnTo>
                  <a:pt x="1288740" y="2767871"/>
                </a:lnTo>
                <a:lnTo>
                  <a:pt x="1336963" y="2770366"/>
                </a:lnTo>
                <a:lnTo>
                  <a:pt x="1385608" y="2771204"/>
                </a:lnTo>
                <a:lnTo>
                  <a:pt x="1434252" y="2770366"/>
                </a:lnTo>
                <a:lnTo>
                  <a:pt x="1482475" y="2767871"/>
                </a:lnTo>
                <a:lnTo>
                  <a:pt x="1530250" y="2763745"/>
                </a:lnTo>
                <a:lnTo>
                  <a:pt x="1577549" y="2758017"/>
                </a:lnTo>
                <a:lnTo>
                  <a:pt x="1624344" y="2750714"/>
                </a:lnTo>
                <a:lnTo>
                  <a:pt x="1670609" y="2741864"/>
                </a:lnTo>
                <a:lnTo>
                  <a:pt x="1716315" y="2731493"/>
                </a:lnTo>
                <a:lnTo>
                  <a:pt x="1761435" y="2719629"/>
                </a:lnTo>
                <a:lnTo>
                  <a:pt x="1805941" y="2706301"/>
                </a:lnTo>
                <a:lnTo>
                  <a:pt x="1849807" y="2691535"/>
                </a:lnTo>
                <a:lnTo>
                  <a:pt x="1893004" y="2675358"/>
                </a:lnTo>
                <a:lnTo>
                  <a:pt x="1935506" y="2657799"/>
                </a:lnTo>
                <a:lnTo>
                  <a:pt x="1977284" y="2638884"/>
                </a:lnTo>
                <a:lnTo>
                  <a:pt x="2018312" y="2618642"/>
                </a:lnTo>
                <a:lnTo>
                  <a:pt x="2058561" y="2597099"/>
                </a:lnTo>
                <a:lnTo>
                  <a:pt x="2098004" y="2574284"/>
                </a:lnTo>
                <a:lnTo>
                  <a:pt x="2136615" y="2550223"/>
                </a:lnTo>
                <a:lnTo>
                  <a:pt x="2174364" y="2524945"/>
                </a:lnTo>
                <a:lnTo>
                  <a:pt x="2211226" y="2498476"/>
                </a:lnTo>
                <a:lnTo>
                  <a:pt x="2247171" y="2470844"/>
                </a:lnTo>
                <a:lnTo>
                  <a:pt x="2282174" y="2442076"/>
                </a:lnTo>
                <a:lnTo>
                  <a:pt x="2316206" y="2412201"/>
                </a:lnTo>
                <a:lnTo>
                  <a:pt x="2349240" y="2381245"/>
                </a:lnTo>
                <a:lnTo>
                  <a:pt x="2381249" y="2349236"/>
                </a:lnTo>
                <a:lnTo>
                  <a:pt x="2412204" y="2316202"/>
                </a:lnTo>
                <a:lnTo>
                  <a:pt x="2442079" y="2282169"/>
                </a:lnTo>
                <a:lnTo>
                  <a:pt x="2470846" y="2247166"/>
                </a:lnTo>
                <a:lnTo>
                  <a:pt x="2498478" y="2211220"/>
                </a:lnTo>
                <a:lnTo>
                  <a:pt x="2524947" y="2174359"/>
                </a:lnTo>
                <a:lnTo>
                  <a:pt x="2550225" y="2136609"/>
                </a:lnTo>
                <a:lnTo>
                  <a:pt x="2574286" y="2097998"/>
                </a:lnTo>
                <a:lnTo>
                  <a:pt x="2597101" y="2058555"/>
                </a:lnTo>
                <a:lnTo>
                  <a:pt x="2618643" y="2018305"/>
                </a:lnTo>
                <a:lnTo>
                  <a:pt x="2638885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2" y="1716308"/>
                </a:lnTo>
                <a:lnTo>
                  <a:pt x="2741863" y="1670602"/>
                </a:lnTo>
                <a:lnTo>
                  <a:pt x="2750713" y="1624337"/>
                </a:lnTo>
                <a:lnTo>
                  <a:pt x="2758016" y="1577542"/>
                </a:lnTo>
                <a:lnTo>
                  <a:pt x="2763744" y="1530243"/>
                </a:lnTo>
                <a:lnTo>
                  <a:pt x="2767870" y="1482469"/>
                </a:lnTo>
                <a:lnTo>
                  <a:pt x="2770365" y="1434245"/>
                </a:lnTo>
                <a:lnTo>
                  <a:pt x="2771203" y="1385601"/>
                </a:lnTo>
                <a:lnTo>
                  <a:pt x="2770365" y="1336957"/>
                </a:lnTo>
                <a:lnTo>
                  <a:pt x="2767870" y="1288734"/>
                </a:lnTo>
                <a:lnTo>
                  <a:pt x="2763744" y="1240959"/>
                </a:lnTo>
                <a:lnTo>
                  <a:pt x="2758016" y="1193660"/>
                </a:lnTo>
                <a:lnTo>
                  <a:pt x="2750713" y="1146865"/>
                </a:lnTo>
                <a:lnTo>
                  <a:pt x="2741863" y="1100601"/>
                </a:lnTo>
                <a:lnTo>
                  <a:pt x="2731492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5" y="793925"/>
                </a:lnTo>
                <a:lnTo>
                  <a:pt x="2618643" y="752898"/>
                </a:lnTo>
                <a:lnTo>
                  <a:pt x="2597101" y="712648"/>
                </a:lnTo>
                <a:lnTo>
                  <a:pt x="2574286" y="673205"/>
                </a:lnTo>
                <a:lnTo>
                  <a:pt x="2550225" y="634594"/>
                </a:lnTo>
                <a:lnTo>
                  <a:pt x="2524947" y="596844"/>
                </a:lnTo>
                <a:lnTo>
                  <a:pt x="2498478" y="559983"/>
                </a:lnTo>
                <a:lnTo>
                  <a:pt x="2470846" y="524037"/>
                </a:lnTo>
                <a:lnTo>
                  <a:pt x="2442079" y="489034"/>
                </a:lnTo>
                <a:lnTo>
                  <a:pt x="2412204" y="455001"/>
                </a:lnTo>
                <a:lnTo>
                  <a:pt x="2381249" y="421967"/>
                </a:lnTo>
                <a:lnTo>
                  <a:pt x="2349240" y="389958"/>
                </a:lnTo>
                <a:lnTo>
                  <a:pt x="2316206" y="359002"/>
                </a:lnTo>
                <a:lnTo>
                  <a:pt x="2282174" y="329127"/>
                </a:lnTo>
                <a:lnTo>
                  <a:pt x="2247171" y="300360"/>
                </a:lnTo>
                <a:lnTo>
                  <a:pt x="2211226" y="272728"/>
                </a:lnTo>
                <a:lnTo>
                  <a:pt x="2174364" y="246259"/>
                </a:lnTo>
                <a:lnTo>
                  <a:pt x="2136615" y="220980"/>
                </a:lnTo>
                <a:lnTo>
                  <a:pt x="2098004" y="196919"/>
                </a:lnTo>
                <a:lnTo>
                  <a:pt x="2058561" y="174104"/>
                </a:lnTo>
                <a:lnTo>
                  <a:pt x="2018312" y="152562"/>
                </a:lnTo>
                <a:lnTo>
                  <a:pt x="1977284" y="132319"/>
                </a:lnTo>
                <a:lnTo>
                  <a:pt x="1935506" y="113405"/>
                </a:lnTo>
                <a:lnTo>
                  <a:pt x="1893004" y="95846"/>
                </a:lnTo>
                <a:lnTo>
                  <a:pt x="1849807" y="79669"/>
                </a:lnTo>
                <a:lnTo>
                  <a:pt x="1805941" y="64903"/>
                </a:lnTo>
                <a:lnTo>
                  <a:pt x="1761435" y="51574"/>
                </a:lnTo>
                <a:lnTo>
                  <a:pt x="1716315" y="39711"/>
                </a:lnTo>
                <a:lnTo>
                  <a:pt x="1670609" y="29340"/>
                </a:lnTo>
                <a:lnTo>
                  <a:pt x="1624344" y="20489"/>
                </a:lnTo>
                <a:lnTo>
                  <a:pt x="1577549" y="13186"/>
                </a:lnTo>
                <a:lnTo>
                  <a:pt x="1530250" y="7458"/>
                </a:lnTo>
                <a:lnTo>
                  <a:pt x="1482475" y="3333"/>
                </a:lnTo>
                <a:lnTo>
                  <a:pt x="1434252" y="837"/>
                </a:lnTo>
                <a:lnTo>
                  <a:pt x="1385608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63320" y="3842003"/>
            <a:ext cx="1777364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034" marR="5080" indent="-13970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Diffusion 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68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69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Cascaded</a:t>
            </a:r>
            <a:r>
              <a:rPr spc="-254" dirty="0"/>
              <a:t> </a:t>
            </a:r>
            <a:r>
              <a:rPr spc="-10" dirty="0"/>
              <a:t>Generation</a:t>
            </a:r>
          </a:p>
          <a:p>
            <a:pPr marL="635" algn="ctr">
              <a:lnSpc>
                <a:spcPct val="100000"/>
              </a:lnSpc>
              <a:spcBef>
                <a:spcPts val="90"/>
              </a:spcBef>
            </a:pPr>
            <a:r>
              <a:rPr sz="3000" spc="-10" dirty="0">
                <a:solidFill>
                  <a:srgbClr val="890C58"/>
                </a:solidFill>
              </a:rPr>
              <a:t>Pipeline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906578" y="8756904"/>
            <a:ext cx="15471140" cy="14243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858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Cascaded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outperform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Big-GAN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FID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VQ-</a:t>
            </a:r>
            <a:r>
              <a:rPr sz="2300" spc="-20" dirty="0">
                <a:latin typeface="Trebuchet MS"/>
                <a:cs typeface="Trebuchet MS"/>
              </a:rPr>
              <a:t>VAE2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Classification</a:t>
            </a:r>
            <a:r>
              <a:rPr sz="2300" spc="-10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Accuracy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Score.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Ho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al.,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“Cascaded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Diffusion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Models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for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High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Fidelity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Image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Generation”,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2021.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Ramesh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al.,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“Hierarchical</a:t>
            </a:r>
            <a:r>
              <a:rPr sz="1800" u="sng" spc="-7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Text-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Conditional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Image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Generation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with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CLIP</a:t>
            </a:r>
            <a:r>
              <a:rPr sz="1800" u="sng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Latents”,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arXiv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2022.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Saharia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et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al.,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“Photorealistic</a:t>
            </a:r>
            <a:r>
              <a:rPr sz="1800" u="sng" spc="-7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spc="-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Text-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to-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Image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Diffusion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Models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with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Deep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Language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Understanding”,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arXiv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2022.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15023" y="3023102"/>
            <a:ext cx="12696573" cy="3905854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Latent</a:t>
            </a:r>
            <a:r>
              <a:rPr spc="-160" dirty="0"/>
              <a:t> </a:t>
            </a:r>
            <a:r>
              <a:rPr dirty="0"/>
              <a:t>Diffusion</a:t>
            </a:r>
            <a:r>
              <a:rPr spc="-165" dirty="0"/>
              <a:t> </a:t>
            </a:r>
            <a:r>
              <a:rPr spc="-10" dirty="0"/>
              <a:t>Models</a:t>
            </a:r>
          </a:p>
          <a:p>
            <a:pPr marL="635"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Variational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autoencoder</a:t>
            </a:r>
            <a:r>
              <a:rPr sz="3000" spc="-7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+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spc="-20" dirty="0">
                <a:solidFill>
                  <a:srgbClr val="890C58"/>
                </a:solidFill>
              </a:rPr>
              <a:t>score-</a:t>
            </a:r>
            <a:r>
              <a:rPr sz="3000" dirty="0">
                <a:solidFill>
                  <a:srgbClr val="890C58"/>
                </a:solidFill>
              </a:rPr>
              <a:t>based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prior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464092" y="3184282"/>
            <a:ext cx="1050290" cy="133350"/>
          </a:xfrm>
          <a:custGeom>
            <a:avLst/>
            <a:gdLst/>
            <a:ahLst/>
            <a:cxnLst/>
            <a:rect l="l" t="t" r="r" b="b"/>
            <a:pathLst>
              <a:path w="1050290" h="133350">
                <a:moveTo>
                  <a:pt x="916548" y="0"/>
                </a:moveTo>
                <a:lnTo>
                  <a:pt x="916548" y="133350"/>
                </a:lnTo>
                <a:lnTo>
                  <a:pt x="1005448" y="88900"/>
                </a:lnTo>
                <a:lnTo>
                  <a:pt x="938773" y="88900"/>
                </a:lnTo>
                <a:lnTo>
                  <a:pt x="938773" y="44450"/>
                </a:lnTo>
                <a:lnTo>
                  <a:pt x="1005448" y="44450"/>
                </a:lnTo>
                <a:lnTo>
                  <a:pt x="916548" y="0"/>
                </a:lnTo>
                <a:close/>
              </a:path>
              <a:path w="1050290" h="133350">
                <a:moveTo>
                  <a:pt x="916548" y="44450"/>
                </a:moveTo>
                <a:lnTo>
                  <a:pt x="0" y="44450"/>
                </a:lnTo>
                <a:lnTo>
                  <a:pt x="0" y="88900"/>
                </a:lnTo>
                <a:lnTo>
                  <a:pt x="916548" y="88900"/>
                </a:lnTo>
                <a:lnTo>
                  <a:pt x="916548" y="44450"/>
                </a:lnTo>
                <a:close/>
              </a:path>
              <a:path w="1050290" h="133350">
                <a:moveTo>
                  <a:pt x="1005448" y="44450"/>
                </a:moveTo>
                <a:lnTo>
                  <a:pt x="938773" y="44450"/>
                </a:lnTo>
                <a:lnTo>
                  <a:pt x="938773" y="88900"/>
                </a:lnTo>
                <a:lnTo>
                  <a:pt x="1005448" y="88900"/>
                </a:lnTo>
                <a:lnTo>
                  <a:pt x="1049898" y="66675"/>
                </a:lnTo>
                <a:lnTo>
                  <a:pt x="1005448" y="444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83923" y="4946169"/>
            <a:ext cx="1057275" cy="133350"/>
          </a:xfrm>
          <a:custGeom>
            <a:avLst/>
            <a:gdLst/>
            <a:ahLst/>
            <a:cxnLst/>
            <a:rect l="l" t="t" r="r" b="b"/>
            <a:pathLst>
              <a:path w="1057275" h="133350">
                <a:moveTo>
                  <a:pt x="133350" y="0"/>
                </a:moveTo>
                <a:lnTo>
                  <a:pt x="0" y="66675"/>
                </a:lnTo>
                <a:lnTo>
                  <a:pt x="133350" y="133350"/>
                </a:lnTo>
                <a:lnTo>
                  <a:pt x="133350" y="88900"/>
                </a:lnTo>
                <a:lnTo>
                  <a:pt x="111125" y="88900"/>
                </a:lnTo>
                <a:lnTo>
                  <a:pt x="111125" y="44450"/>
                </a:lnTo>
                <a:lnTo>
                  <a:pt x="133350" y="44450"/>
                </a:lnTo>
                <a:lnTo>
                  <a:pt x="133350" y="0"/>
                </a:lnTo>
                <a:close/>
              </a:path>
              <a:path w="1057275" h="133350">
                <a:moveTo>
                  <a:pt x="133350" y="44450"/>
                </a:moveTo>
                <a:lnTo>
                  <a:pt x="111125" y="44450"/>
                </a:lnTo>
                <a:lnTo>
                  <a:pt x="111125" y="88900"/>
                </a:lnTo>
                <a:lnTo>
                  <a:pt x="133350" y="88900"/>
                </a:lnTo>
                <a:lnTo>
                  <a:pt x="133350" y="44450"/>
                </a:lnTo>
                <a:close/>
              </a:path>
              <a:path w="1057275" h="133350">
                <a:moveTo>
                  <a:pt x="1057230" y="44450"/>
                </a:moveTo>
                <a:lnTo>
                  <a:pt x="133350" y="44450"/>
                </a:lnTo>
                <a:lnTo>
                  <a:pt x="133350" y="88900"/>
                </a:lnTo>
                <a:lnTo>
                  <a:pt x="1057230" y="88900"/>
                </a:lnTo>
                <a:lnTo>
                  <a:pt x="1057230" y="444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55825" y="2928619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Encoder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9846" y="4998211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Decoder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2483" y="3378715"/>
            <a:ext cx="595085" cy="6040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53617" y="3084068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2962" y="4848859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Reconst.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20935" y="3309725"/>
            <a:ext cx="825500" cy="1277620"/>
            <a:chOff x="7420935" y="3309725"/>
            <a:chExt cx="825500" cy="127762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0935" y="3309725"/>
              <a:ext cx="825276" cy="2775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9150" y="3645118"/>
              <a:ext cx="701714" cy="9252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78945" y="3632984"/>
              <a:ext cx="718820" cy="948055"/>
            </a:xfrm>
            <a:custGeom>
              <a:avLst/>
              <a:gdLst/>
              <a:ahLst/>
              <a:cxnLst/>
              <a:rect l="l" t="t" r="r" b="b"/>
              <a:pathLst>
                <a:path w="718820" h="948054">
                  <a:moveTo>
                    <a:pt x="718270" y="0"/>
                  </a:moveTo>
                  <a:lnTo>
                    <a:pt x="718270" y="947637"/>
                  </a:lnTo>
                  <a:lnTo>
                    <a:pt x="0" y="947637"/>
                  </a:lnTo>
                  <a:lnTo>
                    <a:pt x="0" y="0"/>
                  </a:lnTo>
                  <a:lnTo>
                    <a:pt x="71827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5678" y="5146356"/>
            <a:ext cx="771222" cy="25252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8877807" y="3108356"/>
            <a:ext cx="5154930" cy="1964055"/>
            <a:chOff x="8877807" y="3108356"/>
            <a:chExt cx="5154930" cy="196405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0507" y="3283374"/>
              <a:ext cx="663312" cy="160617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884157" y="3277023"/>
              <a:ext cx="681355" cy="1619250"/>
            </a:xfrm>
            <a:custGeom>
              <a:avLst/>
              <a:gdLst/>
              <a:ahLst/>
              <a:cxnLst/>
              <a:rect l="l" t="t" r="r" b="b"/>
              <a:pathLst>
                <a:path w="681354" h="1619250">
                  <a:moveTo>
                    <a:pt x="680734" y="1618872"/>
                  </a:moveTo>
                  <a:lnTo>
                    <a:pt x="680734" y="0"/>
                  </a:lnTo>
                  <a:lnTo>
                    <a:pt x="0" y="0"/>
                  </a:lnTo>
                  <a:lnTo>
                    <a:pt x="0" y="1618872"/>
                  </a:lnTo>
                  <a:lnTo>
                    <a:pt x="680734" y="16188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73902" y="3286848"/>
              <a:ext cx="634519" cy="15992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345208" y="3277021"/>
              <a:ext cx="681355" cy="1619250"/>
            </a:xfrm>
            <a:custGeom>
              <a:avLst/>
              <a:gdLst/>
              <a:ahLst/>
              <a:cxnLst/>
              <a:rect l="l" t="t" r="r" b="b"/>
              <a:pathLst>
                <a:path w="681355" h="1619250">
                  <a:moveTo>
                    <a:pt x="680735" y="0"/>
                  </a:moveTo>
                  <a:lnTo>
                    <a:pt x="680735" y="1618872"/>
                  </a:lnTo>
                  <a:lnTo>
                    <a:pt x="0" y="1618872"/>
                  </a:lnTo>
                  <a:lnTo>
                    <a:pt x="0" y="0"/>
                  </a:lnTo>
                  <a:lnTo>
                    <a:pt x="680735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58543" y="3283371"/>
              <a:ext cx="3816753" cy="1606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685528" y="3108362"/>
              <a:ext cx="3543935" cy="1964055"/>
            </a:xfrm>
            <a:custGeom>
              <a:avLst/>
              <a:gdLst/>
              <a:ahLst/>
              <a:cxnLst/>
              <a:rect l="l" t="t" r="r" b="b"/>
              <a:pathLst>
                <a:path w="3543934" h="1964054">
                  <a:moveTo>
                    <a:pt x="3543338" y="1875256"/>
                  </a:moveTo>
                  <a:lnTo>
                    <a:pt x="133438" y="1874824"/>
                  </a:lnTo>
                  <a:lnTo>
                    <a:pt x="133451" y="1830374"/>
                  </a:lnTo>
                  <a:lnTo>
                    <a:pt x="88" y="1897037"/>
                  </a:lnTo>
                  <a:lnTo>
                    <a:pt x="133426" y="1963724"/>
                  </a:lnTo>
                  <a:lnTo>
                    <a:pt x="133438" y="1919274"/>
                  </a:lnTo>
                  <a:lnTo>
                    <a:pt x="3543338" y="1919706"/>
                  </a:lnTo>
                  <a:lnTo>
                    <a:pt x="3543338" y="1875256"/>
                  </a:lnTo>
                  <a:close/>
                </a:path>
                <a:path w="3543934" h="1964054">
                  <a:moveTo>
                    <a:pt x="3543338" y="67221"/>
                  </a:moveTo>
                  <a:lnTo>
                    <a:pt x="3498431" y="44538"/>
                  </a:lnTo>
                  <a:lnTo>
                    <a:pt x="3410267" y="0"/>
                  </a:lnTo>
                  <a:lnTo>
                    <a:pt x="3410077" y="44450"/>
                  </a:lnTo>
                  <a:lnTo>
                    <a:pt x="177" y="30467"/>
                  </a:lnTo>
                  <a:lnTo>
                    <a:pt x="114" y="44538"/>
                  </a:lnTo>
                  <a:lnTo>
                    <a:pt x="0" y="74917"/>
                  </a:lnTo>
                  <a:lnTo>
                    <a:pt x="3409899" y="88900"/>
                  </a:lnTo>
                  <a:lnTo>
                    <a:pt x="3432111" y="88988"/>
                  </a:lnTo>
                  <a:lnTo>
                    <a:pt x="3409899" y="88988"/>
                  </a:lnTo>
                  <a:lnTo>
                    <a:pt x="3409721" y="133350"/>
                  </a:lnTo>
                  <a:lnTo>
                    <a:pt x="3499345" y="88988"/>
                  </a:lnTo>
                  <a:lnTo>
                    <a:pt x="3543338" y="6722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962536" y="2818892"/>
            <a:ext cx="2978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Latent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Forward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Diffusion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30707" y="5016500"/>
            <a:ext cx="327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Latent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Generative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Denoising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934697" y="2954181"/>
            <a:ext cx="5051425" cy="270510"/>
            <a:chOff x="8934697" y="2954181"/>
            <a:chExt cx="5051425" cy="270510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4697" y="2954181"/>
              <a:ext cx="583570" cy="2699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41527" y="2970747"/>
              <a:ext cx="544385" cy="251782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97447" y="5116676"/>
            <a:ext cx="1920820" cy="245069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7011066" y="3680055"/>
            <a:ext cx="321945" cy="291465"/>
          </a:xfrm>
          <a:custGeom>
            <a:avLst/>
            <a:gdLst/>
            <a:ahLst/>
            <a:cxnLst/>
            <a:rect l="l" t="t" r="r" b="b"/>
            <a:pathLst>
              <a:path w="321945" h="291464">
                <a:moveTo>
                  <a:pt x="158200" y="188356"/>
                </a:moveTo>
                <a:lnTo>
                  <a:pt x="115959" y="235769"/>
                </a:lnTo>
                <a:lnTo>
                  <a:pt x="321560" y="291372"/>
                </a:lnTo>
                <a:lnTo>
                  <a:pt x="288909" y="209477"/>
                </a:lnTo>
                <a:lnTo>
                  <a:pt x="181907" y="209477"/>
                </a:lnTo>
                <a:lnTo>
                  <a:pt x="158200" y="188356"/>
                </a:lnTo>
                <a:close/>
              </a:path>
              <a:path w="321945" h="291464">
                <a:moveTo>
                  <a:pt x="200442" y="140944"/>
                </a:moveTo>
                <a:lnTo>
                  <a:pt x="158200" y="188356"/>
                </a:lnTo>
                <a:lnTo>
                  <a:pt x="181907" y="209477"/>
                </a:lnTo>
                <a:lnTo>
                  <a:pt x="224148" y="162064"/>
                </a:lnTo>
                <a:lnTo>
                  <a:pt x="200442" y="140944"/>
                </a:lnTo>
                <a:close/>
              </a:path>
              <a:path w="321945" h="291464">
                <a:moveTo>
                  <a:pt x="242683" y="93531"/>
                </a:moveTo>
                <a:lnTo>
                  <a:pt x="200442" y="140944"/>
                </a:lnTo>
                <a:lnTo>
                  <a:pt x="224148" y="162064"/>
                </a:lnTo>
                <a:lnTo>
                  <a:pt x="181907" y="209477"/>
                </a:lnTo>
                <a:lnTo>
                  <a:pt x="288909" y="209477"/>
                </a:lnTo>
                <a:lnTo>
                  <a:pt x="242683" y="93531"/>
                </a:lnTo>
                <a:close/>
              </a:path>
              <a:path w="321945" h="291464">
                <a:moveTo>
                  <a:pt x="42241" y="0"/>
                </a:moveTo>
                <a:lnTo>
                  <a:pt x="0" y="47412"/>
                </a:lnTo>
                <a:lnTo>
                  <a:pt x="158200" y="188356"/>
                </a:lnTo>
                <a:lnTo>
                  <a:pt x="200442" y="140944"/>
                </a:lnTo>
                <a:lnTo>
                  <a:pt x="42241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977384" y="4230623"/>
            <a:ext cx="2341880" cy="746760"/>
            <a:chOff x="4977384" y="4230623"/>
            <a:chExt cx="2341880" cy="746760"/>
          </a:xfrm>
        </p:grpSpPr>
        <p:sp>
          <p:nvSpPr>
            <p:cNvPr id="30" name="object 30"/>
            <p:cNvSpPr/>
            <p:nvPr/>
          </p:nvSpPr>
          <p:spPr>
            <a:xfrm>
              <a:off x="6997547" y="4286173"/>
              <a:ext cx="321945" cy="295275"/>
            </a:xfrm>
            <a:custGeom>
              <a:avLst/>
              <a:gdLst/>
              <a:ahLst/>
              <a:cxnLst/>
              <a:rect l="l" t="t" r="r" b="b"/>
              <a:pathLst>
                <a:path w="321945" h="295275">
                  <a:moveTo>
                    <a:pt x="77539" y="96519"/>
                  </a:moveTo>
                  <a:lnTo>
                    <a:pt x="0" y="294888"/>
                  </a:lnTo>
                  <a:lnTo>
                    <a:pt x="205219" y="237898"/>
                  </a:lnTo>
                  <a:lnTo>
                    <a:pt x="181876" y="212051"/>
                  </a:lnTo>
                  <a:lnTo>
                    <a:pt x="139095" y="212051"/>
                  </a:lnTo>
                  <a:lnTo>
                    <a:pt x="96536" y="164926"/>
                  </a:lnTo>
                  <a:lnTo>
                    <a:pt x="120099" y="143646"/>
                  </a:lnTo>
                  <a:lnTo>
                    <a:pt x="77539" y="96519"/>
                  </a:lnTo>
                  <a:close/>
                </a:path>
                <a:path w="321945" h="295275">
                  <a:moveTo>
                    <a:pt x="120099" y="143646"/>
                  </a:moveTo>
                  <a:lnTo>
                    <a:pt x="96536" y="164926"/>
                  </a:lnTo>
                  <a:lnTo>
                    <a:pt x="139095" y="212051"/>
                  </a:lnTo>
                  <a:lnTo>
                    <a:pt x="162658" y="190771"/>
                  </a:lnTo>
                  <a:lnTo>
                    <a:pt x="120099" y="143646"/>
                  </a:lnTo>
                  <a:close/>
                </a:path>
                <a:path w="321945" h="295275">
                  <a:moveTo>
                    <a:pt x="162658" y="190771"/>
                  </a:moveTo>
                  <a:lnTo>
                    <a:pt x="139095" y="212051"/>
                  </a:lnTo>
                  <a:lnTo>
                    <a:pt x="181876" y="212051"/>
                  </a:lnTo>
                  <a:lnTo>
                    <a:pt x="162658" y="190771"/>
                  </a:lnTo>
                  <a:close/>
                </a:path>
                <a:path w="321945" h="295275">
                  <a:moveTo>
                    <a:pt x="279157" y="0"/>
                  </a:moveTo>
                  <a:lnTo>
                    <a:pt x="120099" y="143646"/>
                  </a:lnTo>
                  <a:lnTo>
                    <a:pt x="162658" y="190771"/>
                  </a:lnTo>
                  <a:lnTo>
                    <a:pt x="321717" y="47125"/>
                  </a:lnTo>
                  <a:lnTo>
                    <a:pt x="279157" y="0"/>
                  </a:lnTo>
                  <a:close/>
                </a:path>
              </a:pathLst>
            </a:custGeom>
            <a:solidFill>
              <a:srgbClr val="54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36920" y="4230623"/>
              <a:ext cx="271272" cy="27127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3014" y="4257352"/>
              <a:ext cx="164797" cy="16569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36920" y="4468367"/>
              <a:ext cx="271272" cy="27127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63014" y="4494131"/>
              <a:ext cx="164797" cy="16569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36920" y="4706111"/>
              <a:ext cx="271272" cy="27127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3014" y="4730909"/>
              <a:ext cx="164797" cy="1656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220511" y="4361268"/>
              <a:ext cx="602615" cy="86995"/>
            </a:xfrm>
            <a:custGeom>
              <a:avLst/>
              <a:gdLst/>
              <a:ahLst/>
              <a:cxnLst/>
              <a:rect l="l" t="t" r="r" b="b"/>
              <a:pathLst>
                <a:path w="602614" h="86995">
                  <a:moveTo>
                    <a:pt x="0" y="86796"/>
                  </a:moveTo>
                  <a:lnTo>
                    <a:pt x="602152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17837" y="4507717"/>
              <a:ext cx="614680" cy="52705"/>
            </a:xfrm>
            <a:custGeom>
              <a:avLst/>
              <a:gdLst/>
              <a:ahLst/>
              <a:cxnLst/>
              <a:rect l="l" t="t" r="r" b="b"/>
              <a:pathLst>
                <a:path w="614679" h="52704">
                  <a:moveTo>
                    <a:pt x="0" y="0"/>
                  </a:moveTo>
                  <a:lnTo>
                    <a:pt x="614258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09789" y="4546872"/>
              <a:ext cx="623570" cy="219710"/>
            </a:xfrm>
            <a:custGeom>
              <a:avLst/>
              <a:gdLst/>
              <a:ahLst/>
              <a:cxnLst/>
              <a:rect l="l" t="t" r="r" b="b"/>
              <a:pathLst>
                <a:path w="623570" h="219710">
                  <a:moveTo>
                    <a:pt x="0" y="0"/>
                  </a:moveTo>
                  <a:lnTo>
                    <a:pt x="62338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04446" y="4406846"/>
              <a:ext cx="629285" cy="250190"/>
            </a:xfrm>
            <a:custGeom>
              <a:avLst/>
              <a:gdLst/>
              <a:ahLst/>
              <a:cxnLst/>
              <a:rect l="l" t="t" r="r" b="b"/>
              <a:pathLst>
                <a:path w="629285" h="250189">
                  <a:moveTo>
                    <a:pt x="0" y="249904"/>
                  </a:moveTo>
                  <a:lnTo>
                    <a:pt x="628723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16762" y="4602951"/>
              <a:ext cx="624840" cy="104775"/>
            </a:xfrm>
            <a:custGeom>
              <a:avLst/>
              <a:gdLst/>
              <a:ahLst/>
              <a:cxnLst/>
              <a:rect l="l" t="t" r="r" b="b"/>
              <a:pathLst>
                <a:path w="624839" h="104775">
                  <a:moveTo>
                    <a:pt x="0" y="104357"/>
                  </a:moveTo>
                  <a:lnTo>
                    <a:pt x="624454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11167" y="4742726"/>
              <a:ext cx="606425" cy="66040"/>
            </a:xfrm>
            <a:custGeom>
              <a:avLst/>
              <a:gdLst/>
              <a:ahLst/>
              <a:cxnLst/>
              <a:rect l="l" t="t" r="r" b="b"/>
              <a:pathLst>
                <a:path w="606425" h="66039">
                  <a:moveTo>
                    <a:pt x="0" y="0"/>
                  </a:moveTo>
                  <a:lnTo>
                    <a:pt x="60590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7384" y="4364735"/>
              <a:ext cx="271272" cy="2682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04107" y="4388660"/>
              <a:ext cx="164796" cy="16569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77384" y="4599431"/>
              <a:ext cx="271272" cy="27127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04107" y="4625438"/>
              <a:ext cx="164796" cy="16569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90360" y="4361687"/>
              <a:ext cx="271272" cy="27127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6491" y="4387681"/>
              <a:ext cx="164796" cy="16569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90360" y="4599431"/>
              <a:ext cx="271272" cy="27127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6491" y="4624459"/>
              <a:ext cx="164796" cy="16569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082891" y="4358024"/>
              <a:ext cx="601980" cy="86995"/>
            </a:xfrm>
            <a:custGeom>
              <a:avLst/>
              <a:gdLst/>
              <a:ahLst/>
              <a:cxnLst/>
              <a:rect l="l" t="t" r="r" b="b"/>
              <a:pathLst>
                <a:path w="601979" h="86995">
                  <a:moveTo>
                    <a:pt x="601449" y="8679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3471" y="4504474"/>
              <a:ext cx="614045" cy="52705"/>
            </a:xfrm>
            <a:custGeom>
              <a:avLst/>
              <a:gdLst/>
              <a:ahLst/>
              <a:cxnLst/>
              <a:rect l="l" t="t" r="r" b="b"/>
              <a:pathLst>
                <a:path w="614045" h="52704">
                  <a:moveTo>
                    <a:pt x="613541" y="0"/>
                  </a:moveTo>
                  <a:lnTo>
                    <a:pt x="0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72399" y="4543629"/>
              <a:ext cx="622935" cy="219710"/>
            </a:xfrm>
            <a:custGeom>
              <a:avLst/>
              <a:gdLst/>
              <a:ahLst/>
              <a:cxnLst/>
              <a:rect l="l" t="t" r="r" b="b"/>
              <a:pathLst>
                <a:path w="622934" h="219710">
                  <a:moveTo>
                    <a:pt x="622653" y="0"/>
                  </a:moveTo>
                  <a:lnTo>
                    <a:pt x="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72400" y="4403603"/>
              <a:ext cx="628015" cy="250190"/>
            </a:xfrm>
            <a:custGeom>
              <a:avLst/>
              <a:gdLst/>
              <a:ahLst/>
              <a:cxnLst/>
              <a:rect l="l" t="t" r="r" b="b"/>
              <a:pathLst>
                <a:path w="628015" h="250189">
                  <a:moveTo>
                    <a:pt x="627989" y="2499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64360" y="4599707"/>
              <a:ext cx="624205" cy="104775"/>
            </a:xfrm>
            <a:custGeom>
              <a:avLst/>
              <a:gdLst/>
              <a:ahLst/>
              <a:cxnLst/>
              <a:rect l="l" t="t" r="r" b="b"/>
              <a:pathLst>
                <a:path w="624204" h="104775">
                  <a:moveTo>
                    <a:pt x="623725" y="10435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088483" y="4739482"/>
              <a:ext cx="605790" cy="66040"/>
            </a:xfrm>
            <a:custGeom>
              <a:avLst/>
              <a:gdLst/>
              <a:ahLst/>
              <a:cxnLst/>
              <a:rect l="l" t="t" r="r" b="b"/>
              <a:pathLst>
                <a:path w="605790" h="66039">
                  <a:moveTo>
                    <a:pt x="605193" y="0"/>
                  </a:moveTo>
                  <a:lnTo>
                    <a:pt x="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8298457" y="4000730"/>
            <a:ext cx="518159" cy="171450"/>
          </a:xfrm>
          <a:custGeom>
            <a:avLst/>
            <a:gdLst/>
            <a:ahLst/>
            <a:cxnLst/>
            <a:rect l="l" t="t" r="r" b="b"/>
            <a:pathLst>
              <a:path w="518159" h="171450">
                <a:moveTo>
                  <a:pt x="171447" y="0"/>
                </a:moveTo>
                <a:lnTo>
                  <a:pt x="0" y="85726"/>
                </a:lnTo>
                <a:lnTo>
                  <a:pt x="171447" y="171450"/>
                </a:lnTo>
                <a:lnTo>
                  <a:pt x="171447" y="114300"/>
                </a:lnTo>
                <a:lnTo>
                  <a:pt x="142872" y="114300"/>
                </a:lnTo>
                <a:lnTo>
                  <a:pt x="142872" y="57150"/>
                </a:lnTo>
                <a:lnTo>
                  <a:pt x="171447" y="57150"/>
                </a:lnTo>
                <a:lnTo>
                  <a:pt x="171447" y="0"/>
                </a:lnTo>
                <a:close/>
              </a:path>
              <a:path w="518159" h="171450">
                <a:moveTo>
                  <a:pt x="346449" y="0"/>
                </a:moveTo>
                <a:lnTo>
                  <a:pt x="346448" y="171450"/>
                </a:lnTo>
                <a:lnTo>
                  <a:pt x="460750" y="114300"/>
                </a:lnTo>
                <a:lnTo>
                  <a:pt x="375023" y="114300"/>
                </a:lnTo>
                <a:lnTo>
                  <a:pt x="375024" y="57150"/>
                </a:lnTo>
                <a:lnTo>
                  <a:pt x="460747" y="57150"/>
                </a:lnTo>
                <a:lnTo>
                  <a:pt x="346449" y="0"/>
                </a:lnTo>
                <a:close/>
              </a:path>
              <a:path w="518159" h="171450">
                <a:moveTo>
                  <a:pt x="171447" y="57150"/>
                </a:moveTo>
                <a:lnTo>
                  <a:pt x="142872" y="57150"/>
                </a:lnTo>
                <a:lnTo>
                  <a:pt x="142872" y="114300"/>
                </a:lnTo>
                <a:lnTo>
                  <a:pt x="171447" y="114300"/>
                </a:lnTo>
                <a:lnTo>
                  <a:pt x="171447" y="57150"/>
                </a:lnTo>
                <a:close/>
              </a:path>
              <a:path w="518159" h="171450">
                <a:moveTo>
                  <a:pt x="346449" y="57150"/>
                </a:moveTo>
                <a:lnTo>
                  <a:pt x="171447" y="57150"/>
                </a:lnTo>
                <a:lnTo>
                  <a:pt x="171447" y="114300"/>
                </a:lnTo>
                <a:lnTo>
                  <a:pt x="346448" y="114300"/>
                </a:lnTo>
                <a:lnTo>
                  <a:pt x="346449" y="57150"/>
                </a:lnTo>
                <a:close/>
              </a:path>
              <a:path w="518159" h="171450">
                <a:moveTo>
                  <a:pt x="460747" y="57150"/>
                </a:moveTo>
                <a:lnTo>
                  <a:pt x="375024" y="57150"/>
                </a:lnTo>
                <a:lnTo>
                  <a:pt x="375023" y="114300"/>
                </a:lnTo>
                <a:lnTo>
                  <a:pt x="460750" y="114300"/>
                </a:lnTo>
                <a:lnTo>
                  <a:pt x="517898" y="85726"/>
                </a:lnTo>
                <a:lnTo>
                  <a:pt x="460747" y="571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29658" y="3210891"/>
            <a:ext cx="153297" cy="118457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8513698" y="4257253"/>
            <a:ext cx="95250" cy="726440"/>
          </a:xfrm>
          <a:custGeom>
            <a:avLst/>
            <a:gdLst/>
            <a:ahLst/>
            <a:cxnLst/>
            <a:rect l="l" t="t" r="r" b="b"/>
            <a:pathLst>
              <a:path w="95250" h="726439">
                <a:moveTo>
                  <a:pt x="31749" y="631235"/>
                </a:moveTo>
                <a:lnTo>
                  <a:pt x="0" y="631432"/>
                </a:lnTo>
                <a:lnTo>
                  <a:pt x="48214" y="726385"/>
                </a:lnTo>
                <a:lnTo>
                  <a:pt x="87238" y="647110"/>
                </a:lnTo>
                <a:lnTo>
                  <a:pt x="31847" y="647110"/>
                </a:lnTo>
                <a:lnTo>
                  <a:pt x="31749" y="631235"/>
                </a:lnTo>
                <a:close/>
              </a:path>
              <a:path w="95250" h="726439">
                <a:moveTo>
                  <a:pt x="63497" y="631038"/>
                </a:moveTo>
                <a:lnTo>
                  <a:pt x="31749" y="631235"/>
                </a:lnTo>
                <a:lnTo>
                  <a:pt x="31847" y="647110"/>
                </a:lnTo>
                <a:lnTo>
                  <a:pt x="63596" y="646913"/>
                </a:lnTo>
                <a:lnTo>
                  <a:pt x="63497" y="631038"/>
                </a:lnTo>
                <a:close/>
              </a:path>
              <a:path w="95250" h="726439">
                <a:moveTo>
                  <a:pt x="95247" y="630842"/>
                </a:moveTo>
                <a:lnTo>
                  <a:pt x="63497" y="631038"/>
                </a:lnTo>
                <a:lnTo>
                  <a:pt x="63596" y="646913"/>
                </a:lnTo>
                <a:lnTo>
                  <a:pt x="31847" y="647110"/>
                </a:lnTo>
                <a:lnTo>
                  <a:pt x="87238" y="647110"/>
                </a:lnTo>
                <a:lnTo>
                  <a:pt x="94956" y="631432"/>
                </a:lnTo>
                <a:lnTo>
                  <a:pt x="95053" y="631235"/>
                </a:lnTo>
                <a:lnTo>
                  <a:pt x="95150" y="631038"/>
                </a:lnTo>
                <a:lnTo>
                  <a:pt x="95247" y="630842"/>
                </a:lnTo>
                <a:close/>
              </a:path>
              <a:path w="95250" h="726439">
                <a:moveTo>
                  <a:pt x="59580" y="0"/>
                </a:moveTo>
                <a:lnTo>
                  <a:pt x="27832" y="196"/>
                </a:lnTo>
                <a:lnTo>
                  <a:pt x="31746" y="630842"/>
                </a:lnTo>
                <a:lnTo>
                  <a:pt x="31749" y="631235"/>
                </a:lnTo>
                <a:lnTo>
                  <a:pt x="63497" y="631038"/>
                </a:lnTo>
                <a:lnTo>
                  <a:pt x="59582" y="196"/>
                </a:lnTo>
                <a:lnTo>
                  <a:pt x="59580" y="0"/>
                </a:lnTo>
                <a:close/>
              </a:path>
            </a:pathLst>
          </a:custGeom>
          <a:solidFill>
            <a:srgbClr val="76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4983479" y="3319271"/>
            <a:ext cx="1981200" cy="744220"/>
            <a:chOff x="4983479" y="3319271"/>
            <a:chExt cx="1981200" cy="744220"/>
          </a:xfrm>
        </p:grpSpPr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39967" y="3319271"/>
              <a:ext cx="271272" cy="26822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343309"/>
              <a:ext cx="164797" cy="16569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39967" y="3553967"/>
              <a:ext cx="271272" cy="27127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580089"/>
              <a:ext cx="164797" cy="16569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39967" y="3791711"/>
              <a:ext cx="271272" cy="27127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816867"/>
              <a:ext cx="164797" cy="16569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223746" y="3447225"/>
              <a:ext cx="602615" cy="86995"/>
            </a:xfrm>
            <a:custGeom>
              <a:avLst/>
              <a:gdLst/>
              <a:ahLst/>
              <a:cxnLst/>
              <a:rect l="l" t="t" r="r" b="b"/>
              <a:pathLst>
                <a:path w="602614" h="86995">
                  <a:moveTo>
                    <a:pt x="0" y="86796"/>
                  </a:moveTo>
                  <a:lnTo>
                    <a:pt x="602152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21070" y="3593675"/>
              <a:ext cx="614680" cy="52705"/>
            </a:xfrm>
            <a:custGeom>
              <a:avLst/>
              <a:gdLst/>
              <a:ahLst/>
              <a:cxnLst/>
              <a:rect l="l" t="t" r="r" b="b"/>
              <a:pathLst>
                <a:path w="614679" h="52704">
                  <a:moveTo>
                    <a:pt x="0" y="0"/>
                  </a:moveTo>
                  <a:lnTo>
                    <a:pt x="614258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213022" y="3632830"/>
              <a:ext cx="623570" cy="219710"/>
            </a:xfrm>
            <a:custGeom>
              <a:avLst/>
              <a:gdLst/>
              <a:ahLst/>
              <a:cxnLst/>
              <a:rect l="l" t="t" r="r" b="b"/>
              <a:pathLst>
                <a:path w="623570" h="219710">
                  <a:moveTo>
                    <a:pt x="0" y="0"/>
                  </a:moveTo>
                  <a:lnTo>
                    <a:pt x="62338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207679" y="3492804"/>
              <a:ext cx="629285" cy="250190"/>
            </a:xfrm>
            <a:custGeom>
              <a:avLst/>
              <a:gdLst/>
              <a:ahLst/>
              <a:cxnLst/>
              <a:rect l="l" t="t" r="r" b="b"/>
              <a:pathLst>
                <a:path w="629285" h="250189">
                  <a:moveTo>
                    <a:pt x="0" y="249904"/>
                  </a:moveTo>
                  <a:lnTo>
                    <a:pt x="628723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219997" y="3688909"/>
              <a:ext cx="624840" cy="104775"/>
            </a:xfrm>
            <a:custGeom>
              <a:avLst/>
              <a:gdLst/>
              <a:ahLst/>
              <a:cxnLst/>
              <a:rect l="l" t="t" r="r" b="b"/>
              <a:pathLst>
                <a:path w="624839" h="104775">
                  <a:moveTo>
                    <a:pt x="0" y="104357"/>
                  </a:moveTo>
                  <a:lnTo>
                    <a:pt x="624454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214400" y="3828684"/>
              <a:ext cx="606425" cy="66040"/>
            </a:xfrm>
            <a:custGeom>
              <a:avLst/>
              <a:gdLst/>
              <a:ahLst/>
              <a:cxnLst/>
              <a:rect l="l" t="t" r="r" b="b"/>
              <a:pathLst>
                <a:path w="606425" h="66039">
                  <a:moveTo>
                    <a:pt x="0" y="0"/>
                  </a:moveTo>
                  <a:lnTo>
                    <a:pt x="60590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83479" y="3450335"/>
              <a:ext cx="268224" cy="26822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07340" y="3474618"/>
              <a:ext cx="164796" cy="16569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83479" y="3685031"/>
              <a:ext cx="268224" cy="27127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07340" y="3711397"/>
              <a:ext cx="164796" cy="16569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93407" y="3447287"/>
              <a:ext cx="271272" cy="27127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9724" y="3473639"/>
              <a:ext cx="164797" cy="165695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93407" y="3685031"/>
              <a:ext cx="271272" cy="27127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9724" y="3710417"/>
              <a:ext cx="164797" cy="16569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086125" y="3443982"/>
              <a:ext cx="601980" cy="86995"/>
            </a:xfrm>
            <a:custGeom>
              <a:avLst/>
              <a:gdLst/>
              <a:ahLst/>
              <a:cxnLst/>
              <a:rect l="l" t="t" r="r" b="b"/>
              <a:pathLst>
                <a:path w="601979" h="86995">
                  <a:moveTo>
                    <a:pt x="601449" y="8679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76705" y="3590433"/>
              <a:ext cx="614045" cy="52705"/>
            </a:xfrm>
            <a:custGeom>
              <a:avLst/>
              <a:gdLst/>
              <a:ahLst/>
              <a:cxnLst/>
              <a:rect l="l" t="t" r="r" b="b"/>
              <a:pathLst>
                <a:path w="614045" h="52704">
                  <a:moveTo>
                    <a:pt x="613541" y="0"/>
                  </a:moveTo>
                  <a:lnTo>
                    <a:pt x="0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075634" y="3629587"/>
              <a:ext cx="622935" cy="219710"/>
            </a:xfrm>
            <a:custGeom>
              <a:avLst/>
              <a:gdLst/>
              <a:ahLst/>
              <a:cxnLst/>
              <a:rect l="l" t="t" r="r" b="b"/>
              <a:pathLst>
                <a:path w="622934" h="219710">
                  <a:moveTo>
                    <a:pt x="622653" y="0"/>
                  </a:moveTo>
                  <a:lnTo>
                    <a:pt x="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075633" y="3489561"/>
              <a:ext cx="628015" cy="250190"/>
            </a:xfrm>
            <a:custGeom>
              <a:avLst/>
              <a:gdLst/>
              <a:ahLst/>
              <a:cxnLst/>
              <a:rect l="l" t="t" r="r" b="b"/>
              <a:pathLst>
                <a:path w="628015" h="250189">
                  <a:moveTo>
                    <a:pt x="627989" y="2499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067595" y="3685665"/>
              <a:ext cx="624205" cy="104775"/>
            </a:xfrm>
            <a:custGeom>
              <a:avLst/>
              <a:gdLst/>
              <a:ahLst/>
              <a:cxnLst/>
              <a:rect l="l" t="t" r="r" b="b"/>
              <a:pathLst>
                <a:path w="624204" h="104775">
                  <a:moveTo>
                    <a:pt x="623725" y="10435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91716" y="3825440"/>
              <a:ext cx="605790" cy="66040"/>
            </a:xfrm>
            <a:custGeom>
              <a:avLst/>
              <a:gdLst/>
              <a:ahLst/>
              <a:cxnLst/>
              <a:rect l="l" t="t" r="r" b="b"/>
              <a:pathLst>
                <a:path w="605790" h="66039">
                  <a:moveTo>
                    <a:pt x="605193" y="0"/>
                  </a:moveTo>
                  <a:lnTo>
                    <a:pt x="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703" y="4284927"/>
            <a:ext cx="595085" cy="604074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4084664" y="5731795"/>
            <a:ext cx="4213860" cy="354330"/>
          </a:xfrm>
          <a:custGeom>
            <a:avLst/>
            <a:gdLst/>
            <a:ahLst/>
            <a:cxnLst/>
            <a:rect l="l" t="t" r="r" b="b"/>
            <a:pathLst>
              <a:path w="4213859" h="354329">
                <a:moveTo>
                  <a:pt x="4213791" y="4"/>
                </a:moveTo>
                <a:lnTo>
                  <a:pt x="4207365" y="47070"/>
                </a:lnTo>
                <a:lnTo>
                  <a:pt x="4189231" y="89363"/>
                </a:lnTo>
                <a:lnTo>
                  <a:pt x="4161104" y="125195"/>
                </a:lnTo>
                <a:lnTo>
                  <a:pt x="4124698" y="152878"/>
                </a:lnTo>
                <a:lnTo>
                  <a:pt x="4081727" y="170726"/>
                </a:lnTo>
                <a:lnTo>
                  <a:pt x="4033908" y="177050"/>
                </a:lnTo>
                <a:lnTo>
                  <a:pt x="2286779" y="177046"/>
                </a:lnTo>
                <a:lnTo>
                  <a:pt x="2238958" y="183370"/>
                </a:lnTo>
                <a:lnTo>
                  <a:pt x="2195988" y="201218"/>
                </a:lnTo>
                <a:lnTo>
                  <a:pt x="2159581" y="228901"/>
                </a:lnTo>
                <a:lnTo>
                  <a:pt x="2131454" y="264733"/>
                </a:lnTo>
                <a:lnTo>
                  <a:pt x="2113320" y="307026"/>
                </a:lnTo>
                <a:lnTo>
                  <a:pt x="2106895" y="354092"/>
                </a:lnTo>
                <a:lnTo>
                  <a:pt x="2100469" y="307026"/>
                </a:lnTo>
                <a:lnTo>
                  <a:pt x="2082335" y="264733"/>
                </a:lnTo>
                <a:lnTo>
                  <a:pt x="2054208" y="228901"/>
                </a:lnTo>
                <a:lnTo>
                  <a:pt x="2017802" y="201218"/>
                </a:lnTo>
                <a:lnTo>
                  <a:pt x="1974832" y="183370"/>
                </a:lnTo>
                <a:lnTo>
                  <a:pt x="1927012" y="177046"/>
                </a:lnTo>
                <a:lnTo>
                  <a:pt x="179883" y="177046"/>
                </a:lnTo>
                <a:lnTo>
                  <a:pt x="132063" y="170722"/>
                </a:lnTo>
                <a:lnTo>
                  <a:pt x="89092" y="152874"/>
                </a:lnTo>
                <a:lnTo>
                  <a:pt x="52686" y="125190"/>
                </a:lnTo>
                <a:lnTo>
                  <a:pt x="24559" y="89358"/>
                </a:lnTo>
                <a:lnTo>
                  <a:pt x="6425" y="47065"/>
                </a:lnTo>
                <a:lnTo>
                  <a:pt x="0" y="0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890509" y="5731800"/>
            <a:ext cx="5143500" cy="363220"/>
          </a:xfrm>
          <a:custGeom>
            <a:avLst/>
            <a:gdLst/>
            <a:ahLst/>
            <a:cxnLst/>
            <a:rect l="l" t="t" r="r" b="b"/>
            <a:pathLst>
              <a:path w="5143500" h="363220">
                <a:moveTo>
                  <a:pt x="5143029" y="0"/>
                </a:moveTo>
                <a:lnTo>
                  <a:pt x="5136447" y="48206"/>
                </a:lnTo>
                <a:lnTo>
                  <a:pt x="5117874" y="91523"/>
                </a:lnTo>
                <a:lnTo>
                  <a:pt x="5089065" y="128223"/>
                </a:lnTo>
                <a:lnTo>
                  <a:pt x="5051777" y="156577"/>
                </a:lnTo>
                <a:lnTo>
                  <a:pt x="5007766" y="174857"/>
                </a:lnTo>
                <a:lnTo>
                  <a:pt x="4958788" y="181335"/>
                </a:lnTo>
                <a:lnTo>
                  <a:pt x="2755756" y="181335"/>
                </a:lnTo>
                <a:lnTo>
                  <a:pt x="2706777" y="187812"/>
                </a:lnTo>
                <a:lnTo>
                  <a:pt x="2662765" y="206092"/>
                </a:lnTo>
                <a:lnTo>
                  <a:pt x="2625477" y="234446"/>
                </a:lnTo>
                <a:lnTo>
                  <a:pt x="2596669" y="271146"/>
                </a:lnTo>
                <a:lnTo>
                  <a:pt x="2578096" y="314463"/>
                </a:lnTo>
                <a:lnTo>
                  <a:pt x="2571515" y="362670"/>
                </a:lnTo>
                <a:lnTo>
                  <a:pt x="2564933" y="314463"/>
                </a:lnTo>
                <a:lnTo>
                  <a:pt x="2546360" y="271146"/>
                </a:lnTo>
                <a:lnTo>
                  <a:pt x="2517551" y="234446"/>
                </a:lnTo>
                <a:lnTo>
                  <a:pt x="2480263" y="206092"/>
                </a:lnTo>
                <a:lnTo>
                  <a:pt x="2436251" y="187812"/>
                </a:lnTo>
                <a:lnTo>
                  <a:pt x="2387273" y="181335"/>
                </a:lnTo>
                <a:lnTo>
                  <a:pt x="184241" y="181335"/>
                </a:lnTo>
                <a:lnTo>
                  <a:pt x="135262" y="174857"/>
                </a:lnTo>
                <a:lnTo>
                  <a:pt x="91251" y="156577"/>
                </a:lnTo>
                <a:lnTo>
                  <a:pt x="53963" y="128223"/>
                </a:lnTo>
                <a:lnTo>
                  <a:pt x="25154" y="91523"/>
                </a:lnTo>
                <a:lnTo>
                  <a:pt x="6581" y="48206"/>
                </a:lnTo>
                <a:lnTo>
                  <a:pt x="0" y="0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4519181" y="6305803"/>
            <a:ext cx="3305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rebuchet MS"/>
                <a:cs typeface="Trebuchet MS"/>
              </a:rPr>
              <a:t>Variational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Autoencoder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9853331" y="6305803"/>
            <a:ext cx="3363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Denoising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Diffusion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Prior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5022232" y="7367016"/>
            <a:ext cx="7749540" cy="1772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2300" b="1" dirty="0">
                <a:solidFill>
                  <a:srgbClr val="890C58"/>
                </a:solidFill>
                <a:latin typeface="Trebuchet MS"/>
                <a:cs typeface="Trebuchet MS"/>
              </a:rPr>
              <a:t>Main</a:t>
            </a:r>
            <a:r>
              <a:rPr sz="2300" b="1" spc="3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300" b="1" spc="-20" dirty="0">
                <a:solidFill>
                  <a:srgbClr val="890C58"/>
                </a:solidFill>
                <a:latin typeface="Trebuchet MS"/>
                <a:cs typeface="Trebuchet MS"/>
              </a:rPr>
              <a:t>Idea</a:t>
            </a:r>
            <a:endParaRPr sz="2300">
              <a:latin typeface="Trebuchet MS"/>
              <a:cs typeface="Trebuchet MS"/>
            </a:endParaRPr>
          </a:p>
          <a:p>
            <a:pPr marL="12065" marR="5080" indent="635" algn="ctr">
              <a:lnSpc>
                <a:spcPct val="199100"/>
              </a:lnSpc>
            </a:pPr>
            <a:r>
              <a:rPr sz="2300" dirty="0">
                <a:latin typeface="Trebuchet MS"/>
                <a:cs typeface="Trebuchet MS"/>
              </a:rPr>
              <a:t>Encoder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maps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input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data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embedding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space </a:t>
            </a:r>
            <a:r>
              <a:rPr sz="2300" dirty="0">
                <a:latin typeface="Trebuchet MS"/>
                <a:cs typeface="Trebuchet MS"/>
              </a:rPr>
              <a:t>Denoising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applied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latent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space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93" name="object 9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2908280" y="7370064"/>
            <a:ext cx="1975104" cy="1972056"/>
          </a:xfrm>
          <a:prstGeom prst="rect">
            <a:avLst/>
          </a:prstGeom>
        </p:spPr>
      </p:pic>
      <p:sp>
        <p:nvSpPr>
          <p:cNvPr id="94" name="object 94"/>
          <p:cNvSpPr txBox="1"/>
          <p:nvPr/>
        </p:nvSpPr>
        <p:spPr>
          <a:xfrm>
            <a:off x="906578" y="9736564"/>
            <a:ext cx="831088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Vahdat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al.,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“Score-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based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generative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modeling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in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latent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space”,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NeurIPS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2"/>
              </a:rPr>
              <a:t>2021.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Latent</a:t>
            </a:r>
            <a:r>
              <a:rPr spc="-160" dirty="0"/>
              <a:t> </a:t>
            </a:r>
            <a:r>
              <a:rPr dirty="0"/>
              <a:t>Diffusion</a:t>
            </a:r>
            <a:r>
              <a:rPr spc="-165" dirty="0"/>
              <a:t> </a:t>
            </a:r>
            <a:r>
              <a:rPr spc="-10" dirty="0"/>
              <a:t>Models</a:t>
            </a:r>
          </a:p>
          <a:p>
            <a:pPr marL="635"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Variational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autoencoder</a:t>
            </a:r>
            <a:r>
              <a:rPr sz="3000" spc="-7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+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spc="-20" dirty="0">
                <a:solidFill>
                  <a:srgbClr val="890C58"/>
                </a:solidFill>
              </a:rPr>
              <a:t>score-</a:t>
            </a:r>
            <a:r>
              <a:rPr sz="3000" dirty="0">
                <a:solidFill>
                  <a:srgbClr val="890C58"/>
                </a:solidFill>
              </a:rPr>
              <a:t>based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prior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5464092" y="3184282"/>
            <a:ext cx="1050290" cy="133350"/>
          </a:xfrm>
          <a:custGeom>
            <a:avLst/>
            <a:gdLst/>
            <a:ahLst/>
            <a:cxnLst/>
            <a:rect l="l" t="t" r="r" b="b"/>
            <a:pathLst>
              <a:path w="1050290" h="133350">
                <a:moveTo>
                  <a:pt x="916548" y="0"/>
                </a:moveTo>
                <a:lnTo>
                  <a:pt x="916548" y="133350"/>
                </a:lnTo>
                <a:lnTo>
                  <a:pt x="1005448" y="88900"/>
                </a:lnTo>
                <a:lnTo>
                  <a:pt x="938773" y="88900"/>
                </a:lnTo>
                <a:lnTo>
                  <a:pt x="938773" y="44450"/>
                </a:lnTo>
                <a:lnTo>
                  <a:pt x="1005448" y="44450"/>
                </a:lnTo>
                <a:lnTo>
                  <a:pt x="916548" y="0"/>
                </a:lnTo>
                <a:close/>
              </a:path>
              <a:path w="1050290" h="133350">
                <a:moveTo>
                  <a:pt x="916548" y="44450"/>
                </a:moveTo>
                <a:lnTo>
                  <a:pt x="0" y="44450"/>
                </a:lnTo>
                <a:lnTo>
                  <a:pt x="0" y="88900"/>
                </a:lnTo>
                <a:lnTo>
                  <a:pt x="916548" y="88900"/>
                </a:lnTo>
                <a:lnTo>
                  <a:pt x="916548" y="44450"/>
                </a:lnTo>
                <a:close/>
              </a:path>
              <a:path w="1050290" h="133350">
                <a:moveTo>
                  <a:pt x="1005448" y="44450"/>
                </a:moveTo>
                <a:lnTo>
                  <a:pt x="938773" y="44450"/>
                </a:lnTo>
                <a:lnTo>
                  <a:pt x="938773" y="88900"/>
                </a:lnTo>
                <a:lnTo>
                  <a:pt x="1005448" y="88900"/>
                </a:lnTo>
                <a:lnTo>
                  <a:pt x="1049898" y="66675"/>
                </a:lnTo>
                <a:lnTo>
                  <a:pt x="1005448" y="444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83923" y="4946169"/>
            <a:ext cx="1057275" cy="133350"/>
          </a:xfrm>
          <a:custGeom>
            <a:avLst/>
            <a:gdLst/>
            <a:ahLst/>
            <a:cxnLst/>
            <a:rect l="l" t="t" r="r" b="b"/>
            <a:pathLst>
              <a:path w="1057275" h="133350">
                <a:moveTo>
                  <a:pt x="133350" y="0"/>
                </a:moveTo>
                <a:lnTo>
                  <a:pt x="0" y="66675"/>
                </a:lnTo>
                <a:lnTo>
                  <a:pt x="133350" y="133350"/>
                </a:lnTo>
                <a:lnTo>
                  <a:pt x="133350" y="88900"/>
                </a:lnTo>
                <a:lnTo>
                  <a:pt x="111125" y="88900"/>
                </a:lnTo>
                <a:lnTo>
                  <a:pt x="111125" y="44450"/>
                </a:lnTo>
                <a:lnTo>
                  <a:pt x="133350" y="44450"/>
                </a:lnTo>
                <a:lnTo>
                  <a:pt x="133350" y="0"/>
                </a:lnTo>
                <a:close/>
              </a:path>
              <a:path w="1057275" h="133350">
                <a:moveTo>
                  <a:pt x="133350" y="44450"/>
                </a:moveTo>
                <a:lnTo>
                  <a:pt x="111125" y="44450"/>
                </a:lnTo>
                <a:lnTo>
                  <a:pt x="111125" y="88900"/>
                </a:lnTo>
                <a:lnTo>
                  <a:pt x="133350" y="88900"/>
                </a:lnTo>
                <a:lnTo>
                  <a:pt x="133350" y="44450"/>
                </a:lnTo>
                <a:close/>
              </a:path>
              <a:path w="1057275" h="133350">
                <a:moveTo>
                  <a:pt x="1057230" y="44450"/>
                </a:moveTo>
                <a:lnTo>
                  <a:pt x="133350" y="44450"/>
                </a:lnTo>
                <a:lnTo>
                  <a:pt x="133350" y="88900"/>
                </a:lnTo>
                <a:lnTo>
                  <a:pt x="1057230" y="88900"/>
                </a:lnTo>
                <a:lnTo>
                  <a:pt x="1057230" y="444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555825" y="2928619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Encoder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559846" y="4998211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Decoder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2483" y="3378715"/>
            <a:ext cx="595085" cy="6040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253617" y="3084068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2962" y="4848859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Reconst.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420935" y="3309725"/>
            <a:ext cx="825500" cy="1277620"/>
            <a:chOff x="7420935" y="3309725"/>
            <a:chExt cx="825500" cy="127762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0935" y="3309725"/>
              <a:ext cx="825276" cy="2775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9150" y="3645118"/>
              <a:ext cx="701714" cy="92529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478945" y="3632984"/>
              <a:ext cx="718820" cy="948055"/>
            </a:xfrm>
            <a:custGeom>
              <a:avLst/>
              <a:gdLst/>
              <a:ahLst/>
              <a:cxnLst/>
              <a:rect l="l" t="t" r="r" b="b"/>
              <a:pathLst>
                <a:path w="718820" h="948054">
                  <a:moveTo>
                    <a:pt x="718270" y="0"/>
                  </a:moveTo>
                  <a:lnTo>
                    <a:pt x="718270" y="947637"/>
                  </a:lnTo>
                  <a:lnTo>
                    <a:pt x="0" y="947637"/>
                  </a:lnTo>
                  <a:lnTo>
                    <a:pt x="0" y="0"/>
                  </a:lnTo>
                  <a:lnTo>
                    <a:pt x="71827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5678" y="5146356"/>
            <a:ext cx="771222" cy="252524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8877807" y="3108356"/>
            <a:ext cx="5154930" cy="1964055"/>
            <a:chOff x="8877807" y="3108356"/>
            <a:chExt cx="5154930" cy="1964055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0507" y="3283374"/>
              <a:ext cx="663312" cy="1606171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884157" y="3277023"/>
              <a:ext cx="681355" cy="1619250"/>
            </a:xfrm>
            <a:custGeom>
              <a:avLst/>
              <a:gdLst/>
              <a:ahLst/>
              <a:cxnLst/>
              <a:rect l="l" t="t" r="r" b="b"/>
              <a:pathLst>
                <a:path w="681354" h="1619250">
                  <a:moveTo>
                    <a:pt x="680734" y="1618872"/>
                  </a:moveTo>
                  <a:lnTo>
                    <a:pt x="680734" y="0"/>
                  </a:lnTo>
                  <a:lnTo>
                    <a:pt x="0" y="0"/>
                  </a:lnTo>
                  <a:lnTo>
                    <a:pt x="0" y="1618872"/>
                  </a:lnTo>
                  <a:lnTo>
                    <a:pt x="680734" y="16188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73902" y="3286848"/>
              <a:ext cx="634519" cy="159921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3345208" y="3277021"/>
              <a:ext cx="681355" cy="1619250"/>
            </a:xfrm>
            <a:custGeom>
              <a:avLst/>
              <a:gdLst/>
              <a:ahLst/>
              <a:cxnLst/>
              <a:rect l="l" t="t" r="r" b="b"/>
              <a:pathLst>
                <a:path w="681355" h="1619250">
                  <a:moveTo>
                    <a:pt x="680735" y="0"/>
                  </a:moveTo>
                  <a:lnTo>
                    <a:pt x="680735" y="1618872"/>
                  </a:lnTo>
                  <a:lnTo>
                    <a:pt x="0" y="1618872"/>
                  </a:lnTo>
                  <a:lnTo>
                    <a:pt x="0" y="0"/>
                  </a:lnTo>
                  <a:lnTo>
                    <a:pt x="680735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58543" y="3283371"/>
              <a:ext cx="3816753" cy="160617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685528" y="3108362"/>
              <a:ext cx="3543935" cy="1964055"/>
            </a:xfrm>
            <a:custGeom>
              <a:avLst/>
              <a:gdLst/>
              <a:ahLst/>
              <a:cxnLst/>
              <a:rect l="l" t="t" r="r" b="b"/>
              <a:pathLst>
                <a:path w="3543934" h="1964054">
                  <a:moveTo>
                    <a:pt x="3543338" y="1875256"/>
                  </a:moveTo>
                  <a:lnTo>
                    <a:pt x="133438" y="1874824"/>
                  </a:lnTo>
                  <a:lnTo>
                    <a:pt x="133451" y="1830374"/>
                  </a:lnTo>
                  <a:lnTo>
                    <a:pt x="88" y="1897037"/>
                  </a:lnTo>
                  <a:lnTo>
                    <a:pt x="133426" y="1963724"/>
                  </a:lnTo>
                  <a:lnTo>
                    <a:pt x="133438" y="1919274"/>
                  </a:lnTo>
                  <a:lnTo>
                    <a:pt x="3543338" y="1919706"/>
                  </a:lnTo>
                  <a:lnTo>
                    <a:pt x="3543338" y="1875256"/>
                  </a:lnTo>
                  <a:close/>
                </a:path>
                <a:path w="3543934" h="1964054">
                  <a:moveTo>
                    <a:pt x="3543338" y="67221"/>
                  </a:moveTo>
                  <a:lnTo>
                    <a:pt x="3498431" y="44538"/>
                  </a:lnTo>
                  <a:lnTo>
                    <a:pt x="3410267" y="0"/>
                  </a:lnTo>
                  <a:lnTo>
                    <a:pt x="3410077" y="44450"/>
                  </a:lnTo>
                  <a:lnTo>
                    <a:pt x="177" y="30467"/>
                  </a:lnTo>
                  <a:lnTo>
                    <a:pt x="114" y="44538"/>
                  </a:lnTo>
                  <a:lnTo>
                    <a:pt x="0" y="74917"/>
                  </a:lnTo>
                  <a:lnTo>
                    <a:pt x="3409899" y="88900"/>
                  </a:lnTo>
                  <a:lnTo>
                    <a:pt x="3432111" y="88988"/>
                  </a:lnTo>
                  <a:lnTo>
                    <a:pt x="3409899" y="88988"/>
                  </a:lnTo>
                  <a:lnTo>
                    <a:pt x="3409721" y="133350"/>
                  </a:lnTo>
                  <a:lnTo>
                    <a:pt x="3499345" y="88988"/>
                  </a:lnTo>
                  <a:lnTo>
                    <a:pt x="3543338" y="6722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962536" y="2818892"/>
            <a:ext cx="2978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Latent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Forward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Diffusion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30707" y="5016500"/>
            <a:ext cx="327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Latent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Generative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Denoising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934697" y="2954181"/>
            <a:ext cx="5051425" cy="270510"/>
            <a:chOff x="8934697" y="2954181"/>
            <a:chExt cx="5051425" cy="270510"/>
          </a:xfrm>
        </p:grpSpPr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4697" y="2954181"/>
              <a:ext cx="583570" cy="2699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41527" y="2970747"/>
              <a:ext cx="544385" cy="251782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97447" y="5116676"/>
            <a:ext cx="1920820" cy="245069"/>
          </a:xfrm>
          <a:prstGeom prst="rect">
            <a:avLst/>
          </a:prstGeom>
        </p:spPr>
      </p:pic>
      <p:sp>
        <p:nvSpPr>
          <p:cNvPr id="28" name="object 28"/>
          <p:cNvSpPr/>
          <p:nvPr/>
        </p:nvSpPr>
        <p:spPr>
          <a:xfrm>
            <a:off x="7011066" y="3680055"/>
            <a:ext cx="321945" cy="291465"/>
          </a:xfrm>
          <a:custGeom>
            <a:avLst/>
            <a:gdLst/>
            <a:ahLst/>
            <a:cxnLst/>
            <a:rect l="l" t="t" r="r" b="b"/>
            <a:pathLst>
              <a:path w="321945" h="291464">
                <a:moveTo>
                  <a:pt x="158200" y="188356"/>
                </a:moveTo>
                <a:lnTo>
                  <a:pt x="115959" y="235769"/>
                </a:lnTo>
                <a:lnTo>
                  <a:pt x="321560" y="291372"/>
                </a:lnTo>
                <a:lnTo>
                  <a:pt x="288909" y="209477"/>
                </a:lnTo>
                <a:lnTo>
                  <a:pt x="181907" y="209477"/>
                </a:lnTo>
                <a:lnTo>
                  <a:pt x="158200" y="188356"/>
                </a:lnTo>
                <a:close/>
              </a:path>
              <a:path w="321945" h="291464">
                <a:moveTo>
                  <a:pt x="200442" y="140944"/>
                </a:moveTo>
                <a:lnTo>
                  <a:pt x="158200" y="188356"/>
                </a:lnTo>
                <a:lnTo>
                  <a:pt x="181907" y="209477"/>
                </a:lnTo>
                <a:lnTo>
                  <a:pt x="224148" y="162064"/>
                </a:lnTo>
                <a:lnTo>
                  <a:pt x="200442" y="140944"/>
                </a:lnTo>
                <a:close/>
              </a:path>
              <a:path w="321945" h="291464">
                <a:moveTo>
                  <a:pt x="242683" y="93531"/>
                </a:moveTo>
                <a:lnTo>
                  <a:pt x="200442" y="140944"/>
                </a:lnTo>
                <a:lnTo>
                  <a:pt x="224148" y="162064"/>
                </a:lnTo>
                <a:lnTo>
                  <a:pt x="181907" y="209477"/>
                </a:lnTo>
                <a:lnTo>
                  <a:pt x="288909" y="209477"/>
                </a:lnTo>
                <a:lnTo>
                  <a:pt x="242683" y="93531"/>
                </a:lnTo>
                <a:close/>
              </a:path>
              <a:path w="321945" h="291464">
                <a:moveTo>
                  <a:pt x="42241" y="0"/>
                </a:moveTo>
                <a:lnTo>
                  <a:pt x="0" y="47412"/>
                </a:lnTo>
                <a:lnTo>
                  <a:pt x="158200" y="188356"/>
                </a:lnTo>
                <a:lnTo>
                  <a:pt x="200442" y="140944"/>
                </a:lnTo>
                <a:lnTo>
                  <a:pt x="42241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4977384" y="4230623"/>
            <a:ext cx="2341880" cy="746760"/>
            <a:chOff x="4977384" y="4230623"/>
            <a:chExt cx="2341880" cy="746760"/>
          </a:xfrm>
        </p:grpSpPr>
        <p:sp>
          <p:nvSpPr>
            <p:cNvPr id="30" name="object 30"/>
            <p:cNvSpPr/>
            <p:nvPr/>
          </p:nvSpPr>
          <p:spPr>
            <a:xfrm>
              <a:off x="6997547" y="4286173"/>
              <a:ext cx="321945" cy="295275"/>
            </a:xfrm>
            <a:custGeom>
              <a:avLst/>
              <a:gdLst/>
              <a:ahLst/>
              <a:cxnLst/>
              <a:rect l="l" t="t" r="r" b="b"/>
              <a:pathLst>
                <a:path w="321945" h="295275">
                  <a:moveTo>
                    <a:pt x="77539" y="96519"/>
                  </a:moveTo>
                  <a:lnTo>
                    <a:pt x="0" y="294888"/>
                  </a:lnTo>
                  <a:lnTo>
                    <a:pt x="205219" y="237898"/>
                  </a:lnTo>
                  <a:lnTo>
                    <a:pt x="181876" y="212051"/>
                  </a:lnTo>
                  <a:lnTo>
                    <a:pt x="139095" y="212051"/>
                  </a:lnTo>
                  <a:lnTo>
                    <a:pt x="96536" y="164926"/>
                  </a:lnTo>
                  <a:lnTo>
                    <a:pt x="120099" y="143646"/>
                  </a:lnTo>
                  <a:lnTo>
                    <a:pt x="77539" y="96519"/>
                  </a:lnTo>
                  <a:close/>
                </a:path>
                <a:path w="321945" h="295275">
                  <a:moveTo>
                    <a:pt x="120099" y="143646"/>
                  </a:moveTo>
                  <a:lnTo>
                    <a:pt x="96536" y="164926"/>
                  </a:lnTo>
                  <a:lnTo>
                    <a:pt x="139095" y="212051"/>
                  </a:lnTo>
                  <a:lnTo>
                    <a:pt x="162658" y="190771"/>
                  </a:lnTo>
                  <a:lnTo>
                    <a:pt x="120099" y="143646"/>
                  </a:lnTo>
                  <a:close/>
                </a:path>
                <a:path w="321945" h="295275">
                  <a:moveTo>
                    <a:pt x="162658" y="190771"/>
                  </a:moveTo>
                  <a:lnTo>
                    <a:pt x="139095" y="212051"/>
                  </a:lnTo>
                  <a:lnTo>
                    <a:pt x="181876" y="212051"/>
                  </a:lnTo>
                  <a:lnTo>
                    <a:pt x="162658" y="190771"/>
                  </a:lnTo>
                  <a:close/>
                </a:path>
                <a:path w="321945" h="295275">
                  <a:moveTo>
                    <a:pt x="279157" y="0"/>
                  </a:moveTo>
                  <a:lnTo>
                    <a:pt x="120099" y="143646"/>
                  </a:lnTo>
                  <a:lnTo>
                    <a:pt x="162658" y="190771"/>
                  </a:lnTo>
                  <a:lnTo>
                    <a:pt x="321717" y="47125"/>
                  </a:lnTo>
                  <a:lnTo>
                    <a:pt x="279157" y="0"/>
                  </a:lnTo>
                  <a:close/>
                </a:path>
              </a:pathLst>
            </a:custGeom>
            <a:solidFill>
              <a:srgbClr val="54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36920" y="4230623"/>
              <a:ext cx="271272" cy="271272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3014" y="4257352"/>
              <a:ext cx="164797" cy="16569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36920" y="4468367"/>
              <a:ext cx="271272" cy="27127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63014" y="4494131"/>
              <a:ext cx="164797" cy="16569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36920" y="4706111"/>
              <a:ext cx="271272" cy="27127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3014" y="4730909"/>
              <a:ext cx="164797" cy="16569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220511" y="4361268"/>
              <a:ext cx="602615" cy="86995"/>
            </a:xfrm>
            <a:custGeom>
              <a:avLst/>
              <a:gdLst/>
              <a:ahLst/>
              <a:cxnLst/>
              <a:rect l="l" t="t" r="r" b="b"/>
              <a:pathLst>
                <a:path w="602614" h="86995">
                  <a:moveTo>
                    <a:pt x="0" y="86796"/>
                  </a:moveTo>
                  <a:lnTo>
                    <a:pt x="602152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217837" y="4507717"/>
              <a:ext cx="614680" cy="52705"/>
            </a:xfrm>
            <a:custGeom>
              <a:avLst/>
              <a:gdLst/>
              <a:ahLst/>
              <a:cxnLst/>
              <a:rect l="l" t="t" r="r" b="b"/>
              <a:pathLst>
                <a:path w="614679" h="52704">
                  <a:moveTo>
                    <a:pt x="0" y="0"/>
                  </a:moveTo>
                  <a:lnTo>
                    <a:pt x="614258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09789" y="4546872"/>
              <a:ext cx="623570" cy="219710"/>
            </a:xfrm>
            <a:custGeom>
              <a:avLst/>
              <a:gdLst/>
              <a:ahLst/>
              <a:cxnLst/>
              <a:rect l="l" t="t" r="r" b="b"/>
              <a:pathLst>
                <a:path w="623570" h="219710">
                  <a:moveTo>
                    <a:pt x="0" y="0"/>
                  </a:moveTo>
                  <a:lnTo>
                    <a:pt x="62338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04446" y="4406846"/>
              <a:ext cx="629285" cy="250190"/>
            </a:xfrm>
            <a:custGeom>
              <a:avLst/>
              <a:gdLst/>
              <a:ahLst/>
              <a:cxnLst/>
              <a:rect l="l" t="t" r="r" b="b"/>
              <a:pathLst>
                <a:path w="629285" h="250189">
                  <a:moveTo>
                    <a:pt x="0" y="249904"/>
                  </a:moveTo>
                  <a:lnTo>
                    <a:pt x="628723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16762" y="4602951"/>
              <a:ext cx="624840" cy="104775"/>
            </a:xfrm>
            <a:custGeom>
              <a:avLst/>
              <a:gdLst/>
              <a:ahLst/>
              <a:cxnLst/>
              <a:rect l="l" t="t" r="r" b="b"/>
              <a:pathLst>
                <a:path w="624839" h="104775">
                  <a:moveTo>
                    <a:pt x="0" y="104357"/>
                  </a:moveTo>
                  <a:lnTo>
                    <a:pt x="624454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11167" y="4742726"/>
              <a:ext cx="606425" cy="66040"/>
            </a:xfrm>
            <a:custGeom>
              <a:avLst/>
              <a:gdLst/>
              <a:ahLst/>
              <a:cxnLst/>
              <a:rect l="l" t="t" r="r" b="b"/>
              <a:pathLst>
                <a:path w="606425" h="66039">
                  <a:moveTo>
                    <a:pt x="0" y="0"/>
                  </a:moveTo>
                  <a:lnTo>
                    <a:pt x="60590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7384" y="4364735"/>
              <a:ext cx="271272" cy="26822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04107" y="4388660"/>
              <a:ext cx="164796" cy="16569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77384" y="4599431"/>
              <a:ext cx="271272" cy="27127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04107" y="4625438"/>
              <a:ext cx="164796" cy="16569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90360" y="4361687"/>
              <a:ext cx="271272" cy="27127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6491" y="4387681"/>
              <a:ext cx="164796" cy="16569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90360" y="4599431"/>
              <a:ext cx="271272" cy="27127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6491" y="4624459"/>
              <a:ext cx="164796" cy="165695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082891" y="4358024"/>
              <a:ext cx="601980" cy="86995"/>
            </a:xfrm>
            <a:custGeom>
              <a:avLst/>
              <a:gdLst/>
              <a:ahLst/>
              <a:cxnLst/>
              <a:rect l="l" t="t" r="r" b="b"/>
              <a:pathLst>
                <a:path w="601979" h="86995">
                  <a:moveTo>
                    <a:pt x="601449" y="8679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073471" y="4504474"/>
              <a:ext cx="614045" cy="52705"/>
            </a:xfrm>
            <a:custGeom>
              <a:avLst/>
              <a:gdLst/>
              <a:ahLst/>
              <a:cxnLst/>
              <a:rect l="l" t="t" r="r" b="b"/>
              <a:pathLst>
                <a:path w="614045" h="52704">
                  <a:moveTo>
                    <a:pt x="613541" y="0"/>
                  </a:moveTo>
                  <a:lnTo>
                    <a:pt x="0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72399" y="4543629"/>
              <a:ext cx="622935" cy="219710"/>
            </a:xfrm>
            <a:custGeom>
              <a:avLst/>
              <a:gdLst/>
              <a:ahLst/>
              <a:cxnLst/>
              <a:rect l="l" t="t" r="r" b="b"/>
              <a:pathLst>
                <a:path w="622934" h="219710">
                  <a:moveTo>
                    <a:pt x="622653" y="0"/>
                  </a:moveTo>
                  <a:lnTo>
                    <a:pt x="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72400" y="4403603"/>
              <a:ext cx="628015" cy="250190"/>
            </a:xfrm>
            <a:custGeom>
              <a:avLst/>
              <a:gdLst/>
              <a:ahLst/>
              <a:cxnLst/>
              <a:rect l="l" t="t" r="r" b="b"/>
              <a:pathLst>
                <a:path w="628015" h="250189">
                  <a:moveTo>
                    <a:pt x="627989" y="2499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64360" y="4599707"/>
              <a:ext cx="624205" cy="104775"/>
            </a:xfrm>
            <a:custGeom>
              <a:avLst/>
              <a:gdLst/>
              <a:ahLst/>
              <a:cxnLst/>
              <a:rect l="l" t="t" r="r" b="b"/>
              <a:pathLst>
                <a:path w="624204" h="104775">
                  <a:moveTo>
                    <a:pt x="623725" y="10435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088483" y="4739482"/>
              <a:ext cx="605790" cy="66040"/>
            </a:xfrm>
            <a:custGeom>
              <a:avLst/>
              <a:gdLst/>
              <a:ahLst/>
              <a:cxnLst/>
              <a:rect l="l" t="t" r="r" b="b"/>
              <a:pathLst>
                <a:path w="605790" h="66039">
                  <a:moveTo>
                    <a:pt x="605193" y="0"/>
                  </a:moveTo>
                  <a:lnTo>
                    <a:pt x="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8298457" y="4000730"/>
            <a:ext cx="518159" cy="171450"/>
          </a:xfrm>
          <a:custGeom>
            <a:avLst/>
            <a:gdLst/>
            <a:ahLst/>
            <a:cxnLst/>
            <a:rect l="l" t="t" r="r" b="b"/>
            <a:pathLst>
              <a:path w="518159" h="171450">
                <a:moveTo>
                  <a:pt x="171447" y="0"/>
                </a:moveTo>
                <a:lnTo>
                  <a:pt x="0" y="85726"/>
                </a:lnTo>
                <a:lnTo>
                  <a:pt x="171447" y="171450"/>
                </a:lnTo>
                <a:lnTo>
                  <a:pt x="171447" y="114300"/>
                </a:lnTo>
                <a:lnTo>
                  <a:pt x="142872" y="114300"/>
                </a:lnTo>
                <a:lnTo>
                  <a:pt x="142872" y="57150"/>
                </a:lnTo>
                <a:lnTo>
                  <a:pt x="171447" y="57150"/>
                </a:lnTo>
                <a:lnTo>
                  <a:pt x="171447" y="0"/>
                </a:lnTo>
                <a:close/>
              </a:path>
              <a:path w="518159" h="171450">
                <a:moveTo>
                  <a:pt x="346449" y="0"/>
                </a:moveTo>
                <a:lnTo>
                  <a:pt x="346448" y="171450"/>
                </a:lnTo>
                <a:lnTo>
                  <a:pt x="460750" y="114300"/>
                </a:lnTo>
                <a:lnTo>
                  <a:pt x="375023" y="114300"/>
                </a:lnTo>
                <a:lnTo>
                  <a:pt x="375024" y="57150"/>
                </a:lnTo>
                <a:lnTo>
                  <a:pt x="460747" y="57150"/>
                </a:lnTo>
                <a:lnTo>
                  <a:pt x="346449" y="0"/>
                </a:lnTo>
                <a:close/>
              </a:path>
              <a:path w="518159" h="171450">
                <a:moveTo>
                  <a:pt x="171447" y="57150"/>
                </a:moveTo>
                <a:lnTo>
                  <a:pt x="142872" y="57150"/>
                </a:lnTo>
                <a:lnTo>
                  <a:pt x="142872" y="114300"/>
                </a:lnTo>
                <a:lnTo>
                  <a:pt x="171447" y="114300"/>
                </a:lnTo>
                <a:lnTo>
                  <a:pt x="171447" y="57150"/>
                </a:lnTo>
                <a:close/>
              </a:path>
              <a:path w="518159" h="171450">
                <a:moveTo>
                  <a:pt x="346449" y="57150"/>
                </a:moveTo>
                <a:lnTo>
                  <a:pt x="171447" y="57150"/>
                </a:lnTo>
                <a:lnTo>
                  <a:pt x="171447" y="114300"/>
                </a:lnTo>
                <a:lnTo>
                  <a:pt x="346448" y="114300"/>
                </a:lnTo>
                <a:lnTo>
                  <a:pt x="346449" y="57150"/>
                </a:lnTo>
                <a:close/>
              </a:path>
              <a:path w="518159" h="171450">
                <a:moveTo>
                  <a:pt x="460747" y="57150"/>
                </a:moveTo>
                <a:lnTo>
                  <a:pt x="375024" y="57150"/>
                </a:lnTo>
                <a:lnTo>
                  <a:pt x="375023" y="114300"/>
                </a:lnTo>
                <a:lnTo>
                  <a:pt x="460750" y="114300"/>
                </a:lnTo>
                <a:lnTo>
                  <a:pt x="517898" y="85726"/>
                </a:lnTo>
                <a:lnTo>
                  <a:pt x="460747" y="571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8" name="object 5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29658" y="3210891"/>
            <a:ext cx="153297" cy="118457"/>
          </a:xfrm>
          <a:prstGeom prst="rect">
            <a:avLst/>
          </a:prstGeom>
        </p:spPr>
      </p:pic>
      <p:sp>
        <p:nvSpPr>
          <p:cNvPr id="59" name="object 59"/>
          <p:cNvSpPr/>
          <p:nvPr/>
        </p:nvSpPr>
        <p:spPr>
          <a:xfrm>
            <a:off x="8513698" y="4257253"/>
            <a:ext cx="95250" cy="726440"/>
          </a:xfrm>
          <a:custGeom>
            <a:avLst/>
            <a:gdLst/>
            <a:ahLst/>
            <a:cxnLst/>
            <a:rect l="l" t="t" r="r" b="b"/>
            <a:pathLst>
              <a:path w="95250" h="726439">
                <a:moveTo>
                  <a:pt x="31749" y="631235"/>
                </a:moveTo>
                <a:lnTo>
                  <a:pt x="0" y="631432"/>
                </a:lnTo>
                <a:lnTo>
                  <a:pt x="48214" y="726385"/>
                </a:lnTo>
                <a:lnTo>
                  <a:pt x="87238" y="647110"/>
                </a:lnTo>
                <a:lnTo>
                  <a:pt x="31847" y="647110"/>
                </a:lnTo>
                <a:lnTo>
                  <a:pt x="31749" y="631235"/>
                </a:lnTo>
                <a:close/>
              </a:path>
              <a:path w="95250" h="726439">
                <a:moveTo>
                  <a:pt x="63497" y="631038"/>
                </a:moveTo>
                <a:lnTo>
                  <a:pt x="31749" y="631235"/>
                </a:lnTo>
                <a:lnTo>
                  <a:pt x="31847" y="647110"/>
                </a:lnTo>
                <a:lnTo>
                  <a:pt x="63596" y="646913"/>
                </a:lnTo>
                <a:lnTo>
                  <a:pt x="63497" y="631038"/>
                </a:lnTo>
                <a:close/>
              </a:path>
              <a:path w="95250" h="726439">
                <a:moveTo>
                  <a:pt x="95247" y="630842"/>
                </a:moveTo>
                <a:lnTo>
                  <a:pt x="63497" y="631038"/>
                </a:lnTo>
                <a:lnTo>
                  <a:pt x="63596" y="646913"/>
                </a:lnTo>
                <a:lnTo>
                  <a:pt x="31847" y="647110"/>
                </a:lnTo>
                <a:lnTo>
                  <a:pt x="87238" y="647110"/>
                </a:lnTo>
                <a:lnTo>
                  <a:pt x="94956" y="631432"/>
                </a:lnTo>
                <a:lnTo>
                  <a:pt x="95053" y="631235"/>
                </a:lnTo>
                <a:lnTo>
                  <a:pt x="95150" y="631038"/>
                </a:lnTo>
                <a:lnTo>
                  <a:pt x="95247" y="630842"/>
                </a:lnTo>
                <a:close/>
              </a:path>
              <a:path w="95250" h="726439">
                <a:moveTo>
                  <a:pt x="59580" y="0"/>
                </a:moveTo>
                <a:lnTo>
                  <a:pt x="27832" y="196"/>
                </a:lnTo>
                <a:lnTo>
                  <a:pt x="31746" y="630842"/>
                </a:lnTo>
                <a:lnTo>
                  <a:pt x="31749" y="631235"/>
                </a:lnTo>
                <a:lnTo>
                  <a:pt x="63497" y="631038"/>
                </a:lnTo>
                <a:lnTo>
                  <a:pt x="59582" y="196"/>
                </a:lnTo>
                <a:lnTo>
                  <a:pt x="59580" y="0"/>
                </a:lnTo>
                <a:close/>
              </a:path>
            </a:pathLst>
          </a:custGeom>
          <a:solidFill>
            <a:srgbClr val="76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0" name="object 60"/>
          <p:cNvGrpSpPr/>
          <p:nvPr/>
        </p:nvGrpSpPr>
        <p:grpSpPr>
          <a:xfrm>
            <a:off x="4983479" y="3319271"/>
            <a:ext cx="1981200" cy="744220"/>
            <a:chOff x="4983479" y="3319271"/>
            <a:chExt cx="1981200" cy="744220"/>
          </a:xfrm>
        </p:grpSpPr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39967" y="3319271"/>
              <a:ext cx="271272" cy="26822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343309"/>
              <a:ext cx="164797" cy="165696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39967" y="3553967"/>
              <a:ext cx="271272" cy="27127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580089"/>
              <a:ext cx="164797" cy="16569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39967" y="3791711"/>
              <a:ext cx="271272" cy="271272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816867"/>
              <a:ext cx="164797" cy="16569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5223746" y="3447225"/>
              <a:ext cx="602615" cy="86995"/>
            </a:xfrm>
            <a:custGeom>
              <a:avLst/>
              <a:gdLst/>
              <a:ahLst/>
              <a:cxnLst/>
              <a:rect l="l" t="t" r="r" b="b"/>
              <a:pathLst>
                <a:path w="602614" h="86995">
                  <a:moveTo>
                    <a:pt x="0" y="86796"/>
                  </a:moveTo>
                  <a:lnTo>
                    <a:pt x="602152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221070" y="3593675"/>
              <a:ext cx="614680" cy="52705"/>
            </a:xfrm>
            <a:custGeom>
              <a:avLst/>
              <a:gdLst/>
              <a:ahLst/>
              <a:cxnLst/>
              <a:rect l="l" t="t" r="r" b="b"/>
              <a:pathLst>
                <a:path w="614679" h="52704">
                  <a:moveTo>
                    <a:pt x="0" y="0"/>
                  </a:moveTo>
                  <a:lnTo>
                    <a:pt x="614258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213022" y="3632830"/>
              <a:ext cx="623570" cy="219710"/>
            </a:xfrm>
            <a:custGeom>
              <a:avLst/>
              <a:gdLst/>
              <a:ahLst/>
              <a:cxnLst/>
              <a:rect l="l" t="t" r="r" b="b"/>
              <a:pathLst>
                <a:path w="623570" h="219710">
                  <a:moveTo>
                    <a:pt x="0" y="0"/>
                  </a:moveTo>
                  <a:lnTo>
                    <a:pt x="62338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207679" y="3492804"/>
              <a:ext cx="629285" cy="250190"/>
            </a:xfrm>
            <a:custGeom>
              <a:avLst/>
              <a:gdLst/>
              <a:ahLst/>
              <a:cxnLst/>
              <a:rect l="l" t="t" r="r" b="b"/>
              <a:pathLst>
                <a:path w="629285" h="250189">
                  <a:moveTo>
                    <a:pt x="0" y="249904"/>
                  </a:moveTo>
                  <a:lnTo>
                    <a:pt x="628723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219997" y="3688909"/>
              <a:ext cx="624840" cy="104775"/>
            </a:xfrm>
            <a:custGeom>
              <a:avLst/>
              <a:gdLst/>
              <a:ahLst/>
              <a:cxnLst/>
              <a:rect l="l" t="t" r="r" b="b"/>
              <a:pathLst>
                <a:path w="624839" h="104775">
                  <a:moveTo>
                    <a:pt x="0" y="104357"/>
                  </a:moveTo>
                  <a:lnTo>
                    <a:pt x="624454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214400" y="3828684"/>
              <a:ext cx="606425" cy="66040"/>
            </a:xfrm>
            <a:custGeom>
              <a:avLst/>
              <a:gdLst/>
              <a:ahLst/>
              <a:cxnLst/>
              <a:rect l="l" t="t" r="r" b="b"/>
              <a:pathLst>
                <a:path w="606425" h="66039">
                  <a:moveTo>
                    <a:pt x="0" y="0"/>
                  </a:moveTo>
                  <a:lnTo>
                    <a:pt x="60590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83479" y="3450335"/>
              <a:ext cx="268224" cy="26822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07340" y="3474618"/>
              <a:ext cx="164796" cy="16569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83479" y="3685031"/>
              <a:ext cx="268224" cy="27127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07340" y="3711397"/>
              <a:ext cx="164796" cy="165695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93407" y="3447287"/>
              <a:ext cx="271272" cy="271272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9724" y="3473639"/>
              <a:ext cx="164797" cy="165695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93407" y="3685031"/>
              <a:ext cx="271272" cy="271272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9724" y="3710417"/>
              <a:ext cx="164797" cy="16569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086125" y="3443982"/>
              <a:ext cx="601980" cy="86995"/>
            </a:xfrm>
            <a:custGeom>
              <a:avLst/>
              <a:gdLst/>
              <a:ahLst/>
              <a:cxnLst/>
              <a:rect l="l" t="t" r="r" b="b"/>
              <a:pathLst>
                <a:path w="601979" h="86995">
                  <a:moveTo>
                    <a:pt x="601449" y="8679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076705" y="3590433"/>
              <a:ext cx="614045" cy="52705"/>
            </a:xfrm>
            <a:custGeom>
              <a:avLst/>
              <a:gdLst/>
              <a:ahLst/>
              <a:cxnLst/>
              <a:rect l="l" t="t" r="r" b="b"/>
              <a:pathLst>
                <a:path w="614045" h="52704">
                  <a:moveTo>
                    <a:pt x="613541" y="0"/>
                  </a:moveTo>
                  <a:lnTo>
                    <a:pt x="0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075634" y="3629587"/>
              <a:ext cx="622935" cy="219710"/>
            </a:xfrm>
            <a:custGeom>
              <a:avLst/>
              <a:gdLst/>
              <a:ahLst/>
              <a:cxnLst/>
              <a:rect l="l" t="t" r="r" b="b"/>
              <a:pathLst>
                <a:path w="622934" h="219710">
                  <a:moveTo>
                    <a:pt x="622653" y="0"/>
                  </a:moveTo>
                  <a:lnTo>
                    <a:pt x="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075633" y="3489561"/>
              <a:ext cx="628015" cy="250190"/>
            </a:xfrm>
            <a:custGeom>
              <a:avLst/>
              <a:gdLst/>
              <a:ahLst/>
              <a:cxnLst/>
              <a:rect l="l" t="t" r="r" b="b"/>
              <a:pathLst>
                <a:path w="628015" h="250189">
                  <a:moveTo>
                    <a:pt x="627989" y="2499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067595" y="3685665"/>
              <a:ext cx="624205" cy="104775"/>
            </a:xfrm>
            <a:custGeom>
              <a:avLst/>
              <a:gdLst/>
              <a:ahLst/>
              <a:cxnLst/>
              <a:rect l="l" t="t" r="r" b="b"/>
              <a:pathLst>
                <a:path w="624204" h="104775">
                  <a:moveTo>
                    <a:pt x="623725" y="10435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91716" y="3825440"/>
              <a:ext cx="605790" cy="66040"/>
            </a:xfrm>
            <a:custGeom>
              <a:avLst/>
              <a:gdLst/>
              <a:ahLst/>
              <a:cxnLst/>
              <a:rect l="l" t="t" r="r" b="b"/>
              <a:pathLst>
                <a:path w="605790" h="66039">
                  <a:moveTo>
                    <a:pt x="605193" y="0"/>
                  </a:moveTo>
                  <a:lnTo>
                    <a:pt x="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7" name="object 8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703" y="4284927"/>
            <a:ext cx="595085" cy="604074"/>
          </a:xfrm>
          <a:prstGeom prst="rect">
            <a:avLst/>
          </a:prstGeom>
        </p:spPr>
      </p:pic>
      <p:sp>
        <p:nvSpPr>
          <p:cNvPr id="88" name="object 88"/>
          <p:cNvSpPr/>
          <p:nvPr/>
        </p:nvSpPr>
        <p:spPr>
          <a:xfrm>
            <a:off x="4084664" y="5731795"/>
            <a:ext cx="4213860" cy="354330"/>
          </a:xfrm>
          <a:custGeom>
            <a:avLst/>
            <a:gdLst/>
            <a:ahLst/>
            <a:cxnLst/>
            <a:rect l="l" t="t" r="r" b="b"/>
            <a:pathLst>
              <a:path w="4213859" h="354329">
                <a:moveTo>
                  <a:pt x="4213791" y="4"/>
                </a:moveTo>
                <a:lnTo>
                  <a:pt x="4207365" y="47070"/>
                </a:lnTo>
                <a:lnTo>
                  <a:pt x="4189231" y="89363"/>
                </a:lnTo>
                <a:lnTo>
                  <a:pt x="4161104" y="125195"/>
                </a:lnTo>
                <a:lnTo>
                  <a:pt x="4124698" y="152878"/>
                </a:lnTo>
                <a:lnTo>
                  <a:pt x="4081727" y="170726"/>
                </a:lnTo>
                <a:lnTo>
                  <a:pt x="4033908" y="177050"/>
                </a:lnTo>
                <a:lnTo>
                  <a:pt x="2286779" y="177046"/>
                </a:lnTo>
                <a:lnTo>
                  <a:pt x="2238958" y="183370"/>
                </a:lnTo>
                <a:lnTo>
                  <a:pt x="2195988" y="201218"/>
                </a:lnTo>
                <a:lnTo>
                  <a:pt x="2159581" y="228901"/>
                </a:lnTo>
                <a:lnTo>
                  <a:pt x="2131454" y="264733"/>
                </a:lnTo>
                <a:lnTo>
                  <a:pt x="2113320" y="307026"/>
                </a:lnTo>
                <a:lnTo>
                  <a:pt x="2106895" y="354092"/>
                </a:lnTo>
                <a:lnTo>
                  <a:pt x="2100469" y="307026"/>
                </a:lnTo>
                <a:lnTo>
                  <a:pt x="2082335" y="264733"/>
                </a:lnTo>
                <a:lnTo>
                  <a:pt x="2054208" y="228901"/>
                </a:lnTo>
                <a:lnTo>
                  <a:pt x="2017802" y="201218"/>
                </a:lnTo>
                <a:lnTo>
                  <a:pt x="1974832" y="183370"/>
                </a:lnTo>
                <a:lnTo>
                  <a:pt x="1927012" y="177046"/>
                </a:lnTo>
                <a:lnTo>
                  <a:pt x="179883" y="177046"/>
                </a:lnTo>
                <a:lnTo>
                  <a:pt x="132063" y="170722"/>
                </a:lnTo>
                <a:lnTo>
                  <a:pt x="89092" y="152874"/>
                </a:lnTo>
                <a:lnTo>
                  <a:pt x="52686" y="125190"/>
                </a:lnTo>
                <a:lnTo>
                  <a:pt x="24559" y="89358"/>
                </a:lnTo>
                <a:lnTo>
                  <a:pt x="6425" y="47065"/>
                </a:lnTo>
                <a:lnTo>
                  <a:pt x="0" y="0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8890509" y="5731800"/>
            <a:ext cx="5143500" cy="363220"/>
          </a:xfrm>
          <a:custGeom>
            <a:avLst/>
            <a:gdLst/>
            <a:ahLst/>
            <a:cxnLst/>
            <a:rect l="l" t="t" r="r" b="b"/>
            <a:pathLst>
              <a:path w="5143500" h="363220">
                <a:moveTo>
                  <a:pt x="5143029" y="0"/>
                </a:moveTo>
                <a:lnTo>
                  <a:pt x="5136447" y="48206"/>
                </a:lnTo>
                <a:lnTo>
                  <a:pt x="5117874" y="91523"/>
                </a:lnTo>
                <a:lnTo>
                  <a:pt x="5089065" y="128223"/>
                </a:lnTo>
                <a:lnTo>
                  <a:pt x="5051777" y="156577"/>
                </a:lnTo>
                <a:lnTo>
                  <a:pt x="5007766" y="174857"/>
                </a:lnTo>
                <a:lnTo>
                  <a:pt x="4958788" y="181335"/>
                </a:lnTo>
                <a:lnTo>
                  <a:pt x="2755756" y="181335"/>
                </a:lnTo>
                <a:lnTo>
                  <a:pt x="2706777" y="187812"/>
                </a:lnTo>
                <a:lnTo>
                  <a:pt x="2662765" y="206092"/>
                </a:lnTo>
                <a:lnTo>
                  <a:pt x="2625477" y="234446"/>
                </a:lnTo>
                <a:lnTo>
                  <a:pt x="2596669" y="271146"/>
                </a:lnTo>
                <a:lnTo>
                  <a:pt x="2578096" y="314463"/>
                </a:lnTo>
                <a:lnTo>
                  <a:pt x="2571515" y="362670"/>
                </a:lnTo>
                <a:lnTo>
                  <a:pt x="2564933" y="314463"/>
                </a:lnTo>
                <a:lnTo>
                  <a:pt x="2546360" y="271146"/>
                </a:lnTo>
                <a:lnTo>
                  <a:pt x="2517551" y="234446"/>
                </a:lnTo>
                <a:lnTo>
                  <a:pt x="2480263" y="206092"/>
                </a:lnTo>
                <a:lnTo>
                  <a:pt x="2436251" y="187812"/>
                </a:lnTo>
                <a:lnTo>
                  <a:pt x="2387273" y="181335"/>
                </a:lnTo>
                <a:lnTo>
                  <a:pt x="184241" y="181335"/>
                </a:lnTo>
                <a:lnTo>
                  <a:pt x="135262" y="174857"/>
                </a:lnTo>
                <a:lnTo>
                  <a:pt x="91251" y="156577"/>
                </a:lnTo>
                <a:lnTo>
                  <a:pt x="53963" y="128223"/>
                </a:lnTo>
                <a:lnTo>
                  <a:pt x="25154" y="91523"/>
                </a:lnTo>
                <a:lnTo>
                  <a:pt x="6581" y="48206"/>
                </a:lnTo>
                <a:lnTo>
                  <a:pt x="0" y="0"/>
                </a:lnTo>
              </a:path>
            </a:pathLst>
          </a:custGeom>
          <a:ln w="9525">
            <a:solidFill>
              <a:srgbClr val="5E5E5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4519181" y="6305803"/>
            <a:ext cx="33058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latin typeface="Trebuchet MS"/>
                <a:cs typeface="Trebuchet MS"/>
              </a:rPr>
              <a:t>Variational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Autoencoder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906578" y="9736564"/>
            <a:ext cx="831088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Vahdat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al.,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“Score-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based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generative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modeling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in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latent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space”,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NeurIPS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2021.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4" name="object 9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71</a:t>
            </a:r>
          </a:p>
        </p:txBody>
      </p:sp>
      <p:sp>
        <p:nvSpPr>
          <p:cNvPr id="91" name="object 91"/>
          <p:cNvSpPr txBox="1"/>
          <p:nvPr/>
        </p:nvSpPr>
        <p:spPr>
          <a:xfrm>
            <a:off x="9853328" y="6305803"/>
            <a:ext cx="3363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rebuchet MS"/>
                <a:cs typeface="Trebuchet MS"/>
              </a:rPr>
              <a:t>Denoising</a:t>
            </a:r>
            <a:r>
              <a:rPr sz="2400" spc="-105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Diffusion</a:t>
            </a:r>
            <a:r>
              <a:rPr sz="2400" spc="-9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Prior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639061" y="6876288"/>
            <a:ext cx="14771369" cy="247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solidFill>
                  <a:srgbClr val="890C58"/>
                </a:solidFill>
                <a:latin typeface="Trebuchet MS"/>
                <a:cs typeface="Trebuchet MS"/>
              </a:rPr>
              <a:t>Advantages:</a:t>
            </a:r>
            <a:endParaRPr sz="2300">
              <a:latin typeface="Trebuchet MS"/>
              <a:cs typeface="Trebuchet MS"/>
            </a:endParaRPr>
          </a:p>
          <a:p>
            <a:pPr marL="467359" indent="-454659">
              <a:lnSpc>
                <a:spcPct val="100000"/>
              </a:lnSpc>
              <a:spcBef>
                <a:spcPts val="2660"/>
              </a:spcBef>
              <a:buAutoNum type="arabicParenBoth"/>
              <a:tabLst>
                <a:tab pos="467359" algn="l"/>
              </a:tabLst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distribution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latent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embeddings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close</a:t>
            </a:r>
            <a:r>
              <a:rPr sz="2300" spc="2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1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Normal</a:t>
            </a:r>
            <a:r>
              <a:rPr sz="2300" spc="1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distribution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Wingdings"/>
                <a:cs typeface="Wingdings"/>
              </a:rPr>
              <a:t></a:t>
            </a:r>
            <a:r>
              <a:rPr sz="2300" spc="150" dirty="0">
                <a:latin typeface="Times New Roman"/>
                <a:cs typeface="Times New Roman"/>
              </a:rPr>
              <a:t> </a:t>
            </a:r>
            <a:r>
              <a:rPr sz="2400" b="1" i="1" spc="-35" dirty="0">
                <a:solidFill>
                  <a:srgbClr val="890C58"/>
                </a:solidFill>
                <a:latin typeface="Trebuchet MS"/>
                <a:cs typeface="Trebuchet MS"/>
              </a:rPr>
              <a:t>Simpler</a:t>
            </a:r>
            <a:r>
              <a:rPr sz="2400" b="1" i="1" spc="-1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45" dirty="0">
                <a:solidFill>
                  <a:srgbClr val="890C58"/>
                </a:solidFill>
                <a:latin typeface="Trebuchet MS"/>
                <a:cs typeface="Trebuchet MS"/>
              </a:rPr>
              <a:t>denoising,</a:t>
            </a:r>
            <a:r>
              <a:rPr sz="2400" b="1" i="1" spc="-1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90" dirty="0">
                <a:solidFill>
                  <a:srgbClr val="890C58"/>
                </a:solidFill>
                <a:latin typeface="Trebuchet MS"/>
                <a:cs typeface="Trebuchet MS"/>
              </a:rPr>
              <a:t>Faster</a:t>
            </a:r>
            <a:r>
              <a:rPr sz="2400" b="1" i="1" spc="-10" dirty="0">
                <a:solidFill>
                  <a:srgbClr val="890C58"/>
                </a:solidFill>
                <a:latin typeface="Trebuchet MS"/>
                <a:cs typeface="Trebuchet MS"/>
              </a:rPr>
              <a:t> synthesis!</a:t>
            </a:r>
            <a:endParaRPr sz="2400">
              <a:latin typeface="Trebuchet MS"/>
              <a:cs typeface="Trebuchet MS"/>
            </a:endParaRPr>
          </a:p>
          <a:p>
            <a:pPr marL="3582670" indent="-454659">
              <a:lnSpc>
                <a:spcPct val="100000"/>
              </a:lnSpc>
              <a:spcBef>
                <a:spcPts val="2615"/>
              </a:spcBef>
              <a:buAutoNum type="arabicParenBoth"/>
              <a:tabLst>
                <a:tab pos="3582670" algn="l"/>
              </a:tabLst>
            </a:pPr>
            <a:r>
              <a:rPr sz="2300" dirty="0">
                <a:latin typeface="Trebuchet MS"/>
                <a:cs typeface="Trebuchet MS"/>
              </a:rPr>
              <a:t>Latent</a:t>
            </a:r>
            <a:r>
              <a:rPr sz="2300" spc="-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space</a:t>
            </a:r>
            <a:r>
              <a:rPr sz="2300" spc="-15" dirty="0">
                <a:latin typeface="Trebuchet MS"/>
                <a:cs typeface="Trebuchet MS"/>
              </a:rPr>
              <a:t> </a:t>
            </a:r>
            <a:r>
              <a:rPr sz="2300" dirty="0">
                <a:latin typeface="Wingdings"/>
                <a:cs typeface="Wingdings"/>
              </a:rPr>
              <a:t></a:t>
            </a:r>
            <a:r>
              <a:rPr sz="2300" spc="114" dirty="0"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890C58"/>
                </a:solidFill>
                <a:latin typeface="Trebuchet MS"/>
                <a:cs typeface="Trebuchet MS"/>
              </a:rPr>
              <a:t>More </a:t>
            </a:r>
            <a:r>
              <a:rPr sz="2400" b="1" i="1" spc="-80" dirty="0">
                <a:solidFill>
                  <a:srgbClr val="890C58"/>
                </a:solidFill>
                <a:latin typeface="Trebuchet MS"/>
                <a:cs typeface="Trebuchet MS"/>
              </a:rPr>
              <a:t>expressivity</a:t>
            </a:r>
            <a:r>
              <a:rPr sz="2400" b="1" i="1" spc="-4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60" dirty="0">
                <a:solidFill>
                  <a:srgbClr val="890C58"/>
                </a:solidFill>
                <a:latin typeface="Trebuchet MS"/>
                <a:cs typeface="Trebuchet MS"/>
              </a:rPr>
              <a:t>and</a:t>
            </a:r>
            <a:r>
              <a:rPr sz="2400" b="1" i="1" spc="-5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95" dirty="0">
                <a:solidFill>
                  <a:srgbClr val="890C58"/>
                </a:solidFill>
                <a:latin typeface="Trebuchet MS"/>
                <a:cs typeface="Trebuchet MS"/>
              </a:rPr>
              <a:t>flexibility</a:t>
            </a:r>
            <a:r>
              <a:rPr sz="2400" b="1" i="1" spc="-4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dirty="0">
                <a:solidFill>
                  <a:srgbClr val="890C58"/>
                </a:solidFill>
                <a:latin typeface="Trebuchet MS"/>
                <a:cs typeface="Trebuchet MS"/>
              </a:rPr>
              <a:t>in</a:t>
            </a:r>
            <a:r>
              <a:rPr sz="2400" b="1" i="1" spc="-5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10" dirty="0">
                <a:solidFill>
                  <a:srgbClr val="890C58"/>
                </a:solidFill>
                <a:latin typeface="Trebuchet MS"/>
                <a:cs typeface="Trebuchet MS"/>
              </a:rPr>
              <a:t>design!</a:t>
            </a:r>
            <a:endParaRPr sz="2400">
              <a:latin typeface="Trebuchet MS"/>
              <a:cs typeface="Trebuchet MS"/>
            </a:endParaRPr>
          </a:p>
          <a:p>
            <a:pPr marL="507365" indent="-454659">
              <a:lnSpc>
                <a:spcPct val="100000"/>
              </a:lnSpc>
              <a:spcBef>
                <a:spcPts val="2615"/>
              </a:spcBef>
              <a:buAutoNum type="arabicParenBoth"/>
              <a:tabLst>
                <a:tab pos="507365" algn="l"/>
              </a:tabLst>
            </a:pPr>
            <a:r>
              <a:rPr sz="2300" dirty="0">
                <a:latin typeface="Trebuchet MS"/>
                <a:cs typeface="Trebuchet MS"/>
              </a:rPr>
              <a:t>Tailored</a:t>
            </a:r>
            <a:r>
              <a:rPr sz="2300" spc="-114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Autoencoders</a:t>
            </a:r>
            <a:r>
              <a:rPr sz="2300" spc="-35" dirty="0">
                <a:latin typeface="Trebuchet MS"/>
                <a:cs typeface="Trebuchet MS"/>
              </a:rPr>
              <a:t> </a:t>
            </a:r>
            <a:r>
              <a:rPr sz="2300" dirty="0">
                <a:latin typeface="Wingdings"/>
                <a:cs typeface="Wingdings"/>
              </a:rPr>
              <a:t></a:t>
            </a:r>
            <a:r>
              <a:rPr sz="2300" spc="90" dirty="0">
                <a:latin typeface="Times New Roman"/>
                <a:cs typeface="Times New Roman"/>
              </a:rPr>
              <a:t> </a:t>
            </a:r>
            <a:r>
              <a:rPr sz="2400" b="1" i="1" spc="-50" dirty="0">
                <a:solidFill>
                  <a:srgbClr val="890C58"/>
                </a:solidFill>
                <a:latin typeface="Trebuchet MS"/>
                <a:cs typeface="Trebuchet MS"/>
              </a:rPr>
              <a:t>More</a:t>
            </a:r>
            <a:r>
              <a:rPr sz="2400" b="1" i="1" spc="-75" dirty="0">
                <a:solidFill>
                  <a:srgbClr val="890C58"/>
                </a:solidFill>
                <a:latin typeface="Trebuchet MS"/>
                <a:cs typeface="Trebuchet MS"/>
              </a:rPr>
              <a:t> expressivity,</a:t>
            </a:r>
            <a:r>
              <a:rPr sz="2400" b="1" i="1" spc="-7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65" dirty="0">
                <a:solidFill>
                  <a:srgbClr val="890C58"/>
                </a:solidFill>
                <a:latin typeface="Trebuchet MS"/>
                <a:cs typeface="Trebuchet MS"/>
              </a:rPr>
              <a:t>Application</a:t>
            </a:r>
            <a:r>
              <a:rPr sz="2400" b="1" i="1" spc="-7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30" dirty="0">
                <a:solidFill>
                  <a:srgbClr val="890C58"/>
                </a:solidFill>
                <a:latin typeface="Trebuchet MS"/>
                <a:cs typeface="Trebuchet MS"/>
              </a:rPr>
              <a:t>to</a:t>
            </a:r>
            <a:r>
              <a:rPr sz="2400" b="1" i="1" spc="-6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80" dirty="0">
                <a:solidFill>
                  <a:srgbClr val="890C58"/>
                </a:solidFill>
                <a:latin typeface="Trebuchet MS"/>
                <a:cs typeface="Trebuchet MS"/>
              </a:rPr>
              <a:t>any</a:t>
            </a:r>
            <a:r>
              <a:rPr sz="2400" b="1" i="1" spc="-7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165" dirty="0">
                <a:solidFill>
                  <a:srgbClr val="890C58"/>
                </a:solidFill>
                <a:latin typeface="Trebuchet MS"/>
                <a:cs typeface="Trebuchet MS"/>
              </a:rPr>
              <a:t>data</a:t>
            </a:r>
            <a:r>
              <a:rPr sz="2400" b="1" i="1" spc="-1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60" dirty="0">
                <a:solidFill>
                  <a:srgbClr val="890C58"/>
                </a:solidFill>
                <a:latin typeface="Trebuchet MS"/>
                <a:cs typeface="Trebuchet MS"/>
              </a:rPr>
              <a:t>type</a:t>
            </a:r>
            <a:r>
              <a:rPr sz="2400" b="1" i="1" spc="-75" dirty="0">
                <a:solidFill>
                  <a:srgbClr val="890C58"/>
                </a:solidFill>
                <a:latin typeface="Trebuchet MS"/>
                <a:cs typeface="Trebuchet MS"/>
              </a:rPr>
              <a:t> (graphs,</a:t>
            </a:r>
            <a:r>
              <a:rPr sz="2400" b="1" i="1" spc="-6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70" dirty="0">
                <a:solidFill>
                  <a:srgbClr val="890C58"/>
                </a:solidFill>
                <a:latin typeface="Trebuchet MS"/>
                <a:cs typeface="Trebuchet MS"/>
              </a:rPr>
              <a:t>text, </a:t>
            </a:r>
            <a:r>
              <a:rPr sz="2400" b="1" i="1" dirty="0">
                <a:solidFill>
                  <a:srgbClr val="890C58"/>
                </a:solidFill>
                <a:latin typeface="Trebuchet MS"/>
                <a:cs typeface="Trebuchet MS"/>
              </a:rPr>
              <a:t>3D</a:t>
            </a:r>
            <a:r>
              <a:rPr sz="2400" b="1" i="1" spc="-7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125" dirty="0">
                <a:solidFill>
                  <a:srgbClr val="890C58"/>
                </a:solidFill>
                <a:latin typeface="Trebuchet MS"/>
                <a:cs typeface="Trebuchet MS"/>
              </a:rPr>
              <a:t>data,</a:t>
            </a:r>
            <a:r>
              <a:rPr sz="2400" b="1" i="1" spc="-5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10" dirty="0">
                <a:solidFill>
                  <a:srgbClr val="890C58"/>
                </a:solidFill>
                <a:latin typeface="Trebuchet MS"/>
                <a:cs typeface="Trebuchet MS"/>
              </a:rPr>
              <a:t>etc.)</a:t>
            </a:r>
            <a:r>
              <a:rPr sz="2400" b="1" i="1" spc="-70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b="1" i="1" spc="-50" dirty="0">
                <a:solidFill>
                  <a:srgbClr val="890C58"/>
                </a:solidFill>
                <a:latin typeface="Trebuchet MS"/>
                <a:cs typeface="Trebuchet MS"/>
              </a:rPr>
              <a:t>!</a:t>
            </a:r>
            <a:endParaRPr sz="2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Latent</a:t>
            </a:r>
            <a:r>
              <a:rPr spc="-160" dirty="0"/>
              <a:t> </a:t>
            </a:r>
            <a:r>
              <a:rPr dirty="0"/>
              <a:t>Diffusion</a:t>
            </a:r>
            <a:r>
              <a:rPr spc="-165" dirty="0"/>
              <a:t> </a:t>
            </a:r>
            <a:r>
              <a:rPr spc="-10" dirty="0"/>
              <a:t>Models</a:t>
            </a:r>
          </a:p>
          <a:p>
            <a:pPr marL="1905" algn="ctr">
              <a:lnSpc>
                <a:spcPct val="100000"/>
              </a:lnSpc>
              <a:spcBef>
                <a:spcPts val="90"/>
              </a:spcBef>
            </a:pPr>
            <a:r>
              <a:rPr sz="3000" spc="-20" dirty="0">
                <a:solidFill>
                  <a:srgbClr val="890C58"/>
                </a:solidFill>
              </a:rPr>
              <a:t>End-to-</a:t>
            </a:r>
            <a:r>
              <a:rPr sz="3000" dirty="0">
                <a:solidFill>
                  <a:srgbClr val="890C58"/>
                </a:solidFill>
              </a:rPr>
              <a:t>End</a:t>
            </a:r>
            <a:r>
              <a:rPr sz="3000" spc="-2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Training</a:t>
            </a:r>
            <a:r>
              <a:rPr sz="3000" spc="-2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objective</a:t>
            </a:r>
            <a:endParaRPr sz="3000"/>
          </a:p>
        </p:txBody>
      </p:sp>
      <p:sp>
        <p:nvSpPr>
          <p:cNvPr id="12" name="object 12"/>
          <p:cNvSpPr txBox="1"/>
          <p:nvPr/>
        </p:nvSpPr>
        <p:spPr>
          <a:xfrm>
            <a:off x="906578" y="9736564"/>
            <a:ext cx="831088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Vahdat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al.,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“Score-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based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generative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modeling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latent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space”,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NeurIPS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2021.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553808D-6F41-D047-8053-0337B7C68B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458" y="2507757"/>
            <a:ext cx="15240000" cy="7061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Latent</a:t>
            </a:r>
            <a:r>
              <a:rPr spc="-160" dirty="0"/>
              <a:t> </a:t>
            </a:r>
            <a:r>
              <a:rPr dirty="0"/>
              <a:t>Diffusion</a:t>
            </a:r>
            <a:r>
              <a:rPr spc="-165" dirty="0"/>
              <a:t> </a:t>
            </a:r>
            <a:r>
              <a:rPr spc="-10" dirty="0"/>
              <a:t>Models</a:t>
            </a:r>
          </a:p>
          <a:p>
            <a:pPr marL="1905" algn="ctr">
              <a:lnSpc>
                <a:spcPct val="100000"/>
              </a:lnSpc>
              <a:spcBef>
                <a:spcPts val="90"/>
              </a:spcBef>
            </a:pPr>
            <a:r>
              <a:rPr sz="3000" spc="-25" dirty="0">
                <a:solidFill>
                  <a:srgbClr val="890C58"/>
                </a:solidFill>
              </a:rPr>
              <a:t>Two-</a:t>
            </a:r>
            <a:r>
              <a:rPr sz="3000" dirty="0">
                <a:solidFill>
                  <a:srgbClr val="890C58"/>
                </a:solidFill>
              </a:rPr>
              <a:t>stage</a:t>
            </a:r>
            <a:r>
              <a:rPr sz="3000" spc="-10" dirty="0">
                <a:solidFill>
                  <a:srgbClr val="890C58"/>
                </a:solidFill>
              </a:rPr>
              <a:t> Training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39990" y="6117335"/>
            <a:ext cx="16741775" cy="318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seminal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work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from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Rombach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et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al.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CVPR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2022: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Two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stage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training: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autoencoder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first,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prior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Focus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compression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without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any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loss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reconstruction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quality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Demonstrated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expressivity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latent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many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conditional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problems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efficiency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expressivity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latent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+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open-source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access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fueled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large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body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work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community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464092" y="3184282"/>
            <a:ext cx="1050290" cy="133350"/>
          </a:xfrm>
          <a:custGeom>
            <a:avLst/>
            <a:gdLst/>
            <a:ahLst/>
            <a:cxnLst/>
            <a:rect l="l" t="t" r="r" b="b"/>
            <a:pathLst>
              <a:path w="1050290" h="133350">
                <a:moveTo>
                  <a:pt x="916548" y="0"/>
                </a:moveTo>
                <a:lnTo>
                  <a:pt x="916548" y="133350"/>
                </a:lnTo>
                <a:lnTo>
                  <a:pt x="1005448" y="88900"/>
                </a:lnTo>
                <a:lnTo>
                  <a:pt x="938773" y="88900"/>
                </a:lnTo>
                <a:lnTo>
                  <a:pt x="938773" y="44450"/>
                </a:lnTo>
                <a:lnTo>
                  <a:pt x="1005448" y="44450"/>
                </a:lnTo>
                <a:lnTo>
                  <a:pt x="916548" y="0"/>
                </a:lnTo>
                <a:close/>
              </a:path>
              <a:path w="1050290" h="133350">
                <a:moveTo>
                  <a:pt x="916548" y="44450"/>
                </a:moveTo>
                <a:lnTo>
                  <a:pt x="0" y="44450"/>
                </a:lnTo>
                <a:lnTo>
                  <a:pt x="0" y="88900"/>
                </a:lnTo>
                <a:lnTo>
                  <a:pt x="916548" y="88900"/>
                </a:lnTo>
                <a:lnTo>
                  <a:pt x="916548" y="44450"/>
                </a:lnTo>
                <a:close/>
              </a:path>
              <a:path w="1050290" h="133350">
                <a:moveTo>
                  <a:pt x="1005448" y="44450"/>
                </a:moveTo>
                <a:lnTo>
                  <a:pt x="938773" y="44450"/>
                </a:lnTo>
                <a:lnTo>
                  <a:pt x="938773" y="88900"/>
                </a:lnTo>
                <a:lnTo>
                  <a:pt x="1005448" y="88900"/>
                </a:lnTo>
                <a:lnTo>
                  <a:pt x="1049898" y="66675"/>
                </a:lnTo>
                <a:lnTo>
                  <a:pt x="1005448" y="444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83923" y="4946169"/>
            <a:ext cx="1057275" cy="133350"/>
          </a:xfrm>
          <a:custGeom>
            <a:avLst/>
            <a:gdLst/>
            <a:ahLst/>
            <a:cxnLst/>
            <a:rect l="l" t="t" r="r" b="b"/>
            <a:pathLst>
              <a:path w="1057275" h="133350">
                <a:moveTo>
                  <a:pt x="133350" y="0"/>
                </a:moveTo>
                <a:lnTo>
                  <a:pt x="0" y="66675"/>
                </a:lnTo>
                <a:lnTo>
                  <a:pt x="133350" y="133350"/>
                </a:lnTo>
                <a:lnTo>
                  <a:pt x="133350" y="88900"/>
                </a:lnTo>
                <a:lnTo>
                  <a:pt x="111125" y="88900"/>
                </a:lnTo>
                <a:lnTo>
                  <a:pt x="111125" y="44450"/>
                </a:lnTo>
                <a:lnTo>
                  <a:pt x="133350" y="44450"/>
                </a:lnTo>
                <a:lnTo>
                  <a:pt x="133350" y="0"/>
                </a:lnTo>
                <a:close/>
              </a:path>
              <a:path w="1057275" h="133350">
                <a:moveTo>
                  <a:pt x="133350" y="44450"/>
                </a:moveTo>
                <a:lnTo>
                  <a:pt x="111125" y="44450"/>
                </a:lnTo>
                <a:lnTo>
                  <a:pt x="111125" y="88900"/>
                </a:lnTo>
                <a:lnTo>
                  <a:pt x="133350" y="88900"/>
                </a:lnTo>
                <a:lnTo>
                  <a:pt x="133350" y="44450"/>
                </a:lnTo>
                <a:close/>
              </a:path>
              <a:path w="1057275" h="133350">
                <a:moveTo>
                  <a:pt x="1057230" y="44450"/>
                </a:moveTo>
                <a:lnTo>
                  <a:pt x="133350" y="44450"/>
                </a:lnTo>
                <a:lnTo>
                  <a:pt x="133350" y="88900"/>
                </a:lnTo>
                <a:lnTo>
                  <a:pt x="1057230" y="88900"/>
                </a:lnTo>
                <a:lnTo>
                  <a:pt x="1057230" y="444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555825" y="2928619"/>
            <a:ext cx="788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Encoder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59846" y="4998211"/>
            <a:ext cx="800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Decoder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2483" y="3378715"/>
            <a:ext cx="595085" cy="6040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253617" y="3084068"/>
            <a:ext cx="4578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192962" y="4848859"/>
            <a:ext cx="819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Reconst.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20935" y="3309725"/>
            <a:ext cx="825500" cy="1277620"/>
            <a:chOff x="7420935" y="3309725"/>
            <a:chExt cx="825500" cy="127762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0935" y="3309725"/>
              <a:ext cx="825276" cy="2775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89150" y="3645118"/>
              <a:ext cx="701714" cy="92529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478945" y="3632984"/>
              <a:ext cx="718820" cy="948055"/>
            </a:xfrm>
            <a:custGeom>
              <a:avLst/>
              <a:gdLst/>
              <a:ahLst/>
              <a:cxnLst/>
              <a:rect l="l" t="t" r="r" b="b"/>
              <a:pathLst>
                <a:path w="718820" h="948054">
                  <a:moveTo>
                    <a:pt x="718270" y="0"/>
                  </a:moveTo>
                  <a:lnTo>
                    <a:pt x="718270" y="947637"/>
                  </a:lnTo>
                  <a:lnTo>
                    <a:pt x="0" y="947637"/>
                  </a:lnTo>
                  <a:lnTo>
                    <a:pt x="0" y="0"/>
                  </a:lnTo>
                  <a:lnTo>
                    <a:pt x="71827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05678" y="5146356"/>
            <a:ext cx="771222" cy="252524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877807" y="3108356"/>
            <a:ext cx="5154930" cy="1964055"/>
            <a:chOff x="8877807" y="3108356"/>
            <a:chExt cx="5154930" cy="1964055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90507" y="3283374"/>
              <a:ext cx="663312" cy="160617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884157" y="3277023"/>
              <a:ext cx="681355" cy="1619250"/>
            </a:xfrm>
            <a:custGeom>
              <a:avLst/>
              <a:gdLst/>
              <a:ahLst/>
              <a:cxnLst/>
              <a:rect l="l" t="t" r="r" b="b"/>
              <a:pathLst>
                <a:path w="681354" h="1619250">
                  <a:moveTo>
                    <a:pt x="680734" y="1618872"/>
                  </a:moveTo>
                  <a:lnTo>
                    <a:pt x="680734" y="0"/>
                  </a:lnTo>
                  <a:lnTo>
                    <a:pt x="0" y="0"/>
                  </a:lnTo>
                  <a:lnTo>
                    <a:pt x="0" y="1618872"/>
                  </a:lnTo>
                  <a:lnTo>
                    <a:pt x="680734" y="161887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373902" y="3286848"/>
              <a:ext cx="634519" cy="159921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3345208" y="3277021"/>
              <a:ext cx="681355" cy="1619250"/>
            </a:xfrm>
            <a:custGeom>
              <a:avLst/>
              <a:gdLst/>
              <a:ahLst/>
              <a:cxnLst/>
              <a:rect l="l" t="t" r="r" b="b"/>
              <a:pathLst>
                <a:path w="681355" h="1619250">
                  <a:moveTo>
                    <a:pt x="680735" y="0"/>
                  </a:moveTo>
                  <a:lnTo>
                    <a:pt x="680735" y="1618872"/>
                  </a:lnTo>
                  <a:lnTo>
                    <a:pt x="0" y="1618872"/>
                  </a:lnTo>
                  <a:lnTo>
                    <a:pt x="0" y="0"/>
                  </a:lnTo>
                  <a:lnTo>
                    <a:pt x="680735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58543" y="3283371"/>
              <a:ext cx="3816753" cy="160617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9685528" y="3108362"/>
              <a:ext cx="3543935" cy="1964055"/>
            </a:xfrm>
            <a:custGeom>
              <a:avLst/>
              <a:gdLst/>
              <a:ahLst/>
              <a:cxnLst/>
              <a:rect l="l" t="t" r="r" b="b"/>
              <a:pathLst>
                <a:path w="3543934" h="1964054">
                  <a:moveTo>
                    <a:pt x="3543338" y="1875256"/>
                  </a:moveTo>
                  <a:lnTo>
                    <a:pt x="133438" y="1874824"/>
                  </a:lnTo>
                  <a:lnTo>
                    <a:pt x="133451" y="1830374"/>
                  </a:lnTo>
                  <a:lnTo>
                    <a:pt x="88" y="1897037"/>
                  </a:lnTo>
                  <a:lnTo>
                    <a:pt x="133426" y="1963724"/>
                  </a:lnTo>
                  <a:lnTo>
                    <a:pt x="133438" y="1919274"/>
                  </a:lnTo>
                  <a:lnTo>
                    <a:pt x="3543338" y="1919706"/>
                  </a:lnTo>
                  <a:lnTo>
                    <a:pt x="3543338" y="1875256"/>
                  </a:lnTo>
                  <a:close/>
                </a:path>
                <a:path w="3543934" h="1964054">
                  <a:moveTo>
                    <a:pt x="3543338" y="67221"/>
                  </a:moveTo>
                  <a:lnTo>
                    <a:pt x="3498431" y="44538"/>
                  </a:lnTo>
                  <a:lnTo>
                    <a:pt x="3410267" y="0"/>
                  </a:lnTo>
                  <a:lnTo>
                    <a:pt x="3410077" y="44450"/>
                  </a:lnTo>
                  <a:lnTo>
                    <a:pt x="177" y="30467"/>
                  </a:lnTo>
                  <a:lnTo>
                    <a:pt x="114" y="44538"/>
                  </a:lnTo>
                  <a:lnTo>
                    <a:pt x="0" y="74917"/>
                  </a:lnTo>
                  <a:lnTo>
                    <a:pt x="3409899" y="88900"/>
                  </a:lnTo>
                  <a:lnTo>
                    <a:pt x="3432111" y="88988"/>
                  </a:lnTo>
                  <a:lnTo>
                    <a:pt x="3409899" y="88988"/>
                  </a:lnTo>
                  <a:lnTo>
                    <a:pt x="3409721" y="133350"/>
                  </a:lnTo>
                  <a:lnTo>
                    <a:pt x="3499345" y="88988"/>
                  </a:lnTo>
                  <a:lnTo>
                    <a:pt x="3543338" y="67221"/>
                  </a:lnTo>
                  <a:close/>
                </a:path>
              </a:pathLst>
            </a:custGeom>
            <a:solidFill>
              <a:srgbClr val="2626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962536" y="2818892"/>
            <a:ext cx="2978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Latent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Space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Forward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Diffusion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930707" y="5016500"/>
            <a:ext cx="32708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Latent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Space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Generative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Denoising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934697" y="2954181"/>
            <a:ext cx="5051425" cy="270510"/>
            <a:chOff x="8934697" y="2954181"/>
            <a:chExt cx="5051425" cy="27051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34697" y="2954181"/>
              <a:ext cx="583570" cy="2699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441527" y="2970747"/>
              <a:ext cx="544385" cy="251782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97447" y="5116676"/>
            <a:ext cx="1920820" cy="245069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7011066" y="3680055"/>
            <a:ext cx="321945" cy="291465"/>
          </a:xfrm>
          <a:custGeom>
            <a:avLst/>
            <a:gdLst/>
            <a:ahLst/>
            <a:cxnLst/>
            <a:rect l="l" t="t" r="r" b="b"/>
            <a:pathLst>
              <a:path w="321945" h="291464">
                <a:moveTo>
                  <a:pt x="158200" y="188356"/>
                </a:moveTo>
                <a:lnTo>
                  <a:pt x="115959" y="235769"/>
                </a:lnTo>
                <a:lnTo>
                  <a:pt x="321560" y="291372"/>
                </a:lnTo>
                <a:lnTo>
                  <a:pt x="288909" y="209477"/>
                </a:lnTo>
                <a:lnTo>
                  <a:pt x="181907" y="209477"/>
                </a:lnTo>
                <a:lnTo>
                  <a:pt x="158200" y="188356"/>
                </a:lnTo>
                <a:close/>
              </a:path>
              <a:path w="321945" h="291464">
                <a:moveTo>
                  <a:pt x="200442" y="140944"/>
                </a:moveTo>
                <a:lnTo>
                  <a:pt x="158200" y="188356"/>
                </a:lnTo>
                <a:lnTo>
                  <a:pt x="181907" y="209477"/>
                </a:lnTo>
                <a:lnTo>
                  <a:pt x="224148" y="162064"/>
                </a:lnTo>
                <a:lnTo>
                  <a:pt x="200442" y="140944"/>
                </a:lnTo>
                <a:close/>
              </a:path>
              <a:path w="321945" h="291464">
                <a:moveTo>
                  <a:pt x="242683" y="93531"/>
                </a:moveTo>
                <a:lnTo>
                  <a:pt x="200442" y="140944"/>
                </a:lnTo>
                <a:lnTo>
                  <a:pt x="224148" y="162064"/>
                </a:lnTo>
                <a:lnTo>
                  <a:pt x="181907" y="209477"/>
                </a:lnTo>
                <a:lnTo>
                  <a:pt x="288909" y="209477"/>
                </a:lnTo>
                <a:lnTo>
                  <a:pt x="242683" y="93531"/>
                </a:lnTo>
                <a:close/>
              </a:path>
              <a:path w="321945" h="291464">
                <a:moveTo>
                  <a:pt x="42241" y="0"/>
                </a:moveTo>
                <a:lnTo>
                  <a:pt x="0" y="47412"/>
                </a:lnTo>
                <a:lnTo>
                  <a:pt x="158200" y="188356"/>
                </a:lnTo>
                <a:lnTo>
                  <a:pt x="200442" y="140944"/>
                </a:lnTo>
                <a:lnTo>
                  <a:pt x="42241" y="0"/>
                </a:lnTo>
                <a:close/>
              </a:path>
            </a:pathLst>
          </a:custGeom>
          <a:solidFill>
            <a:srgbClr val="54823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4977384" y="4230623"/>
            <a:ext cx="2341880" cy="746760"/>
            <a:chOff x="4977384" y="4230623"/>
            <a:chExt cx="2341880" cy="746760"/>
          </a:xfrm>
        </p:grpSpPr>
        <p:sp>
          <p:nvSpPr>
            <p:cNvPr id="31" name="object 31"/>
            <p:cNvSpPr/>
            <p:nvPr/>
          </p:nvSpPr>
          <p:spPr>
            <a:xfrm>
              <a:off x="6997547" y="4286173"/>
              <a:ext cx="321945" cy="295275"/>
            </a:xfrm>
            <a:custGeom>
              <a:avLst/>
              <a:gdLst/>
              <a:ahLst/>
              <a:cxnLst/>
              <a:rect l="l" t="t" r="r" b="b"/>
              <a:pathLst>
                <a:path w="321945" h="295275">
                  <a:moveTo>
                    <a:pt x="77539" y="96519"/>
                  </a:moveTo>
                  <a:lnTo>
                    <a:pt x="0" y="294888"/>
                  </a:lnTo>
                  <a:lnTo>
                    <a:pt x="205219" y="237898"/>
                  </a:lnTo>
                  <a:lnTo>
                    <a:pt x="181876" y="212051"/>
                  </a:lnTo>
                  <a:lnTo>
                    <a:pt x="139095" y="212051"/>
                  </a:lnTo>
                  <a:lnTo>
                    <a:pt x="96536" y="164926"/>
                  </a:lnTo>
                  <a:lnTo>
                    <a:pt x="120099" y="143646"/>
                  </a:lnTo>
                  <a:lnTo>
                    <a:pt x="77539" y="96519"/>
                  </a:lnTo>
                  <a:close/>
                </a:path>
                <a:path w="321945" h="295275">
                  <a:moveTo>
                    <a:pt x="120099" y="143646"/>
                  </a:moveTo>
                  <a:lnTo>
                    <a:pt x="96536" y="164926"/>
                  </a:lnTo>
                  <a:lnTo>
                    <a:pt x="139095" y="212051"/>
                  </a:lnTo>
                  <a:lnTo>
                    <a:pt x="162658" y="190771"/>
                  </a:lnTo>
                  <a:lnTo>
                    <a:pt x="120099" y="143646"/>
                  </a:lnTo>
                  <a:close/>
                </a:path>
                <a:path w="321945" h="295275">
                  <a:moveTo>
                    <a:pt x="162658" y="190771"/>
                  </a:moveTo>
                  <a:lnTo>
                    <a:pt x="139095" y="212051"/>
                  </a:lnTo>
                  <a:lnTo>
                    <a:pt x="181876" y="212051"/>
                  </a:lnTo>
                  <a:lnTo>
                    <a:pt x="162658" y="190771"/>
                  </a:lnTo>
                  <a:close/>
                </a:path>
                <a:path w="321945" h="295275">
                  <a:moveTo>
                    <a:pt x="279157" y="0"/>
                  </a:moveTo>
                  <a:lnTo>
                    <a:pt x="120099" y="143646"/>
                  </a:lnTo>
                  <a:lnTo>
                    <a:pt x="162658" y="190771"/>
                  </a:lnTo>
                  <a:lnTo>
                    <a:pt x="321717" y="47125"/>
                  </a:lnTo>
                  <a:lnTo>
                    <a:pt x="279157" y="0"/>
                  </a:lnTo>
                  <a:close/>
                </a:path>
              </a:pathLst>
            </a:custGeom>
            <a:solidFill>
              <a:srgbClr val="54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836920" y="4230623"/>
              <a:ext cx="271272" cy="27127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3014" y="4257352"/>
              <a:ext cx="164797" cy="16569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36920" y="4468367"/>
              <a:ext cx="271272" cy="27127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63014" y="4494131"/>
              <a:ext cx="164797" cy="165695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36920" y="4706111"/>
              <a:ext cx="271272" cy="27127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63014" y="4730909"/>
              <a:ext cx="164797" cy="16569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220511" y="4361268"/>
              <a:ext cx="602615" cy="86995"/>
            </a:xfrm>
            <a:custGeom>
              <a:avLst/>
              <a:gdLst/>
              <a:ahLst/>
              <a:cxnLst/>
              <a:rect l="l" t="t" r="r" b="b"/>
              <a:pathLst>
                <a:path w="602614" h="86995">
                  <a:moveTo>
                    <a:pt x="0" y="86796"/>
                  </a:moveTo>
                  <a:lnTo>
                    <a:pt x="602152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217837" y="4507717"/>
              <a:ext cx="614680" cy="52705"/>
            </a:xfrm>
            <a:custGeom>
              <a:avLst/>
              <a:gdLst/>
              <a:ahLst/>
              <a:cxnLst/>
              <a:rect l="l" t="t" r="r" b="b"/>
              <a:pathLst>
                <a:path w="614679" h="52704">
                  <a:moveTo>
                    <a:pt x="0" y="0"/>
                  </a:moveTo>
                  <a:lnTo>
                    <a:pt x="614258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209789" y="4546872"/>
              <a:ext cx="623570" cy="219710"/>
            </a:xfrm>
            <a:custGeom>
              <a:avLst/>
              <a:gdLst/>
              <a:ahLst/>
              <a:cxnLst/>
              <a:rect l="l" t="t" r="r" b="b"/>
              <a:pathLst>
                <a:path w="623570" h="219710">
                  <a:moveTo>
                    <a:pt x="0" y="0"/>
                  </a:moveTo>
                  <a:lnTo>
                    <a:pt x="62338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204446" y="4406846"/>
              <a:ext cx="629285" cy="250190"/>
            </a:xfrm>
            <a:custGeom>
              <a:avLst/>
              <a:gdLst/>
              <a:ahLst/>
              <a:cxnLst/>
              <a:rect l="l" t="t" r="r" b="b"/>
              <a:pathLst>
                <a:path w="629285" h="250189">
                  <a:moveTo>
                    <a:pt x="0" y="249904"/>
                  </a:moveTo>
                  <a:lnTo>
                    <a:pt x="628723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5216762" y="4602951"/>
              <a:ext cx="624840" cy="104775"/>
            </a:xfrm>
            <a:custGeom>
              <a:avLst/>
              <a:gdLst/>
              <a:ahLst/>
              <a:cxnLst/>
              <a:rect l="l" t="t" r="r" b="b"/>
              <a:pathLst>
                <a:path w="624839" h="104775">
                  <a:moveTo>
                    <a:pt x="0" y="104357"/>
                  </a:moveTo>
                  <a:lnTo>
                    <a:pt x="624454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211167" y="4742726"/>
              <a:ext cx="606425" cy="66040"/>
            </a:xfrm>
            <a:custGeom>
              <a:avLst/>
              <a:gdLst/>
              <a:ahLst/>
              <a:cxnLst/>
              <a:rect l="l" t="t" r="r" b="b"/>
              <a:pathLst>
                <a:path w="606425" h="66039">
                  <a:moveTo>
                    <a:pt x="0" y="0"/>
                  </a:moveTo>
                  <a:lnTo>
                    <a:pt x="60590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7384" y="4364735"/>
              <a:ext cx="271272" cy="268224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04107" y="4388660"/>
              <a:ext cx="164796" cy="16569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977384" y="4599431"/>
              <a:ext cx="271272" cy="27127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004107" y="4625438"/>
              <a:ext cx="164796" cy="165695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90360" y="4361687"/>
              <a:ext cx="271272" cy="27127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6491" y="4387681"/>
              <a:ext cx="164796" cy="16569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90360" y="4599431"/>
              <a:ext cx="271272" cy="27127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6491" y="4624459"/>
              <a:ext cx="164796" cy="165695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6082891" y="4358024"/>
              <a:ext cx="601980" cy="86995"/>
            </a:xfrm>
            <a:custGeom>
              <a:avLst/>
              <a:gdLst/>
              <a:ahLst/>
              <a:cxnLst/>
              <a:rect l="l" t="t" r="r" b="b"/>
              <a:pathLst>
                <a:path w="601979" h="86995">
                  <a:moveTo>
                    <a:pt x="601449" y="8679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073471" y="4504474"/>
              <a:ext cx="614045" cy="52705"/>
            </a:xfrm>
            <a:custGeom>
              <a:avLst/>
              <a:gdLst/>
              <a:ahLst/>
              <a:cxnLst/>
              <a:rect l="l" t="t" r="r" b="b"/>
              <a:pathLst>
                <a:path w="614045" h="52704">
                  <a:moveTo>
                    <a:pt x="613541" y="0"/>
                  </a:moveTo>
                  <a:lnTo>
                    <a:pt x="0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72399" y="4543629"/>
              <a:ext cx="622935" cy="219710"/>
            </a:xfrm>
            <a:custGeom>
              <a:avLst/>
              <a:gdLst/>
              <a:ahLst/>
              <a:cxnLst/>
              <a:rect l="l" t="t" r="r" b="b"/>
              <a:pathLst>
                <a:path w="622934" h="219710">
                  <a:moveTo>
                    <a:pt x="622653" y="0"/>
                  </a:moveTo>
                  <a:lnTo>
                    <a:pt x="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072400" y="4403603"/>
              <a:ext cx="628015" cy="250190"/>
            </a:xfrm>
            <a:custGeom>
              <a:avLst/>
              <a:gdLst/>
              <a:ahLst/>
              <a:cxnLst/>
              <a:rect l="l" t="t" r="r" b="b"/>
              <a:pathLst>
                <a:path w="628015" h="250189">
                  <a:moveTo>
                    <a:pt x="627989" y="2499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064360" y="4599707"/>
              <a:ext cx="624205" cy="104775"/>
            </a:xfrm>
            <a:custGeom>
              <a:avLst/>
              <a:gdLst/>
              <a:ahLst/>
              <a:cxnLst/>
              <a:rect l="l" t="t" r="r" b="b"/>
              <a:pathLst>
                <a:path w="624204" h="104775">
                  <a:moveTo>
                    <a:pt x="623725" y="10435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088483" y="4739482"/>
              <a:ext cx="605790" cy="66040"/>
            </a:xfrm>
            <a:custGeom>
              <a:avLst/>
              <a:gdLst/>
              <a:ahLst/>
              <a:cxnLst/>
              <a:rect l="l" t="t" r="r" b="b"/>
              <a:pathLst>
                <a:path w="605790" h="66039">
                  <a:moveTo>
                    <a:pt x="605193" y="0"/>
                  </a:moveTo>
                  <a:lnTo>
                    <a:pt x="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/>
          <p:nvPr/>
        </p:nvSpPr>
        <p:spPr>
          <a:xfrm>
            <a:off x="8298457" y="4000730"/>
            <a:ext cx="518159" cy="171450"/>
          </a:xfrm>
          <a:custGeom>
            <a:avLst/>
            <a:gdLst/>
            <a:ahLst/>
            <a:cxnLst/>
            <a:rect l="l" t="t" r="r" b="b"/>
            <a:pathLst>
              <a:path w="518159" h="171450">
                <a:moveTo>
                  <a:pt x="171447" y="0"/>
                </a:moveTo>
                <a:lnTo>
                  <a:pt x="0" y="85726"/>
                </a:lnTo>
                <a:lnTo>
                  <a:pt x="171447" y="171450"/>
                </a:lnTo>
                <a:lnTo>
                  <a:pt x="171447" y="114300"/>
                </a:lnTo>
                <a:lnTo>
                  <a:pt x="142872" y="114300"/>
                </a:lnTo>
                <a:lnTo>
                  <a:pt x="142872" y="57150"/>
                </a:lnTo>
                <a:lnTo>
                  <a:pt x="171447" y="57150"/>
                </a:lnTo>
                <a:lnTo>
                  <a:pt x="171447" y="0"/>
                </a:lnTo>
                <a:close/>
              </a:path>
              <a:path w="518159" h="171450">
                <a:moveTo>
                  <a:pt x="346449" y="0"/>
                </a:moveTo>
                <a:lnTo>
                  <a:pt x="346448" y="171450"/>
                </a:lnTo>
                <a:lnTo>
                  <a:pt x="460750" y="114300"/>
                </a:lnTo>
                <a:lnTo>
                  <a:pt x="375023" y="114300"/>
                </a:lnTo>
                <a:lnTo>
                  <a:pt x="375024" y="57150"/>
                </a:lnTo>
                <a:lnTo>
                  <a:pt x="460747" y="57150"/>
                </a:lnTo>
                <a:lnTo>
                  <a:pt x="346449" y="0"/>
                </a:lnTo>
                <a:close/>
              </a:path>
              <a:path w="518159" h="171450">
                <a:moveTo>
                  <a:pt x="171447" y="57150"/>
                </a:moveTo>
                <a:lnTo>
                  <a:pt x="142872" y="57150"/>
                </a:lnTo>
                <a:lnTo>
                  <a:pt x="142872" y="114300"/>
                </a:lnTo>
                <a:lnTo>
                  <a:pt x="171447" y="114300"/>
                </a:lnTo>
                <a:lnTo>
                  <a:pt x="171447" y="57150"/>
                </a:lnTo>
                <a:close/>
              </a:path>
              <a:path w="518159" h="171450">
                <a:moveTo>
                  <a:pt x="346449" y="57150"/>
                </a:moveTo>
                <a:lnTo>
                  <a:pt x="171447" y="57150"/>
                </a:lnTo>
                <a:lnTo>
                  <a:pt x="171447" y="114300"/>
                </a:lnTo>
                <a:lnTo>
                  <a:pt x="346448" y="114300"/>
                </a:lnTo>
                <a:lnTo>
                  <a:pt x="346449" y="57150"/>
                </a:lnTo>
                <a:close/>
              </a:path>
              <a:path w="518159" h="171450">
                <a:moveTo>
                  <a:pt x="460747" y="57150"/>
                </a:moveTo>
                <a:lnTo>
                  <a:pt x="375024" y="57150"/>
                </a:lnTo>
                <a:lnTo>
                  <a:pt x="375023" y="114300"/>
                </a:lnTo>
                <a:lnTo>
                  <a:pt x="460750" y="114300"/>
                </a:lnTo>
                <a:lnTo>
                  <a:pt x="517898" y="85726"/>
                </a:lnTo>
                <a:lnTo>
                  <a:pt x="460747" y="57150"/>
                </a:lnTo>
                <a:close/>
              </a:path>
            </a:pathLst>
          </a:custGeom>
          <a:solidFill>
            <a:srgbClr val="26262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9" name="object 59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729658" y="3210891"/>
            <a:ext cx="153297" cy="118457"/>
          </a:xfrm>
          <a:prstGeom prst="rect">
            <a:avLst/>
          </a:prstGeom>
        </p:spPr>
      </p:pic>
      <p:sp>
        <p:nvSpPr>
          <p:cNvPr id="60" name="object 60"/>
          <p:cNvSpPr/>
          <p:nvPr/>
        </p:nvSpPr>
        <p:spPr>
          <a:xfrm>
            <a:off x="8513698" y="4257253"/>
            <a:ext cx="95250" cy="726440"/>
          </a:xfrm>
          <a:custGeom>
            <a:avLst/>
            <a:gdLst/>
            <a:ahLst/>
            <a:cxnLst/>
            <a:rect l="l" t="t" r="r" b="b"/>
            <a:pathLst>
              <a:path w="95250" h="726439">
                <a:moveTo>
                  <a:pt x="31749" y="631235"/>
                </a:moveTo>
                <a:lnTo>
                  <a:pt x="0" y="631432"/>
                </a:lnTo>
                <a:lnTo>
                  <a:pt x="48214" y="726385"/>
                </a:lnTo>
                <a:lnTo>
                  <a:pt x="87238" y="647110"/>
                </a:lnTo>
                <a:lnTo>
                  <a:pt x="31847" y="647110"/>
                </a:lnTo>
                <a:lnTo>
                  <a:pt x="31749" y="631235"/>
                </a:lnTo>
                <a:close/>
              </a:path>
              <a:path w="95250" h="726439">
                <a:moveTo>
                  <a:pt x="63497" y="631038"/>
                </a:moveTo>
                <a:lnTo>
                  <a:pt x="31749" y="631235"/>
                </a:lnTo>
                <a:lnTo>
                  <a:pt x="31847" y="647110"/>
                </a:lnTo>
                <a:lnTo>
                  <a:pt x="63596" y="646913"/>
                </a:lnTo>
                <a:lnTo>
                  <a:pt x="63497" y="631038"/>
                </a:lnTo>
                <a:close/>
              </a:path>
              <a:path w="95250" h="726439">
                <a:moveTo>
                  <a:pt x="95247" y="630842"/>
                </a:moveTo>
                <a:lnTo>
                  <a:pt x="63497" y="631038"/>
                </a:lnTo>
                <a:lnTo>
                  <a:pt x="63596" y="646913"/>
                </a:lnTo>
                <a:lnTo>
                  <a:pt x="31847" y="647110"/>
                </a:lnTo>
                <a:lnTo>
                  <a:pt x="87238" y="647110"/>
                </a:lnTo>
                <a:lnTo>
                  <a:pt x="94956" y="631432"/>
                </a:lnTo>
                <a:lnTo>
                  <a:pt x="95053" y="631235"/>
                </a:lnTo>
                <a:lnTo>
                  <a:pt x="95150" y="631038"/>
                </a:lnTo>
                <a:lnTo>
                  <a:pt x="95247" y="630842"/>
                </a:lnTo>
                <a:close/>
              </a:path>
              <a:path w="95250" h="726439">
                <a:moveTo>
                  <a:pt x="59580" y="0"/>
                </a:moveTo>
                <a:lnTo>
                  <a:pt x="27832" y="196"/>
                </a:lnTo>
                <a:lnTo>
                  <a:pt x="31746" y="630842"/>
                </a:lnTo>
                <a:lnTo>
                  <a:pt x="31749" y="631235"/>
                </a:lnTo>
                <a:lnTo>
                  <a:pt x="63497" y="631038"/>
                </a:lnTo>
                <a:lnTo>
                  <a:pt x="59582" y="196"/>
                </a:lnTo>
                <a:lnTo>
                  <a:pt x="59580" y="0"/>
                </a:lnTo>
                <a:close/>
              </a:path>
            </a:pathLst>
          </a:custGeom>
          <a:solidFill>
            <a:srgbClr val="76717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1" name="object 61"/>
          <p:cNvGrpSpPr/>
          <p:nvPr/>
        </p:nvGrpSpPr>
        <p:grpSpPr>
          <a:xfrm>
            <a:off x="4983479" y="3319271"/>
            <a:ext cx="1981200" cy="744220"/>
            <a:chOff x="4983479" y="3319271"/>
            <a:chExt cx="1981200" cy="744220"/>
          </a:xfrm>
        </p:grpSpPr>
        <p:pic>
          <p:nvPicPr>
            <p:cNvPr id="62" name="object 6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839967" y="3319271"/>
              <a:ext cx="271272" cy="26822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343309"/>
              <a:ext cx="164797" cy="16569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839967" y="3553967"/>
              <a:ext cx="271272" cy="27127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580089"/>
              <a:ext cx="164797" cy="16569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839967" y="3791711"/>
              <a:ext cx="271272" cy="27127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66248" y="3816867"/>
              <a:ext cx="164797" cy="165695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5223746" y="3447225"/>
              <a:ext cx="602615" cy="86995"/>
            </a:xfrm>
            <a:custGeom>
              <a:avLst/>
              <a:gdLst/>
              <a:ahLst/>
              <a:cxnLst/>
              <a:rect l="l" t="t" r="r" b="b"/>
              <a:pathLst>
                <a:path w="602614" h="86995">
                  <a:moveTo>
                    <a:pt x="0" y="86796"/>
                  </a:moveTo>
                  <a:lnTo>
                    <a:pt x="602152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221070" y="3593675"/>
              <a:ext cx="614680" cy="52705"/>
            </a:xfrm>
            <a:custGeom>
              <a:avLst/>
              <a:gdLst/>
              <a:ahLst/>
              <a:cxnLst/>
              <a:rect l="l" t="t" r="r" b="b"/>
              <a:pathLst>
                <a:path w="614679" h="52704">
                  <a:moveTo>
                    <a:pt x="0" y="0"/>
                  </a:moveTo>
                  <a:lnTo>
                    <a:pt x="614258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213022" y="3632830"/>
              <a:ext cx="623570" cy="219710"/>
            </a:xfrm>
            <a:custGeom>
              <a:avLst/>
              <a:gdLst/>
              <a:ahLst/>
              <a:cxnLst/>
              <a:rect l="l" t="t" r="r" b="b"/>
              <a:pathLst>
                <a:path w="623570" h="219710">
                  <a:moveTo>
                    <a:pt x="0" y="0"/>
                  </a:moveTo>
                  <a:lnTo>
                    <a:pt x="62338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207679" y="3492804"/>
              <a:ext cx="629285" cy="250190"/>
            </a:xfrm>
            <a:custGeom>
              <a:avLst/>
              <a:gdLst/>
              <a:ahLst/>
              <a:cxnLst/>
              <a:rect l="l" t="t" r="r" b="b"/>
              <a:pathLst>
                <a:path w="629285" h="250189">
                  <a:moveTo>
                    <a:pt x="0" y="249904"/>
                  </a:moveTo>
                  <a:lnTo>
                    <a:pt x="628723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5219997" y="3688909"/>
              <a:ext cx="624840" cy="104775"/>
            </a:xfrm>
            <a:custGeom>
              <a:avLst/>
              <a:gdLst/>
              <a:ahLst/>
              <a:cxnLst/>
              <a:rect l="l" t="t" r="r" b="b"/>
              <a:pathLst>
                <a:path w="624839" h="104775">
                  <a:moveTo>
                    <a:pt x="0" y="104357"/>
                  </a:moveTo>
                  <a:lnTo>
                    <a:pt x="624454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5214400" y="3828684"/>
              <a:ext cx="606425" cy="66040"/>
            </a:xfrm>
            <a:custGeom>
              <a:avLst/>
              <a:gdLst/>
              <a:ahLst/>
              <a:cxnLst/>
              <a:rect l="l" t="t" r="r" b="b"/>
              <a:pathLst>
                <a:path w="606425" h="66039">
                  <a:moveTo>
                    <a:pt x="0" y="0"/>
                  </a:moveTo>
                  <a:lnTo>
                    <a:pt x="60590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983479" y="3450335"/>
              <a:ext cx="268224" cy="268224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07340" y="3474618"/>
              <a:ext cx="164796" cy="165695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83479" y="3685031"/>
              <a:ext cx="268224" cy="271272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07340" y="3711397"/>
              <a:ext cx="164796" cy="165695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693407" y="3447287"/>
              <a:ext cx="271272" cy="27127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9724" y="3473639"/>
              <a:ext cx="164797" cy="16569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693407" y="3685031"/>
              <a:ext cx="271272" cy="271272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19724" y="3710417"/>
              <a:ext cx="164797" cy="165695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6086125" y="3443982"/>
              <a:ext cx="601980" cy="86995"/>
            </a:xfrm>
            <a:custGeom>
              <a:avLst/>
              <a:gdLst/>
              <a:ahLst/>
              <a:cxnLst/>
              <a:rect l="l" t="t" r="r" b="b"/>
              <a:pathLst>
                <a:path w="601979" h="86995">
                  <a:moveTo>
                    <a:pt x="601449" y="86796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076705" y="3590433"/>
              <a:ext cx="614045" cy="52705"/>
            </a:xfrm>
            <a:custGeom>
              <a:avLst/>
              <a:gdLst/>
              <a:ahLst/>
              <a:cxnLst/>
              <a:rect l="l" t="t" r="r" b="b"/>
              <a:pathLst>
                <a:path w="614045" h="52704">
                  <a:moveTo>
                    <a:pt x="613541" y="0"/>
                  </a:moveTo>
                  <a:lnTo>
                    <a:pt x="0" y="52081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075634" y="3629587"/>
              <a:ext cx="622935" cy="219710"/>
            </a:xfrm>
            <a:custGeom>
              <a:avLst/>
              <a:gdLst/>
              <a:ahLst/>
              <a:cxnLst/>
              <a:rect l="l" t="t" r="r" b="b"/>
              <a:pathLst>
                <a:path w="622934" h="219710">
                  <a:moveTo>
                    <a:pt x="622653" y="0"/>
                  </a:moveTo>
                  <a:lnTo>
                    <a:pt x="0" y="219573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075633" y="3489561"/>
              <a:ext cx="628015" cy="250190"/>
            </a:xfrm>
            <a:custGeom>
              <a:avLst/>
              <a:gdLst/>
              <a:ahLst/>
              <a:cxnLst/>
              <a:rect l="l" t="t" r="r" b="b"/>
              <a:pathLst>
                <a:path w="628015" h="250189">
                  <a:moveTo>
                    <a:pt x="627989" y="249904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67595" y="3685665"/>
              <a:ext cx="624205" cy="104775"/>
            </a:xfrm>
            <a:custGeom>
              <a:avLst/>
              <a:gdLst/>
              <a:ahLst/>
              <a:cxnLst/>
              <a:rect l="l" t="t" r="r" b="b"/>
              <a:pathLst>
                <a:path w="624204" h="104775">
                  <a:moveTo>
                    <a:pt x="623725" y="104357"/>
                  </a:moveTo>
                  <a:lnTo>
                    <a:pt x="0" y="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091716" y="3825440"/>
              <a:ext cx="605790" cy="66040"/>
            </a:xfrm>
            <a:custGeom>
              <a:avLst/>
              <a:gdLst/>
              <a:ahLst/>
              <a:cxnLst/>
              <a:rect l="l" t="t" r="r" b="b"/>
              <a:pathLst>
                <a:path w="605790" h="66039">
                  <a:moveTo>
                    <a:pt x="605193" y="0"/>
                  </a:moveTo>
                  <a:lnTo>
                    <a:pt x="0" y="65790"/>
                  </a:lnTo>
                </a:path>
              </a:pathLst>
            </a:custGeom>
            <a:ln w="6350">
              <a:solidFill>
                <a:srgbClr val="26262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8" name="object 8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76703" y="4284927"/>
            <a:ext cx="595085" cy="604074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645599" y="9657316"/>
            <a:ext cx="95631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Rombach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et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al.,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“High-Resolution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Image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Synthesis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with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Latent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Diffusion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Models”,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CVPR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1"/>
              </a:rPr>
              <a:t>2022.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74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5627370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Additional</a:t>
            </a:r>
            <a:r>
              <a:rPr spc="-245" dirty="0"/>
              <a:t> </a:t>
            </a:r>
            <a:r>
              <a:rPr spc="-10" dirty="0"/>
              <a:t>Reading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3487420"/>
            <a:ext cx="6775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20" dirty="0">
                <a:latin typeface="Tahoma"/>
                <a:cs typeface="Tahoma"/>
              </a:rPr>
              <a:t>More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on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low-</a:t>
            </a:r>
            <a:r>
              <a:rPr sz="2800" spc="-10" dirty="0">
                <a:latin typeface="Tahoma"/>
                <a:cs typeface="Tahoma"/>
              </a:rPr>
              <a:t>dimensional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diffusion</a:t>
            </a:r>
            <a:r>
              <a:rPr sz="2800" spc="-7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models: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9990" y="4275835"/>
            <a:ext cx="12040870" cy="1555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1800" spc="-20" dirty="0">
                <a:latin typeface="Tahoma"/>
                <a:cs typeface="Tahoma"/>
              </a:rPr>
              <a:t>Sinha</a:t>
            </a:r>
            <a:r>
              <a:rPr sz="1800" spc="1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et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spc="-90" dirty="0">
                <a:latin typeface="Tahoma"/>
                <a:cs typeface="Tahoma"/>
              </a:rPr>
              <a:t>al.,</a:t>
            </a:r>
            <a:r>
              <a:rPr sz="1800" spc="30" dirty="0">
                <a:latin typeface="Tahoma"/>
                <a:cs typeface="Tahoma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"D2C:</a:t>
            </a:r>
            <a:r>
              <a:rPr sz="1800" u="sng" spc="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Diffusion-Denoising</a:t>
            </a:r>
            <a:r>
              <a:rPr sz="1800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Models</a:t>
            </a:r>
            <a:r>
              <a:rPr sz="1800" u="sng" spc="1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for</a:t>
            </a:r>
            <a:r>
              <a:rPr sz="1800" u="sng" spc="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Few-shot</a:t>
            </a:r>
            <a:r>
              <a:rPr sz="1800" u="sng" spc="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Conditional</a:t>
            </a:r>
            <a:r>
              <a:rPr sz="1800" u="sng" spc="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2"/>
              </a:rPr>
              <a:t>Generation"</a:t>
            </a:r>
            <a:r>
              <a:rPr sz="1800" spc="-10" dirty="0">
                <a:latin typeface="Tahoma"/>
                <a:cs typeface="Tahoma"/>
              </a:rPr>
              <a:t>,</a:t>
            </a:r>
            <a:r>
              <a:rPr sz="1800" spc="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NeurIPS</a:t>
            </a:r>
            <a:r>
              <a:rPr sz="1800" spc="10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2021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Clr>
                <a:srgbClr val="CDCDCD"/>
              </a:buClr>
              <a:buFont typeface="Arial MT"/>
              <a:buChar char="•"/>
            </a:pPr>
            <a:endParaRPr sz="1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latin typeface="Tahoma"/>
                <a:cs typeface="Tahoma"/>
              </a:rPr>
              <a:t>Daras</a:t>
            </a:r>
            <a:r>
              <a:rPr sz="1800" spc="-6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et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al.,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"Score-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Guided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Intermediate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Layer</a:t>
            </a:r>
            <a:r>
              <a:rPr sz="1800" u="sng" spc="-6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Optimization: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Fast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Langevin</a:t>
            </a:r>
            <a:r>
              <a:rPr sz="1800" u="sng" spc="-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Mixing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for</a:t>
            </a:r>
            <a:r>
              <a:rPr sz="1800" u="sng" spc="-6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Inverse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3"/>
              </a:rPr>
              <a:t>Problems"</a:t>
            </a:r>
            <a:r>
              <a:rPr sz="1800" spc="-20" dirty="0">
                <a:latin typeface="Tahoma"/>
                <a:cs typeface="Tahoma"/>
              </a:rPr>
              <a:t>,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ICML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30" dirty="0">
                <a:latin typeface="Tahoma"/>
                <a:cs typeface="Tahoma"/>
              </a:rPr>
              <a:t>2022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  <a:buClr>
                <a:srgbClr val="CDCDCD"/>
              </a:buClr>
              <a:buFont typeface="Arial MT"/>
              <a:buChar char="•"/>
            </a:pPr>
            <a:endParaRPr sz="1800">
              <a:latin typeface="Tahoma"/>
              <a:cs typeface="Tahoma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1800" spc="-10" dirty="0">
                <a:latin typeface="Tahoma"/>
                <a:cs typeface="Tahoma"/>
              </a:rPr>
              <a:t>Zhang</a:t>
            </a:r>
            <a:r>
              <a:rPr sz="1800" spc="-20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et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spc="-85" dirty="0">
                <a:latin typeface="Tahoma"/>
                <a:cs typeface="Tahoma"/>
              </a:rPr>
              <a:t>al.,</a:t>
            </a:r>
            <a:r>
              <a:rPr sz="1800" spc="-15" dirty="0">
                <a:latin typeface="Tahoma"/>
                <a:cs typeface="Tahoma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4"/>
              </a:rPr>
              <a:t>“Dimensionality-Varying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4"/>
              </a:rPr>
              <a:t>Diffusion</a:t>
            </a:r>
            <a:r>
              <a:rPr sz="1800" u="sng" spc="-2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4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  <a:hlinkClick r:id="rId4"/>
              </a:rPr>
              <a:t>Process”,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arXiv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spc="-20" dirty="0">
                <a:latin typeface="Tahoma"/>
                <a:cs typeface="Tahoma"/>
              </a:rPr>
              <a:t>2022.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860925">
              <a:lnSpc>
                <a:spcPct val="100000"/>
              </a:lnSpc>
              <a:spcBef>
                <a:spcPts val="100"/>
              </a:spcBef>
            </a:pPr>
            <a:r>
              <a:rPr dirty="0"/>
              <a:t>Acceleration</a:t>
            </a:r>
            <a:r>
              <a:rPr spc="-315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19197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5" y="2763745"/>
                </a:lnTo>
                <a:lnTo>
                  <a:pt x="1577543" y="2758017"/>
                </a:lnTo>
                <a:lnTo>
                  <a:pt x="1624339" y="2750714"/>
                </a:lnTo>
                <a:lnTo>
                  <a:pt x="1670603" y="2741864"/>
                </a:lnTo>
                <a:lnTo>
                  <a:pt x="1716309" y="2731493"/>
                </a:lnTo>
                <a:lnTo>
                  <a:pt x="1761429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9" y="2675358"/>
                </a:lnTo>
                <a:lnTo>
                  <a:pt x="1935500" y="2657799"/>
                </a:lnTo>
                <a:lnTo>
                  <a:pt x="1977279" y="2638884"/>
                </a:lnTo>
                <a:lnTo>
                  <a:pt x="2018306" y="2618642"/>
                </a:lnTo>
                <a:lnTo>
                  <a:pt x="2058556" y="2597099"/>
                </a:lnTo>
                <a:lnTo>
                  <a:pt x="2097999" y="2574284"/>
                </a:lnTo>
                <a:lnTo>
                  <a:pt x="2136610" y="2550223"/>
                </a:lnTo>
                <a:lnTo>
                  <a:pt x="2174360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3" y="2412201"/>
                </a:lnTo>
                <a:lnTo>
                  <a:pt x="2349237" y="2381245"/>
                </a:lnTo>
                <a:lnTo>
                  <a:pt x="2381246" y="2349236"/>
                </a:lnTo>
                <a:lnTo>
                  <a:pt x="2412201" y="2316202"/>
                </a:lnTo>
                <a:lnTo>
                  <a:pt x="2442077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4" y="2136609"/>
                </a:lnTo>
                <a:lnTo>
                  <a:pt x="2574284" y="2097998"/>
                </a:lnTo>
                <a:lnTo>
                  <a:pt x="2597100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30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8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8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30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100" y="712648"/>
                </a:lnTo>
                <a:lnTo>
                  <a:pt x="2574284" y="673205"/>
                </a:lnTo>
                <a:lnTo>
                  <a:pt x="2550224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7" y="489034"/>
                </a:lnTo>
                <a:lnTo>
                  <a:pt x="2412201" y="455001"/>
                </a:lnTo>
                <a:lnTo>
                  <a:pt x="2381246" y="421967"/>
                </a:lnTo>
                <a:lnTo>
                  <a:pt x="2349237" y="389958"/>
                </a:lnTo>
                <a:lnTo>
                  <a:pt x="2316203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60" y="246259"/>
                </a:lnTo>
                <a:lnTo>
                  <a:pt x="2136610" y="220980"/>
                </a:lnTo>
                <a:lnTo>
                  <a:pt x="2097999" y="196919"/>
                </a:lnTo>
                <a:lnTo>
                  <a:pt x="2058556" y="174104"/>
                </a:lnTo>
                <a:lnTo>
                  <a:pt x="2018306" y="152562"/>
                </a:lnTo>
                <a:lnTo>
                  <a:pt x="1977279" y="132319"/>
                </a:lnTo>
                <a:lnTo>
                  <a:pt x="1935500" y="113405"/>
                </a:lnTo>
                <a:lnTo>
                  <a:pt x="1892999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9" y="51574"/>
                </a:lnTo>
                <a:lnTo>
                  <a:pt x="1716309" y="39711"/>
                </a:lnTo>
                <a:lnTo>
                  <a:pt x="1670603" y="29340"/>
                </a:lnTo>
                <a:lnTo>
                  <a:pt x="1624339" y="20489"/>
                </a:lnTo>
                <a:lnTo>
                  <a:pt x="1577543" y="13186"/>
                </a:lnTo>
                <a:lnTo>
                  <a:pt x="1530245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16346" y="3842003"/>
            <a:ext cx="1777364" cy="149161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algn="ctr">
              <a:lnSpc>
                <a:spcPts val="3790"/>
              </a:lnSpc>
              <a:spcBef>
                <a:spcPts val="26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ODE/SDE</a:t>
            </a:r>
            <a:endParaRPr sz="3200">
              <a:latin typeface="Trebuchet MS"/>
              <a:cs typeface="Trebuchet MS"/>
            </a:endParaRPr>
          </a:p>
          <a:p>
            <a:pPr algn="ctr">
              <a:lnSpc>
                <a:spcPts val="3795"/>
              </a:lnSpc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Solvers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544686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41988" y="4145788"/>
            <a:ext cx="1776730" cy="8851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10160">
              <a:lnSpc>
                <a:spcPct val="101400"/>
              </a:lnSpc>
              <a:spcBef>
                <a:spcPts val="50"/>
              </a:spcBef>
            </a:pPr>
            <a:r>
              <a:rPr sz="2800" spc="-10" dirty="0">
                <a:solidFill>
                  <a:srgbClr val="FFFFFF"/>
                </a:solidFill>
                <a:latin typeface="Trebuchet MS"/>
                <a:cs typeface="Trebuchet MS"/>
              </a:rPr>
              <a:t>Distillation </a:t>
            </a:r>
            <a:r>
              <a:rPr sz="2800" spc="-45" dirty="0">
                <a:solidFill>
                  <a:srgbClr val="FFFFFF"/>
                </a:solidFill>
                <a:latin typeface="Trebuchet MS"/>
                <a:cs typeface="Trebuchet MS"/>
              </a:rPr>
              <a:t>Techniques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311143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3" y="0"/>
                </a:moveTo>
                <a:lnTo>
                  <a:pt x="1336958" y="837"/>
                </a:lnTo>
                <a:lnTo>
                  <a:pt x="1288735" y="3333"/>
                </a:lnTo>
                <a:lnTo>
                  <a:pt x="1240960" y="7458"/>
                </a:lnTo>
                <a:lnTo>
                  <a:pt x="1193662" y="13186"/>
                </a:lnTo>
                <a:lnTo>
                  <a:pt x="1146866" y="20489"/>
                </a:lnTo>
                <a:lnTo>
                  <a:pt x="1100602" y="29340"/>
                </a:lnTo>
                <a:lnTo>
                  <a:pt x="1054896" y="39711"/>
                </a:lnTo>
                <a:lnTo>
                  <a:pt x="1009776" y="51574"/>
                </a:lnTo>
                <a:lnTo>
                  <a:pt x="965270" y="64903"/>
                </a:lnTo>
                <a:lnTo>
                  <a:pt x="921404" y="79669"/>
                </a:lnTo>
                <a:lnTo>
                  <a:pt x="878206" y="95846"/>
                </a:lnTo>
                <a:lnTo>
                  <a:pt x="835705" y="113405"/>
                </a:lnTo>
                <a:lnTo>
                  <a:pt x="793926" y="132319"/>
                </a:lnTo>
                <a:lnTo>
                  <a:pt x="752899" y="152562"/>
                </a:lnTo>
                <a:lnTo>
                  <a:pt x="712649" y="174104"/>
                </a:lnTo>
                <a:lnTo>
                  <a:pt x="673205" y="196919"/>
                </a:lnTo>
                <a:lnTo>
                  <a:pt x="634595" y="220980"/>
                </a:lnTo>
                <a:lnTo>
                  <a:pt x="596845" y="246259"/>
                </a:lnTo>
                <a:lnTo>
                  <a:pt x="559983" y="272728"/>
                </a:lnTo>
                <a:lnTo>
                  <a:pt x="524037" y="300360"/>
                </a:lnTo>
                <a:lnTo>
                  <a:pt x="489034" y="329127"/>
                </a:lnTo>
                <a:lnTo>
                  <a:pt x="455002" y="359002"/>
                </a:lnTo>
                <a:lnTo>
                  <a:pt x="421968" y="389958"/>
                </a:lnTo>
                <a:lnTo>
                  <a:pt x="389959" y="421967"/>
                </a:lnTo>
                <a:lnTo>
                  <a:pt x="359003" y="455001"/>
                </a:lnTo>
                <a:lnTo>
                  <a:pt x="329128" y="489034"/>
                </a:lnTo>
                <a:lnTo>
                  <a:pt x="300360" y="524037"/>
                </a:lnTo>
                <a:lnTo>
                  <a:pt x="272728" y="559983"/>
                </a:lnTo>
                <a:lnTo>
                  <a:pt x="246259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4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4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59" y="2174359"/>
                </a:lnTo>
                <a:lnTo>
                  <a:pt x="272728" y="2211220"/>
                </a:lnTo>
                <a:lnTo>
                  <a:pt x="300360" y="2247166"/>
                </a:lnTo>
                <a:lnTo>
                  <a:pt x="329128" y="2282169"/>
                </a:lnTo>
                <a:lnTo>
                  <a:pt x="359003" y="2316202"/>
                </a:lnTo>
                <a:lnTo>
                  <a:pt x="389959" y="2349236"/>
                </a:lnTo>
                <a:lnTo>
                  <a:pt x="421968" y="2381245"/>
                </a:lnTo>
                <a:lnTo>
                  <a:pt x="455002" y="2412201"/>
                </a:lnTo>
                <a:lnTo>
                  <a:pt x="489034" y="2442076"/>
                </a:lnTo>
                <a:lnTo>
                  <a:pt x="524037" y="2470844"/>
                </a:lnTo>
                <a:lnTo>
                  <a:pt x="559983" y="2498476"/>
                </a:lnTo>
                <a:lnTo>
                  <a:pt x="596845" y="2524945"/>
                </a:lnTo>
                <a:lnTo>
                  <a:pt x="634595" y="2550223"/>
                </a:lnTo>
                <a:lnTo>
                  <a:pt x="673205" y="2574284"/>
                </a:lnTo>
                <a:lnTo>
                  <a:pt x="712649" y="2597099"/>
                </a:lnTo>
                <a:lnTo>
                  <a:pt x="752899" y="2618642"/>
                </a:lnTo>
                <a:lnTo>
                  <a:pt x="793926" y="2638884"/>
                </a:lnTo>
                <a:lnTo>
                  <a:pt x="835705" y="2657799"/>
                </a:lnTo>
                <a:lnTo>
                  <a:pt x="878206" y="2675358"/>
                </a:lnTo>
                <a:lnTo>
                  <a:pt x="921404" y="2691535"/>
                </a:lnTo>
                <a:lnTo>
                  <a:pt x="965270" y="2706301"/>
                </a:lnTo>
                <a:lnTo>
                  <a:pt x="1009776" y="2719629"/>
                </a:lnTo>
                <a:lnTo>
                  <a:pt x="1054896" y="2731493"/>
                </a:lnTo>
                <a:lnTo>
                  <a:pt x="1100602" y="2741864"/>
                </a:lnTo>
                <a:lnTo>
                  <a:pt x="1146866" y="2750714"/>
                </a:lnTo>
                <a:lnTo>
                  <a:pt x="1193662" y="2758017"/>
                </a:lnTo>
                <a:lnTo>
                  <a:pt x="1240960" y="2763745"/>
                </a:lnTo>
                <a:lnTo>
                  <a:pt x="1288735" y="2767871"/>
                </a:lnTo>
                <a:lnTo>
                  <a:pt x="1336958" y="2770366"/>
                </a:lnTo>
                <a:lnTo>
                  <a:pt x="1385603" y="2771204"/>
                </a:lnTo>
                <a:lnTo>
                  <a:pt x="1434247" y="2770366"/>
                </a:lnTo>
                <a:lnTo>
                  <a:pt x="1482470" y="2767871"/>
                </a:lnTo>
                <a:lnTo>
                  <a:pt x="1530244" y="2763745"/>
                </a:lnTo>
                <a:lnTo>
                  <a:pt x="1577543" y="2758017"/>
                </a:lnTo>
                <a:lnTo>
                  <a:pt x="1624338" y="2750714"/>
                </a:lnTo>
                <a:lnTo>
                  <a:pt x="1670602" y="2741864"/>
                </a:lnTo>
                <a:lnTo>
                  <a:pt x="1716308" y="2731493"/>
                </a:lnTo>
                <a:lnTo>
                  <a:pt x="1761428" y="2719629"/>
                </a:lnTo>
                <a:lnTo>
                  <a:pt x="1805935" y="2706301"/>
                </a:lnTo>
                <a:lnTo>
                  <a:pt x="1849801" y="2691535"/>
                </a:lnTo>
                <a:lnTo>
                  <a:pt x="1892998" y="2675358"/>
                </a:lnTo>
                <a:lnTo>
                  <a:pt x="1935500" y="2657799"/>
                </a:lnTo>
                <a:lnTo>
                  <a:pt x="1977278" y="2638884"/>
                </a:lnTo>
                <a:lnTo>
                  <a:pt x="2018306" y="2618642"/>
                </a:lnTo>
                <a:lnTo>
                  <a:pt x="2058555" y="2597099"/>
                </a:lnTo>
                <a:lnTo>
                  <a:pt x="2097999" y="2574284"/>
                </a:lnTo>
                <a:lnTo>
                  <a:pt x="2136609" y="2550223"/>
                </a:lnTo>
                <a:lnTo>
                  <a:pt x="2174359" y="2524945"/>
                </a:lnTo>
                <a:lnTo>
                  <a:pt x="2211221" y="2498476"/>
                </a:lnTo>
                <a:lnTo>
                  <a:pt x="2247167" y="2470844"/>
                </a:lnTo>
                <a:lnTo>
                  <a:pt x="2282170" y="2442076"/>
                </a:lnTo>
                <a:lnTo>
                  <a:pt x="2316202" y="2412201"/>
                </a:lnTo>
                <a:lnTo>
                  <a:pt x="2349236" y="2381245"/>
                </a:lnTo>
                <a:lnTo>
                  <a:pt x="2381245" y="2349236"/>
                </a:lnTo>
                <a:lnTo>
                  <a:pt x="2412201" y="2316202"/>
                </a:lnTo>
                <a:lnTo>
                  <a:pt x="2442076" y="2282169"/>
                </a:lnTo>
                <a:lnTo>
                  <a:pt x="2470844" y="2247166"/>
                </a:lnTo>
                <a:lnTo>
                  <a:pt x="2498476" y="2211220"/>
                </a:lnTo>
                <a:lnTo>
                  <a:pt x="2524945" y="2174359"/>
                </a:lnTo>
                <a:lnTo>
                  <a:pt x="2550223" y="2136609"/>
                </a:lnTo>
                <a:lnTo>
                  <a:pt x="2574284" y="2097998"/>
                </a:lnTo>
                <a:lnTo>
                  <a:pt x="2597099" y="2058555"/>
                </a:lnTo>
                <a:lnTo>
                  <a:pt x="2618642" y="2018305"/>
                </a:lnTo>
                <a:lnTo>
                  <a:pt x="2638884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3" y="1716308"/>
                </a:lnTo>
                <a:lnTo>
                  <a:pt x="2741864" y="1670602"/>
                </a:lnTo>
                <a:lnTo>
                  <a:pt x="2750714" y="1624337"/>
                </a:lnTo>
                <a:lnTo>
                  <a:pt x="2758017" y="1577542"/>
                </a:lnTo>
                <a:lnTo>
                  <a:pt x="2763745" y="1530243"/>
                </a:lnTo>
                <a:lnTo>
                  <a:pt x="2767871" y="1482469"/>
                </a:lnTo>
                <a:lnTo>
                  <a:pt x="2770366" y="1434245"/>
                </a:lnTo>
                <a:lnTo>
                  <a:pt x="2771204" y="1385601"/>
                </a:lnTo>
                <a:lnTo>
                  <a:pt x="2770366" y="1336957"/>
                </a:lnTo>
                <a:lnTo>
                  <a:pt x="2767871" y="1288734"/>
                </a:lnTo>
                <a:lnTo>
                  <a:pt x="2763745" y="1240959"/>
                </a:lnTo>
                <a:lnTo>
                  <a:pt x="2758017" y="1193660"/>
                </a:lnTo>
                <a:lnTo>
                  <a:pt x="2750714" y="1146865"/>
                </a:lnTo>
                <a:lnTo>
                  <a:pt x="2741864" y="1100601"/>
                </a:lnTo>
                <a:lnTo>
                  <a:pt x="2731493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4" y="793925"/>
                </a:lnTo>
                <a:lnTo>
                  <a:pt x="2618642" y="752898"/>
                </a:lnTo>
                <a:lnTo>
                  <a:pt x="2597099" y="712648"/>
                </a:lnTo>
                <a:lnTo>
                  <a:pt x="2574284" y="673205"/>
                </a:lnTo>
                <a:lnTo>
                  <a:pt x="2550223" y="634594"/>
                </a:lnTo>
                <a:lnTo>
                  <a:pt x="2524945" y="596844"/>
                </a:lnTo>
                <a:lnTo>
                  <a:pt x="2498476" y="559983"/>
                </a:lnTo>
                <a:lnTo>
                  <a:pt x="2470844" y="524037"/>
                </a:lnTo>
                <a:lnTo>
                  <a:pt x="2442076" y="489034"/>
                </a:lnTo>
                <a:lnTo>
                  <a:pt x="2412201" y="455001"/>
                </a:lnTo>
                <a:lnTo>
                  <a:pt x="2381245" y="421967"/>
                </a:lnTo>
                <a:lnTo>
                  <a:pt x="2349236" y="389958"/>
                </a:lnTo>
                <a:lnTo>
                  <a:pt x="2316202" y="359002"/>
                </a:lnTo>
                <a:lnTo>
                  <a:pt x="2282170" y="329127"/>
                </a:lnTo>
                <a:lnTo>
                  <a:pt x="2247167" y="300360"/>
                </a:lnTo>
                <a:lnTo>
                  <a:pt x="2211221" y="272728"/>
                </a:lnTo>
                <a:lnTo>
                  <a:pt x="2174359" y="246259"/>
                </a:lnTo>
                <a:lnTo>
                  <a:pt x="2136609" y="220980"/>
                </a:lnTo>
                <a:lnTo>
                  <a:pt x="2097999" y="196919"/>
                </a:lnTo>
                <a:lnTo>
                  <a:pt x="2058555" y="174104"/>
                </a:lnTo>
                <a:lnTo>
                  <a:pt x="2018306" y="152562"/>
                </a:lnTo>
                <a:lnTo>
                  <a:pt x="1977278" y="132319"/>
                </a:lnTo>
                <a:lnTo>
                  <a:pt x="1935500" y="113405"/>
                </a:lnTo>
                <a:lnTo>
                  <a:pt x="1892998" y="95846"/>
                </a:lnTo>
                <a:lnTo>
                  <a:pt x="1849801" y="79669"/>
                </a:lnTo>
                <a:lnTo>
                  <a:pt x="1805935" y="64903"/>
                </a:lnTo>
                <a:lnTo>
                  <a:pt x="1761428" y="51574"/>
                </a:lnTo>
                <a:lnTo>
                  <a:pt x="1716308" y="39711"/>
                </a:lnTo>
                <a:lnTo>
                  <a:pt x="1670602" y="29340"/>
                </a:lnTo>
                <a:lnTo>
                  <a:pt x="1624338" y="20489"/>
                </a:lnTo>
                <a:lnTo>
                  <a:pt x="1577543" y="13186"/>
                </a:lnTo>
                <a:lnTo>
                  <a:pt x="1530244" y="7458"/>
                </a:lnTo>
                <a:lnTo>
                  <a:pt x="1482470" y="3333"/>
                </a:lnTo>
                <a:lnTo>
                  <a:pt x="1434247" y="837"/>
                </a:lnTo>
                <a:lnTo>
                  <a:pt x="1385603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821239" y="3842003"/>
            <a:ext cx="175133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9525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Low-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dim.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Diffusion 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3066712" y="3212740"/>
            <a:ext cx="2771775" cy="2771775"/>
          </a:xfrm>
          <a:custGeom>
            <a:avLst/>
            <a:gdLst/>
            <a:ahLst/>
            <a:cxnLst/>
            <a:rect l="l" t="t" r="r" b="b"/>
            <a:pathLst>
              <a:path w="2771775" h="2771775">
                <a:moveTo>
                  <a:pt x="1385608" y="0"/>
                </a:moveTo>
                <a:lnTo>
                  <a:pt x="1336963" y="837"/>
                </a:lnTo>
                <a:lnTo>
                  <a:pt x="1288740" y="3333"/>
                </a:lnTo>
                <a:lnTo>
                  <a:pt x="1240965" y="7458"/>
                </a:lnTo>
                <a:lnTo>
                  <a:pt x="1193666" y="13186"/>
                </a:lnTo>
                <a:lnTo>
                  <a:pt x="1146870" y="20489"/>
                </a:lnTo>
                <a:lnTo>
                  <a:pt x="1100606" y="29340"/>
                </a:lnTo>
                <a:lnTo>
                  <a:pt x="1054900" y="39711"/>
                </a:lnTo>
                <a:lnTo>
                  <a:pt x="1009780" y="51574"/>
                </a:lnTo>
                <a:lnTo>
                  <a:pt x="965273" y="64903"/>
                </a:lnTo>
                <a:lnTo>
                  <a:pt x="921407" y="79669"/>
                </a:lnTo>
                <a:lnTo>
                  <a:pt x="878209" y="95846"/>
                </a:lnTo>
                <a:lnTo>
                  <a:pt x="835707" y="113405"/>
                </a:lnTo>
                <a:lnTo>
                  <a:pt x="793929" y="132319"/>
                </a:lnTo>
                <a:lnTo>
                  <a:pt x="752901" y="152562"/>
                </a:lnTo>
                <a:lnTo>
                  <a:pt x="712651" y="174104"/>
                </a:lnTo>
                <a:lnTo>
                  <a:pt x="673207" y="196919"/>
                </a:lnTo>
                <a:lnTo>
                  <a:pt x="634597" y="220980"/>
                </a:lnTo>
                <a:lnTo>
                  <a:pt x="596847" y="246259"/>
                </a:lnTo>
                <a:lnTo>
                  <a:pt x="559985" y="272728"/>
                </a:lnTo>
                <a:lnTo>
                  <a:pt x="524039" y="300360"/>
                </a:lnTo>
                <a:lnTo>
                  <a:pt x="489036" y="329127"/>
                </a:lnTo>
                <a:lnTo>
                  <a:pt x="455003" y="359002"/>
                </a:lnTo>
                <a:lnTo>
                  <a:pt x="421969" y="389958"/>
                </a:lnTo>
                <a:lnTo>
                  <a:pt x="389960" y="421967"/>
                </a:lnTo>
                <a:lnTo>
                  <a:pt x="359004" y="455001"/>
                </a:lnTo>
                <a:lnTo>
                  <a:pt x="329128" y="489034"/>
                </a:lnTo>
                <a:lnTo>
                  <a:pt x="300361" y="524037"/>
                </a:lnTo>
                <a:lnTo>
                  <a:pt x="272729" y="559983"/>
                </a:lnTo>
                <a:lnTo>
                  <a:pt x="246260" y="596844"/>
                </a:lnTo>
                <a:lnTo>
                  <a:pt x="220981" y="634594"/>
                </a:lnTo>
                <a:lnTo>
                  <a:pt x="196920" y="673205"/>
                </a:lnTo>
                <a:lnTo>
                  <a:pt x="174105" y="712648"/>
                </a:lnTo>
                <a:lnTo>
                  <a:pt x="152562" y="752898"/>
                </a:lnTo>
                <a:lnTo>
                  <a:pt x="132320" y="793925"/>
                </a:lnTo>
                <a:lnTo>
                  <a:pt x="113405" y="835704"/>
                </a:lnTo>
                <a:lnTo>
                  <a:pt x="95846" y="878205"/>
                </a:lnTo>
                <a:lnTo>
                  <a:pt x="79669" y="921403"/>
                </a:lnTo>
                <a:lnTo>
                  <a:pt x="64903" y="965268"/>
                </a:lnTo>
                <a:lnTo>
                  <a:pt x="51574" y="1009775"/>
                </a:lnTo>
                <a:lnTo>
                  <a:pt x="39711" y="1054895"/>
                </a:lnTo>
                <a:lnTo>
                  <a:pt x="29340" y="1100601"/>
                </a:lnTo>
                <a:lnTo>
                  <a:pt x="20489" y="1146865"/>
                </a:lnTo>
                <a:lnTo>
                  <a:pt x="13186" y="1193660"/>
                </a:lnTo>
                <a:lnTo>
                  <a:pt x="7458" y="1240959"/>
                </a:lnTo>
                <a:lnTo>
                  <a:pt x="3333" y="1288734"/>
                </a:lnTo>
                <a:lnTo>
                  <a:pt x="837" y="1336957"/>
                </a:lnTo>
                <a:lnTo>
                  <a:pt x="0" y="1385601"/>
                </a:lnTo>
                <a:lnTo>
                  <a:pt x="837" y="1434245"/>
                </a:lnTo>
                <a:lnTo>
                  <a:pt x="3333" y="1482469"/>
                </a:lnTo>
                <a:lnTo>
                  <a:pt x="7458" y="1530243"/>
                </a:lnTo>
                <a:lnTo>
                  <a:pt x="13186" y="1577542"/>
                </a:lnTo>
                <a:lnTo>
                  <a:pt x="20489" y="1624337"/>
                </a:lnTo>
                <a:lnTo>
                  <a:pt x="29340" y="1670602"/>
                </a:lnTo>
                <a:lnTo>
                  <a:pt x="39711" y="1716308"/>
                </a:lnTo>
                <a:lnTo>
                  <a:pt x="51574" y="1761428"/>
                </a:lnTo>
                <a:lnTo>
                  <a:pt x="64903" y="1805934"/>
                </a:lnTo>
                <a:lnTo>
                  <a:pt x="79669" y="1849800"/>
                </a:lnTo>
                <a:lnTo>
                  <a:pt x="95846" y="1892997"/>
                </a:lnTo>
                <a:lnTo>
                  <a:pt x="113405" y="1935499"/>
                </a:lnTo>
                <a:lnTo>
                  <a:pt x="132320" y="1977278"/>
                </a:lnTo>
                <a:lnTo>
                  <a:pt x="152562" y="2018305"/>
                </a:lnTo>
                <a:lnTo>
                  <a:pt x="174105" y="2058555"/>
                </a:lnTo>
                <a:lnTo>
                  <a:pt x="196920" y="2097998"/>
                </a:lnTo>
                <a:lnTo>
                  <a:pt x="220981" y="2136609"/>
                </a:lnTo>
                <a:lnTo>
                  <a:pt x="246260" y="2174359"/>
                </a:lnTo>
                <a:lnTo>
                  <a:pt x="272729" y="2211220"/>
                </a:lnTo>
                <a:lnTo>
                  <a:pt x="300361" y="2247166"/>
                </a:lnTo>
                <a:lnTo>
                  <a:pt x="329128" y="2282169"/>
                </a:lnTo>
                <a:lnTo>
                  <a:pt x="359004" y="2316202"/>
                </a:lnTo>
                <a:lnTo>
                  <a:pt x="389960" y="2349236"/>
                </a:lnTo>
                <a:lnTo>
                  <a:pt x="421969" y="2381245"/>
                </a:lnTo>
                <a:lnTo>
                  <a:pt x="455003" y="2412201"/>
                </a:lnTo>
                <a:lnTo>
                  <a:pt x="489036" y="2442076"/>
                </a:lnTo>
                <a:lnTo>
                  <a:pt x="524039" y="2470844"/>
                </a:lnTo>
                <a:lnTo>
                  <a:pt x="559985" y="2498476"/>
                </a:lnTo>
                <a:lnTo>
                  <a:pt x="596847" y="2524945"/>
                </a:lnTo>
                <a:lnTo>
                  <a:pt x="634597" y="2550223"/>
                </a:lnTo>
                <a:lnTo>
                  <a:pt x="673207" y="2574284"/>
                </a:lnTo>
                <a:lnTo>
                  <a:pt x="712651" y="2597099"/>
                </a:lnTo>
                <a:lnTo>
                  <a:pt x="752901" y="2618642"/>
                </a:lnTo>
                <a:lnTo>
                  <a:pt x="793929" y="2638884"/>
                </a:lnTo>
                <a:lnTo>
                  <a:pt x="835707" y="2657799"/>
                </a:lnTo>
                <a:lnTo>
                  <a:pt x="878209" y="2675358"/>
                </a:lnTo>
                <a:lnTo>
                  <a:pt x="921407" y="2691535"/>
                </a:lnTo>
                <a:lnTo>
                  <a:pt x="965273" y="2706301"/>
                </a:lnTo>
                <a:lnTo>
                  <a:pt x="1009780" y="2719629"/>
                </a:lnTo>
                <a:lnTo>
                  <a:pt x="1054900" y="2731493"/>
                </a:lnTo>
                <a:lnTo>
                  <a:pt x="1100606" y="2741864"/>
                </a:lnTo>
                <a:lnTo>
                  <a:pt x="1146870" y="2750714"/>
                </a:lnTo>
                <a:lnTo>
                  <a:pt x="1193666" y="2758017"/>
                </a:lnTo>
                <a:lnTo>
                  <a:pt x="1240965" y="2763745"/>
                </a:lnTo>
                <a:lnTo>
                  <a:pt x="1288740" y="2767871"/>
                </a:lnTo>
                <a:lnTo>
                  <a:pt x="1336963" y="2770366"/>
                </a:lnTo>
                <a:lnTo>
                  <a:pt x="1385608" y="2771204"/>
                </a:lnTo>
                <a:lnTo>
                  <a:pt x="1434252" y="2770366"/>
                </a:lnTo>
                <a:lnTo>
                  <a:pt x="1482475" y="2767871"/>
                </a:lnTo>
                <a:lnTo>
                  <a:pt x="1530250" y="2763745"/>
                </a:lnTo>
                <a:lnTo>
                  <a:pt x="1577549" y="2758017"/>
                </a:lnTo>
                <a:lnTo>
                  <a:pt x="1624344" y="2750714"/>
                </a:lnTo>
                <a:lnTo>
                  <a:pt x="1670609" y="2741864"/>
                </a:lnTo>
                <a:lnTo>
                  <a:pt x="1716315" y="2731493"/>
                </a:lnTo>
                <a:lnTo>
                  <a:pt x="1761435" y="2719629"/>
                </a:lnTo>
                <a:lnTo>
                  <a:pt x="1805941" y="2706301"/>
                </a:lnTo>
                <a:lnTo>
                  <a:pt x="1849807" y="2691535"/>
                </a:lnTo>
                <a:lnTo>
                  <a:pt x="1893004" y="2675358"/>
                </a:lnTo>
                <a:lnTo>
                  <a:pt x="1935506" y="2657799"/>
                </a:lnTo>
                <a:lnTo>
                  <a:pt x="1977284" y="2638884"/>
                </a:lnTo>
                <a:lnTo>
                  <a:pt x="2018312" y="2618642"/>
                </a:lnTo>
                <a:lnTo>
                  <a:pt x="2058561" y="2597099"/>
                </a:lnTo>
                <a:lnTo>
                  <a:pt x="2098004" y="2574284"/>
                </a:lnTo>
                <a:lnTo>
                  <a:pt x="2136615" y="2550223"/>
                </a:lnTo>
                <a:lnTo>
                  <a:pt x="2174364" y="2524945"/>
                </a:lnTo>
                <a:lnTo>
                  <a:pt x="2211226" y="2498476"/>
                </a:lnTo>
                <a:lnTo>
                  <a:pt x="2247171" y="2470844"/>
                </a:lnTo>
                <a:lnTo>
                  <a:pt x="2282174" y="2442076"/>
                </a:lnTo>
                <a:lnTo>
                  <a:pt x="2316206" y="2412201"/>
                </a:lnTo>
                <a:lnTo>
                  <a:pt x="2349240" y="2381245"/>
                </a:lnTo>
                <a:lnTo>
                  <a:pt x="2381249" y="2349236"/>
                </a:lnTo>
                <a:lnTo>
                  <a:pt x="2412204" y="2316202"/>
                </a:lnTo>
                <a:lnTo>
                  <a:pt x="2442079" y="2282169"/>
                </a:lnTo>
                <a:lnTo>
                  <a:pt x="2470846" y="2247166"/>
                </a:lnTo>
                <a:lnTo>
                  <a:pt x="2498478" y="2211220"/>
                </a:lnTo>
                <a:lnTo>
                  <a:pt x="2524947" y="2174359"/>
                </a:lnTo>
                <a:lnTo>
                  <a:pt x="2550225" y="2136609"/>
                </a:lnTo>
                <a:lnTo>
                  <a:pt x="2574286" y="2097998"/>
                </a:lnTo>
                <a:lnTo>
                  <a:pt x="2597101" y="2058555"/>
                </a:lnTo>
                <a:lnTo>
                  <a:pt x="2618643" y="2018305"/>
                </a:lnTo>
                <a:lnTo>
                  <a:pt x="2638885" y="1977278"/>
                </a:lnTo>
                <a:lnTo>
                  <a:pt x="2657799" y="1935499"/>
                </a:lnTo>
                <a:lnTo>
                  <a:pt x="2675358" y="1892997"/>
                </a:lnTo>
                <a:lnTo>
                  <a:pt x="2691535" y="1849800"/>
                </a:lnTo>
                <a:lnTo>
                  <a:pt x="2706301" y="1805934"/>
                </a:lnTo>
                <a:lnTo>
                  <a:pt x="2719629" y="1761428"/>
                </a:lnTo>
                <a:lnTo>
                  <a:pt x="2731492" y="1716308"/>
                </a:lnTo>
                <a:lnTo>
                  <a:pt x="2741863" y="1670602"/>
                </a:lnTo>
                <a:lnTo>
                  <a:pt x="2750713" y="1624337"/>
                </a:lnTo>
                <a:lnTo>
                  <a:pt x="2758016" y="1577542"/>
                </a:lnTo>
                <a:lnTo>
                  <a:pt x="2763744" y="1530243"/>
                </a:lnTo>
                <a:lnTo>
                  <a:pt x="2767870" y="1482469"/>
                </a:lnTo>
                <a:lnTo>
                  <a:pt x="2770365" y="1434245"/>
                </a:lnTo>
                <a:lnTo>
                  <a:pt x="2771203" y="1385601"/>
                </a:lnTo>
                <a:lnTo>
                  <a:pt x="2770365" y="1336957"/>
                </a:lnTo>
                <a:lnTo>
                  <a:pt x="2767870" y="1288734"/>
                </a:lnTo>
                <a:lnTo>
                  <a:pt x="2763744" y="1240959"/>
                </a:lnTo>
                <a:lnTo>
                  <a:pt x="2758016" y="1193660"/>
                </a:lnTo>
                <a:lnTo>
                  <a:pt x="2750713" y="1146865"/>
                </a:lnTo>
                <a:lnTo>
                  <a:pt x="2741863" y="1100601"/>
                </a:lnTo>
                <a:lnTo>
                  <a:pt x="2731492" y="1054895"/>
                </a:lnTo>
                <a:lnTo>
                  <a:pt x="2719629" y="1009775"/>
                </a:lnTo>
                <a:lnTo>
                  <a:pt x="2706301" y="965268"/>
                </a:lnTo>
                <a:lnTo>
                  <a:pt x="2691535" y="921403"/>
                </a:lnTo>
                <a:lnTo>
                  <a:pt x="2675358" y="878205"/>
                </a:lnTo>
                <a:lnTo>
                  <a:pt x="2657799" y="835704"/>
                </a:lnTo>
                <a:lnTo>
                  <a:pt x="2638885" y="793925"/>
                </a:lnTo>
                <a:lnTo>
                  <a:pt x="2618643" y="752898"/>
                </a:lnTo>
                <a:lnTo>
                  <a:pt x="2597101" y="712648"/>
                </a:lnTo>
                <a:lnTo>
                  <a:pt x="2574286" y="673205"/>
                </a:lnTo>
                <a:lnTo>
                  <a:pt x="2550225" y="634594"/>
                </a:lnTo>
                <a:lnTo>
                  <a:pt x="2524947" y="596844"/>
                </a:lnTo>
                <a:lnTo>
                  <a:pt x="2498478" y="559983"/>
                </a:lnTo>
                <a:lnTo>
                  <a:pt x="2470846" y="524037"/>
                </a:lnTo>
                <a:lnTo>
                  <a:pt x="2442079" y="489034"/>
                </a:lnTo>
                <a:lnTo>
                  <a:pt x="2412204" y="455001"/>
                </a:lnTo>
                <a:lnTo>
                  <a:pt x="2381249" y="421967"/>
                </a:lnTo>
                <a:lnTo>
                  <a:pt x="2349240" y="389958"/>
                </a:lnTo>
                <a:lnTo>
                  <a:pt x="2316206" y="359002"/>
                </a:lnTo>
                <a:lnTo>
                  <a:pt x="2282174" y="329127"/>
                </a:lnTo>
                <a:lnTo>
                  <a:pt x="2247171" y="300360"/>
                </a:lnTo>
                <a:lnTo>
                  <a:pt x="2211226" y="272728"/>
                </a:lnTo>
                <a:lnTo>
                  <a:pt x="2174364" y="246259"/>
                </a:lnTo>
                <a:lnTo>
                  <a:pt x="2136615" y="220980"/>
                </a:lnTo>
                <a:lnTo>
                  <a:pt x="2098004" y="196919"/>
                </a:lnTo>
                <a:lnTo>
                  <a:pt x="2058561" y="174104"/>
                </a:lnTo>
                <a:lnTo>
                  <a:pt x="2018312" y="152562"/>
                </a:lnTo>
                <a:lnTo>
                  <a:pt x="1977284" y="132319"/>
                </a:lnTo>
                <a:lnTo>
                  <a:pt x="1935506" y="113405"/>
                </a:lnTo>
                <a:lnTo>
                  <a:pt x="1893004" y="95846"/>
                </a:lnTo>
                <a:lnTo>
                  <a:pt x="1849807" y="79669"/>
                </a:lnTo>
                <a:lnTo>
                  <a:pt x="1805941" y="64903"/>
                </a:lnTo>
                <a:lnTo>
                  <a:pt x="1761435" y="51574"/>
                </a:lnTo>
                <a:lnTo>
                  <a:pt x="1716315" y="39711"/>
                </a:lnTo>
                <a:lnTo>
                  <a:pt x="1670609" y="29340"/>
                </a:lnTo>
                <a:lnTo>
                  <a:pt x="1624344" y="20489"/>
                </a:lnTo>
                <a:lnTo>
                  <a:pt x="1577549" y="13186"/>
                </a:lnTo>
                <a:lnTo>
                  <a:pt x="1530250" y="7458"/>
                </a:lnTo>
                <a:lnTo>
                  <a:pt x="1482475" y="3333"/>
                </a:lnTo>
                <a:lnTo>
                  <a:pt x="1434252" y="837"/>
                </a:lnTo>
                <a:lnTo>
                  <a:pt x="1385608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563320" y="3842003"/>
            <a:ext cx="1777364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6034" marR="5080" indent="-13970" algn="just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Advanced Diffusion Processes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76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ODE</a:t>
            </a:r>
            <a:r>
              <a:rPr spc="-85" dirty="0"/>
              <a:t> </a:t>
            </a:r>
            <a:r>
              <a:rPr spc="-10" dirty="0"/>
              <a:t>interpretation</a:t>
            </a:r>
          </a:p>
          <a:p>
            <a:pPr marL="635"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Deterministic</a:t>
            </a:r>
            <a:r>
              <a:rPr sz="3000" spc="-114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generative</a:t>
            </a:r>
            <a:r>
              <a:rPr sz="3000" spc="-110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process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1120011" y="5760720"/>
            <a:ext cx="105384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DDIM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sampler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considered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integration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rule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following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ODE: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20011" y="7232904"/>
            <a:ext cx="14641194" cy="182372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354965" marR="59055" indent="-342900">
              <a:lnSpc>
                <a:spcPct val="101699"/>
              </a:lnSpc>
              <a:spcBef>
                <a:spcPts val="50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Karras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et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al.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argue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ODE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DDIM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favored,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tangent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solution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trajectory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always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points </a:t>
            </a:r>
            <a:r>
              <a:rPr sz="2300" dirty="0">
                <a:latin typeface="Trebuchet MS"/>
                <a:cs typeface="Trebuchet MS"/>
              </a:rPr>
              <a:t>towards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denoiser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output.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marR="5080" indent="-342900">
              <a:lnSpc>
                <a:spcPct val="100899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This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leads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largely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linear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solution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trajectories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with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low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curvature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Wingdings"/>
                <a:cs typeface="Wingdings"/>
              </a:rPr>
              <a:t></a:t>
            </a:r>
            <a:r>
              <a:rPr sz="2300" spc="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rebuchet MS"/>
                <a:cs typeface="Trebuchet MS"/>
              </a:rPr>
              <a:t>Low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curvature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means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less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truncation </a:t>
            </a:r>
            <a:r>
              <a:rPr sz="2300" dirty="0">
                <a:latin typeface="Trebuchet MS"/>
                <a:cs typeface="Trebuchet MS"/>
              </a:rPr>
              <a:t>errors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accumulated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over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trajectories.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72157" y="2583388"/>
            <a:ext cx="10323830" cy="260909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6578" y="9350756"/>
            <a:ext cx="981456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75"/>
              </a:lnSpc>
              <a:spcBef>
                <a:spcPts val="1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Song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et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al.,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“Denoising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Diffusion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Implicit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Models”,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ICLR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2021.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1920"/>
              </a:lnSpc>
              <a:spcBef>
                <a:spcPts val="18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Karras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et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al.,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“Elucidating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the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Design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Space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of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Diffusion-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Based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Generative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Models”,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arXiv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2022.</a:t>
            </a:r>
            <a:r>
              <a:rPr sz="1800" spc="-10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Salimans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&amp;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Ho,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“Progressive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distillation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for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fast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sampling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of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diffusion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models”,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ICLR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2022.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92442" y="6297841"/>
            <a:ext cx="6903112" cy="80716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77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spc="280" dirty="0">
                <a:latin typeface="Arial MT"/>
                <a:cs typeface="Arial MT"/>
              </a:rPr>
              <a:t>“</a:t>
            </a:r>
            <a:r>
              <a:rPr spc="280" dirty="0"/>
              <a:t>Momentum-</a:t>
            </a:r>
            <a:r>
              <a:rPr dirty="0"/>
              <a:t>based”</a:t>
            </a:r>
            <a:r>
              <a:rPr spc="-100" dirty="0"/>
              <a:t> </a:t>
            </a:r>
            <a:r>
              <a:rPr spc="-10" dirty="0"/>
              <a:t>diffusion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Introduce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velocity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variable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and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run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diffusion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in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extended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space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5469284" y="8559751"/>
            <a:ext cx="7349490" cy="831215"/>
          </a:xfrm>
          <a:prstGeom prst="rect">
            <a:avLst/>
          </a:prstGeom>
          <a:ln w="25400">
            <a:solidFill>
              <a:srgbClr val="262626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409700" marR="278765" indent="-1122045">
              <a:lnSpc>
                <a:spcPts val="2820"/>
              </a:lnSpc>
              <a:spcBef>
                <a:spcPts val="509"/>
              </a:spcBef>
            </a:pPr>
            <a:r>
              <a:rPr sz="3600" baseline="2314" dirty="0">
                <a:latin typeface="Trebuchet MS"/>
                <a:cs typeface="Trebuchet MS"/>
              </a:rPr>
              <a:t>Main</a:t>
            </a:r>
            <a:r>
              <a:rPr sz="3600" spc="-75" baseline="2314" dirty="0">
                <a:latin typeface="Trebuchet MS"/>
                <a:cs typeface="Trebuchet MS"/>
              </a:rPr>
              <a:t> </a:t>
            </a:r>
            <a:r>
              <a:rPr sz="3600" baseline="2314" dirty="0">
                <a:latin typeface="Trebuchet MS"/>
                <a:cs typeface="Trebuchet MS"/>
              </a:rPr>
              <a:t>idea:</a:t>
            </a:r>
            <a:r>
              <a:rPr sz="3600" spc="-60" baseline="2314" dirty="0">
                <a:latin typeface="Trebuchet MS"/>
                <a:cs typeface="Trebuchet MS"/>
              </a:rPr>
              <a:t> </a:t>
            </a:r>
            <a:r>
              <a:rPr sz="3600" baseline="2314" dirty="0">
                <a:latin typeface="Trebuchet MS"/>
                <a:cs typeface="Trebuchet MS"/>
              </a:rPr>
              <a:t>Inject</a:t>
            </a:r>
            <a:r>
              <a:rPr sz="3600" spc="-67" baseline="2314" dirty="0">
                <a:latin typeface="Trebuchet MS"/>
                <a:cs typeface="Trebuchet MS"/>
              </a:rPr>
              <a:t> </a:t>
            </a:r>
            <a:r>
              <a:rPr sz="3600" baseline="2314" dirty="0">
                <a:latin typeface="Trebuchet MS"/>
                <a:cs typeface="Trebuchet MS"/>
              </a:rPr>
              <a:t>noise</a:t>
            </a:r>
            <a:r>
              <a:rPr sz="3600" spc="-60" baseline="2314" dirty="0">
                <a:latin typeface="Trebuchet MS"/>
                <a:cs typeface="Trebuchet MS"/>
              </a:rPr>
              <a:t> </a:t>
            </a:r>
            <a:r>
              <a:rPr sz="3600" baseline="2314" dirty="0">
                <a:latin typeface="Trebuchet MS"/>
                <a:cs typeface="Trebuchet MS"/>
              </a:rPr>
              <a:t>only</a:t>
            </a:r>
            <a:r>
              <a:rPr sz="3600" spc="-52" baseline="2314" dirty="0">
                <a:latin typeface="Trebuchet MS"/>
                <a:cs typeface="Trebuchet MS"/>
              </a:rPr>
              <a:t> </a:t>
            </a:r>
            <a:r>
              <a:rPr sz="3600" baseline="2314" dirty="0">
                <a:latin typeface="Trebuchet MS"/>
                <a:cs typeface="Trebuchet MS"/>
              </a:rPr>
              <a:t>into</a:t>
            </a:r>
            <a:r>
              <a:rPr sz="3600" spc="-277" baseline="2314" dirty="0">
                <a:latin typeface="Trebuchet MS"/>
                <a:cs typeface="Trebuchet MS"/>
              </a:rPr>
              <a:t> </a:t>
            </a:r>
            <a:r>
              <a:rPr sz="3975" b="1" spc="217" baseline="8385" dirty="0">
                <a:latin typeface="Calibri"/>
                <a:cs typeface="Calibri"/>
              </a:rPr>
              <a:t>v</a:t>
            </a:r>
            <a:r>
              <a:rPr sz="1850" i="1" spc="145" dirty="0">
                <a:latin typeface="Calibri"/>
                <a:cs typeface="Calibri"/>
              </a:rPr>
              <a:t>t</a:t>
            </a:r>
            <a:r>
              <a:rPr sz="3600" spc="217" baseline="2314" dirty="0">
                <a:latin typeface="Trebuchet MS"/>
                <a:cs typeface="Trebuchet MS"/>
              </a:rPr>
              <a:t>,</a:t>
            </a:r>
            <a:r>
              <a:rPr sz="3600" spc="-52" baseline="2314" dirty="0">
                <a:latin typeface="Trebuchet MS"/>
                <a:cs typeface="Trebuchet MS"/>
              </a:rPr>
              <a:t> </a:t>
            </a:r>
            <a:r>
              <a:rPr sz="3600" baseline="2314" dirty="0">
                <a:latin typeface="Trebuchet MS"/>
                <a:cs typeface="Trebuchet MS"/>
              </a:rPr>
              <a:t>faster</a:t>
            </a:r>
            <a:r>
              <a:rPr sz="3600" spc="-60" baseline="2314" dirty="0">
                <a:latin typeface="Trebuchet MS"/>
                <a:cs typeface="Trebuchet MS"/>
              </a:rPr>
              <a:t> </a:t>
            </a:r>
            <a:r>
              <a:rPr sz="3600" spc="-15" baseline="2314" dirty="0">
                <a:latin typeface="Trebuchet MS"/>
                <a:cs typeface="Trebuchet MS"/>
              </a:rPr>
              <a:t>mixing </a:t>
            </a:r>
            <a:r>
              <a:rPr sz="2400" dirty="0">
                <a:latin typeface="Trebuchet MS"/>
                <a:cs typeface="Trebuchet MS"/>
              </a:rPr>
              <a:t>through</a:t>
            </a:r>
            <a:r>
              <a:rPr sz="2400" spc="-80" dirty="0">
                <a:latin typeface="Trebuchet MS"/>
                <a:cs typeface="Trebuchet MS"/>
              </a:rPr>
              <a:t> </a:t>
            </a:r>
            <a:r>
              <a:rPr sz="2400" dirty="0">
                <a:latin typeface="Trebuchet MS"/>
                <a:cs typeface="Trebuchet MS"/>
              </a:rPr>
              <a:t>Hamiltonian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10" dirty="0">
                <a:latin typeface="Trebuchet MS"/>
                <a:cs typeface="Trebuchet MS"/>
              </a:rPr>
              <a:t>component!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6578" y="9722611"/>
            <a:ext cx="11019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Dockhorn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al.,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“Score-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Based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Generative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Modeling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with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Critically-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Damped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Langevin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Diffusion”,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ICLR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2022.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91061" y="2406103"/>
            <a:ext cx="10450918" cy="588372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38923" y="1066800"/>
            <a:ext cx="5013960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Additional</a:t>
            </a:r>
            <a:r>
              <a:rPr spc="-245" dirty="0"/>
              <a:t> </a:t>
            </a:r>
            <a:r>
              <a:rPr spc="-10" dirty="0"/>
              <a:t>Reading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2133600"/>
            <a:ext cx="14187805" cy="726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11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300" dirty="0">
                <a:latin typeface="Trebuchet MS"/>
                <a:cs typeface="Trebuchet MS"/>
              </a:rPr>
              <a:t>Schrödinger</a:t>
            </a:r>
            <a:r>
              <a:rPr sz="2300" spc="7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Bridge:</a:t>
            </a:r>
            <a:endParaRPr sz="23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54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Bortoli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"Diffusion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Schrödinger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2"/>
              </a:rPr>
              <a:t>Bridge"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NeurIPS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2021</a:t>
            </a:r>
            <a:endParaRPr sz="20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409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Chen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“Likelihood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Training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of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Schrödinger</a:t>
            </a:r>
            <a:r>
              <a:rPr sz="20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Bridge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using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Forward-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Backward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SDEs</a:t>
            </a:r>
            <a:r>
              <a:rPr sz="20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3"/>
              </a:rPr>
              <a:t>Theory”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ICLR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2022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75"/>
              </a:spcBef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Processes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Manifolds:</a:t>
            </a:r>
            <a:endParaRPr sz="23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620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Bortoli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5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"Riemannian</a:t>
            </a:r>
            <a:r>
              <a:rPr sz="20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Score-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Based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Generative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Modelling"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NeurIPS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2022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80"/>
              </a:spcBef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300" dirty="0">
                <a:latin typeface="Trebuchet MS"/>
                <a:cs typeface="Trebuchet MS"/>
              </a:rPr>
              <a:t>Cold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Diffusion:</a:t>
            </a:r>
            <a:endParaRPr sz="23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550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2000" dirty="0">
                <a:latin typeface="Trebuchet MS"/>
                <a:cs typeface="Trebuchet MS"/>
              </a:rPr>
              <a:t>Bansal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et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al.,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"Cold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Diffusion: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Inverting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Arbitrary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Image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Transforms</a:t>
            </a:r>
            <a:r>
              <a:rPr sz="20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Without</a:t>
            </a:r>
            <a:r>
              <a:rPr sz="20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20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Noise"</a:t>
            </a:r>
            <a:r>
              <a:rPr sz="2000" dirty="0">
                <a:latin typeface="Trebuchet MS"/>
                <a:cs typeface="Trebuchet MS"/>
              </a:rPr>
              <a:t>,</a:t>
            </a:r>
            <a:r>
              <a:rPr sz="2000" spc="-45" dirty="0">
                <a:latin typeface="Trebuchet MS"/>
                <a:cs typeface="Trebuchet MS"/>
              </a:rPr>
              <a:t> </a:t>
            </a:r>
            <a:r>
              <a:rPr sz="2000" dirty="0">
                <a:latin typeface="Trebuchet MS"/>
                <a:cs typeface="Trebuchet MS"/>
              </a:rPr>
              <a:t>arXiv</a:t>
            </a:r>
            <a:r>
              <a:rPr sz="2000" spc="-50" dirty="0">
                <a:latin typeface="Trebuchet MS"/>
                <a:cs typeface="Trebuchet MS"/>
              </a:rPr>
              <a:t> </a:t>
            </a:r>
            <a:r>
              <a:rPr sz="2000" spc="-20" dirty="0">
                <a:latin typeface="Trebuchet MS"/>
                <a:cs typeface="Trebuchet MS"/>
              </a:rPr>
              <a:t>2022</a:t>
            </a:r>
            <a:endParaRPr sz="20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470"/>
              </a:spcBef>
              <a:buFont typeface="Arial MT"/>
              <a:buChar char="•"/>
            </a:pPr>
            <a:endParaRPr sz="20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Corrupted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Data:</a:t>
            </a:r>
            <a:endParaRPr sz="23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1560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1800" dirty="0">
                <a:latin typeface="Trebuchet MS"/>
                <a:cs typeface="Trebuchet MS"/>
              </a:rPr>
              <a:t>Daras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al.,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"Soft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Diffusion: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Score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Matching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for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General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Corruptions"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TMLR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2023</a:t>
            </a:r>
            <a:endParaRPr sz="18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430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1800" dirty="0">
                <a:latin typeface="Trebuchet MS"/>
                <a:cs typeface="Trebuchet MS"/>
              </a:rPr>
              <a:t>Delbracio</a:t>
            </a:r>
            <a:r>
              <a:rPr sz="1800" spc="-6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Milanfar,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"Inversion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by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Direct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Iteration: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An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Alternative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to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Denoising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Diffusion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for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Image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Restoration"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arXiv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2023</a:t>
            </a:r>
            <a:endParaRPr sz="18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33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1800" dirty="0">
                <a:latin typeface="Trebuchet MS"/>
                <a:cs typeface="Trebuchet MS"/>
              </a:rPr>
              <a:t>Luo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al.,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"Image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Restoration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with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Mean-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Reverting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Stochastic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Differential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Equations"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ICML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2023</a:t>
            </a:r>
            <a:endParaRPr sz="18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434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1800" dirty="0">
                <a:latin typeface="Trebuchet MS"/>
                <a:cs typeface="Trebuchet MS"/>
              </a:rPr>
              <a:t>Liu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al.,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“I2SB: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Image-to-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Image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Schrödinger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9"/>
              </a:rPr>
              <a:t>Bridge”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ICML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2023</a:t>
            </a:r>
            <a:endParaRPr sz="180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655"/>
              </a:spcBef>
              <a:buFont typeface="Arial MT"/>
              <a:buChar char="•"/>
            </a:pPr>
            <a:endParaRPr sz="1800">
              <a:latin typeface="Trebuchet MS"/>
              <a:cs typeface="Trebuchet MS"/>
            </a:endParaRPr>
          </a:p>
          <a:p>
            <a:pPr marL="297815" indent="-28511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297815" algn="l"/>
              </a:tabLst>
            </a:pPr>
            <a:r>
              <a:rPr sz="2100" dirty="0">
                <a:latin typeface="Tahoma"/>
                <a:cs typeface="Tahoma"/>
              </a:rPr>
              <a:t>Blurring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50" dirty="0">
                <a:latin typeface="Tahoma"/>
                <a:cs typeface="Tahoma"/>
              </a:rPr>
              <a:t>Diffusion</a:t>
            </a:r>
            <a:r>
              <a:rPr sz="2100" spc="-25" dirty="0">
                <a:latin typeface="Tahoma"/>
                <a:cs typeface="Tahoma"/>
              </a:rPr>
              <a:t> </a:t>
            </a:r>
            <a:r>
              <a:rPr sz="2100" spc="-10" dirty="0">
                <a:latin typeface="Tahoma"/>
                <a:cs typeface="Tahoma"/>
              </a:rPr>
              <a:t>Process:</a:t>
            </a:r>
            <a:endParaRPr sz="2100">
              <a:latin typeface="Tahoma"/>
              <a:cs typeface="Tahoma"/>
            </a:endParaRPr>
          </a:p>
          <a:p>
            <a:pPr marL="1250315" lvl="1" indent="-285115">
              <a:lnSpc>
                <a:spcPct val="100000"/>
              </a:lnSpc>
              <a:spcBef>
                <a:spcPts val="157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1800" dirty="0">
                <a:latin typeface="Trebuchet MS"/>
                <a:cs typeface="Trebuchet MS"/>
              </a:rPr>
              <a:t>Hoogeboom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and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Salimans,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"Blurring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Diffusion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0"/>
              </a:rPr>
              <a:t>Models"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ICLR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2023</a:t>
            </a:r>
            <a:endParaRPr sz="1800">
              <a:latin typeface="Trebuchet MS"/>
              <a:cs typeface="Trebuchet MS"/>
            </a:endParaRPr>
          </a:p>
          <a:p>
            <a:pPr marL="1250315" lvl="1" indent="-285115">
              <a:lnSpc>
                <a:spcPct val="100000"/>
              </a:lnSpc>
              <a:spcBef>
                <a:spcPts val="455"/>
              </a:spcBef>
              <a:buClr>
                <a:srgbClr val="CDCDCD"/>
              </a:buClr>
              <a:buFont typeface="Arial MT"/>
              <a:buChar char="•"/>
              <a:tabLst>
                <a:tab pos="1250315" algn="l"/>
              </a:tabLst>
            </a:pPr>
            <a:r>
              <a:rPr sz="1800" dirty="0">
                <a:latin typeface="Trebuchet MS"/>
                <a:cs typeface="Trebuchet MS"/>
              </a:rPr>
              <a:t>Rissanen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et</a:t>
            </a:r>
            <a:r>
              <a:rPr sz="1800" spc="-55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al,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“Generative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Modelling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With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Inverse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Heat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11"/>
              </a:rPr>
              <a:t>Dissipation”</a:t>
            </a:r>
            <a:r>
              <a:rPr sz="1800" dirty="0">
                <a:latin typeface="Trebuchet MS"/>
                <a:cs typeface="Trebuchet MS"/>
              </a:rPr>
              <a:t>,</a:t>
            </a:r>
            <a:r>
              <a:rPr sz="1800" spc="-5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ICLR</a:t>
            </a:r>
            <a:r>
              <a:rPr sz="1800" spc="-45" dirty="0">
                <a:latin typeface="Trebuchet MS"/>
                <a:cs typeface="Trebuchet MS"/>
              </a:rPr>
              <a:t> </a:t>
            </a:r>
            <a:r>
              <a:rPr sz="1800" spc="-20" dirty="0">
                <a:latin typeface="Trebuchet MS"/>
                <a:cs typeface="Trebuchet MS"/>
              </a:rPr>
              <a:t>2023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79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56573" y="1066800"/>
            <a:ext cx="197294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Outline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Part</a:t>
            </a:r>
            <a:r>
              <a:rPr spc="-75" dirty="0"/>
              <a:t> </a:t>
            </a:r>
            <a:r>
              <a:rPr dirty="0"/>
              <a:t>(1):</a:t>
            </a:r>
            <a:r>
              <a:rPr spc="-75" dirty="0"/>
              <a:t> </a:t>
            </a:r>
            <a:r>
              <a:rPr dirty="0"/>
              <a:t>Denoising</a:t>
            </a:r>
            <a:r>
              <a:rPr spc="-85" dirty="0"/>
              <a:t> </a:t>
            </a:r>
            <a:r>
              <a:rPr dirty="0"/>
              <a:t>Diffusion</a:t>
            </a:r>
            <a:r>
              <a:rPr spc="-80" dirty="0"/>
              <a:t> </a:t>
            </a:r>
            <a:r>
              <a:rPr dirty="0"/>
              <a:t>Probabilistic</a:t>
            </a:r>
            <a:r>
              <a:rPr spc="-70" dirty="0"/>
              <a:t> </a:t>
            </a:r>
            <a:r>
              <a:rPr spc="-10" dirty="0"/>
              <a:t>Models</a:t>
            </a:r>
          </a:p>
          <a:p>
            <a:pPr marL="12700" marR="5080">
              <a:lnSpc>
                <a:spcPct val="178600"/>
              </a:lnSpc>
            </a:pP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(2):</a:t>
            </a:r>
            <a:r>
              <a:rPr spc="-70" dirty="0"/>
              <a:t> </a:t>
            </a:r>
            <a:r>
              <a:rPr spc="-10" dirty="0"/>
              <a:t>Score-</a:t>
            </a:r>
            <a:r>
              <a:rPr dirty="0"/>
              <a:t>based</a:t>
            </a:r>
            <a:r>
              <a:rPr spc="-65" dirty="0"/>
              <a:t> </a:t>
            </a:r>
            <a:r>
              <a:rPr dirty="0"/>
              <a:t>Generative</a:t>
            </a:r>
            <a:r>
              <a:rPr spc="-65" dirty="0"/>
              <a:t> </a:t>
            </a:r>
            <a:r>
              <a:rPr dirty="0"/>
              <a:t>Modeling</a:t>
            </a:r>
            <a:r>
              <a:rPr spc="-75" dirty="0"/>
              <a:t> </a:t>
            </a:r>
            <a:r>
              <a:rPr dirty="0"/>
              <a:t>with</a:t>
            </a:r>
            <a:r>
              <a:rPr spc="-70" dirty="0"/>
              <a:t> </a:t>
            </a:r>
            <a:r>
              <a:rPr dirty="0"/>
              <a:t>Differential</a:t>
            </a:r>
            <a:r>
              <a:rPr spc="-70" dirty="0"/>
              <a:t> </a:t>
            </a:r>
            <a:r>
              <a:rPr spc="-10" dirty="0"/>
              <a:t>Equations </a:t>
            </a:r>
            <a:r>
              <a:rPr dirty="0"/>
              <a:t>Part</a:t>
            </a:r>
            <a:r>
              <a:rPr spc="-65" dirty="0"/>
              <a:t> </a:t>
            </a:r>
            <a:r>
              <a:rPr dirty="0"/>
              <a:t>(3):</a:t>
            </a:r>
            <a:r>
              <a:rPr spc="-65" dirty="0"/>
              <a:t> </a:t>
            </a:r>
            <a:r>
              <a:rPr dirty="0"/>
              <a:t>Accelerated</a:t>
            </a:r>
            <a:r>
              <a:rPr spc="-65" dirty="0"/>
              <a:t> </a:t>
            </a:r>
            <a:r>
              <a:rPr spc="-10" dirty="0"/>
              <a:t>Sampling</a:t>
            </a: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Part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(4):</a:t>
            </a:r>
            <a:r>
              <a:rPr b="1" spc="-5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Conditional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Generation</a:t>
            </a:r>
            <a:r>
              <a:rPr b="1" spc="-60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dirty="0">
                <a:solidFill>
                  <a:srgbClr val="C00000"/>
                </a:solidFill>
                <a:latin typeface="Trebuchet MS"/>
                <a:cs typeface="Trebuchet MS"/>
              </a:rPr>
              <a:t>and</a:t>
            </a:r>
            <a:r>
              <a:rPr b="1" spc="-65" dirty="0">
                <a:solidFill>
                  <a:srgbClr val="C00000"/>
                </a:solidFill>
                <a:latin typeface="Trebuchet MS"/>
                <a:cs typeface="Trebuchet MS"/>
              </a:rPr>
              <a:t> </a:t>
            </a:r>
            <a:r>
              <a:rPr b="1" spc="-10" dirty="0">
                <a:solidFill>
                  <a:srgbClr val="C00000"/>
                </a:solidFill>
                <a:latin typeface="Trebuchet MS"/>
                <a:cs typeface="Trebuchet MS"/>
              </a:rPr>
              <a:t>Guidance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80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/>
              <a:t>Impressive</a:t>
            </a:r>
            <a:r>
              <a:rPr spc="-260" dirty="0"/>
              <a:t> </a:t>
            </a:r>
            <a:r>
              <a:rPr spc="-10" dirty="0"/>
              <a:t>Conditional</a:t>
            </a:r>
            <a:r>
              <a:rPr spc="-254" dirty="0"/>
              <a:t> </a:t>
            </a:r>
            <a:r>
              <a:rPr dirty="0"/>
              <a:t>Diffusion</a:t>
            </a:r>
            <a:r>
              <a:rPr spc="-260" dirty="0"/>
              <a:t> </a:t>
            </a:r>
            <a:r>
              <a:rPr spc="-10" dirty="0"/>
              <a:t>Models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spc="-10" dirty="0">
                <a:solidFill>
                  <a:srgbClr val="890C58"/>
                </a:solidFill>
              </a:rPr>
              <a:t>Text-</a:t>
            </a:r>
            <a:r>
              <a:rPr sz="3000" spc="-20" dirty="0">
                <a:solidFill>
                  <a:srgbClr val="890C58"/>
                </a:solidFill>
              </a:rPr>
              <a:t>to-</a:t>
            </a:r>
            <a:r>
              <a:rPr sz="3000" dirty="0">
                <a:solidFill>
                  <a:srgbClr val="890C58"/>
                </a:solidFill>
              </a:rPr>
              <a:t>image</a:t>
            </a:r>
            <a:r>
              <a:rPr sz="3000" spc="5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generation</a:t>
            </a:r>
            <a:endParaRPr sz="3000"/>
          </a:p>
        </p:txBody>
      </p:sp>
      <p:sp>
        <p:nvSpPr>
          <p:cNvPr id="4" name="object 4"/>
          <p:cNvSpPr txBox="1"/>
          <p:nvPr/>
        </p:nvSpPr>
        <p:spPr>
          <a:xfrm>
            <a:off x="2104231" y="2568956"/>
            <a:ext cx="6365240" cy="966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ctr">
              <a:lnSpc>
                <a:spcPts val="2840"/>
              </a:lnSpc>
              <a:spcBef>
                <a:spcPts val="100"/>
              </a:spcBef>
            </a:pPr>
            <a:r>
              <a:rPr sz="2400" dirty="0">
                <a:solidFill>
                  <a:srgbClr val="890C58"/>
                </a:solidFill>
                <a:latin typeface="Trebuchet MS"/>
                <a:cs typeface="Trebuchet MS"/>
              </a:rPr>
              <a:t>DALL·E</a:t>
            </a:r>
            <a:r>
              <a:rPr sz="2400" spc="-35" dirty="0">
                <a:solidFill>
                  <a:srgbClr val="890C58"/>
                </a:solidFill>
                <a:latin typeface="Trebuchet MS"/>
                <a:cs typeface="Trebuchet MS"/>
              </a:rPr>
              <a:t> </a:t>
            </a:r>
            <a:r>
              <a:rPr sz="2400" spc="-50" dirty="0">
                <a:solidFill>
                  <a:srgbClr val="890C58"/>
                </a:solidFill>
                <a:latin typeface="Trebuchet MS"/>
                <a:cs typeface="Trebuchet MS"/>
              </a:rPr>
              <a:t>2</a:t>
            </a:r>
            <a:endParaRPr sz="2400">
              <a:latin typeface="Trebuchet MS"/>
              <a:cs typeface="Trebuchet MS"/>
            </a:endParaRPr>
          </a:p>
          <a:p>
            <a:pPr marL="12700" marR="5080" algn="ctr">
              <a:lnSpc>
                <a:spcPts val="2210"/>
              </a:lnSpc>
              <a:spcBef>
                <a:spcPts val="190"/>
              </a:spcBef>
            </a:pPr>
            <a:r>
              <a:rPr sz="2000" i="1" dirty="0">
                <a:latin typeface="Trebuchet MS"/>
                <a:cs typeface="Trebuchet MS"/>
              </a:rPr>
              <a:t>“a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propaganda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poster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depicting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cat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dressed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as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french </a:t>
            </a:r>
            <a:r>
              <a:rPr sz="2000" i="1" dirty="0">
                <a:latin typeface="Trebuchet MS"/>
                <a:cs typeface="Trebuchet MS"/>
              </a:rPr>
              <a:t>emperor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napoleon</a:t>
            </a:r>
            <a:r>
              <a:rPr sz="2000" i="1" spc="-4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holding</a:t>
            </a:r>
            <a:r>
              <a:rPr sz="2000" i="1" spc="-4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piece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of</a:t>
            </a:r>
            <a:r>
              <a:rPr sz="2000" i="1" spc="-50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cheese”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38242" y="2584195"/>
            <a:ext cx="6025515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6075"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890C58"/>
                </a:solidFill>
                <a:latin typeface="Trebuchet MS"/>
                <a:cs typeface="Trebuchet MS"/>
              </a:rPr>
              <a:t>IMAGEN</a:t>
            </a:r>
            <a:endParaRPr sz="2400">
              <a:latin typeface="Trebuchet MS"/>
              <a:cs typeface="Trebuchet MS"/>
            </a:endParaRPr>
          </a:p>
          <a:p>
            <a:pPr marL="902969" marR="5080" indent="-890905">
              <a:lnSpc>
                <a:spcPts val="2210"/>
              </a:lnSpc>
              <a:spcBef>
                <a:spcPts val="245"/>
              </a:spcBef>
            </a:pPr>
            <a:r>
              <a:rPr sz="2000" i="1" dirty="0">
                <a:latin typeface="Trebuchet MS"/>
                <a:cs typeface="Trebuchet MS"/>
              </a:rPr>
              <a:t>“A</a:t>
            </a:r>
            <a:r>
              <a:rPr sz="2000" i="1" spc="-10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photo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of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raccoon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wearing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an</a:t>
            </a:r>
            <a:r>
              <a:rPr sz="2000" i="1" spc="-4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astronaut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helmet, </a:t>
            </a:r>
            <a:r>
              <a:rPr sz="2000" i="1" dirty="0">
                <a:latin typeface="Trebuchet MS"/>
                <a:cs typeface="Trebuchet MS"/>
              </a:rPr>
              <a:t>looking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out</a:t>
            </a:r>
            <a:r>
              <a:rPr sz="2000" i="1" spc="-2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of</a:t>
            </a:r>
            <a:r>
              <a:rPr sz="2000" i="1" spc="-3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the</a:t>
            </a:r>
            <a:r>
              <a:rPr sz="2000" i="1" spc="-25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window</a:t>
            </a:r>
            <a:r>
              <a:rPr sz="2000" i="1" spc="-30" dirty="0">
                <a:latin typeface="Trebuchet MS"/>
                <a:cs typeface="Trebuchet MS"/>
              </a:rPr>
              <a:t> </a:t>
            </a:r>
            <a:r>
              <a:rPr sz="2000" i="1" dirty="0">
                <a:latin typeface="Trebuchet MS"/>
                <a:cs typeface="Trebuchet MS"/>
              </a:rPr>
              <a:t>at</a:t>
            </a:r>
            <a:r>
              <a:rPr sz="2000" i="1" spc="-25" dirty="0">
                <a:latin typeface="Trebuchet MS"/>
                <a:cs typeface="Trebuchet MS"/>
              </a:rPr>
              <a:t> </a:t>
            </a:r>
            <a:r>
              <a:rPr sz="2000" i="1" spc="-10" dirty="0">
                <a:latin typeface="Trebuchet MS"/>
                <a:cs typeface="Trebuchet MS"/>
              </a:rPr>
              <a:t>night.”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2040" y="3627889"/>
            <a:ext cx="5802788" cy="580278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65066" y="3609920"/>
            <a:ext cx="5810846" cy="580278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06578" y="9594595"/>
            <a:ext cx="11480800" cy="580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Ramesh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al.,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“Hierarchical</a:t>
            </a:r>
            <a:r>
              <a:rPr sz="1800" u="sng" spc="-7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Text-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Conditional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Image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Generation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with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CLIP</a:t>
            </a:r>
            <a:r>
              <a:rPr sz="1800" u="sng" spc="-8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Latents”,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arXiv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2022.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4"/>
              </a:rPr>
              <a:t> </a:t>
            </a:r>
            <a:endParaRPr sz="18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Saharia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et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al.,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“Photorealistic</a:t>
            </a:r>
            <a:r>
              <a:rPr sz="1800" u="sng" spc="-7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spc="-6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Text-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to-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Image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Diffusion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Models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with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Deep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Language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Understanding”,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arXiv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2022.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endParaRPr sz="1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9718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Conditioning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dirty="0"/>
              <a:t>Guidance</a:t>
            </a:r>
            <a:r>
              <a:rPr spc="-19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3874770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6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6" y="2786266"/>
                </a:lnTo>
                <a:lnTo>
                  <a:pt x="1935177" y="2770836"/>
                </a:lnTo>
                <a:lnTo>
                  <a:pt x="1977609" y="2754080"/>
                </a:lnTo>
                <a:lnTo>
                  <a:pt x="2019366" y="2736024"/>
                </a:lnTo>
                <a:lnTo>
                  <a:pt x="2060424" y="2716692"/>
                </a:lnTo>
                <a:lnTo>
                  <a:pt x="2100757" y="2696109"/>
                </a:lnTo>
                <a:lnTo>
                  <a:pt x="2140341" y="2674301"/>
                </a:lnTo>
                <a:lnTo>
                  <a:pt x="2179150" y="2651293"/>
                </a:lnTo>
                <a:lnTo>
                  <a:pt x="2217159" y="2627109"/>
                </a:lnTo>
                <a:lnTo>
                  <a:pt x="2254343" y="2601776"/>
                </a:lnTo>
                <a:lnTo>
                  <a:pt x="2290678" y="2575316"/>
                </a:lnTo>
                <a:lnTo>
                  <a:pt x="2326138" y="2547757"/>
                </a:lnTo>
                <a:lnTo>
                  <a:pt x="2360698" y="2519122"/>
                </a:lnTo>
                <a:lnTo>
                  <a:pt x="2394333" y="2489437"/>
                </a:lnTo>
                <a:lnTo>
                  <a:pt x="2427018" y="2458727"/>
                </a:lnTo>
                <a:lnTo>
                  <a:pt x="2458728" y="2427017"/>
                </a:lnTo>
                <a:lnTo>
                  <a:pt x="2489438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7" y="2290678"/>
                </a:lnTo>
                <a:lnTo>
                  <a:pt x="2601776" y="2254343"/>
                </a:lnTo>
                <a:lnTo>
                  <a:pt x="2627110" y="2217159"/>
                </a:lnTo>
                <a:lnTo>
                  <a:pt x="2651294" y="2179149"/>
                </a:lnTo>
                <a:lnTo>
                  <a:pt x="2674302" y="2140340"/>
                </a:lnTo>
                <a:lnTo>
                  <a:pt x="2696110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6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6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0" y="761390"/>
                </a:lnTo>
                <a:lnTo>
                  <a:pt x="2674302" y="721807"/>
                </a:lnTo>
                <a:lnTo>
                  <a:pt x="2651294" y="682998"/>
                </a:lnTo>
                <a:lnTo>
                  <a:pt x="2627110" y="644989"/>
                </a:lnTo>
                <a:lnTo>
                  <a:pt x="2601776" y="607804"/>
                </a:lnTo>
                <a:lnTo>
                  <a:pt x="2575317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8" y="467815"/>
                </a:lnTo>
                <a:lnTo>
                  <a:pt x="2458728" y="435130"/>
                </a:lnTo>
                <a:lnTo>
                  <a:pt x="2427018" y="403420"/>
                </a:lnTo>
                <a:lnTo>
                  <a:pt x="2394333" y="372710"/>
                </a:lnTo>
                <a:lnTo>
                  <a:pt x="2360698" y="343025"/>
                </a:lnTo>
                <a:lnTo>
                  <a:pt x="2326138" y="314390"/>
                </a:lnTo>
                <a:lnTo>
                  <a:pt x="2290678" y="286831"/>
                </a:lnTo>
                <a:lnTo>
                  <a:pt x="2254343" y="260372"/>
                </a:lnTo>
                <a:lnTo>
                  <a:pt x="2217159" y="235038"/>
                </a:lnTo>
                <a:lnTo>
                  <a:pt x="2179150" y="210854"/>
                </a:lnTo>
                <a:lnTo>
                  <a:pt x="2140341" y="187846"/>
                </a:lnTo>
                <a:lnTo>
                  <a:pt x="2100757" y="166038"/>
                </a:lnTo>
                <a:lnTo>
                  <a:pt x="2060424" y="145456"/>
                </a:lnTo>
                <a:lnTo>
                  <a:pt x="2019366" y="126124"/>
                </a:lnTo>
                <a:lnTo>
                  <a:pt x="1977609" y="108067"/>
                </a:lnTo>
                <a:lnTo>
                  <a:pt x="1935177" y="91311"/>
                </a:lnTo>
                <a:lnTo>
                  <a:pt x="1892096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6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99381" y="4092955"/>
            <a:ext cx="18129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527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Explicit Conditions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9711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5" y="0"/>
                </a:moveTo>
                <a:lnTo>
                  <a:pt x="1382877" y="796"/>
                </a:lnTo>
                <a:lnTo>
                  <a:pt x="1335077" y="3168"/>
                </a:lnTo>
                <a:lnTo>
                  <a:pt x="1287702" y="7092"/>
                </a:lnTo>
                <a:lnTo>
                  <a:pt x="1240776" y="12541"/>
                </a:lnTo>
                <a:lnTo>
                  <a:pt x="1194324" y="19492"/>
                </a:lnTo>
                <a:lnTo>
                  <a:pt x="1148371" y="27918"/>
                </a:lnTo>
                <a:lnTo>
                  <a:pt x="1102943" y="37795"/>
                </a:lnTo>
                <a:lnTo>
                  <a:pt x="1058063" y="49098"/>
                </a:lnTo>
                <a:lnTo>
                  <a:pt x="1013758" y="61802"/>
                </a:lnTo>
                <a:lnTo>
                  <a:pt x="970053" y="75881"/>
                </a:lnTo>
                <a:lnTo>
                  <a:pt x="926971" y="91311"/>
                </a:lnTo>
                <a:lnTo>
                  <a:pt x="884540" y="108067"/>
                </a:lnTo>
                <a:lnTo>
                  <a:pt x="842782" y="126124"/>
                </a:lnTo>
                <a:lnTo>
                  <a:pt x="801724" y="145456"/>
                </a:lnTo>
                <a:lnTo>
                  <a:pt x="761391" y="166038"/>
                </a:lnTo>
                <a:lnTo>
                  <a:pt x="721808" y="187846"/>
                </a:lnTo>
                <a:lnTo>
                  <a:pt x="682999" y="210854"/>
                </a:lnTo>
                <a:lnTo>
                  <a:pt x="644990" y="235038"/>
                </a:lnTo>
                <a:lnTo>
                  <a:pt x="607805" y="260372"/>
                </a:lnTo>
                <a:lnTo>
                  <a:pt x="571470" y="286831"/>
                </a:lnTo>
                <a:lnTo>
                  <a:pt x="536011" y="314390"/>
                </a:lnTo>
                <a:lnTo>
                  <a:pt x="501451" y="343025"/>
                </a:lnTo>
                <a:lnTo>
                  <a:pt x="467816" y="372710"/>
                </a:lnTo>
                <a:lnTo>
                  <a:pt x="435131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6" y="501450"/>
                </a:lnTo>
                <a:lnTo>
                  <a:pt x="314391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2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2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1" y="2326137"/>
                </a:lnTo>
                <a:lnTo>
                  <a:pt x="343026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1" y="2458727"/>
                </a:lnTo>
                <a:lnTo>
                  <a:pt x="467816" y="2489437"/>
                </a:lnTo>
                <a:lnTo>
                  <a:pt x="501451" y="2519122"/>
                </a:lnTo>
                <a:lnTo>
                  <a:pt x="536011" y="2547757"/>
                </a:lnTo>
                <a:lnTo>
                  <a:pt x="571470" y="2575316"/>
                </a:lnTo>
                <a:lnTo>
                  <a:pt x="607805" y="2601776"/>
                </a:lnTo>
                <a:lnTo>
                  <a:pt x="644990" y="2627109"/>
                </a:lnTo>
                <a:lnTo>
                  <a:pt x="682999" y="2651293"/>
                </a:lnTo>
                <a:lnTo>
                  <a:pt x="721808" y="2674301"/>
                </a:lnTo>
                <a:lnTo>
                  <a:pt x="761391" y="2696109"/>
                </a:lnTo>
                <a:lnTo>
                  <a:pt x="801724" y="2716692"/>
                </a:lnTo>
                <a:lnTo>
                  <a:pt x="842782" y="2736024"/>
                </a:lnTo>
                <a:lnTo>
                  <a:pt x="884540" y="2754080"/>
                </a:lnTo>
                <a:lnTo>
                  <a:pt x="926971" y="2770836"/>
                </a:lnTo>
                <a:lnTo>
                  <a:pt x="970053" y="2786266"/>
                </a:lnTo>
                <a:lnTo>
                  <a:pt x="1013758" y="2800345"/>
                </a:lnTo>
                <a:lnTo>
                  <a:pt x="1058063" y="2813049"/>
                </a:lnTo>
                <a:lnTo>
                  <a:pt x="1102943" y="2824352"/>
                </a:lnTo>
                <a:lnTo>
                  <a:pt x="1148371" y="2834229"/>
                </a:lnTo>
                <a:lnTo>
                  <a:pt x="1194324" y="2842655"/>
                </a:lnTo>
                <a:lnTo>
                  <a:pt x="1240776" y="2849606"/>
                </a:lnTo>
                <a:lnTo>
                  <a:pt x="1287702" y="2855055"/>
                </a:lnTo>
                <a:lnTo>
                  <a:pt x="1335077" y="2858979"/>
                </a:lnTo>
                <a:lnTo>
                  <a:pt x="1382877" y="2861351"/>
                </a:lnTo>
                <a:lnTo>
                  <a:pt x="1431075" y="2862148"/>
                </a:lnTo>
                <a:lnTo>
                  <a:pt x="1479273" y="2861351"/>
                </a:lnTo>
                <a:lnTo>
                  <a:pt x="1527072" y="2858979"/>
                </a:lnTo>
                <a:lnTo>
                  <a:pt x="1574448" y="2855055"/>
                </a:lnTo>
                <a:lnTo>
                  <a:pt x="1621374" y="2849606"/>
                </a:lnTo>
                <a:lnTo>
                  <a:pt x="1667826" y="2842655"/>
                </a:lnTo>
                <a:lnTo>
                  <a:pt x="1713778" y="2834229"/>
                </a:lnTo>
                <a:lnTo>
                  <a:pt x="1759207" y="2824352"/>
                </a:lnTo>
                <a:lnTo>
                  <a:pt x="1804086" y="2813049"/>
                </a:lnTo>
                <a:lnTo>
                  <a:pt x="1848391" y="2800345"/>
                </a:lnTo>
                <a:lnTo>
                  <a:pt x="1892097" y="2786266"/>
                </a:lnTo>
                <a:lnTo>
                  <a:pt x="1935178" y="2770836"/>
                </a:lnTo>
                <a:lnTo>
                  <a:pt x="1977610" y="2754080"/>
                </a:lnTo>
                <a:lnTo>
                  <a:pt x="2019367" y="2736024"/>
                </a:lnTo>
                <a:lnTo>
                  <a:pt x="2060425" y="2716692"/>
                </a:lnTo>
                <a:lnTo>
                  <a:pt x="2100758" y="2696109"/>
                </a:lnTo>
                <a:lnTo>
                  <a:pt x="2140342" y="2674301"/>
                </a:lnTo>
                <a:lnTo>
                  <a:pt x="2179151" y="2651293"/>
                </a:lnTo>
                <a:lnTo>
                  <a:pt x="2217160" y="2627109"/>
                </a:lnTo>
                <a:lnTo>
                  <a:pt x="2254344" y="2601776"/>
                </a:lnTo>
                <a:lnTo>
                  <a:pt x="2290679" y="2575316"/>
                </a:lnTo>
                <a:lnTo>
                  <a:pt x="2326139" y="2547757"/>
                </a:lnTo>
                <a:lnTo>
                  <a:pt x="2360699" y="2519122"/>
                </a:lnTo>
                <a:lnTo>
                  <a:pt x="2394334" y="2489437"/>
                </a:lnTo>
                <a:lnTo>
                  <a:pt x="2427019" y="2458727"/>
                </a:lnTo>
                <a:lnTo>
                  <a:pt x="2458729" y="2427017"/>
                </a:lnTo>
                <a:lnTo>
                  <a:pt x="2489439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8" y="2290678"/>
                </a:lnTo>
                <a:lnTo>
                  <a:pt x="2601777" y="2254343"/>
                </a:lnTo>
                <a:lnTo>
                  <a:pt x="2627111" y="2217159"/>
                </a:lnTo>
                <a:lnTo>
                  <a:pt x="2651294" y="2179149"/>
                </a:lnTo>
                <a:lnTo>
                  <a:pt x="2674303" y="2140340"/>
                </a:lnTo>
                <a:lnTo>
                  <a:pt x="2696111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7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7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1" y="761390"/>
                </a:lnTo>
                <a:lnTo>
                  <a:pt x="2674303" y="721807"/>
                </a:lnTo>
                <a:lnTo>
                  <a:pt x="2651294" y="682998"/>
                </a:lnTo>
                <a:lnTo>
                  <a:pt x="2627111" y="644989"/>
                </a:lnTo>
                <a:lnTo>
                  <a:pt x="2601777" y="607804"/>
                </a:lnTo>
                <a:lnTo>
                  <a:pt x="2575318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9" y="467815"/>
                </a:lnTo>
                <a:lnTo>
                  <a:pt x="2458729" y="435130"/>
                </a:lnTo>
                <a:lnTo>
                  <a:pt x="2427019" y="403420"/>
                </a:lnTo>
                <a:lnTo>
                  <a:pt x="2394334" y="372710"/>
                </a:lnTo>
                <a:lnTo>
                  <a:pt x="2360699" y="343025"/>
                </a:lnTo>
                <a:lnTo>
                  <a:pt x="2326139" y="314390"/>
                </a:lnTo>
                <a:lnTo>
                  <a:pt x="2290679" y="286831"/>
                </a:lnTo>
                <a:lnTo>
                  <a:pt x="2254344" y="260372"/>
                </a:lnTo>
                <a:lnTo>
                  <a:pt x="2217160" y="235038"/>
                </a:lnTo>
                <a:lnTo>
                  <a:pt x="2179151" y="210854"/>
                </a:lnTo>
                <a:lnTo>
                  <a:pt x="2140342" y="187846"/>
                </a:lnTo>
                <a:lnTo>
                  <a:pt x="2100758" y="166038"/>
                </a:lnTo>
                <a:lnTo>
                  <a:pt x="2060425" y="145456"/>
                </a:lnTo>
                <a:lnTo>
                  <a:pt x="2019367" y="126124"/>
                </a:lnTo>
                <a:lnTo>
                  <a:pt x="1977610" y="108067"/>
                </a:lnTo>
                <a:lnTo>
                  <a:pt x="1935178" y="91311"/>
                </a:lnTo>
                <a:lnTo>
                  <a:pt x="1892097" y="75881"/>
                </a:lnTo>
                <a:lnTo>
                  <a:pt x="1848391" y="61802"/>
                </a:lnTo>
                <a:lnTo>
                  <a:pt x="1804086" y="49098"/>
                </a:lnTo>
                <a:lnTo>
                  <a:pt x="1759207" y="37795"/>
                </a:lnTo>
                <a:lnTo>
                  <a:pt x="1713778" y="27918"/>
                </a:lnTo>
                <a:lnTo>
                  <a:pt x="1667826" y="19492"/>
                </a:lnTo>
                <a:lnTo>
                  <a:pt x="1621374" y="12541"/>
                </a:lnTo>
                <a:lnTo>
                  <a:pt x="1574448" y="7092"/>
                </a:lnTo>
                <a:lnTo>
                  <a:pt x="1527072" y="3168"/>
                </a:lnTo>
                <a:lnTo>
                  <a:pt x="1479273" y="796"/>
                </a:lnTo>
                <a:lnTo>
                  <a:pt x="1431075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67981" y="4061459"/>
            <a:ext cx="1725295" cy="99821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13970">
              <a:lnSpc>
                <a:spcPts val="3820"/>
              </a:lnSpc>
              <a:spcBef>
                <a:spcPts val="21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 Guidance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266169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80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5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5" y="2786266"/>
                </a:lnTo>
                <a:lnTo>
                  <a:pt x="1935176" y="2770836"/>
                </a:lnTo>
                <a:lnTo>
                  <a:pt x="1977608" y="2754080"/>
                </a:lnTo>
                <a:lnTo>
                  <a:pt x="2019365" y="2736024"/>
                </a:lnTo>
                <a:lnTo>
                  <a:pt x="2060423" y="2716692"/>
                </a:lnTo>
                <a:lnTo>
                  <a:pt x="2100756" y="2696109"/>
                </a:lnTo>
                <a:lnTo>
                  <a:pt x="2140340" y="2674301"/>
                </a:lnTo>
                <a:lnTo>
                  <a:pt x="2179149" y="2651293"/>
                </a:lnTo>
                <a:lnTo>
                  <a:pt x="2217158" y="2627109"/>
                </a:lnTo>
                <a:lnTo>
                  <a:pt x="2254342" y="2601776"/>
                </a:lnTo>
                <a:lnTo>
                  <a:pt x="2290677" y="2575316"/>
                </a:lnTo>
                <a:lnTo>
                  <a:pt x="2326137" y="2547757"/>
                </a:lnTo>
                <a:lnTo>
                  <a:pt x="2360697" y="2519122"/>
                </a:lnTo>
                <a:lnTo>
                  <a:pt x="2394332" y="2489437"/>
                </a:lnTo>
                <a:lnTo>
                  <a:pt x="2427017" y="2458727"/>
                </a:lnTo>
                <a:lnTo>
                  <a:pt x="2458727" y="2427017"/>
                </a:lnTo>
                <a:lnTo>
                  <a:pt x="2489437" y="2394332"/>
                </a:lnTo>
                <a:lnTo>
                  <a:pt x="2519122" y="2360697"/>
                </a:lnTo>
                <a:lnTo>
                  <a:pt x="2547756" y="2326137"/>
                </a:lnTo>
                <a:lnTo>
                  <a:pt x="2575316" y="2290678"/>
                </a:lnTo>
                <a:lnTo>
                  <a:pt x="2601775" y="2254343"/>
                </a:lnTo>
                <a:lnTo>
                  <a:pt x="2627109" y="2217159"/>
                </a:lnTo>
                <a:lnTo>
                  <a:pt x="2651293" y="2179149"/>
                </a:lnTo>
                <a:lnTo>
                  <a:pt x="2674301" y="2140340"/>
                </a:lnTo>
                <a:lnTo>
                  <a:pt x="2696109" y="2100757"/>
                </a:lnTo>
                <a:lnTo>
                  <a:pt x="2716691" y="2060424"/>
                </a:lnTo>
                <a:lnTo>
                  <a:pt x="2736023" y="2019366"/>
                </a:lnTo>
                <a:lnTo>
                  <a:pt x="2754080" y="1977609"/>
                </a:lnTo>
                <a:lnTo>
                  <a:pt x="2770836" y="1935177"/>
                </a:lnTo>
                <a:lnTo>
                  <a:pt x="2786266" y="1892096"/>
                </a:lnTo>
                <a:lnTo>
                  <a:pt x="2800345" y="1848390"/>
                </a:lnTo>
                <a:lnTo>
                  <a:pt x="2813049" y="1804085"/>
                </a:lnTo>
                <a:lnTo>
                  <a:pt x="2824352" y="1759206"/>
                </a:lnTo>
                <a:lnTo>
                  <a:pt x="2834229" y="1713777"/>
                </a:lnTo>
                <a:lnTo>
                  <a:pt x="2842655" y="1667824"/>
                </a:lnTo>
                <a:lnTo>
                  <a:pt x="2849606" y="1621372"/>
                </a:lnTo>
                <a:lnTo>
                  <a:pt x="2855055" y="1574446"/>
                </a:lnTo>
                <a:lnTo>
                  <a:pt x="2858979" y="1527071"/>
                </a:lnTo>
                <a:lnTo>
                  <a:pt x="2861351" y="1479272"/>
                </a:lnTo>
                <a:lnTo>
                  <a:pt x="2862148" y="1431074"/>
                </a:lnTo>
                <a:lnTo>
                  <a:pt x="2861351" y="1382875"/>
                </a:lnTo>
                <a:lnTo>
                  <a:pt x="2858979" y="1335076"/>
                </a:lnTo>
                <a:lnTo>
                  <a:pt x="2855055" y="1287701"/>
                </a:lnTo>
                <a:lnTo>
                  <a:pt x="2849606" y="1240775"/>
                </a:lnTo>
                <a:lnTo>
                  <a:pt x="2842655" y="1194323"/>
                </a:lnTo>
                <a:lnTo>
                  <a:pt x="2834229" y="1148370"/>
                </a:lnTo>
                <a:lnTo>
                  <a:pt x="2824352" y="1102941"/>
                </a:lnTo>
                <a:lnTo>
                  <a:pt x="2813049" y="1058062"/>
                </a:lnTo>
                <a:lnTo>
                  <a:pt x="2800345" y="1013757"/>
                </a:lnTo>
                <a:lnTo>
                  <a:pt x="2786266" y="970052"/>
                </a:lnTo>
                <a:lnTo>
                  <a:pt x="2770836" y="926970"/>
                </a:lnTo>
                <a:lnTo>
                  <a:pt x="2754080" y="884539"/>
                </a:lnTo>
                <a:lnTo>
                  <a:pt x="2736023" y="842781"/>
                </a:lnTo>
                <a:lnTo>
                  <a:pt x="2716691" y="801723"/>
                </a:lnTo>
                <a:lnTo>
                  <a:pt x="2696109" y="761390"/>
                </a:lnTo>
                <a:lnTo>
                  <a:pt x="2674301" y="721807"/>
                </a:lnTo>
                <a:lnTo>
                  <a:pt x="2651293" y="682998"/>
                </a:lnTo>
                <a:lnTo>
                  <a:pt x="2627109" y="644989"/>
                </a:lnTo>
                <a:lnTo>
                  <a:pt x="2601775" y="607804"/>
                </a:lnTo>
                <a:lnTo>
                  <a:pt x="2575316" y="571470"/>
                </a:lnTo>
                <a:lnTo>
                  <a:pt x="2547756" y="536010"/>
                </a:lnTo>
                <a:lnTo>
                  <a:pt x="2519122" y="501450"/>
                </a:lnTo>
                <a:lnTo>
                  <a:pt x="2489437" y="467815"/>
                </a:lnTo>
                <a:lnTo>
                  <a:pt x="2458727" y="435130"/>
                </a:lnTo>
                <a:lnTo>
                  <a:pt x="2427017" y="403420"/>
                </a:lnTo>
                <a:lnTo>
                  <a:pt x="2394332" y="372710"/>
                </a:lnTo>
                <a:lnTo>
                  <a:pt x="2360697" y="343025"/>
                </a:lnTo>
                <a:lnTo>
                  <a:pt x="2326137" y="314390"/>
                </a:lnTo>
                <a:lnTo>
                  <a:pt x="2290677" y="286831"/>
                </a:lnTo>
                <a:lnTo>
                  <a:pt x="2254342" y="260372"/>
                </a:lnTo>
                <a:lnTo>
                  <a:pt x="2217158" y="235038"/>
                </a:lnTo>
                <a:lnTo>
                  <a:pt x="2179149" y="210854"/>
                </a:lnTo>
                <a:lnTo>
                  <a:pt x="2140340" y="187846"/>
                </a:lnTo>
                <a:lnTo>
                  <a:pt x="2100756" y="166038"/>
                </a:lnTo>
                <a:lnTo>
                  <a:pt x="2060423" y="145456"/>
                </a:lnTo>
                <a:lnTo>
                  <a:pt x="2019365" y="126124"/>
                </a:lnTo>
                <a:lnTo>
                  <a:pt x="1977608" y="108067"/>
                </a:lnTo>
                <a:lnTo>
                  <a:pt x="1935176" y="91311"/>
                </a:lnTo>
                <a:lnTo>
                  <a:pt x="1892095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5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74113" y="3817620"/>
            <a:ext cx="184658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Classifier-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free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Guidance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81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9718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Conditioning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dirty="0"/>
              <a:t>Guidance</a:t>
            </a:r>
            <a:r>
              <a:rPr spc="-19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3874770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6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6" y="2786266"/>
                </a:lnTo>
                <a:lnTo>
                  <a:pt x="1935177" y="2770836"/>
                </a:lnTo>
                <a:lnTo>
                  <a:pt x="1977609" y="2754080"/>
                </a:lnTo>
                <a:lnTo>
                  <a:pt x="2019366" y="2736024"/>
                </a:lnTo>
                <a:lnTo>
                  <a:pt x="2060424" y="2716692"/>
                </a:lnTo>
                <a:lnTo>
                  <a:pt x="2100757" y="2696109"/>
                </a:lnTo>
                <a:lnTo>
                  <a:pt x="2140341" y="2674301"/>
                </a:lnTo>
                <a:lnTo>
                  <a:pt x="2179150" y="2651293"/>
                </a:lnTo>
                <a:lnTo>
                  <a:pt x="2217159" y="2627109"/>
                </a:lnTo>
                <a:lnTo>
                  <a:pt x="2254343" y="2601776"/>
                </a:lnTo>
                <a:lnTo>
                  <a:pt x="2290678" y="2575316"/>
                </a:lnTo>
                <a:lnTo>
                  <a:pt x="2326138" y="2547757"/>
                </a:lnTo>
                <a:lnTo>
                  <a:pt x="2360698" y="2519122"/>
                </a:lnTo>
                <a:lnTo>
                  <a:pt x="2394333" y="2489437"/>
                </a:lnTo>
                <a:lnTo>
                  <a:pt x="2427018" y="2458727"/>
                </a:lnTo>
                <a:lnTo>
                  <a:pt x="2458728" y="2427017"/>
                </a:lnTo>
                <a:lnTo>
                  <a:pt x="2489438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7" y="2290678"/>
                </a:lnTo>
                <a:lnTo>
                  <a:pt x="2601776" y="2254343"/>
                </a:lnTo>
                <a:lnTo>
                  <a:pt x="2627110" y="2217159"/>
                </a:lnTo>
                <a:lnTo>
                  <a:pt x="2651294" y="2179149"/>
                </a:lnTo>
                <a:lnTo>
                  <a:pt x="2674302" y="2140340"/>
                </a:lnTo>
                <a:lnTo>
                  <a:pt x="2696110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6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6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0" y="761390"/>
                </a:lnTo>
                <a:lnTo>
                  <a:pt x="2674302" y="721807"/>
                </a:lnTo>
                <a:lnTo>
                  <a:pt x="2651294" y="682998"/>
                </a:lnTo>
                <a:lnTo>
                  <a:pt x="2627110" y="644989"/>
                </a:lnTo>
                <a:lnTo>
                  <a:pt x="2601776" y="607804"/>
                </a:lnTo>
                <a:lnTo>
                  <a:pt x="2575317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8" y="467815"/>
                </a:lnTo>
                <a:lnTo>
                  <a:pt x="2458728" y="435130"/>
                </a:lnTo>
                <a:lnTo>
                  <a:pt x="2427018" y="403420"/>
                </a:lnTo>
                <a:lnTo>
                  <a:pt x="2394333" y="372710"/>
                </a:lnTo>
                <a:lnTo>
                  <a:pt x="2360698" y="343025"/>
                </a:lnTo>
                <a:lnTo>
                  <a:pt x="2326138" y="314390"/>
                </a:lnTo>
                <a:lnTo>
                  <a:pt x="2290678" y="286831"/>
                </a:lnTo>
                <a:lnTo>
                  <a:pt x="2254343" y="260372"/>
                </a:lnTo>
                <a:lnTo>
                  <a:pt x="2217159" y="235038"/>
                </a:lnTo>
                <a:lnTo>
                  <a:pt x="2179150" y="210854"/>
                </a:lnTo>
                <a:lnTo>
                  <a:pt x="2140341" y="187846"/>
                </a:lnTo>
                <a:lnTo>
                  <a:pt x="2100757" y="166038"/>
                </a:lnTo>
                <a:lnTo>
                  <a:pt x="2060424" y="145456"/>
                </a:lnTo>
                <a:lnTo>
                  <a:pt x="2019366" y="126124"/>
                </a:lnTo>
                <a:lnTo>
                  <a:pt x="1977609" y="108067"/>
                </a:lnTo>
                <a:lnTo>
                  <a:pt x="1935177" y="91311"/>
                </a:lnTo>
                <a:lnTo>
                  <a:pt x="1892096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6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99381" y="4092955"/>
            <a:ext cx="18129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527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Explicit Conditions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9711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5" y="0"/>
                </a:moveTo>
                <a:lnTo>
                  <a:pt x="1382877" y="796"/>
                </a:lnTo>
                <a:lnTo>
                  <a:pt x="1335077" y="3168"/>
                </a:lnTo>
                <a:lnTo>
                  <a:pt x="1287702" y="7092"/>
                </a:lnTo>
                <a:lnTo>
                  <a:pt x="1240776" y="12541"/>
                </a:lnTo>
                <a:lnTo>
                  <a:pt x="1194324" y="19492"/>
                </a:lnTo>
                <a:lnTo>
                  <a:pt x="1148371" y="27918"/>
                </a:lnTo>
                <a:lnTo>
                  <a:pt x="1102943" y="37795"/>
                </a:lnTo>
                <a:lnTo>
                  <a:pt x="1058063" y="49098"/>
                </a:lnTo>
                <a:lnTo>
                  <a:pt x="1013758" y="61802"/>
                </a:lnTo>
                <a:lnTo>
                  <a:pt x="970053" y="75881"/>
                </a:lnTo>
                <a:lnTo>
                  <a:pt x="926971" y="91311"/>
                </a:lnTo>
                <a:lnTo>
                  <a:pt x="884540" y="108067"/>
                </a:lnTo>
                <a:lnTo>
                  <a:pt x="842782" y="126124"/>
                </a:lnTo>
                <a:lnTo>
                  <a:pt x="801724" y="145456"/>
                </a:lnTo>
                <a:lnTo>
                  <a:pt x="761391" y="166038"/>
                </a:lnTo>
                <a:lnTo>
                  <a:pt x="721808" y="187846"/>
                </a:lnTo>
                <a:lnTo>
                  <a:pt x="682999" y="210854"/>
                </a:lnTo>
                <a:lnTo>
                  <a:pt x="644990" y="235038"/>
                </a:lnTo>
                <a:lnTo>
                  <a:pt x="607805" y="260372"/>
                </a:lnTo>
                <a:lnTo>
                  <a:pt x="571470" y="286831"/>
                </a:lnTo>
                <a:lnTo>
                  <a:pt x="536011" y="314390"/>
                </a:lnTo>
                <a:lnTo>
                  <a:pt x="501451" y="343025"/>
                </a:lnTo>
                <a:lnTo>
                  <a:pt x="467816" y="372710"/>
                </a:lnTo>
                <a:lnTo>
                  <a:pt x="435131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6" y="501450"/>
                </a:lnTo>
                <a:lnTo>
                  <a:pt x="314391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2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2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1" y="2326137"/>
                </a:lnTo>
                <a:lnTo>
                  <a:pt x="343026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1" y="2458727"/>
                </a:lnTo>
                <a:lnTo>
                  <a:pt x="467816" y="2489437"/>
                </a:lnTo>
                <a:lnTo>
                  <a:pt x="501451" y="2519122"/>
                </a:lnTo>
                <a:lnTo>
                  <a:pt x="536011" y="2547757"/>
                </a:lnTo>
                <a:lnTo>
                  <a:pt x="571470" y="2575316"/>
                </a:lnTo>
                <a:lnTo>
                  <a:pt x="607805" y="2601776"/>
                </a:lnTo>
                <a:lnTo>
                  <a:pt x="644990" y="2627109"/>
                </a:lnTo>
                <a:lnTo>
                  <a:pt x="682999" y="2651293"/>
                </a:lnTo>
                <a:lnTo>
                  <a:pt x="721808" y="2674301"/>
                </a:lnTo>
                <a:lnTo>
                  <a:pt x="761391" y="2696109"/>
                </a:lnTo>
                <a:lnTo>
                  <a:pt x="801724" y="2716692"/>
                </a:lnTo>
                <a:lnTo>
                  <a:pt x="842782" y="2736024"/>
                </a:lnTo>
                <a:lnTo>
                  <a:pt x="884540" y="2754080"/>
                </a:lnTo>
                <a:lnTo>
                  <a:pt x="926971" y="2770836"/>
                </a:lnTo>
                <a:lnTo>
                  <a:pt x="970053" y="2786266"/>
                </a:lnTo>
                <a:lnTo>
                  <a:pt x="1013758" y="2800345"/>
                </a:lnTo>
                <a:lnTo>
                  <a:pt x="1058063" y="2813049"/>
                </a:lnTo>
                <a:lnTo>
                  <a:pt x="1102943" y="2824352"/>
                </a:lnTo>
                <a:lnTo>
                  <a:pt x="1148371" y="2834229"/>
                </a:lnTo>
                <a:lnTo>
                  <a:pt x="1194324" y="2842655"/>
                </a:lnTo>
                <a:lnTo>
                  <a:pt x="1240776" y="2849606"/>
                </a:lnTo>
                <a:lnTo>
                  <a:pt x="1287702" y="2855055"/>
                </a:lnTo>
                <a:lnTo>
                  <a:pt x="1335077" y="2858979"/>
                </a:lnTo>
                <a:lnTo>
                  <a:pt x="1382877" y="2861351"/>
                </a:lnTo>
                <a:lnTo>
                  <a:pt x="1431075" y="2862148"/>
                </a:lnTo>
                <a:lnTo>
                  <a:pt x="1479273" y="2861351"/>
                </a:lnTo>
                <a:lnTo>
                  <a:pt x="1527072" y="2858979"/>
                </a:lnTo>
                <a:lnTo>
                  <a:pt x="1574448" y="2855055"/>
                </a:lnTo>
                <a:lnTo>
                  <a:pt x="1621374" y="2849606"/>
                </a:lnTo>
                <a:lnTo>
                  <a:pt x="1667826" y="2842655"/>
                </a:lnTo>
                <a:lnTo>
                  <a:pt x="1713778" y="2834229"/>
                </a:lnTo>
                <a:lnTo>
                  <a:pt x="1759207" y="2824352"/>
                </a:lnTo>
                <a:lnTo>
                  <a:pt x="1804086" y="2813049"/>
                </a:lnTo>
                <a:lnTo>
                  <a:pt x="1848391" y="2800345"/>
                </a:lnTo>
                <a:lnTo>
                  <a:pt x="1892097" y="2786266"/>
                </a:lnTo>
                <a:lnTo>
                  <a:pt x="1935178" y="2770836"/>
                </a:lnTo>
                <a:lnTo>
                  <a:pt x="1977610" y="2754080"/>
                </a:lnTo>
                <a:lnTo>
                  <a:pt x="2019367" y="2736024"/>
                </a:lnTo>
                <a:lnTo>
                  <a:pt x="2060425" y="2716692"/>
                </a:lnTo>
                <a:lnTo>
                  <a:pt x="2100758" y="2696109"/>
                </a:lnTo>
                <a:lnTo>
                  <a:pt x="2140342" y="2674301"/>
                </a:lnTo>
                <a:lnTo>
                  <a:pt x="2179151" y="2651293"/>
                </a:lnTo>
                <a:lnTo>
                  <a:pt x="2217160" y="2627109"/>
                </a:lnTo>
                <a:lnTo>
                  <a:pt x="2254344" y="2601776"/>
                </a:lnTo>
                <a:lnTo>
                  <a:pt x="2290679" y="2575316"/>
                </a:lnTo>
                <a:lnTo>
                  <a:pt x="2326139" y="2547757"/>
                </a:lnTo>
                <a:lnTo>
                  <a:pt x="2360699" y="2519122"/>
                </a:lnTo>
                <a:lnTo>
                  <a:pt x="2394334" y="2489437"/>
                </a:lnTo>
                <a:lnTo>
                  <a:pt x="2427019" y="2458727"/>
                </a:lnTo>
                <a:lnTo>
                  <a:pt x="2458729" y="2427017"/>
                </a:lnTo>
                <a:lnTo>
                  <a:pt x="2489439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8" y="2290678"/>
                </a:lnTo>
                <a:lnTo>
                  <a:pt x="2601777" y="2254343"/>
                </a:lnTo>
                <a:lnTo>
                  <a:pt x="2627111" y="2217159"/>
                </a:lnTo>
                <a:lnTo>
                  <a:pt x="2651294" y="2179149"/>
                </a:lnTo>
                <a:lnTo>
                  <a:pt x="2674303" y="2140340"/>
                </a:lnTo>
                <a:lnTo>
                  <a:pt x="2696111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7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7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1" y="761390"/>
                </a:lnTo>
                <a:lnTo>
                  <a:pt x="2674303" y="721807"/>
                </a:lnTo>
                <a:lnTo>
                  <a:pt x="2651294" y="682998"/>
                </a:lnTo>
                <a:lnTo>
                  <a:pt x="2627111" y="644989"/>
                </a:lnTo>
                <a:lnTo>
                  <a:pt x="2601777" y="607804"/>
                </a:lnTo>
                <a:lnTo>
                  <a:pt x="2575318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9" y="467815"/>
                </a:lnTo>
                <a:lnTo>
                  <a:pt x="2458729" y="435130"/>
                </a:lnTo>
                <a:lnTo>
                  <a:pt x="2427019" y="403420"/>
                </a:lnTo>
                <a:lnTo>
                  <a:pt x="2394334" y="372710"/>
                </a:lnTo>
                <a:lnTo>
                  <a:pt x="2360699" y="343025"/>
                </a:lnTo>
                <a:lnTo>
                  <a:pt x="2326139" y="314390"/>
                </a:lnTo>
                <a:lnTo>
                  <a:pt x="2290679" y="286831"/>
                </a:lnTo>
                <a:lnTo>
                  <a:pt x="2254344" y="260372"/>
                </a:lnTo>
                <a:lnTo>
                  <a:pt x="2217160" y="235038"/>
                </a:lnTo>
                <a:lnTo>
                  <a:pt x="2179151" y="210854"/>
                </a:lnTo>
                <a:lnTo>
                  <a:pt x="2140342" y="187846"/>
                </a:lnTo>
                <a:lnTo>
                  <a:pt x="2100758" y="166038"/>
                </a:lnTo>
                <a:lnTo>
                  <a:pt x="2060425" y="145456"/>
                </a:lnTo>
                <a:lnTo>
                  <a:pt x="2019367" y="126124"/>
                </a:lnTo>
                <a:lnTo>
                  <a:pt x="1977610" y="108067"/>
                </a:lnTo>
                <a:lnTo>
                  <a:pt x="1935178" y="91311"/>
                </a:lnTo>
                <a:lnTo>
                  <a:pt x="1892097" y="75881"/>
                </a:lnTo>
                <a:lnTo>
                  <a:pt x="1848391" y="61802"/>
                </a:lnTo>
                <a:lnTo>
                  <a:pt x="1804086" y="49098"/>
                </a:lnTo>
                <a:lnTo>
                  <a:pt x="1759207" y="37795"/>
                </a:lnTo>
                <a:lnTo>
                  <a:pt x="1713778" y="27918"/>
                </a:lnTo>
                <a:lnTo>
                  <a:pt x="1667826" y="19492"/>
                </a:lnTo>
                <a:lnTo>
                  <a:pt x="1621374" y="12541"/>
                </a:lnTo>
                <a:lnTo>
                  <a:pt x="1574448" y="7092"/>
                </a:lnTo>
                <a:lnTo>
                  <a:pt x="1527072" y="3168"/>
                </a:lnTo>
                <a:lnTo>
                  <a:pt x="1479273" y="796"/>
                </a:lnTo>
                <a:lnTo>
                  <a:pt x="1431075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67981" y="4061459"/>
            <a:ext cx="1725295" cy="99821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13970">
              <a:lnSpc>
                <a:spcPts val="3820"/>
              </a:lnSpc>
              <a:spcBef>
                <a:spcPts val="21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 Guidance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266169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80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5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5" y="2786266"/>
                </a:lnTo>
                <a:lnTo>
                  <a:pt x="1935176" y="2770836"/>
                </a:lnTo>
                <a:lnTo>
                  <a:pt x="1977608" y="2754080"/>
                </a:lnTo>
                <a:lnTo>
                  <a:pt x="2019365" y="2736024"/>
                </a:lnTo>
                <a:lnTo>
                  <a:pt x="2060423" y="2716692"/>
                </a:lnTo>
                <a:lnTo>
                  <a:pt x="2100756" y="2696109"/>
                </a:lnTo>
                <a:lnTo>
                  <a:pt x="2140340" y="2674301"/>
                </a:lnTo>
                <a:lnTo>
                  <a:pt x="2179149" y="2651293"/>
                </a:lnTo>
                <a:lnTo>
                  <a:pt x="2217158" y="2627109"/>
                </a:lnTo>
                <a:lnTo>
                  <a:pt x="2254342" y="2601776"/>
                </a:lnTo>
                <a:lnTo>
                  <a:pt x="2290677" y="2575316"/>
                </a:lnTo>
                <a:lnTo>
                  <a:pt x="2326137" y="2547757"/>
                </a:lnTo>
                <a:lnTo>
                  <a:pt x="2360697" y="2519122"/>
                </a:lnTo>
                <a:lnTo>
                  <a:pt x="2394332" y="2489437"/>
                </a:lnTo>
                <a:lnTo>
                  <a:pt x="2427017" y="2458727"/>
                </a:lnTo>
                <a:lnTo>
                  <a:pt x="2458727" y="2427017"/>
                </a:lnTo>
                <a:lnTo>
                  <a:pt x="2489437" y="2394332"/>
                </a:lnTo>
                <a:lnTo>
                  <a:pt x="2519122" y="2360697"/>
                </a:lnTo>
                <a:lnTo>
                  <a:pt x="2547756" y="2326137"/>
                </a:lnTo>
                <a:lnTo>
                  <a:pt x="2575316" y="2290678"/>
                </a:lnTo>
                <a:lnTo>
                  <a:pt x="2601775" y="2254343"/>
                </a:lnTo>
                <a:lnTo>
                  <a:pt x="2627109" y="2217159"/>
                </a:lnTo>
                <a:lnTo>
                  <a:pt x="2651293" y="2179149"/>
                </a:lnTo>
                <a:lnTo>
                  <a:pt x="2674301" y="2140340"/>
                </a:lnTo>
                <a:lnTo>
                  <a:pt x="2696109" y="2100757"/>
                </a:lnTo>
                <a:lnTo>
                  <a:pt x="2716691" y="2060424"/>
                </a:lnTo>
                <a:lnTo>
                  <a:pt x="2736023" y="2019366"/>
                </a:lnTo>
                <a:lnTo>
                  <a:pt x="2754080" y="1977609"/>
                </a:lnTo>
                <a:lnTo>
                  <a:pt x="2770836" y="1935177"/>
                </a:lnTo>
                <a:lnTo>
                  <a:pt x="2786266" y="1892096"/>
                </a:lnTo>
                <a:lnTo>
                  <a:pt x="2800345" y="1848390"/>
                </a:lnTo>
                <a:lnTo>
                  <a:pt x="2813049" y="1804085"/>
                </a:lnTo>
                <a:lnTo>
                  <a:pt x="2824352" y="1759206"/>
                </a:lnTo>
                <a:lnTo>
                  <a:pt x="2834229" y="1713777"/>
                </a:lnTo>
                <a:lnTo>
                  <a:pt x="2842655" y="1667824"/>
                </a:lnTo>
                <a:lnTo>
                  <a:pt x="2849606" y="1621372"/>
                </a:lnTo>
                <a:lnTo>
                  <a:pt x="2855055" y="1574446"/>
                </a:lnTo>
                <a:lnTo>
                  <a:pt x="2858979" y="1527071"/>
                </a:lnTo>
                <a:lnTo>
                  <a:pt x="2861351" y="1479272"/>
                </a:lnTo>
                <a:lnTo>
                  <a:pt x="2862148" y="1431074"/>
                </a:lnTo>
                <a:lnTo>
                  <a:pt x="2861351" y="1382875"/>
                </a:lnTo>
                <a:lnTo>
                  <a:pt x="2858979" y="1335076"/>
                </a:lnTo>
                <a:lnTo>
                  <a:pt x="2855055" y="1287701"/>
                </a:lnTo>
                <a:lnTo>
                  <a:pt x="2849606" y="1240775"/>
                </a:lnTo>
                <a:lnTo>
                  <a:pt x="2842655" y="1194323"/>
                </a:lnTo>
                <a:lnTo>
                  <a:pt x="2834229" y="1148370"/>
                </a:lnTo>
                <a:lnTo>
                  <a:pt x="2824352" y="1102941"/>
                </a:lnTo>
                <a:lnTo>
                  <a:pt x="2813049" y="1058062"/>
                </a:lnTo>
                <a:lnTo>
                  <a:pt x="2800345" y="1013757"/>
                </a:lnTo>
                <a:lnTo>
                  <a:pt x="2786266" y="970052"/>
                </a:lnTo>
                <a:lnTo>
                  <a:pt x="2770836" y="926970"/>
                </a:lnTo>
                <a:lnTo>
                  <a:pt x="2754080" y="884539"/>
                </a:lnTo>
                <a:lnTo>
                  <a:pt x="2736023" y="842781"/>
                </a:lnTo>
                <a:lnTo>
                  <a:pt x="2716691" y="801723"/>
                </a:lnTo>
                <a:lnTo>
                  <a:pt x="2696109" y="761390"/>
                </a:lnTo>
                <a:lnTo>
                  <a:pt x="2674301" y="721807"/>
                </a:lnTo>
                <a:lnTo>
                  <a:pt x="2651293" y="682998"/>
                </a:lnTo>
                <a:lnTo>
                  <a:pt x="2627109" y="644989"/>
                </a:lnTo>
                <a:lnTo>
                  <a:pt x="2601775" y="607804"/>
                </a:lnTo>
                <a:lnTo>
                  <a:pt x="2575316" y="571470"/>
                </a:lnTo>
                <a:lnTo>
                  <a:pt x="2547756" y="536010"/>
                </a:lnTo>
                <a:lnTo>
                  <a:pt x="2519122" y="501450"/>
                </a:lnTo>
                <a:lnTo>
                  <a:pt x="2489437" y="467815"/>
                </a:lnTo>
                <a:lnTo>
                  <a:pt x="2458727" y="435130"/>
                </a:lnTo>
                <a:lnTo>
                  <a:pt x="2427017" y="403420"/>
                </a:lnTo>
                <a:lnTo>
                  <a:pt x="2394332" y="372710"/>
                </a:lnTo>
                <a:lnTo>
                  <a:pt x="2360697" y="343025"/>
                </a:lnTo>
                <a:lnTo>
                  <a:pt x="2326137" y="314390"/>
                </a:lnTo>
                <a:lnTo>
                  <a:pt x="2290677" y="286831"/>
                </a:lnTo>
                <a:lnTo>
                  <a:pt x="2254342" y="260372"/>
                </a:lnTo>
                <a:lnTo>
                  <a:pt x="2217158" y="235038"/>
                </a:lnTo>
                <a:lnTo>
                  <a:pt x="2179149" y="210854"/>
                </a:lnTo>
                <a:lnTo>
                  <a:pt x="2140340" y="187846"/>
                </a:lnTo>
                <a:lnTo>
                  <a:pt x="2100756" y="166038"/>
                </a:lnTo>
                <a:lnTo>
                  <a:pt x="2060423" y="145456"/>
                </a:lnTo>
                <a:lnTo>
                  <a:pt x="2019365" y="126124"/>
                </a:lnTo>
                <a:lnTo>
                  <a:pt x="1977608" y="108067"/>
                </a:lnTo>
                <a:lnTo>
                  <a:pt x="1935176" y="91311"/>
                </a:lnTo>
                <a:lnTo>
                  <a:pt x="1892095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5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74113" y="3817620"/>
            <a:ext cx="184658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Classifier-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free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Guidance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4354195">
              <a:lnSpc>
                <a:spcPct val="100000"/>
              </a:lnSpc>
              <a:spcBef>
                <a:spcPts val="100"/>
              </a:spcBef>
            </a:pPr>
            <a:r>
              <a:rPr dirty="0"/>
              <a:t>Explicit</a:t>
            </a:r>
            <a:r>
              <a:rPr spc="-204" dirty="0"/>
              <a:t> </a:t>
            </a:r>
            <a:r>
              <a:rPr spc="-10" dirty="0"/>
              <a:t>Conditional</a:t>
            </a:r>
            <a:r>
              <a:rPr spc="-204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2895600"/>
            <a:ext cx="6778625" cy="69342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500"/>
              </a:lnSpc>
              <a:spcBef>
                <a:spcPts val="400"/>
              </a:spcBef>
            </a:pPr>
            <a:r>
              <a:rPr sz="2300" dirty="0">
                <a:latin typeface="Trebuchet MS"/>
                <a:cs typeface="Trebuchet MS"/>
              </a:rPr>
              <a:t>Conditional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sampling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can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considered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training </a:t>
            </a:r>
            <a:r>
              <a:rPr sz="2300" dirty="0">
                <a:latin typeface="Trebuchet MS"/>
                <a:cs typeface="Trebuchet MS"/>
              </a:rPr>
              <a:t>output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(e.g.,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image)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63282" y="2882900"/>
            <a:ext cx="8543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where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400" b="1" spc="175" dirty="0">
                <a:latin typeface="Cambria"/>
                <a:cs typeface="Cambria"/>
              </a:rPr>
              <a:t>y</a:t>
            </a:r>
            <a:r>
              <a:rPr sz="2400" b="1" spc="-75" dirty="0">
                <a:latin typeface="Cambria"/>
                <a:cs typeface="Cambria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input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conditioning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(e.g.,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text)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400" b="1" spc="200" dirty="0">
                <a:latin typeface="Cambria"/>
                <a:cs typeface="Cambria"/>
              </a:rPr>
              <a:t>x</a:t>
            </a:r>
            <a:r>
              <a:rPr sz="2400" b="1" spc="-70" dirty="0">
                <a:latin typeface="Cambria"/>
                <a:cs typeface="Cambria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generated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39990" y="4595876"/>
            <a:ext cx="6884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Train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score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for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400" b="1" spc="200" dirty="0">
                <a:latin typeface="Cambria"/>
                <a:cs typeface="Cambria"/>
              </a:rPr>
              <a:t>x</a:t>
            </a:r>
            <a:r>
              <a:rPr sz="2400" b="1" spc="10" dirty="0">
                <a:latin typeface="Cambria"/>
                <a:cs typeface="Cambria"/>
              </a:rPr>
              <a:t> </a:t>
            </a:r>
            <a:r>
              <a:rPr sz="2300" dirty="0">
                <a:latin typeface="Trebuchet MS"/>
                <a:cs typeface="Trebuchet MS"/>
              </a:rPr>
              <a:t>conditioned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400" b="1" spc="175" dirty="0">
                <a:latin typeface="Cambria"/>
                <a:cs typeface="Cambria"/>
              </a:rPr>
              <a:t>y </a:t>
            </a:r>
            <a:r>
              <a:rPr sz="2300" spc="-10" dirty="0">
                <a:latin typeface="Trebuchet MS"/>
                <a:cs typeface="Trebuchet MS"/>
              </a:rPr>
              <a:t>using: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590" y="6717284"/>
            <a:ext cx="101377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conditional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score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simply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U-Net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with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400" b="1" spc="140" dirty="0">
                <a:latin typeface="Cambria"/>
                <a:cs typeface="Cambria"/>
              </a:rPr>
              <a:t>x</a:t>
            </a:r>
            <a:r>
              <a:rPr sz="2400" b="1" spc="209" baseline="-17361" dirty="0">
                <a:latin typeface="Cambria"/>
                <a:cs typeface="Cambria"/>
              </a:rPr>
              <a:t>t</a:t>
            </a:r>
            <a:r>
              <a:rPr sz="2400" b="1" spc="547" baseline="-17361" dirty="0">
                <a:latin typeface="Cambria"/>
                <a:cs typeface="Cambria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400" b="1" spc="175" dirty="0">
                <a:latin typeface="Cambria"/>
                <a:cs typeface="Cambria"/>
              </a:rPr>
              <a:t>y</a:t>
            </a:r>
            <a:r>
              <a:rPr sz="2400" b="1" spc="180" dirty="0">
                <a:latin typeface="Cambria"/>
                <a:cs typeface="Cambria"/>
              </a:rPr>
              <a:t> </a:t>
            </a:r>
            <a:r>
              <a:rPr sz="2300" dirty="0">
                <a:latin typeface="Trebuchet MS"/>
                <a:cs typeface="Trebuchet MS"/>
              </a:rPr>
              <a:t>together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input.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81543" y="2929127"/>
            <a:ext cx="929640" cy="3474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52544" y="5385815"/>
            <a:ext cx="9531096" cy="545591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736335" y="7476406"/>
            <a:ext cx="4919980" cy="2275840"/>
            <a:chOff x="5736335" y="7476406"/>
            <a:chExt cx="4919980" cy="2275840"/>
          </a:xfrm>
        </p:grpSpPr>
        <p:sp>
          <p:nvSpPr>
            <p:cNvPr id="10" name="object 10"/>
            <p:cNvSpPr/>
            <p:nvPr/>
          </p:nvSpPr>
          <p:spPr>
            <a:xfrm>
              <a:off x="7514078" y="7781258"/>
              <a:ext cx="278765" cy="1315720"/>
            </a:xfrm>
            <a:custGeom>
              <a:avLst/>
              <a:gdLst/>
              <a:ahLst/>
              <a:cxnLst/>
              <a:rect l="l" t="t" r="r" b="b"/>
              <a:pathLst>
                <a:path w="278765" h="1315720">
                  <a:moveTo>
                    <a:pt x="278536" y="0"/>
                  </a:moveTo>
                  <a:lnTo>
                    <a:pt x="0" y="0"/>
                  </a:lnTo>
                  <a:lnTo>
                    <a:pt x="0" y="1315479"/>
                  </a:lnTo>
                  <a:lnTo>
                    <a:pt x="278536" y="1315479"/>
                  </a:lnTo>
                  <a:lnTo>
                    <a:pt x="27853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14078" y="7781258"/>
              <a:ext cx="278765" cy="1315720"/>
            </a:xfrm>
            <a:custGeom>
              <a:avLst/>
              <a:gdLst/>
              <a:ahLst/>
              <a:cxnLst/>
              <a:rect l="l" t="t" r="r" b="b"/>
              <a:pathLst>
                <a:path w="278765" h="1315720">
                  <a:moveTo>
                    <a:pt x="0" y="0"/>
                  </a:moveTo>
                  <a:lnTo>
                    <a:pt x="278536" y="0"/>
                  </a:lnTo>
                  <a:lnTo>
                    <a:pt x="278536" y="1315480"/>
                  </a:lnTo>
                  <a:lnTo>
                    <a:pt x="0" y="13154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867172" y="7942222"/>
              <a:ext cx="278765" cy="993775"/>
            </a:xfrm>
            <a:custGeom>
              <a:avLst/>
              <a:gdLst/>
              <a:ahLst/>
              <a:cxnLst/>
              <a:rect l="l" t="t" r="r" b="b"/>
              <a:pathLst>
                <a:path w="278765" h="993775">
                  <a:moveTo>
                    <a:pt x="278535" y="0"/>
                  </a:moveTo>
                  <a:lnTo>
                    <a:pt x="0" y="0"/>
                  </a:lnTo>
                  <a:lnTo>
                    <a:pt x="0" y="993550"/>
                  </a:lnTo>
                  <a:lnTo>
                    <a:pt x="278535" y="993550"/>
                  </a:lnTo>
                  <a:lnTo>
                    <a:pt x="278535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67172" y="7942222"/>
              <a:ext cx="278765" cy="993775"/>
            </a:xfrm>
            <a:custGeom>
              <a:avLst/>
              <a:gdLst/>
              <a:ahLst/>
              <a:cxnLst/>
              <a:rect l="l" t="t" r="r" b="b"/>
              <a:pathLst>
                <a:path w="278765" h="993775">
                  <a:moveTo>
                    <a:pt x="0" y="0"/>
                  </a:moveTo>
                  <a:lnTo>
                    <a:pt x="278536" y="0"/>
                  </a:lnTo>
                  <a:lnTo>
                    <a:pt x="278536" y="993550"/>
                  </a:lnTo>
                  <a:lnTo>
                    <a:pt x="0" y="9935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220266" y="8070446"/>
              <a:ext cx="278765" cy="737235"/>
            </a:xfrm>
            <a:custGeom>
              <a:avLst/>
              <a:gdLst/>
              <a:ahLst/>
              <a:cxnLst/>
              <a:rect l="l" t="t" r="r" b="b"/>
              <a:pathLst>
                <a:path w="278765" h="737234">
                  <a:moveTo>
                    <a:pt x="278536" y="0"/>
                  </a:moveTo>
                  <a:lnTo>
                    <a:pt x="0" y="0"/>
                  </a:lnTo>
                  <a:lnTo>
                    <a:pt x="0" y="737102"/>
                  </a:lnTo>
                  <a:lnTo>
                    <a:pt x="278536" y="737102"/>
                  </a:lnTo>
                  <a:lnTo>
                    <a:pt x="27853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20266" y="8070446"/>
              <a:ext cx="278765" cy="737235"/>
            </a:xfrm>
            <a:custGeom>
              <a:avLst/>
              <a:gdLst/>
              <a:ahLst/>
              <a:cxnLst/>
              <a:rect l="l" t="t" r="r" b="b"/>
              <a:pathLst>
                <a:path w="278765" h="737234">
                  <a:moveTo>
                    <a:pt x="0" y="0"/>
                  </a:moveTo>
                  <a:lnTo>
                    <a:pt x="278536" y="0"/>
                  </a:lnTo>
                  <a:lnTo>
                    <a:pt x="278536" y="737103"/>
                  </a:lnTo>
                  <a:lnTo>
                    <a:pt x="0" y="7371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73360" y="8220776"/>
              <a:ext cx="278765" cy="436880"/>
            </a:xfrm>
            <a:custGeom>
              <a:avLst/>
              <a:gdLst/>
              <a:ahLst/>
              <a:cxnLst/>
              <a:rect l="l" t="t" r="r" b="b"/>
              <a:pathLst>
                <a:path w="278765" h="436879">
                  <a:moveTo>
                    <a:pt x="278535" y="0"/>
                  </a:moveTo>
                  <a:lnTo>
                    <a:pt x="0" y="0"/>
                  </a:lnTo>
                  <a:lnTo>
                    <a:pt x="0" y="436443"/>
                  </a:lnTo>
                  <a:lnTo>
                    <a:pt x="278535" y="436443"/>
                  </a:lnTo>
                  <a:lnTo>
                    <a:pt x="278535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73360" y="8220776"/>
              <a:ext cx="278765" cy="436880"/>
            </a:xfrm>
            <a:custGeom>
              <a:avLst/>
              <a:gdLst/>
              <a:ahLst/>
              <a:cxnLst/>
              <a:rect l="l" t="t" r="r" b="b"/>
              <a:pathLst>
                <a:path w="278765" h="436879">
                  <a:moveTo>
                    <a:pt x="0" y="0"/>
                  </a:moveTo>
                  <a:lnTo>
                    <a:pt x="278536" y="0"/>
                  </a:lnTo>
                  <a:lnTo>
                    <a:pt x="278536" y="436442"/>
                  </a:lnTo>
                  <a:lnTo>
                    <a:pt x="0" y="43644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26455" y="8220776"/>
              <a:ext cx="278765" cy="436880"/>
            </a:xfrm>
            <a:custGeom>
              <a:avLst/>
              <a:gdLst/>
              <a:ahLst/>
              <a:cxnLst/>
              <a:rect l="l" t="t" r="r" b="b"/>
              <a:pathLst>
                <a:path w="278765" h="436879">
                  <a:moveTo>
                    <a:pt x="278535" y="0"/>
                  </a:moveTo>
                  <a:lnTo>
                    <a:pt x="0" y="0"/>
                  </a:lnTo>
                  <a:lnTo>
                    <a:pt x="0" y="436443"/>
                  </a:lnTo>
                  <a:lnTo>
                    <a:pt x="278535" y="436443"/>
                  </a:lnTo>
                  <a:lnTo>
                    <a:pt x="278535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926455" y="8220776"/>
              <a:ext cx="278765" cy="436880"/>
            </a:xfrm>
            <a:custGeom>
              <a:avLst/>
              <a:gdLst/>
              <a:ahLst/>
              <a:cxnLst/>
              <a:rect l="l" t="t" r="r" b="b"/>
              <a:pathLst>
                <a:path w="278765" h="436879">
                  <a:moveTo>
                    <a:pt x="0" y="0"/>
                  </a:moveTo>
                  <a:lnTo>
                    <a:pt x="278536" y="0"/>
                  </a:lnTo>
                  <a:lnTo>
                    <a:pt x="278536" y="436442"/>
                  </a:lnTo>
                  <a:lnTo>
                    <a:pt x="0" y="436442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279548" y="8070446"/>
              <a:ext cx="278765" cy="737235"/>
            </a:xfrm>
            <a:custGeom>
              <a:avLst/>
              <a:gdLst/>
              <a:ahLst/>
              <a:cxnLst/>
              <a:rect l="l" t="t" r="r" b="b"/>
              <a:pathLst>
                <a:path w="278765" h="737234">
                  <a:moveTo>
                    <a:pt x="278536" y="0"/>
                  </a:moveTo>
                  <a:lnTo>
                    <a:pt x="0" y="0"/>
                  </a:lnTo>
                  <a:lnTo>
                    <a:pt x="0" y="737102"/>
                  </a:lnTo>
                  <a:lnTo>
                    <a:pt x="278536" y="737102"/>
                  </a:lnTo>
                  <a:lnTo>
                    <a:pt x="27853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79548" y="8070446"/>
              <a:ext cx="278765" cy="737235"/>
            </a:xfrm>
            <a:custGeom>
              <a:avLst/>
              <a:gdLst/>
              <a:ahLst/>
              <a:cxnLst/>
              <a:rect l="l" t="t" r="r" b="b"/>
              <a:pathLst>
                <a:path w="278765" h="737234">
                  <a:moveTo>
                    <a:pt x="0" y="0"/>
                  </a:moveTo>
                  <a:lnTo>
                    <a:pt x="278536" y="0"/>
                  </a:lnTo>
                  <a:lnTo>
                    <a:pt x="278536" y="737103"/>
                  </a:lnTo>
                  <a:lnTo>
                    <a:pt x="0" y="737103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32643" y="7942222"/>
              <a:ext cx="278765" cy="993775"/>
            </a:xfrm>
            <a:custGeom>
              <a:avLst/>
              <a:gdLst/>
              <a:ahLst/>
              <a:cxnLst/>
              <a:rect l="l" t="t" r="r" b="b"/>
              <a:pathLst>
                <a:path w="278765" h="993775">
                  <a:moveTo>
                    <a:pt x="278535" y="0"/>
                  </a:moveTo>
                  <a:lnTo>
                    <a:pt x="0" y="0"/>
                  </a:lnTo>
                  <a:lnTo>
                    <a:pt x="0" y="993550"/>
                  </a:lnTo>
                  <a:lnTo>
                    <a:pt x="278535" y="993550"/>
                  </a:lnTo>
                  <a:lnTo>
                    <a:pt x="278535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632643" y="7942222"/>
              <a:ext cx="278765" cy="993775"/>
            </a:xfrm>
            <a:custGeom>
              <a:avLst/>
              <a:gdLst/>
              <a:ahLst/>
              <a:cxnLst/>
              <a:rect l="l" t="t" r="r" b="b"/>
              <a:pathLst>
                <a:path w="278765" h="993775">
                  <a:moveTo>
                    <a:pt x="0" y="0"/>
                  </a:moveTo>
                  <a:lnTo>
                    <a:pt x="278536" y="0"/>
                  </a:lnTo>
                  <a:lnTo>
                    <a:pt x="278536" y="993550"/>
                  </a:lnTo>
                  <a:lnTo>
                    <a:pt x="0" y="99355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985736" y="7781258"/>
              <a:ext cx="278765" cy="1315720"/>
            </a:xfrm>
            <a:custGeom>
              <a:avLst/>
              <a:gdLst/>
              <a:ahLst/>
              <a:cxnLst/>
              <a:rect l="l" t="t" r="r" b="b"/>
              <a:pathLst>
                <a:path w="278765" h="1315720">
                  <a:moveTo>
                    <a:pt x="278536" y="0"/>
                  </a:moveTo>
                  <a:lnTo>
                    <a:pt x="0" y="0"/>
                  </a:lnTo>
                  <a:lnTo>
                    <a:pt x="0" y="1315479"/>
                  </a:lnTo>
                  <a:lnTo>
                    <a:pt x="278536" y="1315479"/>
                  </a:lnTo>
                  <a:lnTo>
                    <a:pt x="278536" y="0"/>
                  </a:lnTo>
                  <a:close/>
                </a:path>
              </a:pathLst>
            </a:custGeom>
            <a:solidFill>
              <a:srgbClr val="A03F7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985736" y="7781258"/>
              <a:ext cx="278765" cy="1315720"/>
            </a:xfrm>
            <a:custGeom>
              <a:avLst/>
              <a:gdLst/>
              <a:ahLst/>
              <a:cxnLst/>
              <a:rect l="l" t="t" r="r" b="b"/>
              <a:pathLst>
                <a:path w="278765" h="1315720">
                  <a:moveTo>
                    <a:pt x="0" y="0"/>
                  </a:moveTo>
                  <a:lnTo>
                    <a:pt x="278536" y="0"/>
                  </a:lnTo>
                  <a:lnTo>
                    <a:pt x="278536" y="1315480"/>
                  </a:lnTo>
                  <a:lnTo>
                    <a:pt x="0" y="1315480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A03F7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7668" y="9445730"/>
              <a:ext cx="94834" cy="1940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7044510" y="9368030"/>
              <a:ext cx="106680" cy="371475"/>
            </a:xfrm>
            <a:custGeom>
              <a:avLst/>
              <a:gdLst/>
              <a:ahLst/>
              <a:cxnLst/>
              <a:rect l="l" t="t" r="r" b="b"/>
              <a:pathLst>
                <a:path w="106679" h="371475">
                  <a:moveTo>
                    <a:pt x="106215" y="0"/>
                  </a:moveTo>
                  <a:lnTo>
                    <a:pt x="0" y="0"/>
                  </a:lnTo>
                  <a:lnTo>
                    <a:pt x="0" y="371406"/>
                  </a:lnTo>
                  <a:lnTo>
                    <a:pt x="106215" y="371406"/>
                  </a:lnTo>
                  <a:lnTo>
                    <a:pt x="106215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36335" y="7805928"/>
              <a:ext cx="1106423" cy="10972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044510" y="9368030"/>
              <a:ext cx="106680" cy="371475"/>
            </a:xfrm>
            <a:custGeom>
              <a:avLst/>
              <a:gdLst/>
              <a:ahLst/>
              <a:cxnLst/>
              <a:rect l="l" t="t" r="r" b="b"/>
              <a:pathLst>
                <a:path w="106679" h="371475">
                  <a:moveTo>
                    <a:pt x="0" y="0"/>
                  </a:moveTo>
                  <a:lnTo>
                    <a:pt x="106215" y="0"/>
                  </a:lnTo>
                  <a:lnTo>
                    <a:pt x="106215" y="371407"/>
                  </a:lnTo>
                  <a:lnTo>
                    <a:pt x="0" y="37140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94984" y="9368030"/>
              <a:ext cx="106680" cy="371475"/>
            </a:xfrm>
            <a:custGeom>
              <a:avLst/>
              <a:gdLst/>
              <a:ahLst/>
              <a:cxnLst/>
              <a:rect l="l" t="t" r="r" b="b"/>
              <a:pathLst>
                <a:path w="106679" h="371475">
                  <a:moveTo>
                    <a:pt x="106215" y="0"/>
                  </a:moveTo>
                  <a:lnTo>
                    <a:pt x="0" y="0"/>
                  </a:lnTo>
                  <a:lnTo>
                    <a:pt x="0" y="371406"/>
                  </a:lnTo>
                  <a:lnTo>
                    <a:pt x="106215" y="371406"/>
                  </a:lnTo>
                  <a:lnTo>
                    <a:pt x="106215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194984" y="9368030"/>
              <a:ext cx="106680" cy="371475"/>
            </a:xfrm>
            <a:custGeom>
              <a:avLst/>
              <a:gdLst/>
              <a:ahLst/>
              <a:cxnLst/>
              <a:rect l="l" t="t" r="r" b="b"/>
              <a:pathLst>
                <a:path w="106679" h="371475">
                  <a:moveTo>
                    <a:pt x="0" y="0"/>
                  </a:moveTo>
                  <a:lnTo>
                    <a:pt x="106215" y="0"/>
                  </a:lnTo>
                  <a:lnTo>
                    <a:pt x="106215" y="371407"/>
                  </a:lnTo>
                  <a:lnTo>
                    <a:pt x="0" y="37140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54308" y="9368030"/>
              <a:ext cx="106680" cy="371475"/>
            </a:xfrm>
            <a:custGeom>
              <a:avLst/>
              <a:gdLst/>
              <a:ahLst/>
              <a:cxnLst/>
              <a:rect l="l" t="t" r="r" b="b"/>
              <a:pathLst>
                <a:path w="106679" h="371475">
                  <a:moveTo>
                    <a:pt x="106215" y="0"/>
                  </a:moveTo>
                  <a:lnTo>
                    <a:pt x="0" y="0"/>
                  </a:lnTo>
                  <a:lnTo>
                    <a:pt x="0" y="371406"/>
                  </a:lnTo>
                  <a:lnTo>
                    <a:pt x="106215" y="371406"/>
                  </a:lnTo>
                  <a:lnTo>
                    <a:pt x="106215" y="0"/>
                  </a:lnTo>
                  <a:close/>
                </a:path>
              </a:pathLst>
            </a:custGeom>
            <a:solidFill>
              <a:srgbClr val="EE6A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54308" y="9368030"/>
              <a:ext cx="106680" cy="371475"/>
            </a:xfrm>
            <a:custGeom>
              <a:avLst/>
              <a:gdLst/>
              <a:ahLst/>
              <a:cxnLst/>
              <a:rect l="l" t="t" r="r" b="b"/>
              <a:pathLst>
                <a:path w="106679" h="371475">
                  <a:moveTo>
                    <a:pt x="0" y="0"/>
                  </a:moveTo>
                  <a:lnTo>
                    <a:pt x="106215" y="0"/>
                  </a:lnTo>
                  <a:lnTo>
                    <a:pt x="106215" y="371407"/>
                  </a:lnTo>
                  <a:lnTo>
                    <a:pt x="0" y="371407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EE6A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785661" y="8375497"/>
              <a:ext cx="3870960" cy="1241425"/>
            </a:xfrm>
            <a:custGeom>
              <a:avLst/>
              <a:gdLst/>
              <a:ahLst/>
              <a:cxnLst/>
              <a:rect l="l" t="t" r="r" b="b"/>
              <a:pathLst>
                <a:path w="3870959" h="1241425">
                  <a:moveTo>
                    <a:pt x="76200" y="1168031"/>
                  </a:moveTo>
                  <a:lnTo>
                    <a:pt x="0" y="1168031"/>
                  </a:lnTo>
                  <a:lnTo>
                    <a:pt x="0" y="1187081"/>
                  </a:lnTo>
                  <a:lnTo>
                    <a:pt x="76200" y="1187081"/>
                  </a:lnTo>
                  <a:lnTo>
                    <a:pt x="76200" y="1168031"/>
                  </a:lnTo>
                  <a:close/>
                </a:path>
                <a:path w="3870959" h="1241425">
                  <a:moveTo>
                    <a:pt x="171183" y="53975"/>
                  </a:moveTo>
                  <a:lnTo>
                    <a:pt x="94983" y="53975"/>
                  </a:lnTo>
                  <a:lnTo>
                    <a:pt x="94983" y="73025"/>
                  </a:lnTo>
                  <a:lnTo>
                    <a:pt x="171183" y="73025"/>
                  </a:lnTo>
                  <a:lnTo>
                    <a:pt x="171183" y="53975"/>
                  </a:lnTo>
                  <a:close/>
                </a:path>
                <a:path w="3870959" h="1241425">
                  <a:moveTo>
                    <a:pt x="258838" y="1177556"/>
                  </a:moveTo>
                  <a:lnTo>
                    <a:pt x="239788" y="1168031"/>
                  </a:lnTo>
                  <a:lnTo>
                    <a:pt x="131838" y="1114056"/>
                  </a:lnTo>
                  <a:lnTo>
                    <a:pt x="131838" y="1241056"/>
                  </a:lnTo>
                  <a:lnTo>
                    <a:pt x="239788" y="1187081"/>
                  </a:lnTo>
                  <a:lnTo>
                    <a:pt x="258838" y="1177556"/>
                  </a:lnTo>
                  <a:close/>
                </a:path>
                <a:path w="3870959" h="1241425">
                  <a:moveTo>
                    <a:pt x="304533" y="53975"/>
                  </a:moveTo>
                  <a:lnTo>
                    <a:pt x="228333" y="53975"/>
                  </a:lnTo>
                  <a:lnTo>
                    <a:pt x="228333" y="73025"/>
                  </a:lnTo>
                  <a:lnTo>
                    <a:pt x="304533" y="73025"/>
                  </a:lnTo>
                  <a:lnTo>
                    <a:pt x="304533" y="53975"/>
                  </a:lnTo>
                  <a:close/>
                </a:path>
                <a:path w="3870959" h="1241425">
                  <a:moveTo>
                    <a:pt x="437883" y="53975"/>
                  </a:moveTo>
                  <a:lnTo>
                    <a:pt x="361683" y="53975"/>
                  </a:lnTo>
                  <a:lnTo>
                    <a:pt x="361683" y="73025"/>
                  </a:lnTo>
                  <a:lnTo>
                    <a:pt x="437883" y="73025"/>
                  </a:lnTo>
                  <a:lnTo>
                    <a:pt x="437883" y="53975"/>
                  </a:lnTo>
                  <a:close/>
                </a:path>
                <a:path w="3870959" h="1241425">
                  <a:moveTo>
                    <a:pt x="571233" y="53975"/>
                  </a:moveTo>
                  <a:lnTo>
                    <a:pt x="495033" y="53975"/>
                  </a:lnTo>
                  <a:lnTo>
                    <a:pt x="495033" y="73025"/>
                  </a:lnTo>
                  <a:lnTo>
                    <a:pt x="571233" y="73025"/>
                  </a:lnTo>
                  <a:lnTo>
                    <a:pt x="571233" y="53975"/>
                  </a:lnTo>
                  <a:close/>
                </a:path>
                <a:path w="3870959" h="1241425">
                  <a:moveTo>
                    <a:pt x="728408" y="63500"/>
                  </a:moveTo>
                  <a:lnTo>
                    <a:pt x="601408" y="0"/>
                  </a:lnTo>
                  <a:lnTo>
                    <a:pt x="601408" y="127000"/>
                  </a:lnTo>
                  <a:lnTo>
                    <a:pt x="728408" y="63500"/>
                  </a:lnTo>
                  <a:close/>
                </a:path>
                <a:path w="3870959" h="1241425">
                  <a:moveTo>
                    <a:pt x="751052" y="1168717"/>
                  </a:moveTo>
                  <a:lnTo>
                    <a:pt x="674852" y="1168717"/>
                  </a:lnTo>
                  <a:lnTo>
                    <a:pt x="674852" y="1187767"/>
                  </a:lnTo>
                  <a:lnTo>
                    <a:pt x="751052" y="1187767"/>
                  </a:lnTo>
                  <a:lnTo>
                    <a:pt x="751052" y="1168717"/>
                  </a:lnTo>
                  <a:close/>
                </a:path>
                <a:path w="3870959" h="1241425">
                  <a:moveTo>
                    <a:pt x="877201" y="971664"/>
                  </a:moveTo>
                  <a:lnTo>
                    <a:pt x="858151" y="971664"/>
                  </a:lnTo>
                  <a:lnTo>
                    <a:pt x="858151" y="1047864"/>
                  </a:lnTo>
                  <a:lnTo>
                    <a:pt x="877201" y="1047864"/>
                  </a:lnTo>
                  <a:lnTo>
                    <a:pt x="877201" y="971664"/>
                  </a:lnTo>
                  <a:close/>
                </a:path>
                <a:path w="3870959" h="1241425">
                  <a:moveTo>
                    <a:pt x="884402" y="1168717"/>
                  </a:moveTo>
                  <a:lnTo>
                    <a:pt x="877201" y="1168717"/>
                  </a:lnTo>
                  <a:lnTo>
                    <a:pt x="877201" y="1105014"/>
                  </a:lnTo>
                  <a:lnTo>
                    <a:pt x="858151" y="1105014"/>
                  </a:lnTo>
                  <a:lnTo>
                    <a:pt x="858151" y="1168717"/>
                  </a:lnTo>
                  <a:lnTo>
                    <a:pt x="808202" y="1168717"/>
                  </a:lnTo>
                  <a:lnTo>
                    <a:pt x="808202" y="1187767"/>
                  </a:lnTo>
                  <a:lnTo>
                    <a:pt x="884402" y="1187767"/>
                  </a:lnTo>
                  <a:lnTo>
                    <a:pt x="884402" y="1168717"/>
                  </a:lnTo>
                  <a:close/>
                </a:path>
                <a:path w="3870959" h="1241425">
                  <a:moveTo>
                    <a:pt x="931176" y="848245"/>
                  </a:moveTo>
                  <a:lnTo>
                    <a:pt x="926211" y="838314"/>
                  </a:lnTo>
                  <a:lnTo>
                    <a:pt x="867676" y="721245"/>
                  </a:lnTo>
                  <a:lnTo>
                    <a:pt x="804176" y="848245"/>
                  </a:lnTo>
                  <a:lnTo>
                    <a:pt x="858151" y="848245"/>
                  </a:lnTo>
                  <a:lnTo>
                    <a:pt x="858151" y="914514"/>
                  </a:lnTo>
                  <a:lnTo>
                    <a:pt x="877201" y="914514"/>
                  </a:lnTo>
                  <a:lnTo>
                    <a:pt x="877201" y="848245"/>
                  </a:lnTo>
                  <a:lnTo>
                    <a:pt x="931176" y="848245"/>
                  </a:lnTo>
                  <a:close/>
                </a:path>
                <a:path w="3870959" h="1241425">
                  <a:moveTo>
                    <a:pt x="1017752" y="1168717"/>
                  </a:moveTo>
                  <a:lnTo>
                    <a:pt x="941552" y="1168717"/>
                  </a:lnTo>
                  <a:lnTo>
                    <a:pt x="941552" y="1187767"/>
                  </a:lnTo>
                  <a:lnTo>
                    <a:pt x="1017752" y="1187767"/>
                  </a:lnTo>
                  <a:lnTo>
                    <a:pt x="1017752" y="1168717"/>
                  </a:lnTo>
                  <a:close/>
                </a:path>
                <a:path w="3870959" h="1241425">
                  <a:moveTo>
                    <a:pt x="1151102" y="1168717"/>
                  </a:moveTo>
                  <a:lnTo>
                    <a:pt x="1074902" y="1168717"/>
                  </a:lnTo>
                  <a:lnTo>
                    <a:pt x="1074902" y="1187767"/>
                  </a:lnTo>
                  <a:lnTo>
                    <a:pt x="1151102" y="1187767"/>
                  </a:lnTo>
                  <a:lnTo>
                    <a:pt x="1151102" y="1168717"/>
                  </a:lnTo>
                  <a:close/>
                </a:path>
                <a:path w="3870959" h="1241425">
                  <a:moveTo>
                    <a:pt x="1230299" y="971664"/>
                  </a:moveTo>
                  <a:lnTo>
                    <a:pt x="1211249" y="971664"/>
                  </a:lnTo>
                  <a:lnTo>
                    <a:pt x="1211249" y="1047864"/>
                  </a:lnTo>
                  <a:lnTo>
                    <a:pt x="1230299" y="1047864"/>
                  </a:lnTo>
                  <a:lnTo>
                    <a:pt x="1230299" y="971664"/>
                  </a:lnTo>
                  <a:close/>
                </a:path>
                <a:path w="3870959" h="1241425">
                  <a:moveTo>
                    <a:pt x="1230299" y="838314"/>
                  </a:moveTo>
                  <a:lnTo>
                    <a:pt x="1211249" y="838314"/>
                  </a:lnTo>
                  <a:lnTo>
                    <a:pt x="1211249" y="914514"/>
                  </a:lnTo>
                  <a:lnTo>
                    <a:pt x="1230299" y="914514"/>
                  </a:lnTo>
                  <a:lnTo>
                    <a:pt x="1230299" y="838314"/>
                  </a:lnTo>
                  <a:close/>
                </a:path>
                <a:path w="3870959" h="1241425">
                  <a:moveTo>
                    <a:pt x="1230299" y="704964"/>
                  </a:moveTo>
                  <a:lnTo>
                    <a:pt x="1211249" y="704964"/>
                  </a:lnTo>
                  <a:lnTo>
                    <a:pt x="1211249" y="781164"/>
                  </a:lnTo>
                  <a:lnTo>
                    <a:pt x="1230299" y="781164"/>
                  </a:lnTo>
                  <a:lnTo>
                    <a:pt x="1230299" y="704964"/>
                  </a:lnTo>
                  <a:close/>
                </a:path>
                <a:path w="3870959" h="1241425">
                  <a:moveTo>
                    <a:pt x="1284274" y="687285"/>
                  </a:moveTo>
                  <a:lnTo>
                    <a:pt x="1220774" y="560285"/>
                  </a:lnTo>
                  <a:lnTo>
                    <a:pt x="1157274" y="687285"/>
                  </a:lnTo>
                  <a:lnTo>
                    <a:pt x="1284274" y="687285"/>
                  </a:lnTo>
                  <a:close/>
                </a:path>
                <a:path w="3870959" h="1241425">
                  <a:moveTo>
                    <a:pt x="1284452" y="1168717"/>
                  </a:moveTo>
                  <a:lnTo>
                    <a:pt x="1230299" y="1168717"/>
                  </a:lnTo>
                  <a:lnTo>
                    <a:pt x="1230299" y="1105014"/>
                  </a:lnTo>
                  <a:lnTo>
                    <a:pt x="1211249" y="1105014"/>
                  </a:lnTo>
                  <a:lnTo>
                    <a:pt x="1211249" y="1168717"/>
                  </a:lnTo>
                  <a:lnTo>
                    <a:pt x="1208252" y="1168717"/>
                  </a:lnTo>
                  <a:lnTo>
                    <a:pt x="1208252" y="1187767"/>
                  </a:lnTo>
                  <a:lnTo>
                    <a:pt x="1284452" y="1187767"/>
                  </a:lnTo>
                  <a:lnTo>
                    <a:pt x="1284452" y="1168717"/>
                  </a:lnTo>
                  <a:close/>
                </a:path>
                <a:path w="3870959" h="1241425">
                  <a:moveTo>
                    <a:pt x="1417802" y="1168717"/>
                  </a:moveTo>
                  <a:lnTo>
                    <a:pt x="1341602" y="1168717"/>
                  </a:lnTo>
                  <a:lnTo>
                    <a:pt x="1341602" y="1187767"/>
                  </a:lnTo>
                  <a:lnTo>
                    <a:pt x="1417802" y="1187767"/>
                  </a:lnTo>
                  <a:lnTo>
                    <a:pt x="1417802" y="1168717"/>
                  </a:lnTo>
                  <a:close/>
                </a:path>
                <a:path w="3870959" h="1241425">
                  <a:moveTo>
                    <a:pt x="1551152" y="1168717"/>
                  </a:moveTo>
                  <a:lnTo>
                    <a:pt x="1474952" y="1168717"/>
                  </a:lnTo>
                  <a:lnTo>
                    <a:pt x="1474952" y="1187767"/>
                  </a:lnTo>
                  <a:lnTo>
                    <a:pt x="1551152" y="1187767"/>
                  </a:lnTo>
                  <a:lnTo>
                    <a:pt x="1551152" y="1168717"/>
                  </a:lnTo>
                  <a:close/>
                </a:path>
                <a:path w="3870959" h="1241425">
                  <a:moveTo>
                    <a:pt x="1583397" y="1102321"/>
                  </a:moveTo>
                  <a:lnTo>
                    <a:pt x="1564347" y="1102321"/>
                  </a:lnTo>
                  <a:lnTo>
                    <a:pt x="1564347" y="1178521"/>
                  </a:lnTo>
                  <a:lnTo>
                    <a:pt x="1583397" y="1178521"/>
                  </a:lnTo>
                  <a:lnTo>
                    <a:pt x="1583397" y="1102321"/>
                  </a:lnTo>
                  <a:close/>
                </a:path>
                <a:path w="3870959" h="1241425">
                  <a:moveTo>
                    <a:pt x="1583397" y="968971"/>
                  </a:moveTo>
                  <a:lnTo>
                    <a:pt x="1564347" y="968971"/>
                  </a:lnTo>
                  <a:lnTo>
                    <a:pt x="1564347" y="1045171"/>
                  </a:lnTo>
                  <a:lnTo>
                    <a:pt x="1583397" y="1045171"/>
                  </a:lnTo>
                  <a:lnTo>
                    <a:pt x="1583397" y="968971"/>
                  </a:lnTo>
                  <a:close/>
                </a:path>
                <a:path w="3870959" h="1241425">
                  <a:moveTo>
                    <a:pt x="1583397" y="835621"/>
                  </a:moveTo>
                  <a:lnTo>
                    <a:pt x="1564347" y="835621"/>
                  </a:lnTo>
                  <a:lnTo>
                    <a:pt x="1564347" y="911821"/>
                  </a:lnTo>
                  <a:lnTo>
                    <a:pt x="1583397" y="911821"/>
                  </a:lnTo>
                  <a:lnTo>
                    <a:pt x="1583397" y="835621"/>
                  </a:lnTo>
                  <a:close/>
                </a:path>
                <a:path w="3870959" h="1241425">
                  <a:moveTo>
                    <a:pt x="1583397" y="702271"/>
                  </a:moveTo>
                  <a:lnTo>
                    <a:pt x="1564347" y="702271"/>
                  </a:lnTo>
                  <a:lnTo>
                    <a:pt x="1564347" y="778471"/>
                  </a:lnTo>
                  <a:lnTo>
                    <a:pt x="1583397" y="778471"/>
                  </a:lnTo>
                  <a:lnTo>
                    <a:pt x="1583397" y="702271"/>
                  </a:lnTo>
                  <a:close/>
                </a:path>
                <a:path w="3870959" h="1241425">
                  <a:moveTo>
                    <a:pt x="1583397" y="568921"/>
                  </a:moveTo>
                  <a:lnTo>
                    <a:pt x="1564347" y="568921"/>
                  </a:lnTo>
                  <a:lnTo>
                    <a:pt x="1564347" y="645121"/>
                  </a:lnTo>
                  <a:lnTo>
                    <a:pt x="1583397" y="645121"/>
                  </a:lnTo>
                  <a:lnTo>
                    <a:pt x="1583397" y="568921"/>
                  </a:lnTo>
                  <a:close/>
                </a:path>
                <a:path w="3870959" h="1241425">
                  <a:moveTo>
                    <a:pt x="1637372" y="559054"/>
                  </a:moveTo>
                  <a:lnTo>
                    <a:pt x="1573872" y="432054"/>
                  </a:lnTo>
                  <a:lnTo>
                    <a:pt x="1510372" y="559054"/>
                  </a:lnTo>
                  <a:lnTo>
                    <a:pt x="1637372" y="559054"/>
                  </a:lnTo>
                  <a:close/>
                </a:path>
                <a:path w="3870959" h="1241425">
                  <a:moveTo>
                    <a:pt x="1684502" y="1168717"/>
                  </a:moveTo>
                  <a:lnTo>
                    <a:pt x="1608302" y="1168717"/>
                  </a:lnTo>
                  <a:lnTo>
                    <a:pt x="1608302" y="1187767"/>
                  </a:lnTo>
                  <a:lnTo>
                    <a:pt x="1684502" y="1187767"/>
                  </a:lnTo>
                  <a:lnTo>
                    <a:pt x="1684502" y="1168717"/>
                  </a:lnTo>
                  <a:close/>
                </a:path>
                <a:path w="3870959" h="1241425">
                  <a:moveTo>
                    <a:pt x="1817852" y="1168717"/>
                  </a:moveTo>
                  <a:lnTo>
                    <a:pt x="1741652" y="1168717"/>
                  </a:lnTo>
                  <a:lnTo>
                    <a:pt x="1741652" y="1187767"/>
                  </a:lnTo>
                  <a:lnTo>
                    <a:pt x="1817852" y="1187767"/>
                  </a:lnTo>
                  <a:lnTo>
                    <a:pt x="1817852" y="1168717"/>
                  </a:lnTo>
                  <a:close/>
                </a:path>
                <a:path w="3870959" h="1241425">
                  <a:moveTo>
                    <a:pt x="1936483" y="971664"/>
                  </a:moveTo>
                  <a:lnTo>
                    <a:pt x="1917433" y="971664"/>
                  </a:lnTo>
                  <a:lnTo>
                    <a:pt x="1917433" y="1047864"/>
                  </a:lnTo>
                  <a:lnTo>
                    <a:pt x="1936483" y="1047864"/>
                  </a:lnTo>
                  <a:lnTo>
                    <a:pt x="1936483" y="971664"/>
                  </a:lnTo>
                  <a:close/>
                </a:path>
                <a:path w="3870959" h="1241425">
                  <a:moveTo>
                    <a:pt x="1936483" y="838314"/>
                  </a:moveTo>
                  <a:lnTo>
                    <a:pt x="1917433" y="838314"/>
                  </a:lnTo>
                  <a:lnTo>
                    <a:pt x="1917433" y="914514"/>
                  </a:lnTo>
                  <a:lnTo>
                    <a:pt x="1936483" y="914514"/>
                  </a:lnTo>
                  <a:lnTo>
                    <a:pt x="1936483" y="838314"/>
                  </a:lnTo>
                  <a:close/>
                </a:path>
                <a:path w="3870959" h="1241425">
                  <a:moveTo>
                    <a:pt x="1936483" y="704964"/>
                  </a:moveTo>
                  <a:lnTo>
                    <a:pt x="1917433" y="704964"/>
                  </a:lnTo>
                  <a:lnTo>
                    <a:pt x="1917433" y="781164"/>
                  </a:lnTo>
                  <a:lnTo>
                    <a:pt x="1936483" y="781164"/>
                  </a:lnTo>
                  <a:lnTo>
                    <a:pt x="1936483" y="704964"/>
                  </a:lnTo>
                  <a:close/>
                </a:path>
                <a:path w="3870959" h="1241425">
                  <a:moveTo>
                    <a:pt x="1936483" y="571614"/>
                  </a:moveTo>
                  <a:lnTo>
                    <a:pt x="1917433" y="571614"/>
                  </a:lnTo>
                  <a:lnTo>
                    <a:pt x="1917433" y="647814"/>
                  </a:lnTo>
                  <a:lnTo>
                    <a:pt x="1936483" y="647814"/>
                  </a:lnTo>
                  <a:lnTo>
                    <a:pt x="1936483" y="571614"/>
                  </a:lnTo>
                  <a:close/>
                </a:path>
                <a:path w="3870959" h="1241425">
                  <a:moveTo>
                    <a:pt x="1936483" y="438264"/>
                  </a:moveTo>
                  <a:lnTo>
                    <a:pt x="1917433" y="438264"/>
                  </a:lnTo>
                  <a:lnTo>
                    <a:pt x="1917433" y="514464"/>
                  </a:lnTo>
                  <a:lnTo>
                    <a:pt x="1936483" y="514464"/>
                  </a:lnTo>
                  <a:lnTo>
                    <a:pt x="1936483" y="438264"/>
                  </a:lnTo>
                  <a:close/>
                </a:path>
                <a:path w="3870959" h="1241425">
                  <a:moveTo>
                    <a:pt x="1951202" y="1168717"/>
                  </a:moveTo>
                  <a:lnTo>
                    <a:pt x="1936483" y="1168717"/>
                  </a:lnTo>
                  <a:lnTo>
                    <a:pt x="1936483" y="1105014"/>
                  </a:lnTo>
                  <a:lnTo>
                    <a:pt x="1917433" y="1105014"/>
                  </a:lnTo>
                  <a:lnTo>
                    <a:pt x="1917433" y="1168717"/>
                  </a:lnTo>
                  <a:lnTo>
                    <a:pt x="1875002" y="1168717"/>
                  </a:lnTo>
                  <a:lnTo>
                    <a:pt x="1875002" y="1187767"/>
                  </a:lnTo>
                  <a:lnTo>
                    <a:pt x="1951202" y="1187767"/>
                  </a:lnTo>
                  <a:lnTo>
                    <a:pt x="1951202" y="1168717"/>
                  </a:lnTo>
                  <a:close/>
                </a:path>
                <a:path w="3870959" h="1241425">
                  <a:moveTo>
                    <a:pt x="1990458" y="408724"/>
                  </a:moveTo>
                  <a:lnTo>
                    <a:pt x="1926958" y="281724"/>
                  </a:lnTo>
                  <a:lnTo>
                    <a:pt x="1863458" y="408724"/>
                  </a:lnTo>
                  <a:lnTo>
                    <a:pt x="1990458" y="408724"/>
                  </a:lnTo>
                  <a:close/>
                </a:path>
                <a:path w="3870959" h="1241425">
                  <a:moveTo>
                    <a:pt x="2084552" y="1168717"/>
                  </a:moveTo>
                  <a:lnTo>
                    <a:pt x="2008352" y="1168717"/>
                  </a:lnTo>
                  <a:lnTo>
                    <a:pt x="2008352" y="1187767"/>
                  </a:lnTo>
                  <a:lnTo>
                    <a:pt x="2084552" y="1187767"/>
                  </a:lnTo>
                  <a:lnTo>
                    <a:pt x="2084552" y="1168717"/>
                  </a:lnTo>
                  <a:close/>
                </a:path>
                <a:path w="3870959" h="1241425">
                  <a:moveTo>
                    <a:pt x="2217902" y="1168717"/>
                  </a:moveTo>
                  <a:lnTo>
                    <a:pt x="2141702" y="1168717"/>
                  </a:lnTo>
                  <a:lnTo>
                    <a:pt x="2141702" y="1187767"/>
                  </a:lnTo>
                  <a:lnTo>
                    <a:pt x="2217902" y="1187767"/>
                  </a:lnTo>
                  <a:lnTo>
                    <a:pt x="2217902" y="1168717"/>
                  </a:lnTo>
                  <a:close/>
                </a:path>
                <a:path w="3870959" h="1241425">
                  <a:moveTo>
                    <a:pt x="2288603" y="971664"/>
                  </a:moveTo>
                  <a:lnTo>
                    <a:pt x="2269553" y="971664"/>
                  </a:lnTo>
                  <a:lnTo>
                    <a:pt x="2269553" y="1047864"/>
                  </a:lnTo>
                  <a:lnTo>
                    <a:pt x="2288603" y="1047864"/>
                  </a:lnTo>
                  <a:lnTo>
                    <a:pt x="2288603" y="971664"/>
                  </a:lnTo>
                  <a:close/>
                </a:path>
                <a:path w="3870959" h="1241425">
                  <a:moveTo>
                    <a:pt x="2288603" y="838314"/>
                  </a:moveTo>
                  <a:lnTo>
                    <a:pt x="2269553" y="838314"/>
                  </a:lnTo>
                  <a:lnTo>
                    <a:pt x="2269553" y="914514"/>
                  </a:lnTo>
                  <a:lnTo>
                    <a:pt x="2288603" y="914514"/>
                  </a:lnTo>
                  <a:lnTo>
                    <a:pt x="2288603" y="838314"/>
                  </a:lnTo>
                  <a:close/>
                </a:path>
                <a:path w="3870959" h="1241425">
                  <a:moveTo>
                    <a:pt x="2288603" y="704964"/>
                  </a:moveTo>
                  <a:lnTo>
                    <a:pt x="2269553" y="704964"/>
                  </a:lnTo>
                  <a:lnTo>
                    <a:pt x="2269553" y="781164"/>
                  </a:lnTo>
                  <a:lnTo>
                    <a:pt x="2288603" y="781164"/>
                  </a:lnTo>
                  <a:lnTo>
                    <a:pt x="2288603" y="704964"/>
                  </a:lnTo>
                  <a:close/>
                </a:path>
                <a:path w="3870959" h="1241425">
                  <a:moveTo>
                    <a:pt x="2288603" y="571614"/>
                  </a:moveTo>
                  <a:lnTo>
                    <a:pt x="2269553" y="571614"/>
                  </a:lnTo>
                  <a:lnTo>
                    <a:pt x="2269553" y="647814"/>
                  </a:lnTo>
                  <a:lnTo>
                    <a:pt x="2288603" y="647814"/>
                  </a:lnTo>
                  <a:lnTo>
                    <a:pt x="2288603" y="571614"/>
                  </a:lnTo>
                  <a:close/>
                </a:path>
                <a:path w="3870959" h="1241425">
                  <a:moveTo>
                    <a:pt x="2288603" y="438264"/>
                  </a:moveTo>
                  <a:lnTo>
                    <a:pt x="2269553" y="438264"/>
                  </a:lnTo>
                  <a:lnTo>
                    <a:pt x="2269553" y="514464"/>
                  </a:lnTo>
                  <a:lnTo>
                    <a:pt x="2288603" y="514464"/>
                  </a:lnTo>
                  <a:lnTo>
                    <a:pt x="2288603" y="438264"/>
                  </a:lnTo>
                  <a:close/>
                </a:path>
                <a:path w="3870959" h="1241425">
                  <a:moveTo>
                    <a:pt x="2342578" y="408724"/>
                  </a:moveTo>
                  <a:lnTo>
                    <a:pt x="2279078" y="281724"/>
                  </a:lnTo>
                  <a:lnTo>
                    <a:pt x="2215578" y="408724"/>
                  </a:lnTo>
                  <a:lnTo>
                    <a:pt x="2342578" y="408724"/>
                  </a:lnTo>
                  <a:close/>
                </a:path>
                <a:path w="3870959" h="1241425">
                  <a:moveTo>
                    <a:pt x="2351252" y="1168717"/>
                  </a:moveTo>
                  <a:lnTo>
                    <a:pt x="2288603" y="1168717"/>
                  </a:lnTo>
                  <a:lnTo>
                    <a:pt x="2288603" y="1105014"/>
                  </a:lnTo>
                  <a:lnTo>
                    <a:pt x="2269553" y="1105014"/>
                  </a:lnTo>
                  <a:lnTo>
                    <a:pt x="2269540" y="1181214"/>
                  </a:lnTo>
                  <a:lnTo>
                    <a:pt x="2275052" y="1181214"/>
                  </a:lnTo>
                  <a:lnTo>
                    <a:pt x="2275052" y="1187767"/>
                  </a:lnTo>
                  <a:lnTo>
                    <a:pt x="2351252" y="1187767"/>
                  </a:lnTo>
                  <a:lnTo>
                    <a:pt x="2351252" y="1168717"/>
                  </a:lnTo>
                  <a:close/>
                </a:path>
                <a:path w="3870959" h="1241425">
                  <a:moveTo>
                    <a:pt x="2484602" y="1168717"/>
                  </a:moveTo>
                  <a:lnTo>
                    <a:pt x="2408402" y="1168717"/>
                  </a:lnTo>
                  <a:lnTo>
                    <a:pt x="2408402" y="1187767"/>
                  </a:lnTo>
                  <a:lnTo>
                    <a:pt x="2484602" y="1187767"/>
                  </a:lnTo>
                  <a:lnTo>
                    <a:pt x="2484602" y="1168717"/>
                  </a:lnTo>
                  <a:close/>
                </a:path>
                <a:path w="3870959" h="1241425">
                  <a:moveTo>
                    <a:pt x="2617952" y="1168717"/>
                  </a:moveTo>
                  <a:lnTo>
                    <a:pt x="2541752" y="1168717"/>
                  </a:lnTo>
                  <a:lnTo>
                    <a:pt x="2541752" y="1187767"/>
                  </a:lnTo>
                  <a:lnTo>
                    <a:pt x="2617952" y="1187767"/>
                  </a:lnTo>
                  <a:lnTo>
                    <a:pt x="2617952" y="1168717"/>
                  </a:lnTo>
                  <a:close/>
                </a:path>
                <a:path w="3870959" h="1241425">
                  <a:moveTo>
                    <a:pt x="2639720" y="1102321"/>
                  </a:moveTo>
                  <a:lnTo>
                    <a:pt x="2620670" y="1102321"/>
                  </a:lnTo>
                  <a:lnTo>
                    <a:pt x="2620670" y="1178521"/>
                  </a:lnTo>
                  <a:lnTo>
                    <a:pt x="2639720" y="1178521"/>
                  </a:lnTo>
                  <a:lnTo>
                    <a:pt x="2639720" y="1102321"/>
                  </a:lnTo>
                  <a:close/>
                </a:path>
                <a:path w="3870959" h="1241425">
                  <a:moveTo>
                    <a:pt x="2639720" y="968971"/>
                  </a:moveTo>
                  <a:lnTo>
                    <a:pt x="2620670" y="968971"/>
                  </a:lnTo>
                  <a:lnTo>
                    <a:pt x="2620670" y="1045171"/>
                  </a:lnTo>
                  <a:lnTo>
                    <a:pt x="2639720" y="1045171"/>
                  </a:lnTo>
                  <a:lnTo>
                    <a:pt x="2639720" y="968971"/>
                  </a:lnTo>
                  <a:close/>
                </a:path>
                <a:path w="3870959" h="1241425">
                  <a:moveTo>
                    <a:pt x="2639720" y="835621"/>
                  </a:moveTo>
                  <a:lnTo>
                    <a:pt x="2620670" y="835621"/>
                  </a:lnTo>
                  <a:lnTo>
                    <a:pt x="2620670" y="911821"/>
                  </a:lnTo>
                  <a:lnTo>
                    <a:pt x="2639720" y="911821"/>
                  </a:lnTo>
                  <a:lnTo>
                    <a:pt x="2639720" y="835621"/>
                  </a:lnTo>
                  <a:close/>
                </a:path>
                <a:path w="3870959" h="1241425">
                  <a:moveTo>
                    <a:pt x="2639720" y="702271"/>
                  </a:moveTo>
                  <a:lnTo>
                    <a:pt x="2620670" y="702271"/>
                  </a:lnTo>
                  <a:lnTo>
                    <a:pt x="2620670" y="778471"/>
                  </a:lnTo>
                  <a:lnTo>
                    <a:pt x="2639720" y="778471"/>
                  </a:lnTo>
                  <a:lnTo>
                    <a:pt x="2639720" y="702271"/>
                  </a:lnTo>
                  <a:close/>
                </a:path>
                <a:path w="3870959" h="1241425">
                  <a:moveTo>
                    <a:pt x="2639720" y="568921"/>
                  </a:moveTo>
                  <a:lnTo>
                    <a:pt x="2620670" y="568921"/>
                  </a:lnTo>
                  <a:lnTo>
                    <a:pt x="2620670" y="645121"/>
                  </a:lnTo>
                  <a:lnTo>
                    <a:pt x="2639720" y="645121"/>
                  </a:lnTo>
                  <a:lnTo>
                    <a:pt x="2639720" y="568921"/>
                  </a:lnTo>
                  <a:close/>
                </a:path>
                <a:path w="3870959" h="1241425">
                  <a:moveTo>
                    <a:pt x="2693695" y="559054"/>
                  </a:moveTo>
                  <a:lnTo>
                    <a:pt x="2630195" y="432054"/>
                  </a:lnTo>
                  <a:lnTo>
                    <a:pt x="2566695" y="559054"/>
                  </a:lnTo>
                  <a:lnTo>
                    <a:pt x="2693695" y="559054"/>
                  </a:lnTo>
                  <a:close/>
                </a:path>
                <a:path w="3870959" h="1241425">
                  <a:moveTo>
                    <a:pt x="2751302" y="1168717"/>
                  </a:moveTo>
                  <a:lnTo>
                    <a:pt x="2675102" y="1168717"/>
                  </a:lnTo>
                  <a:lnTo>
                    <a:pt x="2675102" y="1187767"/>
                  </a:lnTo>
                  <a:lnTo>
                    <a:pt x="2751302" y="1187767"/>
                  </a:lnTo>
                  <a:lnTo>
                    <a:pt x="2751302" y="1168717"/>
                  </a:lnTo>
                  <a:close/>
                </a:path>
                <a:path w="3870959" h="1241425">
                  <a:moveTo>
                    <a:pt x="2884652" y="1168717"/>
                  </a:moveTo>
                  <a:lnTo>
                    <a:pt x="2808452" y="1168717"/>
                  </a:lnTo>
                  <a:lnTo>
                    <a:pt x="2808452" y="1187767"/>
                  </a:lnTo>
                  <a:lnTo>
                    <a:pt x="2884652" y="1187767"/>
                  </a:lnTo>
                  <a:lnTo>
                    <a:pt x="2884652" y="1168717"/>
                  </a:lnTo>
                  <a:close/>
                </a:path>
                <a:path w="3870959" h="1241425">
                  <a:moveTo>
                    <a:pt x="2993542" y="971664"/>
                  </a:moveTo>
                  <a:lnTo>
                    <a:pt x="2974492" y="971664"/>
                  </a:lnTo>
                  <a:lnTo>
                    <a:pt x="2974492" y="1047864"/>
                  </a:lnTo>
                  <a:lnTo>
                    <a:pt x="2993542" y="1047864"/>
                  </a:lnTo>
                  <a:lnTo>
                    <a:pt x="2993542" y="971664"/>
                  </a:lnTo>
                  <a:close/>
                </a:path>
                <a:path w="3870959" h="1241425">
                  <a:moveTo>
                    <a:pt x="2993542" y="838314"/>
                  </a:moveTo>
                  <a:lnTo>
                    <a:pt x="2974492" y="838314"/>
                  </a:lnTo>
                  <a:lnTo>
                    <a:pt x="2974492" y="914514"/>
                  </a:lnTo>
                  <a:lnTo>
                    <a:pt x="2993542" y="914514"/>
                  </a:lnTo>
                  <a:lnTo>
                    <a:pt x="2993542" y="838314"/>
                  </a:lnTo>
                  <a:close/>
                </a:path>
                <a:path w="3870959" h="1241425">
                  <a:moveTo>
                    <a:pt x="2993542" y="704964"/>
                  </a:moveTo>
                  <a:lnTo>
                    <a:pt x="2974492" y="704964"/>
                  </a:lnTo>
                  <a:lnTo>
                    <a:pt x="2974492" y="781164"/>
                  </a:lnTo>
                  <a:lnTo>
                    <a:pt x="2993542" y="781164"/>
                  </a:lnTo>
                  <a:lnTo>
                    <a:pt x="2993542" y="704964"/>
                  </a:lnTo>
                  <a:close/>
                </a:path>
                <a:path w="3870959" h="1241425">
                  <a:moveTo>
                    <a:pt x="3018002" y="1168717"/>
                  </a:moveTo>
                  <a:lnTo>
                    <a:pt x="2993542" y="1168717"/>
                  </a:lnTo>
                  <a:lnTo>
                    <a:pt x="2993542" y="1105014"/>
                  </a:lnTo>
                  <a:lnTo>
                    <a:pt x="2974492" y="1105014"/>
                  </a:lnTo>
                  <a:lnTo>
                    <a:pt x="2974492" y="1168717"/>
                  </a:lnTo>
                  <a:lnTo>
                    <a:pt x="2941802" y="1168717"/>
                  </a:lnTo>
                  <a:lnTo>
                    <a:pt x="2941802" y="1187767"/>
                  </a:lnTo>
                  <a:lnTo>
                    <a:pt x="3018002" y="1187767"/>
                  </a:lnTo>
                  <a:lnTo>
                    <a:pt x="3018002" y="1168717"/>
                  </a:lnTo>
                  <a:close/>
                </a:path>
                <a:path w="3870959" h="1241425">
                  <a:moveTo>
                    <a:pt x="3047517" y="687285"/>
                  </a:moveTo>
                  <a:lnTo>
                    <a:pt x="2984017" y="560285"/>
                  </a:lnTo>
                  <a:lnTo>
                    <a:pt x="2920517" y="687285"/>
                  </a:lnTo>
                  <a:lnTo>
                    <a:pt x="3047517" y="687285"/>
                  </a:lnTo>
                  <a:close/>
                </a:path>
                <a:path w="3870959" h="1241425">
                  <a:moveTo>
                    <a:pt x="3151352" y="1168717"/>
                  </a:moveTo>
                  <a:lnTo>
                    <a:pt x="3075152" y="1168717"/>
                  </a:lnTo>
                  <a:lnTo>
                    <a:pt x="3075152" y="1187767"/>
                  </a:lnTo>
                  <a:lnTo>
                    <a:pt x="3151352" y="1187767"/>
                  </a:lnTo>
                  <a:lnTo>
                    <a:pt x="3151352" y="1168717"/>
                  </a:lnTo>
                  <a:close/>
                </a:path>
                <a:path w="3870959" h="1241425">
                  <a:moveTo>
                    <a:pt x="3284702" y="1168717"/>
                  </a:moveTo>
                  <a:lnTo>
                    <a:pt x="3208502" y="1168717"/>
                  </a:lnTo>
                  <a:lnTo>
                    <a:pt x="3208502" y="1187767"/>
                  </a:lnTo>
                  <a:lnTo>
                    <a:pt x="3284702" y="1187767"/>
                  </a:lnTo>
                  <a:lnTo>
                    <a:pt x="3284702" y="1168717"/>
                  </a:lnTo>
                  <a:close/>
                </a:path>
                <a:path w="3870959" h="1241425">
                  <a:moveTo>
                    <a:pt x="3348863" y="1099527"/>
                  </a:moveTo>
                  <a:lnTo>
                    <a:pt x="3329813" y="1099527"/>
                  </a:lnTo>
                  <a:lnTo>
                    <a:pt x="3329813" y="1175727"/>
                  </a:lnTo>
                  <a:lnTo>
                    <a:pt x="3348863" y="1175727"/>
                  </a:lnTo>
                  <a:lnTo>
                    <a:pt x="3348863" y="1099527"/>
                  </a:lnTo>
                  <a:close/>
                </a:path>
                <a:path w="3870959" h="1241425">
                  <a:moveTo>
                    <a:pt x="3348863" y="966177"/>
                  </a:moveTo>
                  <a:lnTo>
                    <a:pt x="3329813" y="966177"/>
                  </a:lnTo>
                  <a:lnTo>
                    <a:pt x="3329813" y="1042377"/>
                  </a:lnTo>
                  <a:lnTo>
                    <a:pt x="3348863" y="1042377"/>
                  </a:lnTo>
                  <a:lnTo>
                    <a:pt x="3348863" y="966177"/>
                  </a:lnTo>
                  <a:close/>
                </a:path>
                <a:path w="3870959" h="1241425">
                  <a:moveTo>
                    <a:pt x="3402838" y="848245"/>
                  </a:moveTo>
                  <a:lnTo>
                    <a:pt x="3396488" y="835545"/>
                  </a:lnTo>
                  <a:lnTo>
                    <a:pt x="3339338" y="721245"/>
                  </a:lnTo>
                  <a:lnTo>
                    <a:pt x="3275838" y="848245"/>
                  </a:lnTo>
                  <a:lnTo>
                    <a:pt x="3329813" y="848245"/>
                  </a:lnTo>
                  <a:lnTo>
                    <a:pt x="3329813" y="909027"/>
                  </a:lnTo>
                  <a:lnTo>
                    <a:pt x="3348863" y="909027"/>
                  </a:lnTo>
                  <a:lnTo>
                    <a:pt x="3348863" y="848245"/>
                  </a:lnTo>
                  <a:lnTo>
                    <a:pt x="3402838" y="848245"/>
                  </a:lnTo>
                  <a:close/>
                </a:path>
                <a:path w="3870959" h="1241425">
                  <a:moveTo>
                    <a:pt x="3554806" y="53975"/>
                  </a:moveTo>
                  <a:lnTo>
                    <a:pt x="3478606" y="53975"/>
                  </a:lnTo>
                  <a:lnTo>
                    <a:pt x="3478606" y="73025"/>
                  </a:lnTo>
                  <a:lnTo>
                    <a:pt x="3554806" y="73025"/>
                  </a:lnTo>
                  <a:lnTo>
                    <a:pt x="3554806" y="53975"/>
                  </a:lnTo>
                  <a:close/>
                </a:path>
                <a:path w="3870959" h="1241425">
                  <a:moveTo>
                    <a:pt x="3688156" y="53987"/>
                  </a:moveTo>
                  <a:lnTo>
                    <a:pt x="3611956" y="53987"/>
                  </a:lnTo>
                  <a:lnTo>
                    <a:pt x="3611956" y="73037"/>
                  </a:lnTo>
                  <a:lnTo>
                    <a:pt x="3688156" y="73037"/>
                  </a:lnTo>
                  <a:lnTo>
                    <a:pt x="3688156" y="53987"/>
                  </a:lnTo>
                  <a:close/>
                </a:path>
                <a:path w="3870959" h="1241425">
                  <a:moveTo>
                    <a:pt x="3870477" y="63512"/>
                  </a:moveTo>
                  <a:lnTo>
                    <a:pt x="3851427" y="53987"/>
                  </a:lnTo>
                  <a:lnTo>
                    <a:pt x="3743477" y="12"/>
                  </a:lnTo>
                  <a:lnTo>
                    <a:pt x="3743477" y="127012"/>
                  </a:lnTo>
                  <a:lnTo>
                    <a:pt x="3851427" y="73037"/>
                  </a:lnTo>
                  <a:lnTo>
                    <a:pt x="3870477" y="635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3431" y="8994647"/>
              <a:ext cx="262127" cy="18592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405895" y="7476406"/>
              <a:ext cx="1101725" cy="717550"/>
            </a:xfrm>
            <a:custGeom>
              <a:avLst/>
              <a:gdLst/>
              <a:ahLst/>
              <a:cxnLst/>
              <a:rect l="l" t="t" r="r" b="b"/>
              <a:pathLst>
                <a:path w="1101725" h="717550">
                  <a:moveTo>
                    <a:pt x="7620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76200" y="19050"/>
                  </a:lnTo>
                  <a:lnTo>
                    <a:pt x="76200" y="0"/>
                  </a:lnTo>
                  <a:close/>
                </a:path>
                <a:path w="1101725" h="717550">
                  <a:moveTo>
                    <a:pt x="209550" y="0"/>
                  </a:moveTo>
                  <a:lnTo>
                    <a:pt x="133350" y="0"/>
                  </a:lnTo>
                  <a:lnTo>
                    <a:pt x="133350" y="19050"/>
                  </a:lnTo>
                  <a:lnTo>
                    <a:pt x="209550" y="19050"/>
                  </a:lnTo>
                  <a:lnTo>
                    <a:pt x="209550" y="0"/>
                  </a:lnTo>
                  <a:close/>
                </a:path>
                <a:path w="1101725" h="717550">
                  <a:moveTo>
                    <a:pt x="342900" y="0"/>
                  </a:moveTo>
                  <a:lnTo>
                    <a:pt x="266700" y="0"/>
                  </a:lnTo>
                  <a:lnTo>
                    <a:pt x="266700" y="19050"/>
                  </a:lnTo>
                  <a:lnTo>
                    <a:pt x="342900" y="19050"/>
                  </a:lnTo>
                  <a:lnTo>
                    <a:pt x="342900" y="0"/>
                  </a:lnTo>
                  <a:close/>
                </a:path>
                <a:path w="1101725" h="717550">
                  <a:moveTo>
                    <a:pt x="476250" y="0"/>
                  </a:moveTo>
                  <a:lnTo>
                    <a:pt x="400050" y="0"/>
                  </a:lnTo>
                  <a:lnTo>
                    <a:pt x="400050" y="19050"/>
                  </a:lnTo>
                  <a:lnTo>
                    <a:pt x="476250" y="19050"/>
                  </a:lnTo>
                  <a:lnTo>
                    <a:pt x="476250" y="0"/>
                  </a:lnTo>
                  <a:close/>
                </a:path>
                <a:path w="1101725" h="717550">
                  <a:moveTo>
                    <a:pt x="612985" y="0"/>
                  </a:moveTo>
                  <a:lnTo>
                    <a:pt x="533400" y="0"/>
                  </a:lnTo>
                  <a:lnTo>
                    <a:pt x="533400" y="19050"/>
                  </a:lnTo>
                  <a:lnTo>
                    <a:pt x="607725" y="19050"/>
                  </a:lnTo>
                  <a:lnTo>
                    <a:pt x="600075" y="11399"/>
                  </a:lnTo>
                  <a:lnTo>
                    <a:pt x="598200" y="11399"/>
                  </a:lnTo>
                  <a:lnTo>
                    <a:pt x="598200" y="9525"/>
                  </a:lnTo>
                  <a:lnTo>
                    <a:pt x="617250" y="9525"/>
                  </a:lnTo>
                  <a:lnTo>
                    <a:pt x="617250" y="4264"/>
                  </a:lnTo>
                  <a:lnTo>
                    <a:pt x="612985" y="0"/>
                  </a:lnTo>
                  <a:close/>
                </a:path>
                <a:path w="1101725" h="717550">
                  <a:moveTo>
                    <a:pt x="598200" y="9525"/>
                  </a:moveTo>
                  <a:lnTo>
                    <a:pt x="598200" y="11399"/>
                  </a:lnTo>
                  <a:lnTo>
                    <a:pt x="600075" y="11399"/>
                  </a:lnTo>
                  <a:lnTo>
                    <a:pt x="598200" y="9525"/>
                  </a:lnTo>
                  <a:close/>
                </a:path>
                <a:path w="1101725" h="717550">
                  <a:moveTo>
                    <a:pt x="617250" y="9525"/>
                  </a:moveTo>
                  <a:lnTo>
                    <a:pt x="598200" y="9525"/>
                  </a:lnTo>
                  <a:lnTo>
                    <a:pt x="600075" y="11399"/>
                  </a:lnTo>
                  <a:lnTo>
                    <a:pt x="617250" y="11399"/>
                  </a:lnTo>
                  <a:lnTo>
                    <a:pt x="617250" y="9525"/>
                  </a:lnTo>
                  <a:close/>
                </a:path>
                <a:path w="1101725" h="717550">
                  <a:moveTo>
                    <a:pt x="617250" y="68549"/>
                  </a:moveTo>
                  <a:lnTo>
                    <a:pt x="598200" y="68549"/>
                  </a:lnTo>
                  <a:lnTo>
                    <a:pt x="598200" y="144749"/>
                  </a:lnTo>
                  <a:lnTo>
                    <a:pt x="617250" y="144749"/>
                  </a:lnTo>
                  <a:lnTo>
                    <a:pt x="617250" y="68549"/>
                  </a:lnTo>
                  <a:close/>
                </a:path>
                <a:path w="1101725" h="717550">
                  <a:moveTo>
                    <a:pt x="617250" y="201899"/>
                  </a:moveTo>
                  <a:lnTo>
                    <a:pt x="598200" y="201899"/>
                  </a:lnTo>
                  <a:lnTo>
                    <a:pt x="598200" y="278099"/>
                  </a:lnTo>
                  <a:lnTo>
                    <a:pt x="617250" y="278099"/>
                  </a:lnTo>
                  <a:lnTo>
                    <a:pt x="617250" y="201899"/>
                  </a:lnTo>
                  <a:close/>
                </a:path>
                <a:path w="1101725" h="717550">
                  <a:moveTo>
                    <a:pt x="617250" y="335249"/>
                  </a:moveTo>
                  <a:lnTo>
                    <a:pt x="598200" y="335249"/>
                  </a:lnTo>
                  <a:lnTo>
                    <a:pt x="598200" y="411449"/>
                  </a:lnTo>
                  <a:lnTo>
                    <a:pt x="617250" y="411449"/>
                  </a:lnTo>
                  <a:lnTo>
                    <a:pt x="617250" y="335249"/>
                  </a:lnTo>
                  <a:close/>
                </a:path>
                <a:path w="1101725" h="717550">
                  <a:moveTo>
                    <a:pt x="617250" y="468599"/>
                  </a:moveTo>
                  <a:lnTo>
                    <a:pt x="598200" y="468599"/>
                  </a:lnTo>
                  <a:lnTo>
                    <a:pt x="598200" y="544799"/>
                  </a:lnTo>
                  <a:lnTo>
                    <a:pt x="617250" y="544799"/>
                  </a:lnTo>
                  <a:lnTo>
                    <a:pt x="617250" y="468599"/>
                  </a:lnTo>
                  <a:close/>
                </a:path>
                <a:path w="1101725" h="717550">
                  <a:moveTo>
                    <a:pt x="617250" y="601949"/>
                  </a:moveTo>
                  <a:lnTo>
                    <a:pt x="598200" y="601949"/>
                  </a:lnTo>
                  <a:lnTo>
                    <a:pt x="598200" y="658684"/>
                  </a:lnTo>
                  <a:lnTo>
                    <a:pt x="602465" y="662948"/>
                  </a:lnTo>
                  <a:lnTo>
                    <a:pt x="632451" y="662948"/>
                  </a:lnTo>
                  <a:lnTo>
                    <a:pt x="632451" y="653423"/>
                  </a:lnTo>
                  <a:lnTo>
                    <a:pt x="617250" y="653423"/>
                  </a:lnTo>
                  <a:lnTo>
                    <a:pt x="607725" y="643898"/>
                  </a:lnTo>
                  <a:lnTo>
                    <a:pt x="617250" y="643898"/>
                  </a:lnTo>
                  <a:lnTo>
                    <a:pt x="617250" y="601949"/>
                  </a:lnTo>
                  <a:close/>
                </a:path>
                <a:path w="1101725" h="717550">
                  <a:moveTo>
                    <a:pt x="617250" y="643898"/>
                  </a:moveTo>
                  <a:lnTo>
                    <a:pt x="607725" y="643898"/>
                  </a:lnTo>
                  <a:lnTo>
                    <a:pt x="617250" y="653423"/>
                  </a:lnTo>
                  <a:lnTo>
                    <a:pt x="617250" y="643898"/>
                  </a:lnTo>
                  <a:close/>
                </a:path>
                <a:path w="1101725" h="717550">
                  <a:moveTo>
                    <a:pt x="632451" y="643898"/>
                  </a:moveTo>
                  <a:lnTo>
                    <a:pt x="617250" y="643898"/>
                  </a:lnTo>
                  <a:lnTo>
                    <a:pt x="617250" y="653423"/>
                  </a:lnTo>
                  <a:lnTo>
                    <a:pt x="632451" y="653423"/>
                  </a:lnTo>
                  <a:lnTo>
                    <a:pt x="632451" y="643898"/>
                  </a:lnTo>
                  <a:close/>
                </a:path>
                <a:path w="1101725" h="717550">
                  <a:moveTo>
                    <a:pt x="765801" y="643898"/>
                  </a:moveTo>
                  <a:lnTo>
                    <a:pt x="689601" y="643898"/>
                  </a:lnTo>
                  <a:lnTo>
                    <a:pt x="689601" y="662948"/>
                  </a:lnTo>
                  <a:lnTo>
                    <a:pt x="765801" y="662948"/>
                  </a:lnTo>
                  <a:lnTo>
                    <a:pt x="765801" y="643898"/>
                  </a:lnTo>
                  <a:close/>
                </a:path>
                <a:path w="1101725" h="717550">
                  <a:moveTo>
                    <a:pt x="899151" y="643898"/>
                  </a:moveTo>
                  <a:lnTo>
                    <a:pt x="822951" y="643898"/>
                  </a:lnTo>
                  <a:lnTo>
                    <a:pt x="822951" y="662948"/>
                  </a:lnTo>
                  <a:lnTo>
                    <a:pt x="899151" y="662948"/>
                  </a:lnTo>
                  <a:lnTo>
                    <a:pt x="899151" y="643898"/>
                  </a:lnTo>
                  <a:close/>
                </a:path>
                <a:path w="1101725" h="717550">
                  <a:moveTo>
                    <a:pt x="974150" y="589923"/>
                  </a:moveTo>
                  <a:lnTo>
                    <a:pt x="974150" y="716923"/>
                  </a:lnTo>
                  <a:lnTo>
                    <a:pt x="1082100" y="662948"/>
                  </a:lnTo>
                  <a:lnTo>
                    <a:pt x="986850" y="662948"/>
                  </a:lnTo>
                  <a:lnTo>
                    <a:pt x="986850" y="643898"/>
                  </a:lnTo>
                  <a:lnTo>
                    <a:pt x="1082100" y="643898"/>
                  </a:lnTo>
                  <a:lnTo>
                    <a:pt x="974150" y="589923"/>
                  </a:lnTo>
                  <a:close/>
                </a:path>
                <a:path w="1101725" h="717550">
                  <a:moveTo>
                    <a:pt x="974150" y="643898"/>
                  </a:moveTo>
                  <a:lnTo>
                    <a:pt x="956301" y="643898"/>
                  </a:lnTo>
                  <a:lnTo>
                    <a:pt x="956301" y="662948"/>
                  </a:lnTo>
                  <a:lnTo>
                    <a:pt x="974150" y="662948"/>
                  </a:lnTo>
                  <a:lnTo>
                    <a:pt x="974150" y="643898"/>
                  </a:lnTo>
                  <a:close/>
                </a:path>
                <a:path w="1101725" h="717550">
                  <a:moveTo>
                    <a:pt x="1082100" y="643898"/>
                  </a:moveTo>
                  <a:lnTo>
                    <a:pt x="986850" y="643898"/>
                  </a:lnTo>
                  <a:lnTo>
                    <a:pt x="986850" y="662948"/>
                  </a:lnTo>
                  <a:lnTo>
                    <a:pt x="1082100" y="662948"/>
                  </a:lnTo>
                  <a:lnTo>
                    <a:pt x="1101150" y="653423"/>
                  </a:lnTo>
                  <a:lnTo>
                    <a:pt x="1082100" y="6438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7" name="object 3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83622" y="7909143"/>
            <a:ext cx="987916" cy="986987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768583" y="8266176"/>
            <a:ext cx="1088135" cy="344424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72200" y="7376159"/>
            <a:ext cx="164591" cy="198119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9718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Conditioning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dirty="0"/>
              <a:t>Guidance</a:t>
            </a:r>
            <a:r>
              <a:rPr spc="-19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3" name="object 3"/>
          <p:cNvSpPr/>
          <p:nvPr/>
        </p:nvSpPr>
        <p:spPr>
          <a:xfrm>
            <a:off x="3874770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6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6" y="2786266"/>
                </a:lnTo>
                <a:lnTo>
                  <a:pt x="1935177" y="2770836"/>
                </a:lnTo>
                <a:lnTo>
                  <a:pt x="1977609" y="2754080"/>
                </a:lnTo>
                <a:lnTo>
                  <a:pt x="2019366" y="2736024"/>
                </a:lnTo>
                <a:lnTo>
                  <a:pt x="2060424" y="2716692"/>
                </a:lnTo>
                <a:lnTo>
                  <a:pt x="2100757" y="2696109"/>
                </a:lnTo>
                <a:lnTo>
                  <a:pt x="2140341" y="2674301"/>
                </a:lnTo>
                <a:lnTo>
                  <a:pt x="2179150" y="2651293"/>
                </a:lnTo>
                <a:lnTo>
                  <a:pt x="2217159" y="2627109"/>
                </a:lnTo>
                <a:lnTo>
                  <a:pt x="2254343" y="2601776"/>
                </a:lnTo>
                <a:lnTo>
                  <a:pt x="2290678" y="2575316"/>
                </a:lnTo>
                <a:lnTo>
                  <a:pt x="2326138" y="2547757"/>
                </a:lnTo>
                <a:lnTo>
                  <a:pt x="2360698" y="2519122"/>
                </a:lnTo>
                <a:lnTo>
                  <a:pt x="2394333" y="2489437"/>
                </a:lnTo>
                <a:lnTo>
                  <a:pt x="2427018" y="2458727"/>
                </a:lnTo>
                <a:lnTo>
                  <a:pt x="2458728" y="2427017"/>
                </a:lnTo>
                <a:lnTo>
                  <a:pt x="2489438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7" y="2290678"/>
                </a:lnTo>
                <a:lnTo>
                  <a:pt x="2601776" y="2254343"/>
                </a:lnTo>
                <a:lnTo>
                  <a:pt x="2627110" y="2217159"/>
                </a:lnTo>
                <a:lnTo>
                  <a:pt x="2651294" y="2179149"/>
                </a:lnTo>
                <a:lnTo>
                  <a:pt x="2674302" y="2140340"/>
                </a:lnTo>
                <a:lnTo>
                  <a:pt x="2696110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6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6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0" y="761390"/>
                </a:lnTo>
                <a:lnTo>
                  <a:pt x="2674302" y="721807"/>
                </a:lnTo>
                <a:lnTo>
                  <a:pt x="2651294" y="682998"/>
                </a:lnTo>
                <a:lnTo>
                  <a:pt x="2627110" y="644989"/>
                </a:lnTo>
                <a:lnTo>
                  <a:pt x="2601776" y="607804"/>
                </a:lnTo>
                <a:lnTo>
                  <a:pt x="2575317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8" y="467815"/>
                </a:lnTo>
                <a:lnTo>
                  <a:pt x="2458728" y="435130"/>
                </a:lnTo>
                <a:lnTo>
                  <a:pt x="2427018" y="403420"/>
                </a:lnTo>
                <a:lnTo>
                  <a:pt x="2394333" y="372710"/>
                </a:lnTo>
                <a:lnTo>
                  <a:pt x="2360698" y="343025"/>
                </a:lnTo>
                <a:lnTo>
                  <a:pt x="2326138" y="314390"/>
                </a:lnTo>
                <a:lnTo>
                  <a:pt x="2290678" y="286831"/>
                </a:lnTo>
                <a:lnTo>
                  <a:pt x="2254343" y="260372"/>
                </a:lnTo>
                <a:lnTo>
                  <a:pt x="2217159" y="235038"/>
                </a:lnTo>
                <a:lnTo>
                  <a:pt x="2179150" y="210854"/>
                </a:lnTo>
                <a:lnTo>
                  <a:pt x="2140341" y="187846"/>
                </a:lnTo>
                <a:lnTo>
                  <a:pt x="2100757" y="166038"/>
                </a:lnTo>
                <a:lnTo>
                  <a:pt x="2060424" y="145456"/>
                </a:lnTo>
                <a:lnTo>
                  <a:pt x="2019366" y="126124"/>
                </a:lnTo>
                <a:lnTo>
                  <a:pt x="1977609" y="108067"/>
                </a:lnTo>
                <a:lnTo>
                  <a:pt x="1935177" y="91311"/>
                </a:lnTo>
                <a:lnTo>
                  <a:pt x="1892096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6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99381" y="4092955"/>
            <a:ext cx="18129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527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Explicit Conditions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499711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5" y="0"/>
                </a:moveTo>
                <a:lnTo>
                  <a:pt x="1382877" y="796"/>
                </a:lnTo>
                <a:lnTo>
                  <a:pt x="1335077" y="3168"/>
                </a:lnTo>
                <a:lnTo>
                  <a:pt x="1287702" y="7092"/>
                </a:lnTo>
                <a:lnTo>
                  <a:pt x="1240776" y="12541"/>
                </a:lnTo>
                <a:lnTo>
                  <a:pt x="1194324" y="19492"/>
                </a:lnTo>
                <a:lnTo>
                  <a:pt x="1148371" y="27918"/>
                </a:lnTo>
                <a:lnTo>
                  <a:pt x="1102943" y="37795"/>
                </a:lnTo>
                <a:lnTo>
                  <a:pt x="1058063" y="49098"/>
                </a:lnTo>
                <a:lnTo>
                  <a:pt x="1013758" y="61802"/>
                </a:lnTo>
                <a:lnTo>
                  <a:pt x="970053" y="75881"/>
                </a:lnTo>
                <a:lnTo>
                  <a:pt x="926971" y="91311"/>
                </a:lnTo>
                <a:lnTo>
                  <a:pt x="884540" y="108067"/>
                </a:lnTo>
                <a:lnTo>
                  <a:pt x="842782" y="126124"/>
                </a:lnTo>
                <a:lnTo>
                  <a:pt x="801724" y="145456"/>
                </a:lnTo>
                <a:lnTo>
                  <a:pt x="761391" y="166038"/>
                </a:lnTo>
                <a:lnTo>
                  <a:pt x="721808" y="187846"/>
                </a:lnTo>
                <a:lnTo>
                  <a:pt x="682999" y="210854"/>
                </a:lnTo>
                <a:lnTo>
                  <a:pt x="644990" y="235038"/>
                </a:lnTo>
                <a:lnTo>
                  <a:pt x="607805" y="260372"/>
                </a:lnTo>
                <a:lnTo>
                  <a:pt x="571470" y="286831"/>
                </a:lnTo>
                <a:lnTo>
                  <a:pt x="536011" y="314390"/>
                </a:lnTo>
                <a:lnTo>
                  <a:pt x="501451" y="343025"/>
                </a:lnTo>
                <a:lnTo>
                  <a:pt x="467816" y="372710"/>
                </a:lnTo>
                <a:lnTo>
                  <a:pt x="435131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6" y="501450"/>
                </a:lnTo>
                <a:lnTo>
                  <a:pt x="314391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2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2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1" y="2326137"/>
                </a:lnTo>
                <a:lnTo>
                  <a:pt x="343026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1" y="2458727"/>
                </a:lnTo>
                <a:lnTo>
                  <a:pt x="467816" y="2489437"/>
                </a:lnTo>
                <a:lnTo>
                  <a:pt x="501451" y="2519122"/>
                </a:lnTo>
                <a:lnTo>
                  <a:pt x="536011" y="2547757"/>
                </a:lnTo>
                <a:lnTo>
                  <a:pt x="571470" y="2575316"/>
                </a:lnTo>
                <a:lnTo>
                  <a:pt x="607805" y="2601776"/>
                </a:lnTo>
                <a:lnTo>
                  <a:pt x="644990" y="2627109"/>
                </a:lnTo>
                <a:lnTo>
                  <a:pt x="682999" y="2651293"/>
                </a:lnTo>
                <a:lnTo>
                  <a:pt x="721808" y="2674301"/>
                </a:lnTo>
                <a:lnTo>
                  <a:pt x="761391" y="2696109"/>
                </a:lnTo>
                <a:lnTo>
                  <a:pt x="801724" y="2716692"/>
                </a:lnTo>
                <a:lnTo>
                  <a:pt x="842782" y="2736024"/>
                </a:lnTo>
                <a:lnTo>
                  <a:pt x="884540" y="2754080"/>
                </a:lnTo>
                <a:lnTo>
                  <a:pt x="926971" y="2770836"/>
                </a:lnTo>
                <a:lnTo>
                  <a:pt x="970053" y="2786266"/>
                </a:lnTo>
                <a:lnTo>
                  <a:pt x="1013758" y="2800345"/>
                </a:lnTo>
                <a:lnTo>
                  <a:pt x="1058063" y="2813049"/>
                </a:lnTo>
                <a:lnTo>
                  <a:pt x="1102943" y="2824352"/>
                </a:lnTo>
                <a:lnTo>
                  <a:pt x="1148371" y="2834229"/>
                </a:lnTo>
                <a:lnTo>
                  <a:pt x="1194324" y="2842655"/>
                </a:lnTo>
                <a:lnTo>
                  <a:pt x="1240776" y="2849606"/>
                </a:lnTo>
                <a:lnTo>
                  <a:pt x="1287702" y="2855055"/>
                </a:lnTo>
                <a:lnTo>
                  <a:pt x="1335077" y="2858979"/>
                </a:lnTo>
                <a:lnTo>
                  <a:pt x="1382877" y="2861351"/>
                </a:lnTo>
                <a:lnTo>
                  <a:pt x="1431075" y="2862148"/>
                </a:lnTo>
                <a:lnTo>
                  <a:pt x="1479273" y="2861351"/>
                </a:lnTo>
                <a:lnTo>
                  <a:pt x="1527072" y="2858979"/>
                </a:lnTo>
                <a:lnTo>
                  <a:pt x="1574448" y="2855055"/>
                </a:lnTo>
                <a:lnTo>
                  <a:pt x="1621374" y="2849606"/>
                </a:lnTo>
                <a:lnTo>
                  <a:pt x="1667826" y="2842655"/>
                </a:lnTo>
                <a:lnTo>
                  <a:pt x="1713778" y="2834229"/>
                </a:lnTo>
                <a:lnTo>
                  <a:pt x="1759207" y="2824352"/>
                </a:lnTo>
                <a:lnTo>
                  <a:pt x="1804086" y="2813049"/>
                </a:lnTo>
                <a:lnTo>
                  <a:pt x="1848391" y="2800345"/>
                </a:lnTo>
                <a:lnTo>
                  <a:pt x="1892097" y="2786266"/>
                </a:lnTo>
                <a:lnTo>
                  <a:pt x="1935178" y="2770836"/>
                </a:lnTo>
                <a:lnTo>
                  <a:pt x="1977610" y="2754080"/>
                </a:lnTo>
                <a:lnTo>
                  <a:pt x="2019367" y="2736024"/>
                </a:lnTo>
                <a:lnTo>
                  <a:pt x="2060425" y="2716692"/>
                </a:lnTo>
                <a:lnTo>
                  <a:pt x="2100758" y="2696109"/>
                </a:lnTo>
                <a:lnTo>
                  <a:pt x="2140342" y="2674301"/>
                </a:lnTo>
                <a:lnTo>
                  <a:pt x="2179151" y="2651293"/>
                </a:lnTo>
                <a:lnTo>
                  <a:pt x="2217160" y="2627109"/>
                </a:lnTo>
                <a:lnTo>
                  <a:pt x="2254344" y="2601776"/>
                </a:lnTo>
                <a:lnTo>
                  <a:pt x="2290679" y="2575316"/>
                </a:lnTo>
                <a:lnTo>
                  <a:pt x="2326139" y="2547757"/>
                </a:lnTo>
                <a:lnTo>
                  <a:pt x="2360699" y="2519122"/>
                </a:lnTo>
                <a:lnTo>
                  <a:pt x="2394334" y="2489437"/>
                </a:lnTo>
                <a:lnTo>
                  <a:pt x="2427019" y="2458727"/>
                </a:lnTo>
                <a:lnTo>
                  <a:pt x="2458729" y="2427017"/>
                </a:lnTo>
                <a:lnTo>
                  <a:pt x="2489439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8" y="2290678"/>
                </a:lnTo>
                <a:lnTo>
                  <a:pt x="2601777" y="2254343"/>
                </a:lnTo>
                <a:lnTo>
                  <a:pt x="2627111" y="2217159"/>
                </a:lnTo>
                <a:lnTo>
                  <a:pt x="2651294" y="2179149"/>
                </a:lnTo>
                <a:lnTo>
                  <a:pt x="2674303" y="2140340"/>
                </a:lnTo>
                <a:lnTo>
                  <a:pt x="2696111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7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7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1" y="761390"/>
                </a:lnTo>
                <a:lnTo>
                  <a:pt x="2674303" y="721807"/>
                </a:lnTo>
                <a:lnTo>
                  <a:pt x="2651294" y="682998"/>
                </a:lnTo>
                <a:lnTo>
                  <a:pt x="2627111" y="644989"/>
                </a:lnTo>
                <a:lnTo>
                  <a:pt x="2601777" y="607804"/>
                </a:lnTo>
                <a:lnTo>
                  <a:pt x="2575318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9" y="467815"/>
                </a:lnTo>
                <a:lnTo>
                  <a:pt x="2458729" y="435130"/>
                </a:lnTo>
                <a:lnTo>
                  <a:pt x="2427019" y="403420"/>
                </a:lnTo>
                <a:lnTo>
                  <a:pt x="2394334" y="372710"/>
                </a:lnTo>
                <a:lnTo>
                  <a:pt x="2360699" y="343025"/>
                </a:lnTo>
                <a:lnTo>
                  <a:pt x="2326139" y="314390"/>
                </a:lnTo>
                <a:lnTo>
                  <a:pt x="2290679" y="286831"/>
                </a:lnTo>
                <a:lnTo>
                  <a:pt x="2254344" y="260372"/>
                </a:lnTo>
                <a:lnTo>
                  <a:pt x="2217160" y="235038"/>
                </a:lnTo>
                <a:lnTo>
                  <a:pt x="2179151" y="210854"/>
                </a:lnTo>
                <a:lnTo>
                  <a:pt x="2140342" y="187846"/>
                </a:lnTo>
                <a:lnTo>
                  <a:pt x="2100758" y="166038"/>
                </a:lnTo>
                <a:lnTo>
                  <a:pt x="2060425" y="145456"/>
                </a:lnTo>
                <a:lnTo>
                  <a:pt x="2019367" y="126124"/>
                </a:lnTo>
                <a:lnTo>
                  <a:pt x="1977610" y="108067"/>
                </a:lnTo>
                <a:lnTo>
                  <a:pt x="1935178" y="91311"/>
                </a:lnTo>
                <a:lnTo>
                  <a:pt x="1892097" y="75881"/>
                </a:lnTo>
                <a:lnTo>
                  <a:pt x="1848391" y="61802"/>
                </a:lnTo>
                <a:lnTo>
                  <a:pt x="1804086" y="49098"/>
                </a:lnTo>
                <a:lnTo>
                  <a:pt x="1759207" y="37795"/>
                </a:lnTo>
                <a:lnTo>
                  <a:pt x="1713778" y="27918"/>
                </a:lnTo>
                <a:lnTo>
                  <a:pt x="1667826" y="19492"/>
                </a:lnTo>
                <a:lnTo>
                  <a:pt x="1621374" y="12541"/>
                </a:lnTo>
                <a:lnTo>
                  <a:pt x="1574448" y="7092"/>
                </a:lnTo>
                <a:lnTo>
                  <a:pt x="1527072" y="3168"/>
                </a:lnTo>
                <a:lnTo>
                  <a:pt x="1479273" y="796"/>
                </a:lnTo>
                <a:lnTo>
                  <a:pt x="1431075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67981" y="4061459"/>
            <a:ext cx="1725295" cy="99821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13970">
              <a:lnSpc>
                <a:spcPts val="3820"/>
              </a:lnSpc>
              <a:spcBef>
                <a:spcPts val="21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 Guidance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266169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80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5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5" y="2786266"/>
                </a:lnTo>
                <a:lnTo>
                  <a:pt x="1935176" y="2770836"/>
                </a:lnTo>
                <a:lnTo>
                  <a:pt x="1977608" y="2754080"/>
                </a:lnTo>
                <a:lnTo>
                  <a:pt x="2019365" y="2736024"/>
                </a:lnTo>
                <a:lnTo>
                  <a:pt x="2060423" y="2716692"/>
                </a:lnTo>
                <a:lnTo>
                  <a:pt x="2100756" y="2696109"/>
                </a:lnTo>
                <a:lnTo>
                  <a:pt x="2140340" y="2674301"/>
                </a:lnTo>
                <a:lnTo>
                  <a:pt x="2179149" y="2651293"/>
                </a:lnTo>
                <a:lnTo>
                  <a:pt x="2217158" y="2627109"/>
                </a:lnTo>
                <a:lnTo>
                  <a:pt x="2254342" y="2601776"/>
                </a:lnTo>
                <a:lnTo>
                  <a:pt x="2290677" y="2575316"/>
                </a:lnTo>
                <a:lnTo>
                  <a:pt x="2326137" y="2547757"/>
                </a:lnTo>
                <a:lnTo>
                  <a:pt x="2360697" y="2519122"/>
                </a:lnTo>
                <a:lnTo>
                  <a:pt x="2394332" y="2489437"/>
                </a:lnTo>
                <a:lnTo>
                  <a:pt x="2427017" y="2458727"/>
                </a:lnTo>
                <a:lnTo>
                  <a:pt x="2458727" y="2427017"/>
                </a:lnTo>
                <a:lnTo>
                  <a:pt x="2489437" y="2394332"/>
                </a:lnTo>
                <a:lnTo>
                  <a:pt x="2519122" y="2360697"/>
                </a:lnTo>
                <a:lnTo>
                  <a:pt x="2547756" y="2326137"/>
                </a:lnTo>
                <a:lnTo>
                  <a:pt x="2575316" y="2290678"/>
                </a:lnTo>
                <a:lnTo>
                  <a:pt x="2601775" y="2254343"/>
                </a:lnTo>
                <a:lnTo>
                  <a:pt x="2627109" y="2217159"/>
                </a:lnTo>
                <a:lnTo>
                  <a:pt x="2651293" y="2179149"/>
                </a:lnTo>
                <a:lnTo>
                  <a:pt x="2674301" y="2140340"/>
                </a:lnTo>
                <a:lnTo>
                  <a:pt x="2696109" y="2100757"/>
                </a:lnTo>
                <a:lnTo>
                  <a:pt x="2716691" y="2060424"/>
                </a:lnTo>
                <a:lnTo>
                  <a:pt x="2736023" y="2019366"/>
                </a:lnTo>
                <a:lnTo>
                  <a:pt x="2754080" y="1977609"/>
                </a:lnTo>
                <a:lnTo>
                  <a:pt x="2770836" y="1935177"/>
                </a:lnTo>
                <a:lnTo>
                  <a:pt x="2786266" y="1892096"/>
                </a:lnTo>
                <a:lnTo>
                  <a:pt x="2800345" y="1848390"/>
                </a:lnTo>
                <a:lnTo>
                  <a:pt x="2813049" y="1804085"/>
                </a:lnTo>
                <a:lnTo>
                  <a:pt x="2824352" y="1759206"/>
                </a:lnTo>
                <a:lnTo>
                  <a:pt x="2834229" y="1713777"/>
                </a:lnTo>
                <a:lnTo>
                  <a:pt x="2842655" y="1667824"/>
                </a:lnTo>
                <a:lnTo>
                  <a:pt x="2849606" y="1621372"/>
                </a:lnTo>
                <a:lnTo>
                  <a:pt x="2855055" y="1574446"/>
                </a:lnTo>
                <a:lnTo>
                  <a:pt x="2858979" y="1527071"/>
                </a:lnTo>
                <a:lnTo>
                  <a:pt x="2861351" y="1479272"/>
                </a:lnTo>
                <a:lnTo>
                  <a:pt x="2862148" y="1431074"/>
                </a:lnTo>
                <a:lnTo>
                  <a:pt x="2861351" y="1382875"/>
                </a:lnTo>
                <a:lnTo>
                  <a:pt x="2858979" y="1335076"/>
                </a:lnTo>
                <a:lnTo>
                  <a:pt x="2855055" y="1287701"/>
                </a:lnTo>
                <a:lnTo>
                  <a:pt x="2849606" y="1240775"/>
                </a:lnTo>
                <a:lnTo>
                  <a:pt x="2842655" y="1194323"/>
                </a:lnTo>
                <a:lnTo>
                  <a:pt x="2834229" y="1148370"/>
                </a:lnTo>
                <a:lnTo>
                  <a:pt x="2824352" y="1102941"/>
                </a:lnTo>
                <a:lnTo>
                  <a:pt x="2813049" y="1058062"/>
                </a:lnTo>
                <a:lnTo>
                  <a:pt x="2800345" y="1013757"/>
                </a:lnTo>
                <a:lnTo>
                  <a:pt x="2786266" y="970052"/>
                </a:lnTo>
                <a:lnTo>
                  <a:pt x="2770836" y="926970"/>
                </a:lnTo>
                <a:lnTo>
                  <a:pt x="2754080" y="884539"/>
                </a:lnTo>
                <a:lnTo>
                  <a:pt x="2736023" y="842781"/>
                </a:lnTo>
                <a:lnTo>
                  <a:pt x="2716691" y="801723"/>
                </a:lnTo>
                <a:lnTo>
                  <a:pt x="2696109" y="761390"/>
                </a:lnTo>
                <a:lnTo>
                  <a:pt x="2674301" y="721807"/>
                </a:lnTo>
                <a:lnTo>
                  <a:pt x="2651293" y="682998"/>
                </a:lnTo>
                <a:lnTo>
                  <a:pt x="2627109" y="644989"/>
                </a:lnTo>
                <a:lnTo>
                  <a:pt x="2601775" y="607804"/>
                </a:lnTo>
                <a:lnTo>
                  <a:pt x="2575316" y="571470"/>
                </a:lnTo>
                <a:lnTo>
                  <a:pt x="2547756" y="536010"/>
                </a:lnTo>
                <a:lnTo>
                  <a:pt x="2519122" y="501450"/>
                </a:lnTo>
                <a:lnTo>
                  <a:pt x="2489437" y="467815"/>
                </a:lnTo>
                <a:lnTo>
                  <a:pt x="2458727" y="435130"/>
                </a:lnTo>
                <a:lnTo>
                  <a:pt x="2427017" y="403420"/>
                </a:lnTo>
                <a:lnTo>
                  <a:pt x="2394332" y="372710"/>
                </a:lnTo>
                <a:lnTo>
                  <a:pt x="2360697" y="343025"/>
                </a:lnTo>
                <a:lnTo>
                  <a:pt x="2326137" y="314390"/>
                </a:lnTo>
                <a:lnTo>
                  <a:pt x="2290677" y="286831"/>
                </a:lnTo>
                <a:lnTo>
                  <a:pt x="2254342" y="260372"/>
                </a:lnTo>
                <a:lnTo>
                  <a:pt x="2217158" y="235038"/>
                </a:lnTo>
                <a:lnTo>
                  <a:pt x="2179149" y="210854"/>
                </a:lnTo>
                <a:lnTo>
                  <a:pt x="2140340" y="187846"/>
                </a:lnTo>
                <a:lnTo>
                  <a:pt x="2100756" y="166038"/>
                </a:lnTo>
                <a:lnTo>
                  <a:pt x="2060423" y="145456"/>
                </a:lnTo>
                <a:lnTo>
                  <a:pt x="2019365" y="126124"/>
                </a:lnTo>
                <a:lnTo>
                  <a:pt x="1977608" y="108067"/>
                </a:lnTo>
                <a:lnTo>
                  <a:pt x="1935176" y="91311"/>
                </a:lnTo>
                <a:lnTo>
                  <a:pt x="1892095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5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74113" y="3817620"/>
            <a:ext cx="184658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Classifier-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free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Guidance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84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85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581910">
              <a:lnSpc>
                <a:spcPct val="100000"/>
              </a:lnSpc>
              <a:spcBef>
                <a:spcPts val="100"/>
              </a:spcBef>
            </a:pPr>
            <a:r>
              <a:rPr dirty="0"/>
              <a:t>Classifier</a:t>
            </a:r>
            <a:r>
              <a:rPr spc="-165" dirty="0"/>
              <a:t> </a:t>
            </a:r>
            <a:r>
              <a:rPr dirty="0"/>
              <a:t>Guidance:</a:t>
            </a:r>
            <a:r>
              <a:rPr spc="-160" dirty="0"/>
              <a:t> </a:t>
            </a:r>
            <a:r>
              <a:rPr dirty="0"/>
              <a:t>Bayes’</a:t>
            </a:r>
            <a:r>
              <a:rPr spc="-160" dirty="0"/>
              <a:t> </a:t>
            </a:r>
            <a:r>
              <a:rPr dirty="0"/>
              <a:t>Rule</a:t>
            </a:r>
            <a:r>
              <a:rPr spc="-160" dirty="0"/>
              <a:t> </a:t>
            </a:r>
            <a:r>
              <a:rPr dirty="0"/>
              <a:t>in</a:t>
            </a:r>
            <a:r>
              <a:rPr spc="-165" dirty="0"/>
              <a:t> </a:t>
            </a:r>
            <a:r>
              <a:rPr spc="-10" dirty="0"/>
              <a:t>Action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9990" y="3499103"/>
            <a:ext cx="6972934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Recall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when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sampling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from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conditional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model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44252" y="3499103"/>
            <a:ext cx="46443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basically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need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estimation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of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990" y="4898135"/>
            <a:ext cx="3705225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Using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Bayes’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rule,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have: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9990" y="7004304"/>
            <a:ext cx="419989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Introduce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guidance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scale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FF0000"/>
                </a:solidFill>
                <a:latin typeface="Arial MT"/>
                <a:cs typeface="Arial MT"/>
              </a:rPr>
              <a:t>(</a:t>
            </a:r>
            <a:r>
              <a:rPr sz="2300" i="1" spc="-20" dirty="0">
                <a:solidFill>
                  <a:srgbClr val="FF0000"/>
                </a:solidFill>
                <a:latin typeface="Sitka Subheading"/>
                <a:cs typeface="Sitka Subheading"/>
              </a:rPr>
              <a:t>w</a:t>
            </a:r>
            <a:r>
              <a:rPr sz="2300" spc="-20" dirty="0">
                <a:solidFill>
                  <a:srgbClr val="FF0000"/>
                </a:solidFill>
                <a:latin typeface="Arial MT"/>
                <a:cs typeface="Arial MT"/>
              </a:rPr>
              <a:t>)</a:t>
            </a:r>
            <a:r>
              <a:rPr sz="2300" spc="-20" dirty="0">
                <a:latin typeface="Trebuchet MS"/>
                <a:cs typeface="Trebuchet MS"/>
              </a:rPr>
              <a:t>:</a:t>
            </a:r>
            <a:endParaRPr sz="23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49528" y="3547871"/>
            <a:ext cx="2145792" cy="35356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34528" y="3538728"/>
            <a:ext cx="941831" cy="353568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258055" y="5149513"/>
            <a:ext cx="9787255" cy="1266825"/>
            <a:chOff x="4258055" y="5149513"/>
            <a:chExt cx="9787255" cy="1266825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58055" y="5641848"/>
              <a:ext cx="9787128" cy="77419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802798" y="5149519"/>
              <a:ext cx="2840355" cy="508634"/>
            </a:xfrm>
            <a:custGeom>
              <a:avLst/>
              <a:gdLst/>
              <a:ahLst/>
              <a:cxnLst/>
              <a:rect l="l" t="t" r="r" b="b"/>
              <a:pathLst>
                <a:path w="2840355" h="508635">
                  <a:moveTo>
                    <a:pt x="324980" y="508038"/>
                  </a:moveTo>
                  <a:lnTo>
                    <a:pt x="319747" y="456984"/>
                  </a:lnTo>
                  <a:lnTo>
                    <a:pt x="316306" y="423291"/>
                  </a:lnTo>
                  <a:lnTo>
                    <a:pt x="288150" y="441159"/>
                  </a:lnTo>
                  <a:lnTo>
                    <a:pt x="8039" y="0"/>
                  </a:lnTo>
                  <a:lnTo>
                    <a:pt x="0" y="5105"/>
                  </a:lnTo>
                  <a:lnTo>
                    <a:pt x="280111" y="446265"/>
                  </a:lnTo>
                  <a:lnTo>
                    <a:pt x="251968" y="464134"/>
                  </a:lnTo>
                  <a:lnTo>
                    <a:pt x="324980" y="508038"/>
                  </a:lnTo>
                  <a:close/>
                </a:path>
                <a:path w="2840355" h="508635">
                  <a:moveTo>
                    <a:pt x="2839809" y="23202"/>
                  </a:moveTo>
                  <a:lnTo>
                    <a:pt x="2831604" y="18364"/>
                  </a:lnTo>
                  <a:lnTo>
                    <a:pt x="2591422" y="424522"/>
                  </a:lnTo>
                  <a:lnTo>
                    <a:pt x="2562733" y="407555"/>
                  </a:lnTo>
                  <a:lnTo>
                    <a:pt x="2556738" y="492544"/>
                  </a:lnTo>
                  <a:lnTo>
                    <a:pt x="2628328" y="446341"/>
                  </a:lnTo>
                  <a:lnTo>
                    <a:pt x="2618105" y="440309"/>
                  </a:lnTo>
                  <a:lnTo>
                    <a:pt x="2599626" y="429374"/>
                  </a:lnTo>
                  <a:lnTo>
                    <a:pt x="2839809" y="232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953110" y="4657852"/>
            <a:ext cx="15957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890C58"/>
                </a:solidFill>
                <a:latin typeface="Arial MT"/>
                <a:cs typeface="Arial MT"/>
              </a:rPr>
              <a:t>Score</a:t>
            </a:r>
            <a:r>
              <a:rPr sz="2200" spc="-55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200" spc="-20" dirty="0">
                <a:solidFill>
                  <a:srgbClr val="890C58"/>
                </a:solidFill>
                <a:latin typeface="Arial MT"/>
                <a:cs typeface="Arial MT"/>
              </a:rPr>
              <a:t>model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74933" y="4657852"/>
            <a:ext cx="22637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890C58"/>
                </a:solidFill>
                <a:latin typeface="Arial MT"/>
                <a:cs typeface="Arial MT"/>
              </a:rPr>
              <a:t>Classifier</a:t>
            </a:r>
            <a:r>
              <a:rPr sz="2200" spc="-65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90C58"/>
                </a:solidFill>
                <a:latin typeface="Arial MT"/>
                <a:cs typeface="Arial MT"/>
              </a:rPr>
              <a:t>gradient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71744" y="7723631"/>
            <a:ext cx="6839711" cy="32003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09061" y="9271507"/>
            <a:ext cx="1142873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0"/>
              </a:lnSpc>
              <a:spcBef>
                <a:spcPts val="100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Song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et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al.,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“Score-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Based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Generative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Modeling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through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Stochastic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Differential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Equations”,</a:t>
            </a:r>
            <a:r>
              <a:rPr sz="1800" u="sng" spc="-3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i="1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ICLR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2021</a:t>
            </a:r>
            <a:endParaRPr sz="1800">
              <a:latin typeface="Trebuchet MS"/>
              <a:cs typeface="Trebuchet MS"/>
            </a:endParaRPr>
          </a:p>
          <a:p>
            <a:pPr marL="12700" marR="5080">
              <a:lnSpc>
                <a:spcPts val="1900"/>
              </a:lnSpc>
              <a:spcBef>
                <a:spcPts val="204"/>
              </a:spcBef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Nie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et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al.,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“Controllable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and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Compositional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Generation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with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Latent-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Space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Energy-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Based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Models”,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NeurIPS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 </a:t>
            </a:r>
            <a:r>
              <a:rPr sz="1800" u="sng" spc="-2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7"/>
              </a:rPr>
              <a:t>2021</a:t>
            </a:r>
            <a:r>
              <a:rPr sz="1800" spc="-20" dirty="0">
                <a:solidFill>
                  <a:srgbClr val="0071C5"/>
                </a:solidFill>
                <a:latin typeface="Trebuchet MS"/>
                <a:cs typeface="Trebuchet MS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Dhariwal</a:t>
            </a:r>
            <a:r>
              <a:rPr sz="1800" u="sng" spc="-5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and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Nichol,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“Diffusion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models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beat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GANs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on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image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synthesis”,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NeurIPS</a:t>
            </a:r>
            <a:r>
              <a:rPr sz="1800" u="sng" spc="-5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2021.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8"/>
              </a:rPr>
              <a:t> </a:t>
            </a:r>
            <a:endParaRPr sz="1800">
              <a:latin typeface="Trebuchet MS"/>
              <a:cs typeface="Trebuchet MS"/>
            </a:endParaRPr>
          </a:p>
        </p:txBody>
      </p:sp>
      <p:pic>
        <p:nvPicPr>
          <p:cNvPr id="17" name="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299959" y="8406383"/>
            <a:ext cx="3508248" cy="530351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15320" y="9789668"/>
            <a:ext cx="1809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C8C8C"/>
                </a:solidFill>
                <a:latin typeface="Trebuchet MS"/>
                <a:cs typeface="Trebuchet MS"/>
              </a:rPr>
              <a:t>86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2971800">
              <a:lnSpc>
                <a:spcPct val="100000"/>
              </a:lnSpc>
              <a:spcBef>
                <a:spcPts val="100"/>
              </a:spcBef>
            </a:pPr>
            <a:r>
              <a:rPr dirty="0"/>
              <a:t>Conditioning</a:t>
            </a:r>
            <a:r>
              <a:rPr spc="-200" dirty="0"/>
              <a:t> </a:t>
            </a:r>
            <a:r>
              <a:rPr dirty="0"/>
              <a:t>and</a:t>
            </a:r>
            <a:r>
              <a:rPr spc="-195" dirty="0"/>
              <a:t> </a:t>
            </a:r>
            <a:r>
              <a:rPr dirty="0"/>
              <a:t>Guidance</a:t>
            </a:r>
            <a:r>
              <a:rPr spc="-190" dirty="0"/>
              <a:t> </a:t>
            </a:r>
            <a:r>
              <a:rPr spc="-10" dirty="0"/>
              <a:t>Techniques</a:t>
            </a:r>
          </a:p>
        </p:txBody>
      </p:sp>
      <p:sp>
        <p:nvSpPr>
          <p:cNvPr id="4" name="object 4"/>
          <p:cNvSpPr/>
          <p:nvPr/>
        </p:nvSpPr>
        <p:spPr>
          <a:xfrm>
            <a:off x="3874770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6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6" y="2786266"/>
                </a:lnTo>
                <a:lnTo>
                  <a:pt x="1935177" y="2770836"/>
                </a:lnTo>
                <a:lnTo>
                  <a:pt x="1977609" y="2754080"/>
                </a:lnTo>
                <a:lnTo>
                  <a:pt x="2019366" y="2736024"/>
                </a:lnTo>
                <a:lnTo>
                  <a:pt x="2060424" y="2716692"/>
                </a:lnTo>
                <a:lnTo>
                  <a:pt x="2100757" y="2696109"/>
                </a:lnTo>
                <a:lnTo>
                  <a:pt x="2140341" y="2674301"/>
                </a:lnTo>
                <a:lnTo>
                  <a:pt x="2179150" y="2651293"/>
                </a:lnTo>
                <a:lnTo>
                  <a:pt x="2217159" y="2627109"/>
                </a:lnTo>
                <a:lnTo>
                  <a:pt x="2254343" y="2601776"/>
                </a:lnTo>
                <a:lnTo>
                  <a:pt x="2290678" y="2575316"/>
                </a:lnTo>
                <a:lnTo>
                  <a:pt x="2326138" y="2547757"/>
                </a:lnTo>
                <a:lnTo>
                  <a:pt x="2360698" y="2519122"/>
                </a:lnTo>
                <a:lnTo>
                  <a:pt x="2394333" y="2489437"/>
                </a:lnTo>
                <a:lnTo>
                  <a:pt x="2427018" y="2458727"/>
                </a:lnTo>
                <a:lnTo>
                  <a:pt x="2458728" y="2427017"/>
                </a:lnTo>
                <a:lnTo>
                  <a:pt x="2489438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7" y="2290678"/>
                </a:lnTo>
                <a:lnTo>
                  <a:pt x="2601776" y="2254343"/>
                </a:lnTo>
                <a:lnTo>
                  <a:pt x="2627110" y="2217159"/>
                </a:lnTo>
                <a:lnTo>
                  <a:pt x="2651294" y="2179149"/>
                </a:lnTo>
                <a:lnTo>
                  <a:pt x="2674302" y="2140340"/>
                </a:lnTo>
                <a:lnTo>
                  <a:pt x="2696110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6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6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0" y="761390"/>
                </a:lnTo>
                <a:lnTo>
                  <a:pt x="2674302" y="721807"/>
                </a:lnTo>
                <a:lnTo>
                  <a:pt x="2651294" y="682998"/>
                </a:lnTo>
                <a:lnTo>
                  <a:pt x="2627110" y="644989"/>
                </a:lnTo>
                <a:lnTo>
                  <a:pt x="2601776" y="607804"/>
                </a:lnTo>
                <a:lnTo>
                  <a:pt x="2575317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8" y="467815"/>
                </a:lnTo>
                <a:lnTo>
                  <a:pt x="2458728" y="435130"/>
                </a:lnTo>
                <a:lnTo>
                  <a:pt x="2427018" y="403420"/>
                </a:lnTo>
                <a:lnTo>
                  <a:pt x="2394333" y="372710"/>
                </a:lnTo>
                <a:lnTo>
                  <a:pt x="2360698" y="343025"/>
                </a:lnTo>
                <a:lnTo>
                  <a:pt x="2326138" y="314390"/>
                </a:lnTo>
                <a:lnTo>
                  <a:pt x="2290678" y="286831"/>
                </a:lnTo>
                <a:lnTo>
                  <a:pt x="2254343" y="260372"/>
                </a:lnTo>
                <a:lnTo>
                  <a:pt x="2217159" y="235038"/>
                </a:lnTo>
                <a:lnTo>
                  <a:pt x="2179150" y="210854"/>
                </a:lnTo>
                <a:lnTo>
                  <a:pt x="2140341" y="187846"/>
                </a:lnTo>
                <a:lnTo>
                  <a:pt x="2100757" y="166038"/>
                </a:lnTo>
                <a:lnTo>
                  <a:pt x="2060424" y="145456"/>
                </a:lnTo>
                <a:lnTo>
                  <a:pt x="2019366" y="126124"/>
                </a:lnTo>
                <a:lnTo>
                  <a:pt x="1977609" y="108067"/>
                </a:lnTo>
                <a:lnTo>
                  <a:pt x="1935177" y="91311"/>
                </a:lnTo>
                <a:lnTo>
                  <a:pt x="1892096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6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99381" y="4092955"/>
            <a:ext cx="18129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5270">
              <a:lnSpc>
                <a:spcPct val="100000"/>
              </a:lnSpc>
              <a:spcBef>
                <a:spcPts val="100"/>
              </a:spcBef>
            </a:pPr>
            <a:r>
              <a:rPr sz="3000" spc="-10" dirty="0">
                <a:solidFill>
                  <a:srgbClr val="FFFFFF"/>
                </a:solidFill>
                <a:latin typeface="Trebuchet MS"/>
                <a:cs typeface="Trebuchet MS"/>
              </a:rPr>
              <a:t>Explicit Conditions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499711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79" h="2862579">
                <a:moveTo>
                  <a:pt x="1431075" y="0"/>
                </a:moveTo>
                <a:lnTo>
                  <a:pt x="1382877" y="796"/>
                </a:lnTo>
                <a:lnTo>
                  <a:pt x="1335077" y="3168"/>
                </a:lnTo>
                <a:lnTo>
                  <a:pt x="1287702" y="7092"/>
                </a:lnTo>
                <a:lnTo>
                  <a:pt x="1240776" y="12541"/>
                </a:lnTo>
                <a:lnTo>
                  <a:pt x="1194324" y="19492"/>
                </a:lnTo>
                <a:lnTo>
                  <a:pt x="1148371" y="27918"/>
                </a:lnTo>
                <a:lnTo>
                  <a:pt x="1102943" y="37795"/>
                </a:lnTo>
                <a:lnTo>
                  <a:pt x="1058063" y="49098"/>
                </a:lnTo>
                <a:lnTo>
                  <a:pt x="1013758" y="61802"/>
                </a:lnTo>
                <a:lnTo>
                  <a:pt x="970053" y="75881"/>
                </a:lnTo>
                <a:lnTo>
                  <a:pt x="926971" y="91311"/>
                </a:lnTo>
                <a:lnTo>
                  <a:pt x="884540" y="108067"/>
                </a:lnTo>
                <a:lnTo>
                  <a:pt x="842782" y="126124"/>
                </a:lnTo>
                <a:lnTo>
                  <a:pt x="801724" y="145456"/>
                </a:lnTo>
                <a:lnTo>
                  <a:pt x="761391" y="166038"/>
                </a:lnTo>
                <a:lnTo>
                  <a:pt x="721808" y="187846"/>
                </a:lnTo>
                <a:lnTo>
                  <a:pt x="682999" y="210854"/>
                </a:lnTo>
                <a:lnTo>
                  <a:pt x="644990" y="235038"/>
                </a:lnTo>
                <a:lnTo>
                  <a:pt x="607805" y="260372"/>
                </a:lnTo>
                <a:lnTo>
                  <a:pt x="571470" y="286831"/>
                </a:lnTo>
                <a:lnTo>
                  <a:pt x="536011" y="314390"/>
                </a:lnTo>
                <a:lnTo>
                  <a:pt x="501451" y="343025"/>
                </a:lnTo>
                <a:lnTo>
                  <a:pt x="467816" y="372710"/>
                </a:lnTo>
                <a:lnTo>
                  <a:pt x="435131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6" y="501450"/>
                </a:lnTo>
                <a:lnTo>
                  <a:pt x="314391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2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2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1" y="2326137"/>
                </a:lnTo>
                <a:lnTo>
                  <a:pt x="343026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1" y="2458727"/>
                </a:lnTo>
                <a:lnTo>
                  <a:pt x="467816" y="2489437"/>
                </a:lnTo>
                <a:lnTo>
                  <a:pt x="501451" y="2519122"/>
                </a:lnTo>
                <a:lnTo>
                  <a:pt x="536011" y="2547757"/>
                </a:lnTo>
                <a:lnTo>
                  <a:pt x="571470" y="2575316"/>
                </a:lnTo>
                <a:lnTo>
                  <a:pt x="607805" y="2601776"/>
                </a:lnTo>
                <a:lnTo>
                  <a:pt x="644990" y="2627109"/>
                </a:lnTo>
                <a:lnTo>
                  <a:pt x="682999" y="2651293"/>
                </a:lnTo>
                <a:lnTo>
                  <a:pt x="721808" y="2674301"/>
                </a:lnTo>
                <a:lnTo>
                  <a:pt x="761391" y="2696109"/>
                </a:lnTo>
                <a:lnTo>
                  <a:pt x="801724" y="2716692"/>
                </a:lnTo>
                <a:lnTo>
                  <a:pt x="842782" y="2736024"/>
                </a:lnTo>
                <a:lnTo>
                  <a:pt x="884540" y="2754080"/>
                </a:lnTo>
                <a:lnTo>
                  <a:pt x="926971" y="2770836"/>
                </a:lnTo>
                <a:lnTo>
                  <a:pt x="970053" y="2786266"/>
                </a:lnTo>
                <a:lnTo>
                  <a:pt x="1013758" y="2800345"/>
                </a:lnTo>
                <a:lnTo>
                  <a:pt x="1058063" y="2813049"/>
                </a:lnTo>
                <a:lnTo>
                  <a:pt x="1102943" y="2824352"/>
                </a:lnTo>
                <a:lnTo>
                  <a:pt x="1148371" y="2834229"/>
                </a:lnTo>
                <a:lnTo>
                  <a:pt x="1194324" y="2842655"/>
                </a:lnTo>
                <a:lnTo>
                  <a:pt x="1240776" y="2849606"/>
                </a:lnTo>
                <a:lnTo>
                  <a:pt x="1287702" y="2855055"/>
                </a:lnTo>
                <a:lnTo>
                  <a:pt x="1335077" y="2858979"/>
                </a:lnTo>
                <a:lnTo>
                  <a:pt x="1382877" y="2861351"/>
                </a:lnTo>
                <a:lnTo>
                  <a:pt x="1431075" y="2862148"/>
                </a:lnTo>
                <a:lnTo>
                  <a:pt x="1479273" y="2861351"/>
                </a:lnTo>
                <a:lnTo>
                  <a:pt x="1527072" y="2858979"/>
                </a:lnTo>
                <a:lnTo>
                  <a:pt x="1574448" y="2855055"/>
                </a:lnTo>
                <a:lnTo>
                  <a:pt x="1621374" y="2849606"/>
                </a:lnTo>
                <a:lnTo>
                  <a:pt x="1667826" y="2842655"/>
                </a:lnTo>
                <a:lnTo>
                  <a:pt x="1713778" y="2834229"/>
                </a:lnTo>
                <a:lnTo>
                  <a:pt x="1759207" y="2824352"/>
                </a:lnTo>
                <a:lnTo>
                  <a:pt x="1804086" y="2813049"/>
                </a:lnTo>
                <a:lnTo>
                  <a:pt x="1848391" y="2800345"/>
                </a:lnTo>
                <a:lnTo>
                  <a:pt x="1892097" y="2786266"/>
                </a:lnTo>
                <a:lnTo>
                  <a:pt x="1935178" y="2770836"/>
                </a:lnTo>
                <a:lnTo>
                  <a:pt x="1977610" y="2754080"/>
                </a:lnTo>
                <a:lnTo>
                  <a:pt x="2019367" y="2736024"/>
                </a:lnTo>
                <a:lnTo>
                  <a:pt x="2060425" y="2716692"/>
                </a:lnTo>
                <a:lnTo>
                  <a:pt x="2100758" y="2696109"/>
                </a:lnTo>
                <a:lnTo>
                  <a:pt x="2140342" y="2674301"/>
                </a:lnTo>
                <a:lnTo>
                  <a:pt x="2179151" y="2651293"/>
                </a:lnTo>
                <a:lnTo>
                  <a:pt x="2217160" y="2627109"/>
                </a:lnTo>
                <a:lnTo>
                  <a:pt x="2254344" y="2601776"/>
                </a:lnTo>
                <a:lnTo>
                  <a:pt x="2290679" y="2575316"/>
                </a:lnTo>
                <a:lnTo>
                  <a:pt x="2326139" y="2547757"/>
                </a:lnTo>
                <a:lnTo>
                  <a:pt x="2360699" y="2519122"/>
                </a:lnTo>
                <a:lnTo>
                  <a:pt x="2394334" y="2489437"/>
                </a:lnTo>
                <a:lnTo>
                  <a:pt x="2427019" y="2458727"/>
                </a:lnTo>
                <a:lnTo>
                  <a:pt x="2458729" y="2427017"/>
                </a:lnTo>
                <a:lnTo>
                  <a:pt x="2489439" y="2394332"/>
                </a:lnTo>
                <a:lnTo>
                  <a:pt x="2519123" y="2360697"/>
                </a:lnTo>
                <a:lnTo>
                  <a:pt x="2547758" y="2326137"/>
                </a:lnTo>
                <a:lnTo>
                  <a:pt x="2575318" y="2290678"/>
                </a:lnTo>
                <a:lnTo>
                  <a:pt x="2601777" y="2254343"/>
                </a:lnTo>
                <a:lnTo>
                  <a:pt x="2627111" y="2217159"/>
                </a:lnTo>
                <a:lnTo>
                  <a:pt x="2651294" y="2179149"/>
                </a:lnTo>
                <a:lnTo>
                  <a:pt x="2674303" y="2140340"/>
                </a:lnTo>
                <a:lnTo>
                  <a:pt x="2696111" y="2100757"/>
                </a:lnTo>
                <a:lnTo>
                  <a:pt x="2716693" y="2060424"/>
                </a:lnTo>
                <a:lnTo>
                  <a:pt x="2736025" y="2019366"/>
                </a:lnTo>
                <a:lnTo>
                  <a:pt x="2754081" y="1977609"/>
                </a:lnTo>
                <a:lnTo>
                  <a:pt x="2770837" y="1935177"/>
                </a:lnTo>
                <a:lnTo>
                  <a:pt x="2786267" y="1892096"/>
                </a:lnTo>
                <a:lnTo>
                  <a:pt x="2800347" y="1848390"/>
                </a:lnTo>
                <a:lnTo>
                  <a:pt x="2813050" y="1804085"/>
                </a:lnTo>
                <a:lnTo>
                  <a:pt x="2824353" y="1759206"/>
                </a:lnTo>
                <a:lnTo>
                  <a:pt x="2834230" y="1713777"/>
                </a:lnTo>
                <a:lnTo>
                  <a:pt x="2842657" y="1667824"/>
                </a:lnTo>
                <a:lnTo>
                  <a:pt x="2849607" y="1621372"/>
                </a:lnTo>
                <a:lnTo>
                  <a:pt x="2855057" y="1574446"/>
                </a:lnTo>
                <a:lnTo>
                  <a:pt x="2858980" y="1527071"/>
                </a:lnTo>
                <a:lnTo>
                  <a:pt x="2861353" y="1479272"/>
                </a:lnTo>
                <a:lnTo>
                  <a:pt x="2862149" y="1431074"/>
                </a:lnTo>
                <a:lnTo>
                  <a:pt x="2861353" y="1382875"/>
                </a:lnTo>
                <a:lnTo>
                  <a:pt x="2858980" y="1335076"/>
                </a:lnTo>
                <a:lnTo>
                  <a:pt x="2855057" y="1287701"/>
                </a:lnTo>
                <a:lnTo>
                  <a:pt x="2849607" y="1240775"/>
                </a:lnTo>
                <a:lnTo>
                  <a:pt x="2842657" y="1194323"/>
                </a:lnTo>
                <a:lnTo>
                  <a:pt x="2834230" y="1148370"/>
                </a:lnTo>
                <a:lnTo>
                  <a:pt x="2824353" y="1102941"/>
                </a:lnTo>
                <a:lnTo>
                  <a:pt x="2813050" y="1058062"/>
                </a:lnTo>
                <a:lnTo>
                  <a:pt x="2800347" y="1013757"/>
                </a:lnTo>
                <a:lnTo>
                  <a:pt x="2786267" y="970052"/>
                </a:lnTo>
                <a:lnTo>
                  <a:pt x="2770837" y="926970"/>
                </a:lnTo>
                <a:lnTo>
                  <a:pt x="2754081" y="884539"/>
                </a:lnTo>
                <a:lnTo>
                  <a:pt x="2736025" y="842781"/>
                </a:lnTo>
                <a:lnTo>
                  <a:pt x="2716693" y="801723"/>
                </a:lnTo>
                <a:lnTo>
                  <a:pt x="2696111" y="761390"/>
                </a:lnTo>
                <a:lnTo>
                  <a:pt x="2674303" y="721807"/>
                </a:lnTo>
                <a:lnTo>
                  <a:pt x="2651294" y="682998"/>
                </a:lnTo>
                <a:lnTo>
                  <a:pt x="2627111" y="644989"/>
                </a:lnTo>
                <a:lnTo>
                  <a:pt x="2601777" y="607804"/>
                </a:lnTo>
                <a:lnTo>
                  <a:pt x="2575318" y="571470"/>
                </a:lnTo>
                <a:lnTo>
                  <a:pt x="2547758" y="536010"/>
                </a:lnTo>
                <a:lnTo>
                  <a:pt x="2519123" y="501450"/>
                </a:lnTo>
                <a:lnTo>
                  <a:pt x="2489439" y="467815"/>
                </a:lnTo>
                <a:lnTo>
                  <a:pt x="2458729" y="435130"/>
                </a:lnTo>
                <a:lnTo>
                  <a:pt x="2427019" y="403420"/>
                </a:lnTo>
                <a:lnTo>
                  <a:pt x="2394334" y="372710"/>
                </a:lnTo>
                <a:lnTo>
                  <a:pt x="2360699" y="343025"/>
                </a:lnTo>
                <a:lnTo>
                  <a:pt x="2326139" y="314390"/>
                </a:lnTo>
                <a:lnTo>
                  <a:pt x="2290679" y="286831"/>
                </a:lnTo>
                <a:lnTo>
                  <a:pt x="2254344" y="260372"/>
                </a:lnTo>
                <a:lnTo>
                  <a:pt x="2217160" y="235038"/>
                </a:lnTo>
                <a:lnTo>
                  <a:pt x="2179151" y="210854"/>
                </a:lnTo>
                <a:lnTo>
                  <a:pt x="2140342" y="187846"/>
                </a:lnTo>
                <a:lnTo>
                  <a:pt x="2100758" y="166038"/>
                </a:lnTo>
                <a:lnTo>
                  <a:pt x="2060425" y="145456"/>
                </a:lnTo>
                <a:lnTo>
                  <a:pt x="2019367" y="126124"/>
                </a:lnTo>
                <a:lnTo>
                  <a:pt x="1977610" y="108067"/>
                </a:lnTo>
                <a:lnTo>
                  <a:pt x="1935178" y="91311"/>
                </a:lnTo>
                <a:lnTo>
                  <a:pt x="1892097" y="75881"/>
                </a:lnTo>
                <a:lnTo>
                  <a:pt x="1848391" y="61802"/>
                </a:lnTo>
                <a:lnTo>
                  <a:pt x="1804086" y="49098"/>
                </a:lnTo>
                <a:lnTo>
                  <a:pt x="1759207" y="37795"/>
                </a:lnTo>
                <a:lnTo>
                  <a:pt x="1713778" y="27918"/>
                </a:lnTo>
                <a:lnTo>
                  <a:pt x="1667826" y="19492"/>
                </a:lnTo>
                <a:lnTo>
                  <a:pt x="1621374" y="12541"/>
                </a:lnTo>
                <a:lnTo>
                  <a:pt x="1574448" y="7092"/>
                </a:lnTo>
                <a:lnTo>
                  <a:pt x="1527072" y="3168"/>
                </a:lnTo>
                <a:lnTo>
                  <a:pt x="1479273" y="796"/>
                </a:lnTo>
                <a:lnTo>
                  <a:pt x="1431075" y="0"/>
                </a:lnTo>
                <a:close/>
              </a:path>
            </a:pathLst>
          </a:custGeom>
          <a:solidFill>
            <a:srgbClr val="EE6A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67981" y="4061459"/>
            <a:ext cx="1725295" cy="998219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13970">
              <a:lnSpc>
                <a:spcPts val="3820"/>
              </a:lnSpc>
              <a:spcBef>
                <a:spcPts val="21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 Guidance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266169" y="3144160"/>
            <a:ext cx="2862580" cy="2862580"/>
          </a:xfrm>
          <a:custGeom>
            <a:avLst/>
            <a:gdLst/>
            <a:ahLst/>
            <a:cxnLst/>
            <a:rect l="l" t="t" r="r" b="b"/>
            <a:pathLst>
              <a:path w="2862580" h="2862579">
                <a:moveTo>
                  <a:pt x="1431074" y="0"/>
                </a:moveTo>
                <a:lnTo>
                  <a:pt x="1382875" y="796"/>
                </a:lnTo>
                <a:lnTo>
                  <a:pt x="1335076" y="3168"/>
                </a:lnTo>
                <a:lnTo>
                  <a:pt x="1287701" y="7092"/>
                </a:lnTo>
                <a:lnTo>
                  <a:pt x="1240775" y="12541"/>
                </a:lnTo>
                <a:lnTo>
                  <a:pt x="1194323" y="19492"/>
                </a:lnTo>
                <a:lnTo>
                  <a:pt x="1148370" y="27918"/>
                </a:lnTo>
                <a:lnTo>
                  <a:pt x="1102941" y="37795"/>
                </a:lnTo>
                <a:lnTo>
                  <a:pt x="1058062" y="49098"/>
                </a:lnTo>
                <a:lnTo>
                  <a:pt x="1013757" y="61802"/>
                </a:lnTo>
                <a:lnTo>
                  <a:pt x="970052" y="75881"/>
                </a:lnTo>
                <a:lnTo>
                  <a:pt x="926970" y="91311"/>
                </a:lnTo>
                <a:lnTo>
                  <a:pt x="884539" y="108067"/>
                </a:lnTo>
                <a:lnTo>
                  <a:pt x="842781" y="126124"/>
                </a:lnTo>
                <a:lnTo>
                  <a:pt x="801723" y="145456"/>
                </a:lnTo>
                <a:lnTo>
                  <a:pt x="761390" y="166038"/>
                </a:lnTo>
                <a:lnTo>
                  <a:pt x="721807" y="187846"/>
                </a:lnTo>
                <a:lnTo>
                  <a:pt x="682998" y="210854"/>
                </a:lnTo>
                <a:lnTo>
                  <a:pt x="644989" y="235038"/>
                </a:lnTo>
                <a:lnTo>
                  <a:pt x="607804" y="260372"/>
                </a:lnTo>
                <a:lnTo>
                  <a:pt x="571470" y="286831"/>
                </a:lnTo>
                <a:lnTo>
                  <a:pt x="536010" y="314390"/>
                </a:lnTo>
                <a:lnTo>
                  <a:pt x="501450" y="343025"/>
                </a:lnTo>
                <a:lnTo>
                  <a:pt x="467815" y="372710"/>
                </a:lnTo>
                <a:lnTo>
                  <a:pt x="435130" y="403420"/>
                </a:lnTo>
                <a:lnTo>
                  <a:pt x="403420" y="435130"/>
                </a:lnTo>
                <a:lnTo>
                  <a:pt x="372710" y="467815"/>
                </a:lnTo>
                <a:lnTo>
                  <a:pt x="343025" y="501450"/>
                </a:lnTo>
                <a:lnTo>
                  <a:pt x="314390" y="536010"/>
                </a:lnTo>
                <a:lnTo>
                  <a:pt x="286831" y="571470"/>
                </a:lnTo>
                <a:lnTo>
                  <a:pt x="260372" y="607804"/>
                </a:lnTo>
                <a:lnTo>
                  <a:pt x="235038" y="644989"/>
                </a:lnTo>
                <a:lnTo>
                  <a:pt x="210854" y="682998"/>
                </a:lnTo>
                <a:lnTo>
                  <a:pt x="187846" y="721807"/>
                </a:lnTo>
                <a:lnTo>
                  <a:pt x="166038" y="761390"/>
                </a:lnTo>
                <a:lnTo>
                  <a:pt x="145456" y="801723"/>
                </a:lnTo>
                <a:lnTo>
                  <a:pt x="126124" y="842781"/>
                </a:lnTo>
                <a:lnTo>
                  <a:pt x="108067" y="884539"/>
                </a:lnTo>
                <a:lnTo>
                  <a:pt x="91311" y="926970"/>
                </a:lnTo>
                <a:lnTo>
                  <a:pt x="75881" y="970052"/>
                </a:lnTo>
                <a:lnTo>
                  <a:pt x="61802" y="1013757"/>
                </a:lnTo>
                <a:lnTo>
                  <a:pt x="49098" y="1058062"/>
                </a:lnTo>
                <a:lnTo>
                  <a:pt x="37795" y="1102941"/>
                </a:lnTo>
                <a:lnTo>
                  <a:pt x="27918" y="1148370"/>
                </a:lnTo>
                <a:lnTo>
                  <a:pt x="19492" y="1194323"/>
                </a:lnTo>
                <a:lnTo>
                  <a:pt x="12541" y="1240775"/>
                </a:lnTo>
                <a:lnTo>
                  <a:pt x="7092" y="1287701"/>
                </a:lnTo>
                <a:lnTo>
                  <a:pt x="3168" y="1335076"/>
                </a:lnTo>
                <a:lnTo>
                  <a:pt x="796" y="1382875"/>
                </a:lnTo>
                <a:lnTo>
                  <a:pt x="0" y="1431074"/>
                </a:lnTo>
                <a:lnTo>
                  <a:pt x="796" y="1479272"/>
                </a:lnTo>
                <a:lnTo>
                  <a:pt x="3168" y="1527071"/>
                </a:lnTo>
                <a:lnTo>
                  <a:pt x="7092" y="1574446"/>
                </a:lnTo>
                <a:lnTo>
                  <a:pt x="12541" y="1621372"/>
                </a:lnTo>
                <a:lnTo>
                  <a:pt x="19492" y="1667824"/>
                </a:lnTo>
                <a:lnTo>
                  <a:pt x="27918" y="1713777"/>
                </a:lnTo>
                <a:lnTo>
                  <a:pt x="37795" y="1759206"/>
                </a:lnTo>
                <a:lnTo>
                  <a:pt x="49098" y="1804085"/>
                </a:lnTo>
                <a:lnTo>
                  <a:pt x="61802" y="1848390"/>
                </a:lnTo>
                <a:lnTo>
                  <a:pt x="75881" y="1892096"/>
                </a:lnTo>
                <a:lnTo>
                  <a:pt x="91311" y="1935177"/>
                </a:lnTo>
                <a:lnTo>
                  <a:pt x="108067" y="1977609"/>
                </a:lnTo>
                <a:lnTo>
                  <a:pt x="126124" y="2019366"/>
                </a:lnTo>
                <a:lnTo>
                  <a:pt x="145456" y="2060424"/>
                </a:lnTo>
                <a:lnTo>
                  <a:pt x="166038" y="2100757"/>
                </a:lnTo>
                <a:lnTo>
                  <a:pt x="187846" y="2140340"/>
                </a:lnTo>
                <a:lnTo>
                  <a:pt x="210854" y="2179149"/>
                </a:lnTo>
                <a:lnTo>
                  <a:pt x="235038" y="2217159"/>
                </a:lnTo>
                <a:lnTo>
                  <a:pt x="260372" y="2254343"/>
                </a:lnTo>
                <a:lnTo>
                  <a:pt x="286831" y="2290678"/>
                </a:lnTo>
                <a:lnTo>
                  <a:pt x="314390" y="2326137"/>
                </a:lnTo>
                <a:lnTo>
                  <a:pt x="343025" y="2360697"/>
                </a:lnTo>
                <a:lnTo>
                  <a:pt x="372710" y="2394332"/>
                </a:lnTo>
                <a:lnTo>
                  <a:pt x="403420" y="2427017"/>
                </a:lnTo>
                <a:lnTo>
                  <a:pt x="435130" y="2458727"/>
                </a:lnTo>
                <a:lnTo>
                  <a:pt x="467815" y="2489437"/>
                </a:lnTo>
                <a:lnTo>
                  <a:pt x="501450" y="2519122"/>
                </a:lnTo>
                <a:lnTo>
                  <a:pt x="536010" y="2547757"/>
                </a:lnTo>
                <a:lnTo>
                  <a:pt x="571470" y="2575316"/>
                </a:lnTo>
                <a:lnTo>
                  <a:pt x="607804" y="2601776"/>
                </a:lnTo>
                <a:lnTo>
                  <a:pt x="644989" y="2627109"/>
                </a:lnTo>
                <a:lnTo>
                  <a:pt x="682998" y="2651293"/>
                </a:lnTo>
                <a:lnTo>
                  <a:pt x="721807" y="2674301"/>
                </a:lnTo>
                <a:lnTo>
                  <a:pt x="761390" y="2696109"/>
                </a:lnTo>
                <a:lnTo>
                  <a:pt x="801723" y="2716692"/>
                </a:lnTo>
                <a:lnTo>
                  <a:pt x="842781" y="2736024"/>
                </a:lnTo>
                <a:lnTo>
                  <a:pt x="884539" y="2754080"/>
                </a:lnTo>
                <a:lnTo>
                  <a:pt x="926970" y="2770836"/>
                </a:lnTo>
                <a:lnTo>
                  <a:pt x="970052" y="2786266"/>
                </a:lnTo>
                <a:lnTo>
                  <a:pt x="1013757" y="2800345"/>
                </a:lnTo>
                <a:lnTo>
                  <a:pt x="1058062" y="2813049"/>
                </a:lnTo>
                <a:lnTo>
                  <a:pt x="1102941" y="2824352"/>
                </a:lnTo>
                <a:lnTo>
                  <a:pt x="1148370" y="2834229"/>
                </a:lnTo>
                <a:lnTo>
                  <a:pt x="1194323" y="2842655"/>
                </a:lnTo>
                <a:lnTo>
                  <a:pt x="1240775" y="2849606"/>
                </a:lnTo>
                <a:lnTo>
                  <a:pt x="1287701" y="2855055"/>
                </a:lnTo>
                <a:lnTo>
                  <a:pt x="1335076" y="2858979"/>
                </a:lnTo>
                <a:lnTo>
                  <a:pt x="1382875" y="2861351"/>
                </a:lnTo>
                <a:lnTo>
                  <a:pt x="1431074" y="2862148"/>
                </a:lnTo>
                <a:lnTo>
                  <a:pt x="1479272" y="2861351"/>
                </a:lnTo>
                <a:lnTo>
                  <a:pt x="1527071" y="2858979"/>
                </a:lnTo>
                <a:lnTo>
                  <a:pt x="1574446" y="2855055"/>
                </a:lnTo>
                <a:lnTo>
                  <a:pt x="1621372" y="2849606"/>
                </a:lnTo>
                <a:lnTo>
                  <a:pt x="1667824" y="2842655"/>
                </a:lnTo>
                <a:lnTo>
                  <a:pt x="1713777" y="2834229"/>
                </a:lnTo>
                <a:lnTo>
                  <a:pt x="1759205" y="2824352"/>
                </a:lnTo>
                <a:lnTo>
                  <a:pt x="1804085" y="2813049"/>
                </a:lnTo>
                <a:lnTo>
                  <a:pt x="1848390" y="2800345"/>
                </a:lnTo>
                <a:lnTo>
                  <a:pt x="1892095" y="2786266"/>
                </a:lnTo>
                <a:lnTo>
                  <a:pt x="1935176" y="2770836"/>
                </a:lnTo>
                <a:lnTo>
                  <a:pt x="1977608" y="2754080"/>
                </a:lnTo>
                <a:lnTo>
                  <a:pt x="2019365" y="2736024"/>
                </a:lnTo>
                <a:lnTo>
                  <a:pt x="2060423" y="2716692"/>
                </a:lnTo>
                <a:lnTo>
                  <a:pt x="2100756" y="2696109"/>
                </a:lnTo>
                <a:lnTo>
                  <a:pt x="2140340" y="2674301"/>
                </a:lnTo>
                <a:lnTo>
                  <a:pt x="2179149" y="2651293"/>
                </a:lnTo>
                <a:lnTo>
                  <a:pt x="2217158" y="2627109"/>
                </a:lnTo>
                <a:lnTo>
                  <a:pt x="2254342" y="2601776"/>
                </a:lnTo>
                <a:lnTo>
                  <a:pt x="2290677" y="2575316"/>
                </a:lnTo>
                <a:lnTo>
                  <a:pt x="2326137" y="2547757"/>
                </a:lnTo>
                <a:lnTo>
                  <a:pt x="2360697" y="2519122"/>
                </a:lnTo>
                <a:lnTo>
                  <a:pt x="2394332" y="2489437"/>
                </a:lnTo>
                <a:lnTo>
                  <a:pt x="2427017" y="2458727"/>
                </a:lnTo>
                <a:lnTo>
                  <a:pt x="2458727" y="2427017"/>
                </a:lnTo>
                <a:lnTo>
                  <a:pt x="2489437" y="2394332"/>
                </a:lnTo>
                <a:lnTo>
                  <a:pt x="2519122" y="2360697"/>
                </a:lnTo>
                <a:lnTo>
                  <a:pt x="2547756" y="2326137"/>
                </a:lnTo>
                <a:lnTo>
                  <a:pt x="2575316" y="2290678"/>
                </a:lnTo>
                <a:lnTo>
                  <a:pt x="2601775" y="2254343"/>
                </a:lnTo>
                <a:lnTo>
                  <a:pt x="2627109" y="2217159"/>
                </a:lnTo>
                <a:lnTo>
                  <a:pt x="2651293" y="2179149"/>
                </a:lnTo>
                <a:lnTo>
                  <a:pt x="2674301" y="2140340"/>
                </a:lnTo>
                <a:lnTo>
                  <a:pt x="2696109" y="2100757"/>
                </a:lnTo>
                <a:lnTo>
                  <a:pt x="2716691" y="2060424"/>
                </a:lnTo>
                <a:lnTo>
                  <a:pt x="2736023" y="2019366"/>
                </a:lnTo>
                <a:lnTo>
                  <a:pt x="2754080" y="1977609"/>
                </a:lnTo>
                <a:lnTo>
                  <a:pt x="2770836" y="1935177"/>
                </a:lnTo>
                <a:lnTo>
                  <a:pt x="2786266" y="1892096"/>
                </a:lnTo>
                <a:lnTo>
                  <a:pt x="2800345" y="1848390"/>
                </a:lnTo>
                <a:lnTo>
                  <a:pt x="2813049" y="1804085"/>
                </a:lnTo>
                <a:lnTo>
                  <a:pt x="2824352" y="1759206"/>
                </a:lnTo>
                <a:lnTo>
                  <a:pt x="2834229" y="1713777"/>
                </a:lnTo>
                <a:lnTo>
                  <a:pt x="2842655" y="1667824"/>
                </a:lnTo>
                <a:lnTo>
                  <a:pt x="2849606" y="1621372"/>
                </a:lnTo>
                <a:lnTo>
                  <a:pt x="2855055" y="1574446"/>
                </a:lnTo>
                <a:lnTo>
                  <a:pt x="2858979" y="1527071"/>
                </a:lnTo>
                <a:lnTo>
                  <a:pt x="2861351" y="1479272"/>
                </a:lnTo>
                <a:lnTo>
                  <a:pt x="2862148" y="1431074"/>
                </a:lnTo>
                <a:lnTo>
                  <a:pt x="2861351" y="1382875"/>
                </a:lnTo>
                <a:lnTo>
                  <a:pt x="2858979" y="1335076"/>
                </a:lnTo>
                <a:lnTo>
                  <a:pt x="2855055" y="1287701"/>
                </a:lnTo>
                <a:lnTo>
                  <a:pt x="2849606" y="1240775"/>
                </a:lnTo>
                <a:lnTo>
                  <a:pt x="2842655" y="1194323"/>
                </a:lnTo>
                <a:lnTo>
                  <a:pt x="2834229" y="1148370"/>
                </a:lnTo>
                <a:lnTo>
                  <a:pt x="2824352" y="1102941"/>
                </a:lnTo>
                <a:lnTo>
                  <a:pt x="2813049" y="1058062"/>
                </a:lnTo>
                <a:lnTo>
                  <a:pt x="2800345" y="1013757"/>
                </a:lnTo>
                <a:lnTo>
                  <a:pt x="2786266" y="970052"/>
                </a:lnTo>
                <a:lnTo>
                  <a:pt x="2770836" y="926970"/>
                </a:lnTo>
                <a:lnTo>
                  <a:pt x="2754080" y="884539"/>
                </a:lnTo>
                <a:lnTo>
                  <a:pt x="2736023" y="842781"/>
                </a:lnTo>
                <a:lnTo>
                  <a:pt x="2716691" y="801723"/>
                </a:lnTo>
                <a:lnTo>
                  <a:pt x="2696109" y="761390"/>
                </a:lnTo>
                <a:lnTo>
                  <a:pt x="2674301" y="721807"/>
                </a:lnTo>
                <a:lnTo>
                  <a:pt x="2651293" y="682998"/>
                </a:lnTo>
                <a:lnTo>
                  <a:pt x="2627109" y="644989"/>
                </a:lnTo>
                <a:lnTo>
                  <a:pt x="2601775" y="607804"/>
                </a:lnTo>
                <a:lnTo>
                  <a:pt x="2575316" y="571470"/>
                </a:lnTo>
                <a:lnTo>
                  <a:pt x="2547756" y="536010"/>
                </a:lnTo>
                <a:lnTo>
                  <a:pt x="2519122" y="501450"/>
                </a:lnTo>
                <a:lnTo>
                  <a:pt x="2489437" y="467815"/>
                </a:lnTo>
                <a:lnTo>
                  <a:pt x="2458727" y="435130"/>
                </a:lnTo>
                <a:lnTo>
                  <a:pt x="2427017" y="403420"/>
                </a:lnTo>
                <a:lnTo>
                  <a:pt x="2394332" y="372710"/>
                </a:lnTo>
                <a:lnTo>
                  <a:pt x="2360697" y="343025"/>
                </a:lnTo>
                <a:lnTo>
                  <a:pt x="2326137" y="314390"/>
                </a:lnTo>
                <a:lnTo>
                  <a:pt x="2290677" y="286831"/>
                </a:lnTo>
                <a:lnTo>
                  <a:pt x="2254342" y="260372"/>
                </a:lnTo>
                <a:lnTo>
                  <a:pt x="2217158" y="235038"/>
                </a:lnTo>
                <a:lnTo>
                  <a:pt x="2179149" y="210854"/>
                </a:lnTo>
                <a:lnTo>
                  <a:pt x="2140340" y="187846"/>
                </a:lnTo>
                <a:lnTo>
                  <a:pt x="2100756" y="166038"/>
                </a:lnTo>
                <a:lnTo>
                  <a:pt x="2060423" y="145456"/>
                </a:lnTo>
                <a:lnTo>
                  <a:pt x="2019365" y="126124"/>
                </a:lnTo>
                <a:lnTo>
                  <a:pt x="1977608" y="108067"/>
                </a:lnTo>
                <a:lnTo>
                  <a:pt x="1935176" y="91311"/>
                </a:lnTo>
                <a:lnTo>
                  <a:pt x="1892095" y="75881"/>
                </a:lnTo>
                <a:lnTo>
                  <a:pt x="1848390" y="61802"/>
                </a:lnTo>
                <a:lnTo>
                  <a:pt x="1804085" y="49098"/>
                </a:lnTo>
                <a:lnTo>
                  <a:pt x="1759205" y="37795"/>
                </a:lnTo>
                <a:lnTo>
                  <a:pt x="1713777" y="27918"/>
                </a:lnTo>
                <a:lnTo>
                  <a:pt x="1667824" y="19492"/>
                </a:lnTo>
                <a:lnTo>
                  <a:pt x="1621372" y="12541"/>
                </a:lnTo>
                <a:lnTo>
                  <a:pt x="1574446" y="7092"/>
                </a:lnTo>
                <a:lnTo>
                  <a:pt x="1527071" y="3168"/>
                </a:lnTo>
                <a:lnTo>
                  <a:pt x="1479272" y="796"/>
                </a:lnTo>
                <a:lnTo>
                  <a:pt x="1431074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774113" y="3817620"/>
            <a:ext cx="1846580" cy="149161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ct val="100299"/>
              </a:lnSpc>
              <a:spcBef>
                <a:spcPts val="85"/>
              </a:spcBef>
            </a:pP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Classifier-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free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Guidance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Classifier-</a:t>
            </a:r>
            <a:r>
              <a:rPr dirty="0"/>
              <a:t>free</a:t>
            </a:r>
            <a:r>
              <a:rPr spc="20" dirty="0"/>
              <a:t> </a:t>
            </a:r>
            <a:r>
              <a:rPr spc="-10" dirty="0"/>
              <a:t>guidance</a:t>
            </a:r>
          </a:p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3000" dirty="0">
                <a:solidFill>
                  <a:srgbClr val="890C58"/>
                </a:solidFill>
              </a:rPr>
              <a:t>Get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guidance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by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Bayes’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rule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on</a:t>
            </a:r>
            <a:r>
              <a:rPr sz="3000" spc="-6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conditional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diffusion</a:t>
            </a:r>
            <a:r>
              <a:rPr sz="3000" spc="-60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models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092390" y="2685288"/>
            <a:ext cx="8293734" cy="1074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Recall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that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classifier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guidance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requires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training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classifier.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Using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Bayes’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rule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again: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2390" y="5489447"/>
            <a:ext cx="16388715" cy="101346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5600" marR="5080" indent="-342900">
              <a:lnSpc>
                <a:spcPct val="90900"/>
              </a:lnSpc>
              <a:spcBef>
                <a:spcPts val="350"/>
              </a:spcBef>
              <a:buClr>
                <a:srgbClr val="CDCDCD"/>
              </a:buClr>
              <a:buFont typeface="Arial MT"/>
              <a:buChar char="•"/>
              <a:tabLst>
                <a:tab pos="355600" algn="l"/>
              </a:tabLst>
            </a:pPr>
            <a:r>
              <a:rPr sz="2300" dirty="0">
                <a:latin typeface="Trebuchet MS"/>
                <a:cs typeface="Trebuchet MS"/>
              </a:rPr>
              <a:t>Instead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training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additional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classifier,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get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“implicit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classifier”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jointly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training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conditional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unconditional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model.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practice,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conditional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unconditional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models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are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trained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together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by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randomly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dropping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the </a:t>
            </a:r>
            <a:r>
              <a:rPr sz="2300" dirty="0">
                <a:latin typeface="Trebuchet MS"/>
                <a:cs typeface="Trebuchet MS"/>
              </a:rPr>
              <a:t>condition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of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model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at</a:t>
            </a:r>
            <a:r>
              <a:rPr sz="2300" spc="2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certain</a:t>
            </a:r>
            <a:r>
              <a:rPr sz="2300" spc="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chance.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92390" y="7522464"/>
            <a:ext cx="816483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The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modified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score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with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this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implicit</a:t>
            </a:r>
            <a:r>
              <a:rPr sz="2300" spc="4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classifier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included</a:t>
            </a:r>
            <a:r>
              <a:rPr sz="2300" spc="4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is: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93144" y="3952204"/>
            <a:ext cx="222250" cy="459740"/>
          </a:xfrm>
          <a:custGeom>
            <a:avLst/>
            <a:gdLst/>
            <a:ahLst/>
            <a:cxnLst/>
            <a:rect l="l" t="t" r="r" b="b"/>
            <a:pathLst>
              <a:path w="222250" h="459739">
                <a:moveTo>
                  <a:pt x="182850" y="66921"/>
                </a:moveTo>
                <a:lnTo>
                  <a:pt x="0" y="455523"/>
                </a:lnTo>
                <a:lnTo>
                  <a:pt x="8619" y="459578"/>
                </a:lnTo>
                <a:lnTo>
                  <a:pt x="191468" y="70976"/>
                </a:lnTo>
                <a:lnTo>
                  <a:pt x="182850" y="66921"/>
                </a:lnTo>
                <a:close/>
              </a:path>
              <a:path w="222250" h="459739">
                <a:moveTo>
                  <a:pt x="220924" y="55430"/>
                </a:moveTo>
                <a:lnTo>
                  <a:pt x="188257" y="55430"/>
                </a:lnTo>
                <a:lnTo>
                  <a:pt x="196875" y="59485"/>
                </a:lnTo>
                <a:lnTo>
                  <a:pt x="191468" y="70976"/>
                </a:lnTo>
                <a:lnTo>
                  <a:pt x="221634" y="85170"/>
                </a:lnTo>
                <a:lnTo>
                  <a:pt x="221021" y="59485"/>
                </a:lnTo>
                <a:lnTo>
                  <a:pt x="220924" y="55430"/>
                </a:lnTo>
                <a:close/>
              </a:path>
              <a:path w="222250" h="459739">
                <a:moveTo>
                  <a:pt x="188257" y="55430"/>
                </a:moveTo>
                <a:lnTo>
                  <a:pt x="182850" y="66921"/>
                </a:lnTo>
                <a:lnTo>
                  <a:pt x="191468" y="70976"/>
                </a:lnTo>
                <a:lnTo>
                  <a:pt x="196875" y="59485"/>
                </a:lnTo>
                <a:lnTo>
                  <a:pt x="188257" y="55430"/>
                </a:lnTo>
                <a:close/>
              </a:path>
              <a:path w="222250" h="459739">
                <a:moveTo>
                  <a:pt x="219602" y="0"/>
                </a:moveTo>
                <a:lnTo>
                  <a:pt x="152684" y="52727"/>
                </a:lnTo>
                <a:lnTo>
                  <a:pt x="182850" y="66921"/>
                </a:lnTo>
                <a:lnTo>
                  <a:pt x="188257" y="55430"/>
                </a:lnTo>
                <a:lnTo>
                  <a:pt x="220924" y="55430"/>
                </a:lnTo>
                <a:lnTo>
                  <a:pt x="2196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48303" y="4450588"/>
            <a:ext cx="33782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890C58"/>
                </a:solidFill>
                <a:latin typeface="Arial MT"/>
                <a:cs typeface="Arial MT"/>
              </a:rPr>
              <a:t>Conditional</a:t>
            </a:r>
            <a:r>
              <a:rPr sz="2200" spc="-110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90C58"/>
                </a:solidFill>
                <a:latin typeface="Arial MT"/>
                <a:cs typeface="Arial MT"/>
              </a:rPr>
              <a:t>diffusion</a:t>
            </a:r>
            <a:r>
              <a:rPr sz="2200" spc="-105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90C58"/>
                </a:solidFill>
                <a:latin typeface="Arial MT"/>
                <a:cs typeface="Arial MT"/>
              </a:rPr>
              <a:t>model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1779329" y="3932405"/>
            <a:ext cx="427990" cy="430530"/>
          </a:xfrm>
          <a:custGeom>
            <a:avLst/>
            <a:gdLst/>
            <a:ahLst/>
            <a:cxnLst/>
            <a:rect l="l" t="t" r="r" b="b"/>
            <a:pathLst>
              <a:path w="427990" h="430529">
                <a:moveTo>
                  <a:pt x="57117" y="50661"/>
                </a:moveTo>
                <a:lnTo>
                  <a:pt x="50365" y="57379"/>
                </a:lnTo>
                <a:lnTo>
                  <a:pt x="421212" y="430151"/>
                </a:lnTo>
                <a:lnTo>
                  <a:pt x="427964" y="423434"/>
                </a:lnTo>
                <a:lnTo>
                  <a:pt x="57117" y="50661"/>
                </a:lnTo>
                <a:close/>
              </a:path>
              <a:path w="427990" h="430529">
                <a:moveTo>
                  <a:pt x="0" y="0"/>
                </a:moveTo>
                <a:lnTo>
                  <a:pt x="26730" y="80891"/>
                </a:lnTo>
                <a:lnTo>
                  <a:pt x="50365" y="57379"/>
                </a:lnTo>
                <a:lnTo>
                  <a:pt x="41408" y="48375"/>
                </a:lnTo>
                <a:lnTo>
                  <a:pt x="48160" y="41658"/>
                </a:lnTo>
                <a:lnTo>
                  <a:pt x="66167" y="41658"/>
                </a:lnTo>
                <a:lnTo>
                  <a:pt x="80751" y="27150"/>
                </a:lnTo>
                <a:lnTo>
                  <a:pt x="0" y="0"/>
                </a:lnTo>
                <a:close/>
              </a:path>
              <a:path w="427990" h="430529">
                <a:moveTo>
                  <a:pt x="48160" y="41658"/>
                </a:moveTo>
                <a:lnTo>
                  <a:pt x="41408" y="48375"/>
                </a:lnTo>
                <a:lnTo>
                  <a:pt x="50365" y="57379"/>
                </a:lnTo>
                <a:lnTo>
                  <a:pt x="57117" y="50661"/>
                </a:lnTo>
                <a:lnTo>
                  <a:pt x="48160" y="41658"/>
                </a:lnTo>
                <a:close/>
              </a:path>
              <a:path w="427990" h="430529">
                <a:moveTo>
                  <a:pt x="66167" y="41658"/>
                </a:moveTo>
                <a:lnTo>
                  <a:pt x="48160" y="41658"/>
                </a:lnTo>
                <a:lnTo>
                  <a:pt x="57117" y="50661"/>
                </a:lnTo>
                <a:lnTo>
                  <a:pt x="66167" y="416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766304" y="4426203"/>
            <a:ext cx="36734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890C58"/>
                </a:solidFill>
                <a:latin typeface="Arial MT"/>
                <a:cs typeface="Arial MT"/>
              </a:rPr>
              <a:t>Unconditional</a:t>
            </a:r>
            <a:r>
              <a:rPr sz="2200" spc="-120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890C58"/>
                </a:solidFill>
                <a:latin typeface="Arial MT"/>
                <a:cs typeface="Arial MT"/>
              </a:rPr>
              <a:t>diffusion</a:t>
            </a:r>
            <a:r>
              <a:rPr sz="2200" spc="-120" dirty="0">
                <a:solidFill>
                  <a:srgbClr val="890C58"/>
                </a:solidFill>
                <a:latin typeface="Arial MT"/>
                <a:cs typeface="Arial MT"/>
              </a:rPr>
              <a:t> </a:t>
            </a:r>
            <a:r>
              <a:rPr sz="2200" spc="-10" dirty="0">
                <a:solidFill>
                  <a:srgbClr val="890C58"/>
                </a:solidFill>
                <a:latin typeface="Arial MT"/>
                <a:cs typeface="Arial MT"/>
              </a:rPr>
              <a:t>model</a:t>
            </a:r>
            <a:endParaRPr sz="22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24144" y="3471671"/>
            <a:ext cx="7376159" cy="36880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773679" y="8119871"/>
            <a:ext cx="14115415" cy="676910"/>
            <a:chOff x="2773679" y="8119871"/>
            <a:chExt cx="14115415" cy="67691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73679" y="8263127"/>
              <a:ext cx="8220456" cy="52425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68511" y="8119871"/>
              <a:ext cx="8220456" cy="676655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68511" y="8958071"/>
            <a:ext cx="8220456" cy="45110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906578" y="9736564"/>
            <a:ext cx="61468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Ho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&amp;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Salimans,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“Classifier-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Free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Diffusion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Guidance”,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2021.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6"/>
              </a:rPr>
              <a:t>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87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pc="-35" dirty="0"/>
              <a:t>Classifier-</a:t>
            </a:r>
            <a:r>
              <a:rPr dirty="0"/>
              <a:t>free</a:t>
            </a:r>
            <a:r>
              <a:rPr spc="20" dirty="0"/>
              <a:t> </a:t>
            </a:r>
            <a:r>
              <a:rPr spc="-10" dirty="0"/>
              <a:t>guidance</a:t>
            </a:r>
          </a:p>
          <a:p>
            <a:pPr marL="635" algn="ctr">
              <a:lnSpc>
                <a:spcPct val="100000"/>
              </a:lnSpc>
              <a:spcBef>
                <a:spcPts val="90"/>
              </a:spcBef>
            </a:pPr>
            <a:r>
              <a:rPr sz="3000" spc="-20" dirty="0">
                <a:solidFill>
                  <a:srgbClr val="890C58"/>
                </a:solidFill>
              </a:rPr>
              <a:t>Trade-</a:t>
            </a:r>
            <a:r>
              <a:rPr sz="3000" dirty="0">
                <a:solidFill>
                  <a:srgbClr val="890C58"/>
                </a:solidFill>
              </a:rPr>
              <a:t>off</a:t>
            </a:r>
            <a:r>
              <a:rPr sz="3000" spc="-4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for</a:t>
            </a:r>
            <a:r>
              <a:rPr sz="3000" spc="-4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sample</a:t>
            </a:r>
            <a:r>
              <a:rPr sz="3000" spc="-40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quality</a:t>
            </a:r>
            <a:r>
              <a:rPr sz="3000" spc="-4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and</a:t>
            </a:r>
            <a:r>
              <a:rPr sz="3000" spc="-45" dirty="0">
                <a:solidFill>
                  <a:srgbClr val="890C58"/>
                </a:solidFill>
              </a:rPr>
              <a:t> </a:t>
            </a:r>
            <a:r>
              <a:rPr sz="3000" dirty="0">
                <a:solidFill>
                  <a:srgbClr val="890C58"/>
                </a:solidFill>
              </a:rPr>
              <a:t>sample</a:t>
            </a:r>
            <a:r>
              <a:rPr sz="3000" spc="-40" dirty="0">
                <a:solidFill>
                  <a:srgbClr val="890C58"/>
                </a:solidFill>
              </a:rPr>
              <a:t> </a:t>
            </a:r>
            <a:r>
              <a:rPr sz="3000" spc="-10" dirty="0">
                <a:solidFill>
                  <a:srgbClr val="890C58"/>
                </a:solidFill>
              </a:rPr>
              <a:t>diversity</a:t>
            </a:r>
            <a:endParaRPr sz="3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988" y="2482057"/>
            <a:ext cx="5695950" cy="56959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35304" y="2469357"/>
            <a:ext cx="5695950" cy="56959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509498" y="2469357"/>
            <a:ext cx="5778500" cy="57912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807787" y="8449056"/>
            <a:ext cx="1826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Non-</a:t>
            </a:r>
            <a:r>
              <a:rPr sz="2300" spc="-10" dirty="0">
                <a:latin typeface="Trebuchet MS"/>
                <a:cs typeface="Trebuchet MS"/>
              </a:rPr>
              <a:t>guidance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6578" y="9736564"/>
            <a:ext cx="6146800" cy="29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50"/>
              </a:lnSpc>
            </a:pP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Ho</a:t>
            </a:r>
            <a:r>
              <a:rPr sz="1800" u="sng" spc="-4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&amp;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Salimans,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“Classifier-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Free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Diffusion</a:t>
            </a:r>
            <a:r>
              <a:rPr sz="1800" u="sng" spc="-35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Guidance”,</a:t>
            </a:r>
            <a:r>
              <a:rPr sz="1800" u="sng" spc="-4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r>
              <a:rPr sz="1800" u="sng" spc="-1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2021.</a:t>
            </a:r>
            <a:r>
              <a:rPr sz="1800" u="sng" spc="500" dirty="0">
                <a:solidFill>
                  <a:srgbClr val="0071C5"/>
                </a:solidFill>
                <a:uFill>
                  <a:solidFill>
                    <a:srgbClr val="0071C5"/>
                  </a:solidFill>
                </a:uFill>
                <a:latin typeface="Trebuchet MS"/>
                <a:cs typeface="Trebuchet MS"/>
                <a:hlinkClick r:id="rId5"/>
              </a:rPr>
              <a:t> </a:t>
            </a:r>
            <a:endParaRPr sz="18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88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89142" y="8360664"/>
            <a:ext cx="6560184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79135" algn="l"/>
              </a:tabLst>
            </a:pPr>
            <a:r>
              <a:rPr sz="2300" dirty="0">
                <a:latin typeface="Cambria Math"/>
                <a:cs typeface="Cambria Math"/>
              </a:rPr>
              <a:t>𝜔</a:t>
            </a:r>
            <a:r>
              <a:rPr sz="2300" spc="20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45" dirty="0">
                <a:latin typeface="Cambria Math"/>
                <a:cs typeface="Cambria Math"/>
              </a:rPr>
              <a:t> </a:t>
            </a:r>
            <a:r>
              <a:rPr sz="2300" spc="-60" dirty="0">
                <a:latin typeface="Cambria Math"/>
                <a:cs typeface="Cambria Math"/>
              </a:rPr>
              <a:t>1</a:t>
            </a:r>
            <a:r>
              <a:rPr sz="2300" dirty="0">
                <a:latin typeface="Cambria Math"/>
                <a:cs typeface="Cambria Math"/>
              </a:rPr>
              <a:t>	𝜔</a:t>
            </a:r>
            <a:r>
              <a:rPr sz="2300" spc="200" dirty="0">
                <a:latin typeface="Cambria Math"/>
                <a:cs typeface="Cambria Math"/>
              </a:rPr>
              <a:t> </a:t>
            </a:r>
            <a:r>
              <a:rPr sz="2300" dirty="0">
                <a:latin typeface="Cambria Math"/>
                <a:cs typeface="Cambria Math"/>
              </a:rPr>
              <a:t>=</a:t>
            </a:r>
            <a:r>
              <a:rPr sz="2300" spc="145" dirty="0">
                <a:latin typeface="Cambria Math"/>
                <a:cs typeface="Cambria Math"/>
              </a:rPr>
              <a:t> </a:t>
            </a:r>
            <a:r>
              <a:rPr sz="2300" spc="-50" dirty="0">
                <a:latin typeface="Cambria Math"/>
                <a:cs typeface="Cambria Math"/>
              </a:rPr>
              <a:t>3</a:t>
            </a:r>
            <a:endParaRPr sz="23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10625" y="9058656"/>
            <a:ext cx="1325626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Large</a:t>
            </a:r>
            <a:r>
              <a:rPr sz="2300" spc="-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guidance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weight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(</a:t>
            </a:r>
            <a:r>
              <a:rPr sz="2000" dirty="0">
                <a:latin typeface="Cambria Math"/>
                <a:cs typeface="Cambria Math"/>
              </a:rPr>
              <a:t>𝜔</a:t>
            </a:r>
            <a:r>
              <a:rPr sz="2300" dirty="0">
                <a:latin typeface="Trebuchet MS"/>
                <a:cs typeface="Trebuchet MS"/>
              </a:rPr>
              <a:t>)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usually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leads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to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better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individual</a:t>
            </a:r>
            <a:r>
              <a:rPr sz="2300" spc="-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sample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quality</a:t>
            </a:r>
            <a:r>
              <a:rPr sz="2300" spc="-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but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less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sample</a:t>
            </a:r>
            <a:r>
              <a:rPr sz="2300" spc="-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diversity.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89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917654" y="1066800"/>
            <a:ext cx="2455545" cy="741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9990" y="3499103"/>
            <a:ext cx="6331585" cy="318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Trebuchet MS"/>
                <a:cs typeface="Trebuchet MS"/>
              </a:rPr>
              <a:t>We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reviewed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fundamentals</a:t>
            </a:r>
            <a:r>
              <a:rPr sz="2300" spc="6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in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4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parts: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Discrete-time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10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models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Continuous-time</a:t>
            </a:r>
            <a:r>
              <a:rPr sz="2300" spc="7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models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Accelerated</a:t>
            </a:r>
            <a:r>
              <a:rPr sz="2300" spc="5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sampling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from</a:t>
            </a:r>
            <a:r>
              <a:rPr sz="2300" spc="7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diffusion</a:t>
            </a:r>
            <a:r>
              <a:rPr sz="2300" spc="5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models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0"/>
              </a:spcBef>
              <a:buClr>
                <a:srgbClr val="CDCDCD"/>
              </a:buClr>
              <a:buFont typeface="Arial MT"/>
              <a:buChar char="•"/>
            </a:pPr>
            <a:endParaRPr sz="2300">
              <a:latin typeface="Trebuchet MS"/>
              <a:cs typeface="Trebuchet MS"/>
            </a:endParaRPr>
          </a:p>
          <a:p>
            <a:pPr marL="354965" indent="-342265">
              <a:lnSpc>
                <a:spcPct val="100000"/>
              </a:lnSpc>
              <a:buClr>
                <a:srgbClr val="CDCDCD"/>
              </a:buClr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rebuchet MS"/>
                <a:cs typeface="Trebuchet MS"/>
              </a:rPr>
              <a:t>Guidance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and</a:t>
            </a:r>
            <a:r>
              <a:rPr sz="2300" spc="30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conditioning.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3620" y="4152900"/>
            <a:ext cx="16240759" cy="1176219"/>
          </a:xfrm>
          <a:prstGeom prst="rect">
            <a:avLst/>
          </a:prstGeom>
        </p:spPr>
        <p:txBody>
          <a:bodyPr vert="horz" wrap="square" lIns="0" tIns="448564" rIns="0" bIns="0" rtlCol="0">
            <a:spAutoFit/>
          </a:bodyPr>
          <a:lstStyle/>
          <a:p>
            <a:pPr marL="533463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You!</a:t>
            </a:r>
            <a:endParaRPr spc="-1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r>
              <a:rPr spc="-25" dirty="0"/>
              <a:t>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6916</TotalTime>
  <Words>3870</Words>
  <Application>Microsoft Macintosh PowerPoint</Application>
  <PresentationFormat>Custom</PresentationFormat>
  <Paragraphs>745</Paragraphs>
  <Slides>72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5" baseType="lpstr">
      <vt:lpstr>Arial MT</vt:lpstr>
      <vt:lpstr>Arial</vt:lpstr>
      <vt:lpstr>Calibri</vt:lpstr>
      <vt:lpstr>Cambria</vt:lpstr>
      <vt:lpstr>Cambria Math</vt:lpstr>
      <vt:lpstr>Segoe UI Symbol</vt:lpstr>
      <vt:lpstr>Sitka Subheading</vt:lpstr>
      <vt:lpstr>Tahoma</vt:lpstr>
      <vt:lpstr>Times New Roman</vt:lpstr>
      <vt:lpstr>Trebuchet MS</vt:lpstr>
      <vt:lpstr>Verdana</vt:lpstr>
      <vt:lpstr>Wingdings</vt:lpstr>
      <vt:lpstr>Office Theme</vt:lpstr>
      <vt:lpstr>Denoising Diffusion Models: A Generative Learning Big Bang</vt:lpstr>
      <vt:lpstr>Deep Generative Learning Learning to generate data</vt:lpstr>
      <vt:lpstr>Generative Learning Applications</vt:lpstr>
      <vt:lpstr>The Landscape of Deep Generative Learning</vt:lpstr>
      <vt:lpstr>Denoising Diffusion Models: A Generative Learning Big Bang</vt:lpstr>
      <vt:lpstr>We May Not Know Cosmology, But We Know CVPR</vt:lpstr>
      <vt:lpstr>Outline</vt:lpstr>
      <vt:lpstr>Outline</vt:lpstr>
      <vt:lpstr>Denoising Diffusion Models Learning to generate by denoising</vt:lpstr>
      <vt:lpstr>Forward Diffusion Process</vt:lpstr>
      <vt:lpstr>Diffusion Kernel</vt:lpstr>
      <vt:lpstr>What happens to a distribution in the forward diffusion?</vt:lpstr>
      <vt:lpstr>Generative Learning by Denoising</vt:lpstr>
      <vt:lpstr>Reverse Denoising Process</vt:lpstr>
      <vt:lpstr>Learning Denoising Model Variational upper bound</vt:lpstr>
      <vt:lpstr>Summary Training and Sample Generation</vt:lpstr>
      <vt:lpstr>Implementation Considerations Network Architectures</vt:lpstr>
      <vt:lpstr>Outline</vt:lpstr>
      <vt:lpstr>Crash Course in Differential Equations</vt:lpstr>
      <vt:lpstr>Crash Course in Differential Equations</vt:lpstr>
      <vt:lpstr>Crash Course in Differential Equations</vt:lpstr>
      <vt:lpstr>Forward Diffusion Process as Stochastic Differential Equation</vt:lpstr>
      <vt:lpstr>Forward Diffusion Process as Stochastic Differential Equation</vt:lpstr>
      <vt:lpstr>The Generative Reverse Stochastic Differential Equation</vt:lpstr>
      <vt:lpstr>The Generative Reverse Stochastic Differential Equation</vt:lpstr>
      <vt:lpstr>The Generative Reverse Stochastic Differential Equation</vt:lpstr>
      <vt:lpstr>Score Matching</vt:lpstr>
      <vt:lpstr>Denoising Score Matching</vt:lpstr>
      <vt:lpstr>Denoising Score Matching</vt:lpstr>
      <vt:lpstr>Different Parameterizations</vt:lpstr>
      <vt:lpstr>Synthesis with SDE vs. ODE</vt:lpstr>
      <vt:lpstr>Probability Flow ODE</vt:lpstr>
      <vt:lpstr>Outline</vt:lpstr>
      <vt:lpstr>What makes a good generative model?</vt:lpstr>
      <vt:lpstr>What makes a good generative model?</vt:lpstr>
      <vt:lpstr>Acceleration Techniques</vt:lpstr>
      <vt:lpstr>Acceleration Techniques</vt:lpstr>
      <vt:lpstr>Generative ODEs Solve ODEs with as little function evaluations as possible</vt:lpstr>
      <vt:lpstr>Generative ODEs Solve ODEs with as little function evaluations as possible</vt:lpstr>
      <vt:lpstr>Generative ODEs Solve ODEs with as little function evaluations as possible</vt:lpstr>
      <vt:lpstr>A Rich Body of Work on ODE/SDE Solvers for Diffusion Models</vt:lpstr>
      <vt:lpstr>Acceleration Techniques</vt:lpstr>
      <vt:lpstr>ODE Distillation</vt:lpstr>
      <vt:lpstr>Progressive Distillation</vt:lpstr>
      <vt:lpstr>Progressive Distillation in Latent Space</vt:lpstr>
      <vt:lpstr>Consistency Distillation</vt:lpstr>
      <vt:lpstr>SDE Distillation</vt:lpstr>
      <vt:lpstr>Advanced Approximation of Reverse Process Normal assumption in denoising distribution holds only for small step</vt:lpstr>
      <vt:lpstr>Training-based Sampling Techniques</vt:lpstr>
      <vt:lpstr>Acceleration Techniques</vt:lpstr>
      <vt:lpstr>Cascaded Generation Pipeline</vt:lpstr>
      <vt:lpstr>Latent Diffusion Models Variational autoencoder + score-based prior</vt:lpstr>
      <vt:lpstr>Latent Diffusion Models Variational autoencoder + score-based prior</vt:lpstr>
      <vt:lpstr>Latent Diffusion Models End-to-End Training objective</vt:lpstr>
      <vt:lpstr>Latent Diffusion Models Two-stage Training</vt:lpstr>
      <vt:lpstr>Additional Reading</vt:lpstr>
      <vt:lpstr>Acceleration Techniques</vt:lpstr>
      <vt:lpstr>ODE interpretation Deterministic generative process</vt:lpstr>
      <vt:lpstr>“Momentum-based” diffusion Introduce a velocity variable and run diffusion in extended space</vt:lpstr>
      <vt:lpstr>Additional Reading</vt:lpstr>
      <vt:lpstr>Outline</vt:lpstr>
      <vt:lpstr>Impressive Conditional Diffusion Models Text-to-image generation</vt:lpstr>
      <vt:lpstr>Conditioning and Guidance Techniques</vt:lpstr>
      <vt:lpstr>Conditioning and Guidance Techniques</vt:lpstr>
      <vt:lpstr>Explicit Conditional Training</vt:lpstr>
      <vt:lpstr>Conditioning and Guidance Techniques</vt:lpstr>
      <vt:lpstr>Classifier Guidance: Bayes’ Rule in Action</vt:lpstr>
      <vt:lpstr>Conditioning and Guidance Techniques</vt:lpstr>
      <vt:lpstr>Classifier-free guidance Get guidance by Bayes’ rule on conditional diffusion models</vt:lpstr>
      <vt:lpstr>Classifier-free guidance Trade-off for sample quality and sample diversity</vt:lpstr>
      <vt:lpstr>Summary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Denoising Diffusion Models: A Generative Learning Big Bang</dc:title>
  <cp:lastModifiedBy>Dr. Shangsong Liang</cp:lastModifiedBy>
  <cp:revision>6</cp:revision>
  <dcterms:created xsi:type="dcterms:W3CDTF">2024-12-28T11:55:05Z</dcterms:created>
  <dcterms:modified xsi:type="dcterms:W3CDTF">2025-01-02T07:13:56Z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2023-06-25T00:00:00Z</vt:filetime>
  </property>
  <property fmtid="{D5CDD505-2E9C-101B-9397-08002B2CF9AE}" pid="3" name="LastSaved">
    <vt:filetime>2024-12-28T00:00:00Z</vt:filetime>
  </property>
  <property fmtid="{D5CDD505-2E9C-101B-9397-08002B2CF9AE}" pid="4" name="Producer">
    <vt:lpwstr>macOS Version 13.4 (Build 22F66) Quartz PDFContext</vt:lpwstr>
  </property>
</Properties>
</file>