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62" r:id="rId2"/>
    <p:sldId id="336" r:id="rId3"/>
    <p:sldId id="330" r:id="rId4"/>
    <p:sldId id="338" r:id="rId5"/>
    <p:sldId id="339" r:id="rId6"/>
    <p:sldId id="351" r:id="rId7"/>
    <p:sldId id="344" r:id="rId8"/>
    <p:sldId id="321" r:id="rId9"/>
    <p:sldId id="340" r:id="rId10"/>
    <p:sldId id="267" r:id="rId11"/>
    <p:sldId id="268" r:id="rId12"/>
    <p:sldId id="269" r:id="rId13"/>
    <p:sldId id="270" r:id="rId14"/>
    <p:sldId id="271" r:id="rId15"/>
    <p:sldId id="276" r:id="rId16"/>
    <p:sldId id="283" r:id="rId17"/>
    <p:sldId id="307" r:id="rId18"/>
    <p:sldId id="345" r:id="rId19"/>
    <p:sldId id="341" r:id="rId20"/>
    <p:sldId id="331" r:id="rId21"/>
    <p:sldId id="327" r:id="rId22"/>
    <p:sldId id="328" r:id="rId23"/>
    <p:sldId id="329" r:id="rId24"/>
    <p:sldId id="334" r:id="rId25"/>
    <p:sldId id="352" r:id="rId26"/>
    <p:sldId id="335" r:id="rId27"/>
    <p:sldId id="342" r:id="rId28"/>
    <p:sldId id="333" r:id="rId29"/>
    <p:sldId id="285" r:id="rId30"/>
    <p:sldId id="343" r:id="rId31"/>
    <p:sldId id="348" r:id="rId32"/>
    <p:sldId id="361" r:id="rId33"/>
    <p:sldId id="346" r:id="rId34"/>
    <p:sldId id="359" r:id="rId35"/>
    <p:sldId id="360" r:id="rId36"/>
    <p:sldId id="358" r:id="rId37"/>
    <p:sldId id="349" r:id="rId38"/>
    <p:sldId id="350" r:id="rId39"/>
    <p:sldId id="347" r:id="rId40"/>
    <p:sldId id="357" r:id="rId41"/>
    <p:sldId id="355" r:id="rId42"/>
    <p:sldId id="36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92"/>
  </p:normalViewPr>
  <p:slideViewPr>
    <p:cSldViewPr snapToGrid="0">
      <p:cViewPr varScale="1">
        <p:scale>
          <a:sx n="93" d="100"/>
          <a:sy n="93" d="100"/>
        </p:scale>
        <p:origin x="18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B5B0C-3E16-4BC4-A788-C8B33CB38CB4}" type="datetimeFigureOut">
              <a:rPr lang="en-CA" smtClean="0"/>
              <a:t>2019-04-17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990C1-A862-4FB7-9EA3-1821809049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582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B45EA1-E44F-45FC-AC0F-EBF3AA87F17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6607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990C1-A862-4FB7-9EA3-182180904908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4211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defTabSz="931774" eaLnBrk="1" hangingPunct="1"/>
            <a:fld id="{58FB6FD1-B23C-46A8-B333-CBBF6492923C}" type="slidenum">
              <a:rPr lang="en-US" sz="1200">
                <a:solidFill>
                  <a:prstClr val="black"/>
                </a:solidFill>
              </a:rPr>
              <a:pPr defTabSz="931774" eaLnBrk="1" hangingPunct="1"/>
              <a:t>42</a:t>
            </a:fld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2798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610D0-B8BD-45B1-AD02-267B2F5A7C9F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58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1504-7557-4C32-9018-D4E6E80BD072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692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3F82-73A7-46AB-9636-E0A3896B368E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71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ABDE-1EA6-4774-9D49-41A72CC2B86D}" type="datetime1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34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06-3CF2-4809-A7B3-A5D15DA6D14C}" type="datetime1">
              <a:rPr lang="en-CA" smtClean="0"/>
              <a:t>2019-04-17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75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640A-A8C1-462F-B4BE-2CA8048ACCB4}" type="datetime1">
              <a:rPr lang="en-CA" smtClean="0"/>
              <a:t>2019-04-17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08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9A76-3EC9-47D0-B57A-0057E636EE6A}" type="datetime1">
              <a:rPr lang="en-CA" smtClean="0"/>
              <a:t>2019-04-17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80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711A-295A-44D9-9BD6-DEC5447CAAFD}" type="datetime1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1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9D6B-14C0-4F68-9FFF-5113452289B1}" type="datetime1">
              <a:rPr lang="en-CA" smtClean="0"/>
              <a:t>2019-04-17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85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00D0C-A11E-483B-8417-3C6BAE89D9F2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504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589C-600B-43EE-9BBF-DAB794D3833F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22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C3932-03F0-4CBF-85F4-E2EB74CDAF0C}" type="datetime1">
              <a:rPr lang="en-CA" smtClean="0"/>
              <a:t>2019-04-17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729C4-B13B-48CD-8510-A6CBD0120A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636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4" Type="http://schemas.openxmlformats.org/officeDocument/2006/relationships/image" Target="../media/image58.emf"/><Relationship Id="rId5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127173" y="2010887"/>
            <a:ext cx="7735312" cy="2723674"/>
          </a:xfrm>
          <a:noFill/>
        </p:spPr>
        <p:txBody>
          <a:bodyPr>
            <a:noAutofit/>
          </a:bodyPr>
          <a:lstStyle/>
          <a:p>
            <a:r>
              <a:rPr lang="en-US" altLang="en-US" dirty="0" smtClean="0"/>
              <a:t>Lectured by Shangsong Liang</a:t>
            </a:r>
          </a:p>
          <a:p>
            <a:r>
              <a:rPr lang="en-US" altLang="en-US" dirty="0" smtClean="0"/>
              <a:t>Sun </a:t>
            </a:r>
            <a:r>
              <a:rPr lang="en-US" altLang="en-US" dirty="0" err="1" smtClean="0"/>
              <a:t>Yat-sen</a:t>
            </a:r>
            <a:r>
              <a:rPr lang="en-US" altLang="en-US" dirty="0" smtClean="0"/>
              <a:t> University</a:t>
            </a:r>
            <a:endParaRPr lang="en-US" altLang="en-US" dirty="0"/>
          </a:p>
          <a:p>
            <a:endParaRPr lang="en-CA" altLang="en-US" sz="1800" dirty="0"/>
          </a:p>
          <a:p>
            <a:r>
              <a:rPr lang="en-CA" altLang="en-US" sz="1600" dirty="0" smtClean="0"/>
              <a:t>Originally Produced by Dr. </a:t>
            </a:r>
            <a:r>
              <a:rPr lang="en-CA" altLang="en-US" sz="1600" dirty="0" err="1" smtClean="0"/>
              <a:t>Artur</a:t>
            </a:r>
            <a:r>
              <a:rPr lang="en-CA" altLang="en-US" sz="1600" dirty="0" smtClean="0"/>
              <a:t> </a:t>
            </a:r>
            <a:r>
              <a:rPr lang="en-CA" altLang="en-US" sz="1600" dirty="0" err="1" smtClean="0"/>
              <a:t>Luczak</a:t>
            </a:r>
            <a:r>
              <a:rPr lang="en-CA" altLang="en-US" sz="1600" dirty="0" smtClean="0"/>
              <a:t>, Canadian </a:t>
            </a:r>
            <a:r>
              <a:rPr lang="en-CA" altLang="en-US" sz="1600" dirty="0"/>
              <a:t>Centre for Behavioural Neuroscience </a:t>
            </a:r>
          </a:p>
          <a:p>
            <a:r>
              <a:rPr lang="en-CA" altLang="en-US" sz="1600" dirty="0" smtClean="0"/>
              <a:t>University </a:t>
            </a:r>
            <a:r>
              <a:rPr lang="en-CA" altLang="en-US" sz="1600" dirty="0"/>
              <a:t>of Lethbridge, </a:t>
            </a:r>
            <a:r>
              <a:rPr lang="en-CA" altLang="en-US" sz="1600" dirty="0" smtClean="0"/>
              <a:t>AB, Canada</a:t>
            </a:r>
          </a:p>
        </p:txBody>
      </p:sp>
      <p:sp>
        <p:nvSpPr>
          <p:cNvPr id="4099" name="Rectangle 9"/>
          <p:cNvSpPr>
            <a:spLocks noChangeArrowheads="1"/>
          </p:cNvSpPr>
          <p:nvPr/>
        </p:nvSpPr>
        <p:spPr bwMode="auto">
          <a:xfrm>
            <a:off x="679621" y="720582"/>
            <a:ext cx="10503243" cy="2255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en-US" altLang="en-US" sz="3600" b="1" dirty="0"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8639" y="3896662"/>
            <a:ext cx="4855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chemeClr val="accent1"/>
                </a:solidFill>
              </a:rPr>
              <a:t>http://lethbridgebraindynamics.com/artur_luczak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51870" cy="6808132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831491" y="862370"/>
            <a:ext cx="59127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800" dirty="0"/>
              <a:t>Introduction to </a:t>
            </a:r>
            <a:r>
              <a:rPr lang="en-GB" altLang="en-US" sz="2800"/>
              <a:t>Deep </a:t>
            </a:r>
            <a:r>
              <a:rPr lang="en-GB" altLang="en-US" sz="2800" smtClean="0"/>
              <a:t>Learning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Image result for alberta beautifu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0582"/>
            <a:ext cx="2733802" cy="153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587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650" y="5905860"/>
            <a:ext cx="9144000" cy="570512"/>
          </a:xfrm>
        </p:spPr>
        <p:txBody>
          <a:bodyPr>
            <a:normAutofit/>
          </a:bodyPr>
          <a:lstStyle/>
          <a:p>
            <a:r>
              <a:rPr lang="en-CA" sz="2400" dirty="0"/>
              <a:t>google inception network</a:t>
            </a:r>
          </a:p>
        </p:txBody>
      </p:sp>
      <p:pic>
        <p:nvPicPr>
          <p:cNvPr id="3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2" y="1173655"/>
            <a:ext cx="9870615" cy="473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59000" y="173038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altLang="en-US" sz="2800" dirty="0" smtClean="0"/>
              <a:t>Deep Learning is providing breakthrough results in speech recognition, image classification, etc. </a:t>
            </a:r>
            <a:br>
              <a:rPr lang="en-GB" altLang="en-US" sz="2800" dirty="0" smtClean="0"/>
            </a:br>
            <a:endParaRPr lang="en-GB" alt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399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936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Examples from the test set </a:t>
            </a:r>
            <a:r>
              <a:rPr lang="en-US" altLang="en-US" sz="2800" dirty="0"/>
              <a:t>(with the network’s guesses)</a:t>
            </a:r>
          </a:p>
        </p:txBody>
      </p:sp>
      <p:pic>
        <p:nvPicPr>
          <p:cNvPr id="5" name="Picture 4" descr="imagenet-examples-cropp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18"/>
          <a:stretch>
            <a:fillRect/>
          </a:stretch>
        </p:blipFill>
        <p:spPr bwMode="auto">
          <a:xfrm>
            <a:off x="685800" y="1481667"/>
            <a:ext cx="2779903" cy="47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imagenet-examples-cropp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3" r="49747"/>
          <a:stretch>
            <a:fillRect/>
          </a:stretch>
        </p:blipFill>
        <p:spPr bwMode="auto">
          <a:xfrm>
            <a:off x="4546601" y="1500717"/>
            <a:ext cx="2833362" cy="47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imagenet-examples-cropp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1"/>
          <a:stretch>
            <a:fillRect/>
          </a:stretch>
        </p:blipFill>
        <p:spPr bwMode="auto">
          <a:xfrm>
            <a:off x="8485718" y="1500717"/>
            <a:ext cx="2758901" cy="47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300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9900" y="507629"/>
            <a:ext cx="8867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Video analyses and decision making</a:t>
            </a:r>
            <a:endParaRPr lang="en-CA" sz="2800" dirty="0"/>
          </a:p>
        </p:txBody>
      </p:sp>
      <p:pic>
        <p:nvPicPr>
          <p:cNvPr id="14" name="Picture 2" descr="Image result for self driving car deep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35" y="1860974"/>
            <a:ext cx="6329830" cy="304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528" y="1521802"/>
            <a:ext cx="3326197" cy="437099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950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5160" y="375285"/>
            <a:ext cx="5511800" cy="1270635"/>
          </a:xfrm>
        </p:spPr>
        <p:txBody>
          <a:bodyPr/>
          <a:lstStyle/>
          <a:p>
            <a:r>
              <a:rPr lang="en-CA" dirty="0" smtClean="0"/>
              <a:t>Speech recognition</a:t>
            </a:r>
            <a:endParaRPr lang="en-C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887" y="1957705"/>
            <a:ext cx="6523673" cy="409925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285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0780" y="307366"/>
            <a:ext cx="862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Neuroscience data is similar to other types of data </a:t>
            </a:r>
            <a:endParaRPr lang="en-CA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07" y="4058936"/>
            <a:ext cx="1578326" cy="1979207"/>
          </a:xfrm>
          <a:prstGeom prst="rect">
            <a:avLst/>
          </a:prstGeom>
        </p:spPr>
      </p:pic>
      <p:pic>
        <p:nvPicPr>
          <p:cNvPr id="14" name="Picture 2" descr="Image result for self driving car deep neural 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248" y="1138233"/>
            <a:ext cx="3609676" cy="173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38" y="1443437"/>
            <a:ext cx="1713865" cy="20558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394" y="1087460"/>
            <a:ext cx="3256662" cy="2046377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8586087" y="3466250"/>
            <a:ext cx="3247985" cy="962501"/>
            <a:chOff x="8586087" y="3466250"/>
            <a:chExt cx="3247985" cy="96250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86087" y="3466250"/>
              <a:ext cx="3247985" cy="962501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9675060" y="3466250"/>
              <a:ext cx="10700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/>
                <a:t>EEG / </a:t>
              </a:r>
              <a:r>
                <a:rPr lang="en-CA" dirty="0" err="1" smtClean="0"/>
                <a:t>LFP</a:t>
              </a:r>
              <a:endParaRPr lang="en-CA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117394" y="4428751"/>
            <a:ext cx="3696527" cy="2429249"/>
            <a:chOff x="8117394" y="4428751"/>
            <a:chExt cx="3696527" cy="2429249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17394" y="4685625"/>
              <a:ext cx="3696527" cy="2172375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9549544" y="4428751"/>
              <a:ext cx="1321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/>
                <a:t>Spiking data</a:t>
              </a:r>
              <a:endParaRPr lang="en-CA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676248" y="3242730"/>
            <a:ext cx="3875342" cy="3347816"/>
            <a:chOff x="3676248" y="3242730"/>
            <a:chExt cx="3875342" cy="334781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6248" y="4696336"/>
              <a:ext cx="3777086" cy="144654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76248" y="3242730"/>
              <a:ext cx="3875342" cy="1453606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4722025" y="6221214"/>
              <a:ext cx="20479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/>
                <a:t>Ryait et al. &amp; Luczak</a:t>
              </a:r>
              <a:endParaRPr lang="en-CA" dirty="0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89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227647"/>
            <a:ext cx="8248650" cy="652462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176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2209800" y="396876"/>
            <a:ext cx="8682038" cy="56991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b="1" dirty="0" smtClean="0"/>
              <a:t>What </a:t>
            </a:r>
            <a:r>
              <a:rPr lang="en-GB" altLang="en-US" b="1" dirty="0"/>
              <a:t>is Artificial Neuronal </a:t>
            </a:r>
            <a:r>
              <a:rPr lang="en-GB" altLang="en-US" b="1" dirty="0" smtClean="0"/>
              <a:t>Network</a:t>
            </a:r>
            <a:r>
              <a:rPr lang="en-GB" altLang="en-US" dirty="0" smtClean="0"/>
              <a:t>? </a:t>
            </a: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Picture 4" descr="https://upload.wikimedia.org/wikipedia/commons/thumb/4/46/Colored_neural_network.svg/300px-Colored_neural_networ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182" y="1475993"/>
            <a:ext cx="4354642" cy="524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968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062" y="195608"/>
            <a:ext cx="9144000" cy="570512"/>
          </a:xfrm>
        </p:spPr>
        <p:txBody>
          <a:bodyPr>
            <a:normAutofit/>
          </a:bodyPr>
          <a:lstStyle/>
          <a:p>
            <a:r>
              <a:rPr lang="en-CA" sz="2400" b="1" dirty="0" smtClean="0"/>
              <a:t>Artificial neural</a:t>
            </a:r>
            <a:endParaRPr lang="en-CA" sz="2400" dirty="0"/>
          </a:p>
        </p:txBody>
      </p:sp>
      <p:pic>
        <p:nvPicPr>
          <p:cNvPr id="1026" name="Picture 2" descr="http://www.futurehumanevolution.com/wp-content/uploads/Artificial-Intelligence-Neural-Netowork-Internal-Node-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62" y="766120"/>
            <a:ext cx="4434871" cy="350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4/46/Colored_neural_network.svg/300px-Colored_neural_network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040" y="363313"/>
            <a:ext cx="4354642" cy="524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9" y="4268532"/>
            <a:ext cx="7202413" cy="217290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19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8125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 dirty="0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 dirty="0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1.4  2.7   1.9         0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6.4  2.8   1.7         1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 err="1"/>
              <a:t>etc</a:t>
            </a:r>
            <a:r>
              <a:rPr lang="en-GB" altLang="en-US" sz="2400" dirty="0"/>
              <a:t> …</a:t>
            </a:r>
          </a:p>
        </p:txBody>
      </p:sp>
      <p:sp>
        <p:nvSpPr>
          <p:cNvPr id="13316" name="TextBox 2"/>
          <p:cNvSpPr txBox="1">
            <a:spLocks noChangeArrowheads="1"/>
          </p:cNvSpPr>
          <p:nvPr/>
        </p:nvSpPr>
        <p:spPr bwMode="auto">
          <a:xfrm>
            <a:off x="6299200" y="955676"/>
            <a:ext cx="4178300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Initialise with random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2813" y="5483980"/>
            <a:ext cx="7896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i="1" dirty="0"/>
              <a:t>https://www.macs.hw.ac.uk/~dwcorne/Teaching/introdl.ppt</a:t>
            </a:r>
            <a:endParaRPr lang="en-CA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96412" y="132752"/>
            <a:ext cx="4491938" cy="570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b="1" dirty="0" smtClean="0"/>
              <a:t>Training Artificial Neural network</a:t>
            </a:r>
            <a:endParaRPr lang="en-CA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1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8125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1.4  2.7   1.9         </a:t>
            </a:r>
            <a:r>
              <a:rPr lang="en-GB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6.4  2.8   1.7         1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etc …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6299200" y="955676"/>
            <a:ext cx="3589338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Present a training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338" y="1416051"/>
            <a:ext cx="2747962" cy="442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5359401" y="2487613"/>
            <a:ext cx="45704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2.7 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1.9        </a:t>
            </a: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420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8125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1.4  2.7   1.9         </a:t>
            </a:r>
            <a:r>
              <a:rPr lang="en-GB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6.4  2.8   1.7         1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etc …</a:t>
            </a:r>
          </a:p>
        </p:txBody>
      </p:sp>
      <p:sp>
        <p:nvSpPr>
          <p:cNvPr id="15364" name="TextBox 2"/>
          <p:cNvSpPr txBox="1">
            <a:spLocks noChangeArrowheads="1"/>
          </p:cNvSpPr>
          <p:nvPr/>
        </p:nvSpPr>
        <p:spPr bwMode="auto">
          <a:xfrm>
            <a:off x="6299201" y="955676"/>
            <a:ext cx="3967163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Feed it through to get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338" y="1416051"/>
            <a:ext cx="2747962" cy="442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5359401" y="2487613"/>
            <a:ext cx="510857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2.7                                                    </a:t>
            </a:r>
            <a:r>
              <a:rPr lang="en-GB" altLang="en-US" sz="2400" b="1">
                <a:solidFill>
                  <a:srgbClr val="0033CC"/>
                </a:solidFill>
              </a:rPr>
              <a:t>0.8</a:t>
            </a:r>
            <a:endParaRPr lang="en-GB" altLang="en-US" sz="24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1.9        </a:t>
            </a: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117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8125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1.4  2.7   1.9         </a:t>
            </a:r>
            <a:r>
              <a:rPr lang="en-GB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6.4  2.8   1.7         1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etc …</a:t>
            </a:r>
          </a:p>
        </p:txBody>
      </p:sp>
      <p:sp>
        <p:nvSpPr>
          <p:cNvPr id="16388" name="TextBox 2"/>
          <p:cNvSpPr txBox="1">
            <a:spLocks noChangeArrowheads="1"/>
          </p:cNvSpPr>
          <p:nvPr/>
        </p:nvSpPr>
        <p:spPr bwMode="auto">
          <a:xfrm>
            <a:off x="6299200" y="955676"/>
            <a:ext cx="3881438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Compare with target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338" y="1416051"/>
            <a:ext cx="2747962" cy="442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5359401" y="2487613"/>
            <a:ext cx="503237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2.7                                                    </a:t>
            </a:r>
            <a:r>
              <a:rPr lang="en-GB" altLang="en-US" sz="2400" b="1">
                <a:solidFill>
                  <a:srgbClr val="0033CC"/>
                </a:solidFill>
              </a:rPr>
              <a:t>0.8 </a:t>
            </a:r>
            <a:endParaRPr lang="en-GB" altLang="en-US" sz="24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033CC"/>
                </a:solidFill>
              </a:rPr>
              <a:t>                                                  </a:t>
            </a:r>
            <a:r>
              <a:rPr lang="en-GB" altLang="en-US" sz="2800" b="1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1.9                                           </a:t>
            </a:r>
            <a:r>
              <a:rPr lang="en-GB" altLang="en-US" sz="2400" i="1">
                <a:solidFill>
                  <a:srgbClr val="0033CC"/>
                </a:solidFill>
              </a:rPr>
              <a:t>error </a:t>
            </a:r>
            <a:r>
              <a:rPr lang="en-GB" altLang="en-US" sz="2400">
                <a:solidFill>
                  <a:srgbClr val="0033CC"/>
                </a:solidFill>
              </a:rPr>
              <a:t>0.8</a:t>
            </a: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198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8125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1.4  2.7   1.9         </a:t>
            </a:r>
            <a:r>
              <a:rPr lang="en-GB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6.4  2.8   1.7         1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etc …</a:t>
            </a:r>
          </a:p>
        </p:txBody>
      </p:sp>
      <p:sp>
        <p:nvSpPr>
          <p:cNvPr id="17412" name="TextBox 2"/>
          <p:cNvSpPr txBox="1">
            <a:spLocks noChangeArrowheads="1"/>
          </p:cNvSpPr>
          <p:nvPr/>
        </p:nvSpPr>
        <p:spPr bwMode="auto">
          <a:xfrm>
            <a:off x="6299200" y="955676"/>
            <a:ext cx="4148138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Adjust weights based on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338" y="1416051"/>
            <a:ext cx="2747962" cy="442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5359401" y="2487613"/>
            <a:ext cx="5999479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0033CC"/>
                </a:solidFill>
              </a:rPr>
              <a:t>1.4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0033CC"/>
                </a:solidFill>
              </a:rPr>
              <a:t>2.7                                                    </a:t>
            </a:r>
            <a:r>
              <a:rPr lang="en-GB" altLang="en-US" sz="2400" b="1" dirty="0">
                <a:solidFill>
                  <a:srgbClr val="0033CC"/>
                </a:solidFill>
              </a:rPr>
              <a:t>0.8 </a:t>
            </a:r>
            <a:endParaRPr lang="en-GB" altLang="en-US" sz="2400" dirty="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>
                <a:solidFill>
                  <a:srgbClr val="0033CC"/>
                </a:solidFill>
              </a:rPr>
              <a:t>                                                  </a:t>
            </a:r>
            <a:r>
              <a:rPr lang="en-GB" altLang="en-US" sz="2800" b="1" dirty="0">
                <a:solidFill>
                  <a:srgbClr val="FF0000"/>
                </a:solidFill>
              </a:rPr>
              <a:t>0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0033CC"/>
                </a:solidFill>
              </a:rPr>
              <a:t>1.9                                           </a:t>
            </a:r>
            <a:r>
              <a:rPr lang="en-GB" altLang="en-US" sz="2400" i="1" dirty="0">
                <a:solidFill>
                  <a:srgbClr val="0033CC"/>
                </a:solidFill>
              </a:rPr>
              <a:t>error </a:t>
            </a:r>
            <a:r>
              <a:rPr lang="en-GB" altLang="en-US" sz="2400" dirty="0">
                <a:solidFill>
                  <a:srgbClr val="0033CC"/>
                </a:solidFill>
              </a:rPr>
              <a:t>0.8</a:t>
            </a:r>
            <a:endParaRPr lang="en-GB" altLang="en-US" sz="2400" dirty="0">
              <a:solidFill>
                <a:srgbClr val="FF0000"/>
              </a:solidFill>
            </a:endParaRPr>
          </a:p>
        </p:txBody>
      </p:sp>
      <p:pic>
        <p:nvPicPr>
          <p:cNvPr id="17415" name="Picture 4" descr="File:Hammer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575" y="2459039"/>
            <a:ext cx="8255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4" descr="File:Hammer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414" y="3517900"/>
            <a:ext cx="739775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185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2362201"/>
            <a:ext cx="3794125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1" name="TextBox 1"/>
          <p:cNvSpPr txBox="1">
            <a:spLocks noChangeArrowheads="1"/>
          </p:cNvSpPr>
          <p:nvPr/>
        </p:nvSpPr>
        <p:spPr bwMode="auto">
          <a:xfrm>
            <a:off x="2082801" y="703264"/>
            <a:ext cx="27400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/>
              <a:t>Training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i="1"/>
              <a:t>Fields              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1.4  2.7   1.9         0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3.8  3.4   3.2         0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accent2"/>
                </a:solidFill>
              </a:rPr>
              <a:t>6.4  2.8   1.7         </a:t>
            </a:r>
            <a:r>
              <a:rPr lang="en-GB" altLang="en-US" sz="2400">
                <a:solidFill>
                  <a:srgbClr val="FF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4.1  0.1   0.2         0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etc …</a:t>
            </a:r>
          </a:p>
        </p:txBody>
      </p:sp>
      <p:sp>
        <p:nvSpPr>
          <p:cNvPr id="22532" name="TextBox 2"/>
          <p:cNvSpPr txBox="1">
            <a:spLocks noChangeArrowheads="1"/>
          </p:cNvSpPr>
          <p:nvPr/>
        </p:nvSpPr>
        <p:spPr bwMode="auto">
          <a:xfrm>
            <a:off x="6299201" y="955676"/>
            <a:ext cx="1965325" cy="4603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</a:rPr>
              <a:t>And so on ….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338" y="2159001"/>
            <a:ext cx="2747962" cy="441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5359401" y="2487613"/>
            <a:ext cx="895667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6.4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2.8                                                     0.9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033CC"/>
                </a:solidFill>
              </a:rPr>
              <a:t>                                                  </a:t>
            </a:r>
            <a:r>
              <a:rPr lang="en-GB" altLang="en-US" sz="2800">
                <a:solidFill>
                  <a:srgbClr val="FF0000"/>
                </a:solidFill>
              </a:rPr>
              <a:t>1</a:t>
            </a:r>
            <a:r>
              <a:rPr lang="en-GB" altLang="en-US" sz="2800">
                <a:solidFill>
                  <a:srgbClr val="0033CC"/>
                </a:solidFill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0033CC"/>
                </a:solidFill>
              </a:rPr>
              <a:t>1.7                                          </a:t>
            </a:r>
            <a:r>
              <a:rPr lang="en-GB" altLang="en-US" sz="2400" i="1">
                <a:solidFill>
                  <a:srgbClr val="0033CC"/>
                </a:solidFill>
              </a:rPr>
              <a:t>error</a:t>
            </a:r>
            <a:r>
              <a:rPr lang="en-GB" altLang="en-US" sz="2400">
                <a:solidFill>
                  <a:srgbClr val="0033CC"/>
                </a:solidFill>
              </a:rPr>
              <a:t>  -0.1</a:t>
            </a:r>
            <a:endParaRPr lang="en-GB" altLang="en-US" sz="2400">
              <a:solidFill>
                <a:srgbClr val="FF0000"/>
              </a:solidFill>
            </a:endParaRPr>
          </a:p>
        </p:txBody>
      </p:sp>
      <p:pic>
        <p:nvPicPr>
          <p:cNvPr id="22535" name="Picture 4" descr="File:Hammer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76002">
            <a:off x="6729413" y="3152776"/>
            <a:ext cx="823912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4" descr="File:Hammer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76002" flipH="1" flipV="1">
            <a:off x="8250238" y="2836864"/>
            <a:ext cx="7048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581276" y="4816475"/>
            <a:ext cx="5968301" cy="147732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chemeClr val="bg1"/>
                </a:solidFill>
                <a:latin typeface="Times New Roman" charset="0"/>
                <a:cs typeface="Arial" charset="0"/>
              </a:rPr>
              <a:t>Repeat this thousands, maybe millions of times – each time</a:t>
            </a:r>
          </a:p>
          <a:p>
            <a:pPr>
              <a:defRPr/>
            </a:pPr>
            <a:r>
              <a:rPr lang="en-GB" b="1" dirty="0">
                <a:solidFill>
                  <a:schemeClr val="bg1"/>
                </a:solidFill>
                <a:latin typeface="Times New Roman" charset="0"/>
                <a:cs typeface="Arial" charset="0"/>
              </a:rPr>
              <a:t>taking a random training instance, and making slight </a:t>
            </a:r>
          </a:p>
          <a:p>
            <a:pPr>
              <a:defRPr/>
            </a:pPr>
            <a:r>
              <a:rPr lang="en-GB" b="1" dirty="0">
                <a:solidFill>
                  <a:schemeClr val="bg1"/>
                </a:solidFill>
                <a:latin typeface="Times New Roman" charset="0"/>
                <a:cs typeface="Arial" charset="0"/>
              </a:rPr>
              <a:t>weight adjustments</a:t>
            </a:r>
          </a:p>
          <a:p>
            <a:pPr>
              <a:defRPr/>
            </a:pPr>
            <a:r>
              <a:rPr lang="en-GB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charset="0"/>
                <a:cs typeface="Arial" charset="0"/>
              </a:rPr>
              <a:t>  </a:t>
            </a:r>
            <a:r>
              <a:rPr lang="en-GB" b="1" i="1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charset="0"/>
                <a:cs typeface="Arial" charset="0"/>
              </a:rPr>
              <a:t>Algorithms for weight adjustment are designed to make</a:t>
            </a:r>
          </a:p>
          <a:p>
            <a:pPr>
              <a:defRPr/>
            </a:pPr>
            <a:r>
              <a:rPr lang="en-GB" b="1" i="1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charset="0"/>
                <a:cs typeface="Arial" charset="0"/>
              </a:rPr>
              <a:t>changes that will reduce the error</a:t>
            </a:r>
            <a:endParaRPr lang="en-GB" b="1" dirty="0">
              <a:solidFill>
                <a:schemeClr val="accent4">
                  <a:lumMod val="95000"/>
                  <a:lumOff val="5000"/>
                </a:schemeClr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34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2209800" y="314325"/>
            <a:ext cx="7772400" cy="1143000"/>
          </a:xfrm>
        </p:spPr>
        <p:txBody>
          <a:bodyPr/>
          <a:lstStyle/>
          <a:p>
            <a:endParaRPr lang="en-GB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638" y="2832608"/>
            <a:ext cx="8183562" cy="3281680"/>
          </a:xfrm>
        </p:spPr>
        <p:txBody>
          <a:bodyPr/>
          <a:lstStyle/>
          <a:p>
            <a:pPr>
              <a:defRPr/>
            </a:pPr>
            <a:r>
              <a:rPr lang="en-GB" sz="2400" dirty="0"/>
              <a:t>weight-learning algorithms for </a:t>
            </a:r>
            <a:r>
              <a:rPr lang="en-GB" sz="2400" dirty="0" err="1"/>
              <a:t>NNs</a:t>
            </a:r>
            <a:r>
              <a:rPr lang="en-GB" sz="2400" dirty="0"/>
              <a:t> </a:t>
            </a:r>
            <a:r>
              <a:rPr lang="en-GB" sz="2400" dirty="0" smtClean="0"/>
              <a:t>work </a:t>
            </a:r>
            <a:r>
              <a:rPr lang="en-GB" sz="2400" dirty="0"/>
              <a:t>by making thousands and thousands of tiny adjustments, each making the network do better at the most recent pattern, but perhaps a little worse on many others</a:t>
            </a:r>
          </a:p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400" dirty="0" smtClean="0"/>
              <a:t>eventually </a:t>
            </a:r>
            <a:r>
              <a:rPr lang="en-GB" sz="2400" dirty="0"/>
              <a:t>this tends to be good enough </a:t>
            </a:r>
            <a:r>
              <a:rPr lang="en-GB" sz="2400" dirty="0" smtClean="0"/>
              <a:t>to learn </a:t>
            </a:r>
            <a:r>
              <a:rPr lang="en-GB" sz="2400" dirty="0"/>
              <a:t>effective classifiers for many real applications</a:t>
            </a: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187" y="1173353"/>
            <a:ext cx="21717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75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54" y="1249681"/>
            <a:ext cx="8814595" cy="330866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63240" y="366397"/>
            <a:ext cx="4251960" cy="883284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 smtClean="0"/>
              <a:t> </a:t>
            </a:r>
            <a:r>
              <a:rPr lang="en-GB" altLang="en-US" b="1" dirty="0" smtClean="0"/>
              <a:t>What is </a:t>
            </a:r>
            <a:r>
              <a:rPr lang="en-GB" altLang="en-US" b="1" dirty="0"/>
              <a:t>deep learning</a:t>
            </a:r>
            <a:r>
              <a:rPr lang="en-GB" altLang="en-US" dirty="0"/>
              <a:t> ? </a:t>
            </a:r>
            <a:endParaRPr lang="en-GB" alt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5208905"/>
            <a:ext cx="10515600" cy="1252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 smtClean="0"/>
              <a:t>A network with 1 hidden layer can, in theory, learn perfectly any classification problem. A set of weights exists that can produce the targets from the inputs. The problem is finding them.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799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916" y="548641"/>
            <a:ext cx="5495203" cy="6220140"/>
          </a:xfrm>
        </p:spPr>
      </p:pic>
      <p:sp>
        <p:nvSpPr>
          <p:cNvPr id="3" name="Rectangle 2"/>
          <p:cNvSpPr/>
          <p:nvPr/>
        </p:nvSpPr>
        <p:spPr>
          <a:xfrm>
            <a:off x="7599680" y="6215933"/>
            <a:ext cx="4836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 smtClean="0"/>
              <a:t>Riesenhuber</a:t>
            </a:r>
            <a:r>
              <a:rPr lang="en-CA" dirty="0" smtClean="0"/>
              <a:t> &amp; </a:t>
            </a:r>
            <a:r>
              <a:rPr lang="en-CA" dirty="0" err="1" smtClean="0"/>
              <a:t>Poggio</a:t>
            </a:r>
            <a:r>
              <a:rPr lang="en-CA" dirty="0" smtClean="0"/>
              <a:t>. Nature </a:t>
            </a:r>
            <a:r>
              <a:rPr lang="en-CA" dirty="0" err="1" smtClean="0"/>
              <a:t>Neurosci</a:t>
            </a:r>
            <a:r>
              <a:rPr lang="en-CA" dirty="0" smtClean="0"/>
              <a:t> 1999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7626435" y="548641"/>
            <a:ext cx="3051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/>
              <a:t>Hierarchical </a:t>
            </a:r>
            <a:r>
              <a:rPr lang="en-CA" sz="2800" dirty="0" smtClean="0"/>
              <a:t>models</a:t>
            </a:r>
            <a:endParaRPr lang="en-CA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79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81692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Deep Learning = Learning Hierarchical Representations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4FA-A4B6-4BA2-9DD1-C172BBD468E4}" type="slidenum">
              <a:rPr lang="en-US" smtClean="0"/>
              <a:t>19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069" y="1311275"/>
            <a:ext cx="8761412" cy="5227637"/>
          </a:xfrm>
        </p:spPr>
      </p:pic>
    </p:spTree>
    <p:extLst>
      <p:ext uri="{BB962C8B-B14F-4D97-AF65-F5344CB8AC3E}">
        <p14:creationId xmlns:p14="http://schemas.microsoft.com/office/powerpoint/2010/main" val="52744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0609" y="292526"/>
            <a:ext cx="10972800" cy="11430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>
                <a:ea typeface="+mj-ea"/>
              </a:rPr>
              <a:t>Convolutional Networks (</a:t>
            </a:r>
            <a:r>
              <a:rPr lang="en-US" dirty="0" err="1" smtClean="0">
                <a:ea typeface="+mj-ea"/>
              </a:rPr>
              <a:t>ConvNet</a:t>
            </a:r>
            <a:r>
              <a:rPr lang="en-US" dirty="0" smtClean="0">
                <a:ea typeface="+mj-ea"/>
              </a:rPr>
              <a:t> or CNN)</a:t>
            </a:r>
            <a:br>
              <a:rPr lang="en-US" dirty="0" smtClean="0">
                <a:ea typeface="+mj-ea"/>
              </a:rPr>
            </a:br>
            <a:r>
              <a:rPr lang="en-US" sz="3100" dirty="0" smtClean="0"/>
              <a:t>(currently </a:t>
            </a:r>
            <a:r>
              <a:rPr lang="en-US" sz="3100" dirty="0"/>
              <a:t>the dominant approach for neural networks)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609" y="1965749"/>
            <a:ext cx="5011631" cy="4536651"/>
          </a:xfrm>
        </p:spPr>
        <p:txBody>
          <a:bodyPr/>
          <a:lstStyle/>
          <a:p>
            <a:r>
              <a:rPr lang="en-US" altLang="en-US" dirty="0" smtClean="0"/>
              <a:t>Use many different copies of the same feature detector with different positions.</a:t>
            </a:r>
          </a:p>
          <a:p>
            <a:pPr lvl="1"/>
            <a:r>
              <a:rPr lang="en-US" altLang="en-US" dirty="0" smtClean="0"/>
              <a:t>Replication greatly reduces the number of free parameters to be learned.</a:t>
            </a:r>
          </a:p>
          <a:p>
            <a:r>
              <a:rPr lang="en-US" altLang="en-US" dirty="0" smtClean="0"/>
              <a:t>Use several different feature types, each with its own map of replicated detectors.</a:t>
            </a:r>
          </a:p>
          <a:p>
            <a:pPr lvl="1"/>
            <a:r>
              <a:rPr lang="en-US" altLang="en-US" dirty="0" smtClean="0"/>
              <a:t>Allows each patch of image to be represented in several ways.</a:t>
            </a: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6239511" y="4528397"/>
            <a:ext cx="2688167" cy="1828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6417311" y="52480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6622627" y="52480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28" name="Rectangle 8"/>
          <p:cNvSpPr>
            <a:spLocks noChangeArrowheads="1"/>
          </p:cNvSpPr>
          <p:nvPr/>
        </p:nvSpPr>
        <p:spPr bwMode="auto">
          <a:xfrm>
            <a:off x="6817360" y="52480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6417311" y="50321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0" name="Rectangle 10"/>
          <p:cNvSpPr>
            <a:spLocks noChangeArrowheads="1"/>
          </p:cNvSpPr>
          <p:nvPr/>
        </p:nvSpPr>
        <p:spPr bwMode="auto">
          <a:xfrm>
            <a:off x="6622627" y="50321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1" name="Rectangle 11"/>
          <p:cNvSpPr>
            <a:spLocks noChangeArrowheads="1"/>
          </p:cNvSpPr>
          <p:nvPr/>
        </p:nvSpPr>
        <p:spPr bwMode="auto">
          <a:xfrm>
            <a:off x="6817360" y="50321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2" name="Rectangle 12"/>
          <p:cNvSpPr>
            <a:spLocks noChangeArrowheads="1"/>
          </p:cNvSpPr>
          <p:nvPr/>
        </p:nvSpPr>
        <p:spPr bwMode="auto">
          <a:xfrm>
            <a:off x="6417311" y="48162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3" name="Rectangle 13"/>
          <p:cNvSpPr>
            <a:spLocks noChangeArrowheads="1"/>
          </p:cNvSpPr>
          <p:nvPr/>
        </p:nvSpPr>
        <p:spPr bwMode="auto">
          <a:xfrm>
            <a:off x="6622627" y="48162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4" name="Rectangle 14"/>
          <p:cNvSpPr>
            <a:spLocks noChangeArrowheads="1"/>
          </p:cNvSpPr>
          <p:nvPr/>
        </p:nvSpPr>
        <p:spPr bwMode="auto">
          <a:xfrm>
            <a:off x="6817360" y="48162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5" name="Oval 15"/>
          <p:cNvSpPr>
            <a:spLocks noChangeArrowheads="1"/>
          </p:cNvSpPr>
          <p:nvPr/>
        </p:nvSpPr>
        <p:spPr bwMode="auto">
          <a:xfrm>
            <a:off x="6430010" y="3017098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37" name="Line 17"/>
          <p:cNvSpPr>
            <a:spLocks noChangeShapeType="1"/>
          </p:cNvSpPr>
          <p:nvPr/>
        </p:nvSpPr>
        <p:spPr bwMode="auto">
          <a:xfrm flipV="1">
            <a:off x="6512560" y="3520864"/>
            <a:ext cx="69851" cy="143933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84339" name="Line 19"/>
          <p:cNvSpPr>
            <a:spLocks noChangeShapeType="1"/>
          </p:cNvSpPr>
          <p:nvPr/>
        </p:nvSpPr>
        <p:spPr bwMode="auto">
          <a:xfrm flipV="1">
            <a:off x="6715337" y="3592830"/>
            <a:ext cx="2540" cy="172719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84341" name="Line 21"/>
          <p:cNvSpPr>
            <a:spLocks noChangeShapeType="1"/>
          </p:cNvSpPr>
          <p:nvPr/>
        </p:nvSpPr>
        <p:spPr bwMode="auto">
          <a:xfrm flipH="1" flipV="1">
            <a:off x="6817360" y="3520865"/>
            <a:ext cx="67733" cy="136736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84342" name="Rectangle 22"/>
          <p:cNvSpPr>
            <a:spLocks noChangeArrowheads="1"/>
          </p:cNvSpPr>
          <p:nvPr/>
        </p:nvSpPr>
        <p:spPr bwMode="auto">
          <a:xfrm>
            <a:off x="8146627" y="51041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3" name="Rectangle 23"/>
          <p:cNvSpPr>
            <a:spLocks noChangeArrowheads="1"/>
          </p:cNvSpPr>
          <p:nvPr/>
        </p:nvSpPr>
        <p:spPr bwMode="auto">
          <a:xfrm>
            <a:off x="8351945" y="51041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4" name="Rectangle 24"/>
          <p:cNvSpPr>
            <a:spLocks noChangeArrowheads="1"/>
          </p:cNvSpPr>
          <p:nvPr/>
        </p:nvSpPr>
        <p:spPr bwMode="auto">
          <a:xfrm>
            <a:off x="8544561" y="51041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5" name="Rectangle 25"/>
          <p:cNvSpPr>
            <a:spLocks noChangeArrowheads="1"/>
          </p:cNvSpPr>
          <p:nvPr/>
        </p:nvSpPr>
        <p:spPr bwMode="auto">
          <a:xfrm>
            <a:off x="8146627" y="48882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6" name="Rectangle 26"/>
          <p:cNvSpPr>
            <a:spLocks noChangeArrowheads="1"/>
          </p:cNvSpPr>
          <p:nvPr/>
        </p:nvSpPr>
        <p:spPr bwMode="auto">
          <a:xfrm>
            <a:off x="8351945" y="48882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7" name="Rectangle 27"/>
          <p:cNvSpPr>
            <a:spLocks noChangeArrowheads="1"/>
          </p:cNvSpPr>
          <p:nvPr/>
        </p:nvSpPr>
        <p:spPr bwMode="auto">
          <a:xfrm>
            <a:off x="8544561" y="48882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8" name="Rectangle 28"/>
          <p:cNvSpPr>
            <a:spLocks noChangeArrowheads="1"/>
          </p:cNvSpPr>
          <p:nvPr/>
        </p:nvSpPr>
        <p:spPr bwMode="auto">
          <a:xfrm>
            <a:off x="8146627" y="46723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49" name="Rectangle 29"/>
          <p:cNvSpPr>
            <a:spLocks noChangeArrowheads="1"/>
          </p:cNvSpPr>
          <p:nvPr/>
        </p:nvSpPr>
        <p:spPr bwMode="auto">
          <a:xfrm>
            <a:off x="8351945" y="46723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0" name="Rectangle 30"/>
          <p:cNvSpPr>
            <a:spLocks noChangeArrowheads="1"/>
          </p:cNvSpPr>
          <p:nvPr/>
        </p:nvSpPr>
        <p:spPr bwMode="auto">
          <a:xfrm>
            <a:off x="8544561" y="46723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1" name="Oval 31"/>
          <p:cNvSpPr>
            <a:spLocks noChangeArrowheads="1"/>
          </p:cNvSpPr>
          <p:nvPr/>
        </p:nvSpPr>
        <p:spPr bwMode="auto">
          <a:xfrm>
            <a:off x="8223040" y="2841420"/>
            <a:ext cx="480484" cy="5016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5" name="Rectangle 35"/>
          <p:cNvSpPr>
            <a:spLocks noChangeArrowheads="1"/>
          </p:cNvSpPr>
          <p:nvPr/>
        </p:nvSpPr>
        <p:spPr bwMode="auto">
          <a:xfrm>
            <a:off x="7378278" y="60418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6" name="Rectangle 36"/>
          <p:cNvSpPr>
            <a:spLocks noChangeArrowheads="1"/>
          </p:cNvSpPr>
          <p:nvPr/>
        </p:nvSpPr>
        <p:spPr bwMode="auto">
          <a:xfrm>
            <a:off x="7583594" y="60418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7" name="Rectangle 37"/>
          <p:cNvSpPr>
            <a:spLocks noChangeArrowheads="1"/>
          </p:cNvSpPr>
          <p:nvPr/>
        </p:nvSpPr>
        <p:spPr bwMode="auto">
          <a:xfrm>
            <a:off x="7776211" y="60418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8" name="Rectangle 38"/>
          <p:cNvSpPr>
            <a:spLocks noChangeArrowheads="1"/>
          </p:cNvSpPr>
          <p:nvPr/>
        </p:nvSpPr>
        <p:spPr bwMode="auto">
          <a:xfrm>
            <a:off x="7378278" y="58259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59" name="Rectangle 39"/>
          <p:cNvSpPr>
            <a:spLocks noChangeArrowheads="1"/>
          </p:cNvSpPr>
          <p:nvPr/>
        </p:nvSpPr>
        <p:spPr bwMode="auto">
          <a:xfrm>
            <a:off x="7583594" y="58259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60" name="Rectangle 40"/>
          <p:cNvSpPr>
            <a:spLocks noChangeArrowheads="1"/>
          </p:cNvSpPr>
          <p:nvPr/>
        </p:nvSpPr>
        <p:spPr bwMode="auto">
          <a:xfrm>
            <a:off x="7776211" y="58259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61" name="Rectangle 41"/>
          <p:cNvSpPr>
            <a:spLocks noChangeArrowheads="1"/>
          </p:cNvSpPr>
          <p:nvPr/>
        </p:nvSpPr>
        <p:spPr bwMode="auto">
          <a:xfrm>
            <a:off x="7378278" y="56100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62" name="Rectangle 42"/>
          <p:cNvSpPr>
            <a:spLocks noChangeArrowheads="1"/>
          </p:cNvSpPr>
          <p:nvPr/>
        </p:nvSpPr>
        <p:spPr bwMode="auto">
          <a:xfrm>
            <a:off x="7583594" y="56100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63" name="Rectangle 43"/>
          <p:cNvSpPr>
            <a:spLocks noChangeArrowheads="1"/>
          </p:cNvSpPr>
          <p:nvPr/>
        </p:nvSpPr>
        <p:spPr bwMode="auto">
          <a:xfrm>
            <a:off x="7776211" y="56100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84364" name="Oval 44"/>
          <p:cNvSpPr>
            <a:spLocks noChangeArrowheads="1"/>
          </p:cNvSpPr>
          <p:nvPr/>
        </p:nvSpPr>
        <p:spPr bwMode="auto">
          <a:xfrm>
            <a:off x="7390977" y="3808731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9248989" y="4528397"/>
            <a:ext cx="2688167" cy="1828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9426789" y="52480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47" name="Rectangle 7"/>
          <p:cNvSpPr>
            <a:spLocks noChangeArrowheads="1"/>
          </p:cNvSpPr>
          <p:nvPr/>
        </p:nvSpPr>
        <p:spPr bwMode="auto">
          <a:xfrm>
            <a:off x="9632105" y="52480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48" name="Rectangle 8"/>
          <p:cNvSpPr>
            <a:spLocks noChangeArrowheads="1"/>
          </p:cNvSpPr>
          <p:nvPr/>
        </p:nvSpPr>
        <p:spPr bwMode="auto">
          <a:xfrm>
            <a:off x="9826838" y="52480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49" name="Rectangle 9"/>
          <p:cNvSpPr>
            <a:spLocks noChangeArrowheads="1"/>
          </p:cNvSpPr>
          <p:nvPr/>
        </p:nvSpPr>
        <p:spPr bwMode="auto">
          <a:xfrm>
            <a:off x="9426789" y="50321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0" name="Rectangle 10"/>
          <p:cNvSpPr>
            <a:spLocks noChangeArrowheads="1"/>
          </p:cNvSpPr>
          <p:nvPr/>
        </p:nvSpPr>
        <p:spPr bwMode="auto">
          <a:xfrm>
            <a:off x="9632105" y="50321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1" name="Rectangle 11"/>
          <p:cNvSpPr>
            <a:spLocks noChangeArrowheads="1"/>
          </p:cNvSpPr>
          <p:nvPr/>
        </p:nvSpPr>
        <p:spPr bwMode="auto">
          <a:xfrm>
            <a:off x="9826838" y="50321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9426789" y="48162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9632105" y="4816265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9826838" y="4816265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5" name="Oval 15"/>
          <p:cNvSpPr>
            <a:spLocks noChangeArrowheads="1"/>
          </p:cNvSpPr>
          <p:nvPr/>
        </p:nvSpPr>
        <p:spPr bwMode="auto">
          <a:xfrm>
            <a:off x="9439488" y="3017098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6" name="Line 17"/>
          <p:cNvSpPr>
            <a:spLocks noChangeShapeType="1"/>
          </p:cNvSpPr>
          <p:nvPr/>
        </p:nvSpPr>
        <p:spPr bwMode="auto">
          <a:xfrm flipV="1">
            <a:off x="9511453" y="3520862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 flipV="1">
            <a:off x="9724816" y="3592830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58" name="Line 21"/>
          <p:cNvSpPr>
            <a:spLocks noChangeShapeType="1"/>
          </p:cNvSpPr>
          <p:nvPr/>
        </p:nvSpPr>
        <p:spPr bwMode="auto">
          <a:xfrm flipH="1" flipV="1">
            <a:off x="9826838" y="3520865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11156105" y="51041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0" name="Rectangle 23"/>
          <p:cNvSpPr>
            <a:spLocks noChangeArrowheads="1"/>
          </p:cNvSpPr>
          <p:nvPr/>
        </p:nvSpPr>
        <p:spPr bwMode="auto">
          <a:xfrm>
            <a:off x="11361423" y="51041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11554039" y="51041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2" name="Rectangle 25"/>
          <p:cNvSpPr>
            <a:spLocks noChangeArrowheads="1"/>
          </p:cNvSpPr>
          <p:nvPr/>
        </p:nvSpPr>
        <p:spPr bwMode="auto">
          <a:xfrm>
            <a:off x="11156105" y="48882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11361423" y="48882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4" name="Rectangle 27"/>
          <p:cNvSpPr>
            <a:spLocks noChangeArrowheads="1"/>
          </p:cNvSpPr>
          <p:nvPr/>
        </p:nvSpPr>
        <p:spPr bwMode="auto">
          <a:xfrm>
            <a:off x="11554039" y="48882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5" name="Rectangle 28"/>
          <p:cNvSpPr>
            <a:spLocks noChangeArrowheads="1"/>
          </p:cNvSpPr>
          <p:nvPr/>
        </p:nvSpPr>
        <p:spPr bwMode="auto">
          <a:xfrm>
            <a:off x="11156105" y="4672331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6" name="Rectangle 29"/>
          <p:cNvSpPr>
            <a:spLocks noChangeArrowheads="1"/>
          </p:cNvSpPr>
          <p:nvPr/>
        </p:nvSpPr>
        <p:spPr bwMode="auto">
          <a:xfrm>
            <a:off x="11361423" y="46723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7" name="Rectangle 30"/>
          <p:cNvSpPr>
            <a:spLocks noChangeArrowheads="1"/>
          </p:cNvSpPr>
          <p:nvPr/>
        </p:nvSpPr>
        <p:spPr bwMode="auto">
          <a:xfrm>
            <a:off x="11554039" y="4672331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8" name="Oval 31"/>
          <p:cNvSpPr>
            <a:spLocks noChangeArrowheads="1"/>
          </p:cNvSpPr>
          <p:nvPr/>
        </p:nvSpPr>
        <p:spPr bwMode="auto">
          <a:xfrm>
            <a:off x="11168805" y="2873165"/>
            <a:ext cx="480484" cy="5016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2" name="Rectangle 35"/>
          <p:cNvSpPr>
            <a:spLocks noChangeArrowheads="1"/>
          </p:cNvSpPr>
          <p:nvPr/>
        </p:nvSpPr>
        <p:spPr bwMode="auto">
          <a:xfrm>
            <a:off x="10387756" y="60418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3" name="Rectangle 36"/>
          <p:cNvSpPr>
            <a:spLocks noChangeArrowheads="1"/>
          </p:cNvSpPr>
          <p:nvPr/>
        </p:nvSpPr>
        <p:spPr bwMode="auto">
          <a:xfrm>
            <a:off x="10593072" y="60418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4" name="Rectangle 37"/>
          <p:cNvSpPr>
            <a:spLocks noChangeArrowheads="1"/>
          </p:cNvSpPr>
          <p:nvPr/>
        </p:nvSpPr>
        <p:spPr bwMode="auto">
          <a:xfrm>
            <a:off x="10785689" y="60418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5" name="Rectangle 38"/>
          <p:cNvSpPr>
            <a:spLocks noChangeArrowheads="1"/>
          </p:cNvSpPr>
          <p:nvPr/>
        </p:nvSpPr>
        <p:spPr bwMode="auto">
          <a:xfrm>
            <a:off x="10387756" y="58259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6" name="Rectangle 39"/>
          <p:cNvSpPr>
            <a:spLocks noChangeArrowheads="1"/>
          </p:cNvSpPr>
          <p:nvPr/>
        </p:nvSpPr>
        <p:spPr bwMode="auto">
          <a:xfrm>
            <a:off x="10593072" y="58259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7" name="Rectangle 40"/>
          <p:cNvSpPr>
            <a:spLocks noChangeArrowheads="1"/>
          </p:cNvSpPr>
          <p:nvPr/>
        </p:nvSpPr>
        <p:spPr bwMode="auto">
          <a:xfrm>
            <a:off x="10785689" y="58259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8" name="Rectangle 41"/>
          <p:cNvSpPr>
            <a:spLocks noChangeArrowheads="1"/>
          </p:cNvSpPr>
          <p:nvPr/>
        </p:nvSpPr>
        <p:spPr bwMode="auto">
          <a:xfrm>
            <a:off x="10387756" y="5610014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9" name="Rectangle 42"/>
          <p:cNvSpPr>
            <a:spLocks noChangeArrowheads="1"/>
          </p:cNvSpPr>
          <p:nvPr/>
        </p:nvSpPr>
        <p:spPr bwMode="auto">
          <a:xfrm>
            <a:off x="10593072" y="56100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0" name="Rectangle 43"/>
          <p:cNvSpPr>
            <a:spLocks noChangeArrowheads="1"/>
          </p:cNvSpPr>
          <p:nvPr/>
        </p:nvSpPr>
        <p:spPr bwMode="auto">
          <a:xfrm>
            <a:off x="10785689" y="5610014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1" name="Oval 44"/>
          <p:cNvSpPr>
            <a:spLocks noChangeArrowheads="1"/>
          </p:cNvSpPr>
          <p:nvPr/>
        </p:nvSpPr>
        <p:spPr bwMode="auto">
          <a:xfrm>
            <a:off x="10400455" y="3808731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cxnSp>
        <p:nvCxnSpPr>
          <p:cNvPr id="3" name="Straight Connector 2"/>
          <p:cNvCxnSpPr/>
          <p:nvPr/>
        </p:nvCxnSpPr>
        <p:spPr>
          <a:xfrm>
            <a:off x="6685068" y="3123989"/>
            <a:ext cx="0" cy="2946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7631218" y="3909908"/>
            <a:ext cx="0" cy="2946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8467939" y="2944924"/>
            <a:ext cx="0" cy="2946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9595698" y="3164735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H="1">
            <a:off x="10553283" y="3960074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11312738" y="3031073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ne 17"/>
          <p:cNvSpPr>
            <a:spLocks noChangeShapeType="1"/>
          </p:cNvSpPr>
          <p:nvPr/>
        </p:nvSpPr>
        <p:spPr bwMode="auto">
          <a:xfrm flipV="1">
            <a:off x="7478184" y="4348481"/>
            <a:ext cx="69851" cy="143933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4" name="Line 19"/>
          <p:cNvSpPr>
            <a:spLocks noChangeShapeType="1"/>
          </p:cNvSpPr>
          <p:nvPr/>
        </p:nvSpPr>
        <p:spPr bwMode="auto">
          <a:xfrm flipV="1">
            <a:off x="7680961" y="4420447"/>
            <a:ext cx="2540" cy="172719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5" name="Line 21"/>
          <p:cNvSpPr>
            <a:spLocks noChangeShapeType="1"/>
          </p:cNvSpPr>
          <p:nvPr/>
        </p:nvSpPr>
        <p:spPr bwMode="auto">
          <a:xfrm flipH="1" flipV="1">
            <a:off x="7782984" y="4348482"/>
            <a:ext cx="67733" cy="136736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6" name="Line 17"/>
          <p:cNvSpPr>
            <a:spLocks noChangeShapeType="1"/>
          </p:cNvSpPr>
          <p:nvPr/>
        </p:nvSpPr>
        <p:spPr bwMode="auto">
          <a:xfrm flipV="1">
            <a:off x="8260505" y="3412915"/>
            <a:ext cx="69851" cy="143933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7" name="Line 19"/>
          <p:cNvSpPr>
            <a:spLocks noChangeShapeType="1"/>
          </p:cNvSpPr>
          <p:nvPr/>
        </p:nvSpPr>
        <p:spPr bwMode="auto">
          <a:xfrm flipV="1">
            <a:off x="8463282" y="3484881"/>
            <a:ext cx="2540" cy="172719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8" name="Line 21"/>
          <p:cNvSpPr>
            <a:spLocks noChangeShapeType="1"/>
          </p:cNvSpPr>
          <p:nvPr/>
        </p:nvSpPr>
        <p:spPr bwMode="auto">
          <a:xfrm flipH="1" flipV="1">
            <a:off x="8565305" y="3412916"/>
            <a:ext cx="67733" cy="136736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09" name="Line 17"/>
          <p:cNvSpPr>
            <a:spLocks noChangeShapeType="1"/>
          </p:cNvSpPr>
          <p:nvPr/>
        </p:nvSpPr>
        <p:spPr bwMode="auto">
          <a:xfrm flipV="1">
            <a:off x="10464380" y="4346786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0" name="Line 19"/>
          <p:cNvSpPr>
            <a:spLocks noChangeShapeType="1"/>
          </p:cNvSpPr>
          <p:nvPr/>
        </p:nvSpPr>
        <p:spPr bwMode="auto">
          <a:xfrm flipV="1">
            <a:off x="10677743" y="4418754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1" name="Line 21"/>
          <p:cNvSpPr>
            <a:spLocks noChangeShapeType="1"/>
          </p:cNvSpPr>
          <p:nvPr/>
        </p:nvSpPr>
        <p:spPr bwMode="auto">
          <a:xfrm flipH="1" flipV="1">
            <a:off x="10779765" y="4346789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 flipV="1">
            <a:off x="11258556" y="3457365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3" name="Line 19"/>
          <p:cNvSpPr>
            <a:spLocks noChangeShapeType="1"/>
          </p:cNvSpPr>
          <p:nvPr/>
        </p:nvSpPr>
        <p:spPr bwMode="auto">
          <a:xfrm flipV="1">
            <a:off x="11471919" y="3529333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4" name="Line 21"/>
          <p:cNvSpPr>
            <a:spLocks noChangeShapeType="1"/>
          </p:cNvSpPr>
          <p:nvPr/>
        </p:nvSpPr>
        <p:spPr bwMode="auto">
          <a:xfrm flipH="1" flipV="1">
            <a:off x="11573941" y="3457368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526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06" y="114871"/>
            <a:ext cx="10515600" cy="775255"/>
          </a:xfrm>
        </p:spPr>
        <p:txBody>
          <a:bodyPr>
            <a:normAutofit/>
          </a:bodyPr>
          <a:lstStyle/>
          <a:p>
            <a:r>
              <a:rPr lang="en-US" dirty="0"/>
              <a:t>CNN Architecture: </a:t>
            </a:r>
            <a:r>
              <a:rPr lang="en-US" dirty="0" smtClean="0"/>
              <a:t>Pooling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8306" y="1003042"/>
            <a:ext cx="7697343" cy="2196124"/>
          </a:xfrm>
        </p:spPr>
        <p:txBody>
          <a:bodyPr>
            <a:noAutofit/>
          </a:bodyPr>
          <a:lstStyle/>
          <a:p>
            <a:r>
              <a:rPr lang="en-US" sz="2400" dirty="0"/>
              <a:t>Pooling partitions the input image into a set of non-overlapping rectangles and, for each such sub-region, outputs the maximum value of the features in that region.</a:t>
            </a:r>
          </a:p>
          <a:p>
            <a:r>
              <a:rPr lang="en-US" sz="2400" dirty="0" smtClean="0"/>
              <a:t>Intuition: to progressively reduce the </a:t>
            </a:r>
            <a:r>
              <a:rPr lang="en-US" sz="2400" dirty="0"/>
              <a:t>spatial size of the representation to reduce the amount of parameters and computation in the network, and hence to also control </a:t>
            </a:r>
            <a:r>
              <a:rPr lang="en-US" sz="2400" dirty="0" smtClean="0"/>
              <a:t>overfitting</a:t>
            </a:r>
          </a:p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4FA-A4B6-4BA2-9DD1-C172BBD468E4}" type="slidenum">
              <a:rPr lang="en-US" smtClean="0"/>
              <a:t>21</a:t>
            </a:fld>
            <a:endParaRPr lang="en-US"/>
          </a:p>
        </p:txBody>
      </p:sp>
      <p:pic>
        <p:nvPicPr>
          <p:cNvPr id="1030" name="Picture 6" descr="http://cs231n.github.io/assets/cnn/maxpool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144" y="3933627"/>
            <a:ext cx="5771633" cy="269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75943" y="5292306"/>
            <a:ext cx="2435054" cy="142916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483306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688622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8" name="Rectangle 8"/>
          <p:cNvSpPr>
            <a:spLocks noChangeArrowheads="1"/>
          </p:cNvSpPr>
          <p:nvPr/>
        </p:nvSpPr>
        <p:spPr bwMode="auto">
          <a:xfrm>
            <a:off x="883355" y="57241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483306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688622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1" name="Rectangle 11"/>
          <p:cNvSpPr>
            <a:spLocks noChangeArrowheads="1"/>
          </p:cNvSpPr>
          <p:nvPr/>
        </p:nvSpPr>
        <p:spPr bwMode="auto">
          <a:xfrm>
            <a:off x="883355" y="55082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2" name="Rectangle 12"/>
          <p:cNvSpPr>
            <a:spLocks noChangeArrowheads="1"/>
          </p:cNvSpPr>
          <p:nvPr/>
        </p:nvSpPr>
        <p:spPr bwMode="auto">
          <a:xfrm>
            <a:off x="483306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3" name="Rectangle 13"/>
          <p:cNvSpPr>
            <a:spLocks noChangeArrowheads="1"/>
          </p:cNvSpPr>
          <p:nvPr/>
        </p:nvSpPr>
        <p:spPr bwMode="auto">
          <a:xfrm>
            <a:off x="688622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883355" y="52923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5" name="Oval 15"/>
          <p:cNvSpPr>
            <a:spLocks noChangeArrowheads="1"/>
          </p:cNvSpPr>
          <p:nvPr/>
        </p:nvSpPr>
        <p:spPr bwMode="auto">
          <a:xfrm>
            <a:off x="496005" y="3493139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66" name="Line 17"/>
          <p:cNvSpPr>
            <a:spLocks noChangeShapeType="1"/>
          </p:cNvSpPr>
          <p:nvPr/>
        </p:nvSpPr>
        <p:spPr bwMode="auto">
          <a:xfrm flipV="1">
            <a:off x="567970" y="3996903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67" name="Line 19"/>
          <p:cNvSpPr>
            <a:spLocks noChangeShapeType="1"/>
          </p:cNvSpPr>
          <p:nvPr/>
        </p:nvSpPr>
        <p:spPr bwMode="auto">
          <a:xfrm flipV="1">
            <a:off x="781333" y="4068871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68" name="Line 21"/>
          <p:cNvSpPr>
            <a:spLocks noChangeShapeType="1"/>
          </p:cNvSpPr>
          <p:nvPr/>
        </p:nvSpPr>
        <p:spPr bwMode="auto">
          <a:xfrm flipH="1" flipV="1">
            <a:off x="883355" y="3996906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69" name="Rectangle 22"/>
          <p:cNvSpPr>
            <a:spLocks noChangeArrowheads="1"/>
          </p:cNvSpPr>
          <p:nvPr/>
        </p:nvSpPr>
        <p:spPr bwMode="auto">
          <a:xfrm>
            <a:off x="1689407" y="57241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0" name="Rectangle 23"/>
          <p:cNvSpPr>
            <a:spLocks noChangeArrowheads="1"/>
          </p:cNvSpPr>
          <p:nvPr/>
        </p:nvSpPr>
        <p:spPr bwMode="auto">
          <a:xfrm>
            <a:off x="1894725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2087341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2" name="Rectangle 25"/>
          <p:cNvSpPr>
            <a:spLocks noChangeArrowheads="1"/>
          </p:cNvSpPr>
          <p:nvPr/>
        </p:nvSpPr>
        <p:spPr bwMode="auto">
          <a:xfrm>
            <a:off x="1689407" y="55082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3" name="Rectangle 26"/>
          <p:cNvSpPr>
            <a:spLocks noChangeArrowheads="1"/>
          </p:cNvSpPr>
          <p:nvPr/>
        </p:nvSpPr>
        <p:spPr bwMode="auto">
          <a:xfrm>
            <a:off x="1894725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4" name="Rectangle 27"/>
          <p:cNvSpPr>
            <a:spLocks noChangeArrowheads="1"/>
          </p:cNvSpPr>
          <p:nvPr/>
        </p:nvSpPr>
        <p:spPr bwMode="auto">
          <a:xfrm>
            <a:off x="2087341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5" name="Rectangle 28"/>
          <p:cNvSpPr>
            <a:spLocks noChangeArrowheads="1"/>
          </p:cNvSpPr>
          <p:nvPr/>
        </p:nvSpPr>
        <p:spPr bwMode="auto">
          <a:xfrm>
            <a:off x="1689407" y="52923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6" name="Rectangle 29"/>
          <p:cNvSpPr>
            <a:spLocks noChangeArrowheads="1"/>
          </p:cNvSpPr>
          <p:nvPr/>
        </p:nvSpPr>
        <p:spPr bwMode="auto">
          <a:xfrm>
            <a:off x="1894725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7" name="Rectangle 30"/>
          <p:cNvSpPr>
            <a:spLocks noChangeArrowheads="1"/>
          </p:cNvSpPr>
          <p:nvPr/>
        </p:nvSpPr>
        <p:spPr bwMode="auto">
          <a:xfrm>
            <a:off x="2087341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8" name="Oval 31"/>
          <p:cNvSpPr>
            <a:spLocks noChangeArrowheads="1"/>
          </p:cNvSpPr>
          <p:nvPr/>
        </p:nvSpPr>
        <p:spPr bwMode="auto">
          <a:xfrm>
            <a:off x="1702107" y="3493140"/>
            <a:ext cx="480484" cy="5016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9" name="Rectangle 35"/>
          <p:cNvSpPr>
            <a:spLocks noChangeArrowheads="1"/>
          </p:cNvSpPr>
          <p:nvPr/>
        </p:nvSpPr>
        <p:spPr bwMode="auto">
          <a:xfrm>
            <a:off x="1089609" y="5724106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0" name="Rectangle 36"/>
          <p:cNvSpPr>
            <a:spLocks noChangeArrowheads="1"/>
          </p:cNvSpPr>
          <p:nvPr/>
        </p:nvSpPr>
        <p:spPr bwMode="auto">
          <a:xfrm>
            <a:off x="1294925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1" name="Rectangle 37"/>
          <p:cNvSpPr>
            <a:spLocks noChangeArrowheads="1"/>
          </p:cNvSpPr>
          <p:nvPr/>
        </p:nvSpPr>
        <p:spPr bwMode="auto">
          <a:xfrm>
            <a:off x="1487542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2" name="Rectangle 38"/>
          <p:cNvSpPr>
            <a:spLocks noChangeArrowheads="1"/>
          </p:cNvSpPr>
          <p:nvPr/>
        </p:nvSpPr>
        <p:spPr bwMode="auto">
          <a:xfrm>
            <a:off x="1089609" y="5508206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3" name="Rectangle 39"/>
          <p:cNvSpPr>
            <a:spLocks noChangeArrowheads="1"/>
          </p:cNvSpPr>
          <p:nvPr/>
        </p:nvSpPr>
        <p:spPr bwMode="auto">
          <a:xfrm>
            <a:off x="1294925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4" name="Rectangle 40"/>
          <p:cNvSpPr>
            <a:spLocks noChangeArrowheads="1"/>
          </p:cNvSpPr>
          <p:nvPr/>
        </p:nvSpPr>
        <p:spPr bwMode="auto">
          <a:xfrm>
            <a:off x="1487542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5" name="Rectangle 41"/>
          <p:cNvSpPr>
            <a:spLocks noChangeArrowheads="1"/>
          </p:cNvSpPr>
          <p:nvPr/>
        </p:nvSpPr>
        <p:spPr bwMode="auto">
          <a:xfrm>
            <a:off x="1089609" y="5292306"/>
            <a:ext cx="205316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6" name="Rectangle 42"/>
          <p:cNvSpPr>
            <a:spLocks noChangeArrowheads="1"/>
          </p:cNvSpPr>
          <p:nvPr/>
        </p:nvSpPr>
        <p:spPr bwMode="auto">
          <a:xfrm>
            <a:off x="1294925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1487542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88" name="Oval 44"/>
          <p:cNvSpPr>
            <a:spLocks noChangeArrowheads="1"/>
          </p:cNvSpPr>
          <p:nvPr/>
        </p:nvSpPr>
        <p:spPr bwMode="auto">
          <a:xfrm>
            <a:off x="1102308" y="3491023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cxnSp>
        <p:nvCxnSpPr>
          <p:cNvPr id="89" name="Straight Connector 88"/>
          <p:cNvCxnSpPr/>
          <p:nvPr/>
        </p:nvCxnSpPr>
        <p:spPr>
          <a:xfrm flipH="1">
            <a:off x="652215" y="3640776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H="1">
            <a:off x="1255136" y="3642366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1846040" y="3651048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Line 17"/>
          <p:cNvSpPr>
            <a:spLocks noChangeShapeType="1"/>
          </p:cNvSpPr>
          <p:nvPr/>
        </p:nvSpPr>
        <p:spPr bwMode="auto">
          <a:xfrm flipV="1">
            <a:off x="1166233" y="4029078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3" name="Line 19"/>
          <p:cNvSpPr>
            <a:spLocks noChangeShapeType="1"/>
          </p:cNvSpPr>
          <p:nvPr/>
        </p:nvSpPr>
        <p:spPr bwMode="auto">
          <a:xfrm flipV="1">
            <a:off x="1379596" y="4101046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4" name="Line 21"/>
          <p:cNvSpPr>
            <a:spLocks noChangeShapeType="1"/>
          </p:cNvSpPr>
          <p:nvPr/>
        </p:nvSpPr>
        <p:spPr bwMode="auto">
          <a:xfrm flipH="1" flipV="1">
            <a:off x="1481618" y="4029081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5" name="Line 17"/>
          <p:cNvSpPr>
            <a:spLocks noChangeShapeType="1"/>
          </p:cNvSpPr>
          <p:nvPr/>
        </p:nvSpPr>
        <p:spPr bwMode="auto">
          <a:xfrm flipV="1">
            <a:off x="1791858" y="4077340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6" name="Line 19"/>
          <p:cNvSpPr>
            <a:spLocks noChangeShapeType="1"/>
          </p:cNvSpPr>
          <p:nvPr/>
        </p:nvSpPr>
        <p:spPr bwMode="auto">
          <a:xfrm flipV="1">
            <a:off x="2005221" y="4149308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7" name="Line 21"/>
          <p:cNvSpPr>
            <a:spLocks noChangeShapeType="1"/>
          </p:cNvSpPr>
          <p:nvPr/>
        </p:nvSpPr>
        <p:spPr bwMode="auto">
          <a:xfrm flipH="1" flipV="1">
            <a:off x="2107243" y="4077343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98" name="Rectangle 22"/>
          <p:cNvSpPr>
            <a:spLocks noChangeArrowheads="1"/>
          </p:cNvSpPr>
          <p:nvPr/>
        </p:nvSpPr>
        <p:spPr bwMode="auto">
          <a:xfrm>
            <a:off x="2305629" y="57241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99" name="Rectangle 23"/>
          <p:cNvSpPr>
            <a:spLocks noChangeArrowheads="1"/>
          </p:cNvSpPr>
          <p:nvPr/>
        </p:nvSpPr>
        <p:spPr bwMode="auto">
          <a:xfrm>
            <a:off x="2510947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0" name="Rectangle 24"/>
          <p:cNvSpPr>
            <a:spLocks noChangeArrowheads="1"/>
          </p:cNvSpPr>
          <p:nvPr/>
        </p:nvSpPr>
        <p:spPr bwMode="auto">
          <a:xfrm>
            <a:off x="2703563" y="57241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1" name="Rectangle 25"/>
          <p:cNvSpPr>
            <a:spLocks noChangeArrowheads="1"/>
          </p:cNvSpPr>
          <p:nvPr/>
        </p:nvSpPr>
        <p:spPr bwMode="auto">
          <a:xfrm>
            <a:off x="2305629" y="55082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2" name="Rectangle 26"/>
          <p:cNvSpPr>
            <a:spLocks noChangeArrowheads="1"/>
          </p:cNvSpPr>
          <p:nvPr/>
        </p:nvSpPr>
        <p:spPr bwMode="auto">
          <a:xfrm>
            <a:off x="2510947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3" name="Rectangle 27"/>
          <p:cNvSpPr>
            <a:spLocks noChangeArrowheads="1"/>
          </p:cNvSpPr>
          <p:nvPr/>
        </p:nvSpPr>
        <p:spPr bwMode="auto">
          <a:xfrm>
            <a:off x="2703563" y="55082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4" name="Rectangle 28"/>
          <p:cNvSpPr>
            <a:spLocks noChangeArrowheads="1"/>
          </p:cNvSpPr>
          <p:nvPr/>
        </p:nvSpPr>
        <p:spPr bwMode="auto">
          <a:xfrm>
            <a:off x="2305629" y="5292306"/>
            <a:ext cx="20531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5" name="Rectangle 29"/>
          <p:cNvSpPr>
            <a:spLocks noChangeArrowheads="1"/>
          </p:cNvSpPr>
          <p:nvPr/>
        </p:nvSpPr>
        <p:spPr bwMode="auto">
          <a:xfrm>
            <a:off x="2510947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6" name="Rectangle 30"/>
          <p:cNvSpPr>
            <a:spLocks noChangeArrowheads="1"/>
          </p:cNvSpPr>
          <p:nvPr/>
        </p:nvSpPr>
        <p:spPr bwMode="auto">
          <a:xfrm>
            <a:off x="2703563" y="5292306"/>
            <a:ext cx="207433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7" name="Oval 31"/>
          <p:cNvSpPr>
            <a:spLocks noChangeArrowheads="1"/>
          </p:cNvSpPr>
          <p:nvPr/>
        </p:nvSpPr>
        <p:spPr bwMode="auto">
          <a:xfrm>
            <a:off x="2318329" y="3493140"/>
            <a:ext cx="480484" cy="5016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cxnSp>
        <p:nvCxnSpPr>
          <p:cNvPr id="108" name="Straight Connector 107"/>
          <p:cNvCxnSpPr/>
          <p:nvPr/>
        </p:nvCxnSpPr>
        <p:spPr>
          <a:xfrm flipH="1">
            <a:off x="2462262" y="3651048"/>
            <a:ext cx="192617" cy="20849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Line 17"/>
          <p:cNvSpPr>
            <a:spLocks noChangeShapeType="1"/>
          </p:cNvSpPr>
          <p:nvPr/>
        </p:nvSpPr>
        <p:spPr bwMode="auto">
          <a:xfrm flipV="1">
            <a:off x="2408080" y="4077340"/>
            <a:ext cx="80437" cy="1799168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0" name="Line 19"/>
          <p:cNvSpPr>
            <a:spLocks noChangeShapeType="1"/>
          </p:cNvSpPr>
          <p:nvPr/>
        </p:nvSpPr>
        <p:spPr bwMode="auto">
          <a:xfrm flipV="1">
            <a:off x="2621443" y="4149308"/>
            <a:ext cx="2539" cy="1509606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1" name="Line 21"/>
          <p:cNvSpPr>
            <a:spLocks noChangeShapeType="1"/>
          </p:cNvSpPr>
          <p:nvPr/>
        </p:nvSpPr>
        <p:spPr bwMode="auto">
          <a:xfrm flipH="1" flipV="1">
            <a:off x="2723465" y="4077343"/>
            <a:ext cx="67733" cy="136736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cxnSp>
        <p:nvCxnSpPr>
          <p:cNvPr id="54" name="Straight Connector 53"/>
          <p:cNvCxnSpPr>
            <a:endCxn id="97" idx="0"/>
          </p:cNvCxnSpPr>
          <p:nvPr/>
        </p:nvCxnSpPr>
        <p:spPr>
          <a:xfrm flipV="1">
            <a:off x="1102308" y="5444710"/>
            <a:ext cx="1072668" cy="120596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96504" y="30699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0</a:t>
            </a:r>
            <a:endParaRPr lang="en-CA" dirty="0"/>
          </a:p>
        </p:txBody>
      </p:sp>
      <p:sp>
        <p:nvSpPr>
          <p:cNvPr id="115" name="TextBox 114"/>
          <p:cNvSpPr txBox="1"/>
          <p:nvPr/>
        </p:nvSpPr>
        <p:spPr>
          <a:xfrm>
            <a:off x="1206137" y="30771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3</a:t>
            </a:r>
            <a:endParaRPr lang="en-CA" dirty="0"/>
          </a:p>
        </p:txBody>
      </p:sp>
      <p:sp>
        <p:nvSpPr>
          <p:cNvPr id="116" name="TextBox 115"/>
          <p:cNvSpPr txBox="1"/>
          <p:nvPr/>
        </p:nvSpPr>
        <p:spPr>
          <a:xfrm>
            <a:off x="2455645" y="3076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0</a:t>
            </a:r>
            <a:endParaRPr lang="en-CA" dirty="0"/>
          </a:p>
        </p:txBody>
      </p:sp>
      <p:sp>
        <p:nvSpPr>
          <p:cNvPr id="117" name="TextBox 116"/>
          <p:cNvSpPr txBox="1"/>
          <p:nvPr/>
        </p:nvSpPr>
        <p:spPr>
          <a:xfrm>
            <a:off x="1800472" y="3077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9</a:t>
            </a:r>
            <a:endParaRPr lang="en-CA" dirty="0"/>
          </a:p>
        </p:txBody>
      </p:sp>
      <p:sp>
        <p:nvSpPr>
          <p:cNvPr id="113" name="Oval 44"/>
          <p:cNvSpPr>
            <a:spLocks noChangeArrowheads="1"/>
          </p:cNvSpPr>
          <p:nvPr/>
        </p:nvSpPr>
        <p:spPr bwMode="auto">
          <a:xfrm>
            <a:off x="1437601" y="1924113"/>
            <a:ext cx="480483" cy="503767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14" name="TextBox 113"/>
          <p:cNvSpPr txBox="1"/>
          <p:nvPr/>
        </p:nvSpPr>
        <p:spPr>
          <a:xfrm>
            <a:off x="1543632" y="15759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9</a:t>
            </a:r>
            <a:endParaRPr lang="en-CA" dirty="0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 flipV="1">
            <a:off x="1040231" y="2599765"/>
            <a:ext cx="341305" cy="45917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19" name="Line 17"/>
          <p:cNvSpPr>
            <a:spLocks noChangeShapeType="1"/>
          </p:cNvSpPr>
          <p:nvPr/>
        </p:nvSpPr>
        <p:spPr bwMode="auto">
          <a:xfrm flipH="1" flipV="1">
            <a:off x="2038657" y="2584388"/>
            <a:ext cx="241635" cy="459177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20" name="Line 17"/>
          <p:cNvSpPr>
            <a:spLocks noChangeShapeType="1"/>
          </p:cNvSpPr>
          <p:nvPr/>
        </p:nvSpPr>
        <p:spPr bwMode="auto">
          <a:xfrm flipH="1" flipV="1">
            <a:off x="1760131" y="2641029"/>
            <a:ext cx="80682" cy="457200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sp>
        <p:nvSpPr>
          <p:cNvPr id="121" name="Line 17"/>
          <p:cNvSpPr>
            <a:spLocks noChangeShapeType="1"/>
          </p:cNvSpPr>
          <p:nvPr/>
        </p:nvSpPr>
        <p:spPr bwMode="auto">
          <a:xfrm flipV="1">
            <a:off x="1415108" y="2607526"/>
            <a:ext cx="161365" cy="457200"/>
          </a:xfrm>
          <a:prstGeom prst="line">
            <a:avLst/>
          </a:prstGeom>
          <a:noFill/>
          <a:ln w="47625">
            <a:solidFill>
              <a:schemeClr val="accent6">
                <a:lumMod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/>
          </a:p>
        </p:txBody>
      </p:sp>
      <p:cxnSp>
        <p:nvCxnSpPr>
          <p:cNvPr id="122" name="Straight Connector 121"/>
          <p:cNvCxnSpPr/>
          <p:nvPr/>
        </p:nvCxnSpPr>
        <p:spPr>
          <a:xfrm flipV="1">
            <a:off x="915957" y="5396448"/>
            <a:ext cx="336633" cy="980807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90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905114"/>
            <a:ext cx="7895410" cy="58163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451"/>
            <a:ext cx="7886700" cy="1325563"/>
          </a:xfrm>
        </p:spPr>
        <p:txBody>
          <a:bodyPr/>
          <a:lstStyle/>
          <a:p>
            <a:r>
              <a:rPr lang="en-US" dirty="0" smtClean="0"/>
              <a:t>Full CNN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4FA-A4B6-4BA2-9DD1-C172BBD468E4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865705" y="2057399"/>
            <a:ext cx="8867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692C"/>
                </a:solidFill>
              </a:rPr>
              <a:t>pooling</a:t>
            </a:r>
            <a:endParaRPr lang="en-US" dirty="0">
              <a:solidFill>
                <a:srgbClr val="00692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4899" y="3747896"/>
            <a:ext cx="11148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692C"/>
                </a:solidFill>
              </a:rPr>
              <a:t>pooling</a:t>
            </a:r>
            <a:endParaRPr lang="en-US" dirty="0">
              <a:solidFill>
                <a:srgbClr val="0069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64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920" y="415925"/>
            <a:ext cx="7106920" cy="1325563"/>
          </a:xfrm>
        </p:spPr>
        <p:txBody>
          <a:bodyPr/>
          <a:lstStyle/>
          <a:p>
            <a:r>
              <a:rPr lang="en-US" dirty="0" smtClean="0"/>
              <a:t>Recurrent Neural Networks and LSTM neurons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4FA-A4B6-4BA2-9DD1-C172BBD468E4}" type="slidenum">
              <a:rPr lang="en-US" smtClean="0"/>
              <a:t>23</a:t>
            </a:fld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4465320" y="4871878"/>
            <a:ext cx="71983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Note: No top-down feedback connections from top layers </a:t>
            </a:r>
            <a:endParaRPr lang="en-US" sz="2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9" y="2430304"/>
            <a:ext cx="2203740" cy="220741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9197" y="4717989"/>
            <a:ext cx="2406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400" dirty="0"/>
              <a:t> </a:t>
            </a:r>
            <a:r>
              <a:rPr lang="en-CA" sz="1400" dirty="0" err="1"/>
              <a:t>Potjans</a:t>
            </a:r>
            <a:r>
              <a:rPr lang="en-CA" sz="1400" dirty="0"/>
              <a:t> and </a:t>
            </a:r>
            <a:r>
              <a:rPr lang="en-CA" sz="1400" dirty="0" err="1"/>
              <a:t>Diesmann</a:t>
            </a:r>
            <a:r>
              <a:rPr lang="en-CA" sz="1400" dirty="0"/>
              <a:t> (2014)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133" y="1398494"/>
            <a:ext cx="3555699" cy="4021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880518"/>
            <a:ext cx="10668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6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991" y="185261"/>
            <a:ext cx="4119880" cy="955040"/>
          </a:xfrm>
        </p:spPr>
        <p:txBody>
          <a:bodyPr/>
          <a:lstStyle/>
          <a:p>
            <a:r>
              <a:rPr lang="en-CA" dirty="0" err="1" smtClean="0"/>
              <a:t>Autoencoder</a:t>
            </a:r>
            <a:endParaRPr lang="en-C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28991" y="1456213"/>
            <a:ext cx="6648609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Train </a:t>
            </a:r>
            <a:r>
              <a:rPr lang="en-US" dirty="0"/>
              <a:t>the neural network to reproduce its input vector as its output</a:t>
            </a:r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forces it to compress as much information as possible into </a:t>
            </a:r>
            <a:r>
              <a:rPr lang="en-US" dirty="0" smtClean="0"/>
              <a:t>few numbers </a:t>
            </a:r>
            <a:r>
              <a:rPr lang="en-US" dirty="0"/>
              <a:t>in the central bottleneck.</a:t>
            </a:r>
          </a:p>
          <a:p>
            <a:endParaRPr lang="en-US" dirty="0" smtClean="0"/>
          </a:p>
          <a:p>
            <a:r>
              <a:rPr lang="en-US" dirty="0" smtClean="0"/>
              <a:t>These few (here 30) </a:t>
            </a:r>
            <a:r>
              <a:rPr lang="en-US" dirty="0"/>
              <a:t>numbers are then a good way to </a:t>
            </a:r>
            <a:r>
              <a:rPr lang="en-US" dirty="0" smtClean="0"/>
              <a:t>represent data.</a:t>
            </a:r>
            <a:endParaRPr lang="en-US" dirty="0"/>
          </a:p>
          <a:p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525520" y="3478890"/>
            <a:ext cx="110347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9" y="662781"/>
            <a:ext cx="2428875" cy="56197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637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7480" y="259532"/>
            <a:ext cx="3449320" cy="782686"/>
          </a:xfrm>
        </p:spPr>
        <p:txBody>
          <a:bodyPr/>
          <a:lstStyle/>
          <a:p>
            <a:r>
              <a:rPr lang="en-CA" dirty="0" err="1" smtClean="0"/>
              <a:t>Autoencoder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1193573"/>
            <a:ext cx="4953000" cy="1104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746" y="3197224"/>
            <a:ext cx="8643397" cy="358965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096" y="819876"/>
            <a:ext cx="1818660" cy="1852295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" y="426333"/>
            <a:ext cx="2500202" cy="592398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686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760" y="285707"/>
            <a:ext cx="6537960" cy="732155"/>
          </a:xfrm>
        </p:spPr>
        <p:txBody>
          <a:bodyPr/>
          <a:lstStyle/>
          <a:p>
            <a:r>
              <a:rPr lang="en-CA" dirty="0" smtClean="0"/>
              <a:t>Convolutional </a:t>
            </a:r>
            <a:r>
              <a:rPr lang="en-CA" dirty="0" err="1" smtClean="0"/>
              <a:t>Autoencoder</a:t>
            </a:r>
            <a:endParaRPr lang="en-C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784" y="365125"/>
            <a:ext cx="2284616" cy="63648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68" y="1437553"/>
            <a:ext cx="4807470" cy="4512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77873" y="6000120"/>
            <a:ext cx="4433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0" i="0" u="none" strike="noStrike" baseline="0" dirty="0" err="1" smtClean="0">
                <a:latin typeface="TimesNewRomanPSMT"/>
              </a:rPr>
              <a:t>Turchenko</a:t>
            </a:r>
            <a:r>
              <a:rPr lang="en-CA" b="0" i="0" u="none" strike="noStrike" baseline="0" dirty="0" smtClean="0">
                <a:latin typeface="TimesNewRomanPSMT"/>
              </a:rPr>
              <a:t> &amp; Luczak, IEEE </a:t>
            </a:r>
            <a:r>
              <a:rPr lang="en-CA" b="0" i="0" u="none" strike="noStrike" baseline="0" dirty="0" err="1" smtClean="0">
                <a:latin typeface="TimesNewRomanPSMT"/>
              </a:rPr>
              <a:t>IDAACS</a:t>
            </a:r>
            <a:r>
              <a:rPr lang="en-CA" b="0" i="0" u="none" strike="noStrike" baseline="0" dirty="0" smtClean="0">
                <a:latin typeface="TimesNewRomanPSMT"/>
              </a:rPr>
              <a:t> 2017</a:t>
            </a:r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012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6224" y="155921"/>
            <a:ext cx="8044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0" dirty="0" smtClean="0"/>
              <a:t>Deep Neuronal Networks</a:t>
            </a:r>
            <a:endParaRPr lang="en-CA" sz="6000" dirty="0"/>
          </a:p>
        </p:txBody>
      </p:sp>
      <p:pic>
        <p:nvPicPr>
          <p:cNvPr id="1026" name="Picture 2" descr="Deep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910" y="1342665"/>
            <a:ext cx="6858000" cy="41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145910" y="6143197"/>
            <a:ext cx="3823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http://theanalyticsstore.ie/deep-learning/</a:t>
            </a:r>
          </a:p>
        </p:txBody>
      </p:sp>
      <p:sp>
        <p:nvSpPr>
          <p:cNvPr id="4" name="Rectangle 3"/>
          <p:cNvSpPr/>
          <p:nvPr/>
        </p:nvSpPr>
        <p:spPr>
          <a:xfrm>
            <a:off x="3145910" y="5804643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600" dirty="0" smtClean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et al. (2013) </a:t>
            </a:r>
            <a:r>
              <a:rPr lang="en-CA" sz="1600" i="1" dirty="0" err="1" smtClean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ICASSP</a:t>
            </a:r>
            <a:r>
              <a:rPr lang="en-CA" sz="1600" i="1" dirty="0" smtClean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IEEE </a:t>
            </a:r>
            <a:r>
              <a:rPr lang="en-CA" sz="160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en-CA" sz="1600" i="1" dirty="0" smtClean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Conference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921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0" y="139223"/>
            <a:ext cx="6151880" cy="1325563"/>
          </a:xfrm>
        </p:spPr>
        <p:txBody>
          <a:bodyPr>
            <a:normAutofit/>
          </a:bodyPr>
          <a:lstStyle/>
          <a:p>
            <a:r>
              <a:rPr lang="en-CA" sz="2800" dirty="0" smtClean="0"/>
              <a:t>Visualizing MRI scans using </a:t>
            </a:r>
            <a:r>
              <a:rPr lang="en-CA" sz="2800" dirty="0" err="1" smtClean="0"/>
              <a:t>autoencoder</a:t>
            </a:r>
            <a:r>
              <a:rPr lang="en-CA" sz="2800" dirty="0" smtClean="0"/>
              <a:t> 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6055360"/>
            <a:ext cx="3048000" cy="365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 smtClean="0"/>
              <a:t>Plis et al. Front. </a:t>
            </a:r>
            <a:r>
              <a:rPr lang="fr-FR" sz="1600" dirty="0" err="1" smtClean="0"/>
              <a:t>Neurosci</a:t>
            </a:r>
            <a:r>
              <a:rPr lang="fr-FR" sz="1600" dirty="0" smtClean="0"/>
              <a:t>. 2014</a:t>
            </a:r>
            <a:endParaRPr lang="en-CA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64786"/>
            <a:ext cx="5105400" cy="4019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73" y="0"/>
            <a:ext cx="5064773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42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397635" y="753001"/>
            <a:ext cx="407908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altLang="en-US" sz="3600" dirty="0" smtClean="0"/>
              <a:t>1) Non-linearity</a:t>
            </a:r>
            <a:br>
              <a:rPr lang="en-GB" altLang="en-US" sz="3600" dirty="0" smtClean="0"/>
            </a:br>
            <a:r>
              <a:rPr lang="en-GB" altLang="en-US" sz="3600" dirty="0" smtClean="0"/>
              <a:t>2) self-learned features</a:t>
            </a:r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094" y="2673351"/>
            <a:ext cx="4219575" cy="309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1" name="Straight Connector 30"/>
          <p:cNvCxnSpPr/>
          <p:nvPr/>
        </p:nvCxnSpPr>
        <p:spPr>
          <a:xfrm>
            <a:off x="1300480" y="4114800"/>
            <a:ext cx="4416108" cy="5689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745" y="2673351"/>
            <a:ext cx="4219575" cy="309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4"/>
          <p:cNvSpPr/>
          <p:nvPr/>
        </p:nvSpPr>
        <p:spPr>
          <a:xfrm>
            <a:off x="6898640" y="2045225"/>
            <a:ext cx="4257041" cy="3806935"/>
          </a:xfrm>
          <a:custGeom>
            <a:avLst/>
            <a:gdLst>
              <a:gd name="connsiteX0" fmla="*/ 0 w 4257041"/>
              <a:gd name="connsiteY0" fmla="*/ 2201655 h 3806935"/>
              <a:gd name="connsiteX1" fmla="*/ 111760 w 4257041"/>
              <a:gd name="connsiteY1" fmla="*/ 2171175 h 3806935"/>
              <a:gd name="connsiteX2" fmla="*/ 142240 w 4257041"/>
              <a:gd name="connsiteY2" fmla="*/ 2161015 h 3806935"/>
              <a:gd name="connsiteX3" fmla="*/ 426720 w 4257041"/>
              <a:gd name="connsiteY3" fmla="*/ 2171175 h 3806935"/>
              <a:gd name="connsiteX4" fmla="*/ 548640 w 4257041"/>
              <a:gd name="connsiteY4" fmla="*/ 2232135 h 3806935"/>
              <a:gd name="connsiteX5" fmla="*/ 589280 w 4257041"/>
              <a:gd name="connsiteY5" fmla="*/ 2252455 h 3806935"/>
              <a:gd name="connsiteX6" fmla="*/ 599440 w 4257041"/>
              <a:gd name="connsiteY6" fmla="*/ 2282935 h 3806935"/>
              <a:gd name="connsiteX7" fmla="*/ 619760 w 4257041"/>
              <a:gd name="connsiteY7" fmla="*/ 2313415 h 3806935"/>
              <a:gd name="connsiteX8" fmla="*/ 640080 w 4257041"/>
              <a:gd name="connsiteY8" fmla="*/ 2374375 h 3806935"/>
              <a:gd name="connsiteX9" fmla="*/ 650240 w 4257041"/>
              <a:gd name="connsiteY9" fmla="*/ 2404855 h 3806935"/>
              <a:gd name="connsiteX10" fmla="*/ 660400 w 4257041"/>
              <a:gd name="connsiteY10" fmla="*/ 2506455 h 3806935"/>
              <a:gd name="connsiteX11" fmla="*/ 680720 w 4257041"/>
              <a:gd name="connsiteY11" fmla="*/ 2577575 h 3806935"/>
              <a:gd name="connsiteX12" fmla="*/ 690880 w 4257041"/>
              <a:gd name="connsiteY12" fmla="*/ 2638535 h 3806935"/>
              <a:gd name="connsiteX13" fmla="*/ 711200 w 4257041"/>
              <a:gd name="connsiteY13" fmla="*/ 2679175 h 3806935"/>
              <a:gd name="connsiteX14" fmla="*/ 721360 w 4257041"/>
              <a:gd name="connsiteY14" fmla="*/ 2709655 h 3806935"/>
              <a:gd name="connsiteX15" fmla="*/ 731520 w 4257041"/>
              <a:gd name="connsiteY15" fmla="*/ 2750295 h 3806935"/>
              <a:gd name="connsiteX16" fmla="*/ 762000 w 4257041"/>
              <a:gd name="connsiteY16" fmla="*/ 2780775 h 3806935"/>
              <a:gd name="connsiteX17" fmla="*/ 802640 w 4257041"/>
              <a:gd name="connsiteY17" fmla="*/ 2882375 h 3806935"/>
              <a:gd name="connsiteX18" fmla="*/ 833120 w 4257041"/>
              <a:gd name="connsiteY18" fmla="*/ 2912855 h 3806935"/>
              <a:gd name="connsiteX19" fmla="*/ 863600 w 4257041"/>
              <a:gd name="connsiteY19" fmla="*/ 3024615 h 3806935"/>
              <a:gd name="connsiteX20" fmla="*/ 904240 w 4257041"/>
              <a:gd name="connsiteY20" fmla="*/ 3085575 h 3806935"/>
              <a:gd name="connsiteX21" fmla="*/ 924560 w 4257041"/>
              <a:gd name="connsiteY21" fmla="*/ 3116055 h 3806935"/>
              <a:gd name="connsiteX22" fmla="*/ 944880 w 4257041"/>
              <a:gd name="connsiteY22" fmla="*/ 3156695 h 3806935"/>
              <a:gd name="connsiteX23" fmla="*/ 955040 w 4257041"/>
              <a:gd name="connsiteY23" fmla="*/ 3187175 h 3806935"/>
              <a:gd name="connsiteX24" fmla="*/ 985520 w 4257041"/>
              <a:gd name="connsiteY24" fmla="*/ 3217655 h 3806935"/>
              <a:gd name="connsiteX25" fmla="*/ 1005840 w 4257041"/>
              <a:gd name="connsiteY25" fmla="*/ 3248135 h 3806935"/>
              <a:gd name="connsiteX26" fmla="*/ 1036320 w 4257041"/>
              <a:gd name="connsiteY26" fmla="*/ 3278615 h 3806935"/>
              <a:gd name="connsiteX27" fmla="*/ 1117600 w 4257041"/>
              <a:gd name="connsiteY27" fmla="*/ 3298935 h 3806935"/>
              <a:gd name="connsiteX28" fmla="*/ 1381760 w 4257041"/>
              <a:gd name="connsiteY28" fmla="*/ 3288775 h 3806935"/>
              <a:gd name="connsiteX29" fmla="*/ 1422400 w 4257041"/>
              <a:gd name="connsiteY29" fmla="*/ 3278615 h 3806935"/>
              <a:gd name="connsiteX30" fmla="*/ 1452880 w 4257041"/>
              <a:gd name="connsiteY30" fmla="*/ 3258295 h 3806935"/>
              <a:gd name="connsiteX31" fmla="*/ 1503680 w 4257041"/>
              <a:gd name="connsiteY31" fmla="*/ 3237975 h 3806935"/>
              <a:gd name="connsiteX32" fmla="*/ 1554480 w 4257041"/>
              <a:gd name="connsiteY32" fmla="*/ 3166855 h 3806935"/>
              <a:gd name="connsiteX33" fmla="*/ 1564640 w 4257041"/>
              <a:gd name="connsiteY33" fmla="*/ 3116055 h 3806935"/>
              <a:gd name="connsiteX34" fmla="*/ 1635760 w 4257041"/>
              <a:gd name="connsiteY34" fmla="*/ 3024615 h 3806935"/>
              <a:gd name="connsiteX35" fmla="*/ 1666240 w 4257041"/>
              <a:gd name="connsiteY35" fmla="*/ 2963655 h 3806935"/>
              <a:gd name="connsiteX36" fmla="*/ 1696720 w 4257041"/>
              <a:gd name="connsiteY36" fmla="*/ 2943335 h 3806935"/>
              <a:gd name="connsiteX37" fmla="*/ 1737360 w 4257041"/>
              <a:gd name="connsiteY37" fmla="*/ 2912855 h 3806935"/>
              <a:gd name="connsiteX38" fmla="*/ 1757680 w 4257041"/>
              <a:gd name="connsiteY38" fmla="*/ 2882375 h 3806935"/>
              <a:gd name="connsiteX39" fmla="*/ 1788160 w 4257041"/>
              <a:gd name="connsiteY39" fmla="*/ 2851895 h 3806935"/>
              <a:gd name="connsiteX40" fmla="*/ 1808480 w 4257041"/>
              <a:gd name="connsiteY40" fmla="*/ 2811255 h 3806935"/>
              <a:gd name="connsiteX41" fmla="*/ 1838960 w 4257041"/>
              <a:gd name="connsiteY41" fmla="*/ 2790935 h 3806935"/>
              <a:gd name="connsiteX42" fmla="*/ 1910080 w 4257041"/>
              <a:gd name="connsiteY42" fmla="*/ 2699495 h 3806935"/>
              <a:gd name="connsiteX43" fmla="*/ 1940560 w 4257041"/>
              <a:gd name="connsiteY43" fmla="*/ 2679175 h 3806935"/>
              <a:gd name="connsiteX44" fmla="*/ 2021840 w 4257041"/>
              <a:gd name="connsiteY44" fmla="*/ 2587735 h 3806935"/>
              <a:gd name="connsiteX45" fmla="*/ 2143760 w 4257041"/>
              <a:gd name="connsiteY45" fmla="*/ 2486135 h 3806935"/>
              <a:gd name="connsiteX46" fmla="*/ 2194560 w 4257041"/>
              <a:gd name="connsiteY46" fmla="*/ 2425175 h 3806935"/>
              <a:gd name="connsiteX47" fmla="*/ 2214880 w 4257041"/>
              <a:gd name="connsiteY47" fmla="*/ 2394695 h 3806935"/>
              <a:gd name="connsiteX48" fmla="*/ 2245360 w 4257041"/>
              <a:gd name="connsiteY48" fmla="*/ 2384535 h 3806935"/>
              <a:gd name="connsiteX49" fmla="*/ 2265680 w 4257041"/>
              <a:gd name="connsiteY49" fmla="*/ 2354055 h 3806935"/>
              <a:gd name="connsiteX50" fmla="*/ 2296160 w 4257041"/>
              <a:gd name="connsiteY50" fmla="*/ 2323575 h 3806935"/>
              <a:gd name="connsiteX51" fmla="*/ 2306320 w 4257041"/>
              <a:gd name="connsiteY51" fmla="*/ 2293095 h 3806935"/>
              <a:gd name="connsiteX52" fmla="*/ 2326640 w 4257041"/>
              <a:gd name="connsiteY52" fmla="*/ 2252455 h 3806935"/>
              <a:gd name="connsiteX53" fmla="*/ 2346960 w 4257041"/>
              <a:gd name="connsiteY53" fmla="*/ 2150855 h 3806935"/>
              <a:gd name="connsiteX54" fmla="*/ 2357120 w 4257041"/>
              <a:gd name="connsiteY54" fmla="*/ 2120375 h 3806935"/>
              <a:gd name="connsiteX55" fmla="*/ 2346960 w 4257041"/>
              <a:gd name="connsiteY55" fmla="*/ 1805415 h 3806935"/>
              <a:gd name="connsiteX56" fmla="*/ 2326640 w 4257041"/>
              <a:gd name="connsiteY56" fmla="*/ 1744455 h 3806935"/>
              <a:gd name="connsiteX57" fmla="*/ 2316480 w 4257041"/>
              <a:gd name="connsiteY57" fmla="*/ 1713975 h 3806935"/>
              <a:gd name="connsiteX58" fmla="*/ 2286000 w 4257041"/>
              <a:gd name="connsiteY58" fmla="*/ 1683495 h 3806935"/>
              <a:gd name="connsiteX59" fmla="*/ 2245360 w 4257041"/>
              <a:gd name="connsiteY59" fmla="*/ 1612375 h 3806935"/>
              <a:gd name="connsiteX60" fmla="*/ 2214880 w 4257041"/>
              <a:gd name="connsiteY60" fmla="*/ 1581895 h 3806935"/>
              <a:gd name="connsiteX61" fmla="*/ 2194560 w 4257041"/>
              <a:gd name="connsiteY61" fmla="*/ 1541255 h 3806935"/>
              <a:gd name="connsiteX62" fmla="*/ 2174240 w 4257041"/>
              <a:gd name="connsiteY62" fmla="*/ 1510775 h 3806935"/>
              <a:gd name="connsiteX63" fmla="*/ 2164080 w 4257041"/>
              <a:gd name="connsiteY63" fmla="*/ 1480295 h 3806935"/>
              <a:gd name="connsiteX64" fmla="*/ 2123440 w 4257041"/>
              <a:gd name="connsiteY64" fmla="*/ 1419335 h 3806935"/>
              <a:gd name="connsiteX65" fmla="*/ 2082800 w 4257041"/>
              <a:gd name="connsiteY65" fmla="*/ 1317735 h 3806935"/>
              <a:gd name="connsiteX66" fmla="*/ 2032000 w 4257041"/>
              <a:gd name="connsiteY66" fmla="*/ 1226295 h 3806935"/>
              <a:gd name="connsiteX67" fmla="*/ 2011680 w 4257041"/>
              <a:gd name="connsiteY67" fmla="*/ 1185655 h 3806935"/>
              <a:gd name="connsiteX68" fmla="*/ 1991360 w 4257041"/>
              <a:gd name="connsiteY68" fmla="*/ 1124695 h 3806935"/>
              <a:gd name="connsiteX69" fmla="*/ 2011680 w 4257041"/>
              <a:gd name="connsiteY69" fmla="*/ 748775 h 3806935"/>
              <a:gd name="connsiteX70" fmla="*/ 2032000 w 4257041"/>
              <a:gd name="connsiteY70" fmla="*/ 697975 h 3806935"/>
              <a:gd name="connsiteX71" fmla="*/ 2062480 w 4257041"/>
              <a:gd name="connsiteY71" fmla="*/ 657335 h 3806935"/>
              <a:gd name="connsiteX72" fmla="*/ 2092960 w 4257041"/>
              <a:gd name="connsiteY72" fmla="*/ 586215 h 3806935"/>
              <a:gd name="connsiteX73" fmla="*/ 2123440 w 4257041"/>
              <a:gd name="connsiteY73" fmla="*/ 545575 h 3806935"/>
              <a:gd name="connsiteX74" fmla="*/ 2143760 w 4257041"/>
              <a:gd name="connsiteY74" fmla="*/ 515095 h 3806935"/>
              <a:gd name="connsiteX75" fmla="*/ 2184400 w 4257041"/>
              <a:gd name="connsiteY75" fmla="*/ 464295 h 3806935"/>
              <a:gd name="connsiteX76" fmla="*/ 2204720 w 4257041"/>
              <a:gd name="connsiteY76" fmla="*/ 433815 h 3806935"/>
              <a:gd name="connsiteX77" fmla="*/ 2245360 w 4257041"/>
              <a:gd name="connsiteY77" fmla="*/ 403335 h 3806935"/>
              <a:gd name="connsiteX78" fmla="*/ 2306320 w 4257041"/>
              <a:gd name="connsiteY78" fmla="*/ 342375 h 3806935"/>
              <a:gd name="connsiteX79" fmla="*/ 2346960 w 4257041"/>
              <a:gd name="connsiteY79" fmla="*/ 311895 h 3806935"/>
              <a:gd name="connsiteX80" fmla="*/ 2458720 w 4257041"/>
              <a:gd name="connsiteY80" fmla="*/ 210295 h 3806935"/>
              <a:gd name="connsiteX81" fmla="*/ 2540000 w 4257041"/>
              <a:gd name="connsiteY81" fmla="*/ 169655 h 3806935"/>
              <a:gd name="connsiteX82" fmla="*/ 2570480 w 4257041"/>
              <a:gd name="connsiteY82" fmla="*/ 149335 h 3806935"/>
              <a:gd name="connsiteX83" fmla="*/ 2661920 w 4257041"/>
              <a:gd name="connsiteY83" fmla="*/ 108695 h 3806935"/>
              <a:gd name="connsiteX84" fmla="*/ 2712720 w 4257041"/>
              <a:gd name="connsiteY84" fmla="*/ 78215 h 3806935"/>
              <a:gd name="connsiteX85" fmla="*/ 2783840 w 4257041"/>
              <a:gd name="connsiteY85" fmla="*/ 57895 h 3806935"/>
              <a:gd name="connsiteX86" fmla="*/ 2926080 w 4257041"/>
              <a:gd name="connsiteY86" fmla="*/ 27415 h 3806935"/>
              <a:gd name="connsiteX87" fmla="*/ 3362960 w 4257041"/>
              <a:gd name="connsiteY87" fmla="*/ 27415 h 3806935"/>
              <a:gd name="connsiteX88" fmla="*/ 3454400 w 4257041"/>
              <a:gd name="connsiteY88" fmla="*/ 37575 h 3806935"/>
              <a:gd name="connsiteX89" fmla="*/ 3505200 w 4257041"/>
              <a:gd name="connsiteY89" fmla="*/ 57895 h 3806935"/>
              <a:gd name="connsiteX90" fmla="*/ 3545840 w 4257041"/>
              <a:gd name="connsiteY90" fmla="*/ 68055 h 3806935"/>
              <a:gd name="connsiteX91" fmla="*/ 3576320 w 4257041"/>
              <a:gd name="connsiteY91" fmla="*/ 88375 h 3806935"/>
              <a:gd name="connsiteX92" fmla="*/ 3667760 w 4257041"/>
              <a:gd name="connsiteY92" fmla="*/ 159495 h 3806935"/>
              <a:gd name="connsiteX93" fmla="*/ 3728720 w 4257041"/>
              <a:gd name="connsiteY93" fmla="*/ 210295 h 3806935"/>
              <a:gd name="connsiteX94" fmla="*/ 3749040 w 4257041"/>
              <a:gd name="connsiteY94" fmla="*/ 271255 h 3806935"/>
              <a:gd name="connsiteX95" fmla="*/ 3769360 w 4257041"/>
              <a:gd name="connsiteY95" fmla="*/ 403335 h 3806935"/>
              <a:gd name="connsiteX96" fmla="*/ 3759200 w 4257041"/>
              <a:gd name="connsiteY96" fmla="*/ 697975 h 3806935"/>
              <a:gd name="connsiteX97" fmla="*/ 3738880 w 4257041"/>
              <a:gd name="connsiteY97" fmla="*/ 748775 h 3806935"/>
              <a:gd name="connsiteX98" fmla="*/ 3728720 w 4257041"/>
              <a:gd name="connsiteY98" fmla="*/ 789415 h 3806935"/>
              <a:gd name="connsiteX99" fmla="*/ 3698240 w 4257041"/>
              <a:gd name="connsiteY99" fmla="*/ 860535 h 3806935"/>
              <a:gd name="connsiteX100" fmla="*/ 3688080 w 4257041"/>
              <a:gd name="connsiteY100" fmla="*/ 911335 h 3806935"/>
              <a:gd name="connsiteX101" fmla="*/ 3667760 w 4257041"/>
              <a:gd name="connsiteY101" fmla="*/ 941815 h 3806935"/>
              <a:gd name="connsiteX102" fmla="*/ 3627120 w 4257041"/>
              <a:gd name="connsiteY102" fmla="*/ 1023095 h 3806935"/>
              <a:gd name="connsiteX103" fmla="*/ 3606800 w 4257041"/>
              <a:gd name="connsiteY103" fmla="*/ 1053575 h 3806935"/>
              <a:gd name="connsiteX104" fmla="*/ 3545840 w 4257041"/>
              <a:gd name="connsiteY104" fmla="*/ 1145015 h 3806935"/>
              <a:gd name="connsiteX105" fmla="*/ 3505200 w 4257041"/>
              <a:gd name="connsiteY105" fmla="*/ 1205975 h 3806935"/>
              <a:gd name="connsiteX106" fmla="*/ 3464560 w 4257041"/>
              <a:gd name="connsiteY106" fmla="*/ 1246615 h 3806935"/>
              <a:gd name="connsiteX107" fmla="*/ 3423920 w 4257041"/>
              <a:gd name="connsiteY107" fmla="*/ 1277095 h 3806935"/>
              <a:gd name="connsiteX108" fmla="*/ 3393440 w 4257041"/>
              <a:gd name="connsiteY108" fmla="*/ 1317735 h 3806935"/>
              <a:gd name="connsiteX109" fmla="*/ 3352800 w 4257041"/>
              <a:gd name="connsiteY109" fmla="*/ 1338055 h 3806935"/>
              <a:gd name="connsiteX110" fmla="*/ 3322320 w 4257041"/>
              <a:gd name="connsiteY110" fmla="*/ 1368535 h 3806935"/>
              <a:gd name="connsiteX111" fmla="*/ 3251200 w 4257041"/>
              <a:gd name="connsiteY111" fmla="*/ 1409175 h 3806935"/>
              <a:gd name="connsiteX112" fmla="*/ 3190240 w 4257041"/>
              <a:gd name="connsiteY112" fmla="*/ 1449815 h 3806935"/>
              <a:gd name="connsiteX113" fmla="*/ 3129280 w 4257041"/>
              <a:gd name="connsiteY113" fmla="*/ 1480295 h 3806935"/>
              <a:gd name="connsiteX114" fmla="*/ 3098800 w 4257041"/>
              <a:gd name="connsiteY114" fmla="*/ 1490455 h 3806935"/>
              <a:gd name="connsiteX115" fmla="*/ 3027680 w 4257041"/>
              <a:gd name="connsiteY115" fmla="*/ 1520935 h 3806935"/>
              <a:gd name="connsiteX116" fmla="*/ 2844800 w 4257041"/>
              <a:gd name="connsiteY116" fmla="*/ 1531095 h 3806935"/>
              <a:gd name="connsiteX117" fmla="*/ 2783840 w 4257041"/>
              <a:gd name="connsiteY117" fmla="*/ 1571735 h 3806935"/>
              <a:gd name="connsiteX118" fmla="*/ 2722880 w 4257041"/>
              <a:gd name="connsiteY118" fmla="*/ 1622535 h 3806935"/>
              <a:gd name="connsiteX119" fmla="*/ 2692400 w 4257041"/>
              <a:gd name="connsiteY119" fmla="*/ 1703815 h 3806935"/>
              <a:gd name="connsiteX120" fmla="*/ 2672080 w 4257041"/>
              <a:gd name="connsiteY120" fmla="*/ 1764775 h 3806935"/>
              <a:gd name="connsiteX121" fmla="*/ 2661920 w 4257041"/>
              <a:gd name="connsiteY121" fmla="*/ 1825735 h 3806935"/>
              <a:gd name="connsiteX122" fmla="*/ 2641600 w 4257041"/>
              <a:gd name="connsiteY122" fmla="*/ 1886695 h 3806935"/>
              <a:gd name="connsiteX123" fmla="*/ 2661920 w 4257041"/>
              <a:gd name="connsiteY123" fmla="*/ 2150855 h 3806935"/>
              <a:gd name="connsiteX124" fmla="*/ 2672080 w 4257041"/>
              <a:gd name="connsiteY124" fmla="*/ 2181335 h 3806935"/>
              <a:gd name="connsiteX125" fmla="*/ 2712720 w 4257041"/>
              <a:gd name="connsiteY125" fmla="*/ 2242295 h 3806935"/>
              <a:gd name="connsiteX126" fmla="*/ 2743200 w 4257041"/>
              <a:gd name="connsiteY126" fmla="*/ 2303255 h 3806935"/>
              <a:gd name="connsiteX127" fmla="*/ 2804160 w 4257041"/>
              <a:gd name="connsiteY127" fmla="*/ 2394695 h 3806935"/>
              <a:gd name="connsiteX128" fmla="*/ 2834640 w 4257041"/>
              <a:gd name="connsiteY128" fmla="*/ 2425175 h 3806935"/>
              <a:gd name="connsiteX129" fmla="*/ 2875280 w 4257041"/>
              <a:gd name="connsiteY129" fmla="*/ 2486135 h 3806935"/>
              <a:gd name="connsiteX130" fmla="*/ 2905760 w 4257041"/>
              <a:gd name="connsiteY130" fmla="*/ 2526775 h 3806935"/>
              <a:gd name="connsiteX131" fmla="*/ 2946400 w 4257041"/>
              <a:gd name="connsiteY131" fmla="*/ 2587735 h 3806935"/>
              <a:gd name="connsiteX132" fmla="*/ 3007360 w 4257041"/>
              <a:gd name="connsiteY132" fmla="*/ 2658855 h 3806935"/>
              <a:gd name="connsiteX133" fmla="*/ 3037840 w 4257041"/>
              <a:gd name="connsiteY133" fmla="*/ 2709655 h 3806935"/>
              <a:gd name="connsiteX134" fmla="*/ 3088640 w 4257041"/>
              <a:gd name="connsiteY134" fmla="*/ 2801095 h 3806935"/>
              <a:gd name="connsiteX135" fmla="*/ 3129280 w 4257041"/>
              <a:gd name="connsiteY135" fmla="*/ 2841735 h 3806935"/>
              <a:gd name="connsiteX136" fmla="*/ 3180080 w 4257041"/>
              <a:gd name="connsiteY136" fmla="*/ 2902695 h 3806935"/>
              <a:gd name="connsiteX137" fmla="*/ 3241040 w 4257041"/>
              <a:gd name="connsiteY137" fmla="*/ 2973815 h 3806935"/>
              <a:gd name="connsiteX138" fmla="*/ 3302000 w 4257041"/>
              <a:gd name="connsiteY138" fmla="*/ 3075415 h 3806935"/>
              <a:gd name="connsiteX139" fmla="*/ 3362960 w 4257041"/>
              <a:gd name="connsiteY139" fmla="*/ 3136375 h 3806935"/>
              <a:gd name="connsiteX140" fmla="*/ 3393440 w 4257041"/>
              <a:gd name="connsiteY140" fmla="*/ 3177015 h 3806935"/>
              <a:gd name="connsiteX141" fmla="*/ 3444240 w 4257041"/>
              <a:gd name="connsiteY141" fmla="*/ 3217655 h 3806935"/>
              <a:gd name="connsiteX142" fmla="*/ 3505200 w 4257041"/>
              <a:gd name="connsiteY142" fmla="*/ 3278615 h 3806935"/>
              <a:gd name="connsiteX143" fmla="*/ 3596640 w 4257041"/>
              <a:gd name="connsiteY143" fmla="*/ 3349735 h 3806935"/>
              <a:gd name="connsiteX144" fmla="*/ 3637280 w 4257041"/>
              <a:gd name="connsiteY144" fmla="*/ 3400535 h 3806935"/>
              <a:gd name="connsiteX145" fmla="*/ 3779520 w 4257041"/>
              <a:gd name="connsiteY145" fmla="*/ 3471655 h 3806935"/>
              <a:gd name="connsiteX146" fmla="*/ 3891280 w 4257041"/>
              <a:gd name="connsiteY146" fmla="*/ 3542775 h 3806935"/>
              <a:gd name="connsiteX147" fmla="*/ 3921760 w 4257041"/>
              <a:gd name="connsiteY147" fmla="*/ 3563095 h 3806935"/>
              <a:gd name="connsiteX148" fmla="*/ 4023360 w 4257041"/>
              <a:gd name="connsiteY148" fmla="*/ 3664695 h 3806935"/>
              <a:gd name="connsiteX149" fmla="*/ 4135120 w 4257041"/>
              <a:gd name="connsiteY149" fmla="*/ 3735815 h 3806935"/>
              <a:gd name="connsiteX150" fmla="*/ 4185920 w 4257041"/>
              <a:gd name="connsiteY150" fmla="*/ 3766295 h 3806935"/>
              <a:gd name="connsiteX151" fmla="*/ 4246880 w 4257041"/>
              <a:gd name="connsiteY151" fmla="*/ 3806935 h 3806935"/>
              <a:gd name="connsiteX152" fmla="*/ 4236720 w 4257041"/>
              <a:gd name="connsiteY152" fmla="*/ 3735815 h 3806935"/>
              <a:gd name="connsiteX153" fmla="*/ 4226560 w 4257041"/>
              <a:gd name="connsiteY153" fmla="*/ 3705335 h 3806935"/>
              <a:gd name="connsiteX154" fmla="*/ 4175760 w 4257041"/>
              <a:gd name="connsiteY154" fmla="*/ 3695175 h 380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4257041" h="3806935">
                <a:moveTo>
                  <a:pt x="0" y="2201655"/>
                </a:moveTo>
                <a:cubicBezTo>
                  <a:pt x="71803" y="2187294"/>
                  <a:pt x="34417" y="2196956"/>
                  <a:pt x="111760" y="2171175"/>
                </a:cubicBezTo>
                <a:lnTo>
                  <a:pt x="142240" y="2161015"/>
                </a:lnTo>
                <a:cubicBezTo>
                  <a:pt x="237067" y="2164402"/>
                  <a:pt x="332200" y="2162835"/>
                  <a:pt x="426720" y="2171175"/>
                </a:cubicBezTo>
                <a:cubicBezTo>
                  <a:pt x="488739" y="2176647"/>
                  <a:pt x="495066" y="2205348"/>
                  <a:pt x="548640" y="2232135"/>
                </a:cubicBezTo>
                <a:lnTo>
                  <a:pt x="589280" y="2252455"/>
                </a:lnTo>
                <a:cubicBezTo>
                  <a:pt x="592667" y="2262615"/>
                  <a:pt x="594651" y="2273356"/>
                  <a:pt x="599440" y="2282935"/>
                </a:cubicBezTo>
                <a:cubicBezTo>
                  <a:pt x="604901" y="2293857"/>
                  <a:pt x="614801" y="2302257"/>
                  <a:pt x="619760" y="2313415"/>
                </a:cubicBezTo>
                <a:cubicBezTo>
                  <a:pt x="628459" y="2332988"/>
                  <a:pt x="633307" y="2354055"/>
                  <a:pt x="640080" y="2374375"/>
                </a:cubicBezTo>
                <a:lnTo>
                  <a:pt x="650240" y="2404855"/>
                </a:lnTo>
                <a:cubicBezTo>
                  <a:pt x="653627" y="2438722"/>
                  <a:pt x="655587" y="2472761"/>
                  <a:pt x="660400" y="2506455"/>
                </a:cubicBezTo>
                <a:cubicBezTo>
                  <a:pt x="669251" y="2568413"/>
                  <a:pt x="669140" y="2525467"/>
                  <a:pt x="680720" y="2577575"/>
                </a:cubicBezTo>
                <a:cubicBezTo>
                  <a:pt x="685189" y="2597685"/>
                  <a:pt x="684961" y="2618804"/>
                  <a:pt x="690880" y="2638535"/>
                </a:cubicBezTo>
                <a:cubicBezTo>
                  <a:pt x="695232" y="2653042"/>
                  <a:pt x="705234" y="2665254"/>
                  <a:pt x="711200" y="2679175"/>
                </a:cubicBezTo>
                <a:cubicBezTo>
                  <a:pt x="715419" y="2689019"/>
                  <a:pt x="718418" y="2699357"/>
                  <a:pt x="721360" y="2709655"/>
                </a:cubicBezTo>
                <a:cubicBezTo>
                  <a:pt x="725196" y="2723081"/>
                  <a:pt x="724592" y="2738171"/>
                  <a:pt x="731520" y="2750295"/>
                </a:cubicBezTo>
                <a:cubicBezTo>
                  <a:pt x="738649" y="2762770"/>
                  <a:pt x="751840" y="2770615"/>
                  <a:pt x="762000" y="2780775"/>
                </a:cubicBezTo>
                <a:cubicBezTo>
                  <a:pt x="771253" y="2808534"/>
                  <a:pt x="783953" y="2856213"/>
                  <a:pt x="802640" y="2882375"/>
                </a:cubicBezTo>
                <a:cubicBezTo>
                  <a:pt x="810991" y="2894067"/>
                  <a:pt x="822960" y="2902695"/>
                  <a:pt x="833120" y="2912855"/>
                </a:cubicBezTo>
                <a:cubicBezTo>
                  <a:pt x="838573" y="2940119"/>
                  <a:pt x="848868" y="3002517"/>
                  <a:pt x="863600" y="3024615"/>
                </a:cubicBezTo>
                <a:lnTo>
                  <a:pt x="904240" y="3085575"/>
                </a:lnTo>
                <a:cubicBezTo>
                  <a:pt x="911013" y="3095735"/>
                  <a:pt x="919099" y="3105133"/>
                  <a:pt x="924560" y="3116055"/>
                </a:cubicBezTo>
                <a:cubicBezTo>
                  <a:pt x="931333" y="3129602"/>
                  <a:pt x="938914" y="3142774"/>
                  <a:pt x="944880" y="3156695"/>
                </a:cubicBezTo>
                <a:cubicBezTo>
                  <a:pt x="949099" y="3166539"/>
                  <a:pt x="949099" y="3178264"/>
                  <a:pt x="955040" y="3187175"/>
                </a:cubicBezTo>
                <a:cubicBezTo>
                  <a:pt x="963010" y="3199130"/>
                  <a:pt x="976322" y="3206617"/>
                  <a:pt x="985520" y="3217655"/>
                </a:cubicBezTo>
                <a:cubicBezTo>
                  <a:pt x="993337" y="3227036"/>
                  <a:pt x="998023" y="3238754"/>
                  <a:pt x="1005840" y="3248135"/>
                </a:cubicBezTo>
                <a:cubicBezTo>
                  <a:pt x="1015038" y="3259173"/>
                  <a:pt x="1023239" y="3272669"/>
                  <a:pt x="1036320" y="3278615"/>
                </a:cubicBezTo>
                <a:cubicBezTo>
                  <a:pt x="1061744" y="3290171"/>
                  <a:pt x="1117600" y="3298935"/>
                  <a:pt x="1117600" y="3298935"/>
                </a:cubicBezTo>
                <a:cubicBezTo>
                  <a:pt x="1205653" y="3295548"/>
                  <a:pt x="1293837" y="3294637"/>
                  <a:pt x="1381760" y="3288775"/>
                </a:cubicBezTo>
                <a:cubicBezTo>
                  <a:pt x="1395693" y="3287846"/>
                  <a:pt x="1409565" y="3284116"/>
                  <a:pt x="1422400" y="3278615"/>
                </a:cubicBezTo>
                <a:cubicBezTo>
                  <a:pt x="1433623" y="3273805"/>
                  <a:pt x="1441958" y="3263756"/>
                  <a:pt x="1452880" y="3258295"/>
                </a:cubicBezTo>
                <a:cubicBezTo>
                  <a:pt x="1469192" y="3250139"/>
                  <a:pt x="1486747" y="3244748"/>
                  <a:pt x="1503680" y="3237975"/>
                </a:cubicBezTo>
                <a:cubicBezTo>
                  <a:pt x="1532183" y="3209472"/>
                  <a:pt x="1541107" y="3206974"/>
                  <a:pt x="1554480" y="3166855"/>
                </a:cubicBezTo>
                <a:cubicBezTo>
                  <a:pt x="1559941" y="3150472"/>
                  <a:pt x="1557494" y="3131776"/>
                  <a:pt x="1564640" y="3116055"/>
                </a:cubicBezTo>
                <a:cubicBezTo>
                  <a:pt x="1584894" y="3071496"/>
                  <a:pt x="1604694" y="3055681"/>
                  <a:pt x="1635760" y="3024615"/>
                </a:cubicBezTo>
                <a:cubicBezTo>
                  <a:pt x="1644023" y="2999825"/>
                  <a:pt x="1646545" y="2983350"/>
                  <a:pt x="1666240" y="2963655"/>
                </a:cubicBezTo>
                <a:cubicBezTo>
                  <a:pt x="1674874" y="2955021"/>
                  <a:pt x="1686784" y="2950432"/>
                  <a:pt x="1696720" y="2943335"/>
                </a:cubicBezTo>
                <a:cubicBezTo>
                  <a:pt x="1710499" y="2933493"/>
                  <a:pt x="1725386" y="2924829"/>
                  <a:pt x="1737360" y="2912855"/>
                </a:cubicBezTo>
                <a:cubicBezTo>
                  <a:pt x="1745994" y="2904221"/>
                  <a:pt x="1749863" y="2891756"/>
                  <a:pt x="1757680" y="2882375"/>
                </a:cubicBezTo>
                <a:cubicBezTo>
                  <a:pt x="1766878" y="2871337"/>
                  <a:pt x="1779809" y="2863587"/>
                  <a:pt x="1788160" y="2851895"/>
                </a:cubicBezTo>
                <a:cubicBezTo>
                  <a:pt x="1796963" y="2839570"/>
                  <a:pt x="1798784" y="2822890"/>
                  <a:pt x="1808480" y="2811255"/>
                </a:cubicBezTo>
                <a:cubicBezTo>
                  <a:pt x="1816297" y="2801874"/>
                  <a:pt x="1828800" y="2797708"/>
                  <a:pt x="1838960" y="2790935"/>
                </a:cubicBezTo>
                <a:cubicBezTo>
                  <a:pt x="1867281" y="2748454"/>
                  <a:pt x="1874268" y="2729338"/>
                  <a:pt x="1910080" y="2699495"/>
                </a:cubicBezTo>
                <a:cubicBezTo>
                  <a:pt x="1919461" y="2691678"/>
                  <a:pt x="1930400" y="2685948"/>
                  <a:pt x="1940560" y="2679175"/>
                </a:cubicBezTo>
                <a:cubicBezTo>
                  <a:pt x="1964992" y="2642528"/>
                  <a:pt x="1980083" y="2615573"/>
                  <a:pt x="2021840" y="2587735"/>
                </a:cubicBezTo>
                <a:cubicBezTo>
                  <a:pt x="2066822" y="2557747"/>
                  <a:pt x="2112469" y="2533072"/>
                  <a:pt x="2143760" y="2486135"/>
                </a:cubicBezTo>
                <a:cubicBezTo>
                  <a:pt x="2194211" y="2410459"/>
                  <a:pt x="2129369" y="2503404"/>
                  <a:pt x="2194560" y="2425175"/>
                </a:cubicBezTo>
                <a:cubicBezTo>
                  <a:pt x="2202377" y="2415794"/>
                  <a:pt x="2205345" y="2402323"/>
                  <a:pt x="2214880" y="2394695"/>
                </a:cubicBezTo>
                <a:cubicBezTo>
                  <a:pt x="2223243" y="2388005"/>
                  <a:pt x="2235200" y="2387922"/>
                  <a:pt x="2245360" y="2384535"/>
                </a:cubicBezTo>
                <a:cubicBezTo>
                  <a:pt x="2252133" y="2374375"/>
                  <a:pt x="2257863" y="2363436"/>
                  <a:pt x="2265680" y="2354055"/>
                </a:cubicBezTo>
                <a:cubicBezTo>
                  <a:pt x="2274878" y="2343017"/>
                  <a:pt x="2288190" y="2335530"/>
                  <a:pt x="2296160" y="2323575"/>
                </a:cubicBezTo>
                <a:cubicBezTo>
                  <a:pt x="2302101" y="2314664"/>
                  <a:pt x="2302101" y="2302939"/>
                  <a:pt x="2306320" y="2293095"/>
                </a:cubicBezTo>
                <a:cubicBezTo>
                  <a:pt x="2312286" y="2279174"/>
                  <a:pt x="2321322" y="2266636"/>
                  <a:pt x="2326640" y="2252455"/>
                </a:cubicBezTo>
                <a:cubicBezTo>
                  <a:pt x="2337681" y="2223012"/>
                  <a:pt x="2340575" y="2179587"/>
                  <a:pt x="2346960" y="2150855"/>
                </a:cubicBezTo>
                <a:cubicBezTo>
                  <a:pt x="2349283" y="2140400"/>
                  <a:pt x="2353733" y="2130535"/>
                  <a:pt x="2357120" y="2120375"/>
                </a:cubicBezTo>
                <a:cubicBezTo>
                  <a:pt x="2353733" y="2015388"/>
                  <a:pt x="2355449" y="1910113"/>
                  <a:pt x="2346960" y="1805415"/>
                </a:cubicBezTo>
                <a:cubicBezTo>
                  <a:pt x="2345229" y="1784066"/>
                  <a:pt x="2333413" y="1764775"/>
                  <a:pt x="2326640" y="1744455"/>
                </a:cubicBezTo>
                <a:cubicBezTo>
                  <a:pt x="2323253" y="1734295"/>
                  <a:pt x="2324053" y="1721548"/>
                  <a:pt x="2316480" y="1713975"/>
                </a:cubicBezTo>
                <a:cubicBezTo>
                  <a:pt x="2306320" y="1703815"/>
                  <a:pt x="2295198" y="1694533"/>
                  <a:pt x="2286000" y="1683495"/>
                </a:cubicBezTo>
                <a:cubicBezTo>
                  <a:pt x="2238005" y="1625901"/>
                  <a:pt x="2295047" y="1681937"/>
                  <a:pt x="2245360" y="1612375"/>
                </a:cubicBezTo>
                <a:cubicBezTo>
                  <a:pt x="2237009" y="1600683"/>
                  <a:pt x="2223231" y="1593587"/>
                  <a:pt x="2214880" y="1581895"/>
                </a:cubicBezTo>
                <a:cubicBezTo>
                  <a:pt x="2206077" y="1569570"/>
                  <a:pt x="2202074" y="1554405"/>
                  <a:pt x="2194560" y="1541255"/>
                </a:cubicBezTo>
                <a:cubicBezTo>
                  <a:pt x="2188502" y="1530653"/>
                  <a:pt x="2179701" y="1521697"/>
                  <a:pt x="2174240" y="1510775"/>
                </a:cubicBezTo>
                <a:cubicBezTo>
                  <a:pt x="2169451" y="1501196"/>
                  <a:pt x="2169281" y="1489657"/>
                  <a:pt x="2164080" y="1480295"/>
                </a:cubicBezTo>
                <a:cubicBezTo>
                  <a:pt x="2152220" y="1458947"/>
                  <a:pt x="2131163" y="1442503"/>
                  <a:pt x="2123440" y="1419335"/>
                </a:cubicBezTo>
                <a:cubicBezTo>
                  <a:pt x="2108901" y="1375719"/>
                  <a:pt x="2105224" y="1355109"/>
                  <a:pt x="2082800" y="1317735"/>
                </a:cubicBezTo>
                <a:cubicBezTo>
                  <a:pt x="1983795" y="1152727"/>
                  <a:pt x="2072872" y="1321664"/>
                  <a:pt x="2032000" y="1226295"/>
                </a:cubicBezTo>
                <a:cubicBezTo>
                  <a:pt x="2026034" y="1212374"/>
                  <a:pt x="2017305" y="1199717"/>
                  <a:pt x="2011680" y="1185655"/>
                </a:cubicBezTo>
                <a:cubicBezTo>
                  <a:pt x="2003725" y="1165768"/>
                  <a:pt x="1991360" y="1124695"/>
                  <a:pt x="1991360" y="1124695"/>
                </a:cubicBezTo>
                <a:cubicBezTo>
                  <a:pt x="1991993" y="1103808"/>
                  <a:pt x="1975644" y="856882"/>
                  <a:pt x="2011680" y="748775"/>
                </a:cubicBezTo>
                <a:cubicBezTo>
                  <a:pt x="2017447" y="731473"/>
                  <a:pt x="2023143" y="713918"/>
                  <a:pt x="2032000" y="697975"/>
                </a:cubicBezTo>
                <a:cubicBezTo>
                  <a:pt x="2040224" y="683173"/>
                  <a:pt x="2052320" y="670882"/>
                  <a:pt x="2062480" y="657335"/>
                </a:cubicBezTo>
                <a:cubicBezTo>
                  <a:pt x="2072357" y="627705"/>
                  <a:pt x="2075025" y="614912"/>
                  <a:pt x="2092960" y="586215"/>
                </a:cubicBezTo>
                <a:cubicBezTo>
                  <a:pt x="2101935" y="571856"/>
                  <a:pt x="2113598" y="559354"/>
                  <a:pt x="2123440" y="545575"/>
                </a:cubicBezTo>
                <a:cubicBezTo>
                  <a:pt x="2130537" y="535639"/>
                  <a:pt x="2136434" y="524864"/>
                  <a:pt x="2143760" y="515095"/>
                </a:cubicBezTo>
                <a:cubicBezTo>
                  <a:pt x="2156771" y="497747"/>
                  <a:pt x="2171389" y="481643"/>
                  <a:pt x="2184400" y="464295"/>
                </a:cubicBezTo>
                <a:cubicBezTo>
                  <a:pt x="2191726" y="454526"/>
                  <a:pt x="2196086" y="442449"/>
                  <a:pt x="2204720" y="433815"/>
                </a:cubicBezTo>
                <a:cubicBezTo>
                  <a:pt x="2216694" y="421841"/>
                  <a:pt x="2232774" y="414663"/>
                  <a:pt x="2245360" y="403335"/>
                </a:cubicBezTo>
                <a:cubicBezTo>
                  <a:pt x="2266720" y="384111"/>
                  <a:pt x="2283331" y="359617"/>
                  <a:pt x="2306320" y="342375"/>
                </a:cubicBezTo>
                <a:cubicBezTo>
                  <a:pt x="2319867" y="332215"/>
                  <a:pt x="2334986" y="323869"/>
                  <a:pt x="2346960" y="311895"/>
                </a:cubicBezTo>
                <a:cubicBezTo>
                  <a:pt x="2412681" y="246174"/>
                  <a:pt x="2281805" y="298752"/>
                  <a:pt x="2458720" y="210295"/>
                </a:cubicBezTo>
                <a:cubicBezTo>
                  <a:pt x="2485813" y="196748"/>
                  <a:pt x="2514796" y="186458"/>
                  <a:pt x="2540000" y="169655"/>
                </a:cubicBezTo>
                <a:cubicBezTo>
                  <a:pt x="2550160" y="162882"/>
                  <a:pt x="2559558" y="154796"/>
                  <a:pt x="2570480" y="149335"/>
                </a:cubicBezTo>
                <a:cubicBezTo>
                  <a:pt x="2683515" y="92818"/>
                  <a:pt x="2564963" y="162560"/>
                  <a:pt x="2661920" y="108695"/>
                </a:cubicBezTo>
                <a:cubicBezTo>
                  <a:pt x="2679182" y="99105"/>
                  <a:pt x="2695057" y="87046"/>
                  <a:pt x="2712720" y="78215"/>
                </a:cubicBezTo>
                <a:cubicBezTo>
                  <a:pt x="2732289" y="68430"/>
                  <a:pt x="2764308" y="64406"/>
                  <a:pt x="2783840" y="57895"/>
                </a:cubicBezTo>
                <a:cubicBezTo>
                  <a:pt x="2886896" y="23543"/>
                  <a:pt x="2776523" y="44032"/>
                  <a:pt x="2926080" y="27415"/>
                </a:cubicBezTo>
                <a:cubicBezTo>
                  <a:pt x="3083722" y="-25132"/>
                  <a:pt x="2963486" y="11110"/>
                  <a:pt x="3362960" y="27415"/>
                </a:cubicBezTo>
                <a:cubicBezTo>
                  <a:pt x="3393602" y="28666"/>
                  <a:pt x="3423920" y="34188"/>
                  <a:pt x="3454400" y="37575"/>
                </a:cubicBezTo>
                <a:cubicBezTo>
                  <a:pt x="3471333" y="44348"/>
                  <a:pt x="3487898" y="52128"/>
                  <a:pt x="3505200" y="57895"/>
                </a:cubicBezTo>
                <a:cubicBezTo>
                  <a:pt x="3518447" y="62311"/>
                  <a:pt x="3533005" y="62554"/>
                  <a:pt x="3545840" y="68055"/>
                </a:cubicBezTo>
                <a:cubicBezTo>
                  <a:pt x="3557063" y="72865"/>
                  <a:pt x="3566551" y="81049"/>
                  <a:pt x="3576320" y="88375"/>
                </a:cubicBezTo>
                <a:cubicBezTo>
                  <a:pt x="3607211" y="111543"/>
                  <a:pt x="3635631" y="138076"/>
                  <a:pt x="3667760" y="159495"/>
                </a:cubicBezTo>
                <a:cubicBezTo>
                  <a:pt x="3710195" y="187785"/>
                  <a:pt x="3689606" y="171181"/>
                  <a:pt x="3728720" y="210295"/>
                </a:cubicBezTo>
                <a:cubicBezTo>
                  <a:pt x="3735493" y="230615"/>
                  <a:pt x="3745519" y="250127"/>
                  <a:pt x="3749040" y="271255"/>
                </a:cubicBezTo>
                <a:cubicBezTo>
                  <a:pt x="3763137" y="355837"/>
                  <a:pt x="3756287" y="311822"/>
                  <a:pt x="3769360" y="403335"/>
                </a:cubicBezTo>
                <a:cubicBezTo>
                  <a:pt x="3765973" y="501548"/>
                  <a:pt x="3767837" y="600084"/>
                  <a:pt x="3759200" y="697975"/>
                </a:cubicBezTo>
                <a:cubicBezTo>
                  <a:pt x="3757597" y="716142"/>
                  <a:pt x="3744647" y="731473"/>
                  <a:pt x="3738880" y="748775"/>
                </a:cubicBezTo>
                <a:cubicBezTo>
                  <a:pt x="3734464" y="762022"/>
                  <a:pt x="3733623" y="776340"/>
                  <a:pt x="3728720" y="789415"/>
                </a:cubicBezTo>
                <a:cubicBezTo>
                  <a:pt x="3706912" y="847569"/>
                  <a:pt x="3710855" y="810075"/>
                  <a:pt x="3698240" y="860535"/>
                </a:cubicBezTo>
                <a:cubicBezTo>
                  <a:pt x="3694052" y="877288"/>
                  <a:pt x="3694143" y="895166"/>
                  <a:pt x="3688080" y="911335"/>
                </a:cubicBezTo>
                <a:cubicBezTo>
                  <a:pt x="3683793" y="922768"/>
                  <a:pt x="3673607" y="931095"/>
                  <a:pt x="3667760" y="941815"/>
                </a:cubicBezTo>
                <a:cubicBezTo>
                  <a:pt x="3653255" y="968408"/>
                  <a:pt x="3643923" y="997891"/>
                  <a:pt x="3627120" y="1023095"/>
                </a:cubicBezTo>
                <a:cubicBezTo>
                  <a:pt x="3620347" y="1033255"/>
                  <a:pt x="3612261" y="1042653"/>
                  <a:pt x="3606800" y="1053575"/>
                </a:cubicBezTo>
                <a:cubicBezTo>
                  <a:pt x="3555820" y="1155535"/>
                  <a:pt x="3683655" y="961261"/>
                  <a:pt x="3545840" y="1145015"/>
                </a:cubicBezTo>
                <a:cubicBezTo>
                  <a:pt x="3531187" y="1164552"/>
                  <a:pt x="3522469" y="1188706"/>
                  <a:pt x="3505200" y="1205975"/>
                </a:cubicBezTo>
                <a:cubicBezTo>
                  <a:pt x="3491653" y="1219522"/>
                  <a:pt x="3478978" y="1233999"/>
                  <a:pt x="3464560" y="1246615"/>
                </a:cubicBezTo>
                <a:cubicBezTo>
                  <a:pt x="3451816" y="1257766"/>
                  <a:pt x="3435894" y="1265121"/>
                  <a:pt x="3423920" y="1277095"/>
                </a:cubicBezTo>
                <a:cubicBezTo>
                  <a:pt x="3411946" y="1289069"/>
                  <a:pt x="3406297" y="1306715"/>
                  <a:pt x="3393440" y="1317735"/>
                </a:cubicBezTo>
                <a:cubicBezTo>
                  <a:pt x="3381941" y="1327592"/>
                  <a:pt x="3365125" y="1329252"/>
                  <a:pt x="3352800" y="1338055"/>
                </a:cubicBezTo>
                <a:cubicBezTo>
                  <a:pt x="3341108" y="1346406"/>
                  <a:pt x="3333358" y="1359337"/>
                  <a:pt x="3322320" y="1368535"/>
                </a:cubicBezTo>
                <a:cubicBezTo>
                  <a:pt x="3292195" y="1393639"/>
                  <a:pt x="3286691" y="1387881"/>
                  <a:pt x="3251200" y="1409175"/>
                </a:cubicBezTo>
                <a:cubicBezTo>
                  <a:pt x="3230259" y="1421740"/>
                  <a:pt x="3213408" y="1442092"/>
                  <a:pt x="3190240" y="1449815"/>
                </a:cubicBezTo>
                <a:cubicBezTo>
                  <a:pt x="3113628" y="1475352"/>
                  <a:pt x="3208062" y="1440904"/>
                  <a:pt x="3129280" y="1480295"/>
                </a:cubicBezTo>
                <a:cubicBezTo>
                  <a:pt x="3119701" y="1485084"/>
                  <a:pt x="3108644" y="1486236"/>
                  <a:pt x="3098800" y="1490455"/>
                </a:cubicBezTo>
                <a:cubicBezTo>
                  <a:pt x="3083124" y="1497173"/>
                  <a:pt x="3048103" y="1518990"/>
                  <a:pt x="3027680" y="1520935"/>
                </a:cubicBezTo>
                <a:cubicBezTo>
                  <a:pt x="2966901" y="1526723"/>
                  <a:pt x="2905760" y="1527708"/>
                  <a:pt x="2844800" y="1531095"/>
                </a:cubicBezTo>
                <a:cubicBezTo>
                  <a:pt x="2824480" y="1544642"/>
                  <a:pt x="2801109" y="1554466"/>
                  <a:pt x="2783840" y="1571735"/>
                </a:cubicBezTo>
                <a:cubicBezTo>
                  <a:pt x="2744726" y="1610849"/>
                  <a:pt x="2765315" y="1594245"/>
                  <a:pt x="2722880" y="1622535"/>
                </a:cubicBezTo>
                <a:cubicBezTo>
                  <a:pt x="2687518" y="1675578"/>
                  <a:pt x="2712681" y="1629452"/>
                  <a:pt x="2692400" y="1703815"/>
                </a:cubicBezTo>
                <a:cubicBezTo>
                  <a:pt x="2686764" y="1724479"/>
                  <a:pt x="2675601" y="1743647"/>
                  <a:pt x="2672080" y="1764775"/>
                </a:cubicBezTo>
                <a:cubicBezTo>
                  <a:pt x="2668693" y="1785095"/>
                  <a:pt x="2666916" y="1805750"/>
                  <a:pt x="2661920" y="1825735"/>
                </a:cubicBezTo>
                <a:cubicBezTo>
                  <a:pt x="2656725" y="1846515"/>
                  <a:pt x="2641600" y="1886695"/>
                  <a:pt x="2641600" y="1886695"/>
                </a:cubicBezTo>
                <a:cubicBezTo>
                  <a:pt x="2646731" y="1994437"/>
                  <a:pt x="2639215" y="2060037"/>
                  <a:pt x="2661920" y="2150855"/>
                </a:cubicBezTo>
                <a:cubicBezTo>
                  <a:pt x="2664517" y="2161245"/>
                  <a:pt x="2666879" y="2171973"/>
                  <a:pt x="2672080" y="2181335"/>
                </a:cubicBezTo>
                <a:cubicBezTo>
                  <a:pt x="2683940" y="2202683"/>
                  <a:pt x="2704997" y="2219127"/>
                  <a:pt x="2712720" y="2242295"/>
                </a:cubicBezTo>
                <a:cubicBezTo>
                  <a:pt x="2728387" y="2289295"/>
                  <a:pt x="2715064" y="2258237"/>
                  <a:pt x="2743200" y="2303255"/>
                </a:cubicBezTo>
                <a:cubicBezTo>
                  <a:pt x="2769436" y="2345232"/>
                  <a:pt x="2772941" y="2358273"/>
                  <a:pt x="2804160" y="2394695"/>
                </a:cubicBezTo>
                <a:cubicBezTo>
                  <a:pt x="2813511" y="2405604"/>
                  <a:pt x="2824480" y="2415015"/>
                  <a:pt x="2834640" y="2425175"/>
                </a:cubicBezTo>
                <a:cubicBezTo>
                  <a:pt x="2851922" y="2477021"/>
                  <a:pt x="2833768" y="2437704"/>
                  <a:pt x="2875280" y="2486135"/>
                </a:cubicBezTo>
                <a:cubicBezTo>
                  <a:pt x="2886300" y="2498992"/>
                  <a:pt x="2896049" y="2512903"/>
                  <a:pt x="2905760" y="2526775"/>
                </a:cubicBezTo>
                <a:cubicBezTo>
                  <a:pt x="2919765" y="2546782"/>
                  <a:pt x="2929131" y="2570466"/>
                  <a:pt x="2946400" y="2587735"/>
                </a:cubicBezTo>
                <a:cubicBezTo>
                  <a:pt x="2977794" y="2619129"/>
                  <a:pt x="2981293" y="2619754"/>
                  <a:pt x="3007360" y="2658855"/>
                </a:cubicBezTo>
                <a:cubicBezTo>
                  <a:pt x="3018314" y="2675286"/>
                  <a:pt x="3028250" y="2692393"/>
                  <a:pt x="3037840" y="2709655"/>
                </a:cubicBezTo>
                <a:cubicBezTo>
                  <a:pt x="3056585" y="2743395"/>
                  <a:pt x="3063936" y="2769333"/>
                  <a:pt x="3088640" y="2801095"/>
                </a:cubicBezTo>
                <a:cubicBezTo>
                  <a:pt x="3100402" y="2816217"/>
                  <a:pt x="3115733" y="2828188"/>
                  <a:pt x="3129280" y="2841735"/>
                </a:cubicBezTo>
                <a:cubicBezTo>
                  <a:pt x="3148685" y="2899950"/>
                  <a:pt x="3124721" y="2847336"/>
                  <a:pt x="3180080" y="2902695"/>
                </a:cubicBezTo>
                <a:cubicBezTo>
                  <a:pt x="3202158" y="2924773"/>
                  <a:pt x="3223034" y="2948306"/>
                  <a:pt x="3241040" y="2973815"/>
                </a:cubicBezTo>
                <a:cubicBezTo>
                  <a:pt x="3263816" y="3006081"/>
                  <a:pt x="3274073" y="3047488"/>
                  <a:pt x="3302000" y="3075415"/>
                </a:cubicBezTo>
                <a:cubicBezTo>
                  <a:pt x="3322320" y="3095735"/>
                  <a:pt x="3343736" y="3115015"/>
                  <a:pt x="3362960" y="3136375"/>
                </a:cubicBezTo>
                <a:cubicBezTo>
                  <a:pt x="3374288" y="3148961"/>
                  <a:pt x="3381466" y="3165041"/>
                  <a:pt x="3393440" y="3177015"/>
                </a:cubicBezTo>
                <a:cubicBezTo>
                  <a:pt x="3408774" y="3192349"/>
                  <a:pt x="3428194" y="3203068"/>
                  <a:pt x="3444240" y="3217655"/>
                </a:cubicBezTo>
                <a:cubicBezTo>
                  <a:pt x="3465504" y="3236985"/>
                  <a:pt x="3483484" y="3259794"/>
                  <a:pt x="3505200" y="3278615"/>
                </a:cubicBezTo>
                <a:cubicBezTo>
                  <a:pt x="3534380" y="3303904"/>
                  <a:pt x="3572518" y="3319583"/>
                  <a:pt x="3596640" y="3349735"/>
                </a:cubicBezTo>
                <a:cubicBezTo>
                  <a:pt x="3610187" y="3366668"/>
                  <a:pt x="3619237" y="3388506"/>
                  <a:pt x="3637280" y="3400535"/>
                </a:cubicBezTo>
                <a:cubicBezTo>
                  <a:pt x="3681387" y="3429940"/>
                  <a:pt x="3734798" y="3443195"/>
                  <a:pt x="3779520" y="3471655"/>
                </a:cubicBezTo>
                <a:lnTo>
                  <a:pt x="3891280" y="3542775"/>
                </a:lnTo>
                <a:cubicBezTo>
                  <a:pt x="3901551" y="3549378"/>
                  <a:pt x="3913126" y="3554461"/>
                  <a:pt x="3921760" y="3563095"/>
                </a:cubicBezTo>
                <a:cubicBezTo>
                  <a:pt x="3955627" y="3596962"/>
                  <a:pt x="3982953" y="3638982"/>
                  <a:pt x="4023360" y="3664695"/>
                </a:cubicBezTo>
                <a:lnTo>
                  <a:pt x="4135120" y="3735815"/>
                </a:lnTo>
                <a:cubicBezTo>
                  <a:pt x="4151866" y="3746281"/>
                  <a:pt x="4169489" y="3755341"/>
                  <a:pt x="4185920" y="3766295"/>
                </a:cubicBezTo>
                <a:lnTo>
                  <a:pt x="4246880" y="3806935"/>
                </a:lnTo>
                <a:cubicBezTo>
                  <a:pt x="4262939" y="3758758"/>
                  <a:pt x="4260260" y="3790742"/>
                  <a:pt x="4236720" y="3735815"/>
                </a:cubicBezTo>
                <a:cubicBezTo>
                  <a:pt x="4232501" y="3725971"/>
                  <a:pt x="4234133" y="3712908"/>
                  <a:pt x="4226560" y="3705335"/>
                </a:cubicBezTo>
                <a:cubicBezTo>
                  <a:pt x="4214258" y="3693033"/>
                  <a:pt x="4191229" y="3695175"/>
                  <a:pt x="4175760" y="36951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2" descr="http://www.futurehumanevolution.com/wp-content/uploads/Artificial-Intelligence-Neural-Netowork-Internal-Node-Diagr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580" y="706333"/>
            <a:ext cx="2715570" cy="214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300480" y="152400"/>
            <a:ext cx="9474200" cy="73152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altLang="en-US" sz="7000" dirty="0" smtClean="0"/>
              <a:t>Why Neural Networks are </a:t>
            </a:r>
            <a:r>
              <a:rPr lang="en-GB" altLang="en-US" sz="7000" dirty="0"/>
              <a:t>generally better than other </a:t>
            </a:r>
            <a:r>
              <a:rPr lang="en-GB" altLang="en-US" sz="7000" dirty="0" smtClean="0"/>
              <a:t>methods? </a:t>
            </a:r>
            <a:endParaRPr lang="en-GB" altLang="en-US" b="1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540351" y="5770563"/>
            <a:ext cx="393636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3600" dirty="0" smtClean="0"/>
              <a:t>Linear method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7687151" y="5715000"/>
            <a:ext cx="393636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3600" dirty="0" smtClean="0"/>
              <a:t>Non-linear method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023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6225"/>
            <a:ext cx="8991600" cy="63055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39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596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7113" y="643661"/>
            <a:ext cx="7709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Applying Conv nets for electrophysiological signals</a:t>
            </a:r>
            <a:endParaRPr lang="en-CA" sz="28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3485170" y="2022932"/>
            <a:ext cx="3247985" cy="962501"/>
            <a:chOff x="8586087" y="3466250"/>
            <a:chExt cx="3247985" cy="96250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6087" y="3466250"/>
              <a:ext cx="3247985" cy="962501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9675060" y="3466250"/>
              <a:ext cx="10700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/>
                <a:t>EEG / </a:t>
              </a:r>
              <a:r>
                <a:rPr lang="en-CA" dirty="0" err="1" smtClean="0"/>
                <a:t>LFP</a:t>
              </a:r>
              <a:endParaRPr lang="en-CA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106123" y="3584610"/>
            <a:ext cx="3696527" cy="2429249"/>
            <a:chOff x="8117394" y="4428751"/>
            <a:chExt cx="3696527" cy="2429249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7394" y="4685625"/>
              <a:ext cx="3696527" cy="2172375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9549544" y="4428751"/>
              <a:ext cx="1321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/>
                <a:t>Spiking data</a:t>
              </a:r>
              <a:endParaRPr lang="en-CA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76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44" y="664400"/>
            <a:ext cx="2467088" cy="661035"/>
          </a:xfrm>
        </p:spPr>
        <p:txBody>
          <a:bodyPr>
            <a:normAutofit/>
          </a:bodyPr>
          <a:lstStyle/>
          <a:p>
            <a:r>
              <a:rPr lang="en-CA" sz="2800" dirty="0" err="1" smtClean="0"/>
              <a:t>19Hz</a:t>
            </a:r>
            <a:r>
              <a:rPr lang="en-CA" sz="2800" dirty="0" smtClean="0"/>
              <a:t> vs </a:t>
            </a:r>
            <a:r>
              <a:rPr lang="en-CA" sz="2800" dirty="0" err="1" smtClean="0"/>
              <a:t>21Hz</a:t>
            </a:r>
            <a:endParaRPr lang="en-CA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76" y="994917"/>
            <a:ext cx="3560223" cy="2671482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497776" y="3660874"/>
            <a:ext cx="3536329" cy="3076236"/>
            <a:chOff x="497776" y="3660874"/>
            <a:chExt cx="3536329" cy="307623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776" y="4083557"/>
              <a:ext cx="3536329" cy="2653553"/>
            </a:xfrm>
            <a:prstGeom prst="rect">
              <a:avLst/>
            </a:prstGeom>
          </p:spPr>
        </p:pic>
        <p:sp>
          <p:nvSpPr>
            <p:cNvPr id="12" name="Title 1"/>
            <p:cNvSpPr txBox="1">
              <a:spLocks/>
            </p:cNvSpPr>
            <p:nvPr/>
          </p:nvSpPr>
          <p:spPr>
            <a:xfrm>
              <a:off x="1044344" y="3660874"/>
              <a:ext cx="2467088" cy="6610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CA" sz="2800" dirty="0" smtClean="0"/>
                <a:t>sin + noise  </a:t>
              </a:r>
              <a:endParaRPr lang="en-CA" sz="2800" dirty="0"/>
            </a:p>
          </p:txBody>
        </p:sp>
      </p:grpSp>
      <p:sp>
        <p:nvSpPr>
          <p:cNvPr id="13" name="Title 1"/>
          <p:cNvSpPr txBox="1">
            <a:spLocks/>
          </p:cNvSpPr>
          <p:nvPr/>
        </p:nvSpPr>
        <p:spPr>
          <a:xfrm>
            <a:off x="1958744" y="189311"/>
            <a:ext cx="8963256" cy="6610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3200" dirty="0" smtClean="0"/>
              <a:t>Generating </a:t>
            </a:r>
            <a:r>
              <a:rPr lang="en-CA" sz="3200" dirty="0" err="1" smtClean="0"/>
              <a:t>LFP</a:t>
            </a:r>
            <a:r>
              <a:rPr lang="en-CA" sz="3200" dirty="0" smtClean="0"/>
              <a:t>-like data to test Conv </a:t>
            </a:r>
            <a:r>
              <a:rPr lang="en-CA" sz="3200" dirty="0"/>
              <a:t>Net  </a:t>
            </a:r>
            <a:endParaRPr lang="en-CA" sz="3200" dirty="0" smtClean="0"/>
          </a:p>
          <a:p>
            <a:pPr algn="ctr"/>
            <a:r>
              <a:rPr lang="en-CA" sz="3200" dirty="0" err="1" smtClean="0"/>
              <a:t>ConvNeurNet_example.m</a:t>
            </a:r>
            <a:endParaRPr lang="en-CA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951" y="4449894"/>
            <a:ext cx="7425482" cy="97218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33</a:t>
            </a:fld>
            <a:endParaRPr lang="en-C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950" y="1688094"/>
            <a:ext cx="6636517" cy="156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9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6" y="752807"/>
            <a:ext cx="11765343" cy="3233604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958744" y="3364"/>
            <a:ext cx="6768696" cy="66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 smtClean="0"/>
              <a:t>Taking segments of data for network training</a:t>
            </a:r>
            <a:endParaRPr lang="en-CA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744" y="4074819"/>
            <a:ext cx="8846536" cy="259726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1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1310640" y="440244"/>
            <a:ext cx="9085176" cy="66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800" dirty="0" smtClean="0"/>
              <a:t>Combining data from both groups in one array</a:t>
            </a:r>
          </a:p>
          <a:p>
            <a:pPr algn="ctr"/>
            <a:r>
              <a:rPr lang="en-CA" sz="2800" dirty="0" smtClean="0"/>
              <a:t>and taking randomly 80% of samples for training and 20% for testing</a:t>
            </a:r>
            <a:endParaRPr lang="en-CA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515" y="2684780"/>
            <a:ext cx="9489758" cy="2395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" y="1900555"/>
            <a:ext cx="1943100" cy="35242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638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25" y="592316"/>
            <a:ext cx="5412722" cy="4267104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556443" y="0"/>
            <a:ext cx="3903576" cy="66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 smtClean="0"/>
              <a:t>Our Conv Net architecture</a:t>
            </a:r>
            <a:endParaRPr lang="en-CA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515" y="3281680"/>
            <a:ext cx="8447485" cy="33528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10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4318647"/>
            <a:ext cx="7048500" cy="2238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002664"/>
            <a:ext cx="10009234" cy="30613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428240" y="86981"/>
            <a:ext cx="6339840" cy="66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 smtClean="0"/>
              <a:t>Training and testing our Conv net</a:t>
            </a:r>
            <a:endParaRPr lang="en-CA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565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280" y="578485"/>
            <a:ext cx="5623560" cy="803275"/>
          </a:xfrm>
        </p:spPr>
        <p:txBody>
          <a:bodyPr/>
          <a:lstStyle/>
          <a:p>
            <a:r>
              <a:rPr lang="en-CA" dirty="0" smtClean="0"/>
              <a:t>Optional fine tuning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1" y="2112010"/>
            <a:ext cx="11262929" cy="264287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71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208" y="131445"/>
            <a:ext cx="6257552" cy="975995"/>
          </a:xfrm>
        </p:spPr>
        <p:txBody>
          <a:bodyPr>
            <a:normAutofit/>
          </a:bodyPr>
          <a:lstStyle/>
          <a:p>
            <a:r>
              <a:rPr lang="en-CA" sz="2800" dirty="0" smtClean="0"/>
              <a:t>Two </a:t>
            </a:r>
            <a:r>
              <a:rPr lang="en-CA" sz="2800" dirty="0" err="1" smtClean="0"/>
              <a:t>LFP</a:t>
            </a:r>
            <a:r>
              <a:rPr lang="en-CA" sz="2800" dirty="0" smtClean="0"/>
              <a:t>-like signals with the same freq. but different phase locking</a:t>
            </a:r>
            <a:endParaRPr lang="en-CA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30" y="618565"/>
            <a:ext cx="3548277" cy="2662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826" y="3934330"/>
            <a:ext cx="7019925" cy="221932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10878" y="3273295"/>
            <a:ext cx="3536329" cy="2984071"/>
            <a:chOff x="410878" y="3273295"/>
            <a:chExt cx="3536329" cy="298407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878" y="3603813"/>
              <a:ext cx="3536329" cy="2653553"/>
            </a:xfrm>
            <a:prstGeom prst="rect">
              <a:avLst/>
            </a:prstGeom>
          </p:spPr>
        </p:pic>
        <p:sp>
          <p:nvSpPr>
            <p:cNvPr id="7" name="Title 1"/>
            <p:cNvSpPr txBox="1">
              <a:spLocks/>
            </p:cNvSpPr>
            <p:nvPr/>
          </p:nvSpPr>
          <p:spPr>
            <a:xfrm>
              <a:off x="1338984" y="3273295"/>
              <a:ext cx="2467088" cy="6610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CA" sz="2800" dirty="0" smtClean="0"/>
                <a:t>+ noise  </a:t>
              </a:r>
              <a:endParaRPr lang="en-CA" sz="2800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826" y="1874202"/>
            <a:ext cx="7996131" cy="155987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45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98" r="3418" b="15667"/>
          <a:stretch/>
        </p:blipFill>
        <p:spPr bwMode="auto">
          <a:xfrm>
            <a:off x="91440" y="3392988"/>
            <a:ext cx="8662262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-11052"/>
            <a:ext cx="3390890" cy="1643204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More advanced DL frameworks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284583" y="474811"/>
            <a:ext cx="6785497" cy="53686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CA" u="sng" dirty="0">
              <a:solidFill>
                <a:srgbClr val="FF0000"/>
              </a:solidFill>
            </a:endParaRPr>
          </a:p>
          <a:p>
            <a:pPr algn="just"/>
            <a:r>
              <a:rPr lang="en-CA" u="sng" dirty="0" err="1">
                <a:solidFill>
                  <a:srgbClr val="FF0000"/>
                </a:solidFill>
              </a:rPr>
              <a:t>TensorFlow</a:t>
            </a:r>
            <a:r>
              <a:rPr lang="en-CA" dirty="0"/>
              <a:t> is an open source software library for numerical computation using data flow graphs. </a:t>
            </a:r>
            <a:r>
              <a:rPr lang="en-CA" dirty="0" err="1"/>
              <a:t>TensorFlow</a:t>
            </a:r>
            <a:r>
              <a:rPr lang="en-CA" dirty="0"/>
              <a:t> was developed by Google Brain Team to deploy machine learning and deep learning researches. The framework is written in C++ and Python. </a:t>
            </a:r>
            <a:r>
              <a:rPr lang="en-CA" b="1" u="sng" dirty="0" err="1"/>
              <a:t>TensorFlow</a:t>
            </a:r>
            <a:r>
              <a:rPr lang="en-CA" b="1" u="sng" dirty="0"/>
              <a:t> may stay as the most widely used framework in the DL  for the next few years. </a:t>
            </a:r>
          </a:p>
          <a:p>
            <a:pPr algn="just"/>
            <a:endParaRPr lang="en-CA" dirty="0"/>
          </a:p>
          <a:p>
            <a:pPr algn="just"/>
            <a:r>
              <a:rPr lang="en-CA" dirty="0" err="1"/>
              <a:t>Keras</a:t>
            </a:r>
            <a:r>
              <a:rPr lang="en-CA" dirty="0"/>
              <a:t> was developed as an easily operated interface to simplify building neural networks with a speedy approach. It is written in Python and can be functioned on top of </a:t>
            </a:r>
            <a:r>
              <a:rPr lang="en-CA" dirty="0" err="1"/>
              <a:t>TenserFlow</a:t>
            </a:r>
            <a:r>
              <a:rPr lang="en-CA" dirty="0"/>
              <a:t> and </a:t>
            </a:r>
            <a:r>
              <a:rPr lang="en-CA" dirty="0" err="1"/>
              <a:t>Theano</a:t>
            </a:r>
            <a:r>
              <a:rPr lang="en-CA" dirty="0"/>
              <a:t>. </a:t>
            </a:r>
            <a:r>
              <a:rPr lang="en-CA" b="1" u="sng" dirty="0"/>
              <a:t>It is more user-friendly and easy to use as compared to  </a:t>
            </a:r>
            <a:r>
              <a:rPr lang="en-CA" b="1" u="sng" dirty="0" err="1"/>
              <a:t>TensorFlow</a:t>
            </a:r>
            <a:r>
              <a:rPr lang="en-CA" b="1" u="sng" dirty="0"/>
              <a:t>.</a:t>
            </a:r>
            <a:r>
              <a:rPr lang="en-CA" dirty="0"/>
              <a:t> Google may be including </a:t>
            </a:r>
            <a:r>
              <a:rPr lang="en-CA" dirty="0" err="1"/>
              <a:t>Keras</a:t>
            </a:r>
            <a:r>
              <a:rPr lang="en-CA" dirty="0"/>
              <a:t> in the next </a:t>
            </a:r>
            <a:r>
              <a:rPr lang="en-CA" dirty="0" err="1"/>
              <a:t>TenserFlow</a:t>
            </a:r>
            <a:r>
              <a:rPr lang="en-CA" dirty="0"/>
              <a:t> releases. </a:t>
            </a:r>
            <a:endParaRPr lang="en-CA" b="1" dirty="0"/>
          </a:p>
          <a:p>
            <a:pPr algn="just"/>
            <a:endParaRPr lang="en-CA" b="1" dirty="0"/>
          </a:p>
          <a:p>
            <a:pPr algn="just"/>
            <a:r>
              <a:rPr lang="en-CA" dirty="0" err="1"/>
              <a:t>Caffe</a:t>
            </a:r>
            <a:r>
              <a:rPr lang="en-CA" dirty="0"/>
              <a:t> was </a:t>
            </a:r>
            <a:r>
              <a:rPr lang="en-CA" dirty="0" err="1"/>
              <a:t>was</a:t>
            </a:r>
            <a:r>
              <a:rPr lang="en-CA" dirty="0"/>
              <a:t> developed by Berkeley Artificial Intelligence Research. </a:t>
            </a:r>
            <a:r>
              <a:rPr lang="en-CA" dirty="0" err="1"/>
              <a:t>Caffe</a:t>
            </a:r>
            <a:r>
              <a:rPr lang="en-CA" dirty="0"/>
              <a:t> main application is in modelling Convolutional Neural Network (CNN). Following popularity of </a:t>
            </a:r>
            <a:r>
              <a:rPr lang="en-CA" dirty="0" err="1"/>
              <a:t>Caffe</a:t>
            </a:r>
            <a:r>
              <a:rPr lang="en-CA" dirty="0"/>
              <a:t>, Facebook introduced Caffe2 in 2017. Caffe2 framework offers users to use pre-trained models to build demo applications</a:t>
            </a:r>
            <a:r>
              <a:rPr lang="en-CA" dirty="0" smtClean="0"/>
              <a:t>.</a:t>
            </a:r>
            <a:endParaRPr lang="en-CA" dirty="0"/>
          </a:p>
        </p:txBody>
      </p:sp>
      <p:sp>
        <p:nvSpPr>
          <p:cNvPr id="7" name="Rectangle 6"/>
          <p:cNvSpPr/>
          <p:nvPr/>
        </p:nvSpPr>
        <p:spPr>
          <a:xfrm>
            <a:off x="6248376" y="6507875"/>
            <a:ext cx="58217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000" dirty="0"/>
              <a:t>https://www.digitaldoughnut.com/articles/2018/february/a-comparison-of-deep-learning-frameworks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0" t="25543" r="9264" b="28849"/>
          <a:stretch/>
        </p:blipFill>
        <p:spPr bwMode="auto">
          <a:xfrm>
            <a:off x="3775841" y="1220668"/>
            <a:ext cx="1892808" cy="47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701" y="4088974"/>
            <a:ext cx="1145023" cy="60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656" y="2699465"/>
            <a:ext cx="1733178" cy="62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44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 smtClean="0"/>
              <a:t>Python + </a:t>
            </a:r>
            <a:r>
              <a:rPr lang="en-CA" dirty="0" err="1" smtClean="0"/>
              <a:t>Numpy</a:t>
            </a:r>
            <a:r>
              <a:rPr lang="en-CA" dirty="0" smtClean="0"/>
              <a:t> + </a:t>
            </a:r>
            <a:r>
              <a:rPr lang="en-CA" dirty="0" err="1" smtClean="0"/>
              <a:t>Scipy</a:t>
            </a:r>
            <a:r>
              <a:rPr lang="en-CA" dirty="0" smtClean="0"/>
              <a:t> + </a:t>
            </a:r>
            <a:r>
              <a:rPr lang="en-CA" dirty="0" err="1" smtClean="0"/>
              <a:t>Matplotlib</a:t>
            </a:r>
            <a:r>
              <a:rPr lang="en-CA" dirty="0" smtClean="0"/>
              <a:t> is just as good as MATLAB. </a:t>
            </a:r>
            <a:r>
              <a:rPr lang="en-CA" dirty="0"/>
              <a:t>Python is open and free, it is very easy for other parties to design packages or other software tools that extend Python.</a:t>
            </a:r>
            <a:endParaRPr lang="en-CA" dirty="0" smtClean="0"/>
          </a:p>
          <a:p>
            <a:endParaRPr lang="en-CA" dirty="0" smtClean="0"/>
          </a:p>
          <a:p>
            <a:pPr algn="just"/>
            <a:r>
              <a:rPr lang="en-CA" dirty="0"/>
              <a:t>The </a:t>
            </a:r>
            <a:r>
              <a:rPr lang="en-CA" dirty="0" smtClean="0"/>
              <a:t>expensive proprietary </a:t>
            </a:r>
            <a:r>
              <a:rPr lang="en-CA" dirty="0"/>
              <a:t>nature </a:t>
            </a:r>
            <a:r>
              <a:rPr lang="en-CA" dirty="0" smtClean="0"/>
              <a:t>makes MATLAB difficult/ impossible </a:t>
            </a:r>
            <a:r>
              <a:rPr lang="en-CA" dirty="0"/>
              <a:t>for 3th parties to extend the functionality of </a:t>
            </a:r>
            <a:r>
              <a:rPr lang="en-CA" dirty="0" smtClean="0"/>
              <a:t>MATLAB. </a:t>
            </a:r>
          </a:p>
          <a:p>
            <a:pPr algn="just"/>
            <a:endParaRPr lang="en-CA" dirty="0"/>
          </a:p>
          <a:p>
            <a:pPr algn="just"/>
            <a:r>
              <a:rPr lang="en-CA" dirty="0" err="1" smtClean="0"/>
              <a:t>Mathworks</a:t>
            </a:r>
            <a:r>
              <a:rPr lang="en-CA" dirty="0" smtClean="0"/>
              <a:t> </a:t>
            </a:r>
            <a:r>
              <a:rPr lang="en-CA" dirty="0"/>
              <a:t>puts restrictions on code </a:t>
            </a:r>
            <a:r>
              <a:rPr lang="en-CA" b="1" dirty="0" smtClean="0"/>
              <a:t>portability. </a:t>
            </a:r>
            <a:r>
              <a:rPr lang="en-CA" dirty="0" smtClean="0"/>
              <a:t>The </a:t>
            </a:r>
            <a:r>
              <a:rPr lang="en-CA" dirty="0"/>
              <a:t>standard library does not contain as much generic programming functionality, but does include matrix algebra and an extensive library for data processing and plotting.</a:t>
            </a:r>
            <a:endParaRPr lang="en-CA" b="1" dirty="0" smtClean="0"/>
          </a:p>
          <a:p>
            <a:pPr algn="just"/>
            <a:endParaRPr lang="en-CA" dirty="0" smtClean="0"/>
          </a:p>
          <a:p>
            <a:r>
              <a:rPr lang="en-CA" dirty="0" smtClean="0"/>
              <a:t>If you want to experiment with some of the newest models for Machine Learning or Neural Networks, just use </a:t>
            </a:r>
            <a:r>
              <a:rPr lang="en-CA" dirty="0" err="1" smtClean="0"/>
              <a:t>ScikitLearn</a:t>
            </a:r>
            <a:r>
              <a:rPr lang="en-CA" dirty="0" smtClean="0"/>
              <a:t> and </a:t>
            </a:r>
            <a:r>
              <a:rPr lang="en-CA" dirty="0" err="1" smtClean="0"/>
              <a:t>Keras</a:t>
            </a:r>
            <a:r>
              <a:rPr lang="en-CA" dirty="0" smtClean="0"/>
              <a:t> + </a:t>
            </a:r>
            <a:r>
              <a:rPr lang="en-CA" dirty="0" err="1" smtClean="0"/>
              <a:t>Tensorflow</a:t>
            </a:r>
            <a:r>
              <a:rPr lang="en-CA" dirty="0" smtClean="0"/>
              <a:t>.</a:t>
            </a:r>
          </a:p>
          <a:p>
            <a:endParaRPr lang="en-CA" dirty="0" smtClean="0"/>
          </a:p>
          <a:p>
            <a:r>
              <a:rPr lang="en-CA" dirty="0" smtClean="0"/>
              <a:t>Python as a programming language is becoming more popular than MATLAB</a:t>
            </a: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Python more popular than MATLAB</a:t>
            </a:r>
            <a:endParaRPr lang="en-C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29C4-B13B-48CD-8510-A6CBD0120AD7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866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759" y="1588005"/>
            <a:ext cx="2056937" cy="935038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Thank you</a:t>
            </a:r>
            <a:endParaRPr lang="en-US" sz="2800" b="1" dirty="0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284" y="4886924"/>
            <a:ext cx="1251632" cy="107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67" y="4869323"/>
            <a:ext cx="1180785" cy="69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271" y="4886924"/>
            <a:ext cx="833110" cy="11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27208" y="5489222"/>
            <a:ext cx="14484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Discovery Accelerator </a:t>
            </a:r>
            <a:r>
              <a:rPr lang="en-CA" sz="1400" b="1" dirty="0" smtClean="0"/>
              <a:t>Supplement</a:t>
            </a:r>
            <a:endParaRPr lang="en-CA" sz="1400" b="1" dirty="0"/>
          </a:p>
        </p:txBody>
      </p:sp>
    </p:spTree>
    <p:extLst>
      <p:ext uri="{BB962C8B-B14F-4D97-AF65-F5344CB8AC3E}">
        <p14:creationId xmlns:p14="http://schemas.microsoft.com/office/powerpoint/2010/main" val="323806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4457</TotalTime>
  <Words>1011</Words>
  <Application>Microsoft Macintosh PowerPoint</Application>
  <PresentationFormat>Widescreen</PresentationFormat>
  <Paragraphs>224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Calibri</vt:lpstr>
      <vt:lpstr>Calibri Light</vt:lpstr>
      <vt:lpstr>TimesNewRomanPSMT</vt:lpstr>
      <vt:lpstr>Arial</vt:lpstr>
      <vt:lpstr>Times New Roman</vt:lpstr>
      <vt:lpstr>Office Theme</vt:lpstr>
      <vt:lpstr>PowerPoint Presentation</vt:lpstr>
      <vt:lpstr>google inception network</vt:lpstr>
      <vt:lpstr>Examples from the test set (with the network’s guesses)</vt:lpstr>
      <vt:lpstr>PowerPoint Presentation</vt:lpstr>
      <vt:lpstr>Speech recognition</vt:lpstr>
      <vt:lpstr>PowerPoint Presentation</vt:lpstr>
      <vt:lpstr>PowerPoint Presentation</vt:lpstr>
      <vt:lpstr>PowerPoint Presentation</vt:lpstr>
      <vt:lpstr>Artificial neural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Deep Learning = Learning Hierarchical Representations</vt:lpstr>
      <vt:lpstr>Convolutional Networks (ConvNet or CNN) (currently the dominant approach for neural networks)</vt:lpstr>
      <vt:lpstr>CNN Architecture: Pooling Layer</vt:lpstr>
      <vt:lpstr>Full CNN</vt:lpstr>
      <vt:lpstr>Recurrent Neural Networks and LSTM neurons</vt:lpstr>
      <vt:lpstr>Autoencoder</vt:lpstr>
      <vt:lpstr>Autoencoder</vt:lpstr>
      <vt:lpstr>Convolutional Autoencoder</vt:lpstr>
      <vt:lpstr>PowerPoint Presentation</vt:lpstr>
      <vt:lpstr>Visualizing MRI scans using autoencoder </vt:lpstr>
      <vt:lpstr>1) Non-linearity 2) self-learned features</vt:lpstr>
      <vt:lpstr>PowerPoint Presentation</vt:lpstr>
      <vt:lpstr>PowerPoint Presentation</vt:lpstr>
      <vt:lpstr>PowerPoint Presentation</vt:lpstr>
      <vt:lpstr>19Hz vs 21Hz</vt:lpstr>
      <vt:lpstr>PowerPoint Presentation</vt:lpstr>
      <vt:lpstr>PowerPoint Presentation</vt:lpstr>
      <vt:lpstr>PowerPoint Presentation</vt:lpstr>
      <vt:lpstr>PowerPoint Presentation</vt:lpstr>
      <vt:lpstr>Optional fine tuning</vt:lpstr>
      <vt:lpstr>Two LFP-like signals with the same freq. but different phase locking</vt:lpstr>
      <vt:lpstr>More advanced DL frameworks</vt:lpstr>
      <vt:lpstr>Python more popular than MATLAB</vt:lpstr>
      <vt:lpstr>Thank you</vt:lpstr>
    </vt:vector>
  </TitlesOfParts>
  <Company>University of Lethbridge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to:  Deep Learning</dc:title>
  <dc:creator>Luczak, Artur</dc:creator>
  <cp:lastModifiedBy>Shangsong Liang</cp:lastModifiedBy>
  <cp:revision>67</cp:revision>
  <dcterms:created xsi:type="dcterms:W3CDTF">2018-04-27T21:40:52Z</dcterms:created>
  <dcterms:modified xsi:type="dcterms:W3CDTF">2019-04-17T07:45:10Z</dcterms:modified>
</cp:coreProperties>
</file>