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tmp" ContentType="image/png"/>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omments/comment1.xml" ContentType="application/vnd.openxmlformats-officedocument.presentationml.comment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notesMasterIdLst>
    <p:notesMasterId r:id="rId90"/>
  </p:notesMasterIdLst>
  <p:sldIdLst>
    <p:sldId id="256" r:id="rId2"/>
    <p:sldId id="265" r:id="rId3"/>
    <p:sldId id="338" r:id="rId4"/>
    <p:sldId id="287" r:id="rId5"/>
    <p:sldId id="339" r:id="rId6"/>
    <p:sldId id="340" r:id="rId7"/>
    <p:sldId id="342" r:id="rId8"/>
    <p:sldId id="316" r:id="rId9"/>
    <p:sldId id="317" r:id="rId10"/>
    <p:sldId id="318" r:id="rId11"/>
    <p:sldId id="319" r:id="rId12"/>
    <p:sldId id="320" r:id="rId13"/>
    <p:sldId id="323" r:id="rId14"/>
    <p:sldId id="324" r:id="rId15"/>
    <p:sldId id="325" r:id="rId16"/>
    <p:sldId id="321" r:id="rId17"/>
    <p:sldId id="322" r:id="rId18"/>
    <p:sldId id="332" r:id="rId19"/>
    <p:sldId id="298" r:id="rId20"/>
    <p:sldId id="343" r:id="rId21"/>
    <p:sldId id="350" r:id="rId22"/>
    <p:sldId id="330" r:id="rId23"/>
    <p:sldId id="304" r:id="rId24"/>
    <p:sldId id="311" r:id="rId25"/>
    <p:sldId id="273" r:id="rId26"/>
    <p:sldId id="351" r:id="rId27"/>
    <p:sldId id="592" r:id="rId28"/>
    <p:sldId id="579" r:id="rId29"/>
    <p:sldId id="580" r:id="rId30"/>
    <p:sldId id="581" r:id="rId31"/>
    <p:sldId id="582" r:id="rId32"/>
    <p:sldId id="461" r:id="rId33"/>
    <p:sldId id="462" r:id="rId34"/>
    <p:sldId id="463" r:id="rId35"/>
    <p:sldId id="465" r:id="rId36"/>
    <p:sldId id="466" r:id="rId37"/>
    <p:sldId id="467" r:id="rId38"/>
    <p:sldId id="468" r:id="rId39"/>
    <p:sldId id="591" r:id="rId40"/>
    <p:sldId id="539" r:id="rId41"/>
    <p:sldId id="504" r:id="rId42"/>
    <p:sldId id="505" r:id="rId43"/>
    <p:sldId id="514" r:id="rId44"/>
    <p:sldId id="506" r:id="rId45"/>
    <p:sldId id="515" r:id="rId46"/>
    <p:sldId id="507" r:id="rId47"/>
    <p:sldId id="516" r:id="rId48"/>
    <p:sldId id="508" r:id="rId49"/>
    <p:sldId id="509" r:id="rId50"/>
    <p:sldId id="510" r:id="rId51"/>
    <p:sldId id="511" r:id="rId52"/>
    <p:sldId id="512" r:id="rId53"/>
    <p:sldId id="513" r:id="rId54"/>
    <p:sldId id="312" r:id="rId55"/>
    <p:sldId id="277" r:id="rId56"/>
    <p:sldId id="348" r:id="rId57"/>
    <p:sldId id="349" r:id="rId58"/>
    <p:sldId id="313" r:id="rId59"/>
    <p:sldId id="314" r:id="rId60"/>
    <p:sldId id="352" r:id="rId61"/>
    <p:sldId id="299" r:id="rId62"/>
    <p:sldId id="327" r:id="rId63"/>
    <p:sldId id="283" r:id="rId64"/>
    <p:sldId id="334" r:id="rId65"/>
    <p:sldId id="284" r:id="rId66"/>
    <p:sldId id="333" r:id="rId67"/>
    <p:sldId id="297" r:id="rId68"/>
    <p:sldId id="354" r:id="rId69"/>
    <p:sldId id="346" r:id="rId70"/>
    <p:sldId id="540" r:id="rId71"/>
    <p:sldId id="541" r:id="rId72"/>
    <p:sldId id="542" r:id="rId73"/>
    <p:sldId id="285" r:id="rId74"/>
    <p:sldId id="347" r:id="rId75"/>
    <p:sldId id="364" r:id="rId76"/>
    <p:sldId id="365" r:id="rId77"/>
    <p:sldId id="363" r:id="rId78"/>
    <p:sldId id="360" r:id="rId79"/>
    <p:sldId id="335" r:id="rId80"/>
    <p:sldId id="336" r:id="rId81"/>
    <p:sldId id="353" r:id="rId82"/>
    <p:sldId id="359" r:id="rId83"/>
    <p:sldId id="361" r:id="rId84"/>
    <p:sldId id="357" r:id="rId85"/>
    <p:sldId id="356" r:id="rId86"/>
    <p:sldId id="362" r:id="rId87"/>
    <p:sldId id="326" r:id="rId88"/>
    <p:sldId id="300" r:id="rId89"/>
  </p:sldIdLst>
  <p:sldSz cx="12192000" cy="6858000"/>
  <p:notesSz cx="6858000" cy="9144000"/>
  <p:defaultTextStyle>
    <a:defPPr>
      <a:defRPr lang="he-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on" initials="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391" autoAdjust="0"/>
    <p:restoredTop sz="86037" autoAdjust="0"/>
  </p:normalViewPr>
  <p:slideViewPr>
    <p:cSldViewPr snapToGrid="0">
      <p:cViewPr varScale="1">
        <p:scale>
          <a:sx n="140" d="100"/>
          <a:sy n="140" d="100"/>
        </p:scale>
        <p:origin x="920"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notesMaster" Target="notesMasters/notesMaster1.xml"/><Relationship Id="rId95"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18-05-14T10:35:42.492" idx="1">
    <p:pos x="10" y="10"/>
    <p:text/>
    <p:extLst>
      <p:ext uri="{C676402C-5697-4E1C-873F-D02D1690AC5C}">
        <p15:threadingInfo xmlns:p15="http://schemas.microsoft.com/office/powerpoint/2012/main" timeZoneBias="-180"/>
      </p:ext>
    </p:extLst>
  </p:cm>
</p:cmLst>
</file>

<file path=ppt/drawings/_rels/vmlDrawing1.v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image" Target="../media/image35.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image" Target="../media/image35.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image" Target="../media/image35.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image" Target="../media/image35.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image" Target="../media/image35.e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image" Target="../media/image35.e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image" Target="../media/image35.e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image" Target="../media/image35.e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image" Target="../media/image35.e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image" Target="../media/image35.e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image" Target="../media/image35.e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image" Target="../media/image35.e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image" Target="../media/image35.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r">
              <a:defRPr sz="1200"/>
            </a:lvl1pPr>
          </a:lstStyle>
          <a:p>
            <a:endParaRPr lang="he-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l">
              <a:defRPr sz="1200"/>
            </a:lvl1pPr>
          </a:lstStyle>
          <a:p>
            <a:fld id="{B1FFEBFC-3F96-4693-A219-F3174061D000}" type="datetimeFigureOut">
              <a:rPr lang="he-IL" smtClean="0"/>
              <a:t>ט"ז.כסלו.תשפ"ה</a:t>
            </a:fld>
            <a:endParaRPr lang="he-I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he-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r">
              <a:defRPr sz="1200"/>
            </a:lvl1pPr>
          </a:lstStyle>
          <a:p>
            <a:endParaRPr lang="he-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l">
              <a:defRPr sz="1200"/>
            </a:lvl1pPr>
          </a:lstStyle>
          <a:p>
            <a:fld id="{EE3995CE-7527-48CD-90CF-756BD35E8097}" type="slidenum">
              <a:rPr lang="he-IL" smtClean="0"/>
              <a:t>‹#›</a:t>
            </a:fld>
            <a:endParaRPr lang="he-IL"/>
          </a:p>
        </p:txBody>
      </p:sp>
    </p:spTree>
    <p:extLst>
      <p:ext uri="{BB962C8B-B14F-4D97-AF65-F5344CB8AC3E}">
        <p14:creationId xmlns:p14="http://schemas.microsoft.com/office/powerpoint/2010/main" val="39402472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gertjanvandenburg.com/blog/autoencoder/" TargetMode="External"/><Relationship Id="rId2" Type="http://schemas.openxmlformats.org/officeDocument/2006/relationships/slide" Target="../slides/slide4.xml"/><Relationship Id="rId1" Type="http://schemas.openxmlformats.org/officeDocument/2006/relationships/notesMaster" Target="../notesMasters/notesMaster1.xml"/><Relationship Id="rId4" Type="http://schemas.openxmlformats.org/officeDocument/2006/relationships/hyperlink" Target="https://github.com/houxianxu/DFC-VAE" TargetMode="Externa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https://arxiv.org/pdf/1606.05908.pdf</a:t>
            </a:r>
          </a:p>
          <a:p>
            <a:r>
              <a:rPr lang="en-US" dirty="0"/>
              <a:t>https://arxiv.org/pdf/1502.04623.pdf</a:t>
            </a:r>
          </a:p>
          <a:p>
            <a:r>
              <a:rPr lang="en-US" dirty="0"/>
              <a:t>https://arxiv.org/pdf/1602.05473.pdf</a:t>
            </a:r>
          </a:p>
          <a:p>
            <a:r>
              <a:rPr lang="en-US" dirty="0"/>
              <a:t>https://arxiv.org/pdf/1511.06349.pdf</a:t>
            </a:r>
            <a:endParaRPr lang="he-IL" dirty="0"/>
          </a:p>
          <a:p>
            <a:r>
              <a:rPr lang="en-US" dirty="0"/>
              <a:t>http://blog.fastforwardlabs.com/2016/08/12/introducing-variational-autoencoders-in-prose-and.html</a:t>
            </a:r>
          </a:p>
          <a:p>
            <a:r>
              <a:rPr lang="en-US" dirty="0"/>
              <a:t>http://blog.fastforwardlabs.com/2016/08/22/under-the-hood-of-the-variational-autoencoder-in.html</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https://ermongroup.github.io/cs228-notes/extras/vae/</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http://kvfrans.com/variational-autoencoders-explained/</a:t>
            </a:r>
          </a:p>
          <a:p>
            <a:r>
              <a:rPr lang="en-US" dirty="0"/>
              <a:t>https://stats.stackexchange.com/questions/267924/explanation-of-the-free-bits-technique-for-variational-autoencoders</a:t>
            </a:r>
          </a:p>
          <a:p>
            <a:pPr marL="0" marR="0" indent="0" algn="l" defTabSz="914400" rtl="0" eaLnBrk="1" fontAlgn="auto" latinLnBrk="0" hangingPunct="1">
              <a:lnSpc>
                <a:spcPct val="100000"/>
              </a:lnSpc>
              <a:spcBef>
                <a:spcPts val="0"/>
              </a:spcBef>
              <a:spcAft>
                <a:spcPts val="0"/>
              </a:spcAft>
              <a:buClrTx/>
              <a:buSzTx/>
              <a:buFontTx/>
              <a:buNone/>
              <a:tabLst/>
              <a:defRPr/>
            </a:pPr>
            <a:r>
              <a:rPr lang="en-US" b="0" dirty="0"/>
              <a:t>http://szhao.me/</a:t>
            </a:r>
            <a:r>
              <a:rPr lang="en-US" dirty="0"/>
              <a:t>https://www.cs.princeton.edu/courses/archive/spring17/cos598E/Ghassen.pdf</a:t>
            </a:r>
            <a:endParaRPr lang="he-IL" dirty="0"/>
          </a:p>
          <a:p>
            <a:pPr marL="0" marR="0" indent="0" algn="l" defTabSz="914400" rtl="0" eaLnBrk="1" fontAlgn="auto" latinLnBrk="0" hangingPunct="1">
              <a:lnSpc>
                <a:spcPct val="100000"/>
              </a:lnSpc>
              <a:spcBef>
                <a:spcPts val="0"/>
              </a:spcBef>
              <a:spcAft>
                <a:spcPts val="0"/>
              </a:spcAft>
              <a:buClrTx/>
              <a:buSzTx/>
              <a:buFontTx/>
              <a:buNone/>
              <a:tabLst/>
              <a:defRPr/>
            </a:pPr>
            <a:r>
              <a:rPr lang="en-US" b="0" dirty="0"/>
              <a:t>2017/06/10/a-tutorial-on-mmd-variational-autoencoders.html</a:t>
            </a:r>
            <a:endParaRPr lang="en-US" dirty="0"/>
          </a:p>
          <a:p>
            <a:r>
              <a:rPr lang="en-US" dirty="0"/>
              <a:t>https://www.jeremyjordan.me/variational-autoencoders/</a:t>
            </a:r>
          </a:p>
          <a:p>
            <a:r>
              <a:rPr lang="en-US" dirty="0"/>
              <a:t>https://</a:t>
            </a:r>
            <a:r>
              <a:rPr lang="en-US" dirty="0" err="1"/>
              <a:t>harvard-iacs.github.io</a:t>
            </a:r>
            <a:r>
              <a:rPr lang="en-US" dirty="0"/>
              <a:t>/2019-CS109B/pages/lecture19/</a:t>
            </a:r>
            <a:endParaRPr lang="he-IL" dirty="0"/>
          </a:p>
          <a:p>
            <a:endParaRPr lang="he-IL" dirty="0"/>
          </a:p>
          <a:p>
            <a:pPr algn="r" rtl="1"/>
            <a:r>
              <a:rPr lang="he-IL" dirty="0"/>
              <a:t>שקף</a:t>
            </a:r>
            <a:r>
              <a:rPr lang="he-IL" baseline="0" dirty="0"/>
              <a:t> 40 </a:t>
            </a:r>
            <a:r>
              <a:rPr lang="x-none" baseline="0" dirty="0"/>
              <a:t>–</a:t>
            </a:r>
            <a:r>
              <a:rPr lang="he-IL" baseline="0" dirty="0"/>
              <a:t> לבדוק האם בכלל נחוץ</a:t>
            </a:r>
          </a:p>
          <a:p>
            <a:pPr algn="r" rtl="1"/>
            <a:r>
              <a:rPr lang="he-IL" baseline="0" dirty="0"/>
              <a:t>לעשות מעבר ברור יותר אחרי ה</a:t>
            </a:r>
            <a:r>
              <a:rPr lang="en-US" baseline="0" dirty="0"/>
              <a:t>parameterization trick</a:t>
            </a:r>
            <a:endParaRPr lang="he-IL" baseline="0" dirty="0"/>
          </a:p>
          <a:p>
            <a:pPr algn="r" rtl="1"/>
            <a:r>
              <a:rPr lang="he-IL" baseline="0" dirty="0"/>
              <a:t>לבדוק את המתמטיקה ולהוסיף שלבים שיהיה ברור יותר</a:t>
            </a:r>
          </a:p>
          <a:p>
            <a:pPr algn="r" rtl="1"/>
            <a:r>
              <a:rPr lang="he-IL" baseline="0" dirty="0"/>
              <a:t>מה בדיוק </a:t>
            </a:r>
            <a:r>
              <a:rPr lang="en-US" baseline="0" dirty="0"/>
              <a:t>intractable</a:t>
            </a:r>
            <a:r>
              <a:rPr lang="he-IL" baseline="0" dirty="0"/>
              <a:t> </a:t>
            </a:r>
            <a:r>
              <a:rPr lang="x-none" baseline="0" dirty="0"/>
              <a:t>–</a:t>
            </a:r>
            <a:r>
              <a:rPr lang="he-IL" baseline="0" dirty="0"/>
              <a:t> </a:t>
            </a:r>
            <a:r>
              <a:rPr lang="en-US" baseline="0" dirty="0"/>
              <a:t>P(x)</a:t>
            </a:r>
            <a:r>
              <a:rPr lang="he-IL" baseline="0" dirty="0"/>
              <a:t> או </a:t>
            </a:r>
            <a:r>
              <a:rPr lang="en-US" baseline="0" dirty="0"/>
              <a:t>P(</a:t>
            </a:r>
            <a:r>
              <a:rPr lang="en-US" baseline="0" dirty="0" err="1"/>
              <a:t>x|z</a:t>
            </a:r>
            <a:r>
              <a:rPr lang="en-US" baseline="0" dirty="0"/>
              <a:t>)</a:t>
            </a:r>
            <a:r>
              <a:rPr lang="he-IL" baseline="0" dirty="0"/>
              <a:t> או אחרים?</a:t>
            </a:r>
          </a:p>
          <a:p>
            <a:pPr algn="r" rtl="1"/>
            <a:r>
              <a:rPr lang="he-IL" baseline="0" dirty="0"/>
              <a:t>חוסר אחידות </a:t>
            </a:r>
            <a:r>
              <a:rPr lang="x-none" baseline="0" dirty="0"/>
              <a:t>–</a:t>
            </a:r>
            <a:r>
              <a:rPr lang="he-IL" baseline="0" dirty="0"/>
              <a:t> לפעמים </a:t>
            </a:r>
            <a:r>
              <a:rPr lang="en-US" baseline="0" dirty="0"/>
              <a:t>posterior</a:t>
            </a:r>
            <a:r>
              <a:rPr lang="he-IL" baseline="0" dirty="0"/>
              <a:t> ולפעמים </a:t>
            </a:r>
            <a:r>
              <a:rPr lang="en-US" baseline="0" dirty="0"/>
              <a:t>likelihood</a:t>
            </a:r>
            <a:endParaRPr lang="he-IL" baseline="0" dirty="0"/>
          </a:p>
          <a:p>
            <a:pPr algn="r" rtl="1"/>
            <a:r>
              <a:rPr lang="he-IL" baseline="0" dirty="0"/>
              <a:t>לתת דגש על איך אני עושה את ה-</a:t>
            </a:r>
            <a:r>
              <a:rPr lang="en-US" baseline="0" dirty="0"/>
              <a:t>Image Generation</a:t>
            </a:r>
            <a:r>
              <a:rPr lang="he-IL" baseline="0" dirty="0"/>
              <a:t> אחרי הכל</a:t>
            </a:r>
          </a:p>
          <a:p>
            <a:pPr algn="r" rtl="1"/>
            <a:r>
              <a:rPr lang="he-IL" baseline="0" dirty="0"/>
              <a:t>אינטואיציה ל</a:t>
            </a:r>
            <a:r>
              <a:rPr lang="en-US" baseline="0" dirty="0"/>
              <a:t>cross entropy</a:t>
            </a:r>
            <a:r>
              <a:rPr lang="he-IL" baseline="0" dirty="0"/>
              <a:t> </a:t>
            </a:r>
            <a:r>
              <a:rPr lang="x-none" baseline="0" dirty="0"/>
              <a:t>–</a:t>
            </a:r>
            <a:r>
              <a:rPr lang="he-IL" baseline="0" dirty="0"/>
              <a:t> אין וצריך</a:t>
            </a:r>
          </a:p>
          <a:p>
            <a:pPr algn="r" rtl="1"/>
            <a:r>
              <a:rPr lang="he-IL" baseline="0" dirty="0"/>
              <a:t>את האנימציה של </a:t>
            </a:r>
            <a:r>
              <a:rPr lang="en-US" baseline="0" dirty="0"/>
              <a:t>L</a:t>
            </a:r>
            <a:r>
              <a:rPr lang="he-IL" baseline="0" dirty="0"/>
              <a:t> </a:t>
            </a:r>
            <a:r>
              <a:rPr lang="x-none" baseline="0" dirty="0"/>
              <a:t>–</a:t>
            </a:r>
            <a:r>
              <a:rPr lang="he-IL" baseline="0" dirty="0"/>
              <a:t> להבין היטב. מה ה-</a:t>
            </a:r>
            <a:r>
              <a:rPr lang="en-US" baseline="0" dirty="0"/>
              <a:t>KL</a:t>
            </a:r>
            <a:r>
              <a:rPr lang="he-IL" baseline="0" dirty="0"/>
              <a:t> מייצג שם?</a:t>
            </a:r>
          </a:p>
          <a:p>
            <a:pPr algn="r" rtl="1"/>
            <a:endParaRPr lang="he-IL" baseline="0" dirty="0"/>
          </a:p>
        </p:txBody>
      </p:sp>
      <p:sp>
        <p:nvSpPr>
          <p:cNvPr id="4" name="Slide Number Placeholder 3"/>
          <p:cNvSpPr>
            <a:spLocks noGrp="1"/>
          </p:cNvSpPr>
          <p:nvPr>
            <p:ph type="sldNum" sz="quarter" idx="10"/>
          </p:nvPr>
        </p:nvSpPr>
        <p:spPr/>
        <p:txBody>
          <a:bodyPr/>
          <a:lstStyle/>
          <a:p>
            <a:fld id="{EE3995CE-7527-48CD-90CF-756BD35E8097}" type="slidenum">
              <a:rPr lang="he-IL" smtClean="0"/>
              <a:t>1</a:t>
            </a:fld>
            <a:endParaRPr lang="he-IL"/>
          </a:p>
        </p:txBody>
      </p:sp>
    </p:spTree>
    <p:extLst>
      <p:ext uri="{BB962C8B-B14F-4D97-AF65-F5344CB8AC3E}">
        <p14:creationId xmlns:p14="http://schemas.microsoft.com/office/powerpoint/2010/main" val="6490679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he-IL" baseline="0" dirty="0"/>
          </a:p>
        </p:txBody>
      </p:sp>
      <p:sp>
        <p:nvSpPr>
          <p:cNvPr id="4" name="Slide Number Placeholder 3"/>
          <p:cNvSpPr>
            <a:spLocks noGrp="1"/>
          </p:cNvSpPr>
          <p:nvPr>
            <p:ph type="sldNum" sz="quarter" idx="10"/>
          </p:nvPr>
        </p:nvSpPr>
        <p:spPr/>
        <p:txBody>
          <a:bodyPr/>
          <a:lstStyle/>
          <a:p>
            <a:fld id="{EE3995CE-7527-48CD-90CF-756BD35E8097}" type="slidenum">
              <a:rPr lang="he-IL" smtClean="0"/>
              <a:t>2</a:t>
            </a:fld>
            <a:endParaRPr lang="he-IL"/>
          </a:p>
        </p:txBody>
      </p:sp>
    </p:spTree>
    <p:extLst>
      <p:ext uri="{BB962C8B-B14F-4D97-AF65-F5344CB8AC3E}">
        <p14:creationId xmlns:p14="http://schemas.microsoft.com/office/powerpoint/2010/main" val="7267292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3995CE-7527-48CD-90CF-756BD35E8097}" type="slidenum">
              <a:rPr lang="he-IL" smtClean="0"/>
              <a:t>3</a:t>
            </a:fld>
            <a:endParaRPr lang="he-IL"/>
          </a:p>
        </p:txBody>
      </p:sp>
    </p:spTree>
    <p:extLst>
      <p:ext uri="{BB962C8B-B14F-4D97-AF65-F5344CB8AC3E}">
        <p14:creationId xmlns:p14="http://schemas.microsoft.com/office/powerpoint/2010/main" val="30601964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https://gertjanvandenburg.com/blog/autoencoder/</a:t>
            </a:r>
            <a:endParaRPr lang="he-IL" dirty="0"/>
          </a:p>
          <a:p>
            <a:r>
              <a:rPr lang="en-US" dirty="0">
                <a:hlinkClick r:id="rId4"/>
              </a:rPr>
              <a:t>https://github.com/houxianxu/DFC-VAE</a:t>
            </a:r>
            <a:endParaRPr lang="en-US" dirty="0"/>
          </a:p>
        </p:txBody>
      </p:sp>
      <p:sp>
        <p:nvSpPr>
          <p:cNvPr id="4" name="Slide Number Placeholder 3"/>
          <p:cNvSpPr>
            <a:spLocks noGrp="1"/>
          </p:cNvSpPr>
          <p:nvPr>
            <p:ph type="sldNum" sz="quarter" idx="10"/>
          </p:nvPr>
        </p:nvSpPr>
        <p:spPr/>
        <p:txBody>
          <a:bodyPr/>
          <a:lstStyle/>
          <a:p>
            <a:fld id="{EE3995CE-7527-48CD-90CF-756BD35E8097}" type="slidenum">
              <a:rPr lang="he-IL" smtClean="0"/>
              <a:t>4</a:t>
            </a:fld>
            <a:endParaRPr lang="he-IL"/>
          </a:p>
        </p:txBody>
      </p:sp>
    </p:spTree>
    <p:extLst>
      <p:ext uri="{BB962C8B-B14F-4D97-AF65-F5344CB8AC3E}">
        <p14:creationId xmlns:p14="http://schemas.microsoft.com/office/powerpoint/2010/main" val="42655490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3995CE-7527-48CD-90CF-756BD35E8097}" type="slidenum">
              <a:rPr lang="he-IL" smtClean="0"/>
              <a:t>5</a:t>
            </a:fld>
            <a:endParaRPr lang="he-IL"/>
          </a:p>
        </p:txBody>
      </p:sp>
    </p:spTree>
    <p:extLst>
      <p:ext uri="{BB962C8B-B14F-4D97-AF65-F5344CB8AC3E}">
        <p14:creationId xmlns:p14="http://schemas.microsoft.com/office/powerpoint/2010/main" val="42466644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3995CE-7527-48CD-90CF-756BD35E8097}" type="slidenum">
              <a:rPr lang="he-IL" smtClean="0"/>
              <a:t>6</a:t>
            </a:fld>
            <a:endParaRPr lang="he-IL"/>
          </a:p>
        </p:txBody>
      </p:sp>
    </p:spTree>
    <p:extLst>
      <p:ext uri="{BB962C8B-B14F-4D97-AF65-F5344CB8AC3E}">
        <p14:creationId xmlns:p14="http://schemas.microsoft.com/office/powerpoint/2010/main" val="18405285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3995CE-7527-48CD-90CF-756BD35E8097}" type="slidenum">
              <a:rPr lang="he-IL" smtClean="0"/>
              <a:t>7</a:t>
            </a:fld>
            <a:endParaRPr lang="he-IL"/>
          </a:p>
        </p:txBody>
      </p:sp>
    </p:spTree>
    <p:extLst>
      <p:ext uri="{BB962C8B-B14F-4D97-AF65-F5344CB8AC3E}">
        <p14:creationId xmlns:p14="http://schemas.microsoft.com/office/powerpoint/2010/main" val="1195238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10"/>
          </p:nvPr>
        </p:nvSpPr>
        <p:spPr/>
        <p:txBody>
          <a:bodyPr/>
          <a:lstStyle/>
          <a:p>
            <a:fld id="{EE3995CE-7527-48CD-90CF-756BD35E8097}" type="slidenum">
              <a:rPr lang="he-IL" smtClean="0"/>
              <a:t>8</a:t>
            </a:fld>
            <a:endParaRPr lang="he-IL"/>
          </a:p>
        </p:txBody>
      </p:sp>
    </p:spTree>
    <p:extLst>
      <p:ext uri="{BB962C8B-B14F-4D97-AF65-F5344CB8AC3E}">
        <p14:creationId xmlns:p14="http://schemas.microsoft.com/office/powerpoint/2010/main" val="23706975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10"/>
          </p:nvPr>
        </p:nvSpPr>
        <p:spPr/>
        <p:txBody>
          <a:bodyPr/>
          <a:lstStyle/>
          <a:p>
            <a:fld id="{EE3995CE-7527-48CD-90CF-756BD35E8097}" type="slidenum">
              <a:rPr lang="he-IL" smtClean="0"/>
              <a:t>9</a:t>
            </a:fld>
            <a:endParaRPr lang="he-IL"/>
          </a:p>
        </p:txBody>
      </p:sp>
    </p:spTree>
    <p:extLst>
      <p:ext uri="{BB962C8B-B14F-4D97-AF65-F5344CB8AC3E}">
        <p14:creationId xmlns:p14="http://schemas.microsoft.com/office/powerpoint/2010/main" val="332339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3995CE-7527-48CD-90CF-756BD35E8097}" type="slidenum">
              <a:rPr lang="he-IL" smtClean="0"/>
              <a:t>10</a:t>
            </a:fld>
            <a:endParaRPr lang="he-IL"/>
          </a:p>
        </p:txBody>
      </p:sp>
    </p:spTree>
    <p:extLst>
      <p:ext uri="{BB962C8B-B14F-4D97-AF65-F5344CB8AC3E}">
        <p14:creationId xmlns:p14="http://schemas.microsoft.com/office/powerpoint/2010/main" val="2698423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3995CE-7527-48CD-90CF-756BD35E8097}" type="slidenum">
              <a:rPr lang="he-IL" smtClean="0"/>
              <a:t>11</a:t>
            </a:fld>
            <a:endParaRPr lang="he-IL"/>
          </a:p>
        </p:txBody>
      </p:sp>
    </p:spTree>
    <p:extLst>
      <p:ext uri="{BB962C8B-B14F-4D97-AF65-F5344CB8AC3E}">
        <p14:creationId xmlns:p14="http://schemas.microsoft.com/office/powerpoint/2010/main" val="35206580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10"/>
          </p:nvPr>
        </p:nvSpPr>
        <p:spPr/>
        <p:txBody>
          <a:bodyPr/>
          <a:lstStyle/>
          <a:p>
            <a:fld id="{EE3995CE-7527-48CD-90CF-756BD35E8097}" type="slidenum">
              <a:rPr lang="he-IL" smtClean="0"/>
              <a:t>12</a:t>
            </a:fld>
            <a:endParaRPr lang="he-IL"/>
          </a:p>
        </p:txBody>
      </p:sp>
    </p:spTree>
    <p:extLst>
      <p:ext uri="{BB962C8B-B14F-4D97-AF65-F5344CB8AC3E}">
        <p14:creationId xmlns:p14="http://schemas.microsoft.com/office/powerpoint/2010/main" val="41731559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http://circuit.ucsd.edu/~yhk/ece287a-win08/shannon1948.pdf </a:t>
            </a:r>
            <a:r>
              <a:rPr lang="x-none" dirty="0"/>
              <a:t>–</a:t>
            </a:r>
            <a:r>
              <a:rPr lang="en-US" dirty="0"/>
              <a:t> Appendix</a:t>
            </a:r>
            <a:r>
              <a:rPr lang="en-US" baseline="0" dirty="0"/>
              <a:t> II contains the derivation of Entropy and the proof that the current form is the only possible function that satisfies the requirements above.</a:t>
            </a:r>
            <a:endParaRPr lang="en-US" dirty="0"/>
          </a:p>
        </p:txBody>
      </p:sp>
      <p:sp>
        <p:nvSpPr>
          <p:cNvPr id="4" name="Slide Number Placeholder 3"/>
          <p:cNvSpPr>
            <a:spLocks noGrp="1"/>
          </p:cNvSpPr>
          <p:nvPr>
            <p:ph type="sldNum" sz="quarter" idx="10"/>
          </p:nvPr>
        </p:nvSpPr>
        <p:spPr/>
        <p:txBody>
          <a:bodyPr/>
          <a:lstStyle/>
          <a:p>
            <a:fld id="{EE3995CE-7527-48CD-90CF-756BD35E8097}" type="slidenum">
              <a:rPr lang="he-IL" smtClean="0"/>
              <a:t>13</a:t>
            </a:fld>
            <a:endParaRPr lang="he-IL"/>
          </a:p>
        </p:txBody>
      </p:sp>
    </p:spTree>
    <p:extLst>
      <p:ext uri="{BB962C8B-B14F-4D97-AF65-F5344CB8AC3E}">
        <p14:creationId xmlns:p14="http://schemas.microsoft.com/office/powerpoint/2010/main" val="28188967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3995CE-7527-48CD-90CF-756BD35E8097}" type="slidenum">
              <a:rPr lang="he-IL" smtClean="0"/>
              <a:t>14</a:t>
            </a:fld>
            <a:endParaRPr lang="he-IL"/>
          </a:p>
        </p:txBody>
      </p:sp>
    </p:spTree>
    <p:extLst>
      <p:ext uri="{BB962C8B-B14F-4D97-AF65-F5344CB8AC3E}">
        <p14:creationId xmlns:p14="http://schemas.microsoft.com/office/powerpoint/2010/main" val="2866361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a:t>
            </a:r>
            <a:r>
              <a:rPr lang="en-US" baseline="0" dirty="0"/>
              <a:t> equality holds since the both p and q have the same 2</a:t>
            </a:r>
            <a:r>
              <a:rPr lang="en-US" baseline="30000" dirty="0"/>
              <a:t>nd</a:t>
            </a:r>
            <a:r>
              <a:rPr lang="en-US" baseline="0" dirty="0"/>
              <a:t> order moments. This can be shown by taking into account that the log of the Gaussian p is a quadratic function of x with no linear terms (zero mean) and by evaluating the integral of (q-p)*log(p) and deriving that it is identically zero.</a:t>
            </a:r>
            <a:endParaRPr lang="en-US" dirty="0"/>
          </a:p>
        </p:txBody>
      </p:sp>
      <p:sp>
        <p:nvSpPr>
          <p:cNvPr id="4" name="Slide Number Placeholder 3"/>
          <p:cNvSpPr>
            <a:spLocks noGrp="1"/>
          </p:cNvSpPr>
          <p:nvPr>
            <p:ph type="sldNum" sz="quarter" idx="10"/>
          </p:nvPr>
        </p:nvSpPr>
        <p:spPr/>
        <p:txBody>
          <a:bodyPr/>
          <a:lstStyle/>
          <a:p>
            <a:fld id="{EE3995CE-7527-48CD-90CF-756BD35E8097}" type="slidenum">
              <a:rPr lang="he-IL" smtClean="0"/>
              <a:t>15</a:t>
            </a:fld>
            <a:endParaRPr lang="he-IL"/>
          </a:p>
        </p:txBody>
      </p:sp>
    </p:spTree>
    <p:extLst>
      <p:ext uri="{BB962C8B-B14F-4D97-AF65-F5344CB8AC3E}">
        <p14:creationId xmlns:p14="http://schemas.microsoft.com/office/powerpoint/2010/main" val="9321882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a:t>The cross-entropy can be interpreted as the</a:t>
            </a:r>
            <a:r>
              <a:rPr lang="en-US" baseline="0" dirty="0"/>
              <a:t> number of bits per message needed (on average) to encode events drawn from true distribution p, if using an optimal code for distribution q.</a:t>
            </a:r>
          </a:p>
          <a:p>
            <a:pPr algn="l" rtl="0"/>
            <a:r>
              <a:rPr lang="en-US" baseline="0" dirty="0"/>
              <a:t>KL-Divergence measures the average number of EXTRA bits per message whereas the cross entropy measures the average number of TOTAL bits per message.</a:t>
            </a:r>
            <a:endParaRPr lang="he-IL" dirty="0"/>
          </a:p>
        </p:txBody>
      </p:sp>
      <p:sp>
        <p:nvSpPr>
          <p:cNvPr id="4" name="Slide Number Placeholder 3"/>
          <p:cNvSpPr>
            <a:spLocks noGrp="1"/>
          </p:cNvSpPr>
          <p:nvPr>
            <p:ph type="sldNum" sz="quarter" idx="10"/>
          </p:nvPr>
        </p:nvSpPr>
        <p:spPr/>
        <p:txBody>
          <a:bodyPr/>
          <a:lstStyle/>
          <a:p>
            <a:fld id="{EE3995CE-7527-48CD-90CF-756BD35E8097}" type="slidenum">
              <a:rPr lang="he-IL" smtClean="0"/>
              <a:t>16</a:t>
            </a:fld>
            <a:endParaRPr lang="he-IL"/>
          </a:p>
        </p:txBody>
      </p:sp>
    </p:spTree>
    <p:extLst>
      <p:ext uri="{BB962C8B-B14F-4D97-AF65-F5344CB8AC3E}">
        <p14:creationId xmlns:p14="http://schemas.microsoft.com/office/powerpoint/2010/main" val="26168993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3995CE-7527-48CD-90CF-756BD35E8097}" type="slidenum">
              <a:rPr lang="he-IL" smtClean="0"/>
              <a:t>18</a:t>
            </a:fld>
            <a:endParaRPr lang="he-IL"/>
          </a:p>
        </p:txBody>
      </p:sp>
    </p:spTree>
    <p:extLst>
      <p:ext uri="{BB962C8B-B14F-4D97-AF65-F5344CB8AC3E}">
        <p14:creationId xmlns:p14="http://schemas.microsoft.com/office/powerpoint/2010/main" val="33011465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https://arxiv.org/pdf/1606.05908.pdf</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http://kvfrans.com/variational-autoencoders-explained/</a:t>
            </a:r>
            <a:endParaRPr lang="he-IL" dirty="0"/>
          </a:p>
          <a:p>
            <a:r>
              <a:rPr lang="en-US" dirty="0"/>
              <a:t>http://szhao.me/2017/06/10/a-tutorial-on-mmd-variational-autoencoders.html</a:t>
            </a:r>
          </a:p>
          <a:p>
            <a:r>
              <a:rPr lang="en-US" dirty="0"/>
              <a:t>http://blog.fastforwardlabs.com/2016/08/12/introducing-variational-autoencoders-in-prose-and.html</a:t>
            </a:r>
          </a:p>
          <a:p>
            <a:r>
              <a:rPr lang="en-US" dirty="0"/>
              <a:t>http://blog.fastforwardlabs.com/2016/08/22/under-the-hood-of-the-variational-autoencoder-in.html</a:t>
            </a:r>
          </a:p>
          <a:p>
            <a:r>
              <a:rPr lang="en-US" dirty="0"/>
              <a:t>https://stats.stackexchange.com/questions/267924/explanation-of-the-free-bits-technique-for-variational-autoencoders</a:t>
            </a:r>
          </a:p>
          <a:p>
            <a:r>
              <a:rPr lang="en-US" dirty="0"/>
              <a:t>https://www.cs.princeton.edu/courses/archive/spring17/cos598E/Ghassen.pdf</a:t>
            </a:r>
            <a:endParaRPr lang="he-IL" dirty="0"/>
          </a:p>
          <a:p>
            <a:r>
              <a:rPr lang="en-US" dirty="0"/>
              <a:t>https://arxiv.org/pdf/1502.04623.pdf</a:t>
            </a:r>
          </a:p>
          <a:p>
            <a:r>
              <a:rPr lang="en-US" dirty="0"/>
              <a:t>https://arxiv.org/pdf/1602.05473.pdf</a:t>
            </a:r>
          </a:p>
          <a:p>
            <a:r>
              <a:rPr lang="en-US" dirty="0"/>
              <a:t>https://arxiv.org/pdf/1511.06349.pdf</a:t>
            </a:r>
            <a:endParaRPr lang="he-IL" dirty="0"/>
          </a:p>
          <a:p>
            <a:r>
              <a:rPr lang="en-US" dirty="0"/>
              <a:t>https://www.jeremyjordan.me/variational-autoencoders/</a:t>
            </a:r>
          </a:p>
          <a:p>
            <a:r>
              <a:rPr lang="en-US" dirty="0"/>
              <a:t>https://ermongroup.github.io/cs228-notes/extras/vae/</a:t>
            </a:r>
            <a:endParaRPr lang="he-IL" dirty="0"/>
          </a:p>
        </p:txBody>
      </p:sp>
      <p:sp>
        <p:nvSpPr>
          <p:cNvPr id="4" name="Slide Number Placeholder 3"/>
          <p:cNvSpPr>
            <a:spLocks noGrp="1"/>
          </p:cNvSpPr>
          <p:nvPr>
            <p:ph type="sldNum" sz="quarter" idx="10"/>
          </p:nvPr>
        </p:nvSpPr>
        <p:spPr/>
        <p:txBody>
          <a:bodyPr/>
          <a:lstStyle/>
          <a:p>
            <a:fld id="{EE3995CE-7527-48CD-90CF-756BD35E8097}" type="slidenum">
              <a:rPr lang="he-IL" smtClean="0"/>
              <a:t>19</a:t>
            </a:fld>
            <a:endParaRPr lang="he-IL"/>
          </a:p>
        </p:txBody>
      </p:sp>
    </p:spTree>
    <p:extLst>
      <p:ext uri="{BB962C8B-B14F-4D97-AF65-F5344CB8AC3E}">
        <p14:creationId xmlns:p14="http://schemas.microsoft.com/office/powerpoint/2010/main" val="29986303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https://</a:t>
            </a:r>
            <a:r>
              <a:rPr lang="en-US" u="sng" dirty="0"/>
              <a:t>distill.pub/2017/aia</a:t>
            </a:r>
          </a:p>
          <a:p>
            <a:endParaRPr lang="en-US" dirty="0"/>
          </a:p>
        </p:txBody>
      </p:sp>
      <p:sp>
        <p:nvSpPr>
          <p:cNvPr id="4" name="Slide Number Placeholder 3"/>
          <p:cNvSpPr>
            <a:spLocks noGrp="1"/>
          </p:cNvSpPr>
          <p:nvPr>
            <p:ph type="sldNum" sz="quarter" idx="10"/>
          </p:nvPr>
        </p:nvSpPr>
        <p:spPr/>
        <p:txBody>
          <a:bodyPr/>
          <a:lstStyle/>
          <a:p>
            <a:fld id="{EE3995CE-7527-48CD-90CF-756BD35E8097}" type="slidenum">
              <a:rPr lang="he-IL" smtClean="0"/>
              <a:t>20</a:t>
            </a:fld>
            <a:endParaRPr lang="he-IL"/>
          </a:p>
        </p:txBody>
      </p:sp>
    </p:spTree>
    <p:extLst>
      <p:ext uri="{BB962C8B-B14F-4D97-AF65-F5344CB8AC3E}">
        <p14:creationId xmlns:p14="http://schemas.microsoft.com/office/powerpoint/2010/main" val="31199213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exponential family distributions have concave</a:t>
            </a:r>
            <a:r>
              <a:rPr lang="en-US" baseline="0" dirty="0"/>
              <a:t> log-likelihoods. However, a weighted mixture of such distributions is no longer concave</a:t>
            </a:r>
            <a:endParaRPr lang="en-US" dirty="0"/>
          </a:p>
        </p:txBody>
      </p:sp>
      <p:sp>
        <p:nvSpPr>
          <p:cNvPr id="4" name="Slide Number Placeholder 3"/>
          <p:cNvSpPr>
            <a:spLocks noGrp="1"/>
          </p:cNvSpPr>
          <p:nvPr>
            <p:ph type="sldNum" sz="quarter" idx="10"/>
          </p:nvPr>
        </p:nvSpPr>
        <p:spPr/>
        <p:txBody>
          <a:bodyPr/>
          <a:lstStyle/>
          <a:p>
            <a:fld id="{EE3995CE-7527-48CD-90CF-756BD35E8097}" type="slidenum">
              <a:rPr lang="he-IL" smtClean="0"/>
              <a:t>22</a:t>
            </a:fld>
            <a:endParaRPr lang="he-IL"/>
          </a:p>
        </p:txBody>
      </p:sp>
    </p:spTree>
    <p:extLst>
      <p:ext uri="{BB962C8B-B14F-4D97-AF65-F5344CB8AC3E}">
        <p14:creationId xmlns:p14="http://schemas.microsoft.com/office/powerpoint/2010/main" val="24623373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3995CE-7527-48CD-90CF-756BD35E8097}" type="slidenum">
              <a:rPr lang="he-IL" smtClean="0"/>
              <a:t>23</a:t>
            </a:fld>
            <a:endParaRPr lang="he-IL"/>
          </a:p>
        </p:txBody>
      </p:sp>
    </p:spTree>
    <p:extLst>
      <p:ext uri="{BB962C8B-B14F-4D97-AF65-F5344CB8AC3E}">
        <p14:creationId xmlns:p14="http://schemas.microsoft.com/office/powerpoint/2010/main" val="39246174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https://arxiv.org/pdf/1606.05908.pdf</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http://kvfrans.com/variational-autoencoders-explained/</a:t>
            </a:r>
            <a:endParaRPr lang="he-IL" dirty="0"/>
          </a:p>
          <a:p>
            <a:r>
              <a:rPr lang="en-US" dirty="0"/>
              <a:t>http://szhao.me/2017/06/10/a-tutorial-on-mmd-variational-autoencoders.html</a:t>
            </a:r>
          </a:p>
          <a:p>
            <a:r>
              <a:rPr lang="en-US" dirty="0"/>
              <a:t>http://blog.fastforwardlabs.com/2016/08/12/introducing-variational-autoencoders-in-prose-and.html</a:t>
            </a:r>
          </a:p>
          <a:p>
            <a:r>
              <a:rPr lang="en-US" dirty="0"/>
              <a:t>http://blog.fastforwardlabs.com/2016/08/22/under-the-hood-of-the-variational-autoencoder-in.html</a:t>
            </a:r>
          </a:p>
          <a:p>
            <a:r>
              <a:rPr lang="en-US" dirty="0"/>
              <a:t>https://stats.stackexchange.com/questions/267924/explanation-of-the-free-bits-technique-for-variational-autoencoders</a:t>
            </a:r>
          </a:p>
          <a:p>
            <a:r>
              <a:rPr lang="en-US" dirty="0"/>
              <a:t>https://www.cs.princeton.edu/courses/archive/spring17/cos598E/Ghassen.pdf</a:t>
            </a:r>
            <a:endParaRPr lang="he-IL" dirty="0"/>
          </a:p>
          <a:p>
            <a:r>
              <a:rPr lang="en-US" dirty="0"/>
              <a:t>https://arxiv.org/pdf/1502.04623.pdf</a:t>
            </a:r>
          </a:p>
          <a:p>
            <a:r>
              <a:rPr lang="en-US" dirty="0"/>
              <a:t>https://arxiv.org/pdf/1602.05473.pdf</a:t>
            </a:r>
          </a:p>
          <a:p>
            <a:r>
              <a:rPr lang="en-US" dirty="0"/>
              <a:t>https://arxiv.org/pdf/1511.06349.pdf</a:t>
            </a:r>
            <a:endParaRPr lang="he-IL" dirty="0"/>
          </a:p>
          <a:p>
            <a:r>
              <a:rPr lang="en-US" dirty="0"/>
              <a:t>https://www.jeremyjordan.me/variational-autoencoders/</a:t>
            </a:r>
          </a:p>
          <a:p>
            <a:r>
              <a:rPr lang="en-US" dirty="0"/>
              <a:t>https://ermongroup.github.io/cs228-notes/extras/vae/</a:t>
            </a:r>
            <a:endParaRPr lang="he-IL" dirty="0"/>
          </a:p>
        </p:txBody>
      </p:sp>
      <p:sp>
        <p:nvSpPr>
          <p:cNvPr id="4" name="Slide Number Placeholder 3"/>
          <p:cNvSpPr>
            <a:spLocks noGrp="1"/>
          </p:cNvSpPr>
          <p:nvPr>
            <p:ph type="sldNum" sz="quarter" idx="10"/>
          </p:nvPr>
        </p:nvSpPr>
        <p:spPr/>
        <p:txBody>
          <a:bodyPr/>
          <a:lstStyle/>
          <a:p>
            <a:fld id="{EE3995CE-7527-48CD-90CF-756BD35E8097}" type="slidenum">
              <a:rPr lang="he-IL" smtClean="0"/>
              <a:t>24</a:t>
            </a:fld>
            <a:endParaRPr lang="he-IL"/>
          </a:p>
        </p:txBody>
      </p:sp>
    </p:spTree>
    <p:extLst>
      <p:ext uri="{BB962C8B-B14F-4D97-AF65-F5344CB8AC3E}">
        <p14:creationId xmlns:p14="http://schemas.microsoft.com/office/powerpoint/2010/main" val="460739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10"/>
          </p:nvPr>
        </p:nvSpPr>
        <p:spPr/>
        <p:txBody>
          <a:bodyPr/>
          <a:lstStyle/>
          <a:p>
            <a:fld id="{EE3995CE-7527-48CD-90CF-756BD35E8097}" type="slidenum">
              <a:rPr lang="he-IL" smtClean="0"/>
              <a:t>25</a:t>
            </a:fld>
            <a:endParaRPr lang="he-IL"/>
          </a:p>
        </p:txBody>
      </p:sp>
    </p:spTree>
    <p:extLst>
      <p:ext uri="{BB962C8B-B14F-4D97-AF65-F5344CB8AC3E}">
        <p14:creationId xmlns:p14="http://schemas.microsoft.com/office/powerpoint/2010/main" val="7049118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D887189-9274-814D-9CD5-CBA9E19E06C7}" type="slidenum">
              <a:rPr lang="en-US" smtClean="0"/>
              <a:t>28</a:t>
            </a:fld>
            <a:endParaRPr lang="en-US"/>
          </a:p>
        </p:txBody>
      </p:sp>
    </p:spTree>
    <p:extLst>
      <p:ext uri="{BB962C8B-B14F-4D97-AF65-F5344CB8AC3E}">
        <p14:creationId xmlns:p14="http://schemas.microsoft.com/office/powerpoint/2010/main" val="41884332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D887189-9274-814D-9CD5-CBA9E19E06C7}" type="slidenum">
              <a:rPr lang="en-US" smtClean="0"/>
              <a:t>29</a:t>
            </a:fld>
            <a:endParaRPr lang="en-US"/>
          </a:p>
        </p:txBody>
      </p:sp>
    </p:spTree>
    <p:extLst>
      <p:ext uri="{BB962C8B-B14F-4D97-AF65-F5344CB8AC3E}">
        <p14:creationId xmlns:p14="http://schemas.microsoft.com/office/powerpoint/2010/main" val="14929071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D887189-9274-814D-9CD5-CBA9E19E06C7}" type="slidenum">
              <a:rPr lang="en-US" smtClean="0"/>
              <a:t>30</a:t>
            </a:fld>
            <a:endParaRPr lang="en-US"/>
          </a:p>
        </p:txBody>
      </p:sp>
    </p:spTree>
    <p:extLst>
      <p:ext uri="{BB962C8B-B14F-4D97-AF65-F5344CB8AC3E}">
        <p14:creationId xmlns:p14="http://schemas.microsoft.com/office/powerpoint/2010/main" val="173784395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D887189-9274-814D-9CD5-CBA9E19E06C7}" type="slidenum">
              <a:rPr lang="en-US" smtClean="0"/>
              <a:t>31</a:t>
            </a:fld>
            <a:endParaRPr lang="en-US"/>
          </a:p>
        </p:txBody>
      </p:sp>
    </p:spTree>
    <p:extLst>
      <p:ext uri="{BB962C8B-B14F-4D97-AF65-F5344CB8AC3E}">
        <p14:creationId xmlns:p14="http://schemas.microsoft.com/office/powerpoint/2010/main" val="17733162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3995CE-7527-48CD-90CF-756BD35E8097}" type="slidenum">
              <a:rPr lang="he-IL" smtClean="0"/>
              <a:t>54</a:t>
            </a:fld>
            <a:endParaRPr lang="he-IL"/>
          </a:p>
        </p:txBody>
      </p:sp>
    </p:spTree>
    <p:extLst>
      <p:ext uri="{BB962C8B-B14F-4D97-AF65-F5344CB8AC3E}">
        <p14:creationId xmlns:p14="http://schemas.microsoft.com/office/powerpoint/2010/main" val="163137178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a:t>
            </a:r>
            <a:r>
              <a:rPr lang="en-US" baseline="0" dirty="0"/>
              <a:t> this does not help us at all. This expression requires us to compute the evidence and the posterior which was the reason we started this journey in the first place. </a:t>
            </a:r>
          </a:p>
          <a:p>
            <a:endParaRPr lang="en-US" baseline="0" dirty="0"/>
          </a:p>
          <a:p>
            <a:r>
              <a:rPr lang="en-US" dirty="0"/>
              <a:t>However,</a:t>
            </a:r>
            <a:r>
              <a:rPr lang="en-US" baseline="0" dirty="0"/>
              <a:t> if we could by some miracle maximize the Evidence Lower Bound (Spoiler Alert), we could make progress.</a:t>
            </a:r>
            <a:endParaRPr lang="he-IL" dirty="0"/>
          </a:p>
        </p:txBody>
      </p:sp>
      <p:sp>
        <p:nvSpPr>
          <p:cNvPr id="4" name="Slide Number Placeholder 3"/>
          <p:cNvSpPr>
            <a:spLocks noGrp="1"/>
          </p:cNvSpPr>
          <p:nvPr>
            <p:ph type="sldNum" sz="quarter" idx="10"/>
          </p:nvPr>
        </p:nvSpPr>
        <p:spPr/>
        <p:txBody>
          <a:bodyPr/>
          <a:lstStyle/>
          <a:p>
            <a:fld id="{EE3995CE-7527-48CD-90CF-756BD35E8097}" type="slidenum">
              <a:rPr lang="he-IL" smtClean="0"/>
              <a:t>55</a:t>
            </a:fld>
            <a:endParaRPr lang="he-IL"/>
          </a:p>
        </p:txBody>
      </p:sp>
    </p:spTree>
    <p:extLst>
      <p:ext uri="{BB962C8B-B14F-4D97-AF65-F5344CB8AC3E}">
        <p14:creationId xmlns:p14="http://schemas.microsoft.com/office/powerpoint/2010/main" val="274811392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3995CE-7527-48CD-90CF-756BD35E8097}" type="slidenum">
              <a:rPr lang="he-IL" smtClean="0"/>
              <a:t>56</a:t>
            </a:fld>
            <a:endParaRPr lang="he-IL"/>
          </a:p>
        </p:txBody>
      </p:sp>
    </p:spTree>
    <p:extLst>
      <p:ext uri="{BB962C8B-B14F-4D97-AF65-F5344CB8AC3E}">
        <p14:creationId xmlns:p14="http://schemas.microsoft.com/office/powerpoint/2010/main" val="358531368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3995CE-7527-48CD-90CF-756BD35E8097}" type="slidenum">
              <a:rPr lang="he-IL" smtClean="0"/>
              <a:t>57</a:t>
            </a:fld>
            <a:endParaRPr lang="he-IL"/>
          </a:p>
        </p:txBody>
      </p:sp>
    </p:spTree>
    <p:extLst>
      <p:ext uri="{BB962C8B-B14F-4D97-AF65-F5344CB8AC3E}">
        <p14:creationId xmlns:p14="http://schemas.microsoft.com/office/powerpoint/2010/main" val="276558433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3995CE-7527-48CD-90CF-756BD35E8097}" type="slidenum">
              <a:rPr lang="he-IL" smtClean="0"/>
              <a:t>58</a:t>
            </a:fld>
            <a:endParaRPr lang="he-IL"/>
          </a:p>
        </p:txBody>
      </p:sp>
    </p:spTree>
    <p:extLst>
      <p:ext uri="{BB962C8B-B14F-4D97-AF65-F5344CB8AC3E}">
        <p14:creationId xmlns:p14="http://schemas.microsoft.com/office/powerpoint/2010/main" val="181794843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r>
              <a:rPr lang="en-US" dirty="0"/>
              <a:t>The</a:t>
            </a:r>
            <a:r>
              <a:rPr lang="en-US" baseline="0" dirty="0"/>
              <a:t> top has the quantity we want to maximize: P and an error we hope will be small (since we produce a high capacity Q) The right hand size will be optimized via SGD </a:t>
            </a:r>
            <a:endParaRPr lang="en-US" dirty="0"/>
          </a:p>
          <a:p>
            <a:pPr algn="l" rtl="0"/>
            <a:endParaRPr lang="en-US" baseline="0" dirty="0"/>
          </a:p>
          <a:p>
            <a:pPr algn="l" rtl="0"/>
            <a:r>
              <a:rPr lang="en-US" baseline="0" dirty="0"/>
              <a:t>Log(p(x)) is independent of z and the original intractable KL divergence is \</a:t>
            </a:r>
            <a:r>
              <a:rPr lang="en-US" baseline="0" dirty="0" err="1"/>
              <a:t>ge</a:t>
            </a:r>
            <a:r>
              <a:rPr lang="en-US" baseline="0" dirty="0"/>
              <a:t> 0, thus we can instead argue that we want to maximize L.</a:t>
            </a:r>
          </a:p>
          <a:p>
            <a:pPr algn="l" rtl="0"/>
            <a:endParaRPr lang="en-US" baseline="0" dirty="0"/>
          </a:p>
          <a:p>
            <a:pPr algn="l" rtl="0"/>
            <a:r>
              <a:rPr lang="en-US" baseline="0" dirty="0"/>
              <a:t>We can also look at log(p(x)) as the total number of bits required to construct x under our model using an ideal encoding. </a:t>
            </a:r>
            <a:endParaRPr lang="he-IL" baseline="0" dirty="0"/>
          </a:p>
          <a:p>
            <a:pPr algn="l" rtl="0"/>
            <a:endParaRPr lang="he-IL" baseline="0" dirty="0"/>
          </a:p>
          <a:p>
            <a:pPr algn="l" rtl="0"/>
            <a:r>
              <a:rPr lang="en-US" baseline="0" dirty="0"/>
              <a:t>We use some bits to construct z, and the left KL divergence tells us how much bits we used, because we assumed that any z from P(z) has no information about x. </a:t>
            </a:r>
          </a:p>
          <a:p>
            <a:pPr algn="l" rtl="0"/>
            <a:r>
              <a:rPr lang="en-US" baseline="0" dirty="0"/>
              <a:t>Thus, the total number of bits is the sum of those two steps (reconstruction sampling from p(z)) minus a penalty we pay for q being sub-optimal.</a:t>
            </a:r>
          </a:p>
        </p:txBody>
      </p:sp>
      <p:sp>
        <p:nvSpPr>
          <p:cNvPr id="4" name="Slide Number Placeholder 3"/>
          <p:cNvSpPr>
            <a:spLocks noGrp="1"/>
          </p:cNvSpPr>
          <p:nvPr>
            <p:ph type="sldNum" sz="quarter" idx="10"/>
          </p:nvPr>
        </p:nvSpPr>
        <p:spPr/>
        <p:txBody>
          <a:bodyPr/>
          <a:lstStyle/>
          <a:p>
            <a:fld id="{EE3995CE-7527-48CD-90CF-756BD35E8097}" type="slidenum">
              <a:rPr lang="he-IL" smtClean="0"/>
              <a:t>59</a:t>
            </a:fld>
            <a:endParaRPr lang="he-IL"/>
          </a:p>
        </p:txBody>
      </p:sp>
    </p:spTree>
    <p:extLst>
      <p:ext uri="{BB962C8B-B14F-4D97-AF65-F5344CB8AC3E}">
        <p14:creationId xmlns:p14="http://schemas.microsoft.com/office/powerpoint/2010/main" val="406735040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10"/>
          </p:nvPr>
        </p:nvSpPr>
        <p:spPr/>
        <p:txBody>
          <a:bodyPr/>
          <a:lstStyle/>
          <a:p>
            <a:fld id="{EE3995CE-7527-48CD-90CF-756BD35E8097}" type="slidenum">
              <a:rPr lang="he-IL" smtClean="0"/>
              <a:t>60</a:t>
            </a:fld>
            <a:endParaRPr lang="he-IL"/>
          </a:p>
        </p:txBody>
      </p:sp>
    </p:spTree>
    <p:extLst>
      <p:ext uri="{BB962C8B-B14F-4D97-AF65-F5344CB8AC3E}">
        <p14:creationId xmlns:p14="http://schemas.microsoft.com/office/powerpoint/2010/main" val="177718661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https://arxiv.org/pdf/1606.05908.pdf</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http://kvfrans.com/variational-autoencoders-explained/</a:t>
            </a:r>
            <a:endParaRPr lang="he-IL" dirty="0"/>
          </a:p>
          <a:p>
            <a:r>
              <a:rPr lang="en-US" dirty="0"/>
              <a:t>http://szhao.me/2017/06/10/a-tutorial-on-mmd-variational-autoencoders.html</a:t>
            </a:r>
          </a:p>
          <a:p>
            <a:r>
              <a:rPr lang="en-US" dirty="0"/>
              <a:t>http://blog.fastforwardlabs.com/2016/08/12/introducing-variational-autoencoders-in-prose-and.html</a:t>
            </a:r>
          </a:p>
          <a:p>
            <a:r>
              <a:rPr lang="en-US" dirty="0"/>
              <a:t>http://blog.fastforwardlabs.com/2016/08/22/under-the-hood-of-the-variational-autoencoder-in.html</a:t>
            </a:r>
          </a:p>
          <a:p>
            <a:r>
              <a:rPr lang="en-US" dirty="0"/>
              <a:t>https://stats.stackexchange.com/questions/267924/explanation-of-the-free-bits-technique-for-variational-autoencoders</a:t>
            </a:r>
          </a:p>
          <a:p>
            <a:r>
              <a:rPr lang="en-US" dirty="0"/>
              <a:t>https://www.cs.princeton.edu/courses/archive/spring17/cos598E/Ghassen.pdf</a:t>
            </a:r>
            <a:endParaRPr lang="he-IL" dirty="0"/>
          </a:p>
          <a:p>
            <a:r>
              <a:rPr lang="en-US" dirty="0"/>
              <a:t>https://arxiv.org/pdf/1502.04623.pdf</a:t>
            </a:r>
          </a:p>
          <a:p>
            <a:r>
              <a:rPr lang="en-US" dirty="0"/>
              <a:t>https://arxiv.org/pdf/1602.05473.pdf</a:t>
            </a:r>
          </a:p>
          <a:p>
            <a:r>
              <a:rPr lang="en-US" dirty="0"/>
              <a:t>https://arxiv.org/pdf/1511.06349.pdf</a:t>
            </a:r>
            <a:endParaRPr lang="he-IL" dirty="0"/>
          </a:p>
          <a:p>
            <a:r>
              <a:rPr lang="en-US" dirty="0"/>
              <a:t>https://www.jeremyjordan.me/variational-autoencoders/</a:t>
            </a:r>
          </a:p>
          <a:p>
            <a:r>
              <a:rPr lang="en-US" dirty="0"/>
              <a:t>https://ermongroup.github.io/cs228-notes/extras/vae/</a:t>
            </a:r>
            <a:endParaRPr lang="he-IL" dirty="0"/>
          </a:p>
        </p:txBody>
      </p:sp>
      <p:sp>
        <p:nvSpPr>
          <p:cNvPr id="4" name="Slide Number Placeholder 3"/>
          <p:cNvSpPr>
            <a:spLocks noGrp="1"/>
          </p:cNvSpPr>
          <p:nvPr>
            <p:ph type="sldNum" sz="quarter" idx="10"/>
          </p:nvPr>
        </p:nvSpPr>
        <p:spPr/>
        <p:txBody>
          <a:bodyPr/>
          <a:lstStyle/>
          <a:p>
            <a:fld id="{EE3995CE-7527-48CD-90CF-756BD35E8097}" type="slidenum">
              <a:rPr lang="he-IL" smtClean="0"/>
              <a:t>61</a:t>
            </a:fld>
            <a:endParaRPr lang="he-IL"/>
          </a:p>
        </p:txBody>
      </p:sp>
    </p:spTree>
    <p:extLst>
      <p:ext uri="{BB962C8B-B14F-4D97-AF65-F5344CB8AC3E}">
        <p14:creationId xmlns:p14="http://schemas.microsoft.com/office/powerpoint/2010/main" val="46550590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3995CE-7527-48CD-90CF-756BD35E8097}" type="slidenum">
              <a:rPr lang="he-IL" smtClean="0"/>
              <a:t>62</a:t>
            </a:fld>
            <a:endParaRPr lang="he-IL"/>
          </a:p>
        </p:txBody>
      </p:sp>
    </p:spTree>
    <p:extLst>
      <p:ext uri="{BB962C8B-B14F-4D97-AF65-F5344CB8AC3E}">
        <p14:creationId xmlns:p14="http://schemas.microsoft.com/office/powerpoint/2010/main" val="309350551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3995CE-7527-48CD-90CF-756BD35E8097}" type="slidenum">
              <a:rPr lang="he-IL" smtClean="0"/>
              <a:t>63</a:t>
            </a:fld>
            <a:endParaRPr lang="he-IL"/>
          </a:p>
        </p:txBody>
      </p:sp>
    </p:spTree>
    <p:extLst>
      <p:ext uri="{BB962C8B-B14F-4D97-AF65-F5344CB8AC3E}">
        <p14:creationId xmlns:p14="http://schemas.microsoft.com/office/powerpoint/2010/main" val="104748387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3995CE-7527-48CD-90CF-756BD35E8097}" type="slidenum">
              <a:rPr lang="he-IL" smtClean="0"/>
              <a:t>64</a:t>
            </a:fld>
            <a:endParaRPr lang="he-IL"/>
          </a:p>
        </p:txBody>
      </p:sp>
    </p:spTree>
    <p:extLst>
      <p:ext uri="{BB962C8B-B14F-4D97-AF65-F5344CB8AC3E}">
        <p14:creationId xmlns:p14="http://schemas.microsoft.com/office/powerpoint/2010/main" val="260367693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In</a:t>
            </a:r>
            <a:r>
              <a:rPr lang="en-US" baseline="0" dirty="0"/>
              <a:t> the interval [0,1], for example, we can encode an infinite amount of information using real numbers. We constructed the VAE </a:t>
            </a:r>
          </a:p>
          <a:p>
            <a:endParaRPr lang="he-IL" dirty="0"/>
          </a:p>
        </p:txBody>
      </p:sp>
      <p:sp>
        <p:nvSpPr>
          <p:cNvPr id="4" name="Slide Number Placeholder 3"/>
          <p:cNvSpPr>
            <a:spLocks noGrp="1"/>
          </p:cNvSpPr>
          <p:nvPr>
            <p:ph type="sldNum" sz="quarter" idx="10"/>
          </p:nvPr>
        </p:nvSpPr>
        <p:spPr/>
        <p:txBody>
          <a:bodyPr/>
          <a:lstStyle/>
          <a:p>
            <a:fld id="{EE3995CE-7527-48CD-90CF-756BD35E8097}" type="slidenum">
              <a:rPr lang="he-IL" smtClean="0"/>
              <a:t>65</a:t>
            </a:fld>
            <a:endParaRPr lang="he-IL"/>
          </a:p>
        </p:txBody>
      </p:sp>
    </p:spTree>
    <p:extLst>
      <p:ext uri="{BB962C8B-B14F-4D97-AF65-F5344CB8AC3E}">
        <p14:creationId xmlns:p14="http://schemas.microsoft.com/office/powerpoint/2010/main" val="359084092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represent each latent attribute for a give input as a probability</a:t>
            </a:r>
            <a:r>
              <a:rPr lang="en-US" baseline="0" dirty="0"/>
              <a:t> distribution. When decoding from the latent state, we randomly sample from each latent state to generate a vector as a input for our decoder model. By forcing our decoder model to reconstruct the same image from a distribution of latent states, we enforce a continuous, smooth latent space representation. </a:t>
            </a:r>
          </a:p>
          <a:p>
            <a:endParaRPr lang="en-US" baseline="0" dirty="0"/>
          </a:p>
          <a:p>
            <a:r>
              <a:rPr lang="en-US" baseline="0" dirty="0"/>
              <a:t>For any sampling of the latent distributions, we are expecting our decoder model to be able to reconstruct the input. Thus, close values will create similar reconstructions. </a:t>
            </a:r>
            <a:endParaRPr lang="en-US" dirty="0"/>
          </a:p>
        </p:txBody>
      </p:sp>
      <p:sp>
        <p:nvSpPr>
          <p:cNvPr id="4" name="Slide Number Placeholder 3"/>
          <p:cNvSpPr>
            <a:spLocks noGrp="1"/>
          </p:cNvSpPr>
          <p:nvPr>
            <p:ph type="sldNum" sz="quarter" idx="10"/>
          </p:nvPr>
        </p:nvSpPr>
        <p:spPr/>
        <p:txBody>
          <a:bodyPr/>
          <a:lstStyle/>
          <a:p>
            <a:fld id="{EE3995CE-7527-48CD-90CF-756BD35E8097}" type="slidenum">
              <a:rPr lang="he-IL" smtClean="0"/>
              <a:t>66</a:t>
            </a:fld>
            <a:endParaRPr lang="he-IL"/>
          </a:p>
        </p:txBody>
      </p:sp>
    </p:spTree>
    <p:extLst>
      <p:ext uri="{BB962C8B-B14F-4D97-AF65-F5344CB8AC3E}">
        <p14:creationId xmlns:p14="http://schemas.microsoft.com/office/powerpoint/2010/main" val="324626997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https://www.jeremyjordan.me/variational-autoencoders/</a:t>
            </a:r>
          </a:p>
        </p:txBody>
      </p:sp>
      <p:sp>
        <p:nvSpPr>
          <p:cNvPr id="4" name="Slide Number Placeholder 3"/>
          <p:cNvSpPr>
            <a:spLocks noGrp="1"/>
          </p:cNvSpPr>
          <p:nvPr>
            <p:ph type="sldNum" sz="quarter" idx="10"/>
          </p:nvPr>
        </p:nvSpPr>
        <p:spPr/>
        <p:txBody>
          <a:bodyPr/>
          <a:lstStyle/>
          <a:p>
            <a:fld id="{EE3995CE-7527-48CD-90CF-756BD35E8097}" type="slidenum">
              <a:rPr lang="he-IL" smtClean="0"/>
              <a:t>67</a:t>
            </a:fld>
            <a:endParaRPr lang="he-IL"/>
          </a:p>
        </p:txBody>
      </p:sp>
    </p:spTree>
    <p:extLst>
      <p:ext uri="{BB962C8B-B14F-4D97-AF65-F5344CB8AC3E}">
        <p14:creationId xmlns:p14="http://schemas.microsoft.com/office/powerpoint/2010/main" val="139660549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3995CE-7527-48CD-90CF-756BD35E8097}" type="slidenum">
              <a:rPr lang="he-IL" smtClean="0"/>
              <a:t>68</a:t>
            </a:fld>
            <a:endParaRPr lang="he-IL"/>
          </a:p>
        </p:txBody>
      </p:sp>
    </p:spTree>
    <p:extLst>
      <p:ext uri="{BB962C8B-B14F-4D97-AF65-F5344CB8AC3E}">
        <p14:creationId xmlns:p14="http://schemas.microsoft.com/office/powerpoint/2010/main" val="231395790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3995CE-7527-48CD-90CF-756BD35E8097}" type="slidenum">
              <a:rPr lang="he-IL" smtClean="0"/>
              <a:t>69</a:t>
            </a:fld>
            <a:endParaRPr lang="he-IL"/>
          </a:p>
        </p:txBody>
      </p:sp>
    </p:spTree>
    <p:extLst>
      <p:ext uri="{BB962C8B-B14F-4D97-AF65-F5344CB8AC3E}">
        <p14:creationId xmlns:p14="http://schemas.microsoft.com/office/powerpoint/2010/main" val="218353249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Traditional</a:t>
            </a:r>
            <a:r>
              <a:rPr lang="en-US" baseline="0" dirty="0"/>
              <a:t> NN implement a deterministic transformation of some input variables x. When developing generative models, we extend NN to implement stochastic transformations.</a:t>
            </a:r>
          </a:p>
          <a:p>
            <a:endParaRPr lang="en-US" baseline="0" dirty="0"/>
          </a:p>
          <a:p>
            <a:endParaRPr lang="he-IL" dirty="0"/>
          </a:p>
        </p:txBody>
      </p:sp>
      <p:sp>
        <p:nvSpPr>
          <p:cNvPr id="4" name="Slide Number Placeholder 3"/>
          <p:cNvSpPr>
            <a:spLocks noGrp="1"/>
          </p:cNvSpPr>
          <p:nvPr>
            <p:ph type="sldNum" sz="quarter" idx="10"/>
          </p:nvPr>
        </p:nvSpPr>
        <p:spPr/>
        <p:txBody>
          <a:bodyPr/>
          <a:lstStyle/>
          <a:p>
            <a:fld id="{EE3995CE-7527-48CD-90CF-756BD35E8097}" type="slidenum">
              <a:rPr lang="he-IL" smtClean="0"/>
              <a:t>73</a:t>
            </a:fld>
            <a:endParaRPr lang="he-IL"/>
          </a:p>
        </p:txBody>
      </p:sp>
    </p:spTree>
    <p:extLst>
      <p:ext uri="{BB962C8B-B14F-4D97-AF65-F5344CB8AC3E}">
        <p14:creationId xmlns:p14="http://schemas.microsoft.com/office/powerpoint/2010/main" val="132837505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Penalizing</a:t>
            </a:r>
            <a:r>
              <a:rPr lang="en-US" baseline="0" dirty="0"/>
              <a:t> reconstruction loss encourages the distribution to describe the input and deviate from the prior</a:t>
            </a:r>
          </a:p>
          <a:p>
            <a:endParaRPr lang="en-US" baseline="0" dirty="0"/>
          </a:p>
          <a:p>
            <a:r>
              <a:rPr lang="en-US" baseline="0" dirty="0"/>
              <a:t>Without regularization, our network can learn narrow distributions. With a small enough variance, the distribution is effectively only representing a single value, detached from different values of the same attribute</a:t>
            </a:r>
          </a:p>
          <a:p>
            <a:endParaRPr lang="en-US" baseline="0" dirty="0"/>
          </a:p>
          <a:p>
            <a:r>
              <a:rPr lang="en-US" baseline="0" dirty="0"/>
              <a:t>Penalizing the KL divergence ensures sufficient variance to yield a smooth latent space</a:t>
            </a:r>
            <a:endParaRPr lang="en-US" dirty="0"/>
          </a:p>
        </p:txBody>
      </p:sp>
      <p:sp>
        <p:nvSpPr>
          <p:cNvPr id="4" name="Slide Number Placeholder 3"/>
          <p:cNvSpPr>
            <a:spLocks noGrp="1"/>
          </p:cNvSpPr>
          <p:nvPr>
            <p:ph type="sldNum" sz="quarter" idx="10"/>
          </p:nvPr>
        </p:nvSpPr>
        <p:spPr/>
        <p:txBody>
          <a:bodyPr/>
          <a:lstStyle/>
          <a:p>
            <a:fld id="{EE3995CE-7527-48CD-90CF-756BD35E8097}" type="slidenum">
              <a:rPr lang="he-IL" smtClean="0"/>
              <a:t>79</a:t>
            </a:fld>
            <a:endParaRPr lang="he-IL"/>
          </a:p>
        </p:txBody>
      </p:sp>
    </p:spTree>
    <p:extLst>
      <p:ext uri="{BB962C8B-B14F-4D97-AF65-F5344CB8AC3E}">
        <p14:creationId xmlns:p14="http://schemas.microsoft.com/office/powerpoint/2010/main" val="157467825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3995CE-7527-48CD-90CF-756BD35E8097}" type="slidenum">
              <a:rPr lang="he-IL" smtClean="0"/>
              <a:t>80</a:t>
            </a:fld>
            <a:endParaRPr lang="he-IL"/>
          </a:p>
        </p:txBody>
      </p:sp>
    </p:spTree>
    <p:extLst>
      <p:ext uri="{BB962C8B-B14F-4D97-AF65-F5344CB8AC3E}">
        <p14:creationId xmlns:p14="http://schemas.microsoft.com/office/powerpoint/2010/main" val="492096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10"/>
          </p:nvPr>
        </p:nvSpPr>
        <p:spPr/>
        <p:txBody>
          <a:bodyPr/>
          <a:lstStyle/>
          <a:p>
            <a:fld id="{EE3995CE-7527-48CD-90CF-756BD35E8097}" type="slidenum">
              <a:rPr lang="he-IL" smtClean="0"/>
              <a:t>81</a:t>
            </a:fld>
            <a:endParaRPr lang="he-IL"/>
          </a:p>
        </p:txBody>
      </p:sp>
    </p:spTree>
    <p:extLst>
      <p:ext uri="{BB962C8B-B14F-4D97-AF65-F5344CB8AC3E}">
        <p14:creationId xmlns:p14="http://schemas.microsoft.com/office/powerpoint/2010/main" val="63211042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10"/>
          </p:nvPr>
        </p:nvSpPr>
        <p:spPr/>
        <p:txBody>
          <a:bodyPr/>
          <a:lstStyle/>
          <a:p>
            <a:fld id="{EE3995CE-7527-48CD-90CF-756BD35E8097}" type="slidenum">
              <a:rPr lang="he-IL" smtClean="0"/>
              <a:t>82</a:t>
            </a:fld>
            <a:endParaRPr lang="he-IL"/>
          </a:p>
        </p:txBody>
      </p:sp>
    </p:spTree>
    <p:extLst>
      <p:ext uri="{BB962C8B-B14F-4D97-AF65-F5344CB8AC3E}">
        <p14:creationId xmlns:p14="http://schemas.microsoft.com/office/powerpoint/2010/main" val="206453488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example we see images generated by some generating process.</a:t>
            </a:r>
            <a:r>
              <a:rPr lang="en-US" baseline="0" dirty="0"/>
              <a:t> We pass each image through the encoder and get the latent representation for it. While in the latent space we perform our arithmetic and decode it back to the image space. This is how we can detect relevant “attribute” vectors in the latent space. </a:t>
            </a:r>
            <a:endParaRPr lang="he-IL" dirty="0"/>
          </a:p>
        </p:txBody>
      </p:sp>
      <p:sp>
        <p:nvSpPr>
          <p:cNvPr id="4" name="Slide Number Placeholder 3"/>
          <p:cNvSpPr>
            <a:spLocks noGrp="1"/>
          </p:cNvSpPr>
          <p:nvPr>
            <p:ph type="sldNum" sz="quarter" idx="10"/>
          </p:nvPr>
        </p:nvSpPr>
        <p:spPr/>
        <p:txBody>
          <a:bodyPr/>
          <a:lstStyle/>
          <a:p>
            <a:fld id="{EE3995CE-7527-48CD-90CF-756BD35E8097}" type="slidenum">
              <a:rPr lang="he-IL" smtClean="0"/>
              <a:t>84</a:t>
            </a:fld>
            <a:endParaRPr lang="he-IL"/>
          </a:p>
        </p:txBody>
      </p:sp>
    </p:spTree>
    <p:extLst>
      <p:ext uri="{BB962C8B-B14F-4D97-AF65-F5344CB8AC3E}">
        <p14:creationId xmlns:p14="http://schemas.microsoft.com/office/powerpoint/2010/main" val="158588642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is generated faces from latent vector z by adding or subtracting</a:t>
            </a:r>
            <a:r>
              <a:rPr lang="en-US" baseline="0" dirty="0"/>
              <a:t> an attribute specific vector </a:t>
            </a:r>
            <a:endParaRPr lang="he-IL" dirty="0"/>
          </a:p>
        </p:txBody>
      </p:sp>
      <p:sp>
        <p:nvSpPr>
          <p:cNvPr id="4" name="Slide Number Placeholder 3"/>
          <p:cNvSpPr>
            <a:spLocks noGrp="1"/>
          </p:cNvSpPr>
          <p:nvPr>
            <p:ph type="sldNum" sz="quarter" idx="10"/>
          </p:nvPr>
        </p:nvSpPr>
        <p:spPr/>
        <p:txBody>
          <a:bodyPr/>
          <a:lstStyle/>
          <a:p>
            <a:fld id="{EE3995CE-7527-48CD-90CF-756BD35E8097}" type="slidenum">
              <a:rPr lang="he-IL" smtClean="0"/>
              <a:t>85</a:t>
            </a:fld>
            <a:endParaRPr lang="he-IL"/>
          </a:p>
        </p:txBody>
      </p:sp>
    </p:spTree>
    <p:extLst>
      <p:ext uri="{BB962C8B-B14F-4D97-AF65-F5344CB8AC3E}">
        <p14:creationId xmlns:p14="http://schemas.microsoft.com/office/powerpoint/2010/main" val="134380086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3995CE-7527-48CD-90CF-756BD35E8097}" type="slidenum">
              <a:rPr lang="he-IL" smtClean="0"/>
              <a:t>87</a:t>
            </a:fld>
            <a:endParaRPr lang="he-IL"/>
          </a:p>
        </p:txBody>
      </p:sp>
    </p:spTree>
    <p:extLst>
      <p:ext uri="{BB962C8B-B14F-4D97-AF65-F5344CB8AC3E}">
        <p14:creationId xmlns:p14="http://schemas.microsoft.com/office/powerpoint/2010/main" val="132962871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https://arxiv.org/pdf/1606.05908.pdf</a:t>
            </a:r>
          </a:p>
          <a:p>
            <a:r>
              <a:rPr lang="en-US" sz="1200" dirty="0"/>
              <a:t>https://arxiv.org/pdf/1502.04623.pdf</a:t>
            </a:r>
          </a:p>
          <a:p>
            <a:r>
              <a:rPr lang="en-US" sz="1200" dirty="0"/>
              <a:t>https://arxiv.org/pdf/1602.05473.pdf</a:t>
            </a:r>
          </a:p>
          <a:p>
            <a:r>
              <a:rPr lang="en-US" sz="1200" dirty="0"/>
              <a:t>https://arxiv.org/pdf/1511.06349.pdf</a:t>
            </a:r>
            <a:endParaRPr lang="he-IL" sz="1200" dirty="0"/>
          </a:p>
          <a:p>
            <a:r>
              <a:rPr lang="en-US" sz="1200" dirty="0"/>
              <a:t>http://blog.fastforwardlabs.com/2016/08/12/introducing-variational-autoencoders-in-prose-and.html</a:t>
            </a:r>
          </a:p>
          <a:p>
            <a:r>
              <a:rPr lang="en-US" sz="1200" dirty="0"/>
              <a:t>http://blog.fastforwardlabs.com/2016/08/22/under-the-hood-of-the-variational-autoencoder-in.html</a:t>
            </a:r>
          </a:p>
          <a:p>
            <a:pPr>
              <a:lnSpc>
                <a:spcPct val="100000"/>
              </a:lnSpc>
              <a:spcBef>
                <a:spcPts val="0"/>
              </a:spcBef>
              <a:defRPr/>
            </a:pPr>
            <a:r>
              <a:rPr lang="en-US" sz="1200" dirty="0"/>
              <a:t>https://ermongroup.github.io/cs228-notes/extras/vae/</a:t>
            </a:r>
          </a:p>
          <a:p>
            <a:pPr>
              <a:lnSpc>
                <a:spcPct val="100000"/>
              </a:lnSpc>
              <a:spcBef>
                <a:spcPts val="0"/>
              </a:spcBef>
              <a:defRPr/>
            </a:pPr>
            <a:r>
              <a:rPr lang="en-US" sz="1200" dirty="0"/>
              <a:t>http://kvfrans.com/variational-autoencoders-explained/</a:t>
            </a:r>
          </a:p>
          <a:p>
            <a:r>
              <a:rPr lang="en-US" sz="1200" dirty="0"/>
              <a:t>https://stats.stackexchange.com/questions/267924/explanation-of-the-free-bits-technique-for-variational-autoencoders</a:t>
            </a:r>
          </a:p>
          <a:p>
            <a:pPr>
              <a:lnSpc>
                <a:spcPct val="100000"/>
              </a:lnSpc>
              <a:spcBef>
                <a:spcPts val="0"/>
              </a:spcBef>
              <a:defRPr/>
            </a:pPr>
            <a:r>
              <a:rPr lang="en-US" sz="1200" dirty="0"/>
              <a:t>http://szhao.me/2017/06/10/a-tutorial-on-mmd-variational-autoencoders.html</a:t>
            </a:r>
          </a:p>
          <a:p>
            <a:r>
              <a:rPr lang="en-US" sz="1200" dirty="0"/>
              <a:t>https://www.cs.princeton.edu/courses/archive/spring17/cos598E/Ghassen.pdf</a:t>
            </a:r>
            <a:endParaRPr lang="he-IL" sz="1200" dirty="0"/>
          </a:p>
          <a:p>
            <a:r>
              <a:rPr lang="en-US" sz="1200" dirty="0"/>
              <a:t>https://www.jeremyjordan.me/variational-autoencoders/</a:t>
            </a:r>
          </a:p>
          <a:p>
            <a:endParaRPr lang="en-US" dirty="0"/>
          </a:p>
        </p:txBody>
      </p:sp>
      <p:sp>
        <p:nvSpPr>
          <p:cNvPr id="4" name="Slide Number Placeholder 3"/>
          <p:cNvSpPr>
            <a:spLocks noGrp="1"/>
          </p:cNvSpPr>
          <p:nvPr>
            <p:ph type="sldNum" sz="quarter" idx="10"/>
          </p:nvPr>
        </p:nvSpPr>
        <p:spPr/>
        <p:txBody>
          <a:bodyPr/>
          <a:lstStyle/>
          <a:p>
            <a:fld id="{EE3995CE-7527-48CD-90CF-756BD35E8097}" type="slidenum">
              <a:rPr lang="he-IL" smtClean="0"/>
              <a:t>88</a:t>
            </a:fld>
            <a:endParaRPr lang="he-IL"/>
          </a:p>
        </p:txBody>
      </p:sp>
    </p:spTree>
    <p:extLst>
      <p:ext uri="{BB962C8B-B14F-4D97-AF65-F5344CB8AC3E}">
        <p14:creationId xmlns:p14="http://schemas.microsoft.com/office/powerpoint/2010/main" val="35422942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he-IL"/>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he-IL"/>
          </a:p>
        </p:txBody>
      </p:sp>
      <p:sp>
        <p:nvSpPr>
          <p:cNvPr id="4" name="Date Placeholder 3"/>
          <p:cNvSpPr>
            <a:spLocks noGrp="1"/>
          </p:cNvSpPr>
          <p:nvPr>
            <p:ph type="dt" sz="half" idx="10"/>
          </p:nvPr>
        </p:nvSpPr>
        <p:spPr/>
        <p:txBody>
          <a:bodyPr/>
          <a:lstStyle/>
          <a:p>
            <a:fld id="{BEC48D05-4A7C-4206-AF54-0DBE6523EC74}" type="datetimeFigureOut">
              <a:rPr lang="he-IL" smtClean="0"/>
              <a:t>ט"ז.כסלו.תשפ"ה</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0B5B3DB6-086B-4F2B-9F19-C77931893F93}" type="slidenum">
              <a:rPr lang="he-IL" smtClean="0"/>
              <a:t>‹#›</a:t>
            </a:fld>
            <a:endParaRPr lang="he-IL"/>
          </a:p>
        </p:txBody>
      </p:sp>
    </p:spTree>
    <p:extLst>
      <p:ext uri="{BB962C8B-B14F-4D97-AF65-F5344CB8AC3E}">
        <p14:creationId xmlns:p14="http://schemas.microsoft.com/office/powerpoint/2010/main" val="22352017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p:cNvSpPr>
            <a:spLocks noGrp="1"/>
          </p:cNvSpPr>
          <p:nvPr>
            <p:ph type="dt" sz="half" idx="10"/>
          </p:nvPr>
        </p:nvSpPr>
        <p:spPr/>
        <p:txBody>
          <a:bodyPr/>
          <a:lstStyle/>
          <a:p>
            <a:fld id="{BEC48D05-4A7C-4206-AF54-0DBE6523EC74}" type="datetimeFigureOut">
              <a:rPr lang="he-IL" smtClean="0"/>
              <a:t>ט"ז.כסלו.תשפ"ה</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0B5B3DB6-086B-4F2B-9F19-C77931893F93}" type="slidenum">
              <a:rPr lang="he-IL" smtClean="0"/>
              <a:t>‹#›</a:t>
            </a:fld>
            <a:endParaRPr lang="he-IL"/>
          </a:p>
        </p:txBody>
      </p:sp>
    </p:spTree>
    <p:extLst>
      <p:ext uri="{BB962C8B-B14F-4D97-AF65-F5344CB8AC3E}">
        <p14:creationId xmlns:p14="http://schemas.microsoft.com/office/powerpoint/2010/main" val="25801656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he-IL"/>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EC48D05-4A7C-4206-AF54-0DBE6523EC74}" type="datetimeFigureOut">
              <a:rPr lang="he-IL" smtClean="0"/>
              <a:t>ט"ז.כסלו.תשפ"ה</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0B5B3DB6-086B-4F2B-9F19-C77931893F93}" type="slidenum">
              <a:rPr lang="he-IL" smtClean="0"/>
              <a:t>‹#›</a:t>
            </a:fld>
            <a:endParaRPr lang="he-IL"/>
          </a:p>
        </p:txBody>
      </p:sp>
    </p:spTree>
    <p:extLst>
      <p:ext uri="{BB962C8B-B14F-4D97-AF65-F5344CB8AC3E}">
        <p14:creationId xmlns:p14="http://schemas.microsoft.com/office/powerpoint/2010/main" val="13571254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Date Placeholder 4"/>
          <p:cNvSpPr>
            <a:spLocks noGrp="1"/>
          </p:cNvSpPr>
          <p:nvPr>
            <p:ph type="dt" sz="half" idx="10"/>
          </p:nvPr>
        </p:nvSpPr>
        <p:spPr/>
        <p:txBody>
          <a:bodyPr/>
          <a:lstStyle/>
          <a:p>
            <a:fld id="{BEC48D05-4A7C-4206-AF54-0DBE6523EC74}" type="datetimeFigureOut">
              <a:rPr lang="he-IL" smtClean="0"/>
              <a:t>ט"ז.כסלו.תשפ"ה</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0B5B3DB6-086B-4F2B-9F19-C77931893F93}" type="slidenum">
              <a:rPr lang="he-IL" smtClean="0"/>
              <a:t>‹#›</a:t>
            </a:fld>
            <a:endParaRPr lang="he-IL"/>
          </a:p>
        </p:txBody>
      </p:sp>
    </p:spTree>
    <p:extLst>
      <p:ext uri="{BB962C8B-B14F-4D97-AF65-F5344CB8AC3E}">
        <p14:creationId xmlns:p14="http://schemas.microsoft.com/office/powerpoint/2010/main" val="8445574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he-IL"/>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7" name="Date Placeholder 6"/>
          <p:cNvSpPr>
            <a:spLocks noGrp="1"/>
          </p:cNvSpPr>
          <p:nvPr>
            <p:ph type="dt" sz="half" idx="10"/>
          </p:nvPr>
        </p:nvSpPr>
        <p:spPr/>
        <p:txBody>
          <a:bodyPr/>
          <a:lstStyle/>
          <a:p>
            <a:fld id="{BEC48D05-4A7C-4206-AF54-0DBE6523EC74}" type="datetimeFigureOut">
              <a:rPr lang="he-IL" smtClean="0"/>
              <a:t>ט"ז.כסלו.תשפ"ה</a:t>
            </a:fld>
            <a:endParaRPr lang="he-IL"/>
          </a:p>
        </p:txBody>
      </p:sp>
      <p:sp>
        <p:nvSpPr>
          <p:cNvPr id="8" name="Footer Placeholder 7"/>
          <p:cNvSpPr>
            <a:spLocks noGrp="1"/>
          </p:cNvSpPr>
          <p:nvPr>
            <p:ph type="ftr" sz="quarter" idx="11"/>
          </p:nvPr>
        </p:nvSpPr>
        <p:spPr/>
        <p:txBody>
          <a:bodyPr/>
          <a:lstStyle/>
          <a:p>
            <a:endParaRPr lang="he-IL"/>
          </a:p>
        </p:txBody>
      </p:sp>
      <p:sp>
        <p:nvSpPr>
          <p:cNvPr id="9" name="Slide Number Placeholder 8"/>
          <p:cNvSpPr>
            <a:spLocks noGrp="1"/>
          </p:cNvSpPr>
          <p:nvPr>
            <p:ph type="sldNum" sz="quarter" idx="12"/>
          </p:nvPr>
        </p:nvSpPr>
        <p:spPr/>
        <p:txBody>
          <a:bodyPr/>
          <a:lstStyle/>
          <a:p>
            <a:fld id="{0B5B3DB6-086B-4F2B-9F19-C77931893F93}" type="slidenum">
              <a:rPr lang="he-IL" smtClean="0"/>
              <a:t>‹#›</a:t>
            </a:fld>
            <a:endParaRPr lang="he-IL"/>
          </a:p>
        </p:txBody>
      </p:sp>
    </p:spTree>
    <p:extLst>
      <p:ext uri="{BB962C8B-B14F-4D97-AF65-F5344CB8AC3E}">
        <p14:creationId xmlns:p14="http://schemas.microsoft.com/office/powerpoint/2010/main" val="856318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3" name="Date Placeholder 2"/>
          <p:cNvSpPr>
            <a:spLocks noGrp="1"/>
          </p:cNvSpPr>
          <p:nvPr>
            <p:ph type="dt" sz="half" idx="10"/>
          </p:nvPr>
        </p:nvSpPr>
        <p:spPr/>
        <p:txBody>
          <a:bodyPr/>
          <a:lstStyle/>
          <a:p>
            <a:fld id="{BEC48D05-4A7C-4206-AF54-0DBE6523EC74}" type="datetimeFigureOut">
              <a:rPr lang="he-IL" smtClean="0"/>
              <a:t>ט"ז.כסלו.תשפ"ה</a:t>
            </a:fld>
            <a:endParaRPr lang="he-IL"/>
          </a:p>
        </p:txBody>
      </p:sp>
      <p:sp>
        <p:nvSpPr>
          <p:cNvPr id="4" name="Footer Placeholder 3"/>
          <p:cNvSpPr>
            <a:spLocks noGrp="1"/>
          </p:cNvSpPr>
          <p:nvPr>
            <p:ph type="ftr" sz="quarter" idx="11"/>
          </p:nvPr>
        </p:nvSpPr>
        <p:spPr/>
        <p:txBody>
          <a:bodyPr/>
          <a:lstStyle/>
          <a:p>
            <a:endParaRPr lang="he-IL"/>
          </a:p>
        </p:txBody>
      </p:sp>
      <p:sp>
        <p:nvSpPr>
          <p:cNvPr id="5" name="Slide Number Placeholder 4"/>
          <p:cNvSpPr>
            <a:spLocks noGrp="1"/>
          </p:cNvSpPr>
          <p:nvPr>
            <p:ph type="sldNum" sz="quarter" idx="12"/>
          </p:nvPr>
        </p:nvSpPr>
        <p:spPr/>
        <p:txBody>
          <a:bodyPr/>
          <a:lstStyle/>
          <a:p>
            <a:fld id="{0B5B3DB6-086B-4F2B-9F19-C77931893F93}" type="slidenum">
              <a:rPr lang="he-IL" smtClean="0"/>
              <a:t>‹#›</a:t>
            </a:fld>
            <a:endParaRPr lang="he-IL"/>
          </a:p>
        </p:txBody>
      </p:sp>
    </p:spTree>
    <p:extLst>
      <p:ext uri="{BB962C8B-B14F-4D97-AF65-F5344CB8AC3E}">
        <p14:creationId xmlns:p14="http://schemas.microsoft.com/office/powerpoint/2010/main" val="22744629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EC48D05-4A7C-4206-AF54-0DBE6523EC74}" type="datetimeFigureOut">
              <a:rPr lang="he-IL" smtClean="0"/>
              <a:t>ט"ז.כסלו.תשפ"ה</a:t>
            </a:fld>
            <a:endParaRPr lang="he-IL"/>
          </a:p>
        </p:txBody>
      </p:sp>
      <p:sp>
        <p:nvSpPr>
          <p:cNvPr id="3" name="Footer Placeholder 2"/>
          <p:cNvSpPr>
            <a:spLocks noGrp="1"/>
          </p:cNvSpPr>
          <p:nvPr>
            <p:ph type="ftr" sz="quarter" idx="11"/>
          </p:nvPr>
        </p:nvSpPr>
        <p:spPr/>
        <p:txBody>
          <a:bodyPr/>
          <a:lstStyle/>
          <a:p>
            <a:endParaRPr lang="he-IL"/>
          </a:p>
        </p:txBody>
      </p:sp>
      <p:sp>
        <p:nvSpPr>
          <p:cNvPr id="4" name="Slide Number Placeholder 3"/>
          <p:cNvSpPr>
            <a:spLocks noGrp="1"/>
          </p:cNvSpPr>
          <p:nvPr>
            <p:ph type="sldNum" sz="quarter" idx="12"/>
          </p:nvPr>
        </p:nvSpPr>
        <p:spPr/>
        <p:txBody>
          <a:bodyPr/>
          <a:lstStyle/>
          <a:p>
            <a:fld id="{0B5B3DB6-086B-4F2B-9F19-C77931893F93}" type="slidenum">
              <a:rPr lang="he-IL" smtClean="0"/>
              <a:t>‹#›</a:t>
            </a:fld>
            <a:endParaRPr lang="he-IL"/>
          </a:p>
        </p:txBody>
      </p:sp>
    </p:spTree>
    <p:extLst>
      <p:ext uri="{BB962C8B-B14F-4D97-AF65-F5344CB8AC3E}">
        <p14:creationId xmlns:p14="http://schemas.microsoft.com/office/powerpoint/2010/main" val="5552247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he-IL"/>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EC48D05-4A7C-4206-AF54-0DBE6523EC74}" type="datetimeFigureOut">
              <a:rPr lang="he-IL" smtClean="0"/>
              <a:t>ט"ז.כסלו.תשפ"ה</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0B5B3DB6-086B-4F2B-9F19-C77931893F93}" type="slidenum">
              <a:rPr lang="he-IL" smtClean="0"/>
              <a:t>‹#›</a:t>
            </a:fld>
            <a:endParaRPr lang="he-IL"/>
          </a:p>
        </p:txBody>
      </p:sp>
    </p:spTree>
    <p:extLst>
      <p:ext uri="{BB962C8B-B14F-4D97-AF65-F5344CB8AC3E}">
        <p14:creationId xmlns:p14="http://schemas.microsoft.com/office/powerpoint/2010/main" val="27812471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he-IL"/>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EC48D05-4A7C-4206-AF54-0DBE6523EC74}" type="datetimeFigureOut">
              <a:rPr lang="he-IL" smtClean="0"/>
              <a:t>ט"ז.כסלו.תשפ"ה</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0B5B3DB6-086B-4F2B-9F19-C77931893F93}" type="slidenum">
              <a:rPr lang="he-IL" smtClean="0"/>
              <a:t>‹#›</a:t>
            </a:fld>
            <a:endParaRPr lang="he-IL"/>
          </a:p>
        </p:txBody>
      </p:sp>
    </p:spTree>
    <p:extLst>
      <p:ext uri="{BB962C8B-B14F-4D97-AF65-F5344CB8AC3E}">
        <p14:creationId xmlns:p14="http://schemas.microsoft.com/office/powerpoint/2010/main" val="1612794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p:cNvSpPr>
            <a:spLocks noGrp="1"/>
          </p:cNvSpPr>
          <p:nvPr>
            <p:ph type="dt" sz="half" idx="10"/>
          </p:nvPr>
        </p:nvSpPr>
        <p:spPr/>
        <p:txBody>
          <a:bodyPr/>
          <a:lstStyle/>
          <a:p>
            <a:fld id="{BEC48D05-4A7C-4206-AF54-0DBE6523EC74}" type="datetimeFigureOut">
              <a:rPr lang="he-IL" smtClean="0"/>
              <a:t>ט"ז.כסלו.תשפ"ה</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0B5B3DB6-086B-4F2B-9F19-C77931893F93}" type="slidenum">
              <a:rPr lang="he-IL" smtClean="0"/>
              <a:t>‹#›</a:t>
            </a:fld>
            <a:endParaRPr lang="he-IL"/>
          </a:p>
        </p:txBody>
      </p:sp>
    </p:spTree>
    <p:extLst>
      <p:ext uri="{BB962C8B-B14F-4D97-AF65-F5344CB8AC3E}">
        <p14:creationId xmlns:p14="http://schemas.microsoft.com/office/powerpoint/2010/main" val="7266063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he-IL"/>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p:cNvSpPr>
            <a:spLocks noGrp="1"/>
          </p:cNvSpPr>
          <p:nvPr>
            <p:ph type="dt" sz="half" idx="10"/>
          </p:nvPr>
        </p:nvSpPr>
        <p:spPr/>
        <p:txBody>
          <a:bodyPr/>
          <a:lstStyle/>
          <a:p>
            <a:fld id="{BEC48D05-4A7C-4206-AF54-0DBE6523EC74}" type="datetimeFigureOut">
              <a:rPr lang="he-IL" smtClean="0"/>
              <a:t>ט"ז.כסלו.תשפ"ה</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0B5B3DB6-086B-4F2B-9F19-C77931893F93}" type="slidenum">
              <a:rPr lang="he-IL" smtClean="0"/>
              <a:t>‹#›</a:t>
            </a:fld>
            <a:endParaRPr lang="he-IL"/>
          </a:p>
        </p:txBody>
      </p:sp>
    </p:spTree>
    <p:extLst>
      <p:ext uri="{BB962C8B-B14F-4D97-AF65-F5344CB8AC3E}">
        <p14:creationId xmlns:p14="http://schemas.microsoft.com/office/powerpoint/2010/main" val="28635779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he-IL"/>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EC48D05-4A7C-4206-AF54-0DBE6523EC74}" type="datetimeFigureOut">
              <a:rPr lang="he-IL" smtClean="0"/>
              <a:t>ט"ז.כסלו.תשפ"ה</a:t>
            </a:fld>
            <a:endParaRPr lang="he-IL"/>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he-IL"/>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5B3DB6-086B-4F2B-9F19-C77931893F93}" type="slidenum">
              <a:rPr lang="he-IL" smtClean="0"/>
              <a:t>‹#›</a:t>
            </a:fld>
            <a:endParaRPr lang="he-IL"/>
          </a:p>
        </p:txBody>
      </p:sp>
    </p:spTree>
    <p:extLst>
      <p:ext uri="{BB962C8B-B14F-4D97-AF65-F5344CB8AC3E}">
        <p14:creationId xmlns:p14="http://schemas.microsoft.com/office/powerpoint/2010/main" val="3180627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2.mp4"/><Relationship Id="rId1" Type="http://schemas.microsoft.com/office/2007/relationships/media" Target="../media/media2.mp4"/><Relationship Id="rId6" Type="http://schemas.openxmlformats.org/officeDocument/2006/relationships/image" Target="../media/image4.gif"/><Relationship Id="rId5" Type="http://schemas.openxmlformats.org/officeDocument/2006/relationships/image" Target="../media/image3.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8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44.png"/></Relationships>
</file>

<file path=ppt/slides/_rels/slide13.xml.rels><?xml version="1.0" encoding="UTF-8" standalone="yes"?>
<Relationships xmlns="http://schemas.openxmlformats.org/package/2006/relationships"><Relationship Id="rId3" Type="http://schemas.openxmlformats.org/officeDocument/2006/relationships/image" Target="../media/image10.tmp"/><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comments" Target="../comments/commen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2" Type="http://schemas.openxmlformats.org/officeDocument/2006/relationships/image" Target="../media/image18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6.emf"/></Relationships>
</file>

<file path=ppt/slides/_rels/slide29.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0.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27.emf"/><Relationship Id="rId4" Type="http://schemas.openxmlformats.org/officeDocument/2006/relationships/image" Target="../media/image26.emf"/></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image" Target="../media/image36.emf"/><Relationship Id="rId3" Type="http://schemas.openxmlformats.org/officeDocument/2006/relationships/image" Target="../media/image31.png"/><Relationship Id="rId7"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35.emf"/><Relationship Id="rId5" Type="http://schemas.openxmlformats.org/officeDocument/2006/relationships/oleObject" Target="../embeddings/oleObject1.bin"/><Relationship Id="rId4" Type="http://schemas.openxmlformats.org/officeDocument/2006/relationships/image" Target="../media/image37.png"/></Relationships>
</file>

<file path=ppt/slides/_rels/slide42.xml.rels><?xml version="1.0" encoding="UTF-8" standalone="yes"?>
<Relationships xmlns="http://schemas.openxmlformats.org/package/2006/relationships"><Relationship Id="rId8" Type="http://schemas.openxmlformats.org/officeDocument/2006/relationships/image" Target="../media/image36.emf"/><Relationship Id="rId3" Type="http://schemas.openxmlformats.org/officeDocument/2006/relationships/image" Target="../media/image31.png"/><Relationship Id="rId7"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35.emf"/><Relationship Id="rId5" Type="http://schemas.openxmlformats.org/officeDocument/2006/relationships/oleObject" Target="../embeddings/oleObject3.bin"/><Relationship Id="rId4" Type="http://schemas.openxmlformats.org/officeDocument/2006/relationships/image" Target="../media/image37.png"/></Relationships>
</file>

<file path=ppt/slides/_rels/slide43.xml.rels><?xml version="1.0" encoding="UTF-8" standalone="yes"?>
<Relationships xmlns="http://schemas.openxmlformats.org/package/2006/relationships"><Relationship Id="rId8" Type="http://schemas.openxmlformats.org/officeDocument/2006/relationships/image" Target="../media/image36.emf"/><Relationship Id="rId3" Type="http://schemas.openxmlformats.org/officeDocument/2006/relationships/image" Target="../media/image31.png"/><Relationship Id="rId7"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35.emf"/><Relationship Id="rId5" Type="http://schemas.openxmlformats.org/officeDocument/2006/relationships/oleObject" Target="../embeddings/oleObject5.bin"/><Relationship Id="rId4" Type="http://schemas.openxmlformats.org/officeDocument/2006/relationships/image" Target="../media/image37.png"/></Relationships>
</file>

<file path=ppt/slides/_rels/slide44.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1.png"/><Relationship Id="rId7" Type="http://schemas.openxmlformats.org/officeDocument/2006/relationships/image" Target="../media/image36.emf"/><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oleObject" Target="../embeddings/oleObject8.bin"/><Relationship Id="rId5" Type="http://schemas.openxmlformats.org/officeDocument/2006/relationships/image" Target="../media/image35.emf"/><Relationship Id="rId4" Type="http://schemas.openxmlformats.org/officeDocument/2006/relationships/oleObject" Target="../embeddings/oleObject7.bin"/><Relationship Id="rId9" Type="http://schemas.openxmlformats.org/officeDocument/2006/relationships/image" Target="../media/image37.png"/></Relationships>
</file>

<file path=ppt/slides/_rels/slide45.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1.png"/><Relationship Id="rId7" Type="http://schemas.openxmlformats.org/officeDocument/2006/relationships/image" Target="../media/image36.emf"/><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oleObject" Target="../embeddings/oleObject10.bin"/><Relationship Id="rId5" Type="http://schemas.openxmlformats.org/officeDocument/2006/relationships/image" Target="../media/image35.emf"/><Relationship Id="rId10" Type="http://schemas.openxmlformats.org/officeDocument/2006/relationships/image" Target="../media/image39.png"/><Relationship Id="rId4" Type="http://schemas.openxmlformats.org/officeDocument/2006/relationships/oleObject" Target="../embeddings/oleObject9.bin"/><Relationship Id="rId9" Type="http://schemas.openxmlformats.org/officeDocument/2006/relationships/image" Target="../media/image37.png"/></Relationships>
</file>

<file path=ppt/slides/_rels/slide46.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1.png"/><Relationship Id="rId7" Type="http://schemas.openxmlformats.org/officeDocument/2006/relationships/image" Target="../media/image36.emf"/><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oleObject" Target="../embeddings/oleObject12.bin"/><Relationship Id="rId5" Type="http://schemas.openxmlformats.org/officeDocument/2006/relationships/image" Target="../media/image35.emf"/><Relationship Id="rId4" Type="http://schemas.openxmlformats.org/officeDocument/2006/relationships/oleObject" Target="../embeddings/oleObject11.bin"/><Relationship Id="rId9" Type="http://schemas.openxmlformats.org/officeDocument/2006/relationships/image" Target="../media/image37.png"/></Relationships>
</file>

<file path=ppt/slides/_rels/slide47.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1.png"/><Relationship Id="rId7" Type="http://schemas.openxmlformats.org/officeDocument/2006/relationships/image" Target="../media/image36.emf"/><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oleObject" Target="../embeddings/oleObject14.bin"/><Relationship Id="rId5" Type="http://schemas.openxmlformats.org/officeDocument/2006/relationships/image" Target="../media/image35.emf"/><Relationship Id="rId10" Type="http://schemas.openxmlformats.org/officeDocument/2006/relationships/image" Target="../media/image37.png"/><Relationship Id="rId4" Type="http://schemas.openxmlformats.org/officeDocument/2006/relationships/oleObject" Target="../embeddings/oleObject13.bin"/><Relationship Id="rId9" Type="http://schemas.openxmlformats.org/officeDocument/2006/relationships/image" Target="../media/image38.png"/></Relationships>
</file>

<file path=ppt/slides/_rels/slide48.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1.png"/><Relationship Id="rId7" Type="http://schemas.openxmlformats.org/officeDocument/2006/relationships/image" Target="../media/image36.emf"/><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oleObject" Target="../embeddings/oleObject16.bin"/><Relationship Id="rId5" Type="http://schemas.openxmlformats.org/officeDocument/2006/relationships/image" Target="../media/image35.emf"/><Relationship Id="rId10" Type="http://schemas.openxmlformats.org/officeDocument/2006/relationships/image" Target="../media/image41.png"/><Relationship Id="rId4" Type="http://schemas.openxmlformats.org/officeDocument/2006/relationships/oleObject" Target="../embeddings/oleObject15.bin"/><Relationship Id="rId9" Type="http://schemas.openxmlformats.org/officeDocument/2006/relationships/image" Target="../media/image38.png"/></Relationships>
</file>

<file path=ppt/slides/_rels/slide49.xml.rels><?xml version="1.0" encoding="UTF-8" standalone="yes"?>
<Relationships xmlns="http://schemas.openxmlformats.org/package/2006/relationships"><Relationship Id="rId8" Type="http://schemas.openxmlformats.org/officeDocument/2006/relationships/image" Target="../media/image36.emf"/><Relationship Id="rId3" Type="http://schemas.openxmlformats.org/officeDocument/2006/relationships/image" Target="../media/image31.png"/><Relationship Id="rId7" Type="http://schemas.openxmlformats.org/officeDocument/2006/relationships/oleObject" Target="../embeddings/oleObject18.bin"/><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35.emf"/><Relationship Id="rId5" Type="http://schemas.openxmlformats.org/officeDocument/2006/relationships/oleObject" Target="../embeddings/oleObject17.bin"/><Relationship Id="rId10" Type="http://schemas.openxmlformats.org/officeDocument/2006/relationships/image" Target="../media/image41.png"/><Relationship Id="rId4" Type="http://schemas.openxmlformats.org/officeDocument/2006/relationships/image" Target="../media/image37.png"/><Relationship Id="rId9" Type="http://schemas.openxmlformats.org/officeDocument/2006/relationships/image" Target="../media/image38.png"/></Relationships>
</file>

<file path=ppt/slides/_rels/slide50.xml.rels><?xml version="1.0" encoding="UTF-8" standalone="yes"?>
<Relationships xmlns="http://schemas.openxmlformats.org/package/2006/relationships"><Relationship Id="rId8" Type="http://schemas.openxmlformats.org/officeDocument/2006/relationships/image" Target="../media/image36.emf"/><Relationship Id="rId3" Type="http://schemas.openxmlformats.org/officeDocument/2006/relationships/image" Target="../media/image31.png"/><Relationship Id="rId7" Type="http://schemas.openxmlformats.org/officeDocument/2006/relationships/oleObject" Target="../embeddings/oleObject20.bin"/><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35.emf"/><Relationship Id="rId5" Type="http://schemas.openxmlformats.org/officeDocument/2006/relationships/oleObject" Target="../embeddings/oleObject19.bin"/><Relationship Id="rId10" Type="http://schemas.openxmlformats.org/officeDocument/2006/relationships/image" Target="../media/image38.png"/><Relationship Id="rId4" Type="http://schemas.openxmlformats.org/officeDocument/2006/relationships/image" Target="../media/image37.png"/><Relationship Id="rId9" Type="http://schemas.openxmlformats.org/officeDocument/2006/relationships/image" Target="../media/image41.png"/></Relationships>
</file>

<file path=ppt/slides/_rels/slide51.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1.png"/><Relationship Id="rId7" Type="http://schemas.openxmlformats.org/officeDocument/2006/relationships/image" Target="../media/image36.emf"/><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oleObject" Target="../embeddings/oleObject22.bin"/><Relationship Id="rId11" Type="http://schemas.openxmlformats.org/officeDocument/2006/relationships/image" Target="../media/image42.png"/><Relationship Id="rId5" Type="http://schemas.openxmlformats.org/officeDocument/2006/relationships/image" Target="../media/image35.emf"/><Relationship Id="rId10" Type="http://schemas.openxmlformats.org/officeDocument/2006/relationships/image" Target="../media/image38.png"/><Relationship Id="rId4" Type="http://schemas.openxmlformats.org/officeDocument/2006/relationships/oleObject" Target="../embeddings/oleObject21.bin"/><Relationship Id="rId9" Type="http://schemas.openxmlformats.org/officeDocument/2006/relationships/image" Target="../media/image41.png"/></Relationships>
</file>

<file path=ppt/slides/_rels/slide52.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1.png"/><Relationship Id="rId7" Type="http://schemas.openxmlformats.org/officeDocument/2006/relationships/image" Target="../media/image36.emf"/><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oleObject" Target="../embeddings/oleObject24.bin"/><Relationship Id="rId11" Type="http://schemas.openxmlformats.org/officeDocument/2006/relationships/image" Target="../media/image43.png"/><Relationship Id="rId5" Type="http://schemas.openxmlformats.org/officeDocument/2006/relationships/image" Target="../media/image35.emf"/><Relationship Id="rId10" Type="http://schemas.openxmlformats.org/officeDocument/2006/relationships/image" Target="../media/image38.png"/><Relationship Id="rId4" Type="http://schemas.openxmlformats.org/officeDocument/2006/relationships/oleObject" Target="../embeddings/oleObject23.bin"/><Relationship Id="rId9" Type="http://schemas.openxmlformats.org/officeDocument/2006/relationships/image" Target="../media/image41.png"/></Relationships>
</file>

<file path=ppt/slides/_rels/slide53.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1.png"/><Relationship Id="rId7" Type="http://schemas.openxmlformats.org/officeDocument/2006/relationships/image" Target="../media/image36.emf"/><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oleObject" Target="../embeddings/oleObject26.bin"/><Relationship Id="rId5" Type="http://schemas.openxmlformats.org/officeDocument/2006/relationships/image" Target="../media/image35.emf"/><Relationship Id="rId10" Type="http://schemas.openxmlformats.org/officeDocument/2006/relationships/image" Target="../media/image38.png"/><Relationship Id="rId4" Type="http://schemas.openxmlformats.org/officeDocument/2006/relationships/oleObject" Target="../embeddings/oleObject25.bin"/><Relationship Id="rId9" Type="http://schemas.openxmlformats.org/officeDocument/2006/relationships/image" Target="../media/image41.png"/></Relationships>
</file>

<file path=ppt/slides/_rels/slide54.xml.rels><?xml version="1.0" encoding="UTF-8" standalone="yes"?>
<Relationships xmlns="http://schemas.openxmlformats.org/package/2006/relationships"><Relationship Id="rId3" Type="http://schemas.openxmlformats.org/officeDocument/2006/relationships/image" Target="../media/image24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251.png"/><Relationship Id="rId5" Type="http://schemas.openxmlformats.org/officeDocument/2006/relationships/image" Target="../media/image281.png"/><Relationship Id="rId4" Type="http://schemas.openxmlformats.org/officeDocument/2006/relationships/image" Target="../media/image27.png"/></Relationships>
</file>

<file path=ppt/slides/_rels/slide5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251.png"/><Relationship Id="rId5" Type="http://schemas.openxmlformats.org/officeDocument/2006/relationships/image" Target="../media/image281.png"/><Relationship Id="rId4" Type="http://schemas.openxmlformats.org/officeDocument/2006/relationships/image" Target="../media/image300.png"/></Relationships>
</file>

<file path=ppt/slides/_rels/slide58.xml.rels><?xml version="1.0" encoding="UTF-8" standalone="yes"?>
<Relationships xmlns="http://schemas.openxmlformats.org/package/2006/relationships"><Relationship Id="rId3" Type="http://schemas.openxmlformats.org/officeDocument/2006/relationships/image" Target="../media/image22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250.png"/><Relationship Id="rId4" Type="http://schemas.openxmlformats.org/officeDocument/2006/relationships/image" Target="../media/image240.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181.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63.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6.xml"/><Relationship Id="rId6" Type="http://schemas.openxmlformats.org/officeDocument/2006/relationships/image" Target="../media/image52.png"/><Relationship Id="rId5" Type="http://schemas.openxmlformats.org/officeDocument/2006/relationships/image" Target="../media/image103.png"/><Relationship Id="rId4" Type="http://schemas.openxmlformats.org/officeDocument/2006/relationships/image" Target="../media/image102.png"/></Relationships>
</file>

<file path=ppt/slides/_rels/slide71.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29.png"/><Relationship Id="rId7" Type="http://schemas.openxmlformats.org/officeDocument/2006/relationships/image" Target="../media/image52.png"/><Relationship Id="rId2" Type="http://schemas.openxmlformats.org/officeDocument/2006/relationships/image" Target="../media/image28.png"/><Relationship Id="rId1" Type="http://schemas.openxmlformats.org/officeDocument/2006/relationships/slideLayout" Target="../slideLayouts/slideLayout6.xml"/><Relationship Id="rId6" Type="http://schemas.openxmlformats.org/officeDocument/2006/relationships/image" Target="../media/image940.png"/><Relationship Id="rId5" Type="http://schemas.openxmlformats.org/officeDocument/2006/relationships/image" Target="../media/image105.png"/><Relationship Id="rId4" Type="http://schemas.openxmlformats.org/officeDocument/2006/relationships/image" Target="../media/image102.png"/></Relationships>
</file>

<file path=ppt/slides/_rels/slide72.xml.rels><?xml version="1.0" encoding="UTF-8" standalone="yes"?>
<Relationships xmlns="http://schemas.openxmlformats.org/package/2006/relationships"><Relationship Id="rId8" Type="http://schemas.openxmlformats.org/officeDocument/2006/relationships/image" Target="../media/image960.png"/><Relationship Id="rId3" Type="http://schemas.openxmlformats.org/officeDocument/2006/relationships/image" Target="../media/image29.png"/><Relationship Id="rId7" Type="http://schemas.openxmlformats.org/officeDocument/2006/relationships/image" Target="../media/image53.png"/><Relationship Id="rId2" Type="http://schemas.openxmlformats.org/officeDocument/2006/relationships/image" Target="../media/image28.png"/><Relationship Id="rId1" Type="http://schemas.openxmlformats.org/officeDocument/2006/relationships/slideLayout" Target="../slideLayouts/slideLayout6.xml"/><Relationship Id="rId6" Type="http://schemas.openxmlformats.org/officeDocument/2006/relationships/image" Target="../media/image940.png"/><Relationship Id="rId5" Type="http://schemas.openxmlformats.org/officeDocument/2006/relationships/image" Target="../media/image105.png"/><Relationship Id="rId10" Type="http://schemas.openxmlformats.org/officeDocument/2006/relationships/image" Target="../media/image52.png"/><Relationship Id="rId4" Type="http://schemas.openxmlformats.org/officeDocument/2006/relationships/image" Target="../media/image102.png"/><Relationship Id="rId9" Type="http://schemas.openxmlformats.org/officeDocument/2006/relationships/image" Target="../media/image54.png"/></Relationships>
</file>

<file path=ppt/slides/_rels/slide7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390.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57.tmp"/><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410.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5.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8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8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8" Type="http://schemas.openxmlformats.org/officeDocument/2006/relationships/image" Target="../media/image68.gif"/><Relationship Id="rId3" Type="http://schemas.openxmlformats.org/officeDocument/2006/relationships/image" Target="../media/image63.jpeg"/><Relationship Id="rId7" Type="http://schemas.openxmlformats.org/officeDocument/2006/relationships/image" Target="../media/image67.gif"/><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image" Target="../media/image66.gif"/><Relationship Id="rId5" Type="http://schemas.openxmlformats.org/officeDocument/2006/relationships/image" Target="../media/image65.gif"/><Relationship Id="rId4" Type="http://schemas.openxmlformats.org/officeDocument/2006/relationships/image" Target="../media/image64.gif"/></Relationships>
</file>

<file path=ppt/slides/_rels/slide83.xml.rels><?xml version="1.0" encoding="UTF-8" standalone="yes"?>
<Relationships xmlns="http://schemas.openxmlformats.org/package/2006/relationships"><Relationship Id="rId3" Type="http://schemas.openxmlformats.org/officeDocument/2006/relationships/image" Target="../media/image66.gif"/><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70.tmp"/><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71.tmp"/></Relationships>
</file>

<file path=ppt/slides/_rels/slide85.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slideLayout" Target="../slideLayouts/slideLayout2.xml"/><Relationship Id="rId1" Type="http://schemas.openxmlformats.org/officeDocument/2006/relationships/video" Target="https://www.youtube.com/embed/G5JT16flZwM" TargetMode="Externa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Variational Autoencoders</a:t>
            </a:r>
            <a:endParaRPr lang="he-IL" dirty="0"/>
          </a:p>
        </p:txBody>
      </p:sp>
      <p:sp>
        <p:nvSpPr>
          <p:cNvPr id="3" name="Subtitle 2"/>
          <p:cNvSpPr>
            <a:spLocks noGrp="1"/>
          </p:cNvSpPr>
          <p:nvPr>
            <p:ph type="subTitle" idx="1"/>
          </p:nvPr>
        </p:nvSpPr>
        <p:spPr>
          <a:xfrm>
            <a:off x="1524000" y="3613468"/>
            <a:ext cx="9144000" cy="1655762"/>
          </a:xfrm>
        </p:spPr>
        <p:txBody>
          <a:bodyPr>
            <a:normAutofit/>
          </a:bodyPr>
          <a:lstStyle/>
          <a:p>
            <a:r>
              <a:rPr lang="en-US" sz="3200" dirty="0"/>
              <a:t>Shangsong Liang</a:t>
            </a:r>
          </a:p>
          <a:p>
            <a:r>
              <a:rPr lang="en-US" sz="3200" dirty="0"/>
              <a:t>Sun </a:t>
            </a:r>
            <a:r>
              <a:rPr lang="en-US" sz="3200" dirty="0" err="1"/>
              <a:t>Yat-sen</a:t>
            </a:r>
            <a:r>
              <a:rPr lang="en-US" sz="3200" dirty="0"/>
              <a:t> University</a:t>
            </a:r>
          </a:p>
          <a:p>
            <a:r>
              <a:rPr lang="en-US" sz="2000" dirty="0" err="1"/>
              <a:t>Orignially</a:t>
            </a:r>
            <a:r>
              <a:rPr lang="en-US" sz="2000" dirty="0"/>
              <a:t> produced by </a:t>
            </a:r>
            <a:r>
              <a:rPr lang="en-US" sz="2000" dirty="0" err="1"/>
              <a:t>Alon</a:t>
            </a:r>
            <a:r>
              <a:rPr lang="en-US" sz="2000" dirty="0"/>
              <a:t> </a:t>
            </a:r>
            <a:r>
              <a:rPr lang="en-US" sz="2000" dirty="0" err="1"/>
              <a:t>Oring</a:t>
            </a:r>
            <a:endParaRPr lang="he-IL" sz="2000" dirty="0"/>
          </a:p>
        </p:txBody>
      </p:sp>
    </p:spTree>
    <p:extLst>
      <p:ext uri="{BB962C8B-B14F-4D97-AF65-F5344CB8AC3E}">
        <p14:creationId xmlns:p14="http://schemas.microsoft.com/office/powerpoint/2010/main" val="3001281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Recap - Autoencoders</a:t>
            </a:r>
            <a:endParaRPr lang="he-IL" dirty="0"/>
          </a:p>
        </p:txBody>
      </p:sp>
      <p:sp>
        <p:nvSpPr>
          <p:cNvPr id="3" name="Content Placeholder 2"/>
          <p:cNvSpPr>
            <a:spLocks noGrp="1"/>
          </p:cNvSpPr>
          <p:nvPr>
            <p:ph idx="1"/>
          </p:nvPr>
        </p:nvSpPr>
        <p:spPr>
          <a:xfrm>
            <a:off x="838200" y="1558925"/>
            <a:ext cx="10515600" cy="4351338"/>
          </a:xfrm>
        </p:spPr>
        <p:txBody>
          <a:bodyPr>
            <a:normAutofit/>
          </a:bodyPr>
          <a:lstStyle/>
          <a:p>
            <a:r>
              <a:rPr lang="en-US" dirty="0"/>
              <a:t>Traditional AE are models designed to output a reconstruction of their input by deconstructing input data into hidden representations and reconstructing them into the original input</a:t>
            </a:r>
          </a:p>
          <a:p>
            <a:r>
              <a:rPr lang="en-US" dirty="0"/>
              <a:t>The appeal of this setup is that the model learns its own definition of a salient representation based only on data – no labels or heuristics</a:t>
            </a:r>
          </a:p>
        </p:txBody>
      </p:sp>
      <p:pic>
        <p:nvPicPr>
          <p:cNvPr id="4" name="relu">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658143" y="3943350"/>
            <a:ext cx="8867776" cy="2533650"/>
          </a:xfrm>
          <a:prstGeom prst="rect">
            <a:avLst/>
          </a:prstGeom>
        </p:spPr>
      </p:pic>
    </p:spTree>
    <p:extLst>
      <p:ext uri="{BB962C8B-B14F-4D97-AF65-F5344CB8AC3E}">
        <p14:creationId xmlns:p14="http://schemas.microsoft.com/office/powerpoint/2010/main" val="1787338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067"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4"/>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4"/>
                                        </p:tgtEl>
                                      </p:cBhvr>
                                    </p:cmd>
                                  </p:childTnLst>
                                </p:cTn>
                              </p:par>
                            </p:childTnLst>
                          </p:cTn>
                        </p:par>
                      </p:childTnLst>
                    </p:cTn>
                  </p:par>
                </p:childTnLst>
              </p:cTn>
              <p:nextCondLst>
                <p:cond evt="onClick" delay="0">
                  <p:tgtEl>
                    <p:spTgt spid="4"/>
                  </p:tgtEl>
                </p:cond>
              </p:nextCondLst>
            </p:seq>
            <p:video>
              <p:cMediaNode vol="80000">
                <p:cTn id="12" fill="hold" display="0">
                  <p:stCondLst>
                    <p:cond delay="indefinite"/>
                  </p:stCondLst>
                </p:cTn>
                <p:tgtEl>
                  <p:spTgt spid="4"/>
                </p:tgtEl>
              </p:cMediaNode>
            </p:vide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Variational Autoencoders</a:t>
            </a:r>
          </a:p>
        </p:txBody>
      </p:sp>
      <p:sp>
        <p:nvSpPr>
          <p:cNvPr id="3" name="Content Placeholder 2"/>
          <p:cNvSpPr>
            <a:spLocks noGrp="1"/>
          </p:cNvSpPr>
          <p:nvPr>
            <p:ph idx="1"/>
          </p:nvPr>
        </p:nvSpPr>
        <p:spPr/>
        <p:txBody>
          <a:bodyPr/>
          <a:lstStyle/>
          <a:p>
            <a:r>
              <a:rPr lang="en-US" dirty="0"/>
              <a:t>A probabilistic twist on autoencoders that enables:</a:t>
            </a:r>
          </a:p>
          <a:p>
            <a:pPr lvl="1"/>
            <a:r>
              <a:rPr lang="en-US" dirty="0"/>
              <a:t>Novel image synthesis from random samples</a:t>
            </a:r>
          </a:p>
          <a:p>
            <a:pPr lvl="1"/>
            <a:r>
              <a:rPr lang="en-GB" dirty="0"/>
              <a:t>Transition from image to image or from mode to mode</a:t>
            </a:r>
          </a:p>
          <a:p>
            <a:pPr lvl="1"/>
            <a:r>
              <a:rPr lang="en-GB" dirty="0"/>
              <a:t>Aggregation of similar images to close locations in the latent space</a:t>
            </a:r>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2025" y="3885182"/>
            <a:ext cx="10267950" cy="2531904"/>
          </a:xfrm>
          <a:prstGeom prst="rect">
            <a:avLst/>
          </a:prstGeom>
        </p:spPr>
      </p:pic>
    </p:spTree>
    <p:extLst>
      <p:ext uri="{BB962C8B-B14F-4D97-AF65-F5344CB8AC3E}">
        <p14:creationId xmlns:p14="http://schemas.microsoft.com/office/powerpoint/2010/main" val="3770776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latent_circle">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838199" y="2814951"/>
            <a:ext cx="4321808" cy="3496949"/>
          </a:xfrm>
          <a:prstGeom prst="rect">
            <a:avLst/>
          </a:prstGeom>
        </p:spPr>
      </p:pic>
      <p:sp>
        <p:nvSpPr>
          <p:cNvPr id="2" name="Title 1"/>
          <p:cNvSpPr>
            <a:spLocks noGrp="1"/>
          </p:cNvSpPr>
          <p:nvPr>
            <p:ph type="title"/>
          </p:nvPr>
        </p:nvSpPr>
        <p:spPr/>
        <p:txBody>
          <a:bodyPr/>
          <a:lstStyle/>
          <a:p>
            <a:r>
              <a:rPr lang="en-US" dirty="0"/>
              <a:t>Motivation</a:t>
            </a:r>
          </a:p>
        </p:txBody>
      </p:sp>
      <p:sp>
        <p:nvSpPr>
          <p:cNvPr id="3" name="Content Placeholder 2"/>
          <p:cNvSpPr>
            <a:spLocks noGrp="1"/>
          </p:cNvSpPr>
          <p:nvPr>
            <p:ph idx="1"/>
          </p:nvPr>
        </p:nvSpPr>
        <p:spPr>
          <a:xfrm>
            <a:off x="838199" y="1825625"/>
            <a:ext cx="10243457" cy="4351338"/>
          </a:xfrm>
        </p:spPr>
        <p:txBody>
          <a:bodyPr/>
          <a:lstStyle/>
          <a:p>
            <a:r>
              <a:rPr lang="en-US" dirty="0"/>
              <a:t>Variational Autoencoders are a deep learning technique for learning useful latent representations</a:t>
            </a:r>
          </a:p>
          <a:p>
            <a:pPr marL="0" indent="0">
              <a:buNone/>
            </a:pPr>
            <a:endParaRPr lang="en-US" dirty="0"/>
          </a:p>
        </p:txBody>
      </p:sp>
      <p:pic>
        <p:nvPicPr>
          <p:cNvPr id="4" name="Picture 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998485" y="2910427"/>
            <a:ext cx="4083171" cy="3266536"/>
          </a:xfrm>
          <a:prstGeom prst="rect">
            <a:avLst/>
          </a:prstGeom>
        </p:spPr>
      </p:pic>
      <p:sp>
        <p:nvSpPr>
          <p:cNvPr id="6" name="TextBox 5"/>
          <p:cNvSpPr txBox="1"/>
          <p:nvPr/>
        </p:nvSpPr>
        <p:spPr>
          <a:xfrm>
            <a:off x="838198" y="6346371"/>
            <a:ext cx="4723615" cy="369332"/>
          </a:xfrm>
          <a:prstGeom prst="rect">
            <a:avLst/>
          </a:prstGeom>
          <a:noFill/>
        </p:spPr>
        <p:txBody>
          <a:bodyPr wrap="square" rtlCol="0">
            <a:spAutoFit/>
          </a:bodyPr>
          <a:lstStyle/>
          <a:p>
            <a:pPr algn="ctr"/>
            <a:r>
              <a:rPr lang="en-US" i="1" dirty="0"/>
              <a:t>Regular Autoencoder on MNIST dataset</a:t>
            </a:r>
          </a:p>
        </p:txBody>
      </p:sp>
      <p:sp>
        <p:nvSpPr>
          <p:cNvPr id="7" name="TextBox 6"/>
          <p:cNvSpPr txBox="1"/>
          <p:nvPr/>
        </p:nvSpPr>
        <p:spPr>
          <a:xfrm>
            <a:off x="6759848" y="6346371"/>
            <a:ext cx="4593952" cy="369332"/>
          </a:xfrm>
          <a:prstGeom prst="rect">
            <a:avLst/>
          </a:prstGeom>
          <a:noFill/>
        </p:spPr>
        <p:txBody>
          <a:bodyPr wrap="square" rtlCol="0">
            <a:spAutoFit/>
          </a:bodyPr>
          <a:lstStyle/>
          <a:p>
            <a:pPr algn="ctr"/>
            <a:r>
              <a:rPr lang="en-US" i="1" dirty="0"/>
              <a:t>Variational Autoencoder on CelebA dataset</a:t>
            </a:r>
          </a:p>
        </p:txBody>
      </p:sp>
    </p:spTree>
    <p:extLst>
      <p:ext uri="{BB962C8B-B14F-4D97-AF65-F5344CB8AC3E}">
        <p14:creationId xmlns:p14="http://schemas.microsoft.com/office/powerpoint/2010/main" val="2187251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673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5417428" cy="1325563"/>
          </a:xfrm>
        </p:spPr>
        <p:txBody>
          <a:bodyPr/>
          <a:lstStyle/>
          <a:p>
            <a:r>
              <a:rPr lang="en-US" dirty="0"/>
              <a:t>Architecture</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55628" y="0"/>
            <a:ext cx="5936372" cy="6858000"/>
          </a:xfrm>
          <a:prstGeom prst="rect">
            <a:avLst/>
          </a:prstGeom>
        </p:spPr>
      </p:pic>
      <p:sp>
        <p:nvSpPr>
          <p:cNvPr id="6" name="Content Placeholder 5"/>
          <p:cNvSpPr>
            <a:spLocks noGrp="1"/>
          </p:cNvSpPr>
          <p:nvPr>
            <p:ph idx="1"/>
          </p:nvPr>
        </p:nvSpPr>
        <p:spPr>
          <a:xfrm>
            <a:off x="838200" y="1825625"/>
            <a:ext cx="5417428" cy="4351338"/>
          </a:xfrm>
        </p:spPr>
        <p:txBody>
          <a:bodyPr/>
          <a:lstStyle/>
          <a:p>
            <a:r>
              <a:rPr lang="en-US" dirty="0"/>
              <a:t>Very similar to the regular autoencoder</a:t>
            </a:r>
          </a:p>
          <a:p>
            <a:r>
              <a:rPr lang="en-US" dirty="0"/>
              <a:t>The probabilistic nature of the VAE is enabled using a sampling layer</a:t>
            </a:r>
          </a:p>
          <a:p>
            <a:endParaRPr lang="en-US" dirty="0"/>
          </a:p>
        </p:txBody>
      </p:sp>
    </p:spTree>
    <p:extLst>
      <p:ext uri="{BB962C8B-B14F-4D97-AF65-F5344CB8AC3E}">
        <p14:creationId xmlns:p14="http://schemas.microsoft.com/office/powerpoint/2010/main" val="8891993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VAE </a:t>
            </a:r>
            <a:r>
              <a:rPr lang="x-none" dirty="0"/>
              <a:t>–</a:t>
            </a:r>
            <a:r>
              <a:rPr lang="en-US" dirty="0"/>
              <a:t> Probabilistic Intuition</a:t>
            </a:r>
          </a:p>
        </p:txBody>
      </p:sp>
      <p:pic>
        <p:nvPicPr>
          <p:cNvPr id="4" name="Content Placeholder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91838" y="1597405"/>
            <a:ext cx="9008324" cy="5046283"/>
          </a:xfrm>
          <a:prstGeom prst="rect">
            <a:avLst/>
          </a:prstGeom>
        </p:spPr>
      </p:pic>
    </p:spTree>
    <p:extLst>
      <p:ext uri="{BB962C8B-B14F-4D97-AF65-F5344CB8AC3E}">
        <p14:creationId xmlns:p14="http://schemas.microsoft.com/office/powerpoint/2010/main" val="25742421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Latent Space Representation</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99271" y="2044758"/>
            <a:ext cx="3802411" cy="3877601"/>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39651" y="2044758"/>
            <a:ext cx="3759447" cy="3877601"/>
          </a:xfrm>
          <a:prstGeom prst="rect">
            <a:avLst/>
          </a:prstGeom>
        </p:spPr>
      </p:pic>
      <p:sp>
        <p:nvSpPr>
          <p:cNvPr id="6" name="TextBox 5"/>
          <p:cNvSpPr txBox="1"/>
          <p:nvPr/>
        </p:nvSpPr>
        <p:spPr>
          <a:xfrm>
            <a:off x="1399271" y="6091763"/>
            <a:ext cx="3802411" cy="369332"/>
          </a:xfrm>
          <a:prstGeom prst="rect">
            <a:avLst/>
          </a:prstGeom>
          <a:noFill/>
        </p:spPr>
        <p:txBody>
          <a:bodyPr wrap="square" rtlCol="0">
            <a:spAutoFit/>
          </a:bodyPr>
          <a:lstStyle/>
          <a:p>
            <a:pPr algn="ctr"/>
            <a:r>
              <a:rPr lang="en-US" i="1" dirty="0"/>
              <a:t>Autoencoder</a:t>
            </a:r>
          </a:p>
        </p:txBody>
      </p:sp>
      <p:sp>
        <p:nvSpPr>
          <p:cNvPr id="7" name="TextBox 6"/>
          <p:cNvSpPr txBox="1"/>
          <p:nvPr/>
        </p:nvSpPr>
        <p:spPr>
          <a:xfrm>
            <a:off x="6939651" y="6091763"/>
            <a:ext cx="3802411" cy="369332"/>
          </a:xfrm>
          <a:prstGeom prst="rect">
            <a:avLst/>
          </a:prstGeom>
          <a:noFill/>
        </p:spPr>
        <p:txBody>
          <a:bodyPr wrap="square" rtlCol="0">
            <a:spAutoFit/>
          </a:bodyPr>
          <a:lstStyle/>
          <a:p>
            <a:pPr algn="ctr"/>
            <a:r>
              <a:rPr lang="en-US" i="1" dirty="0"/>
              <a:t>Variational Autoencoder</a:t>
            </a:r>
          </a:p>
        </p:txBody>
      </p:sp>
    </p:spTree>
    <p:extLst>
      <p:ext uri="{BB962C8B-B14F-4D97-AF65-F5344CB8AC3E}">
        <p14:creationId xmlns:p14="http://schemas.microsoft.com/office/powerpoint/2010/main" val="2186011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Information Theory Recap</a:t>
            </a:r>
            <a:endParaRPr lang="he-IL" dirty="0"/>
          </a:p>
        </p:txBody>
      </p:sp>
    </p:spTree>
    <p:extLst>
      <p:ext uri="{BB962C8B-B14F-4D97-AF65-F5344CB8AC3E}">
        <p14:creationId xmlns:p14="http://schemas.microsoft.com/office/powerpoint/2010/main" val="41277755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Information </a:t>
            </a:r>
            <a:r>
              <a:rPr lang="x-none" dirty="0"/>
              <a:t>–</a:t>
            </a:r>
            <a:r>
              <a:rPr lang="en-US" dirty="0"/>
              <a:t> Definition and Intuition</a:t>
            </a:r>
            <a:endParaRPr lang="he-IL"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825625"/>
                <a:ext cx="11186160" cy="4351338"/>
              </a:xfrm>
            </p:spPr>
            <p:txBody>
              <a:bodyPr>
                <a:normAutofit fontScale="92500"/>
              </a:bodyPr>
              <a:lstStyle/>
              <a:p>
                <a:r>
                  <a:rPr lang="en-US" dirty="0"/>
                  <a:t>Lets define an information function, </a:t>
                </a:r>
                <a14:m>
                  <m:oMath xmlns:m="http://schemas.openxmlformats.org/officeDocument/2006/math">
                    <m:r>
                      <a:rPr lang="en-US" b="0" i="1" smtClean="0">
                        <a:latin typeface="Cambria Math" panose="02040503050406030204" pitchFamily="18" charset="0"/>
                      </a:rPr>
                      <m:t>𝐼</m:t>
                    </m:r>
                  </m:oMath>
                </a14:m>
                <a:r>
                  <a:rPr lang="en-US" dirty="0"/>
                  <a:t>, in terms of an event with probability </a:t>
                </a:r>
                <a14:m>
                  <m:oMath xmlns:m="http://schemas.openxmlformats.org/officeDocument/2006/math">
                    <m:r>
                      <a:rPr lang="en-US" b="0" i="1" smtClean="0">
                        <a:latin typeface="Cambria Math" panose="02040503050406030204" pitchFamily="18" charset="0"/>
                      </a:rPr>
                      <m:t>𝑃</m:t>
                    </m:r>
                  </m:oMath>
                </a14:m>
                <a:r>
                  <a:rPr lang="en-US" dirty="0"/>
                  <a:t>. What should be its properties?</a:t>
                </a:r>
              </a:p>
              <a:p>
                <a:endParaRPr lang="en-US" dirty="0"/>
              </a:p>
              <a:p>
                <a:pPr lvl="1"/>
                <a14:m>
                  <m:oMath xmlns:m="http://schemas.openxmlformats.org/officeDocument/2006/math">
                    <m:r>
                      <a:rPr lang="en-US" sz="2800" i="1">
                        <a:latin typeface="Cambria Math" panose="02040503050406030204" pitchFamily="18" charset="0"/>
                      </a:rPr>
                      <m:t>𝐼</m:t>
                    </m:r>
                    <m:r>
                      <a:rPr lang="en-US" sz="2800" b="0" i="1" smtClean="0">
                        <a:latin typeface="Cambria Math" panose="02040503050406030204" pitchFamily="18" charset="0"/>
                      </a:rPr>
                      <m:t>(</m:t>
                    </m:r>
                    <m:r>
                      <a:rPr lang="en-US" sz="2800" b="0" i="1" smtClean="0">
                        <a:latin typeface="Cambria Math" panose="02040503050406030204" pitchFamily="18" charset="0"/>
                      </a:rPr>
                      <m:t>𝑃</m:t>
                    </m:r>
                    <m:r>
                      <a:rPr lang="en-US" sz="2800" b="0" i="1" smtClean="0">
                        <a:latin typeface="Cambria Math" panose="02040503050406030204" pitchFamily="18" charset="0"/>
                      </a:rPr>
                      <m:t>)</m:t>
                    </m:r>
                  </m:oMath>
                </a14:m>
                <a:r>
                  <a:rPr lang="en-US" sz="2800" dirty="0"/>
                  <a:t> is monotonically decreasing </a:t>
                </a:r>
                <a:r>
                  <a:rPr lang="x-none" sz="2800" dirty="0"/>
                  <a:t>–</a:t>
                </a:r>
                <a:r>
                  <a:rPr lang="en-US" sz="2800" dirty="0"/>
                  <a:t> an increase in the probability decreases the information from an observed event</a:t>
                </a:r>
              </a:p>
              <a:p>
                <a:pPr lvl="1"/>
                <a14:m>
                  <m:oMath xmlns:m="http://schemas.openxmlformats.org/officeDocument/2006/math">
                    <m:r>
                      <a:rPr lang="en-US" sz="2800" i="1">
                        <a:latin typeface="Cambria Math" panose="02040503050406030204" pitchFamily="18" charset="0"/>
                      </a:rPr>
                      <m:t>𝐼</m:t>
                    </m:r>
                    <m:d>
                      <m:dPr>
                        <m:ctrlPr>
                          <a:rPr lang="en-US" sz="2800" i="1">
                            <a:latin typeface="Cambria Math" panose="02040503050406030204" pitchFamily="18" charset="0"/>
                          </a:rPr>
                        </m:ctrlPr>
                      </m:dPr>
                      <m:e>
                        <m:r>
                          <a:rPr lang="en-US" sz="2800" i="1">
                            <a:latin typeface="Cambria Math" panose="02040503050406030204" pitchFamily="18" charset="0"/>
                          </a:rPr>
                          <m:t>𝑃</m:t>
                        </m:r>
                      </m:e>
                    </m:d>
                    <m:r>
                      <a:rPr lang="en-US" sz="2800" b="0" i="1" smtClean="0">
                        <a:latin typeface="Cambria Math" panose="02040503050406030204" pitchFamily="18" charset="0"/>
                      </a:rPr>
                      <m:t>≥0</m:t>
                    </m:r>
                  </m:oMath>
                </a14:m>
                <a:endParaRPr lang="en-US" sz="2800" b="0" dirty="0"/>
              </a:p>
              <a:p>
                <a:pPr lvl="1"/>
                <a14:m>
                  <m:oMath xmlns:m="http://schemas.openxmlformats.org/officeDocument/2006/math">
                    <m:r>
                      <a:rPr lang="en-US" sz="2800" i="1">
                        <a:latin typeface="Cambria Math" panose="02040503050406030204" pitchFamily="18" charset="0"/>
                      </a:rPr>
                      <m:t>𝐼</m:t>
                    </m:r>
                    <m:d>
                      <m:dPr>
                        <m:ctrlPr>
                          <a:rPr lang="en-US" sz="2800" i="1">
                            <a:latin typeface="Cambria Math" panose="02040503050406030204" pitchFamily="18" charset="0"/>
                          </a:rPr>
                        </m:ctrlPr>
                      </m:dPr>
                      <m:e>
                        <m:r>
                          <a:rPr lang="en-US" sz="2800" b="0" i="1" smtClean="0">
                            <a:latin typeface="Cambria Math" panose="02040503050406030204" pitchFamily="18" charset="0"/>
                          </a:rPr>
                          <m:t>1</m:t>
                        </m:r>
                      </m:e>
                    </m:d>
                    <m:r>
                      <a:rPr lang="en-US" sz="2800" b="0" i="1" smtClean="0">
                        <a:latin typeface="Cambria Math" panose="02040503050406030204" pitchFamily="18" charset="0"/>
                      </a:rPr>
                      <m:t>=0</m:t>
                    </m:r>
                  </m:oMath>
                </a14:m>
                <a:endParaRPr lang="en-US" sz="2800" b="0" dirty="0"/>
              </a:p>
              <a:p>
                <a:pPr lvl="1"/>
                <a14:m>
                  <m:oMath xmlns:m="http://schemas.openxmlformats.org/officeDocument/2006/math">
                    <m:r>
                      <a:rPr lang="en-US" sz="2800" i="1">
                        <a:latin typeface="Cambria Math" panose="02040503050406030204" pitchFamily="18" charset="0"/>
                      </a:rPr>
                      <m:t>𝐼</m:t>
                    </m:r>
                    <m:d>
                      <m:dPr>
                        <m:ctrlPr>
                          <a:rPr lang="en-US" sz="2800" i="1">
                            <a:latin typeface="Cambria Math" panose="02040503050406030204" pitchFamily="18" charset="0"/>
                          </a:rPr>
                        </m:ctrlPr>
                      </m:dPr>
                      <m:e>
                        <m:sSub>
                          <m:sSubPr>
                            <m:ctrlPr>
                              <a:rPr lang="en-US" sz="2800" b="0" i="1" smtClean="0">
                                <a:latin typeface="Cambria Math" panose="02040503050406030204" pitchFamily="18" charset="0"/>
                              </a:rPr>
                            </m:ctrlPr>
                          </m:sSubPr>
                          <m:e>
                            <m:r>
                              <a:rPr lang="en-US" sz="2800" i="1">
                                <a:latin typeface="Cambria Math" panose="02040503050406030204" pitchFamily="18" charset="0"/>
                              </a:rPr>
                              <m:t>𝑃</m:t>
                            </m:r>
                          </m:e>
                          <m:sub>
                            <m:r>
                              <a:rPr lang="en-US" sz="2800" b="0" i="1" smtClean="0">
                                <a:latin typeface="Cambria Math" panose="02040503050406030204" pitchFamily="18" charset="0"/>
                              </a:rPr>
                              <m:t>1</m:t>
                            </m:r>
                          </m:sub>
                        </m:sSub>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𝑃</m:t>
                            </m:r>
                          </m:e>
                          <m:sub>
                            <m:r>
                              <a:rPr lang="en-US" sz="2800" b="0" i="1" smtClean="0">
                                <a:latin typeface="Cambria Math" panose="02040503050406030204" pitchFamily="18" charset="0"/>
                              </a:rPr>
                              <m:t>2</m:t>
                            </m:r>
                          </m:sub>
                        </m:sSub>
                      </m:e>
                    </m:d>
                    <m:r>
                      <a:rPr lang="en-US" sz="2800" b="0" i="1" smtClean="0">
                        <a:latin typeface="Cambria Math" panose="02040503050406030204" pitchFamily="18" charset="0"/>
                      </a:rPr>
                      <m:t>=</m:t>
                    </m:r>
                    <m:r>
                      <a:rPr lang="en-US" sz="2800" b="0" i="1" smtClean="0">
                        <a:latin typeface="Cambria Math" panose="02040503050406030204" pitchFamily="18" charset="0"/>
                      </a:rPr>
                      <m:t>𝐼</m:t>
                    </m:r>
                    <m:d>
                      <m:dPr>
                        <m:ctrlPr>
                          <a:rPr lang="en-US" sz="2800" b="0" i="1" smtClean="0">
                            <a:latin typeface="Cambria Math" panose="02040503050406030204" pitchFamily="18" charset="0"/>
                          </a:rPr>
                        </m:ctrlPr>
                      </m:dPr>
                      <m:e>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𝑃</m:t>
                            </m:r>
                          </m:e>
                          <m:sub>
                            <m:r>
                              <a:rPr lang="en-US" sz="2800" b="0" i="1" smtClean="0">
                                <a:latin typeface="Cambria Math" panose="02040503050406030204" pitchFamily="18" charset="0"/>
                              </a:rPr>
                              <m:t>1</m:t>
                            </m:r>
                          </m:sub>
                        </m:sSub>
                      </m:e>
                    </m:d>
                    <m:r>
                      <a:rPr lang="en-US" sz="2800" b="0" i="1" smtClean="0">
                        <a:latin typeface="Cambria Math" panose="02040503050406030204" pitchFamily="18" charset="0"/>
                      </a:rPr>
                      <m:t>+</m:t>
                    </m:r>
                    <m:r>
                      <a:rPr lang="en-US" sz="2800" b="0" i="1" smtClean="0">
                        <a:latin typeface="Cambria Math" panose="02040503050406030204" pitchFamily="18" charset="0"/>
                      </a:rPr>
                      <m:t>𝐼</m:t>
                    </m:r>
                    <m:d>
                      <m:dPr>
                        <m:ctrlPr>
                          <a:rPr lang="en-US" sz="2800" b="0" i="1" smtClean="0">
                            <a:latin typeface="Cambria Math" panose="02040503050406030204" pitchFamily="18" charset="0"/>
                          </a:rPr>
                        </m:ctrlPr>
                      </m:dPr>
                      <m:e>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𝑃</m:t>
                            </m:r>
                          </m:e>
                          <m:sub>
                            <m:r>
                              <a:rPr lang="en-US" sz="2800" b="0" i="1" smtClean="0">
                                <a:latin typeface="Cambria Math" panose="02040503050406030204" pitchFamily="18" charset="0"/>
                              </a:rPr>
                              <m:t>2</m:t>
                            </m:r>
                          </m:sub>
                        </m:sSub>
                      </m:e>
                    </m:d>
                  </m:oMath>
                </a14:m>
                <a:r>
                  <a:rPr lang="en-US" sz="2800" dirty="0"/>
                  <a:t> - Information due to independent events is additive</a:t>
                </a:r>
              </a:p>
              <a:p>
                <a:pPr lvl="1"/>
                <a:endParaRPr lang="en-US" dirty="0"/>
              </a:p>
              <a:p>
                <a:r>
                  <a:rPr lang="en-US" dirty="0"/>
                  <a:t>We can guess entropy is </a:t>
                </a:r>
                <a14:m>
                  <m:oMath xmlns:m="http://schemas.openxmlformats.org/officeDocument/2006/math">
                    <m:r>
                      <a:rPr lang="en-US" i="1">
                        <a:latin typeface="Cambria Math" panose="02040503050406030204" pitchFamily="18" charset="0"/>
                      </a:rPr>
                      <m:t>𝐼</m:t>
                    </m:r>
                    <m:d>
                      <m:dPr>
                        <m:ctrlPr>
                          <a:rPr lang="en-US" i="1">
                            <a:latin typeface="Cambria Math" panose="02040503050406030204" pitchFamily="18" charset="0"/>
                          </a:rPr>
                        </m:ctrlPr>
                      </m:dPr>
                      <m:e>
                        <m:r>
                          <a:rPr lang="en-US" i="1">
                            <a:latin typeface="Cambria Math" panose="02040503050406030204" pitchFamily="18" charset="0"/>
                          </a:rPr>
                          <m:t>𝑃</m:t>
                        </m:r>
                      </m:e>
                    </m:d>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e>
                    </m:func>
                  </m:oMath>
                </a14:m>
                <a:r>
                  <a:rPr lang="en-US" dirty="0"/>
                  <a:t> </a:t>
                </a:r>
                <a:endParaRPr lang="he-IL"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825625"/>
                <a:ext cx="11186160" cy="4351338"/>
              </a:xfrm>
              <a:blipFill>
                <a:blip r:embed="rId3"/>
                <a:stretch>
                  <a:fillRect l="-872" t="-2101" r="-545"/>
                </a:stretch>
              </a:blipFill>
            </p:spPr>
            <p:txBody>
              <a:bodyPr/>
              <a:lstStyle/>
              <a:p>
                <a:r>
                  <a:rPr lang="en-US">
                    <a:noFill/>
                  </a:rPr>
                  <a:t> </a:t>
                </a:r>
              </a:p>
            </p:txBody>
          </p:sp>
        </mc:Fallback>
      </mc:AlternateContent>
    </p:spTree>
    <p:extLst>
      <p:ext uri="{BB962C8B-B14F-4D97-AF65-F5344CB8AC3E}">
        <p14:creationId xmlns:p14="http://schemas.microsoft.com/office/powerpoint/2010/main" val="22933362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Information - Derivation</a:t>
            </a:r>
            <a:endParaRPr lang="he-IL"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0" lvl="1" indent="0">
                  <a:spcBef>
                    <a:spcPts val="1000"/>
                  </a:spcBef>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𝐼</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2</m:t>
                              </m:r>
                            </m:sub>
                          </m:sSub>
                        </m:e>
                      </m:d>
                      <m:r>
                        <a:rPr lang="en-US" i="1">
                          <a:latin typeface="Cambria Math" panose="02040503050406030204" pitchFamily="18" charset="0"/>
                        </a:rPr>
                        <m:t>=</m:t>
                      </m:r>
                      <m:r>
                        <a:rPr lang="en-US" i="1">
                          <a:latin typeface="Cambria Math" panose="02040503050406030204" pitchFamily="18" charset="0"/>
                        </a:rPr>
                        <m:t>𝐼</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1</m:t>
                              </m:r>
                            </m:sub>
                          </m:sSub>
                        </m:e>
                      </m:d>
                      <m:r>
                        <a:rPr lang="en-US" i="1">
                          <a:latin typeface="Cambria Math" panose="02040503050406030204" pitchFamily="18" charset="0"/>
                        </a:rPr>
                        <m:t>+</m:t>
                      </m:r>
                      <m:r>
                        <a:rPr lang="en-US" i="1">
                          <a:latin typeface="Cambria Math" panose="02040503050406030204" pitchFamily="18" charset="0"/>
                        </a:rPr>
                        <m:t>𝐼</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2</m:t>
                          </m:r>
                        </m:sub>
                      </m:sSub>
                      <m:r>
                        <a:rPr lang="en-US" i="1">
                          <a:latin typeface="Cambria Math" panose="02040503050406030204" pitchFamily="18" charset="0"/>
                        </a:rPr>
                        <m:t>)</m:t>
                      </m:r>
                    </m:oMath>
                  </m:oMathPara>
                </a14:m>
                <a:endParaRPr lang="en-US" dirty="0"/>
              </a:p>
              <a:p>
                <a:pPr marL="0" lvl="1" indent="0">
                  <a:spcBef>
                    <a:spcPts val="1000"/>
                  </a:spcBef>
                  <a:buNone/>
                </a:pPr>
                <a:endParaRPr lang="en-US" dirty="0"/>
              </a:p>
              <a:p>
                <a:pPr marL="0" lvl="1" indent="0">
                  <a:spcBef>
                    <a:spcPts val="1000"/>
                  </a:spcBef>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i="1" smtClean="0">
                                  <a:latin typeface="Cambria Math" panose="02040503050406030204" pitchFamily="18" charset="0"/>
                                </a:rPr>
                                <m:t>𝜕</m:t>
                              </m:r>
                            </m:e>
                            <m:sup>
                              <m:r>
                                <a:rPr lang="en-US" b="0" i="1" smtClean="0">
                                  <a:latin typeface="Cambria Math" panose="02040503050406030204" pitchFamily="18" charset="0"/>
                                </a:rPr>
                                <m:t>2</m:t>
                              </m:r>
                            </m:sup>
                          </m:sSup>
                        </m:num>
                        <m:den>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1</m:t>
                              </m:r>
                            </m:sub>
                          </m:sSub>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2</m:t>
                              </m:r>
                            </m:sub>
                          </m:sSub>
                        </m:den>
                      </m:f>
                      <m:r>
                        <a:rPr lang="en-US" i="1">
                          <a:latin typeface="Cambria Math" panose="02040503050406030204" pitchFamily="18" charset="0"/>
                        </a:rPr>
                        <m:t>𝐼</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2</m:t>
                              </m:r>
                            </m:sub>
                          </m:sSub>
                        </m:e>
                      </m:d>
                      <m:r>
                        <a:rPr lang="en-US" i="1">
                          <a:latin typeface="Cambria Math" panose="02040503050406030204" pitchFamily="18" charset="0"/>
                        </a:rPr>
                        <m:t>=</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m:t>
                              </m:r>
                            </m:e>
                            <m:sup>
                              <m:r>
                                <a:rPr lang="en-US" i="1">
                                  <a:latin typeface="Cambria Math" panose="02040503050406030204" pitchFamily="18" charset="0"/>
                                </a:rPr>
                                <m:t>2</m:t>
                              </m:r>
                            </m:sup>
                          </m:sSup>
                        </m:num>
                        <m:den>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2</m:t>
                              </m:r>
                            </m:sub>
                          </m:sSub>
                        </m:den>
                      </m:f>
                      <m:d>
                        <m:dPr>
                          <m:begChr m:val="["/>
                          <m:endChr m:val="]"/>
                          <m:ctrlPr>
                            <a:rPr lang="en-US" b="0" i="1" smtClean="0">
                              <a:latin typeface="Cambria Math" panose="02040503050406030204" pitchFamily="18" charset="0"/>
                            </a:rPr>
                          </m:ctrlPr>
                        </m:dPr>
                        <m:e>
                          <m:r>
                            <a:rPr lang="en-US" i="1">
                              <a:latin typeface="Cambria Math" panose="02040503050406030204" pitchFamily="18" charset="0"/>
                            </a:rPr>
                            <m:t>𝐼</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1</m:t>
                                  </m:r>
                                </m:sub>
                              </m:sSub>
                            </m:e>
                          </m:d>
                          <m:r>
                            <a:rPr lang="en-US" i="1">
                              <a:latin typeface="Cambria Math" panose="02040503050406030204" pitchFamily="18" charset="0"/>
                            </a:rPr>
                            <m:t>+</m:t>
                          </m:r>
                          <m:r>
                            <a:rPr lang="en-US" i="1">
                              <a:latin typeface="Cambria Math" panose="02040503050406030204" pitchFamily="18" charset="0"/>
                            </a:rPr>
                            <m:t>𝐼</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2</m:t>
                                  </m:r>
                                </m:sub>
                              </m:sSub>
                            </m:e>
                          </m:d>
                        </m:e>
                      </m:d>
                    </m:oMath>
                  </m:oMathPara>
                </a14:m>
                <a:endParaRPr lang="en-US" b="0" dirty="0"/>
              </a:p>
              <a:p>
                <a:pPr marL="0" lvl="1" indent="0">
                  <a:spcBef>
                    <a:spcPts val="1000"/>
                  </a:spcBef>
                  <a:buNone/>
                </a:pPr>
                <a:endParaRPr lang="en-US" b="0" dirty="0"/>
              </a:p>
              <a:p>
                <a:pPr marL="0" lvl="1" indent="0">
                  <a:spcBef>
                    <a:spcPts val="1000"/>
                  </a:spcBef>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2</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𝐼</m:t>
                          </m:r>
                        </m:e>
                        <m:sup>
                          <m:r>
                            <a:rPr lang="en-US" b="0" i="1" smtClean="0">
                              <a:latin typeface="Cambria Math" panose="02040503050406030204" pitchFamily="18" charset="0"/>
                            </a:rPr>
                            <m:t>′′</m:t>
                          </m:r>
                        </m:sup>
                      </m:sSup>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2</m:t>
                              </m:r>
                            </m:sub>
                          </m:sSub>
                        </m:e>
                      </m:d>
                      <m:r>
                        <a:rPr lang="en-US" b="0" i="1" smtClean="0">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𝐼</m:t>
                          </m:r>
                        </m:e>
                        <m:sup>
                          <m:r>
                            <a:rPr lang="en-US" i="1">
                              <a:latin typeface="Cambria Math" panose="02040503050406030204" pitchFamily="18" charset="0"/>
                            </a:rPr>
                            <m:t>′</m:t>
                          </m:r>
                        </m:sup>
                      </m:sSup>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2</m:t>
                              </m:r>
                            </m:sub>
                          </m:sSub>
                        </m:e>
                      </m:d>
                      <m:r>
                        <a:rPr lang="en-US" i="1">
                          <a:latin typeface="Cambria Math" panose="02040503050406030204" pitchFamily="18" charset="0"/>
                        </a:rPr>
                        <m:t>=</m:t>
                      </m:r>
                      <m:r>
                        <a:rPr lang="en-US" b="0" i="1" smtClean="0">
                          <a:latin typeface="Cambria Math" panose="02040503050406030204" pitchFamily="18" charset="0"/>
                        </a:rPr>
                        <m:t>0</m:t>
                      </m:r>
                    </m:oMath>
                  </m:oMathPara>
                </a14:m>
                <a:endParaRPr lang="en-US" b="0" dirty="0"/>
              </a:p>
              <a:p>
                <a:pPr marL="0" lvl="1" indent="0">
                  <a:spcBef>
                    <a:spcPts val="1000"/>
                  </a:spcBef>
                  <a:buNone/>
                </a:pPr>
                <a:endParaRPr lang="en-US" b="0" dirty="0"/>
              </a:p>
              <a:p>
                <a:pPr marL="0" lvl="1" indent="0">
                  <a:spcBef>
                    <a:spcPts val="1000"/>
                  </a:spcBef>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𝑢</m:t>
                      </m:r>
                      <m:r>
                        <a:rPr lang="en-US" b="0" i="1" smtClean="0">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𝐼</m:t>
                          </m:r>
                        </m:e>
                        <m:sup>
                          <m:r>
                            <a:rPr lang="en-US" i="1">
                              <a:latin typeface="Cambria Math" panose="02040503050406030204" pitchFamily="18" charset="0"/>
                            </a:rPr>
                            <m:t>′′</m:t>
                          </m:r>
                        </m:sup>
                      </m:sSup>
                      <m:d>
                        <m:dPr>
                          <m:ctrlPr>
                            <a:rPr lang="en-US" i="1">
                              <a:latin typeface="Cambria Math" panose="02040503050406030204" pitchFamily="18" charset="0"/>
                            </a:rPr>
                          </m:ctrlPr>
                        </m:dPr>
                        <m:e>
                          <m:r>
                            <a:rPr lang="en-US" b="0" i="1" smtClean="0">
                              <a:latin typeface="Cambria Math" panose="02040503050406030204" pitchFamily="18" charset="0"/>
                            </a:rPr>
                            <m:t>𝑢</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𝐼</m:t>
                          </m:r>
                        </m:e>
                        <m:sup>
                          <m:r>
                            <a:rPr lang="en-US" b="0" i="1" smtClean="0">
                              <a:latin typeface="Cambria Math" panose="02040503050406030204" pitchFamily="18" charset="0"/>
                            </a:rPr>
                            <m:t>′</m:t>
                          </m:r>
                        </m:sup>
                      </m:sSup>
                      <m:d>
                        <m:dPr>
                          <m:ctrlPr>
                            <a:rPr lang="en-US" b="0" i="1" smtClean="0">
                              <a:latin typeface="Cambria Math" panose="02040503050406030204" pitchFamily="18" charset="0"/>
                            </a:rPr>
                          </m:ctrlPr>
                        </m:dPr>
                        <m:e>
                          <m:r>
                            <a:rPr lang="en-US" b="0" i="1" smtClean="0">
                              <a:latin typeface="Cambria Math" panose="02040503050406030204" pitchFamily="18" charset="0"/>
                            </a:rPr>
                            <m:t>𝑢</m:t>
                          </m:r>
                        </m:e>
                      </m:d>
                      <m:r>
                        <a:rPr lang="en-US" b="0" i="1" smtClean="0">
                          <a:latin typeface="Cambria Math" panose="02040503050406030204" pitchFamily="18" charset="0"/>
                        </a:rPr>
                        <m:t>=0</m:t>
                      </m:r>
                    </m:oMath>
                  </m:oMathPara>
                </a14:m>
                <a:endParaRPr lang="en-US" b="0" dirty="0"/>
              </a:p>
              <a:p>
                <a:pPr marL="0" lvl="1" indent="0">
                  <a:spcBef>
                    <a:spcPts val="1000"/>
                  </a:spcBef>
                  <a:buNone/>
                </a:pPr>
                <a:endParaRPr lang="en-US" b="0" dirty="0"/>
              </a:p>
              <a:p>
                <a:pPr marL="0" lvl="1" indent="0">
                  <a:spcBef>
                    <a:spcPts val="1000"/>
                  </a:spcBef>
                  <a:buNone/>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𝑢</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𝐼</m:t>
                                  </m:r>
                                </m:e>
                                <m:sup>
                                  <m:r>
                                    <a:rPr lang="en-US" b="0" i="1" smtClean="0">
                                      <a:latin typeface="Cambria Math" panose="02040503050406030204" pitchFamily="18" charset="0"/>
                                    </a:rPr>
                                    <m:t>′</m:t>
                                  </m:r>
                                </m:sup>
                              </m:sSup>
                              <m:d>
                                <m:dPr>
                                  <m:ctrlPr>
                                    <a:rPr lang="en-US" b="0" i="1" smtClean="0">
                                      <a:latin typeface="Cambria Math" panose="02040503050406030204" pitchFamily="18" charset="0"/>
                                    </a:rPr>
                                  </m:ctrlPr>
                                </m:dPr>
                                <m:e>
                                  <m:r>
                                    <a:rPr lang="en-US" b="0" i="1" smtClean="0">
                                      <a:latin typeface="Cambria Math" panose="02040503050406030204" pitchFamily="18" charset="0"/>
                                    </a:rPr>
                                    <m:t>𝑢</m:t>
                                  </m:r>
                                </m:e>
                              </m:d>
                            </m:e>
                          </m:d>
                        </m:e>
                        <m:sup>
                          <m:r>
                            <a:rPr lang="en-US" b="0" i="1" smtClean="0">
                              <a:latin typeface="Cambria Math" panose="02040503050406030204" pitchFamily="18" charset="0"/>
                            </a:rPr>
                            <m:t>′</m:t>
                          </m:r>
                        </m:sup>
                      </m:sSup>
                      <m:r>
                        <a:rPr lang="en-US" i="1">
                          <a:latin typeface="Cambria Math" panose="02040503050406030204" pitchFamily="18" charset="0"/>
                        </a:rPr>
                        <m:t>=0</m:t>
                      </m:r>
                    </m:oMath>
                  </m:oMathPara>
                </a14:m>
                <a:endParaRPr lang="en-US" dirty="0"/>
              </a:p>
              <a:p>
                <a:pPr marL="0" lvl="1" indent="0">
                  <a:spcBef>
                    <a:spcPts val="1000"/>
                  </a:spcBef>
                  <a:buNone/>
                </a:pPr>
                <a:endParaRPr lang="en-US" b="0" dirty="0"/>
              </a:p>
              <a:p>
                <a:pPr marL="228600" lvl="1">
                  <a:spcBef>
                    <a:spcPts val="1000"/>
                  </a:spcBef>
                </a:pPr>
                <a:endParaRPr lang="he-IL" dirty="0"/>
              </a:p>
              <a:p>
                <a:endParaRPr lang="he-IL"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9384223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Information </a:t>
            </a:r>
            <a:r>
              <a:rPr lang="x-none" dirty="0"/>
              <a:t>–</a:t>
            </a:r>
            <a:r>
              <a:rPr lang="en-US" dirty="0"/>
              <a:t> Derivation </a:t>
            </a:r>
            <a:r>
              <a:rPr lang="x-none" dirty="0"/>
              <a:t>–</a:t>
            </a:r>
            <a:r>
              <a:rPr lang="en-US" dirty="0"/>
              <a:t> Cont.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20000"/>
              </a:bodyPr>
              <a:lstStyle/>
              <a:p>
                <a:pPr marL="0" inden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𝑢</m:t>
                      </m:r>
                      <m:r>
                        <a:rPr lang="en-US" i="1" smtClean="0">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𝐼</m:t>
                          </m:r>
                        </m:e>
                        <m:sup>
                          <m:r>
                            <a:rPr lang="en-US" i="1">
                              <a:latin typeface="Cambria Math" panose="02040503050406030204" pitchFamily="18" charset="0"/>
                            </a:rPr>
                            <m:t>′</m:t>
                          </m:r>
                        </m:sup>
                      </m:sSup>
                      <m:d>
                        <m:dPr>
                          <m:ctrlPr>
                            <a:rPr lang="en-US" i="1">
                              <a:latin typeface="Cambria Math" panose="02040503050406030204" pitchFamily="18" charset="0"/>
                            </a:rPr>
                          </m:ctrlPr>
                        </m:dPr>
                        <m:e>
                          <m:r>
                            <a:rPr lang="en-US" i="1">
                              <a:latin typeface="Cambria Math" panose="02040503050406030204" pitchFamily="18" charset="0"/>
                            </a:rPr>
                            <m:t>𝑢</m:t>
                          </m:r>
                        </m:e>
                      </m:d>
                      <m:r>
                        <a:rPr lang="en-US">
                          <a:latin typeface="Cambria Math" panose="02040503050406030204" pitchFamily="18" charset="0"/>
                        </a:rPr>
                        <m:t>=</m:t>
                      </m:r>
                      <m:r>
                        <m:rPr>
                          <m:sty m:val="p"/>
                        </m:rPr>
                        <a:rPr lang="en-US" b="0" i="0" smtClean="0">
                          <a:latin typeface="Cambria Math" panose="02040503050406030204" pitchFamily="18" charset="0"/>
                        </a:rPr>
                        <m:t>c</m:t>
                      </m:r>
                      <m:r>
                        <a:rPr lang="en-US">
                          <a:latin typeface="Cambria Math" panose="02040503050406030204" pitchFamily="18" charset="0"/>
                        </a:rPr>
                        <m:t> </m:t>
                      </m:r>
                    </m:oMath>
                  </m:oMathPara>
                </a14:m>
                <a:endParaRPr lang="en-US" dirty="0">
                  <a:latin typeface="Cambria Math" panose="02040503050406030204" pitchFamily="18" charset="0"/>
                </a:endParaRPr>
              </a:p>
              <a:p>
                <a:pPr marL="0" indent="0">
                  <a:buNone/>
                </a:pPr>
                <a:endParaRPr lang="en-US"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i="1">
                              <a:latin typeface="Cambria Math" panose="02040503050406030204" pitchFamily="18" charset="0"/>
                            </a:rPr>
                            <m:t>𝜕</m:t>
                          </m:r>
                          <m:r>
                            <a:rPr lang="en-US" i="1">
                              <a:latin typeface="Cambria Math" panose="02040503050406030204" pitchFamily="18" charset="0"/>
                            </a:rPr>
                            <m:t>𝐼</m:t>
                          </m:r>
                          <m:d>
                            <m:dPr>
                              <m:ctrlPr>
                                <a:rPr lang="en-US" i="1">
                                  <a:latin typeface="Cambria Math" panose="02040503050406030204" pitchFamily="18" charset="0"/>
                                </a:rPr>
                              </m:ctrlPr>
                            </m:dPr>
                            <m:e>
                              <m:r>
                                <a:rPr lang="en-US" i="1">
                                  <a:latin typeface="Cambria Math" panose="02040503050406030204" pitchFamily="18" charset="0"/>
                                </a:rPr>
                                <m:t>𝑢</m:t>
                              </m:r>
                            </m:e>
                          </m:d>
                        </m:num>
                        <m:den>
                          <m:r>
                            <a:rPr lang="en-US" i="1">
                              <a:latin typeface="Cambria Math" panose="02040503050406030204" pitchFamily="18" charset="0"/>
                            </a:rPr>
                            <m:t>𝜕</m:t>
                          </m:r>
                          <m:r>
                            <a:rPr lang="en-US" i="1">
                              <a:latin typeface="Cambria Math" panose="02040503050406030204" pitchFamily="18" charset="0"/>
                            </a:rPr>
                            <m:t>𝑢</m:t>
                          </m:r>
                        </m:den>
                      </m:f>
                      <m:r>
                        <a:rPr lang="en-US">
                          <a:latin typeface="Cambria Math" panose="02040503050406030204" pitchFamily="18" charset="0"/>
                        </a:rPr>
                        <m:t>=</m:t>
                      </m:r>
                      <m:r>
                        <m:rPr>
                          <m:sty m:val="p"/>
                        </m:rPr>
                        <a:rPr lang="en-US">
                          <a:latin typeface="Cambria Math" panose="02040503050406030204" pitchFamily="18" charset="0"/>
                        </a:rPr>
                        <m:t>c</m:t>
                      </m:r>
                      <m:r>
                        <a:rPr lang="en-US" i="1">
                          <a:latin typeface="Cambria Math" panose="02040503050406030204" pitchFamily="18" charset="0"/>
                        </a:rPr>
                        <m:t>⋅</m:t>
                      </m:r>
                      <m:f>
                        <m:fPr>
                          <m:ctrlPr>
                            <a:rPr lang="en-US" i="1">
                              <a:latin typeface="Cambria Math" panose="02040503050406030204" pitchFamily="18" charset="0"/>
                            </a:rPr>
                          </m:ctrlPr>
                        </m:fPr>
                        <m:num>
                          <m:r>
                            <a:rPr lang="en-US">
                              <a:latin typeface="Cambria Math" panose="02040503050406030204" pitchFamily="18" charset="0"/>
                            </a:rPr>
                            <m:t>1</m:t>
                          </m:r>
                        </m:num>
                        <m:den>
                          <m:r>
                            <a:rPr lang="en-US" i="1">
                              <a:latin typeface="Cambria Math" panose="02040503050406030204" pitchFamily="18" charset="0"/>
                            </a:rPr>
                            <m:t>𝑢</m:t>
                          </m:r>
                        </m:den>
                      </m:f>
                    </m:oMath>
                  </m:oMathPara>
                </a14:m>
                <a:endParaRPr lang="en-US" i="1" dirty="0">
                  <a:latin typeface="Cambria Math" panose="02040503050406030204" pitchFamily="18" charset="0"/>
                </a:endParaRPr>
              </a:p>
              <a:p>
                <a:pPr marL="0" indent="0">
                  <a:buNone/>
                </a:pPr>
                <a:endParaRPr lang="en-US"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nary>
                        <m:naryPr>
                          <m:subHide m:val="on"/>
                          <m:supHide m:val="on"/>
                          <m:ctrlPr>
                            <a:rPr lang="en-US" b="0" i="1" smtClean="0">
                              <a:latin typeface="Cambria Math" panose="02040503050406030204" pitchFamily="18" charset="0"/>
                            </a:rPr>
                          </m:ctrlPr>
                        </m:naryPr>
                        <m:sub/>
                        <m:sup/>
                        <m:e>
                          <m:f>
                            <m:fPr>
                              <m:ctrlPr>
                                <a:rPr lang="en-US" i="1">
                                  <a:latin typeface="Cambria Math" panose="02040503050406030204" pitchFamily="18" charset="0"/>
                                </a:rPr>
                              </m:ctrlPr>
                            </m:fPr>
                            <m:num>
                              <m:r>
                                <a:rPr lang="en-US" i="1">
                                  <a:latin typeface="Cambria Math" panose="02040503050406030204" pitchFamily="18" charset="0"/>
                                </a:rPr>
                                <m:t>𝜕</m:t>
                              </m:r>
                              <m:r>
                                <a:rPr lang="en-US" i="1">
                                  <a:latin typeface="Cambria Math" panose="02040503050406030204" pitchFamily="18" charset="0"/>
                                </a:rPr>
                                <m:t>𝐼</m:t>
                              </m:r>
                              <m:d>
                                <m:dPr>
                                  <m:ctrlPr>
                                    <a:rPr lang="en-US" i="1">
                                      <a:latin typeface="Cambria Math" panose="02040503050406030204" pitchFamily="18" charset="0"/>
                                    </a:rPr>
                                  </m:ctrlPr>
                                </m:dPr>
                                <m:e>
                                  <m:r>
                                    <a:rPr lang="en-US" i="1">
                                      <a:latin typeface="Cambria Math" panose="02040503050406030204" pitchFamily="18" charset="0"/>
                                    </a:rPr>
                                    <m:t>𝑢</m:t>
                                  </m:r>
                                </m:e>
                              </m:d>
                            </m:num>
                            <m:den>
                              <m:r>
                                <a:rPr lang="en-US" i="1">
                                  <a:latin typeface="Cambria Math" panose="02040503050406030204" pitchFamily="18" charset="0"/>
                                </a:rPr>
                                <m:t>𝜕</m:t>
                              </m:r>
                              <m:r>
                                <a:rPr lang="en-US" i="1">
                                  <a:latin typeface="Cambria Math" panose="02040503050406030204" pitchFamily="18" charset="0"/>
                                </a:rPr>
                                <m:t>𝑢</m:t>
                              </m:r>
                            </m:den>
                          </m:f>
                          <m:r>
                            <a:rPr lang="en-US" b="0" i="1" smtClean="0">
                              <a:latin typeface="Cambria Math" panose="02040503050406030204" pitchFamily="18" charset="0"/>
                            </a:rPr>
                            <m:t>𝑑𝑢</m:t>
                          </m:r>
                        </m:e>
                      </m:nary>
                      <m:r>
                        <a:rPr lang="en-US" i="1">
                          <a:latin typeface="Cambria Math" panose="02040503050406030204" pitchFamily="18" charset="0"/>
                        </a:rPr>
                        <m:t>=</m:t>
                      </m:r>
                      <m:r>
                        <a:rPr lang="en-US" b="0" i="1" smtClean="0">
                          <a:latin typeface="Cambria Math" panose="02040503050406030204" pitchFamily="18" charset="0"/>
                        </a:rPr>
                        <m:t>𝑐</m:t>
                      </m:r>
                      <m:r>
                        <a:rPr lang="en-US" i="1">
                          <a:latin typeface="Cambria Math" panose="02040503050406030204" pitchFamily="18" charset="0"/>
                        </a:rPr>
                        <m:t>⋅</m:t>
                      </m:r>
                      <m:nary>
                        <m:naryPr>
                          <m:subHide m:val="on"/>
                          <m:supHide m:val="on"/>
                          <m:ctrlPr>
                            <a:rPr lang="en-US" b="0" i="1" smtClean="0">
                              <a:latin typeface="Cambria Math" panose="02040503050406030204" pitchFamily="18" charset="0"/>
                            </a:rPr>
                          </m:ctrlPr>
                        </m:naryPr>
                        <m:sub/>
                        <m:sup/>
                        <m:e>
                          <m:f>
                            <m:fPr>
                              <m:ctrlPr>
                                <a:rPr lang="en-US" i="1">
                                  <a:latin typeface="Cambria Math" panose="02040503050406030204" pitchFamily="18" charset="0"/>
                                </a:rPr>
                              </m:ctrlPr>
                            </m:fPr>
                            <m:num>
                              <m:r>
                                <a:rPr lang="en-US">
                                  <a:latin typeface="Cambria Math" panose="02040503050406030204" pitchFamily="18" charset="0"/>
                                </a:rPr>
                                <m:t>1</m:t>
                              </m:r>
                            </m:num>
                            <m:den>
                              <m:r>
                                <a:rPr lang="en-US" i="1">
                                  <a:latin typeface="Cambria Math" panose="02040503050406030204" pitchFamily="18" charset="0"/>
                                </a:rPr>
                                <m:t>𝑢</m:t>
                              </m:r>
                            </m:den>
                          </m:f>
                        </m:e>
                      </m:nary>
                      <m:r>
                        <a:rPr lang="en-US" i="1">
                          <a:latin typeface="Cambria Math" panose="02040503050406030204" pitchFamily="18" charset="0"/>
                        </a:rPr>
                        <m:t>𝑑𝑢</m:t>
                      </m:r>
                    </m:oMath>
                  </m:oMathPara>
                </a14:m>
                <a:br>
                  <a:rPr lang="en-US" dirty="0"/>
                </a:br>
                <a:endParaRPr lang="en-US" dirty="0"/>
              </a:p>
              <a:p>
                <a:pPr marL="0" indent="0">
                  <a:buNone/>
                </a:pPr>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𝐼</m:t>
                      </m:r>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𝑢</m:t>
                          </m:r>
                        </m:e>
                      </m:func>
                    </m:oMath>
                  </m:oMathPara>
                </a14:m>
                <a:endParaRPr lang="en-US"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𝐼</m:t>
                      </m:r>
                      <m:d>
                        <m:dPr>
                          <m:ctrlPr>
                            <a:rPr lang="en-US" b="0" i="1" smtClean="0">
                              <a:latin typeface="Cambria Math" panose="02040503050406030204" pitchFamily="18" charset="0"/>
                            </a:rPr>
                          </m:ctrlPr>
                        </m:dPr>
                        <m:e>
                          <m:r>
                            <a:rPr lang="en-US" b="0" i="1" smtClean="0">
                              <a:latin typeface="Cambria Math" panose="02040503050406030204" pitchFamily="18" charset="0"/>
                            </a:rPr>
                            <m:t>0</m:t>
                          </m:r>
                        </m:e>
                      </m:d>
                      <m:r>
                        <a:rPr lang="en-US" i="1">
                          <a:latin typeface="Cambria Math" panose="02040503050406030204" pitchFamily="18" charset="0"/>
                        </a:rPr>
                        <m:t>=</m:t>
                      </m:r>
                      <m:r>
                        <a:rPr lang="en-US" b="0" i="1" smtClean="0">
                          <a:latin typeface="Cambria Math" panose="02040503050406030204" pitchFamily="18" charset="0"/>
                        </a:rPr>
                        <m:t>1 →</m:t>
                      </m:r>
                      <m:r>
                        <a:rPr lang="en-US" b="0" i="1" smtClean="0">
                          <a:latin typeface="Cambria Math" panose="02040503050406030204" pitchFamily="18" charset="0"/>
                        </a:rPr>
                        <m:t>𝐼</m:t>
                      </m:r>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𝑢</m:t>
                          </m:r>
                        </m:e>
                      </m:func>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𝑝</m:t>
                          </m:r>
                        </m:e>
                      </m:func>
                    </m:oMath>
                  </m:oMathPara>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3492135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Entropy </a:t>
            </a:r>
            <a:r>
              <a:rPr lang="x-none" dirty="0"/>
              <a:t>–</a:t>
            </a:r>
            <a:r>
              <a:rPr lang="en-US" dirty="0"/>
              <a:t> Definition</a:t>
            </a:r>
            <a:endParaRPr lang="he-IL"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The entropy is defined as the expected value of the information of a random variable:</a:t>
                </a:r>
              </a:p>
              <a:p>
                <a:endParaRPr lang="en-US" dirty="0"/>
              </a:p>
              <a:p>
                <a:pPr marL="0" lvl="1" indent="0">
                  <a:spcBef>
                    <a:spcPts val="1000"/>
                  </a:spcBef>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𝐻</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e>
                      </m:d>
                      <m:r>
                        <a:rPr lang="en-US" b="0" i="1" smtClean="0">
                          <a:latin typeface="Cambria Math" panose="02040503050406030204" pitchFamily="18" charset="0"/>
                        </a:rPr>
                        <m:t>=</m:t>
                      </m:r>
                      <m:r>
                        <a:rPr lang="en-US" b="0" i="1" smtClean="0">
                          <a:latin typeface="Cambria Math" panose="02040503050406030204" pitchFamily="18" charset="0"/>
                        </a:rPr>
                        <m:t>𝐸</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𝐼</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e>
                          </m:d>
                        </m:e>
                      </m:d>
                      <m:r>
                        <a:rPr lang="en-US" b="0" i="1" smtClean="0">
                          <a:latin typeface="Cambria Math" panose="02040503050406030204" pitchFamily="18" charset="0"/>
                        </a:rPr>
                        <m:t>=</m:t>
                      </m:r>
                      <m:r>
                        <a:rPr lang="en-US" b="0" i="1" smtClean="0">
                          <a:latin typeface="Cambria Math" panose="02040503050406030204" pitchFamily="18" charset="0"/>
                        </a:rPr>
                        <m:t>𝐸</m:t>
                      </m:r>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e>
                      </m:func>
                      <m:r>
                        <a:rPr lang="en-US" b="0" i="1" smtClean="0">
                          <a:latin typeface="Cambria Math" panose="02040503050406030204" pitchFamily="18" charset="0"/>
                        </a:rPr>
                        <m:t>−</m:t>
                      </m:r>
                      <m:nary>
                        <m:naryPr>
                          <m:chr m:val="∑"/>
                          <m:subHide m:val="on"/>
                          <m:supHide m:val="on"/>
                          <m:ctrlPr>
                            <a:rPr lang="en-US" b="0" i="1" smtClean="0">
                              <a:latin typeface="Cambria Math" panose="02040503050406030204" pitchFamily="18" charset="0"/>
                            </a:rPr>
                          </m:ctrlPr>
                        </m:naryPr>
                        <m:sub/>
                        <m:sup/>
                        <m:e>
                          <m:r>
                            <a:rPr lang="en-US" i="1">
                              <a:latin typeface="Cambria Math" panose="02040503050406030204" pitchFamily="18" charset="0"/>
                            </a:rPr>
                            <m:t>𝑃</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e>
                          </m:d>
                          <m:r>
                            <a:rPr lang="en-US" i="1">
                              <a:latin typeface="Cambria Math" panose="02040503050406030204" pitchFamily="18" charset="0"/>
                            </a:rPr>
                            <m:t>⋅</m:t>
                          </m:r>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r>
                                <a:rPr lang="en-US" i="1">
                                  <a:latin typeface="Cambria Math" panose="02040503050406030204" pitchFamily="18" charset="0"/>
                                </a:rPr>
                                <m:t>𝑃</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r>
                                <a:rPr lang="en-US" i="1">
                                  <a:latin typeface="Cambria Math" panose="02040503050406030204" pitchFamily="18" charset="0"/>
                                </a:rPr>
                                <m:t>)</m:t>
                              </m:r>
                            </m:e>
                          </m:func>
                          <m:r>
                            <m:rPr>
                              <m:nor/>
                            </m:rPr>
                            <a:rPr lang="en-US" dirty="0"/>
                            <m:t> </m:t>
                          </m:r>
                        </m:e>
                      </m:nary>
                    </m:oMath>
                  </m:oMathPara>
                </a14:m>
                <a:endParaRPr lang="en-US" dirty="0"/>
              </a:p>
              <a:p>
                <a:pPr marL="0" lvl="1" indent="0">
                  <a:spcBef>
                    <a:spcPts val="1000"/>
                  </a:spcBef>
                  <a:buNone/>
                </a:pPr>
                <a:endParaRPr lang="he-IL"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5"/>
                <a:stretch>
                  <a:fillRect l="-1043" t="-2241"/>
                </a:stretch>
              </a:blipFill>
            </p:spPr>
            <p:txBody>
              <a:bodyPr/>
              <a:lstStyle/>
              <a:p>
                <a:r>
                  <a:rPr lang="en-US">
                    <a:noFill/>
                  </a:rPr>
                  <a:t> </a:t>
                </a:r>
              </a:p>
            </p:txBody>
          </p:sp>
        </mc:Fallback>
      </mc:AlternateContent>
      <p:pic>
        <p:nvPicPr>
          <p:cNvPr id="4" name="Picture 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037610" y="4195120"/>
            <a:ext cx="2116780" cy="2116780"/>
          </a:xfrm>
          <a:prstGeom prst="rect">
            <a:avLst/>
          </a:prstGeom>
        </p:spPr>
      </p:pic>
    </p:spTree>
    <p:extLst>
      <p:ext uri="{BB962C8B-B14F-4D97-AF65-F5344CB8AC3E}">
        <p14:creationId xmlns:p14="http://schemas.microsoft.com/office/powerpoint/2010/main" val="9902804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Entropy - Intuition</a:t>
            </a:r>
          </a:p>
        </p:txBody>
      </p:sp>
      <p:sp>
        <p:nvSpPr>
          <p:cNvPr id="3" name="Content Placeholder 2"/>
          <p:cNvSpPr>
            <a:spLocks noGrp="1"/>
          </p:cNvSpPr>
          <p:nvPr>
            <p:ph idx="1"/>
          </p:nvPr>
        </p:nvSpPr>
        <p:spPr/>
        <p:txBody>
          <a:bodyPr>
            <a:normAutofit/>
          </a:bodyPr>
          <a:lstStyle/>
          <a:p>
            <a:r>
              <a:rPr lang="en-US" dirty="0"/>
              <a:t>Lets define a measure of the amount of information a discrete random variable produces, or the cost of encoding a specific distribution</a:t>
            </a:r>
          </a:p>
          <a:p>
            <a:pPr lvl="1"/>
            <a:r>
              <a:rPr lang="en-US" dirty="0"/>
              <a:t>Continuous</a:t>
            </a:r>
          </a:p>
          <a:p>
            <a:pPr lvl="1"/>
            <a:r>
              <a:rPr lang="en-US" dirty="0"/>
              <a:t>If all probabilities are equal, the entropy (uncertainty) is maximal</a:t>
            </a:r>
          </a:p>
          <a:p>
            <a:pPr lvl="1"/>
            <a:r>
              <a:rPr lang="en-US" dirty="0"/>
              <a:t>If a choice is broken into two successive choices, the original measure should be the weighted sum of the individual values of the measure</a:t>
            </a:r>
          </a:p>
          <a:p>
            <a:pPr marL="0" indent="0">
              <a:buNone/>
            </a:pPr>
            <a:endParaRPr lang="en-US" dirty="0"/>
          </a:p>
          <a:p>
            <a:endParaRPr lang="en-US" dirty="0"/>
          </a:p>
        </p:txBody>
      </p:sp>
      <p:pic>
        <p:nvPicPr>
          <p:cNvPr id="5" name="Picture 4" descr="Screen Clipping"/>
          <p:cNvPicPr>
            <a:picLocks noChangeAspect="1"/>
          </p:cNvPicPr>
          <p:nvPr/>
        </p:nvPicPr>
        <p:blipFill rotWithShape="1">
          <a:blip r:embed="rId3">
            <a:extLst>
              <a:ext uri="{28A0092B-C50C-407E-A947-70E740481C1C}">
                <a14:useLocalDpi xmlns:a14="http://schemas.microsoft.com/office/drawing/2010/main" val="0"/>
              </a:ext>
            </a:extLst>
          </a:blip>
          <a:srcRect l="20576" t="29520" r="23847" b="10439"/>
          <a:stretch/>
        </p:blipFill>
        <p:spPr>
          <a:xfrm>
            <a:off x="3561906" y="4673516"/>
            <a:ext cx="4488790" cy="193600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5975462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Entropy - Intuition</a:t>
            </a:r>
          </a:p>
        </p:txBody>
      </p:sp>
      <p:sp>
        <p:nvSpPr>
          <p:cNvPr id="3" name="Content Placeholder 2"/>
          <p:cNvSpPr>
            <a:spLocks noGrp="1"/>
          </p:cNvSpPr>
          <p:nvPr>
            <p:ph idx="1"/>
          </p:nvPr>
        </p:nvSpPr>
        <p:spPr/>
        <p:txBody>
          <a:bodyPr/>
          <a:lstStyle/>
          <a:p>
            <a:r>
              <a:rPr lang="en-US" dirty="0"/>
              <a:t>The maximum entropy is the one that corresponds to the least amount of knowledge defined by the probability density function</a:t>
            </a:r>
          </a:p>
          <a:p>
            <a:r>
              <a:rPr lang="en-US" dirty="0"/>
              <a:t>When can we expect maximum entropy for the following cases:</a:t>
            </a:r>
          </a:p>
          <a:p>
            <a:pPr lvl="1"/>
            <a:r>
              <a:rPr lang="en-US" dirty="0"/>
              <a:t>Among probability distributions over a finite range of values?</a:t>
            </a:r>
          </a:p>
          <a:p>
            <a:pPr lvl="1"/>
            <a:r>
              <a:rPr lang="en-US" dirty="0"/>
              <a:t>Among probability distributions over a infinite range of values?</a:t>
            </a:r>
          </a:p>
          <a:p>
            <a:endParaRPr lang="en-US" dirty="0"/>
          </a:p>
        </p:txBody>
      </p:sp>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b="50466"/>
          <a:stretch/>
        </p:blipFill>
        <p:spPr>
          <a:xfrm>
            <a:off x="257175" y="3879884"/>
            <a:ext cx="5238750" cy="2631884"/>
          </a:xfrm>
          <a:prstGeom prst="rect">
            <a:avLst/>
          </a:prstGeom>
        </p:spPr>
      </p:pic>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l="-218" t="47764" r="218" b="2702"/>
          <a:stretch/>
        </p:blipFill>
        <p:spPr>
          <a:xfrm>
            <a:off x="5210175" y="4086864"/>
            <a:ext cx="5546617" cy="2556963"/>
          </a:xfrm>
          <a:prstGeom prst="rect">
            <a:avLst/>
          </a:prstGeom>
        </p:spPr>
      </p:pic>
      <p:sp>
        <p:nvSpPr>
          <p:cNvPr id="6" name="Rectangle 5"/>
          <p:cNvSpPr/>
          <p:nvPr/>
        </p:nvSpPr>
        <p:spPr>
          <a:xfrm>
            <a:off x="838200" y="5195826"/>
            <a:ext cx="828675" cy="46638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5781675" y="5195826"/>
            <a:ext cx="828675" cy="46638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014086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 of Gaussians having maximum Entropy</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Let </a:t>
                </a:r>
                <a14:m>
                  <m:oMath xmlns:m="http://schemas.openxmlformats.org/officeDocument/2006/math">
                    <m:r>
                      <a:rPr lang="en-US" b="0" i="1" smtClean="0">
                        <a:latin typeface="Cambria Math" panose="02040503050406030204" pitchFamily="18" charset="0"/>
                      </a:rPr>
                      <m:t>𝑞</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oMath>
                </a14:m>
                <a:r>
                  <a:rPr lang="en-US" dirty="0"/>
                  <a:t> be any density function satisfying </a:t>
                </a:r>
                <a14:m>
                  <m:oMath xmlns:m="http://schemas.openxmlformats.org/officeDocument/2006/math">
                    <m:nary>
                      <m:naryPr>
                        <m:subHide m:val="on"/>
                        <m:supHide m:val="on"/>
                        <m:ctrlPr>
                          <a:rPr lang="en-US" b="0" i="1" smtClean="0">
                            <a:latin typeface="Cambria Math" panose="02040503050406030204" pitchFamily="18" charset="0"/>
                          </a:rPr>
                        </m:ctrlPr>
                      </m:naryPr>
                      <m:sub/>
                      <m:sup/>
                      <m:e>
                        <m:r>
                          <a:rPr lang="en-US" b="0" i="1" smtClean="0">
                            <a:latin typeface="Cambria Math" panose="02040503050406030204" pitchFamily="18" charset="0"/>
                          </a:rPr>
                          <m:t>𝑞</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𝑗</m:t>
                            </m:r>
                          </m:sub>
                        </m:sSub>
                        <m:r>
                          <a:rPr lang="en-US" b="0" i="1" smtClean="0">
                            <a:latin typeface="Cambria Math" panose="02040503050406030204" pitchFamily="18" charset="0"/>
                          </a:rPr>
                          <m:t>𝑑𝑥</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Σ</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e>
                    </m:nary>
                  </m:oMath>
                </a14:m>
                <a:r>
                  <a:rPr lang="en-US" dirty="0"/>
                  <a:t> and let </a:t>
                </a:r>
                <a14:m>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𝑁</m:t>
                    </m:r>
                    <m:d>
                      <m:dPr>
                        <m:ctrlPr>
                          <a:rPr lang="en-US" b="0" i="1" smtClean="0">
                            <a:latin typeface="Cambria Math" panose="02040503050406030204" pitchFamily="18" charset="0"/>
                          </a:rPr>
                        </m:ctrlPr>
                      </m:dPr>
                      <m:e>
                        <m:r>
                          <a:rPr lang="en-US" b="0" i="1" smtClean="0">
                            <a:latin typeface="Cambria Math" panose="02040503050406030204" pitchFamily="18" charset="0"/>
                          </a:rPr>
                          <m:t>0,</m:t>
                        </m:r>
                        <m:r>
                          <m:rPr>
                            <m:sty m:val="p"/>
                          </m:rPr>
                          <a:rPr lang="en-US" b="0" i="0" smtClean="0">
                            <a:latin typeface="Cambria Math" panose="02040503050406030204" pitchFamily="18" charset="0"/>
                          </a:rPr>
                          <m:t>Σ</m:t>
                        </m:r>
                      </m:e>
                    </m:d>
                  </m:oMath>
                </a14:m>
                <a:r>
                  <a:rPr lang="en-US" dirty="0"/>
                  <a:t>, then </a:t>
                </a:r>
                <a14:m>
                  <m:oMath xmlns:m="http://schemas.openxmlformats.org/officeDocument/2006/math">
                    <m:r>
                      <a:rPr lang="en-US" b="0" i="1" smtClean="0">
                        <a:latin typeface="Cambria Math" panose="02040503050406030204" pitchFamily="18" charset="0"/>
                      </a:rPr>
                      <m:t>h</m:t>
                    </m:r>
                    <m:d>
                      <m:dPr>
                        <m:ctrlPr>
                          <a:rPr lang="en-US" b="0" i="1" smtClean="0">
                            <a:latin typeface="Cambria Math" panose="02040503050406030204" pitchFamily="18" charset="0"/>
                          </a:rPr>
                        </m:ctrlPr>
                      </m:dPr>
                      <m:e>
                        <m:r>
                          <a:rPr lang="en-US" b="0" i="1" smtClean="0">
                            <a:latin typeface="Cambria Math" panose="02040503050406030204" pitchFamily="18" charset="0"/>
                          </a:rPr>
                          <m:t>𝑞</m:t>
                        </m:r>
                      </m:e>
                    </m:d>
                    <m:r>
                      <a:rPr lang="en-US" b="0" i="1" smtClean="0">
                        <a:latin typeface="Cambria Math" panose="02040503050406030204" pitchFamily="18" charset="0"/>
                      </a:rPr>
                      <m:t>≤</m:t>
                    </m:r>
                    <m:r>
                      <a:rPr lang="en-US" b="0" i="1" smtClean="0">
                        <a:latin typeface="Cambria Math" panose="02040503050406030204" pitchFamily="18" charset="0"/>
                      </a:rPr>
                      <m:t>h</m:t>
                    </m:r>
                    <m:d>
                      <m:dPr>
                        <m:ctrlPr>
                          <a:rPr lang="en-US" b="0" i="1" smtClean="0">
                            <a:latin typeface="Cambria Math" panose="02040503050406030204" pitchFamily="18" charset="0"/>
                          </a:rPr>
                        </m:ctrlPr>
                      </m:dPr>
                      <m:e>
                        <m:r>
                          <a:rPr lang="en-US" b="0" i="1" smtClean="0">
                            <a:latin typeface="Cambria Math" panose="02040503050406030204" pitchFamily="18" charset="0"/>
                          </a:rPr>
                          <m:t>𝑝</m:t>
                        </m:r>
                      </m:e>
                    </m:d>
                    <m:r>
                      <a:rPr lang="en-US" b="0" i="0" smtClean="0">
                        <a:latin typeface="Cambria Math" panose="02040503050406030204" pitchFamily="18" charset="0"/>
                      </a:rPr>
                      <m:t>.</m:t>
                    </m:r>
                  </m:oMath>
                </a14:m>
                <a:endParaRPr lang="en-US" b="0"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r>
                        <a:rPr lang="en-US" b="0" i="1" smtClean="0">
                          <a:latin typeface="Cambria Math" panose="02040503050406030204" pitchFamily="18" charset="0"/>
                        </a:rPr>
                        <m:t>𝐾𝐿</m:t>
                      </m:r>
                      <m:r>
                        <a:rPr lang="en-US" b="0" i="1" smtClean="0">
                          <a:latin typeface="Cambria Math" panose="02040503050406030204" pitchFamily="18" charset="0"/>
                        </a:rPr>
                        <m:t>(</m:t>
                      </m:r>
                      <m:r>
                        <a:rPr lang="en-US" b="0" i="1" smtClean="0">
                          <a:latin typeface="Cambria Math" panose="02040503050406030204" pitchFamily="18" charset="0"/>
                        </a:rPr>
                        <m:t>𝑞</m:t>
                      </m:r>
                      <m:r>
                        <a:rPr lang="en-US" b="0" i="1" smtClean="0">
                          <a:latin typeface="Cambria Math" panose="02040503050406030204" pitchFamily="18" charset="0"/>
                        </a:rPr>
                        <m:t>|</m:t>
                      </m:r>
                      <m:d>
                        <m:dPr>
                          <m:begChr m:val="|"/>
                          <m:ctrlPr>
                            <a:rPr lang="en-US" b="0" i="1" smtClean="0">
                              <a:latin typeface="Cambria Math" panose="02040503050406030204" pitchFamily="18" charset="0"/>
                            </a:rPr>
                          </m:ctrlPr>
                        </m:dPr>
                        <m:e>
                          <m:r>
                            <a:rPr lang="en-US" b="0" i="1" smtClean="0">
                              <a:latin typeface="Cambria Math" panose="02040503050406030204" pitchFamily="18" charset="0"/>
                            </a:rPr>
                            <m:t>𝑝</m:t>
                          </m:r>
                        </m:e>
                      </m:d>
                      <m:r>
                        <a:rPr lang="en-US" b="0" i="1" smtClean="0">
                          <a:latin typeface="Cambria Math" panose="02040503050406030204" pitchFamily="18" charset="0"/>
                        </a:rPr>
                        <m:t>=</m:t>
                      </m:r>
                      <m:nary>
                        <m:naryPr>
                          <m:subHide m:val="on"/>
                          <m:supHide m:val="on"/>
                          <m:ctrlPr>
                            <a:rPr lang="en-US" b="0" i="1" smtClean="0">
                              <a:latin typeface="Cambria Math" panose="02040503050406030204" pitchFamily="18" charset="0"/>
                            </a:rPr>
                          </m:ctrlPr>
                        </m:naryPr>
                        <m:sub/>
                        <m:sup/>
                        <m:e>
                          <m:r>
                            <a:rPr lang="en-US" b="0" i="1" smtClean="0">
                              <a:latin typeface="Cambria Math" panose="02040503050406030204" pitchFamily="18" charset="0"/>
                            </a:rPr>
                            <m:t>𝑞</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f>
                                <m:fPr>
                                  <m:ctrlPr>
                                    <a:rPr lang="en-US" b="0" i="1" smtClean="0">
                                      <a:latin typeface="Cambria Math" panose="02040503050406030204" pitchFamily="18" charset="0"/>
                                    </a:rPr>
                                  </m:ctrlPr>
                                </m:fPr>
                                <m:num>
                                  <m:r>
                                    <a:rPr lang="en-US" b="0" i="1" smtClean="0">
                                      <a:latin typeface="Cambria Math" panose="02040503050406030204" pitchFamily="18" charset="0"/>
                                    </a:rPr>
                                    <m:t>𝑞</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num>
                                <m:den>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den>
                              </m:f>
                              <m:r>
                                <a:rPr lang="en-US" b="0" i="1" smtClean="0">
                                  <a:latin typeface="Cambria Math" panose="02040503050406030204" pitchFamily="18" charset="0"/>
                                </a:rPr>
                                <m:t>𝑑𝑥</m:t>
                              </m:r>
                              <m:r>
                                <a:rPr lang="en-US" b="0" i="1" smtClean="0">
                                  <a:latin typeface="Cambria Math" panose="02040503050406030204" pitchFamily="18" charset="0"/>
                                </a:rPr>
                                <m:t>=−</m:t>
                              </m:r>
                              <m:r>
                                <a:rPr lang="en-US" b="0" i="1" smtClean="0">
                                  <a:latin typeface="Cambria Math" panose="02040503050406030204" pitchFamily="18" charset="0"/>
                                </a:rPr>
                                <m:t>h</m:t>
                              </m:r>
                              <m:d>
                                <m:dPr>
                                  <m:ctrlPr>
                                    <a:rPr lang="en-US" b="0" i="1" smtClean="0">
                                      <a:latin typeface="Cambria Math" panose="02040503050406030204" pitchFamily="18" charset="0"/>
                                    </a:rPr>
                                  </m:ctrlPr>
                                </m:dPr>
                                <m:e>
                                  <m:r>
                                    <a:rPr lang="en-US" b="0" i="1" smtClean="0">
                                      <a:latin typeface="Cambria Math" panose="02040503050406030204" pitchFamily="18" charset="0"/>
                                    </a:rPr>
                                    <m:t>𝑞</m:t>
                                  </m:r>
                                </m:e>
                              </m:d>
                              <m:r>
                                <a:rPr lang="en-US" b="0" i="1" smtClean="0">
                                  <a:latin typeface="Cambria Math" panose="02040503050406030204" pitchFamily="18" charset="0"/>
                                </a:rPr>
                                <m:t>−</m:t>
                              </m:r>
                              <m:nary>
                                <m:naryPr>
                                  <m:subHide m:val="on"/>
                                  <m:supHide m:val="on"/>
                                  <m:ctrlPr>
                                    <a:rPr lang="en-US" b="0" i="1" smtClean="0">
                                      <a:latin typeface="Cambria Math" panose="02040503050406030204" pitchFamily="18" charset="0"/>
                                    </a:rPr>
                                  </m:ctrlPr>
                                </m:naryPr>
                                <m:sub/>
                                <m:sup/>
                                <m:e>
                                  <m:r>
                                    <a:rPr lang="en-US" b="0" i="1" smtClean="0">
                                      <a:latin typeface="Cambria Math" panose="02040503050406030204" pitchFamily="18" charset="0"/>
                                    </a:rPr>
                                    <m:t>𝑞</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𝑑𝑥</m:t>
                                      </m:r>
                                    </m:e>
                                  </m:func>
                                </m:e>
                              </m:nary>
                            </m:e>
                          </m:func>
                        </m:e>
                      </m:nary>
                    </m:oMath>
                  </m:oMathPara>
                </a14:m>
                <a:endParaRPr lang="en-US"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i="1">
                          <a:latin typeface="Cambria Math" panose="02040503050406030204" pitchFamily="18" charset="0"/>
                        </a:rPr>
                        <m:t>h</m:t>
                      </m:r>
                      <m:d>
                        <m:dPr>
                          <m:ctrlPr>
                            <a:rPr lang="en-US" i="1">
                              <a:latin typeface="Cambria Math" panose="02040503050406030204" pitchFamily="18" charset="0"/>
                            </a:rPr>
                          </m:ctrlPr>
                        </m:dPr>
                        <m:e>
                          <m:r>
                            <a:rPr lang="en-US" i="1">
                              <a:latin typeface="Cambria Math" panose="02040503050406030204" pitchFamily="18" charset="0"/>
                            </a:rPr>
                            <m:t>𝑞</m:t>
                          </m:r>
                        </m:e>
                      </m:d>
                      <m:r>
                        <a:rPr lang="en-US" b="0" i="1" smtClean="0">
                          <a:latin typeface="Cambria Math" panose="02040503050406030204" pitchFamily="18" charset="0"/>
                        </a:rPr>
                        <m:t>−</m:t>
                      </m:r>
                      <m:nary>
                        <m:naryPr>
                          <m:subHide m:val="on"/>
                          <m:supHide m:val="on"/>
                          <m:ctrlPr>
                            <a:rPr lang="en-US" b="0" i="1" smtClean="0">
                              <a:latin typeface="Cambria Math" panose="02040503050406030204" pitchFamily="18" charset="0"/>
                            </a:rPr>
                          </m:ctrlPr>
                        </m:naryPr>
                        <m:sub/>
                        <m:sup/>
                        <m:e>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𝑑𝑥</m:t>
                              </m:r>
                            </m:e>
                          </m:func>
                        </m:e>
                      </m:nary>
                      <m:r>
                        <a:rPr lang="en-US" b="0" i="1" smtClean="0">
                          <a:latin typeface="Cambria Math" panose="02040503050406030204" pitchFamily="18" charset="0"/>
                        </a:rPr>
                        <m:t>=−</m:t>
                      </m:r>
                      <m:r>
                        <a:rPr lang="en-US" b="0" i="1" smtClean="0">
                          <a:latin typeface="Cambria Math" panose="02040503050406030204" pitchFamily="18" charset="0"/>
                        </a:rPr>
                        <m:t>h</m:t>
                      </m:r>
                      <m:d>
                        <m:dPr>
                          <m:ctrlPr>
                            <a:rPr lang="en-US" b="0" i="1" smtClean="0">
                              <a:latin typeface="Cambria Math" panose="02040503050406030204" pitchFamily="18" charset="0"/>
                            </a:rPr>
                          </m:ctrlPr>
                        </m:dPr>
                        <m:e>
                          <m:r>
                            <a:rPr lang="en-US" b="0" i="1" smtClean="0">
                              <a:latin typeface="Cambria Math" panose="02040503050406030204" pitchFamily="18" charset="0"/>
                            </a:rPr>
                            <m:t>𝑞</m:t>
                          </m:r>
                        </m:e>
                      </m:d>
                      <m:r>
                        <a:rPr lang="en-US" b="0" i="1" smtClean="0">
                          <a:latin typeface="Cambria Math" panose="02040503050406030204" pitchFamily="18" charset="0"/>
                        </a:rPr>
                        <m:t>+</m:t>
                      </m:r>
                      <m:r>
                        <a:rPr lang="en-US" b="0" i="1" smtClean="0">
                          <a:latin typeface="Cambria Math" panose="02040503050406030204" pitchFamily="18" charset="0"/>
                        </a:rPr>
                        <m:t>h</m:t>
                      </m:r>
                      <m:d>
                        <m:dPr>
                          <m:ctrlPr>
                            <a:rPr lang="en-US" b="0" i="1" smtClean="0">
                              <a:latin typeface="Cambria Math" panose="02040503050406030204" pitchFamily="18" charset="0"/>
                            </a:rPr>
                          </m:ctrlPr>
                        </m:dPr>
                        <m:e>
                          <m:r>
                            <a:rPr lang="en-US" b="0" i="1" smtClean="0">
                              <a:latin typeface="Cambria Math" panose="02040503050406030204" pitchFamily="18" charset="0"/>
                            </a:rPr>
                            <m:t>𝑝</m:t>
                          </m:r>
                        </m:e>
                      </m:d>
                      <m:r>
                        <a:rPr lang="en-US" b="0" i="1" smtClean="0">
                          <a:latin typeface="Cambria Math" panose="02040503050406030204" pitchFamily="18" charset="0"/>
                        </a:rPr>
                        <m:t>→</m:t>
                      </m:r>
                      <m:r>
                        <a:rPr lang="en-US" b="1" i="1">
                          <a:latin typeface="Cambria Math" panose="02040503050406030204" pitchFamily="18" charset="0"/>
                        </a:rPr>
                        <m:t>𝒉</m:t>
                      </m:r>
                      <m:d>
                        <m:dPr>
                          <m:ctrlPr>
                            <a:rPr lang="en-US" b="1" i="1">
                              <a:latin typeface="Cambria Math" panose="02040503050406030204" pitchFamily="18" charset="0"/>
                            </a:rPr>
                          </m:ctrlPr>
                        </m:dPr>
                        <m:e>
                          <m:r>
                            <a:rPr lang="en-US" b="1" i="1">
                              <a:latin typeface="Cambria Math" panose="02040503050406030204" pitchFamily="18" charset="0"/>
                            </a:rPr>
                            <m:t>𝒒</m:t>
                          </m:r>
                        </m:e>
                      </m:d>
                      <m:r>
                        <a:rPr lang="en-US" b="1" i="1">
                          <a:latin typeface="Cambria Math" panose="02040503050406030204" pitchFamily="18" charset="0"/>
                        </a:rPr>
                        <m:t>≤</m:t>
                      </m:r>
                      <m:r>
                        <a:rPr lang="en-US" b="1" i="1">
                          <a:latin typeface="Cambria Math" panose="02040503050406030204" pitchFamily="18" charset="0"/>
                        </a:rPr>
                        <m:t>𝒉</m:t>
                      </m:r>
                      <m:d>
                        <m:dPr>
                          <m:ctrlPr>
                            <a:rPr lang="en-US" b="1" i="1">
                              <a:latin typeface="Cambria Math" panose="02040503050406030204" pitchFamily="18" charset="0"/>
                            </a:rPr>
                          </m:ctrlPr>
                        </m:dPr>
                        <m:e>
                          <m:r>
                            <a:rPr lang="en-US" b="1" i="1">
                              <a:latin typeface="Cambria Math" panose="02040503050406030204" pitchFamily="18" charset="0"/>
                            </a:rPr>
                            <m:t>𝒑</m:t>
                          </m:r>
                        </m:e>
                      </m:d>
                    </m:oMath>
                  </m:oMathPara>
                </a14:m>
                <a:endParaRPr lang="en-US" b="1"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043" t="-1821"/>
                </a:stretch>
              </a:blipFill>
            </p:spPr>
            <p:txBody>
              <a:bodyPr/>
              <a:lstStyle/>
              <a:p>
                <a:r>
                  <a:rPr lang="en-US">
                    <a:noFill/>
                  </a:rPr>
                  <a:t> </a:t>
                </a:r>
              </a:p>
            </p:txBody>
          </p:sp>
        </mc:Fallback>
      </mc:AlternateContent>
    </p:spTree>
    <p:extLst>
      <p:ext uri="{BB962C8B-B14F-4D97-AF65-F5344CB8AC3E}">
        <p14:creationId xmlns:p14="http://schemas.microsoft.com/office/powerpoint/2010/main" val="23219642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Kullback</a:t>
            </a:r>
            <a:r>
              <a:rPr lang="en-US" dirty="0"/>
              <a:t>–</a:t>
            </a:r>
            <a:r>
              <a:rPr lang="en-US" dirty="0" err="1"/>
              <a:t>Leibler</a:t>
            </a:r>
            <a:r>
              <a:rPr lang="en-US" dirty="0"/>
              <a:t> Divergence</a:t>
            </a:r>
            <a:endParaRPr lang="he-IL"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228600" lvl="1">
                  <a:spcBef>
                    <a:spcPts val="1000"/>
                  </a:spcBef>
                </a:pPr>
                <a:r>
                  <a:rPr lang="en-US" sz="2800" dirty="0"/>
                  <a:t>Let’s define a measure of similarity between distributions </a:t>
                </a:r>
                <a14:m>
                  <m:oMath xmlns:m="http://schemas.openxmlformats.org/officeDocument/2006/math">
                    <m:r>
                      <a:rPr lang="en-US" sz="2800" b="0" i="1" smtClean="0">
                        <a:latin typeface="Cambria Math" panose="02040503050406030204" pitchFamily="18" charset="0"/>
                      </a:rPr>
                      <m:t>𝑝</m:t>
                    </m:r>
                  </m:oMath>
                </a14:m>
                <a:r>
                  <a:rPr lang="en-US" sz="2800" dirty="0"/>
                  <a:t> and </a:t>
                </a:r>
                <a14:m>
                  <m:oMath xmlns:m="http://schemas.openxmlformats.org/officeDocument/2006/math">
                    <m:r>
                      <a:rPr lang="en-US" sz="2800" b="0" i="1" smtClean="0">
                        <a:latin typeface="Cambria Math" panose="02040503050406030204" pitchFamily="18" charset="0"/>
                      </a:rPr>
                      <m:t>𝑞</m:t>
                    </m:r>
                  </m:oMath>
                </a14:m>
                <a:r>
                  <a:rPr lang="en-US" sz="2800" dirty="0"/>
                  <a:t> </a:t>
                </a:r>
                <a:endParaRPr lang="en-US" dirty="0"/>
              </a:p>
              <a:p>
                <a:r>
                  <a:rPr lang="en-US" dirty="0"/>
                  <a:t>How about:</a:t>
                </a:r>
                <a:br>
                  <a:rPr lang="en-US" dirty="0"/>
                </a:br>
                <a:endParaRPr lang="en-US" dirty="0"/>
              </a:p>
              <a:p>
                <a:pPr marL="0" lvl="1" indent="0">
                  <a:spcBef>
                    <a:spcPts val="1000"/>
                  </a:spcBef>
                  <a:buNone/>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𝐾𝐿</m:t>
                      </m:r>
                      <m:r>
                        <a:rPr lang="en-US" sz="2800" b="0" i="1" smtClean="0">
                          <a:latin typeface="Cambria Math" panose="02040503050406030204" pitchFamily="18" charset="0"/>
                        </a:rPr>
                        <m:t>(</m:t>
                      </m:r>
                      <m:r>
                        <a:rPr lang="en-US" sz="2800" b="0" i="1" smtClean="0">
                          <a:latin typeface="Cambria Math" panose="02040503050406030204" pitchFamily="18" charset="0"/>
                        </a:rPr>
                        <m:t>𝑝</m:t>
                      </m:r>
                      <m:r>
                        <a:rPr lang="en-US" sz="2800" b="0" i="1" smtClean="0">
                          <a:latin typeface="Cambria Math" panose="02040503050406030204" pitchFamily="18" charset="0"/>
                        </a:rPr>
                        <m:t>|</m:t>
                      </m:r>
                      <m:d>
                        <m:dPr>
                          <m:begChr m:val="|"/>
                          <m:ctrlPr>
                            <a:rPr lang="en-US" sz="2800" b="0" i="1" smtClean="0">
                              <a:latin typeface="Cambria Math" panose="02040503050406030204" pitchFamily="18" charset="0"/>
                            </a:rPr>
                          </m:ctrlPr>
                        </m:dPr>
                        <m:e>
                          <m:r>
                            <a:rPr lang="en-US" sz="2800" b="0" i="1" smtClean="0">
                              <a:latin typeface="Cambria Math" panose="02040503050406030204" pitchFamily="18" charset="0"/>
                            </a:rPr>
                            <m:t>𝑞</m:t>
                          </m:r>
                        </m:e>
                      </m:d>
                      <m:r>
                        <a:rPr lang="en-US" sz="2800" b="0" i="1" smtClean="0">
                          <a:latin typeface="Cambria Math" panose="02040503050406030204" pitchFamily="18" charset="0"/>
                        </a:rPr>
                        <m:t>≟</m:t>
                      </m:r>
                      <m:r>
                        <a:rPr lang="en-US" sz="2800" b="0" i="1" smtClean="0">
                          <a:latin typeface="Cambria Math" panose="02040503050406030204" pitchFamily="18" charset="0"/>
                        </a:rPr>
                        <m:t>𝐻</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𝑞</m:t>
                          </m:r>
                        </m:e>
                      </m:d>
                      <m:r>
                        <a:rPr lang="en-US" sz="2800" b="0" i="1" smtClean="0">
                          <a:latin typeface="Cambria Math" panose="02040503050406030204" pitchFamily="18" charset="0"/>
                        </a:rPr>
                        <m:t>−</m:t>
                      </m:r>
                      <m:r>
                        <a:rPr lang="en-US" sz="2800" b="0" i="1" smtClean="0">
                          <a:latin typeface="Cambria Math" panose="02040503050406030204" pitchFamily="18" charset="0"/>
                        </a:rPr>
                        <m:t>𝐻</m:t>
                      </m:r>
                      <m:r>
                        <a:rPr lang="en-US" sz="2800" b="0" i="1" smtClean="0">
                          <a:latin typeface="Cambria Math" panose="02040503050406030204" pitchFamily="18" charset="0"/>
                        </a:rPr>
                        <m:t>(</m:t>
                      </m:r>
                      <m:r>
                        <a:rPr lang="en-US" sz="2800" b="0" i="1" smtClean="0">
                          <a:latin typeface="Cambria Math" panose="02040503050406030204" pitchFamily="18" charset="0"/>
                        </a:rPr>
                        <m:t>𝑝</m:t>
                      </m:r>
                      <m:r>
                        <a:rPr lang="en-US" sz="2800" b="0" i="1" smtClean="0">
                          <a:latin typeface="Cambria Math" panose="02040503050406030204" pitchFamily="18" charset="0"/>
                        </a:rPr>
                        <m:t>)</m:t>
                      </m:r>
                    </m:oMath>
                  </m:oMathPara>
                </a14:m>
                <a:endParaRPr lang="he-IL" sz="2800" dirty="0"/>
              </a:p>
              <a:p>
                <a:endParaRPr lang="en-US" dirty="0"/>
              </a:p>
              <a:p>
                <a:r>
                  <a:rPr lang="en-US" dirty="0"/>
                  <a:t>However, we take the expectation with respect to </a:t>
                </a:r>
                <a14:m>
                  <m:oMath xmlns:m="http://schemas.openxmlformats.org/officeDocument/2006/math">
                    <m:r>
                      <a:rPr lang="en-US" i="1">
                        <a:latin typeface="Cambria Math" panose="02040503050406030204" pitchFamily="18" charset="0"/>
                      </a:rPr>
                      <m:t>𝑝</m:t>
                    </m:r>
                  </m:oMath>
                </a14:m>
                <a:r>
                  <a:rPr lang="en-US" dirty="0"/>
                  <a:t> and obtain</a:t>
                </a:r>
              </a:p>
              <a:p>
                <a:endParaRPr lang="en-US" dirty="0"/>
              </a:p>
              <a:p>
                <a:pPr marL="0" lvl="1" indent="0">
                  <a:spcBef>
                    <a:spcPts val="1000"/>
                  </a:spcBef>
                  <a:buNone/>
                </a:pPr>
                <a14:m>
                  <m:oMathPara xmlns:m="http://schemas.openxmlformats.org/officeDocument/2006/math">
                    <m:oMathParaPr>
                      <m:jc m:val="centerGroup"/>
                    </m:oMathParaPr>
                    <m:oMath xmlns:m="http://schemas.openxmlformats.org/officeDocument/2006/math">
                      <m:r>
                        <a:rPr lang="en-US" sz="2800" i="1">
                          <a:latin typeface="Cambria Math" panose="02040503050406030204" pitchFamily="18" charset="0"/>
                        </a:rPr>
                        <m:t>𝐾𝐿</m:t>
                      </m:r>
                      <m:r>
                        <a:rPr lang="en-US" sz="2800" i="1">
                          <a:latin typeface="Cambria Math" panose="02040503050406030204" pitchFamily="18" charset="0"/>
                        </a:rPr>
                        <m:t>(</m:t>
                      </m:r>
                      <m:r>
                        <a:rPr lang="en-US" sz="2800" i="1">
                          <a:latin typeface="Cambria Math" panose="02040503050406030204" pitchFamily="18" charset="0"/>
                        </a:rPr>
                        <m:t>𝑝</m:t>
                      </m:r>
                      <m:r>
                        <a:rPr lang="en-US" sz="2800" i="1">
                          <a:latin typeface="Cambria Math" panose="02040503050406030204" pitchFamily="18" charset="0"/>
                        </a:rPr>
                        <m:t>|</m:t>
                      </m:r>
                      <m:d>
                        <m:dPr>
                          <m:begChr m:val="|"/>
                          <m:ctrlPr>
                            <a:rPr lang="en-US" sz="2800" i="1">
                              <a:latin typeface="Cambria Math" panose="02040503050406030204" pitchFamily="18" charset="0"/>
                            </a:rPr>
                          </m:ctrlPr>
                        </m:dPr>
                        <m:e>
                          <m:r>
                            <a:rPr lang="en-US" sz="2800" i="1">
                              <a:latin typeface="Cambria Math" panose="02040503050406030204" pitchFamily="18" charset="0"/>
                            </a:rPr>
                            <m:t>𝑞</m:t>
                          </m:r>
                        </m:e>
                      </m:d>
                      <m:r>
                        <a:rPr lang="en-US" sz="2800" b="0" i="1" smtClean="0">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𝐻</m:t>
                          </m:r>
                        </m:e>
                        <m:sub>
                          <m:r>
                            <a:rPr lang="en-US" sz="2800" i="1">
                              <a:latin typeface="Cambria Math" panose="02040503050406030204" pitchFamily="18" charset="0"/>
                            </a:rPr>
                            <m:t>𝑐</m:t>
                          </m:r>
                        </m:sub>
                      </m:sSub>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𝑝</m:t>
                          </m:r>
                          <m:r>
                            <a:rPr lang="en-US" sz="2800" b="0" i="1" smtClean="0">
                              <a:latin typeface="Cambria Math" panose="02040503050406030204" pitchFamily="18" charset="0"/>
                            </a:rPr>
                            <m:t>,</m:t>
                          </m:r>
                          <m:r>
                            <a:rPr lang="en-US" sz="2800" b="0" i="1" smtClean="0">
                              <a:latin typeface="Cambria Math" panose="02040503050406030204" pitchFamily="18" charset="0"/>
                            </a:rPr>
                            <m:t>𝑞</m:t>
                          </m:r>
                        </m:e>
                      </m:d>
                      <m:r>
                        <a:rPr lang="en-US" sz="2800" b="0" i="1" smtClean="0">
                          <a:latin typeface="Cambria Math" panose="02040503050406030204" pitchFamily="18" charset="0"/>
                        </a:rPr>
                        <m:t>−</m:t>
                      </m:r>
                      <m:r>
                        <a:rPr lang="en-US" sz="2800" b="0" i="1" smtClean="0">
                          <a:latin typeface="Cambria Math" panose="02040503050406030204" pitchFamily="18" charset="0"/>
                        </a:rPr>
                        <m:t>𝐻</m:t>
                      </m:r>
                      <m:r>
                        <a:rPr lang="en-US" sz="2800" b="0" i="1" smtClean="0">
                          <a:latin typeface="Cambria Math" panose="02040503050406030204" pitchFamily="18" charset="0"/>
                        </a:rPr>
                        <m:t>(</m:t>
                      </m:r>
                      <m:r>
                        <a:rPr lang="en-US" sz="2800" b="0" i="1" smtClean="0">
                          <a:latin typeface="Cambria Math" panose="02040503050406030204" pitchFamily="18" charset="0"/>
                        </a:rPr>
                        <m:t>𝑝</m:t>
                      </m:r>
                      <m:r>
                        <a:rPr lang="en-US" sz="2800" b="0" i="1" smtClean="0">
                          <a:latin typeface="Cambria Math" panose="02040503050406030204" pitchFamily="18" charset="0"/>
                        </a:rPr>
                        <m:t>)=</m:t>
                      </m:r>
                      <m:func>
                        <m:funcPr>
                          <m:ctrlPr>
                            <a:rPr lang="en-US" sz="2800" b="0" i="1" smtClean="0">
                              <a:latin typeface="Cambria Math" panose="02040503050406030204" pitchFamily="18" charset="0"/>
                            </a:rPr>
                          </m:ctrlPr>
                        </m:funcPr>
                        <m:fName>
                          <m:r>
                            <a:rPr lang="en-US" sz="2800" b="0" i="1" smtClean="0">
                              <a:latin typeface="Cambria Math" panose="02040503050406030204" pitchFamily="18" charset="0"/>
                            </a:rPr>
                            <m:t>∑</m:t>
                          </m:r>
                        </m:fName>
                        <m:e>
                          <m:r>
                            <a:rPr lang="en-US" sz="2800" b="0" i="1" smtClean="0">
                              <a:latin typeface="Cambria Math" panose="02040503050406030204" pitchFamily="18" charset="0"/>
                            </a:rPr>
                            <m:t>𝑝</m:t>
                          </m:r>
                          <m:func>
                            <m:funcPr>
                              <m:ctrlPr>
                                <a:rPr lang="en-US" sz="2800" b="0" i="1" smtClean="0">
                                  <a:latin typeface="Cambria Math" panose="02040503050406030204" pitchFamily="18" charset="0"/>
                                </a:rPr>
                              </m:ctrlPr>
                            </m:funcPr>
                            <m:fName>
                              <m:d>
                                <m:dPr>
                                  <m:ctrlPr>
                                    <a:rPr lang="en-US" sz="2800" i="1">
                                      <a:latin typeface="Cambria Math" panose="02040503050406030204" pitchFamily="18" charset="0"/>
                                    </a:rPr>
                                  </m:ctrlPr>
                                </m:dPr>
                                <m:e>
                                  <m:r>
                                    <a:rPr lang="en-US" sz="2800" i="1">
                                      <a:latin typeface="Cambria Math" panose="02040503050406030204" pitchFamily="18" charset="0"/>
                                    </a:rPr>
                                    <m:t>𝑥</m:t>
                                  </m:r>
                                </m:e>
                              </m:d>
                              <m:r>
                                <m:rPr>
                                  <m:sty m:val="p"/>
                                </m:rPr>
                                <a:rPr lang="en-US" sz="2800" b="0" i="0" smtClean="0">
                                  <a:latin typeface="Cambria Math" panose="02040503050406030204" pitchFamily="18" charset="0"/>
                                </a:rPr>
                                <m:t>log</m:t>
                              </m:r>
                            </m:fName>
                            <m:e>
                              <m:r>
                                <a:rPr lang="en-US" sz="2800" b="0" i="1" smtClean="0">
                                  <a:latin typeface="Cambria Math" panose="02040503050406030204" pitchFamily="18" charset="0"/>
                                </a:rPr>
                                <m:t>𝑝</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𝑥</m:t>
                                  </m:r>
                                </m:e>
                              </m:d>
                            </m:e>
                          </m:func>
                          <m:r>
                            <a:rPr lang="en-US" sz="2800" b="0" i="1" smtClean="0">
                              <a:latin typeface="Cambria Math" panose="02040503050406030204" pitchFamily="18" charset="0"/>
                            </a:rPr>
                            <m:t>−</m:t>
                          </m:r>
                          <m:func>
                            <m:funcPr>
                              <m:ctrlPr>
                                <a:rPr lang="en-US" sz="2800" i="1">
                                  <a:latin typeface="Cambria Math" panose="02040503050406030204" pitchFamily="18" charset="0"/>
                                </a:rPr>
                              </m:ctrlPr>
                            </m:funcPr>
                            <m:fName>
                              <m:r>
                                <a:rPr lang="en-US" sz="2800" i="1">
                                  <a:latin typeface="Cambria Math" panose="02040503050406030204" pitchFamily="18" charset="0"/>
                                </a:rPr>
                                <m:t>∑</m:t>
                              </m:r>
                            </m:fName>
                            <m:e>
                              <m:r>
                                <a:rPr lang="en-US" sz="2800" i="1">
                                  <a:latin typeface="Cambria Math" panose="02040503050406030204" pitchFamily="18" charset="0"/>
                                </a:rPr>
                                <m:t>𝑝</m:t>
                              </m:r>
                              <m:d>
                                <m:dPr>
                                  <m:ctrlPr>
                                    <a:rPr lang="en-US" sz="2800" i="1">
                                      <a:latin typeface="Cambria Math" panose="02040503050406030204" pitchFamily="18" charset="0"/>
                                    </a:rPr>
                                  </m:ctrlPr>
                                </m:dPr>
                                <m:e>
                                  <m:r>
                                    <a:rPr lang="en-US" sz="2800" i="1">
                                      <a:latin typeface="Cambria Math" panose="02040503050406030204" pitchFamily="18" charset="0"/>
                                    </a:rPr>
                                    <m:t>𝑥</m:t>
                                  </m:r>
                                </m:e>
                              </m:d>
                              <m:func>
                                <m:funcPr>
                                  <m:ctrlPr>
                                    <a:rPr lang="en-US" sz="2800" i="1">
                                      <a:latin typeface="Cambria Math" panose="02040503050406030204" pitchFamily="18" charset="0"/>
                                    </a:rPr>
                                  </m:ctrlPr>
                                </m:funcPr>
                                <m:fName>
                                  <m:r>
                                    <m:rPr>
                                      <m:sty m:val="p"/>
                                    </m:rPr>
                                    <a:rPr lang="en-US" sz="2800">
                                      <a:latin typeface="Cambria Math" panose="02040503050406030204" pitchFamily="18" charset="0"/>
                                    </a:rPr>
                                    <m:t>log</m:t>
                                  </m:r>
                                </m:fName>
                                <m:e>
                                  <m:r>
                                    <a:rPr lang="en-US" sz="2800" b="0" i="1" smtClean="0">
                                      <a:latin typeface="Cambria Math" panose="02040503050406030204" pitchFamily="18" charset="0"/>
                                    </a:rPr>
                                    <m:t>𝑞</m:t>
                                  </m:r>
                                  <m:d>
                                    <m:dPr>
                                      <m:ctrlPr>
                                        <a:rPr lang="en-US" sz="2800" i="1">
                                          <a:latin typeface="Cambria Math" panose="02040503050406030204" pitchFamily="18" charset="0"/>
                                        </a:rPr>
                                      </m:ctrlPr>
                                    </m:dPr>
                                    <m:e>
                                      <m:r>
                                        <a:rPr lang="en-US" sz="2800" i="1">
                                          <a:latin typeface="Cambria Math" panose="02040503050406030204" pitchFamily="18" charset="0"/>
                                        </a:rPr>
                                        <m:t>𝑥</m:t>
                                      </m:r>
                                    </m:e>
                                  </m:d>
                                </m:e>
                              </m:func>
                            </m:e>
                          </m:func>
                        </m:e>
                      </m:func>
                    </m:oMath>
                  </m:oMathPara>
                </a14:m>
                <a:endParaRPr lang="en-US" dirty="0"/>
              </a:p>
              <a:p>
                <a:endParaRPr lang="he-IL"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043" t="-2241"/>
                </a:stretch>
              </a:blipFill>
            </p:spPr>
            <p:txBody>
              <a:bodyPr/>
              <a:lstStyle/>
              <a:p>
                <a:r>
                  <a:rPr lang="he-IL">
                    <a:noFill/>
                  </a:rPr>
                  <a:t> </a:t>
                </a:r>
              </a:p>
            </p:txBody>
          </p:sp>
        </mc:Fallback>
      </mc:AlternateContent>
    </p:spTree>
    <p:extLst>
      <p:ext uri="{BB962C8B-B14F-4D97-AF65-F5344CB8AC3E}">
        <p14:creationId xmlns:p14="http://schemas.microsoft.com/office/powerpoint/2010/main" val="13635876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Kullback</a:t>
            </a:r>
            <a:r>
              <a:rPr lang="en-US" dirty="0"/>
              <a:t>–</a:t>
            </a:r>
            <a:r>
              <a:rPr lang="en-US" dirty="0" err="1"/>
              <a:t>Leibler</a:t>
            </a:r>
            <a:r>
              <a:rPr lang="en-US" dirty="0"/>
              <a:t> Divergence Properties</a:t>
            </a:r>
            <a:endParaRPr lang="he-IL"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𝐾𝐿</m:t>
                      </m:r>
                      <m:r>
                        <a:rPr lang="en-US" i="1" smtClean="0">
                          <a:latin typeface="Cambria Math" panose="02040503050406030204" pitchFamily="18" charset="0"/>
                        </a:rPr>
                        <m:t>(</m:t>
                      </m:r>
                      <m:r>
                        <a:rPr lang="en-US" i="1" smtClean="0">
                          <a:latin typeface="Cambria Math" panose="02040503050406030204" pitchFamily="18" charset="0"/>
                        </a:rPr>
                        <m:t>𝑝</m:t>
                      </m:r>
                      <m:r>
                        <a:rPr lang="en-US" i="1" smtClean="0">
                          <a:latin typeface="Cambria Math" panose="02040503050406030204" pitchFamily="18" charset="0"/>
                        </a:rPr>
                        <m:t>|</m:t>
                      </m:r>
                      <m:d>
                        <m:dPr>
                          <m:begChr m:val="|"/>
                          <m:ctrlPr>
                            <a:rPr lang="en-US" i="1">
                              <a:latin typeface="Cambria Math" panose="02040503050406030204" pitchFamily="18" charset="0"/>
                            </a:rPr>
                          </m:ctrlPr>
                        </m:dPr>
                        <m:e>
                          <m:r>
                            <a:rPr lang="en-US" i="1">
                              <a:latin typeface="Cambria Math" panose="02040503050406030204" pitchFamily="18" charset="0"/>
                            </a:rPr>
                            <m:t>𝑞</m:t>
                          </m:r>
                        </m:e>
                      </m:d>
                      <m:r>
                        <a:rPr lang="en-US" b="0" i="1" smtClean="0">
                          <a:latin typeface="Cambria Math" panose="02040503050406030204" pitchFamily="18" charset="0"/>
                        </a:rPr>
                        <m:t>≥0</m:t>
                      </m:r>
                    </m:oMath>
                  </m:oMathPara>
                </a14:m>
                <a:endParaRPr lang="en-US" b="0" dirty="0"/>
              </a:p>
              <a:p>
                <a:pPr marL="0" indent="0">
                  <a:buNone/>
                </a:pPr>
                <a:endParaRPr lang="en-US" b="0"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𝐾𝐿</m:t>
                      </m:r>
                      <m:r>
                        <a:rPr lang="en-US" i="1">
                          <a:latin typeface="Cambria Math" panose="02040503050406030204" pitchFamily="18" charset="0"/>
                        </a:rPr>
                        <m:t>(</m:t>
                      </m:r>
                      <m:r>
                        <a:rPr lang="en-US" i="1">
                          <a:latin typeface="Cambria Math" panose="02040503050406030204" pitchFamily="18" charset="0"/>
                        </a:rPr>
                        <m:t>𝑝</m:t>
                      </m:r>
                      <m:r>
                        <a:rPr lang="en-US" i="1">
                          <a:latin typeface="Cambria Math" panose="02040503050406030204" pitchFamily="18" charset="0"/>
                        </a:rPr>
                        <m:t>|</m:t>
                      </m:r>
                      <m:d>
                        <m:dPr>
                          <m:begChr m:val="|"/>
                          <m:ctrlPr>
                            <a:rPr lang="en-US" i="1">
                              <a:latin typeface="Cambria Math" panose="02040503050406030204" pitchFamily="18" charset="0"/>
                            </a:rPr>
                          </m:ctrlPr>
                        </m:dPr>
                        <m:e>
                          <m:r>
                            <a:rPr lang="en-US" i="1">
                              <a:latin typeface="Cambria Math" panose="02040503050406030204" pitchFamily="18" charset="0"/>
                            </a:rPr>
                            <m:t>𝑞</m:t>
                          </m:r>
                        </m:e>
                      </m:d>
                      <m:r>
                        <a:rPr lang="en-US" b="0" i="1" smtClean="0">
                          <a:latin typeface="Cambria Math" panose="02040503050406030204" pitchFamily="18" charset="0"/>
                        </a:rPr>
                        <m:t>≠</m:t>
                      </m:r>
                      <m:r>
                        <a:rPr lang="en-US" b="0" i="1" smtClean="0">
                          <a:latin typeface="Cambria Math" panose="02040503050406030204" pitchFamily="18" charset="0"/>
                        </a:rPr>
                        <m:t>𝐾𝐿</m:t>
                      </m:r>
                      <m:r>
                        <a:rPr lang="en-US" b="0" i="1" smtClean="0">
                          <a:latin typeface="Cambria Math" panose="02040503050406030204" pitchFamily="18" charset="0"/>
                        </a:rPr>
                        <m:t>(</m:t>
                      </m:r>
                      <m:r>
                        <a:rPr lang="en-US" b="0" i="1" smtClean="0">
                          <a:latin typeface="Cambria Math" panose="02040503050406030204" pitchFamily="18" charset="0"/>
                        </a:rPr>
                        <m:t>𝑞</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oMath>
                  </m:oMathPara>
                </a14:m>
                <a:endParaRPr lang="en-US" dirty="0"/>
              </a:p>
              <a:p>
                <a:pPr marL="0" indent="0">
                  <a:buNone/>
                </a:pPr>
                <a:endParaRPr lang="en-US" dirty="0"/>
              </a:p>
              <a:p>
                <a:r>
                  <a:rPr lang="en-US" dirty="0"/>
                  <a:t>KL measure is a divergence, not a distance</a:t>
                </a:r>
              </a:p>
              <a:p>
                <a:r>
                  <a:rPr lang="en-US" dirty="0"/>
                  <a:t>A condition of a measure to be a metric is to be symmetric</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a:stretch>
              </a:blipFill>
            </p:spPr>
            <p:txBody>
              <a:bodyPr/>
              <a:lstStyle/>
              <a:p>
                <a:r>
                  <a:rPr lang="en-US">
                    <a:noFill/>
                  </a:rPr>
                  <a:t> </a:t>
                </a:r>
              </a:p>
            </p:txBody>
          </p:sp>
        </mc:Fallback>
      </mc:AlternateContent>
    </p:spTree>
    <p:extLst>
      <p:ext uri="{BB962C8B-B14F-4D97-AF65-F5344CB8AC3E}">
        <p14:creationId xmlns:p14="http://schemas.microsoft.com/office/powerpoint/2010/main" val="16226239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Information Theory - Summary</a:t>
            </a:r>
            <a:endParaRPr lang="he-IL"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US" dirty="0"/>
                  <a:t>The entropy of a distribution </a:t>
                </a:r>
                <a14:m>
                  <m:oMath xmlns:m="http://schemas.openxmlformats.org/officeDocument/2006/math">
                    <m:r>
                      <a:rPr lang="en-US" b="0" i="1" dirty="0" smtClean="0">
                        <a:latin typeface="Cambria Math" panose="02040503050406030204" pitchFamily="18" charset="0"/>
                      </a:rPr>
                      <m:t>𝑝</m:t>
                    </m:r>
                  </m:oMath>
                </a14:m>
                <a:r>
                  <a:rPr lang="en-US" dirty="0"/>
                  <a:t> gives the </a:t>
                </a:r>
                <a:r>
                  <a:rPr lang="en-US" b="1" dirty="0"/>
                  <a:t>minimum</a:t>
                </a:r>
                <a:r>
                  <a:rPr lang="en-US" dirty="0"/>
                  <a:t> number of bits per message that would be needed on average to losslessly encode events drawn from </a:t>
                </a:r>
                <a14:m>
                  <m:oMath xmlns:m="http://schemas.openxmlformats.org/officeDocument/2006/math">
                    <m:r>
                      <a:rPr lang="en-US" i="1" dirty="0" smtClean="0">
                        <a:latin typeface="Cambria Math" panose="02040503050406030204" pitchFamily="18" charset="0"/>
                      </a:rPr>
                      <m:t>𝑝</m:t>
                    </m:r>
                  </m:oMath>
                </a14:m>
                <a:endParaRPr lang="en-US" dirty="0"/>
              </a:p>
              <a:p>
                <a:endParaRPr lang="en-US" dirty="0"/>
              </a:p>
              <a:p>
                <a:r>
                  <a:rPr lang="en-US" dirty="0"/>
                  <a:t>The cross entropy is the </a:t>
                </a:r>
                <a:r>
                  <a:rPr lang="en-US" b="1" dirty="0"/>
                  <a:t>total</a:t>
                </a:r>
                <a:r>
                  <a:rPr lang="en-US" dirty="0"/>
                  <a:t> number of bits per message needed to encode events drawn from true distribution </a:t>
                </a:r>
                <a14:m>
                  <m:oMath xmlns:m="http://schemas.openxmlformats.org/officeDocument/2006/math">
                    <m:r>
                      <a:rPr lang="en-US" i="1" dirty="0" smtClean="0">
                        <a:latin typeface="Cambria Math" panose="02040503050406030204" pitchFamily="18" charset="0"/>
                      </a:rPr>
                      <m:t>𝑝</m:t>
                    </m:r>
                  </m:oMath>
                </a14:m>
                <a:r>
                  <a:rPr lang="en-US" dirty="0"/>
                  <a:t> if using an optimal code for </a:t>
                </a:r>
                <a14:m>
                  <m:oMath xmlns:m="http://schemas.openxmlformats.org/officeDocument/2006/math">
                    <m:r>
                      <a:rPr lang="en-US" i="1" dirty="0" smtClean="0">
                        <a:latin typeface="Cambria Math" panose="02040503050406030204" pitchFamily="18" charset="0"/>
                      </a:rPr>
                      <m:t>𝑞</m:t>
                    </m:r>
                  </m:oMath>
                </a14:m>
                <a:endParaRPr lang="en-US" dirty="0"/>
              </a:p>
              <a:p>
                <a:endParaRPr lang="en-US" dirty="0"/>
              </a:p>
              <a:p>
                <a:r>
                  <a:rPr lang="en-US" dirty="0"/>
                  <a:t>KL Divergence measures the </a:t>
                </a:r>
                <a:r>
                  <a:rPr lang="en-US" b="1" dirty="0"/>
                  <a:t>average</a:t>
                </a:r>
                <a:r>
                  <a:rPr lang="en-US" dirty="0"/>
                  <a:t> number of extra bits per message</a:t>
                </a:r>
                <a:endParaRPr lang="he-IL"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043" t="-3081" r="-1565"/>
                </a:stretch>
              </a:blipFill>
            </p:spPr>
            <p:txBody>
              <a:bodyPr/>
              <a:lstStyle/>
              <a:p>
                <a:r>
                  <a:rPr lang="en-US">
                    <a:noFill/>
                  </a:rPr>
                  <a:t> </a:t>
                </a:r>
              </a:p>
            </p:txBody>
          </p:sp>
        </mc:Fallback>
      </mc:AlternateContent>
    </p:spTree>
    <p:extLst>
      <p:ext uri="{BB962C8B-B14F-4D97-AF65-F5344CB8AC3E}">
        <p14:creationId xmlns:p14="http://schemas.microsoft.com/office/powerpoint/2010/main" val="13022595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122363"/>
            <a:ext cx="12191999" cy="2387600"/>
          </a:xfrm>
        </p:spPr>
        <p:txBody>
          <a:bodyPr/>
          <a:lstStyle/>
          <a:p>
            <a:r>
              <a:rPr lang="en-US" dirty="0"/>
              <a:t>Information Theory Perspective</a:t>
            </a:r>
            <a:endParaRPr lang="he-IL" dirty="0"/>
          </a:p>
        </p:txBody>
      </p:sp>
    </p:spTree>
    <p:extLst>
      <p:ext uri="{BB962C8B-B14F-4D97-AF65-F5344CB8AC3E}">
        <p14:creationId xmlns:p14="http://schemas.microsoft.com/office/powerpoint/2010/main" val="11067445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Latent Variable Models – General Case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199" y="1825625"/>
                <a:ext cx="11268076" cy="4351338"/>
              </a:xfrm>
            </p:spPr>
            <p:txBody>
              <a:bodyPr>
                <a:normAutofit fontScale="92500" lnSpcReduction="10000"/>
              </a:bodyPr>
              <a:lstStyle/>
              <a:p>
                <a:r>
                  <a:rPr lang="en-US" dirty="0"/>
                  <a:t>We can only see our </a:t>
                </a:r>
                <a:r>
                  <a:rPr lang="en-US" b="1" dirty="0"/>
                  <a:t>training data, </a:t>
                </a:r>
                <a14:m>
                  <m:oMath xmlns:m="http://schemas.openxmlformats.org/officeDocument/2006/math">
                    <m:r>
                      <a:rPr lang="en-US" b="1" i="1">
                        <a:latin typeface="Cambria Math" panose="02040503050406030204" pitchFamily="18" charset="0"/>
                      </a:rPr>
                      <m:t>𝒙</m:t>
                    </m:r>
                  </m:oMath>
                </a14:m>
                <a:endParaRPr lang="en-US" b="1" dirty="0"/>
              </a:p>
              <a:p>
                <a:r>
                  <a:rPr lang="en-US" dirty="0"/>
                  <a:t>We assume the data is governed by some </a:t>
                </a:r>
                <a:r>
                  <a:rPr lang="en-US" b="1" dirty="0"/>
                  <a:t>unobserved random variable, </a:t>
                </a:r>
                <a14:m>
                  <m:oMath xmlns:m="http://schemas.openxmlformats.org/officeDocument/2006/math">
                    <m:r>
                      <a:rPr lang="en-US" b="1" i="1">
                        <a:latin typeface="Cambria Math" panose="02040503050406030204" pitchFamily="18" charset="0"/>
                      </a:rPr>
                      <m:t>𝒛</m:t>
                    </m:r>
                  </m:oMath>
                </a14:m>
                <a:endParaRPr lang="en-US" b="1" dirty="0"/>
              </a:p>
              <a:p>
                <a:r>
                  <a:rPr lang="en-US" dirty="0"/>
                  <a:t>The image generation process consists of two steps: a value of </a:t>
                </a:r>
                <a14:m>
                  <m:oMath xmlns:m="http://schemas.openxmlformats.org/officeDocument/2006/math">
                    <m:r>
                      <a:rPr lang="en-US" i="1">
                        <a:latin typeface="Cambria Math" panose="02040503050406030204" pitchFamily="18" charset="0"/>
                      </a:rPr>
                      <m:t>𝑧</m:t>
                    </m:r>
                  </m:oMath>
                </a14:m>
                <a:r>
                  <a:rPr lang="en-US" dirty="0"/>
                  <a:t> is generated from some </a:t>
                </a:r>
                <a:r>
                  <a:rPr lang="en-US" b="1" dirty="0"/>
                  <a:t>prior</a:t>
                </a:r>
                <a:r>
                  <a:rPr lang="en-US" dirty="0"/>
                  <a:t> </a:t>
                </a:r>
                <a:r>
                  <a:rPr lang="en-US" b="1" dirty="0"/>
                  <a:t>distribution </a:t>
                </a:r>
                <a14:m>
                  <m:oMath xmlns:m="http://schemas.openxmlformats.org/officeDocument/2006/math">
                    <m:r>
                      <a:rPr lang="en-US" b="1" i="1" smtClean="0">
                        <a:latin typeface="Cambria Math" panose="02040503050406030204" pitchFamily="18" charset="0"/>
                      </a:rPr>
                      <m:t>𝒑</m:t>
                    </m:r>
                    <m:d>
                      <m:dPr>
                        <m:ctrlPr>
                          <a:rPr lang="en-US" b="1" i="1" smtClean="0">
                            <a:latin typeface="Cambria Math" panose="02040503050406030204" pitchFamily="18" charset="0"/>
                          </a:rPr>
                        </m:ctrlPr>
                      </m:dPr>
                      <m:e>
                        <m:r>
                          <a:rPr lang="en-US" b="1" i="1" smtClean="0">
                            <a:latin typeface="Cambria Math" panose="02040503050406030204" pitchFamily="18" charset="0"/>
                          </a:rPr>
                          <m:t>𝒛</m:t>
                        </m:r>
                      </m:e>
                    </m:d>
                  </m:oMath>
                </a14:m>
                <a:r>
                  <a:rPr lang="en-US" dirty="0"/>
                  <a:t>, and an image is generated from a </a:t>
                </a:r>
                <a:r>
                  <a:rPr lang="en-US" b="1" dirty="0"/>
                  <a:t>conditional distribution </a:t>
                </a:r>
                <a14:m>
                  <m:oMath xmlns:m="http://schemas.openxmlformats.org/officeDocument/2006/math">
                    <m:r>
                      <a:rPr lang="en-US" b="1" i="1" smtClean="0">
                        <a:latin typeface="Cambria Math" panose="02040503050406030204" pitchFamily="18" charset="0"/>
                      </a:rPr>
                      <m:t>𝒑</m:t>
                    </m:r>
                    <m:r>
                      <a:rPr lang="en-US" b="1" i="1" smtClean="0">
                        <a:latin typeface="Cambria Math" panose="02040503050406030204" pitchFamily="18" charset="0"/>
                      </a:rPr>
                      <m:t>(</m:t>
                    </m:r>
                    <m:r>
                      <a:rPr lang="en-US" b="1" i="1" smtClean="0">
                        <a:latin typeface="Cambria Math" panose="02040503050406030204" pitchFamily="18" charset="0"/>
                      </a:rPr>
                      <m:t>𝒙</m:t>
                    </m:r>
                    <m:r>
                      <a:rPr lang="en-US" b="1" i="1" smtClean="0">
                        <a:latin typeface="Cambria Math" panose="02040503050406030204" pitchFamily="18" charset="0"/>
                      </a:rPr>
                      <m:t>|</m:t>
                    </m:r>
                    <m:r>
                      <a:rPr lang="en-US" b="1" i="1" smtClean="0">
                        <a:latin typeface="Cambria Math" panose="02040503050406030204" pitchFamily="18" charset="0"/>
                      </a:rPr>
                      <m:t>𝒛</m:t>
                    </m:r>
                    <m:r>
                      <a:rPr lang="en-US" b="1" i="1" smtClean="0">
                        <a:latin typeface="Cambria Math" panose="02040503050406030204" pitchFamily="18" charset="0"/>
                      </a:rPr>
                      <m:t>)</m:t>
                    </m:r>
                  </m:oMath>
                </a14:m>
                <a:endParaRPr lang="en-US" b="1" dirty="0"/>
              </a:p>
              <a:p>
                <a:r>
                  <a:rPr lang="en-US" dirty="0"/>
                  <a:t>We can now obtain two important expressions:</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func>
                        <m:funcPr>
                          <m:ctrlPr>
                            <a:rPr lang="en-US" b="0" i="1" smtClean="0">
                              <a:latin typeface="Cambria Math" panose="02040503050406030204" pitchFamily="18" charset="0"/>
                            </a:rPr>
                          </m:ctrlPr>
                        </m:funcPr>
                        <m:fName>
                          <m:r>
                            <a:rPr lang="en-US" b="0" i="1" smtClean="0">
                              <a:latin typeface="Cambria Math" panose="02040503050406030204" pitchFamily="18" charset="0"/>
                            </a:rPr>
                            <m:t>𝑝</m:t>
                          </m:r>
                          <m:d>
                            <m:dPr>
                              <m:ctrlPr>
                                <a:rPr lang="en-US" i="1">
                                  <a:latin typeface="Cambria Math" panose="02040503050406030204" pitchFamily="18" charset="0"/>
                                </a:rPr>
                              </m:ctrlPr>
                            </m:dPr>
                            <m:e>
                              <m:r>
                                <a:rPr lang="en-US" i="1">
                                  <a:latin typeface="Cambria Math" panose="02040503050406030204" pitchFamily="18" charset="0"/>
                                </a:rPr>
                                <m:t>𝑥</m:t>
                              </m:r>
                            </m:e>
                          </m:d>
                        </m:fName>
                        <m:e>
                          <m:r>
                            <a:rPr lang="en-US" b="0" i="1" smtClean="0">
                              <a:latin typeface="Cambria Math" panose="02040503050406030204" pitchFamily="18" charset="0"/>
                            </a:rPr>
                            <m:t>=</m:t>
                          </m:r>
                        </m:e>
                      </m:func>
                      <m:nary>
                        <m:naryPr>
                          <m:subHide m:val="on"/>
                          <m:supHide m:val="on"/>
                          <m:ctrlPr>
                            <a:rPr lang="en-US" b="0" i="1" smtClean="0">
                              <a:latin typeface="Cambria Math" panose="02040503050406030204" pitchFamily="18" charset="0"/>
                            </a:rPr>
                          </m:ctrlPr>
                        </m:naryPr>
                        <m:sub/>
                        <m:sup/>
                        <m:e>
                          <m:r>
                            <a:rPr lang="en-US" b="0" i="1" smtClean="0">
                              <a:latin typeface="Cambria Math" panose="02040503050406030204" pitchFamily="18" charset="0"/>
                            </a:rPr>
                            <m:t>…</m:t>
                          </m:r>
                        </m:e>
                      </m:nary>
                      <m:nary>
                        <m:naryPr>
                          <m:subHide m:val="on"/>
                          <m:supHide m:val="on"/>
                          <m:ctrlPr>
                            <a:rPr lang="en-US" b="0" i="1" smtClean="0">
                              <a:latin typeface="Cambria Math" panose="02040503050406030204" pitchFamily="18" charset="0"/>
                            </a:rPr>
                          </m:ctrlPr>
                        </m:naryPr>
                        <m:sub/>
                        <m:sup/>
                        <m:e>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𝑖</m:t>
                                  </m:r>
                                </m:sub>
                              </m:sSub>
                            </m:e>
                          </m:d>
                          <m:r>
                            <a:rPr lang="en-US" b="0" i="1" smtClean="0">
                              <a:latin typeface="Cambria Math" panose="02040503050406030204" pitchFamily="18" charset="0"/>
                            </a:rPr>
                            <m:t>𝑝</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𝑖</m:t>
                                  </m:r>
                                </m:sub>
                              </m:sSub>
                            </m:e>
                          </m:d>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𝑖</m:t>
                              </m:r>
                            </m:sub>
                          </m:sSub>
                        </m:e>
                      </m:nary>
                    </m:oMath>
                  </m:oMathPara>
                </a14:m>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𝑧</m:t>
                          </m:r>
                        </m:e>
                        <m:e>
                          <m:r>
                            <a:rPr lang="en-US" b="0" i="1" smtClean="0">
                              <a:latin typeface="Cambria Math" panose="02040503050406030204" pitchFamily="18" charset="0"/>
                            </a:rPr>
                            <m:t>𝑥</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e>
                              <m:r>
                                <a:rPr lang="en-US" b="0" i="1" smtClean="0">
                                  <a:latin typeface="Cambria Math" panose="02040503050406030204" pitchFamily="18" charset="0"/>
                                </a:rPr>
                                <m:t>𝑧</m:t>
                              </m:r>
                            </m:e>
                          </m:d>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𝑧</m:t>
                          </m:r>
                          <m:r>
                            <a:rPr lang="en-US" b="0" i="1" smtClean="0">
                              <a:latin typeface="Cambria Math" panose="02040503050406030204" pitchFamily="18" charset="0"/>
                            </a:rPr>
                            <m:t>)</m:t>
                          </m:r>
                        </m:num>
                        <m:den>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den>
                      </m:f>
                    </m:oMath>
                  </m:oMathPara>
                </a14:m>
                <a:endParaRPr lang="en-US" dirty="0"/>
              </a:p>
              <a:p>
                <a:pPr marL="0" indent="0">
                  <a:buNone/>
                </a:pPr>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199" y="1825625"/>
                <a:ext cx="11268076" cy="4351338"/>
              </a:xfrm>
              <a:blipFill>
                <a:blip r:embed="rId3"/>
                <a:stretch>
                  <a:fillRect l="-811" t="-2801" r="-1568"/>
                </a:stretch>
              </a:blipFill>
            </p:spPr>
            <p:txBody>
              <a:bodyPr/>
              <a:lstStyle/>
              <a:p>
                <a:r>
                  <a:rPr lang="he-IL">
                    <a:noFill/>
                  </a:rPr>
                  <a:t> </a:t>
                </a:r>
              </a:p>
            </p:txBody>
          </p:sp>
        </mc:Fallback>
      </mc:AlternateContent>
      <p:sp>
        <p:nvSpPr>
          <p:cNvPr id="6" name="TextBox 5"/>
          <p:cNvSpPr txBox="1"/>
          <p:nvPr/>
        </p:nvSpPr>
        <p:spPr>
          <a:xfrm>
            <a:off x="3301846" y="6643794"/>
            <a:ext cx="1449059" cy="369332"/>
          </a:xfrm>
          <a:prstGeom prst="rect">
            <a:avLst/>
          </a:prstGeom>
          <a:noFill/>
        </p:spPr>
        <p:txBody>
          <a:bodyPr wrap="square" rtlCol="0">
            <a:spAutoFit/>
          </a:bodyPr>
          <a:lstStyle/>
          <a:p>
            <a:endParaRPr lang="en-US" u="sng" dirty="0"/>
          </a:p>
        </p:txBody>
      </p:sp>
      <p:pic>
        <p:nvPicPr>
          <p:cNvPr id="7" name="Picture 6" descr="Screen Clippi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479234" y="4001294"/>
            <a:ext cx="3471466" cy="2572340"/>
          </a:xfrm>
          <a:prstGeom prst="rect">
            <a:avLst/>
          </a:prstGeom>
        </p:spPr>
      </p:pic>
    </p:spTree>
    <p:extLst>
      <p:ext uri="{BB962C8B-B14F-4D97-AF65-F5344CB8AC3E}">
        <p14:creationId xmlns:p14="http://schemas.microsoft.com/office/powerpoint/2010/main" val="4939572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Learning Statistical Models</a:t>
            </a:r>
            <a:endParaRPr lang="he-IL"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US" dirty="0"/>
                  <a:t>Using expectation-maximization algorithm we can iteratively find a maximum likelihood or maximum a posteriori estimates of the parameters in our statistical model and we are done:</a:t>
                </a:r>
              </a:p>
              <a:p>
                <a:endParaRPr lang="en-US" dirty="0"/>
              </a:p>
              <a:p>
                <a:pPr marL="0" indent="0">
                  <a:buNone/>
                </a:pPr>
                <a14:m>
                  <m:oMathPara xmlns:m="http://schemas.openxmlformats.org/officeDocument/2006/math">
                    <m:oMathParaPr>
                      <m:jc m:val="centerGroup"/>
                    </m:oMathParaPr>
                    <m:oMath xmlns:m="http://schemas.openxmlformats.org/officeDocument/2006/math">
                      <m:func>
                        <m:funcPr>
                          <m:ctrlPr>
                            <a:rPr lang="en-US" sz="3600" i="1">
                              <a:latin typeface="Cambria Math" panose="02040503050406030204" pitchFamily="18" charset="0"/>
                            </a:rPr>
                          </m:ctrlPr>
                        </m:funcPr>
                        <m:fName>
                          <m:r>
                            <a:rPr lang="en-US" sz="3600" i="1">
                              <a:latin typeface="Cambria Math" panose="02040503050406030204" pitchFamily="18" charset="0"/>
                            </a:rPr>
                            <m:t>𝑝</m:t>
                          </m:r>
                          <m:d>
                            <m:dPr>
                              <m:ctrlPr>
                                <a:rPr lang="en-US" sz="3600" i="1">
                                  <a:latin typeface="Cambria Math" panose="02040503050406030204" pitchFamily="18" charset="0"/>
                                </a:rPr>
                              </m:ctrlPr>
                            </m:dPr>
                            <m:e>
                              <m:r>
                                <a:rPr lang="en-US" sz="3600" i="1">
                                  <a:latin typeface="Cambria Math" panose="02040503050406030204" pitchFamily="18" charset="0"/>
                                </a:rPr>
                                <m:t>𝑥</m:t>
                              </m:r>
                            </m:e>
                          </m:d>
                        </m:fName>
                        <m:e>
                          <m:r>
                            <a:rPr lang="en-US" sz="3600" i="1">
                              <a:latin typeface="Cambria Math" panose="02040503050406030204" pitchFamily="18" charset="0"/>
                            </a:rPr>
                            <m:t>=</m:t>
                          </m:r>
                        </m:e>
                      </m:func>
                      <m:nary>
                        <m:naryPr>
                          <m:subHide m:val="on"/>
                          <m:supHide m:val="on"/>
                          <m:ctrlPr>
                            <a:rPr lang="en-US" sz="3600" i="1">
                              <a:latin typeface="Cambria Math" panose="02040503050406030204" pitchFamily="18" charset="0"/>
                            </a:rPr>
                          </m:ctrlPr>
                        </m:naryPr>
                        <m:sub/>
                        <m:sup/>
                        <m:e>
                          <m:r>
                            <a:rPr lang="en-US" sz="3600" i="1">
                              <a:latin typeface="Cambria Math" panose="02040503050406030204" pitchFamily="18" charset="0"/>
                            </a:rPr>
                            <m:t>𝑝</m:t>
                          </m:r>
                          <m:d>
                            <m:dPr>
                              <m:ctrlPr>
                                <a:rPr lang="en-US" sz="3600" i="1">
                                  <a:latin typeface="Cambria Math" panose="02040503050406030204" pitchFamily="18" charset="0"/>
                                </a:rPr>
                              </m:ctrlPr>
                            </m:dPr>
                            <m:e>
                              <m:r>
                                <a:rPr lang="en-US" sz="3600" i="1">
                                  <a:latin typeface="Cambria Math" panose="02040503050406030204" pitchFamily="18" charset="0"/>
                                </a:rPr>
                                <m:t>𝑥</m:t>
                              </m:r>
                            </m:e>
                            <m:e>
                              <m:r>
                                <a:rPr lang="en-US" sz="3600" i="1">
                                  <a:latin typeface="Cambria Math" panose="02040503050406030204" pitchFamily="18" charset="0"/>
                                </a:rPr>
                                <m:t>𝑧</m:t>
                              </m:r>
                            </m:e>
                          </m:d>
                          <m:r>
                            <a:rPr lang="en-US" sz="3600" i="1">
                              <a:latin typeface="Cambria Math" panose="02040503050406030204" pitchFamily="18" charset="0"/>
                            </a:rPr>
                            <m:t>𝑝</m:t>
                          </m:r>
                          <m:d>
                            <m:dPr>
                              <m:ctrlPr>
                                <a:rPr lang="en-US" sz="3600" i="1">
                                  <a:latin typeface="Cambria Math" panose="02040503050406030204" pitchFamily="18" charset="0"/>
                                </a:rPr>
                              </m:ctrlPr>
                            </m:dPr>
                            <m:e>
                              <m:r>
                                <a:rPr lang="en-US" sz="3600" i="1">
                                  <a:latin typeface="Cambria Math" panose="02040503050406030204" pitchFamily="18" charset="0"/>
                                </a:rPr>
                                <m:t>𝑧</m:t>
                              </m:r>
                            </m:e>
                          </m:d>
                          <m:r>
                            <a:rPr lang="en-US" sz="3600" i="1">
                              <a:latin typeface="Cambria Math" panose="02040503050406030204" pitchFamily="18" charset="0"/>
                            </a:rPr>
                            <m:t>𝑑𝑧</m:t>
                          </m:r>
                        </m:e>
                      </m:nary>
                    </m:oMath>
                  </m:oMathPara>
                </a14:m>
                <a:endParaRPr lang="en-US" sz="3600" dirty="0"/>
              </a:p>
              <a:p>
                <a:pPr marL="0" indent="0">
                  <a:buNone/>
                </a:pPr>
                <a:endParaRPr lang="en-US" dirty="0"/>
              </a:p>
              <a:p>
                <a:r>
                  <a:rPr lang="en-US" dirty="0"/>
                  <a:t>For many models, this evidence integral is unavailable in closed form or requires exponential time to compute. The evidence is what we need to compute the conditional posterior using Bayes</a:t>
                </a:r>
              </a:p>
              <a:p>
                <a:pPr marL="0" indent="0">
                  <a:buNone/>
                </a:pPr>
                <a:endParaRPr lang="he-IL"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3081" b="-980"/>
                </a:stretch>
              </a:blipFill>
            </p:spPr>
            <p:txBody>
              <a:bodyPr/>
              <a:lstStyle/>
              <a:p>
                <a:r>
                  <a:rPr lang="he-IL">
                    <a:noFill/>
                  </a:rPr>
                  <a:t> </a:t>
                </a:r>
              </a:p>
            </p:txBody>
          </p:sp>
        </mc:Fallback>
      </mc:AlternateContent>
    </p:spTree>
    <p:extLst>
      <p:ext uri="{BB962C8B-B14F-4D97-AF65-F5344CB8AC3E}">
        <p14:creationId xmlns:p14="http://schemas.microsoft.com/office/powerpoint/2010/main" val="21881633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https://ermongroup.github.io/cs228-notes/assets/img/mixture.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1986" y="1027906"/>
            <a:ext cx="9138551" cy="5502023"/>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p:cNvSpPr>
            <a:spLocks noGrp="1"/>
          </p:cNvSpPr>
          <p:nvPr>
            <p:ph type="title"/>
          </p:nvPr>
        </p:nvSpPr>
        <p:spPr>
          <a:xfrm>
            <a:off x="838200" y="365125"/>
            <a:ext cx="10515600" cy="1325563"/>
          </a:xfrm>
        </p:spPr>
        <p:txBody>
          <a:bodyPr/>
          <a:lstStyle/>
          <a:p>
            <a:r>
              <a:rPr lang="en-US" dirty="0"/>
              <a:t>Intractability - Intuition</a:t>
            </a:r>
            <a:endParaRPr lang="he-IL" dirty="0"/>
          </a:p>
        </p:txBody>
      </p:sp>
    </p:spTree>
    <p:extLst>
      <p:ext uri="{BB962C8B-B14F-4D97-AF65-F5344CB8AC3E}">
        <p14:creationId xmlns:p14="http://schemas.microsoft.com/office/powerpoint/2010/main" val="27257130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825625"/>
                <a:ext cx="10020300" cy="4351338"/>
              </a:xfrm>
            </p:spPr>
            <p:txBody>
              <a:bodyPr/>
              <a:lstStyle/>
              <a:p>
                <a:pPr marL="0" indent="0">
                  <a:buNone/>
                </a:pPr>
                <a14:m>
                  <m:oMathPara xmlns:m="http://schemas.openxmlformats.org/officeDocument/2006/math">
                    <m:oMathParaPr>
                      <m:jc m:val="centerGroup"/>
                    </m:oMathParaPr>
                    <m:oMath xmlns:m="http://schemas.openxmlformats.org/officeDocument/2006/math">
                      <m:func>
                        <m:funcPr>
                          <m:ctrlPr>
                            <a:rPr lang="en-US" i="1" smtClean="0">
                              <a:latin typeface="Cambria Math" panose="02040503050406030204" pitchFamily="18" charset="0"/>
                            </a:rPr>
                          </m:ctrlPr>
                        </m:funcPr>
                        <m:fName>
                          <m:limLow>
                            <m:limLowPr>
                              <m:ctrlPr>
                                <a:rPr lang="en-US" i="1">
                                  <a:latin typeface="Cambria Math" panose="02040503050406030204" pitchFamily="18" charset="0"/>
                                </a:rPr>
                              </m:ctrlPr>
                            </m:limLowPr>
                            <m:e>
                              <m:r>
                                <m:rPr>
                                  <m:sty m:val="p"/>
                                </m:rPr>
                                <a:rPr lang="en-US">
                                  <a:latin typeface="Cambria Math" panose="02040503050406030204" pitchFamily="18" charset="0"/>
                                </a:rPr>
                                <m:t>max</m:t>
                              </m:r>
                            </m:e>
                            <m:lim>
                              <m:r>
                                <a:rPr lang="en-US" i="1">
                                  <a:latin typeface="Cambria Math" panose="02040503050406030204" pitchFamily="18" charset="0"/>
                                </a:rPr>
                                <m:t>𝜃</m:t>
                              </m:r>
                            </m:lim>
                          </m:limLow>
                        </m:fName>
                        <m:e>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𝜃</m:t>
                              </m:r>
                            </m:sub>
                          </m:sSub>
                          <m:d>
                            <m:dPr>
                              <m:ctrlPr>
                                <a:rPr lang="en-US" i="1">
                                  <a:latin typeface="Cambria Math" panose="02040503050406030204" pitchFamily="18" charset="0"/>
                                </a:rPr>
                              </m:ctrlPr>
                            </m:dPr>
                            <m:e>
                              <m:r>
                                <a:rPr lang="en-US" i="1">
                                  <a:latin typeface="Cambria Math" panose="02040503050406030204" pitchFamily="18" charset="0"/>
                                </a:rPr>
                                <m:t>𝑥</m:t>
                              </m:r>
                            </m:e>
                          </m:d>
                          <m:r>
                            <a:rPr lang="en-US" i="1">
                              <a:latin typeface="Cambria Math" panose="02040503050406030204" pitchFamily="18" charset="0"/>
                            </a:rPr>
                            <m:t>=</m:t>
                          </m:r>
                        </m:e>
                      </m:func>
                      <m:func>
                        <m:funcPr>
                          <m:ctrlPr>
                            <a:rPr lang="en-US" i="1">
                              <a:latin typeface="Cambria Math" panose="02040503050406030204" pitchFamily="18" charset="0"/>
                            </a:rPr>
                          </m:ctrlPr>
                        </m:funcPr>
                        <m:fName>
                          <m:limLow>
                            <m:limLowPr>
                              <m:ctrlPr>
                                <a:rPr lang="en-US" i="1">
                                  <a:latin typeface="Cambria Math" panose="02040503050406030204" pitchFamily="18" charset="0"/>
                                </a:rPr>
                              </m:ctrlPr>
                            </m:limLowPr>
                            <m:e>
                              <m:r>
                                <m:rPr>
                                  <m:sty m:val="p"/>
                                </m:rPr>
                                <a:rPr lang="en-US">
                                  <a:latin typeface="Cambria Math" panose="02040503050406030204" pitchFamily="18" charset="0"/>
                                </a:rPr>
                                <m:t>max</m:t>
                              </m:r>
                            </m:e>
                            <m:lim>
                              <m:r>
                                <a:rPr lang="en-US" i="1">
                                  <a:latin typeface="Cambria Math" panose="02040503050406030204" pitchFamily="18" charset="0"/>
                                </a:rPr>
                                <m:t>𝜃</m:t>
                              </m:r>
                            </m:lim>
                          </m:limLow>
                        </m:fName>
                        <m:e>
                          <m:nary>
                            <m:naryPr>
                              <m:subHide m:val="on"/>
                              <m:supHide m:val="on"/>
                              <m:ctrlPr>
                                <a:rPr lang="en-US" i="1">
                                  <a:latin typeface="Cambria Math" panose="02040503050406030204" pitchFamily="18" charset="0"/>
                                </a:rPr>
                              </m:ctrlPr>
                            </m:naryPr>
                            <m:sub/>
                            <m:sup/>
                            <m:e>
                              <m:r>
                                <a:rPr lang="en-US" i="1">
                                  <a:latin typeface="Cambria Math" panose="02040503050406030204" pitchFamily="18" charset="0"/>
                                </a:rPr>
                                <m:t>𝑝</m:t>
                              </m:r>
                              <m:d>
                                <m:dPr>
                                  <m:ctrlPr>
                                    <a:rPr lang="en-US" i="1">
                                      <a:latin typeface="Cambria Math" panose="02040503050406030204" pitchFamily="18" charset="0"/>
                                    </a:rPr>
                                  </m:ctrlPr>
                                </m:dPr>
                                <m:e>
                                  <m:r>
                                    <a:rPr lang="en-US" i="1">
                                      <a:latin typeface="Cambria Math" panose="02040503050406030204" pitchFamily="18" charset="0"/>
                                    </a:rPr>
                                    <m:t>𝑧</m:t>
                                  </m:r>
                                </m:e>
                              </m:d>
                              <m:sSub>
                                <m:sSubPr>
                                  <m:ctrlPr>
                                    <a:rPr lang="en-US" i="1">
                                      <a:latin typeface="Cambria Math" panose="02040503050406030204" pitchFamily="18" charset="0"/>
                                    </a:rPr>
                                  </m:ctrlPr>
                                </m:sSubPr>
                                <m:e>
                                  <m:r>
                                    <a:rPr lang="en-US" i="1">
                                      <a:latin typeface="Cambria Math" panose="02040503050406030204" pitchFamily="18" charset="0"/>
                                    </a:rPr>
                                    <m:t> </m:t>
                                  </m:r>
                                  <m:r>
                                    <a:rPr lang="en-US" i="1">
                                      <a:latin typeface="Cambria Math" panose="02040503050406030204" pitchFamily="18" charset="0"/>
                                    </a:rPr>
                                    <m:t>𝑝</m:t>
                                  </m:r>
                                </m:e>
                                <m:sub>
                                  <m:r>
                                    <a:rPr lang="en-US" i="1">
                                      <a:latin typeface="Cambria Math" panose="02040503050406030204" pitchFamily="18" charset="0"/>
                                    </a:rPr>
                                    <m:t>𝜃</m:t>
                                  </m:r>
                                </m:sub>
                              </m:sSub>
                              <m:d>
                                <m:dPr>
                                  <m:sepChr m:val="∣"/>
                                  <m:ctrlPr>
                                    <a:rPr lang="en-US" i="1">
                                      <a:latin typeface="Cambria Math" panose="02040503050406030204" pitchFamily="18" charset="0"/>
                                    </a:rPr>
                                  </m:ctrlPr>
                                </m:dPr>
                                <m:e>
                                  <m:r>
                                    <a:rPr lang="en-US" i="1">
                                      <a:latin typeface="Cambria Math" panose="02040503050406030204" pitchFamily="18" charset="0"/>
                                    </a:rPr>
                                    <m:t>𝑥</m:t>
                                  </m:r>
                                </m:e>
                                <m:e>
                                  <m:r>
                                    <a:rPr lang="en-US" i="1">
                                      <a:latin typeface="Cambria Math" panose="02040503050406030204" pitchFamily="18" charset="0"/>
                                    </a:rPr>
                                    <m:t>𝑧</m:t>
                                  </m:r>
                                </m:e>
                              </m:d>
                              <m:r>
                                <a:rPr lang="en-US" i="1">
                                  <a:latin typeface="Cambria Math" panose="02040503050406030204" pitchFamily="18" charset="0"/>
                                </a:rPr>
                                <m:t> </m:t>
                              </m:r>
                              <m:r>
                                <a:rPr lang="en-US" i="1">
                                  <a:latin typeface="Cambria Math" panose="02040503050406030204" pitchFamily="18" charset="0"/>
                                </a:rPr>
                                <m:t>𝑑𝑧</m:t>
                              </m:r>
                            </m:e>
                          </m:nary>
                        </m:e>
                      </m:func>
                    </m:oMath>
                  </m:oMathPara>
                </a14:m>
                <a:endParaRPr lang="en-US" dirty="0"/>
              </a:p>
              <a:p>
                <a:r>
                  <a:rPr lang="en-US" dirty="0"/>
                  <a:t>We can </a:t>
                </a:r>
                <a:r>
                  <a:rPr lang="he-IL" dirty="0"/>
                  <a:t>"</a:t>
                </a:r>
                <a:r>
                  <a:rPr lang="en-US" dirty="0"/>
                  <a:t>solve</a:t>
                </a:r>
                <a:r>
                  <a:rPr lang="he-IL" dirty="0"/>
                  <a:t>"</a:t>
                </a:r>
                <a:r>
                  <a:rPr lang="en-US" dirty="0"/>
                  <a:t> the intractable part in two ways</a:t>
                </a:r>
              </a:p>
              <a:p>
                <a:pPr lvl="1"/>
                <a:r>
                  <a:rPr lang="en-US" dirty="0"/>
                  <a:t>Variational Inference</a:t>
                </a:r>
              </a:p>
              <a:p>
                <a:pPr lvl="1"/>
                <a:r>
                  <a:rPr lang="en-US" dirty="0"/>
                  <a:t>Markov Chain Monte Carlo (Does not scale well with large datasets)</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825625"/>
                <a:ext cx="10020300" cy="4351338"/>
              </a:xfrm>
              <a:blipFill>
                <a:blip r:embed="rId3"/>
                <a:stretch>
                  <a:fillRect l="-1096"/>
                </a:stretch>
              </a:blipFill>
            </p:spPr>
            <p:txBody>
              <a:bodyPr/>
              <a:lstStyle/>
              <a:p>
                <a:r>
                  <a:rPr lang="he-IL">
                    <a:noFill/>
                  </a:rPr>
                  <a:t> </a:t>
                </a:r>
              </a:p>
            </p:txBody>
          </p:sp>
        </mc:Fallback>
      </mc:AlternateContent>
      <p:sp>
        <p:nvSpPr>
          <p:cNvPr id="2" name="Title 1"/>
          <p:cNvSpPr>
            <a:spLocks noGrp="1"/>
          </p:cNvSpPr>
          <p:nvPr>
            <p:ph type="title"/>
          </p:nvPr>
        </p:nvSpPr>
        <p:spPr/>
        <p:txBody>
          <a:bodyPr/>
          <a:lstStyle/>
          <a:p>
            <a:r>
              <a:rPr lang="en-US" dirty="0"/>
              <a:t>Intractability</a:t>
            </a:r>
            <a:endParaRPr lang="he-IL" dirty="0"/>
          </a:p>
        </p:txBody>
      </p:sp>
    </p:spTree>
    <p:extLst>
      <p:ext uri="{BB962C8B-B14F-4D97-AF65-F5344CB8AC3E}">
        <p14:creationId xmlns:p14="http://schemas.microsoft.com/office/powerpoint/2010/main" val="30983192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Variational Inference</a:t>
            </a:r>
            <a:endParaRPr lang="he-IL" dirty="0"/>
          </a:p>
        </p:txBody>
      </p:sp>
    </p:spTree>
    <p:extLst>
      <p:ext uri="{BB962C8B-B14F-4D97-AF65-F5344CB8AC3E}">
        <p14:creationId xmlns:p14="http://schemas.microsoft.com/office/powerpoint/2010/main" val="10296785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Variational Inference</a:t>
            </a:r>
            <a:endParaRPr lang="he-IL"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199" y="1825625"/>
                <a:ext cx="11153775" cy="4351338"/>
              </a:xfrm>
            </p:spPr>
            <p:txBody>
              <a:bodyPr>
                <a:normAutofit/>
              </a:bodyPr>
              <a:lstStyle/>
              <a:p>
                <a:r>
                  <a:rPr lang="en-US" dirty="0"/>
                  <a:t>Suppose we are given an intractable probability distribution </a:t>
                </a:r>
                <a14:m>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𝑧</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oMath>
                </a14:m>
                <a:endParaRPr lang="en-US" dirty="0"/>
              </a:p>
              <a:p>
                <a:endParaRPr lang="en-US" dirty="0"/>
              </a:p>
              <a:p>
                <a:pPr marL="228600" lvl="1">
                  <a:spcBef>
                    <a:spcPts val="1000"/>
                  </a:spcBef>
                </a:pPr>
                <a:r>
                  <a:rPr lang="en-US" sz="2800" dirty="0"/>
                  <a:t>We can approximate the intractable distribution using some other tractable distribution, </a:t>
                </a:r>
                <a14:m>
                  <m:oMath xmlns:m="http://schemas.openxmlformats.org/officeDocument/2006/math">
                    <m:r>
                      <a:rPr lang="en-US" sz="2800" i="1">
                        <a:latin typeface="Cambria Math" panose="02040503050406030204" pitchFamily="18" charset="0"/>
                      </a:rPr>
                      <m:t>𝑞</m:t>
                    </m:r>
                    <m:d>
                      <m:dPr>
                        <m:ctrlPr>
                          <a:rPr lang="en-US" sz="2800" i="1">
                            <a:latin typeface="Cambria Math" panose="02040503050406030204" pitchFamily="18" charset="0"/>
                          </a:rPr>
                        </m:ctrlPr>
                      </m:dPr>
                      <m:e>
                        <m:r>
                          <a:rPr lang="en-US" sz="2800" i="1">
                            <a:latin typeface="Cambria Math" panose="02040503050406030204" pitchFamily="18" charset="0"/>
                          </a:rPr>
                          <m:t>𝑧</m:t>
                        </m:r>
                        <m:r>
                          <a:rPr lang="en-US" sz="2800" i="1">
                            <a:latin typeface="Cambria Math" panose="02040503050406030204" pitchFamily="18" charset="0"/>
                          </a:rPr>
                          <m:t>|</m:t>
                        </m:r>
                        <m:r>
                          <a:rPr lang="en-US" sz="2800" i="1">
                            <a:latin typeface="Cambria Math" panose="02040503050406030204" pitchFamily="18" charset="0"/>
                          </a:rPr>
                          <m:t>𝑥</m:t>
                        </m:r>
                      </m:e>
                    </m:d>
                  </m:oMath>
                </a14:m>
                <a:endParaRPr lang="en-US" sz="2800" b="1" dirty="0"/>
              </a:p>
              <a:p>
                <a:pPr marL="0" indent="0">
                  <a:buNone/>
                </a:pPr>
                <a:endParaRPr lang="en-US" dirty="0"/>
              </a:p>
              <a:p>
                <a:r>
                  <a:rPr lang="en-US" dirty="0"/>
                  <a:t>What will help us choose a distribution </a:t>
                </a:r>
                <a14:m>
                  <m:oMath xmlns:m="http://schemas.openxmlformats.org/officeDocument/2006/math">
                    <m:r>
                      <a:rPr lang="en-US" b="0" i="1" smtClean="0">
                        <a:latin typeface="Cambria Math" panose="02040503050406030204" pitchFamily="18" charset="0"/>
                      </a:rPr>
                      <m:t>𝑞</m:t>
                    </m:r>
                    <m:r>
                      <a:rPr lang="en-US" b="0" i="1" smtClean="0">
                        <a:latin typeface="Cambria Math" panose="02040503050406030204" pitchFamily="18" charset="0"/>
                      </a:rPr>
                      <m:t>(</m:t>
                    </m:r>
                    <m:r>
                      <a:rPr lang="en-US" b="0" i="1" smtClean="0">
                        <a:latin typeface="Cambria Math" panose="02040503050406030204" pitchFamily="18" charset="0"/>
                      </a:rPr>
                      <m:t>𝑧</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oMath>
                </a14:m>
                <a:r>
                  <a:rPr lang="en-US" dirty="0"/>
                  <a:t> that will best approximate the intractable posterior </a:t>
                </a:r>
                <a14:m>
                  <m:oMath xmlns:m="http://schemas.openxmlformats.org/officeDocument/2006/math">
                    <m:r>
                      <a:rPr lang="en-US" i="1">
                        <a:latin typeface="Cambria Math" panose="02040503050406030204" pitchFamily="18" charset="0"/>
                      </a:rPr>
                      <m:t>𝑝</m:t>
                    </m:r>
                    <m:d>
                      <m:dPr>
                        <m:ctrlPr>
                          <a:rPr lang="en-US" i="1">
                            <a:latin typeface="Cambria Math" panose="02040503050406030204" pitchFamily="18" charset="0"/>
                          </a:rPr>
                        </m:ctrlPr>
                      </m:dPr>
                      <m:e>
                        <m:r>
                          <a:rPr lang="en-US" i="1">
                            <a:latin typeface="Cambria Math" panose="02040503050406030204" pitchFamily="18" charset="0"/>
                          </a:rPr>
                          <m:t>𝑧</m:t>
                        </m:r>
                      </m:e>
                      <m:e>
                        <m:r>
                          <a:rPr lang="en-US" i="1">
                            <a:latin typeface="Cambria Math" panose="02040503050406030204" pitchFamily="18" charset="0"/>
                          </a:rPr>
                          <m:t>𝑥</m:t>
                        </m:r>
                      </m:e>
                    </m:d>
                  </m:oMath>
                </a14:m>
                <a:r>
                  <a:rPr lang="en-US" dirty="0"/>
                  <a:t>?</a:t>
                </a:r>
              </a:p>
              <a:p>
                <a:endParaRPr lang="he-IL"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199" y="1825625"/>
                <a:ext cx="11153775" cy="4351338"/>
              </a:xfrm>
              <a:blipFill>
                <a:blip r:embed="rId3"/>
                <a:stretch>
                  <a:fillRect l="-929" t="-2241"/>
                </a:stretch>
              </a:blipFill>
            </p:spPr>
            <p:txBody>
              <a:bodyPr/>
              <a:lstStyle/>
              <a:p>
                <a:r>
                  <a:rPr lang="he-IL">
                    <a:noFill/>
                  </a:rPr>
                  <a:t> </a:t>
                </a:r>
              </a:p>
            </p:txBody>
          </p:sp>
        </mc:Fallback>
      </mc:AlternateContent>
    </p:spTree>
    <p:extLst>
      <p:ext uri="{BB962C8B-B14F-4D97-AF65-F5344CB8AC3E}">
        <p14:creationId xmlns:p14="http://schemas.microsoft.com/office/powerpoint/2010/main" val="10810800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Information Theory Revisited</a:t>
            </a:r>
            <a:endParaRPr lang="he-IL"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We interpret the unobserved variables z as a latent representation or </a:t>
                </a:r>
                <a:r>
                  <a:rPr lang="en-US" b="1" dirty="0"/>
                  <a:t>code</a:t>
                </a:r>
                <a:r>
                  <a:rPr lang="en-US" dirty="0"/>
                  <a:t>, therefore, we shall refer to the model </a:t>
                </a:r>
                <a14:m>
                  <m:oMath xmlns:m="http://schemas.openxmlformats.org/officeDocument/2006/math">
                    <m:r>
                      <a:rPr lang="en-US" i="1">
                        <a:latin typeface="Cambria Math" panose="02040503050406030204" pitchFamily="18" charset="0"/>
                      </a:rPr>
                      <m:t>𝑞</m:t>
                    </m:r>
                    <m:d>
                      <m:dPr>
                        <m:ctrlPr>
                          <a:rPr lang="en-US" b="0" i="1" smtClean="0">
                            <a:latin typeface="Cambria Math" panose="02040503050406030204" pitchFamily="18" charset="0"/>
                          </a:rPr>
                        </m:ctrlPr>
                      </m:dPr>
                      <m:e>
                        <m:r>
                          <a:rPr lang="en-US" b="0" i="1" smtClean="0">
                            <a:latin typeface="Cambria Math" panose="02040503050406030204" pitchFamily="18" charset="0"/>
                          </a:rPr>
                          <m:t>𝑧</m:t>
                        </m:r>
                      </m:e>
                      <m:e>
                        <m:r>
                          <a:rPr lang="en-US" b="0" i="1" smtClean="0">
                            <a:latin typeface="Cambria Math" panose="02040503050406030204" pitchFamily="18" charset="0"/>
                          </a:rPr>
                          <m:t>𝑥</m:t>
                        </m:r>
                      </m:e>
                    </m:d>
                  </m:oMath>
                </a14:m>
                <a:r>
                  <a:rPr lang="en-US" b="1" dirty="0"/>
                  <a:t> </a:t>
                </a:r>
                <a:r>
                  <a:rPr lang="en-US" dirty="0"/>
                  <a:t>as a </a:t>
                </a:r>
                <a:r>
                  <a:rPr lang="en-US" b="1" dirty="0"/>
                  <a:t>probabilistic encoder</a:t>
                </a:r>
                <a:r>
                  <a:rPr lang="en-US" dirty="0"/>
                  <a:t>, since given a </a:t>
                </a:r>
                <a:r>
                  <a:rPr lang="en-US" dirty="0" err="1"/>
                  <a:t>datapoint</a:t>
                </a:r>
                <a:r>
                  <a:rPr lang="en-US" dirty="0"/>
                  <a:t> </a:t>
                </a:r>
                <a14:m>
                  <m:oMath xmlns:m="http://schemas.openxmlformats.org/officeDocument/2006/math">
                    <m:r>
                      <a:rPr lang="en-US" i="1" smtClean="0">
                        <a:latin typeface="Cambria Math" panose="02040503050406030204" pitchFamily="18" charset="0"/>
                      </a:rPr>
                      <m:t>𝑥</m:t>
                    </m:r>
                  </m:oMath>
                </a14:m>
                <a:r>
                  <a:rPr lang="en-US" b="1" dirty="0"/>
                  <a:t> </a:t>
                </a:r>
                <a:r>
                  <a:rPr lang="en-US" dirty="0"/>
                  <a:t>it produces a </a:t>
                </a:r>
                <a:r>
                  <a:rPr lang="en-US" b="1" dirty="0"/>
                  <a:t>distribution</a:t>
                </a:r>
                <a:r>
                  <a:rPr lang="en-US" dirty="0"/>
                  <a:t> over the possible values of the code </a:t>
                </a:r>
                <a14:m>
                  <m:oMath xmlns:m="http://schemas.openxmlformats.org/officeDocument/2006/math">
                    <m:r>
                      <a:rPr lang="en-US" i="1" smtClean="0">
                        <a:latin typeface="Cambria Math" panose="02040503050406030204" pitchFamily="18" charset="0"/>
                      </a:rPr>
                      <m:t>𝑧</m:t>
                    </m:r>
                  </m:oMath>
                </a14:m>
                <a:endParaRPr lang="en-US" b="1" dirty="0"/>
              </a:p>
              <a:p>
                <a:endParaRPr lang="en-US" b="1" dirty="0"/>
              </a:p>
              <a:p>
                <a:r>
                  <a:rPr lang="en-US" dirty="0"/>
                  <a:t>Similarly, we refer to </a:t>
                </a:r>
                <a14:m>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𝑧</m:t>
                    </m:r>
                    <m:r>
                      <a:rPr lang="en-US" b="0" i="1" smtClean="0">
                        <a:latin typeface="Cambria Math" panose="02040503050406030204" pitchFamily="18" charset="0"/>
                      </a:rPr>
                      <m:t>)</m:t>
                    </m:r>
                  </m:oMath>
                </a14:m>
                <a:r>
                  <a:rPr lang="en-US" dirty="0"/>
                  <a:t> as a </a:t>
                </a:r>
                <a:r>
                  <a:rPr lang="en-US" b="1" dirty="0"/>
                  <a:t>probabilistic decoder</a:t>
                </a:r>
                <a:r>
                  <a:rPr lang="en-US" dirty="0"/>
                  <a:t>, since given a code </a:t>
                </a:r>
                <a14:m>
                  <m:oMath xmlns:m="http://schemas.openxmlformats.org/officeDocument/2006/math">
                    <m:r>
                      <a:rPr lang="en-US" b="0" i="1" smtClean="0">
                        <a:latin typeface="Cambria Math" panose="02040503050406030204" pitchFamily="18" charset="0"/>
                      </a:rPr>
                      <m:t>𝑧</m:t>
                    </m:r>
                  </m:oMath>
                </a14:m>
                <a:r>
                  <a:rPr lang="en-US" b="1" dirty="0"/>
                  <a:t> </a:t>
                </a:r>
                <a:r>
                  <a:rPr lang="en-US" dirty="0"/>
                  <a:t>it produces a </a:t>
                </a:r>
                <a:r>
                  <a:rPr lang="en-US" b="1" dirty="0"/>
                  <a:t>distribution</a:t>
                </a:r>
                <a:r>
                  <a:rPr lang="en-US" dirty="0"/>
                  <a:t> over the possible values of </a:t>
                </a:r>
                <a14:m>
                  <m:oMath xmlns:m="http://schemas.openxmlformats.org/officeDocument/2006/math">
                    <m:r>
                      <a:rPr lang="en-US" i="1">
                        <a:latin typeface="Cambria Math" panose="02040503050406030204" pitchFamily="18" charset="0"/>
                      </a:rPr>
                      <m:t>𝑥</m:t>
                    </m:r>
                  </m:oMath>
                </a14:m>
                <a:endParaRPr lang="he-IL" b="1"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241" r="-1101"/>
                </a:stretch>
              </a:blipFill>
            </p:spPr>
            <p:txBody>
              <a:bodyPr/>
              <a:lstStyle/>
              <a:p>
                <a:r>
                  <a:rPr lang="he-IL">
                    <a:noFill/>
                  </a:rPr>
                  <a:t> </a:t>
                </a:r>
              </a:p>
            </p:txBody>
          </p:sp>
        </mc:Fallback>
      </mc:AlternateContent>
    </p:spTree>
    <p:extLst>
      <p:ext uri="{BB962C8B-B14F-4D97-AF65-F5344CB8AC3E}">
        <p14:creationId xmlns:p14="http://schemas.microsoft.com/office/powerpoint/2010/main" val="7334366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lstStyle/>
          <a:p>
            <a:r>
              <a:rPr lang="en-US" b="1" dirty="0"/>
              <a:t>Mechanics of VAE</a:t>
            </a:r>
          </a:p>
        </p:txBody>
      </p:sp>
      <p:sp>
        <p:nvSpPr>
          <p:cNvPr id="4" name="Slide Number Placeholder 3"/>
          <p:cNvSpPr>
            <a:spLocks noGrp="1"/>
          </p:cNvSpPr>
          <p:nvPr>
            <p:ph type="sldNum" sz="quarter" idx="12"/>
          </p:nvPr>
        </p:nvSpPr>
        <p:spPr/>
        <p:txBody>
          <a:bodyPr/>
          <a:lstStyle/>
          <a:p>
            <a:fld id="{81B7CCDB-6D39-0547-B7B3-C80E39D6513A}" type="slidenum">
              <a:rPr lang="en-US" smtClean="0"/>
              <a:pPr/>
              <a:t>27</a:t>
            </a:fld>
            <a:endParaRPr lang="en-US"/>
          </a:p>
        </p:txBody>
      </p:sp>
    </p:spTree>
    <p:extLst>
      <p:ext uri="{BB962C8B-B14F-4D97-AF65-F5344CB8AC3E}">
        <p14:creationId xmlns:p14="http://schemas.microsoft.com/office/powerpoint/2010/main" val="29434361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Generative models</a:t>
            </a:r>
          </a:p>
        </p:txBody>
      </p:sp>
      <p:sp>
        <p:nvSpPr>
          <p:cNvPr id="3" name="Content Placeholder 2"/>
          <p:cNvSpPr>
            <a:spLocks noGrp="1"/>
          </p:cNvSpPr>
          <p:nvPr>
            <p:ph idx="1"/>
          </p:nvPr>
        </p:nvSpPr>
        <p:spPr>
          <a:xfrm>
            <a:off x="833414" y="1177758"/>
            <a:ext cx="11009294" cy="2111143"/>
          </a:xfrm>
        </p:spPr>
        <p:txBody>
          <a:bodyPr/>
          <a:lstStyle/>
          <a:p>
            <a:r>
              <a:rPr lang="en-US" dirty="0"/>
              <a:t>Imagine we want to generate data from a distribution,  </a:t>
            </a:r>
          </a:p>
          <a:p>
            <a:endParaRPr lang="en-US" dirty="0"/>
          </a:p>
          <a:p>
            <a:r>
              <a:rPr lang="en-US" dirty="0"/>
              <a:t>e.g. 	</a:t>
            </a:r>
          </a:p>
          <a:p>
            <a:endParaRPr lang="en-US" dirty="0"/>
          </a:p>
          <a:p>
            <a:endParaRPr lang="en-US" dirty="0"/>
          </a:p>
        </p:txBody>
      </p:sp>
      <p:pic>
        <p:nvPicPr>
          <p:cNvPr id="4" name="Picture 3"/>
          <p:cNvPicPr>
            <a:picLocks noChangeAspect="1"/>
          </p:cNvPicPr>
          <p:nvPr/>
        </p:nvPicPr>
        <p:blipFill>
          <a:blip r:embed="rId3"/>
          <a:stretch>
            <a:fillRect/>
          </a:stretch>
        </p:blipFill>
        <p:spPr>
          <a:xfrm>
            <a:off x="5182088" y="1998379"/>
            <a:ext cx="1663700" cy="469900"/>
          </a:xfrm>
          <a:prstGeom prst="rect">
            <a:avLst/>
          </a:prstGeom>
        </p:spPr>
      </p:pic>
      <p:pic>
        <p:nvPicPr>
          <p:cNvPr id="5" name="Picture 4"/>
          <p:cNvPicPr>
            <a:picLocks noChangeAspect="1"/>
          </p:cNvPicPr>
          <p:nvPr/>
        </p:nvPicPr>
        <p:blipFill>
          <a:blip r:embed="rId4"/>
          <a:stretch>
            <a:fillRect/>
          </a:stretch>
        </p:blipFill>
        <p:spPr>
          <a:xfrm>
            <a:off x="4826488" y="2946400"/>
            <a:ext cx="2374900" cy="482600"/>
          </a:xfrm>
          <a:prstGeom prst="rect">
            <a:avLst/>
          </a:prstGeom>
        </p:spPr>
      </p:pic>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446585" y="3683564"/>
            <a:ext cx="4845050" cy="3028156"/>
          </a:xfrm>
          <a:prstGeom prst="rect">
            <a:avLst/>
          </a:prstGeom>
        </p:spPr>
      </p:pic>
    </p:spTree>
    <p:extLst>
      <p:ext uri="{BB962C8B-B14F-4D97-AF65-F5344CB8AC3E}">
        <p14:creationId xmlns:p14="http://schemas.microsoft.com/office/powerpoint/2010/main" val="42144298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Generative models</a:t>
            </a:r>
          </a:p>
        </p:txBody>
      </p:sp>
      <p:sp>
        <p:nvSpPr>
          <p:cNvPr id="3" name="Content Placeholder 2"/>
          <p:cNvSpPr>
            <a:spLocks noGrp="1"/>
          </p:cNvSpPr>
          <p:nvPr>
            <p:ph idx="1"/>
          </p:nvPr>
        </p:nvSpPr>
        <p:spPr>
          <a:xfrm>
            <a:off x="833414" y="1033347"/>
            <a:ext cx="11009294" cy="1233279"/>
          </a:xfrm>
        </p:spPr>
        <p:txBody>
          <a:bodyPr>
            <a:normAutofit fontScale="25000" lnSpcReduction="20000"/>
          </a:bodyPr>
          <a:lstStyle/>
          <a:p>
            <a:pPr marL="0" indent="0">
              <a:buNone/>
            </a:pPr>
            <a:r>
              <a:rPr lang="en-US" dirty="0"/>
              <a:t> </a:t>
            </a:r>
          </a:p>
          <a:p>
            <a:endParaRPr lang="en-US" dirty="0"/>
          </a:p>
          <a:p>
            <a:r>
              <a:rPr lang="en-US" sz="11200" dirty="0"/>
              <a:t>But how do we generate such samples?</a:t>
            </a:r>
          </a:p>
          <a:p>
            <a:endParaRPr lang="en-US" dirty="0"/>
          </a:p>
          <a:p>
            <a:endParaRPr lang="en-US" dirty="0"/>
          </a:p>
          <a:p>
            <a:endParaRPr lang="en-US" dirty="0"/>
          </a:p>
          <a:p>
            <a:endParaRPr lang="en-US" dirty="0"/>
          </a:p>
          <a:p>
            <a:pPr marL="0" indent="0">
              <a:buNone/>
            </a:pPr>
            <a:r>
              <a:rPr lang="en-US" dirty="0"/>
              <a:t>						</a:t>
            </a:r>
          </a:p>
        </p:txBody>
      </p:sp>
      <p:pic>
        <p:nvPicPr>
          <p:cNvPr id="11" name="Picture 10"/>
          <p:cNvPicPr>
            <a:picLocks noChangeAspect="1"/>
          </p:cNvPicPr>
          <p:nvPr/>
        </p:nvPicPr>
        <p:blipFill>
          <a:blip r:embed="rId3"/>
          <a:stretch>
            <a:fillRect/>
          </a:stretch>
        </p:blipFill>
        <p:spPr>
          <a:xfrm>
            <a:off x="4656015" y="2031676"/>
            <a:ext cx="2692400" cy="469900"/>
          </a:xfrm>
          <a:prstGeom prst="rect">
            <a:avLst/>
          </a:prstGeom>
        </p:spPr>
      </p:pic>
      <p:pic>
        <p:nvPicPr>
          <p:cNvPr id="12" name="Picture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87615" y="2999815"/>
            <a:ext cx="4846320" cy="3028950"/>
          </a:xfrm>
          <a:prstGeom prst="rect">
            <a:avLst/>
          </a:prstGeom>
        </p:spPr>
      </p:pic>
    </p:spTree>
    <p:extLst>
      <p:ext uri="{BB962C8B-B14F-4D97-AF65-F5344CB8AC3E}">
        <p14:creationId xmlns:p14="http://schemas.microsoft.com/office/powerpoint/2010/main" val="22251423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Generative models</a:t>
            </a:r>
          </a:p>
        </p:txBody>
      </p:sp>
      <p:sp>
        <p:nvSpPr>
          <p:cNvPr id="3" name="Content Placeholder 2"/>
          <p:cNvSpPr>
            <a:spLocks noGrp="1"/>
          </p:cNvSpPr>
          <p:nvPr>
            <p:ph idx="1"/>
          </p:nvPr>
        </p:nvSpPr>
        <p:spPr>
          <a:xfrm>
            <a:off x="838200" y="1415036"/>
            <a:ext cx="11009294" cy="1233279"/>
          </a:xfrm>
        </p:spPr>
        <p:txBody>
          <a:bodyPr/>
          <a:lstStyle/>
          <a:p>
            <a:r>
              <a:rPr lang="en-US" dirty="0"/>
              <a:t> But how do we generate such samples?</a:t>
            </a:r>
          </a:p>
          <a:p>
            <a:endParaRPr lang="en-US" dirty="0"/>
          </a:p>
        </p:txBody>
      </p:sp>
      <p:pic>
        <p:nvPicPr>
          <p:cNvPr id="9" name="Picture 8"/>
          <p:cNvPicPr>
            <a:picLocks noChangeAspect="1"/>
          </p:cNvPicPr>
          <p:nvPr/>
        </p:nvPicPr>
        <p:blipFill>
          <a:blip r:embed="rId3"/>
          <a:stretch>
            <a:fillRect/>
          </a:stretch>
        </p:blipFill>
        <p:spPr>
          <a:xfrm>
            <a:off x="3797300" y="1796726"/>
            <a:ext cx="4597400" cy="469900"/>
          </a:xfrm>
          <a:prstGeom prst="rect">
            <a:avLst/>
          </a:prstGeom>
        </p:spPr>
      </p:pic>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39596" y="2775451"/>
            <a:ext cx="5912807" cy="3941871"/>
          </a:xfrm>
          <a:prstGeom prst="rect">
            <a:avLst/>
          </a:prstGeom>
        </p:spPr>
      </p:pic>
    </p:spTree>
    <p:extLst>
      <p:ext uri="{BB962C8B-B14F-4D97-AF65-F5344CB8AC3E}">
        <p14:creationId xmlns:p14="http://schemas.microsoft.com/office/powerpoint/2010/main" val="28680373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Generative models</a:t>
            </a:r>
          </a:p>
        </p:txBody>
      </p:sp>
      <mc:AlternateContent xmlns:mc="http://schemas.openxmlformats.org/markup-compatibility/2006">
        <mc:Choice xmlns:a14="http://schemas.microsoft.com/office/drawing/2010/main" Requires="a14">
          <p:sp>
            <p:nvSpPr>
              <p:cNvPr id="4" name="Content Placeholder 3"/>
              <p:cNvSpPr>
                <a:spLocks noGrp="1"/>
              </p:cNvSpPr>
              <p:nvPr>
                <p:ph idx="1"/>
              </p:nvPr>
            </p:nvSpPr>
            <p:spPr>
              <a:xfrm>
                <a:off x="876886" y="1701507"/>
                <a:ext cx="10655200" cy="3174786"/>
              </a:xfrm>
            </p:spPr>
            <p:txBody>
              <a:bodyPr>
                <a:normAutofit fontScale="85000" lnSpcReduction="20000"/>
              </a:bodyPr>
              <a:lstStyle/>
              <a:p>
                <a:r>
                  <a:rPr lang="en-US" dirty="0"/>
                  <a:t>In other words we can think that if we choose </a:t>
                </a:r>
                <a:r>
                  <a:rPr lang="en-US" b="1" dirty="0"/>
                  <a:t>z</a:t>
                </a:r>
                <a14:m>
                  <m:oMath xmlns:m="http://schemas.openxmlformats.org/officeDocument/2006/math">
                    <m:r>
                      <a:rPr lang="en-US" b="1" i="1" smtClean="0">
                        <a:latin typeface="Cambria Math" charset="0"/>
                        <a:ea typeface="Cambria Math" charset="0"/>
                        <a:cs typeface="Cambria Math" charset="0"/>
                      </a:rPr>
                      <m:t>~</m:t>
                    </m:r>
                    <m:r>
                      <a:rPr lang="en-US" b="1" i="1" smtClean="0">
                        <a:latin typeface="Cambria Math" charset="0"/>
                        <a:ea typeface="Cambria Math" charset="0"/>
                        <a:cs typeface="Cambria Math" charset="0"/>
                      </a:rPr>
                      <m:t>𝑼𝒏𝒊𝒇𝒐𝒓𝒎</m:t>
                    </m:r>
                  </m:oMath>
                </a14:m>
                <a:r>
                  <a:rPr lang="en-US" b="1" dirty="0"/>
                  <a:t> </a:t>
                </a:r>
                <a:r>
                  <a:rPr lang="en-US" dirty="0"/>
                  <a:t>then there is a mapping:</a:t>
                </a:r>
              </a:p>
              <a:p>
                <a:r>
                  <a:rPr lang="en-US" dirty="0"/>
                  <a:t> </a:t>
                </a:r>
              </a:p>
              <a:p>
                <a:r>
                  <a:rPr lang="en-US" dirty="0"/>
                  <a:t>such as:</a:t>
                </a:r>
              </a:p>
              <a:p>
                <a:endParaRPr lang="en-US" dirty="0"/>
              </a:p>
              <a:p>
                <a:r>
                  <a:rPr lang="en-US" dirty="0"/>
                  <a:t>where in general </a:t>
                </a:r>
                <a14:m>
                  <m:oMath xmlns:m="http://schemas.openxmlformats.org/officeDocument/2006/math">
                    <m:r>
                      <a:rPr lang="en-US" b="0" i="1" smtClean="0">
                        <a:latin typeface="Cambria Math" charset="0"/>
                      </a:rPr>
                      <m:t>𝑓</m:t>
                    </m:r>
                  </m:oMath>
                </a14:m>
                <a:r>
                  <a:rPr lang="en-US" dirty="0"/>
                  <a:t> is some complicated function.</a:t>
                </a:r>
              </a:p>
              <a:p>
                <a:endParaRPr lang="en-US" dirty="0"/>
              </a:p>
              <a:p>
                <a:r>
                  <a:rPr lang="en-US" dirty="0"/>
                  <a:t>We already know that Neural Networks are great in learning complex functions.  </a:t>
                </a:r>
              </a:p>
            </p:txBody>
          </p:sp>
        </mc:Choice>
        <mc:Fallback>
          <p:sp>
            <p:nvSpPr>
              <p:cNvPr id="4" name="Content Placeholder 3"/>
              <p:cNvSpPr>
                <a:spLocks noGrp="1" noRot="1" noChangeAspect="1" noMove="1" noResize="1" noEditPoints="1" noAdjustHandles="1" noChangeArrowheads="1" noChangeShapeType="1" noTextEdit="1"/>
              </p:cNvSpPr>
              <p:nvPr>
                <p:ph idx="1"/>
              </p:nvPr>
            </p:nvSpPr>
            <p:spPr>
              <a:xfrm>
                <a:off x="876886" y="1701507"/>
                <a:ext cx="10655200" cy="3174786"/>
              </a:xfrm>
              <a:blipFill>
                <a:blip r:embed="rId3"/>
                <a:stretch>
                  <a:fillRect l="-833" t="-4382"/>
                </a:stretch>
              </a:blipFill>
            </p:spPr>
            <p:txBody>
              <a:bodyPr/>
              <a:lstStyle/>
              <a:p>
                <a:r>
                  <a:rPr lang="en-US">
                    <a:noFill/>
                  </a:rPr>
                  <a:t> </a:t>
                </a:r>
              </a:p>
            </p:txBody>
          </p:sp>
        </mc:Fallback>
      </mc:AlternateContent>
      <p:pic>
        <p:nvPicPr>
          <p:cNvPr id="6" name="Picture 5"/>
          <p:cNvPicPr>
            <a:picLocks noChangeAspect="1"/>
          </p:cNvPicPr>
          <p:nvPr/>
        </p:nvPicPr>
        <p:blipFill>
          <a:blip r:embed="rId4"/>
          <a:stretch>
            <a:fillRect/>
          </a:stretch>
        </p:blipFill>
        <p:spPr>
          <a:xfrm>
            <a:off x="4989146" y="2819000"/>
            <a:ext cx="1663700" cy="469900"/>
          </a:xfrm>
          <a:prstGeom prst="rect">
            <a:avLst/>
          </a:prstGeom>
        </p:spPr>
      </p:pic>
      <p:pic>
        <p:nvPicPr>
          <p:cNvPr id="9" name="Picture 8"/>
          <p:cNvPicPr>
            <a:picLocks noChangeAspect="1"/>
          </p:cNvPicPr>
          <p:nvPr/>
        </p:nvPicPr>
        <p:blipFill>
          <a:blip r:embed="rId5"/>
          <a:stretch>
            <a:fillRect/>
          </a:stretch>
        </p:blipFill>
        <p:spPr>
          <a:xfrm>
            <a:off x="4976446" y="1998379"/>
            <a:ext cx="1676400" cy="469900"/>
          </a:xfrm>
          <a:prstGeom prst="rect">
            <a:avLst/>
          </a:prstGeom>
        </p:spPr>
      </p:pic>
    </p:spTree>
    <p:extLst>
      <p:ext uri="{BB962C8B-B14F-4D97-AF65-F5344CB8AC3E}">
        <p14:creationId xmlns:p14="http://schemas.microsoft.com/office/powerpoint/2010/main" val="42557241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Variational Autoencoders</a:t>
            </a:r>
          </a:p>
        </p:txBody>
      </p:sp>
      <p:grpSp>
        <p:nvGrpSpPr>
          <p:cNvPr id="33" name="Group 32"/>
          <p:cNvGrpSpPr>
            <a:grpSpLocks noChangeAspect="1"/>
          </p:cNvGrpSpPr>
          <p:nvPr/>
        </p:nvGrpSpPr>
        <p:grpSpPr>
          <a:xfrm>
            <a:off x="1981200" y="2639589"/>
            <a:ext cx="8229600" cy="1340638"/>
            <a:chOff x="0" y="2813760"/>
            <a:chExt cx="9144000" cy="1489598"/>
          </a:xfrm>
        </p:grpSpPr>
        <p:sp>
          <p:nvSpPr>
            <p:cNvPr id="34" name="Rounded Rectangle 33"/>
            <p:cNvSpPr/>
            <p:nvPr/>
          </p:nvSpPr>
          <p:spPr>
            <a:xfrm>
              <a:off x="1872932" y="2813760"/>
              <a:ext cx="1722237" cy="1489598"/>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2700">
                  <a:solidFill>
                    <a:srgbClr val="0000FF"/>
                  </a:solidFill>
                </a:rPr>
                <a:t>Encoder</a:t>
              </a:r>
            </a:p>
          </p:txBody>
        </p:sp>
        <p:sp>
          <p:nvSpPr>
            <p:cNvPr id="40" name="Rounded Rectangle 39"/>
            <p:cNvSpPr/>
            <p:nvPr/>
          </p:nvSpPr>
          <p:spPr>
            <a:xfrm>
              <a:off x="5586753" y="2813760"/>
              <a:ext cx="1668169" cy="1489598"/>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2700">
                  <a:solidFill>
                    <a:srgbClr val="0000FF"/>
                  </a:solidFill>
                </a:rPr>
                <a:t>Decoder</a:t>
              </a:r>
            </a:p>
          </p:txBody>
        </p:sp>
        <p:pic>
          <p:nvPicPr>
            <p:cNvPr id="41" name="Picture 40"/>
            <p:cNvPicPr>
              <a:picLocks noChangeAspect="1"/>
            </p:cNvPicPr>
            <p:nvPr/>
          </p:nvPicPr>
          <p:blipFill>
            <a:blip r:embed="rId2"/>
            <a:stretch>
              <a:fillRect/>
            </a:stretch>
          </p:blipFill>
          <p:spPr>
            <a:xfrm>
              <a:off x="0" y="2865335"/>
              <a:ext cx="1229694" cy="1257300"/>
            </a:xfrm>
            <a:prstGeom prst="rect">
              <a:avLst/>
            </a:prstGeom>
          </p:spPr>
        </p:pic>
        <p:pic>
          <p:nvPicPr>
            <p:cNvPr id="42" name="Picture 41"/>
            <p:cNvPicPr>
              <a:picLocks noChangeAspect="1"/>
            </p:cNvPicPr>
            <p:nvPr/>
          </p:nvPicPr>
          <p:blipFill>
            <a:blip r:embed="rId3"/>
            <a:stretch>
              <a:fillRect/>
            </a:stretch>
          </p:blipFill>
          <p:spPr>
            <a:xfrm>
              <a:off x="7950122" y="2951431"/>
              <a:ext cx="1193878" cy="1270000"/>
            </a:xfrm>
            <a:prstGeom prst="rect">
              <a:avLst/>
            </a:prstGeom>
          </p:spPr>
        </p:pic>
        <p:cxnSp>
          <p:nvCxnSpPr>
            <p:cNvPr id="43" name="Straight Arrow Connector 42"/>
            <p:cNvCxnSpPr/>
            <p:nvPr/>
          </p:nvCxnSpPr>
          <p:spPr>
            <a:xfrm>
              <a:off x="1229694" y="3524043"/>
              <a:ext cx="586892" cy="0"/>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44" name="Straight Arrow Connector 43"/>
            <p:cNvCxnSpPr/>
            <p:nvPr/>
          </p:nvCxnSpPr>
          <p:spPr>
            <a:xfrm>
              <a:off x="7341034" y="3567091"/>
              <a:ext cx="586892" cy="0"/>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4332233" y="2938441"/>
              <a:ext cx="445227" cy="1257300"/>
            </a:xfrm>
            <a:prstGeom prst="rect">
              <a:avLst/>
            </a:prstGeom>
            <a:solidFill>
              <a:schemeClr val="bg1">
                <a:lumMod val="50000"/>
              </a:schemeClr>
            </a:solid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600" i="1"/>
                <a:t>z</a:t>
              </a:r>
            </a:p>
          </p:txBody>
        </p:sp>
        <p:cxnSp>
          <p:nvCxnSpPr>
            <p:cNvPr id="46" name="Straight Arrow Connector 45"/>
            <p:cNvCxnSpPr/>
            <p:nvPr/>
          </p:nvCxnSpPr>
          <p:spPr>
            <a:xfrm>
              <a:off x="3680757" y="3541451"/>
              <a:ext cx="586892" cy="0"/>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47" name="Straight Arrow Connector 46"/>
            <p:cNvCxnSpPr/>
            <p:nvPr/>
          </p:nvCxnSpPr>
          <p:spPr>
            <a:xfrm>
              <a:off x="4906628" y="3541451"/>
              <a:ext cx="586892" cy="0"/>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grpSp>
      <p:sp>
        <p:nvSpPr>
          <p:cNvPr id="3" name="Slide Number Placeholder 2"/>
          <p:cNvSpPr>
            <a:spLocks noGrp="1"/>
          </p:cNvSpPr>
          <p:nvPr>
            <p:ph type="sldNum" sz="quarter" idx="12"/>
          </p:nvPr>
        </p:nvSpPr>
        <p:spPr/>
        <p:txBody>
          <a:bodyPr/>
          <a:lstStyle/>
          <a:p>
            <a:fld id="{81B7CCDB-6D39-0547-B7B3-C80E39D6513A}" type="slidenum">
              <a:rPr lang="en-US" smtClean="0"/>
              <a:pPr/>
              <a:t>32</a:t>
            </a:fld>
            <a:endParaRPr lang="en-US"/>
          </a:p>
        </p:txBody>
      </p:sp>
    </p:spTree>
    <p:extLst>
      <p:ext uri="{BB962C8B-B14F-4D97-AF65-F5344CB8AC3E}">
        <p14:creationId xmlns:p14="http://schemas.microsoft.com/office/powerpoint/2010/main" val="21790113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Variational Autoencoders</a:t>
            </a:r>
          </a:p>
        </p:txBody>
      </p:sp>
      <p:grpSp>
        <p:nvGrpSpPr>
          <p:cNvPr id="33" name="Group 32"/>
          <p:cNvGrpSpPr>
            <a:grpSpLocks noChangeAspect="1"/>
          </p:cNvGrpSpPr>
          <p:nvPr/>
        </p:nvGrpSpPr>
        <p:grpSpPr>
          <a:xfrm>
            <a:off x="1981200" y="2639589"/>
            <a:ext cx="8229600" cy="1340638"/>
            <a:chOff x="0" y="2813760"/>
            <a:chExt cx="9144000" cy="1489598"/>
          </a:xfrm>
        </p:grpSpPr>
        <p:sp>
          <p:nvSpPr>
            <p:cNvPr id="34" name="Rounded Rectangle 33"/>
            <p:cNvSpPr/>
            <p:nvPr/>
          </p:nvSpPr>
          <p:spPr>
            <a:xfrm>
              <a:off x="1872932" y="2813760"/>
              <a:ext cx="1722237" cy="1489598"/>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2700">
                  <a:solidFill>
                    <a:srgbClr val="0000FF"/>
                  </a:solidFill>
                </a:rPr>
                <a:t>Encoder</a:t>
              </a:r>
            </a:p>
          </p:txBody>
        </p:sp>
        <p:sp>
          <p:nvSpPr>
            <p:cNvPr id="40" name="Rounded Rectangle 39"/>
            <p:cNvSpPr/>
            <p:nvPr/>
          </p:nvSpPr>
          <p:spPr>
            <a:xfrm>
              <a:off x="5586753" y="2813760"/>
              <a:ext cx="1668169" cy="1489598"/>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2700">
                  <a:solidFill>
                    <a:srgbClr val="0000FF"/>
                  </a:solidFill>
                </a:rPr>
                <a:t>Decoder</a:t>
              </a:r>
            </a:p>
          </p:txBody>
        </p:sp>
        <p:pic>
          <p:nvPicPr>
            <p:cNvPr id="41" name="Picture 40"/>
            <p:cNvPicPr>
              <a:picLocks noChangeAspect="1"/>
            </p:cNvPicPr>
            <p:nvPr/>
          </p:nvPicPr>
          <p:blipFill>
            <a:blip r:embed="rId2"/>
            <a:stretch>
              <a:fillRect/>
            </a:stretch>
          </p:blipFill>
          <p:spPr>
            <a:xfrm>
              <a:off x="0" y="2865335"/>
              <a:ext cx="1229694" cy="1257300"/>
            </a:xfrm>
            <a:prstGeom prst="rect">
              <a:avLst/>
            </a:prstGeom>
          </p:spPr>
        </p:pic>
        <p:pic>
          <p:nvPicPr>
            <p:cNvPr id="42" name="Picture 41"/>
            <p:cNvPicPr>
              <a:picLocks noChangeAspect="1"/>
            </p:cNvPicPr>
            <p:nvPr/>
          </p:nvPicPr>
          <p:blipFill>
            <a:blip r:embed="rId3"/>
            <a:stretch>
              <a:fillRect/>
            </a:stretch>
          </p:blipFill>
          <p:spPr>
            <a:xfrm>
              <a:off x="7950122" y="2951431"/>
              <a:ext cx="1193878" cy="1270000"/>
            </a:xfrm>
            <a:prstGeom prst="rect">
              <a:avLst/>
            </a:prstGeom>
          </p:spPr>
        </p:pic>
        <p:cxnSp>
          <p:nvCxnSpPr>
            <p:cNvPr id="43" name="Straight Arrow Connector 42"/>
            <p:cNvCxnSpPr/>
            <p:nvPr/>
          </p:nvCxnSpPr>
          <p:spPr>
            <a:xfrm>
              <a:off x="1229694" y="3524043"/>
              <a:ext cx="586892" cy="0"/>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44" name="Straight Arrow Connector 43"/>
            <p:cNvCxnSpPr/>
            <p:nvPr/>
          </p:nvCxnSpPr>
          <p:spPr>
            <a:xfrm>
              <a:off x="7341034" y="3567091"/>
              <a:ext cx="586892" cy="0"/>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4332233" y="2938441"/>
              <a:ext cx="445227" cy="1257300"/>
            </a:xfrm>
            <a:prstGeom prst="rect">
              <a:avLst/>
            </a:prstGeom>
            <a:solidFill>
              <a:schemeClr val="bg1">
                <a:lumMod val="50000"/>
              </a:schemeClr>
            </a:solid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600" i="1"/>
                <a:t>z</a:t>
              </a:r>
            </a:p>
          </p:txBody>
        </p:sp>
        <p:cxnSp>
          <p:nvCxnSpPr>
            <p:cNvPr id="46" name="Straight Arrow Connector 45"/>
            <p:cNvCxnSpPr/>
            <p:nvPr/>
          </p:nvCxnSpPr>
          <p:spPr>
            <a:xfrm>
              <a:off x="3680757" y="3541451"/>
              <a:ext cx="586892" cy="0"/>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47" name="Straight Arrow Connector 46"/>
            <p:cNvCxnSpPr/>
            <p:nvPr/>
          </p:nvCxnSpPr>
          <p:spPr>
            <a:xfrm>
              <a:off x="4906628" y="3541451"/>
              <a:ext cx="586892" cy="0"/>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grpSp>
      <p:sp>
        <p:nvSpPr>
          <p:cNvPr id="3" name="Rectangle 2"/>
          <p:cNvSpPr/>
          <p:nvPr/>
        </p:nvSpPr>
        <p:spPr>
          <a:xfrm>
            <a:off x="5689600" y="2075543"/>
            <a:ext cx="5007429" cy="2438400"/>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Slide Number Placeholder 3"/>
          <p:cNvSpPr>
            <a:spLocks noGrp="1"/>
          </p:cNvSpPr>
          <p:nvPr>
            <p:ph type="sldNum" sz="quarter" idx="12"/>
          </p:nvPr>
        </p:nvSpPr>
        <p:spPr/>
        <p:txBody>
          <a:bodyPr/>
          <a:lstStyle/>
          <a:p>
            <a:fld id="{81B7CCDB-6D39-0547-B7B3-C80E39D6513A}" type="slidenum">
              <a:rPr lang="en-US" smtClean="0"/>
              <a:pPr/>
              <a:t>33</a:t>
            </a:fld>
            <a:endParaRPr lang="en-US"/>
          </a:p>
        </p:txBody>
      </p:sp>
    </p:spTree>
    <p:extLst>
      <p:ext uri="{BB962C8B-B14F-4D97-AF65-F5344CB8AC3E}">
        <p14:creationId xmlns:p14="http://schemas.microsoft.com/office/powerpoint/2010/main" val="29243717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Variational Autoencoders</a:t>
            </a:r>
          </a:p>
        </p:txBody>
      </p:sp>
      <p:sp>
        <p:nvSpPr>
          <p:cNvPr id="3" name="Rounded Rectangle 2"/>
          <p:cNvSpPr/>
          <p:nvPr/>
        </p:nvSpPr>
        <p:spPr>
          <a:xfrm>
            <a:off x="7004920" y="2650409"/>
            <a:ext cx="1501352" cy="1340638"/>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2700">
                <a:solidFill>
                  <a:srgbClr val="0000FF"/>
                </a:solidFill>
              </a:rPr>
              <a:t>Decoder</a:t>
            </a:r>
          </a:p>
          <a:p>
            <a:pPr algn="ctr"/>
            <a:r>
              <a:rPr lang="en-US" sz="2700" i="1">
                <a:solidFill>
                  <a:srgbClr val="0000FF"/>
                </a:solidFill>
              </a:rPr>
              <a:t>P</a:t>
            </a:r>
            <a:r>
              <a:rPr lang="en-US" sz="2700">
                <a:solidFill>
                  <a:srgbClr val="0000FF"/>
                </a:solidFill>
              </a:rPr>
              <a:t>(</a:t>
            </a:r>
            <a:r>
              <a:rPr lang="en-US" sz="2700" err="1">
                <a:solidFill>
                  <a:srgbClr val="0000FF"/>
                </a:solidFill>
              </a:rPr>
              <a:t>x|z</a:t>
            </a:r>
            <a:r>
              <a:rPr lang="en-US" sz="2700">
                <a:solidFill>
                  <a:srgbClr val="0000FF"/>
                </a:solidFill>
              </a:rPr>
              <a:t>)</a:t>
            </a:r>
          </a:p>
        </p:txBody>
      </p:sp>
      <p:pic>
        <p:nvPicPr>
          <p:cNvPr id="4" name="Picture 3"/>
          <p:cNvPicPr>
            <a:picLocks noChangeAspect="1"/>
          </p:cNvPicPr>
          <p:nvPr/>
        </p:nvPicPr>
        <p:blipFill>
          <a:blip r:embed="rId2"/>
          <a:stretch>
            <a:fillRect/>
          </a:stretch>
        </p:blipFill>
        <p:spPr>
          <a:xfrm>
            <a:off x="9131952" y="2774313"/>
            <a:ext cx="1074490" cy="1143000"/>
          </a:xfrm>
          <a:prstGeom prst="rect">
            <a:avLst/>
          </a:prstGeom>
        </p:spPr>
      </p:pic>
      <p:sp>
        <p:nvSpPr>
          <p:cNvPr id="5" name="Rectangle 4"/>
          <p:cNvSpPr/>
          <p:nvPr/>
        </p:nvSpPr>
        <p:spPr>
          <a:xfrm>
            <a:off x="5875852" y="2762622"/>
            <a:ext cx="400704" cy="1131570"/>
          </a:xfrm>
          <a:prstGeom prst="rect">
            <a:avLst/>
          </a:prstGeom>
          <a:solidFill>
            <a:schemeClr val="bg1">
              <a:lumMod val="50000"/>
            </a:schemeClr>
          </a:solid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600" i="1"/>
              <a:t>z</a:t>
            </a:r>
          </a:p>
        </p:txBody>
      </p:sp>
      <p:cxnSp>
        <p:nvCxnSpPr>
          <p:cNvPr id="6" name="Straight Arrow Connector 5"/>
          <p:cNvCxnSpPr/>
          <p:nvPr/>
        </p:nvCxnSpPr>
        <p:spPr>
          <a:xfrm>
            <a:off x="6392808" y="3305331"/>
            <a:ext cx="528203" cy="0"/>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7" name="Straight Arrow Connector 6"/>
          <p:cNvCxnSpPr/>
          <p:nvPr/>
        </p:nvCxnSpPr>
        <p:spPr>
          <a:xfrm>
            <a:off x="8603750" y="3327193"/>
            <a:ext cx="528203" cy="0"/>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2318361" y="2489941"/>
            <a:ext cx="3281720" cy="954107"/>
          </a:xfrm>
          <a:prstGeom prst="rect">
            <a:avLst/>
          </a:prstGeom>
          <a:noFill/>
        </p:spPr>
        <p:txBody>
          <a:bodyPr wrap="square" rtlCol="0">
            <a:spAutoFit/>
          </a:bodyPr>
          <a:lstStyle/>
          <a:p>
            <a:pPr algn="ctr"/>
            <a:r>
              <a:rPr lang="en-US" sz="2800"/>
              <a:t>Sample from </a:t>
            </a:r>
            <a:r>
              <a:rPr lang="en-US" sz="2800" i="1">
                <a:solidFill>
                  <a:srgbClr val="0000FF"/>
                </a:solidFill>
              </a:rPr>
              <a:t>P</a:t>
            </a:r>
            <a:r>
              <a:rPr lang="en-US" sz="2800">
                <a:solidFill>
                  <a:srgbClr val="0000FF"/>
                </a:solidFill>
              </a:rPr>
              <a:t>(z) </a:t>
            </a:r>
          </a:p>
          <a:p>
            <a:pPr algn="ctr"/>
            <a:r>
              <a:rPr lang="en-US" sz="2800" i="1"/>
              <a:t>Standard Gaussian</a:t>
            </a:r>
          </a:p>
        </p:txBody>
      </p:sp>
      <p:sp>
        <p:nvSpPr>
          <p:cNvPr id="9" name="Slide Number Placeholder 8"/>
          <p:cNvSpPr>
            <a:spLocks noGrp="1"/>
          </p:cNvSpPr>
          <p:nvPr>
            <p:ph type="sldNum" sz="quarter" idx="12"/>
          </p:nvPr>
        </p:nvSpPr>
        <p:spPr/>
        <p:txBody>
          <a:bodyPr/>
          <a:lstStyle/>
          <a:p>
            <a:fld id="{81B7CCDB-6D39-0547-B7B3-C80E39D6513A}" type="slidenum">
              <a:rPr lang="en-US" smtClean="0"/>
              <a:pPr/>
              <a:t>34</a:t>
            </a:fld>
            <a:endParaRPr lang="en-US"/>
          </a:p>
        </p:txBody>
      </p:sp>
    </p:spTree>
    <p:extLst>
      <p:ext uri="{BB962C8B-B14F-4D97-AF65-F5344CB8AC3E}">
        <p14:creationId xmlns:p14="http://schemas.microsoft.com/office/powerpoint/2010/main" val="20457052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Variational Autoencoders</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18270" y="1198703"/>
            <a:ext cx="8155459" cy="4460593"/>
          </a:xfrm>
          <a:prstGeom prst="rect">
            <a:avLst/>
          </a:prstGeom>
        </p:spPr>
      </p:pic>
      <p:sp>
        <p:nvSpPr>
          <p:cNvPr id="4" name="Slide Number Placeholder 3"/>
          <p:cNvSpPr>
            <a:spLocks noGrp="1"/>
          </p:cNvSpPr>
          <p:nvPr>
            <p:ph type="sldNum" sz="quarter" idx="12"/>
          </p:nvPr>
        </p:nvSpPr>
        <p:spPr/>
        <p:txBody>
          <a:bodyPr/>
          <a:lstStyle/>
          <a:p>
            <a:fld id="{81B7CCDB-6D39-0547-B7B3-C80E39D6513A}" type="slidenum">
              <a:rPr lang="en-US" smtClean="0"/>
              <a:pPr/>
              <a:t>35</a:t>
            </a:fld>
            <a:endParaRPr lang="en-US"/>
          </a:p>
        </p:txBody>
      </p:sp>
    </p:spTree>
    <p:extLst>
      <p:ext uri="{BB962C8B-B14F-4D97-AF65-F5344CB8AC3E}">
        <p14:creationId xmlns:p14="http://schemas.microsoft.com/office/powerpoint/2010/main" val="9736345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Variational Autoencoders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1015" y="1594020"/>
            <a:ext cx="9050986" cy="3213495"/>
          </a:xfrm>
          <a:prstGeom prst="rect">
            <a:avLst/>
          </a:prstGeom>
        </p:spPr>
      </p:pic>
      <p:sp>
        <p:nvSpPr>
          <p:cNvPr id="3" name="Slide Number Placeholder 2"/>
          <p:cNvSpPr>
            <a:spLocks noGrp="1"/>
          </p:cNvSpPr>
          <p:nvPr>
            <p:ph type="sldNum" sz="quarter" idx="12"/>
          </p:nvPr>
        </p:nvSpPr>
        <p:spPr/>
        <p:txBody>
          <a:bodyPr/>
          <a:lstStyle/>
          <a:p>
            <a:fld id="{81B7CCDB-6D39-0547-B7B3-C80E39D6513A}" type="slidenum">
              <a:rPr lang="en-US" smtClean="0"/>
              <a:pPr/>
              <a:t>36</a:t>
            </a:fld>
            <a:endParaRPr lang="en-US"/>
          </a:p>
        </p:txBody>
      </p:sp>
    </p:spTree>
    <p:extLst>
      <p:ext uri="{BB962C8B-B14F-4D97-AF65-F5344CB8AC3E}">
        <p14:creationId xmlns:p14="http://schemas.microsoft.com/office/powerpoint/2010/main" val="41226082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Variational Autoencoders</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47247" y="1258592"/>
            <a:ext cx="5097505" cy="4870359"/>
          </a:xfrm>
          <a:prstGeom prst="rect">
            <a:avLst/>
          </a:prstGeom>
        </p:spPr>
      </p:pic>
      <p:sp>
        <p:nvSpPr>
          <p:cNvPr id="4" name="Slide Number Placeholder 3"/>
          <p:cNvSpPr>
            <a:spLocks noGrp="1"/>
          </p:cNvSpPr>
          <p:nvPr>
            <p:ph type="sldNum" sz="quarter" idx="12"/>
          </p:nvPr>
        </p:nvSpPr>
        <p:spPr/>
        <p:txBody>
          <a:bodyPr/>
          <a:lstStyle/>
          <a:p>
            <a:fld id="{81B7CCDB-6D39-0547-B7B3-C80E39D6513A}" type="slidenum">
              <a:rPr lang="en-US" smtClean="0"/>
              <a:pPr/>
              <a:t>37</a:t>
            </a:fld>
            <a:endParaRPr lang="en-US"/>
          </a:p>
        </p:txBody>
      </p:sp>
    </p:spTree>
    <p:extLst>
      <p:ext uri="{BB962C8B-B14F-4D97-AF65-F5344CB8AC3E}">
        <p14:creationId xmlns:p14="http://schemas.microsoft.com/office/powerpoint/2010/main" val="30986048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Variational Autoencoders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049" y="2830742"/>
            <a:ext cx="10736461" cy="1706591"/>
          </a:xfrm>
          <a:prstGeom prst="rect">
            <a:avLst/>
          </a:prstGeom>
        </p:spPr>
      </p:pic>
      <p:sp>
        <p:nvSpPr>
          <p:cNvPr id="3" name="Slide Number Placeholder 2"/>
          <p:cNvSpPr>
            <a:spLocks noGrp="1"/>
          </p:cNvSpPr>
          <p:nvPr>
            <p:ph type="sldNum" sz="quarter" idx="12"/>
          </p:nvPr>
        </p:nvSpPr>
        <p:spPr/>
        <p:txBody>
          <a:bodyPr/>
          <a:lstStyle/>
          <a:p>
            <a:fld id="{81B7CCDB-6D39-0547-B7B3-C80E39D6513A}" type="slidenum">
              <a:rPr lang="en-US" smtClean="0"/>
              <a:pPr/>
              <a:t>38</a:t>
            </a:fld>
            <a:endParaRPr lang="en-US"/>
          </a:p>
        </p:txBody>
      </p:sp>
    </p:spTree>
    <p:extLst>
      <p:ext uri="{BB962C8B-B14F-4D97-AF65-F5344CB8AC3E}">
        <p14:creationId xmlns:p14="http://schemas.microsoft.com/office/powerpoint/2010/main" val="6298783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lstStyle/>
          <a:p>
            <a:r>
              <a:rPr lang="en-US" dirty="0"/>
              <a:t>Mechanics of VAE</a:t>
            </a:r>
          </a:p>
          <a:p>
            <a:r>
              <a:rPr lang="en-US" b="1" dirty="0" err="1"/>
              <a:t>Seperability</a:t>
            </a:r>
            <a:r>
              <a:rPr lang="en-US" b="1" dirty="0"/>
              <a:t> of VAE</a:t>
            </a:r>
          </a:p>
        </p:txBody>
      </p:sp>
      <p:sp>
        <p:nvSpPr>
          <p:cNvPr id="4" name="Slide Number Placeholder 3"/>
          <p:cNvSpPr>
            <a:spLocks noGrp="1"/>
          </p:cNvSpPr>
          <p:nvPr>
            <p:ph type="sldNum" sz="quarter" idx="12"/>
          </p:nvPr>
        </p:nvSpPr>
        <p:spPr/>
        <p:txBody>
          <a:bodyPr/>
          <a:lstStyle/>
          <a:p>
            <a:fld id="{81B7CCDB-6D39-0547-B7B3-C80E39D6513A}" type="slidenum">
              <a:rPr lang="en-US" smtClean="0"/>
              <a:pPr/>
              <a:t>39</a:t>
            </a:fld>
            <a:endParaRPr lang="en-US"/>
          </a:p>
        </p:txBody>
      </p:sp>
    </p:spTree>
    <p:extLst>
      <p:ext uri="{BB962C8B-B14F-4D97-AF65-F5344CB8AC3E}">
        <p14:creationId xmlns:p14="http://schemas.microsoft.com/office/powerpoint/2010/main" val="573044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Variational Autoencoders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05881" y="1631092"/>
            <a:ext cx="3792368" cy="3892378"/>
          </a:xfrm>
          <a:prstGeom prst="rect">
            <a:avLst/>
          </a:prstGeom>
        </p:spPr>
      </p:pic>
      <p:sp>
        <p:nvSpPr>
          <p:cNvPr id="3" name="Slide Number Placeholder 2"/>
          <p:cNvSpPr>
            <a:spLocks noGrp="1"/>
          </p:cNvSpPr>
          <p:nvPr>
            <p:ph type="sldNum" sz="quarter" idx="12"/>
          </p:nvPr>
        </p:nvSpPr>
        <p:spPr/>
        <p:txBody>
          <a:bodyPr/>
          <a:lstStyle/>
          <a:p>
            <a:fld id="{81B7CCDB-6D39-0547-B7B3-C80E39D6513A}" type="slidenum">
              <a:rPr lang="en-US" smtClean="0"/>
              <a:pPr/>
              <a:t>40</a:t>
            </a:fld>
            <a:endParaRPr lang="en-US"/>
          </a:p>
        </p:txBody>
      </p:sp>
    </p:spTree>
    <p:extLst>
      <p:ext uri="{BB962C8B-B14F-4D97-AF65-F5344CB8AC3E}">
        <p14:creationId xmlns:p14="http://schemas.microsoft.com/office/powerpoint/2010/main" val="28320405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9292" y="160260"/>
            <a:ext cx="11493416" cy="767276"/>
          </a:xfrm>
        </p:spPr>
        <p:txBody>
          <a:bodyPr/>
          <a:lstStyle/>
          <a:p>
            <a:r>
              <a:rPr lang="en-US"/>
              <a:t>Blending Latent Variables</a:t>
            </a:r>
          </a:p>
        </p:txBody>
      </p:sp>
      <p:pic>
        <p:nvPicPr>
          <p:cNvPr id="27" name="Picture 3">
            <a:extLst>
              <a:ext uri="{FF2B5EF4-FFF2-40B4-BE49-F238E27FC236}">
                <a16:creationId xmlns:a16="http://schemas.microsoft.com/office/drawing/2014/main" id="{3F7EF02D-39D9-4C5E-8150-92E66E1BBD87}"/>
              </a:ext>
            </a:extLst>
          </p:cNvPr>
          <p:cNvPicPr>
            <a:picLocks noChangeAspect="1"/>
          </p:cNvPicPr>
          <p:nvPr/>
        </p:nvPicPr>
        <p:blipFill rotWithShape="1">
          <a:blip r:embed="rId3">
            <a:extLst>
              <a:ext uri="{28A0092B-C50C-407E-A947-70E740481C1C}">
                <a14:useLocalDpi xmlns:a14="http://schemas.microsoft.com/office/drawing/2010/main" val="0"/>
              </a:ext>
            </a:extLst>
          </a:blip>
          <a:srcRect l="71777" t="-2162" r="8791" b="78285"/>
          <a:stretch/>
        </p:blipFill>
        <p:spPr>
          <a:xfrm>
            <a:off x="4111703" y="1816145"/>
            <a:ext cx="1758751" cy="767276"/>
          </a:xfrm>
          <a:prstGeom prst="rect">
            <a:avLst/>
          </a:prstGeom>
        </p:spPr>
      </p:pic>
      <p:pic>
        <p:nvPicPr>
          <p:cNvPr id="28" name="Picture 3">
            <a:extLst>
              <a:ext uri="{FF2B5EF4-FFF2-40B4-BE49-F238E27FC236}">
                <a16:creationId xmlns:a16="http://schemas.microsoft.com/office/drawing/2014/main" id="{57FEDE17-5EEE-4D1A-8E53-F32F065CB546}"/>
              </a:ext>
            </a:extLst>
          </p:cNvPr>
          <p:cNvPicPr>
            <a:picLocks noChangeAspect="1"/>
          </p:cNvPicPr>
          <p:nvPr/>
        </p:nvPicPr>
        <p:blipFill rotWithShape="1">
          <a:blip r:embed="rId3">
            <a:extLst>
              <a:ext uri="{28A0092B-C50C-407E-A947-70E740481C1C}">
                <a14:useLocalDpi xmlns:a14="http://schemas.microsoft.com/office/drawing/2010/main" val="0"/>
              </a:ext>
            </a:extLst>
          </a:blip>
          <a:srcRect l="50857" t="23883" r="28858" b="50073"/>
          <a:stretch/>
        </p:blipFill>
        <p:spPr>
          <a:xfrm>
            <a:off x="3810233" y="2731765"/>
            <a:ext cx="1835902" cy="836937"/>
          </a:xfrm>
          <a:prstGeom prst="rect">
            <a:avLst/>
          </a:prstGeom>
        </p:spPr>
      </p:pic>
      <p:sp>
        <p:nvSpPr>
          <p:cNvPr id="9" name="Rectángulo 8">
            <a:extLst>
              <a:ext uri="{FF2B5EF4-FFF2-40B4-BE49-F238E27FC236}">
                <a16:creationId xmlns:a16="http://schemas.microsoft.com/office/drawing/2014/main" id="{C5767CAC-93DA-4409-9752-3CF4B526EF1F}"/>
              </a:ext>
            </a:extLst>
          </p:cNvPr>
          <p:cNvSpPr/>
          <p:nvPr/>
        </p:nvSpPr>
        <p:spPr>
          <a:xfrm>
            <a:off x="5695120" y="1628974"/>
            <a:ext cx="3474720" cy="3826413"/>
          </a:xfrm>
          <a:prstGeom prst="rect">
            <a:avLst/>
          </a:prstGeom>
          <a:solidFill>
            <a:schemeClr val="bg1"/>
          </a:solid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TextBox 7">
            <a:extLst>
              <a:ext uri="{FF2B5EF4-FFF2-40B4-BE49-F238E27FC236}">
                <a16:creationId xmlns:a16="http://schemas.microsoft.com/office/drawing/2014/main" id="{75471C91-6907-43BD-81A0-789B29243A94}"/>
              </a:ext>
            </a:extLst>
          </p:cNvPr>
          <p:cNvSpPr txBox="1"/>
          <p:nvPr/>
        </p:nvSpPr>
        <p:spPr>
          <a:xfrm>
            <a:off x="5791620" y="1105754"/>
            <a:ext cx="3281720" cy="523220"/>
          </a:xfrm>
          <a:prstGeom prst="rect">
            <a:avLst/>
          </a:prstGeom>
          <a:noFill/>
        </p:spPr>
        <p:txBody>
          <a:bodyPr wrap="square" rtlCol="0">
            <a:spAutoFit/>
          </a:bodyPr>
          <a:lstStyle/>
          <a:p>
            <a:pPr algn="ctr"/>
            <a:r>
              <a:rPr lang="en-US" sz="2800">
                <a:solidFill>
                  <a:schemeClr val="tx1">
                    <a:lumMod val="75000"/>
                    <a:lumOff val="25000"/>
                  </a:schemeClr>
                </a:solidFill>
                <a:latin typeface="Karla" charset="0"/>
                <a:ea typeface="Karla" charset="0"/>
                <a:cs typeface="Karla" charset="0"/>
              </a:rPr>
              <a:t>Latent Space</a:t>
            </a:r>
            <a:endParaRPr lang="en-US" sz="2800" i="1">
              <a:solidFill>
                <a:schemeClr val="tx1">
                  <a:lumMod val="75000"/>
                  <a:lumOff val="25000"/>
                </a:schemeClr>
              </a:solidFill>
              <a:latin typeface="Karla" charset="0"/>
              <a:ea typeface="Karla" charset="0"/>
              <a:cs typeface="Karla" charset="0"/>
            </a:endParaRPr>
          </a:p>
        </p:txBody>
      </p:sp>
      <p:pic>
        <p:nvPicPr>
          <p:cNvPr id="11" name="Picture 4">
            <a:extLst>
              <a:ext uri="{FF2B5EF4-FFF2-40B4-BE49-F238E27FC236}">
                <a16:creationId xmlns:a16="http://schemas.microsoft.com/office/drawing/2014/main" id="{B5492FC1-0CED-4171-A0A8-6FFD665124D3}"/>
              </a:ext>
            </a:extLst>
          </p:cNvPr>
          <p:cNvPicPr>
            <a:picLocks noChangeAspect="1"/>
          </p:cNvPicPr>
          <p:nvPr/>
        </p:nvPicPr>
        <p:blipFill rotWithShape="1">
          <a:blip r:embed="rId4">
            <a:extLst>
              <a:ext uri="{28A0092B-C50C-407E-A947-70E740481C1C}">
                <a14:useLocalDpi xmlns:a14="http://schemas.microsoft.com/office/drawing/2010/main" val="0"/>
              </a:ext>
            </a:extLst>
          </a:blip>
          <a:srcRect l="20704" r="59887" b="51906"/>
          <a:stretch/>
        </p:blipFill>
        <p:spPr>
          <a:xfrm>
            <a:off x="824429" y="3007054"/>
            <a:ext cx="914401" cy="967501"/>
          </a:xfrm>
          <a:prstGeom prst="rect">
            <a:avLst/>
          </a:prstGeom>
        </p:spPr>
      </p:pic>
      <p:cxnSp>
        <p:nvCxnSpPr>
          <p:cNvPr id="20" name="Straight Arrow Connector 24">
            <a:extLst>
              <a:ext uri="{FF2B5EF4-FFF2-40B4-BE49-F238E27FC236}">
                <a16:creationId xmlns:a16="http://schemas.microsoft.com/office/drawing/2014/main" id="{8357E5F4-CE4A-4BE0-BE18-5A16157A4168}"/>
              </a:ext>
            </a:extLst>
          </p:cNvPr>
          <p:cNvCxnSpPr/>
          <p:nvPr/>
        </p:nvCxnSpPr>
        <p:spPr>
          <a:xfrm flipV="1">
            <a:off x="2863460" y="2898253"/>
            <a:ext cx="528203" cy="413431"/>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21" name="Rectangle 26">
            <a:extLst>
              <a:ext uri="{FF2B5EF4-FFF2-40B4-BE49-F238E27FC236}">
                <a16:creationId xmlns:a16="http://schemas.microsoft.com/office/drawing/2014/main" id="{7663EC45-4979-4427-95AC-41C2528EF079}"/>
              </a:ext>
            </a:extLst>
          </p:cNvPr>
          <p:cNvSpPr/>
          <p:nvPr/>
        </p:nvSpPr>
        <p:spPr>
          <a:xfrm>
            <a:off x="3417538" y="2024970"/>
            <a:ext cx="400704" cy="1131570"/>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3600" i="1"/>
          </a:p>
        </p:txBody>
      </p:sp>
      <p:sp>
        <p:nvSpPr>
          <p:cNvPr id="22" name="Rectangle 29">
            <a:extLst>
              <a:ext uri="{FF2B5EF4-FFF2-40B4-BE49-F238E27FC236}">
                <a16:creationId xmlns:a16="http://schemas.microsoft.com/office/drawing/2014/main" id="{3926F3BB-EA7C-4C8B-8D46-66C95DFD8443}"/>
              </a:ext>
            </a:extLst>
          </p:cNvPr>
          <p:cNvSpPr/>
          <p:nvPr/>
        </p:nvSpPr>
        <p:spPr>
          <a:xfrm>
            <a:off x="3412674" y="3791651"/>
            <a:ext cx="400704" cy="1131570"/>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3600" i="1"/>
          </a:p>
        </p:txBody>
      </p:sp>
      <p:cxnSp>
        <p:nvCxnSpPr>
          <p:cNvPr id="23" name="Straight Arrow Connector 30">
            <a:extLst>
              <a:ext uri="{FF2B5EF4-FFF2-40B4-BE49-F238E27FC236}">
                <a16:creationId xmlns:a16="http://schemas.microsoft.com/office/drawing/2014/main" id="{8E64302A-A018-4292-B980-CFFE03B6B1B2}"/>
              </a:ext>
            </a:extLst>
          </p:cNvPr>
          <p:cNvCxnSpPr/>
          <p:nvPr/>
        </p:nvCxnSpPr>
        <p:spPr>
          <a:xfrm>
            <a:off x="2865164" y="3636277"/>
            <a:ext cx="504971" cy="349139"/>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32">
            <a:extLst>
              <a:ext uri="{FF2B5EF4-FFF2-40B4-BE49-F238E27FC236}">
                <a16:creationId xmlns:a16="http://schemas.microsoft.com/office/drawing/2014/main" id="{F6A71B2E-AE58-4208-8D0E-7963C9D780BF}"/>
              </a:ext>
            </a:extLst>
          </p:cNvPr>
          <p:cNvCxnSpPr>
            <a:cxnSpLocks/>
            <a:endCxn id="28" idx="2"/>
          </p:cNvCxnSpPr>
          <p:nvPr/>
        </p:nvCxnSpPr>
        <p:spPr>
          <a:xfrm flipV="1">
            <a:off x="3856435" y="3568702"/>
            <a:ext cx="871749" cy="451238"/>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33">
            <a:extLst>
              <a:ext uri="{FF2B5EF4-FFF2-40B4-BE49-F238E27FC236}">
                <a16:creationId xmlns:a16="http://schemas.microsoft.com/office/drawing/2014/main" id="{56F9D3A5-9A1C-4760-9D58-305A9F7235AC}"/>
              </a:ext>
            </a:extLst>
          </p:cNvPr>
          <p:cNvCxnSpPr>
            <a:cxnSpLocks/>
          </p:cNvCxnSpPr>
          <p:nvPr/>
        </p:nvCxnSpPr>
        <p:spPr>
          <a:xfrm>
            <a:off x="3859218" y="2898253"/>
            <a:ext cx="577147" cy="444125"/>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graphicFrame>
        <p:nvGraphicFramePr>
          <p:cNvPr id="26" name="Content Placeholder 3">
            <a:extLst>
              <a:ext uri="{FF2B5EF4-FFF2-40B4-BE49-F238E27FC236}">
                <a16:creationId xmlns:a16="http://schemas.microsoft.com/office/drawing/2014/main" id="{34762B13-0B39-4FE9-9CDA-DD9EF92FBF1C}"/>
              </a:ext>
            </a:extLst>
          </p:cNvPr>
          <p:cNvGraphicFramePr>
            <a:graphicFrameLocks noChangeAspect="1"/>
          </p:cNvGraphicFramePr>
          <p:nvPr/>
        </p:nvGraphicFramePr>
        <p:xfrm>
          <a:off x="2955007" y="4952849"/>
          <a:ext cx="1316037" cy="468492"/>
        </p:xfrm>
        <a:graphic>
          <a:graphicData uri="http://schemas.openxmlformats.org/presentationml/2006/ole">
            <mc:AlternateContent xmlns:mc="http://schemas.openxmlformats.org/markup-compatibility/2006">
              <mc:Choice xmlns:v="urn:schemas-microsoft-com:vml" Requires="v">
                <p:oleObj spid="_x0000_s1027" name="Equation" r:id="rId5" imgW="533400" imgH="190500" progId="Equation.3">
                  <p:embed/>
                </p:oleObj>
              </mc:Choice>
              <mc:Fallback>
                <p:oleObj name="Equation" r:id="rId5" imgW="533400" imgH="190500" progId="Equation.3">
                  <p:embed/>
                  <p:pic>
                    <p:nvPicPr>
                      <p:cNvPr id="26" name="Content Placeholder 3">
                        <a:extLst>
                          <a:ext uri="{FF2B5EF4-FFF2-40B4-BE49-F238E27FC236}">
                            <a16:creationId xmlns:a16="http://schemas.microsoft.com/office/drawing/2014/main" id="{34762B13-0B39-4FE9-9CDA-DD9EF92FBF1C}"/>
                          </a:ext>
                        </a:extLst>
                      </p:cNvPr>
                      <p:cNvPicPr/>
                      <p:nvPr/>
                    </p:nvPicPr>
                    <p:blipFill>
                      <a:blip r:embed="rId6"/>
                      <a:stretch>
                        <a:fillRect/>
                      </a:stretch>
                    </p:blipFill>
                    <p:spPr>
                      <a:xfrm>
                        <a:off x="2955007" y="4952849"/>
                        <a:ext cx="1316037" cy="468492"/>
                      </a:xfrm>
                      <a:prstGeom prst="rect">
                        <a:avLst/>
                      </a:prstGeom>
                    </p:spPr>
                  </p:pic>
                </p:oleObj>
              </mc:Fallback>
            </mc:AlternateContent>
          </a:graphicData>
        </a:graphic>
      </p:graphicFrame>
      <p:graphicFrame>
        <p:nvGraphicFramePr>
          <p:cNvPr id="33" name="Content Placeholder 3">
            <a:extLst>
              <a:ext uri="{FF2B5EF4-FFF2-40B4-BE49-F238E27FC236}">
                <a16:creationId xmlns:a16="http://schemas.microsoft.com/office/drawing/2014/main" id="{4907A32F-2B40-497A-B62B-0380AD197925}"/>
              </a:ext>
            </a:extLst>
          </p:cNvPr>
          <p:cNvGraphicFramePr>
            <a:graphicFrameLocks noChangeAspect="1"/>
          </p:cNvGraphicFramePr>
          <p:nvPr/>
        </p:nvGraphicFramePr>
        <p:xfrm>
          <a:off x="3168728" y="1584706"/>
          <a:ext cx="942975" cy="425450"/>
        </p:xfrm>
        <a:graphic>
          <a:graphicData uri="http://schemas.openxmlformats.org/presentationml/2006/ole">
            <mc:AlternateContent xmlns:mc="http://schemas.openxmlformats.org/markup-compatibility/2006">
              <mc:Choice xmlns:v="urn:schemas-microsoft-com:vml" Requires="v">
                <p:oleObj spid="_x0000_s1028" name="Equation" r:id="rId7" imgW="393700" imgH="177800" progId="Equation.3">
                  <p:embed/>
                </p:oleObj>
              </mc:Choice>
              <mc:Fallback>
                <p:oleObj name="Equation" r:id="rId7" imgW="393700" imgH="177800" progId="Equation.3">
                  <p:embed/>
                  <p:pic>
                    <p:nvPicPr>
                      <p:cNvPr id="33" name="Content Placeholder 3">
                        <a:extLst>
                          <a:ext uri="{FF2B5EF4-FFF2-40B4-BE49-F238E27FC236}">
                            <a16:creationId xmlns:a16="http://schemas.microsoft.com/office/drawing/2014/main" id="{4907A32F-2B40-497A-B62B-0380AD197925}"/>
                          </a:ext>
                        </a:extLst>
                      </p:cNvPr>
                      <p:cNvPicPr/>
                      <p:nvPr/>
                    </p:nvPicPr>
                    <p:blipFill>
                      <a:blip r:embed="rId8"/>
                      <a:stretch>
                        <a:fillRect/>
                      </a:stretch>
                    </p:blipFill>
                    <p:spPr>
                      <a:xfrm>
                        <a:off x="3168728" y="1584706"/>
                        <a:ext cx="942975" cy="425450"/>
                      </a:xfrm>
                      <a:prstGeom prst="rect">
                        <a:avLst/>
                      </a:prstGeom>
                    </p:spPr>
                  </p:pic>
                </p:oleObj>
              </mc:Fallback>
            </mc:AlternateContent>
          </a:graphicData>
        </a:graphic>
      </p:graphicFrame>
      <p:cxnSp>
        <p:nvCxnSpPr>
          <p:cNvPr id="15" name="Conector recto de flecha 14">
            <a:extLst>
              <a:ext uri="{FF2B5EF4-FFF2-40B4-BE49-F238E27FC236}">
                <a16:creationId xmlns:a16="http://schemas.microsoft.com/office/drawing/2014/main" id="{9AC13B83-1DF7-4E7E-A6EC-0E618D2E1373}"/>
              </a:ext>
            </a:extLst>
          </p:cNvPr>
          <p:cNvCxnSpPr/>
          <p:nvPr/>
        </p:nvCxnSpPr>
        <p:spPr>
          <a:xfrm>
            <a:off x="4965935" y="2583421"/>
            <a:ext cx="0" cy="907383"/>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6" name="Elipse 15">
            <a:extLst>
              <a:ext uri="{FF2B5EF4-FFF2-40B4-BE49-F238E27FC236}">
                <a16:creationId xmlns:a16="http://schemas.microsoft.com/office/drawing/2014/main" id="{EB55AFA4-2F86-4593-9E8A-F61E75F96A3A}"/>
              </a:ext>
            </a:extLst>
          </p:cNvPr>
          <p:cNvSpPr/>
          <p:nvPr/>
        </p:nvSpPr>
        <p:spPr>
          <a:xfrm>
            <a:off x="4906655" y="3476515"/>
            <a:ext cx="118562" cy="112132"/>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Trapezoid 10">
            <a:extLst>
              <a:ext uri="{FF2B5EF4-FFF2-40B4-BE49-F238E27FC236}">
                <a16:creationId xmlns:a16="http://schemas.microsoft.com/office/drawing/2014/main" id="{642CC940-2DB2-46FE-A90F-E6E40F75F0AD}"/>
              </a:ext>
            </a:extLst>
          </p:cNvPr>
          <p:cNvSpPr/>
          <p:nvPr/>
        </p:nvSpPr>
        <p:spPr>
          <a:xfrm rot="16200000" flipH="1" flipV="1">
            <a:off x="1228782" y="3033606"/>
            <a:ext cx="2146430" cy="914401"/>
          </a:xfrm>
          <a:prstGeom prst="trapezoid">
            <a:avLst/>
          </a:prstGeom>
          <a:solidFill>
            <a:schemeClr val="tx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lumMod val="75000"/>
                    <a:lumOff val="25000"/>
                  </a:schemeClr>
                </a:solidFill>
              </a:rPr>
              <a:t>ENCODER</a:t>
            </a:r>
          </a:p>
        </p:txBody>
      </p:sp>
      <p:sp>
        <p:nvSpPr>
          <p:cNvPr id="30" name="Trapezoid 10">
            <a:extLst>
              <a:ext uri="{FF2B5EF4-FFF2-40B4-BE49-F238E27FC236}">
                <a16:creationId xmlns:a16="http://schemas.microsoft.com/office/drawing/2014/main" id="{8FB8083F-439F-498E-AA81-4B2F6F076C5F}"/>
              </a:ext>
            </a:extLst>
          </p:cNvPr>
          <p:cNvSpPr/>
          <p:nvPr/>
        </p:nvSpPr>
        <p:spPr>
          <a:xfrm rot="5400000" flipV="1">
            <a:off x="8792250" y="3031998"/>
            <a:ext cx="2146430" cy="917619"/>
          </a:xfrm>
          <a:prstGeom prst="trapezoid">
            <a:avLst/>
          </a:prstGeom>
          <a:solidFill>
            <a:schemeClr val="tx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lumMod val="75000"/>
                    <a:lumOff val="25000"/>
                  </a:schemeClr>
                </a:solidFill>
              </a:rPr>
              <a:t>DECODER</a:t>
            </a:r>
          </a:p>
        </p:txBody>
      </p:sp>
      <p:sp>
        <p:nvSpPr>
          <p:cNvPr id="3" name="Slide Number Placeholder 2"/>
          <p:cNvSpPr>
            <a:spLocks noGrp="1"/>
          </p:cNvSpPr>
          <p:nvPr>
            <p:ph type="sldNum" sz="quarter" idx="12"/>
          </p:nvPr>
        </p:nvSpPr>
        <p:spPr/>
        <p:txBody>
          <a:bodyPr/>
          <a:lstStyle/>
          <a:p>
            <a:fld id="{81B7CCDB-6D39-0547-B7B3-C80E39D6513A}" type="slidenum">
              <a:rPr lang="en-US" smtClean="0"/>
              <a:pPr/>
              <a:t>41</a:t>
            </a:fld>
            <a:endParaRPr lang="en-US"/>
          </a:p>
        </p:txBody>
      </p:sp>
    </p:spTree>
    <p:extLst>
      <p:ext uri="{BB962C8B-B14F-4D97-AF65-F5344CB8AC3E}">
        <p14:creationId xmlns:p14="http://schemas.microsoft.com/office/powerpoint/2010/main" val="16984898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9292" y="160260"/>
            <a:ext cx="11493416" cy="767276"/>
          </a:xfrm>
        </p:spPr>
        <p:txBody>
          <a:bodyPr/>
          <a:lstStyle/>
          <a:p>
            <a:r>
              <a:rPr lang="en-US"/>
              <a:t>Blending Latent Variables</a:t>
            </a:r>
          </a:p>
        </p:txBody>
      </p:sp>
      <p:pic>
        <p:nvPicPr>
          <p:cNvPr id="27" name="Picture 3">
            <a:extLst>
              <a:ext uri="{FF2B5EF4-FFF2-40B4-BE49-F238E27FC236}">
                <a16:creationId xmlns:a16="http://schemas.microsoft.com/office/drawing/2014/main" id="{3F7EF02D-39D9-4C5E-8150-92E66E1BBD87}"/>
              </a:ext>
            </a:extLst>
          </p:cNvPr>
          <p:cNvPicPr>
            <a:picLocks noChangeAspect="1"/>
          </p:cNvPicPr>
          <p:nvPr/>
        </p:nvPicPr>
        <p:blipFill rotWithShape="1">
          <a:blip r:embed="rId3">
            <a:extLst>
              <a:ext uri="{28A0092B-C50C-407E-A947-70E740481C1C}">
                <a14:useLocalDpi xmlns:a14="http://schemas.microsoft.com/office/drawing/2010/main" val="0"/>
              </a:ext>
            </a:extLst>
          </a:blip>
          <a:srcRect l="71777" t="-2162" r="8791" b="78285"/>
          <a:stretch/>
        </p:blipFill>
        <p:spPr>
          <a:xfrm>
            <a:off x="4111703" y="1816145"/>
            <a:ext cx="1758751" cy="767276"/>
          </a:xfrm>
          <a:prstGeom prst="rect">
            <a:avLst/>
          </a:prstGeom>
        </p:spPr>
      </p:pic>
      <p:pic>
        <p:nvPicPr>
          <p:cNvPr id="28" name="Picture 3">
            <a:extLst>
              <a:ext uri="{FF2B5EF4-FFF2-40B4-BE49-F238E27FC236}">
                <a16:creationId xmlns:a16="http://schemas.microsoft.com/office/drawing/2014/main" id="{57FEDE17-5EEE-4D1A-8E53-F32F065CB546}"/>
              </a:ext>
            </a:extLst>
          </p:cNvPr>
          <p:cNvPicPr>
            <a:picLocks noChangeAspect="1"/>
          </p:cNvPicPr>
          <p:nvPr/>
        </p:nvPicPr>
        <p:blipFill rotWithShape="1">
          <a:blip r:embed="rId3">
            <a:extLst>
              <a:ext uri="{28A0092B-C50C-407E-A947-70E740481C1C}">
                <a14:useLocalDpi xmlns:a14="http://schemas.microsoft.com/office/drawing/2010/main" val="0"/>
              </a:ext>
            </a:extLst>
          </a:blip>
          <a:srcRect l="50857" t="23883" r="28858" b="50073"/>
          <a:stretch/>
        </p:blipFill>
        <p:spPr>
          <a:xfrm>
            <a:off x="3810233" y="2731765"/>
            <a:ext cx="1835902" cy="836937"/>
          </a:xfrm>
          <a:prstGeom prst="rect">
            <a:avLst/>
          </a:prstGeom>
        </p:spPr>
      </p:pic>
      <p:sp>
        <p:nvSpPr>
          <p:cNvPr id="5" name="Trapezoid 10">
            <a:extLst>
              <a:ext uri="{FF2B5EF4-FFF2-40B4-BE49-F238E27FC236}">
                <a16:creationId xmlns:a16="http://schemas.microsoft.com/office/drawing/2014/main" id="{8FB8083F-439F-498E-AA81-4B2F6F076C5F}"/>
              </a:ext>
            </a:extLst>
          </p:cNvPr>
          <p:cNvSpPr/>
          <p:nvPr/>
        </p:nvSpPr>
        <p:spPr>
          <a:xfrm rot="5400000" flipV="1">
            <a:off x="8792250" y="3031998"/>
            <a:ext cx="2146430" cy="917619"/>
          </a:xfrm>
          <a:prstGeom prst="trapezoid">
            <a:avLst/>
          </a:prstGeom>
          <a:solidFill>
            <a:schemeClr val="tx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lumMod val="75000"/>
                    <a:lumOff val="25000"/>
                  </a:schemeClr>
                </a:solidFill>
              </a:rPr>
              <a:t>DECODER</a:t>
            </a:r>
          </a:p>
        </p:txBody>
      </p:sp>
      <p:sp>
        <p:nvSpPr>
          <p:cNvPr id="7" name="Trapezoid 10">
            <a:extLst>
              <a:ext uri="{FF2B5EF4-FFF2-40B4-BE49-F238E27FC236}">
                <a16:creationId xmlns:a16="http://schemas.microsoft.com/office/drawing/2014/main" id="{642CC940-2DB2-46FE-A90F-E6E40F75F0AD}"/>
              </a:ext>
            </a:extLst>
          </p:cNvPr>
          <p:cNvSpPr/>
          <p:nvPr/>
        </p:nvSpPr>
        <p:spPr>
          <a:xfrm rot="16200000" flipH="1" flipV="1">
            <a:off x="1228782" y="3033606"/>
            <a:ext cx="2146430" cy="914401"/>
          </a:xfrm>
          <a:prstGeom prst="trapezoid">
            <a:avLst/>
          </a:prstGeom>
          <a:solidFill>
            <a:schemeClr val="tx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lumMod val="75000"/>
                    <a:lumOff val="25000"/>
                  </a:schemeClr>
                </a:solidFill>
              </a:rPr>
              <a:t>ENCODER</a:t>
            </a:r>
          </a:p>
        </p:txBody>
      </p:sp>
      <p:sp>
        <p:nvSpPr>
          <p:cNvPr id="9" name="Rectángulo 8">
            <a:extLst>
              <a:ext uri="{FF2B5EF4-FFF2-40B4-BE49-F238E27FC236}">
                <a16:creationId xmlns:a16="http://schemas.microsoft.com/office/drawing/2014/main" id="{C5767CAC-93DA-4409-9752-3CF4B526EF1F}"/>
              </a:ext>
            </a:extLst>
          </p:cNvPr>
          <p:cNvSpPr/>
          <p:nvPr/>
        </p:nvSpPr>
        <p:spPr>
          <a:xfrm>
            <a:off x="5695120" y="1628974"/>
            <a:ext cx="3474720" cy="3826413"/>
          </a:xfrm>
          <a:prstGeom prst="rect">
            <a:avLst/>
          </a:prstGeom>
          <a:solidFill>
            <a:schemeClr val="bg1"/>
          </a:solid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TextBox 7">
            <a:extLst>
              <a:ext uri="{FF2B5EF4-FFF2-40B4-BE49-F238E27FC236}">
                <a16:creationId xmlns:a16="http://schemas.microsoft.com/office/drawing/2014/main" id="{75471C91-6907-43BD-81A0-789B29243A94}"/>
              </a:ext>
            </a:extLst>
          </p:cNvPr>
          <p:cNvSpPr txBox="1"/>
          <p:nvPr/>
        </p:nvSpPr>
        <p:spPr>
          <a:xfrm>
            <a:off x="5791620" y="1105754"/>
            <a:ext cx="3281720" cy="523220"/>
          </a:xfrm>
          <a:prstGeom prst="rect">
            <a:avLst/>
          </a:prstGeom>
          <a:noFill/>
        </p:spPr>
        <p:txBody>
          <a:bodyPr wrap="square" rtlCol="0">
            <a:spAutoFit/>
          </a:bodyPr>
          <a:lstStyle/>
          <a:p>
            <a:pPr algn="ctr"/>
            <a:r>
              <a:rPr lang="en-US" sz="2800">
                <a:solidFill>
                  <a:schemeClr val="tx1">
                    <a:lumMod val="75000"/>
                    <a:lumOff val="25000"/>
                  </a:schemeClr>
                </a:solidFill>
                <a:latin typeface="Karla" charset="0"/>
                <a:ea typeface="Karla" charset="0"/>
                <a:cs typeface="Karla" charset="0"/>
              </a:rPr>
              <a:t>Latent Space</a:t>
            </a:r>
            <a:endParaRPr lang="en-US" sz="2800" i="1">
              <a:solidFill>
                <a:schemeClr val="tx1">
                  <a:lumMod val="75000"/>
                  <a:lumOff val="25000"/>
                </a:schemeClr>
              </a:solidFill>
              <a:latin typeface="Karla" charset="0"/>
              <a:ea typeface="Karla" charset="0"/>
              <a:cs typeface="Karla" charset="0"/>
            </a:endParaRPr>
          </a:p>
        </p:txBody>
      </p:sp>
      <p:pic>
        <p:nvPicPr>
          <p:cNvPr id="11" name="Picture 4">
            <a:extLst>
              <a:ext uri="{FF2B5EF4-FFF2-40B4-BE49-F238E27FC236}">
                <a16:creationId xmlns:a16="http://schemas.microsoft.com/office/drawing/2014/main" id="{B5492FC1-0CED-4171-A0A8-6FFD665124D3}"/>
              </a:ext>
            </a:extLst>
          </p:cNvPr>
          <p:cNvPicPr>
            <a:picLocks noChangeAspect="1"/>
          </p:cNvPicPr>
          <p:nvPr/>
        </p:nvPicPr>
        <p:blipFill rotWithShape="1">
          <a:blip r:embed="rId4">
            <a:extLst>
              <a:ext uri="{28A0092B-C50C-407E-A947-70E740481C1C}">
                <a14:useLocalDpi xmlns:a14="http://schemas.microsoft.com/office/drawing/2010/main" val="0"/>
              </a:ext>
            </a:extLst>
          </a:blip>
          <a:srcRect l="20704" r="59887" b="51906"/>
          <a:stretch/>
        </p:blipFill>
        <p:spPr>
          <a:xfrm>
            <a:off x="824429" y="3007054"/>
            <a:ext cx="914401" cy="967501"/>
          </a:xfrm>
          <a:prstGeom prst="rect">
            <a:avLst/>
          </a:prstGeom>
        </p:spPr>
      </p:pic>
      <p:cxnSp>
        <p:nvCxnSpPr>
          <p:cNvPr id="20" name="Straight Arrow Connector 24">
            <a:extLst>
              <a:ext uri="{FF2B5EF4-FFF2-40B4-BE49-F238E27FC236}">
                <a16:creationId xmlns:a16="http://schemas.microsoft.com/office/drawing/2014/main" id="{8357E5F4-CE4A-4BE0-BE18-5A16157A4168}"/>
              </a:ext>
            </a:extLst>
          </p:cNvPr>
          <p:cNvCxnSpPr/>
          <p:nvPr/>
        </p:nvCxnSpPr>
        <p:spPr>
          <a:xfrm flipV="1">
            <a:off x="2863460" y="2898253"/>
            <a:ext cx="528203" cy="413431"/>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21" name="Rectangle 26">
            <a:extLst>
              <a:ext uri="{FF2B5EF4-FFF2-40B4-BE49-F238E27FC236}">
                <a16:creationId xmlns:a16="http://schemas.microsoft.com/office/drawing/2014/main" id="{7663EC45-4979-4427-95AC-41C2528EF079}"/>
              </a:ext>
            </a:extLst>
          </p:cNvPr>
          <p:cNvSpPr/>
          <p:nvPr/>
        </p:nvSpPr>
        <p:spPr>
          <a:xfrm>
            <a:off x="3417538" y="2024970"/>
            <a:ext cx="400704" cy="1131570"/>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3600" i="1"/>
          </a:p>
        </p:txBody>
      </p:sp>
      <p:sp>
        <p:nvSpPr>
          <p:cNvPr id="22" name="Rectangle 29">
            <a:extLst>
              <a:ext uri="{FF2B5EF4-FFF2-40B4-BE49-F238E27FC236}">
                <a16:creationId xmlns:a16="http://schemas.microsoft.com/office/drawing/2014/main" id="{3926F3BB-EA7C-4C8B-8D46-66C95DFD8443}"/>
              </a:ext>
            </a:extLst>
          </p:cNvPr>
          <p:cNvSpPr/>
          <p:nvPr/>
        </p:nvSpPr>
        <p:spPr>
          <a:xfrm>
            <a:off x="3412674" y="3791651"/>
            <a:ext cx="400704" cy="1131570"/>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3600" i="1"/>
          </a:p>
        </p:txBody>
      </p:sp>
      <p:cxnSp>
        <p:nvCxnSpPr>
          <p:cNvPr id="23" name="Straight Arrow Connector 30">
            <a:extLst>
              <a:ext uri="{FF2B5EF4-FFF2-40B4-BE49-F238E27FC236}">
                <a16:creationId xmlns:a16="http://schemas.microsoft.com/office/drawing/2014/main" id="{8E64302A-A018-4292-B980-CFFE03B6B1B2}"/>
              </a:ext>
            </a:extLst>
          </p:cNvPr>
          <p:cNvCxnSpPr/>
          <p:nvPr/>
        </p:nvCxnSpPr>
        <p:spPr>
          <a:xfrm>
            <a:off x="2865164" y="3636277"/>
            <a:ext cx="504971" cy="349139"/>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32">
            <a:extLst>
              <a:ext uri="{FF2B5EF4-FFF2-40B4-BE49-F238E27FC236}">
                <a16:creationId xmlns:a16="http://schemas.microsoft.com/office/drawing/2014/main" id="{F6A71B2E-AE58-4208-8D0E-7963C9D780BF}"/>
              </a:ext>
            </a:extLst>
          </p:cNvPr>
          <p:cNvCxnSpPr>
            <a:cxnSpLocks/>
            <a:endCxn id="28" idx="2"/>
          </p:cNvCxnSpPr>
          <p:nvPr/>
        </p:nvCxnSpPr>
        <p:spPr>
          <a:xfrm flipV="1">
            <a:off x="3856435" y="3568702"/>
            <a:ext cx="871749" cy="451238"/>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33">
            <a:extLst>
              <a:ext uri="{FF2B5EF4-FFF2-40B4-BE49-F238E27FC236}">
                <a16:creationId xmlns:a16="http://schemas.microsoft.com/office/drawing/2014/main" id="{56F9D3A5-9A1C-4760-9D58-305A9F7235AC}"/>
              </a:ext>
            </a:extLst>
          </p:cNvPr>
          <p:cNvCxnSpPr>
            <a:cxnSpLocks/>
          </p:cNvCxnSpPr>
          <p:nvPr/>
        </p:nvCxnSpPr>
        <p:spPr>
          <a:xfrm>
            <a:off x="3859218" y="2898253"/>
            <a:ext cx="577147" cy="444125"/>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graphicFrame>
        <p:nvGraphicFramePr>
          <p:cNvPr id="26" name="Content Placeholder 3">
            <a:extLst>
              <a:ext uri="{FF2B5EF4-FFF2-40B4-BE49-F238E27FC236}">
                <a16:creationId xmlns:a16="http://schemas.microsoft.com/office/drawing/2014/main" id="{34762B13-0B39-4FE9-9CDA-DD9EF92FBF1C}"/>
              </a:ext>
            </a:extLst>
          </p:cNvPr>
          <p:cNvGraphicFramePr>
            <a:graphicFrameLocks noChangeAspect="1"/>
          </p:cNvGraphicFramePr>
          <p:nvPr/>
        </p:nvGraphicFramePr>
        <p:xfrm>
          <a:off x="2955007" y="4952849"/>
          <a:ext cx="1316037" cy="468492"/>
        </p:xfrm>
        <a:graphic>
          <a:graphicData uri="http://schemas.openxmlformats.org/presentationml/2006/ole">
            <mc:AlternateContent xmlns:mc="http://schemas.openxmlformats.org/markup-compatibility/2006">
              <mc:Choice xmlns:v="urn:schemas-microsoft-com:vml" Requires="v">
                <p:oleObj spid="_x0000_s2051" name="Equation" r:id="rId5" imgW="533400" imgH="190500" progId="Equation.3">
                  <p:embed/>
                </p:oleObj>
              </mc:Choice>
              <mc:Fallback>
                <p:oleObj name="Equation" r:id="rId5" imgW="533400" imgH="190500" progId="Equation.3">
                  <p:embed/>
                  <p:pic>
                    <p:nvPicPr>
                      <p:cNvPr id="26" name="Content Placeholder 3">
                        <a:extLst>
                          <a:ext uri="{FF2B5EF4-FFF2-40B4-BE49-F238E27FC236}">
                            <a16:creationId xmlns:a16="http://schemas.microsoft.com/office/drawing/2014/main" id="{34762B13-0B39-4FE9-9CDA-DD9EF92FBF1C}"/>
                          </a:ext>
                        </a:extLst>
                      </p:cNvPr>
                      <p:cNvPicPr/>
                      <p:nvPr/>
                    </p:nvPicPr>
                    <p:blipFill>
                      <a:blip r:embed="rId6"/>
                      <a:stretch>
                        <a:fillRect/>
                      </a:stretch>
                    </p:blipFill>
                    <p:spPr>
                      <a:xfrm>
                        <a:off x="2955007" y="4952849"/>
                        <a:ext cx="1316037" cy="468492"/>
                      </a:xfrm>
                      <a:prstGeom prst="rect">
                        <a:avLst/>
                      </a:prstGeom>
                    </p:spPr>
                  </p:pic>
                </p:oleObj>
              </mc:Fallback>
            </mc:AlternateContent>
          </a:graphicData>
        </a:graphic>
      </p:graphicFrame>
      <p:graphicFrame>
        <p:nvGraphicFramePr>
          <p:cNvPr id="33" name="Content Placeholder 3">
            <a:extLst>
              <a:ext uri="{FF2B5EF4-FFF2-40B4-BE49-F238E27FC236}">
                <a16:creationId xmlns:a16="http://schemas.microsoft.com/office/drawing/2014/main" id="{4907A32F-2B40-497A-B62B-0380AD197925}"/>
              </a:ext>
            </a:extLst>
          </p:cNvPr>
          <p:cNvGraphicFramePr>
            <a:graphicFrameLocks noChangeAspect="1"/>
          </p:cNvGraphicFramePr>
          <p:nvPr/>
        </p:nvGraphicFramePr>
        <p:xfrm>
          <a:off x="3168728" y="1584706"/>
          <a:ext cx="942975" cy="425450"/>
        </p:xfrm>
        <a:graphic>
          <a:graphicData uri="http://schemas.openxmlformats.org/presentationml/2006/ole">
            <mc:AlternateContent xmlns:mc="http://schemas.openxmlformats.org/markup-compatibility/2006">
              <mc:Choice xmlns:v="urn:schemas-microsoft-com:vml" Requires="v">
                <p:oleObj spid="_x0000_s2052" name="Equation" r:id="rId7" imgW="393700" imgH="177800" progId="Equation.3">
                  <p:embed/>
                </p:oleObj>
              </mc:Choice>
              <mc:Fallback>
                <p:oleObj name="Equation" r:id="rId7" imgW="393700" imgH="177800" progId="Equation.3">
                  <p:embed/>
                  <p:pic>
                    <p:nvPicPr>
                      <p:cNvPr id="33" name="Content Placeholder 3">
                        <a:extLst>
                          <a:ext uri="{FF2B5EF4-FFF2-40B4-BE49-F238E27FC236}">
                            <a16:creationId xmlns:a16="http://schemas.microsoft.com/office/drawing/2014/main" id="{4907A32F-2B40-497A-B62B-0380AD197925}"/>
                          </a:ext>
                        </a:extLst>
                      </p:cNvPr>
                      <p:cNvPicPr/>
                      <p:nvPr/>
                    </p:nvPicPr>
                    <p:blipFill>
                      <a:blip r:embed="rId8"/>
                      <a:stretch>
                        <a:fillRect/>
                      </a:stretch>
                    </p:blipFill>
                    <p:spPr>
                      <a:xfrm>
                        <a:off x="3168728" y="1584706"/>
                        <a:ext cx="942975" cy="425450"/>
                      </a:xfrm>
                      <a:prstGeom prst="rect">
                        <a:avLst/>
                      </a:prstGeom>
                    </p:spPr>
                  </p:pic>
                </p:oleObj>
              </mc:Fallback>
            </mc:AlternateContent>
          </a:graphicData>
        </a:graphic>
      </p:graphicFrame>
      <p:cxnSp>
        <p:nvCxnSpPr>
          <p:cNvPr id="15" name="Conector recto de flecha 14">
            <a:extLst>
              <a:ext uri="{FF2B5EF4-FFF2-40B4-BE49-F238E27FC236}">
                <a16:creationId xmlns:a16="http://schemas.microsoft.com/office/drawing/2014/main" id="{9AC13B83-1DF7-4E7E-A6EC-0E618D2E1373}"/>
              </a:ext>
            </a:extLst>
          </p:cNvPr>
          <p:cNvCxnSpPr/>
          <p:nvPr/>
        </p:nvCxnSpPr>
        <p:spPr>
          <a:xfrm>
            <a:off x="4965935" y="2583421"/>
            <a:ext cx="0" cy="907383"/>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6" name="Elipse 15">
            <a:extLst>
              <a:ext uri="{FF2B5EF4-FFF2-40B4-BE49-F238E27FC236}">
                <a16:creationId xmlns:a16="http://schemas.microsoft.com/office/drawing/2014/main" id="{EB55AFA4-2F86-4593-9E8A-F61E75F96A3A}"/>
              </a:ext>
            </a:extLst>
          </p:cNvPr>
          <p:cNvSpPr/>
          <p:nvPr/>
        </p:nvSpPr>
        <p:spPr>
          <a:xfrm>
            <a:off x="4906655" y="3476515"/>
            <a:ext cx="118562" cy="112132"/>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Elipse 33">
            <a:extLst>
              <a:ext uri="{FF2B5EF4-FFF2-40B4-BE49-F238E27FC236}">
                <a16:creationId xmlns:a16="http://schemas.microsoft.com/office/drawing/2014/main" id="{4C910D88-19BF-4C95-8965-2A8C46DD61A0}"/>
              </a:ext>
            </a:extLst>
          </p:cNvPr>
          <p:cNvSpPr/>
          <p:nvPr/>
        </p:nvSpPr>
        <p:spPr>
          <a:xfrm>
            <a:off x="6607112" y="2305460"/>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8" name="Conector: curvado 17">
            <a:extLst>
              <a:ext uri="{FF2B5EF4-FFF2-40B4-BE49-F238E27FC236}">
                <a16:creationId xmlns:a16="http://schemas.microsoft.com/office/drawing/2014/main" id="{28F40616-D0B8-4618-9E69-23F1D636FFBF}"/>
              </a:ext>
            </a:extLst>
          </p:cNvPr>
          <p:cNvCxnSpPr>
            <a:stCxn id="16" idx="5"/>
            <a:endCxn id="34" idx="4"/>
          </p:cNvCxnSpPr>
          <p:nvPr/>
        </p:nvCxnSpPr>
        <p:spPr>
          <a:xfrm rot="5400000" flipH="1" flipV="1">
            <a:off x="5259806" y="2165639"/>
            <a:ext cx="1154634" cy="1658539"/>
          </a:xfrm>
          <a:prstGeom prst="curvedConnector3">
            <a:avLst>
              <a:gd name="adj1" fmla="val -2122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pic>
        <p:nvPicPr>
          <p:cNvPr id="29" name="Picture 4">
            <a:extLst>
              <a:ext uri="{FF2B5EF4-FFF2-40B4-BE49-F238E27FC236}">
                <a16:creationId xmlns:a16="http://schemas.microsoft.com/office/drawing/2014/main" id="{2255D6F2-9B6A-49A8-AB7D-1C4E6BBFC265}"/>
              </a:ext>
            </a:extLst>
          </p:cNvPr>
          <p:cNvPicPr>
            <a:picLocks noChangeAspect="1"/>
          </p:cNvPicPr>
          <p:nvPr/>
        </p:nvPicPr>
        <p:blipFill rotWithShape="1">
          <a:blip r:embed="rId4">
            <a:extLst>
              <a:ext uri="{28A0092B-C50C-407E-A947-70E740481C1C}">
                <a14:useLocalDpi xmlns:a14="http://schemas.microsoft.com/office/drawing/2010/main" val="0"/>
              </a:ext>
            </a:extLst>
          </a:blip>
          <a:srcRect l="20704" r="59887" b="51906"/>
          <a:stretch/>
        </p:blipFill>
        <p:spPr>
          <a:xfrm>
            <a:off x="6742017" y="2071518"/>
            <a:ext cx="254752" cy="269546"/>
          </a:xfrm>
          <a:prstGeom prst="rect">
            <a:avLst/>
          </a:prstGeom>
        </p:spPr>
      </p:pic>
      <p:sp>
        <p:nvSpPr>
          <p:cNvPr id="3" name="Slide Number Placeholder 2"/>
          <p:cNvSpPr>
            <a:spLocks noGrp="1"/>
          </p:cNvSpPr>
          <p:nvPr>
            <p:ph type="sldNum" sz="quarter" idx="12"/>
          </p:nvPr>
        </p:nvSpPr>
        <p:spPr/>
        <p:txBody>
          <a:bodyPr/>
          <a:lstStyle/>
          <a:p>
            <a:fld id="{81B7CCDB-6D39-0547-B7B3-C80E39D6513A}" type="slidenum">
              <a:rPr lang="en-US" smtClean="0"/>
              <a:pPr/>
              <a:t>42</a:t>
            </a:fld>
            <a:endParaRPr lang="en-US"/>
          </a:p>
        </p:txBody>
      </p:sp>
    </p:spTree>
    <p:extLst>
      <p:ext uri="{BB962C8B-B14F-4D97-AF65-F5344CB8AC3E}">
        <p14:creationId xmlns:p14="http://schemas.microsoft.com/office/powerpoint/2010/main" val="22744072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9292" y="160260"/>
            <a:ext cx="11493416" cy="767276"/>
          </a:xfrm>
        </p:spPr>
        <p:txBody>
          <a:bodyPr/>
          <a:lstStyle/>
          <a:p>
            <a:r>
              <a:rPr lang="en-US"/>
              <a:t>Blending Latent Variables</a:t>
            </a:r>
          </a:p>
        </p:txBody>
      </p:sp>
      <p:pic>
        <p:nvPicPr>
          <p:cNvPr id="27" name="Picture 3">
            <a:extLst>
              <a:ext uri="{FF2B5EF4-FFF2-40B4-BE49-F238E27FC236}">
                <a16:creationId xmlns:a16="http://schemas.microsoft.com/office/drawing/2014/main" id="{3F7EF02D-39D9-4C5E-8150-92E66E1BBD87}"/>
              </a:ext>
            </a:extLst>
          </p:cNvPr>
          <p:cNvPicPr>
            <a:picLocks noChangeAspect="1"/>
          </p:cNvPicPr>
          <p:nvPr/>
        </p:nvPicPr>
        <p:blipFill rotWithShape="1">
          <a:blip r:embed="rId3">
            <a:extLst>
              <a:ext uri="{28A0092B-C50C-407E-A947-70E740481C1C}">
                <a14:useLocalDpi xmlns:a14="http://schemas.microsoft.com/office/drawing/2010/main" val="0"/>
              </a:ext>
            </a:extLst>
          </a:blip>
          <a:srcRect l="71777" t="-2162" r="8791" b="78285"/>
          <a:stretch/>
        </p:blipFill>
        <p:spPr>
          <a:xfrm>
            <a:off x="4111703" y="1816145"/>
            <a:ext cx="1758751" cy="767276"/>
          </a:xfrm>
          <a:prstGeom prst="rect">
            <a:avLst/>
          </a:prstGeom>
        </p:spPr>
      </p:pic>
      <p:pic>
        <p:nvPicPr>
          <p:cNvPr id="28" name="Picture 3">
            <a:extLst>
              <a:ext uri="{FF2B5EF4-FFF2-40B4-BE49-F238E27FC236}">
                <a16:creationId xmlns:a16="http://schemas.microsoft.com/office/drawing/2014/main" id="{57FEDE17-5EEE-4D1A-8E53-F32F065CB546}"/>
              </a:ext>
            </a:extLst>
          </p:cNvPr>
          <p:cNvPicPr>
            <a:picLocks noChangeAspect="1"/>
          </p:cNvPicPr>
          <p:nvPr/>
        </p:nvPicPr>
        <p:blipFill rotWithShape="1">
          <a:blip r:embed="rId3">
            <a:extLst>
              <a:ext uri="{28A0092B-C50C-407E-A947-70E740481C1C}">
                <a14:useLocalDpi xmlns:a14="http://schemas.microsoft.com/office/drawing/2010/main" val="0"/>
              </a:ext>
            </a:extLst>
          </a:blip>
          <a:srcRect l="50857" t="23883" r="28858" b="50073"/>
          <a:stretch/>
        </p:blipFill>
        <p:spPr>
          <a:xfrm>
            <a:off x="3810233" y="2731765"/>
            <a:ext cx="1835902" cy="836937"/>
          </a:xfrm>
          <a:prstGeom prst="rect">
            <a:avLst/>
          </a:prstGeom>
        </p:spPr>
      </p:pic>
      <p:sp>
        <p:nvSpPr>
          <p:cNvPr id="5" name="Trapezoid 10">
            <a:extLst>
              <a:ext uri="{FF2B5EF4-FFF2-40B4-BE49-F238E27FC236}">
                <a16:creationId xmlns:a16="http://schemas.microsoft.com/office/drawing/2014/main" id="{8FB8083F-439F-498E-AA81-4B2F6F076C5F}"/>
              </a:ext>
            </a:extLst>
          </p:cNvPr>
          <p:cNvSpPr/>
          <p:nvPr/>
        </p:nvSpPr>
        <p:spPr>
          <a:xfrm rot="5400000" flipV="1">
            <a:off x="8792250" y="3031998"/>
            <a:ext cx="2146430" cy="917619"/>
          </a:xfrm>
          <a:prstGeom prst="trapezoid">
            <a:avLst/>
          </a:prstGeom>
          <a:solidFill>
            <a:schemeClr val="tx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lumMod val="75000"/>
                    <a:lumOff val="25000"/>
                  </a:schemeClr>
                </a:solidFill>
              </a:rPr>
              <a:t>DECODER</a:t>
            </a:r>
          </a:p>
        </p:txBody>
      </p:sp>
      <p:sp>
        <p:nvSpPr>
          <p:cNvPr id="7" name="Trapezoid 10">
            <a:extLst>
              <a:ext uri="{FF2B5EF4-FFF2-40B4-BE49-F238E27FC236}">
                <a16:creationId xmlns:a16="http://schemas.microsoft.com/office/drawing/2014/main" id="{642CC940-2DB2-46FE-A90F-E6E40F75F0AD}"/>
              </a:ext>
            </a:extLst>
          </p:cNvPr>
          <p:cNvSpPr/>
          <p:nvPr/>
        </p:nvSpPr>
        <p:spPr>
          <a:xfrm rot="16200000" flipH="1" flipV="1">
            <a:off x="1228782" y="3033606"/>
            <a:ext cx="2146430" cy="914401"/>
          </a:xfrm>
          <a:prstGeom prst="trapezoid">
            <a:avLst/>
          </a:prstGeom>
          <a:solidFill>
            <a:schemeClr val="tx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lumMod val="75000"/>
                    <a:lumOff val="25000"/>
                  </a:schemeClr>
                </a:solidFill>
              </a:rPr>
              <a:t>ENCODER</a:t>
            </a:r>
          </a:p>
        </p:txBody>
      </p:sp>
      <p:sp>
        <p:nvSpPr>
          <p:cNvPr id="9" name="Rectángulo 8">
            <a:extLst>
              <a:ext uri="{FF2B5EF4-FFF2-40B4-BE49-F238E27FC236}">
                <a16:creationId xmlns:a16="http://schemas.microsoft.com/office/drawing/2014/main" id="{C5767CAC-93DA-4409-9752-3CF4B526EF1F}"/>
              </a:ext>
            </a:extLst>
          </p:cNvPr>
          <p:cNvSpPr/>
          <p:nvPr/>
        </p:nvSpPr>
        <p:spPr>
          <a:xfrm>
            <a:off x="5695120" y="1628974"/>
            <a:ext cx="3474720" cy="3826413"/>
          </a:xfrm>
          <a:prstGeom prst="rect">
            <a:avLst/>
          </a:prstGeom>
          <a:solidFill>
            <a:schemeClr val="bg1"/>
          </a:solid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TextBox 7">
            <a:extLst>
              <a:ext uri="{FF2B5EF4-FFF2-40B4-BE49-F238E27FC236}">
                <a16:creationId xmlns:a16="http://schemas.microsoft.com/office/drawing/2014/main" id="{75471C91-6907-43BD-81A0-789B29243A94}"/>
              </a:ext>
            </a:extLst>
          </p:cNvPr>
          <p:cNvSpPr txBox="1"/>
          <p:nvPr/>
        </p:nvSpPr>
        <p:spPr>
          <a:xfrm>
            <a:off x="5791620" y="1105754"/>
            <a:ext cx="3281720" cy="523220"/>
          </a:xfrm>
          <a:prstGeom prst="rect">
            <a:avLst/>
          </a:prstGeom>
          <a:noFill/>
        </p:spPr>
        <p:txBody>
          <a:bodyPr wrap="square" rtlCol="0">
            <a:spAutoFit/>
          </a:bodyPr>
          <a:lstStyle/>
          <a:p>
            <a:pPr algn="ctr"/>
            <a:r>
              <a:rPr lang="en-US" sz="2800">
                <a:solidFill>
                  <a:schemeClr val="tx1">
                    <a:lumMod val="75000"/>
                    <a:lumOff val="25000"/>
                  </a:schemeClr>
                </a:solidFill>
              </a:rPr>
              <a:t>Latent Space</a:t>
            </a:r>
            <a:endParaRPr lang="en-US" sz="2800" i="1">
              <a:solidFill>
                <a:schemeClr val="tx1">
                  <a:lumMod val="75000"/>
                  <a:lumOff val="25000"/>
                </a:schemeClr>
              </a:solidFill>
            </a:endParaRPr>
          </a:p>
        </p:txBody>
      </p:sp>
      <p:pic>
        <p:nvPicPr>
          <p:cNvPr id="11" name="Picture 4">
            <a:extLst>
              <a:ext uri="{FF2B5EF4-FFF2-40B4-BE49-F238E27FC236}">
                <a16:creationId xmlns:a16="http://schemas.microsoft.com/office/drawing/2014/main" id="{B5492FC1-0CED-4171-A0A8-6FFD665124D3}"/>
              </a:ext>
            </a:extLst>
          </p:cNvPr>
          <p:cNvPicPr>
            <a:picLocks noChangeAspect="1"/>
          </p:cNvPicPr>
          <p:nvPr/>
        </p:nvPicPr>
        <p:blipFill rotWithShape="1">
          <a:blip r:embed="rId4">
            <a:extLst>
              <a:ext uri="{28A0092B-C50C-407E-A947-70E740481C1C}">
                <a14:useLocalDpi xmlns:a14="http://schemas.microsoft.com/office/drawing/2010/main" val="0"/>
              </a:ext>
            </a:extLst>
          </a:blip>
          <a:srcRect l="20704" r="59887" b="51906"/>
          <a:stretch/>
        </p:blipFill>
        <p:spPr>
          <a:xfrm>
            <a:off x="824429" y="3007054"/>
            <a:ext cx="914401" cy="967501"/>
          </a:xfrm>
          <a:prstGeom prst="rect">
            <a:avLst/>
          </a:prstGeom>
        </p:spPr>
      </p:pic>
      <p:cxnSp>
        <p:nvCxnSpPr>
          <p:cNvPr id="20" name="Straight Arrow Connector 24">
            <a:extLst>
              <a:ext uri="{FF2B5EF4-FFF2-40B4-BE49-F238E27FC236}">
                <a16:creationId xmlns:a16="http://schemas.microsoft.com/office/drawing/2014/main" id="{8357E5F4-CE4A-4BE0-BE18-5A16157A4168}"/>
              </a:ext>
            </a:extLst>
          </p:cNvPr>
          <p:cNvCxnSpPr/>
          <p:nvPr/>
        </p:nvCxnSpPr>
        <p:spPr>
          <a:xfrm flipV="1">
            <a:off x="2863460" y="2898253"/>
            <a:ext cx="528203" cy="413431"/>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21" name="Rectangle 26">
            <a:extLst>
              <a:ext uri="{FF2B5EF4-FFF2-40B4-BE49-F238E27FC236}">
                <a16:creationId xmlns:a16="http://schemas.microsoft.com/office/drawing/2014/main" id="{7663EC45-4979-4427-95AC-41C2528EF079}"/>
              </a:ext>
            </a:extLst>
          </p:cNvPr>
          <p:cNvSpPr/>
          <p:nvPr/>
        </p:nvSpPr>
        <p:spPr>
          <a:xfrm>
            <a:off x="3417538" y="2024970"/>
            <a:ext cx="400704" cy="1131570"/>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3600" i="1"/>
          </a:p>
        </p:txBody>
      </p:sp>
      <p:sp>
        <p:nvSpPr>
          <p:cNvPr id="22" name="Rectangle 29">
            <a:extLst>
              <a:ext uri="{FF2B5EF4-FFF2-40B4-BE49-F238E27FC236}">
                <a16:creationId xmlns:a16="http://schemas.microsoft.com/office/drawing/2014/main" id="{3926F3BB-EA7C-4C8B-8D46-66C95DFD8443}"/>
              </a:ext>
            </a:extLst>
          </p:cNvPr>
          <p:cNvSpPr/>
          <p:nvPr/>
        </p:nvSpPr>
        <p:spPr>
          <a:xfrm>
            <a:off x="3412674" y="3791651"/>
            <a:ext cx="400704" cy="1131570"/>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3600" i="1"/>
          </a:p>
        </p:txBody>
      </p:sp>
      <p:cxnSp>
        <p:nvCxnSpPr>
          <p:cNvPr id="23" name="Straight Arrow Connector 30">
            <a:extLst>
              <a:ext uri="{FF2B5EF4-FFF2-40B4-BE49-F238E27FC236}">
                <a16:creationId xmlns:a16="http://schemas.microsoft.com/office/drawing/2014/main" id="{8E64302A-A018-4292-B980-CFFE03B6B1B2}"/>
              </a:ext>
            </a:extLst>
          </p:cNvPr>
          <p:cNvCxnSpPr/>
          <p:nvPr/>
        </p:nvCxnSpPr>
        <p:spPr>
          <a:xfrm>
            <a:off x="2865164" y="3636277"/>
            <a:ext cx="504971" cy="349139"/>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32">
            <a:extLst>
              <a:ext uri="{FF2B5EF4-FFF2-40B4-BE49-F238E27FC236}">
                <a16:creationId xmlns:a16="http://schemas.microsoft.com/office/drawing/2014/main" id="{F6A71B2E-AE58-4208-8D0E-7963C9D780BF}"/>
              </a:ext>
            </a:extLst>
          </p:cNvPr>
          <p:cNvCxnSpPr>
            <a:cxnSpLocks/>
            <a:endCxn id="28" idx="2"/>
          </p:cNvCxnSpPr>
          <p:nvPr/>
        </p:nvCxnSpPr>
        <p:spPr>
          <a:xfrm flipV="1">
            <a:off x="3856435" y="3568702"/>
            <a:ext cx="871749" cy="451238"/>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33">
            <a:extLst>
              <a:ext uri="{FF2B5EF4-FFF2-40B4-BE49-F238E27FC236}">
                <a16:creationId xmlns:a16="http://schemas.microsoft.com/office/drawing/2014/main" id="{56F9D3A5-9A1C-4760-9D58-305A9F7235AC}"/>
              </a:ext>
            </a:extLst>
          </p:cNvPr>
          <p:cNvCxnSpPr>
            <a:cxnSpLocks/>
          </p:cNvCxnSpPr>
          <p:nvPr/>
        </p:nvCxnSpPr>
        <p:spPr>
          <a:xfrm>
            <a:off x="3859218" y="2898253"/>
            <a:ext cx="577147" cy="444125"/>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graphicFrame>
        <p:nvGraphicFramePr>
          <p:cNvPr id="26" name="Content Placeholder 3">
            <a:extLst>
              <a:ext uri="{FF2B5EF4-FFF2-40B4-BE49-F238E27FC236}">
                <a16:creationId xmlns:a16="http://schemas.microsoft.com/office/drawing/2014/main" id="{34762B13-0B39-4FE9-9CDA-DD9EF92FBF1C}"/>
              </a:ext>
            </a:extLst>
          </p:cNvPr>
          <p:cNvGraphicFramePr>
            <a:graphicFrameLocks noChangeAspect="1"/>
          </p:cNvGraphicFramePr>
          <p:nvPr/>
        </p:nvGraphicFramePr>
        <p:xfrm>
          <a:off x="2955007" y="4952849"/>
          <a:ext cx="1316037" cy="468492"/>
        </p:xfrm>
        <a:graphic>
          <a:graphicData uri="http://schemas.openxmlformats.org/presentationml/2006/ole">
            <mc:AlternateContent xmlns:mc="http://schemas.openxmlformats.org/markup-compatibility/2006">
              <mc:Choice xmlns:v="urn:schemas-microsoft-com:vml" Requires="v">
                <p:oleObj spid="_x0000_s3075" name="Equation" r:id="rId5" imgW="533400" imgH="190500" progId="Equation.3">
                  <p:embed/>
                </p:oleObj>
              </mc:Choice>
              <mc:Fallback>
                <p:oleObj name="Equation" r:id="rId5" imgW="533400" imgH="190500" progId="Equation.3">
                  <p:embed/>
                  <p:pic>
                    <p:nvPicPr>
                      <p:cNvPr id="26" name="Content Placeholder 3">
                        <a:extLst>
                          <a:ext uri="{FF2B5EF4-FFF2-40B4-BE49-F238E27FC236}">
                            <a16:creationId xmlns:a16="http://schemas.microsoft.com/office/drawing/2014/main" id="{34762B13-0B39-4FE9-9CDA-DD9EF92FBF1C}"/>
                          </a:ext>
                        </a:extLst>
                      </p:cNvPr>
                      <p:cNvPicPr/>
                      <p:nvPr/>
                    </p:nvPicPr>
                    <p:blipFill>
                      <a:blip r:embed="rId6"/>
                      <a:stretch>
                        <a:fillRect/>
                      </a:stretch>
                    </p:blipFill>
                    <p:spPr>
                      <a:xfrm>
                        <a:off x="2955007" y="4952849"/>
                        <a:ext cx="1316037" cy="468492"/>
                      </a:xfrm>
                      <a:prstGeom prst="rect">
                        <a:avLst/>
                      </a:prstGeom>
                    </p:spPr>
                  </p:pic>
                </p:oleObj>
              </mc:Fallback>
            </mc:AlternateContent>
          </a:graphicData>
        </a:graphic>
      </p:graphicFrame>
      <p:graphicFrame>
        <p:nvGraphicFramePr>
          <p:cNvPr id="33" name="Content Placeholder 3">
            <a:extLst>
              <a:ext uri="{FF2B5EF4-FFF2-40B4-BE49-F238E27FC236}">
                <a16:creationId xmlns:a16="http://schemas.microsoft.com/office/drawing/2014/main" id="{4907A32F-2B40-497A-B62B-0380AD197925}"/>
              </a:ext>
            </a:extLst>
          </p:cNvPr>
          <p:cNvGraphicFramePr>
            <a:graphicFrameLocks noChangeAspect="1"/>
          </p:cNvGraphicFramePr>
          <p:nvPr/>
        </p:nvGraphicFramePr>
        <p:xfrm>
          <a:off x="3168728" y="1584706"/>
          <a:ext cx="942975" cy="425450"/>
        </p:xfrm>
        <a:graphic>
          <a:graphicData uri="http://schemas.openxmlformats.org/presentationml/2006/ole">
            <mc:AlternateContent xmlns:mc="http://schemas.openxmlformats.org/markup-compatibility/2006">
              <mc:Choice xmlns:v="urn:schemas-microsoft-com:vml" Requires="v">
                <p:oleObj spid="_x0000_s3076" name="Equation" r:id="rId7" imgW="393700" imgH="177800" progId="Equation.3">
                  <p:embed/>
                </p:oleObj>
              </mc:Choice>
              <mc:Fallback>
                <p:oleObj name="Equation" r:id="rId7" imgW="393700" imgH="177800" progId="Equation.3">
                  <p:embed/>
                  <p:pic>
                    <p:nvPicPr>
                      <p:cNvPr id="33" name="Content Placeholder 3">
                        <a:extLst>
                          <a:ext uri="{FF2B5EF4-FFF2-40B4-BE49-F238E27FC236}">
                            <a16:creationId xmlns:a16="http://schemas.microsoft.com/office/drawing/2014/main" id="{4907A32F-2B40-497A-B62B-0380AD197925}"/>
                          </a:ext>
                        </a:extLst>
                      </p:cNvPr>
                      <p:cNvPicPr/>
                      <p:nvPr/>
                    </p:nvPicPr>
                    <p:blipFill>
                      <a:blip r:embed="rId8"/>
                      <a:stretch>
                        <a:fillRect/>
                      </a:stretch>
                    </p:blipFill>
                    <p:spPr>
                      <a:xfrm>
                        <a:off x="3168728" y="1584706"/>
                        <a:ext cx="942975" cy="425450"/>
                      </a:xfrm>
                      <a:prstGeom prst="rect">
                        <a:avLst/>
                      </a:prstGeom>
                    </p:spPr>
                  </p:pic>
                </p:oleObj>
              </mc:Fallback>
            </mc:AlternateContent>
          </a:graphicData>
        </a:graphic>
      </p:graphicFrame>
      <p:cxnSp>
        <p:nvCxnSpPr>
          <p:cNvPr id="15" name="Conector recto de flecha 14">
            <a:extLst>
              <a:ext uri="{FF2B5EF4-FFF2-40B4-BE49-F238E27FC236}">
                <a16:creationId xmlns:a16="http://schemas.microsoft.com/office/drawing/2014/main" id="{9AC13B83-1DF7-4E7E-A6EC-0E618D2E1373}"/>
              </a:ext>
            </a:extLst>
          </p:cNvPr>
          <p:cNvCxnSpPr/>
          <p:nvPr/>
        </p:nvCxnSpPr>
        <p:spPr>
          <a:xfrm>
            <a:off x="4965935" y="2583421"/>
            <a:ext cx="0" cy="907383"/>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6" name="Elipse 15">
            <a:extLst>
              <a:ext uri="{FF2B5EF4-FFF2-40B4-BE49-F238E27FC236}">
                <a16:creationId xmlns:a16="http://schemas.microsoft.com/office/drawing/2014/main" id="{EB55AFA4-2F86-4593-9E8A-F61E75F96A3A}"/>
              </a:ext>
            </a:extLst>
          </p:cNvPr>
          <p:cNvSpPr/>
          <p:nvPr/>
        </p:nvSpPr>
        <p:spPr>
          <a:xfrm>
            <a:off x="4906655" y="3476515"/>
            <a:ext cx="118562" cy="112132"/>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Elipse 33">
            <a:extLst>
              <a:ext uri="{FF2B5EF4-FFF2-40B4-BE49-F238E27FC236}">
                <a16:creationId xmlns:a16="http://schemas.microsoft.com/office/drawing/2014/main" id="{4C910D88-19BF-4C95-8965-2A8C46DD61A0}"/>
              </a:ext>
            </a:extLst>
          </p:cNvPr>
          <p:cNvSpPr/>
          <p:nvPr/>
        </p:nvSpPr>
        <p:spPr>
          <a:xfrm>
            <a:off x="6607112" y="2305460"/>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5" name="Picture 4">
            <a:extLst>
              <a:ext uri="{FF2B5EF4-FFF2-40B4-BE49-F238E27FC236}">
                <a16:creationId xmlns:a16="http://schemas.microsoft.com/office/drawing/2014/main" id="{125C5CBE-C0A7-4B65-86E6-878D35301D15}"/>
              </a:ext>
            </a:extLst>
          </p:cNvPr>
          <p:cNvPicPr>
            <a:picLocks noChangeAspect="1"/>
          </p:cNvPicPr>
          <p:nvPr/>
        </p:nvPicPr>
        <p:blipFill rotWithShape="1">
          <a:blip r:embed="rId4">
            <a:extLst>
              <a:ext uri="{28A0092B-C50C-407E-A947-70E740481C1C}">
                <a14:useLocalDpi xmlns:a14="http://schemas.microsoft.com/office/drawing/2010/main" val="0"/>
              </a:ext>
            </a:extLst>
          </a:blip>
          <a:srcRect l="20230" t="54323" r="59843" b="1690"/>
          <a:stretch/>
        </p:blipFill>
        <p:spPr>
          <a:xfrm>
            <a:off x="10428803" y="3048369"/>
            <a:ext cx="938768" cy="884869"/>
          </a:xfrm>
          <a:prstGeom prst="rect">
            <a:avLst/>
          </a:prstGeom>
        </p:spPr>
      </p:pic>
      <p:pic>
        <p:nvPicPr>
          <p:cNvPr id="29" name="Picture 4">
            <a:extLst>
              <a:ext uri="{FF2B5EF4-FFF2-40B4-BE49-F238E27FC236}">
                <a16:creationId xmlns:a16="http://schemas.microsoft.com/office/drawing/2014/main" id="{2255D6F2-9B6A-49A8-AB7D-1C4E6BBFC265}"/>
              </a:ext>
            </a:extLst>
          </p:cNvPr>
          <p:cNvPicPr>
            <a:picLocks noChangeAspect="1"/>
          </p:cNvPicPr>
          <p:nvPr/>
        </p:nvPicPr>
        <p:blipFill rotWithShape="1">
          <a:blip r:embed="rId4">
            <a:extLst>
              <a:ext uri="{28A0092B-C50C-407E-A947-70E740481C1C}">
                <a14:useLocalDpi xmlns:a14="http://schemas.microsoft.com/office/drawing/2010/main" val="0"/>
              </a:ext>
            </a:extLst>
          </a:blip>
          <a:srcRect l="20704" r="59887" b="51906"/>
          <a:stretch/>
        </p:blipFill>
        <p:spPr>
          <a:xfrm>
            <a:off x="6742017" y="2071518"/>
            <a:ext cx="254752" cy="269546"/>
          </a:xfrm>
          <a:prstGeom prst="rect">
            <a:avLst/>
          </a:prstGeom>
        </p:spPr>
      </p:pic>
      <p:cxnSp>
        <p:nvCxnSpPr>
          <p:cNvPr id="30" name="Conector: curvado 17">
            <a:extLst>
              <a:ext uri="{FF2B5EF4-FFF2-40B4-BE49-F238E27FC236}">
                <a16:creationId xmlns:a16="http://schemas.microsoft.com/office/drawing/2014/main" id="{28F40616-D0B8-4618-9E69-23F1D636FFBF}"/>
              </a:ext>
            </a:extLst>
          </p:cNvPr>
          <p:cNvCxnSpPr/>
          <p:nvPr/>
        </p:nvCxnSpPr>
        <p:spPr>
          <a:xfrm>
            <a:off x="6895070" y="2417591"/>
            <a:ext cx="2384854" cy="1049509"/>
          </a:xfrm>
          <a:prstGeom prst="curvedConnector3">
            <a:avLst>
              <a:gd name="adj1" fmla="val 50000"/>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 name="Slide Number Placeholder 2"/>
          <p:cNvSpPr>
            <a:spLocks noGrp="1"/>
          </p:cNvSpPr>
          <p:nvPr>
            <p:ph type="sldNum" sz="quarter" idx="12"/>
          </p:nvPr>
        </p:nvSpPr>
        <p:spPr/>
        <p:txBody>
          <a:bodyPr/>
          <a:lstStyle/>
          <a:p>
            <a:fld id="{81B7CCDB-6D39-0547-B7B3-C80E39D6513A}" type="slidenum">
              <a:rPr lang="en-US" smtClean="0"/>
              <a:pPr/>
              <a:t>43</a:t>
            </a:fld>
            <a:endParaRPr lang="en-US"/>
          </a:p>
        </p:txBody>
      </p:sp>
    </p:spTree>
    <p:extLst>
      <p:ext uri="{BB962C8B-B14F-4D97-AF65-F5344CB8AC3E}">
        <p14:creationId xmlns:p14="http://schemas.microsoft.com/office/powerpoint/2010/main" val="422493586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9292" y="160260"/>
            <a:ext cx="11493416" cy="767276"/>
          </a:xfrm>
        </p:spPr>
        <p:txBody>
          <a:bodyPr/>
          <a:lstStyle/>
          <a:p>
            <a:r>
              <a:rPr lang="en-US"/>
              <a:t>Blending Latent Variables</a:t>
            </a:r>
          </a:p>
        </p:txBody>
      </p:sp>
      <p:pic>
        <p:nvPicPr>
          <p:cNvPr id="27" name="Picture 3">
            <a:extLst>
              <a:ext uri="{FF2B5EF4-FFF2-40B4-BE49-F238E27FC236}">
                <a16:creationId xmlns:a16="http://schemas.microsoft.com/office/drawing/2014/main" id="{3F7EF02D-39D9-4C5E-8150-92E66E1BBD87}"/>
              </a:ext>
            </a:extLst>
          </p:cNvPr>
          <p:cNvPicPr>
            <a:picLocks noChangeAspect="1"/>
          </p:cNvPicPr>
          <p:nvPr/>
        </p:nvPicPr>
        <p:blipFill rotWithShape="1">
          <a:blip r:embed="rId3">
            <a:extLst>
              <a:ext uri="{28A0092B-C50C-407E-A947-70E740481C1C}">
                <a14:useLocalDpi xmlns:a14="http://schemas.microsoft.com/office/drawing/2010/main" val="0"/>
              </a:ext>
            </a:extLst>
          </a:blip>
          <a:srcRect l="71777" t="-2162" r="8791" b="78285"/>
          <a:stretch/>
        </p:blipFill>
        <p:spPr>
          <a:xfrm>
            <a:off x="4111703" y="1816145"/>
            <a:ext cx="1758751" cy="767276"/>
          </a:xfrm>
          <a:prstGeom prst="rect">
            <a:avLst/>
          </a:prstGeom>
        </p:spPr>
      </p:pic>
      <p:pic>
        <p:nvPicPr>
          <p:cNvPr id="28" name="Picture 3">
            <a:extLst>
              <a:ext uri="{FF2B5EF4-FFF2-40B4-BE49-F238E27FC236}">
                <a16:creationId xmlns:a16="http://schemas.microsoft.com/office/drawing/2014/main" id="{57FEDE17-5EEE-4D1A-8E53-F32F065CB546}"/>
              </a:ext>
            </a:extLst>
          </p:cNvPr>
          <p:cNvPicPr>
            <a:picLocks noChangeAspect="1"/>
          </p:cNvPicPr>
          <p:nvPr/>
        </p:nvPicPr>
        <p:blipFill rotWithShape="1">
          <a:blip r:embed="rId3">
            <a:extLst>
              <a:ext uri="{28A0092B-C50C-407E-A947-70E740481C1C}">
                <a14:useLocalDpi xmlns:a14="http://schemas.microsoft.com/office/drawing/2010/main" val="0"/>
              </a:ext>
            </a:extLst>
          </a:blip>
          <a:srcRect l="50857" t="23883" r="28858" b="50073"/>
          <a:stretch/>
        </p:blipFill>
        <p:spPr>
          <a:xfrm>
            <a:off x="3810233" y="2731765"/>
            <a:ext cx="1835902" cy="836937"/>
          </a:xfrm>
          <a:prstGeom prst="rect">
            <a:avLst/>
          </a:prstGeom>
        </p:spPr>
      </p:pic>
      <p:sp>
        <p:nvSpPr>
          <p:cNvPr id="9" name="Rectángulo 8">
            <a:extLst>
              <a:ext uri="{FF2B5EF4-FFF2-40B4-BE49-F238E27FC236}">
                <a16:creationId xmlns:a16="http://schemas.microsoft.com/office/drawing/2014/main" id="{C5767CAC-93DA-4409-9752-3CF4B526EF1F}"/>
              </a:ext>
            </a:extLst>
          </p:cNvPr>
          <p:cNvSpPr/>
          <p:nvPr/>
        </p:nvSpPr>
        <p:spPr>
          <a:xfrm>
            <a:off x="5695120" y="1628974"/>
            <a:ext cx="3474720" cy="3826413"/>
          </a:xfrm>
          <a:prstGeom prst="rect">
            <a:avLst/>
          </a:prstGeom>
          <a:solidFill>
            <a:schemeClr val="bg1"/>
          </a:solid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TextBox 7">
            <a:extLst>
              <a:ext uri="{FF2B5EF4-FFF2-40B4-BE49-F238E27FC236}">
                <a16:creationId xmlns:a16="http://schemas.microsoft.com/office/drawing/2014/main" id="{75471C91-6907-43BD-81A0-789B29243A94}"/>
              </a:ext>
            </a:extLst>
          </p:cNvPr>
          <p:cNvSpPr txBox="1"/>
          <p:nvPr/>
        </p:nvSpPr>
        <p:spPr>
          <a:xfrm>
            <a:off x="5791620" y="1105754"/>
            <a:ext cx="3281720" cy="523220"/>
          </a:xfrm>
          <a:prstGeom prst="rect">
            <a:avLst/>
          </a:prstGeom>
          <a:noFill/>
        </p:spPr>
        <p:txBody>
          <a:bodyPr wrap="square" rtlCol="0">
            <a:spAutoFit/>
          </a:bodyPr>
          <a:lstStyle/>
          <a:p>
            <a:pPr algn="ctr"/>
            <a:r>
              <a:rPr lang="en-US" sz="2800"/>
              <a:t>Latent Space</a:t>
            </a:r>
            <a:endParaRPr lang="en-US" sz="2800" i="1"/>
          </a:p>
        </p:txBody>
      </p:sp>
      <p:cxnSp>
        <p:nvCxnSpPr>
          <p:cNvPr id="20" name="Straight Arrow Connector 24">
            <a:extLst>
              <a:ext uri="{FF2B5EF4-FFF2-40B4-BE49-F238E27FC236}">
                <a16:creationId xmlns:a16="http://schemas.microsoft.com/office/drawing/2014/main" id="{8357E5F4-CE4A-4BE0-BE18-5A16157A4168}"/>
              </a:ext>
            </a:extLst>
          </p:cNvPr>
          <p:cNvCxnSpPr/>
          <p:nvPr/>
        </p:nvCxnSpPr>
        <p:spPr>
          <a:xfrm flipV="1">
            <a:off x="2863460" y="2898253"/>
            <a:ext cx="528203" cy="413431"/>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21" name="Rectangle 26">
            <a:extLst>
              <a:ext uri="{FF2B5EF4-FFF2-40B4-BE49-F238E27FC236}">
                <a16:creationId xmlns:a16="http://schemas.microsoft.com/office/drawing/2014/main" id="{7663EC45-4979-4427-95AC-41C2528EF079}"/>
              </a:ext>
            </a:extLst>
          </p:cNvPr>
          <p:cNvSpPr/>
          <p:nvPr/>
        </p:nvSpPr>
        <p:spPr>
          <a:xfrm>
            <a:off x="3417538" y="2024970"/>
            <a:ext cx="400704" cy="1131570"/>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3600" i="1"/>
          </a:p>
        </p:txBody>
      </p:sp>
      <p:sp>
        <p:nvSpPr>
          <p:cNvPr id="22" name="Rectangle 29">
            <a:extLst>
              <a:ext uri="{FF2B5EF4-FFF2-40B4-BE49-F238E27FC236}">
                <a16:creationId xmlns:a16="http://schemas.microsoft.com/office/drawing/2014/main" id="{3926F3BB-EA7C-4C8B-8D46-66C95DFD8443}"/>
              </a:ext>
            </a:extLst>
          </p:cNvPr>
          <p:cNvSpPr/>
          <p:nvPr/>
        </p:nvSpPr>
        <p:spPr>
          <a:xfrm>
            <a:off x="3412674" y="3791651"/>
            <a:ext cx="400704" cy="1131570"/>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3600" i="1"/>
          </a:p>
        </p:txBody>
      </p:sp>
      <p:cxnSp>
        <p:nvCxnSpPr>
          <p:cNvPr id="23" name="Straight Arrow Connector 30">
            <a:extLst>
              <a:ext uri="{FF2B5EF4-FFF2-40B4-BE49-F238E27FC236}">
                <a16:creationId xmlns:a16="http://schemas.microsoft.com/office/drawing/2014/main" id="{8E64302A-A018-4292-B980-CFFE03B6B1B2}"/>
              </a:ext>
            </a:extLst>
          </p:cNvPr>
          <p:cNvCxnSpPr/>
          <p:nvPr/>
        </p:nvCxnSpPr>
        <p:spPr>
          <a:xfrm>
            <a:off x="2865164" y="3636277"/>
            <a:ext cx="504971" cy="349139"/>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32">
            <a:extLst>
              <a:ext uri="{FF2B5EF4-FFF2-40B4-BE49-F238E27FC236}">
                <a16:creationId xmlns:a16="http://schemas.microsoft.com/office/drawing/2014/main" id="{F6A71B2E-AE58-4208-8D0E-7963C9D780BF}"/>
              </a:ext>
            </a:extLst>
          </p:cNvPr>
          <p:cNvCxnSpPr>
            <a:cxnSpLocks/>
            <a:endCxn id="28" idx="2"/>
          </p:cNvCxnSpPr>
          <p:nvPr/>
        </p:nvCxnSpPr>
        <p:spPr>
          <a:xfrm flipV="1">
            <a:off x="3856435" y="3568702"/>
            <a:ext cx="871749" cy="451238"/>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33">
            <a:extLst>
              <a:ext uri="{FF2B5EF4-FFF2-40B4-BE49-F238E27FC236}">
                <a16:creationId xmlns:a16="http://schemas.microsoft.com/office/drawing/2014/main" id="{56F9D3A5-9A1C-4760-9D58-305A9F7235AC}"/>
              </a:ext>
            </a:extLst>
          </p:cNvPr>
          <p:cNvCxnSpPr>
            <a:cxnSpLocks/>
          </p:cNvCxnSpPr>
          <p:nvPr/>
        </p:nvCxnSpPr>
        <p:spPr>
          <a:xfrm>
            <a:off x="3859218" y="2898253"/>
            <a:ext cx="577147" cy="444125"/>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graphicFrame>
        <p:nvGraphicFramePr>
          <p:cNvPr id="26" name="Content Placeholder 3">
            <a:extLst>
              <a:ext uri="{FF2B5EF4-FFF2-40B4-BE49-F238E27FC236}">
                <a16:creationId xmlns:a16="http://schemas.microsoft.com/office/drawing/2014/main" id="{34762B13-0B39-4FE9-9CDA-DD9EF92FBF1C}"/>
              </a:ext>
            </a:extLst>
          </p:cNvPr>
          <p:cNvGraphicFramePr>
            <a:graphicFrameLocks noChangeAspect="1"/>
          </p:cNvGraphicFramePr>
          <p:nvPr/>
        </p:nvGraphicFramePr>
        <p:xfrm>
          <a:off x="2955007" y="4952849"/>
          <a:ext cx="1316037" cy="468492"/>
        </p:xfrm>
        <a:graphic>
          <a:graphicData uri="http://schemas.openxmlformats.org/presentationml/2006/ole">
            <mc:AlternateContent xmlns:mc="http://schemas.openxmlformats.org/markup-compatibility/2006">
              <mc:Choice xmlns:v="urn:schemas-microsoft-com:vml" Requires="v">
                <p:oleObj spid="_x0000_s4099" name="Equation" r:id="rId4" imgW="533400" imgH="190500" progId="Equation.3">
                  <p:embed/>
                </p:oleObj>
              </mc:Choice>
              <mc:Fallback>
                <p:oleObj name="Equation" r:id="rId4" imgW="533400" imgH="190500" progId="Equation.3">
                  <p:embed/>
                  <p:pic>
                    <p:nvPicPr>
                      <p:cNvPr id="26" name="Content Placeholder 3">
                        <a:extLst>
                          <a:ext uri="{FF2B5EF4-FFF2-40B4-BE49-F238E27FC236}">
                            <a16:creationId xmlns:a16="http://schemas.microsoft.com/office/drawing/2014/main" id="{34762B13-0B39-4FE9-9CDA-DD9EF92FBF1C}"/>
                          </a:ext>
                        </a:extLst>
                      </p:cNvPr>
                      <p:cNvPicPr/>
                      <p:nvPr/>
                    </p:nvPicPr>
                    <p:blipFill>
                      <a:blip r:embed="rId5"/>
                      <a:stretch>
                        <a:fillRect/>
                      </a:stretch>
                    </p:blipFill>
                    <p:spPr>
                      <a:xfrm>
                        <a:off x="2955007" y="4952849"/>
                        <a:ext cx="1316037" cy="468492"/>
                      </a:xfrm>
                      <a:prstGeom prst="rect">
                        <a:avLst/>
                      </a:prstGeom>
                    </p:spPr>
                  </p:pic>
                </p:oleObj>
              </mc:Fallback>
            </mc:AlternateContent>
          </a:graphicData>
        </a:graphic>
      </p:graphicFrame>
      <p:graphicFrame>
        <p:nvGraphicFramePr>
          <p:cNvPr id="33" name="Content Placeholder 3">
            <a:extLst>
              <a:ext uri="{FF2B5EF4-FFF2-40B4-BE49-F238E27FC236}">
                <a16:creationId xmlns:a16="http://schemas.microsoft.com/office/drawing/2014/main" id="{4907A32F-2B40-497A-B62B-0380AD197925}"/>
              </a:ext>
            </a:extLst>
          </p:cNvPr>
          <p:cNvGraphicFramePr>
            <a:graphicFrameLocks noChangeAspect="1"/>
          </p:cNvGraphicFramePr>
          <p:nvPr/>
        </p:nvGraphicFramePr>
        <p:xfrm>
          <a:off x="3168728" y="1584706"/>
          <a:ext cx="942975" cy="425450"/>
        </p:xfrm>
        <a:graphic>
          <a:graphicData uri="http://schemas.openxmlformats.org/presentationml/2006/ole">
            <mc:AlternateContent xmlns:mc="http://schemas.openxmlformats.org/markup-compatibility/2006">
              <mc:Choice xmlns:v="urn:schemas-microsoft-com:vml" Requires="v">
                <p:oleObj spid="_x0000_s4100" name="Equation" r:id="rId6" imgW="393700" imgH="177800" progId="Equation.3">
                  <p:embed/>
                </p:oleObj>
              </mc:Choice>
              <mc:Fallback>
                <p:oleObj name="Equation" r:id="rId6" imgW="393700" imgH="177800" progId="Equation.3">
                  <p:embed/>
                  <p:pic>
                    <p:nvPicPr>
                      <p:cNvPr id="33" name="Content Placeholder 3">
                        <a:extLst>
                          <a:ext uri="{FF2B5EF4-FFF2-40B4-BE49-F238E27FC236}">
                            <a16:creationId xmlns:a16="http://schemas.microsoft.com/office/drawing/2014/main" id="{4907A32F-2B40-497A-B62B-0380AD197925}"/>
                          </a:ext>
                        </a:extLst>
                      </p:cNvPr>
                      <p:cNvPicPr/>
                      <p:nvPr/>
                    </p:nvPicPr>
                    <p:blipFill>
                      <a:blip r:embed="rId7"/>
                      <a:stretch>
                        <a:fillRect/>
                      </a:stretch>
                    </p:blipFill>
                    <p:spPr>
                      <a:xfrm>
                        <a:off x="3168728" y="1584706"/>
                        <a:ext cx="942975" cy="425450"/>
                      </a:xfrm>
                      <a:prstGeom prst="rect">
                        <a:avLst/>
                      </a:prstGeom>
                    </p:spPr>
                  </p:pic>
                </p:oleObj>
              </mc:Fallback>
            </mc:AlternateContent>
          </a:graphicData>
        </a:graphic>
      </p:graphicFrame>
      <p:cxnSp>
        <p:nvCxnSpPr>
          <p:cNvPr id="15" name="Conector recto de flecha 14">
            <a:extLst>
              <a:ext uri="{FF2B5EF4-FFF2-40B4-BE49-F238E27FC236}">
                <a16:creationId xmlns:a16="http://schemas.microsoft.com/office/drawing/2014/main" id="{9AC13B83-1DF7-4E7E-A6EC-0E618D2E1373}"/>
              </a:ext>
            </a:extLst>
          </p:cNvPr>
          <p:cNvCxnSpPr/>
          <p:nvPr/>
        </p:nvCxnSpPr>
        <p:spPr>
          <a:xfrm>
            <a:off x="4794485" y="2583421"/>
            <a:ext cx="0" cy="907383"/>
          </a:xfrm>
          <a:prstGeom prst="straightConnector1">
            <a:avLst/>
          </a:prstGeom>
          <a:ln w="38100">
            <a:solidFill>
              <a:srgbClr val="00B0F0"/>
            </a:solidFill>
            <a:tailEnd type="triangle"/>
          </a:ln>
        </p:spPr>
        <p:style>
          <a:lnRef idx="2">
            <a:schemeClr val="accent1"/>
          </a:lnRef>
          <a:fillRef idx="0">
            <a:schemeClr val="accent1"/>
          </a:fillRef>
          <a:effectRef idx="1">
            <a:schemeClr val="accent1"/>
          </a:effectRef>
          <a:fontRef idx="minor">
            <a:schemeClr val="tx1"/>
          </a:fontRef>
        </p:style>
      </p:cxnSp>
      <p:sp>
        <p:nvSpPr>
          <p:cNvPr id="16" name="Elipse 15">
            <a:extLst>
              <a:ext uri="{FF2B5EF4-FFF2-40B4-BE49-F238E27FC236}">
                <a16:creationId xmlns:a16="http://schemas.microsoft.com/office/drawing/2014/main" id="{EB55AFA4-2F86-4593-9E8A-F61E75F96A3A}"/>
              </a:ext>
            </a:extLst>
          </p:cNvPr>
          <p:cNvSpPr/>
          <p:nvPr/>
        </p:nvSpPr>
        <p:spPr>
          <a:xfrm>
            <a:off x="4735205" y="3476515"/>
            <a:ext cx="118562" cy="112132"/>
          </a:xfrm>
          <a:prstGeom prst="ellipse">
            <a:avLst/>
          </a:prstGeom>
          <a:solidFill>
            <a:srgbClr val="00B0F0"/>
          </a:solidFill>
          <a:ln>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Elipse 33">
            <a:extLst>
              <a:ext uri="{FF2B5EF4-FFF2-40B4-BE49-F238E27FC236}">
                <a16:creationId xmlns:a16="http://schemas.microsoft.com/office/drawing/2014/main" id="{4C910D88-19BF-4C95-8965-2A8C46DD61A0}"/>
              </a:ext>
            </a:extLst>
          </p:cNvPr>
          <p:cNvSpPr/>
          <p:nvPr/>
        </p:nvSpPr>
        <p:spPr>
          <a:xfrm>
            <a:off x="6607112" y="2305460"/>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8" name="Conector: curvado 17">
            <a:extLst>
              <a:ext uri="{FF2B5EF4-FFF2-40B4-BE49-F238E27FC236}">
                <a16:creationId xmlns:a16="http://schemas.microsoft.com/office/drawing/2014/main" id="{28F40616-D0B8-4618-9E69-23F1D636FFBF}"/>
              </a:ext>
            </a:extLst>
          </p:cNvPr>
          <p:cNvCxnSpPr>
            <a:cxnSpLocks/>
            <a:stCxn id="16" idx="5"/>
            <a:endCxn id="31" idx="4"/>
          </p:cNvCxnSpPr>
          <p:nvPr/>
        </p:nvCxnSpPr>
        <p:spPr>
          <a:xfrm rot="5400000" flipH="1" flipV="1">
            <a:off x="5383398" y="2022997"/>
            <a:ext cx="1002234" cy="2096223"/>
          </a:xfrm>
          <a:prstGeom prst="curvedConnector3">
            <a:avLst>
              <a:gd name="adj1" fmla="val -24447"/>
            </a:avLst>
          </a:prstGeom>
          <a:ln w="38100">
            <a:solidFill>
              <a:srgbClr val="00B0F0"/>
            </a:solidFill>
            <a:tailEnd type="triangle"/>
          </a:ln>
        </p:spPr>
        <p:style>
          <a:lnRef idx="2">
            <a:schemeClr val="accent1"/>
          </a:lnRef>
          <a:fillRef idx="0">
            <a:schemeClr val="accent1"/>
          </a:fillRef>
          <a:effectRef idx="1">
            <a:schemeClr val="accent1"/>
          </a:effectRef>
          <a:fontRef idx="minor">
            <a:schemeClr val="tx1"/>
          </a:fontRef>
        </p:style>
      </p:cxnSp>
      <p:pic>
        <p:nvPicPr>
          <p:cNvPr id="3" name="Imagen 2">
            <a:extLst>
              <a:ext uri="{FF2B5EF4-FFF2-40B4-BE49-F238E27FC236}">
                <a16:creationId xmlns:a16="http://schemas.microsoft.com/office/drawing/2014/main" id="{B681C96D-876A-4292-8ADA-8FFE9B332880}"/>
              </a:ext>
            </a:extLst>
          </p:cNvPr>
          <p:cNvPicPr>
            <a:picLocks/>
          </p:cNvPicPr>
          <p:nvPr/>
        </p:nvPicPr>
        <p:blipFill>
          <a:blip r:embed="rId8"/>
          <a:stretch>
            <a:fillRect/>
          </a:stretch>
        </p:blipFill>
        <p:spPr>
          <a:xfrm>
            <a:off x="595888" y="3085607"/>
            <a:ext cx="914400" cy="914400"/>
          </a:xfrm>
          <a:prstGeom prst="rect">
            <a:avLst/>
          </a:prstGeom>
        </p:spPr>
      </p:pic>
      <p:sp>
        <p:nvSpPr>
          <p:cNvPr id="31" name="Elipse 30">
            <a:extLst>
              <a:ext uri="{FF2B5EF4-FFF2-40B4-BE49-F238E27FC236}">
                <a16:creationId xmlns:a16="http://schemas.microsoft.com/office/drawing/2014/main" id="{9F6EA63A-3E39-4D98-AEF0-F435190FC74E}"/>
              </a:ext>
            </a:extLst>
          </p:cNvPr>
          <p:cNvSpPr/>
          <p:nvPr/>
        </p:nvSpPr>
        <p:spPr>
          <a:xfrm>
            <a:off x="6873346" y="2457860"/>
            <a:ext cx="118562" cy="112132"/>
          </a:xfrm>
          <a:prstGeom prst="ellipse">
            <a:avLst/>
          </a:prstGeom>
          <a:solidFill>
            <a:srgbClr val="00B0F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2" name="Imagen 31">
            <a:extLst>
              <a:ext uri="{FF2B5EF4-FFF2-40B4-BE49-F238E27FC236}">
                <a16:creationId xmlns:a16="http://schemas.microsoft.com/office/drawing/2014/main" id="{8F6FCE1C-F5E3-4A72-9562-4315B1CB4343}"/>
              </a:ext>
            </a:extLst>
          </p:cNvPr>
          <p:cNvPicPr>
            <a:picLocks noChangeAspect="1"/>
          </p:cNvPicPr>
          <p:nvPr/>
        </p:nvPicPr>
        <p:blipFill>
          <a:blip r:embed="rId8"/>
          <a:stretch>
            <a:fillRect/>
          </a:stretch>
        </p:blipFill>
        <p:spPr>
          <a:xfrm>
            <a:off x="6962489" y="2254444"/>
            <a:ext cx="236612" cy="231578"/>
          </a:xfrm>
          <a:prstGeom prst="rect">
            <a:avLst/>
          </a:prstGeom>
        </p:spPr>
      </p:pic>
      <p:pic>
        <p:nvPicPr>
          <p:cNvPr id="36" name="Picture 4">
            <a:extLst>
              <a:ext uri="{FF2B5EF4-FFF2-40B4-BE49-F238E27FC236}">
                <a16:creationId xmlns:a16="http://schemas.microsoft.com/office/drawing/2014/main" id="{C5999395-D9F8-4695-BC0F-702D2CC12A9F}"/>
              </a:ext>
            </a:extLst>
          </p:cNvPr>
          <p:cNvPicPr>
            <a:picLocks noChangeAspect="1"/>
          </p:cNvPicPr>
          <p:nvPr/>
        </p:nvPicPr>
        <p:blipFill rotWithShape="1">
          <a:blip r:embed="rId9">
            <a:extLst>
              <a:ext uri="{28A0092B-C50C-407E-A947-70E740481C1C}">
                <a14:useLocalDpi xmlns:a14="http://schemas.microsoft.com/office/drawing/2010/main" val="0"/>
              </a:ext>
            </a:extLst>
          </a:blip>
          <a:srcRect l="20704" r="59887" b="51906"/>
          <a:stretch/>
        </p:blipFill>
        <p:spPr>
          <a:xfrm>
            <a:off x="6742017" y="2071518"/>
            <a:ext cx="254752" cy="269546"/>
          </a:xfrm>
          <a:prstGeom prst="rect">
            <a:avLst/>
          </a:prstGeom>
        </p:spPr>
      </p:pic>
      <p:sp>
        <p:nvSpPr>
          <p:cNvPr id="29" name="Trapezoid 10">
            <a:extLst>
              <a:ext uri="{FF2B5EF4-FFF2-40B4-BE49-F238E27FC236}">
                <a16:creationId xmlns:a16="http://schemas.microsoft.com/office/drawing/2014/main" id="{8FB8083F-439F-498E-AA81-4B2F6F076C5F}"/>
              </a:ext>
            </a:extLst>
          </p:cNvPr>
          <p:cNvSpPr/>
          <p:nvPr/>
        </p:nvSpPr>
        <p:spPr>
          <a:xfrm rot="5400000" flipV="1">
            <a:off x="8792250" y="3031998"/>
            <a:ext cx="2146430" cy="917619"/>
          </a:xfrm>
          <a:prstGeom prst="trapezoid">
            <a:avLst/>
          </a:prstGeom>
          <a:solidFill>
            <a:schemeClr val="tx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lumMod val="75000"/>
                    <a:lumOff val="25000"/>
                  </a:schemeClr>
                </a:solidFill>
              </a:rPr>
              <a:t>DECODER</a:t>
            </a:r>
          </a:p>
        </p:txBody>
      </p:sp>
      <p:sp>
        <p:nvSpPr>
          <p:cNvPr id="30" name="Trapezoid 10">
            <a:extLst>
              <a:ext uri="{FF2B5EF4-FFF2-40B4-BE49-F238E27FC236}">
                <a16:creationId xmlns:a16="http://schemas.microsoft.com/office/drawing/2014/main" id="{642CC940-2DB2-46FE-A90F-E6E40F75F0AD}"/>
              </a:ext>
            </a:extLst>
          </p:cNvPr>
          <p:cNvSpPr/>
          <p:nvPr/>
        </p:nvSpPr>
        <p:spPr>
          <a:xfrm rot="16200000" flipH="1" flipV="1">
            <a:off x="1228782" y="3033606"/>
            <a:ext cx="2146430" cy="914401"/>
          </a:xfrm>
          <a:prstGeom prst="trapezoid">
            <a:avLst/>
          </a:prstGeom>
          <a:solidFill>
            <a:schemeClr val="tx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lumMod val="75000"/>
                    <a:lumOff val="25000"/>
                  </a:schemeClr>
                </a:solidFill>
              </a:rPr>
              <a:t>ENCODER</a:t>
            </a:r>
          </a:p>
        </p:txBody>
      </p:sp>
      <p:pic>
        <p:nvPicPr>
          <p:cNvPr id="11" name="Picture 4">
            <a:extLst>
              <a:ext uri="{FF2B5EF4-FFF2-40B4-BE49-F238E27FC236}">
                <a16:creationId xmlns:a16="http://schemas.microsoft.com/office/drawing/2014/main" id="{B5492FC1-0CED-4171-A0A8-6FFD665124D3}"/>
              </a:ext>
            </a:extLst>
          </p:cNvPr>
          <p:cNvPicPr>
            <a:picLocks/>
          </p:cNvPicPr>
          <p:nvPr/>
        </p:nvPicPr>
        <p:blipFill rotWithShape="1">
          <a:blip r:embed="rId9">
            <a:extLst>
              <a:ext uri="{28A0092B-C50C-407E-A947-70E740481C1C}">
                <a14:useLocalDpi xmlns:a14="http://schemas.microsoft.com/office/drawing/2010/main" val="0"/>
              </a:ext>
            </a:extLst>
          </a:blip>
          <a:srcRect l="20704" r="59887" b="51906"/>
          <a:stretch/>
        </p:blipFill>
        <p:spPr>
          <a:xfrm>
            <a:off x="572461" y="2010155"/>
            <a:ext cx="978873" cy="1058859"/>
          </a:xfrm>
          <a:prstGeom prst="rect">
            <a:avLst/>
          </a:prstGeom>
        </p:spPr>
      </p:pic>
      <p:sp>
        <p:nvSpPr>
          <p:cNvPr id="4" name="Slide Number Placeholder 3"/>
          <p:cNvSpPr>
            <a:spLocks noGrp="1"/>
          </p:cNvSpPr>
          <p:nvPr>
            <p:ph type="sldNum" sz="quarter" idx="12"/>
          </p:nvPr>
        </p:nvSpPr>
        <p:spPr/>
        <p:txBody>
          <a:bodyPr/>
          <a:lstStyle/>
          <a:p>
            <a:fld id="{81B7CCDB-6D39-0547-B7B3-C80E39D6513A}" type="slidenum">
              <a:rPr lang="en-US" smtClean="0"/>
              <a:pPr/>
              <a:t>44</a:t>
            </a:fld>
            <a:endParaRPr lang="en-US"/>
          </a:p>
        </p:txBody>
      </p:sp>
    </p:spTree>
    <p:extLst>
      <p:ext uri="{BB962C8B-B14F-4D97-AF65-F5344CB8AC3E}">
        <p14:creationId xmlns:p14="http://schemas.microsoft.com/office/powerpoint/2010/main" val="8016519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9292" y="160260"/>
            <a:ext cx="11493416" cy="767276"/>
          </a:xfrm>
        </p:spPr>
        <p:txBody>
          <a:bodyPr/>
          <a:lstStyle/>
          <a:p>
            <a:r>
              <a:rPr lang="en-US"/>
              <a:t>Blending Latent Variables</a:t>
            </a:r>
          </a:p>
        </p:txBody>
      </p:sp>
      <p:pic>
        <p:nvPicPr>
          <p:cNvPr id="27" name="Picture 3">
            <a:extLst>
              <a:ext uri="{FF2B5EF4-FFF2-40B4-BE49-F238E27FC236}">
                <a16:creationId xmlns:a16="http://schemas.microsoft.com/office/drawing/2014/main" id="{3F7EF02D-39D9-4C5E-8150-92E66E1BBD87}"/>
              </a:ext>
            </a:extLst>
          </p:cNvPr>
          <p:cNvPicPr>
            <a:picLocks noChangeAspect="1"/>
          </p:cNvPicPr>
          <p:nvPr/>
        </p:nvPicPr>
        <p:blipFill rotWithShape="1">
          <a:blip r:embed="rId3">
            <a:extLst>
              <a:ext uri="{28A0092B-C50C-407E-A947-70E740481C1C}">
                <a14:useLocalDpi xmlns:a14="http://schemas.microsoft.com/office/drawing/2010/main" val="0"/>
              </a:ext>
            </a:extLst>
          </a:blip>
          <a:srcRect l="71777" t="-2162" r="8791" b="78285"/>
          <a:stretch/>
        </p:blipFill>
        <p:spPr>
          <a:xfrm>
            <a:off x="4111703" y="1816145"/>
            <a:ext cx="1758751" cy="767276"/>
          </a:xfrm>
          <a:prstGeom prst="rect">
            <a:avLst/>
          </a:prstGeom>
        </p:spPr>
      </p:pic>
      <p:pic>
        <p:nvPicPr>
          <p:cNvPr id="28" name="Picture 3">
            <a:extLst>
              <a:ext uri="{FF2B5EF4-FFF2-40B4-BE49-F238E27FC236}">
                <a16:creationId xmlns:a16="http://schemas.microsoft.com/office/drawing/2014/main" id="{57FEDE17-5EEE-4D1A-8E53-F32F065CB546}"/>
              </a:ext>
            </a:extLst>
          </p:cNvPr>
          <p:cNvPicPr>
            <a:picLocks noChangeAspect="1"/>
          </p:cNvPicPr>
          <p:nvPr/>
        </p:nvPicPr>
        <p:blipFill rotWithShape="1">
          <a:blip r:embed="rId3">
            <a:extLst>
              <a:ext uri="{28A0092B-C50C-407E-A947-70E740481C1C}">
                <a14:useLocalDpi xmlns:a14="http://schemas.microsoft.com/office/drawing/2010/main" val="0"/>
              </a:ext>
            </a:extLst>
          </a:blip>
          <a:srcRect l="50857" t="23883" r="28858" b="50073"/>
          <a:stretch/>
        </p:blipFill>
        <p:spPr>
          <a:xfrm>
            <a:off x="3810233" y="2731765"/>
            <a:ext cx="1835902" cy="836937"/>
          </a:xfrm>
          <a:prstGeom prst="rect">
            <a:avLst/>
          </a:prstGeom>
        </p:spPr>
      </p:pic>
      <p:sp>
        <p:nvSpPr>
          <p:cNvPr id="9" name="Rectángulo 8">
            <a:extLst>
              <a:ext uri="{FF2B5EF4-FFF2-40B4-BE49-F238E27FC236}">
                <a16:creationId xmlns:a16="http://schemas.microsoft.com/office/drawing/2014/main" id="{C5767CAC-93DA-4409-9752-3CF4B526EF1F}"/>
              </a:ext>
            </a:extLst>
          </p:cNvPr>
          <p:cNvSpPr/>
          <p:nvPr/>
        </p:nvSpPr>
        <p:spPr>
          <a:xfrm>
            <a:off x="5695120" y="1628974"/>
            <a:ext cx="3474720" cy="3826413"/>
          </a:xfrm>
          <a:prstGeom prst="rect">
            <a:avLst/>
          </a:prstGeom>
          <a:solidFill>
            <a:schemeClr val="bg1"/>
          </a:solid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TextBox 7">
            <a:extLst>
              <a:ext uri="{FF2B5EF4-FFF2-40B4-BE49-F238E27FC236}">
                <a16:creationId xmlns:a16="http://schemas.microsoft.com/office/drawing/2014/main" id="{75471C91-6907-43BD-81A0-789B29243A94}"/>
              </a:ext>
            </a:extLst>
          </p:cNvPr>
          <p:cNvSpPr txBox="1"/>
          <p:nvPr/>
        </p:nvSpPr>
        <p:spPr>
          <a:xfrm>
            <a:off x="5791620" y="1105754"/>
            <a:ext cx="3281720" cy="523220"/>
          </a:xfrm>
          <a:prstGeom prst="rect">
            <a:avLst/>
          </a:prstGeom>
          <a:noFill/>
        </p:spPr>
        <p:txBody>
          <a:bodyPr wrap="square" rtlCol="0">
            <a:spAutoFit/>
          </a:bodyPr>
          <a:lstStyle/>
          <a:p>
            <a:pPr algn="ctr"/>
            <a:r>
              <a:rPr lang="en-US" sz="2800"/>
              <a:t>Latent Space</a:t>
            </a:r>
            <a:endParaRPr lang="en-US" sz="2800" i="1"/>
          </a:p>
        </p:txBody>
      </p:sp>
      <p:cxnSp>
        <p:nvCxnSpPr>
          <p:cNvPr id="20" name="Straight Arrow Connector 24">
            <a:extLst>
              <a:ext uri="{FF2B5EF4-FFF2-40B4-BE49-F238E27FC236}">
                <a16:creationId xmlns:a16="http://schemas.microsoft.com/office/drawing/2014/main" id="{8357E5F4-CE4A-4BE0-BE18-5A16157A4168}"/>
              </a:ext>
            </a:extLst>
          </p:cNvPr>
          <p:cNvCxnSpPr/>
          <p:nvPr/>
        </p:nvCxnSpPr>
        <p:spPr>
          <a:xfrm flipV="1">
            <a:off x="2863460" y="2898253"/>
            <a:ext cx="528203" cy="413431"/>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21" name="Rectangle 26">
            <a:extLst>
              <a:ext uri="{FF2B5EF4-FFF2-40B4-BE49-F238E27FC236}">
                <a16:creationId xmlns:a16="http://schemas.microsoft.com/office/drawing/2014/main" id="{7663EC45-4979-4427-95AC-41C2528EF079}"/>
              </a:ext>
            </a:extLst>
          </p:cNvPr>
          <p:cNvSpPr/>
          <p:nvPr/>
        </p:nvSpPr>
        <p:spPr>
          <a:xfrm>
            <a:off x="3417538" y="2024970"/>
            <a:ext cx="400704" cy="1131570"/>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3600" i="1"/>
          </a:p>
        </p:txBody>
      </p:sp>
      <p:sp>
        <p:nvSpPr>
          <p:cNvPr id="22" name="Rectangle 29">
            <a:extLst>
              <a:ext uri="{FF2B5EF4-FFF2-40B4-BE49-F238E27FC236}">
                <a16:creationId xmlns:a16="http://schemas.microsoft.com/office/drawing/2014/main" id="{3926F3BB-EA7C-4C8B-8D46-66C95DFD8443}"/>
              </a:ext>
            </a:extLst>
          </p:cNvPr>
          <p:cNvSpPr/>
          <p:nvPr/>
        </p:nvSpPr>
        <p:spPr>
          <a:xfrm>
            <a:off x="3412674" y="3791651"/>
            <a:ext cx="400704" cy="1131570"/>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3600" i="1"/>
          </a:p>
        </p:txBody>
      </p:sp>
      <p:cxnSp>
        <p:nvCxnSpPr>
          <p:cNvPr id="23" name="Straight Arrow Connector 30">
            <a:extLst>
              <a:ext uri="{FF2B5EF4-FFF2-40B4-BE49-F238E27FC236}">
                <a16:creationId xmlns:a16="http://schemas.microsoft.com/office/drawing/2014/main" id="{8E64302A-A018-4292-B980-CFFE03B6B1B2}"/>
              </a:ext>
            </a:extLst>
          </p:cNvPr>
          <p:cNvCxnSpPr/>
          <p:nvPr/>
        </p:nvCxnSpPr>
        <p:spPr>
          <a:xfrm>
            <a:off x="2865164" y="3636277"/>
            <a:ext cx="504971" cy="349139"/>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32">
            <a:extLst>
              <a:ext uri="{FF2B5EF4-FFF2-40B4-BE49-F238E27FC236}">
                <a16:creationId xmlns:a16="http://schemas.microsoft.com/office/drawing/2014/main" id="{F6A71B2E-AE58-4208-8D0E-7963C9D780BF}"/>
              </a:ext>
            </a:extLst>
          </p:cNvPr>
          <p:cNvCxnSpPr>
            <a:cxnSpLocks/>
            <a:endCxn id="28" idx="2"/>
          </p:cNvCxnSpPr>
          <p:nvPr/>
        </p:nvCxnSpPr>
        <p:spPr>
          <a:xfrm flipV="1">
            <a:off x="3856435" y="3568702"/>
            <a:ext cx="871749" cy="451238"/>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33">
            <a:extLst>
              <a:ext uri="{FF2B5EF4-FFF2-40B4-BE49-F238E27FC236}">
                <a16:creationId xmlns:a16="http://schemas.microsoft.com/office/drawing/2014/main" id="{56F9D3A5-9A1C-4760-9D58-305A9F7235AC}"/>
              </a:ext>
            </a:extLst>
          </p:cNvPr>
          <p:cNvCxnSpPr>
            <a:cxnSpLocks/>
          </p:cNvCxnSpPr>
          <p:nvPr/>
        </p:nvCxnSpPr>
        <p:spPr>
          <a:xfrm>
            <a:off x="3859218" y="2898253"/>
            <a:ext cx="577147" cy="444125"/>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graphicFrame>
        <p:nvGraphicFramePr>
          <p:cNvPr id="26" name="Content Placeholder 3">
            <a:extLst>
              <a:ext uri="{FF2B5EF4-FFF2-40B4-BE49-F238E27FC236}">
                <a16:creationId xmlns:a16="http://schemas.microsoft.com/office/drawing/2014/main" id="{34762B13-0B39-4FE9-9CDA-DD9EF92FBF1C}"/>
              </a:ext>
            </a:extLst>
          </p:cNvPr>
          <p:cNvGraphicFramePr>
            <a:graphicFrameLocks noChangeAspect="1"/>
          </p:cNvGraphicFramePr>
          <p:nvPr/>
        </p:nvGraphicFramePr>
        <p:xfrm>
          <a:off x="2955007" y="4952849"/>
          <a:ext cx="1316037" cy="468492"/>
        </p:xfrm>
        <a:graphic>
          <a:graphicData uri="http://schemas.openxmlformats.org/presentationml/2006/ole">
            <mc:AlternateContent xmlns:mc="http://schemas.openxmlformats.org/markup-compatibility/2006">
              <mc:Choice xmlns:v="urn:schemas-microsoft-com:vml" Requires="v">
                <p:oleObj spid="_x0000_s5123" name="Equation" r:id="rId4" imgW="533400" imgH="190500" progId="Equation.3">
                  <p:embed/>
                </p:oleObj>
              </mc:Choice>
              <mc:Fallback>
                <p:oleObj name="Equation" r:id="rId4" imgW="533400" imgH="190500" progId="Equation.3">
                  <p:embed/>
                  <p:pic>
                    <p:nvPicPr>
                      <p:cNvPr id="26" name="Content Placeholder 3">
                        <a:extLst>
                          <a:ext uri="{FF2B5EF4-FFF2-40B4-BE49-F238E27FC236}">
                            <a16:creationId xmlns:a16="http://schemas.microsoft.com/office/drawing/2014/main" id="{34762B13-0B39-4FE9-9CDA-DD9EF92FBF1C}"/>
                          </a:ext>
                        </a:extLst>
                      </p:cNvPr>
                      <p:cNvPicPr/>
                      <p:nvPr/>
                    </p:nvPicPr>
                    <p:blipFill>
                      <a:blip r:embed="rId5"/>
                      <a:stretch>
                        <a:fillRect/>
                      </a:stretch>
                    </p:blipFill>
                    <p:spPr>
                      <a:xfrm>
                        <a:off x="2955007" y="4952849"/>
                        <a:ext cx="1316037" cy="468492"/>
                      </a:xfrm>
                      <a:prstGeom prst="rect">
                        <a:avLst/>
                      </a:prstGeom>
                    </p:spPr>
                  </p:pic>
                </p:oleObj>
              </mc:Fallback>
            </mc:AlternateContent>
          </a:graphicData>
        </a:graphic>
      </p:graphicFrame>
      <p:graphicFrame>
        <p:nvGraphicFramePr>
          <p:cNvPr id="33" name="Content Placeholder 3">
            <a:extLst>
              <a:ext uri="{FF2B5EF4-FFF2-40B4-BE49-F238E27FC236}">
                <a16:creationId xmlns:a16="http://schemas.microsoft.com/office/drawing/2014/main" id="{4907A32F-2B40-497A-B62B-0380AD197925}"/>
              </a:ext>
            </a:extLst>
          </p:cNvPr>
          <p:cNvGraphicFramePr>
            <a:graphicFrameLocks noChangeAspect="1"/>
          </p:cNvGraphicFramePr>
          <p:nvPr/>
        </p:nvGraphicFramePr>
        <p:xfrm>
          <a:off x="3168728" y="1584706"/>
          <a:ext cx="942975" cy="425450"/>
        </p:xfrm>
        <a:graphic>
          <a:graphicData uri="http://schemas.openxmlformats.org/presentationml/2006/ole">
            <mc:AlternateContent xmlns:mc="http://schemas.openxmlformats.org/markup-compatibility/2006">
              <mc:Choice xmlns:v="urn:schemas-microsoft-com:vml" Requires="v">
                <p:oleObj spid="_x0000_s5124" name="Equation" r:id="rId6" imgW="393700" imgH="177800" progId="Equation.3">
                  <p:embed/>
                </p:oleObj>
              </mc:Choice>
              <mc:Fallback>
                <p:oleObj name="Equation" r:id="rId6" imgW="393700" imgH="177800" progId="Equation.3">
                  <p:embed/>
                  <p:pic>
                    <p:nvPicPr>
                      <p:cNvPr id="33" name="Content Placeholder 3">
                        <a:extLst>
                          <a:ext uri="{FF2B5EF4-FFF2-40B4-BE49-F238E27FC236}">
                            <a16:creationId xmlns:a16="http://schemas.microsoft.com/office/drawing/2014/main" id="{4907A32F-2B40-497A-B62B-0380AD197925}"/>
                          </a:ext>
                        </a:extLst>
                      </p:cNvPr>
                      <p:cNvPicPr/>
                      <p:nvPr/>
                    </p:nvPicPr>
                    <p:blipFill>
                      <a:blip r:embed="rId7"/>
                      <a:stretch>
                        <a:fillRect/>
                      </a:stretch>
                    </p:blipFill>
                    <p:spPr>
                      <a:xfrm>
                        <a:off x="3168728" y="1584706"/>
                        <a:ext cx="942975" cy="425450"/>
                      </a:xfrm>
                      <a:prstGeom prst="rect">
                        <a:avLst/>
                      </a:prstGeom>
                    </p:spPr>
                  </p:pic>
                </p:oleObj>
              </mc:Fallback>
            </mc:AlternateContent>
          </a:graphicData>
        </a:graphic>
      </p:graphicFrame>
      <p:cxnSp>
        <p:nvCxnSpPr>
          <p:cNvPr id="15" name="Conector recto de flecha 14">
            <a:extLst>
              <a:ext uri="{FF2B5EF4-FFF2-40B4-BE49-F238E27FC236}">
                <a16:creationId xmlns:a16="http://schemas.microsoft.com/office/drawing/2014/main" id="{9AC13B83-1DF7-4E7E-A6EC-0E618D2E1373}"/>
              </a:ext>
            </a:extLst>
          </p:cNvPr>
          <p:cNvCxnSpPr/>
          <p:nvPr/>
        </p:nvCxnSpPr>
        <p:spPr>
          <a:xfrm>
            <a:off x="4794485" y="2583421"/>
            <a:ext cx="0" cy="907383"/>
          </a:xfrm>
          <a:prstGeom prst="straightConnector1">
            <a:avLst/>
          </a:prstGeom>
          <a:ln w="38100">
            <a:solidFill>
              <a:srgbClr val="00B0F0"/>
            </a:solidFill>
            <a:tailEnd type="triangle"/>
          </a:ln>
        </p:spPr>
        <p:style>
          <a:lnRef idx="2">
            <a:schemeClr val="accent1"/>
          </a:lnRef>
          <a:fillRef idx="0">
            <a:schemeClr val="accent1"/>
          </a:fillRef>
          <a:effectRef idx="1">
            <a:schemeClr val="accent1"/>
          </a:effectRef>
          <a:fontRef idx="minor">
            <a:schemeClr val="tx1"/>
          </a:fontRef>
        </p:style>
      </p:cxnSp>
      <p:sp>
        <p:nvSpPr>
          <p:cNvPr id="16" name="Elipse 15">
            <a:extLst>
              <a:ext uri="{FF2B5EF4-FFF2-40B4-BE49-F238E27FC236}">
                <a16:creationId xmlns:a16="http://schemas.microsoft.com/office/drawing/2014/main" id="{EB55AFA4-2F86-4593-9E8A-F61E75F96A3A}"/>
              </a:ext>
            </a:extLst>
          </p:cNvPr>
          <p:cNvSpPr/>
          <p:nvPr/>
        </p:nvSpPr>
        <p:spPr>
          <a:xfrm>
            <a:off x="4735205" y="3476515"/>
            <a:ext cx="118562" cy="112132"/>
          </a:xfrm>
          <a:prstGeom prst="ellipse">
            <a:avLst/>
          </a:prstGeom>
          <a:solidFill>
            <a:srgbClr val="00B0F0"/>
          </a:solidFill>
          <a:ln>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Elipse 33">
            <a:extLst>
              <a:ext uri="{FF2B5EF4-FFF2-40B4-BE49-F238E27FC236}">
                <a16:creationId xmlns:a16="http://schemas.microsoft.com/office/drawing/2014/main" id="{4C910D88-19BF-4C95-8965-2A8C46DD61A0}"/>
              </a:ext>
            </a:extLst>
          </p:cNvPr>
          <p:cNvSpPr/>
          <p:nvPr/>
        </p:nvSpPr>
        <p:spPr>
          <a:xfrm>
            <a:off x="6607112" y="2305460"/>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Elipse 30">
            <a:extLst>
              <a:ext uri="{FF2B5EF4-FFF2-40B4-BE49-F238E27FC236}">
                <a16:creationId xmlns:a16="http://schemas.microsoft.com/office/drawing/2014/main" id="{9F6EA63A-3E39-4D98-AEF0-F435190FC74E}"/>
              </a:ext>
            </a:extLst>
          </p:cNvPr>
          <p:cNvSpPr/>
          <p:nvPr/>
        </p:nvSpPr>
        <p:spPr>
          <a:xfrm>
            <a:off x="6873346" y="2457860"/>
            <a:ext cx="118562" cy="112132"/>
          </a:xfrm>
          <a:prstGeom prst="ellipse">
            <a:avLst/>
          </a:prstGeom>
          <a:solidFill>
            <a:srgbClr val="00B0F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2" name="Imagen 31">
            <a:extLst>
              <a:ext uri="{FF2B5EF4-FFF2-40B4-BE49-F238E27FC236}">
                <a16:creationId xmlns:a16="http://schemas.microsoft.com/office/drawing/2014/main" id="{8F6FCE1C-F5E3-4A72-9562-4315B1CB4343}"/>
              </a:ext>
            </a:extLst>
          </p:cNvPr>
          <p:cNvPicPr>
            <a:picLocks noChangeAspect="1"/>
          </p:cNvPicPr>
          <p:nvPr/>
        </p:nvPicPr>
        <p:blipFill>
          <a:blip r:embed="rId8"/>
          <a:stretch>
            <a:fillRect/>
          </a:stretch>
        </p:blipFill>
        <p:spPr>
          <a:xfrm>
            <a:off x="6962489" y="2254444"/>
            <a:ext cx="236612" cy="231578"/>
          </a:xfrm>
          <a:prstGeom prst="rect">
            <a:avLst/>
          </a:prstGeom>
        </p:spPr>
      </p:pic>
      <p:pic>
        <p:nvPicPr>
          <p:cNvPr id="36" name="Picture 4">
            <a:extLst>
              <a:ext uri="{FF2B5EF4-FFF2-40B4-BE49-F238E27FC236}">
                <a16:creationId xmlns:a16="http://schemas.microsoft.com/office/drawing/2014/main" id="{C5999395-D9F8-4695-BC0F-702D2CC12A9F}"/>
              </a:ext>
            </a:extLst>
          </p:cNvPr>
          <p:cNvPicPr>
            <a:picLocks noChangeAspect="1"/>
          </p:cNvPicPr>
          <p:nvPr/>
        </p:nvPicPr>
        <p:blipFill rotWithShape="1">
          <a:blip r:embed="rId9">
            <a:extLst>
              <a:ext uri="{28A0092B-C50C-407E-A947-70E740481C1C}">
                <a14:useLocalDpi xmlns:a14="http://schemas.microsoft.com/office/drawing/2010/main" val="0"/>
              </a:ext>
            </a:extLst>
          </a:blip>
          <a:srcRect l="20704" r="59887" b="51906"/>
          <a:stretch/>
        </p:blipFill>
        <p:spPr>
          <a:xfrm>
            <a:off x="6742017" y="2071518"/>
            <a:ext cx="254752" cy="269546"/>
          </a:xfrm>
          <a:prstGeom prst="rect">
            <a:avLst/>
          </a:prstGeom>
        </p:spPr>
      </p:pic>
      <p:sp>
        <p:nvSpPr>
          <p:cNvPr id="29" name="Trapezoid 10">
            <a:extLst>
              <a:ext uri="{FF2B5EF4-FFF2-40B4-BE49-F238E27FC236}">
                <a16:creationId xmlns:a16="http://schemas.microsoft.com/office/drawing/2014/main" id="{8FB8083F-439F-498E-AA81-4B2F6F076C5F}"/>
              </a:ext>
            </a:extLst>
          </p:cNvPr>
          <p:cNvSpPr/>
          <p:nvPr/>
        </p:nvSpPr>
        <p:spPr>
          <a:xfrm rot="5400000" flipV="1">
            <a:off x="8792250" y="3031998"/>
            <a:ext cx="2146430" cy="917619"/>
          </a:xfrm>
          <a:prstGeom prst="trapezoid">
            <a:avLst/>
          </a:prstGeom>
          <a:solidFill>
            <a:schemeClr val="tx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lumMod val="75000"/>
                    <a:lumOff val="25000"/>
                  </a:schemeClr>
                </a:solidFill>
              </a:rPr>
              <a:t>DECODER</a:t>
            </a:r>
          </a:p>
        </p:txBody>
      </p:sp>
      <p:sp>
        <p:nvSpPr>
          <p:cNvPr id="30" name="Trapezoid 10">
            <a:extLst>
              <a:ext uri="{FF2B5EF4-FFF2-40B4-BE49-F238E27FC236}">
                <a16:creationId xmlns:a16="http://schemas.microsoft.com/office/drawing/2014/main" id="{642CC940-2DB2-46FE-A90F-E6E40F75F0AD}"/>
              </a:ext>
            </a:extLst>
          </p:cNvPr>
          <p:cNvSpPr/>
          <p:nvPr/>
        </p:nvSpPr>
        <p:spPr>
          <a:xfrm rot="16200000" flipH="1" flipV="1">
            <a:off x="1228782" y="3033606"/>
            <a:ext cx="2146430" cy="914401"/>
          </a:xfrm>
          <a:prstGeom prst="trapezoid">
            <a:avLst/>
          </a:prstGeom>
          <a:solidFill>
            <a:schemeClr val="tx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lumMod val="75000"/>
                    <a:lumOff val="25000"/>
                  </a:schemeClr>
                </a:solidFill>
              </a:rPr>
              <a:t>ENCODER</a:t>
            </a:r>
          </a:p>
        </p:txBody>
      </p:sp>
      <p:pic>
        <p:nvPicPr>
          <p:cNvPr id="37" name="Imagen 7">
            <a:extLst>
              <a:ext uri="{FF2B5EF4-FFF2-40B4-BE49-F238E27FC236}">
                <a16:creationId xmlns:a16="http://schemas.microsoft.com/office/drawing/2014/main" id="{C9BEF05F-5C67-4B72-88E2-E6190F196B99}"/>
              </a:ext>
            </a:extLst>
          </p:cNvPr>
          <p:cNvPicPr>
            <a:picLocks noChangeAspect="1"/>
          </p:cNvPicPr>
          <p:nvPr/>
        </p:nvPicPr>
        <p:blipFill>
          <a:blip r:embed="rId10"/>
          <a:stretch>
            <a:fillRect/>
          </a:stretch>
        </p:blipFill>
        <p:spPr>
          <a:xfrm>
            <a:off x="10440740" y="3026459"/>
            <a:ext cx="920221" cy="1012243"/>
          </a:xfrm>
          <a:prstGeom prst="rect">
            <a:avLst/>
          </a:prstGeom>
        </p:spPr>
      </p:pic>
      <p:cxnSp>
        <p:nvCxnSpPr>
          <p:cNvPr id="38" name="Conector: curvado 17">
            <a:extLst>
              <a:ext uri="{FF2B5EF4-FFF2-40B4-BE49-F238E27FC236}">
                <a16:creationId xmlns:a16="http://schemas.microsoft.com/office/drawing/2014/main" id="{28F40616-D0B8-4618-9E69-23F1D636FFBF}"/>
              </a:ext>
            </a:extLst>
          </p:cNvPr>
          <p:cNvCxnSpPr>
            <a:cxnSpLocks/>
          </p:cNvCxnSpPr>
          <p:nvPr/>
        </p:nvCxnSpPr>
        <p:spPr>
          <a:xfrm>
            <a:off x="7049092" y="2561101"/>
            <a:ext cx="2169304" cy="905999"/>
          </a:xfrm>
          <a:prstGeom prst="curvedConnector3">
            <a:avLst>
              <a:gd name="adj1" fmla="val 50000"/>
            </a:avLst>
          </a:prstGeom>
          <a:ln w="38100">
            <a:solidFill>
              <a:srgbClr val="00B0F0"/>
            </a:solidFill>
            <a:tailEnd type="triangle"/>
          </a:ln>
        </p:spPr>
        <p:style>
          <a:lnRef idx="2">
            <a:schemeClr val="accent1"/>
          </a:lnRef>
          <a:fillRef idx="0">
            <a:schemeClr val="accent1"/>
          </a:fillRef>
          <a:effectRef idx="1">
            <a:schemeClr val="accent1"/>
          </a:effectRef>
          <a:fontRef idx="minor">
            <a:schemeClr val="tx1"/>
          </a:fontRef>
        </p:style>
      </p:cxnSp>
      <p:pic>
        <p:nvPicPr>
          <p:cNvPr id="35" name="Imagen 2">
            <a:extLst>
              <a:ext uri="{FF2B5EF4-FFF2-40B4-BE49-F238E27FC236}">
                <a16:creationId xmlns:a16="http://schemas.microsoft.com/office/drawing/2014/main" id="{B681C96D-876A-4292-8ADA-8FFE9B332880}"/>
              </a:ext>
            </a:extLst>
          </p:cNvPr>
          <p:cNvPicPr>
            <a:picLocks/>
          </p:cNvPicPr>
          <p:nvPr/>
        </p:nvPicPr>
        <p:blipFill>
          <a:blip r:embed="rId8"/>
          <a:stretch>
            <a:fillRect/>
          </a:stretch>
        </p:blipFill>
        <p:spPr>
          <a:xfrm>
            <a:off x="595888" y="3085607"/>
            <a:ext cx="914400" cy="914400"/>
          </a:xfrm>
          <a:prstGeom prst="rect">
            <a:avLst/>
          </a:prstGeom>
        </p:spPr>
      </p:pic>
      <p:pic>
        <p:nvPicPr>
          <p:cNvPr id="39" name="Picture 4">
            <a:extLst>
              <a:ext uri="{FF2B5EF4-FFF2-40B4-BE49-F238E27FC236}">
                <a16:creationId xmlns:a16="http://schemas.microsoft.com/office/drawing/2014/main" id="{B5492FC1-0CED-4171-A0A8-6FFD665124D3}"/>
              </a:ext>
            </a:extLst>
          </p:cNvPr>
          <p:cNvPicPr>
            <a:picLocks/>
          </p:cNvPicPr>
          <p:nvPr/>
        </p:nvPicPr>
        <p:blipFill rotWithShape="1">
          <a:blip r:embed="rId9">
            <a:extLst>
              <a:ext uri="{28A0092B-C50C-407E-A947-70E740481C1C}">
                <a14:useLocalDpi xmlns:a14="http://schemas.microsoft.com/office/drawing/2010/main" val="0"/>
              </a:ext>
            </a:extLst>
          </a:blip>
          <a:srcRect l="20704" r="59887" b="51906"/>
          <a:stretch/>
        </p:blipFill>
        <p:spPr>
          <a:xfrm>
            <a:off x="572461" y="2010155"/>
            <a:ext cx="978873" cy="1058859"/>
          </a:xfrm>
          <a:prstGeom prst="rect">
            <a:avLst/>
          </a:prstGeom>
        </p:spPr>
      </p:pic>
      <p:sp>
        <p:nvSpPr>
          <p:cNvPr id="3" name="Slide Number Placeholder 2"/>
          <p:cNvSpPr>
            <a:spLocks noGrp="1"/>
          </p:cNvSpPr>
          <p:nvPr>
            <p:ph type="sldNum" sz="quarter" idx="12"/>
          </p:nvPr>
        </p:nvSpPr>
        <p:spPr/>
        <p:txBody>
          <a:bodyPr/>
          <a:lstStyle/>
          <a:p>
            <a:fld id="{81B7CCDB-6D39-0547-B7B3-C80E39D6513A}" type="slidenum">
              <a:rPr lang="en-US" smtClean="0"/>
              <a:pPr/>
              <a:t>45</a:t>
            </a:fld>
            <a:endParaRPr lang="en-US"/>
          </a:p>
        </p:txBody>
      </p:sp>
    </p:spTree>
    <p:extLst>
      <p:ext uri="{BB962C8B-B14F-4D97-AF65-F5344CB8AC3E}">
        <p14:creationId xmlns:p14="http://schemas.microsoft.com/office/powerpoint/2010/main" val="206094230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9292" y="160260"/>
            <a:ext cx="11493416" cy="767276"/>
          </a:xfrm>
        </p:spPr>
        <p:txBody>
          <a:bodyPr/>
          <a:lstStyle/>
          <a:p>
            <a:r>
              <a:rPr lang="en-US"/>
              <a:t>Blending Latent Variables</a:t>
            </a:r>
          </a:p>
        </p:txBody>
      </p:sp>
      <p:pic>
        <p:nvPicPr>
          <p:cNvPr id="27" name="Picture 3">
            <a:extLst>
              <a:ext uri="{FF2B5EF4-FFF2-40B4-BE49-F238E27FC236}">
                <a16:creationId xmlns:a16="http://schemas.microsoft.com/office/drawing/2014/main" id="{3F7EF02D-39D9-4C5E-8150-92E66E1BBD87}"/>
              </a:ext>
            </a:extLst>
          </p:cNvPr>
          <p:cNvPicPr>
            <a:picLocks noChangeAspect="1"/>
          </p:cNvPicPr>
          <p:nvPr/>
        </p:nvPicPr>
        <p:blipFill rotWithShape="1">
          <a:blip r:embed="rId3">
            <a:extLst>
              <a:ext uri="{28A0092B-C50C-407E-A947-70E740481C1C}">
                <a14:useLocalDpi xmlns:a14="http://schemas.microsoft.com/office/drawing/2010/main" val="0"/>
              </a:ext>
            </a:extLst>
          </a:blip>
          <a:srcRect l="71777" t="-2162" r="8791" b="78285"/>
          <a:stretch/>
        </p:blipFill>
        <p:spPr>
          <a:xfrm>
            <a:off x="4111703" y="1816145"/>
            <a:ext cx="1758751" cy="767276"/>
          </a:xfrm>
          <a:prstGeom prst="rect">
            <a:avLst/>
          </a:prstGeom>
        </p:spPr>
      </p:pic>
      <p:pic>
        <p:nvPicPr>
          <p:cNvPr id="28" name="Picture 3">
            <a:extLst>
              <a:ext uri="{FF2B5EF4-FFF2-40B4-BE49-F238E27FC236}">
                <a16:creationId xmlns:a16="http://schemas.microsoft.com/office/drawing/2014/main" id="{57FEDE17-5EEE-4D1A-8E53-F32F065CB546}"/>
              </a:ext>
            </a:extLst>
          </p:cNvPr>
          <p:cNvPicPr>
            <a:picLocks noChangeAspect="1"/>
          </p:cNvPicPr>
          <p:nvPr/>
        </p:nvPicPr>
        <p:blipFill rotWithShape="1">
          <a:blip r:embed="rId3">
            <a:extLst>
              <a:ext uri="{28A0092B-C50C-407E-A947-70E740481C1C}">
                <a14:useLocalDpi xmlns:a14="http://schemas.microsoft.com/office/drawing/2010/main" val="0"/>
              </a:ext>
            </a:extLst>
          </a:blip>
          <a:srcRect l="50857" t="23883" r="28858" b="50073"/>
          <a:stretch/>
        </p:blipFill>
        <p:spPr>
          <a:xfrm>
            <a:off x="3810233" y="2731765"/>
            <a:ext cx="1835902" cy="836937"/>
          </a:xfrm>
          <a:prstGeom prst="rect">
            <a:avLst/>
          </a:prstGeom>
        </p:spPr>
      </p:pic>
      <p:sp>
        <p:nvSpPr>
          <p:cNvPr id="9" name="Rectángulo 8">
            <a:extLst>
              <a:ext uri="{FF2B5EF4-FFF2-40B4-BE49-F238E27FC236}">
                <a16:creationId xmlns:a16="http://schemas.microsoft.com/office/drawing/2014/main" id="{C5767CAC-93DA-4409-9752-3CF4B526EF1F}"/>
              </a:ext>
            </a:extLst>
          </p:cNvPr>
          <p:cNvSpPr/>
          <p:nvPr/>
        </p:nvSpPr>
        <p:spPr>
          <a:xfrm>
            <a:off x="5695120" y="1628974"/>
            <a:ext cx="3474720" cy="3826413"/>
          </a:xfrm>
          <a:prstGeom prst="rect">
            <a:avLst/>
          </a:prstGeom>
          <a:solidFill>
            <a:schemeClr val="bg1"/>
          </a:solid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TextBox 7">
            <a:extLst>
              <a:ext uri="{FF2B5EF4-FFF2-40B4-BE49-F238E27FC236}">
                <a16:creationId xmlns:a16="http://schemas.microsoft.com/office/drawing/2014/main" id="{75471C91-6907-43BD-81A0-789B29243A94}"/>
              </a:ext>
            </a:extLst>
          </p:cNvPr>
          <p:cNvSpPr txBox="1"/>
          <p:nvPr/>
        </p:nvSpPr>
        <p:spPr>
          <a:xfrm>
            <a:off x="5791620" y="1105754"/>
            <a:ext cx="3281720" cy="523220"/>
          </a:xfrm>
          <a:prstGeom prst="rect">
            <a:avLst/>
          </a:prstGeom>
          <a:noFill/>
        </p:spPr>
        <p:txBody>
          <a:bodyPr wrap="square" rtlCol="0">
            <a:spAutoFit/>
          </a:bodyPr>
          <a:lstStyle/>
          <a:p>
            <a:pPr algn="ctr"/>
            <a:r>
              <a:rPr lang="en-US" sz="2800">
                <a:solidFill>
                  <a:schemeClr val="tx1">
                    <a:lumMod val="75000"/>
                    <a:lumOff val="25000"/>
                  </a:schemeClr>
                </a:solidFill>
                <a:latin typeface="Karla" charset="0"/>
                <a:ea typeface="Karla" charset="0"/>
                <a:cs typeface="Karla" charset="0"/>
              </a:rPr>
              <a:t>Latent Space</a:t>
            </a:r>
            <a:endParaRPr lang="en-US" sz="2800" i="1">
              <a:solidFill>
                <a:schemeClr val="tx1">
                  <a:lumMod val="75000"/>
                  <a:lumOff val="25000"/>
                </a:schemeClr>
              </a:solidFill>
              <a:latin typeface="Karla" charset="0"/>
              <a:ea typeface="Karla" charset="0"/>
              <a:cs typeface="Karla" charset="0"/>
            </a:endParaRPr>
          </a:p>
        </p:txBody>
      </p:sp>
      <p:cxnSp>
        <p:nvCxnSpPr>
          <p:cNvPr id="20" name="Straight Arrow Connector 24">
            <a:extLst>
              <a:ext uri="{FF2B5EF4-FFF2-40B4-BE49-F238E27FC236}">
                <a16:creationId xmlns:a16="http://schemas.microsoft.com/office/drawing/2014/main" id="{8357E5F4-CE4A-4BE0-BE18-5A16157A4168}"/>
              </a:ext>
            </a:extLst>
          </p:cNvPr>
          <p:cNvCxnSpPr/>
          <p:nvPr/>
        </p:nvCxnSpPr>
        <p:spPr>
          <a:xfrm flipV="1">
            <a:off x="2863460" y="2898253"/>
            <a:ext cx="528203" cy="413431"/>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21" name="Rectangle 26">
            <a:extLst>
              <a:ext uri="{FF2B5EF4-FFF2-40B4-BE49-F238E27FC236}">
                <a16:creationId xmlns:a16="http://schemas.microsoft.com/office/drawing/2014/main" id="{7663EC45-4979-4427-95AC-41C2528EF079}"/>
              </a:ext>
            </a:extLst>
          </p:cNvPr>
          <p:cNvSpPr/>
          <p:nvPr/>
        </p:nvSpPr>
        <p:spPr>
          <a:xfrm>
            <a:off x="3417538" y="2024970"/>
            <a:ext cx="400704" cy="1131570"/>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3600" i="1"/>
          </a:p>
        </p:txBody>
      </p:sp>
      <p:sp>
        <p:nvSpPr>
          <p:cNvPr id="22" name="Rectangle 29">
            <a:extLst>
              <a:ext uri="{FF2B5EF4-FFF2-40B4-BE49-F238E27FC236}">
                <a16:creationId xmlns:a16="http://schemas.microsoft.com/office/drawing/2014/main" id="{3926F3BB-EA7C-4C8B-8D46-66C95DFD8443}"/>
              </a:ext>
            </a:extLst>
          </p:cNvPr>
          <p:cNvSpPr/>
          <p:nvPr/>
        </p:nvSpPr>
        <p:spPr>
          <a:xfrm>
            <a:off x="3412674" y="3791651"/>
            <a:ext cx="400704" cy="1131570"/>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3600" i="1"/>
          </a:p>
        </p:txBody>
      </p:sp>
      <p:cxnSp>
        <p:nvCxnSpPr>
          <p:cNvPr id="23" name="Straight Arrow Connector 30">
            <a:extLst>
              <a:ext uri="{FF2B5EF4-FFF2-40B4-BE49-F238E27FC236}">
                <a16:creationId xmlns:a16="http://schemas.microsoft.com/office/drawing/2014/main" id="{8E64302A-A018-4292-B980-CFFE03B6B1B2}"/>
              </a:ext>
            </a:extLst>
          </p:cNvPr>
          <p:cNvCxnSpPr/>
          <p:nvPr/>
        </p:nvCxnSpPr>
        <p:spPr>
          <a:xfrm>
            <a:off x="2865164" y="3636277"/>
            <a:ext cx="504971" cy="349139"/>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32">
            <a:extLst>
              <a:ext uri="{FF2B5EF4-FFF2-40B4-BE49-F238E27FC236}">
                <a16:creationId xmlns:a16="http://schemas.microsoft.com/office/drawing/2014/main" id="{F6A71B2E-AE58-4208-8D0E-7963C9D780BF}"/>
              </a:ext>
            </a:extLst>
          </p:cNvPr>
          <p:cNvCxnSpPr>
            <a:cxnSpLocks/>
            <a:endCxn id="28" idx="2"/>
          </p:cNvCxnSpPr>
          <p:nvPr/>
        </p:nvCxnSpPr>
        <p:spPr>
          <a:xfrm flipV="1">
            <a:off x="3856435" y="3568702"/>
            <a:ext cx="871749" cy="451238"/>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33">
            <a:extLst>
              <a:ext uri="{FF2B5EF4-FFF2-40B4-BE49-F238E27FC236}">
                <a16:creationId xmlns:a16="http://schemas.microsoft.com/office/drawing/2014/main" id="{56F9D3A5-9A1C-4760-9D58-305A9F7235AC}"/>
              </a:ext>
            </a:extLst>
          </p:cNvPr>
          <p:cNvCxnSpPr>
            <a:cxnSpLocks/>
          </p:cNvCxnSpPr>
          <p:nvPr/>
        </p:nvCxnSpPr>
        <p:spPr>
          <a:xfrm>
            <a:off x="3859218" y="2898253"/>
            <a:ext cx="577147" cy="444125"/>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graphicFrame>
        <p:nvGraphicFramePr>
          <p:cNvPr id="26" name="Content Placeholder 3">
            <a:extLst>
              <a:ext uri="{FF2B5EF4-FFF2-40B4-BE49-F238E27FC236}">
                <a16:creationId xmlns:a16="http://schemas.microsoft.com/office/drawing/2014/main" id="{34762B13-0B39-4FE9-9CDA-DD9EF92FBF1C}"/>
              </a:ext>
            </a:extLst>
          </p:cNvPr>
          <p:cNvGraphicFramePr>
            <a:graphicFrameLocks noChangeAspect="1"/>
          </p:cNvGraphicFramePr>
          <p:nvPr/>
        </p:nvGraphicFramePr>
        <p:xfrm>
          <a:off x="2955007" y="4952849"/>
          <a:ext cx="1316037" cy="468492"/>
        </p:xfrm>
        <a:graphic>
          <a:graphicData uri="http://schemas.openxmlformats.org/presentationml/2006/ole">
            <mc:AlternateContent xmlns:mc="http://schemas.openxmlformats.org/markup-compatibility/2006">
              <mc:Choice xmlns:v="urn:schemas-microsoft-com:vml" Requires="v">
                <p:oleObj spid="_x0000_s6147" name="Equation" r:id="rId4" imgW="533400" imgH="190500" progId="Equation.3">
                  <p:embed/>
                </p:oleObj>
              </mc:Choice>
              <mc:Fallback>
                <p:oleObj name="Equation" r:id="rId4" imgW="533400" imgH="190500" progId="Equation.3">
                  <p:embed/>
                  <p:pic>
                    <p:nvPicPr>
                      <p:cNvPr id="26" name="Content Placeholder 3">
                        <a:extLst>
                          <a:ext uri="{FF2B5EF4-FFF2-40B4-BE49-F238E27FC236}">
                            <a16:creationId xmlns:a16="http://schemas.microsoft.com/office/drawing/2014/main" id="{34762B13-0B39-4FE9-9CDA-DD9EF92FBF1C}"/>
                          </a:ext>
                        </a:extLst>
                      </p:cNvPr>
                      <p:cNvPicPr/>
                      <p:nvPr/>
                    </p:nvPicPr>
                    <p:blipFill>
                      <a:blip r:embed="rId5"/>
                      <a:stretch>
                        <a:fillRect/>
                      </a:stretch>
                    </p:blipFill>
                    <p:spPr>
                      <a:xfrm>
                        <a:off x="2955007" y="4952849"/>
                        <a:ext cx="1316037" cy="468492"/>
                      </a:xfrm>
                      <a:prstGeom prst="rect">
                        <a:avLst/>
                      </a:prstGeom>
                    </p:spPr>
                  </p:pic>
                </p:oleObj>
              </mc:Fallback>
            </mc:AlternateContent>
          </a:graphicData>
        </a:graphic>
      </p:graphicFrame>
      <p:graphicFrame>
        <p:nvGraphicFramePr>
          <p:cNvPr id="33" name="Content Placeholder 3">
            <a:extLst>
              <a:ext uri="{FF2B5EF4-FFF2-40B4-BE49-F238E27FC236}">
                <a16:creationId xmlns:a16="http://schemas.microsoft.com/office/drawing/2014/main" id="{4907A32F-2B40-497A-B62B-0380AD197925}"/>
              </a:ext>
            </a:extLst>
          </p:cNvPr>
          <p:cNvGraphicFramePr>
            <a:graphicFrameLocks noChangeAspect="1"/>
          </p:cNvGraphicFramePr>
          <p:nvPr/>
        </p:nvGraphicFramePr>
        <p:xfrm>
          <a:off x="3168728" y="1584706"/>
          <a:ext cx="942975" cy="425450"/>
        </p:xfrm>
        <a:graphic>
          <a:graphicData uri="http://schemas.openxmlformats.org/presentationml/2006/ole">
            <mc:AlternateContent xmlns:mc="http://schemas.openxmlformats.org/markup-compatibility/2006">
              <mc:Choice xmlns:v="urn:schemas-microsoft-com:vml" Requires="v">
                <p:oleObj spid="_x0000_s6148" name="Equation" r:id="rId6" imgW="393700" imgH="177800" progId="Equation.3">
                  <p:embed/>
                </p:oleObj>
              </mc:Choice>
              <mc:Fallback>
                <p:oleObj name="Equation" r:id="rId6" imgW="393700" imgH="177800" progId="Equation.3">
                  <p:embed/>
                  <p:pic>
                    <p:nvPicPr>
                      <p:cNvPr id="33" name="Content Placeholder 3">
                        <a:extLst>
                          <a:ext uri="{FF2B5EF4-FFF2-40B4-BE49-F238E27FC236}">
                            <a16:creationId xmlns:a16="http://schemas.microsoft.com/office/drawing/2014/main" id="{4907A32F-2B40-497A-B62B-0380AD197925}"/>
                          </a:ext>
                        </a:extLst>
                      </p:cNvPr>
                      <p:cNvPicPr/>
                      <p:nvPr/>
                    </p:nvPicPr>
                    <p:blipFill>
                      <a:blip r:embed="rId7"/>
                      <a:stretch>
                        <a:fillRect/>
                      </a:stretch>
                    </p:blipFill>
                    <p:spPr>
                      <a:xfrm>
                        <a:off x="3168728" y="1584706"/>
                        <a:ext cx="942975" cy="425450"/>
                      </a:xfrm>
                      <a:prstGeom prst="rect">
                        <a:avLst/>
                      </a:prstGeom>
                    </p:spPr>
                  </p:pic>
                </p:oleObj>
              </mc:Fallback>
            </mc:AlternateContent>
          </a:graphicData>
        </a:graphic>
      </p:graphicFrame>
      <p:sp>
        <p:nvSpPr>
          <p:cNvPr id="34" name="Elipse 33">
            <a:extLst>
              <a:ext uri="{FF2B5EF4-FFF2-40B4-BE49-F238E27FC236}">
                <a16:creationId xmlns:a16="http://schemas.microsoft.com/office/drawing/2014/main" id="{4C910D88-19BF-4C95-8965-2A8C46DD61A0}"/>
              </a:ext>
            </a:extLst>
          </p:cNvPr>
          <p:cNvSpPr/>
          <p:nvPr/>
        </p:nvSpPr>
        <p:spPr>
          <a:xfrm>
            <a:off x="6607112" y="2305460"/>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Elipse 30">
            <a:extLst>
              <a:ext uri="{FF2B5EF4-FFF2-40B4-BE49-F238E27FC236}">
                <a16:creationId xmlns:a16="http://schemas.microsoft.com/office/drawing/2014/main" id="{9F6EA63A-3E39-4D98-AEF0-F435190FC74E}"/>
              </a:ext>
            </a:extLst>
          </p:cNvPr>
          <p:cNvSpPr/>
          <p:nvPr/>
        </p:nvSpPr>
        <p:spPr>
          <a:xfrm>
            <a:off x="6873346" y="2457860"/>
            <a:ext cx="118562" cy="112132"/>
          </a:xfrm>
          <a:prstGeom prst="ellipse">
            <a:avLst/>
          </a:prstGeom>
          <a:solidFill>
            <a:srgbClr val="00B0F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2" name="Conector recto de flecha 31">
            <a:extLst>
              <a:ext uri="{FF2B5EF4-FFF2-40B4-BE49-F238E27FC236}">
                <a16:creationId xmlns:a16="http://schemas.microsoft.com/office/drawing/2014/main" id="{9B5D0855-2371-4C97-B690-9989C38B9764}"/>
              </a:ext>
            </a:extLst>
          </p:cNvPr>
          <p:cNvCxnSpPr>
            <a:cxnSpLocks/>
          </p:cNvCxnSpPr>
          <p:nvPr/>
        </p:nvCxnSpPr>
        <p:spPr>
          <a:xfrm>
            <a:off x="4965935" y="2583421"/>
            <a:ext cx="0" cy="907383"/>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5" name="Elipse 34">
            <a:extLst>
              <a:ext uri="{FF2B5EF4-FFF2-40B4-BE49-F238E27FC236}">
                <a16:creationId xmlns:a16="http://schemas.microsoft.com/office/drawing/2014/main" id="{506A80D3-247D-49F9-A29D-983AE0D2A6E5}"/>
              </a:ext>
            </a:extLst>
          </p:cNvPr>
          <p:cNvSpPr/>
          <p:nvPr/>
        </p:nvSpPr>
        <p:spPr>
          <a:xfrm>
            <a:off x="4906655" y="3476515"/>
            <a:ext cx="118562" cy="112132"/>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6" name="Conector: curvado 35">
            <a:extLst>
              <a:ext uri="{FF2B5EF4-FFF2-40B4-BE49-F238E27FC236}">
                <a16:creationId xmlns:a16="http://schemas.microsoft.com/office/drawing/2014/main" id="{F159575E-B8E1-46F8-AA93-E734A67779BD}"/>
              </a:ext>
            </a:extLst>
          </p:cNvPr>
          <p:cNvCxnSpPr>
            <a:cxnSpLocks/>
            <a:stCxn id="35" idx="5"/>
            <a:endCxn id="37" idx="4"/>
          </p:cNvCxnSpPr>
          <p:nvPr/>
        </p:nvCxnSpPr>
        <p:spPr>
          <a:xfrm rot="5400000" flipH="1" flipV="1">
            <a:off x="5516706" y="2097186"/>
            <a:ext cx="966188" cy="1983892"/>
          </a:xfrm>
          <a:prstGeom prst="curvedConnector3">
            <a:avLst>
              <a:gd name="adj1" fmla="val -25360"/>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7" name="Elipse 36">
            <a:extLst>
              <a:ext uri="{FF2B5EF4-FFF2-40B4-BE49-F238E27FC236}">
                <a16:creationId xmlns:a16="http://schemas.microsoft.com/office/drawing/2014/main" id="{A1998CF8-6F2B-452C-B481-E8EF77618155}"/>
              </a:ext>
            </a:extLst>
          </p:cNvPr>
          <p:cNvSpPr/>
          <p:nvPr/>
        </p:nvSpPr>
        <p:spPr>
          <a:xfrm>
            <a:off x="6932465" y="2493906"/>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8" name="Imagen 37">
            <a:extLst>
              <a:ext uri="{FF2B5EF4-FFF2-40B4-BE49-F238E27FC236}">
                <a16:creationId xmlns:a16="http://schemas.microsoft.com/office/drawing/2014/main" id="{F6ECF743-42DE-4019-8120-61E5D1A60BE5}"/>
              </a:ext>
            </a:extLst>
          </p:cNvPr>
          <p:cNvPicPr>
            <a:picLocks noChangeAspect="1"/>
          </p:cNvPicPr>
          <p:nvPr/>
        </p:nvPicPr>
        <p:blipFill>
          <a:blip r:embed="rId8"/>
          <a:stretch>
            <a:fillRect/>
          </a:stretch>
        </p:blipFill>
        <p:spPr>
          <a:xfrm>
            <a:off x="6962489" y="2254444"/>
            <a:ext cx="236612" cy="231578"/>
          </a:xfrm>
          <a:prstGeom prst="rect">
            <a:avLst/>
          </a:prstGeom>
        </p:spPr>
      </p:pic>
      <p:pic>
        <p:nvPicPr>
          <p:cNvPr id="39" name="Picture 4">
            <a:extLst>
              <a:ext uri="{FF2B5EF4-FFF2-40B4-BE49-F238E27FC236}">
                <a16:creationId xmlns:a16="http://schemas.microsoft.com/office/drawing/2014/main" id="{262B01B2-DB45-4AEA-BDB2-355D80875B67}"/>
              </a:ext>
            </a:extLst>
          </p:cNvPr>
          <p:cNvPicPr>
            <a:picLocks noChangeAspect="1"/>
          </p:cNvPicPr>
          <p:nvPr/>
        </p:nvPicPr>
        <p:blipFill rotWithShape="1">
          <a:blip r:embed="rId9">
            <a:extLst>
              <a:ext uri="{28A0092B-C50C-407E-A947-70E740481C1C}">
                <a14:useLocalDpi xmlns:a14="http://schemas.microsoft.com/office/drawing/2010/main" val="0"/>
              </a:ext>
            </a:extLst>
          </a:blip>
          <a:srcRect l="20704" r="59887" b="51906"/>
          <a:stretch/>
        </p:blipFill>
        <p:spPr>
          <a:xfrm>
            <a:off x="6742017" y="2071518"/>
            <a:ext cx="254752" cy="269546"/>
          </a:xfrm>
          <a:prstGeom prst="rect">
            <a:avLst/>
          </a:prstGeom>
        </p:spPr>
      </p:pic>
      <p:sp>
        <p:nvSpPr>
          <p:cNvPr id="41" name="Trapezoid 10">
            <a:extLst>
              <a:ext uri="{FF2B5EF4-FFF2-40B4-BE49-F238E27FC236}">
                <a16:creationId xmlns:a16="http://schemas.microsoft.com/office/drawing/2014/main" id="{8FB8083F-439F-498E-AA81-4B2F6F076C5F}"/>
              </a:ext>
            </a:extLst>
          </p:cNvPr>
          <p:cNvSpPr/>
          <p:nvPr/>
        </p:nvSpPr>
        <p:spPr>
          <a:xfrm rot="5400000" flipV="1">
            <a:off x="8792250" y="3031998"/>
            <a:ext cx="2146430" cy="917619"/>
          </a:xfrm>
          <a:prstGeom prst="trapezoid">
            <a:avLst/>
          </a:prstGeom>
          <a:solidFill>
            <a:schemeClr val="tx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lumMod val="75000"/>
                    <a:lumOff val="25000"/>
                  </a:schemeClr>
                </a:solidFill>
              </a:rPr>
              <a:t>DECODER</a:t>
            </a:r>
          </a:p>
        </p:txBody>
      </p:sp>
      <p:sp>
        <p:nvSpPr>
          <p:cNvPr id="42" name="Trapezoid 10">
            <a:extLst>
              <a:ext uri="{FF2B5EF4-FFF2-40B4-BE49-F238E27FC236}">
                <a16:creationId xmlns:a16="http://schemas.microsoft.com/office/drawing/2014/main" id="{642CC940-2DB2-46FE-A90F-E6E40F75F0AD}"/>
              </a:ext>
            </a:extLst>
          </p:cNvPr>
          <p:cNvSpPr/>
          <p:nvPr/>
        </p:nvSpPr>
        <p:spPr>
          <a:xfrm rot="16200000" flipH="1" flipV="1">
            <a:off x="1228782" y="3033606"/>
            <a:ext cx="2146430" cy="914401"/>
          </a:xfrm>
          <a:prstGeom prst="trapezoid">
            <a:avLst/>
          </a:prstGeom>
          <a:solidFill>
            <a:schemeClr val="tx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lumMod val="75000"/>
                    <a:lumOff val="25000"/>
                  </a:schemeClr>
                </a:solidFill>
              </a:rPr>
              <a:t>ENCODER</a:t>
            </a:r>
          </a:p>
        </p:txBody>
      </p:sp>
      <p:pic>
        <p:nvPicPr>
          <p:cNvPr id="30" name="Imagen 2">
            <a:extLst>
              <a:ext uri="{FF2B5EF4-FFF2-40B4-BE49-F238E27FC236}">
                <a16:creationId xmlns:a16="http://schemas.microsoft.com/office/drawing/2014/main" id="{B681C96D-876A-4292-8ADA-8FFE9B332880}"/>
              </a:ext>
            </a:extLst>
          </p:cNvPr>
          <p:cNvPicPr>
            <a:picLocks/>
          </p:cNvPicPr>
          <p:nvPr/>
        </p:nvPicPr>
        <p:blipFill>
          <a:blip r:embed="rId8"/>
          <a:stretch>
            <a:fillRect/>
          </a:stretch>
        </p:blipFill>
        <p:spPr>
          <a:xfrm>
            <a:off x="595888" y="3085607"/>
            <a:ext cx="914400" cy="914400"/>
          </a:xfrm>
          <a:prstGeom prst="rect">
            <a:avLst/>
          </a:prstGeom>
        </p:spPr>
      </p:pic>
      <p:pic>
        <p:nvPicPr>
          <p:cNvPr id="43" name="Picture 4">
            <a:extLst>
              <a:ext uri="{FF2B5EF4-FFF2-40B4-BE49-F238E27FC236}">
                <a16:creationId xmlns:a16="http://schemas.microsoft.com/office/drawing/2014/main" id="{B5492FC1-0CED-4171-A0A8-6FFD665124D3}"/>
              </a:ext>
            </a:extLst>
          </p:cNvPr>
          <p:cNvPicPr>
            <a:picLocks/>
          </p:cNvPicPr>
          <p:nvPr/>
        </p:nvPicPr>
        <p:blipFill rotWithShape="1">
          <a:blip r:embed="rId9">
            <a:extLst>
              <a:ext uri="{28A0092B-C50C-407E-A947-70E740481C1C}">
                <a14:useLocalDpi xmlns:a14="http://schemas.microsoft.com/office/drawing/2010/main" val="0"/>
              </a:ext>
            </a:extLst>
          </a:blip>
          <a:srcRect l="20704" r="59887" b="51906"/>
          <a:stretch/>
        </p:blipFill>
        <p:spPr>
          <a:xfrm>
            <a:off x="572461" y="2010155"/>
            <a:ext cx="978873" cy="1058859"/>
          </a:xfrm>
          <a:prstGeom prst="rect">
            <a:avLst/>
          </a:prstGeom>
        </p:spPr>
      </p:pic>
      <p:pic>
        <p:nvPicPr>
          <p:cNvPr id="44" name="Picture 4">
            <a:extLst>
              <a:ext uri="{FF2B5EF4-FFF2-40B4-BE49-F238E27FC236}">
                <a16:creationId xmlns:a16="http://schemas.microsoft.com/office/drawing/2014/main" id="{B5492FC1-0CED-4171-A0A8-6FFD665124D3}"/>
              </a:ext>
            </a:extLst>
          </p:cNvPr>
          <p:cNvPicPr>
            <a:picLocks/>
          </p:cNvPicPr>
          <p:nvPr/>
        </p:nvPicPr>
        <p:blipFill rotWithShape="1">
          <a:blip r:embed="rId9">
            <a:extLst>
              <a:ext uri="{28A0092B-C50C-407E-A947-70E740481C1C}">
                <a14:useLocalDpi xmlns:a14="http://schemas.microsoft.com/office/drawing/2010/main" val="0"/>
              </a:ext>
            </a:extLst>
          </a:blip>
          <a:srcRect l="20704" r="59887" b="51906"/>
          <a:stretch/>
        </p:blipFill>
        <p:spPr>
          <a:xfrm>
            <a:off x="572461" y="4034592"/>
            <a:ext cx="978873" cy="1058859"/>
          </a:xfrm>
          <a:prstGeom prst="rect">
            <a:avLst/>
          </a:prstGeom>
        </p:spPr>
      </p:pic>
      <p:sp>
        <p:nvSpPr>
          <p:cNvPr id="3" name="Slide Number Placeholder 2"/>
          <p:cNvSpPr>
            <a:spLocks noGrp="1"/>
          </p:cNvSpPr>
          <p:nvPr>
            <p:ph type="sldNum" sz="quarter" idx="12"/>
          </p:nvPr>
        </p:nvSpPr>
        <p:spPr/>
        <p:txBody>
          <a:bodyPr/>
          <a:lstStyle/>
          <a:p>
            <a:fld id="{81B7CCDB-6D39-0547-B7B3-C80E39D6513A}" type="slidenum">
              <a:rPr lang="en-US" smtClean="0"/>
              <a:pPr/>
              <a:t>46</a:t>
            </a:fld>
            <a:endParaRPr lang="en-US"/>
          </a:p>
        </p:txBody>
      </p:sp>
      <p:pic>
        <p:nvPicPr>
          <p:cNvPr id="45" name="Picture 4">
            <a:extLst>
              <a:ext uri="{FF2B5EF4-FFF2-40B4-BE49-F238E27FC236}">
                <a16:creationId xmlns:a16="http://schemas.microsoft.com/office/drawing/2014/main" id="{262B01B2-DB45-4AEA-BDB2-355D80875B67}"/>
              </a:ext>
            </a:extLst>
          </p:cNvPr>
          <p:cNvPicPr>
            <a:picLocks noChangeAspect="1"/>
          </p:cNvPicPr>
          <p:nvPr/>
        </p:nvPicPr>
        <p:blipFill rotWithShape="1">
          <a:blip r:embed="rId9">
            <a:extLst>
              <a:ext uri="{28A0092B-C50C-407E-A947-70E740481C1C}">
                <a14:useLocalDpi xmlns:a14="http://schemas.microsoft.com/office/drawing/2010/main" val="0"/>
              </a:ext>
            </a:extLst>
          </a:blip>
          <a:srcRect l="20704" r="59887" b="51906"/>
          <a:stretch/>
        </p:blipFill>
        <p:spPr>
          <a:xfrm>
            <a:off x="7116841" y="2495770"/>
            <a:ext cx="254752" cy="269546"/>
          </a:xfrm>
          <a:prstGeom prst="rect">
            <a:avLst/>
          </a:prstGeom>
        </p:spPr>
      </p:pic>
    </p:spTree>
    <p:extLst>
      <p:ext uri="{BB962C8B-B14F-4D97-AF65-F5344CB8AC3E}">
        <p14:creationId xmlns:p14="http://schemas.microsoft.com/office/powerpoint/2010/main" val="193355692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9292" y="160260"/>
            <a:ext cx="11493416" cy="767276"/>
          </a:xfrm>
        </p:spPr>
        <p:txBody>
          <a:bodyPr/>
          <a:lstStyle/>
          <a:p>
            <a:r>
              <a:rPr lang="en-US"/>
              <a:t>Blending Latent Variables</a:t>
            </a:r>
          </a:p>
        </p:txBody>
      </p:sp>
      <p:pic>
        <p:nvPicPr>
          <p:cNvPr id="27" name="Picture 3">
            <a:extLst>
              <a:ext uri="{FF2B5EF4-FFF2-40B4-BE49-F238E27FC236}">
                <a16:creationId xmlns:a16="http://schemas.microsoft.com/office/drawing/2014/main" id="{3F7EF02D-39D9-4C5E-8150-92E66E1BBD87}"/>
              </a:ext>
            </a:extLst>
          </p:cNvPr>
          <p:cNvPicPr>
            <a:picLocks noChangeAspect="1"/>
          </p:cNvPicPr>
          <p:nvPr/>
        </p:nvPicPr>
        <p:blipFill rotWithShape="1">
          <a:blip r:embed="rId3">
            <a:extLst>
              <a:ext uri="{28A0092B-C50C-407E-A947-70E740481C1C}">
                <a14:useLocalDpi xmlns:a14="http://schemas.microsoft.com/office/drawing/2010/main" val="0"/>
              </a:ext>
            </a:extLst>
          </a:blip>
          <a:srcRect l="71777" t="-2162" r="8791" b="78285"/>
          <a:stretch/>
        </p:blipFill>
        <p:spPr>
          <a:xfrm>
            <a:off x="4111703" y="1816145"/>
            <a:ext cx="1758751" cy="767276"/>
          </a:xfrm>
          <a:prstGeom prst="rect">
            <a:avLst/>
          </a:prstGeom>
        </p:spPr>
      </p:pic>
      <p:pic>
        <p:nvPicPr>
          <p:cNvPr id="28" name="Picture 3">
            <a:extLst>
              <a:ext uri="{FF2B5EF4-FFF2-40B4-BE49-F238E27FC236}">
                <a16:creationId xmlns:a16="http://schemas.microsoft.com/office/drawing/2014/main" id="{57FEDE17-5EEE-4D1A-8E53-F32F065CB546}"/>
              </a:ext>
            </a:extLst>
          </p:cNvPr>
          <p:cNvPicPr>
            <a:picLocks noChangeAspect="1"/>
          </p:cNvPicPr>
          <p:nvPr/>
        </p:nvPicPr>
        <p:blipFill rotWithShape="1">
          <a:blip r:embed="rId3">
            <a:extLst>
              <a:ext uri="{28A0092B-C50C-407E-A947-70E740481C1C}">
                <a14:useLocalDpi xmlns:a14="http://schemas.microsoft.com/office/drawing/2010/main" val="0"/>
              </a:ext>
            </a:extLst>
          </a:blip>
          <a:srcRect l="50857" t="23883" r="28858" b="50073"/>
          <a:stretch/>
        </p:blipFill>
        <p:spPr>
          <a:xfrm>
            <a:off x="3810233" y="2731765"/>
            <a:ext cx="1835902" cy="836937"/>
          </a:xfrm>
          <a:prstGeom prst="rect">
            <a:avLst/>
          </a:prstGeom>
        </p:spPr>
      </p:pic>
      <p:sp>
        <p:nvSpPr>
          <p:cNvPr id="9" name="Rectángulo 8">
            <a:extLst>
              <a:ext uri="{FF2B5EF4-FFF2-40B4-BE49-F238E27FC236}">
                <a16:creationId xmlns:a16="http://schemas.microsoft.com/office/drawing/2014/main" id="{C5767CAC-93DA-4409-9752-3CF4B526EF1F}"/>
              </a:ext>
            </a:extLst>
          </p:cNvPr>
          <p:cNvSpPr/>
          <p:nvPr/>
        </p:nvSpPr>
        <p:spPr>
          <a:xfrm>
            <a:off x="5695120" y="1628974"/>
            <a:ext cx="3474720" cy="3826413"/>
          </a:xfrm>
          <a:prstGeom prst="rect">
            <a:avLst/>
          </a:prstGeom>
          <a:solidFill>
            <a:schemeClr val="bg1"/>
          </a:solid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TextBox 7">
            <a:extLst>
              <a:ext uri="{FF2B5EF4-FFF2-40B4-BE49-F238E27FC236}">
                <a16:creationId xmlns:a16="http://schemas.microsoft.com/office/drawing/2014/main" id="{75471C91-6907-43BD-81A0-789B29243A94}"/>
              </a:ext>
            </a:extLst>
          </p:cNvPr>
          <p:cNvSpPr txBox="1"/>
          <p:nvPr/>
        </p:nvSpPr>
        <p:spPr>
          <a:xfrm>
            <a:off x="5791620" y="1105754"/>
            <a:ext cx="3281720" cy="523220"/>
          </a:xfrm>
          <a:prstGeom prst="rect">
            <a:avLst/>
          </a:prstGeom>
          <a:noFill/>
        </p:spPr>
        <p:txBody>
          <a:bodyPr wrap="square" rtlCol="0">
            <a:spAutoFit/>
          </a:bodyPr>
          <a:lstStyle/>
          <a:p>
            <a:pPr algn="ctr"/>
            <a:r>
              <a:rPr lang="en-US" sz="2800">
                <a:solidFill>
                  <a:schemeClr val="tx1">
                    <a:lumMod val="75000"/>
                    <a:lumOff val="25000"/>
                  </a:schemeClr>
                </a:solidFill>
                <a:latin typeface="Karla" charset="0"/>
                <a:ea typeface="Karla" charset="0"/>
                <a:cs typeface="Karla" charset="0"/>
              </a:rPr>
              <a:t>Latent Space</a:t>
            </a:r>
            <a:endParaRPr lang="en-US" sz="2800" i="1">
              <a:solidFill>
                <a:schemeClr val="tx1">
                  <a:lumMod val="75000"/>
                  <a:lumOff val="25000"/>
                </a:schemeClr>
              </a:solidFill>
              <a:latin typeface="Karla" charset="0"/>
              <a:ea typeface="Karla" charset="0"/>
              <a:cs typeface="Karla" charset="0"/>
            </a:endParaRPr>
          </a:p>
        </p:txBody>
      </p:sp>
      <p:cxnSp>
        <p:nvCxnSpPr>
          <p:cNvPr id="20" name="Straight Arrow Connector 24">
            <a:extLst>
              <a:ext uri="{FF2B5EF4-FFF2-40B4-BE49-F238E27FC236}">
                <a16:creationId xmlns:a16="http://schemas.microsoft.com/office/drawing/2014/main" id="{8357E5F4-CE4A-4BE0-BE18-5A16157A4168}"/>
              </a:ext>
            </a:extLst>
          </p:cNvPr>
          <p:cNvCxnSpPr/>
          <p:nvPr/>
        </p:nvCxnSpPr>
        <p:spPr>
          <a:xfrm flipV="1">
            <a:off x="2863460" y="2898253"/>
            <a:ext cx="528203" cy="413431"/>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21" name="Rectangle 26">
            <a:extLst>
              <a:ext uri="{FF2B5EF4-FFF2-40B4-BE49-F238E27FC236}">
                <a16:creationId xmlns:a16="http://schemas.microsoft.com/office/drawing/2014/main" id="{7663EC45-4979-4427-95AC-41C2528EF079}"/>
              </a:ext>
            </a:extLst>
          </p:cNvPr>
          <p:cNvSpPr/>
          <p:nvPr/>
        </p:nvSpPr>
        <p:spPr>
          <a:xfrm>
            <a:off x="3417538" y="2024970"/>
            <a:ext cx="400704" cy="1131570"/>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3600" i="1"/>
          </a:p>
        </p:txBody>
      </p:sp>
      <p:sp>
        <p:nvSpPr>
          <p:cNvPr id="22" name="Rectangle 29">
            <a:extLst>
              <a:ext uri="{FF2B5EF4-FFF2-40B4-BE49-F238E27FC236}">
                <a16:creationId xmlns:a16="http://schemas.microsoft.com/office/drawing/2014/main" id="{3926F3BB-EA7C-4C8B-8D46-66C95DFD8443}"/>
              </a:ext>
            </a:extLst>
          </p:cNvPr>
          <p:cNvSpPr/>
          <p:nvPr/>
        </p:nvSpPr>
        <p:spPr>
          <a:xfrm>
            <a:off x="3412674" y="3791651"/>
            <a:ext cx="400704" cy="1131570"/>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3600" i="1"/>
          </a:p>
        </p:txBody>
      </p:sp>
      <p:cxnSp>
        <p:nvCxnSpPr>
          <p:cNvPr id="23" name="Straight Arrow Connector 30">
            <a:extLst>
              <a:ext uri="{FF2B5EF4-FFF2-40B4-BE49-F238E27FC236}">
                <a16:creationId xmlns:a16="http://schemas.microsoft.com/office/drawing/2014/main" id="{8E64302A-A018-4292-B980-CFFE03B6B1B2}"/>
              </a:ext>
            </a:extLst>
          </p:cNvPr>
          <p:cNvCxnSpPr/>
          <p:nvPr/>
        </p:nvCxnSpPr>
        <p:spPr>
          <a:xfrm>
            <a:off x="2865164" y="3636277"/>
            <a:ext cx="504971" cy="349139"/>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32">
            <a:extLst>
              <a:ext uri="{FF2B5EF4-FFF2-40B4-BE49-F238E27FC236}">
                <a16:creationId xmlns:a16="http://schemas.microsoft.com/office/drawing/2014/main" id="{F6A71B2E-AE58-4208-8D0E-7963C9D780BF}"/>
              </a:ext>
            </a:extLst>
          </p:cNvPr>
          <p:cNvCxnSpPr>
            <a:cxnSpLocks/>
            <a:endCxn id="28" idx="2"/>
          </p:cNvCxnSpPr>
          <p:nvPr/>
        </p:nvCxnSpPr>
        <p:spPr>
          <a:xfrm flipV="1">
            <a:off x="3856435" y="3568702"/>
            <a:ext cx="871749" cy="451238"/>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33">
            <a:extLst>
              <a:ext uri="{FF2B5EF4-FFF2-40B4-BE49-F238E27FC236}">
                <a16:creationId xmlns:a16="http://schemas.microsoft.com/office/drawing/2014/main" id="{56F9D3A5-9A1C-4760-9D58-305A9F7235AC}"/>
              </a:ext>
            </a:extLst>
          </p:cNvPr>
          <p:cNvCxnSpPr>
            <a:cxnSpLocks/>
          </p:cNvCxnSpPr>
          <p:nvPr/>
        </p:nvCxnSpPr>
        <p:spPr>
          <a:xfrm>
            <a:off x="3859218" y="2898253"/>
            <a:ext cx="577147" cy="444125"/>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graphicFrame>
        <p:nvGraphicFramePr>
          <p:cNvPr id="26" name="Content Placeholder 3">
            <a:extLst>
              <a:ext uri="{FF2B5EF4-FFF2-40B4-BE49-F238E27FC236}">
                <a16:creationId xmlns:a16="http://schemas.microsoft.com/office/drawing/2014/main" id="{34762B13-0B39-4FE9-9CDA-DD9EF92FBF1C}"/>
              </a:ext>
            </a:extLst>
          </p:cNvPr>
          <p:cNvGraphicFramePr>
            <a:graphicFrameLocks noChangeAspect="1"/>
          </p:cNvGraphicFramePr>
          <p:nvPr/>
        </p:nvGraphicFramePr>
        <p:xfrm>
          <a:off x="2955007" y="4952849"/>
          <a:ext cx="1316037" cy="468492"/>
        </p:xfrm>
        <a:graphic>
          <a:graphicData uri="http://schemas.openxmlformats.org/presentationml/2006/ole">
            <mc:AlternateContent xmlns:mc="http://schemas.openxmlformats.org/markup-compatibility/2006">
              <mc:Choice xmlns:v="urn:schemas-microsoft-com:vml" Requires="v">
                <p:oleObj spid="_x0000_s7171" name="Equation" r:id="rId4" imgW="533400" imgH="190500" progId="Equation.3">
                  <p:embed/>
                </p:oleObj>
              </mc:Choice>
              <mc:Fallback>
                <p:oleObj name="Equation" r:id="rId4" imgW="533400" imgH="190500" progId="Equation.3">
                  <p:embed/>
                  <p:pic>
                    <p:nvPicPr>
                      <p:cNvPr id="26" name="Content Placeholder 3">
                        <a:extLst>
                          <a:ext uri="{FF2B5EF4-FFF2-40B4-BE49-F238E27FC236}">
                            <a16:creationId xmlns:a16="http://schemas.microsoft.com/office/drawing/2014/main" id="{34762B13-0B39-4FE9-9CDA-DD9EF92FBF1C}"/>
                          </a:ext>
                        </a:extLst>
                      </p:cNvPr>
                      <p:cNvPicPr/>
                      <p:nvPr/>
                    </p:nvPicPr>
                    <p:blipFill>
                      <a:blip r:embed="rId5"/>
                      <a:stretch>
                        <a:fillRect/>
                      </a:stretch>
                    </p:blipFill>
                    <p:spPr>
                      <a:xfrm>
                        <a:off x="2955007" y="4952849"/>
                        <a:ext cx="1316037" cy="468492"/>
                      </a:xfrm>
                      <a:prstGeom prst="rect">
                        <a:avLst/>
                      </a:prstGeom>
                    </p:spPr>
                  </p:pic>
                </p:oleObj>
              </mc:Fallback>
            </mc:AlternateContent>
          </a:graphicData>
        </a:graphic>
      </p:graphicFrame>
      <p:graphicFrame>
        <p:nvGraphicFramePr>
          <p:cNvPr id="33" name="Content Placeholder 3">
            <a:extLst>
              <a:ext uri="{FF2B5EF4-FFF2-40B4-BE49-F238E27FC236}">
                <a16:creationId xmlns:a16="http://schemas.microsoft.com/office/drawing/2014/main" id="{4907A32F-2B40-497A-B62B-0380AD197925}"/>
              </a:ext>
            </a:extLst>
          </p:cNvPr>
          <p:cNvGraphicFramePr>
            <a:graphicFrameLocks noChangeAspect="1"/>
          </p:cNvGraphicFramePr>
          <p:nvPr/>
        </p:nvGraphicFramePr>
        <p:xfrm>
          <a:off x="3168728" y="1584706"/>
          <a:ext cx="942975" cy="425450"/>
        </p:xfrm>
        <a:graphic>
          <a:graphicData uri="http://schemas.openxmlformats.org/presentationml/2006/ole">
            <mc:AlternateContent xmlns:mc="http://schemas.openxmlformats.org/markup-compatibility/2006">
              <mc:Choice xmlns:v="urn:schemas-microsoft-com:vml" Requires="v">
                <p:oleObj spid="_x0000_s7172" name="Equation" r:id="rId6" imgW="393700" imgH="177800" progId="Equation.3">
                  <p:embed/>
                </p:oleObj>
              </mc:Choice>
              <mc:Fallback>
                <p:oleObj name="Equation" r:id="rId6" imgW="393700" imgH="177800" progId="Equation.3">
                  <p:embed/>
                  <p:pic>
                    <p:nvPicPr>
                      <p:cNvPr id="33" name="Content Placeholder 3">
                        <a:extLst>
                          <a:ext uri="{FF2B5EF4-FFF2-40B4-BE49-F238E27FC236}">
                            <a16:creationId xmlns:a16="http://schemas.microsoft.com/office/drawing/2014/main" id="{4907A32F-2B40-497A-B62B-0380AD197925}"/>
                          </a:ext>
                        </a:extLst>
                      </p:cNvPr>
                      <p:cNvPicPr/>
                      <p:nvPr/>
                    </p:nvPicPr>
                    <p:blipFill>
                      <a:blip r:embed="rId7"/>
                      <a:stretch>
                        <a:fillRect/>
                      </a:stretch>
                    </p:blipFill>
                    <p:spPr>
                      <a:xfrm>
                        <a:off x="3168728" y="1584706"/>
                        <a:ext cx="942975" cy="425450"/>
                      </a:xfrm>
                      <a:prstGeom prst="rect">
                        <a:avLst/>
                      </a:prstGeom>
                    </p:spPr>
                  </p:pic>
                </p:oleObj>
              </mc:Fallback>
            </mc:AlternateContent>
          </a:graphicData>
        </a:graphic>
      </p:graphicFrame>
      <p:sp>
        <p:nvSpPr>
          <p:cNvPr id="34" name="Elipse 33">
            <a:extLst>
              <a:ext uri="{FF2B5EF4-FFF2-40B4-BE49-F238E27FC236}">
                <a16:creationId xmlns:a16="http://schemas.microsoft.com/office/drawing/2014/main" id="{4C910D88-19BF-4C95-8965-2A8C46DD61A0}"/>
              </a:ext>
            </a:extLst>
          </p:cNvPr>
          <p:cNvSpPr/>
          <p:nvPr/>
        </p:nvSpPr>
        <p:spPr>
          <a:xfrm>
            <a:off x="6607112" y="2305460"/>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0" name="Picture 2">
            <a:extLst>
              <a:ext uri="{FF2B5EF4-FFF2-40B4-BE49-F238E27FC236}">
                <a16:creationId xmlns:a16="http://schemas.microsoft.com/office/drawing/2014/main" id="{C8A6CD68-1A1A-4032-9C36-7BBAB37DC9C1}"/>
              </a:ext>
            </a:extLst>
          </p:cNvPr>
          <p:cNvPicPr>
            <a:picLocks noChangeAspect="1"/>
          </p:cNvPicPr>
          <p:nvPr/>
        </p:nvPicPr>
        <p:blipFill rotWithShape="1">
          <a:blip r:embed="rId8">
            <a:extLst>
              <a:ext uri="{28A0092B-C50C-407E-A947-70E740481C1C}">
                <a14:useLocalDpi xmlns:a14="http://schemas.microsoft.com/office/drawing/2010/main" val="0"/>
              </a:ext>
            </a:extLst>
          </a:blip>
          <a:srcRect t="34948" r="74857" b="40070"/>
          <a:stretch/>
        </p:blipFill>
        <p:spPr>
          <a:xfrm>
            <a:off x="10473505" y="2944432"/>
            <a:ext cx="1059901" cy="1092743"/>
          </a:xfrm>
          <a:prstGeom prst="rect">
            <a:avLst/>
          </a:prstGeom>
        </p:spPr>
      </p:pic>
      <p:sp>
        <p:nvSpPr>
          <p:cNvPr id="31" name="Elipse 30">
            <a:extLst>
              <a:ext uri="{FF2B5EF4-FFF2-40B4-BE49-F238E27FC236}">
                <a16:creationId xmlns:a16="http://schemas.microsoft.com/office/drawing/2014/main" id="{9F6EA63A-3E39-4D98-AEF0-F435190FC74E}"/>
              </a:ext>
            </a:extLst>
          </p:cNvPr>
          <p:cNvSpPr/>
          <p:nvPr/>
        </p:nvSpPr>
        <p:spPr>
          <a:xfrm>
            <a:off x="6873346" y="2457860"/>
            <a:ext cx="118562" cy="112132"/>
          </a:xfrm>
          <a:prstGeom prst="ellipse">
            <a:avLst/>
          </a:prstGeom>
          <a:solidFill>
            <a:srgbClr val="00B0F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2" name="Conector recto de flecha 31">
            <a:extLst>
              <a:ext uri="{FF2B5EF4-FFF2-40B4-BE49-F238E27FC236}">
                <a16:creationId xmlns:a16="http://schemas.microsoft.com/office/drawing/2014/main" id="{9B5D0855-2371-4C97-B690-9989C38B9764}"/>
              </a:ext>
            </a:extLst>
          </p:cNvPr>
          <p:cNvCxnSpPr>
            <a:cxnSpLocks/>
          </p:cNvCxnSpPr>
          <p:nvPr/>
        </p:nvCxnSpPr>
        <p:spPr>
          <a:xfrm>
            <a:off x="4965935" y="2583421"/>
            <a:ext cx="0" cy="907383"/>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5" name="Elipse 34">
            <a:extLst>
              <a:ext uri="{FF2B5EF4-FFF2-40B4-BE49-F238E27FC236}">
                <a16:creationId xmlns:a16="http://schemas.microsoft.com/office/drawing/2014/main" id="{506A80D3-247D-49F9-A29D-983AE0D2A6E5}"/>
              </a:ext>
            </a:extLst>
          </p:cNvPr>
          <p:cNvSpPr/>
          <p:nvPr/>
        </p:nvSpPr>
        <p:spPr>
          <a:xfrm>
            <a:off x="4906655" y="3476515"/>
            <a:ext cx="118562" cy="112132"/>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6" name="Conector: curvado 35">
            <a:extLst>
              <a:ext uri="{FF2B5EF4-FFF2-40B4-BE49-F238E27FC236}">
                <a16:creationId xmlns:a16="http://schemas.microsoft.com/office/drawing/2014/main" id="{F159575E-B8E1-46F8-AA93-E734A67779BD}"/>
              </a:ext>
            </a:extLst>
          </p:cNvPr>
          <p:cNvCxnSpPr>
            <a:cxnSpLocks/>
          </p:cNvCxnSpPr>
          <p:nvPr/>
        </p:nvCxnSpPr>
        <p:spPr>
          <a:xfrm>
            <a:off x="7065439" y="2569992"/>
            <a:ext cx="2341215" cy="906524"/>
          </a:xfrm>
          <a:prstGeom prst="curvedConnector3">
            <a:avLst>
              <a:gd name="adj1" fmla="val 50000"/>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7" name="Elipse 36">
            <a:extLst>
              <a:ext uri="{FF2B5EF4-FFF2-40B4-BE49-F238E27FC236}">
                <a16:creationId xmlns:a16="http://schemas.microsoft.com/office/drawing/2014/main" id="{A1998CF8-6F2B-452C-B481-E8EF77618155}"/>
              </a:ext>
            </a:extLst>
          </p:cNvPr>
          <p:cNvSpPr/>
          <p:nvPr/>
        </p:nvSpPr>
        <p:spPr>
          <a:xfrm>
            <a:off x="6932465" y="2493906"/>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8" name="Imagen 37">
            <a:extLst>
              <a:ext uri="{FF2B5EF4-FFF2-40B4-BE49-F238E27FC236}">
                <a16:creationId xmlns:a16="http://schemas.microsoft.com/office/drawing/2014/main" id="{F6ECF743-42DE-4019-8120-61E5D1A60BE5}"/>
              </a:ext>
            </a:extLst>
          </p:cNvPr>
          <p:cNvPicPr>
            <a:picLocks noChangeAspect="1"/>
          </p:cNvPicPr>
          <p:nvPr/>
        </p:nvPicPr>
        <p:blipFill>
          <a:blip r:embed="rId9"/>
          <a:stretch>
            <a:fillRect/>
          </a:stretch>
        </p:blipFill>
        <p:spPr>
          <a:xfrm>
            <a:off x="6962489" y="2254444"/>
            <a:ext cx="236612" cy="231578"/>
          </a:xfrm>
          <a:prstGeom prst="rect">
            <a:avLst/>
          </a:prstGeom>
        </p:spPr>
      </p:pic>
      <p:pic>
        <p:nvPicPr>
          <p:cNvPr id="39" name="Picture 4">
            <a:extLst>
              <a:ext uri="{FF2B5EF4-FFF2-40B4-BE49-F238E27FC236}">
                <a16:creationId xmlns:a16="http://schemas.microsoft.com/office/drawing/2014/main" id="{262B01B2-DB45-4AEA-BDB2-355D80875B67}"/>
              </a:ext>
            </a:extLst>
          </p:cNvPr>
          <p:cNvPicPr>
            <a:picLocks noChangeAspect="1"/>
          </p:cNvPicPr>
          <p:nvPr/>
        </p:nvPicPr>
        <p:blipFill rotWithShape="1">
          <a:blip r:embed="rId10">
            <a:extLst>
              <a:ext uri="{28A0092B-C50C-407E-A947-70E740481C1C}">
                <a14:useLocalDpi xmlns:a14="http://schemas.microsoft.com/office/drawing/2010/main" val="0"/>
              </a:ext>
            </a:extLst>
          </a:blip>
          <a:srcRect l="20704" r="59887" b="51906"/>
          <a:stretch/>
        </p:blipFill>
        <p:spPr>
          <a:xfrm>
            <a:off x="6742017" y="2071518"/>
            <a:ext cx="254752" cy="269546"/>
          </a:xfrm>
          <a:prstGeom prst="rect">
            <a:avLst/>
          </a:prstGeom>
        </p:spPr>
      </p:pic>
      <p:sp>
        <p:nvSpPr>
          <p:cNvPr id="41" name="Trapezoid 10">
            <a:extLst>
              <a:ext uri="{FF2B5EF4-FFF2-40B4-BE49-F238E27FC236}">
                <a16:creationId xmlns:a16="http://schemas.microsoft.com/office/drawing/2014/main" id="{8FB8083F-439F-498E-AA81-4B2F6F076C5F}"/>
              </a:ext>
            </a:extLst>
          </p:cNvPr>
          <p:cNvSpPr/>
          <p:nvPr/>
        </p:nvSpPr>
        <p:spPr>
          <a:xfrm rot="5400000" flipV="1">
            <a:off x="8792250" y="3031998"/>
            <a:ext cx="2146430" cy="917619"/>
          </a:xfrm>
          <a:prstGeom prst="trapezoid">
            <a:avLst/>
          </a:prstGeom>
          <a:solidFill>
            <a:schemeClr val="tx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lumMod val="75000"/>
                    <a:lumOff val="25000"/>
                  </a:schemeClr>
                </a:solidFill>
              </a:rPr>
              <a:t>DECODER</a:t>
            </a:r>
          </a:p>
        </p:txBody>
      </p:sp>
      <p:sp>
        <p:nvSpPr>
          <p:cNvPr id="42" name="Trapezoid 10">
            <a:extLst>
              <a:ext uri="{FF2B5EF4-FFF2-40B4-BE49-F238E27FC236}">
                <a16:creationId xmlns:a16="http://schemas.microsoft.com/office/drawing/2014/main" id="{642CC940-2DB2-46FE-A90F-E6E40F75F0AD}"/>
              </a:ext>
            </a:extLst>
          </p:cNvPr>
          <p:cNvSpPr/>
          <p:nvPr/>
        </p:nvSpPr>
        <p:spPr>
          <a:xfrm rot="16200000" flipH="1" flipV="1">
            <a:off x="1228782" y="3033606"/>
            <a:ext cx="2146430" cy="914401"/>
          </a:xfrm>
          <a:prstGeom prst="trapezoid">
            <a:avLst/>
          </a:prstGeom>
          <a:solidFill>
            <a:schemeClr val="tx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lumMod val="75000"/>
                    <a:lumOff val="25000"/>
                  </a:schemeClr>
                </a:solidFill>
              </a:rPr>
              <a:t>ENCODER</a:t>
            </a:r>
          </a:p>
        </p:txBody>
      </p:sp>
      <p:sp>
        <p:nvSpPr>
          <p:cNvPr id="4" name="Slide Number Placeholder 3"/>
          <p:cNvSpPr>
            <a:spLocks noGrp="1"/>
          </p:cNvSpPr>
          <p:nvPr>
            <p:ph type="sldNum" sz="quarter" idx="12"/>
          </p:nvPr>
        </p:nvSpPr>
        <p:spPr/>
        <p:txBody>
          <a:bodyPr/>
          <a:lstStyle/>
          <a:p>
            <a:fld id="{81B7CCDB-6D39-0547-B7B3-C80E39D6513A}" type="slidenum">
              <a:rPr lang="en-US" smtClean="0"/>
              <a:pPr/>
              <a:t>47</a:t>
            </a:fld>
            <a:endParaRPr lang="en-US"/>
          </a:p>
        </p:txBody>
      </p:sp>
      <p:pic>
        <p:nvPicPr>
          <p:cNvPr id="43" name="Imagen 2">
            <a:extLst>
              <a:ext uri="{FF2B5EF4-FFF2-40B4-BE49-F238E27FC236}">
                <a16:creationId xmlns:a16="http://schemas.microsoft.com/office/drawing/2014/main" id="{B681C96D-876A-4292-8ADA-8FFE9B332880}"/>
              </a:ext>
            </a:extLst>
          </p:cNvPr>
          <p:cNvPicPr>
            <a:picLocks/>
          </p:cNvPicPr>
          <p:nvPr/>
        </p:nvPicPr>
        <p:blipFill>
          <a:blip r:embed="rId9"/>
          <a:stretch>
            <a:fillRect/>
          </a:stretch>
        </p:blipFill>
        <p:spPr>
          <a:xfrm>
            <a:off x="595888" y="3104801"/>
            <a:ext cx="914400" cy="914400"/>
          </a:xfrm>
          <a:prstGeom prst="rect">
            <a:avLst/>
          </a:prstGeom>
        </p:spPr>
      </p:pic>
      <p:pic>
        <p:nvPicPr>
          <p:cNvPr id="44" name="Picture 4">
            <a:extLst>
              <a:ext uri="{FF2B5EF4-FFF2-40B4-BE49-F238E27FC236}">
                <a16:creationId xmlns:a16="http://schemas.microsoft.com/office/drawing/2014/main" id="{B5492FC1-0CED-4171-A0A8-6FFD665124D3}"/>
              </a:ext>
            </a:extLst>
          </p:cNvPr>
          <p:cNvPicPr>
            <a:picLocks/>
          </p:cNvPicPr>
          <p:nvPr/>
        </p:nvPicPr>
        <p:blipFill rotWithShape="1">
          <a:blip r:embed="rId10">
            <a:extLst>
              <a:ext uri="{28A0092B-C50C-407E-A947-70E740481C1C}">
                <a14:useLocalDpi xmlns:a14="http://schemas.microsoft.com/office/drawing/2010/main" val="0"/>
              </a:ext>
            </a:extLst>
          </a:blip>
          <a:srcRect l="20704" r="59887" b="51906"/>
          <a:stretch/>
        </p:blipFill>
        <p:spPr>
          <a:xfrm>
            <a:off x="572461" y="2029349"/>
            <a:ext cx="978873" cy="1058859"/>
          </a:xfrm>
          <a:prstGeom prst="rect">
            <a:avLst/>
          </a:prstGeom>
        </p:spPr>
      </p:pic>
      <p:pic>
        <p:nvPicPr>
          <p:cNvPr id="45" name="Picture 4">
            <a:extLst>
              <a:ext uri="{FF2B5EF4-FFF2-40B4-BE49-F238E27FC236}">
                <a16:creationId xmlns:a16="http://schemas.microsoft.com/office/drawing/2014/main" id="{B5492FC1-0CED-4171-A0A8-6FFD665124D3}"/>
              </a:ext>
            </a:extLst>
          </p:cNvPr>
          <p:cNvPicPr>
            <a:picLocks/>
          </p:cNvPicPr>
          <p:nvPr/>
        </p:nvPicPr>
        <p:blipFill rotWithShape="1">
          <a:blip r:embed="rId10">
            <a:extLst>
              <a:ext uri="{28A0092B-C50C-407E-A947-70E740481C1C}">
                <a14:useLocalDpi xmlns:a14="http://schemas.microsoft.com/office/drawing/2010/main" val="0"/>
              </a:ext>
            </a:extLst>
          </a:blip>
          <a:srcRect l="20704" r="59887" b="51906"/>
          <a:stretch/>
        </p:blipFill>
        <p:spPr>
          <a:xfrm>
            <a:off x="572461" y="4053786"/>
            <a:ext cx="978873" cy="1058859"/>
          </a:xfrm>
          <a:prstGeom prst="rect">
            <a:avLst/>
          </a:prstGeom>
        </p:spPr>
      </p:pic>
      <p:pic>
        <p:nvPicPr>
          <p:cNvPr id="46" name="Picture 4">
            <a:extLst>
              <a:ext uri="{FF2B5EF4-FFF2-40B4-BE49-F238E27FC236}">
                <a16:creationId xmlns:a16="http://schemas.microsoft.com/office/drawing/2014/main" id="{262B01B2-DB45-4AEA-BDB2-355D80875B67}"/>
              </a:ext>
            </a:extLst>
          </p:cNvPr>
          <p:cNvPicPr>
            <a:picLocks noChangeAspect="1"/>
          </p:cNvPicPr>
          <p:nvPr/>
        </p:nvPicPr>
        <p:blipFill rotWithShape="1">
          <a:blip r:embed="rId10">
            <a:extLst>
              <a:ext uri="{28A0092B-C50C-407E-A947-70E740481C1C}">
                <a14:useLocalDpi xmlns:a14="http://schemas.microsoft.com/office/drawing/2010/main" val="0"/>
              </a:ext>
            </a:extLst>
          </a:blip>
          <a:srcRect l="20704" r="59887" b="51906"/>
          <a:stretch/>
        </p:blipFill>
        <p:spPr>
          <a:xfrm>
            <a:off x="7116841" y="2495770"/>
            <a:ext cx="254752" cy="269546"/>
          </a:xfrm>
          <a:prstGeom prst="rect">
            <a:avLst/>
          </a:prstGeom>
        </p:spPr>
      </p:pic>
      <p:sp>
        <p:nvSpPr>
          <p:cNvPr id="47" name="TextBox 7">
            <a:extLst>
              <a:ext uri="{FF2B5EF4-FFF2-40B4-BE49-F238E27FC236}">
                <a16:creationId xmlns:a16="http://schemas.microsoft.com/office/drawing/2014/main" id="{2AE5C1A1-555D-4F58-972A-C0F23FE8B0E7}"/>
              </a:ext>
            </a:extLst>
          </p:cNvPr>
          <p:cNvSpPr txBox="1"/>
          <p:nvPr/>
        </p:nvSpPr>
        <p:spPr>
          <a:xfrm>
            <a:off x="88415" y="1033551"/>
            <a:ext cx="5369890" cy="523220"/>
          </a:xfrm>
          <a:prstGeom prst="rect">
            <a:avLst/>
          </a:prstGeom>
          <a:noFill/>
        </p:spPr>
        <p:txBody>
          <a:bodyPr wrap="square" rtlCol="0">
            <a:spAutoFit/>
          </a:bodyPr>
          <a:lstStyle/>
          <a:p>
            <a:pPr algn="ctr"/>
            <a:r>
              <a:rPr lang="en-US" sz="2800" dirty="0">
                <a:solidFill>
                  <a:schemeClr val="tx1">
                    <a:lumMod val="75000"/>
                    <a:lumOff val="25000"/>
                  </a:schemeClr>
                </a:solidFill>
                <a:latin typeface="Karla" charset="0"/>
                <a:ea typeface="Karla" charset="0"/>
                <a:cs typeface="Karla" charset="0"/>
              </a:rPr>
              <a:t>Train with 1</a:t>
            </a:r>
            <a:r>
              <a:rPr lang="en-US" sz="2800" baseline="30000" dirty="0">
                <a:solidFill>
                  <a:schemeClr val="tx1">
                    <a:lumMod val="75000"/>
                    <a:lumOff val="25000"/>
                  </a:schemeClr>
                </a:solidFill>
                <a:latin typeface="Karla" charset="0"/>
                <a:ea typeface="Karla" charset="0"/>
                <a:cs typeface="Karla" charset="0"/>
              </a:rPr>
              <a:t>st</a:t>
            </a:r>
            <a:r>
              <a:rPr lang="en-US" sz="2800" dirty="0">
                <a:solidFill>
                  <a:schemeClr val="tx1">
                    <a:lumMod val="75000"/>
                    <a:lumOff val="25000"/>
                  </a:schemeClr>
                </a:solidFill>
                <a:latin typeface="Karla" charset="0"/>
                <a:ea typeface="Karla" charset="0"/>
                <a:cs typeface="Karla" charset="0"/>
              </a:rPr>
              <a:t> sample again</a:t>
            </a:r>
            <a:endParaRPr lang="en-US" sz="2800" i="1" dirty="0">
              <a:solidFill>
                <a:schemeClr val="tx1">
                  <a:lumMod val="75000"/>
                  <a:lumOff val="25000"/>
                </a:schemeClr>
              </a:solidFill>
              <a:latin typeface="Karla" charset="0"/>
              <a:ea typeface="Karla" charset="0"/>
              <a:cs typeface="Karla" charset="0"/>
            </a:endParaRPr>
          </a:p>
        </p:txBody>
      </p:sp>
    </p:spTree>
    <p:extLst>
      <p:ext uri="{BB962C8B-B14F-4D97-AF65-F5344CB8AC3E}">
        <p14:creationId xmlns:p14="http://schemas.microsoft.com/office/powerpoint/2010/main" val="278167230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ángulo 8">
            <a:extLst>
              <a:ext uri="{FF2B5EF4-FFF2-40B4-BE49-F238E27FC236}">
                <a16:creationId xmlns:a16="http://schemas.microsoft.com/office/drawing/2014/main" id="{C5767CAC-93DA-4409-9752-3CF4B526EF1F}"/>
              </a:ext>
            </a:extLst>
          </p:cNvPr>
          <p:cNvSpPr/>
          <p:nvPr/>
        </p:nvSpPr>
        <p:spPr>
          <a:xfrm>
            <a:off x="5695120" y="1628974"/>
            <a:ext cx="3474720" cy="3826413"/>
          </a:xfrm>
          <a:prstGeom prst="rect">
            <a:avLst/>
          </a:prstGeom>
          <a:solidFill>
            <a:schemeClr val="bg1"/>
          </a:solid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 name="TextBox 7">
            <a:extLst>
              <a:ext uri="{FF2B5EF4-FFF2-40B4-BE49-F238E27FC236}">
                <a16:creationId xmlns:a16="http://schemas.microsoft.com/office/drawing/2014/main" id="{DE2B0A7E-7D27-4BC6-A3C2-54A95CA5FF88}"/>
              </a:ext>
            </a:extLst>
          </p:cNvPr>
          <p:cNvSpPr txBox="1"/>
          <p:nvPr/>
        </p:nvSpPr>
        <p:spPr>
          <a:xfrm>
            <a:off x="5321206" y="3254299"/>
            <a:ext cx="4282586" cy="707886"/>
          </a:xfrm>
          <a:prstGeom prst="rect">
            <a:avLst/>
          </a:prstGeom>
          <a:noFill/>
        </p:spPr>
        <p:txBody>
          <a:bodyPr wrap="square" rtlCol="0">
            <a:spAutoFit/>
          </a:bodyPr>
          <a:lstStyle/>
          <a:p>
            <a:pPr algn="ctr"/>
            <a:r>
              <a:rPr lang="en-US" sz="2000">
                <a:solidFill>
                  <a:schemeClr val="tx1">
                    <a:lumMod val="75000"/>
                    <a:lumOff val="25000"/>
                  </a:schemeClr>
                </a:solidFill>
                <a:latin typeface="Karla" charset="0"/>
                <a:ea typeface="Karla" charset="0"/>
                <a:cs typeface="Karla" charset="0"/>
              </a:rPr>
              <a:t>Latent space  starts to </a:t>
            </a:r>
          </a:p>
          <a:p>
            <a:pPr algn="ctr"/>
            <a:r>
              <a:rPr lang="es-ES" sz="2000">
                <a:solidFill>
                  <a:schemeClr val="tx1">
                    <a:lumMod val="75000"/>
                    <a:lumOff val="25000"/>
                  </a:schemeClr>
                </a:solidFill>
                <a:latin typeface="Karla" charset="0"/>
                <a:ea typeface="Karla" charset="0"/>
                <a:cs typeface="Karla" charset="0"/>
              </a:rPr>
              <a:t>r</a:t>
            </a:r>
            <a:r>
              <a:rPr lang="en-US" sz="2000">
                <a:solidFill>
                  <a:schemeClr val="tx1">
                    <a:lumMod val="75000"/>
                    <a:lumOff val="25000"/>
                  </a:schemeClr>
                </a:solidFill>
                <a:latin typeface="Karla" charset="0"/>
                <a:ea typeface="Karla" charset="0"/>
                <a:cs typeface="Karla" charset="0"/>
              </a:rPr>
              <a:t>e-organize</a:t>
            </a:r>
          </a:p>
        </p:txBody>
      </p:sp>
      <p:sp>
        <p:nvSpPr>
          <p:cNvPr id="2" name="Title 1"/>
          <p:cNvSpPr>
            <a:spLocks noGrp="1"/>
          </p:cNvSpPr>
          <p:nvPr>
            <p:ph type="title"/>
          </p:nvPr>
        </p:nvSpPr>
        <p:spPr>
          <a:xfrm>
            <a:off x="349292" y="160260"/>
            <a:ext cx="11493416" cy="767276"/>
          </a:xfrm>
        </p:spPr>
        <p:txBody>
          <a:bodyPr/>
          <a:lstStyle/>
          <a:p>
            <a:r>
              <a:rPr lang="en-US"/>
              <a:t>Blending Latent Variables</a:t>
            </a:r>
          </a:p>
        </p:txBody>
      </p:sp>
      <p:pic>
        <p:nvPicPr>
          <p:cNvPr id="27" name="Picture 3">
            <a:extLst>
              <a:ext uri="{FF2B5EF4-FFF2-40B4-BE49-F238E27FC236}">
                <a16:creationId xmlns:a16="http://schemas.microsoft.com/office/drawing/2014/main" id="{3F7EF02D-39D9-4C5E-8150-92E66E1BBD87}"/>
              </a:ext>
            </a:extLst>
          </p:cNvPr>
          <p:cNvPicPr>
            <a:picLocks noChangeAspect="1"/>
          </p:cNvPicPr>
          <p:nvPr/>
        </p:nvPicPr>
        <p:blipFill rotWithShape="1">
          <a:blip r:embed="rId3">
            <a:extLst>
              <a:ext uri="{28A0092B-C50C-407E-A947-70E740481C1C}">
                <a14:useLocalDpi xmlns:a14="http://schemas.microsoft.com/office/drawing/2010/main" val="0"/>
              </a:ext>
            </a:extLst>
          </a:blip>
          <a:srcRect l="71777" t="-2162" r="8791" b="78285"/>
          <a:stretch/>
        </p:blipFill>
        <p:spPr>
          <a:xfrm>
            <a:off x="4111703" y="1816145"/>
            <a:ext cx="1758751" cy="767276"/>
          </a:xfrm>
          <a:prstGeom prst="rect">
            <a:avLst/>
          </a:prstGeom>
        </p:spPr>
      </p:pic>
      <p:pic>
        <p:nvPicPr>
          <p:cNvPr id="28" name="Picture 3">
            <a:extLst>
              <a:ext uri="{FF2B5EF4-FFF2-40B4-BE49-F238E27FC236}">
                <a16:creationId xmlns:a16="http://schemas.microsoft.com/office/drawing/2014/main" id="{57FEDE17-5EEE-4D1A-8E53-F32F065CB546}"/>
              </a:ext>
            </a:extLst>
          </p:cNvPr>
          <p:cNvPicPr>
            <a:picLocks noChangeAspect="1"/>
          </p:cNvPicPr>
          <p:nvPr/>
        </p:nvPicPr>
        <p:blipFill rotWithShape="1">
          <a:blip r:embed="rId3">
            <a:extLst>
              <a:ext uri="{28A0092B-C50C-407E-A947-70E740481C1C}">
                <a14:useLocalDpi xmlns:a14="http://schemas.microsoft.com/office/drawing/2010/main" val="0"/>
              </a:ext>
            </a:extLst>
          </a:blip>
          <a:srcRect l="50857" t="23883" r="28858" b="50073"/>
          <a:stretch/>
        </p:blipFill>
        <p:spPr>
          <a:xfrm>
            <a:off x="3810233" y="2731765"/>
            <a:ext cx="1835902" cy="836937"/>
          </a:xfrm>
          <a:prstGeom prst="rect">
            <a:avLst/>
          </a:prstGeom>
        </p:spPr>
      </p:pic>
      <p:sp>
        <p:nvSpPr>
          <p:cNvPr id="10" name="TextBox 7">
            <a:extLst>
              <a:ext uri="{FF2B5EF4-FFF2-40B4-BE49-F238E27FC236}">
                <a16:creationId xmlns:a16="http://schemas.microsoft.com/office/drawing/2014/main" id="{75471C91-6907-43BD-81A0-789B29243A94}"/>
              </a:ext>
            </a:extLst>
          </p:cNvPr>
          <p:cNvSpPr txBox="1"/>
          <p:nvPr/>
        </p:nvSpPr>
        <p:spPr>
          <a:xfrm>
            <a:off x="5791620" y="1105754"/>
            <a:ext cx="3281720" cy="523220"/>
          </a:xfrm>
          <a:prstGeom prst="rect">
            <a:avLst/>
          </a:prstGeom>
          <a:noFill/>
        </p:spPr>
        <p:txBody>
          <a:bodyPr wrap="square" rtlCol="0">
            <a:spAutoFit/>
          </a:bodyPr>
          <a:lstStyle/>
          <a:p>
            <a:pPr algn="ctr"/>
            <a:r>
              <a:rPr lang="en-US" sz="2800">
                <a:solidFill>
                  <a:schemeClr val="tx1">
                    <a:lumMod val="75000"/>
                    <a:lumOff val="25000"/>
                  </a:schemeClr>
                </a:solidFill>
                <a:latin typeface="Karla" charset="0"/>
                <a:ea typeface="Karla" charset="0"/>
                <a:cs typeface="Karla" charset="0"/>
              </a:rPr>
              <a:t>Latent Space</a:t>
            </a:r>
            <a:endParaRPr lang="en-US" sz="2800" i="1">
              <a:solidFill>
                <a:schemeClr val="tx1">
                  <a:lumMod val="75000"/>
                  <a:lumOff val="25000"/>
                </a:schemeClr>
              </a:solidFill>
              <a:latin typeface="Karla" charset="0"/>
              <a:ea typeface="Karla" charset="0"/>
              <a:cs typeface="Karla" charset="0"/>
            </a:endParaRPr>
          </a:p>
        </p:txBody>
      </p:sp>
      <p:cxnSp>
        <p:nvCxnSpPr>
          <p:cNvPr id="20" name="Straight Arrow Connector 24">
            <a:extLst>
              <a:ext uri="{FF2B5EF4-FFF2-40B4-BE49-F238E27FC236}">
                <a16:creationId xmlns:a16="http://schemas.microsoft.com/office/drawing/2014/main" id="{8357E5F4-CE4A-4BE0-BE18-5A16157A4168}"/>
              </a:ext>
            </a:extLst>
          </p:cNvPr>
          <p:cNvCxnSpPr/>
          <p:nvPr/>
        </p:nvCxnSpPr>
        <p:spPr>
          <a:xfrm flipV="1">
            <a:off x="2863460" y="2898253"/>
            <a:ext cx="528203" cy="413431"/>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21" name="Rectangle 26">
            <a:extLst>
              <a:ext uri="{FF2B5EF4-FFF2-40B4-BE49-F238E27FC236}">
                <a16:creationId xmlns:a16="http://schemas.microsoft.com/office/drawing/2014/main" id="{7663EC45-4979-4427-95AC-41C2528EF079}"/>
              </a:ext>
            </a:extLst>
          </p:cNvPr>
          <p:cNvSpPr/>
          <p:nvPr/>
        </p:nvSpPr>
        <p:spPr>
          <a:xfrm>
            <a:off x="3417538" y="2024970"/>
            <a:ext cx="400704" cy="1131570"/>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3600" i="1"/>
          </a:p>
        </p:txBody>
      </p:sp>
      <p:sp>
        <p:nvSpPr>
          <p:cNvPr id="22" name="Rectangle 29">
            <a:extLst>
              <a:ext uri="{FF2B5EF4-FFF2-40B4-BE49-F238E27FC236}">
                <a16:creationId xmlns:a16="http://schemas.microsoft.com/office/drawing/2014/main" id="{3926F3BB-EA7C-4C8B-8D46-66C95DFD8443}"/>
              </a:ext>
            </a:extLst>
          </p:cNvPr>
          <p:cNvSpPr/>
          <p:nvPr/>
        </p:nvSpPr>
        <p:spPr>
          <a:xfrm>
            <a:off x="3412674" y="3791651"/>
            <a:ext cx="400704" cy="1131570"/>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3600" i="1"/>
          </a:p>
        </p:txBody>
      </p:sp>
      <p:cxnSp>
        <p:nvCxnSpPr>
          <p:cNvPr id="23" name="Straight Arrow Connector 30">
            <a:extLst>
              <a:ext uri="{FF2B5EF4-FFF2-40B4-BE49-F238E27FC236}">
                <a16:creationId xmlns:a16="http://schemas.microsoft.com/office/drawing/2014/main" id="{8E64302A-A018-4292-B980-CFFE03B6B1B2}"/>
              </a:ext>
            </a:extLst>
          </p:cNvPr>
          <p:cNvCxnSpPr/>
          <p:nvPr/>
        </p:nvCxnSpPr>
        <p:spPr>
          <a:xfrm>
            <a:off x="2865164" y="3636277"/>
            <a:ext cx="504971" cy="349139"/>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32">
            <a:extLst>
              <a:ext uri="{FF2B5EF4-FFF2-40B4-BE49-F238E27FC236}">
                <a16:creationId xmlns:a16="http://schemas.microsoft.com/office/drawing/2014/main" id="{F6A71B2E-AE58-4208-8D0E-7963C9D780BF}"/>
              </a:ext>
            </a:extLst>
          </p:cNvPr>
          <p:cNvCxnSpPr>
            <a:cxnSpLocks/>
            <a:endCxn id="28" idx="2"/>
          </p:cNvCxnSpPr>
          <p:nvPr/>
        </p:nvCxnSpPr>
        <p:spPr>
          <a:xfrm flipV="1">
            <a:off x="3856435" y="3568702"/>
            <a:ext cx="871749" cy="451238"/>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33">
            <a:extLst>
              <a:ext uri="{FF2B5EF4-FFF2-40B4-BE49-F238E27FC236}">
                <a16:creationId xmlns:a16="http://schemas.microsoft.com/office/drawing/2014/main" id="{56F9D3A5-9A1C-4760-9D58-305A9F7235AC}"/>
              </a:ext>
            </a:extLst>
          </p:cNvPr>
          <p:cNvCxnSpPr>
            <a:cxnSpLocks/>
          </p:cNvCxnSpPr>
          <p:nvPr/>
        </p:nvCxnSpPr>
        <p:spPr>
          <a:xfrm>
            <a:off x="3859218" y="2898253"/>
            <a:ext cx="577147" cy="444125"/>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graphicFrame>
        <p:nvGraphicFramePr>
          <p:cNvPr id="26" name="Content Placeholder 3">
            <a:extLst>
              <a:ext uri="{FF2B5EF4-FFF2-40B4-BE49-F238E27FC236}">
                <a16:creationId xmlns:a16="http://schemas.microsoft.com/office/drawing/2014/main" id="{34762B13-0B39-4FE9-9CDA-DD9EF92FBF1C}"/>
              </a:ext>
            </a:extLst>
          </p:cNvPr>
          <p:cNvGraphicFramePr>
            <a:graphicFrameLocks noChangeAspect="1"/>
          </p:cNvGraphicFramePr>
          <p:nvPr/>
        </p:nvGraphicFramePr>
        <p:xfrm>
          <a:off x="2955007" y="4952849"/>
          <a:ext cx="1316037" cy="468492"/>
        </p:xfrm>
        <a:graphic>
          <a:graphicData uri="http://schemas.openxmlformats.org/presentationml/2006/ole">
            <mc:AlternateContent xmlns:mc="http://schemas.openxmlformats.org/markup-compatibility/2006">
              <mc:Choice xmlns:v="urn:schemas-microsoft-com:vml" Requires="v">
                <p:oleObj spid="_x0000_s8195" name="Equation" r:id="rId4" imgW="533400" imgH="190500" progId="Equation.3">
                  <p:embed/>
                </p:oleObj>
              </mc:Choice>
              <mc:Fallback>
                <p:oleObj name="Equation" r:id="rId4" imgW="533400" imgH="190500" progId="Equation.3">
                  <p:embed/>
                  <p:pic>
                    <p:nvPicPr>
                      <p:cNvPr id="26" name="Content Placeholder 3">
                        <a:extLst>
                          <a:ext uri="{FF2B5EF4-FFF2-40B4-BE49-F238E27FC236}">
                            <a16:creationId xmlns:a16="http://schemas.microsoft.com/office/drawing/2014/main" id="{34762B13-0B39-4FE9-9CDA-DD9EF92FBF1C}"/>
                          </a:ext>
                        </a:extLst>
                      </p:cNvPr>
                      <p:cNvPicPr/>
                      <p:nvPr/>
                    </p:nvPicPr>
                    <p:blipFill>
                      <a:blip r:embed="rId5"/>
                      <a:stretch>
                        <a:fillRect/>
                      </a:stretch>
                    </p:blipFill>
                    <p:spPr>
                      <a:xfrm>
                        <a:off x="2955007" y="4952849"/>
                        <a:ext cx="1316037" cy="468492"/>
                      </a:xfrm>
                      <a:prstGeom prst="rect">
                        <a:avLst/>
                      </a:prstGeom>
                    </p:spPr>
                  </p:pic>
                </p:oleObj>
              </mc:Fallback>
            </mc:AlternateContent>
          </a:graphicData>
        </a:graphic>
      </p:graphicFrame>
      <p:graphicFrame>
        <p:nvGraphicFramePr>
          <p:cNvPr id="33" name="Content Placeholder 3">
            <a:extLst>
              <a:ext uri="{FF2B5EF4-FFF2-40B4-BE49-F238E27FC236}">
                <a16:creationId xmlns:a16="http://schemas.microsoft.com/office/drawing/2014/main" id="{4907A32F-2B40-497A-B62B-0380AD197925}"/>
              </a:ext>
            </a:extLst>
          </p:cNvPr>
          <p:cNvGraphicFramePr>
            <a:graphicFrameLocks noChangeAspect="1"/>
          </p:cNvGraphicFramePr>
          <p:nvPr/>
        </p:nvGraphicFramePr>
        <p:xfrm>
          <a:off x="3168728" y="1584706"/>
          <a:ext cx="942975" cy="425450"/>
        </p:xfrm>
        <a:graphic>
          <a:graphicData uri="http://schemas.openxmlformats.org/presentationml/2006/ole">
            <mc:AlternateContent xmlns:mc="http://schemas.openxmlformats.org/markup-compatibility/2006">
              <mc:Choice xmlns:v="urn:schemas-microsoft-com:vml" Requires="v">
                <p:oleObj spid="_x0000_s8196" name="Equation" r:id="rId6" imgW="393700" imgH="177800" progId="Equation.3">
                  <p:embed/>
                </p:oleObj>
              </mc:Choice>
              <mc:Fallback>
                <p:oleObj name="Equation" r:id="rId6" imgW="393700" imgH="177800" progId="Equation.3">
                  <p:embed/>
                  <p:pic>
                    <p:nvPicPr>
                      <p:cNvPr id="33" name="Content Placeholder 3">
                        <a:extLst>
                          <a:ext uri="{FF2B5EF4-FFF2-40B4-BE49-F238E27FC236}">
                            <a16:creationId xmlns:a16="http://schemas.microsoft.com/office/drawing/2014/main" id="{4907A32F-2B40-497A-B62B-0380AD197925}"/>
                          </a:ext>
                        </a:extLst>
                      </p:cNvPr>
                      <p:cNvPicPr/>
                      <p:nvPr/>
                    </p:nvPicPr>
                    <p:blipFill>
                      <a:blip r:embed="rId7"/>
                      <a:stretch>
                        <a:fillRect/>
                      </a:stretch>
                    </p:blipFill>
                    <p:spPr>
                      <a:xfrm>
                        <a:off x="3168728" y="1584706"/>
                        <a:ext cx="942975" cy="425450"/>
                      </a:xfrm>
                      <a:prstGeom prst="rect">
                        <a:avLst/>
                      </a:prstGeom>
                    </p:spPr>
                  </p:pic>
                </p:oleObj>
              </mc:Fallback>
            </mc:AlternateContent>
          </a:graphicData>
        </a:graphic>
      </p:graphicFrame>
      <p:sp>
        <p:nvSpPr>
          <p:cNvPr id="34" name="Elipse 33">
            <a:extLst>
              <a:ext uri="{FF2B5EF4-FFF2-40B4-BE49-F238E27FC236}">
                <a16:creationId xmlns:a16="http://schemas.microsoft.com/office/drawing/2014/main" id="{4C910D88-19BF-4C95-8965-2A8C46DD61A0}"/>
              </a:ext>
            </a:extLst>
          </p:cNvPr>
          <p:cNvSpPr/>
          <p:nvPr/>
        </p:nvSpPr>
        <p:spPr>
          <a:xfrm>
            <a:off x="6607112" y="2305460"/>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Elipse 30">
            <a:extLst>
              <a:ext uri="{FF2B5EF4-FFF2-40B4-BE49-F238E27FC236}">
                <a16:creationId xmlns:a16="http://schemas.microsoft.com/office/drawing/2014/main" id="{9F6EA63A-3E39-4D98-AEF0-F435190FC74E}"/>
              </a:ext>
            </a:extLst>
          </p:cNvPr>
          <p:cNvSpPr/>
          <p:nvPr/>
        </p:nvSpPr>
        <p:spPr>
          <a:xfrm>
            <a:off x="6873346" y="2457860"/>
            <a:ext cx="118562" cy="112132"/>
          </a:xfrm>
          <a:prstGeom prst="ellipse">
            <a:avLst/>
          </a:prstGeom>
          <a:solidFill>
            <a:srgbClr val="00B0F0">
              <a:alpha val="41961"/>
            </a:srgbClr>
          </a:solidFill>
          <a:ln>
            <a:solidFill>
              <a:schemeClr val="tx1"/>
            </a:solidFill>
            <a:prstDash val="sys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 name="Elipse 36">
            <a:extLst>
              <a:ext uri="{FF2B5EF4-FFF2-40B4-BE49-F238E27FC236}">
                <a16:creationId xmlns:a16="http://schemas.microsoft.com/office/drawing/2014/main" id="{A1998CF8-6F2B-452C-B481-E8EF77618155}"/>
              </a:ext>
            </a:extLst>
          </p:cNvPr>
          <p:cNvSpPr/>
          <p:nvPr/>
        </p:nvSpPr>
        <p:spPr>
          <a:xfrm>
            <a:off x="6932465" y="2493906"/>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 name="TextBox 7">
            <a:extLst>
              <a:ext uri="{FF2B5EF4-FFF2-40B4-BE49-F238E27FC236}">
                <a16:creationId xmlns:a16="http://schemas.microsoft.com/office/drawing/2014/main" id="{2AE5C1A1-555D-4F58-972A-C0F23FE8B0E7}"/>
              </a:ext>
            </a:extLst>
          </p:cNvPr>
          <p:cNvSpPr txBox="1"/>
          <p:nvPr/>
        </p:nvSpPr>
        <p:spPr>
          <a:xfrm>
            <a:off x="88415" y="1033551"/>
            <a:ext cx="5369890" cy="523220"/>
          </a:xfrm>
          <a:prstGeom prst="rect">
            <a:avLst/>
          </a:prstGeom>
          <a:noFill/>
        </p:spPr>
        <p:txBody>
          <a:bodyPr wrap="square" rtlCol="0">
            <a:spAutoFit/>
          </a:bodyPr>
          <a:lstStyle/>
          <a:p>
            <a:pPr algn="ctr"/>
            <a:r>
              <a:rPr lang="en-US" sz="2800" dirty="0">
                <a:solidFill>
                  <a:schemeClr val="tx1">
                    <a:lumMod val="75000"/>
                    <a:lumOff val="25000"/>
                  </a:schemeClr>
                </a:solidFill>
                <a:latin typeface="Karla" charset="0"/>
                <a:ea typeface="Karla" charset="0"/>
                <a:cs typeface="Karla" charset="0"/>
              </a:rPr>
              <a:t>Train with 1</a:t>
            </a:r>
            <a:r>
              <a:rPr lang="en-US" sz="2800" baseline="30000" dirty="0">
                <a:solidFill>
                  <a:schemeClr val="tx1">
                    <a:lumMod val="75000"/>
                    <a:lumOff val="25000"/>
                  </a:schemeClr>
                </a:solidFill>
                <a:latin typeface="Karla" charset="0"/>
                <a:ea typeface="Karla" charset="0"/>
                <a:cs typeface="Karla" charset="0"/>
              </a:rPr>
              <a:t>st</a:t>
            </a:r>
            <a:r>
              <a:rPr lang="en-US" sz="2800" dirty="0">
                <a:solidFill>
                  <a:schemeClr val="tx1">
                    <a:lumMod val="75000"/>
                    <a:lumOff val="25000"/>
                  </a:schemeClr>
                </a:solidFill>
                <a:latin typeface="Karla" charset="0"/>
                <a:ea typeface="Karla" charset="0"/>
                <a:cs typeface="Karla" charset="0"/>
              </a:rPr>
              <a:t> sample again</a:t>
            </a:r>
            <a:endParaRPr lang="en-US" sz="2800" i="1" dirty="0">
              <a:solidFill>
                <a:schemeClr val="tx1">
                  <a:lumMod val="75000"/>
                  <a:lumOff val="25000"/>
                </a:schemeClr>
              </a:solidFill>
              <a:latin typeface="Karla" charset="0"/>
              <a:ea typeface="Karla" charset="0"/>
              <a:cs typeface="Karla" charset="0"/>
            </a:endParaRPr>
          </a:p>
        </p:txBody>
      </p:sp>
      <p:sp>
        <p:nvSpPr>
          <p:cNvPr id="40" name="Elipse 39">
            <a:extLst>
              <a:ext uri="{FF2B5EF4-FFF2-40B4-BE49-F238E27FC236}">
                <a16:creationId xmlns:a16="http://schemas.microsoft.com/office/drawing/2014/main" id="{1350F111-0164-4E7B-A5C1-2C7F854F9DAE}"/>
              </a:ext>
            </a:extLst>
          </p:cNvPr>
          <p:cNvSpPr/>
          <p:nvPr/>
        </p:nvSpPr>
        <p:spPr>
          <a:xfrm>
            <a:off x="6697170" y="2672544"/>
            <a:ext cx="118562" cy="112132"/>
          </a:xfrm>
          <a:prstGeom prst="ellipse">
            <a:avLst/>
          </a:prstGeom>
          <a:solidFill>
            <a:srgbClr val="00B0F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4" name="Conector recto de flecha 13">
            <a:extLst>
              <a:ext uri="{FF2B5EF4-FFF2-40B4-BE49-F238E27FC236}">
                <a16:creationId xmlns:a16="http://schemas.microsoft.com/office/drawing/2014/main" id="{FC6EAB1E-BD64-423B-95D5-2502A783E5A9}"/>
              </a:ext>
            </a:extLst>
          </p:cNvPr>
          <p:cNvCxnSpPr>
            <a:cxnSpLocks/>
            <a:stCxn id="31" idx="3"/>
            <a:endCxn id="40" idx="7"/>
          </p:cNvCxnSpPr>
          <p:nvPr/>
        </p:nvCxnSpPr>
        <p:spPr>
          <a:xfrm flipH="1">
            <a:off x="6798369" y="2553571"/>
            <a:ext cx="92340" cy="13539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43" name="Picture 4">
            <a:extLst>
              <a:ext uri="{FF2B5EF4-FFF2-40B4-BE49-F238E27FC236}">
                <a16:creationId xmlns:a16="http://schemas.microsoft.com/office/drawing/2014/main" id="{2F612533-80DB-4A5E-9051-FD7306142970}"/>
              </a:ext>
            </a:extLst>
          </p:cNvPr>
          <p:cNvPicPr>
            <a:picLocks noChangeAspect="1"/>
          </p:cNvPicPr>
          <p:nvPr/>
        </p:nvPicPr>
        <p:blipFill rotWithShape="1">
          <a:blip r:embed="rId8">
            <a:extLst>
              <a:ext uri="{28A0092B-C50C-407E-A947-70E740481C1C}">
                <a14:useLocalDpi xmlns:a14="http://schemas.microsoft.com/office/drawing/2010/main" val="0"/>
              </a:ext>
            </a:extLst>
          </a:blip>
          <a:srcRect l="20230" t="54323" r="59843" b="1690"/>
          <a:stretch/>
        </p:blipFill>
        <p:spPr>
          <a:xfrm>
            <a:off x="10428803" y="3048369"/>
            <a:ext cx="938768" cy="884869"/>
          </a:xfrm>
          <a:prstGeom prst="rect">
            <a:avLst/>
          </a:prstGeom>
        </p:spPr>
      </p:pic>
      <p:pic>
        <p:nvPicPr>
          <p:cNvPr id="45" name="Imagen 44">
            <a:extLst>
              <a:ext uri="{FF2B5EF4-FFF2-40B4-BE49-F238E27FC236}">
                <a16:creationId xmlns:a16="http://schemas.microsoft.com/office/drawing/2014/main" id="{03DF6F4C-D07A-4D92-B31A-A9F2260E5978}"/>
              </a:ext>
            </a:extLst>
          </p:cNvPr>
          <p:cNvPicPr>
            <a:picLocks noChangeAspect="1"/>
          </p:cNvPicPr>
          <p:nvPr/>
        </p:nvPicPr>
        <p:blipFill>
          <a:blip r:embed="rId9"/>
          <a:stretch>
            <a:fillRect/>
          </a:stretch>
        </p:blipFill>
        <p:spPr>
          <a:xfrm>
            <a:off x="6482125" y="2748368"/>
            <a:ext cx="236612" cy="231578"/>
          </a:xfrm>
          <a:prstGeom prst="rect">
            <a:avLst/>
          </a:prstGeom>
        </p:spPr>
      </p:pic>
      <p:pic>
        <p:nvPicPr>
          <p:cNvPr id="46" name="Picture 4">
            <a:extLst>
              <a:ext uri="{FF2B5EF4-FFF2-40B4-BE49-F238E27FC236}">
                <a16:creationId xmlns:a16="http://schemas.microsoft.com/office/drawing/2014/main" id="{C51F6B79-5BB7-45C7-BDC2-91DA99ABA141}"/>
              </a:ext>
            </a:extLst>
          </p:cNvPr>
          <p:cNvPicPr>
            <a:picLocks noChangeAspect="1"/>
          </p:cNvPicPr>
          <p:nvPr/>
        </p:nvPicPr>
        <p:blipFill rotWithShape="1">
          <a:blip r:embed="rId8">
            <a:extLst>
              <a:ext uri="{28A0092B-C50C-407E-A947-70E740481C1C}">
                <a14:useLocalDpi xmlns:a14="http://schemas.microsoft.com/office/drawing/2010/main" val="0"/>
              </a:ext>
            </a:extLst>
          </a:blip>
          <a:srcRect l="20704" r="59887" b="51906"/>
          <a:stretch/>
        </p:blipFill>
        <p:spPr>
          <a:xfrm>
            <a:off x="6742017" y="2071518"/>
            <a:ext cx="254752" cy="269546"/>
          </a:xfrm>
          <a:prstGeom prst="rect">
            <a:avLst/>
          </a:prstGeom>
        </p:spPr>
      </p:pic>
      <p:pic>
        <p:nvPicPr>
          <p:cNvPr id="47" name="Imagen 46">
            <a:extLst>
              <a:ext uri="{FF2B5EF4-FFF2-40B4-BE49-F238E27FC236}">
                <a16:creationId xmlns:a16="http://schemas.microsoft.com/office/drawing/2014/main" id="{350551FE-40AE-47B3-9ACB-236109FE49A6}"/>
              </a:ext>
            </a:extLst>
          </p:cNvPr>
          <p:cNvPicPr>
            <a:picLocks noChangeAspect="1"/>
          </p:cNvPicPr>
          <p:nvPr/>
        </p:nvPicPr>
        <p:blipFill rotWithShape="1">
          <a:blip r:embed="rId10"/>
          <a:srcRect b="1805"/>
          <a:stretch/>
        </p:blipFill>
        <p:spPr>
          <a:xfrm>
            <a:off x="7065439" y="2575739"/>
            <a:ext cx="205672" cy="200124"/>
          </a:xfrm>
          <a:prstGeom prst="rect">
            <a:avLst/>
          </a:prstGeom>
        </p:spPr>
      </p:pic>
      <p:sp>
        <p:nvSpPr>
          <p:cNvPr id="39" name="Trapezoid 10">
            <a:extLst>
              <a:ext uri="{FF2B5EF4-FFF2-40B4-BE49-F238E27FC236}">
                <a16:creationId xmlns:a16="http://schemas.microsoft.com/office/drawing/2014/main" id="{8FB8083F-439F-498E-AA81-4B2F6F076C5F}"/>
              </a:ext>
            </a:extLst>
          </p:cNvPr>
          <p:cNvSpPr/>
          <p:nvPr/>
        </p:nvSpPr>
        <p:spPr>
          <a:xfrm rot="5400000" flipV="1">
            <a:off x="8792250" y="3031998"/>
            <a:ext cx="2146430" cy="917619"/>
          </a:xfrm>
          <a:prstGeom prst="trapezoid">
            <a:avLst/>
          </a:prstGeom>
          <a:solidFill>
            <a:schemeClr val="tx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lumMod val="75000"/>
                    <a:lumOff val="25000"/>
                  </a:schemeClr>
                </a:solidFill>
              </a:rPr>
              <a:t>DECODER</a:t>
            </a:r>
          </a:p>
        </p:txBody>
      </p:sp>
      <p:sp>
        <p:nvSpPr>
          <p:cNvPr id="44" name="Trapezoid 10">
            <a:extLst>
              <a:ext uri="{FF2B5EF4-FFF2-40B4-BE49-F238E27FC236}">
                <a16:creationId xmlns:a16="http://schemas.microsoft.com/office/drawing/2014/main" id="{642CC940-2DB2-46FE-A90F-E6E40F75F0AD}"/>
              </a:ext>
            </a:extLst>
          </p:cNvPr>
          <p:cNvSpPr/>
          <p:nvPr/>
        </p:nvSpPr>
        <p:spPr>
          <a:xfrm rot="16200000" flipH="1" flipV="1">
            <a:off x="1228782" y="3033606"/>
            <a:ext cx="2146430" cy="914401"/>
          </a:xfrm>
          <a:prstGeom prst="trapezoid">
            <a:avLst/>
          </a:prstGeom>
          <a:solidFill>
            <a:schemeClr val="tx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lumMod val="75000"/>
                    <a:lumOff val="25000"/>
                  </a:schemeClr>
                </a:solidFill>
              </a:rPr>
              <a:t>ENCODER</a:t>
            </a:r>
          </a:p>
        </p:txBody>
      </p:sp>
      <p:sp>
        <p:nvSpPr>
          <p:cNvPr id="3" name="Slide Number Placeholder 2"/>
          <p:cNvSpPr>
            <a:spLocks noGrp="1"/>
          </p:cNvSpPr>
          <p:nvPr>
            <p:ph type="sldNum" sz="quarter" idx="12"/>
          </p:nvPr>
        </p:nvSpPr>
        <p:spPr/>
        <p:txBody>
          <a:bodyPr/>
          <a:lstStyle/>
          <a:p>
            <a:fld id="{81B7CCDB-6D39-0547-B7B3-C80E39D6513A}" type="slidenum">
              <a:rPr lang="en-US" smtClean="0"/>
              <a:pPr/>
              <a:t>48</a:t>
            </a:fld>
            <a:endParaRPr lang="en-US"/>
          </a:p>
        </p:txBody>
      </p:sp>
      <p:pic>
        <p:nvPicPr>
          <p:cNvPr id="49" name="Imagen 2">
            <a:extLst>
              <a:ext uri="{FF2B5EF4-FFF2-40B4-BE49-F238E27FC236}">
                <a16:creationId xmlns:a16="http://schemas.microsoft.com/office/drawing/2014/main" id="{B681C96D-876A-4292-8ADA-8FFE9B332880}"/>
              </a:ext>
            </a:extLst>
          </p:cNvPr>
          <p:cNvPicPr>
            <a:picLocks/>
          </p:cNvPicPr>
          <p:nvPr/>
        </p:nvPicPr>
        <p:blipFill>
          <a:blip r:embed="rId9"/>
          <a:stretch>
            <a:fillRect/>
          </a:stretch>
        </p:blipFill>
        <p:spPr>
          <a:xfrm>
            <a:off x="595888" y="3104801"/>
            <a:ext cx="914400" cy="914400"/>
          </a:xfrm>
          <a:prstGeom prst="rect">
            <a:avLst/>
          </a:prstGeom>
        </p:spPr>
      </p:pic>
      <p:pic>
        <p:nvPicPr>
          <p:cNvPr id="50" name="Picture 4">
            <a:extLst>
              <a:ext uri="{FF2B5EF4-FFF2-40B4-BE49-F238E27FC236}">
                <a16:creationId xmlns:a16="http://schemas.microsoft.com/office/drawing/2014/main" id="{B5492FC1-0CED-4171-A0A8-6FFD665124D3}"/>
              </a:ext>
            </a:extLst>
          </p:cNvPr>
          <p:cNvPicPr>
            <a:picLocks/>
          </p:cNvPicPr>
          <p:nvPr/>
        </p:nvPicPr>
        <p:blipFill rotWithShape="1">
          <a:blip r:embed="rId8">
            <a:extLst>
              <a:ext uri="{28A0092B-C50C-407E-A947-70E740481C1C}">
                <a14:useLocalDpi xmlns:a14="http://schemas.microsoft.com/office/drawing/2010/main" val="0"/>
              </a:ext>
            </a:extLst>
          </a:blip>
          <a:srcRect l="20704" r="59887" b="51906"/>
          <a:stretch/>
        </p:blipFill>
        <p:spPr>
          <a:xfrm>
            <a:off x="572461" y="2029349"/>
            <a:ext cx="978873" cy="1058859"/>
          </a:xfrm>
          <a:prstGeom prst="rect">
            <a:avLst/>
          </a:prstGeom>
        </p:spPr>
      </p:pic>
      <p:pic>
        <p:nvPicPr>
          <p:cNvPr id="51" name="Picture 4">
            <a:extLst>
              <a:ext uri="{FF2B5EF4-FFF2-40B4-BE49-F238E27FC236}">
                <a16:creationId xmlns:a16="http://schemas.microsoft.com/office/drawing/2014/main" id="{B5492FC1-0CED-4171-A0A8-6FFD665124D3}"/>
              </a:ext>
            </a:extLst>
          </p:cNvPr>
          <p:cNvPicPr>
            <a:picLocks/>
          </p:cNvPicPr>
          <p:nvPr/>
        </p:nvPicPr>
        <p:blipFill rotWithShape="1">
          <a:blip r:embed="rId8">
            <a:extLst>
              <a:ext uri="{28A0092B-C50C-407E-A947-70E740481C1C}">
                <a14:useLocalDpi xmlns:a14="http://schemas.microsoft.com/office/drawing/2010/main" val="0"/>
              </a:ext>
            </a:extLst>
          </a:blip>
          <a:srcRect l="20704" r="59887" b="51906"/>
          <a:stretch/>
        </p:blipFill>
        <p:spPr>
          <a:xfrm>
            <a:off x="572461" y="4053786"/>
            <a:ext cx="978873" cy="1058859"/>
          </a:xfrm>
          <a:prstGeom prst="rect">
            <a:avLst/>
          </a:prstGeom>
        </p:spPr>
      </p:pic>
    </p:spTree>
    <p:extLst>
      <p:ext uri="{BB962C8B-B14F-4D97-AF65-F5344CB8AC3E}">
        <p14:creationId xmlns:p14="http://schemas.microsoft.com/office/powerpoint/2010/main" val="37202025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9292" y="160260"/>
            <a:ext cx="11493416" cy="767276"/>
          </a:xfrm>
        </p:spPr>
        <p:txBody>
          <a:bodyPr/>
          <a:lstStyle/>
          <a:p>
            <a:r>
              <a:rPr lang="en-US"/>
              <a:t>Blending Latent Variables</a:t>
            </a:r>
          </a:p>
        </p:txBody>
      </p:sp>
      <p:pic>
        <p:nvPicPr>
          <p:cNvPr id="27" name="Picture 3">
            <a:extLst>
              <a:ext uri="{FF2B5EF4-FFF2-40B4-BE49-F238E27FC236}">
                <a16:creationId xmlns:a16="http://schemas.microsoft.com/office/drawing/2014/main" id="{3F7EF02D-39D9-4C5E-8150-92E66E1BBD87}"/>
              </a:ext>
            </a:extLst>
          </p:cNvPr>
          <p:cNvPicPr>
            <a:picLocks noChangeAspect="1"/>
          </p:cNvPicPr>
          <p:nvPr/>
        </p:nvPicPr>
        <p:blipFill rotWithShape="1">
          <a:blip r:embed="rId3">
            <a:extLst>
              <a:ext uri="{28A0092B-C50C-407E-A947-70E740481C1C}">
                <a14:useLocalDpi xmlns:a14="http://schemas.microsoft.com/office/drawing/2010/main" val="0"/>
              </a:ext>
            </a:extLst>
          </a:blip>
          <a:srcRect l="71777" t="-2162" r="8791" b="78285"/>
          <a:stretch/>
        </p:blipFill>
        <p:spPr>
          <a:xfrm>
            <a:off x="4111703" y="1816145"/>
            <a:ext cx="1758751" cy="767276"/>
          </a:xfrm>
          <a:prstGeom prst="rect">
            <a:avLst/>
          </a:prstGeom>
        </p:spPr>
      </p:pic>
      <p:pic>
        <p:nvPicPr>
          <p:cNvPr id="28" name="Picture 3">
            <a:extLst>
              <a:ext uri="{FF2B5EF4-FFF2-40B4-BE49-F238E27FC236}">
                <a16:creationId xmlns:a16="http://schemas.microsoft.com/office/drawing/2014/main" id="{57FEDE17-5EEE-4D1A-8E53-F32F065CB546}"/>
              </a:ext>
            </a:extLst>
          </p:cNvPr>
          <p:cNvPicPr>
            <a:picLocks noChangeAspect="1"/>
          </p:cNvPicPr>
          <p:nvPr/>
        </p:nvPicPr>
        <p:blipFill rotWithShape="1">
          <a:blip r:embed="rId3">
            <a:extLst>
              <a:ext uri="{28A0092B-C50C-407E-A947-70E740481C1C}">
                <a14:useLocalDpi xmlns:a14="http://schemas.microsoft.com/office/drawing/2010/main" val="0"/>
              </a:ext>
            </a:extLst>
          </a:blip>
          <a:srcRect l="50857" t="23883" r="28858" b="50073"/>
          <a:stretch/>
        </p:blipFill>
        <p:spPr>
          <a:xfrm>
            <a:off x="3810233" y="2731765"/>
            <a:ext cx="1835902" cy="836937"/>
          </a:xfrm>
          <a:prstGeom prst="rect">
            <a:avLst/>
          </a:prstGeom>
        </p:spPr>
      </p:pic>
      <p:sp>
        <p:nvSpPr>
          <p:cNvPr id="9" name="Rectángulo 8">
            <a:extLst>
              <a:ext uri="{FF2B5EF4-FFF2-40B4-BE49-F238E27FC236}">
                <a16:creationId xmlns:a16="http://schemas.microsoft.com/office/drawing/2014/main" id="{C5767CAC-93DA-4409-9752-3CF4B526EF1F}"/>
              </a:ext>
            </a:extLst>
          </p:cNvPr>
          <p:cNvSpPr/>
          <p:nvPr/>
        </p:nvSpPr>
        <p:spPr>
          <a:xfrm>
            <a:off x="5695120" y="1628974"/>
            <a:ext cx="3474720" cy="3826413"/>
          </a:xfrm>
          <a:prstGeom prst="rect">
            <a:avLst/>
          </a:prstGeom>
          <a:solidFill>
            <a:schemeClr val="bg1"/>
          </a:solid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TextBox 7">
            <a:extLst>
              <a:ext uri="{FF2B5EF4-FFF2-40B4-BE49-F238E27FC236}">
                <a16:creationId xmlns:a16="http://schemas.microsoft.com/office/drawing/2014/main" id="{75471C91-6907-43BD-81A0-789B29243A94}"/>
              </a:ext>
            </a:extLst>
          </p:cNvPr>
          <p:cNvSpPr txBox="1"/>
          <p:nvPr/>
        </p:nvSpPr>
        <p:spPr>
          <a:xfrm>
            <a:off x="5791620" y="1105754"/>
            <a:ext cx="3281720" cy="523220"/>
          </a:xfrm>
          <a:prstGeom prst="rect">
            <a:avLst/>
          </a:prstGeom>
          <a:noFill/>
        </p:spPr>
        <p:txBody>
          <a:bodyPr wrap="square" rtlCol="0">
            <a:spAutoFit/>
          </a:bodyPr>
          <a:lstStyle/>
          <a:p>
            <a:pPr algn="ctr"/>
            <a:r>
              <a:rPr lang="en-US" sz="2800">
                <a:solidFill>
                  <a:schemeClr val="tx1">
                    <a:lumMod val="75000"/>
                    <a:lumOff val="25000"/>
                  </a:schemeClr>
                </a:solidFill>
                <a:latin typeface="Karla" charset="0"/>
                <a:ea typeface="Karla" charset="0"/>
                <a:cs typeface="Karla" charset="0"/>
              </a:rPr>
              <a:t>Latent Space</a:t>
            </a:r>
            <a:endParaRPr lang="en-US" sz="2800" i="1">
              <a:solidFill>
                <a:schemeClr val="tx1">
                  <a:lumMod val="75000"/>
                  <a:lumOff val="25000"/>
                </a:schemeClr>
              </a:solidFill>
              <a:latin typeface="Karla" charset="0"/>
              <a:ea typeface="Karla" charset="0"/>
              <a:cs typeface="Karla" charset="0"/>
            </a:endParaRPr>
          </a:p>
        </p:txBody>
      </p:sp>
      <p:pic>
        <p:nvPicPr>
          <p:cNvPr id="11" name="Picture 4">
            <a:extLst>
              <a:ext uri="{FF2B5EF4-FFF2-40B4-BE49-F238E27FC236}">
                <a16:creationId xmlns:a16="http://schemas.microsoft.com/office/drawing/2014/main" id="{B5492FC1-0CED-4171-A0A8-6FFD665124D3}"/>
              </a:ext>
            </a:extLst>
          </p:cNvPr>
          <p:cNvPicPr>
            <a:picLocks noChangeAspect="1"/>
          </p:cNvPicPr>
          <p:nvPr/>
        </p:nvPicPr>
        <p:blipFill rotWithShape="1">
          <a:blip r:embed="rId4">
            <a:extLst>
              <a:ext uri="{28A0092B-C50C-407E-A947-70E740481C1C}">
                <a14:useLocalDpi xmlns:a14="http://schemas.microsoft.com/office/drawing/2010/main" val="0"/>
              </a:ext>
            </a:extLst>
          </a:blip>
          <a:srcRect l="20704" r="59887" b="51906"/>
          <a:stretch/>
        </p:blipFill>
        <p:spPr>
          <a:xfrm>
            <a:off x="840339" y="2992764"/>
            <a:ext cx="914401" cy="967501"/>
          </a:xfrm>
          <a:prstGeom prst="rect">
            <a:avLst/>
          </a:prstGeom>
        </p:spPr>
      </p:pic>
      <p:cxnSp>
        <p:nvCxnSpPr>
          <p:cNvPr id="20" name="Straight Arrow Connector 24">
            <a:extLst>
              <a:ext uri="{FF2B5EF4-FFF2-40B4-BE49-F238E27FC236}">
                <a16:creationId xmlns:a16="http://schemas.microsoft.com/office/drawing/2014/main" id="{8357E5F4-CE4A-4BE0-BE18-5A16157A4168}"/>
              </a:ext>
            </a:extLst>
          </p:cNvPr>
          <p:cNvCxnSpPr/>
          <p:nvPr/>
        </p:nvCxnSpPr>
        <p:spPr>
          <a:xfrm flipV="1">
            <a:off x="2863460" y="2898253"/>
            <a:ext cx="528203" cy="413431"/>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21" name="Rectangle 26">
            <a:extLst>
              <a:ext uri="{FF2B5EF4-FFF2-40B4-BE49-F238E27FC236}">
                <a16:creationId xmlns:a16="http://schemas.microsoft.com/office/drawing/2014/main" id="{7663EC45-4979-4427-95AC-41C2528EF079}"/>
              </a:ext>
            </a:extLst>
          </p:cNvPr>
          <p:cNvSpPr/>
          <p:nvPr/>
        </p:nvSpPr>
        <p:spPr>
          <a:xfrm>
            <a:off x="3417538" y="2024970"/>
            <a:ext cx="400704" cy="1131570"/>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3600" i="1"/>
          </a:p>
        </p:txBody>
      </p:sp>
      <p:sp>
        <p:nvSpPr>
          <p:cNvPr id="22" name="Rectangle 29">
            <a:extLst>
              <a:ext uri="{FF2B5EF4-FFF2-40B4-BE49-F238E27FC236}">
                <a16:creationId xmlns:a16="http://schemas.microsoft.com/office/drawing/2014/main" id="{3926F3BB-EA7C-4C8B-8D46-66C95DFD8443}"/>
              </a:ext>
            </a:extLst>
          </p:cNvPr>
          <p:cNvSpPr/>
          <p:nvPr/>
        </p:nvSpPr>
        <p:spPr>
          <a:xfrm>
            <a:off x="3412674" y="3791651"/>
            <a:ext cx="400704" cy="1131570"/>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3600" i="1"/>
          </a:p>
        </p:txBody>
      </p:sp>
      <p:cxnSp>
        <p:nvCxnSpPr>
          <p:cNvPr id="23" name="Straight Arrow Connector 30">
            <a:extLst>
              <a:ext uri="{FF2B5EF4-FFF2-40B4-BE49-F238E27FC236}">
                <a16:creationId xmlns:a16="http://schemas.microsoft.com/office/drawing/2014/main" id="{8E64302A-A018-4292-B980-CFFE03B6B1B2}"/>
              </a:ext>
            </a:extLst>
          </p:cNvPr>
          <p:cNvCxnSpPr/>
          <p:nvPr/>
        </p:nvCxnSpPr>
        <p:spPr>
          <a:xfrm>
            <a:off x="2865164" y="3636277"/>
            <a:ext cx="504971" cy="349139"/>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32">
            <a:extLst>
              <a:ext uri="{FF2B5EF4-FFF2-40B4-BE49-F238E27FC236}">
                <a16:creationId xmlns:a16="http://schemas.microsoft.com/office/drawing/2014/main" id="{F6A71B2E-AE58-4208-8D0E-7963C9D780BF}"/>
              </a:ext>
            </a:extLst>
          </p:cNvPr>
          <p:cNvCxnSpPr>
            <a:cxnSpLocks/>
            <a:endCxn id="28" idx="2"/>
          </p:cNvCxnSpPr>
          <p:nvPr/>
        </p:nvCxnSpPr>
        <p:spPr>
          <a:xfrm flipV="1">
            <a:off x="3856435" y="3568702"/>
            <a:ext cx="871749" cy="451238"/>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33">
            <a:extLst>
              <a:ext uri="{FF2B5EF4-FFF2-40B4-BE49-F238E27FC236}">
                <a16:creationId xmlns:a16="http://schemas.microsoft.com/office/drawing/2014/main" id="{56F9D3A5-9A1C-4760-9D58-305A9F7235AC}"/>
              </a:ext>
            </a:extLst>
          </p:cNvPr>
          <p:cNvCxnSpPr>
            <a:cxnSpLocks/>
          </p:cNvCxnSpPr>
          <p:nvPr/>
        </p:nvCxnSpPr>
        <p:spPr>
          <a:xfrm>
            <a:off x="3859218" y="2898253"/>
            <a:ext cx="577147" cy="444125"/>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graphicFrame>
        <p:nvGraphicFramePr>
          <p:cNvPr id="26" name="Content Placeholder 3">
            <a:extLst>
              <a:ext uri="{FF2B5EF4-FFF2-40B4-BE49-F238E27FC236}">
                <a16:creationId xmlns:a16="http://schemas.microsoft.com/office/drawing/2014/main" id="{34762B13-0B39-4FE9-9CDA-DD9EF92FBF1C}"/>
              </a:ext>
            </a:extLst>
          </p:cNvPr>
          <p:cNvGraphicFramePr>
            <a:graphicFrameLocks noChangeAspect="1"/>
          </p:cNvGraphicFramePr>
          <p:nvPr/>
        </p:nvGraphicFramePr>
        <p:xfrm>
          <a:off x="2955007" y="4952849"/>
          <a:ext cx="1316037" cy="468492"/>
        </p:xfrm>
        <a:graphic>
          <a:graphicData uri="http://schemas.openxmlformats.org/presentationml/2006/ole">
            <mc:AlternateContent xmlns:mc="http://schemas.openxmlformats.org/markup-compatibility/2006">
              <mc:Choice xmlns:v="urn:schemas-microsoft-com:vml" Requires="v">
                <p:oleObj spid="_x0000_s9219" name="Equation" r:id="rId5" imgW="533400" imgH="190500" progId="Equation.3">
                  <p:embed/>
                </p:oleObj>
              </mc:Choice>
              <mc:Fallback>
                <p:oleObj name="Equation" r:id="rId5" imgW="533400" imgH="190500" progId="Equation.3">
                  <p:embed/>
                  <p:pic>
                    <p:nvPicPr>
                      <p:cNvPr id="26" name="Content Placeholder 3">
                        <a:extLst>
                          <a:ext uri="{FF2B5EF4-FFF2-40B4-BE49-F238E27FC236}">
                            <a16:creationId xmlns:a16="http://schemas.microsoft.com/office/drawing/2014/main" id="{34762B13-0B39-4FE9-9CDA-DD9EF92FBF1C}"/>
                          </a:ext>
                        </a:extLst>
                      </p:cNvPr>
                      <p:cNvPicPr/>
                      <p:nvPr/>
                    </p:nvPicPr>
                    <p:blipFill>
                      <a:blip r:embed="rId6"/>
                      <a:stretch>
                        <a:fillRect/>
                      </a:stretch>
                    </p:blipFill>
                    <p:spPr>
                      <a:xfrm>
                        <a:off x="2955007" y="4952849"/>
                        <a:ext cx="1316037" cy="468492"/>
                      </a:xfrm>
                      <a:prstGeom prst="rect">
                        <a:avLst/>
                      </a:prstGeom>
                    </p:spPr>
                  </p:pic>
                </p:oleObj>
              </mc:Fallback>
            </mc:AlternateContent>
          </a:graphicData>
        </a:graphic>
      </p:graphicFrame>
      <p:graphicFrame>
        <p:nvGraphicFramePr>
          <p:cNvPr id="33" name="Content Placeholder 3">
            <a:extLst>
              <a:ext uri="{FF2B5EF4-FFF2-40B4-BE49-F238E27FC236}">
                <a16:creationId xmlns:a16="http://schemas.microsoft.com/office/drawing/2014/main" id="{4907A32F-2B40-497A-B62B-0380AD197925}"/>
              </a:ext>
            </a:extLst>
          </p:cNvPr>
          <p:cNvGraphicFramePr>
            <a:graphicFrameLocks noChangeAspect="1"/>
          </p:cNvGraphicFramePr>
          <p:nvPr/>
        </p:nvGraphicFramePr>
        <p:xfrm>
          <a:off x="3168728" y="1584706"/>
          <a:ext cx="942975" cy="425450"/>
        </p:xfrm>
        <a:graphic>
          <a:graphicData uri="http://schemas.openxmlformats.org/presentationml/2006/ole">
            <mc:AlternateContent xmlns:mc="http://schemas.openxmlformats.org/markup-compatibility/2006">
              <mc:Choice xmlns:v="urn:schemas-microsoft-com:vml" Requires="v">
                <p:oleObj spid="_x0000_s9220" name="Equation" r:id="rId7" imgW="393700" imgH="177800" progId="Equation.3">
                  <p:embed/>
                </p:oleObj>
              </mc:Choice>
              <mc:Fallback>
                <p:oleObj name="Equation" r:id="rId7" imgW="393700" imgH="177800" progId="Equation.3">
                  <p:embed/>
                  <p:pic>
                    <p:nvPicPr>
                      <p:cNvPr id="33" name="Content Placeholder 3">
                        <a:extLst>
                          <a:ext uri="{FF2B5EF4-FFF2-40B4-BE49-F238E27FC236}">
                            <a16:creationId xmlns:a16="http://schemas.microsoft.com/office/drawing/2014/main" id="{4907A32F-2B40-497A-B62B-0380AD197925}"/>
                          </a:ext>
                        </a:extLst>
                      </p:cNvPr>
                      <p:cNvPicPr/>
                      <p:nvPr/>
                    </p:nvPicPr>
                    <p:blipFill>
                      <a:blip r:embed="rId8"/>
                      <a:stretch>
                        <a:fillRect/>
                      </a:stretch>
                    </p:blipFill>
                    <p:spPr>
                      <a:xfrm>
                        <a:off x="3168728" y="1584706"/>
                        <a:ext cx="942975" cy="425450"/>
                      </a:xfrm>
                      <a:prstGeom prst="rect">
                        <a:avLst/>
                      </a:prstGeom>
                    </p:spPr>
                  </p:pic>
                </p:oleObj>
              </mc:Fallback>
            </mc:AlternateContent>
          </a:graphicData>
        </a:graphic>
      </p:graphicFrame>
      <p:sp>
        <p:nvSpPr>
          <p:cNvPr id="34" name="Elipse 33">
            <a:extLst>
              <a:ext uri="{FF2B5EF4-FFF2-40B4-BE49-F238E27FC236}">
                <a16:creationId xmlns:a16="http://schemas.microsoft.com/office/drawing/2014/main" id="{4C910D88-19BF-4C95-8965-2A8C46DD61A0}"/>
              </a:ext>
            </a:extLst>
          </p:cNvPr>
          <p:cNvSpPr/>
          <p:nvPr/>
        </p:nvSpPr>
        <p:spPr>
          <a:xfrm>
            <a:off x="6607112" y="2305460"/>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2" name="Conector recto de flecha 31">
            <a:extLst>
              <a:ext uri="{FF2B5EF4-FFF2-40B4-BE49-F238E27FC236}">
                <a16:creationId xmlns:a16="http://schemas.microsoft.com/office/drawing/2014/main" id="{9B5D0855-2371-4C97-B690-9989C38B9764}"/>
              </a:ext>
            </a:extLst>
          </p:cNvPr>
          <p:cNvCxnSpPr>
            <a:cxnSpLocks/>
          </p:cNvCxnSpPr>
          <p:nvPr/>
        </p:nvCxnSpPr>
        <p:spPr>
          <a:xfrm>
            <a:off x="4723422" y="2583421"/>
            <a:ext cx="0" cy="907383"/>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5" name="Elipse 34">
            <a:extLst>
              <a:ext uri="{FF2B5EF4-FFF2-40B4-BE49-F238E27FC236}">
                <a16:creationId xmlns:a16="http://schemas.microsoft.com/office/drawing/2014/main" id="{506A80D3-247D-49F9-A29D-983AE0D2A6E5}"/>
              </a:ext>
            </a:extLst>
          </p:cNvPr>
          <p:cNvSpPr/>
          <p:nvPr/>
        </p:nvSpPr>
        <p:spPr>
          <a:xfrm>
            <a:off x="4664142" y="3476515"/>
            <a:ext cx="118562" cy="112132"/>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6" name="Conector: curvado 35">
            <a:extLst>
              <a:ext uri="{FF2B5EF4-FFF2-40B4-BE49-F238E27FC236}">
                <a16:creationId xmlns:a16="http://schemas.microsoft.com/office/drawing/2014/main" id="{F159575E-B8E1-46F8-AA93-E734A67779BD}"/>
              </a:ext>
            </a:extLst>
          </p:cNvPr>
          <p:cNvCxnSpPr>
            <a:cxnSpLocks/>
            <a:stCxn id="35" idx="5"/>
            <a:endCxn id="39" idx="2"/>
          </p:cNvCxnSpPr>
          <p:nvPr/>
        </p:nvCxnSpPr>
        <p:spPr>
          <a:xfrm rot="5400000" flipH="1" flipV="1">
            <a:off x="5206124" y="2142637"/>
            <a:ext cx="988805" cy="1870373"/>
          </a:xfrm>
          <a:prstGeom prst="curvedConnector4">
            <a:avLst>
              <a:gd name="adj1" fmla="val -23119"/>
              <a:gd name="adj2" fmla="val 50464"/>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7" name="Elipse 36">
            <a:extLst>
              <a:ext uri="{FF2B5EF4-FFF2-40B4-BE49-F238E27FC236}">
                <a16:creationId xmlns:a16="http://schemas.microsoft.com/office/drawing/2014/main" id="{A1998CF8-6F2B-452C-B481-E8EF77618155}"/>
              </a:ext>
            </a:extLst>
          </p:cNvPr>
          <p:cNvSpPr/>
          <p:nvPr/>
        </p:nvSpPr>
        <p:spPr>
          <a:xfrm>
            <a:off x="6932465" y="2493906"/>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 name="TextBox 7">
            <a:extLst>
              <a:ext uri="{FF2B5EF4-FFF2-40B4-BE49-F238E27FC236}">
                <a16:creationId xmlns:a16="http://schemas.microsoft.com/office/drawing/2014/main" id="{2AE5C1A1-555D-4F58-972A-C0F23FE8B0E7}"/>
              </a:ext>
            </a:extLst>
          </p:cNvPr>
          <p:cNvSpPr txBox="1"/>
          <p:nvPr/>
        </p:nvSpPr>
        <p:spPr>
          <a:xfrm>
            <a:off x="-326713" y="998198"/>
            <a:ext cx="3281720" cy="461665"/>
          </a:xfrm>
          <a:prstGeom prst="rect">
            <a:avLst/>
          </a:prstGeom>
          <a:noFill/>
        </p:spPr>
        <p:txBody>
          <a:bodyPr wrap="square" rtlCol="0">
            <a:spAutoFit/>
          </a:bodyPr>
          <a:lstStyle/>
          <a:p>
            <a:pPr algn="ctr"/>
            <a:r>
              <a:rPr lang="en-US" sz="2400">
                <a:solidFill>
                  <a:schemeClr val="tx1">
                    <a:lumMod val="75000"/>
                    <a:lumOff val="25000"/>
                  </a:schemeClr>
                </a:solidFill>
                <a:latin typeface="Karla" charset="0"/>
                <a:ea typeface="Karla" charset="0"/>
                <a:cs typeface="Karla" charset="0"/>
              </a:rPr>
              <a:t>And again…</a:t>
            </a:r>
            <a:endParaRPr lang="en-US" sz="2400" i="1">
              <a:solidFill>
                <a:schemeClr val="tx1">
                  <a:lumMod val="75000"/>
                  <a:lumOff val="25000"/>
                </a:schemeClr>
              </a:solidFill>
              <a:latin typeface="Karla" charset="0"/>
              <a:ea typeface="Karla" charset="0"/>
              <a:cs typeface="Karla" charset="0"/>
            </a:endParaRPr>
          </a:p>
        </p:txBody>
      </p:sp>
      <p:sp>
        <p:nvSpPr>
          <p:cNvPr id="40" name="Elipse 39">
            <a:extLst>
              <a:ext uri="{FF2B5EF4-FFF2-40B4-BE49-F238E27FC236}">
                <a16:creationId xmlns:a16="http://schemas.microsoft.com/office/drawing/2014/main" id="{1350F111-0164-4E7B-A5C1-2C7F854F9DAE}"/>
              </a:ext>
            </a:extLst>
          </p:cNvPr>
          <p:cNvSpPr/>
          <p:nvPr/>
        </p:nvSpPr>
        <p:spPr>
          <a:xfrm>
            <a:off x="6697170" y="2672544"/>
            <a:ext cx="118562" cy="112132"/>
          </a:xfrm>
          <a:prstGeom prst="ellipse">
            <a:avLst/>
          </a:prstGeom>
          <a:solidFill>
            <a:srgbClr val="00B0F0">
              <a:alpha val="27059"/>
            </a:srgbClr>
          </a:solidFill>
          <a:ln>
            <a:solidFill>
              <a:schemeClr val="tx1"/>
            </a:solidFill>
            <a:prstDash val="sys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4" name="Conector recto de flecha 13">
            <a:extLst>
              <a:ext uri="{FF2B5EF4-FFF2-40B4-BE49-F238E27FC236}">
                <a16:creationId xmlns:a16="http://schemas.microsoft.com/office/drawing/2014/main" id="{FC6EAB1E-BD64-423B-95D5-2502A783E5A9}"/>
              </a:ext>
            </a:extLst>
          </p:cNvPr>
          <p:cNvCxnSpPr>
            <a:cxnSpLocks/>
            <a:stCxn id="40" idx="5"/>
            <a:endCxn id="43" idx="1"/>
          </p:cNvCxnSpPr>
          <p:nvPr/>
        </p:nvCxnSpPr>
        <p:spPr>
          <a:xfrm>
            <a:off x="6798369" y="2768255"/>
            <a:ext cx="26719" cy="15642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2" name="Elipse 41">
            <a:extLst>
              <a:ext uri="{FF2B5EF4-FFF2-40B4-BE49-F238E27FC236}">
                <a16:creationId xmlns:a16="http://schemas.microsoft.com/office/drawing/2014/main" id="{72CCAA22-3C13-406F-AFD8-291B8B7232CE}"/>
              </a:ext>
            </a:extLst>
          </p:cNvPr>
          <p:cNvSpPr/>
          <p:nvPr/>
        </p:nvSpPr>
        <p:spPr>
          <a:xfrm>
            <a:off x="6459468" y="2437840"/>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 name="Elipse 38">
            <a:extLst>
              <a:ext uri="{FF2B5EF4-FFF2-40B4-BE49-F238E27FC236}">
                <a16:creationId xmlns:a16="http://schemas.microsoft.com/office/drawing/2014/main" id="{780127D9-142B-4ADB-BD59-44B08E2FB78B}"/>
              </a:ext>
            </a:extLst>
          </p:cNvPr>
          <p:cNvSpPr/>
          <p:nvPr/>
        </p:nvSpPr>
        <p:spPr>
          <a:xfrm>
            <a:off x="6635714" y="2527355"/>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 name="Elipse 42">
            <a:extLst>
              <a:ext uri="{FF2B5EF4-FFF2-40B4-BE49-F238E27FC236}">
                <a16:creationId xmlns:a16="http://schemas.microsoft.com/office/drawing/2014/main" id="{5B333DE3-53D4-47D6-971F-A107DA82D5DD}"/>
              </a:ext>
            </a:extLst>
          </p:cNvPr>
          <p:cNvSpPr/>
          <p:nvPr/>
        </p:nvSpPr>
        <p:spPr>
          <a:xfrm>
            <a:off x="6807725" y="2908263"/>
            <a:ext cx="118562" cy="112132"/>
          </a:xfrm>
          <a:prstGeom prst="ellipse">
            <a:avLst/>
          </a:prstGeom>
          <a:solidFill>
            <a:srgbClr val="00B0F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44" name="Picture 4">
            <a:extLst>
              <a:ext uri="{FF2B5EF4-FFF2-40B4-BE49-F238E27FC236}">
                <a16:creationId xmlns:a16="http://schemas.microsoft.com/office/drawing/2014/main" id="{C125D943-B847-4C8F-B399-E84DE77284F8}"/>
              </a:ext>
            </a:extLst>
          </p:cNvPr>
          <p:cNvPicPr>
            <a:picLocks noChangeAspect="1"/>
          </p:cNvPicPr>
          <p:nvPr/>
        </p:nvPicPr>
        <p:blipFill rotWithShape="1">
          <a:blip r:embed="rId4">
            <a:extLst>
              <a:ext uri="{28A0092B-C50C-407E-A947-70E740481C1C}">
                <a14:useLocalDpi xmlns:a14="http://schemas.microsoft.com/office/drawing/2010/main" val="0"/>
              </a:ext>
            </a:extLst>
          </a:blip>
          <a:srcRect l="20230" t="54323" r="59843" b="1690"/>
          <a:stretch/>
        </p:blipFill>
        <p:spPr>
          <a:xfrm>
            <a:off x="10428803" y="3048369"/>
            <a:ext cx="938768" cy="884869"/>
          </a:xfrm>
          <a:prstGeom prst="rect">
            <a:avLst/>
          </a:prstGeom>
        </p:spPr>
      </p:pic>
      <p:pic>
        <p:nvPicPr>
          <p:cNvPr id="45" name="Imagen 44">
            <a:extLst>
              <a:ext uri="{FF2B5EF4-FFF2-40B4-BE49-F238E27FC236}">
                <a16:creationId xmlns:a16="http://schemas.microsoft.com/office/drawing/2014/main" id="{3AE44B8A-936B-4434-934C-46D6C5ED8530}"/>
              </a:ext>
            </a:extLst>
          </p:cNvPr>
          <p:cNvPicPr>
            <a:picLocks noChangeAspect="1"/>
          </p:cNvPicPr>
          <p:nvPr/>
        </p:nvPicPr>
        <p:blipFill>
          <a:blip r:embed="rId9"/>
          <a:stretch>
            <a:fillRect/>
          </a:stretch>
        </p:blipFill>
        <p:spPr>
          <a:xfrm>
            <a:off x="6578030" y="3020395"/>
            <a:ext cx="236612" cy="231578"/>
          </a:xfrm>
          <a:prstGeom prst="rect">
            <a:avLst/>
          </a:prstGeom>
        </p:spPr>
      </p:pic>
      <p:pic>
        <p:nvPicPr>
          <p:cNvPr id="46" name="Picture 4">
            <a:extLst>
              <a:ext uri="{FF2B5EF4-FFF2-40B4-BE49-F238E27FC236}">
                <a16:creationId xmlns:a16="http://schemas.microsoft.com/office/drawing/2014/main" id="{D5C3A95E-42D0-49AA-8CD8-1114891D3D1D}"/>
              </a:ext>
            </a:extLst>
          </p:cNvPr>
          <p:cNvPicPr>
            <a:picLocks noChangeAspect="1"/>
          </p:cNvPicPr>
          <p:nvPr/>
        </p:nvPicPr>
        <p:blipFill rotWithShape="1">
          <a:blip r:embed="rId4">
            <a:extLst>
              <a:ext uri="{28A0092B-C50C-407E-A947-70E740481C1C}">
                <a14:useLocalDpi xmlns:a14="http://schemas.microsoft.com/office/drawing/2010/main" val="0"/>
              </a:ext>
            </a:extLst>
          </a:blip>
          <a:srcRect l="20704" r="59887" b="51906"/>
          <a:stretch/>
        </p:blipFill>
        <p:spPr>
          <a:xfrm>
            <a:off x="6646426" y="1999257"/>
            <a:ext cx="254752" cy="269546"/>
          </a:xfrm>
          <a:prstGeom prst="rect">
            <a:avLst/>
          </a:prstGeom>
        </p:spPr>
      </p:pic>
      <p:pic>
        <p:nvPicPr>
          <p:cNvPr id="47" name="Imagen 46">
            <a:extLst>
              <a:ext uri="{FF2B5EF4-FFF2-40B4-BE49-F238E27FC236}">
                <a16:creationId xmlns:a16="http://schemas.microsoft.com/office/drawing/2014/main" id="{F48604EE-BFE6-4E00-B599-566722322C4D}"/>
              </a:ext>
            </a:extLst>
          </p:cNvPr>
          <p:cNvPicPr>
            <a:picLocks noChangeAspect="1"/>
          </p:cNvPicPr>
          <p:nvPr/>
        </p:nvPicPr>
        <p:blipFill rotWithShape="1">
          <a:blip r:embed="rId10"/>
          <a:srcRect b="1805"/>
          <a:stretch/>
        </p:blipFill>
        <p:spPr>
          <a:xfrm>
            <a:off x="7065439" y="2575739"/>
            <a:ext cx="205672" cy="200124"/>
          </a:xfrm>
          <a:prstGeom prst="rect">
            <a:avLst/>
          </a:prstGeom>
        </p:spPr>
      </p:pic>
      <p:pic>
        <p:nvPicPr>
          <p:cNvPr id="48" name="Picture 4">
            <a:extLst>
              <a:ext uri="{FF2B5EF4-FFF2-40B4-BE49-F238E27FC236}">
                <a16:creationId xmlns:a16="http://schemas.microsoft.com/office/drawing/2014/main" id="{42B8C881-8606-4917-AA75-46A79486AEAB}"/>
              </a:ext>
            </a:extLst>
          </p:cNvPr>
          <p:cNvPicPr>
            <a:picLocks noChangeAspect="1"/>
          </p:cNvPicPr>
          <p:nvPr/>
        </p:nvPicPr>
        <p:blipFill rotWithShape="1">
          <a:blip r:embed="rId4">
            <a:extLst>
              <a:ext uri="{28A0092B-C50C-407E-A947-70E740481C1C}">
                <a14:useLocalDpi xmlns:a14="http://schemas.microsoft.com/office/drawing/2010/main" val="0"/>
              </a:ext>
            </a:extLst>
          </a:blip>
          <a:srcRect l="20704" r="59887" b="51906"/>
          <a:stretch/>
        </p:blipFill>
        <p:spPr>
          <a:xfrm>
            <a:off x="6220651" y="2151729"/>
            <a:ext cx="254752" cy="269546"/>
          </a:xfrm>
          <a:prstGeom prst="rect">
            <a:avLst/>
          </a:prstGeom>
        </p:spPr>
      </p:pic>
      <p:pic>
        <p:nvPicPr>
          <p:cNvPr id="49" name="Picture 4">
            <a:extLst>
              <a:ext uri="{FF2B5EF4-FFF2-40B4-BE49-F238E27FC236}">
                <a16:creationId xmlns:a16="http://schemas.microsoft.com/office/drawing/2014/main" id="{2BB919FE-8172-4AB5-BAB1-0C4E616E5F8D}"/>
              </a:ext>
            </a:extLst>
          </p:cNvPr>
          <p:cNvPicPr>
            <a:picLocks noChangeAspect="1"/>
          </p:cNvPicPr>
          <p:nvPr/>
        </p:nvPicPr>
        <p:blipFill rotWithShape="1">
          <a:blip r:embed="rId4">
            <a:extLst>
              <a:ext uri="{28A0092B-C50C-407E-A947-70E740481C1C}">
                <a14:useLocalDpi xmlns:a14="http://schemas.microsoft.com/office/drawing/2010/main" val="0"/>
              </a:ext>
            </a:extLst>
          </a:blip>
          <a:srcRect l="20704" r="59887" b="51906"/>
          <a:stretch/>
        </p:blipFill>
        <p:spPr>
          <a:xfrm>
            <a:off x="6773802" y="2284478"/>
            <a:ext cx="254752" cy="269546"/>
          </a:xfrm>
          <a:prstGeom prst="rect">
            <a:avLst/>
          </a:prstGeom>
        </p:spPr>
      </p:pic>
      <p:sp>
        <p:nvSpPr>
          <p:cNvPr id="50" name="TextBox 7">
            <a:extLst>
              <a:ext uri="{FF2B5EF4-FFF2-40B4-BE49-F238E27FC236}">
                <a16:creationId xmlns:a16="http://schemas.microsoft.com/office/drawing/2014/main" id="{133ECBF3-4D0E-4310-A4F1-47DC8711F2FE}"/>
              </a:ext>
            </a:extLst>
          </p:cNvPr>
          <p:cNvSpPr txBox="1"/>
          <p:nvPr/>
        </p:nvSpPr>
        <p:spPr>
          <a:xfrm>
            <a:off x="5882950" y="3422508"/>
            <a:ext cx="3190390" cy="461665"/>
          </a:xfrm>
          <a:prstGeom prst="rect">
            <a:avLst/>
          </a:prstGeom>
          <a:noFill/>
        </p:spPr>
        <p:txBody>
          <a:bodyPr wrap="square" rtlCol="0">
            <a:spAutoFit/>
          </a:bodyPr>
          <a:lstStyle/>
          <a:p>
            <a:pPr algn="ctr"/>
            <a:r>
              <a:rPr lang="en-US" sz="2400" i="1">
                <a:solidFill>
                  <a:schemeClr val="tx1">
                    <a:lumMod val="75000"/>
                    <a:lumOff val="25000"/>
                  </a:schemeClr>
                </a:solidFill>
                <a:latin typeface="Karla" charset="0"/>
                <a:ea typeface="Karla" charset="0"/>
                <a:cs typeface="Karla" charset="0"/>
              </a:rPr>
              <a:t>3</a:t>
            </a:r>
            <a:r>
              <a:rPr lang="en-US" sz="2400">
                <a:solidFill>
                  <a:schemeClr val="tx1">
                    <a:lumMod val="75000"/>
                    <a:lumOff val="25000"/>
                  </a:schemeClr>
                </a:solidFill>
                <a:latin typeface="Karla" charset="0"/>
                <a:ea typeface="Karla" charset="0"/>
                <a:cs typeface="Karla" charset="0"/>
              </a:rPr>
              <a:t> is pushed away</a:t>
            </a:r>
          </a:p>
        </p:txBody>
      </p:sp>
      <p:sp>
        <p:nvSpPr>
          <p:cNvPr id="41" name="Trapezoid 10">
            <a:extLst>
              <a:ext uri="{FF2B5EF4-FFF2-40B4-BE49-F238E27FC236}">
                <a16:creationId xmlns:a16="http://schemas.microsoft.com/office/drawing/2014/main" id="{8FB8083F-439F-498E-AA81-4B2F6F076C5F}"/>
              </a:ext>
            </a:extLst>
          </p:cNvPr>
          <p:cNvSpPr/>
          <p:nvPr/>
        </p:nvSpPr>
        <p:spPr>
          <a:xfrm rot="5400000" flipV="1">
            <a:off x="8792250" y="3031998"/>
            <a:ext cx="2146430" cy="917619"/>
          </a:xfrm>
          <a:prstGeom prst="trapezoid">
            <a:avLst/>
          </a:prstGeom>
          <a:solidFill>
            <a:schemeClr val="tx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lumMod val="75000"/>
                    <a:lumOff val="25000"/>
                  </a:schemeClr>
                </a:solidFill>
              </a:rPr>
              <a:t>DECODER</a:t>
            </a:r>
          </a:p>
        </p:txBody>
      </p:sp>
      <p:sp>
        <p:nvSpPr>
          <p:cNvPr id="51" name="Trapezoid 10">
            <a:extLst>
              <a:ext uri="{FF2B5EF4-FFF2-40B4-BE49-F238E27FC236}">
                <a16:creationId xmlns:a16="http://schemas.microsoft.com/office/drawing/2014/main" id="{642CC940-2DB2-46FE-A90F-E6E40F75F0AD}"/>
              </a:ext>
            </a:extLst>
          </p:cNvPr>
          <p:cNvSpPr/>
          <p:nvPr/>
        </p:nvSpPr>
        <p:spPr>
          <a:xfrm rot="16200000" flipH="1" flipV="1">
            <a:off x="1228782" y="3033606"/>
            <a:ext cx="2146430" cy="914401"/>
          </a:xfrm>
          <a:prstGeom prst="trapezoid">
            <a:avLst/>
          </a:prstGeom>
          <a:solidFill>
            <a:schemeClr val="tx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lumMod val="75000"/>
                    <a:lumOff val="25000"/>
                  </a:schemeClr>
                </a:solidFill>
              </a:rPr>
              <a:t>ENCODER</a:t>
            </a:r>
          </a:p>
        </p:txBody>
      </p:sp>
      <p:sp>
        <p:nvSpPr>
          <p:cNvPr id="3" name="Slide Number Placeholder 2"/>
          <p:cNvSpPr>
            <a:spLocks noGrp="1"/>
          </p:cNvSpPr>
          <p:nvPr>
            <p:ph type="sldNum" sz="quarter" idx="12"/>
          </p:nvPr>
        </p:nvSpPr>
        <p:spPr/>
        <p:txBody>
          <a:bodyPr/>
          <a:lstStyle/>
          <a:p>
            <a:fld id="{81B7CCDB-6D39-0547-B7B3-C80E39D6513A}" type="slidenum">
              <a:rPr lang="en-US" smtClean="0"/>
              <a:pPr/>
              <a:t>49</a:t>
            </a:fld>
            <a:endParaRPr lang="en-US"/>
          </a:p>
        </p:txBody>
      </p:sp>
    </p:spTree>
    <p:extLst>
      <p:ext uri="{BB962C8B-B14F-4D97-AF65-F5344CB8AC3E}">
        <p14:creationId xmlns:p14="http://schemas.microsoft.com/office/powerpoint/2010/main" val="366329930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9292" y="160260"/>
            <a:ext cx="11493416" cy="767276"/>
          </a:xfrm>
        </p:spPr>
        <p:txBody>
          <a:bodyPr/>
          <a:lstStyle/>
          <a:p>
            <a:r>
              <a:rPr lang="en-US"/>
              <a:t>Blending Latent Variables</a:t>
            </a:r>
          </a:p>
        </p:txBody>
      </p:sp>
      <p:pic>
        <p:nvPicPr>
          <p:cNvPr id="27" name="Picture 3">
            <a:extLst>
              <a:ext uri="{FF2B5EF4-FFF2-40B4-BE49-F238E27FC236}">
                <a16:creationId xmlns:a16="http://schemas.microsoft.com/office/drawing/2014/main" id="{3F7EF02D-39D9-4C5E-8150-92E66E1BBD87}"/>
              </a:ext>
            </a:extLst>
          </p:cNvPr>
          <p:cNvPicPr>
            <a:picLocks noChangeAspect="1"/>
          </p:cNvPicPr>
          <p:nvPr/>
        </p:nvPicPr>
        <p:blipFill rotWithShape="1">
          <a:blip r:embed="rId3">
            <a:extLst>
              <a:ext uri="{28A0092B-C50C-407E-A947-70E740481C1C}">
                <a14:useLocalDpi xmlns:a14="http://schemas.microsoft.com/office/drawing/2010/main" val="0"/>
              </a:ext>
            </a:extLst>
          </a:blip>
          <a:srcRect l="71777" t="-2162" r="8791" b="78285"/>
          <a:stretch/>
        </p:blipFill>
        <p:spPr>
          <a:xfrm>
            <a:off x="4111703" y="1816145"/>
            <a:ext cx="1758751" cy="767276"/>
          </a:xfrm>
          <a:prstGeom prst="rect">
            <a:avLst/>
          </a:prstGeom>
        </p:spPr>
      </p:pic>
      <p:pic>
        <p:nvPicPr>
          <p:cNvPr id="28" name="Picture 3">
            <a:extLst>
              <a:ext uri="{FF2B5EF4-FFF2-40B4-BE49-F238E27FC236}">
                <a16:creationId xmlns:a16="http://schemas.microsoft.com/office/drawing/2014/main" id="{57FEDE17-5EEE-4D1A-8E53-F32F065CB546}"/>
              </a:ext>
            </a:extLst>
          </p:cNvPr>
          <p:cNvPicPr>
            <a:picLocks noChangeAspect="1"/>
          </p:cNvPicPr>
          <p:nvPr/>
        </p:nvPicPr>
        <p:blipFill rotWithShape="1">
          <a:blip r:embed="rId3">
            <a:extLst>
              <a:ext uri="{28A0092B-C50C-407E-A947-70E740481C1C}">
                <a14:useLocalDpi xmlns:a14="http://schemas.microsoft.com/office/drawing/2010/main" val="0"/>
              </a:ext>
            </a:extLst>
          </a:blip>
          <a:srcRect l="50857" t="23883" r="28858" b="50073"/>
          <a:stretch/>
        </p:blipFill>
        <p:spPr>
          <a:xfrm>
            <a:off x="3810233" y="2731765"/>
            <a:ext cx="1835902" cy="836937"/>
          </a:xfrm>
          <a:prstGeom prst="rect">
            <a:avLst/>
          </a:prstGeom>
        </p:spPr>
      </p:pic>
      <p:sp>
        <p:nvSpPr>
          <p:cNvPr id="9" name="Rectángulo 8">
            <a:extLst>
              <a:ext uri="{FF2B5EF4-FFF2-40B4-BE49-F238E27FC236}">
                <a16:creationId xmlns:a16="http://schemas.microsoft.com/office/drawing/2014/main" id="{C5767CAC-93DA-4409-9752-3CF4B526EF1F}"/>
              </a:ext>
            </a:extLst>
          </p:cNvPr>
          <p:cNvSpPr/>
          <p:nvPr/>
        </p:nvSpPr>
        <p:spPr>
          <a:xfrm>
            <a:off x="5695120" y="1628974"/>
            <a:ext cx="3474720" cy="3826413"/>
          </a:xfrm>
          <a:prstGeom prst="rect">
            <a:avLst/>
          </a:prstGeom>
          <a:solidFill>
            <a:schemeClr val="bg1"/>
          </a:solid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1" name="Picture 4">
            <a:extLst>
              <a:ext uri="{FF2B5EF4-FFF2-40B4-BE49-F238E27FC236}">
                <a16:creationId xmlns:a16="http://schemas.microsoft.com/office/drawing/2014/main" id="{B5492FC1-0CED-4171-A0A8-6FFD665124D3}"/>
              </a:ext>
            </a:extLst>
          </p:cNvPr>
          <p:cNvPicPr>
            <a:picLocks noChangeAspect="1"/>
          </p:cNvPicPr>
          <p:nvPr/>
        </p:nvPicPr>
        <p:blipFill rotWithShape="1">
          <a:blip r:embed="rId4">
            <a:extLst>
              <a:ext uri="{28A0092B-C50C-407E-A947-70E740481C1C}">
                <a14:useLocalDpi xmlns:a14="http://schemas.microsoft.com/office/drawing/2010/main" val="0"/>
              </a:ext>
            </a:extLst>
          </a:blip>
          <a:srcRect l="20704" r="59887" b="51906"/>
          <a:stretch/>
        </p:blipFill>
        <p:spPr>
          <a:xfrm>
            <a:off x="840339" y="2992764"/>
            <a:ext cx="914401" cy="967501"/>
          </a:xfrm>
          <a:prstGeom prst="rect">
            <a:avLst/>
          </a:prstGeom>
        </p:spPr>
      </p:pic>
      <p:cxnSp>
        <p:nvCxnSpPr>
          <p:cNvPr id="20" name="Straight Arrow Connector 24">
            <a:extLst>
              <a:ext uri="{FF2B5EF4-FFF2-40B4-BE49-F238E27FC236}">
                <a16:creationId xmlns:a16="http://schemas.microsoft.com/office/drawing/2014/main" id="{8357E5F4-CE4A-4BE0-BE18-5A16157A4168}"/>
              </a:ext>
            </a:extLst>
          </p:cNvPr>
          <p:cNvCxnSpPr/>
          <p:nvPr/>
        </p:nvCxnSpPr>
        <p:spPr>
          <a:xfrm flipV="1">
            <a:off x="2863460" y="2898253"/>
            <a:ext cx="528203" cy="413431"/>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21" name="Rectangle 26">
            <a:extLst>
              <a:ext uri="{FF2B5EF4-FFF2-40B4-BE49-F238E27FC236}">
                <a16:creationId xmlns:a16="http://schemas.microsoft.com/office/drawing/2014/main" id="{7663EC45-4979-4427-95AC-41C2528EF079}"/>
              </a:ext>
            </a:extLst>
          </p:cNvPr>
          <p:cNvSpPr/>
          <p:nvPr/>
        </p:nvSpPr>
        <p:spPr>
          <a:xfrm>
            <a:off x="3417538" y="2024970"/>
            <a:ext cx="400704" cy="1131570"/>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3600" i="1"/>
          </a:p>
        </p:txBody>
      </p:sp>
      <p:sp>
        <p:nvSpPr>
          <p:cNvPr id="22" name="Rectangle 29">
            <a:extLst>
              <a:ext uri="{FF2B5EF4-FFF2-40B4-BE49-F238E27FC236}">
                <a16:creationId xmlns:a16="http://schemas.microsoft.com/office/drawing/2014/main" id="{3926F3BB-EA7C-4C8B-8D46-66C95DFD8443}"/>
              </a:ext>
            </a:extLst>
          </p:cNvPr>
          <p:cNvSpPr/>
          <p:nvPr/>
        </p:nvSpPr>
        <p:spPr>
          <a:xfrm>
            <a:off x="3412674" y="3791651"/>
            <a:ext cx="400704" cy="1131570"/>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3600" i="1"/>
          </a:p>
        </p:txBody>
      </p:sp>
      <p:cxnSp>
        <p:nvCxnSpPr>
          <p:cNvPr id="23" name="Straight Arrow Connector 30">
            <a:extLst>
              <a:ext uri="{FF2B5EF4-FFF2-40B4-BE49-F238E27FC236}">
                <a16:creationId xmlns:a16="http://schemas.microsoft.com/office/drawing/2014/main" id="{8E64302A-A018-4292-B980-CFFE03B6B1B2}"/>
              </a:ext>
            </a:extLst>
          </p:cNvPr>
          <p:cNvCxnSpPr/>
          <p:nvPr/>
        </p:nvCxnSpPr>
        <p:spPr>
          <a:xfrm>
            <a:off x="2865164" y="3636277"/>
            <a:ext cx="504971" cy="349139"/>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32">
            <a:extLst>
              <a:ext uri="{FF2B5EF4-FFF2-40B4-BE49-F238E27FC236}">
                <a16:creationId xmlns:a16="http://schemas.microsoft.com/office/drawing/2014/main" id="{F6A71B2E-AE58-4208-8D0E-7963C9D780BF}"/>
              </a:ext>
            </a:extLst>
          </p:cNvPr>
          <p:cNvCxnSpPr>
            <a:cxnSpLocks/>
            <a:endCxn id="28" idx="2"/>
          </p:cNvCxnSpPr>
          <p:nvPr/>
        </p:nvCxnSpPr>
        <p:spPr>
          <a:xfrm flipV="1">
            <a:off x="3856435" y="3568702"/>
            <a:ext cx="871749" cy="451238"/>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33">
            <a:extLst>
              <a:ext uri="{FF2B5EF4-FFF2-40B4-BE49-F238E27FC236}">
                <a16:creationId xmlns:a16="http://schemas.microsoft.com/office/drawing/2014/main" id="{56F9D3A5-9A1C-4760-9D58-305A9F7235AC}"/>
              </a:ext>
            </a:extLst>
          </p:cNvPr>
          <p:cNvCxnSpPr>
            <a:cxnSpLocks/>
          </p:cNvCxnSpPr>
          <p:nvPr/>
        </p:nvCxnSpPr>
        <p:spPr>
          <a:xfrm>
            <a:off x="3859218" y="2898253"/>
            <a:ext cx="577147" cy="444125"/>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graphicFrame>
        <p:nvGraphicFramePr>
          <p:cNvPr id="26" name="Content Placeholder 3">
            <a:extLst>
              <a:ext uri="{FF2B5EF4-FFF2-40B4-BE49-F238E27FC236}">
                <a16:creationId xmlns:a16="http://schemas.microsoft.com/office/drawing/2014/main" id="{34762B13-0B39-4FE9-9CDA-DD9EF92FBF1C}"/>
              </a:ext>
            </a:extLst>
          </p:cNvPr>
          <p:cNvGraphicFramePr>
            <a:graphicFrameLocks noChangeAspect="1"/>
          </p:cNvGraphicFramePr>
          <p:nvPr/>
        </p:nvGraphicFramePr>
        <p:xfrm>
          <a:off x="2955007" y="4952849"/>
          <a:ext cx="1316037" cy="468492"/>
        </p:xfrm>
        <a:graphic>
          <a:graphicData uri="http://schemas.openxmlformats.org/presentationml/2006/ole">
            <mc:AlternateContent xmlns:mc="http://schemas.openxmlformats.org/markup-compatibility/2006">
              <mc:Choice xmlns:v="urn:schemas-microsoft-com:vml" Requires="v">
                <p:oleObj spid="_x0000_s10243" name="Equation" r:id="rId5" imgW="533400" imgH="190500" progId="Equation.3">
                  <p:embed/>
                </p:oleObj>
              </mc:Choice>
              <mc:Fallback>
                <p:oleObj name="Equation" r:id="rId5" imgW="533400" imgH="190500" progId="Equation.3">
                  <p:embed/>
                  <p:pic>
                    <p:nvPicPr>
                      <p:cNvPr id="26" name="Content Placeholder 3">
                        <a:extLst>
                          <a:ext uri="{FF2B5EF4-FFF2-40B4-BE49-F238E27FC236}">
                            <a16:creationId xmlns:a16="http://schemas.microsoft.com/office/drawing/2014/main" id="{34762B13-0B39-4FE9-9CDA-DD9EF92FBF1C}"/>
                          </a:ext>
                        </a:extLst>
                      </p:cNvPr>
                      <p:cNvPicPr/>
                      <p:nvPr/>
                    </p:nvPicPr>
                    <p:blipFill>
                      <a:blip r:embed="rId6"/>
                      <a:stretch>
                        <a:fillRect/>
                      </a:stretch>
                    </p:blipFill>
                    <p:spPr>
                      <a:xfrm>
                        <a:off x="2955007" y="4952849"/>
                        <a:ext cx="1316037" cy="468492"/>
                      </a:xfrm>
                      <a:prstGeom prst="rect">
                        <a:avLst/>
                      </a:prstGeom>
                    </p:spPr>
                  </p:pic>
                </p:oleObj>
              </mc:Fallback>
            </mc:AlternateContent>
          </a:graphicData>
        </a:graphic>
      </p:graphicFrame>
      <p:graphicFrame>
        <p:nvGraphicFramePr>
          <p:cNvPr id="33" name="Content Placeholder 3">
            <a:extLst>
              <a:ext uri="{FF2B5EF4-FFF2-40B4-BE49-F238E27FC236}">
                <a16:creationId xmlns:a16="http://schemas.microsoft.com/office/drawing/2014/main" id="{4907A32F-2B40-497A-B62B-0380AD197925}"/>
              </a:ext>
            </a:extLst>
          </p:cNvPr>
          <p:cNvGraphicFramePr>
            <a:graphicFrameLocks noChangeAspect="1"/>
          </p:cNvGraphicFramePr>
          <p:nvPr/>
        </p:nvGraphicFramePr>
        <p:xfrm>
          <a:off x="3168728" y="1584706"/>
          <a:ext cx="942975" cy="425450"/>
        </p:xfrm>
        <a:graphic>
          <a:graphicData uri="http://schemas.openxmlformats.org/presentationml/2006/ole">
            <mc:AlternateContent xmlns:mc="http://schemas.openxmlformats.org/markup-compatibility/2006">
              <mc:Choice xmlns:v="urn:schemas-microsoft-com:vml" Requires="v">
                <p:oleObj spid="_x0000_s10244" name="Equation" r:id="rId7" imgW="393700" imgH="177800" progId="Equation.3">
                  <p:embed/>
                </p:oleObj>
              </mc:Choice>
              <mc:Fallback>
                <p:oleObj name="Equation" r:id="rId7" imgW="393700" imgH="177800" progId="Equation.3">
                  <p:embed/>
                  <p:pic>
                    <p:nvPicPr>
                      <p:cNvPr id="33" name="Content Placeholder 3">
                        <a:extLst>
                          <a:ext uri="{FF2B5EF4-FFF2-40B4-BE49-F238E27FC236}">
                            <a16:creationId xmlns:a16="http://schemas.microsoft.com/office/drawing/2014/main" id="{4907A32F-2B40-497A-B62B-0380AD197925}"/>
                          </a:ext>
                        </a:extLst>
                      </p:cNvPr>
                      <p:cNvPicPr/>
                      <p:nvPr/>
                    </p:nvPicPr>
                    <p:blipFill>
                      <a:blip r:embed="rId8"/>
                      <a:stretch>
                        <a:fillRect/>
                      </a:stretch>
                    </p:blipFill>
                    <p:spPr>
                      <a:xfrm>
                        <a:off x="3168728" y="1584706"/>
                        <a:ext cx="942975" cy="425450"/>
                      </a:xfrm>
                      <a:prstGeom prst="rect">
                        <a:avLst/>
                      </a:prstGeom>
                    </p:spPr>
                  </p:pic>
                </p:oleObj>
              </mc:Fallback>
            </mc:AlternateContent>
          </a:graphicData>
        </a:graphic>
      </p:graphicFrame>
      <p:sp>
        <p:nvSpPr>
          <p:cNvPr id="34" name="Elipse 33">
            <a:extLst>
              <a:ext uri="{FF2B5EF4-FFF2-40B4-BE49-F238E27FC236}">
                <a16:creationId xmlns:a16="http://schemas.microsoft.com/office/drawing/2014/main" id="{4C910D88-19BF-4C95-8965-2A8C46DD61A0}"/>
              </a:ext>
            </a:extLst>
          </p:cNvPr>
          <p:cNvSpPr/>
          <p:nvPr/>
        </p:nvSpPr>
        <p:spPr>
          <a:xfrm>
            <a:off x="6607112" y="2305460"/>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2" name="Conector recto de flecha 31">
            <a:extLst>
              <a:ext uri="{FF2B5EF4-FFF2-40B4-BE49-F238E27FC236}">
                <a16:creationId xmlns:a16="http://schemas.microsoft.com/office/drawing/2014/main" id="{9B5D0855-2371-4C97-B690-9989C38B9764}"/>
              </a:ext>
            </a:extLst>
          </p:cNvPr>
          <p:cNvCxnSpPr>
            <a:cxnSpLocks/>
          </p:cNvCxnSpPr>
          <p:nvPr/>
        </p:nvCxnSpPr>
        <p:spPr>
          <a:xfrm>
            <a:off x="4723422" y="2583421"/>
            <a:ext cx="0" cy="907383"/>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5" name="Elipse 34">
            <a:extLst>
              <a:ext uri="{FF2B5EF4-FFF2-40B4-BE49-F238E27FC236}">
                <a16:creationId xmlns:a16="http://schemas.microsoft.com/office/drawing/2014/main" id="{506A80D3-247D-49F9-A29D-983AE0D2A6E5}"/>
              </a:ext>
            </a:extLst>
          </p:cNvPr>
          <p:cNvSpPr/>
          <p:nvPr/>
        </p:nvSpPr>
        <p:spPr>
          <a:xfrm>
            <a:off x="4664142" y="3476515"/>
            <a:ext cx="118562" cy="112132"/>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 name="Elipse 36">
            <a:extLst>
              <a:ext uri="{FF2B5EF4-FFF2-40B4-BE49-F238E27FC236}">
                <a16:creationId xmlns:a16="http://schemas.microsoft.com/office/drawing/2014/main" id="{A1998CF8-6F2B-452C-B481-E8EF77618155}"/>
              </a:ext>
            </a:extLst>
          </p:cNvPr>
          <p:cNvSpPr/>
          <p:nvPr/>
        </p:nvSpPr>
        <p:spPr>
          <a:xfrm>
            <a:off x="6932465" y="2493906"/>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4" name="Conector recto de flecha 13">
            <a:extLst>
              <a:ext uri="{FF2B5EF4-FFF2-40B4-BE49-F238E27FC236}">
                <a16:creationId xmlns:a16="http://schemas.microsoft.com/office/drawing/2014/main" id="{FC6EAB1E-BD64-423B-95D5-2502A783E5A9}"/>
              </a:ext>
            </a:extLst>
          </p:cNvPr>
          <p:cNvCxnSpPr>
            <a:cxnSpLocks/>
            <a:stCxn id="43" idx="3"/>
            <a:endCxn id="61" idx="7"/>
          </p:cNvCxnSpPr>
          <p:nvPr/>
        </p:nvCxnSpPr>
        <p:spPr>
          <a:xfrm flipH="1">
            <a:off x="6576254" y="3003974"/>
            <a:ext cx="248834" cy="37683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2" name="Elipse 41">
            <a:extLst>
              <a:ext uri="{FF2B5EF4-FFF2-40B4-BE49-F238E27FC236}">
                <a16:creationId xmlns:a16="http://schemas.microsoft.com/office/drawing/2014/main" id="{72CCAA22-3C13-406F-AFD8-291B8B7232CE}"/>
              </a:ext>
            </a:extLst>
          </p:cNvPr>
          <p:cNvSpPr/>
          <p:nvPr/>
        </p:nvSpPr>
        <p:spPr>
          <a:xfrm>
            <a:off x="6459468" y="2437840"/>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 name="Elipse 38">
            <a:extLst>
              <a:ext uri="{FF2B5EF4-FFF2-40B4-BE49-F238E27FC236}">
                <a16:creationId xmlns:a16="http://schemas.microsoft.com/office/drawing/2014/main" id="{780127D9-142B-4ADB-BD59-44B08E2FB78B}"/>
              </a:ext>
            </a:extLst>
          </p:cNvPr>
          <p:cNvSpPr/>
          <p:nvPr/>
        </p:nvSpPr>
        <p:spPr>
          <a:xfrm>
            <a:off x="6635714" y="2527355"/>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 name="Elipse 42">
            <a:extLst>
              <a:ext uri="{FF2B5EF4-FFF2-40B4-BE49-F238E27FC236}">
                <a16:creationId xmlns:a16="http://schemas.microsoft.com/office/drawing/2014/main" id="{5B333DE3-53D4-47D6-971F-A107DA82D5DD}"/>
              </a:ext>
            </a:extLst>
          </p:cNvPr>
          <p:cNvSpPr/>
          <p:nvPr/>
        </p:nvSpPr>
        <p:spPr>
          <a:xfrm>
            <a:off x="6807725" y="2908263"/>
            <a:ext cx="118562" cy="112132"/>
          </a:xfrm>
          <a:prstGeom prst="ellipse">
            <a:avLst/>
          </a:prstGeom>
          <a:solidFill>
            <a:srgbClr val="00B0F0">
              <a:alpha val="36078"/>
            </a:srgbClr>
          </a:solidFill>
          <a:ln>
            <a:solidFill>
              <a:schemeClr val="tx1"/>
            </a:solidFill>
            <a:prstDash val="sys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TextBox 7">
            <a:extLst>
              <a:ext uri="{FF2B5EF4-FFF2-40B4-BE49-F238E27FC236}">
                <a16:creationId xmlns:a16="http://schemas.microsoft.com/office/drawing/2014/main" id="{C87FD988-0ABF-4709-893B-12E3DFF0DB62}"/>
              </a:ext>
            </a:extLst>
          </p:cNvPr>
          <p:cNvSpPr txBox="1"/>
          <p:nvPr/>
        </p:nvSpPr>
        <p:spPr>
          <a:xfrm>
            <a:off x="-164071" y="981579"/>
            <a:ext cx="3281720" cy="461665"/>
          </a:xfrm>
          <a:prstGeom prst="rect">
            <a:avLst/>
          </a:prstGeom>
          <a:noFill/>
        </p:spPr>
        <p:txBody>
          <a:bodyPr wrap="square" rtlCol="0">
            <a:spAutoFit/>
          </a:bodyPr>
          <a:lstStyle/>
          <a:p>
            <a:pPr algn="ctr"/>
            <a:r>
              <a:rPr lang="en-US" sz="2400">
                <a:solidFill>
                  <a:schemeClr val="tx1">
                    <a:lumMod val="75000"/>
                    <a:lumOff val="25000"/>
                  </a:schemeClr>
                </a:solidFill>
                <a:latin typeface="Karla" charset="0"/>
                <a:ea typeface="Karla" charset="0"/>
                <a:cs typeface="Karla" charset="0"/>
              </a:rPr>
              <a:t>Many times…</a:t>
            </a:r>
            <a:endParaRPr lang="en-US" sz="2400" i="1">
              <a:solidFill>
                <a:schemeClr val="tx1">
                  <a:lumMod val="75000"/>
                  <a:lumOff val="25000"/>
                </a:schemeClr>
              </a:solidFill>
              <a:latin typeface="Karla" charset="0"/>
              <a:ea typeface="Karla" charset="0"/>
              <a:cs typeface="Karla" charset="0"/>
            </a:endParaRPr>
          </a:p>
        </p:txBody>
      </p:sp>
      <p:cxnSp>
        <p:nvCxnSpPr>
          <p:cNvPr id="41" name="Conector recto de flecha 40">
            <a:extLst>
              <a:ext uri="{FF2B5EF4-FFF2-40B4-BE49-F238E27FC236}">
                <a16:creationId xmlns:a16="http://schemas.microsoft.com/office/drawing/2014/main" id="{A8D937BB-0AE0-4B0C-A755-8AE6224F6352}"/>
              </a:ext>
            </a:extLst>
          </p:cNvPr>
          <p:cNvCxnSpPr/>
          <p:nvPr/>
        </p:nvCxnSpPr>
        <p:spPr>
          <a:xfrm>
            <a:off x="4424449" y="2583421"/>
            <a:ext cx="0" cy="907383"/>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44" name="Elipse 43">
            <a:extLst>
              <a:ext uri="{FF2B5EF4-FFF2-40B4-BE49-F238E27FC236}">
                <a16:creationId xmlns:a16="http://schemas.microsoft.com/office/drawing/2014/main" id="{A0F5B0DA-A766-43DE-8D03-FBE9ACC6CD9F}"/>
              </a:ext>
            </a:extLst>
          </p:cNvPr>
          <p:cNvSpPr/>
          <p:nvPr/>
        </p:nvSpPr>
        <p:spPr>
          <a:xfrm>
            <a:off x="4365169" y="3476515"/>
            <a:ext cx="118562" cy="112132"/>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5" name="Conector recto de flecha 44">
            <a:extLst>
              <a:ext uri="{FF2B5EF4-FFF2-40B4-BE49-F238E27FC236}">
                <a16:creationId xmlns:a16="http://schemas.microsoft.com/office/drawing/2014/main" id="{8E61B72F-63AA-4F1A-B5A0-ADC55FD891B3}"/>
              </a:ext>
            </a:extLst>
          </p:cNvPr>
          <p:cNvCxnSpPr/>
          <p:nvPr/>
        </p:nvCxnSpPr>
        <p:spPr>
          <a:xfrm>
            <a:off x="4545045" y="2586232"/>
            <a:ext cx="0" cy="907383"/>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46" name="Elipse 45">
            <a:extLst>
              <a:ext uri="{FF2B5EF4-FFF2-40B4-BE49-F238E27FC236}">
                <a16:creationId xmlns:a16="http://schemas.microsoft.com/office/drawing/2014/main" id="{B833C644-16FC-4FB9-8F02-AC7D1FAAD4DC}"/>
              </a:ext>
            </a:extLst>
          </p:cNvPr>
          <p:cNvSpPr/>
          <p:nvPr/>
        </p:nvSpPr>
        <p:spPr>
          <a:xfrm>
            <a:off x="4485765" y="3479326"/>
            <a:ext cx="118562" cy="112132"/>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7" name="Conector recto de flecha 46">
            <a:extLst>
              <a:ext uri="{FF2B5EF4-FFF2-40B4-BE49-F238E27FC236}">
                <a16:creationId xmlns:a16="http://schemas.microsoft.com/office/drawing/2014/main" id="{529E7EE6-9E43-4D35-A253-17BDAB12C9CD}"/>
              </a:ext>
            </a:extLst>
          </p:cNvPr>
          <p:cNvCxnSpPr/>
          <p:nvPr/>
        </p:nvCxnSpPr>
        <p:spPr>
          <a:xfrm>
            <a:off x="4776957" y="2587558"/>
            <a:ext cx="0" cy="907383"/>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48" name="Elipse 47">
            <a:extLst>
              <a:ext uri="{FF2B5EF4-FFF2-40B4-BE49-F238E27FC236}">
                <a16:creationId xmlns:a16="http://schemas.microsoft.com/office/drawing/2014/main" id="{AB2A91ED-B29F-4D45-B056-A2ACA08938B2}"/>
              </a:ext>
            </a:extLst>
          </p:cNvPr>
          <p:cNvSpPr/>
          <p:nvPr/>
        </p:nvSpPr>
        <p:spPr>
          <a:xfrm>
            <a:off x="4717677" y="3480652"/>
            <a:ext cx="118562" cy="112132"/>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9" name="Conector recto de flecha 48">
            <a:extLst>
              <a:ext uri="{FF2B5EF4-FFF2-40B4-BE49-F238E27FC236}">
                <a16:creationId xmlns:a16="http://schemas.microsoft.com/office/drawing/2014/main" id="{99FE0791-0A90-426D-8CBA-001C0A2F4EEF}"/>
              </a:ext>
            </a:extLst>
          </p:cNvPr>
          <p:cNvCxnSpPr/>
          <p:nvPr/>
        </p:nvCxnSpPr>
        <p:spPr>
          <a:xfrm>
            <a:off x="4897554" y="2580934"/>
            <a:ext cx="0" cy="907383"/>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0" name="Elipse 49">
            <a:extLst>
              <a:ext uri="{FF2B5EF4-FFF2-40B4-BE49-F238E27FC236}">
                <a16:creationId xmlns:a16="http://schemas.microsoft.com/office/drawing/2014/main" id="{9CF92C3F-0043-4C47-BDAD-6C5F1DE851B0}"/>
              </a:ext>
            </a:extLst>
          </p:cNvPr>
          <p:cNvSpPr/>
          <p:nvPr/>
        </p:nvSpPr>
        <p:spPr>
          <a:xfrm>
            <a:off x="4838274" y="3474028"/>
            <a:ext cx="118562" cy="112132"/>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51" name="Conector recto de flecha 50">
            <a:extLst>
              <a:ext uri="{FF2B5EF4-FFF2-40B4-BE49-F238E27FC236}">
                <a16:creationId xmlns:a16="http://schemas.microsoft.com/office/drawing/2014/main" id="{9FB8C2FF-B8E3-4611-A85D-15F165DBF528}"/>
              </a:ext>
            </a:extLst>
          </p:cNvPr>
          <p:cNvCxnSpPr/>
          <p:nvPr/>
        </p:nvCxnSpPr>
        <p:spPr>
          <a:xfrm>
            <a:off x="5010199" y="2582258"/>
            <a:ext cx="0" cy="907383"/>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2" name="Elipse 51">
            <a:extLst>
              <a:ext uri="{FF2B5EF4-FFF2-40B4-BE49-F238E27FC236}">
                <a16:creationId xmlns:a16="http://schemas.microsoft.com/office/drawing/2014/main" id="{9AF34282-361F-4B80-A386-A639FF6F048A}"/>
              </a:ext>
            </a:extLst>
          </p:cNvPr>
          <p:cNvSpPr/>
          <p:nvPr/>
        </p:nvSpPr>
        <p:spPr>
          <a:xfrm>
            <a:off x="4950919" y="3475352"/>
            <a:ext cx="118562" cy="112132"/>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 name="Elipse 52">
            <a:extLst>
              <a:ext uri="{FF2B5EF4-FFF2-40B4-BE49-F238E27FC236}">
                <a16:creationId xmlns:a16="http://schemas.microsoft.com/office/drawing/2014/main" id="{6CF345B8-5482-480A-839B-FF9FB9C34E44}"/>
              </a:ext>
            </a:extLst>
          </p:cNvPr>
          <p:cNvSpPr/>
          <p:nvPr/>
        </p:nvSpPr>
        <p:spPr>
          <a:xfrm>
            <a:off x="6480972" y="2646306"/>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4" name="Elipse 53">
            <a:extLst>
              <a:ext uri="{FF2B5EF4-FFF2-40B4-BE49-F238E27FC236}">
                <a16:creationId xmlns:a16="http://schemas.microsoft.com/office/drawing/2014/main" id="{98AD6E83-80D4-4F10-AC7A-D287655BA19C}"/>
              </a:ext>
            </a:extLst>
          </p:cNvPr>
          <p:cNvSpPr/>
          <p:nvPr/>
        </p:nvSpPr>
        <p:spPr>
          <a:xfrm>
            <a:off x="6814456" y="2434342"/>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 name="Elipse 54">
            <a:extLst>
              <a:ext uri="{FF2B5EF4-FFF2-40B4-BE49-F238E27FC236}">
                <a16:creationId xmlns:a16="http://schemas.microsoft.com/office/drawing/2014/main" id="{71F9D499-3E52-4E75-81CF-07E578C8D4BF}"/>
              </a:ext>
            </a:extLst>
          </p:cNvPr>
          <p:cNvSpPr/>
          <p:nvPr/>
        </p:nvSpPr>
        <p:spPr>
          <a:xfrm>
            <a:off x="6787742" y="2625612"/>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 name="Elipse 55">
            <a:extLst>
              <a:ext uri="{FF2B5EF4-FFF2-40B4-BE49-F238E27FC236}">
                <a16:creationId xmlns:a16="http://schemas.microsoft.com/office/drawing/2014/main" id="{D59D527C-19EF-4E27-942E-61047FF44D52}"/>
              </a:ext>
            </a:extLst>
          </p:cNvPr>
          <p:cNvSpPr/>
          <p:nvPr/>
        </p:nvSpPr>
        <p:spPr>
          <a:xfrm>
            <a:off x="6633372" y="2590240"/>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 name="Elipse 56">
            <a:extLst>
              <a:ext uri="{FF2B5EF4-FFF2-40B4-BE49-F238E27FC236}">
                <a16:creationId xmlns:a16="http://schemas.microsoft.com/office/drawing/2014/main" id="{BAC6C0F1-FEAC-461E-B0AC-3BFC0AFCAAF2}"/>
              </a:ext>
            </a:extLst>
          </p:cNvPr>
          <p:cNvSpPr/>
          <p:nvPr/>
        </p:nvSpPr>
        <p:spPr>
          <a:xfrm>
            <a:off x="6757306" y="2332702"/>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 name="Elipse 57">
            <a:extLst>
              <a:ext uri="{FF2B5EF4-FFF2-40B4-BE49-F238E27FC236}">
                <a16:creationId xmlns:a16="http://schemas.microsoft.com/office/drawing/2014/main" id="{E6D6A73D-A8FD-4A04-9545-B3BBB3117345}"/>
              </a:ext>
            </a:extLst>
          </p:cNvPr>
          <p:cNvSpPr/>
          <p:nvPr/>
        </p:nvSpPr>
        <p:spPr>
          <a:xfrm>
            <a:off x="6947527" y="2311401"/>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9" name="Elipse 58">
            <a:extLst>
              <a:ext uri="{FF2B5EF4-FFF2-40B4-BE49-F238E27FC236}">
                <a16:creationId xmlns:a16="http://schemas.microsoft.com/office/drawing/2014/main" id="{93146E34-ED6E-473D-BB03-36AE94106E85}"/>
              </a:ext>
            </a:extLst>
          </p:cNvPr>
          <p:cNvSpPr/>
          <p:nvPr/>
        </p:nvSpPr>
        <p:spPr>
          <a:xfrm>
            <a:off x="6395902" y="2566530"/>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0" name="Elipse 59">
            <a:extLst>
              <a:ext uri="{FF2B5EF4-FFF2-40B4-BE49-F238E27FC236}">
                <a16:creationId xmlns:a16="http://schemas.microsoft.com/office/drawing/2014/main" id="{321C5BC2-5E93-4B4B-A667-CECC98755AC7}"/>
              </a:ext>
            </a:extLst>
          </p:cNvPr>
          <p:cNvSpPr/>
          <p:nvPr/>
        </p:nvSpPr>
        <p:spPr>
          <a:xfrm>
            <a:off x="6644688" y="2742640"/>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1" name="Elipse 60">
            <a:extLst>
              <a:ext uri="{FF2B5EF4-FFF2-40B4-BE49-F238E27FC236}">
                <a16:creationId xmlns:a16="http://schemas.microsoft.com/office/drawing/2014/main" id="{B5F7C931-A4FC-4462-9E92-943D19FE98D7}"/>
              </a:ext>
            </a:extLst>
          </p:cNvPr>
          <p:cNvSpPr/>
          <p:nvPr/>
        </p:nvSpPr>
        <p:spPr>
          <a:xfrm>
            <a:off x="6475055" y="3364383"/>
            <a:ext cx="118562" cy="112132"/>
          </a:xfrm>
          <a:prstGeom prst="ellipse">
            <a:avLst/>
          </a:prstGeom>
          <a:solidFill>
            <a:srgbClr val="00B0F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62" name="Picture 4">
            <a:extLst>
              <a:ext uri="{FF2B5EF4-FFF2-40B4-BE49-F238E27FC236}">
                <a16:creationId xmlns:a16="http://schemas.microsoft.com/office/drawing/2014/main" id="{31B18990-81AC-4FE4-A55E-DE41450D260B}"/>
              </a:ext>
            </a:extLst>
          </p:cNvPr>
          <p:cNvPicPr>
            <a:picLocks noChangeAspect="1"/>
          </p:cNvPicPr>
          <p:nvPr/>
        </p:nvPicPr>
        <p:blipFill rotWithShape="1">
          <a:blip r:embed="rId4">
            <a:extLst>
              <a:ext uri="{28A0092B-C50C-407E-A947-70E740481C1C}">
                <a14:useLocalDpi xmlns:a14="http://schemas.microsoft.com/office/drawing/2010/main" val="0"/>
              </a:ext>
            </a:extLst>
          </a:blip>
          <a:srcRect l="20704" r="59887" b="51906"/>
          <a:stretch/>
        </p:blipFill>
        <p:spPr>
          <a:xfrm>
            <a:off x="10437260" y="3079068"/>
            <a:ext cx="914401" cy="967501"/>
          </a:xfrm>
          <a:prstGeom prst="rect">
            <a:avLst/>
          </a:prstGeom>
        </p:spPr>
      </p:pic>
      <p:pic>
        <p:nvPicPr>
          <p:cNvPr id="63" name="Imagen 62">
            <a:extLst>
              <a:ext uri="{FF2B5EF4-FFF2-40B4-BE49-F238E27FC236}">
                <a16:creationId xmlns:a16="http://schemas.microsoft.com/office/drawing/2014/main" id="{CF4AF225-BF3D-4754-9F95-38CDCB18ED42}"/>
              </a:ext>
            </a:extLst>
          </p:cNvPr>
          <p:cNvPicPr>
            <a:picLocks noChangeAspect="1"/>
          </p:cNvPicPr>
          <p:nvPr/>
        </p:nvPicPr>
        <p:blipFill rotWithShape="1">
          <a:blip r:embed="rId9"/>
          <a:srcRect b="1805"/>
          <a:stretch/>
        </p:blipFill>
        <p:spPr>
          <a:xfrm>
            <a:off x="7065439" y="2575739"/>
            <a:ext cx="205672" cy="200124"/>
          </a:xfrm>
          <a:prstGeom prst="rect">
            <a:avLst/>
          </a:prstGeom>
        </p:spPr>
      </p:pic>
      <p:pic>
        <p:nvPicPr>
          <p:cNvPr id="64" name="Picture 4">
            <a:extLst>
              <a:ext uri="{FF2B5EF4-FFF2-40B4-BE49-F238E27FC236}">
                <a16:creationId xmlns:a16="http://schemas.microsoft.com/office/drawing/2014/main" id="{5D14EBA9-CEE3-428C-AD4C-82124D01CE16}"/>
              </a:ext>
            </a:extLst>
          </p:cNvPr>
          <p:cNvPicPr>
            <a:picLocks noChangeAspect="1"/>
          </p:cNvPicPr>
          <p:nvPr/>
        </p:nvPicPr>
        <p:blipFill rotWithShape="1">
          <a:blip r:embed="rId4">
            <a:extLst>
              <a:ext uri="{28A0092B-C50C-407E-A947-70E740481C1C}">
                <a14:useLocalDpi xmlns:a14="http://schemas.microsoft.com/office/drawing/2010/main" val="0"/>
              </a:ext>
            </a:extLst>
          </a:blip>
          <a:srcRect l="20704" r="59887" b="51906"/>
          <a:stretch/>
        </p:blipFill>
        <p:spPr>
          <a:xfrm>
            <a:off x="6702152" y="2083746"/>
            <a:ext cx="209545" cy="221714"/>
          </a:xfrm>
          <a:prstGeom prst="rect">
            <a:avLst/>
          </a:prstGeom>
        </p:spPr>
      </p:pic>
      <p:pic>
        <p:nvPicPr>
          <p:cNvPr id="65" name="Picture 4">
            <a:extLst>
              <a:ext uri="{FF2B5EF4-FFF2-40B4-BE49-F238E27FC236}">
                <a16:creationId xmlns:a16="http://schemas.microsoft.com/office/drawing/2014/main" id="{AAA597E8-D3B0-4A91-8FFE-036618B2147D}"/>
              </a:ext>
            </a:extLst>
          </p:cNvPr>
          <p:cNvPicPr>
            <a:picLocks noChangeAspect="1"/>
          </p:cNvPicPr>
          <p:nvPr/>
        </p:nvPicPr>
        <p:blipFill rotWithShape="1">
          <a:blip r:embed="rId4">
            <a:extLst>
              <a:ext uri="{28A0092B-C50C-407E-A947-70E740481C1C}">
                <a14:useLocalDpi xmlns:a14="http://schemas.microsoft.com/office/drawing/2010/main" val="0"/>
              </a:ext>
            </a:extLst>
          </a:blip>
          <a:srcRect l="20704" r="59887" b="51906"/>
          <a:stretch/>
        </p:blipFill>
        <p:spPr>
          <a:xfrm>
            <a:off x="7010301" y="2080824"/>
            <a:ext cx="209545" cy="221714"/>
          </a:xfrm>
          <a:prstGeom prst="rect">
            <a:avLst/>
          </a:prstGeom>
        </p:spPr>
      </p:pic>
      <p:pic>
        <p:nvPicPr>
          <p:cNvPr id="66" name="Picture 4">
            <a:extLst>
              <a:ext uri="{FF2B5EF4-FFF2-40B4-BE49-F238E27FC236}">
                <a16:creationId xmlns:a16="http://schemas.microsoft.com/office/drawing/2014/main" id="{9B679120-F2BC-4BD9-B8D5-59686A48F70E}"/>
              </a:ext>
            </a:extLst>
          </p:cNvPr>
          <p:cNvPicPr>
            <a:picLocks noChangeAspect="1"/>
          </p:cNvPicPr>
          <p:nvPr/>
        </p:nvPicPr>
        <p:blipFill rotWithShape="1">
          <a:blip r:embed="rId4">
            <a:extLst>
              <a:ext uri="{28A0092B-C50C-407E-A947-70E740481C1C}">
                <a14:useLocalDpi xmlns:a14="http://schemas.microsoft.com/office/drawing/2010/main" val="0"/>
              </a:ext>
            </a:extLst>
          </a:blip>
          <a:srcRect l="20704" r="59887" b="51906"/>
          <a:stretch/>
        </p:blipFill>
        <p:spPr>
          <a:xfrm>
            <a:off x="6253512" y="2212628"/>
            <a:ext cx="209545" cy="221714"/>
          </a:xfrm>
          <a:prstGeom prst="rect">
            <a:avLst/>
          </a:prstGeom>
        </p:spPr>
      </p:pic>
      <p:pic>
        <p:nvPicPr>
          <p:cNvPr id="67" name="Picture 4">
            <a:extLst>
              <a:ext uri="{FF2B5EF4-FFF2-40B4-BE49-F238E27FC236}">
                <a16:creationId xmlns:a16="http://schemas.microsoft.com/office/drawing/2014/main" id="{57FFC6DF-E971-4845-8D14-C69FE3F2C217}"/>
              </a:ext>
            </a:extLst>
          </p:cNvPr>
          <p:cNvPicPr>
            <a:picLocks noChangeAspect="1"/>
          </p:cNvPicPr>
          <p:nvPr/>
        </p:nvPicPr>
        <p:blipFill rotWithShape="1">
          <a:blip r:embed="rId4">
            <a:extLst>
              <a:ext uri="{28A0092B-C50C-407E-A947-70E740481C1C}">
                <a14:useLocalDpi xmlns:a14="http://schemas.microsoft.com/office/drawing/2010/main" val="0"/>
              </a:ext>
            </a:extLst>
          </a:blip>
          <a:srcRect l="20704" r="59887" b="51906"/>
          <a:stretch/>
        </p:blipFill>
        <p:spPr>
          <a:xfrm>
            <a:off x="6177315" y="2439115"/>
            <a:ext cx="209545" cy="221714"/>
          </a:xfrm>
          <a:prstGeom prst="rect">
            <a:avLst/>
          </a:prstGeom>
        </p:spPr>
      </p:pic>
      <p:pic>
        <p:nvPicPr>
          <p:cNvPr id="68" name="Picture 4">
            <a:extLst>
              <a:ext uri="{FF2B5EF4-FFF2-40B4-BE49-F238E27FC236}">
                <a16:creationId xmlns:a16="http://schemas.microsoft.com/office/drawing/2014/main" id="{FE00143E-2725-4529-BE1D-80DDC60EBC33}"/>
              </a:ext>
            </a:extLst>
          </p:cNvPr>
          <p:cNvPicPr>
            <a:picLocks noChangeAspect="1"/>
          </p:cNvPicPr>
          <p:nvPr/>
        </p:nvPicPr>
        <p:blipFill rotWithShape="1">
          <a:blip r:embed="rId4">
            <a:extLst>
              <a:ext uri="{28A0092B-C50C-407E-A947-70E740481C1C}">
                <a14:useLocalDpi xmlns:a14="http://schemas.microsoft.com/office/drawing/2010/main" val="0"/>
              </a:ext>
            </a:extLst>
          </a:blip>
          <a:srcRect l="20704" r="59887" b="51906"/>
          <a:stretch/>
        </p:blipFill>
        <p:spPr>
          <a:xfrm>
            <a:off x="6260455" y="2726904"/>
            <a:ext cx="209545" cy="221714"/>
          </a:xfrm>
          <a:prstGeom prst="rect">
            <a:avLst/>
          </a:prstGeom>
        </p:spPr>
      </p:pic>
      <p:pic>
        <p:nvPicPr>
          <p:cNvPr id="69" name="Picture 4">
            <a:extLst>
              <a:ext uri="{FF2B5EF4-FFF2-40B4-BE49-F238E27FC236}">
                <a16:creationId xmlns:a16="http://schemas.microsoft.com/office/drawing/2014/main" id="{14DE62A4-6D06-44EC-AE5D-C039A2CB4621}"/>
              </a:ext>
            </a:extLst>
          </p:cNvPr>
          <p:cNvPicPr>
            <a:picLocks noChangeAspect="1"/>
          </p:cNvPicPr>
          <p:nvPr/>
        </p:nvPicPr>
        <p:blipFill rotWithShape="1">
          <a:blip r:embed="rId4">
            <a:extLst>
              <a:ext uri="{28A0092B-C50C-407E-A947-70E740481C1C}">
                <a14:useLocalDpi xmlns:a14="http://schemas.microsoft.com/office/drawing/2010/main" val="0"/>
              </a:ext>
            </a:extLst>
          </a:blip>
          <a:srcRect l="21036" t="3899" r="60738" b="55518"/>
          <a:stretch/>
        </p:blipFill>
        <p:spPr>
          <a:xfrm>
            <a:off x="6681081" y="2396329"/>
            <a:ext cx="196766" cy="187092"/>
          </a:xfrm>
          <a:prstGeom prst="rect">
            <a:avLst/>
          </a:prstGeom>
        </p:spPr>
      </p:pic>
      <p:pic>
        <p:nvPicPr>
          <p:cNvPr id="71" name="Picture 4">
            <a:extLst>
              <a:ext uri="{FF2B5EF4-FFF2-40B4-BE49-F238E27FC236}">
                <a16:creationId xmlns:a16="http://schemas.microsoft.com/office/drawing/2014/main" id="{68AC582C-A784-4648-AD97-4167ADCAF026}"/>
              </a:ext>
            </a:extLst>
          </p:cNvPr>
          <p:cNvPicPr>
            <a:picLocks noChangeAspect="1"/>
          </p:cNvPicPr>
          <p:nvPr/>
        </p:nvPicPr>
        <p:blipFill rotWithShape="1">
          <a:blip r:embed="rId4">
            <a:extLst>
              <a:ext uri="{28A0092B-C50C-407E-A947-70E740481C1C}">
                <a14:useLocalDpi xmlns:a14="http://schemas.microsoft.com/office/drawing/2010/main" val="0"/>
              </a:ext>
            </a:extLst>
          </a:blip>
          <a:srcRect l="21036" t="3899" r="60738" b="55518"/>
          <a:stretch/>
        </p:blipFill>
        <p:spPr>
          <a:xfrm>
            <a:off x="6555168" y="2866805"/>
            <a:ext cx="196766" cy="187092"/>
          </a:xfrm>
          <a:prstGeom prst="rect">
            <a:avLst/>
          </a:prstGeom>
        </p:spPr>
      </p:pic>
      <p:pic>
        <p:nvPicPr>
          <p:cNvPr id="72" name="Imagen 71">
            <a:extLst>
              <a:ext uri="{FF2B5EF4-FFF2-40B4-BE49-F238E27FC236}">
                <a16:creationId xmlns:a16="http://schemas.microsoft.com/office/drawing/2014/main" id="{4FDC74E5-0025-4F2B-872E-0781C0598F7D}"/>
              </a:ext>
            </a:extLst>
          </p:cNvPr>
          <p:cNvPicPr>
            <a:picLocks noChangeAspect="1"/>
          </p:cNvPicPr>
          <p:nvPr/>
        </p:nvPicPr>
        <p:blipFill>
          <a:blip r:embed="rId10"/>
          <a:stretch>
            <a:fillRect/>
          </a:stretch>
        </p:blipFill>
        <p:spPr>
          <a:xfrm>
            <a:off x="6599675" y="3452913"/>
            <a:ext cx="236612" cy="231578"/>
          </a:xfrm>
          <a:prstGeom prst="rect">
            <a:avLst/>
          </a:prstGeom>
        </p:spPr>
      </p:pic>
      <p:sp>
        <p:nvSpPr>
          <p:cNvPr id="70" name="Trapezoid 10">
            <a:extLst>
              <a:ext uri="{FF2B5EF4-FFF2-40B4-BE49-F238E27FC236}">
                <a16:creationId xmlns:a16="http://schemas.microsoft.com/office/drawing/2014/main" id="{8FB8083F-439F-498E-AA81-4B2F6F076C5F}"/>
              </a:ext>
            </a:extLst>
          </p:cNvPr>
          <p:cNvSpPr/>
          <p:nvPr/>
        </p:nvSpPr>
        <p:spPr>
          <a:xfrm rot="5400000" flipV="1">
            <a:off x="8792250" y="3031998"/>
            <a:ext cx="2146430" cy="917619"/>
          </a:xfrm>
          <a:prstGeom prst="trapezoid">
            <a:avLst/>
          </a:prstGeom>
          <a:solidFill>
            <a:schemeClr val="tx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lumMod val="75000"/>
                    <a:lumOff val="25000"/>
                  </a:schemeClr>
                </a:solidFill>
              </a:rPr>
              <a:t>DECODER</a:t>
            </a:r>
          </a:p>
        </p:txBody>
      </p:sp>
      <p:sp>
        <p:nvSpPr>
          <p:cNvPr id="73" name="Trapezoid 10">
            <a:extLst>
              <a:ext uri="{FF2B5EF4-FFF2-40B4-BE49-F238E27FC236}">
                <a16:creationId xmlns:a16="http://schemas.microsoft.com/office/drawing/2014/main" id="{642CC940-2DB2-46FE-A90F-E6E40F75F0AD}"/>
              </a:ext>
            </a:extLst>
          </p:cNvPr>
          <p:cNvSpPr/>
          <p:nvPr/>
        </p:nvSpPr>
        <p:spPr>
          <a:xfrm rot="16200000" flipH="1" flipV="1">
            <a:off x="1228782" y="3033606"/>
            <a:ext cx="2146430" cy="914401"/>
          </a:xfrm>
          <a:prstGeom prst="trapezoid">
            <a:avLst/>
          </a:prstGeom>
          <a:solidFill>
            <a:schemeClr val="tx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lumMod val="75000"/>
                    <a:lumOff val="25000"/>
                  </a:schemeClr>
                </a:solidFill>
              </a:rPr>
              <a:t>ENCODER</a:t>
            </a:r>
          </a:p>
        </p:txBody>
      </p:sp>
      <p:sp>
        <p:nvSpPr>
          <p:cNvPr id="74" name="TextBox 7">
            <a:extLst>
              <a:ext uri="{FF2B5EF4-FFF2-40B4-BE49-F238E27FC236}">
                <a16:creationId xmlns:a16="http://schemas.microsoft.com/office/drawing/2014/main" id="{75471C91-6907-43BD-81A0-789B29243A94}"/>
              </a:ext>
            </a:extLst>
          </p:cNvPr>
          <p:cNvSpPr txBox="1"/>
          <p:nvPr/>
        </p:nvSpPr>
        <p:spPr>
          <a:xfrm>
            <a:off x="5791620" y="1105754"/>
            <a:ext cx="3281720" cy="523220"/>
          </a:xfrm>
          <a:prstGeom prst="rect">
            <a:avLst/>
          </a:prstGeom>
          <a:noFill/>
        </p:spPr>
        <p:txBody>
          <a:bodyPr wrap="square" rtlCol="0">
            <a:spAutoFit/>
          </a:bodyPr>
          <a:lstStyle/>
          <a:p>
            <a:pPr algn="ctr"/>
            <a:r>
              <a:rPr lang="en-US" sz="2800">
                <a:solidFill>
                  <a:schemeClr val="tx1">
                    <a:lumMod val="75000"/>
                    <a:lumOff val="25000"/>
                  </a:schemeClr>
                </a:solidFill>
                <a:latin typeface="Karla" charset="0"/>
                <a:ea typeface="Karla" charset="0"/>
                <a:cs typeface="Karla" charset="0"/>
              </a:rPr>
              <a:t>Latent Space</a:t>
            </a:r>
            <a:endParaRPr lang="en-US" sz="2800" i="1">
              <a:solidFill>
                <a:schemeClr val="tx1">
                  <a:lumMod val="75000"/>
                  <a:lumOff val="25000"/>
                </a:schemeClr>
              </a:solidFill>
              <a:latin typeface="Karla" charset="0"/>
              <a:ea typeface="Karla" charset="0"/>
              <a:cs typeface="Karla" charset="0"/>
            </a:endParaRPr>
          </a:p>
        </p:txBody>
      </p:sp>
      <p:sp>
        <p:nvSpPr>
          <p:cNvPr id="3" name="Slide Number Placeholder 2"/>
          <p:cNvSpPr>
            <a:spLocks noGrp="1"/>
          </p:cNvSpPr>
          <p:nvPr>
            <p:ph type="sldNum" sz="quarter" idx="12"/>
          </p:nvPr>
        </p:nvSpPr>
        <p:spPr/>
        <p:txBody>
          <a:bodyPr/>
          <a:lstStyle/>
          <a:p>
            <a:fld id="{81B7CCDB-6D39-0547-B7B3-C80E39D6513A}" type="slidenum">
              <a:rPr lang="en-US" smtClean="0"/>
              <a:pPr/>
              <a:t>50</a:t>
            </a:fld>
            <a:endParaRPr lang="en-US"/>
          </a:p>
        </p:txBody>
      </p:sp>
    </p:spTree>
    <p:extLst>
      <p:ext uri="{BB962C8B-B14F-4D97-AF65-F5344CB8AC3E}">
        <p14:creationId xmlns:p14="http://schemas.microsoft.com/office/powerpoint/2010/main" val="17318385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9292" y="160260"/>
            <a:ext cx="11493416" cy="767276"/>
          </a:xfrm>
        </p:spPr>
        <p:txBody>
          <a:bodyPr/>
          <a:lstStyle/>
          <a:p>
            <a:r>
              <a:rPr lang="en-US"/>
              <a:t>Blending Latent Variables</a:t>
            </a:r>
          </a:p>
        </p:txBody>
      </p:sp>
      <p:pic>
        <p:nvPicPr>
          <p:cNvPr id="27" name="Picture 3">
            <a:extLst>
              <a:ext uri="{FF2B5EF4-FFF2-40B4-BE49-F238E27FC236}">
                <a16:creationId xmlns:a16="http://schemas.microsoft.com/office/drawing/2014/main" id="{3F7EF02D-39D9-4C5E-8150-92E66E1BBD87}"/>
              </a:ext>
            </a:extLst>
          </p:cNvPr>
          <p:cNvPicPr>
            <a:picLocks noChangeAspect="1"/>
          </p:cNvPicPr>
          <p:nvPr/>
        </p:nvPicPr>
        <p:blipFill rotWithShape="1">
          <a:blip r:embed="rId3">
            <a:extLst>
              <a:ext uri="{28A0092B-C50C-407E-A947-70E740481C1C}">
                <a14:useLocalDpi xmlns:a14="http://schemas.microsoft.com/office/drawing/2010/main" val="0"/>
              </a:ext>
            </a:extLst>
          </a:blip>
          <a:srcRect l="71777" t="-2162" r="8791" b="78285"/>
          <a:stretch/>
        </p:blipFill>
        <p:spPr>
          <a:xfrm>
            <a:off x="4111703" y="1816145"/>
            <a:ext cx="1758751" cy="767276"/>
          </a:xfrm>
          <a:prstGeom prst="rect">
            <a:avLst/>
          </a:prstGeom>
        </p:spPr>
      </p:pic>
      <p:pic>
        <p:nvPicPr>
          <p:cNvPr id="28" name="Picture 3">
            <a:extLst>
              <a:ext uri="{FF2B5EF4-FFF2-40B4-BE49-F238E27FC236}">
                <a16:creationId xmlns:a16="http://schemas.microsoft.com/office/drawing/2014/main" id="{57FEDE17-5EEE-4D1A-8E53-F32F065CB546}"/>
              </a:ext>
            </a:extLst>
          </p:cNvPr>
          <p:cNvPicPr>
            <a:picLocks noChangeAspect="1"/>
          </p:cNvPicPr>
          <p:nvPr/>
        </p:nvPicPr>
        <p:blipFill rotWithShape="1">
          <a:blip r:embed="rId3">
            <a:extLst>
              <a:ext uri="{28A0092B-C50C-407E-A947-70E740481C1C}">
                <a14:useLocalDpi xmlns:a14="http://schemas.microsoft.com/office/drawing/2010/main" val="0"/>
              </a:ext>
            </a:extLst>
          </a:blip>
          <a:srcRect l="50857" t="23883" r="28858" b="50073"/>
          <a:stretch/>
        </p:blipFill>
        <p:spPr>
          <a:xfrm>
            <a:off x="3810233" y="2731765"/>
            <a:ext cx="1835902" cy="836937"/>
          </a:xfrm>
          <a:prstGeom prst="rect">
            <a:avLst/>
          </a:prstGeom>
        </p:spPr>
      </p:pic>
      <p:sp>
        <p:nvSpPr>
          <p:cNvPr id="9" name="Rectángulo 8">
            <a:extLst>
              <a:ext uri="{FF2B5EF4-FFF2-40B4-BE49-F238E27FC236}">
                <a16:creationId xmlns:a16="http://schemas.microsoft.com/office/drawing/2014/main" id="{C5767CAC-93DA-4409-9752-3CF4B526EF1F}"/>
              </a:ext>
            </a:extLst>
          </p:cNvPr>
          <p:cNvSpPr/>
          <p:nvPr/>
        </p:nvSpPr>
        <p:spPr>
          <a:xfrm>
            <a:off x="5695120" y="1628974"/>
            <a:ext cx="3474720" cy="3826413"/>
          </a:xfrm>
          <a:prstGeom prst="rect">
            <a:avLst/>
          </a:prstGeom>
          <a:solidFill>
            <a:schemeClr val="bg1"/>
          </a:solid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0" name="Straight Arrow Connector 24">
            <a:extLst>
              <a:ext uri="{FF2B5EF4-FFF2-40B4-BE49-F238E27FC236}">
                <a16:creationId xmlns:a16="http://schemas.microsoft.com/office/drawing/2014/main" id="{8357E5F4-CE4A-4BE0-BE18-5A16157A4168}"/>
              </a:ext>
            </a:extLst>
          </p:cNvPr>
          <p:cNvCxnSpPr/>
          <p:nvPr/>
        </p:nvCxnSpPr>
        <p:spPr>
          <a:xfrm flipV="1">
            <a:off x="2863460" y="2898253"/>
            <a:ext cx="528203" cy="413431"/>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21" name="Rectangle 26">
            <a:extLst>
              <a:ext uri="{FF2B5EF4-FFF2-40B4-BE49-F238E27FC236}">
                <a16:creationId xmlns:a16="http://schemas.microsoft.com/office/drawing/2014/main" id="{7663EC45-4979-4427-95AC-41C2528EF079}"/>
              </a:ext>
            </a:extLst>
          </p:cNvPr>
          <p:cNvSpPr/>
          <p:nvPr/>
        </p:nvSpPr>
        <p:spPr>
          <a:xfrm>
            <a:off x="3417538" y="2024970"/>
            <a:ext cx="400704" cy="1131570"/>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3600" i="1"/>
          </a:p>
        </p:txBody>
      </p:sp>
      <p:sp>
        <p:nvSpPr>
          <p:cNvPr id="22" name="Rectangle 29">
            <a:extLst>
              <a:ext uri="{FF2B5EF4-FFF2-40B4-BE49-F238E27FC236}">
                <a16:creationId xmlns:a16="http://schemas.microsoft.com/office/drawing/2014/main" id="{3926F3BB-EA7C-4C8B-8D46-66C95DFD8443}"/>
              </a:ext>
            </a:extLst>
          </p:cNvPr>
          <p:cNvSpPr/>
          <p:nvPr/>
        </p:nvSpPr>
        <p:spPr>
          <a:xfrm>
            <a:off x="3412674" y="3791651"/>
            <a:ext cx="400704" cy="1131570"/>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3600" i="1"/>
          </a:p>
        </p:txBody>
      </p:sp>
      <p:cxnSp>
        <p:nvCxnSpPr>
          <p:cNvPr id="23" name="Straight Arrow Connector 30">
            <a:extLst>
              <a:ext uri="{FF2B5EF4-FFF2-40B4-BE49-F238E27FC236}">
                <a16:creationId xmlns:a16="http://schemas.microsoft.com/office/drawing/2014/main" id="{8E64302A-A018-4292-B980-CFFE03B6B1B2}"/>
              </a:ext>
            </a:extLst>
          </p:cNvPr>
          <p:cNvCxnSpPr/>
          <p:nvPr/>
        </p:nvCxnSpPr>
        <p:spPr>
          <a:xfrm>
            <a:off x="2865164" y="3636277"/>
            <a:ext cx="504971" cy="349139"/>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32">
            <a:extLst>
              <a:ext uri="{FF2B5EF4-FFF2-40B4-BE49-F238E27FC236}">
                <a16:creationId xmlns:a16="http://schemas.microsoft.com/office/drawing/2014/main" id="{F6A71B2E-AE58-4208-8D0E-7963C9D780BF}"/>
              </a:ext>
            </a:extLst>
          </p:cNvPr>
          <p:cNvCxnSpPr>
            <a:cxnSpLocks/>
            <a:endCxn id="28" idx="2"/>
          </p:cNvCxnSpPr>
          <p:nvPr/>
        </p:nvCxnSpPr>
        <p:spPr>
          <a:xfrm flipV="1">
            <a:off x="3856435" y="3568702"/>
            <a:ext cx="871749" cy="451238"/>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33">
            <a:extLst>
              <a:ext uri="{FF2B5EF4-FFF2-40B4-BE49-F238E27FC236}">
                <a16:creationId xmlns:a16="http://schemas.microsoft.com/office/drawing/2014/main" id="{56F9D3A5-9A1C-4760-9D58-305A9F7235AC}"/>
              </a:ext>
            </a:extLst>
          </p:cNvPr>
          <p:cNvCxnSpPr>
            <a:cxnSpLocks/>
          </p:cNvCxnSpPr>
          <p:nvPr/>
        </p:nvCxnSpPr>
        <p:spPr>
          <a:xfrm>
            <a:off x="3859218" y="2898253"/>
            <a:ext cx="577147" cy="444125"/>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graphicFrame>
        <p:nvGraphicFramePr>
          <p:cNvPr id="26" name="Content Placeholder 3">
            <a:extLst>
              <a:ext uri="{FF2B5EF4-FFF2-40B4-BE49-F238E27FC236}">
                <a16:creationId xmlns:a16="http://schemas.microsoft.com/office/drawing/2014/main" id="{34762B13-0B39-4FE9-9CDA-DD9EF92FBF1C}"/>
              </a:ext>
            </a:extLst>
          </p:cNvPr>
          <p:cNvGraphicFramePr>
            <a:graphicFrameLocks noChangeAspect="1"/>
          </p:cNvGraphicFramePr>
          <p:nvPr/>
        </p:nvGraphicFramePr>
        <p:xfrm>
          <a:off x="2955007" y="4952849"/>
          <a:ext cx="1316037" cy="468492"/>
        </p:xfrm>
        <a:graphic>
          <a:graphicData uri="http://schemas.openxmlformats.org/presentationml/2006/ole">
            <mc:AlternateContent xmlns:mc="http://schemas.openxmlformats.org/markup-compatibility/2006">
              <mc:Choice xmlns:v="urn:schemas-microsoft-com:vml" Requires="v">
                <p:oleObj spid="_x0000_s11267" name="Equation" r:id="rId4" imgW="533400" imgH="190500" progId="Equation.3">
                  <p:embed/>
                </p:oleObj>
              </mc:Choice>
              <mc:Fallback>
                <p:oleObj name="Equation" r:id="rId4" imgW="533400" imgH="190500" progId="Equation.3">
                  <p:embed/>
                  <p:pic>
                    <p:nvPicPr>
                      <p:cNvPr id="26" name="Content Placeholder 3">
                        <a:extLst>
                          <a:ext uri="{FF2B5EF4-FFF2-40B4-BE49-F238E27FC236}">
                            <a16:creationId xmlns:a16="http://schemas.microsoft.com/office/drawing/2014/main" id="{34762B13-0B39-4FE9-9CDA-DD9EF92FBF1C}"/>
                          </a:ext>
                        </a:extLst>
                      </p:cNvPr>
                      <p:cNvPicPr/>
                      <p:nvPr/>
                    </p:nvPicPr>
                    <p:blipFill>
                      <a:blip r:embed="rId5"/>
                      <a:stretch>
                        <a:fillRect/>
                      </a:stretch>
                    </p:blipFill>
                    <p:spPr>
                      <a:xfrm>
                        <a:off x="2955007" y="4952849"/>
                        <a:ext cx="1316037" cy="468492"/>
                      </a:xfrm>
                      <a:prstGeom prst="rect">
                        <a:avLst/>
                      </a:prstGeom>
                    </p:spPr>
                  </p:pic>
                </p:oleObj>
              </mc:Fallback>
            </mc:AlternateContent>
          </a:graphicData>
        </a:graphic>
      </p:graphicFrame>
      <p:graphicFrame>
        <p:nvGraphicFramePr>
          <p:cNvPr id="33" name="Content Placeholder 3">
            <a:extLst>
              <a:ext uri="{FF2B5EF4-FFF2-40B4-BE49-F238E27FC236}">
                <a16:creationId xmlns:a16="http://schemas.microsoft.com/office/drawing/2014/main" id="{4907A32F-2B40-497A-B62B-0380AD197925}"/>
              </a:ext>
            </a:extLst>
          </p:cNvPr>
          <p:cNvGraphicFramePr>
            <a:graphicFrameLocks noChangeAspect="1"/>
          </p:cNvGraphicFramePr>
          <p:nvPr/>
        </p:nvGraphicFramePr>
        <p:xfrm>
          <a:off x="3168728" y="1584706"/>
          <a:ext cx="942975" cy="425450"/>
        </p:xfrm>
        <a:graphic>
          <a:graphicData uri="http://schemas.openxmlformats.org/presentationml/2006/ole">
            <mc:AlternateContent xmlns:mc="http://schemas.openxmlformats.org/markup-compatibility/2006">
              <mc:Choice xmlns:v="urn:schemas-microsoft-com:vml" Requires="v">
                <p:oleObj spid="_x0000_s11268" name="Equation" r:id="rId6" imgW="393700" imgH="177800" progId="Equation.3">
                  <p:embed/>
                </p:oleObj>
              </mc:Choice>
              <mc:Fallback>
                <p:oleObj name="Equation" r:id="rId6" imgW="393700" imgH="177800" progId="Equation.3">
                  <p:embed/>
                  <p:pic>
                    <p:nvPicPr>
                      <p:cNvPr id="33" name="Content Placeholder 3">
                        <a:extLst>
                          <a:ext uri="{FF2B5EF4-FFF2-40B4-BE49-F238E27FC236}">
                            <a16:creationId xmlns:a16="http://schemas.microsoft.com/office/drawing/2014/main" id="{4907A32F-2B40-497A-B62B-0380AD197925}"/>
                          </a:ext>
                        </a:extLst>
                      </p:cNvPr>
                      <p:cNvPicPr/>
                      <p:nvPr/>
                    </p:nvPicPr>
                    <p:blipFill>
                      <a:blip r:embed="rId7"/>
                      <a:stretch>
                        <a:fillRect/>
                      </a:stretch>
                    </p:blipFill>
                    <p:spPr>
                      <a:xfrm>
                        <a:off x="3168728" y="1584706"/>
                        <a:ext cx="942975" cy="425450"/>
                      </a:xfrm>
                      <a:prstGeom prst="rect">
                        <a:avLst/>
                      </a:prstGeom>
                    </p:spPr>
                  </p:pic>
                </p:oleObj>
              </mc:Fallback>
            </mc:AlternateContent>
          </a:graphicData>
        </a:graphic>
      </p:graphicFrame>
      <p:sp>
        <p:nvSpPr>
          <p:cNvPr id="34" name="Elipse 33">
            <a:extLst>
              <a:ext uri="{FF2B5EF4-FFF2-40B4-BE49-F238E27FC236}">
                <a16:creationId xmlns:a16="http://schemas.microsoft.com/office/drawing/2014/main" id="{4C910D88-19BF-4C95-8965-2A8C46DD61A0}"/>
              </a:ext>
            </a:extLst>
          </p:cNvPr>
          <p:cNvSpPr/>
          <p:nvPr/>
        </p:nvSpPr>
        <p:spPr>
          <a:xfrm>
            <a:off x="6607112" y="2305460"/>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 name="Elipse 36">
            <a:extLst>
              <a:ext uri="{FF2B5EF4-FFF2-40B4-BE49-F238E27FC236}">
                <a16:creationId xmlns:a16="http://schemas.microsoft.com/office/drawing/2014/main" id="{A1998CF8-6F2B-452C-B481-E8EF77618155}"/>
              </a:ext>
            </a:extLst>
          </p:cNvPr>
          <p:cNvSpPr/>
          <p:nvPr/>
        </p:nvSpPr>
        <p:spPr>
          <a:xfrm>
            <a:off x="6932465" y="2493906"/>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 name="Elipse 41">
            <a:extLst>
              <a:ext uri="{FF2B5EF4-FFF2-40B4-BE49-F238E27FC236}">
                <a16:creationId xmlns:a16="http://schemas.microsoft.com/office/drawing/2014/main" id="{72CCAA22-3C13-406F-AFD8-291B8B7232CE}"/>
              </a:ext>
            </a:extLst>
          </p:cNvPr>
          <p:cNvSpPr/>
          <p:nvPr/>
        </p:nvSpPr>
        <p:spPr>
          <a:xfrm>
            <a:off x="6459468" y="2437840"/>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 name="Elipse 38">
            <a:extLst>
              <a:ext uri="{FF2B5EF4-FFF2-40B4-BE49-F238E27FC236}">
                <a16:creationId xmlns:a16="http://schemas.microsoft.com/office/drawing/2014/main" id="{780127D9-142B-4ADB-BD59-44B08E2FB78B}"/>
              </a:ext>
            </a:extLst>
          </p:cNvPr>
          <p:cNvSpPr/>
          <p:nvPr/>
        </p:nvSpPr>
        <p:spPr>
          <a:xfrm>
            <a:off x="6635714" y="2527355"/>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TextBox 7">
            <a:extLst>
              <a:ext uri="{FF2B5EF4-FFF2-40B4-BE49-F238E27FC236}">
                <a16:creationId xmlns:a16="http://schemas.microsoft.com/office/drawing/2014/main" id="{C87FD988-0ABF-4709-893B-12E3DFF0DB62}"/>
              </a:ext>
            </a:extLst>
          </p:cNvPr>
          <p:cNvSpPr txBox="1"/>
          <p:nvPr/>
        </p:nvSpPr>
        <p:spPr>
          <a:xfrm>
            <a:off x="303648" y="990519"/>
            <a:ext cx="3281720" cy="461665"/>
          </a:xfrm>
          <a:prstGeom prst="rect">
            <a:avLst/>
          </a:prstGeom>
          <a:noFill/>
        </p:spPr>
        <p:txBody>
          <a:bodyPr wrap="square" rtlCol="0">
            <a:spAutoFit/>
          </a:bodyPr>
          <a:lstStyle/>
          <a:p>
            <a:pPr algn="ctr"/>
            <a:r>
              <a:rPr lang="en-US" sz="2400">
                <a:solidFill>
                  <a:schemeClr val="tx1">
                    <a:lumMod val="75000"/>
                    <a:lumOff val="25000"/>
                  </a:schemeClr>
                </a:solidFill>
                <a:latin typeface="Karla" charset="0"/>
                <a:ea typeface="Karla" charset="0"/>
                <a:cs typeface="Karla" charset="0"/>
              </a:rPr>
              <a:t>Now lets test again</a:t>
            </a:r>
            <a:endParaRPr lang="en-US" sz="2400" i="1">
              <a:solidFill>
                <a:schemeClr val="tx1">
                  <a:lumMod val="75000"/>
                  <a:lumOff val="25000"/>
                </a:schemeClr>
              </a:solidFill>
              <a:latin typeface="Karla" charset="0"/>
              <a:ea typeface="Karla" charset="0"/>
              <a:cs typeface="Karla" charset="0"/>
            </a:endParaRPr>
          </a:p>
        </p:txBody>
      </p:sp>
      <p:cxnSp>
        <p:nvCxnSpPr>
          <p:cNvPr id="41" name="Conector recto de flecha 40">
            <a:extLst>
              <a:ext uri="{FF2B5EF4-FFF2-40B4-BE49-F238E27FC236}">
                <a16:creationId xmlns:a16="http://schemas.microsoft.com/office/drawing/2014/main" id="{A8D937BB-0AE0-4B0C-A755-8AE6224F6352}"/>
              </a:ext>
            </a:extLst>
          </p:cNvPr>
          <p:cNvCxnSpPr/>
          <p:nvPr/>
        </p:nvCxnSpPr>
        <p:spPr>
          <a:xfrm>
            <a:off x="4424449" y="2583421"/>
            <a:ext cx="0" cy="907383"/>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44" name="Elipse 43">
            <a:extLst>
              <a:ext uri="{FF2B5EF4-FFF2-40B4-BE49-F238E27FC236}">
                <a16:creationId xmlns:a16="http://schemas.microsoft.com/office/drawing/2014/main" id="{A0F5B0DA-A766-43DE-8D03-FBE9ACC6CD9F}"/>
              </a:ext>
            </a:extLst>
          </p:cNvPr>
          <p:cNvSpPr/>
          <p:nvPr/>
        </p:nvSpPr>
        <p:spPr>
          <a:xfrm>
            <a:off x="4365169" y="3476515"/>
            <a:ext cx="118562" cy="112132"/>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 name="Elipse 52">
            <a:extLst>
              <a:ext uri="{FF2B5EF4-FFF2-40B4-BE49-F238E27FC236}">
                <a16:creationId xmlns:a16="http://schemas.microsoft.com/office/drawing/2014/main" id="{6CF345B8-5482-480A-839B-FF9FB9C34E44}"/>
              </a:ext>
            </a:extLst>
          </p:cNvPr>
          <p:cNvSpPr/>
          <p:nvPr/>
        </p:nvSpPr>
        <p:spPr>
          <a:xfrm>
            <a:off x="6480972" y="2646306"/>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4" name="Elipse 53">
            <a:extLst>
              <a:ext uri="{FF2B5EF4-FFF2-40B4-BE49-F238E27FC236}">
                <a16:creationId xmlns:a16="http://schemas.microsoft.com/office/drawing/2014/main" id="{98AD6E83-80D4-4F10-AC7A-D287655BA19C}"/>
              </a:ext>
            </a:extLst>
          </p:cNvPr>
          <p:cNvSpPr/>
          <p:nvPr/>
        </p:nvSpPr>
        <p:spPr>
          <a:xfrm>
            <a:off x="6814456" y="2434342"/>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 name="Elipse 54">
            <a:extLst>
              <a:ext uri="{FF2B5EF4-FFF2-40B4-BE49-F238E27FC236}">
                <a16:creationId xmlns:a16="http://schemas.microsoft.com/office/drawing/2014/main" id="{71F9D499-3E52-4E75-81CF-07E578C8D4BF}"/>
              </a:ext>
            </a:extLst>
          </p:cNvPr>
          <p:cNvSpPr/>
          <p:nvPr/>
        </p:nvSpPr>
        <p:spPr>
          <a:xfrm>
            <a:off x="6787742" y="2625612"/>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 name="Elipse 55">
            <a:extLst>
              <a:ext uri="{FF2B5EF4-FFF2-40B4-BE49-F238E27FC236}">
                <a16:creationId xmlns:a16="http://schemas.microsoft.com/office/drawing/2014/main" id="{D59D527C-19EF-4E27-942E-61047FF44D52}"/>
              </a:ext>
            </a:extLst>
          </p:cNvPr>
          <p:cNvSpPr/>
          <p:nvPr/>
        </p:nvSpPr>
        <p:spPr>
          <a:xfrm>
            <a:off x="6633372" y="2590240"/>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 name="Elipse 56">
            <a:extLst>
              <a:ext uri="{FF2B5EF4-FFF2-40B4-BE49-F238E27FC236}">
                <a16:creationId xmlns:a16="http://schemas.microsoft.com/office/drawing/2014/main" id="{BAC6C0F1-FEAC-461E-B0AC-3BFC0AFCAAF2}"/>
              </a:ext>
            </a:extLst>
          </p:cNvPr>
          <p:cNvSpPr/>
          <p:nvPr/>
        </p:nvSpPr>
        <p:spPr>
          <a:xfrm>
            <a:off x="6757306" y="2332702"/>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 name="Elipse 57">
            <a:extLst>
              <a:ext uri="{FF2B5EF4-FFF2-40B4-BE49-F238E27FC236}">
                <a16:creationId xmlns:a16="http://schemas.microsoft.com/office/drawing/2014/main" id="{E6D6A73D-A8FD-4A04-9545-B3BBB3117345}"/>
              </a:ext>
            </a:extLst>
          </p:cNvPr>
          <p:cNvSpPr/>
          <p:nvPr/>
        </p:nvSpPr>
        <p:spPr>
          <a:xfrm>
            <a:off x="6947527" y="2311401"/>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9" name="Elipse 58">
            <a:extLst>
              <a:ext uri="{FF2B5EF4-FFF2-40B4-BE49-F238E27FC236}">
                <a16:creationId xmlns:a16="http://schemas.microsoft.com/office/drawing/2014/main" id="{93146E34-ED6E-473D-BB03-36AE94106E85}"/>
              </a:ext>
            </a:extLst>
          </p:cNvPr>
          <p:cNvSpPr/>
          <p:nvPr/>
        </p:nvSpPr>
        <p:spPr>
          <a:xfrm>
            <a:off x="6395902" y="2566530"/>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0" name="Elipse 59">
            <a:extLst>
              <a:ext uri="{FF2B5EF4-FFF2-40B4-BE49-F238E27FC236}">
                <a16:creationId xmlns:a16="http://schemas.microsoft.com/office/drawing/2014/main" id="{321C5BC2-5E93-4B4B-A667-CECC98755AC7}"/>
              </a:ext>
            </a:extLst>
          </p:cNvPr>
          <p:cNvSpPr/>
          <p:nvPr/>
        </p:nvSpPr>
        <p:spPr>
          <a:xfrm>
            <a:off x="6644688" y="2742640"/>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1" name="Elipse 60">
            <a:extLst>
              <a:ext uri="{FF2B5EF4-FFF2-40B4-BE49-F238E27FC236}">
                <a16:creationId xmlns:a16="http://schemas.microsoft.com/office/drawing/2014/main" id="{B5F7C931-A4FC-4462-9E92-943D19FE98D7}"/>
              </a:ext>
            </a:extLst>
          </p:cNvPr>
          <p:cNvSpPr/>
          <p:nvPr/>
        </p:nvSpPr>
        <p:spPr>
          <a:xfrm>
            <a:off x="6475055" y="3364383"/>
            <a:ext cx="118562" cy="112132"/>
          </a:xfrm>
          <a:prstGeom prst="ellipse">
            <a:avLst/>
          </a:prstGeom>
          <a:solidFill>
            <a:srgbClr val="00B0F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63" name="Picture 4">
            <a:extLst>
              <a:ext uri="{FF2B5EF4-FFF2-40B4-BE49-F238E27FC236}">
                <a16:creationId xmlns:a16="http://schemas.microsoft.com/office/drawing/2014/main" id="{06F260E1-59F9-4416-BFF0-D48758473BAC}"/>
              </a:ext>
            </a:extLst>
          </p:cNvPr>
          <p:cNvPicPr>
            <a:picLocks noChangeAspect="1"/>
          </p:cNvPicPr>
          <p:nvPr/>
        </p:nvPicPr>
        <p:blipFill rotWithShape="1">
          <a:blip r:embed="rId8">
            <a:extLst>
              <a:ext uri="{28A0092B-C50C-407E-A947-70E740481C1C}">
                <a14:useLocalDpi xmlns:a14="http://schemas.microsoft.com/office/drawing/2010/main" val="0"/>
              </a:ext>
            </a:extLst>
          </a:blip>
          <a:srcRect l="20704" r="59887" b="51906"/>
          <a:stretch/>
        </p:blipFill>
        <p:spPr>
          <a:xfrm>
            <a:off x="734834" y="3420449"/>
            <a:ext cx="945083" cy="999965"/>
          </a:xfrm>
          <a:prstGeom prst="rect">
            <a:avLst/>
          </a:prstGeom>
        </p:spPr>
      </p:pic>
      <p:pic>
        <p:nvPicPr>
          <p:cNvPr id="64" name="Imagen 63">
            <a:extLst>
              <a:ext uri="{FF2B5EF4-FFF2-40B4-BE49-F238E27FC236}">
                <a16:creationId xmlns:a16="http://schemas.microsoft.com/office/drawing/2014/main" id="{1757E38E-495C-4F75-ABDE-9FB9D4848CFC}"/>
              </a:ext>
            </a:extLst>
          </p:cNvPr>
          <p:cNvPicPr>
            <a:picLocks noChangeAspect="1"/>
          </p:cNvPicPr>
          <p:nvPr/>
        </p:nvPicPr>
        <p:blipFill rotWithShape="1">
          <a:blip r:embed="rId9"/>
          <a:srcRect b="1805"/>
          <a:stretch/>
        </p:blipFill>
        <p:spPr>
          <a:xfrm>
            <a:off x="700237" y="2461499"/>
            <a:ext cx="948211" cy="922631"/>
          </a:xfrm>
          <a:prstGeom prst="rect">
            <a:avLst/>
          </a:prstGeom>
        </p:spPr>
      </p:pic>
      <p:cxnSp>
        <p:nvCxnSpPr>
          <p:cNvPr id="65" name="Conector: curvado 64">
            <a:extLst>
              <a:ext uri="{FF2B5EF4-FFF2-40B4-BE49-F238E27FC236}">
                <a16:creationId xmlns:a16="http://schemas.microsoft.com/office/drawing/2014/main" id="{1AF3AD9C-6455-487C-8F63-398515EAAB3C}"/>
              </a:ext>
            </a:extLst>
          </p:cNvPr>
          <p:cNvCxnSpPr>
            <a:cxnSpLocks/>
            <a:stCxn id="44" idx="5"/>
            <a:endCxn id="66" idx="4"/>
          </p:cNvCxnSpPr>
          <p:nvPr/>
        </p:nvCxnSpPr>
        <p:spPr>
          <a:xfrm rot="5400000" flipH="1" flipV="1">
            <a:off x="5309131" y="1859608"/>
            <a:ext cx="869854" cy="2555381"/>
          </a:xfrm>
          <a:prstGeom prst="curvedConnector3">
            <a:avLst>
              <a:gd name="adj1" fmla="val 4299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66" name="Elipse 65">
            <a:extLst>
              <a:ext uri="{FF2B5EF4-FFF2-40B4-BE49-F238E27FC236}">
                <a16:creationId xmlns:a16="http://schemas.microsoft.com/office/drawing/2014/main" id="{DD49F786-58DC-4118-AA79-6C34A9F31C3A}"/>
              </a:ext>
            </a:extLst>
          </p:cNvPr>
          <p:cNvSpPr/>
          <p:nvPr/>
        </p:nvSpPr>
        <p:spPr>
          <a:xfrm>
            <a:off x="6962468" y="2590240"/>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67" name="Imagen 66">
            <a:extLst>
              <a:ext uri="{FF2B5EF4-FFF2-40B4-BE49-F238E27FC236}">
                <a16:creationId xmlns:a16="http://schemas.microsoft.com/office/drawing/2014/main" id="{6765E37A-A752-4ADB-A5D6-A869440D9A74}"/>
              </a:ext>
            </a:extLst>
          </p:cNvPr>
          <p:cNvPicPr>
            <a:picLocks noChangeAspect="1"/>
          </p:cNvPicPr>
          <p:nvPr/>
        </p:nvPicPr>
        <p:blipFill rotWithShape="1">
          <a:blip r:embed="rId9"/>
          <a:srcRect b="1805"/>
          <a:stretch/>
        </p:blipFill>
        <p:spPr>
          <a:xfrm>
            <a:off x="7077661" y="2361437"/>
            <a:ext cx="205672" cy="200124"/>
          </a:xfrm>
          <a:prstGeom prst="rect">
            <a:avLst/>
          </a:prstGeom>
        </p:spPr>
      </p:pic>
      <p:pic>
        <p:nvPicPr>
          <p:cNvPr id="68" name="Picture 4">
            <a:extLst>
              <a:ext uri="{FF2B5EF4-FFF2-40B4-BE49-F238E27FC236}">
                <a16:creationId xmlns:a16="http://schemas.microsoft.com/office/drawing/2014/main" id="{E3F9A794-B9E6-41DF-ABAB-D890924D5098}"/>
              </a:ext>
            </a:extLst>
          </p:cNvPr>
          <p:cNvPicPr>
            <a:picLocks noChangeAspect="1"/>
          </p:cNvPicPr>
          <p:nvPr/>
        </p:nvPicPr>
        <p:blipFill rotWithShape="1">
          <a:blip r:embed="rId8">
            <a:extLst>
              <a:ext uri="{28A0092B-C50C-407E-A947-70E740481C1C}">
                <a14:useLocalDpi xmlns:a14="http://schemas.microsoft.com/office/drawing/2010/main" val="0"/>
              </a:ext>
            </a:extLst>
          </a:blip>
          <a:srcRect l="20704" r="59887" b="51906"/>
          <a:stretch/>
        </p:blipFill>
        <p:spPr>
          <a:xfrm>
            <a:off x="6702152" y="2083746"/>
            <a:ext cx="209545" cy="221714"/>
          </a:xfrm>
          <a:prstGeom prst="rect">
            <a:avLst/>
          </a:prstGeom>
        </p:spPr>
      </p:pic>
      <p:pic>
        <p:nvPicPr>
          <p:cNvPr id="69" name="Picture 4">
            <a:extLst>
              <a:ext uri="{FF2B5EF4-FFF2-40B4-BE49-F238E27FC236}">
                <a16:creationId xmlns:a16="http://schemas.microsoft.com/office/drawing/2014/main" id="{68D48CE8-842D-4628-A058-B8927B057AC6}"/>
              </a:ext>
            </a:extLst>
          </p:cNvPr>
          <p:cNvPicPr>
            <a:picLocks noChangeAspect="1"/>
          </p:cNvPicPr>
          <p:nvPr/>
        </p:nvPicPr>
        <p:blipFill rotWithShape="1">
          <a:blip r:embed="rId8">
            <a:extLst>
              <a:ext uri="{28A0092B-C50C-407E-A947-70E740481C1C}">
                <a14:useLocalDpi xmlns:a14="http://schemas.microsoft.com/office/drawing/2010/main" val="0"/>
              </a:ext>
            </a:extLst>
          </a:blip>
          <a:srcRect l="20704" r="59887" b="51906"/>
          <a:stretch/>
        </p:blipFill>
        <p:spPr>
          <a:xfrm>
            <a:off x="7010301" y="2080824"/>
            <a:ext cx="209545" cy="221714"/>
          </a:xfrm>
          <a:prstGeom prst="rect">
            <a:avLst/>
          </a:prstGeom>
        </p:spPr>
      </p:pic>
      <p:pic>
        <p:nvPicPr>
          <p:cNvPr id="70" name="Picture 4">
            <a:extLst>
              <a:ext uri="{FF2B5EF4-FFF2-40B4-BE49-F238E27FC236}">
                <a16:creationId xmlns:a16="http://schemas.microsoft.com/office/drawing/2014/main" id="{ECB7600E-8D54-4AB0-A035-9334C988A9D1}"/>
              </a:ext>
            </a:extLst>
          </p:cNvPr>
          <p:cNvPicPr>
            <a:picLocks noChangeAspect="1"/>
          </p:cNvPicPr>
          <p:nvPr/>
        </p:nvPicPr>
        <p:blipFill rotWithShape="1">
          <a:blip r:embed="rId8">
            <a:extLst>
              <a:ext uri="{28A0092B-C50C-407E-A947-70E740481C1C}">
                <a14:useLocalDpi xmlns:a14="http://schemas.microsoft.com/office/drawing/2010/main" val="0"/>
              </a:ext>
            </a:extLst>
          </a:blip>
          <a:srcRect l="20704" r="59887" b="51906"/>
          <a:stretch/>
        </p:blipFill>
        <p:spPr>
          <a:xfrm>
            <a:off x="6253512" y="2212628"/>
            <a:ext cx="209545" cy="221714"/>
          </a:xfrm>
          <a:prstGeom prst="rect">
            <a:avLst/>
          </a:prstGeom>
        </p:spPr>
      </p:pic>
      <p:pic>
        <p:nvPicPr>
          <p:cNvPr id="71" name="Picture 4">
            <a:extLst>
              <a:ext uri="{FF2B5EF4-FFF2-40B4-BE49-F238E27FC236}">
                <a16:creationId xmlns:a16="http://schemas.microsoft.com/office/drawing/2014/main" id="{67B2E1B9-E383-42F1-85CC-32BA2CC9C06A}"/>
              </a:ext>
            </a:extLst>
          </p:cNvPr>
          <p:cNvPicPr>
            <a:picLocks noChangeAspect="1"/>
          </p:cNvPicPr>
          <p:nvPr/>
        </p:nvPicPr>
        <p:blipFill rotWithShape="1">
          <a:blip r:embed="rId8">
            <a:extLst>
              <a:ext uri="{28A0092B-C50C-407E-A947-70E740481C1C}">
                <a14:useLocalDpi xmlns:a14="http://schemas.microsoft.com/office/drawing/2010/main" val="0"/>
              </a:ext>
            </a:extLst>
          </a:blip>
          <a:srcRect l="20704" r="59887" b="51906"/>
          <a:stretch/>
        </p:blipFill>
        <p:spPr>
          <a:xfrm>
            <a:off x="6177315" y="2439115"/>
            <a:ext cx="209545" cy="221714"/>
          </a:xfrm>
          <a:prstGeom prst="rect">
            <a:avLst/>
          </a:prstGeom>
        </p:spPr>
      </p:pic>
      <p:pic>
        <p:nvPicPr>
          <p:cNvPr id="72" name="Picture 4">
            <a:extLst>
              <a:ext uri="{FF2B5EF4-FFF2-40B4-BE49-F238E27FC236}">
                <a16:creationId xmlns:a16="http://schemas.microsoft.com/office/drawing/2014/main" id="{128AF356-40D3-4B52-A19A-CD22998BCBF6}"/>
              </a:ext>
            </a:extLst>
          </p:cNvPr>
          <p:cNvPicPr>
            <a:picLocks noChangeAspect="1"/>
          </p:cNvPicPr>
          <p:nvPr/>
        </p:nvPicPr>
        <p:blipFill rotWithShape="1">
          <a:blip r:embed="rId8">
            <a:extLst>
              <a:ext uri="{28A0092B-C50C-407E-A947-70E740481C1C}">
                <a14:useLocalDpi xmlns:a14="http://schemas.microsoft.com/office/drawing/2010/main" val="0"/>
              </a:ext>
            </a:extLst>
          </a:blip>
          <a:srcRect l="20704" r="59887" b="51906"/>
          <a:stretch/>
        </p:blipFill>
        <p:spPr>
          <a:xfrm>
            <a:off x="6260455" y="2726904"/>
            <a:ext cx="209545" cy="221714"/>
          </a:xfrm>
          <a:prstGeom prst="rect">
            <a:avLst/>
          </a:prstGeom>
        </p:spPr>
      </p:pic>
      <p:pic>
        <p:nvPicPr>
          <p:cNvPr id="73" name="Picture 4">
            <a:extLst>
              <a:ext uri="{FF2B5EF4-FFF2-40B4-BE49-F238E27FC236}">
                <a16:creationId xmlns:a16="http://schemas.microsoft.com/office/drawing/2014/main" id="{5C42D994-9E40-4AF7-87CA-F958A91300CF}"/>
              </a:ext>
            </a:extLst>
          </p:cNvPr>
          <p:cNvPicPr>
            <a:picLocks noChangeAspect="1"/>
          </p:cNvPicPr>
          <p:nvPr/>
        </p:nvPicPr>
        <p:blipFill rotWithShape="1">
          <a:blip r:embed="rId8">
            <a:extLst>
              <a:ext uri="{28A0092B-C50C-407E-A947-70E740481C1C}">
                <a14:useLocalDpi xmlns:a14="http://schemas.microsoft.com/office/drawing/2010/main" val="0"/>
              </a:ext>
            </a:extLst>
          </a:blip>
          <a:srcRect l="21036" t="3899" r="60738" b="55518"/>
          <a:stretch/>
        </p:blipFill>
        <p:spPr>
          <a:xfrm>
            <a:off x="6681081" y="2396329"/>
            <a:ext cx="196766" cy="187092"/>
          </a:xfrm>
          <a:prstGeom prst="rect">
            <a:avLst/>
          </a:prstGeom>
        </p:spPr>
      </p:pic>
      <p:pic>
        <p:nvPicPr>
          <p:cNvPr id="74" name="Picture 4">
            <a:extLst>
              <a:ext uri="{FF2B5EF4-FFF2-40B4-BE49-F238E27FC236}">
                <a16:creationId xmlns:a16="http://schemas.microsoft.com/office/drawing/2014/main" id="{B296A79A-36A2-4D21-B362-D7D08743CE63}"/>
              </a:ext>
            </a:extLst>
          </p:cNvPr>
          <p:cNvPicPr>
            <a:picLocks noChangeAspect="1"/>
          </p:cNvPicPr>
          <p:nvPr/>
        </p:nvPicPr>
        <p:blipFill rotWithShape="1">
          <a:blip r:embed="rId8">
            <a:extLst>
              <a:ext uri="{28A0092B-C50C-407E-A947-70E740481C1C}">
                <a14:useLocalDpi xmlns:a14="http://schemas.microsoft.com/office/drawing/2010/main" val="0"/>
              </a:ext>
            </a:extLst>
          </a:blip>
          <a:srcRect l="21036" t="3899" r="60738" b="55518"/>
          <a:stretch/>
        </p:blipFill>
        <p:spPr>
          <a:xfrm>
            <a:off x="6555168" y="2866805"/>
            <a:ext cx="196766" cy="187092"/>
          </a:xfrm>
          <a:prstGeom prst="rect">
            <a:avLst/>
          </a:prstGeom>
        </p:spPr>
      </p:pic>
      <p:pic>
        <p:nvPicPr>
          <p:cNvPr id="75" name="Imagen 74">
            <a:extLst>
              <a:ext uri="{FF2B5EF4-FFF2-40B4-BE49-F238E27FC236}">
                <a16:creationId xmlns:a16="http://schemas.microsoft.com/office/drawing/2014/main" id="{8A3D1142-51EF-4494-9207-C6ECE4255F12}"/>
              </a:ext>
            </a:extLst>
          </p:cNvPr>
          <p:cNvPicPr>
            <a:picLocks noChangeAspect="1"/>
          </p:cNvPicPr>
          <p:nvPr/>
        </p:nvPicPr>
        <p:blipFill>
          <a:blip r:embed="rId10"/>
          <a:stretch>
            <a:fillRect/>
          </a:stretch>
        </p:blipFill>
        <p:spPr>
          <a:xfrm>
            <a:off x="6599675" y="3452913"/>
            <a:ext cx="236612" cy="231578"/>
          </a:xfrm>
          <a:prstGeom prst="rect">
            <a:avLst/>
          </a:prstGeom>
        </p:spPr>
      </p:pic>
      <p:pic>
        <p:nvPicPr>
          <p:cNvPr id="76" name="Imagen 75">
            <a:extLst>
              <a:ext uri="{FF2B5EF4-FFF2-40B4-BE49-F238E27FC236}">
                <a16:creationId xmlns:a16="http://schemas.microsoft.com/office/drawing/2014/main" id="{32AD9F21-E2D4-489C-A256-33D47BC52D83}"/>
              </a:ext>
            </a:extLst>
          </p:cNvPr>
          <p:cNvPicPr>
            <a:picLocks noChangeAspect="1"/>
          </p:cNvPicPr>
          <p:nvPr/>
        </p:nvPicPr>
        <p:blipFill rotWithShape="1">
          <a:blip r:embed="rId9"/>
          <a:srcRect b="1805"/>
          <a:stretch/>
        </p:blipFill>
        <p:spPr>
          <a:xfrm>
            <a:off x="7095798" y="2685645"/>
            <a:ext cx="205672" cy="200124"/>
          </a:xfrm>
          <a:prstGeom prst="rect">
            <a:avLst/>
          </a:prstGeom>
        </p:spPr>
      </p:pic>
      <p:pic>
        <p:nvPicPr>
          <p:cNvPr id="17" name="Imagen 16">
            <a:extLst>
              <a:ext uri="{FF2B5EF4-FFF2-40B4-BE49-F238E27FC236}">
                <a16:creationId xmlns:a16="http://schemas.microsoft.com/office/drawing/2014/main" id="{920C4FCE-221B-4E12-BC30-D4AFB39F97B1}"/>
              </a:ext>
            </a:extLst>
          </p:cNvPr>
          <p:cNvPicPr>
            <a:picLocks noChangeAspect="1"/>
          </p:cNvPicPr>
          <p:nvPr/>
        </p:nvPicPr>
        <p:blipFill>
          <a:blip r:embed="rId11"/>
          <a:stretch>
            <a:fillRect/>
          </a:stretch>
        </p:blipFill>
        <p:spPr>
          <a:xfrm>
            <a:off x="10449963" y="3156540"/>
            <a:ext cx="904875" cy="914400"/>
          </a:xfrm>
          <a:prstGeom prst="rect">
            <a:avLst/>
          </a:prstGeom>
        </p:spPr>
      </p:pic>
      <p:sp>
        <p:nvSpPr>
          <p:cNvPr id="48" name="Trapezoid 10">
            <a:extLst>
              <a:ext uri="{FF2B5EF4-FFF2-40B4-BE49-F238E27FC236}">
                <a16:creationId xmlns:a16="http://schemas.microsoft.com/office/drawing/2014/main" id="{8FB8083F-439F-498E-AA81-4B2F6F076C5F}"/>
              </a:ext>
            </a:extLst>
          </p:cNvPr>
          <p:cNvSpPr/>
          <p:nvPr/>
        </p:nvSpPr>
        <p:spPr>
          <a:xfrm rot="5400000" flipV="1">
            <a:off x="8792250" y="3031998"/>
            <a:ext cx="2146430" cy="917619"/>
          </a:xfrm>
          <a:prstGeom prst="trapezoid">
            <a:avLst/>
          </a:prstGeom>
          <a:solidFill>
            <a:schemeClr val="tx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lumMod val="75000"/>
                    <a:lumOff val="25000"/>
                  </a:schemeClr>
                </a:solidFill>
              </a:rPr>
              <a:t>DECODER</a:t>
            </a:r>
          </a:p>
        </p:txBody>
      </p:sp>
      <p:sp>
        <p:nvSpPr>
          <p:cNvPr id="49" name="Trapezoid 10">
            <a:extLst>
              <a:ext uri="{FF2B5EF4-FFF2-40B4-BE49-F238E27FC236}">
                <a16:creationId xmlns:a16="http://schemas.microsoft.com/office/drawing/2014/main" id="{642CC940-2DB2-46FE-A90F-E6E40F75F0AD}"/>
              </a:ext>
            </a:extLst>
          </p:cNvPr>
          <p:cNvSpPr/>
          <p:nvPr/>
        </p:nvSpPr>
        <p:spPr>
          <a:xfrm rot="16200000" flipH="1" flipV="1">
            <a:off x="1228782" y="3033606"/>
            <a:ext cx="2146430" cy="914401"/>
          </a:xfrm>
          <a:prstGeom prst="trapezoid">
            <a:avLst/>
          </a:prstGeom>
          <a:solidFill>
            <a:schemeClr val="tx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lumMod val="75000"/>
                    <a:lumOff val="25000"/>
                  </a:schemeClr>
                </a:solidFill>
              </a:rPr>
              <a:t>ENCODER</a:t>
            </a:r>
          </a:p>
        </p:txBody>
      </p:sp>
      <p:sp>
        <p:nvSpPr>
          <p:cNvPr id="50" name="TextBox 7">
            <a:extLst>
              <a:ext uri="{FF2B5EF4-FFF2-40B4-BE49-F238E27FC236}">
                <a16:creationId xmlns:a16="http://schemas.microsoft.com/office/drawing/2014/main" id="{75471C91-6907-43BD-81A0-789B29243A94}"/>
              </a:ext>
            </a:extLst>
          </p:cNvPr>
          <p:cNvSpPr txBox="1"/>
          <p:nvPr/>
        </p:nvSpPr>
        <p:spPr>
          <a:xfrm>
            <a:off x="5791620" y="1105754"/>
            <a:ext cx="3281720" cy="523220"/>
          </a:xfrm>
          <a:prstGeom prst="rect">
            <a:avLst/>
          </a:prstGeom>
          <a:noFill/>
        </p:spPr>
        <p:txBody>
          <a:bodyPr wrap="square" rtlCol="0">
            <a:spAutoFit/>
          </a:bodyPr>
          <a:lstStyle/>
          <a:p>
            <a:pPr algn="ctr"/>
            <a:r>
              <a:rPr lang="en-US" sz="2800">
                <a:solidFill>
                  <a:schemeClr val="tx1">
                    <a:lumMod val="75000"/>
                    <a:lumOff val="25000"/>
                  </a:schemeClr>
                </a:solidFill>
                <a:latin typeface="Karla" charset="0"/>
                <a:ea typeface="Karla" charset="0"/>
                <a:cs typeface="Karla" charset="0"/>
              </a:rPr>
              <a:t>Latent Space</a:t>
            </a:r>
            <a:endParaRPr lang="en-US" sz="2800" i="1">
              <a:solidFill>
                <a:schemeClr val="tx1">
                  <a:lumMod val="75000"/>
                  <a:lumOff val="25000"/>
                </a:schemeClr>
              </a:solidFill>
              <a:latin typeface="Karla" charset="0"/>
              <a:ea typeface="Karla" charset="0"/>
              <a:cs typeface="Karla" charset="0"/>
            </a:endParaRPr>
          </a:p>
        </p:txBody>
      </p:sp>
      <p:sp>
        <p:nvSpPr>
          <p:cNvPr id="3" name="Slide Number Placeholder 2"/>
          <p:cNvSpPr>
            <a:spLocks noGrp="1"/>
          </p:cNvSpPr>
          <p:nvPr>
            <p:ph type="sldNum" sz="quarter" idx="12"/>
          </p:nvPr>
        </p:nvSpPr>
        <p:spPr/>
        <p:txBody>
          <a:bodyPr/>
          <a:lstStyle/>
          <a:p>
            <a:fld id="{81B7CCDB-6D39-0547-B7B3-C80E39D6513A}" type="slidenum">
              <a:rPr lang="en-US" smtClean="0"/>
              <a:pPr/>
              <a:t>51</a:t>
            </a:fld>
            <a:endParaRPr lang="en-US"/>
          </a:p>
        </p:txBody>
      </p:sp>
    </p:spTree>
    <p:extLst>
      <p:ext uri="{BB962C8B-B14F-4D97-AF65-F5344CB8AC3E}">
        <p14:creationId xmlns:p14="http://schemas.microsoft.com/office/powerpoint/2010/main" val="416988214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9292" y="160260"/>
            <a:ext cx="11493416" cy="767276"/>
          </a:xfrm>
        </p:spPr>
        <p:txBody>
          <a:bodyPr/>
          <a:lstStyle/>
          <a:p>
            <a:r>
              <a:rPr lang="en-US"/>
              <a:t>Blending Latent Variables</a:t>
            </a:r>
          </a:p>
        </p:txBody>
      </p:sp>
      <p:pic>
        <p:nvPicPr>
          <p:cNvPr id="27" name="Picture 3">
            <a:extLst>
              <a:ext uri="{FF2B5EF4-FFF2-40B4-BE49-F238E27FC236}">
                <a16:creationId xmlns:a16="http://schemas.microsoft.com/office/drawing/2014/main" id="{3F7EF02D-39D9-4C5E-8150-92E66E1BBD87}"/>
              </a:ext>
            </a:extLst>
          </p:cNvPr>
          <p:cNvPicPr>
            <a:picLocks noChangeAspect="1"/>
          </p:cNvPicPr>
          <p:nvPr/>
        </p:nvPicPr>
        <p:blipFill rotWithShape="1">
          <a:blip r:embed="rId3">
            <a:extLst>
              <a:ext uri="{28A0092B-C50C-407E-A947-70E740481C1C}">
                <a14:useLocalDpi xmlns:a14="http://schemas.microsoft.com/office/drawing/2010/main" val="0"/>
              </a:ext>
            </a:extLst>
          </a:blip>
          <a:srcRect l="71777" t="-2162" r="8791" b="78285"/>
          <a:stretch/>
        </p:blipFill>
        <p:spPr>
          <a:xfrm>
            <a:off x="4111703" y="1816145"/>
            <a:ext cx="1758751" cy="767276"/>
          </a:xfrm>
          <a:prstGeom prst="rect">
            <a:avLst/>
          </a:prstGeom>
        </p:spPr>
      </p:pic>
      <p:pic>
        <p:nvPicPr>
          <p:cNvPr id="28" name="Picture 3">
            <a:extLst>
              <a:ext uri="{FF2B5EF4-FFF2-40B4-BE49-F238E27FC236}">
                <a16:creationId xmlns:a16="http://schemas.microsoft.com/office/drawing/2014/main" id="{57FEDE17-5EEE-4D1A-8E53-F32F065CB546}"/>
              </a:ext>
            </a:extLst>
          </p:cNvPr>
          <p:cNvPicPr>
            <a:picLocks noChangeAspect="1"/>
          </p:cNvPicPr>
          <p:nvPr/>
        </p:nvPicPr>
        <p:blipFill rotWithShape="1">
          <a:blip r:embed="rId3">
            <a:extLst>
              <a:ext uri="{28A0092B-C50C-407E-A947-70E740481C1C}">
                <a14:useLocalDpi xmlns:a14="http://schemas.microsoft.com/office/drawing/2010/main" val="0"/>
              </a:ext>
            </a:extLst>
          </a:blip>
          <a:srcRect l="50857" t="23883" r="28858" b="50073"/>
          <a:stretch/>
        </p:blipFill>
        <p:spPr>
          <a:xfrm>
            <a:off x="3810233" y="2731765"/>
            <a:ext cx="1835902" cy="836937"/>
          </a:xfrm>
          <a:prstGeom prst="rect">
            <a:avLst/>
          </a:prstGeom>
        </p:spPr>
      </p:pic>
      <p:sp>
        <p:nvSpPr>
          <p:cNvPr id="9" name="Rectángulo 8">
            <a:extLst>
              <a:ext uri="{FF2B5EF4-FFF2-40B4-BE49-F238E27FC236}">
                <a16:creationId xmlns:a16="http://schemas.microsoft.com/office/drawing/2014/main" id="{C5767CAC-93DA-4409-9752-3CF4B526EF1F}"/>
              </a:ext>
            </a:extLst>
          </p:cNvPr>
          <p:cNvSpPr/>
          <p:nvPr/>
        </p:nvSpPr>
        <p:spPr>
          <a:xfrm>
            <a:off x="5695120" y="1628974"/>
            <a:ext cx="3474720" cy="3826413"/>
          </a:xfrm>
          <a:prstGeom prst="rect">
            <a:avLst/>
          </a:prstGeom>
          <a:solidFill>
            <a:schemeClr val="bg1"/>
          </a:solid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0" name="Straight Arrow Connector 24">
            <a:extLst>
              <a:ext uri="{FF2B5EF4-FFF2-40B4-BE49-F238E27FC236}">
                <a16:creationId xmlns:a16="http://schemas.microsoft.com/office/drawing/2014/main" id="{8357E5F4-CE4A-4BE0-BE18-5A16157A4168}"/>
              </a:ext>
            </a:extLst>
          </p:cNvPr>
          <p:cNvCxnSpPr/>
          <p:nvPr/>
        </p:nvCxnSpPr>
        <p:spPr>
          <a:xfrm flipV="1">
            <a:off x="2863460" y="2898253"/>
            <a:ext cx="528203" cy="413431"/>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21" name="Rectangle 26">
            <a:extLst>
              <a:ext uri="{FF2B5EF4-FFF2-40B4-BE49-F238E27FC236}">
                <a16:creationId xmlns:a16="http://schemas.microsoft.com/office/drawing/2014/main" id="{7663EC45-4979-4427-95AC-41C2528EF079}"/>
              </a:ext>
            </a:extLst>
          </p:cNvPr>
          <p:cNvSpPr/>
          <p:nvPr/>
        </p:nvSpPr>
        <p:spPr>
          <a:xfrm>
            <a:off x="3417538" y="2024970"/>
            <a:ext cx="400704" cy="1131570"/>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3600" i="1"/>
          </a:p>
        </p:txBody>
      </p:sp>
      <p:sp>
        <p:nvSpPr>
          <p:cNvPr id="22" name="Rectangle 29">
            <a:extLst>
              <a:ext uri="{FF2B5EF4-FFF2-40B4-BE49-F238E27FC236}">
                <a16:creationId xmlns:a16="http://schemas.microsoft.com/office/drawing/2014/main" id="{3926F3BB-EA7C-4C8B-8D46-66C95DFD8443}"/>
              </a:ext>
            </a:extLst>
          </p:cNvPr>
          <p:cNvSpPr/>
          <p:nvPr/>
        </p:nvSpPr>
        <p:spPr>
          <a:xfrm>
            <a:off x="3412674" y="3791651"/>
            <a:ext cx="400704" cy="1131570"/>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3600" i="1"/>
          </a:p>
        </p:txBody>
      </p:sp>
      <p:cxnSp>
        <p:nvCxnSpPr>
          <p:cNvPr id="23" name="Straight Arrow Connector 30">
            <a:extLst>
              <a:ext uri="{FF2B5EF4-FFF2-40B4-BE49-F238E27FC236}">
                <a16:creationId xmlns:a16="http://schemas.microsoft.com/office/drawing/2014/main" id="{8E64302A-A018-4292-B980-CFFE03B6B1B2}"/>
              </a:ext>
            </a:extLst>
          </p:cNvPr>
          <p:cNvCxnSpPr/>
          <p:nvPr/>
        </p:nvCxnSpPr>
        <p:spPr>
          <a:xfrm>
            <a:off x="2865164" y="3636277"/>
            <a:ext cx="504971" cy="349139"/>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32">
            <a:extLst>
              <a:ext uri="{FF2B5EF4-FFF2-40B4-BE49-F238E27FC236}">
                <a16:creationId xmlns:a16="http://schemas.microsoft.com/office/drawing/2014/main" id="{F6A71B2E-AE58-4208-8D0E-7963C9D780BF}"/>
              </a:ext>
            </a:extLst>
          </p:cNvPr>
          <p:cNvCxnSpPr>
            <a:cxnSpLocks/>
            <a:endCxn id="28" idx="2"/>
          </p:cNvCxnSpPr>
          <p:nvPr/>
        </p:nvCxnSpPr>
        <p:spPr>
          <a:xfrm flipV="1">
            <a:off x="3856435" y="3568702"/>
            <a:ext cx="871749" cy="451238"/>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33">
            <a:extLst>
              <a:ext uri="{FF2B5EF4-FFF2-40B4-BE49-F238E27FC236}">
                <a16:creationId xmlns:a16="http://schemas.microsoft.com/office/drawing/2014/main" id="{56F9D3A5-9A1C-4760-9D58-305A9F7235AC}"/>
              </a:ext>
            </a:extLst>
          </p:cNvPr>
          <p:cNvCxnSpPr>
            <a:cxnSpLocks/>
          </p:cNvCxnSpPr>
          <p:nvPr/>
        </p:nvCxnSpPr>
        <p:spPr>
          <a:xfrm>
            <a:off x="3859218" y="2898253"/>
            <a:ext cx="577147" cy="444125"/>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graphicFrame>
        <p:nvGraphicFramePr>
          <p:cNvPr id="26" name="Content Placeholder 3">
            <a:extLst>
              <a:ext uri="{FF2B5EF4-FFF2-40B4-BE49-F238E27FC236}">
                <a16:creationId xmlns:a16="http://schemas.microsoft.com/office/drawing/2014/main" id="{34762B13-0B39-4FE9-9CDA-DD9EF92FBF1C}"/>
              </a:ext>
            </a:extLst>
          </p:cNvPr>
          <p:cNvGraphicFramePr>
            <a:graphicFrameLocks noChangeAspect="1"/>
          </p:cNvGraphicFramePr>
          <p:nvPr/>
        </p:nvGraphicFramePr>
        <p:xfrm>
          <a:off x="2955007" y="4952849"/>
          <a:ext cx="1316037" cy="468492"/>
        </p:xfrm>
        <a:graphic>
          <a:graphicData uri="http://schemas.openxmlformats.org/presentationml/2006/ole">
            <mc:AlternateContent xmlns:mc="http://schemas.openxmlformats.org/markup-compatibility/2006">
              <mc:Choice xmlns:v="urn:schemas-microsoft-com:vml" Requires="v">
                <p:oleObj spid="_x0000_s12291" name="Equation" r:id="rId4" imgW="533400" imgH="190500" progId="Equation.3">
                  <p:embed/>
                </p:oleObj>
              </mc:Choice>
              <mc:Fallback>
                <p:oleObj name="Equation" r:id="rId4" imgW="533400" imgH="190500" progId="Equation.3">
                  <p:embed/>
                  <p:pic>
                    <p:nvPicPr>
                      <p:cNvPr id="26" name="Content Placeholder 3">
                        <a:extLst>
                          <a:ext uri="{FF2B5EF4-FFF2-40B4-BE49-F238E27FC236}">
                            <a16:creationId xmlns:a16="http://schemas.microsoft.com/office/drawing/2014/main" id="{34762B13-0B39-4FE9-9CDA-DD9EF92FBF1C}"/>
                          </a:ext>
                        </a:extLst>
                      </p:cNvPr>
                      <p:cNvPicPr/>
                      <p:nvPr/>
                    </p:nvPicPr>
                    <p:blipFill>
                      <a:blip r:embed="rId5"/>
                      <a:stretch>
                        <a:fillRect/>
                      </a:stretch>
                    </p:blipFill>
                    <p:spPr>
                      <a:xfrm>
                        <a:off x="2955007" y="4952849"/>
                        <a:ext cx="1316037" cy="468492"/>
                      </a:xfrm>
                      <a:prstGeom prst="rect">
                        <a:avLst/>
                      </a:prstGeom>
                    </p:spPr>
                  </p:pic>
                </p:oleObj>
              </mc:Fallback>
            </mc:AlternateContent>
          </a:graphicData>
        </a:graphic>
      </p:graphicFrame>
      <p:graphicFrame>
        <p:nvGraphicFramePr>
          <p:cNvPr id="33" name="Content Placeholder 3">
            <a:extLst>
              <a:ext uri="{FF2B5EF4-FFF2-40B4-BE49-F238E27FC236}">
                <a16:creationId xmlns:a16="http://schemas.microsoft.com/office/drawing/2014/main" id="{4907A32F-2B40-497A-B62B-0380AD197925}"/>
              </a:ext>
            </a:extLst>
          </p:cNvPr>
          <p:cNvGraphicFramePr>
            <a:graphicFrameLocks noChangeAspect="1"/>
          </p:cNvGraphicFramePr>
          <p:nvPr/>
        </p:nvGraphicFramePr>
        <p:xfrm>
          <a:off x="3168728" y="1584706"/>
          <a:ext cx="942975" cy="425450"/>
        </p:xfrm>
        <a:graphic>
          <a:graphicData uri="http://schemas.openxmlformats.org/presentationml/2006/ole">
            <mc:AlternateContent xmlns:mc="http://schemas.openxmlformats.org/markup-compatibility/2006">
              <mc:Choice xmlns:v="urn:schemas-microsoft-com:vml" Requires="v">
                <p:oleObj spid="_x0000_s12292" name="Equation" r:id="rId6" imgW="393700" imgH="177800" progId="Equation.3">
                  <p:embed/>
                </p:oleObj>
              </mc:Choice>
              <mc:Fallback>
                <p:oleObj name="Equation" r:id="rId6" imgW="393700" imgH="177800" progId="Equation.3">
                  <p:embed/>
                  <p:pic>
                    <p:nvPicPr>
                      <p:cNvPr id="33" name="Content Placeholder 3">
                        <a:extLst>
                          <a:ext uri="{FF2B5EF4-FFF2-40B4-BE49-F238E27FC236}">
                            <a16:creationId xmlns:a16="http://schemas.microsoft.com/office/drawing/2014/main" id="{4907A32F-2B40-497A-B62B-0380AD197925}"/>
                          </a:ext>
                        </a:extLst>
                      </p:cNvPr>
                      <p:cNvPicPr/>
                      <p:nvPr/>
                    </p:nvPicPr>
                    <p:blipFill>
                      <a:blip r:embed="rId7"/>
                      <a:stretch>
                        <a:fillRect/>
                      </a:stretch>
                    </p:blipFill>
                    <p:spPr>
                      <a:xfrm>
                        <a:off x="3168728" y="1584706"/>
                        <a:ext cx="942975" cy="425450"/>
                      </a:xfrm>
                      <a:prstGeom prst="rect">
                        <a:avLst/>
                      </a:prstGeom>
                    </p:spPr>
                  </p:pic>
                </p:oleObj>
              </mc:Fallback>
            </mc:AlternateContent>
          </a:graphicData>
        </a:graphic>
      </p:graphicFrame>
      <p:sp>
        <p:nvSpPr>
          <p:cNvPr id="34" name="Elipse 33">
            <a:extLst>
              <a:ext uri="{FF2B5EF4-FFF2-40B4-BE49-F238E27FC236}">
                <a16:creationId xmlns:a16="http://schemas.microsoft.com/office/drawing/2014/main" id="{4C910D88-19BF-4C95-8965-2A8C46DD61A0}"/>
              </a:ext>
            </a:extLst>
          </p:cNvPr>
          <p:cNvSpPr/>
          <p:nvPr/>
        </p:nvSpPr>
        <p:spPr>
          <a:xfrm>
            <a:off x="6607112" y="2305460"/>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 name="Elipse 36">
            <a:extLst>
              <a:ext uri="{FF2B5EF4-FFF2-40B4-BE49-F238E27FC236}">
                <a16:creationId xmlns:a16="http://schemas.microsoft.com/office/drawing/2014/main" id="{A1998CF8-6F2B-452C-B481-E8EF77618155}"/>
              </a:ext>
            </a:extLst>
          </p:cNvPr>
          <p:cNvSpPr/>
          <p:nvPr/>
        </p:nvSpPr>
        <p:spPr>
          <a:xfrm>
            <a:off x="6932465" y="2493906"/>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 name="Elipse 41">
            <a:extLst>
              <a:ext uri="{FF2B5EF4-FFF2-40B4-BE49-F238E27FC236}">
                <a16:creationId xmlns:a16="http://schemas.microsoft.com/office/drawing/2014/main" id="{72CCAA22-3C13-406F-AFD8-291B8B7232CE}"/>
              </a:ext>
            </a:extLst>
          </p:cNvPr>
          <p:cNvSpPr/>
          <p:nvPr/>
        </p:nvSpPr>
        <p:spPr>
          <a:xfrm>
            <a:off x="6459468" y="2437840"/>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 name="Elipse 38">
            <a:extLst>
              <a:ext uri="{FF2B5EF4-FFF2-40B4-BE49-F238E27FC236}">
                <a16:creationId xmlns:a16="http://schemas.microsoft.com/office/drawing/2014/main" id="{780127D9-142B-4ADB-BD59-44B08E2FB78B}"/>
              </a:ext>
            </a:extLst>
          </p:cNvPr>
          <p:cNvSpPr/>
          <p:nvPr/>
        </p:nvSpPr>
        <p:spPr>
          <a:xfrm>
            <a:off x="6635714" y="2527355"/>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TextBox 7">
            <a:extLst>
              <a:ext uri="{FF2B5EF4-FFF2-40B4-BE49-F238E27FC236}">
                <a16:creationId xmlns:a16="http://schemas.microsoft.com/office/drawing/2014/main" id="{C87FD988-0ABF-4709-893B-12E3DFF0DB62}"/>
              </a:ext>
            </a:extLst>
          </p:cNvPr>
          <p:cNvSpPr txBox="1"/>
          <p:nvPr/>
        </p:nvSpPr>
        <p:spPr>
          <a:xfrm>
            <a:off x="358495" y="977350"/>
            <a:ext cx="3281720" cy="523220"/>
          </a:xfrm>
          <a:prstGeom prst="rect">
            <a:avLst/>
          </a:prstGeom>
          <a:noFill/>
        </p:spPr>
        <p:txBody>
          <a:bodyPr wrap="square" rtlCol="0">
            <a:spAutoFit/>
          </a:bodyPr>
          <a:lstStyle/>
          <a:p>
            <a:pPr algn="ctr"/>
            <a:r>
              <a:rPr lang="en-US" sz="2800">
                <a:solidFill>
                  <a:schemeClr val="tx1">
                    <a:lumMod val="75000"/>
                    <a:lumOff val="25000"/>
                  </a:schemeClr>
                </a:solidFill>
              </a:rPr>
              <a:t>Training on 3’s again</a:t>
            </a:r>
            <a:endParaRPr lang="en-US" sz="2800" i="1">
              <a:solidFill>
                <a:schemeClr val="tx1">
                  <a:lumMod val="75000"/>
                  <a:lumOff val="25000"/>
                </a:schemeClr>
              </a:solidFill>
            </a:endParaRPr>
          </a:p>
        </p:txBody>
      </p:sp>
      <p:sp>
        <p:nvSpPr>
          <p:cNvPr id="53" name="Elipse 52">
            <a:extLst>
              <a:ext uri="{FF2B5EF4-FFF2-40B4-BE49-F238E27FC236}">
                <a16:creationId xmlns:a16="http://schemas.microsoft.com/office/drawing/2014/main" id="{6CF345B8-5482-480A-839B-FF9FB9C34E44}"/>
              </a:ext>
            </a:extLst>
          </p:cNvPr>
          <p:cNvSpPr/>
          <p:nvPr/>
        </p:nvSpPr>
        <p:spPr>
          <a:xfrm>
            <a:off x="6480972" y="2646306"/>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4" name="Elipse 53">
            <a:extLst>
              <a:ext uri="{FF2B5EF4-FFF2-40B4-BE49-F238E27FC236}">
                <a16:creationId xmlns:a16="http://schemas.microsoft.com/office/drawing/2014/main" id="{98AD6E83-80D4-4F10-AC7A-D287655BA19C}"/>
              </a:ext>
            </a:extLst>
          </p:cNvPr>
          <p:cNvSpPr/>
          <p:nvPr/>
        </p:nvSpPr>
        <p:spPr>
          <a:xfrm>
            <a:off x="6814456" y="2434342"/>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 name="Elipse 54">
            <a:extLst>
              <a:ext uri="{FF2B5EF4-FFF2-40B4-BE49-F238E27FC236}">
                <a16:creationId xmlns:a16="http://schemas.microsoft.com/office/drawing/2014/main" id="{71F9D499-3E52-4E75-81CF-07E578C8D4BF}"/>
              </a:ext>
            </a:extLst>
          </p:cNvPr>
          <p:cNvSpPr/>
          <p:nvPr/>
        </p:nvSpPr>
        <p:spPr>
          <a:xfrm>
            <a:off x="6787742" y="2625612"/>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 name="Elipse 55">
            <a:extLst>
              <a:ext uri="{FF2B5EF4-FFF2-40B4-BE49-F238E27FC236}">
                <a16:creationId xmlns:a16="http://schemas.microsoft.com/office/drawing/2014/main" id="{D59D527C-19EF-4E27-942E-61047FF44D52}"/>
              </a:ext>
            </a:extLst>
          </p:cNvPr>
          <p:cNvSpPr/>
          <p:nvPr/>
        </p:nvSpPr>
        <p:spPr>
          <a:xfrm>
            <a:off x="6633372" y="2590240"/>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 name="Elipse 56">
            <a:extLst>
              <a:ext uri="{FF2B5EF4-FFF2-40B4-BE49-F238E27FC236}">
                <a16:creationId xmlns:a16="http://schemas.microsoft.com/office/drawing/2014/main" id="{BAC6C0F1-FEAC-461E-B0AC-3BFC0AFCAAF2}"/>
              </a:ext>
            </a:extLst>
          </p:cNvPr>
          <p:cNvSpPr/>
          <p:nvPr/>
        </p:nvSpPr>
        <p:spPr>
          <a:xfrm>
            <a:off x="6757306" y="2332702"/>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 name="Elipse 57">
            <a:extLst>
              <a:ext uri="{FF2B5EF4-FFF2-40B4-BE49-F238E27FC236}">
                <a16:creationId xmlns:a16="http://schemas.microsoft.com/office/drawing/2014/main" id="{E6D6A73D-A8FD-4A04-9545-B3BBB3117345}"/>
              </a:ext>
            </a:extLst>
          </p:cNvPr>
          <p:cNvSpPr/>
          <p:nvPr/>
        </p:nvSpPr>
        <p:spPr>
          <a:xfrm>
            <a:off x="6947527" y="2311401"/>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9" name="Elipse 58">
            <a:extLst>
              <a:ext uri="{FF2B5EF4-FFF2-40B4-BE49-F238E27FC236}">
                <a16:creationId xmlns:a16="http://schemas.microsoft.com/office/drawing/2014/main" id="{93146E34-ED6E-473D-BB03-36AE94106E85}"/>
              </a:ext>
            </a:extLst>
          </p:cNvPr>
          <p:cNvSpPr/>
          <p:nvPr/>
        </p:nvSpPr>
        <p:spPr>
          <a:xfrm>
            <a:off x="6395902" y="2566530"/>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0" name="Elipse 59">
            <a:extLst>
              <a:ext uri="{FF2B5EF4-FFF2-40B4-BE49-F238E27FC236}">
                <a16:creationId xmlns:a16="http://schemas.microsoft.com/office/drawing/2014/main" id="{321C5BC2-5E93-4B4B-A667-CECC98755AC7}"/>
              </a:ext>
            </a:extLst>
          </p:cNvPr>
          <p:cNvSpPr/>
          <p:nvPr/>
        </p:nvSpPr>
        <p:spPr>
          <a:xfrm>
            <a:off x="6644688" y="2742640"/>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1" name="Elipse 60">
            <a:extLst>
              <a:ext uri="{FF2B5EF4-FFF2-40B4-BE49-F238E27FC236}">
                <a16:creationId xmlns:a16="http://schemas.microsoft.com/office/drawing/2014/main" id="{B5F7C931-A4FC-4462-9E92-943D19FE98D7}"/>
              </a:ext>
            </a:extLst>
          </p:cNvPr>
          <p:cNvSpPr/>
          <p:nvPr/>
        </p:nvSpPr>
        <p:spPr>
          <a:xfrm>
            <a:off x="6475055" y="3364383"/>
            <a:ext cx="118562" cy="112132"/>
          </a:xfrm>
          <a:prstGeom prst="ellipse">
            <a:avLst/>
          </a:prstGeom>
          <a:solidFill>
            <a:srgbClr val="00B0F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63" name="Picture 4">
            <a:extLst>
              <a:ext uri="{FF2B5EF4-FFF2-40B4-BE49-F238E27FC236}">
                <a16:creationId xmlns:a16="http://schemas.microsoft.com/office/drawing/2014/main" id="{06F260E1-59F9-4416-BFF0-D48758473BAC}"/>
              </a:ext>
            </a:extLst>
          </p:cNvPr>
          <p:cNvPicPr>
            <a:picLocks noChangeAspect="1"/>
          </p:cNvPicPr>
          <p:nvPr/>
        </p:nvPicPr>
        <p:blipFill rotWithShape="1">
          <a:blip r:embed="rId8">
            <a:extLst>
              <a:ext uri="{28A0092B-C50C-407E-A947-70E740481C1C}">
                <a14:useLocalDpi xmlns:a14="http://schemas.microsoft.com/office/drawing/2010/main" val="0"/>
              </a:ext>
            </a:extLst>
          </a:blip>
          <a:srcRect l="20704" r="59887" b="51906"/>
          <a:stretch/>
        </p:blipFill>
        <p:spPr>
          <a:xfrm>
            <a:off x="720362" y="4244237"/>
            <a:ext cx="914401" cy="967501"/>
          </a:xfrm>
          <a:prstGeom prst="rect">
            <a:avLst/>
          </a:prstGeom>
        </p:spPr>
      </p:pic>
      <p:pic>
        <p:nvPicPr>
          <p:cNvPr id="64" name="Imagen 63">
            <a:extLst>
              <a:ext uri="{FF2B5EF4-FFF2-40B4-BE49-F238E27FC236}">
                <a16:creationId xmlns:a16="http://schemas.microsoft.com/office/drawing/2014/main" id="{1757E38E-495C-4F75-ABDE-9FB9D4848CFC}"/>
              </a:ext>
            </a:extLst>
          </p:cNvPr>
          <p:cNvPicPr>
            <a:picLocks noChangeAspect="1"/>
          </p:cNvPicPr>
          <p:nvPr/>
        </p:nvPicPr>
        <p:blipFill rotWithShape="1">
          <a:blip r:embed="rId9"/>
          <a:srcRect b="1805"/>
          <a:stretch/>
        </p:blipFill>
        <p:spPr>
          <a:xfrm>
            <a:off x="712350" y="3372768"/>
            <a:ext cx="895631" cy="871469"/>
          </a:xfrm>
          <a:prstGeom prst="rect">
            <a:avLst/>
          </a:prstGeom>
        </p:spPr>
      </p:pic>
      <p:sp>
        <p:nvSpPr>
          <p:cNvPr id="66" name="Elipse 65">
            <a:extLst>
              <a:ext uri="{FF2B5EF4-FFF2-40B4-BE49-F238E27FC236}">
                <a16:creationId xmlns:a16="http://schemas.microsoft.com/office/drawing/2014/main" id="{DD49F786-58DC-4118-AA79-6C34A9F31C3A}"/>
              </a:ext>
            </a:extLst>
          </p:cNvPr>
          <p:cNvSpPr/>
          <p:nvPr/>
        </p:nvSpPr>
        <p:spPr>
          <a:xfrm>
            <a:off x="6962468" y="2590240"/>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8" name="Imagen 37">
            <a:extLst>
              <a:ext uri="{FF2B5EF4-FFF2-40B4-BE49-F238E27FC236}">
                <a16:creationId xmlns:a16="http://schemas.microsoft.com/office/drawing/2014/main" id="{A3C3FD80-CC81-4CC3-9654-37BCE4586182}"/>
              </a:ext>
            </a:extLst>
          </p:cNvPr>
          <p:cNvPicPr>
            <a:picLocks noChangeAspect="1"/>
          </p:cNvPicPr>
          <p:nvPr/>
        </p:nvPicPr>
        <p:blipFill>
          <a:blip r:embed="rId10"/>
          <a:stretch>
            <a:fillRect/>
          </a:stretch>
        </p:blipFill>
        <p:spPr>
          <a:xfrm>
            <a:off x="728727" y="2444834"/>
            <a:ext cx="895350" cy="876300"/>
          </a:xfrm>
          <a:prstGeom prst="rect">
            <a:avLst/>
          </a:prstGeom>
        </p:spPr>
      </p:pic>
      <p:cxnSp>
        <p:nvCxnSpPr>
          <p:cNvPr id="40" name="Conector recto de flecha 39">
            <a:extLst>
              <a:ext uri="{FF2B5EF4-FFF2-40B4-BE49-F238E27FC236}">
                <a16:creationId xmlns:a16="http://schemas.microsoft.com/office/drawing/2014/main" id="{8C92F28E-8BFA-497F-9738-4CEF781178DC}"/>
              </a:ext>
            </a:extLst>
          </p:cNvPr>
          <p:cNvCxnSpPr/>
          <p:nvPr/>
        </p:nvCxnSpPr>
        <p:spPr>
          <a:xfrm>
            <a:off x="4962931" y="2583421"/>
            <a:ext cx="0" cy="907383"/>
          </a:xfrm>
          <a:prstGeom prst="straightConnector1">
            <a:avLst/>
          </a:prstGeom>
          <a:ln w="38100">
            <a:solidFill>
              <a:srgbClr val="00B0F0"/>
            </a:solidFill>
            <a:tailEnd type="triangle"/>
          </a:ln>
        </p:spPr>
        <p:style>
          <a:lnRef idx="2">
            <a:schemeClr val="accent1"/>
          </a:lnRef>
          <a:fillRef idx="0">
            <a:schemeClr val="accent1"/>
          </a:fillRef>
          <a:effectRef idx="1">
            <a:schemeClr val="accent1"/>
          </a:effectRef>
          <a:fontRef idx="minor">
            <a:schemeClr val="tx1"/>
          </a:fontRef>
        </p:style>
      </p:cxnSp>
      <p:sp>
        <p:nvSpPr>
          <p:cNvPr id="43" name="Elipse 42">
            <a:extLst>
              <a:ext uri="{FF2B5EF4-FFF2-40B4-BE49-F238E27FC236}">
                <a16:creationId xmlns:a16="http://schemas.microsoft.com/office/drawing/2014/main" id="{88E2DB7C-04B6-4136-BAED-0E7057240B65}"/>
              </a:ext>
            </a:extLst>
          </p:cNvPr>
          <p:cNvSpPr/>
          <p:nvPr/>
        </p:nvSpPr>
        <p:spPr>
          <a:xfrm>
            <a:off x="4903651" y="3476515"/>
            <a:ext cx="118562" cy="112132"/>
          </a:xfrm>
          <a:prstGeom prst="ellipse">
            <a:avLst/>
          </a:prstGeom>
          <a:solidFill>
            <a:srgbClr val="00B0F0"/>
          </a:solidFill>
          <a:ln>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5" name="Conector: curvado 44">
            <a:extLst>
              <a:ext uri="{FF2B5EF4-FFF2-40B4-BE49-F238E27FC236}">
                <a16:creationId xmlns:a16="http://schemas.microsoft.com/office/drawing/2014/main" id="{4196F64E-3B8C-44B3-BA66-42EF49033A81}"/>
              </a:ext>
            </a:extLst>
          </p:cNvPr>
          <p:cNvCxnSpPr>
            <a:cxnSpLocks/>
            <a:stCxn id="43" idx="5"/>
          </p:cNvCxnSpPr>
          <p:nvPr/>
        </p:nvCxnSpPr>
        <p:spPr>
          <a:xfrm rot="5400000" flipH="1" flipV="1">
            <a:off x="5745661" y="2827891"/>
            <a:ext cx="3524" cy="1485146"/>
          </a:xfrm>
          <a:prstGeom prst="curvedConnector4">
            <a:avLst>
              <a:gd name="adj1" fmla="val -6486947"/>
              <a:gd name="adj2" fmla="val 50585"/>
            </a:avLst>
          </a:prstGeom>
          <a:ln w="38100">
            <a:solidFill>
              <a:srgbClr val="00B0F0"/>
            </a:solidFill>
            <a:tailEnd type="triangle"/>
          </a:ln>
        </p:spPr>
        <p:style>
          <a:lnRef idx="2">
            <a:schemeClr val="accent1"/>
          </a:lnRef>
          <a:fillRef idx="0">
            <a:schemeClr val="accent1"/>
          </a:fillRef>
          <a:effectRef idx="1">
            <a:schemeClr val="accent1"/>
          </a:effectRef>
          <a:fontRef idx="minor">
            <a:schemeClr val="tx1"/>
          </a:fontRef>
        </p:style>
      </p:cxnSp>
      <p:sp>
        <p:nvSpPr>
          <p:cNvPr id="46" name="Elipse 45">
            <a:extLst>
              <a:ext uri="{FF2B5EF4-FFF2-40B4-BE49-F238E27FC236}">
                <a16:creationId xmlns:a16="http://schemas.microsoft.com/office/drawing/2014/main" id="{52670990-CD67-4D19-B632-DED5A2315B62}"/>
              </a:ext>
            </a:extLst>
          </p:cNvPr>
          <p:cNvSpPr/>
          <p:nvPr/>
        </p:nvSpPr>
        <p:spPr>
          <a:xfrm>
            <a:off x="6464197" y="3516783"/>
            <a:ext cx="118562" cy="112132"/>
          </a:xfrm>
          <a:prstGeom prst="ellipse">
            <a:avLst/>
          </a:prstGeom>
          <a:solidFill>
            <a:srgbClr val="00B0F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48" name="Imagen 47">
            <a:extLst>
              <a:ext uri="{FF2B5EF4-FFF2-40B4-BE49-F238E27FC236}">
                <a16:creationId xmlns:a16="http://schemas.microsoft.com/office/drawing/2014/main" id="{F7745E0C-E035-4383-AB48-EEA202B2F654}"/>
              </a:ext>
            </a:extLst>
          </p:cNvPr>
          <p:cNvPicPr>
            <a:picLocks noChangeAspect="1"/>
          </p:cNvPicPr>
          <p:nvPr/>
        </p:nvPicPr>
        <p:blipFill rotWithShape="1">
          <a:blip r:embed="rId9"/>
          <a:srcRect b="1805"/>
          <a:stretch/>
        </p:blipFill>
        <p:spPr>
          <a:xfrm>
            <a:off x="7077661" y="2361437"/>
            <a:ext cx="205672" cy="200124"/>
          </a:xfrm>
          <a:prstGeom prst="rect">
            <a:avLst/>
          </a:prstGeom>
        </p:spPr>
      </p:pic>
      <p:pic>
        <p:nvPicPr>
          <p:cNvPr id="49" name="Picture 4">
            <a:extLst>
              <a:ext uri="{FF2B5EF4-FFF2-40B4-BE49-F238E27FC236}">
                <a16:creationId xmlns:a16="http://schemas.microsoft.com/office/drawing/2014/main" id="{35054CD6-39E9-4A7A-9EA3-DAEF4A8D646A}"/>
              </a:ext>
            </a:extLst>
          </p:cNvPr>
          <p:cNvPicPr>
            <a:picLocks noChangeAspect="1"/>
          </p:cNvPicPr>
          <p:nvPr/>
        </p:nvPicPr>
        <p:blipFill rotWithShape="1">
          <a:blip r:embed="rId8">
            <a:extLst>
              <a:ext uri="{28A0092B-C50C-407E-A947-70E740481C1C}">
                <a14:useLocalDpi xmlns:a14="http://schemas.microsoft.com/office/drawing/2010/main" val="0"/>
              </a:ext>
            </a:extLst>
          </a:blip>
          <a:srcRect l="20704" r="59887" b="51906"/>
          <a:stretch/>
        </p:blipFill>
        <p:spPr>
          <a:xfrm>
            <a:off x="6702152" y="2083746"/>
            <a:ext cx="209545" cy="221714"/>
          </a:xfrm>
          <a:prstGeom prst="rect">
            <a:avLst/>
          </a:prstGeom>
        </p:spPr>
      </p:pic>
      <p:pic>
        <p:nvPicPr>
          <p:cNvPr id="50" name="Picture 4">
            <a:extLst>
              <a:ext uri="{FF2B5EF4-FFF2-40B4-BE49-F238E27FC236}">
                <a16:creationId xmlns:a16="http://schemas.microsoft.com/office/drawing/2014/main" id="{B71D74E0-D6C5-498A-95DB-480722393878}"/>
              </a:ext>
            </a:extLst>
          </p:cNvPr>
          <p:cNvPicPr>
            <a:picLocks noChangeAspect="1"/>
          </p:cNvPicPr>
          <p:nvPr/>
        </p:nvPicPr>
        <p:blipFill rotWithShape="1">
          <a:blip r:embed="rId8">
            <a:extLst>
              <a:ext uri="{28A0092B-C50C-407E-A947-70E740481C1C}">
                <a14:useLocalDpi xmlns:a14="http://schemas.microsoft.com/office/drawing/2010/main" val="0"/>
              </a:ext>
            </a:extLst>
          </a:blip>
          <a:srcRect l="20704" r="59887" b="51906"/>
          <a:stretch/>
        </p:blipFill>
        <p:spPr>
          <a:xfrm>
            <a:off x="7010301" y="2080824"/>
            <a:ext cx="209545" cy="221714"/>
          </a:xfrm>
          <a:prstGeom prst="rect">
            <a:avLst/>
          </a:prstGeom>
        </p:spPr>
      </p:pic>
      <p:pic>
        <p:nvPicPr>
          <p:cNvPr id="51" name="Picture 4">
            <a:extLst>
              <a:ext uri="{FF2B5EF4-FFF2-40B4-BE49-F238E27FC236}">
                <a16:creationId xmlns:a16="http://schemas.microsoft.com/office/drawing/2014/main" id="{3CB03AFB-C657-4431-AEEA-48B324202488}"/>
              </a:ext>
            </a:extLst>
          </p:cNvPr>
          <p:cNvPicPr>
            <a:picLocks noChangeAspect="1"/>
          </p:cNvPicPr>
          <p:nvPr/>
        </p:nvPicPr>
        <p:blipFill rotWithShape="1">
          <a:blip r:embed="rId8">
            <a:extLst>
              <a:ext uri="{28A0092B-C50C-407E-A947-70E740481C1C}">
                <a14:useLocalDpi xmlns:a14="http://schemas.microsoft.com/office/drawing/2010/main" val="0"/>
              </a:ext>
            </a:extLst>
          </a:blip>
          <a:srcRect l="20704" r="59887" b="51906"/>
          <a:stretch/>
        </p:blipFill>
        <p:spPr>
          <a:xfrm>
            <a:off x="6253512" y="2212628"/>
            <a:ext cx="209545" cy="221714"/>
          </a:xfrm>
          <a:prstGeom prst="rect">
            <a:avLst/>
          </a:prstGeom>
        </p:spPr>
      </p:pic>
      <p:pic>
        <p:nvPicPr>
          <p:cNvPr id="52" name="Picture 4">
            <a:extLst>
              <a:ext uri="{FF2B5EF4-FFF2-40B4-BE49-F238E27FC236}">
                <a16:creationId xmlns:a16="http://schemas.microsoft.com/office/drawing/2014/main" id="{A5F5179B-8564-4C55-8068-86F7529E2C80}"/>
              </a:ext>
            </a:extLst>
          </p:cNvPr>
          <p:cNvPicPr>
            <a:picLocks noChangeAspect="1"/>
          </p:cNvPicPr>
          <p:nvPr/>
        </p:nvPicPr>
        <p:blipFill rotWithShape="1">
          <a:blip r:embed="rId8">
            <a:extLst>
              <a:ext uri="{28A0092B-C50C-407E-A947-70E740481C1C}">
                <a14:useLocalDpi xmlns:a14="http://schemas.microsoft.com/office/drawing/2010/main" val="0"/>
              </a:ext>
            </a:extLst>
          </a:blip>
          <a:srcRect l="20704" r="59887" b="51906"/>
          <a:stretch/>
        </p:blipFill>
        <p:spPr>
          <a:xfrm>
            <a:off x="6177315" y="2439115"/>
            <a:ext cx="209545" cy="221714"/>
          </a:xfrm>
          <a:prstGeom prst="rect">
            <a:avLst/>
          </a:prstGeom>
        </p:spPr>
      </p:pic>
      <p:pic>
        <p:nvPicPr>
          <p:cNvPr id="62" name="Picture 4">
            <a:extLst>
              <a:ext uri="{FF2B5EF4-FFF2-40B4-BE49-F238E27FC236}">
                <a16:creationId xmlns:a16="http://schemas.microsoft.com/office/drawing/2014/main" id="{25B697DD-51A0-4447-99CC-A08D5450A843}"/>
              </a:ext>
            </a:extLst>
          </p:cNvPr>
          <p:cNvPicPr>
            <a:picLocks noChangeAspect="1"/>
          </p:cNvPicPr>
          <p:nvPr/>
        </p:nvPicPr>
        <p:blipFill rotWithShape="1">
          <a:blip r:embed="rId8">
            <a:extLst>
              <a:ext uri="{28A0092B-C50C-407E-A947-70E740481C1C}">
                <a14:useLocalDpi xmlns:a14="http://schemas.microsoft.com/office/drawing/2010/main" val="0"/>
              </a:ext>
            </a:extLst>
          </a:blip>
          <a:srcRect l="20704" r="59887" b="51906"/>
          <a:stretch/>
        </p:blipFill>
        <p:spPr>
          <a:xfrm>
            <a:off x="6260455" y="2726904"/>
            <a:ext cx="209545" cy="221714"/>
          </a:xfrm>
          <a:prstGeom prst="rect">
            <a:avLst/>
          </a:prstGeom>
        </p:spPr>
      </p:pic>
      <p:pic>
        <p:nvPicPr>
          <p:cNvPr id="67" name="Picture 4">
            <a:extLst>
              <a:ext uri="{FF2B5EF4-FFF2-40B4-BE49-F238E27FC236}">
                <a16:creationId xmlns:a16="http://schemas.microsoft.com/office/drawing/2014/main" id="{D1526C1F-6411-473E-8EF4-833198A7296D}"/>
              </a:ext>
            </a:extLst>
          </p:cNvPr>
          <p:cNvPicPr>
            <a:picLocks noChangeAspect="1"/>
          </p:cNvPicPr>
          <p:nvPr/>
        </p:nvPicPr>
        <p:blipFill rotWithShape="1">
          <a:blip r:embed="rId8">
            <a:extLst>
              <a:ext uri="{28A0092B-C50C-407E-A947-70E740481C1C}">
                <a14:useLocalDpi xmlns:a14="http://schemas.microsoft.com/office/drawing/2010/main" val="0"/>
              </a:ext>
            </a:extLst>
          </a:blip>
          <a:srcRect l="21036" t="3899" r="60738" b="55518"/>
          <a:stretch/>
        </p:blipFill>
        <p:spPr>
          <a:xfrm>
            <a:off x="6681081" y="2396329"/>
            <a:ext cx="196766" cy="187092"/>
          </a:xfrm>
          <a:prstGeom prst="rect">
            <a:avLst/>
          </a:prstGeom>
        </p:spPr>
      </p:pic>
      <p:pic>
        <p:nvPicPr>
          <p:cNvPr id="68" name="Picture 4">
            <a:extLst>
              <a:ext uri="{FF2B5EF4-FFF2-40B4-BE49-F238E27FC236}">
                <a16:creationId xmlns:a16="http://schemas.microsoft.com/office/drawing/2014/main" id="{250A4384-5DF3-4AA9-8587-46161AA8A11C}"/>
              </a:ext>
            </a:extLst>
          </p:cNvPr>
          <p:cNvPicPr>
            <a:picLocks noChangeAspect="1"/>
          </p:cNvPicPr>
          <p:nvPr/>
        </p:nvPicPr>
        <p:blipFill rotWithShape="1">
          <a:blip r:embed="rId8">
            <a:extLst>
              <a:ext uri="{28A0092B-C50C-407E-A947-70E740481C1C}">
                <a14:useLocalDpi xmlns:a14="http://schemas.microsoft.com/office/drawing/2010/main" val="0"/>
              </a:ext>
            </a:extLst>
          </a:blip>
          <a:srcRect l="21036" t="3899" r="60738" b="55518"/>
          <a:stretch/>
        </p:blipFill>
        <p:spPr>
          <a:xfrm>
            <a:off x="6555168" y="2866805"/>
            <a:ext cx="196766" cy="187092"/>
          </a:xfrm>
          <a:prstGeom prst="rect">
            <a:avLst/>
          </a:prstGeom>
        </p:spPr>
      </p:pic>
      <p:pic>
        <p:nvPicPr>
          <p:cNvPr id="69" name="Imagen 68">
            <a:extLst>
              <a:ext uri="{FF2B5EF4-FFF2-40B4-BE49-F238E27FC236}">
                <a16:creationId xmlns:a16="http://schemas.microsoft.com/office/drawing/2014/main" id="{A678487D-AB40-4BBE-BF1E-E3745C4F2D4F}"/>
              </a:ext>
            </a:extLst>
          </p:cNvPr>
          <p:cNvPicPr>
            <a:picLocks noChangeAspect="1"/>
          </p:cNvPicPr>
          <p:nvPr/>
        </p:nvPicPr>
        <p:blipFill rotWithShape="1">
          <a:blip r:embed="rId9"/>
          <a:srcRect b="1805"/>
          <a:stretch/>
        </p:blipFill>
        <p:spPr>
          <a:xfrm>
            <a:off x="7095798" y="2685645"/>
            <a:ext cx="205672" cy="200124"/>
          </a:xfrm>
          <a:prstGeom prst="rect">
            <a:avLst/>
          </a:prstGeom>
        </p:spPr>
      </p:pic>
      <p:pic>
        <p:nvPicPr>
          <p:cNvPr id="70" name="Imagen 69">
            <a:extLst>
              <a:ext uri="{FF2B5EF4-FFF2-40B4-BE49-F238E27FC236}">
                <a16:creationId xmlns:a16="http://schemas.microsoft.com/office/drawing/2014/main" id="{63E646D9-74F2-47A8-83FF-1A1E7242DD43}"/>
              </a:ext>
            </a:extLst>
          </p:cNvPr>
          <p:cNvPicPr>
            <a:picLocks noChangeAspect="1"/>
          </p:cNvPicPr>
          <p:nvPr/>
        </p:nvPicPr>
        <p:blipFill>
          <a:blip r:embed="rId10"/>
          <a:stretch>
            <a:fillRect/>
          </a:stretch>
        </p:blipFill>
        <p:spPr>
          <a:xfrm>
            <a:off x="6599675" y="3452913"/>
            <a:ext cx="236612" cy="231578"/>
          </a:xfrm>
          <a:prstGeom prst="rect">
            <a:avLst/>
          </a:prstGeom>
        </p:spPr>
      </p:pic>
      <p:pic>
        <p:nvPicPr>
          <p:cNvPr id="71" name="Imagen 70">
            <a:extLst>
              <a:ext uri="{FF2B5EF4-FFF2-40B4-BE49-F238E27FC236}">
                <a16:creationId xmlns:a16="http://schemas.microsoft.com/office/drawing/2014/main" id="{F3C32892-E865-4B08-948C-693F2BF3AD35}"/>
              </a:ext>
            </a:extLst>
          </p:cNvPr>
          <p:cNvPicPr>
            <a:picLocks noChangeAspect="1"/>
          </p:cNvPicPr>
          <p:nvPr/>
        </p:nvPicPr>
        <p:blipFill>
          <a:blip r:embed="rId10"/>
          <a:stretch>
            <a:fillRect/>
          </a:stretch>
        </p:blipFill>
        <p:spPr>
          <a:xfrm>
            <a:off x="6218571" y="3150373"/>
            <a:ext cx="236612" cy="231578"/>
          </a:xfrm>
          <a:prstGeom prst="rect">
            <a:avLst/>
          </a:prstGeom>
        </p:spPr>
      </p:pic>
      <p:pic>
        <p:nvPicPr>
          <p:cNvPr id="6" name="Imagen 5">
            <a:extLst>
              <a:ext uri="{FF2B5EF4-FFF2-40B4-BE49-F238E27FC236}">
                <a16:creationId xmlns:a16="http://schemas.microsoft.com/office/drawing/2014/main" id="{4326372D-DAA9-4BB4-8DAE-8CB5FBF63127}"/>
              </a:ext>
            </a:extLst>
          </p:cNvPr>
          <p:cNvPicPr>
            <a:picLocks noChangeAspect="1"/>
          </p:cNvPicPr>
          <p:nvPr/>
        </p:nvPicPr>
        <p:blipFill rotWithShape="1">
          <a:blip r:embed="rId11"/>
          <a:srcRect t="3566" b="5501"/>
          <a:stretch/>
        </p:blipFill>
        <p:spPr>
          <a:xfrm>
            <a:off x="10411550" y="3143760"/>
            <a:ext cx="895350" cy="796839"/>
          </a:xfrm>
          <a:prstGeom prst="rect">
            <a:avLst/>
          </a:prstGeom>
        </p:spPr>
      </p:pic>
      <p:sp>
        <p:nvSpPr>
          <p:cNvPr id="65" name="Trapezoid 10">
            <a:extLst>
              <a:ext uri="{FF2B5EF4-FFF2-40B4-BE49-F238E27FC236}">
                <a16:creationId xmlns:a16="http://schemas.microsoft.com/office/drawing/2014/main" id="{8FB8083F-439F-498E-AA81-4B2F6F076C5F}"/>
              </a:ext>
            </a:extLst>
          </p:cNvPr>
          <p:cNvSpPr/>
          <p:nvPr/>
        </p:nvSpPr>
        <p:spPr>
          <a:xfrm rot="5400000" flipV="1">
            <a:off x="8792250" y="3031998"/>
            <a:ext cx="2146430" cy="917619"/>
          </a:xfrm>
          <a:prstGeom prst="trapezoid">
            <a:avLst/>
          </a:prstGeom>
          <a:solidFill>
            <a:schemeClr val="tx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lumMod val="75000"/>
                    <a:lumOff val="25000"/>
                  </a:schemeClr>
                </a:solidFill>
              </a:rPr>
              <a:t>DECODER</a:t>
            </a:r>
          </a:p>
        </p:txBody>
      </p:sp>
      <p:sp>
        <p:nvSpPr>
          <p:cNvPr id="72" name="Trapezoid 10">
            <a:extLst>
              <a:ext uri="{FF2B5EF4-FFF2-40B4-BE49-F238E27FC236}">
                <a16:creationId xmlns:a16="http://schemas.microsoft.com/office/drawing/2014/main" id="{642CC940-2DB2-46FE-A90F-E6E40F75F0AD}"/>
              </a:ext>
            </a:extLst>
          </p:cNvPr>
          <p:cNvSpPr/>
          <p:nvPr/>
        </p:nvSpPr>
        <p:spPr>
          <a:xfrm rot="16200000" flipH="1" flipV="1">
            <a:off x="1228782" y="3033606"/>
            <a:ext cx="2146430" cy="914401"/>
          </a:xfrm>
          <a:prstGeom prst="trapezoid">
            <a:avLst/>
          </a:prstGeom>
          <a:solidFill>
            <a:schemeClr val="tx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lumMod val="75000"/>
                    <a:lumOff val="25000"/>
                  </a:schemeClr>
                </a:solidFill>
              </a:rPr>
              <a:t>ENCODER</a:t>
            </a:r>
          </a:p>
        </p:txBody>
      </p:sp>
      <p:sp>
        <p:nvSpPr>
          <p:cNvPr id="73" name="TextBox 7">
            <a:extLst>
              <a:ext uri="{FF2B5EF4-FFF2-40B4-BE49-F238E27FC236}">
                <a16:creationId xmlns:a16="http://schemas.microsoft.com/office/drawing/2014/main" id="{75471C91-6907-43BD-81A0-789B29243A94}"/>
              </a:ext>
            </a:extLst>
          </p:cNvPr>
          <p:cNvSpPr txBox="1"/>
          <p:nvPr/>
        </p:nvSpPr>
        <p:spPr>
          <a:xfrm>
            <a:off x="5791620" y="1105754"/>
            <a:ext cx="3281720" cy="523220"/>
          </a:xfrm>
          <a:prstGeom prst="rect">
            <a:avLst/>
          </a:prstGeom>
          <a:noFill/>
        </p:spPr>
        <p:txBody>
          <a:bodyPr wrap="square" rtlCol="0">
            <a:spAutoFit/>
          </a:bodyPr>
          <a:lstStyle/>
          <a:p>
            <a:pPr algn="ctr"/>
            <a:r>
              <a:rPr lang="en-US" sz="2800">
                <a:solidFill>
                  <a:schemeClr val="tx1">
                    <a:lumMod val="75000"/>
                    <a:lumOff val="25000"/>
                  </a:schemeClr>
                </a:solidFill>
                <a:latin typeface="Karla" charset="0"/>
                <a:ea typeface="Karla" charset="0"/>
                <a:cs typeface="Karla" charset="0"/>
              </a:rPr>
              <a:t>Latent Space</a:t>
            </a:r>
            <a:endParaRPr lang="en-US" sz="2800" i="1">
              <a:solidFill>
                <a:schemeClr val="tx1">
                  <a:lumMod val="75000"/>
                  <a:lumOff val="25000"/>
                </a:schemeClr>
              </a:solidFill>
              <a:latin typeface="Karla" charset="0"/>
              <a:ea typeface="Karla" charset="0"/>
              <a:cs typeface="Karla" charset="0"/>
            </a:endParaRPr>
          </a:p>
        </p:txBody>
      </p:sp>
      <p:sp>
        <p:nvSpPr>
          <p:cNvPr id="3" name="Slide Number Placeholder 2"/>
          <p:cNvSpPr>
            <a:spLocks noGrp="1"/>
          </p:cNvSpPr>
          <p:nvPr>
            <p:ph type="sldNum" sz="quarter" idx="12"/>
          </p:nvPr>
        </p:nvSpPr>
        <p:spPr/>
        <p:txBody>
          <a:bodyPr/>
          <a:lstStyle/>
          <a:p>
            <a:fld id="{81B7CCDB-6D39-0547-B7B3-C80E39D6513A}" type="slidenum">
              <a:rPr lang="en-US" smtClean="0"/>
              <a:pPr/>
              <a:t>52</a:t>
            </a:fld>
            <a:endParaRPr lang="en-US"/>
          </a:p>
        </p:txBody>
      </p:sp>
    </p:spTree>
    <p:extLst>
      <p:ext uri="{BB962C8B-B14F-4D97-AF65-F5344CB8AC3E}">
        <p14:creationId xmlns:p14="http://schemas.microsoft.com/office/powerpoint/2010/main" val="135846825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9292" y="160260"/>
            <a:ext cx="11493416" cy="767276"/>
          </a:xfrm>
        </p:spPr>
        <p:txBody>
          <a:bodyPr/>
          <a:lstStyle/>
          <a:p>
            <a:r>
              <a:rPr lang="en-US"/>
              <a:t>Blending Latent Variables</a:t>
            </a:r>
          </a:p>
        </p:txBody>
      </p:sp>
      <p:pic>
        <p:nvPicPr>
          <p:cNvPr id="27" name="Picture 3">
            <a:extLst>
              <a:ext uri="{FF2B5EF4-FFF2-40B4-BE49-F238E27FC236}">
                <a16:creationId xmlns:a16="http://schemas.microsoft.com/office/drawing/2014/main" id="{3F7EF02D-39D9-4C5E-8150-92E66E1BBD87}"/>
              </a:ext>
            </a:extLst>
          </p:cNvPr>
          <p:cNvPicPr>
            <a:picLocks noChangeAspect="1"/>
          </p:cNvPicPr>
          <p:nvPr/>
        </p:nvPicPr>
        <p:blipFill rotWithShape="1">
          <a:blip r:embed="rId3">
            <a:extLst>
              <a:ext uri="{28A0092B-C50C-407E-A947-70E740481C1C}">
                <a14:useLocalDpi xmlns:a14="http://schemas.microsoft.com/office/drawing/2010/main" val="0"/>
              </a:ext>
            </a:extLst>
          </a:blip>
          <a:srcRect l="71777" t="-2162" r="8791" b="78285"/>
          <a:stretch/>
        </p:blipFill>
        <p:spPr>
          <a:xfrm>
            <a:off x="4111703" y="1816145"/>
            <a:ext cx="1758751" cy="767276"/>
          </a:xfrm>
          <a:prstGeom prst="rect">
            <a:avLst/>
          </a:prstGeom>
        </p:spPr>
      </p:pic>
      <p:pic>
        <p:nvPicPr>
          <p:cNvPr id="28" name="Picture 3">
            <a:extLst>
              <a:ext uri="{FF2B5EF4-FFF2-40B4-BE49-F238E27FC236}">
                <a16:creationId xmlns:a16="http://schemas.microsoft.com/office/drawing/2014/main" id="{57FEDE17-5EEE-4D1A-8E53-F32F065CB546}"/>
              </a:ext>
            </a:extLst>
          </p:cNvPr>
          <p:cNvPicPr>
            <a:picLocks noChangeAspect="1"/>
          </p:cNvPicPr>
          <p:nvPr/>
        </p:nvPicPr>
        <p:blipFill rotWithShape="1">
          <a:blip r:embed="rId3">
            <a:extLst>
              <a:ext uri="{28A0092B-C50C-407E-A947-70E740481C1C}">
                <a14:useLocalDpi xmlns:a14="http://schemas.microsoft.com/office/drawing/2010/main" val="0"/>
              </a:ext>
            </a:extLst>
          </a:blip>
          <a:srcRect l="50857" t="23883" r="28858" b="50073"/>
          <a:stretch/>
        </p:blipFill>
        <p:spPr>
          <a:xfrm>
            <a:off x="3810233" y="2731765"/>
            <a:ext cx="1835902" cy="836937"/>
          </a:xfrm>
          <a:prstGeom prst="rect">
            <a:avLst/>
          </a:prstGeom>
        </p:spPr>
      </p:pic>
      <p:sp>
        <p:nvSpPr>
          <p:cNvPr id="9" name="Rectángulo 8">
            <a:extLst>
              <a:ext uri="{FF2B5EF4-FFF2-40B4-BE49-F238E27FC236}">
                <a16:creationId xmlns:a16="http://schemas.microsoft.com/office/drawing/2014/main" id="{C5767CAC-93DA-4409-9752-3CF4B526EF1F}"/>
              </a:ext>
            </a:extLst>
          </p:cNvPr>
          <p:cNvSpPr/>
          <p:nvPr/>
        </p:nvSpPr>
        <p:spPr>
          <a:xfrm>
            <a:off x="5695120" y="1628974"/>
            <a:ext cx="3474720" cy="3826413"/>
          </a:xfrm>
          <a:prstGeom prst="rect">
            <a:avLst/>
          </a:prstGeom>
          <a:solidFill>
            <a:schemeClr val="bg1"/>
          </a:solid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TextBox 7">
            <a:extLst>
              <a:ext uri="{FF2B5EF4-FFF2-40B4-BE49-F238E27FC236}">
                <a16:creationId xmlns:a16="http://schemas.microsoft.com/office/drawing/2014/main" id="{75471C91-6907-43BD-81A0-789B29243A94}"/>
              </a:ext>
            </a:extLst>
          </p:cNvPr>
          <p:cNvSpPr txBox="1"/>
          <p:nvPr/>
        </p:nvSpPr>
        <p:spPr>
          <a:xfrm>
            <a:off x="5791620" y="1105754"/>
            <a:ext cx="3281720" cy="523220"/>
          </a:xfrm>
          <a:prstGeom prst="rect">
            <a:avLst/>
          </a:prstGeom>
          <a:noFill/>
        </p:spPr>
        <p:txBody>
          <a:bodyPr wrap="square" rtlCol="0">
            <a:spAutoFit/>
          </a:bodyPr>
          <a:lstStyle/>
          <a:p>
            <a:pPr algn="ctr"/>
            <a:r>
              <a:rPr lang="en-US" sz="2800"/>
              <a:t>Latent Space</a:t>
            </a:r>
            <a:endParaRPr lang="en-US" sz="2800" i="1"/>
          </a:p>
        </p:txBody>
      </p:sp>
      <p:cxnSp>
        <p:nvCxnSpPr>
          <p:cNvPr id="20" name="Straight Arrow Connector 24">
            <a:extLst>
              <a:ext uri="{FF2B5EF4-FFF2-40B4-BE49-F238E27FC236}">
                <a16:creationId xmlns:a16="http://schemas.microsoft.com/office/drawing/2014/main" id="{8357E5F4-CE4A-4BE0-BE18-5A16157A4168}"/>
              </a:ext>
            </a:extLst>
          </p:cNvPr>
          <p:cNvCxnSpPr/>
          <p:nvPr/>
        </p:nvCxnSpPr>
        <p:spPr>
          <a:xfrm flipV="1">
            <a:off x="2863460" y="2898253"/>
            <a:ext cx="528203" cy="413431"/>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21" name="Rectangle 26">
            <a:extLst>
              <a:ext uri="{FF2B5EF4-FFF2-40B4-BE49-F238E27FC236}">
                <a16:creationId xmlns:a16="http://schemas.microsoft.com/office/drawing/2014/main" id="{7663EC45-4979-4427-95AC-41C2528EF079}"/>
              </a:ext>
            </a:extLst>
          </p:cNvPr>
          <p:cNvSpPr/>
          <p:nvPr/>
        </p:nvSpPr>
        <p:spPr>
          <a:xfrm>
            <a:off x="3417538" y="2024970"/>
            <a:ext cx="400704" cy="1131570"/>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3600" i="1"/>
          </a:p>
        </p:txBody>
      </p:sp>
      <p:sp>
        <p:nvSpPr>
          <p:cNvPr id="22" name="Rectangle 29">
            <a:extLst>
              <a:ext uri="{FF2B5EF4-FFF2-40B4-BE49-F238E27FC236}">
                <a16:creationId xmlns:a16="http://schemas.microsoft.com/office/drawing/2014/main" id="{3926F3BB-EA7C-4C8B-8D46-66C95DFD8443}"/>
              </a:ext>
            </a:extLst>
          </p:cNvPr>
          <p:cNvSpPr/>
          <p:nvPr/>
        </p:nvSpPr>
        <p:spPr>
          <a:xfrm>
            <a:off x="3412674" y="3791651"/>
            <a:ext cx="400704" cy="1131570"/>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3600" i="1"/>
          </a:p>
        </p:txBody>
      </p:sp>
      <p:cxnSp>
        <p:nvCxnSpPr>
          <p:cNvPr id="23" name="Straight Arrow Connector 30">
            <a:extLst>
              <a:ext uri="{FF2B5EF4-FFF2-40B4-BE49-F238E27FC236}">
                <a16:creationId xmlns:a16="http://schemas.microsoft.com/office/drawing/2014/main" id="{8E64302A-A018-4292-B980-CFFE03B6B1B2}"/>
              </a:ext>
            </a:extLst>
          </p:cNvPr>
          <p:cNvCxnSpPr/>
          <p:nvPr/>
        </p:nvCxnSpPr>
        <p:spPr>
          <a:xfrm>
            <a:off x="2865164" y="3636277"/>
            <a:ext cx="504971" cy="349139"/>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32">
            <a:extLst>
              <a:ext uri="{FF2B5EF4-FFF2-40B4-BE49-F238E27FC236}">
                <a16:creationId xmlns:a16="http://schemas.microsoft.com/office/drawing/2014/main" id="{F6A71B2E-AE58-4208-8D0E-7963C9D780BF}"/>
              </a:ext>
            </a:extLst>
          </p:cNvPr>
          <p:cNvCxnSpPr>
            <a:cxnSpLocks/>
            <a:endCxn id="28" idx="2"/>
          </p:cNvCxnSpPr>
          <p:nvPr/>
        </p:nvCxnSpPr>
        <p:spPr>
          <a:xfrm flipV="1">
            <a:off x="3856435" y="3568702"/>
            <a:ext cx="871749" cy="451238"/>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33">
            <a:extLst>
              <a:ext uri="{FF2B5EF4-FFF2-40B4-BE49-F238E27FC236}">
                <a16:creationId xmlns:a16="http://schemas.microsoft.com/office/drawing/2014/main" id="{56F9D3A5-9A1C-4760-9D58-305A9F7235AC}"/>
              </a:ext>
            </a:extLst>
          </p:cNvPr>
          <p:cNvCxnSpPr>
            <a:cxnSpLocks/>
          </p:cNvCxnSpPr>
          <p:nvPr/>
        </p:nvCxnSpPr>
        <p:spPr>
          <a:xfrm>
            <a:off x="3859218" y="2898253"/>
            <a:ext cx="577147" cy="444125"/>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graphicFrame>
        <p:nvGraphicFramePr>
          <p:cNvPr id="26" name="Content Placeholder 3">
            <a:extLst>
              <a:ext uri="{FF2B5EF4-FFF2-40B4-BE49-F238E27FC236}">
                <a16:creationId xmlns:a16="http://schemas.microsoft.com/office/drawing/2014/main" id="{34762B13-0B39-4FE9-9CDA-DD9EF92FBF1C}"/>
              </a:ext>
            </a:extLst>
          </p:cNvPr>
          <p:cNvGraphicFramePr>
            <a:graphicFrameLocks noChangeAspect="1"/>
          </p:cNvGraphicFramePr>
          <p:nvPr/>
        </p:nvGraphicFramePr>
        <p:xfrm>
          <a:off x="2955007" y="4952849"/>
          <a:ext cx="1316037" cy="468492"/>
        </p:xfrm>
        <a:graphic>
          <a:graphicData uri="http://schemas.openxmlformats.org/presentationml/2006/ole">
            <mc:AlternateContent xmlns:mc="http://schemas.openxmlformats.org/markup-compatibility/2006">
              <mc:Choice xmlns:v="urn:schemas-microsoft-com:vml" Requires="v">
                <p:oleObj spid="_x0000_s13315" name="Equation" r:id="rId4" imgW="533400" imgH="190500" progId="Equation.3">
                  <p:embed/>
                </p:oleObj>
              </mc:Choice>
              <mc:Fallback>
                <p:oleObj name="Equation" r:id="rId4" imgW="533400" imgH="190500" progId="Equation.3">
                  <p:embed/>
                  <p:pic>
                    <p:nvPicPr>
                      <p:cNvPr id="26" name="Content Placeholder 3">
                        <a:extLst>
                          <a:ext uri="{FF2B5EF4-FFF2-40B4-BE49-F238E27FC236}">
                            <a16:creationId xmlns:a16="http://schemas.microsoft.com/office/drawing/2014/main" id="{34762B13-0B39-4FE9-9CDA-DD9EF92FBF1C}"/>
                          </a:ext>
                        </a:extLst>
                      </p:cNvPr>
                      <p:cNvPicPr/>
                      <p:nvPr/>
                    </p:nvPicPr>
                    <p:blipFill>
                      <a:blip r:embed="rId5"/>
                      <a:stretch>
                        <a:fillRect/>
                      </a:stretch>
                    </p:blipFill>
                    <p:spPr>
                      <a:xfrm>
                        <a:off x="2955007" y="4952849"/>
                        <a:ext cx="1316037" cy="468492"/>
                      </a:xfrm>
                      <a:prstGeom prst="rect">
                        <a:avLst/>
                      </a:prstGeom>
                    </p:spPr>
                  </p:pic>
                </p:oleObj>
              </mc:Fallback>
            </mc:AlternateContent>
          </a:graphicData>
        </a:graphic>
      </p:graphicFrame>
      <p:graphicFrame>
        <p:nvGraphicFramePr>
          <p:cNvPr id="33" name="Content Placeholder 3">
            <a:extLst>
              <a:ext uri="{FF2B5EF4-FFF2-40B4-BE49-F238E27FC236}">
                <a16:creationId xmlns:a16="http://schemas.microsoft.com/office/drawing/2014/main" id="{4907A32F-2B40-497A-B62B-0380AD197925}"/>
              </a:ext>
            </a:extLst>
          </p:cNvPr>
          <p:cNvGraphicFramePr>
            <a:graphicFrameLocks noChangeAspect="1"/>
          </p:cNvGraphicFramePr>
          <p:nvPr/>
        </p:nvGraphicFramePr>
        <p:xfrm>
          <a:off x="3168728" y="1584706"/>
          <a:ext cx="942975" cy="425450"/>
        </p:xfrm>
        <a:graphic>
          <a:graphicData uri="http://schemas.openxmlformats.org/presentationml/2006/ole">
            <mc:AlternateContent xmlns:mc="http://schemas.openxmlformats.org/markup-compatibility/2006">
              <mc:Choice xmlns:v="urn:schemas-microsoft-com:vml" Requires="v">
                <p:oleObj spid="_x0000_s13316" name="Equation" r:id="rId6" imgW="393700" imgH="177800" progId="Equation.3">
                  <p:embed/>
                </p:oleObj>
              </mc:Choice>
              <mc:Fallback>
                <p:oleObj name="Equation" r:id="rId6" imgW="393700" imgH="177800" progId="Equation.3">
                  <p:embed/>
                  <p:pic>
                    <p:nvPicPr>
                      <p:cNvPr id="33" name="Content Placeholder 3">
                        <a:extLst>
                          <a:ext uri="{FF2B5EF4-FFF2-40B4-BE49-F238E27FC236}">
                            <a16:creationId xmlns:a16="http://schemas.microsoft.com/office/drawing/2014/main" id="{4907A32F-2B40-497A-B62B-0380AD197925}"/>
                          </a:ext>
                        </a:extLst>
                      </p:cNvPr>
                      <p:cNvPicPr/>
                      <p:nvPr/>
                    </p:nvPicPr>
                    <p:blipFill>
                      <a:blip r:embed="rId7"/>
                      <a:stretch>
                        <a:fillRect/>
                      </a:stretch>
                    </p:blipFill>
                    <p:spPr>
                      <a:xfrm>
                        <a:off x="3168728" y="1584706"/>
                        <a:ext cx="942975" cy="425450"/>
                      </a:xfrm>
                      <a:prstGeom prst="rect">
                        <a:avLst/>
                      </a:prstGeom>
                    </p:spPr>
                  </p:pic>
                </p:oleObj>
              </mc:Fallback>
            </mc:AlternateContent>
          </a:graphicData>
        </a:graphic>
      </p:graphicFrame>
      <p:sp>
        <p:nvSpPr>
          <p:cNvPr id="34" name="Elipse 33">
            <a:extLst>
              <a:ext uri="{FF2B5EF4-FFF2-40B4-BE49-F238E27FC236}">
                <a16:creationId xmlns:a16="http://schemas.microsoft.com/office/drawing/2014/main" id="{4C910D88-19BF-4C95-8965-2A8C46DD61A0}"/>
              </a:ext>
            </a:extLst>
          </p:cNvPr>
          <p:cNvSpPr/>
          <p:nvPr/>
        </p:nvSpPr>
        <p:spPr>
          <a:xfrm>
            <a:off x="6607112" y="2305460"/>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 name="Elipse 36">
            <a:extLst>
              <a:ext uri="{FF2B5EF4-FFF2-40B4-BE49-F238E27FC236}">
                <a16:creationId xmlns:a16="http://schemas.microsoft.com/office/drawing/2014/main" id="{A1998CF8-6F2B-452C-B481-E8EF77618155}"/>
              </a:ext>
            </a:extLst>
          </p:cNvPr>
          <p:cNvSpPr/>
          <p:nvPr/>
        </p:nvSpPr>
        <p:spPr>
          <a:xfrm>
            <a:off x="6932465" y="2493906"/>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 name="Elipse 41">
            <a:extLst>
              <a:ext uri="{FF2B5EF4-FFF2-40B4-BE49-F238E27FC236}">
                <a16:creationId xmlns:a16="http://schemas.microsoft.com/office/drawing/2014/main" id="{72CCAA22-3C13-406F-AFD8-291B8B7232CE}"/>
              </a:ext>
            </a:extLst>
          </p:cNvPr>
          <p:cNvSpPr/>
          <p:nvPr/>
        </p:nvSpPr>
        <p:spPr>
          <a:xfrm>
            <a:off x="6459468" y="2437840"/>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 name="Elipse 38">
            <a:extLst>
              <a:ext uri="{FF2B5EF4-FFF2-40B4-BE49-F238E27FC236}">
                <a16:creationId xmlns:a16="http://schemas.microsoft.com/office/drawing/2014/main" id="{780127D9-142B-4ADB-BD59-44B08E2FB78B}"/>
              </a:ext>
            </a:extLst>
          </p:cNvPr>
          <p:cNvSpPr/>
          <p:nvPr/>
        </p:nvSpPr>
        <p:spPr>
          <a:xfrm>
            <a:off x="6635714" y="2527355"/>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TextBox 7">
            <a:extLst>
              <a:ext uri="{FF2B5EF4-FFF2-40B4-BE49-F238E27FC236}">
                <a16:creationId xmlns:a16="http://schemas.microsoft.com/office/drawing/2014/main" id="{C87FD988-0ABF-4709-893B-12E3DFF0DB62}"/>
              </a:ext>
            </a:extLst>
          </p:cNvPr>
          <p:cNvSpPr txBox="1"/>
          <p:nvPr/>
        </p:nvSpPr>
        <p:spPr>
          <a:xfrm>
            <a:off x="-186412" y="938416"/>
            <a:ext cx="3281720" cy="523220"/>
          </a:xfrm>
          <a:prstGeom prst="rect">
            <a:avLst/>
          </a:prstGeom>
          <a:noFill/>
        </p:spPr>
        <p:txBody>
          <a:bodyPr wrap="square" rtlCol="0">
            <a:spAutoFit/>
          </a:bodyPr>
          <a:lstStyle/>
          <a:p>
            <a:pPr algn="ctr"/>
            <a:r>
              <a:rPr lang="en-US" sz="2800">
                <a:solidFill>
                  <a:schemeClr val="tx1">
                    <a:lumMod val="75000"/>
                    <a:lumOff val="25000"/>
                  </a:schemeClr>
                </a:solidFill>
                <a:latin typeface="Karla" charset="0"/>
                <a:ea typeface="Karla" charset="0"/>
                <a:cs typeface="Karla" charset="0"/>
              </a:rPr>
              <a:t>Many times…</a:t>
            </a:r>
            <a:endParaRPr lang="en-US" sz="2800" i="1">
              <a:solidFill>
                <a:schemeClr val="tx1">
                  <a:lumMod val="75000"/>
                  <a:lumOff val="25000"/>
                </a:schemeClr>
              </a:solidFill>
              <a:latin typeface="Karla" charset="0"/>
              <a:ea typeface="Karla" charset="0"/>
              <a:cs typeface="Karla" charset="0"/>
            </a:endParaRPr>
          </a:p>
        </p:txBody>
      </p:sp>
      <p:sp>
        <p:nvSpPr>
          <p:cNvPr id="53" name="Elipse 52">
            <a:extLst>
              <a:ext uri="{FF2B5EF4-FFF2-40B4-BE49-F238E27FC236}">
                <a16:creationId xmlns:a16="http://schemas.microsoft.com/office/drawing/2014/main" id="{6CF345B8-5482-480A-839B-FF9FB9C34E44}"/>
              </a:ext>
            </a:extLst>
          </p:cNvPr>
          <p:cNvSpPr/>
          <p:nvPr/>
        </p:nvSpPr>
        <p:spPr>
          <a:xfrm>
            <a:off x="6480972" y="2646306"/>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4" name="Elipse 53">
            <a:extLst>
              <a:ext uri="{FF2B5EF4-FFF2-40B4-BE49-F238E27FC236}">
                <a16:creationId xmlns:a16="http://schemas.microsoft.com/office/drawing/2014/main" id="{98AD6E83-80D4-4F10-AC7A-D287655BA19C}"/>
              </a:ext>
            </a:extLst>
          </p:cNvPr>
          <p:cNvSpPr/>
          <p:nvPr/>
        </p:nvSpPr>
        <p:spPr>
          <a:xfrm>
            <a:off x="6814456" y="2434342"/>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 name="Elipse 54">
            <a:extLst>
              <a:ext uri="{FF2B5EF4-FFF2-40B4-BE49-F238E27FC236}">
                <a16:creationId xmlns:a16="http://schemas.microsoft.com/office/drawing/2014/main" id="{71F9D499-3E52-4E75-81CF-07E578C8D4BF}"/>
              </a:ext>
            </a:extLst>
          </p:cNvPr>
          <p:cNvSpPr/>
          <p:nvPr/>
        </p:nvSpPr>
        <p:spPr>
          <a:xfrm>
            <a:off x="6787742" y="2625612"/>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 name="Elipse 55">
            <a:extLst>
              <a:ext uri="{FF2B5EF4-FFF2-40B4-BE49-F238E27FC236}">
                <a16:creationId xmlns:a16="http://schemas.microsoft.com/office/drawing/2014/main" id="{D59D527C-19EF-4E27-942E-61047FF44D52}"/>
              </a:ext>
            </a:extLst>
          </p:cNvPr>
          <p:cNvSpPr/>
          <p:nvPr/>
        </p:nvSpPr>
        <p:spPr>
          <a:xfrm>
            <a:off x="6633372" y="2590240"/>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 name="Elipse 56">
            <a:extLst>
              <a:ext uri="{FF2B5EF4-FFF2-40B4-BE49-F238E27FC236}">
                <a16:creationId xmlns:a16="http://schemas.microsoft.com/office/drawing/2014/main" id="{BAC6C0F1-FEAC-461E-B0AC-3BFC0AFCAAF2}"/>
              </a:ext>
            </a:extLst>
          </p:cNvPr>
          <p:cNvSpPr/>
          <p:nvPr/>
        </p:nvSpPr>
        <p:spPr>
          <a:xfrm>
            <a:off x="6757306" y="2332702"/>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 name="Elipse 57">
            <a:extLst>
              <a:ext uri="{FF2B5EF4-FFF2-40B4-BE49-F238E27FC236}">
                <a16:creationId xmlns:a16="http://schemas.microsoft.com/office/drawing/2014/main" id="{E6D6A73D-A8FD-4A04-9545-B3BBB3117345}"/>
              </a:ext>
            </a:extLst>
          </p:cNvPr>
          <p:cNvSpPr/>
          <p:nvPr/>
        </p:nvSpPr>
        <p:spPr>
          <a:xfrm>
            <a:off x="6947527" y="2311401"/>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9" name="Elipse 58">
            <a:extLst>
              <a:ext uri="{FF2B5EF4-FFF2-40B4-BE49-F238E27FC236}">
                <a16:creationId xmlns:a16="http://schemas.microsoft.com/office/drawing/2014/main" id="{93146E34-ED6E-473D-BB03-36AE94106E85}"/>
              </a:ext>
            </a:extLst>
          </p:cNvPr>
          <p:cNvSpPr/>
          <p:nvPr/>
        </p:nvSpPr>
        <p:spPr>
          <a:xfrm>
            <a:off x="6395902" y="2566530"/>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0" name="Elipse 59">
            <a:extLst>
              <a:ext uri="{FF2B5EF4-FFF2-40B4-BE49-F238E27FC236}">
                <a16:creationId xmlns:a16="http://schemas.microsoft.com/office/drawing/2014/main" id="{321C5BC2-5E93-4B4B-A667-CECC98755AC7}"/>
              </a:ext>
            </a:extLst>
          </p:cNvPr>
          <p:cNvSpPr/>
          <p:nvPr/>
        </p:nvSpPr>
        <p:spPr>
          <a:xfrm>
            <a:off x="6644688" y="2742640"/>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1" name="Elipse 60">
            <a:extLst>
              <a:ext uri="{FF2B5EF4-FFF2-40B4-BE49-F238E27FC236}">
                <a16:creationId xmlns:a16="http://schemas.microsoft.com/office/drawing/2014/main" id="{B5F7C931-A4FC-4462-9E92-943D19FE98D7}"/>
              </a:ext>
            </a:extLst>
          </p:cNvPr>
          <p:cNvSpPr/>
          <p:nvPr/>
        </p:nvSpPr>
        <p:spPr>
          <a:xfrm>
            <a:off x="6475055" y="3364383"/>
            <a:ext cx="118562" cy="112132"/>
          </a:xfrm>
          <a:prstGeom prst="ellipse">
            <a:avLst/>
          </a:prstGeom>
          <a:solidFill>
            <a:srgbClr val="00B0F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63" name="Picture 4">
            <a:extLst>
              <a:ext uri="{FF2B5EF4-FFF2-40B4-BE49-F238E27FC236}">
                <a16:creationId xmlns:a16="http://schemas.microsoft.com/office/drawing/2014/main" id="{06F260E1-59F9-4416-BFF0-D48758473BAC}"/>
              </a:ext>
            </a:extLst>
          </p:cNvPr>
          <p:cNvPicPr>
            <a:picLocks noChangeAspect="1"/>
          </p:cNvPicPr>
          <p:nvPr/>
        </p:nvPicPr>
        <p:blipFill rotWithShape="1">
          <a:blip r:embed="rId8">
            <a:extLst>
              <a:ext uri="{28A0092B-C50C-407E-A947-70E740481C1C}">
                <a14:useLocalDpi xmlns:a14="http://schemas.microsoft.com/office/drawing/2010/main" val="0"/>
              </a:ext>
            </a:extLst>
          </a:blip>
          <a:srcRect l="20704" r="59887" b="51906"/>
          <a:stretch/>
        </p:blipFill>
        <p:spPr>
          <a:xfrm>
            <a:off x="784286" y="4219594"/>
            <a:ext cx="954544" cy="1009975"/>
          </a:xfrm>
          <a:prstGeom prst="rect">
            <a:avLst/>
          </a:prstGeom>
        </p:spPr>
      </p:pic>
      <p:pic>
        <p:nvPicPr>
          <p:cNvPr id="64" name="Imagen 63">
            <a:extLst>
              <a:ext uri="{FF2B5EF4-FFF2-40B4-BE49-F238E27FC236}">
                <a16:creationId xmlns:a16="http://schemas.microsoft.com/office/drawing/2014/main" id="{1757E38E-495C-4F75-ABDE-9FB9D4848CFC}"/>
              </a:ext>
            </a:extLst>
          </p:cNvPr>
          <p:cNvPicPr>
            <a:picLocks noChangeAspect="1"/>
          </p:cNvPicPr>
          <p:nvPr/>
        </p:nvPicPr>
        <p:blipFill rotWithShape="1">
          <a:blip r:embed="rId9"/>
          <a:srcRect b="1805"/>
          <a:stretch/>
        </p:blipFill>
        <p:spPr>
          <a:xfrm>
            <a:off x="784287" y="3342378"/>
            <a:ext cx="912786" cy="888162"/>
          </a:xfrm>
          <a:prstGeom prst="rect">
            <a:avLst/>
          </a:prstGeom>
        </p:spPr>
      </p:pic>
      <p:sp>
        <p:nvSpPr>
          <p:cNvPr id="66" name="Elipse 65">
            <a:extLst>
              <a:ext uri="{FF2B5EF4-FFF2-40B4-BE49-F238E27FC236}">
                <a16:creationId xmlns:a16="http://schemas.microsoft.com/office/drawing/2014/main" id="{DD49F786-58DC-4118-AA79-6C34A9F31C3A}"/>
              </a:ext>
            </a:extLst>
          </p:cNvPr>
          <p:cNvSpPr/>
          <p:nvPr/>
        </p:nvSpPr>
        <p:spPr>
          <a:xfrm>
            <a:off x="6962468" y="2590240"/>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8" name="Imagen 37">
            <a:extLst>
              <a:ext uri="{FF2B5EF4-FFF2-40B4-BE49-F238E27FC236}">
                <a16:creationId xmlns:a16="http://schemas.microsoft.com/office/drawing/2014/main" id="{A3C3FD80-CC81-4CC3-9654-37BCE4586182}"/>
              </a:ext>
            </a:extLst>
          </p:cNvPr>
          <p:cNvPicPr>
            <a:picLocks noChangeAspect="1"/>
          </p:cNvPicPr>
          <p:nvPr/>
        </p:nvPicPr>
        <p:blipFill>
          <a:blip r:embed="rId10"/>
          <a:stretch>
            <a:fillRect/>
          </a:stretch>
        </p:blipFill>
        <p:spPr>
          <a:xfrm>
            <a:off x="796070" y="2404406"/>
            <a:ext cx="895350" cy="876300"/>
          </a:xfrm>
          <a:prstGeom prst="rect">
            <a:avLst/>
          </a:prstGeom>
        </p:spPr>
      </p:pic>
      <p:cxnSp>
        <p:nvCxnSpPr>
          <p:cNvPr id="40" name="Conector recto de flecha 39">
            <a:extLst>
              <a:ext uri="{FF2B5EF4-FFF2-40B4-BE49-F238E27FC236}">
                <a16:creationId xmlns:a16="http://schemas.microsoft.com/office/drawing/2014/main" id="{8C92F28E-8BFA-497F-9738-4CEF781178DC}"/>
              </a:ext>
            </a:extLst>
          </p:cNvPr>
          <p:cNvCxnSpPr/>
          <p:nvPr/>
        </p:nvCxnSpPr>
        <p:spPr>
          <a:xfrm>
            <a:off x="4962931" y="2583421"/>
            <a:ext cx="0" cy="907383"/>
          </a:xfrm>
          <a:prstGeom prst="straightConnector1">
            <a:avLst/>
          </a:prstGeom>
          <a:ln w="38100">
            <a:solidFill>
              <a:srgbClr val="00B0F0"/>
            </a:solidFill>
            <a:tailEnd type="triangle"/>
          </a:ln>
        </p:spPr>
        <p:style>
          <a:lnRef idx="2">
            <a:schemeClr val="accent1"/>
          </a:lnRef>
          <a:fillRef idx="0">
            <a:schemeClr val="accent1"/>
          </a:fillRef>
          <a:effectRef idx="1">
            <a:schemeClr val="accent1"/>
          </a:effectRef>
          <a:fontRef idx="minor">
            <a:schemeClr val="tx1"/>
          </a:fontRef>
        </p:style>
      </p:cxnSp>
      <p:sp>
        <p:nvSpPr>
          <p:cNvPr id="43" name="Elipse 42">
            <a:extLst>
              <a:ext uri="{FF2B5EF4-FFF2-40B4-BE49-F238E27FC236}">
                <a16:creationId xmlns:a16="http://schemas.microsoft.com/office/drawing/2014/main" id="{88E2DB7C-04B6-4136-BAED-0E7057240B65}"/>
              </a:ext>
            </a:extLst>
          </p:cNvPr>
          <p:cNvSpPr/>
          <p:nvPr/>
        </p:nvSpPr>
        <p:spPr>
          <a:xfrm>
            <a:off x="4903651" y="3476515"/>
            <a:ext cx="118562" cy="112132"/>
          </a:xfrm>
          <a:prstGeom prst="ellipse">
            <a:avLst/>
          </a:prstGeom>
          <a:solidFill>
            <a:srgbClr val="00B0F0"/>
          </a:solidFill>
          <a:ln>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 name="Elipse 45">
            <a:extLst>
              <a:ext uri="{FF2B5EF4-FFF2-40B4-BE49-F238E27FC236}">
                <a16:creationId xmlns:a16="http://schemas.microsoft.com/office/drawing/2014/main" id="{52670990-CD67-4D19-B632-DED5A2315B62}"/>
              </a:ext>
            </a:extLst>
          </p:cNvPr>
          <p:cNvSpPr/>
          <p:nvPr/>
        </p:nvSpPr>
        <p:spPr>
          <a:xfrm>
            <a:off x="6464197" y="3516783"/>
            <a:ext cx="118562" cy="112132"/>
          </a:xfrm>
          <a:prstGeom prst="ellipse">
            <a:avLst/>
          </a:prstGeom>
          <a:solidFill>
            <a:srgbClr val="00B0F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 name="Elipse 40">
            <a:extLst>
              <a:ext uri="{FF2B5EF4-FFF2-40B4-BE49-F238E27FC236}">
                <a16:creationId xmlns:a16="http://schemas.microsoft.com/office/drawing/2014/main" id="{B17063CF-D96E-4912-91A4-B3633DE18B74}"/>
              </a:ext>
            </a:extLst>
          </p:cNvPr>
          <p:cNvSpPr/>
          <p:nvPr/>
        </p:nvSpPr>
        <p:spPr>
          <a:xfrm>
            <a:off x="6616597" y="3669183"/>
            <a:ext cx="118562" cy="112132"/>
          </a:xfrm>
          <a:prstGeom prst="ellipse">
            <a:avLst/>
          </a:prstGeom>
          <a:solidFill>
            <a:srgbClr val="00B0F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 name="Elipse 43">
            <a:extLst>
              <a:ext uri="{FF2B5EF4-FFF2-40B4-BE49-F238E27FC236}">
                <a16:creationId xmlns:a16="http://schemas.microsoft.com/office/drawing/2014/main" id="{F35C8C6E-2373-4AF5-84BE-1F9B1DE58FD9}"/>
              </a:ext>
            </a:extLst>
          </p:cNvPr>
          <p:cNvSpPr/>
          <p:nvPr/>
        </p:nvSpPr>
        <p:spPr>
          <a:xfrm>
            <a:off x="6600554" y="3388445"/>
            <a:ext cx="118562" cy="112132"/>
          </a:xfrm>
          <a:prstGeom prst="ellipse">
            <a:avLst/>
          </a:prstGeom>
          <a:solidFill>
            <a:srgbClr val="00B0F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 name="Elipse 46">
            <a:extLst>
              <a:ext uri="{FF2B5EF4-FFF2-40B4-BE49-F238E27FC236}">
                <a16:creationId xmlns:a16="http://schemas.microsoft.com/office/drawing/2014/main" id="{C1B8BE71-BBF6-47A5-8803-034BFB665C9C}"/>
              </a:ext>
            </a:extLst>
          </p:cNvPr>
          <p:cNvSpPr/>
          <p:nvPr/>
        </p:nvSpPr>
        <p:spPr>
          <a:xfrm>
            <a:off x="6660711" y="3556885"/>
            <a:ext cx="118562" cy="112132"/>
          </a:xfrm>
          <a:prstGeom prst="ellipse">
            <a:avLst/>
          </a:prstGeom>
          <a:solidFill>
            <a:srgbClr val="00B0F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 name="Elipse 47">
            <a:extLst>
              <a:ext uri="{FF2B5EF4-FFF2-40B4-BE49-F238E27FC236}">
                <a16:creationId xmlns:a16="http://schemas.microsoft.com/office/drawing/2014/main" id="{B944461F-BCE9-4CAF-BB54-BFBE14D72EF0}"/>
              </a:ext>
            </a:extLst>
          </p:cNvPr>
          <p:cNvSpPr/>
          <p:nvPr/>
        </p:nvSpPr>
        <p:spPr>
          <a:xfrm>
            <a:off x="6563991" y="3232117"/>
            <a:ext cx="118562" cy="112132"/>
          </a:xfrm>
          <a:prstGeom prst="ellipse">
            <a:avLst/>
          </a:prstGeom>
          <a:solidFill>
            <a:srgbClr val="00B0F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9" name="Elipse 48">
            <a:extLst>
              <a:ext uri="{FF2B5EF4-FFF2-40B4-BE49-F238E27FC236}">
                <a16:creationId xmlns:a16="http://schemas.microsoft.com/office/drawing/2014/main" id="{CC30753C-BA0C-4B95-AAE8-9EA33B47BEB9}"/>
              </a:ext>
            </a:extLst>
          </p:cNvPr>
          <p:cNvSpPr/>
          <p:nvPr/>
        </p:nvSpPr>
        <p:spPr>
          <a:xfrm>
            <a:off x="6548886" y="3532989"/>
            <a:ext cx="118562" cy="112132"/>
          </a:xfrm>
          <a:prstGeom prst="ellipse">
            <a:avLst/>
          </a:prstGeom>
          <a:solidFill>
            <a:srgbClr val="00B0F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0" name="Elipse 49">
            <a:extLst>
              <a:ext uri="{FF2B5EF4-FFF2-40B4-BE49-F238E27FC236}">
                <a16:creationId xmlns:a16="http://schemas.microsoft.com/office/drawing/2014/main" id="{6CE5A6ED-BEC0-4CE0-BE2D-825AE00D885E}"/>
              </a:ext>
            </a:extLst>
          </p:cNvPr>
          <p:cNvSpPr/>
          <p:nvPr/>
        </p:nvSpPr>
        <p:spPr>
          <a:xfrm>
            <a:off x="6697170" y="3291678"/>
            <a:ext cx="118562" cy="112132"/>
          </a:xfrm>
          <a:prstGeom prst="ellipse">
            <a:avLst/>
          </a:prstGeom>
          <a:solidFill>
            <a:srgbClr val="00B0F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1" name="Elipse 50">
            <a:extLst>
              <a:ext uri="{FF2B5EF4-FFF2-40B4-BE49-F238E27FC236}">
                <a16:creationId xmlns:a16="http://schemas.microsoft.com/office/drawing/2014/main" id="{E817B76C-F17C-46AA-A045-B1561CA2D6CC}"/>
              </a:ext>
            </a:extLst>
          </p:cNvPr>
          <p:cNvSpPr/>
          <p:nvPr/>
        </p:nvSpPr>
        <p:spPr>
          <a:xfrm>
            <a:off x="6445083" y="3195777"/>
            <a:ext cx="118562" cy="112132"/>
          </a:xfrm>
          <a:prstGeom prst="ellipse">
            <a:avLst/>
          </a:prstGeom>
          <a:solidFill>
            <a:srgbClr val="00B0F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2" name="Elipse 51">
            <a:extLst>
              <a:ext uri="{FF2B5EF4-FFF2-40B4-BE49-F238E27FC236}">
                <a16:creationId xmlns:a16="http://schemas.microsoft.com/office/drawing/2014/main" id="{F91C8246-A85D-471A-9956-51B2C2D838B1}"/>
              </a:ext>
            </a:extLst>
          </p:cNvPr>
          <p:cNvSpPr/>
          <p:nvPr/>
        </p:nvSpPr>
        <p:spPr>
          <a:xfrm>
            <a:off x="6528163" y="3075342"/>
            <a:ext cx="118562" cy="112132"/>
          </a:xfrm>
          <a:prstGeom prst="ellipse">
            <a:avLst/>
          </a:prstGeom>
          <a:solidFill>
            <a:srgbClr val="00B0F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62" name="Imagen 61">
            <a:extLst>
              <a:ext uri="{FF2B5EF4-FFF2-40B4-BE49-F238E27FC236}">
                <a16:creationId xmlns:a16="http://schemas.microsoft.com/office/drawing/2014/main" id="{3BE92A2C-6A1B-4FC6-B138-514E740764CC}"/>
              </a:ext>
            </a:extLst>
          </p:cNvPr>
          <p:cNvPicPr>
            <a:picLocks noChangeAspect="1"/>
          </p:cNvPicPr>
          <p:nvPr/>
        </p:nvPicPr>
        <p:blipFill>
          <a:blip r:embed="rId10"/>
          <a:stretch>
            <a:fillRect/>
          </a:stretch>
        </p:blipFill>
        <p:spPr>
          <a:xfrm>
            <a:off x="10385297" y="3052654"/>
            <a:ext cx="895350" cy="876300"/>
          </a:xfrm>
          <a:prstGeom prst="rect">
            <a:avLst/>
          </a:prstGeom>
        </p:spPr>
      </p:pic>
      <p:cxnSp>
        <p:nvCxnSpPr>
          <p:cNvPr id="65" name="Conector recto de flecha 64">
            <a:extLst>
              <a:ext uri="{FF2B5EF4-FFF2-40B4-BE49-F238E27FC236}">
                <a16:creationId xmlns:a16="http://schemas.microsoft.com/office/drawing/2014/main" id="{247EFB24-0A56-4642-9844-58C4E0E02110}"/>
              </a:ext>
            </a:extLst>
          </p:cNvPr>
          <p:cNvCxnSpPr/>
          <p:nvPr/>
        </p:nvCxnSpPr>
        <p:spPr>
          <a:xfrm>
            <a:off x="5103299" y="2591441"/>
            <a:ext cx="0" cy="907383"/>
          </a:xfrm>
          <a:prstGeom prst="straightConnector1">
            <a:avLst/>
          </a:prstGeom>
          <a:ln w="38100">
            <a:solidFill>
              <a:srgbClr val="00B0F0"/>
            </a:solidFill>
            <a:tailEnd type="triangle"/>
          </a:ln>
        </p:spPr>
        <p:style>
          <a:lnRef idx="2">
            <a:schemeClr val="accent1"/>
          </a:lnRef>
          <a:fillRef idx="0">
            <a:schemeClr val="accent1"/>
          </a:fillRef>
          <a:effectRef idx="1">
            <a:schemeClr val="accent1"/>
          </a:effectRef>
          <a:fontRef idx="minor">
            <a:schemeClr val="tx1"/>
          </a:fontRef>
        </p:style>
      </p:cxnSp>
      <p:sp>
        <p:nvSpPr>
          <p:cNvPr id="67" name="Elipse 66">
            <a:extLst>
              <a:ext uri="{FF2B5EF4-FFF2-40B4-BE49-F238E27FC236}">
                <a16:creationId xmlns:a16="http://schemas.microsoft.com/office/drawing/2014/main" id="{832BCBF7-4536-42FC-B5B0-DA95D43F93EE}"/>
              </a:ext>
            </a:extLst>
          </p:cNvPr>
          <p:cNvSpPr/>
          <p:nvPr/>
        </p:nvSpPr>
        <p:spPr>
          <a:xfrm>
            <a:off x="5044019" y="3484535"/>
            <a:ext cx="118562" cy="112132"/>
          </a:xfrm>
          <a:prstGeom prst="ellipse">
            <a:avLst/>
          </a:prstGeom>
          <a:solidFill>
            <a:srgbClr val="00B0F0"/>
          </a:solidFill>
          <a:ln>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8" name="Conector recto de flecha 67">
            <a:extLst>
              <a:ext uri="{FF2B5EF4-FFF2-40B4-BE49-F238E27FC236}">
                <a16:creationId xmlns:a16="http://schemas.microsoft.com/office/drawing/2014/main" id="{5A39AA6A-3A92-4092-B55E-ED173ACED080}"/>
              </a:ext>
            </a:extLst>
          </p:cNvPr>
          <p:cNvCxnSpPr/>
          <p:nvPr/>
        </p:nvCxnSpPr>
        <p:spPr>
          <a:xfrm>
            <a:off x="4682193" y="2591440"/>
            <a:ext cx="0" cy="907383"/>
          </a:xfrm>
          <a:prstGeom prst="straightConnector1">
            <a:avLst/>
          </a:prstGeom>
          <a:ln w="38100">
            <a:solidFill>
              <a:srgbClr val="00B0F0"/>
            </a:solidFill>
            <a:tailEnd type="triangle"/>
          </a:ln>
        </p:spPr>
        <p:style>
          <a:lnRef idx="2">
            <a:schemeClr val="accent1"/>
          </a:lnRef>
          <a:fillRef idx="0">
            <a:schemeClr val="accent1"/>
          </a:fillRef>
          <a:effectRef idx="1">
            <a:schemeClr val="accent1"/>
          </a:effectRef>
          <a:fontRef idx="minor">
            <a:schemeClr val="tx1"/>
          </a:fontRef>
        </p:style>
      </p:cxnSp>
      <p:sp>
        <p:nvSpPr>
          <p:cNvPr id="69" name="Elipse 68">
            <a:extLst>
              <a:ext uri="{FF2B5EF4-FFF2-40B4-BE49-F238E27FC236}">
                <a16:creationId xmlns:a16="http://schemas.microsoft.com/office/drawing/2014/main" id="{9167E2FC-69DD-48F6-B483-C1D1A2BCC3F3}"/>
              </a:ext>
            </a:extLst>
          </p:cNvPr>
          <p:cNvSpPr/>
          <p:nvPr/>
        </p:nvSpPr>
        <p:spPr>
          <a:xfrm>
            <a:off x="4622913" y="3484534"/>
            <a:ext cx="118562" cy="112132"/>
          </a:xfrm>
          <a:prstGeom prst="ellipse">
            <a:avLst/>
          </a:prstGeom>
          <a:solidFill>
            <a:srgbClr val="00B0F0"/>
          </a:solidFill>
          <a:ln>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0" name="Conector recto de flecha 69">
            <a:extLst>
              <a:ext uri="{FF2B5EF4-FFF2-40B4-BE49-F238E27FC236}">
                <a16:creationId xmlns:a16="http://schemas.microsoft.com/office/drawing/2014/main" id="{5BBA343F-F94C-45A1-82D0-C0351416B909}"/>
              </a:ext>
            </a:extLst>
          </p:cNvPr>
          <p:cNvCxnSpPr/>
          <p:nvPr/>
        </p:nvCxnSpPr>
        <p:spPr>
          <a:xfrm>
            <a:off x="4489688" y="2567379"/>
            <a:ext cx="0" cy="907383"/>
          </a:xfrm>
          <a:prstGeom prst="straightConnector1">
            <a:avLst/>
          </a:prstGeom>
          <a:ln w="38100">
            <a:solidFill>
              <a:srgbClr val="00B0F0"/>
            </a:solidFill>
            <a:tailEnd type="triangle"/>
          </a:ln>
        </p:spPr>
        <p:style>
          <a:lnRef idx="2">
            <a:schemeClr val="accent1"/>
          </a:lnRef>
          <a:fillRef idx="0">
            <a:schemeClr val="accent1"/>
          </a:fillRef>
          <a:effectRef idx="1">
            <a:schemeClr val="accent1"/>
          </a:effectRef>
          <a:fontRef idx="minor">
            <a:schemeClr val="tx1"/>
          </a:fontRef>
        </p:style>
      </p:cxnSp>
      <p:sp>
        <p:nvSpPr>
          <p:cNvPr id="71" name="Elipse 70">
            <a:extLst>
              <a:ext uri="{FF2B5EF4-FFF2-40B4-BE49-F238E27FC236}">
                <a16:creationId xmlns:a16="http://schemas.microsoft.com/office/drawing/2014/main" id="{04946D15-AD50-4321-9B11-7404A147181D}"/>
              </a:ext>
            </a:extLst>
          </p:cNvPr>
          <p:cNvSpPr/>
          <p:nvPr/>
        </p:nvSpPr>
        <p:spPr>
          <a:xfrm>
            <a:off x="4430408" y="3460473"/>
            <a:ext cx="118562" cy="112132"/>
          </a:xfrm>
          <a:prstGeom prst="ellipse">
            <a:avLst/>
          </a:prstGeom>
          <a:solidFill>
            <a:srgbClr val="00B0F0"/>
          </a:solidFill>
          <a:ln>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2" name="Conector recto de flecha 71">
            <a:extLst>
              <a:ext uri="{FF2B5EF4-FFF2-40B4-BE49-F238E27FC236}">
                <a16:creationId xmlns:a16="http://schemas.microsoft.com/office/drawing/2014/main" id="{E422648A-D71D-436B-8F5F-7CEEF5A60BEF}"/>
              </a:ext>
            </a:extLst>
          </p:cNvPr>
          <p:cNvCxnSpPr/>
          <p:nvPr/>
        </p:nvCxnSpPr>
        <p:spPr>
          <a:xfrm>
            <a:off x="4850632" y="2591441"/>
            <a:ext cx="0" cy="907383"/>
          </a:xfrm>
          <a:prstGeom prst="straightConnector1">
            <a:avLst/>
          </a:prstGeom>
          <a:ln w="38100">
            <a:solidFill>
              <a:srgbClr val="00B0F0"/>
            </a:solidFill>
            <a:tailEnd type="triangle"/>
          </a:ln>
        </p:spPr>
        <p:style>
          <a:lnRef idx="2">
            <a:schemeClr val="accent1"/>
          </a:lnRef>
          <a:fillRef idx="0">
            <a:schemeClr val="accent1"/>
          </a:fillRef>
          <a:effectRef idx="1">
            <a:schemeClr val="accent1"/>
          </a:effectRef>
          <a:fontRef idx="minor">
            <a:schemeClr val="tx1"/>
          </a:fontRef>
        </p:style>
      </p:cxnSp>
      <p:sp>
        <p:nvSpPr>
          <p:cNvPr id="73" name="Elipse 72">
            <a:extLst>
              <a:ext uri="{FF2B5EF4-FFF2-40B4-BE49-F238E27FC236}">
                <a16:creationId xmlns:a16="http://schemas.microsoft.com/office/drawing/2014/main" id="{A930D21A-79E2-47A9-8594-A500B4366254}"/>
              </a:ext>
            </a:extLst>
          </p:cNvPr>
          <p:cNvSpPr/>
          <p:nvPr/>
        </p:nvSpPr>
        <p:spPr>
          <a:xfrm>
            <a:off x="4791352" y="3484535"/>
            <a:ext cx="118562" cy="112132"/>
          </a:xfrm>
          <a:prstGeom prst="ellipse">
            <a:avLst/>
          </a:prstGeom>
          <a:solidFill>
            <a:srgbClr val="00B0F0"/>
          </a:solidFill>
          <a:ln>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74" name="Imagen 73">
            <a:extLst>
              <a:ext uri="{FF2B5EF4-FFF2-40B4-BE49-F238E27FC236}">
                <a16:creationId xmlns:a16="http://schemas.microsoft.com/office/drawing/2014/main" id="{41127A68-0FA2-4AB7-9B79-E479E2E39FD6}"/>
              </a:ext>
            </a:extLst>
          </p:cNvPr>
          <p:cNvPicPr>
            <a:picLocks noChangeAspect="1"/>
          </p:cNvPicPr>
          <p:nvPr/>
        </p:nvPicPr>
        <p:blipFill rotWithShape="1">
          <a:blip r:embed="rId9"/>
          <a:srcRect b="1805"/>
          <a:stretch/>
        </p:blipFill>
        <p:spPr>
          <a:xfrm>
            <a:off x="7077661" y="2361437"/>
            <a:ext cx="205672" cy="200124"/>
          </a:xfrm>
          <a:prstGeom prst="rect">
            <a:avLst/>
          </a:prstGeom>
        </p:spPr>
      </p:pic>
      <p:pic>
        <p:nvPicPr>
          <p:cNvPr id="75" name="Picture 4">
            <a:extLst>
              <a:ext uri="{FF2B5EF4-FFF2-40B4-BE49-F238E27FC236}">
                <a16:creationId xmlns:a16="http://schemas.microsoft.com/office/drawing/2014/main" id="{9B440A7C-E10B-47C6-8A82-9EEDAC64AEF8}"/>
              </a:ext>
            </a:extLst>
          </p:cNvPr>
          <p:cNvPicPr>
            <a:picLocks noChangeAspect="1"/>
          </p:cNvPicPr>
          <p:nvPr/>
        </p:nvPicPr>
        <p:blipFill rotWithShape="1">
          <a:blip r:embed="rId8">
            <a:extLst>
              <a:ext uri="{28A0092B-C50C-407E-A947-70E740481C1C}">
                <a14:useLocalDpi xmlns:a14="http://schemas.microsoft.com/office/drawing/2010/main" val="0"/>
              </a:ext>
            </a:extLst>
          </a:blip>
          <a:srcRect l="20704" r="59887" b="51906"/>
          <a:stretch/>
        </p:blipFill>
        <p:spPr>
          <a:xfrm>
            <a:off x="6702152" y="2083746"/>
            <a:ext cx="209545" cy="221714"/>
          </a:xfrm>
          <a:prstGeom prst="rect">
            <a:avLst/>
          </a:prstGeom>
        </p:spPr>
      </p:pic>
      <p:pic>
        <p:nvPicPr>
          <p:cNvPr id="76" name="Picture 4">
            <a:extLst>
              <a:ext uri="{FF2B5EF4-FFF2-40B4-BE49-F238E27FC236}">
                <a16:creationId xmlns:a16="http://schemas.microsoft.com/office/drawing/2014/main" id="{80C0019B-86D8-4733-B08E-6EDE7EE17472}"/>
              </a:ext>
            </a:extLst>
          </p:cNvPr>
          <p:cNvPicPr>
            <a:picLocks noChangeAspect="1"/>
          </p:cNvPicPr>
          <p:nvPr/>
        </p:nvPicPr>
        <p:blipFill rotWithShape="1">
          <a:blip r:embed="rId8">
            <a:extLst>
              <a:ext uri="{28A0092B-C50C-407E-A947-70E740481C1C}">
                <a14:useLocalDpi xmlns:a14="http://schemas.microsoft.com/office/drawing/2010/main" val="0"/>
              </a:ext>
            </a:extLst>
          </a:blip>
          <a:srcRect l="20704" r="59887" b="51906"/>
          <a:stretch/>
        </p:blipFill>
        <p:spPr>
          <a:xfrm>
            <a:off x="7010301" y="2080824"/>
            <a:ext cx="209545" cy="221714"/>
          </a:xfrm>
          <a:prstGeom prst="rect">
            <a:avLst/>
          </a:prstGeom>
        </p:spPr>
      </p:pic>
      <p:pic>
        <p:nvPicPr>
          <p:cNvPr id="77" name="Picture 4">
            <a:extLst>
              <a:ext uri="{FF2B5EF4-FFF2-40B4-BE49-F238E27FC236}">
                <a16:creationId xmlns:a16="http://schemas.microsoft.com/office/drawing/2014/main" id="{D4C1735C-8335-4938-BDF5-00F596C1BE4C}"/>
              </a:ext>
            </a:extLst>
          </p:cNvPr>
          <p:cNvPicPr>
            <a:picLocks noChangeAspect="1"/>
          </p:cNvPicPr>
          <p:nvPr/>
        </p:nvPicPr>
        <p:blipFill rotWithShape="1">
          <a:blip r:embed="rId8">
            <a:extLst>
              <a:ext uri="{28A0092B-C50C-407E-A947-70E740481C1C}">
                <a14:useLocalDpi xmlns:a14="http://schemas.microsoft.com/office/drawing/2010/main" val="0"/>
              </a:ext>
            </a:extLst>
          </a:blip>
          <a:srcRect l="20704" r="59887" b="51906"/>
          <a:stretch/>
        </p:blipFill>
        <p:spPr>
          <a:xfrm>
            <a:off x="6253512" y="2212628"/>
            <a:ext cx="209545" cy="221714"/>
          </a:xfrm>
          <a:prstGeom prst="rect">
            <a:avLst/>
          </a:prstGeom>
        </p:spPr>
      </p:pic>
      <p:pic>
        <p:nvPicPr>
          <p:cNvPr id="78" name="Picture 4">
            <a:extLst>
              <a:ext uri="{FF2B5EF4-FFF2-40B4-BE49-F238E27FC236}">
                <a16:creationId xmlns:a16="http://schemas.microsoft.com/office/drawing/2014/main" id="{EBF085F3-3907-41D0-B541-DA18FBD266A3}"/>
              </a:ext>
            </a:extLst>
          </p:cNvPr>
          <p:cNvPicPr>
            <a:picLocks noChangeAspect="1"/>
          </p:cNvPicPr>
          <p:nvPr/>
        </p:nvPicPr>
        <p:blipFill rotWithShape="1">
          <a:blip r:embed="rId8">
            <a:extLst>
              <a:ext uri="{28A0092B-C50C-407E-A947-70E740481C1C}">
                <a14:useLocalDpi xmlns:a14="http://schemas.microsoft.com/office/drawing/2010/main" val="0"/>
              </a:ext>
            </a:extLst>
          </a:blip>
          <a:srcRect l="20704" r="59887" b="51906"/>
          <a:stretch/>
        </p:blipFill>
        <p:spPr>
          <a:xfrm>
            <a:off x="6177315" y="2439115"/>
            <a:ext cx="209545" cy="221714"/>
          </a:xfrm>
          <a:prstGeom prst="rect">
            <a:avLst/>
          </a:prstGeom>
        </p:spPr>
      </p:pic>
      <p:pic>
        <p:nvPicPr>
          <p:cNvPr id="79" name="Picture 4">
            <a:extLst>
              <a:ext uri="{FF2B5EF4-FFF2-40B4-BE49-F238E27FC236}">
                <a16:creationId xmlns:a16="http://schemas.microsoft.com/office/drawing/2014/main" id="{EE4C5138-F573-49FC-BEC7-8E4098F7DA49}"/>
              </a:ext>
            </a:extLst>
          </p:cNvPr>
          <p:cNvPicPr>
            <a:picLocks noChangeAspect="1"/>
          </p:cNvPicPr>
          <p:nvPr/>
        </p:nvPicPr>
        <p:blipFill rotWithShape="1">
          <a:blip r:embed="rId8">
            <a:extLst>
              <a:ext uri="{28A0092B-C50C-407E-A947-70E740481C1C}">
                <a14:useLocalDpi xmlns:a14="http://schemas.microsoft.com/office/drawing/2010/main" val="0"/>
              </a:ext>
            </a:extLst>
          </a:blip>
          <a:srcRect l="20704" r="59887" b="51906"/>
          <a:stretch/>
        </p:blipFill>
        <p:spPr>
          <a:xfrm>
            <a:off x="6260455" y="2726904"/>
            <a:ext cx="209545" cy="221714"/>
          </a:xfrm>
          <a:prstGeom prst="rect">
            <a:avLst/>
          </a:prstGeom>
        </p:spPr>
      </p:pic>
      <p:pic>
        <p:nvPicPr>
          <p:cNvPr id="80" name="Picture 4">
            <a:extLst>
              <a:ext uri="{FF2B5EF4-FFF2-40B4-BE49-F238E27FC236}">
                <a16:creationId xmlns:a16="http://schemas.microsoft.com/office/drawing/2014/main" id="{F1955757-691A-405B-81BF-CD5111547685}"/>
              </a:ext>
            </a:extLst>
          </p:cNvPr>
          <p:cNvPicPr>
            <a:picLocks noChangeAspect="1"/>
          </p:cNvPicPr>
          <p:nvPr/>
        </p:nvPicPr>
        <p:blipFill rotWithShape="1">
          <a:blip r:embed="rId8">
            <a:extLst>
              <a:ext uri="{28A0092B-C50C-407E-A947-70E740481C1C}">
                <a14:useLocalDpi xmlns:a14="http://schemas.microsoft.com/office/drawing/2010/main" val="0"/>
              </a:ext>
            </a:extLst>
          </a:blip>
          <a:srcRect l="21036" t="3899" r="60738" b="55518"/>
          <a:stretch/>
        </p:blipFill>
        <p:spPr>
          <a:xfrm>
            <a:off x="6681081" y="2396329"/>
            <a:ext cx="196766" cy="187092"/>
          </a:xfrm>
          <a:prstGeom prst="rect">
            <a:avLst/>
          </a:prstGeom>
        </p:spPr>
      </p:pic>
      <p:pic>
        <p:nvPicPr>
          <p:cNvPr id="81" name="Picture 4">
            <a:extLst>
              <a:ext uri="{FF2B5EF4-FFF2-40B4-BE49-F238E27FC236}">
                <a16:creationId xmlns:a16="http://schemas.microsoft.com/office/drawing/2014/main" id="{1A912191-00B3-4F3E-A7B5-21E6364BE4D1}"/>
              </a:ext>
            </a:extLst>
          </p:cNvPr>
          <p:cNvPicPr>
            <a:picLocks noChangeAspect="1"/>
          </p:cNvPicPr>
          <p:nvPr/>
        </p:nvPicPr>
        <p:blipFill rotWithShape="1">
          <a:blip r:embed="rId8">
            <a:extLst>
              <a:ext uri="{28A0092B-C50C-407E-A947-70E740481C1C}">
                <a14:useLocalDpi xmlns:a14="http://schemas.microsoft.com/office/drawing/2010/main" val="0"/>
              </a:ext>
            </a:extLst>
          </a:blip>
          <a:srcRect l="21036" t="3899" r="60738" b="55518"/>
          <a:stretch/>
        </p:blipFill>
        <p:spPr>
          <a:xfrm>
            <a:off x="6824345" y="2756509"/>
            <a:ext cx="196766" cy="187092"/>
          </a:xfrm>
          <a:prstGeom prst="rect">
            <a:avLst/>
          </a:prstGeom>
        </p:spPr>
      </p:pic>
      <p:pic>
        <p:nvPicPr>
          <p:cNvPr id="82" name="Imagen 81">
            <a:extLst>
              <a:ext uri="{FF2B5EF4-FFF2-40B4-BE49-F238E27FC236}">
                <a16:creationId xmlns:a16="http://schemas.microsoft.com/office/drawing/2014/main" id="{16F25FAE-E4E7-47E2-8A6D-4A4AD71A70DC}"/>
              </a:ext>
            </a:extLst>
          </p:cNvPr>
          <p:cNvPicPr>
            <a:picLocks noChangeAspect="1"/>
          </p:cNvPicPr>
          <p:nvPr/>
        </p:nvPicPr>
        <p:blipFill rotWithShape="1">
          <a:blip r:embed="rId9"/>
          <a:srcRect b="1805"/>
          <a:stretch/>
        </p:blipFill>
        <p:spPr>
          <a:xfrm>
            <a:off x="7095798" y="2685645"/>
            <a:ext cx="205672" cy="200124"/>
          </a:xfrm>
          <a:prstGeom prst="rect">
            <a:avLst/>
          </a:prstGeom>
        </p:spPr>
      </p:pic>
      <p:pic>
        <p:nvPicPr>
          <p:cNvPr id="83" name="Imagen 82">
            <a:extLst>
              <a:ext uri="{FF2B5EF4-FFF2-40B4-BE49-F238E27FC236}">
                <a16:creationId xmlns:a16="http://schemas.microsoft.com/office/drawing/2014/main" id="{DF03B170-7FC2-4DE1-B1E2-D99060A88154}"/>
              </a:ext>
            </a:extLst>
          </p:cNvPr>
          <p:cNvPicPr>
            <a:picLocks noChangeAspect="1"/>
          </p:cNvPicPr>
          <p:nvPr/>
        </p:nvPicPr>
        <p:blipFill rotWithShape="1">
          <a:blip r:embed="rId10"/>
          <a:srcRect l="1340" t="3611"/>
          <a:stretch/>
        </p:blipFill>
        <p:spPr>
          <a:xfrm>
            <a:off x="6691998" y="3075307"/>
            <a:ext cx="194122" cy="185617"/>
          </a:xfrm>
          <a:prstGeom prst="rect">
            <a:avLst/>
          </a:prstGeom>
        </p:spPr>
      </p:pic>
      <p:pic>
        <p:nvPicPr>
          <p:cNvPr id="87" name="Imagen 86">
            <a:extLst>
              <a:ext uri="{FF2B5EF4-FFF2-40B4-BE49-F238E27FC236}">
                <a16:creationId xmlns:a16="http://schemas.microsoft.com/office/drawing/2014/main" id="{383E8AED-14D8-4FF6-8F4C-DDAD51FC0781}"/>
              </a:ext>
            </a:extLst>
          </p:cNvPr>
          <p:cNvPicPr>
            <a:picLocks noChangeAspect="1"/>
          </p:cNvPicPr>
          <p:nvPr/>
        </p:nvPicPr>
        <p:blipFill rotWithShape="1">
          <a:blip r:embed="rId10"/>
          <a:srcRect l="1340" t="3611"/>
          <a:stretch/>
        </p:blipFill>
        <p:spPr>
          <a:xfrm>
            <a:off x="6308731" y="3010160"/>
            <a:ext cx="194122" cy="185617"/>
          </a:xfrm>
          <a:prstGeom prst="rect">
            <a:avLst/>
          </a:prstGeom>
        </p:spPr>
      </p:pic>
      <p:pic>
        <p:nvPicPr>
          <p:cNvPr id="88" name="Imagen 87">
            <a:extLst>
              <a:ext uri="{FF2B5EF4-FFF2-40B4-BE49-F238E27FC236}">
                <a16:creationId xmlns:a16="http://schemas.microsoft.com/office/drawing/2014/main" id="{857953F1-4A2E-4BBB-94F8-5448BA6AD7B6}"/>
              </a:ext>
            </a:extLst>
          </p:cNvPr>
          <p:cNvPicPr>
            <a:picLocks noChangeAspect="1"/>
          </p:cNvPicPr>
          <p:nvPr/>
        </p:nvPicPr>
        <p:blipFill rotWithShape="1">
          <a:blip r:embed="rId10"/>
          <a:srcRect l="1340" t="3611"/>
          <a:stretch/>
        </p:blipFill>
        <p:spPr>
          <a:xfrm>
            <a:off x="6219911" y="3257904"/>
            <a:ext cx="194122" cy="185617"/>
          </a:xfrm>
          <a:prstGeom prst="rect">
            <a:avLst/>
          </a:prstGeom>
        </p:spPr>
      </p:pic>
      <p:pic>
        <p:nvPicPr>
          <p:cNvPr id="89" name="Imagen 88">
            <a:extLst>
              <a:ext uri="{FF2B5EF4-FFF2-40B4-BE49-F238E27FC236}">
                <a16:creationId xmlns:a16="http://schemas.microsoft.com/office/drawing/2014/main" id="{B7E48068-FC45-473A-9F57-8B8EF2C807A9}"/>
              </a:ext>
            </a:extLst>
          </p:cNvPr>
          <p:cNvPicPr>
            <a:picLocks noChangeAspect="1"/>
          </p:cNvPicPr>
          <p:nvPr/>
        </p:nvPicPr>
        <p:blipFill rotWithShape="1">
          <a:blip r:embed="rId10"/>
          <a:srcRect l="1340" t="3611"/>
          <a:stretch/>
        </p:blipFill>
        <p:spPr>
          <a:xfrm>
            <a:off x="6519536" y="3194725"/>
            <a:ext cx="194122" cy="185617"/>
          </a:xfrm>
          <a:prstGeom prst="rect">
            <a:avLst/>
          </a:prstGeom>
        </p:spPr>
      </p:pic>
      <p:pic>
        <p:nvPicPr>
          <p:cNvPr id="90" name="Imagen 89">
            <a:extLst>
              <a:ext uri="{FF2B5EF4-FFF2-40B4-BE49-F238E27FC236}">
                <a16:creationId xmlns:a16="http://schemas.microsoft.com/office/drawing/2014/main" id="{BD39D0D2-C9CF-4579-99E6-1DCE46CEB9C2}"/>
              </a:ext>
            </a:extLst>
          </p:cNvPr>
          <p:cNvPicPr>
            <a:picLocks noChangeAspect="1"/>
          </p:cNvPicPr>
          <p:nvPr/>
        </p:nvPicPr>
        <p:blipFill rotWithShape="1">
          <a:blip r:embed="rId10"/>
          <a:srcRect l="1340" t="3611"/>
          <a:stretch/>
        </p:blipFill>
        <p:spPr>
          <a:xfrm>
            <a:off x="6718576" y="3423974"/>
            <a:ext cx="194122" cy="185617"/>
          </a:xfrm>
          <a:prstGeom prst="rect">
            <a:avLst/>
          </a:prstGeom>
        </p:spPr>
      </p:pic>
      <p:pic>
        <p:nvPicPr>
          <p:cNvPr id="91" name="Imagen 90">
            <a:extLst>
              <a:ext uri="{FF2B5EF4-FFF2-40B4-BE49-F238E27FC236}">
                <a16:creationId xmlns:a16="http://schemas.microsoft.com/office/drawing/2014/main" id="{4E015CDD-ABD7-414E-9060-1174E8656BDC}"/>
              </a:ext>
            </a:extLst>
          </p:cNvPr>
          <p:cNvPicPr>
            <a:picLocks noChangeAspect="1"/>
          </p:cNvPicPr>
          <p:nvPr/>
        </p:nvPicPr>
        <p:blipFill rotWithShape="1">
          <a:blip r:embed="rId10"/>
          <a:srcRect l="1340" t="3611"/>
          <a:stretch/>
        </p:blipFill>
        <p:spPr>
          <a:xfrm>
            <a:off x="6429150" y="3769045"/>
            <a:ext cx="194122" cy="185617"/>
          </a:xfrm>
          <a:prstGeom prst="rect">
            <a:avLst/>
          </a:prstGeom>
        </p:spPr>
      </p:pic>
      <p:pic>
        <p:nvPicPr>
          <p:cNvPr id="92" name="Imagen 91">
            <a:extLst>
              <a:ext uri="{FF2B5EF4-FFF2-40B4-BE49-F238E27FC236}">
                <a16:creationId xmlns:a16="http://schemas.microsoft.com/office/drawing/2014/main" id="{E85DF9C1-810B-4CBD-A571-1D3A84DC54F8}"/>
              </a:ext>
            </a:extLst>
          </p:cNvPr>
          <p:cNvPicPr>
            <a:picLocks noChangeAspect="1"/>
          </p:cNvPicPr>
          <p:nvPr/>
        </p:nvPicPr>
        <p:blipFill rotWithShape="1">
          <a:blip r:embed="rId10"/>
          <a:srcRect l="1340" t="3611"/>
          <a:stretch/>
        </p:blipFill>
        <p:spPr>
          <a:xfrm>
            <a:off x="6259273" y="3550980"/>
            <a:ext cx="194122" cy="185617"/>
          </a:xfrm>
          <a:prstGeom prst="rect">
            <a:avLst/>
          </a:prstGeom>
        </p:spPr>
      </p:pic>
      <p:sp>
        <p:nvSpPr>
          <p:cNvPr id="84" name="Trapezoid 10">
            <a:extLst>
              <a:ext uri="{FF2B5EF4-FFF2-40B4-BE49-F238E27FC236}">
                <a16:creationId xmlns:a16="http://schemas.microsoft.com/office/drawing/2014/main" id="{8FB8083F-439F-498E-AA81-4B2F6F076C5F}"/>
              </a:ext>
            </a:extLst>
          </p:cNvPr>
          <p:cNvSpPr/>
          <p:nvPr/>
        </p:nvSpPr>
        <p:spPr>
          <a:xfrm rot="5400000" flipV="1">
            <a:off x="8792250" y="3031998"/>
            <a:ext cx="2146430" cy="917619"/>
          </a:xfrm>
          <a:prstGeom prst="trapezoid">
            <a:avLst/>
          </a:prstGeom>
          <a:solidFill>
            <a:schemeClr val="tx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lumMod val="75000"/>
                    <a:lumOff val="25000"/>
                  </a:schemeClr>
                </a:solidFill>
              </a:rPr>
              <a:t>DECODER</a:t>
            </a:r>
          </a:p>
        </p:txBody>
      </p:sp>
      <p:sp>
        <p:nvSpPr>
          <p:cNvPr id="85" name="Trapezoid 10">
            <a:extLst>
              <a:ext uri="{FF2B5EF4-FFF2-40B4-BE49-F238E27FC236}">
                <a16:creationId xmlns:a16="http://schemas.microsoft.com/office/drawing/2014/main" id="{642CC940-2DB2-46FE-A90F-E6E40F75F0AD}"/>
              </a:ext>
            </a:extLst>
          </p:cNvPr>
          <p:cNvSpPr/>
          <p:nvPr/>
        </p:nvSpPr>
        <p:spPr>
          <a:xfrm rot="16200000" flipH="1" flipV="1">
            <a:off x="1228782" y="3033606"/>
            <a:ext cx="2146430" cy="914401"/>
          </a:xfrm>
          <a:prstGeom prst="trapezoid">
            <a:avLst/>
          </a:prstGeom>
          <a:solidFill>
            <a:schemeClr val="tx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lumMod val="75000"/>
                    <a:lumOff val="25000"/>
                  </a:schemeClr>
                </a:solidFill>
              </a:rPr>
              <a:t>ENCODER</a:t>
            </a:r>
          </a:p>
        </p:txBody>
      </p:sp>
      <p:sp>
        <p:nvSpPr>
          <p:cNvPr id="3" name="Slide Number Placeholder 2"/>
          <p:cNvSpPr>
            <a:spLocks noGrp="1"/>
          </p:cNvSpPr>
          <p:nvPr>
            <p:ph type="sldNum" sz="quarter" idx="12"/>
          </p:nvPr>
        </p:nvSpPr>
        <p:spPr/>
        <p:txBody>
          <a:bodyPr/>
          <a:lstStyle/>
          <a:p>
            <a:fld id="{81B7CCDB-6D39-0547-B7B3-C80E39D6513A}" type="slidenum">
              <a:rPr lang="en-US" smtClean="0"/>
              <a:pPr/>
              <a:t>53</a:t>
            </a:fld>
            <a:endParaRPr lang="en-US"/>
          </a:p>
        </p:txBody>
      </p:sp>
    </p:spTree>
    <p:extLst>
      <p:ext uri="{BB962C8B-B14F-4D97-AF65-F5344CB8AC3E}">
        <p14:creationId xmlns:p14="http://schemas.microsoft.com/office/powerpoint/2010/main" val="361348636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 to the optimization problem</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85000" lnSpcReduction="20000"/>
              </a:bodyPr>
              <a:lstStyle/>
              <a:p>
                <a:r>
                  <a:rPr lang="en-US" dirty="0"/>
                  <a:t>Lets substitute our intractable optimization problem:</a:t>
                </a:r>
              </a:p>
              <a:p>
                <a:endParaRPr lang="en-US" sz="1500" dirty="0"/>
              </a:p>
              <a:p>
                <a:pPr marL="0" indent="0">
                  <a:buNone/>
                </a:pPr>
                <a14:m>
                  <m:oMathPara xmlns:m="http://schemas.openxmlformats.org/officeDocument/2006/math">
                    <m:oMathParaPr>
                      <m:jc m:val="centerGroup"/>
                    </m:oMathParaPr>
                    <m:oMath xmlns:m="http://schemas.openxmlformats.org/officeDocument/2006/math">
                      <m:func>
                        <m:funcPr>
                          <m:ctrlPr>
                            <a:rPr lang="en-US" sz="3200" i="1">
                              <a:latin typeface="Cambria Math" panose="02040503050406030204" pitchFamily="18" charset="0"/>
                            </a:rPr>
                          </m:ctrlPr>
                        </m:funcPr>
                        <m:fName>
                          <m:limLow>
                            <m:limLowPr>
                              <m:ctrlPr>
                                <a:rPr lang="en-US" sz="3200" i="1">
                                  <a:latin typeface="Cambria Math" panose="02040503050406030204" pitchFamily="18" charset="0"/>
                                </a:rPr>
                              </m:ctrlPr>
                            </m:limLowPr>
                            <m:e>
                              <m:r>
                                <m:rPr>
                                  <m:sty m:val="p"/>
                                </m:rPr>
                                <a:rPr lang="en-US" sz="3200">
                                  <a:latin typeface="Cambria Math" panose="02040503050406030204" pitchFamily="18" charset="0"/>
                                </a:rPr>
                                <m:t>max</m:t>
                              </m:r>
                            </m:e>
                            <m:lim>
                              <m:r>
                                <a:rPr lang="en-US" sz="3200" i="1">
                                  <a:latin typeface="Cambria Math" panose="02040503050406030204" pitchFamily="18" charset="0"/>
                                </a:rPr>
                                <m:t>𝜃</m:t>
                              </m:r>
                            </m:lim>
                          </m:limLow>
                        </m:fName>
                        <m:e>
                          <m:sSub>
                            <m:sSubPr>
                              <m:ctrlPr>
                                <a:rPr lang="en-US" sz="3200" i="1">
                                  <a:latin typeface="Cambria Math" panose="02040503050406030204" pitchFamily="18" charset="0"/>
                                </a:rPr>
                              </m:ctrlPr>
                            </m:sSubPr>
                            <m:e>
                              <m:r>
                                <a:rPr lang="en-US" sz="3200" i="1">
                                  <a:latin typeface="Cambria Math" panose="02040503050406030204" pitchFamily="18" charset="0"/>
                                </a:rPr>
                                <m:t>𝑝</m:t>
                              </m:r>
                            </m:e>
                            <m:sub>
                              <m:r>
                                <a:rPr lang="en-US" sz="3200" i="1">
                                  <a:latin typeface="Cambria Math" panose="02040503050406030204" pitchFamily="18" charset="0"/>
                                </a:rPr>
                                <m:t>𝜃</m:t>
                              </m:r>
                            </m:sub>
                          </m:sSub>
                          <m:d>
                            <m:dPr>
                              <m:ctrlPr>
                                <a:rPr lang="en-US" sz="3200" i="1">
                                  <a:latin typeface="Cambria Math" panose="02040503050406030204" pitchFamily="18" charset="0"/>
                                </a:rPr>
                              </m:ctrlPr>
                            </m:dPr>
                            <m:e>
                              <m:r>
                                <a:rPr lang="en-US" sz="3200" i="1">
                                  <a:latin typeface="Cambria Math" panose="02040503050406030204" pitchFamily="18" charset="0"/>
                                </a:rPr>
                                <m:t>𝑥</m:t>
                              </m:r>
                            </m:e>
                          </m:d>
                          <m:r>
                            <a:rPr lang="en-US" sz="3200" i="1">
                              <a:latin typeface="Cambria Math" panose="02040503050406030204" pitchFamily="18" charset="0"/>
                            </a:rPr>
                            <m:t>=</m:t>
                          </m:r>
                        </m:e>
                      </m:func>
                      <m:func>
                        <m:funcPr>
                          <m:ctrlPr>
                            <a:rPr lang="en-US" sz="3200" i="1">
                              <a:latin typeface="Cambria Math" panose="02040503050406030204" pitchFamily="18" charset="0"/>
                            </a:rPr>
                          </m:ctrlPr>
                        </m:funcPr>
                        <m:fName>
                          <m:limLow>
                            <m:limLowPr>
                              <m:ctrlPr>
                                <a:rPr lang="en-US" sz="3200" i="1">
                                  <a:latin typeface="Cambria Math" panose="02040503050406030204" pitchFamily="18" charset="0"/>
                                </a:rPr>
                              </m:ctrlPr>
                            </m:limLowPr>
                            <m:e>
                              <m:r>
                                <m:rPr>
                                  <m:sty m:val="p"/>
                                </m:rPr>
                                <a:rPr lang="en-US" sz="3200">
                                  <a:latin typeface="Cambria Math" panose="02040503050406030204" pitchFamily="18" charset="0"/>
                                </a:rPr>
                                <m:t>max</m:t>
                              </m:r>
                            </m:e>
                            <m:lim>
                              <m:r>
                                <a:rPr lang="en-US" sz="3200" i="1">
                                  <a:latin typeface="Cambria Math" panose="02040503050406030204" pitchFamily="18" charset="0"/>
                                </a:rPr>
                                <m:t>𝜃</m:t>
                              </m:r>
                            </m:lim>
                          </m:limLow>
                        </m:fName>
                        <m:e>
                          <m:nary>
                            <m:naryPr>
                              <m:subHide m:val="on"/>
                              <m:supHide m:val="on"/>
                              <m:ctrlPr>
                                <a:rPr lang="en-US" sz="3200" i="1">
                                  <a:latin typeface="Cambria Math" panose="02040503050406030204" pitchFamily="18" charset="0"/>
                                </a:rPr>
                              </m:ctrlPr>
                            </m:naryPr>
                            <m:sub/>
                            <m:sup/>
                            <m:e>
                              <m:sSub>
                                <m:sSubPr>
                                  <m:ctrlPr>
                                    <a:rPr lang="en-US" sz="3200" i="1">
                                      <a:latin typeface="Cambria Math" panose="02040503050406030204" pitchFamily="18" charset="0"/>
                                    </a:rPr>
                                  </m:ctrlPr>
                                </m:sSubPr>
                                <m:e>
                                  <m:r>
                                    <a:rPr lang="en-US" sz="3200" i="1">
                                      <a:latin typeface="Cambria Math" panose="02040503050406030204" pitchFamily="18" charset="0"/>
                                    </a:rPr>
                                    <m:t> </m:t>
                                  </m:r>
                                  <m:r>
                                    <a:rPr lang="en-US" sz="3200" i="1">
                                      <a:latin typeface="Cambria Math" panose="02040503050406030204" pitchFamily="18" charset="0"/>
                                    </a:rPr>
                                    <m:t>𝑝</m:t>
                                  </m:r>
                                </m:e>
                                <m:sub>
                                  <m:r>
                                    <a:rPr lang="en-US" sz="3200" i="1">
                                      <a:latin typeface="Cambria Math" panose="02040503050406030204" pitchFamily="18" charset="0"/>
                                    </a:rPr>
                                    <m:t>𝜃</m:t>
                                  </m:r>
                                </m:sub>
                              </m:sSub>
                              <m:d>
                                <m:dPr>
                                  <m:sepChr m:val="∣"/>
                                  <m:ctrlPr>
                                    <a:rPr lang="en-US" sz="3200" i="1">
                                      <a:latin typeface="Cambria Math" panose="02040503050406030204" pitchFamily="18" charset="0"/>
                                    </a:rPr>
                                  </m:ctrlPr>
                                </m:dPr>
                                <m:e>
                                  <m:r>
                                    <a:rPr lang="en-US" sz="3200" i="1">
                                      <a:latin typeface="Cambria Math" panose="02040503050406030204" pitchFamily="18" charset="0"/>
                                    </a:rPr>
                                    <m:t>𝑥</m:t>
                                  </m:r>
                                </m:e>
                                <m:e>
                                  <m:r>
                                    <a:rPr lang="en-US" sz="3200" i="1">
                                      <a:latin typeface="Cambria Math" panose="02040503050406030204" pitchFamily="18" charset="0"/>
                                    </a:rPr>
                                    <m:t>𝑧</m:t>
                                  </m:r>
                                </m:e>
                              </m:d>
                              <m:r>
                                <a:rPr lang="en-US" sz="3200" i="1">
                                  <a:latin typeface="Cambria Math" panose="02040503050406030204" pitchFamily="18" charset="0"/>
                                </a:rPr>
                                <m:t>𝑝</m:t>
                              </m:r>
                              <m:d>
                                <m:dPr>
                                  <m:ctrlPr>
                                    <a:rPr lang="en-US" sz="3200" i="1">
                                      <a:latin typeface="Cambria Math" panose="02040503050406030204" pitchFamily="18" charset="0"/>
                                    </a:rPr>
                                  </m:ctrlPr>
                                </m:dPr>
                                <m:e>
                                  <m:r>
                                    <a:rPr lang="en-US" sz="3200" i="1">
                                      <a:latin typeface="Cambria Math" panose="02040503050406030204" pitchFamily="18" charset="0"/>
                                    </a:rPr>
                                    <m:t>𝑧</m:t>
                                  </m:r>
                                </m:e>
                              </m:d>
                              <m:r>
                                <a:rPr lang="en-US" sz="3200" i="1">
                                  <a:latin typeface="Cambria Math" panose="02040503050406030204" pitchFamily="18" charset="0"/>
                                </a:rPr>
                                <m:t>𝑑𝑧</m:t>
                              </m:r>
                            </m:e>
                          </m:nary>
                        </m:e>
                      </m:func>
                    </m:oMath>
                  </m:oMathPara>
                </a14:m>
                <a:endParaRPr lang="en-US" sz="3200" dirty="0"/>
              </a:p>
              <a:p>
                <a:endParaRPr lang="en-US" sz="1700" dirty="0"/>
              </a:p>
              <a:p>
                <a:r>
                  <a:rPr lang="en-US" dirty="0"/>
                  <a:t>With a variational optimization problem:</a:t>
                </a:r>
              </a:p>
              <a:p>
                <a:pPr marL="0" indent="0">
                  <a:buNone/>
                </a:pPr>
                <a:endParaRPr lang="en-US" sz="170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unc>
                        <m:funcPr>
                          <m:ctrlPr>
                            <a:rPr lang="en-US" sz="3200" i="1">
                              <a:latin typeface="Cambria Math" panose="02040503050406030204" pitchFamily="18" charset="0"/>
                            </a:rPr>
                          </m:ctrlPr>
                        </m:funcPr>
                        <m:fName>
                          <m:limLow>
                            <m:limLowPr>
                              <m:ctrlPr>
                                <a:rPr lang="en-US" sz="3200" i="1">
                                  <a:latin typeface="Cambria Math" panose="02040503050406030204" pitchFamily="18" charset="0"/>
                                </a:rPr>
                              </m:ctrlPr>
                            </m:limLowPr>
                            <m:e>
                              <m:r>
                                <m:rPr>
                                  <m:sty m:val="p"/>
                                </m:rPr>
                                <a:rPr lang="en-US" sz="3200" b="0" i="0" smtClean="0">
                                  <a:latin typeface="Cambria Math" panose="02040503050406030204" pitchFamily="18" charset="0"/>
                                </a:rPr>
                                <m:t>min</m:t>
                              </m:r>
                            </m:e>
                            <m:lim>
                              <m:r>
                                <a:rPr lang="en-US" sz="3200" b="0" i="1" smtClean="0">
                                  <a:latin typeface="Cambria Math" panose="02040503050406030204" pitchFamily="18" charset="0"/>
                                </a:rPr>
                                <m:t>𝜙</m:t>
                              </m:r>
                            </m:lim>
                          </m:limLow>
                        </m:fName>
                        <m:e>
                          <m:r>
                            <a:rPr lang="en-US" sz="3200" b="0" i="1" smtClean="0">
                              <a:latin typeface="Cambria Math" panose="02040503050406030204" pitchFamily="18" charset="0"/>
                            </a:rPr>
                            <m:t>𝐾𝐿</m:t>
                          </m:r>
                          <m:d>
                            <m:dPr>
                              <m:begChr m:val="["/>
                              <m:endChr m:val="]"/>
                              <m:ctrlPr>
                                <a:rPr lang="en-US" sz="3200" b="0" i="1" smtClean="0">
                                  <a:latin typeface="Cambria Math" panose="02040503050406030204" pitchFamily="18" charset="0"/>
                                </a:rPr>
                              </m:ctrlPr>
                            </m:dPr>
                            <m:e>
                              <m:sSub>
                                <m:sSubPr>
                                  <m:ctrlPr>
                                    <a:rPr lang="en-US" sz="3200" i="1">
                                      <a:latin typeface="Cambria Math" panose="02040503050406030204" pitchFamily="18" charset="0"/>
                                    </a:rPr>
                                  </m:ctrlPr>
                                </m:sSubPr>
                                <m:e>
                                  <m:r>
                                    <a:rPr lang="en-US" sz="3200" i="1">
                                      <a:latin typeface="Cambria Math" panose="02040503050406030204" pitchFamily="18" charset="0"/>
                                    </a:rPr>
                                    <m:t>𝑞</m:t>
                                  </m:r>
                                </m:e>
                                <m:sub>
                                  <m:r>
                                    <a:rPr lang="en-US" sz="3200" i="1">
                                      <a:latin typeface="Cambria Math" panose="02040503050406030204" pitchFamily="18" charset="0"/>
                                    </a:rPr>
                                    <m:t>𝜙</m:t>
                                  </m:r>
                                </m:sub>
                              </m:sSub>
                              <m:d>
                                <m:dPr>
                                  <m:ctrlPr>
                                    <a:rPr lang="en-US" sz="3200" i="1">
                                      <a:latin typeface="Cambria Math" panose="02040503050406030204" pitchFamily="18" charset="0"/>
                                    </a:rPr>
                                  </m:ctrlPr>
                                </m:dPr>
                                <m:e>
                                  <m:r>
                                    <a:rPr lang="en-US" sz="3200" i="1">
                                      <a:latin typeface="Cambria Math" panose="02040503050406030204" pitchFamily="18" charset="0"/>
                                    </a:rPr>
                                    <m:t>𝑧</m:t>
                                  </m:r>
                                </m:e>
                                <m:e>
                                  <m:r>
                                    <a:rPr lang="en-US" sz="3200" i="1">
                                      <a:latin typeface="Cambria Math" panose="02040503050406030204" pitchFamily="18" charset="0"/>
                                    </a:rPr>
                                    <m:t>𝑥</m:t>
                                  </m:r>
                                </m:e>
                              </m:d>
                              <m:r>
                                <a:rPr lang="en-US" sz="3200" b="0" i="1" smtClean="0">
                                  <a:latin typeface="Cambria Math" panose="02040503050406030204" pitchFamily="18" charset="0"/>
                                </a:rPr>
                                <m:t>||</m:t>
                              </m:r>
                              <m:r>
                                <a:rPr lang="en-US" sz="3200" b="0" i="1" smtClean="0">
                                  <a:latin typeface="Cambria Math" panose="02040503050406030204" pitchFamily="18" charset="0"/>
                                </a:rPr>
                                <m:t>𝑝</m:t>
                              </m:r>
                              <m:r>
                                <a:rPr lang="en-US" sz="3200" i="1">
                                  <a:latin typeface="Cambria Math" panose="02040503050406030204" pitchFamily="18" charset="0"/>
                                </a:rPr>
                                <m:t>(</m:t>
                              </m:r>
                              <m:r>
                                <a:rPr lang="en-US" sz="3200" i="1">
                                  <a:latin typeface="Cambria Math" panose="02040503050406030204" pitchFamily="18" charset="0"/>
                                </a:rPr>
                                <m:t>𝑧</m:t>
                              </m:r>
                              <m:r>
                                <a:rPr lang="en-US" sz="3200" i="1">
                                  <a:latin typeface="Cambria Math" panose="02040503050406030204" pitchFamily="18" charset="0"/>
                                </a:rPr>
                                <m:t>|</m:t>
                              </m:r>
                              <m:r>
                                <a:rPr lang="en-US" sz="3200" i="1">
                                  <a:latin typeface="Cambria Math" panose="02040503050406030204" pitchFamily="18" charset="0"/>
                                </a:rPr>
                                <m:t>𝑥</m:t>
                              </m:r>
                              <m:r>
                                <a:rPr lang="en-US" sz="3200" i="1">
                                  <a:latin typeface="Cambria Math" panose="02040503050406030204" pitchFamily="18" charset="0"/>
                                </a:rPr>
                                <m:t>)</m:t>
                              </m:r>
                            </m:e>
                          </m:d>
                        </m:e>
                      </m:func>
                    </m:oMath>
                  </m:oMathPara>
                </a14:m>
                <a:endParaRPr lang="en-US" sz="3200" dirty="0"/>
              </a:p>
              <a:p>
                <a:endParaRPr lang="en-US" sz="1600" dirty="0"/>
              </a:p>
              <a:p>
                <a:r>
                  <a:rPr lang="en-US" dirty="0"/>
                  <a:t>Our goal is to find the closest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𝜙</m:t>
                        </m:r>
                      </m:sub>
                    </m:sSub>
                  </m:oMath>
                </a14:m>
                <a:r>
                  <a:rPr lang="en-US" dirty="0"/>
                  <a:t> in </a:t>
                </a:r>
                <a14:m>
                  <m:oMath xmlns:m="http://schemas.openxmlformats.org/officeDocument/2006/math">
                    <m:r>
                      <a:rPr lang="en-US" i="1">
                        <a:latin typeface="Cambria Math" panose="02040503050406030204" pitchFamily="18" charset="0"/>
                      </a:rPr>
                      <m:t>𝐾𝐿</m:t>
                    </m:r>
                  </m:oMath>
                </a14:m>
                <a:r>
                  <a:rPr lang="en-US" dirty="0"/>
                  <a:t> divergence to the exact conditional</a:t>
                </a:r>
              </a:p>
              <a:p>
                <a:endParaRPr lang="en-US" dirty="0"/>
              </a:p>
              <a:p>
                <a:r>
                  <a:rPr lang="en-US" dirty="0"/>
                  <a:t>Does this transition really help us?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812" t="-3221" b="-2521"/>
                </a:stretch>
              </a:blipFill>
            </p:spPr>
            <p:txBody>
              <a:bodyPr/>
              <a:lstStyle/>
              <a:p>
                <a:r>
                  <a:rPr lang="he-IL">
                    <a:noFill/>
                  </a:rPr>
                  <a:t> </a:t>
                </a:r>
              </a:p>
            </p:txBody>
          </p:sp>
        </mc:Fallback>
      </mc:AlternateContent>
    </p:spTree>
    <p:extLst>
      <p:ext uri="{BB962C8B-B14F-4D97-AF65-F5344CB8AC3E}">
        <p14:creationId xmlns:p14="http://schemas.microsoft.com/office/powerpoint/2010/main" val="118592553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825625"/>
                <a:ext cx="10515600" cy="4559935"/>
              </a:xfrm>
            </p:spPr>
            <p:txBody>
              <a:bodyPr>
                <a:normAutofit fontScale="92500" lnSpcReduction="10000"/>
              </a:bodyPr>
              <a:lstStyle/>
              <a:p>
                <a:pPr marL="0" inden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𝐾</m:t>
                      </m:r>
                      <m:r>
                        <a:rPr lang="en-US" i="1">
                          <a:latin typeface="Cambria Math" panose="02040503050406030204" pitchFamily="18" charset="0"/>
                        </a:rPr>
                        <m:t>𝐿</m:t>
                      </m:r>
                      <m:r>
                        <a:rPr lang="en-US" i="1">
                          <a:latin typeface="Cambria Math" panose="02040503050406030204" pitchFamily="18" charset="0"/>
                        </a:rPr>
                        <m:t>(</m:t>
                      </m:r>
                      <m:r>
                        <a:rPr lang="en-US" i="1">
                          <a:latin typeface="Cambria Math" panose="02040503050406030204" pitchFamily="18" charset="0"/>
                        </a:rPr>
                        <m:t>𝑞</m:t>
                      </m:r>
                      <m:r>
                        <a:rPr lang="en-US" i="1">
                          <a:latin typeface="Cambria Math" panose="02040503050406030204" pitchFamily="18" charset="0"/>
                        </a:rPr>
                        <m:t>(</m:t>
                      </m:r>
                      <m:r>
                        <a:rPr lang="en-US" i="1">
                          <a:latin typeface="Cambria Math" panose="02040503050406030204" pitchFamily="18" charset="0"/>
                        </a:rPr>
                        <m:t>𝑧</m:t>
                      </m:r>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d>
                        <m:dPr>
                          <m:begChr m:val="|"/>
                          <m:ctrlPr>
                            <a:rPr lang="en-US" i="1">
                              <a:latin typeface="Cambria Math" panose="02040503050406030204" pitchFamily="18" charset="0"/>
                            </a:rPr>
                          </m:ctrlPr>
                        </m:dPr>
                        <m:e>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i="1">
                                  <a:latin typeface="Cambria Math" panose="02040503050406030204" pitchFamily="18" charset="0"/>
                                </a:rPr>
                                <m:t>𝑧</m:t>
                              </m:r>
                            </m:e>
                            <m:e>
                              <m:r>
                                <a:rPr lang="en-US" i="1">
                                  <a:latin typeface="Cambria Math" panose="02040503050406030204" pitchFamily="18" charset="0"/>
                                </a:rPr>
                                <m:t>𝑥</m:t>
                              </m:r>
                            </m:e>
                          </m:d>
                        </m:e>
                      </m:d>
                      <m:r>
                        <a:rPr lang="en-US" b="0" i="1" smtClean="0">
                          <a:latin typeface="Cambria Math" panose="02040503050406030204" pitchFamily="18" charset="0"/>
                        </a:rPr>
                        <m:t>=</m:t>
                      </m:r>
                      <m:nary>
                        <m:naryPr>
                          <m:subHide m:val="on"/>
                          <m:supHide m:val="on"/>
                          <m:ctrlPr>
                            <a:rPr lang="en-US" b="0" i="1" smtClean="0">
                              <a:latin typeface="Cambria Math" panose="02040503050406030204" pitchFamily="18" charset="0"/>
                            </a:rPr>
                          </m:ctrlPr>
                        </m:naryPr>
                        <m:sub/>
                        <m:sup/>
                        <m:e>
                          <m:r>
                            <a:rPr lang="en-US" i="1">
                              <a:latin typeface="Cambria Math" panose="02040503050406030204" pitchFamily="18" charset="0"/>
                            </a:rPr>
                            <m:t>𝑞</m:t>
                          </m:r>
                          <m:d>
                            <m:dPr>
                              <m:ctrlPr>
                                <a:rPr lang="en-US" i="1">
                                  <a:latin typeface="Cambria Math" panose="02040503050406030204" pitchFamily="18" charset="0"/>
                                </a:rPr>
                              </m:ctrlPr>
                            </m:dPr>
                            <m:e>
                              <m:r>
                                <a:rPr lang="en-US" i="1">
                                  <a:latin typeface="Cambria Math" panose="02040503050406030204" pitchFamily="18" charset="0"/>
                                </a:rPr>
                                <m:t>𝑧</m:t>
                              </m:r>
                            </m:e>
                            <m:e>
                              <m:r>
                                <a:rPr lang="en-US" i="1">
                                  <a:latin typeface="Cambria Math" panose="02040503050406030204" pitchFamily="18" charset="0"/>
                                </a:rPr>
                                <m:t>𝑥</m:t>
                              </m:r>
                            </m:e>
                          </m:d>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f>
                                <m:fPr>
                                  <m:ctrlPr>
                                    <a:rPr lang="en-US" i="1">
                                      <a:latin typeface="Cambria Math" panose="02040503050406030204" pitchFamily="18" charset="0"/>
                                    </a:rPr>
                                  </m:ctrlPr>
                                </m:fPr>
                                <m:num>
                                  <m:r>
                                    <a:rPr lang="en-US" i="1">
                                      <a:latin typeface="Cambria Math" panose="02040503050406030204" pitchFamily="18" charset="0"/>
                                    </a:rPr>
                                    <m:t>𝑞</m:t>
                                  </m:r>
                                  <m:d>
                                    <m:dPr>
                                      <m:ctrlPr>
                                        <a:rPr lang="en-US" i="1">
                                          <a:latin typeface="Cambria Math" panose="02040503050406030204" pitchFamily="18" charset="0"/>
                                        </a:rPr>
                                      </m:ctrlPr>
                                    </m:dPr>
                                    <m:e>
                                      <m:r>
                                        <a:rPr lang="en-US" i="1">
                                          <a:latin typeface="Cambria Math" panose="02040503050406030204" pitchFamily="18" charset="0"/>
                                        </a:rPr>
                                        <m:t>𝑧</m:t>
                                      </m:r>
                                    </m:e>
                                    <m:e>
                                      <m:r>
                                        <a:rPr lang="en-US" i="1">
                                          <a:latin typeface="Cambria Math" panose="02040503050406030204" pitchFamily="18" charset="0"/>
                                        </a:rPr>
                                        <m:t>𝑥</m:t>
                                      </m:r>
                                    </m:e>
                                  </m:d>
                                </m:num>
                                <m:den>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i="1">
                                          <a:latin typeface="Cambria Math" panose="02040503050406030204" pitchFamily="18" charset="0"/>
                                        </a:rPr>
                                        <m:t>𝑧</m:t>
                                      </m:r>
                                    </m:e>
                                    <m:e>
                                      <m:r>
                                        <a:rPr lang="en-US" i="1">
                                          <a:latin typeface="Cambria Math" panose="02040503050406030204" pitchFamily="18" charset="0"/>
                                        </a:rPr>
                                        <m:t>𝑥</m:t>
                                      </m:r>
                                    </m:e>
                                  </m:d>
                                </m:den>
                              </m:f>
                            </m:e>
                          </m:func>
                        </m:e>
                      </m:nary>
                    </m:oMath>
                  </m:oMathPara>
                </a14:m>
                <a:endParaRPr lang="en-US" dirty="0"/>
              </a:p>
              <a:p>
                <a:pPr marL="0" indent="0">
                  <a:buNone/>
                </a:pPr>
                <a:endParaRPr lang="en-US" sz="1400"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nary>
                        <m:naryPr>
                          <m:subHide m:val="on"/>
                          <m:supHide m:val="on"/>
                          <m:ctrlPr>
                            <a:rPr lang="en-US" b="0" i="1" smtClean="0">
                              <a:latin typeface="Cambria Math" panose="02040503050406030204" pitchFamily="18" charset="0"/>
                            </a:rPr>
                          </m:ctrlPr>
                        </m:naryPr>
                        <m:sub/>
                        <m:sup/>
                        <m:e>
                          <m:r>
                            <a:rPr lang="en-US" b="0" i="1" smtClean="0">
                              <a:latin typeface="Cambria Math" panose="02040503050406030204" pitchFamily="18" charset="0"/>
                            </a:rPr>
                            <m:t>𝑞</m:t>
                          </m:r>
                          <m:r>
                            <a:rPr lang="en-US" b="0" i="1" smtClean="0">
                              <a:latin typeface="Cambria Math" panose="02040503050406030204" pitchFamily="18" charset="0"/>
                            </a:rPr>
                            <m:t>(</m:t>
                          </m:r>
                          <m:r>
                            <a:rPr lang="en-US" b="0" i="1" smtClean="0">
                              <a:latin typeface="Cambria Math" panose="02040503050406030204" pitchFamily="18" charset="0"/>
                            </a:rPr>
                            <m:t>𝑧</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e>
                      </m:nary>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f>
                            <m:fPr>
                              <m:ctrlPr>
                                <a:rPr lang="en-US" b="0" i="1" smtClean="0">
                                  <a:latin typeface="Cambria Math" panose="02040503050406030204" pitchFamily="18" charset="0"/>
                                </a:rPr>
                              </m:ctrlPr>
                            </m:fPr>
                            <m:num>
                              <m:r>
                                <a:rPr lang="en-US" i="1">
                                  <a:latin typeface="Cambria Math" panose="02040503050406030204" pitchFamily="18" charset="0"/>
                                </a:rPr>
                                <m:t>𝑞</m:t>
                              </m:r>
                              <m:d>
                                <m:dPr>
                                  <m:ctrlPr>
                                    <a:rPr lang="en-US" i="1">
                                      <a:latin typeface="Cambria Math" panose="02040503050406030204" pitchFamily="18" charset="0"/>
                                    </a:rPr>
                                  </m:ctrlPr>
                                </m:dPr>
                                <m:e>
                                  <m:r>
                                    <a:rPr lang="en-US" i="1">
                                      <a:latin typeface="Cambria Math" panose="02040503050406030204" pitchFamily="18" charset="0"/>
                                    </a:rPr>
                                    <m:t>𝑧</m:t>
                                  </m:r>
                                </m:e>
                                <m:e>
                                  <m:r>
                                    <a:rPr lang="en-US" i="1">
                                      <a:latin typeface="Cambria Math" panose="02040503050406030204" pitchFamily="18" charset="0"/>
                                    </a:rPr>
                                    <m:t>𝑥</m:t>
                                  </m:r>
                                </m:e>
                              </m:d>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num>
                            <m:den>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𝑧</m:t>
                              </m:r>
                              <m:r>
                                <a:rPr lang="en-US" b="0" i="1" smtClean="0">
                                  <a:latin typeface="Cambria Math" panose="02040503050406030204" pitchFamily="18" charset="0"/>
                                </a:rPr>
                                <m:t>)</m:t>
                              </m:r>
                            </m:den>
                          </m:f>
                          <m:r>
                            <a:rPr lang="en-US" b="0" i="1" smtClean="0">
                              <a:latin typeface="Cambria Math" panose="02040503050406030204" pitchFamily="18" charset="0"/>
                            </a:rPr>
                            <m:t>𝑑𝑧</m:t>
                          </m:r>
                        </m:e>
                      </m:func>
                    </m:oMath>
                  </m:oMathPara>
                </a14:m>
                <a:endParaRPr lang="he-IL" dirty="0"/>
              </a:p>
              <a:p>
                <a:pPr marL="0" indent="0">
                  <a:buNone/>
                </a:pPr>
                <a:endParaRPr lang="en-US" sz="1400"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nary>
                        <m:naryPr>
                          <m:subHide m:val="on"/>
                          <m:supHide m:val="on"/>
                          <m:ctrlPr>
                            <a:rPr lang="en-US" b="0" i="1" smtClean="0">
                              <a:latin typeface="Cambria Math" panose="02040503050406030204" pitchFamily="18" charset="0"/>
                            </a:rPr>
                          </m:ctrlPr>
                        </m:naryPr>
                        <m:sub/>
                        <m:sup/>
                        <m:e>
                          <m:r>
                            <a:rPr lang="en-US" i="1">
                              <a:latin typeface="Cambria Math" panose="02040503050406030204" pitchFamily="18" charset="0"/>
                            </a:rPr>
                            <m:t>𝑞</m:t>
                          </m:r>
                          <m:d>
                            <m:dPr>
                              <m:ctrlPr>
                                <a:rPr lang="en-US" i="1">
                                  <a:latin typeface="Cambria Math" panose="02040503050406030204" pitchFamily="18" charset="0"/>
                                </a:rPr>
                              </m:ctrlPr>
                            </m:dPr>
                            <m:e>
                              <m:r>
                                <a:rPr lang="en-US" i="1">
                                  <a:latin typeface="Cambria Math" panose="02040503050406030204" pitchFamily="18" charset="0"/>
                                </a:rPr>
                                <m:t>𝑧</m:t>
                              </m:r>
                            </m:e>
                            <m:e>
                              <m:r>
                                <a:rPr lang="en-US" i="1">
                                  <a:latin typeface="Cambria Math" panose="02040503050406030204" pitchFamily="18" charset="0"/>
                                </a:rPr>
                                <m:t>𝑥</m:t>
                              </m:r>
                            </m:e>
                          </m:d>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f>
                                <m:fPr>
                                  <m:ctrlPr>
                                    <a:rPr lang="en-US" b="0" i="1" smtClean="0">
                                      <a:latin typeface="Cambria Math" panose="02040503050406030204" pitchFamily="18" charset="0"/>
                                    </a:rPr>
                                  </m:ctrlPr>
                                </m:fPr>
                                <m:num>
                                  <m:r>
                                    <a:rPr lang="en-US" i="1">
                                      <a:latin typeface="Cambria Math" panose="02040503050406030204" pitchFamily="18" charset="0"/>
                                    </a:rPr>
                                    <m:t>𝑞</m:t>
                                  </m:r>
                                  <m:d>
                                    <m:dPr>
                                      <m:ctrlPr>
                                        <a:rPr lang="en-US" i="1">
                                          <a:latin typeface="Cambria Math" panose="02040503050406030204" pitchFamily="18" charset="0"/>
                                        </a:rPr>
                                      </m:ctrlPr>
                                    </m:dPr>
                                    <m:e>
                                      <m:r>
                                        <a:rPr lang="en-US" i="1">
                                          <a:latin typeface="Cambria Math" panose="02040503050406030204" pitchFamily="18" charset="0"/>
                                        </a:rPr>
                                        <m:t>𝑧</m:t>
                                      </m:r>
                                    </m:e>
                                    <m:e>
                                      <m:r>
                                        <a:rPr lang="en-US" i="1">
                                          <a:latin typeface="Cambria Math" panose="02040503050406030204" pitchFamily="18" charset="0"/>
                                        </a:rPr>
                                        <m:t>𝑥</m:t>
                                      </m:r>
                                    </m:e>
                                  </m:d>
                                </m:num>
                                <m:den>
                                  <m:r>
                                    <a:rPr lang="en-US" i="1">
                                      <a:latin typeface="Cambria Math" panose="02040503050406030204" pitchFamily="18" charset="0"/>
                                    </a:rPr>
                                    <m:t>𝑝</m:t>
                                  </m:r>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𝑧</m:t>
                                  </m:r>
                                  <m:r>
                                    <a:rPr lang="en-US" i="1">
                                      <a:latin typeface="Cambria Math" panose="02040503050406030204" pitchFamily="18" charset="0"/>
                                    </a:rPr>
                                    <m:t>)</m:t>
                                  </m:r>
                                </m:den>
                              </m:f>
                            </m:e>
                          </m:func>
                          <m:r>
                            <a:rPr lang="en-US" b="0" i="1" smtClean="0">
                              <a:latin typeface="Cambria Math" panose="02040503050406030204" pitchFamily="18" charset="0"/>
                            </a:rPr>
                            <m:t>𝑑𝑧</m:t>
                          </m:r>
                        </m:e>
                      </m:nary>
                      <m:r>
                        <a:rPr lang="en-US" b="0" i="1" smtClean="0">
                          <a:latin typeface="Cambria Math" panose="02040503050406030204" pitchFamily="18" charset="0"/>
                        </a:rPr>
                        <m:t>+</m:t>
                      </m:r>
                      <m:nary>
                        <m:naryPr>
                          <m:subHide m:val="on"/>
                          <m:supHide m:val="on"/>
                          <m:ctrlPr>
                            <a:rPr lang="en-US" b="0" i="1" smtClean="0">
                              <a:latin typeface="Cambria Math" panose="02040503050406030204" pitchFamily="18" charset="0"/>
                            </a:rPr>
                          </m:ctrlPr>
                        </m:naryPr>
                        <m:sub/>
                        <m:sup/>
                        <m:e>
                          <m:r>
                            <a:rPr lang="en-US" b="0" i="1" smtClean="0">
                              <a:latin typeface="Cambria Math" panose="02040503050406030204" pitchFamily="18" charset="0"/>
                            </a:rPr>
                            <m:t>𝑞</m:t>
                          </m:r>
                          <m:d>
                            <m:dPr>
                              <m:ctrlPr>
                                <a:rPr lang="en-US" b="0" i="1" smtClean="0">
                                  <a:latin typeface="Cambria Math" panose="02040503050406030204" pitchFamily="18" charset="0"/>
                                </a:rPr>
                              </m:ctrlPr>
                            </m:dPr>
                            <m:e>
                              <m:r>
                                <a:rPr lang="en-US" b="0" i="1" smtClean="0">
                                  <a:latin typeface="Cambria Math" panose="02040503050406030204" pitchFamily="18" charset="0"/>
                                </a:rPr>
                                <m:t>𝑧</m:t>
                              </m:r>
                            </m:e>
                            <m:e>
                              <m:r>
                                <a:rPr lang="en-US" b="0" i="1" smtClean="0">
                                  <a:latin typeface="Cambria Math" panose="02040503050406030204" pitchFamily="18" charset="0"/>
                                </a:rPr>
                                <m:t>𝑥</m:t>
                              </m:r>
                            </m:e>
                          </m:d>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e>
                          </m:func>
                          <m:r>
                            <a:rPr lang="en-US" b="0" i="1" smtClean="0">
                              <a:latin typeface="Cambria Math" panose="02040503050406030204" pitchFamily="18" charset="0"/>
                            </a:rPr>
                            <m:t>𝑑𝑧</m:t>
                          </m:r>
                        </m:e>
                      </m:nary>
                    </m:oMath>
                  </m:oMathPara>
                </a14:m>
                <a:endParaRPr lang="en-US" dirty="0"/>
              </a:p>
              <a:p>
                <a:pPr marL="0" indent="0">
                  <a:buNone/>
                </a:pPr>
                <a:endParaRPr lang="en-US" i="1" dirty="0">
                  <a:latin typeface="Cambria Math" panose="02040503050406030204" pitchFamily="18" charset="0"/>
                </a:endParaRPr>
              </a:p>
              <a:p>
                <a:pPr marL="0" indent="0">
                  <a:buNone/>
                </a:pPr>
                <a:endParaRPr lang="he-IL" sz="4000" b="1" dirty="0"/>
              </a:p>
              <a:p>
                <a:pPr marL="0" indent="0">
                  <a:buNone/>
                </a:pPr>
                <a14:m>
                  <m:oMathPara xmlns:m="http://schemas.openxmlformats.org/officeDocument/2006/math">
                    <m:oMathParaPr>
                      <m:jc m:val="centerGroup"/>
                    </m:oMathParaPr>
                    <m:oMath xmlns:m="http://schemas.openxmlformats.org/officeDocument/2006/math">
                      <m:func>
                        <m:funcPr>
                          <m:ctrlPr>
                            <a:rPr lang="en-US" sz="4000" b="1" i="1">
                              <a:latin typeface="Cambria Math" panose="02040503050406030204" pitchFamily="18" charset="0"/>
                            </a:rPr>
                          </m:ctrlPr>
                        </m:funcPr>
                        <m:fName>
                          <m:r>
                            <a:rPr lang="en-US" sz="4000" b="1">
                              <a:latin typeface="Cambria Math" panose="02040503050406030204" pitchFamily="18" charset="0"/>
                            </a:rPr>
                            <m:t>𝐥𝐨𝐠</m:t>
                          </m:r>
                        </m:fName>
                        <m:e>
                          <m:r>
                            <a:rPr lang="en-US" sz="4000" b="1" i="1">
                              <a:latin typeface="Cambria Math" panose="02040503050406030204" pitchFamily="18" charset="0"/>
                            </a:rPr>
                            <m:t>𝒑</m:t>
                          </m:r>
                          <m:r>
                            <a:rPr lang="en-US" sz="4000" b="1" i="1">
                              <a:latin typeface="Cambria Math" panose="02040503050406030204" pitchFamily="18" charset="0"/>
                            </a:rPr>
                            <m:t>(</m:t>
                          </m:r>
                          <m:r>
                            <a:rPr lang="en-US" sz="4000" b="1" i="1">
                              <a:latin typeface="Cambria Math" panose="02040503050406030204" pitchFamily="18" charset="0"/>
                            </a:rPr>
                            <m:t>𝒙</m:t>
                          </m:r>
                          <m:r>
                            <a:rPr lang="en-US" sz="4000" b="1" i="1">
                              <a:latin typeface="Cambria Math" panose="02040503050406030204" pitchFamily="18" charset="0"/>
                            </a:rPr>
                            <m:t>)</m:t>
                          </m:r>
                        </m:e>
                      </m:func>
                      <m:r>
                        <a:rPr lang="en-US" sz="4000" b="1" i="1" smtClean="0">
                          <a:latin typeface="Cambria Math" panose="02040503050406030204" pitchFamily="18" charset="0"/>
                        </a:rPr>
                        <m:t>=</m:t>
                      </m:r>
                      <m:r>
                        <a:rPr lang="en-US" sz="4000" b="1" i="1" smtClean="0">
                          <a:latin typeface="Cambria Math" panose="02040503050406030204" pitchFamily="18" charset="0"/>
                        </a:rPr>
                        <m:t>𝑲𝑳</m:t>
                      </m:r>
                      <m:r>
                        <a:rPr lang="en-US" sz="4000" b="1" i="1" smtClean="0">
                          <a:latin typeface="Cambria Math" panose="02040503050406030204" pitchFamily="18" charset="0"/>
                        </a:rPr>
                        <m:t>(</m:t>
                      </m:r>
                      <m:r>
                        <a:rPr lang="en-US" sz="4000" b="1" i="1" smtClean="0">
                          <a:latin typeface="Cambria Math" panose="02040503050406030204" pitchFamily="18" charset="0"/>
                        </a:rPr>
                        <m:t>𝒒</m:t>
                      </m:r>
                      <m:r>
                        <a:rPr lang="en-US" sz="4000" b="1" i="1" smtClean="0">
                          <a:latin typeface="Cambria Math" panose="02040503050406030204" pitchFamily="18" charset="0"/>
                        </a:rPr>
                        <m:t>(</m:t>
                      </m:r>
                      <m:r>
                        <a:rPr lang="en-US" sz="4000" b="1" i="1" smtClean="0">
                          <a:latin typeface="Cambria Math" panose="02040503050406030204" pitchFamily="18" charset="0"/>
                        </a:rPr>
                        <m:t>𝒛</m:t>
                      </m:r>
                      <m:r>
                        <a:rPr lang="en-US" sz="4000" b="1" i="1" smtClean="0">
                          <a:latin typeface="Cambria Math" panose="02040503050406030204" pitchFamily="18" charset="0"/>
                        </a:rPr>
                        <m:t>|</m:t>
                      </m:r>
                      <m:r>
                        <a:rPr lang="en-US" sz="4000" b="1" i="1" smtClean="0">
                          <a:latin typeface="Cambria Math" panose="02040503050406030204" pitchFamily="18" charset="0"/>
                        </a:rPr>
                        <m:t>𝒙</m:t>
                      </m:r>
                      <m:r>
                        <a:rPr lang="en-US" sz="4000" b="1" i="1" smtClean="0">
                          <a:latin typeface="Cambria Math" panose="02040503050406030204" pitchFamily="18" charset="0"/>
                        </a:rPr>
                        <m:t>)||</m:t>
                      </m:r>
                      <m:r>
                        <a:rPr lang="en-US" sz="4000" b="1" i="1">
                          <a:latin typeface="Cambria Math" panose="02040503050406030204" pitchFamily="18" charset="0"/>
                        </a:rPr>
                        <m:t>𝒑</m:t>
                      </m:r>
                      <m:d>
                        <m:dPr>
                          <m:ctrlPr>
                            <a:rPr lang="en-US" sz="4000" b="1" i="1">
                              <a:latin typeface="Cambria Math" panose="02040503050406030204" pitchFamily="18" charset="0"/>
                            </a:rPr>
                          </m:ctrlPr>
                        </m:dPr>
                        <m:e>
                          <m:r>
                            <a:rPr lang="en-US" sz="4000" b="1" i="1">
                              <a:latin typeface="Cambria Math" panose="02040503050406030204" pitchFamily="18" charset="0"/>
                            </a:rPr>
                            <m:t>𝒛</m:t>
                          </m:r>
                        </m:e>
                        <m:e>
                          <m:r>
                            <a:rPr lang="en-US" sz="4000" b="1" i="1">
                              <a:latin typeface="Cambria Math" panose="02040503050406030204" pitchFamily="18" charset="0"/>
                            </a:rPr>
                            <m:t>𝒙</m:t>
                          </m:r>
                        </m:e>
                      </m:d>
                      <m:r>
                        <a:rPr lang="en-US" sz="4000" b="1" i="1" smtClean="0">
                          <a:latin typeface="Cambria Math" panose="02040503050406030204" pitchFamily="18" charset="0"/>
                        </a:rPr>
                        <m:t>)+</m:t>
                      </m:r>
                      <m:r>
                        <a:rPr lang="x-none" sz="4000" b="1" i="1">
                          <a:latin typeface="Cambria Math" panose="02040503050406030204" pitchFamily="18" charset="0"/>
                        </a:rPr>
                        <m:t>𝓛</m:t>
                      </m:r>
                      <m:d>
                        <m:dPr>
                          <m:ctrlPr>
                            <a:rPr lang="en-US" sz="4000" b="1" i="1">
                              <a:latin typeface="Cambria Math" panose="02040503050406030204" pitchFamily="18" charset="0"/>
                            </a:rPr>
                          </m:ctrlPr>
                        </m:dPr>
                        <m:e>
                          <m:r>
                            <a:rPr lang="en-US" sz="4000" b="1" i="1">
                              <a:latin typeface="Cambria Math" panose="02040503050406030204" pitchFamily="18" charset="0"/>
                            </a:rPr>
                            <m:t>𝝓</m:t>
                          </m:r>
                        </m:e>
                      </m:d>
                    </m:oMath>
                  </m:oMathPara>
                </a14:m>
                <a:endParaRPr lang="he-IL" sz="4000" b="1"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825625"/>
                <a:ext cx="10515600" cy="4559935"/>
              </a:xfrm>
              <a:blipFill>
                <a:blip r:embed="rId3"/>
                <a:stretch>
                  <a:fillRect/>
                </a:stretch>
              </a:blipFill>
            </p:spPr>
            <p:txBody>
              <a:bodyPr/>
              <a:lstStyle/>
              <a:p>
                <a:r>
                  <a:rPr lang="he-IL">
                    <a:noFill/>
                  </a:rPr>
                  <a:t> </a:t>
                </a:r>
              </a:p>
            </p:txBody>
          </p:sp>
        </mc:Fallback>
      </mc:AlternateContent>
      <p:sp>
        <p:nvSpPr>
          <p:cNvPr id="2" name="Title 1"/>
          <p:cNvSpPr>
            <a:spLocks noGrp="1"/>
          </p:cNvSpPr>
          <p:nvPr>
            <p:ph type="title"/>
          </p:nvPr>
        </p:nvSpPr>
        <p:spPr/>
        <p:txBody>
          <a:bodyPr/>
          <a:lstStyle/>
          <a:p>
            <a:r>
              <a:rPr lang="en-US" dirty="0"/>
              <a:t>Let the derivations begin</a:t>
            </a:r>
            <a:endParaRPr lang="he-IL" dirty="0"/>
          </a:p>
        </p:txBody>
      </p:sp>
    </p:spTree>
    <p:extLst>
      <p:ext uri="{BB962C8B-B14F-4D97-AF65-F5344CB8AC3E}">
        <p14:creationId xmlns:p14="http://schemas.microsoft.com/office/powerpoint/2010/main" val="112311858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“Minimizing” KL Divergence</a:t>
            </a:r>
          </a:p>
        </p:txBody>
      </p:sp>
      <p:cxnSp>
        <p:nvCxnSpPr>
          <p:cNvPr id="5" name="Straight Connector 4"/>
          <p:cNvCxnSpPr/>
          <p:nvPr/>
        </p:nvCxnSpPr>
        <p:spPr>
          <a:xfrm>
            <a:off x="718930" y="5742746"/>
            <a:ext cx="10830339"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699052" y="1955938"/>
            <a:ext cx="10830339"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10296940" y="2015573"/>
            <a:ext cx="9939" cy="3667539"/>
          </a:xfrm>
          <a:prstGeom prst="straightConnector1">
            <a:avLst/>
          </a:prstGeom>
          <a:ln w="76200">
            <a:headEnd type="triangle"/>
            <a:tailEnd type="triangle"/>
          </a:ln>
        </p:spPr>
        <p:style>
          <a:lnRef idx="3">
            <a:schemeClr val="accent1"/>
          </a:lnRef>
          <a:fillRef idx="0">
            <a:schemeClr val="accent1"/>
          </a:fillRef>
          <a:effectRef idx="2">
            <a:schemeClr val="accent1"/>
          </a:effectRef>
          <a:fontRef idx="minor">
            <a:schemeClr val="tx1"/>
          </a:fontRef>
        </p:style>
      </p:cxnSp>
      <mc:AlternateContent xmlns:mc="http://schemas.openxmlformats.org/markup-compatibility/2006" xmlns:a14="http://schemas.microsoft.com/office/drawing/2010/main">
        <mc:Choice Requires="a14">
          <p:sp>
            <p:nvSpPr>
              <p:cNvPr id="13" name="TextBox 12"/>
              <p:cNvSpPr txBox="1"/>
              <p:nvPr/>
            </p:nvSpPr>
            <p:spPr>
              <a:xfrm>
                <a:off x="8388626" y="3407294"/>
                <a:ext cx="1172817" cy="6463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unc>
                        <m:funcPr>
                          <m:ctrlPr>
                            <a:rPr lang="en-US" sz="3600" b="1" i="1" smtClean="0">
                              <a:latin typeface="Cambria Math" panose="02040503050406030204" pitchFamily="18" charset="0"/>
                            </a:rPr>
                          </m:ctrlPr>
                        </m:funcPr>
                        <m:fName>
                          <m:r>
                            <a:rPr lang="en-US" sz="3600" b="1" i="0" smtClean="0">
                              <a:latin typeface="Cambria Math" panose="02040503050406030204" pitchFamily="18" charset="0"/>
                            </a:rPr>
                            <m:t>𝐥𝐨𝐠</m:t>
                          </m:r>
                        </m:fName>
                        <m:e>
                          <m:r>
                            <a:rPr lang="en-US" sz="3600" b="1" i="1" smtClean="0">
                              <a:latin typeface="Cambria Math" panose="02040503050406030204" pitchFamily="18" charset="0"/>
                            </a:rPr>
                            <m:t>𝑷</m:t>
                          </m:r>
                          <m:r>
                            <a:rPr lang="en-US" sz="3600" b="1" i="1" smtClean="0">
                              <a:latin typeface="Cambria Math" panose="02040503050406030204" pitchFamily="18" charset="0"/>
                            </a:rPr>
                            <m:t>(</m:t>
                          </m:r>
                          <m:r>
                            <a:rPr lang="en-US" sz="3600" b="1" i="1" smtClean="0">
                              <a:latin typeface="Cambria Math" panose="02040503050406030204" pitchFamily="18" charset="0"/>
                            </a:rPr>
                            <m:t>𝒙</m:t>
                          </m:r>
                          <m:r>
                            <a:rPr lang="en-US" sz="3600" b="1" i="1" smtClean="0">
                              <a:latin typeface="Cambria Math" panose="02040503050406030204" pitchFamily="18" charset="0"/>
                            </a:rPr>
                            <m:t>)</m:t>
                          </m:r>
                        </m:e>
                      </m:func>
                    </m:oMath>
                  </m:oMathPara>
                </a14:m>
                <a:endParaRPr lang="en-US" sz="3600" b="1" dirty="0"/>
              </a:p>
            </p:txBody>
          </p:sp>
        </mc:Choice>
        <mc:Fallback xmlns="">
          <p:sp>
            <p:nvSpPr>
              <p:cNvPr id="13" name="TextBox 12"/>
              <p:cNvSpPr txBox="1">
                <a:spLocks noRot="1" noChangeAspect="1" noMove="1" noResize="1" noEditPoints="1" noAdjustHandles="1" noChangeArrowheads="1" noChangeShapeType="1" noTextEdit="1"/>
              </p:cNvSpPr>
              <p:nvPr/>
            </p:nvSpPr>
            <p:spPr>
              <a:xfrm>
                <a:off x="8388626" y="3407294"/>
                <a:ext cx="1172817" cy="646331"/>
              </a:xfrm>
              <a:prstGeom prst="rect">
                <a:avLst/>
              </a:prstGeom>
              <a:blipFill>
                <a:blip r:embed="rId3"/>
                <a:stretch>
                  <a:fillRect r="-49479"/>
                </a:stretch>
              </a:blipFill>
            </p:spPr>
            <p:txBody>
              <a:bodyPr/>
              <a:lstStyle/>
              <a:p>
                <a:r>
                  <a:rPr lang="he-IL">
                    <a:noFill/>
                  </a:rPr>
                  <a:t> </a:t>
                </a:r>
              </a:p>
            </p:txBody>
          </p:sp>
        </mc:Fallback>
      </mc:AlternateContent>
      <p:cxnSp>
        <p:nvCxnSpPr>
          <p:cNvPr id="14" name="Straight Arrow Connector 13"/>
          <p:cNvCxnSpPr/>
          <p:nvPr/>
        </p:nvCxnSpPr>
        <p:spPr>
          <a:xfrm>
            <a:off x="2445027" y="3407294"/>
            <a:ext cx="0" cy="2275818"/>
          </a:xfrm>
          <a:prstGeom prst="straightConnector1">
            <a:avLst/>
          </a:prstGeom>
          <a:ln w="76200">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16" name="Straight Arrow Connector 15"/>
          <p:cNvCxnSpPr/>
          <p:nvPr/>
        </p:nvCxnSpPr>
        <p:spPr>
          <a:xfrm flipH="1">
            <a:off x="2445027" y="2015573"/>
            <a:ext cx="1" cy="1272209"/>
          </a:xfrm>
          <a:prstGeom prst="straightConnector1">
            <a:avLst/>
          </a:prstGeom>
          <a:ln w="76200">
            <a:headEnd type="triangle"/>
            <a:tailEnd type="triangle"/>
          </a:ln>
        </p:spPr>
        <p:style>
          <a:lnRef idx="3">
            <a:schemeClr val="accent1"/>
          </a:lnRef>
          <a:fillRef idx="0">
            <a:schemeClr val="accent1"/>
          </a:fillRef>
          <a:effectRef idx="2">
            <a:schemeClr val="accent1"/>
          </a:effectRef>
          <a:fontRef idx="minor">
            <a:schemeClr val="tx1"/>
          </a:fontRef>
        </p:style>
      </p:cxnSp>
      <mc:AlternateContent xmlns:mc="http://schemas.openxmlformats.org/markup-compatibility/2006" xmlns:a14="http://schemas.microsoft.com/office/drawing/2010/main">
        <mc:Choice Requires="a14">
          <p:sp>
            <p:nvSpPr>
              <p:cNvPr id="18" name="TextBox 17"/>
              <p:cNvSpPr txBox="1"/>
              <p:nvPr/>
            </p:nvSpPr>
            <p:spPr>
              <a:xfrm>
                <a:off x="2872408" y="2328511"/>
                <a:ext cx="1172817" cy="6463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3600" b="1" i="1">
                          <a:latin typeface="Cambria Math" panose="02040503050406030204" pitchFamily="18" charset="0"/>
                        </a:rPr>
                        <m:t>𝑲𝑳</m:t>
                      </m:r>
                      <m:r>
                        <a:rPr lang="en-US" sz="3600" b="1" i="1">
                          <a:latin typeface="Cambria Math" panose="02040503050406030204" pitchFamily="18" charset="0"/>
                        </a:rPr>
                        <m:t>(</m:t>
                      </m:r>
                      <m:r>
                        <a:rPr lang="en-US" sz="3600" b="1" i="1">
                          <a:latin typeface="Cambria Math" panose="02040503050406030204" pitchFamily="18" charset="0"/>
                        </a:rPr>
                        <m:t>𝒒</m:t>
                      </m:r>
                      <m:r>
                        <a:rPr lang="en-US" sz="3600" b="1" i="1">
                          <a:latin typeface="Cambria Math" panose="02040503050406030204" pitchFamily="18" charset="0"/>
                        </a:rPr>
                        <m:t>(</m:t>
                      </m:r>
                      <m:r>
                        <a:rPr lang="en-US" sz="3600" b="1" i="1">
                          <a:latin typeface="Cambria Math" panose="02040503050406030204" pitchFamily="18" charset="0"/>
                        </a:rPr>
                        <m:t>𝒛</m:t>
                      </m:r>
                      <m:r>
                        <a:rPr lang="en-US" sz="3600" b="1" i="1">
                          <a:latin typeface="Cambria Math" panose="02040503050406030204" pitchFamily="18" charset="0"/>
                        </a:rPr>
                        <m:t>|</m:t>
                      </m:r>
                      <m:r>
                        <a:rPr lang="en-US" sz="3600" b="1" i="1">
                          <a:latin typeface="Cambria Math" panose="02040503050406030204" pitchFamily="18" charset="0"/>
                        </a:rPr>
                        <m:t>𝒙</m:t>
                      </m:r>
                      <m:r>
                        <a:rPr lang="en-US" sz="3600" b="1" i="1">
                          <a:latin typeface="Cambria Math" panose="02040503050406030204" pitchFamily="18" charset="0"/>
                        </a:rPr>
                        <m:t>) |</m:t>
                      </m:r>
                      <m:d>
                        <m:dPr>
                          <m:begChr m:val="|"/>
                          <m:ctrlPr>
                            <a:rPr lang="en-US" sz="3600" b="1" i="1">
                              <a:latin typeface="Cambria Math" panose="02040503050406030204" pitchFamily="18" charset="0"/>
                            </a:rPr>
                          </m:ctrlPr>
                        </m:dPr>
                        <m:e>
                          <m:r>
                            <a:rPr lang="en-US" sz="3600" b="1" i="1">
                              <a:latin typeface="Cambria Math" panose="02040503050406030204" pitchFamily="18" charset="0"/>
                            </a:rPr>
                            <m:t> </m:t>
                          </m:r>
                          <m:r>
                            <a:rPr lang="en-US" sz="3600" b="1" i="1">
                              <a:latin typeface="Cambria Math" panose="02040503050406030204" pitchFamily="18" charset="0"/>
                            </a:rPr>
                            <m:t>𝒑</m:t>
                          </m:r>
                          <m:r>
                            <a:rPr lang="en-US" sz="3600" b="1" i="1">
                              <a:latin typeface="Cambria Math" panose="02040503050406030204" pitchFamily="18" charset="0"/>
                            </a:rPr>
                            <m:t>(</m:t>
                          </m:r>
                          <m:r>
                            <a:rPr lang="en-US" sz="3600" b="1" i="1">
                              <a:latin typeface="Cambria Math" panose="02040503050406030204" pitchFamily="18" charset="0"/>
                            </a:rPr>
                            <m:t>𝒛</m:t>
                          </m:r>
                          <m:r>
                            <a:rPr lang="en-US" sz="3600" b="1" i="1">
                              <a:latin typeface="Cambria Math" panose="02040503050406030204" pitchFamily="18" charset="0"/>
                            </a:rPr>
                            <m:t>|</m:t>
                          </m:r>
                          <m:r>
                            <a:rPr lang="en-US" sz="3600" b="1" i="1">
                              <a:latin typeface="Cambria Math" panose="02040503050406030204" pitchFamily="18" charset="0"/>
                            </a:rPr>
                            <m:t>𝒙</m:t>
                          </m:r>
                          <m:r>
                            <a:rPr lang="en-US" sz="3600" b="1" i="1">
                              <a:latin typeface="Cambria Math" panose="02040503050406030204" pitchFamily="18" charset="0"/>
                            </a:rPr>
                            <m:t>)</m:t>
                          </m:r>
                        </m:e>
                      </m:d>
                    </m:oMath>
                  </m:oMathPara>
                </a14:m>
                <a:endParaRPr lang="en-US" sz="3600" dirty="0"/>
              </a:p>
            </p:txBody>
          </p:sp>
        </mc:Choice>
        <mc:Fallback xmlns="">
          <p:sp>
            <p:nvSpPr>
              <p:cNvPr id="18" name="TextBox 17"/>
              <p:cNvSpPr txBox="1">
                <a:spLocks noRot="1" noChangeAspect="1" noMove="1" noResize="1" noEditPoints="1" noAdjustHandles="1" noChangeArrowheads="1" noChangeShapeType="1" noTextEdit="1"/>
              </p:cNvSpPr>
              <p:nvPr/>
            </p:nvSpPr>
            <p:spPr>
              <a:xfrm>
                <a:off x="2872408" y="2328511"/>
                <a:ext cx="1172817" cy="646331"/>
              </a:xfrm>
              <a:prstGeom prst="rect">
                <a:avLst/>
              </a:prstGeom>
              <a:blipFill>
                <a:blip r:embed="rId4"/>
                <a:stretch>
                  <a:fillRect r="-252332"/>
                </a:stretch>
              </a:blipFill>
            </p:spPr>
            <p:txBody>
              <a:bodyPr/>
              <a:lstStyle/>
              <a:p>
                <a:r>
                  <a:rPr lang="he-IL">
                    <a:noFill/>
                  </a:rPr>
                  <a:t> </a:t>
                </a:r>
              </a:p>
            </p:txBody>
          </p:sp>
        </mc:Fallback>
      </mc:AlternateContent>
      <p:cxnSp>
        <p:nvCxnSpPr>
          <p:cNvPr id="19" name="Straight Connector 18"/>
          <p:cNvCxnSpPr/>
          <p:nvPr/>
        </p:nvCxnSpPr>
        <p:spPr>
          <a:xfrm>
            <a:off x="680830" y="3367537"/>
            <a:ext cx="4199283" cy="0"/>
          </a:xfrm>
          <a:prstGeom prst="line">
            <a:avLst/>
          </a:prstGeom>
          <a:ln w="762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TextBox 20"/>
              <p:cNvSpPr txBox="1"/>
              <p:nvPr/>
            </p:nvSpPr>
            <p:spPr>
              <a:xfrm>
                <a:off x="2872408" y="4222037"/>
                <a:ext cx="1172817" cy="6463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x-none" sz="3600" b="1" i="1" smtClean="0">
                          <a:latin typeface="Cambria Math" panose="02040503050406030204" pitchFamily="18" charset="0"/>
                        </a:rPr>
                        <m:t>𝓛</m:t>
                      </m:r>
                      <m:r>
                        <a:rPr lang="en-US" sz="3600" b="1" i="1" smtClean="0">
                          <a:latin typeface="Cambria Math" panose="02040503050406030204" pitchFamily="18" charset="0"/>
                        </a:rPr>
                        <m:t>(</m:t>
                      </m:r>
                      <m:r>
                        <a:rPr lang="en-US" sz="3600" b="1" i="1" smtClean="0">
                          <a:latin typeface="Cambria Math" panose="02040503050406030204" pitchFamily="18" charset="0"/>
                        </a:rPr>
                        <m:t>𝝓</m:t>
                      </m:r>
                      <m:r>
                        <a:rPr lang="en-US" sz="3600" b="1" i="1" smtClean="0">
                          <a:latin typeface="Cambria Math" panose="02040503050406030204" pitchFamily="18" charset="0"/>
                        </a:rPr>
                        <m:t>)</m:t>
                      </m:r>
                    </m:oMath>
                  </m:oMathPara>
                </a14:m>
                <a:endParaRPr lang="en-US" sz="3600" b="1" dirty="0"/>
              </a:p>
            </p:txBody>
          </p:sp>
        </mc:Choice>
        <mc:Fallback xmlns="">
          <p:sp>
            <p:nvSpPr>
              <p:cNvPr id="21" name="TextBox 20"/>
              <p:cNvSpPr txBox="1">
                <a:spLocks noRot="1" noChangeAspect="1" noMove="1" noResize="1" noEditPoints="1" noAdjustHandles="1" noChangeArrowheads="1" noChangeShapeType="1" noTextEdit="1"/>
              </p:cNvSpPr>
              <p:nvPr/>
            </p:nvSpPr>
            <p:spPr>
              <a:xfrm>
                <a:off x="2872408" y="4222037"/>
                <a:ext cx="1172817" cy="646331"/>
              </a:xfrm>
              <a:prstGeom prst="rect">
                <a:avLst/>
              </a:prstGeom>
              <a:blipFill>
                <a:blip r:embed="rId5"/>
                <a:stretch>
                  <a:fillRect/>
                </a:stretch>
              </a:blipFill>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3" name="Rectangle 2"/>
              <p:cNvSpPr/>
              <p:nvPr/>
            </p:nvSpPr>
            <p:spPr>
              <a:xfrm>
                <a:off x="2407404" y="5968934"/>
                <a:ext cx="7219669"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unc>
                        <m:funcPr>
                          <m:ctrlPr>
                            <a:rPr lang="en-US" sz="3200" b="1" i="1">
                              <a:latin typeface="Cambria Math" panose="02040503050406030204" pitchFamily="18" charset="0"/>
                            </a:rPr>
                          </m:ctrlPr>
                        </m:funcPr>
                        <m:fName>
                          <m:r>
                            <a:rPr lang="en-US" sz="3200" b="1">
                              <a:latin typeface="Cambria Math" panose="02040503050406030204" pitchFamily="18" charset="0"/>
                            </a:rPr>
                            <m:t>𝐥𝐨𝐠</m:t>
                          </m:r>
                        </m:fName>
                        <m:e>
                          <m:r>
                            <a:rPr lang="en-US" sz="3200" b="1" i="1">
                              <a:latin typeface="Cambria Math" panose="02040503050406030204" pitchFamily="18" charset="0"/>
                            </a:rPr>
                            <m:t>𝒑</m:t>
                          </m:r>
                          <m:r>
                            <a:rPr lang="en-US" sz="3200" b="1" i="1">
                              <a:latin typeface="Cambria Math" panose="02040503050406030204" pitchFamily="18" charset="0"/>
                            </a:rPr>
                            <m:t>(</m:t>
                          </m:r>
                          <m:r>
                            <a:rPr lang="en-US" sz="3200" b="1" i="1">
                              <a:latin typeface="Cambria Math" panose="02040503050406030204" pitchFamily="18" charset="0"/>
                            </a:rPr>
                            <m:t>𝒙</m:t>
                          </m:r>
                          <m:r>
                            <a:rPr lang="en-US" sz="3200" b="1" i="1">
                              <a:latin typeface="Cambria Math" panose="02040503050406030204" pitchFamily="18" charset="0"/>
                            </a:rPr>
                            <m:t>)</m:t>
                          </m:r>
                        </m:e>
                      </m:func>
                      <m:r>
                        <a:rPr lang="en-US" sz="3200" b="1" i="1" smtClean="0">
                          <a:latin typeface="Cambria Math" panose="02040503050406030204" pitchFamily="18" charset="0"/>
                        </a:rPr>
                        <m:t>=</m:t>
                      </m:r>
                      <m:r>
                        <a:rPr lang="en-US" sz="3200" b="1" i="1">
                          <a:latin typeface="Cambria Math" panose="02040503050406030204" pitchFamily="18" charset="0"/>
                        </a:rPr>
                        <m:t>𝑲𝑳</m:t>
                      </m:r>
                      <m:r>
                        <a:rPr lang="en-US" sz="3200" b="1" i="1">
                          <a:latin typeface="Cambria Math" panose="02040503050406030204" pitchFamily="18" charset="0"/>
                        </a:rPr>
                        <m:t>(</m:t>
                      </m:r>
                      <m:r>
                        <a:rPr lang="en-US" sz="3200" b="1" i="1">
                          <a:latin typeface="Cambria Math" panose="02040503050406030204" pitchFamily="18" charset="0"/>
                        </a:rPr>
                        <m:t>𝒒</m:t>
                      </m:r>
                      <m:r>
                        <a:rPr lang="en-US" sz="3200" b="1" i="1">
                          <a:latin typeface="Cambria Math" panose="02040503050406030204" pitchFamily="18" charset="0"/>
                        </a:rPr>
                        <m:t>(</m:t>
                      </m:r>
                      <m:r>
                        <a:rPr lang="en-US" sz="3200" b="1" i="1">
                          <a:latin typeface="Cambria Math" panose="02040503050406030204" pitchFamily="18" charset="0"/>
                        </a:rPr>
                        <m:t>𝒛</m:t>
                      </m:r>
                      <m:r>
                        <a:rPr lang="en-US" sz="3200" b="1" i="1">
                          <a:latin typeface="Cambria Math" panose="02040503050406030204" pitchFamily="18" charset="0"/>
                        </a:rPr>
                        <m:t>|</m:t>
                      </m:r>
                      <m:r>
                        <a:rPr lang="en-US" sz="3200" b="1" i="1">
                          <a:latin typeface="Cambria Math" panose="02040503050406030204" pitchFamily="18" charset="0"/>
                        </a:rPr>
                        <m:t>𝒙</m:t>
                      </m:r>
                      <m:r>
                        <a:rPr lang="en-US" sz="3200" b="1" i="1">
                          <a:latin typeface="Cambria Math" panose="02040503050406030204" pitchFamily="18" charset="0"/>
                        </a:rPr>
                        <m:t>)||</m:t>
                      </m:r>
                      <m:r>
                        <a:rPr lang="en-US" sz="3200" b="1" i="1">
                          <a:latin typeface="Cambria Math" panose="02040503050406030204" pitchFamily="18" charset="0"/>
                        </a:rPr>
                        <m:t>𝒑</m:t>
                      </m:r>
                      <m:d>
                        <m:dPr>
                          <m:ctrlPr>
                            <a:rPr lang="en-US" sz="3200" b="1" i="1">
                              <a:latin typeface="Cambria Math" panose="02040503050406030204" pitchFamily="18" charset="0"/>
                            </a:rPr>
                          </m:ctrlPr>
                        </m:dPr>
                        <m:e>
                          <m:r>
                            <a:rPr lang="en-US" sz="3200" b="1" i="1">
                              <a:latin typeface="Cambria Math" panose="02040503050406030204" pitchFamily="18" charset="0"/>
                            </a:rPr>
                            <m:t>𝒛</m:t>
                          </m:r>
                        </m:e>
                        <m:e>
                          <m:r>
                            <a:rPr lang="en-US" sz="3200" b="1" i="1">
                              <a:latin typeface="Cambria Math" panose="02040503050406030204" pitchFamily="18" charset="0"/>
                            </a:rPr>
                            <m:t>𝒙</m:t>
                          </m:r>
                        </m:e>
                      </m:d>
                      <m:r>
                        <a:rPr lang="en-US" sz="3200" b="1" i="1">
                          <a:latin typeface="Cambria Math" panose="02040503050406030204" pitchFamily="18" charset="0"/>
                        </a:rPr>
                        <m:t>)+</m:t>
                      </m:r>
                      <m:r>
                        <a:rPr lang="x-none" sz="3200" b="1" i="1">
                          <a:latin typeface="Cambria Math" panose="02040503050406030204" pitchFamily="18" charset="0"/>
                        </a:rPr>
                        <m:t>𝓛</m:t>
                      </m:r>
                      <m:d>
                        <m:dPr>
                          <m:ctrlPr>
                            <a:rPr lang="en-US" sz="3200" b="1" i="1">
                              <a:latin typeface="Cambria Math" panose="02040503050406030204" pitchFamily="18" charset="0"/>
                            </a:rPr>
                          </m:ctrlPr>
                        </m:dPr>
                        <m:e>
                          <m:r>
                            <a:rPr lang="en-US" sz="3200" b="1" i="1">
                              <a:latin typeface="Cambria Math" panose="02040503050406030204" pitchFamily="18" charset="0"/>
                            </a:rPr>
                            <m:t>𝝓</m:t>
                          </m:r>
                        </m:e>
                      </m:d>
                    </m:oMath>
                  </m:oMathPara>
                </a14:m>
                <a:endParaRPr lang="he-IL" sz="3200" b="1" dirty="0"/>
              </a:p>
            </p:txBody>
          </p:sp>
        </mc:Choice>
        <mc:Fallback xmlns="">
          <p:sp>
            <p:nvSpPr>
              <p:cNvPr id="3" name="Rectangle 2"/>
              <p:cNvSpPr>
                <a:spLocks noRot="1" noChangeAspect="1" noMove="1" noResize="1" noEditPoints="1" noAdjustHandles="1" noChangeArrowheads="1" noChangeShapeType="1" noTextEdit="1"/>
              </p:cNvSpPr>
              <p:nvPr/>
            </p:nvSpPr>
            <p:spPr>
              <a:xfrm>
                <a:off x="2407404" y="5968934"/>
                <a:ext cx="7219669" cy="584775"/>
              </a:xfrm>
              <a:prstGeom prst="rect">
                <a:avLst/>
              </a:prstGeom>
              <a:blipFill>
                <a:blip r:embed="rId6"/>
                <a:stretch>
                  <a:fillRect/>
                </a:stretch>
              </a:blipFill>
            </p:spPr>
            <p:txBody>
              <a:bodyPr/>
              <a:lstStyle/>
              <a:p>
                <a:r>
                  <a:rPr lang="he-IL">
                    <a:noFill/>
                  </a:rPr>
                  <a:t> </a:t>
                </a:r>
              </a:p>
            </p:txBody>
          </p:sp>
        </mc:Fallback>
      </mc:AlternateContent>
    </p:spTree>
    <p:extLst>
      <p:ext uri="{BB962C8B-B14F-4D97-AF65-F5344CB8AC3E}">
        <p14:creationId xmlns:p14="http://schemas.microsoft.com/office/powerpoint/2010/main" val="377108221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“Minimizing” KL Divergence</a:t>
            </a:r>
          </a:p>
        </p:txBody>
      </p:sp>
      <p:cxnSp>
        <p:nvCxnSpPr>
          <p:cNvPr id="5" name="Straight Connector 4"/>
          <p:cNvCxnSpPr/>
          <p:nvPr/>
        </p:nvCxnSpPr>
        <p:spPr>
          <a:xfrm>
            <a:off x="718930" y="5742746"/>
            <a:ext cx="10830339"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699052" y="1955938"/>
            <a:ext cx="10830339"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10296940" y="2015573"/>
            <a:ext cx="9939" cy="3667539"/>
          </a:xfrm>
          <a:prstGeom prst="straightConnector1">
            <a:avLst/>
          </a:prstGeom>
          <a:ln w="76200">
            <a:headEnd type="triangle"/>
            <a:tailEnd type="triangle"/>
          </a:ln>
        </p:spPr>
        <p:style>
          <a:lnRef idx="3">
            <a:schemeClr val="accent1"/>
          </a:lnRef>
          <a:fillRef idx="0">
            <a:schemeClr val="accent1"/>
          </a:fillRef>
          <a:effectRef idx="2">
            <a:schemeClr val="accent1"/>
          </a:effectRef>
          <a:fontRef idx="minor">
            <a:schemeClr val="tx1"/>
          </a:fontRef>
        </p:style>
      </p:cxnSp>
      <mc:AlternateContent xmlns:mc="http://schemas.openxmlformats.org/markup-compatibility/2006" xmlns:a14="http://schemas.microsoft.com/office/drawing/2010/main">
        <mc:Choice Requires="a14">
          <p:sp>
            <p:nvSpPr>
              <p:cNvPr id="13" name="TextBox 12"/>
              <p:cNvSpPr txBox="1"/>
              <p:nvPr/>
            </p:nvSpPr>
            <p:spPr>
              <a:xfrm>
                <a:off x="8388626" y="3407294"/>
                <a:ext cx="1172817" cy="64639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unc>
                        <m:funcPr>
                          <m:ctrlPr>
                            <a:rPr lang="en-US" sz="3600" b="1" i="1" smtClean="0">
                              <a:latin typeface="Cambria Math" panose="02040503050406030204" pitchFamily="18" charset="0"/>
                            </a:rPr>
                          </m:ctrlPr>
                        </m:funcPr>
                        <m:fName>
                          <m:r>
                            <a:rPr lang="en-US" sz="3600" b="1" i="0" smtClean="0">
                              <a:latin typeface="Cambria Math" panose="02040503050406030204" pitchFamily="18" charset="0"/>
                            </a:rPr>
                            <m:t>𝐥𝐨𝐠</m:t>
                          </m:r>
                        </m:fName>
                        <m:e>
                          <m:r>
                            <a:rPr lang="en-US" sz="3600" b="1" i="1" smtClean="0">
                              <a:latin typeface="Cambria Math" panose="02040503050406030204" pitchFamily="18" charset="0"/>
                            </a:rPr>
                            <m:t>𝑷</m:t>
                          </m:r>
                          <m:r>
                            <a:rPr lang="en-US" sz="3600" b="1" i="1" smtClean="0">
                              <a:latin typeface="Cambria Math" panose="02040503050406030204" pitchFamily="18" charset="0"/>
                            </a:rPr>
                            <m:t>(</m:t>
                          </m:r>
                          <m:r>
                            <a:rPr lang="en-US" sz="3600" b="1" i="1" smtClean="0">
                              <a:latin typeface="Cambria Math" panose="02040503050406030204" pitchFamily="18" charset="0"/>
                            </a:rPr>
                            <m:t>𝒙</m:t>
                          </m:r>
                          <m:r>
                            <a:rPr lang="en-US" sz="3600" b="1" i="1" smtClean="0">
                              <a:latin typeface="Cambria Math" panose="02040503050406030204" pitchFamily="18" charset="0"/>
                            </a:rPr>
                            <m:t>)</m:t>
                          </m:r>
                        </m:e>
                      </m:func>
                    </m:oMath>
                  </m:oMathPara>
                </a14:m>
                <a:endParaRPr lang="en-US" sz="3600" b="1" dirty="0"/>
              </a:p>
            </p:txBody>
          </p:sp>
        </mc:Choice>
        <mc:Fallback xmlns="">
          <p:sp>
            <p:nvSpPr>
              <p:cNvPr id="13" name="TextBox 12"/>
              <p:cNvSpPr txBox="1">
                <a:spLocks noRot="1" noChangeAspect="1" noMove="1" noResize="1" noEditPoints="1" noAdjustHandles="1" noChangeArrowheads="1" noChangeShapeType="1" noTextEdit="1"/>
              </p:cNvSpPr>
              <p:nvPr/>
            </p:nvSpPr>
            <p:spPr>
              <a:xfrm>
                <a:off x="8388626" y="3407294"/>
                <a:ext cx="1172817" cy="646395"/>
              </a:xfrm>
              <a:prstGeom prst="rect">
                <a:avLst/>
              </a:prstGeom>
              <a:blipFill>
                <a:blip r:embed="rId3"/>
                <a:stretch>
                  <a:fillRect r="-49479"/>
                </a:stretch>
              </a:blipFill>
            </p:spPr>
            <p:txBody>
              <a:bodyPr/>
              <a:lstStyle/>
              <a:p>
                <a:r>
                  <a:rPr lang="he-IL">
                    <a:noFill/>
                  </a:rPr>
                  <a:t> </a:t>
                </a:r>
              </a:p>
            </p:txBody>
          </p:sp>
        </mc:Fallback>
      </mc:AlternateContent>
      <p:cxnSp>
        <p:nvCxnSpPr>
          <p:cNvPr id="14" name="Straight Arrow Connector 13"/>
          <p:cNvCxnSpPr/>
          <p:nvPr/>
        </p:nvCxnSpPr>
        <p:spPr>
          <a:xfrm>
            <a:off x="2445027" y="3198329"/>
            <a:ext cx="0" cy="2484783"/>
          </a:xfrm>
          <a:prstGeom prst="straightConnector1">
            <a:avLst/>
          </a:prstGeom>
          <a:ln w="76200">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16" name="Straight Arrow Connector 15"/>
          <p:cNvCxnSpPr/>
          <p:nvPr/>
        </p:nvCxnSpPr>
        <p:spPr>
          <a:xfrm flipH="1">
            <a:off x="2445027" y="2015573"/>
            <a:ext cx="2" cy="959269"/>
          </a:xfrm>
          <a:prstGeom prst="straightConnector1">
            <a:avLst/>
          </a:prstGeom>
          <a:ln w="76200">
            <a:headEnd type="triangle"/>
            <a:tailEnd type="triangle"/>
          </a:ln>
        </p:spPr>
        <p:style>
          <a:lnRef idx="3">
            <a:schemeClr val="accent1"/>
          </a:lnRef>
          <a:fillRef idx="0">
            <a:schemeClr val="accent1"/>
          </a:fillRef>
          <a:effectRef idx="2">
            <a:schemeClr val="accent1"/>
          </a:effectRef>
          <a:fontRef idx="minor">
            <a:schemeClr val="tx1"/>
          </a:fontRef>
        </p:style>
      </p:cxnSp>
      <mc:AlternateContent xmlns:mc="http://schemas.openxmlformats.org/markup-compatibility/2006" xmlns:a14="http://schemas.microsoft.com/office/drawing/2010/main">
        <mc:Choice Requires="a14">
          <p:sp>
            <p:nvSpPr>
              <p:cNvPr id="18" name="TextBox 17"/>
              <p:cNvSpPr txBox="1"/>
              <p:nvPr/>
            </p:nvSpPr>
            <p:spPr>
              <a:xfrm>
                <a:off x="2872408" y="2169993"/>
                <a:ext cx="1172817" cy="6463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3600" b="1" i="1">
                          <a:latin typeface="Cambria Math" panose="02040503050406030204" pitchFamily="18" charset="0"/>
                        </a:rPr>
                        <m:t>𝑲𝑳</m:t>
                      </m:r>
                      <m:r>
                        <a:rPr lang="en-US" sz="3600" b="1" i="1">
                          <a:latin typeface="Cambria Math" panose="02040503050406030204" pitchFamily="18" charset="0"/>
                        </a:rPr>
                        <m:t>(</m:t>
                      </m:r>
                      <m:r>
                        <a:rPr lang="en-US" sz="3600" b="1" i="1">
                          <a:latin typeface="Cambria Math" panose="02040503050406030204" pitchFamily="18" charset="0"/>
                        </a:rPr>
                        <m:t>𝒒</m:t>
                      </m:r>
                      <m:r>
                        <a:rPr lang="en-US" sz="3600" b="1" i="1">
                          <a:latin typeface="Cambria Math" panose="02040503050406030204" pitchFamily="18" charset="0"/>
                        </a:rPr>
                        <m:t>(</m:t>
                      </m:r>
                      <m:r>
                        <a:rPr lang="en-US" sz="3600" b="1" i="1">
                          <a:latin typeface="Cambria Math" panose="02040503050406030204" pitchFamily="18" charset="0"/>
                        </a:rPr>
                        <m:t>𝒛</m:t>
                      </m:r>
                      <m:r>
                        <a:rPr lang="en-US" sz="3600" b="1" i="1">
                          <a:latin typeface="Cambria Math" panose="02040503050406030204" pitchFamily="18" charset="0"/>
                        </a:rPr>
                        <m:t>|</m:t>
                      </m:r>
                      <m:r>
                        <a:rPr lang="en-US" sz="3600" b="1" i="1">
                          <a:latin typeface="Cambria Math" panose="02040503050406030204" pitchFamily="18" charset="0"/>
                        </a:rPr>
                        <m:t>𝒙</m:t>
                      </m:r>
                      <m:r>
                        <a:rPr lang="en-US" sz="3600" b="1" i="1">
                          <a:latin typeface="Cambria Math" panose="02040503050406030204" pitchFamily="18" charset="0"/>
                        </a:rPr>
                        <m:t>) |</m:t>
                      </m:r>
                      <m:d>
                        <m:dPr>
                          <m:begChr m:val="|"/>
                          <m:ctrlPr>
                            <a:rPr lang="en-US" sz="3600" b="1" i="1">
                              <a:latin typeface="Cambria Math" panose="02040503050406030204" pitchFamily="18" charset="0"/>
                            </a:rPr>
                          </m:ctrlPr>
                        </m:dPr>
                        <m:e>
                          <m:r>
                            <a:rPr lang="en-US" sz="3600" b="1" i="1">
                              <a:latin typeface="Cambria Math" panose="02040503050406030204" pitchFamily="18" charset="0"/>
                            </a:rPr>
                            <m:t> </m:t>
                          </m:r>
                          <m:r>
                            <a:rPr lang="en-US" sz="3600" b="1" i="1">
                              <a:latin typeface="Cambria Math" panose="02040503050406030204" pitchFamily="18" charset="0"/>
                            </a:rPr>
                            <m:t>𝒑</m:t>
                          </m:r>
                          <m:r>
                            <a:rPr lang="en-US" sz="3600" b="1" i="1">
                              <a:latin typeface="Cambria Math" panose="02040503050406030204" pitchFamily="18" charset="0"/>
                            </a:rPr>
                            <m:t>(</m:t>
                          </m:r>
                          <m:r>
                            <a:rPr lang="en-US" sz="3600" b="1" i="1">
                              <a:latin typeface="Cambria Math" panose="02040503050406030204" pitchFamily="18" charset="0"/>
                            </a:rPr>
                            <m:t>𝒛</m:t>
                          </m:r>
                          <m:r>
                            <a:rPr lang="en-US" sz="3600" b="1" i="1">
                              <a:latin typeface="Cambria Math" panose="02040503050406030204" pitchFamily="18" charset="0"/>
                            </a:rPr>
                            <m:t>|</m:t>
                          </m:r>
                          <m:r>
                            <a:rPr lang="en-US" sz="3600" b="1" i="1">
                              <a:latin typeface="Cambria Math" panose="02040503050406030204" pitchFamily="18" charset="0"/>
                            </a:rPr>
                            <m:t>𝒙</m:t>
                          </m:r>
                          <m:r>
                            <a:rPr lang="en-US" sz="3600" b="1" i="1">
                              <a:latin typeface="Cambria Math" panose="02040503050406030204" pitchFamily="18" charset="0"/>
                            </a:rPr>
                            <m:t>)</m:t>
                          </m:r>
                        </m:e>
                      </m:d>
                    </m:oMath>
                  </m:oMathPara>
                </a14:m>
                <a:endParaRPr lang="en-US" sz="3600" dirty="0"/>
              </a:p>
            </p:txBody>
          </p:sp>
        </mc:Choice>
        <mc:Fallback xmlns="">
          <p:sp>
            <p:nvSpPr>
              <p:cNvPr id="18" name="TextBox 17"/>
              <p:cNvSpPr txBox="1">
                <a:spLocks noRot="1" noChangeAspect="1" noMove="1" noResize="1" noEditPoints="1" noAdjustHandles="1" noChangeArrowheads="1" noChangeShapeType="1" noTextEdit="1"/>
              </p:cNvSpPr>
              <p:nvPr/>
            </p:nvSpPr>
            <p:spPr>
              <a:xfrm>
                <a:off x="2872408" y="2169993"/>
                <a:ext cx="1172817" cy="646331"/>
              </a:xfrm>
              <a:prstGeom prst="rect">
                <a:avLst/>
              </a:prstGeom>
              <a:blipFill>
                <a:blip r:embed="rId4"/>
                <a:stretch>
                  <a:fillRect r="-252332"/>
                </a:stretch>
              </a:blipFill>
            </p:spPr>
            <p:txBody>
              <a:bodyPr/>
              <a:lstStyle/>
              <a:p>
                <a:r>
                  <a:rPr lang="he-IL">
                    <a:noFill/>
                  </a:rPr>
                  <a:t> </a:t>
                </a:r>
              </a:p>
            </p:txBody>
          </p:sp>
        </mc:Fallback>
      </mc:AlternateContent>
      <p:cxnSp>
        <p:nvCxnSpPr>
          <p:cNvPr id="19" name="Straight Connector 18"/>
          <p:cNvCxnSpPr/>
          <p:nvPr/>
        </p:nvCxnSpPr>
        <p:spPr>
          <a:xfrm>
            <a:off x="699052" y="3059424"/>
            <a:ext cx="4199283" cy="0"/>
          </a:xfrm>
          <a:prstGeom prst="line">
            <a:avLst/>
          </a:prstGeom>
          <a:ln w="762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TextBox 20"/>
              <p:cNvSpPr txBox="1"/>
              <p:nvPr/>
            </p:nvSpPr>
            <p:spPr>
              <a:xfrm>
                <a:off x="2872408" y="4222037"/>
                <a:ext cx="1172817" cy="6463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x-none" sz="3600" b="1" i="1" smtClean="0">
                          <a:latin typeface="Cambria Math" panose="02040503050406030204" pitchFamily="18" charset="0"/>
                        </a:rPr>
                        <m:t>𝓛</m:t>
                      </m:r>
                      <m:r>
                        <a:rPr lang="en-US" sz="3600" b="1" i="1" smtClean="0">
                          <a:latin typeface="Cambria Math" panose="02040503050406030204" pitchFamily="18" charset="0"/>
                        </a:rPr>
                        <m:t>(</m:t>
                      </m:r>
                      <m:r>
                        <a:rPr lang="en-US" sz="3600" b="1" i="1" smtClean="0">
                          <a:latin typeface="Cambria Math" panose="02040503050406030204" pitchFamily="18" charset="0"/>
                        </a:rPr>
                        <m:t>𝝓</m:t>
                      </m:r>
                      <m:r>
                        <a:rPr lang="en-US" sz="3600" b="1" i="1" smtClean="0">
                          <a:latin typeface="Cambria Math" panose="02040503050406030204" pitchFamily="18" charset="0"/>
                        </a:rPr>
                        <m:t>)</m:t>
                      </m:r>
                    </m:oMath>
                  </m:oMathPara>
                </a14:m>
                <a:endParaRPr lang="en-US" sz="3600" b="1" dirty="0"/>
              </a:p>
            </p:txBody>
          </p:sp>
        </mc:Choice>
        <mc:Fallback xmlns="">
          <p:sp>
            <p:nvSpPr>
              <p:cNvPr id="21" name="TextBox 20"/>
              <p:cNvSpPr txBox="1">
                <a:spLocks noRot="1" noChangeAspect="1" noMove="1" noResize="1" noEditPoints="1" noAdjustHandles="1" noChangeArrowheads="1" noChangeShapeType="1" noTextEdit="1"/>
              </p:cNvSpPr>
              <p:nvPr/>
            </p:nvSpPr>
            <p:spPr>
              <a:xfrm>
                <a:off x="2872408" y="4222037"/>
                <a:ext cx="1172817" cy="646331"/>
              </a:xfrm>
              <a:prstGeom prst="rect">
                <a:avLst/>
              </a:prstGeom>
              <a:blipFill>
                <a:blip r:embed="rId5"/>
                <a:stretch>
                  <a:fillRect/>
                </a:stretch>
              </a:blipFill>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12" name="Rectangle 11"/>
              <p:cNvSpPr/>
              <p:nvPr/>
            </p:nvSpPr>
            <p:spPr>
              <a:xfrm>
                <a:off x="2407404" y="5968934"/>
                <a:ext cx="7219669"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unc>
                        <m:funcPr>
                          <m:ctrlPr>
                            <a:rPr lang="en-US" sz="3200" b="1" i="1">
                              <a:latin typeface="Cambria Math" panose="02040503050406030204" pitchFamily="18" charset="0"/>
                            </a:rPr>
                          </m:ctrlPr>
                        </m:funcPr>
                        <m:fName>
                          <m:r>
                            <a:rPr lang="en-US" sz="3200" b="1">
                              <a:latin typeface="Cambria Math" panose="02040503050406030204" pitchFamily="18" charset="0"/>
                            </a:rPr>
                            <m:t>𝐥𝐨𝐠</m:t>
                          </m:r>
                        </m:fName>
                        <m:e>
                          <m:r>
                            <a:rPr lang="en-US" sz="3200" b="1" i="1">
                              <a:latin typeface="Cambria Math" panose="02040503050406030204" pitchFamily="18" charset="0"/>
                            </a:rPr>
                            <m:t>𝒑</m:t>
                          </m:r>
                          <m:r>
                            <a:rPr lang="en-US" sz="3200" b="1" i="1">
                              <a:latin typeface="Cambria Math" panose="02040503050406030204" pitchFamily="18" charset="0"/>
                            </a:rPr>
                            <m:t>(</m:t>
                          </m:r>
                          <m:r>
                            <a:rPr lang="en-US" sz="3200" b="1" i="1">
                              <a:latin typeface="Cambria Math" panose="02040503050406030204" pitchFamily="18" charset="0"/>
                            </a:rPr>
                            <m:t>𝒙</m:t>
                          </m:r>
                          <m:r>
                            <a:rPr lang="en-US" sz="3200" b="1" i="1">
                              <a:latin typeface="Cambria Math" panose="02040503050406030204" pitchFamily="18" charset="0"/>
                            </a:rPr>
                            <m:t>)</m:t>
                          </m:r>
                        </m:e>
                      </m:func>
                      <m:r>
                        <a:rPr lang="en-US" sz="3200" b="1" i="1" smtClean="0">
                          <a:latin typeface="Cambria Math" panose="02040503050406030204" pitchFamily="18" charset="0"/>
                        </a:rPr>
                        <m:t>=</m:t>
                      </m:r>
                      <m:r>
                        <a:rPr lang="en-US" sz="3200" b="1" i="1">
                          <a:latin typeface="Cambria Math" panose="02040503050406030204" pitchFamily="18" charset="0"/>
                        </a:rPr>
                        <m:t>𝑲𝑳</m:t>
                      </m:r>
                      <m:r>
                        <a:rPr lang="en-US" sz="3200" b="1" i="1">
                          <a:latin typeface="Cambria Math" panose="02040503050406030204" pitchFamily="18" charset="0"/>
                        </a:rPr>
                        <m:t>(</m:t>
                      </m:r>
                      <m:r>
                        <a:rPr lang="en-US" sz="3200" b="1" i="1">
                          <a:latin typeface="Cambria Math" panose="02040503050406030204" pitchFamily="18" charset="0"/>
                        </a:rPr>
                        <m:t>𝒒</m:t>
                      </m:r>
                      <m:r>
                        <a:rPr lang="en-US" sz="3200" b="1" i="1">
                          <a:latin typeface="Cambria Math" panose="02040503050406030204" pitchFamily="18" charset="0"/>
                        </a:rPr>
                        <m:t>(</m:t>
                      </m:r>
                      <m:r>
                        <a:rPr lang="en-US" sz="3200" b="1" i="1">
                          <a:latin typeface="Cambria Math" panose="02040503050406030204" pitchFamily="18" charset="0"/>
                        </a:rPr>
                        <m:t>𝒛</m:t>
                      </m:r>
                      <m:r>
                        <a:rPr lang="en-US" sz="3200" b="1" i="1">
                          <a:latin typeface="Cambria Math" panose="02040503050406030204" pitchFamily="18" charset="0"/>
                        </a:rPr>
                        <m:t>|</m:t>
                      </m:r>
                      <m:r>
                        <a:rPr lang="en-US" sz="3200" b="1" i="1">
                          <a:latin typeface="Cambria Math" panose="02040503050406030204" pitchFamily="18" charset="0"/>
                        </a:rPr>
                        <m:t>𝒙</m:t>
                      </m:r>
                      <m:r>
                        <a:rPr lang="en-US" sz="3200" b="1" i="1">
                          <a:latin typeface="Cambria Math" panose="02040503050406030204" pitchFamily="18" charset="0"/>
                        </a:rPr>
                        <m:t>)||</m:t>
                      </m:r>
                      <m:r>
                        <a:rPr lang="en-US" sz="3200" b="1" i="1">
                          <a:latin typeface="Cambria Math" panose="02040503050406030204" pitchFamily="18" charset="0"/>
                        </a:rPr>
                        <m:t>𝒑</m:t>
                      </m:r>
                      <m:d>
                        <m:dPr>
                          <m:ctrlPr>
                            <a:rPr lang="en-US" sz="3200" b="1" i="1">
                              <a:latin typeface="Cambria Math" panose="02040503050406030204" pitchFamily="18" charset="0"/>
                            </a:rPr>
                          </m:ctrlPr>
                        </m:dPr>
                        <m:e>
                          <m:r>
                            <a:rPr lang="en-US" sz="3200" b="1" i="1">
                              <a:latin typeface="Cambria Math" panose="02040503050406030204" pitchFamily="18" charset="0"/>
                            </a:rPr>
                            <m:t>𝒛</m:t>
                          </m:r>
                        </m:e>
                        <m:e>
                          <m:r>
                            <a:rPr lang="en-US" sz="3200" b="1" i="1">
                              <a:latin typeface="Cambria Math" panose="02040503050406030204" pitchFamily="18" charset="0"/>
                            </a:rPr>
                            <m:t>𝒙</m:t>
                          </m:r>
                        </m:e>
                      </m:d>
                      <m:r>
                        <a:rPr lang="en-US" sz="3200" b="1" i="1">
                          <a:latin typeface="Cambria Math" panose="02040503050406030204" pitchFamily="18" charset="0"/>
                        </a:rPr>
                        <m:t>)+</m:t>
                      </m:r>
                      <m:r>
                        <a:rPr lang="x-none" sz="3200" b="1" i="1">
                          <a:latin typeface="Cambria Math" panose="02040503050406030204" pitchFamily="18" charset="0"/>
                        </a:rPr>
                        <m:t>𝓛</m:t>
                      </m:r>
                      <m:d>
                        <m:dPr>
                          <m:ctrlPr>
                            <a:rPr lang="en-US" sz="3200" b="1" i="1">
                              <a:latin typeface="Cambria Math" panose="02040503050406030204" pitchFamily="18" charset="0"/>
                            </a:rPr>
                          </m:ctrlPr>
                        </m:dPr>
                        <m:e>
                          <m:r>
                            <a:rPr lang="en-US" sz="3200" b="1" i="1">
                              <a:latin typeface="Cambria Math" panose="02040503050406030204" pitchFamily="18" charset="0"/>
                            </a:rPr>
                            <m:t>𝝓</m:t>
                          </m:r>
                        </m:e>
                      </m:d>
                    </m:oMath>
                  </m:oMathPara>
                </a14:m>
                <a:endParaRPr lang="he-IL" sz="3200" b="1" dirty="0"/>
              </a:p>
            </p:txBody>
          </p:sp>
        </mc:Choice>
        <mc:Fallback xmlns="">
          <p:sp>
            <p:nvSpPr>
              <p:cNvPr id="12" name="Rectangle 11"/>
              <p:cNvSpPr>
                <a:spLocks noRot="1" noChangeAspect="1" noMove="1" noResize="1" noEditPoints="1" noAdjustHandles="1" noChangeArrowheads="1" noChangeShapeType="1" noTextEdit="1"/>
              </p:cNvSpPr>
              <p:nvPr/>
            </p:nvSpPr>
            <p:spPr>
              <a:xfrm>
                <a:off x="2407404" y="5968934"/>
                <a:ext cx="7219669" cy="584775"/>
              </a:xfrm>
              <a:prstGeom prst="rect">
                <a:avLst/>
              </a:prstGeom>
              <a:blipFill>
                <a:blip r:embed="rId6"/>
                <a:stretch>
                  <a:fillRect/>
                </a:stretch>
              </a:blipFill>
            </p:spPr>
            <p:txBody>
              <a:bodyPr/>
              <a:lstStyle/>
              <a:p>
                <a:r>
                  <a:rPr lang="he-IL">
                    <a:noFill/>
                  </a:rPr>
                  <a:t> </a:t>
                </a:r>
              </a:p>
            </p:txBody>
          </p:sp>
        </mc:Fallback>
      </mc:AlternateContent>
    </p:spTree>
    <p:extLst>
      <p:ext uri="{BB962C8B-B14F-4D97-AF65-F5344CB8AC3E}">
        <p14:creationId xmlns:p14="http://schemas.microsoft.com/office/powerpoint/2010/main" val="154008926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Evidence Lower BOund (ELBO)</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0" y="1825625"/>
                <a:ext cx="12192000" cy="4351338"/>
              </a:xfrm>
            </p:spPr>
            <p:txBody>
              <a:bodyPr>
                <a:normAutofit/>
              </a:bodyPr>
              <a:lstStyle/>
              <a:p>
                <a:pPr marL="0" indent="0">
                  <a:buNone/>
                </a:pPr>
                <a14:m>
                  <m:oMathPara xmlns:m="http://schemas.openxmlformats.org/officeDocument/2006/math">
                    <m:oMathParaPr>
                      <m:jc m:val="centerGroup"/>
                    </m:oMathParaPr>
                    <m:oMath xmlns:m="http://schemas.openxmlformats.org/officeDocument/2006/math">
                      <m:r>
                        <a:rPr lang="x-none" i="1" smtClean="0">
                          <a:latin typeface="Cambria Math" panose="02040503050406030204" pitchFamily="18" charset="0"/>
                        </a:rPr>
                        <m:t>ℒ</m:t>
                      </m:r>
                      <m:d>
                        <m:dPr>
                          <m:ctrlPr>
                            <a:rPr lang="en-US" i="1">
                              <a:latin typeface="Cambria Math" panose="02040503050406030204" pitchFamily="18" charset="0"/>
                            </a:rPr>
                          </m:ctrlPr>
                        </m:dPr>
                        <m:e>
                          <m:r>
                            <a:rPr lang="en-US" i="1">
                              <a:latin typeface="Cambria Math" panose="02040503050406030204" pitchFamily="18" charset="0"/>
                            </a:rPr>
                            <m:t>𝜙</m:t>
                          </m:r>
                        </m:e>
                      </m:d>
                      <m:r>
                        <a:rPr lang="en-US" b="0" i="0" smtClean="0">
                          <a:latin typeface="Cambria Math" panose="02040503050406030204" pitchFamily="18" charset="0"/>
                        </a:rPr>
                        <m:t>=</m:t>
                      </m:r>
                      <m:nary>
                        <m:naryPr>
                          <m:subHide m:val="on"/>
                          <m:supHide m:val="on"/>
                          <m:ctrlPr>
                            <a:rPr lang="en-US" b="0" i="1" smtClean="0">
                              <a:latin typeface="Cambria Math" panose="02040503050406030204" pitchFamily="18" charset="0"/>
                            </a:rPr>
                          </m:ctrlPr>
                        </m:naryPr>
                        <m:sub/>
                        <m:sup/>
                        <m:e>
                          <m:r>
                            <a:rPr lang="en-US" b="0" i="1" smtClean="0">
                              <a:latin typeface="Cambria Math" panose="02040503050406030204" pitchFamily="18" charset="0"/>
                            </a:rPr>
                            <m:t>𝑞</m:t>
                          </m:r>
                          <m:d>
                            <m:dPr>
                              <m:ctrlPr>
                                <a:rPr lang="en-US" b="0" i="1" smtClean="0">
                                  <a:latin typeface="Cambria Math" panose="02040503050406030204" pitchFamily="18" charset="0"/>
                                </a:rPr>
                              </m:ctrlPr>
                            </m:dPr>
                            <m:e>
                              <m:r>
                                <a:rPr lang="en-US" b="0" i="1" smtClean="0">
                                  <a:latin typeface="Cambria Math" panose="02040503050406030204" pitchFamily="18" charset="0"/>
                                </a:rPr>
                                <m:t>𝑧</m:t>
                              </m:r>
                            </m:e>
                            <m:e>
                              <m:r>
                                <a:rPr lang="en-US" b="0" i="1" smtClean="0">
                                  <a:latin typeface="Cambria Math" panose="02040503050406030204" pitchFamily="18" charset="0"/>
                                </a:rPr>
                                <m:t>𝑥</m:t>
                              </m:r>
                            </m:e>
                          </m:d>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f>
                                <m:fPr>
                                  <m:ctrlPr>
                                    <a:rPr lang="en-US" b="0" i="1" smtClean="0">
                                      <a:latin typeface="Cambria Math" panose="02040503050406030204" pitchFamily="18" charset="0"/>
                                    </a:rPr>
                                  </m:ctrlPr>
                                </m:fPr>
                                <m:num>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𝑧</m:t>
                                  </m:r>
                                  <m:r>
                                    <a:rPr lang="en-US" b="0" i="1" smtClean="0">
                                      <a:latin typeface="Cambria Math" panose="02040503050406030204" pitchFamily="18" charset="0"/>
                                    </a:rPr>
                                    <m:t>)</m:t>
                                  </m:r>
                                </m:num>
                                <m:den>
                                  <m:r>
                                    <a:rPr lang="en-US" b="0" i="1" smtClean="0">
                                      <a:latin typeface="Cambria Math" panose="02040503050406030204" pitchFamily="18" charset="0"/>
                                    </a:rPr>
                                    <m:t>𝑞</m:t>
                                  </m:r>
                                  <m:d>
                                    <m:dPr>
                                      <m:ctrlPr>
                                        <a:rPr lang="en-US" i="1">
                                          <a:latin typeface="Cambria Math" panose="02040503050406030204" pitchFamily="18" charset="0"/>
                                        </a:rPr>
                                      </m:ctrlPr>
                                    </m:dPr>
                                    <m:e>
                                      <m:r>
                                        <a:rPr lang="en-US" i="1">
                                          <a:latin typeface="Cambria Math" panose="02040503050406030204" pitchFamily="18" charset="0"/>
                                        </a:rPr>
                                        <m:t>𝑧</m:t>
                                      </m:r>
                                    </m:e>
                                    <m:e>
                                      <m:r>
                                        <a:rPr lang="en-US" i="1">
                                          <a:latin typeface="Cambria Math" panose="02040503050406030204" pitchFamily="18" charset="0"/>
                                        </a:rPr>
                                        <m:t>𝑥</m:t>
                                      </m:r>
                                    </m:e>
                                  </m:d>
                                </m:den>
                              </m:f>
                            </m:e>
                          </m:func>
                          <m:r>
                            <a:rPr lang="en-US" i="1">
                              <a:latin typeface="Cambria Math" panose="02040503050406030204" pitchFamily="18" charset="0"/>
                            </a:rPr>
                            <m:t>𝑑𝑧</m:t>
                          </m:r>
                        </m:e>
                      </m:nary>
                      <m:r>
                        <a:rPr lang="en-US" b="0" i="0" smtClean="0">
                          <a:latin typeface="Cambria Math" panose="02040503050406030204" pitchFamily="18" charset="0"/>
                        </a:rPr>
                        <m:t>=</m:t>
                      </m:r>
                      <m:nary>
                        <m:naryPr>
                          <m:subHide m:val="on"/>
                          <m:supHide m:val="on"/>
                          <m:ctrlPr>
                            <a:rPr lang="en-US" b="0" i="1" smtClean="0">
                              <a:latin typeface="Cambria Math" panose="02040503050406030204" pitchFamily="18" charset="0"/>
                            </a:rPr>
                          </m:ctrlPr>
                        </m:naryPr>
                        <m:sub/>
                        <m:sup/>
                        <m:e>
                          <m:r>
                            <a:rPr lang="en-US" b="0" i="1" smtClean="0">
                              <a:latin typeface="Cambria Math" panose="02040503050406030204" pitchFamily="18" charset="0"/>
                            </a:rPr>
                            <m:t>𝑞</m:t>
                          </m:r>
                          <m:d>
                            <m:dPr>
                              <m:ctrlPr>
                                <a:rPr lang="en-US" b="0" i="1" smtClean="0">
                                  <a:latin typeface="Cambria Math" panose="02040503050406030204" pitchFamily="18" charset="0"/>
                                </a:rPr>
                              </m:ctrlPr>
                            </m:dPr>
                            <m:e>
                              <m:r>
                                <a:rPr lang="en-US" b="0" i="1" smtClean="0">
                                  <a:latin typeface="Cambria Math" panose="02040503050406030204" pitchFamily="18" charset="0"/>
                                </a:rPr>
                                <m:t>𝑧</m:t>
                              </m:r>
                            </m:e>
                            <m:e>
                              <m:r>
                                <a:rPr lang="en-US" b="0" i="1" smtClean="0">
                                  <a:latin typeface="Cambria Math" panose="02040503050406030204" pitchFamily="18" charset="0"/>
                                </a:rPr>
                                <m:t>𝑥</m:t>
                              </m:r>
                            </m:e>
                          </m:d>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f>
                                <m:fPr>
                                  <m:ctrlPr>
                                    <a:rPr lang="en-US" b="0" i="1" smtClean="0">
                                      <a:latin typeface="Cambria Math" panose="02040503050406030204" pitchFamily="18" charset="0"/>
                                    </a:rPr>
                                  </m:ctrlPr>
                                </m:fPr>
                                <m:num>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e>
                                      <m:r>
                                        <a:rPr lang="en-US" b="0" i="1" smtClean="0">
                                          <a:latin typeface="Cambria Math" panose="02040503050406030204" pitchFamily="18" charset="0"/>
                                        </a:rPr>
                                        <m:t>𝑧</m:t>
                                      </m:r>
                                    </m:e>
                                  </m:d>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𝑧</m:t>
                                  </m:r>
                                  <m:r>
                                    <a:rPr lang="en-US" b="0" i="1" smtClean="0">
                                      <a:latin typeface="Cambria Math" panose="02040503050406030204" pitchFamily="18" charset="0"/>
                                    </a:rPr>
                                    <m:t>)</m:t>
                                  </m:r>
                                </m:num>
                                <m:den>
                                  <m:r>
                                    <a:rPr lang="en-US" b="0" i="1" smtClean="0">
                                      <a:latin typeface="Cambria Math" panose="02040503050406030204" pitchFamily="18" charset="0"/>
                                    </a:rPr>
                                    <m:t>𝑞</m:t>
                                  </m:r>
                                  <m:r>
                                    <a:rPr lang="en-US" b="0" i="1" smtClean="0">
                                      <a:latin typeface="Cambria Math" panose="02040503050406030204" pitchFamily="18" charset="0"/>
                                    </a:rPr>
                                    <m:t>(</m:t>
                                  </m:r>
                                  <m:r>
                                    <a:rPr lang="en-US" b="0" i="1" smtClean="0">
                                      <a:latin typeface="Cambria Math" panose="02040503050406030204" pitchFamily="18" charset="0"/>
                                    </a:rPr>
                                    <m:t>𝑧</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den>
                              </m:f>
                            </m:e>
                          </m:func>
                        </m:e>
                      </m:nary>
                      <m:r>
                        <a:rPr lang="en-US" i="1">
                          <a:latin typeface="Cambria Math" panose="02040503050406030204" pitchFamily="18" charset="0"/>
                        </a:rPr>
                        <m:t>𝑑𝑧</m:t>
                      </m:r>
                    </m:oMath>
                  </m:oMathPara>
                </a14:m>
                <a:br>
                  <a:rPr lang="en-US" b="0" dirty="0"/>
                </a:br>
                <a:endParaRPr lang="en-US" b="0" dirty="0"/>
              </a:p>
              <a:p>
                <a:pPr marL="0" indent="0">
                  <a:buNone/>
                </a:pPr>
                <a:endParaRPr lang="en-US" b="0" dirty="0"/>
              </a:p>
              <a:p>
                <a:pPr marL="0" indent="0">
                  <a:buNone/>
                </a:pPr>
                <a14:m>
                  <m:oMathPara xmlns:m="http://schemas.openxmlformats.org/officeDocument/2006/math">
                    <m:oMathParaPr>
                      <m:jc m:val="centerGroup"/>
                    </m:oMathParaPr>
                    <m:oMath xmlns:m="http://schemas.openxmlformats.org/officeDocument/2006/math">
                      <m:r>
                        <a:rPr lang="x-none" i="1">
                          <a:latin typeface="Cambria Math" panose="02040503050406030204" pitchFamily="18" charset="0"/>
                        </a:rPr>
                        <m:t>ℒ</m:t>
                      </m:r>
                      <m:d>
                        <m:dPr>
                          <m:ctrlPr>
                            <a:rPr lang="en-US" i="1">
                              <a:latin typeface="Cambria Math" panose="02040503050406030204" pitchFamily="18" charset="0"/>
                            </a:rPr>
                          </m:ctrlPr>
                        </m:dPr>
                        <m:e>
                          <m:r>
                            <a:rPr lang="en-US" i="1">
                              <a:latin typeface="Cambria Math" panose="02040503050406030204" pitchFamily="18" charset="0"/>
                            </a:rPr>
                            <m:t>𝜙</m:t>
                          </m:r>
                        </m:e>
                      </m:d>
                      <m:r>
                        <a:rPr lang="en-US" b="0" i="1" smtClean="0">
                          <a:latin typeface="Cambria Math" panose="02040503050406030204" pitchFamily="18" charset="0"/>
                        </a:rPr>
                        <m:t>=</m:t>
                      </m:r>
                      <m:nary>
                        <m:naryPr>
                          <m:subHide m:val="on"/>
                          <m:supHide m:val="on"/>
                          <m:ctrlPr>
                            <a:rPr lang="en-US" i="1">
                              <a:latin typeface="Cambria Math" panose="02040503050406030204" pitchFamily="18" charset="0"/>
                            </a:rPr>
                          </m:ctrlPr>
                        </m:naryPr>
                        <m:sub/>
                        <m:sup/>
                        <m:e>
                          <m:r>
                            <a:rPr lang="en-US" i="1">
                              <a:latin typeface="Cambria Math" panose="02040503050406030204" pitchFamily="18" charset="0"/>
                            </a:rPr>
                            <m:t>𝑞</m:t>
                          </m:r>
                          <m:d>
                            <m:dPr>
                              <m:ctrlPr>
                                <a:rPr lang="en-US" i="1">
                                  <a:latin typeface="Cambria Math" panose="02040503050406030204" pitchFamily="18" charset="0"/>
                                </a:rPr>
                              </m:ctrlPr>
                            </m:dPr>
                            <m:e>
                              <m:r>
                                <a:rPr lang="en-US" i="1">
                                  <a:latin typeface="Cambria Math" panose="02040503050406030204" pitchFamily="18" charset="0"/>
                                </a:rPr>
                                <m:t>𝑧</m:t>
                              </m:r>
                            </m:e>
                            <m:e>
                              <m:r>
                                <a:rPr lang="en-US" i="1">
                                  <a:latin typeface="Cambria Math" panose="02040503050406030204" pitchFamily="18" charset="0"/>
                                </a:rPr>
                                <m:t>𝑥</m:t>
                              </m:r>
                            </m:e>
                          </m:d>
                          <m:d>
                            <m:dPr>
                              <m:begChr m:val="["/>
                              <m:endChr m:val="]"/>
                              <m:ctrlPr>
                                <a:rPr lang="en-US" b="0" i="1" smtClean="0">
                                  <a:latin typeface="Cambria Math" panose="02040503050406030204" pitchFamily="18" charset="0"/>
                                </a:rPr>
                              </m:ctrlPr>
                            </m:dPr>
                            <m:e>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f>
                                    <m:fPr>
                                      <m:ctrlPr>
                                        <a:rPr lang="en-US" i="1">
                                          <a:latin typeface="Cambria Math" panose="02040503050406030204" pitchFamily="18" charset="0"/>
                                        </a:rPr>
                                      </m:ctrlPr>
                                    </m:fPr>
                                    <m:num>
                                      <m:r>
                                        <a:rPr lang="en-US" i="1">
                                          <a:latin typeface="Cambria Math" panose="02040503050406030204" pitchFamily="18" charset="0"/>
                                        </a:rPr>
                                        <m:t>𝑝</m:t>
                                      </m:r>
                                      <m:r>
                                        <a:rPr lang="en-US" i="1">
                                          <a:latin typeface="Cambria Math" panose="02040503050406030204" pitchFamily="18" charset="0"/>
                                        </a:rPr>
                                        <m:t>(</m:t>
                                      </m:r>
                                      <m:r>
                                        <a:rPr lang="en-US" i="1">
                                          <a:latin typeface="Cambria Math" panose="02040503050406030204" pitchFamily="18" charset="0"/>
                                        </a:rPr>
                                        <m:t>𝑧</m:t>
                                      </m:r>
                                      <m:r>
                                        <a:rPr lang="en-US" i="1">
                                          <a:latin typeface="Cambria Math" panose="02040503050406030204" pitchFamily="18" charset="0"/>
                                        </a:rPr>
                                        <m:t>)</m:t>
                                      </m:r>
                                    </m:num>
                                    <m:den>
                                      <m:r>
                                        <a:rPr lang="en-US" i="1">
                                          <a:latin typeface="Cambria Math" panose="02040503050406030204" pitchFamily="18" charset="0"/>
                                        </a:rPr>
                                        <m:t>𝑞</m:t>
                                      </m:r>
                                      <m:r>
                                        <a:rPr lang="en-US" i="1">
                                          <a:latin typeface="Cambria Math" panose="02040503050406030204" pitchFamily="18" charset="0"/>
                                        </a:rPr>
                                        <m:t>(</m:t>
                                      </m:r>
                                      <m:r>
                                        <a:rPr lang="en-US" i="1">
                                          <a:latin typeface="Cambria Math" panose="02040503050406030204" pitchFamily="18" charset="0"/>
                                        </a:rPr>
                                        <m:t>𝑧</m:t>
                                      </m:r>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den>
                                  </m:f>
                                </m:e>
                              </m:func>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e>
                                      <m:r>
                                        <a:rPr lang="en-US" b="0" i="1" smtClean="0">
                                          <a:latin typeface="Cambria Math" panose="02040503050406030204" pitchFamily="18" charset="0"/>
                                        </a:rPr>
                                        <m:t>𝑧</m:t>
                                      </m:r>
                                    </m:e>
                                  </m:d>
                                </m:e>
                              </m:func>
                            </m:e>
                          </m:d>
                        </m:e>
                      </m:nary>
                      <m:r>
                        <a:rPr lang="en-US" i="1">
                          <a:latin typeface="Cambria Math" panose="02040503050406030204" pitchFamily="18" charset="0"/>
                        </a:rPr>
                        <m:t>𝑑𝑧</m:t>
                      </m:r>
                    </m:oMath>
                  </m:oMathPara>
                </a14:m>
                <a:endParaRPr lang="en-US" dirty="0"/>
              </a:p>
              <a:p>
                <a:pPr marL="0" indent="0">
                  <a:buNone/>
                </a:pPr>
                <a:endParaRPr lang="en-US"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x-none" sz="4000" b="1" i="1">
                          <a:latin typeface="Cambria Math" panose="02040503050406030204" pitchFamily="18" charset="0"/>
                        </a:rPr>
                        <m:t>𝓛</m:t>
                      </m:r>
                      <m:d>
                        <m:dPr>
                          <m:ctrlPr>
                            <a:rPr lang="en-US" sz="4000" b="1" i="1">
                              <a:latin typeface="Cambria Math" panose="02040503050406030204" pitchFamily="18" charset="0"/>
                            </a:rPr>
                          </m:ctrlPr>
                        </m:dPr>
                        <m:e>
                          <m:r>
                            <a:rPr lang="en-US" sz="4000" b="1" i="1">
                              <a:latin typeface="Cambria Math" panose="02040503050406030204" pitchFamily="18" charset="0"/>
                            </a:rPr>
                            <m:t>𝝓</m:t>
                          </m:r>
                        </m:e>
                      </m:d>
                      <m:r>
                        <a:rPr lang="en-US" sz="4000" b="1" i="1" smtClean="0">
                          <a:latin typeface="Cambria Math" panose="02040503050406030204" pitchFamily="18" charset="0"/>
                        </a:rPr>
                        <m:t>=−</m:t>
                      </m:r>
                      <m:r>
                        <a:rPr lang="en-US" sz="4000" b="1" i="1" smtClean="0">
                          <a:latin typeface="Cambria Math" panose="02040503050406030204" pitchFamily="18" charset="0"/>
                        </a:rPr>
                        <m:t>𝑲𝑳</m:t>
                      </m:r>
                      <m:d>
                        <m:dPr>
                          <m:ctrlPr>
                            <a:rPr lang="en-US" sz="4000" b="1" i="1" smtClean="0">
                              <a:latin typeface="Cambria Math" panose="02040503050406030204" pitchFamily="18" charset="0"/>
                            </a:rPr>
                          </m:ctrlPr>
                        </m:dPr>
                        <m:e>
                          <m:r>
                            <a:rPr lang="en-US" sz="4000" b="1" i="1" smtClean="0">
                              <a:latin typeface="Cambria Math" panose="02040503050406030204" pitchFamily="18" charset="0"/>
                            </a:rPr>
                            <m:t>𝒒</m:t>
                          </m:r>
                          <m:d>
                            <m:dPr>
                              <m:ctrlPr>
                                <a:rPr lang="en-US" sz="4000" b="1" i="1" smtClean="0">
                                  <a:latin typeface="Cambria Math" panose="02040503050406030204" pitchFamily="18" charset="0"/>
                                </a:rPr>
                              </m:ctrlPr>
                            </m:dPr>
                            <m:e>
                              <m:r>
                                <a:rPr lang="en-US" sz="4000" b="1" i="1" smtClean="0">
                                  <a:latin typeface="Cambria Math" panose="02040503050406030204" pitchFamily="18" charset="0"/>
                                </a:rPr>
                                <m:t>𝒛</m:t>
                              </m:r>
                            </m:e>
                            <m:e>
                              <m:r>
                                <a:rPr lang="en-US" sz="4000" b="1" i="1" smtClean="0">
                                  <a:latin typeface="Cambria Math" panose="02040503050406030204" pitchFamily="18" charset="0"/>
                                </a:rPr>
                                <m:t>𝒙</m:t>
                              </m:r>
                            </m:e>
                          </m:d>
                          <m:r>
                            <a:rPr lang="en-US" sz="4000" b="1" i="1" smtClean="0">
                              <a:latin typeface="Cambria Math" panose="02040503050406030204" pitchFamily="18" charset="0"/>
                            </a:rPr>
                            <m:t>||</m:t>
                          </m:r>
                          <m:r>
                            <a:rPr lang="en-US" sz="4000" b="1" i="1" smtClean="0">
                              <a:latin typeface="Cambria Math" panose="02040503050406030204" pitchFamily="18" charset="0"/>
                            </a:rPr>
                            <m:t>𝒑</m:t>
                          </m:r>
                          <m:r>
                            <a:rPr lang="en-US" sz="4000" b="1" i="1" smtClean="0">
                              <a:latin typeface="Cambria Math" panose="02040503050406030204" pitchFamily="18" charset="0"/>
                            </a:rPr>
                            <m:t>(</m:t>
                          </m:r>
                          <m:r>
                            <a:rPr lang="en-US" sz="4000" b="1" i="1" smtClean="0">
                              <a:latin typeface="Cambria Math" panose="02040503050406030204" pitchFamily="18" charset="0"/>
                            </a:rPr>
                            <m:t>𝒛</m:t>
                          </m:r>
                          <m:r>
                            <a:rPr lang="en-US" sz="4000" b="1" i="1" smtClean="0">
                              <a:latin typeface="Cambria Math" panose="02040503050406030204" pitchFamily="18" charset="0"/>
                            </a:rPr>
                            <m:t>)</m:t>
                          </m:r>
                        </m:e>
                      </m:d>
                      <m:r>
                        <a:rPr lang="en-US" sz="4000" b="1" i="0" smtClean="0">
                          <a:latin typeface="Cambria Math" panose="02040503050406030204" pitchFamily="18" charset="0"/>
                        </a:rPr>
                        <m:t>+</m:t>
                      </m:r>
                      <m:sSub>
                        <m:sSubPr>
                          <m:ctrlPr>
                            <a:rPr lang="en-US" sz="4000" b="1" i="1" smtClean="0">
                              <a:latin typeface="Cambria Math" panose="02040503050406030204" pitchFamily="18" charset="0"/>
                            </a:rPr>
                          </m:ctrlPr>
                        </m:sSubPr>
                        <m:e>
                          <m:r>
                            <a:rPr lang="en-US" sz="4000" b="1" i="0" smtClean="0">
                              <a:latin typeface="Cambria Math" panose="02040503050406030204" pitchFamily="18" charset="0"/>
                            </a:rPr>
                            <m:t>𝐄</m:t>
                          </m:r>
                        </m:e>
                        <m:sub>
                          <m:r>
                            <a:rPr lang="en-US" sz="4000" b="1" i="1" smtClean="0">
                              <a:latin typeface="Cambria Math" panose="02040503050406030204" pitchFamily="18" charset="0"/>
                            </a:rPr>
                            <m:t>𝒒</m:t>
                          </m:r>
                          <m:r>
                            <a:rPr lang="en-US" sz="4000" b="1" i="1" smtClean="0">
                              <a:latin typeface="Cambria Math" panose="02040503050406030204" pitchFamily="18" charset="0"/>
                            </a:rPr>
                            <m:t>(</m:t>
                          </m:r>
                          <m:r>
                            <a:rPr lang="en-US" sz="4000" b="1" i="1" smtClean="0">
                              <a:latin typeface="Cambria Math" panose="02040503050406030204" pitchFamily="18" charset="0"/>
                            </a:rPr>
                            <m:t>𝒛</m:t>
                          </m:r>
                          <m:r>
                            <a:rPr lang="en-US" sz="4000" b="1" i="1" smtClean="0">
                              <a:latin typeface="Cambria Math" panose="02040503050406030204" pitchFamily="18" charset="0"/>
                            </a:rPr>
                            <m:t>|</m:t>
                          </m:r>
                          <m:r>
                            <a:rPr lang="en-US" sz="4000" b="1" i="1" smtClean="0">
                              <a:latin typeface="Cambria Math" panose="02040503050406030204" pitchFamily="18" charset="0"/>
                            </a:rPr>
                            <m:t>𝒙</m:t>
                          </m:r>
                          <m:r>
                            <a:rPr lang="en-US" sz="4000" b="1" i="1" smtClean="0">
                              <a:latin typeface="Cambria Math" panose="02040503050406030204" pitchFamily="18" charset="0"/>
                            </a:rPr>
                            <m:t>)</m:t>
                          </m:r>
                        </m:sub>
                      </m:sSub>
                      <m:d>
                        <m:dPr>
                          <m:begChr m:val="["/>
                          <m:endChr m:val="]"/>
                          <m:ctrlPr>
                            <a:rPr lang="en-US" sz="4000" b="1" i="1" smtClean="0">
                              <a:latin typeface="Cambria Math" panose="02040503050406030204" pitchFamily="18" charset="0"/>
                            </a:rPr>
                          </m:ctrlPr>
                        </m:dPr>
                        <m:e>
                          <m:func>
                            <m:funcPr>
                              <m:ctrlPr>
                                <a:rPr lang="en-US" sz="4000" b="1" i="1">
                                  <a:latin typeface="Cambria Math" panose="02040503050406030204" pitchFamily="18" charset="0"/>
                                </a:rPr>
                              </m:ctrlPr>
                            </m:funcPr>
                            <m:fName>
                              <m:r>
                                <a:rPr lang="en-US" sz="4000" b="1" i="1">
                                  <a:latin typeface="Cambria Math" panose="02040503050406030204" pitchFamily="18" charset="0"/>
                                </a:rPr>
                                <m:t>𝒍𝒐𝒈</m:t>
                              </m:r>
                            </m:fName>
                            <m:e>
                              <m:r>
                                <a:rPr lang="en-US" sz="4000" b="1" i="1">
                                  <a:latin typeface="Cambria Math" panose="02040503050406030204" pitchFamily="18" charset="0"/>
                                </a:rPr>
                                <m:t>𝒑</m:t>
                              </m:r>
                              <m:d>
                                <m:dPr>
                                  <m:ctrlPr>
                                    <a:rPr lang="en-US" sz="4000" b="1" i="1">
                                      <a:latin typeface="Cambria Math" panose="02040503050406030204" pitchFamily="18" charset="0"/>
                                    </a:rPr>
                                  </m:ctrlPr>
                                </m:dPr>
                                <m:e>
                                  <m:r>
                                    <a:rPr lang="en-US" sz="4000" b="1" i="1">
                                      <a:latin typeface="Cambria Math" panose="02040503050406030204" pitchFamily="18" charset="0"/>
                                    </a:rPr>
                                    <m:t>𝒙</m:t>
                                  </m:r>
                                </m:e>
                                <m:e>
                                  <m:r>
                                    <a:rPr lang="en-US" sz="4000" b="1" i="1">
                                      <a:latin typeface="Cambria Math" panose="02040503050406030204" pitchFamily="18" charset="0"/>
                                    </a:rPr>
                                    <m:t>𝒛</m:t>
                                  </m:r>
                                </m:e>
                              </m:d>
                            </m:e>
                          </m:func>
                        </m:e>
                      </m:d>
                    </m:oMath>
                  </m:oMathPara>
                </a14:m>
                <a:endParaRPr lang="en-US" sz="4000" b="1"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0" y="1825625"/>
                <a:ext cx="12192000" cy="4351338"/>
              </a:xfr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26136706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Putting it all together</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0" y="1910850"/>
                <a:ext cx="12192000" cy="4351338"/>
              </a:xfrm>
            </p:spPr>
            <p:txBody>
              <a:bodyPr>
                <a:normAutofit fontScale="92500"/>
              </a:bodyPr>
              <a:lstStyle/>
              <a:p>
                <a:pPr marL="0" indent="0">
                  <a:buNone/>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𝑲𝑳</m:t>
                      </m:r>
                      <m:r>
                        <a:rPr lang="en-US" b="1" i="1" smtClean="0">
                          <a:latin typeface="Cambria Math" panose="02040503050406030204" pitchFamily="18" charset="0"/>
                        </a:rPr>
                        <m:t>(</m:t>
                      </m:r>
                      <m:r>
                        <a:rPr lang="en-US" b="1" i="1" smtClean="0">
                          <a:latin typeface="Cambria Math" panose="02040503050406030204" pitchFamily="18" charset="0"/>
                        </a:rPr>
                        <m:t>𝒒</m:t>
                      </m:r>
                      <m:r>
                        <a:rPr lang="en-US" b="1" i="1" smtClean="0">
                          <a:latin typeface="Cambria Math" panose="02040503050406030204" pitchFamily="18" charset="0"/>
                        </a:rPr>
                        <m:t>(</m:t>
                      </m:r>
                      <m:r>
                        <a:rPr lang="en-US" b="1" i="1" smtClean="0">
                          <a:latin typeface="Cambria Math" panose="02040503050406030204" pitchFamily="18" charset="0"/>
                        </a:rPr>
                        <m:t>𝒛</m:t>
                      </m:r>
                      <m:r>
                        <a:rPr lang="en-US" b="1" i="1" smtClean="0">
                          <a:latin typeface="Cambria Math" panose="02040503050406030204" pitchFamily="18" charset="0"/>
                        </a:rPr>
                        <m:t>|</m:t>
                      </m:r>
                      <m:r>
                        <a:rPr lang="en-US" b="1" i="1" smtClean="0">
                          <a:latin typeface="Cambria Math" panose="02040503050406030204" pitchFamily="18" charset="0"/>
                        </a:rPr>
                        <m:t>𝒙</m:t>
                      </m:r>
                      <m:r>
                        <a:rPr lang="en-US" b="1" i="1" smtClean="0">
                          <a:latin typeface="Cambria Math" panose="02040503050406030204" pitchFamily="18" charset="0"/>
                        </a:rPr>
                        <m:t>) |</m:t>
                      </m:r>
                      <m:d>
                        <m:dPr>
                          <m:begChr m:val="|"/>
                          <m:ctrlPr>
                            <a:rPr lang="en-US" b="1" i="1">
                              <a:latin typeface="Cambria Math" panose="02040503050406030204" pitchFamily="18" charset="0"/>
                            </a:rPr>
                          </m:ctrlPr>
                        </m:dPr>
                        <m:e>
                          <m:r>
                            <a:rPr lang="en-US" b="1" i="1">
                              <a:latin typeface="Cambria Math" panose="02040503050406030204" pitchFamily="18" charset="0"/>
                            </a:rPr>
                            <m:t> </m:t>
                          </m:r>
                          <m:r>
                            <a:rPr lang="en-US" b="1" i="1">
                              <a:latin typeface="Cambria Math" panose="02040503050406030204" pitchFamily="18" charset="0"/>
                            </a:rPr>
                            <m:t>𝒑</m:t>
                          </m:r>
                          <m:r>
                            <a:rPr lang="en-US" b="1" i="1">
                              <a:latin typeface="Cambria Math" panose="02040503050406030204" pitchFamily="18" charset="0"/>
                            </a:rPr>
                            <m:t>(</m:t>
                          </m:r>
                          <m:r>
                            <a:rPr lang="en-US" b="1" i="1">
                              <a:latin typeface="Cambria Math" panose="02040503050406030204" pitchFamily="18" charset="0"/>
                            </a:rPr>
                            <m:t>𝒛</m:t>
                          </m:r>
                          <m:r>
                            <a:rPr lang="en-US" b="1" i="1">
                              <a:latin typeface="Cambria Math" panose="02040503050406030204" pitchFamily="18" charset="0"/>
                            </a:rPr>
                            <m:t>|</m:t>
                          </m:r>
                          <m:r>
                            <a:rPr lang="en-US" b="1" i="1">
                              <a:latin typeface="Cambria Math" panose="02040503050406030204" pitchFamily="18" charset="0"/>
                            </a:rPr>
                            <m:t>𝒙</m:t>
                          </m:r>
                          <m:r>
                            <a:rPr lang="en-US" b="1" i="1">
                              <a:latin typeface="Cambria Math" panose="02040503050406030204" pitchFamily="18" charset="0"/>
                            </a:rPr>
                            <m:t>)</m:t>
                          </m:r>
                        </m:e>
                      </m:d>
                      <m:r>
                        <a:rPr lang="en-US" b="1" i="1">
                          <a:latin typeface="Cambria Math" panose="02040503050406030204" pitchFamily="18" charset="0"/>
                        </a:rPr>
                        <m:t>=−</m:t>
                      </m:r>
                      <m:r>
                        <a:rPr lang="x-none" b="1" i="1">
                          <a:latin typeface="Cambria Math" panose="02040503050406030204" pitchFamily="18" charset="0"/>
                        </a:rPr>
                        <m:t>𝓛</m:t>
                      </m:r>
                      <m:d>
                        <m:dPr>
                          <m:ctrlPr>
                            <a:rPr lang="en-US" b="1" i="1">
                              <a:latin typeface="Cambria Math" panose="02040503050406030204" pitchFamily="18" charset="0"/>
                            </a:rPr>
                          </m:ctrlPr>
                        </m:dPr>
                        <m:e>
                          <m:r>
                            <a:rPr lang="en-US" b="1" i="1">
                              <a:latin typeface="Cambria Math" panose="02040503050406030204" pitchFamily="18" charset="0"/>
                            </a:rPr>
                            <m:t>𝝓</m:t>
                          </m:r>
                        </m:e>
                      </m:d>
                      <m:r>
                        <a:rPr lang="en-US" b="1" i="1">
                          <a:latin typeface="Cambria Math" panose="02040503050406030204" pitchFamily="18" charset="0"/>
                        </a:rPr>
                        <m:t>+</m:t>
                      </m:r>
                      <m:func>
                        <m:funcPr>
                          <m:ctrlPr>
                            <a:rPr lang="en-US" b="1" i="1">
                              <a:latin typeface="Cambria Math" panose="02040503050406030204" pitchFamily="18" charset="0"/>
                            </a:rPr>
                          </m:ctrlPr>
                        </m:funcPr>
                        <m:fName>
                          <m:r>
                            <a:rPr lang="en-US" b="1">
                              <a:latin typeface="Cambria Math" panose="02040503050406030204" pitchFamily="18" charset="0"/>
                            </a:rPr>
                            <m:t>𝐥𝐨𝐠</m:t>
                          </m:r>
                        </m:fName>
                        <m:e>
                          <m:r>
                            <a:rPr lang="en-US" b="1" i="1">
                              <a:latin typeface="Cambria Math" panose="02040503050406030204" pitchFamily="18" charset="0"/>
                            </a:rPr>
                            <m:t>𝒑</m:t>
                          </m:r>
                          <m:r>
                            <a:rPr lang="en-US" b="1" i="1">
                              <a:latin typeface="Cambria Math" panose="02040503050406030204" pitchFamily="18" charset="0"/>
                            </a:rPr>
                            <m:t>(</m:t>
                          </m:r>
                          <m:r>
                            <a:rPr lang="en-US" b="1" i="1">
                              <a:latin typeface="Cambria Math" panose="02040503050406030204" pitchFamily="18" charset="0"/>
                            </a:rPr>
                            <m:t>𝒙</m:t>
                          </m:r>
                          <m:r>
                            <a:rPr lang="en-US" b="1" i="1">
                              <a:latin typeface="Cambria Math" panose="02040503050406030204" pitchFamily="18" charset="0"/>
                            </a:rPr>
                            <m:t>)</m:t>
                          </m:r>
                        </m:e>
                      </m:func>
                    </m:oMath>
                  </m:oMathPara>
                </a14:m>
                <a:endParaRPr lang="en-US"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x-none" b="1" i="1">
                          <a:latin typeface="Cambria Math" panose="02040503050406030204" pitchFamily="18" charset="0"/>
                        </a:rPr>
                        <m:t>𝓛</m:t>
                      </m:r>
                      <m:d>
                        <m:dPr>
                          <m:ctrlPr>
                            <a:rPr lang="en-US" b="1" i="1">
                              <a:latin typeface="Cambria Math" panose="02040503050406030204" pitchFamily="18" charset="0"/>
                            </a:rPr>
                          </m:ctrlPr>
                        </m:dPr>
                        <m:e>
                          <m:r>
                            <a:rPr lang="en-US" b="1" i="1">
                              <a:latin typeface="Cambria Math" panose="02040503050406030204" pitchFamily="18" charset="0"/>
                            </a:rPr>
                            <m:t>𝝓</m:t>
                          </m:r>
                        </m:e>
                      </m:d>
                      <m:r>
                        <a:rPr lang="en-US" b="1" i="1">
                          <a:latin typeface="Cambria Math" panose="02040503050406030204" pitchFamily="18" charset="0"/>
                        </a:rPr>
                        <m:t>=−</m:t>
                      </m:r>
                      <m:r>
                        <a:rPr lang="en-US" b="1" i="1">
                          <a:latin typeface="Cambria Math" panose="02040503050406030204" pitchFamily="18" charset="0"/>
                        </a:rPr>
                        <m:t>𝑲𝑳</m:t>
                      </m:r>
                      <m:d>
                        <m:dPr>
                          <m:ctrlPr>
                            <a:rPr lang="en-US" b="1" i="1">
                              <a:latin typeface="Cambria Math" panose="02040503050406030204" pitchFamily="18" charset="0"/>
                            </a:rPr>
                          </m:ctrlPr>
                        </m:dPr>
                        <m:e>
                          <m:r>
                            <a:rPr lang="en-US" b="1" i="1">
                              <a:latin typeface="Cambria Math" panose="02040503050406030204" pitchFamily="18" charset="0"/>
                            </a:rPr>
                            <m:t>𝒒</m:t>
                          </m:r>
                          <m:d>
                            <m:dPr>
                              <m:ctrlPr>
                                <a:rPr lang="en-US" b="1" i="1">
                                  <a:latin typeface="Cambria Math" panose="02040503050406030204" pitchFamily="18" charset="0"/>
                                </a:rPr>
                              </m:ctrlPr>
                            </m:dPr>
                            <m:e>
                              <m:r>
                                <a:rPr lang="en-US" b="1" i="1">
                                  <a:latin typeface="Cambria Math" panose="02040503050406030204" pitchFamily="18" charset="0"/>
                                </a:rPr>
                                <m:t>𝒛</m:t>
                              </m:r>
                            </m:e>
                            <m:e>
                              <m:r>
                                <a:rPr lang="en-US" b="1" i="1">
                                  <a:latin typeface="Cambria Math" panose="02040503050406030204" pitchFamily="18" charset="0"/>
                                </a:rPr>
                                <m:t>𝒙</m:t>
                              </m:r>
                            </m:e>
                          </m:d>
                          <m:r>
                            <a:rPr lang="en-US" b="1" i="1">
                              <a:latin typeface="Cambria Math" panose="02040503050406030204" pitchFamily="18" charset="0"/>
                            </a:rPr>
                            <m:t>||</m:t>
                          </m:r>
                          <m:r>
                            <a:rPr lang="en-US" b="1" i="1">
                              <a:latin typeface="Cambria Math" panose="02040503050406030204" pitchFamily="18" charset="0"/>
                            </a:rPr>
                            <m:t>𝒑</m:t>
                          </m:r>
                          <m:r>
                            <a:rPr lang="en-US" b="1" i="1">
                              <a:latin typeface="Cambria Math" panose="02040503050406030204" pitchFamily="18" charset="0"/>
                            </a:rPr>
                            <m:t>(</m:t>
                          </m:r>
                          <m:r>
                            <a:rPr lang="en-US" b="1" i="1">
                              <a:latin typeface="Cambria Math" panose="02040503050406030204" pitchFamily="18" charset="0"/>
                            </a:rPr>
                            <m:t>𝒛</m:t>
                          </m:r>
                          <m:r>
                            <a:rPr lang="en-US" b="1" i="1">
                              <a:latin typeface="Cambria Math" panose="02040503050406030204" pitchFamily="18" charset="0"/>
                            </a:rPr>
                            <m:t>)</m:t>
                          </m:r>
                        </m:e>
                      </m:d>
                      <m:r>
                        <a:rPr lang="en-US" b="1">
                          <a:latin typeface="Cambria Math" panose="02040503050406030204" pitchFamily="18" charset="0"/>
                        </a:rPr>
                        <m:t>+</m:t>
                      </m:r>
                      <m:sSub>
                        <m:sSubPr>
                          <m:ctrlPr>
                            <a:rPr lang="en-US" b="1" i="1">
                              <a:latin typeface="Cambria Math" panose="02040503050406030204" pitchFamily="18" charset="0"/>
                            </a:rPr>
                          </m:ctrlPr>
                        </m:sSubPr>
                        <m:e>
                          <m:r>
                            <a:rPr lang="en-US" b="1">
                              <a:latin typeface="Cambria Math" panose="02040503050406030204" pitchFamily="18" charset="0"/>
                            </a:rPr>
                            <m:t>𝐄</m:t>
                          </m:r>
                        </m:e>
                        <m:sub>
                          <m:r>
                            <a:rPr lang="en-US" b="1" i="1" smtClean="0">
                              <a:latin typeface="Cambria Math" panose="02040503050406030204" pitchFamily="18" charset="0"/>
                            </a:rPr>
                            <m:t>𝒛</m:t>
                          </m:r>
                          <m:r>
                            <a:rPr lang="en-US" b="1" i="1" smtClean="0">
                              <a:latin typeface="Cambria Math" panose="02040503050406030204" pitchFamily="18" charset="0"/>
                            </a:rPr>
                            <m:t>~</m:t>
                          </m:r>
                          <m:r>
                            <a:rPr lang="en-US" b="1" i="1">
                              <a:latin typeface="Cambria Math" panose="02040503050406030204" pitchFamily="18" charset="0"/>
                            </a:rPr>
                            <m:t>𝒒</m:t>
                          </m:r>
                          <m:r>
                            <a:rPr lang="en-US" b="1" i="1" smtClean="0">
                              <a:latin typeface="Cambria Math" panose="02040503050406030204" pitchFamily="18" charset="0"/>
                            </a:rPr>
                            <m:t>(</m:t>
                          </m:r>
                          <m:r>
                            <a:rPr lang="en-US" b="1" i="1" smtClean="0">
                              <a:latin typeface="Cambria Math" panose="02040503050406030204" pitchFamily="18" charset="0"/>
                            </a:rPr>
                            <m:t>𝒛</m:t>
                          </m:r>
                          <m:r>
                            <a:rPr lang="en-US" b="1" i="1" smtClean="0">
                              <a:latin typeface="Cambria Math" panose="02040503050406030204" pitchFamily="18" charset="0"/>
                            </a:rPr>
                            <m:t>|</m:t>
                          </m:r>
                          <m:r>
                            <a:rPr lang="en-US" b="1" i="1" smtClean="0">
                              <a:latin typeface="Cambria Math" panose="02040503050406030204" pitchFamily="18" charset="0"/>
                            </a:rPr>
                            <m:t>𝒙</m:t>
                          </m:r>
                          <m:r>
                            <a:rPr lang="en-US" b="1" i="1" smtClean="0">
                              <a:latin typeface="Cambria Math" panose="02040503050406030204" pitchFamily="18" charset="0"/>
                            </a:rPr>
                            <m:t>)</m:t>
                          </m:r>
                        </m:sub>
                      </m:sSub>
                      <m:d>
                        <m:dPr>
                          <m:begChr m:val="["/>
                          <m:endChr m:val="]"/>
                          <m:ctrlPr>
                            <a:rPr lang="en-US" b="1" i="1">
                              <a:latin typeface="Cambria Math" panose="02040503050406030204" pitchFamily="18" charset="0"/>
                            </a:rPr>
                          </m:ctrlPr>
                        </m:dPr>
                        <m:e>
                          <m:func>
                            <m:funcPr>
                              <m:ctrlPr>
                                <a:rPr lang="en-US" b="1" i="1">
                                  <a:latin typeface="Cambria Math" panose="02040503050406030204" pitchFamily="18" charset="0"/>
                                </a:rPr>
                              </m:ctrlPr>
                            </m:funcPr>
                            <m:fName>
                              <m:r>
                                <a:rPr lang="en-US" b="1" i="1">
                                  <a:latin typeface="Cambria Math" panose="02040503050406030204" pitchFamily="18" charset="0"/>
                                </a:rPr>
                                <m:t>𝒍𝒐𝒈</m:t>
                              </m:r>
                            </m:fName>
                            <m:e>
                              <m:r>
                                <a:rPr lang="en-US" b="1" i="1">
                                  <a:latin typeface="Cambria Math" panose="02040503050406030204" pitchFamily="18" charset="0"/>
                                </a:rPr>
                                <m:t>𝒑</m:t>
                              </m:r>
                              <m:d>
                                <m:dPr>
                                  <m:ctrlPr>
                                    <a:rPr lang="en-US" b="1" i="1">
                                      <a:latin typeface="Cambria Math" panose="02040503050406030204" pitchFamily="18" charset="0"/>
                                    </a:rPr>
                                  </m:ctrlPr>
                                </m:dPr>
                                <m:e>
                                  <m:r>
                                    <a:rPr lang="en-US" b="1" i="1">
                                      <a:latin typeface="Cambria Math" panose="02040503050406030204" pitchFamily="18" charset="0"/>
                                    </a:rPr>
                                    <m:t>𝒙</m:t>
                                  </m:r>
                                </m:e>
                                <m:e>
                                  <m:r>
                                    <a:rPr lang="en-US" b="1" i="1">
                                      <a:latin typeface="Cambria Math" panose="02040503050406030204" pitchFamily="18" charset="0"/>
                                    </a:rPr>
                                    <m:t>𝒛</m:t>
                                  </m:r>
                                </m:e>
                              </m:d>
                            </m:e>
                          </m:func>
                        </m:e>
                      </m:d>
                    </m:oMath>
                  </m:oMathPara>
                </a14:m>
                <a:endParaRPr lang="en-US" b="1" dirty="0"/>
              </a:p>
              <a:p>
                <a:pPr marL="0" indent="0">
                  <a:buNone/>
                </a:pPr>
                <a:endParaRPr lang="en-US" b="1" dirty="0"/>
              </a:p>
              <a:p>
                <a:pPr marL="0" indent="0">
                  <a:buNone/>
                </a:pPr>
                <a:endParaRPr lang="en-US" b="1" dirty="0"/>
              </a:p>
              <a:p>
                <a:pPr marL="0" indent="0">
                  <a:buNone/>
                </a:pPr>
                <a:endParaRPr lang="en-US" b="1" dirty="0"/>
              </a:p>
              <a:p>
                <a:pPr marL="0" indent="0">
                  <a:buNone/>
                </a:pPr>
                <a14:m>
                  <m:oMathPara xmlns:m="http://schemas.openxmlformats.org/officeDocument/2006/math">
                    <m:oMathParaPr>
                      <m:jc m:val="centerGroup"/>
                    </m:oMathParaPr>
                    <m:oMath xmlns:m="http://schemas.openxmlformats.org/officeDocument/2006/math">
                      <m:func>
                        <m:funcPr>
                          <m:ctrlPr>
                            <a:rPr lang="en-US" sz="4000" b="1" i="1">
                              <a:latin typeface="Cambria Math" panose="02040503050406030204" pitchFamily="18" charset="0"/>
                            </a:rPr>
                          </m:ctrlPr>
                        </m:funcPr>
                        <m:fName>
                          <m:r>
                            <a:rPr lang="en-US" sz="4000" b="1">
                              <a:latin typeface="Cambria Math" panose="02040503050406030204" pitchFamily="18" charset="0"/>
                            </a:rPr>
                            <m:t>𝐥𝐨𝐠</m:t>
                          </m:r>
                        </m:fName>
                        <m:e>
                          <m:r>
                            <a:rPr lang="en-US" sz="4000" b="1" i="1">
                              <a:latin typeface="Cambria Math" panose="02040503050406030204" pitchFamily="18" charset="0"/>
                            </a:rPr>
                            <m:t>𝒑</m:t>
                          </m:r>
                          <m:d>
                            <m:dPr>
                              <m:ctrlPr>
                                <a:rPr lang="en-US" sz="4000" b="1" i="1">
                                  <a:latin typeface="Cambria Math" panose="02040503050406030204" pitchFamily="18" charset="0"/>
                                </a:rPr>
                              </m:ctrlPr>
                            </m:dPr>
                            <m:e>
                              <m:r>
                                <a:rPr lang="en-US" sz="4000" b="1" i="1">
                                  <a:latin typeface="Cambria Math" panose="02040503050406030204" pitchFamily="18" charset="0"/>
                                </a:rPr>
                                <m:t>𝒙</m:t>
                              </m:r>
                            </m:e>
                          </m:d>
                          <m:r>
                            <a:rPr lang="en-US" sz="4000" b="0" i="0" smtClean="0">
                              <a:latin typeface="Cambria Math" panose="02040503050406030204" pitchFamily="18" charset="0"/>
                            </a:rPr>
                            <m:t>−</m:t>
                          </m:r>
                          <m:r>
                            <a:rPr lang="en-US" sz="4000" b="1" i="1">
                              <a:latin typeface="Cambria Math" panose="02040503050406030204" pitchFamily="18" charset="0"/>
                            </a:rPr>
                            <m:t>𝑲𝑳</m:t>
                          </m:r>
                          <m:r>
                            <a:rPr lang="en-US" sz="4000" b="1" i="1">
                              <a:latin typeface="Cambria Math" panose="02040503050406030204" pitchFamily="18" charset="0"/>
                            </a:rPr>
                            <m:t>(</m:t>
                          </m:r>
                          <m:r>
                            <a:rPr lang="en-US" sz="4000" b="1" i="1">
                              <a:latin typeface="Cambria Math" panose="02040503050406030204" pitchFamily="18" charset="0"/>
                            </a:rPr>
                            <m:t>𝒒</m:t>
                          </m:r>
                          <m:r>
                            <a:rPr lang="en-US" sz="4000" b="1" i="1">
                              <a:latin typeface="Cambria Math" panose="02040503050406030204" pitchFamily="18" charset="0"/>
                            </a:rPr>
                            <m:t>(</m:t>
                          </m:r>
                          <m:r>
                            <a:rPr lang="en-US" sz="4000" b="1" i="1">
                              <a:latin typeface="Cambria Math" panose="02040503050406030204" pitchFamily="18" charset="0"/>
                            </a:rPr>
                            <m:t>𝒛</m:t>
                          </m:r>
                          <m:r>
                            <a:rPr lang="en-US" sz="4000" b="1" i="1">
                              <a:latin typeface="Cambria Math" panose="02040503050406030204" pitchFamily="18" charset="0"/>
                            </a:rPr>
                            <m:t>|</m:t>
                          </m:r>
                          <m:r>
                            <a:rPr lang="en-US" sz="4000" b="1" i="1">
                              <a:latin typeface="Cambria Math" panose="02040503050406030204" pitchFamily="18" charset="0"/>
                            </a:rPr>
                            <m:t>𝒙</m:t>
                          </m:r>
                          <m:r>
                            <a:rPr lang="en-US" sz="4000" b="1" i="1">
                              <a:latin typeface="Cambria Math" panose="02040503050406030204" pitchFamily="18" charset="0"/>
                            </a:rPr>
                            <m:t>) |</m:t>
                          </m:r>
                          <m:d>
                            <m:dPr>
                              <m:begChr m:val="|"/>
                              <m:ctrlPr>
                                <a:rPr lang="en-US" sz="4000" b="1" i="1">
                                  <a:latin typeface="Cambria Math" panose="02040503050406030204" pitchFamily="18" charset="0"/>
                                </a:rPr>
                              </m:ctrlPr>
                            </m:dPr>
                            <m:e>
                              <m:r>
                                <a:rPr lang="en-US" sz="4000" b="1" i="1">
                                  <a:latin typeface="Cambria Math" panose="02040503050406030204" pitchFamily="18" charset="0"/>
                                </a:rPr>
                                <m:t> </m:t>
                              </m:r>
                              <m:r>
                                <a:rPr lang="en-US" sz="4000" b="1" i="1">
                                  <a:latin typeface="Cambria Math" panose="02040503050406030204" pitchFamily="18" charset="0"/>
                                </a:rPr>
                                <m:t>𝒑</m:t>
                              </m:r>
                              <m:r>
                                <a:rPr lang="en-US" sz="4000" b="1" i="1">
                                  <a:latin typeface="Cambria Math" panose="02040503050406030204" pitchFamily="18" charset="0"/>
                                </a:rPr>
                                <m:t>(</m:t>
                              </m:r>
                              <m:r>
                                <a:rPr lang="en-US" sz="4000" b="1" i="1">
                                  <a:latin typeface="Cambria Math" panose="02040503050406030204" pitchFamily="18" charset="0"/>
                                </a:rPr>
                                <m:t>𝒛</m:t>
                              </m:r>
                              <m:r>
                                <a:rPr lang="en-US" sz="4000" b="1" i="1">
                                  <a:latin typeface="Cambria Math" panose="02040503050406030204" pitchFamily="18" charset="0"/>
                                </a:rPr>
                                <m:t>|</m:t>
                              </m:r>
                              <m:r>
                                <a:rPr lang="en-US" sz="4000" b="1" i="1">
                                  <a:latin typeface="Cambria Math" panose="02040503050406030204" pitchFamily="18" charset="0"/>
                                </a:rPr>
                                <m:t>𝒙</m:t>
                              </m:r>
                              <m:r>
                                <a:rPr lang="en-US" sz="4000" b="1" i="1">
                                  <a:latin typeface="Cambria Math" panose="02040503050406030204" pitchFamily="18" charset="0"/>
                                </a:rPr>
                                <m:t>)</m:t>
                              </m:r>
                            </m:e>
                          </m:d>
                        </m:e>
                      </m:func>
                      <m:r>
                        <a:rPr lang="en-US" sz="4000" b="1" i="1">
                          <a:latin typeface="Cambria Math" panose="02040503050406030204" pitchFamily="18" charset="0"/>
                        </a:rPr>
                        <m:t>=</m:t>
                      </m:r>
                    </m:oMath>
                  </m:oMathPara>
                </a14:m>
                <a:endParaRPr lang="en-US" sz="4000"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sz="4000" b="1" i="1">
                              <a:latin typeface="Cambria Math" panose="02040503050406030204" pitchFamily="18" charset="0"/>
                            </a:rPr>
                          </m:ctrlPr>
                        </m:sSubPr>
                        <m:e>
                          <m:r>
                            <a:rPr lang="en-US" sz="4000" b="1">
                              <a:latin typeface="Cambria Math" panose="02040503050406030204" pitchFamily="18" charset="0"/>
                            </a:rPr>
                            <m:t>𝐄</m:t>
                          </m:r>
                        </m:e>
                        <m:sub>
                          <m:r>
                            <a:rPr lang="en-US" sz="4000" b="1" i="1">
                              <a:latin typeface="Cambria Math" panose="02040503050406030204" pitchFamily="18" charset="0"/>
                            </a:rPr>
                            <m:t>𝒛</m:t>
                          </m:r>
                          <m:r>
                            <a:rPr lang="en-US" sz="4000" b="1" i="1">
                              <a:latin typeface="Cambria Math" panose="02040503050406030204" pitchFamily="18" charset="0"/>
                            </a:rPr>
                            <m:t>~</m:t>
                          </m:r>
                          <m:r>
                            <a:rPr lang="en-US" sz="4000" b="1" i="1">
                              <a:latin typeface="Cambria Math" panose="02040503050406030204" pitchFamily="18" charset="0"/>
                            </a:rPr>
                            <m:t>𝒒</m:t>
                          </m:r>
                          <m:r>
                            <a:rPr lang="en-US" sz="4000" b="1" i="1">
                              <a:latin typeface="Cambria Math" panose="02040503050406030204" pitchFamily="18" charset="0"/>
                            </a:rPr>
                            <m:t>(</m:t>
                          </m:r>
                          <m:r>
                            <a:rPr lang="en-US" sz="4000" b="1" i="1">
                              <a:latin typeface="Cambria Math" panose="02040503050406030204" pitchFamily="18" charset="0"/>
                            </a:rPr>
                            <m:t>𝒛</m:t>
                          </m:r>
                          <m:r>
                            <a:rPr lang="en-US" sz="4000" b="1" i="1">
                              <a:latin typeface="Cambria Math" panose="02040503050406030204" pitchFamily="18" charset="0"/>
                            </a:rPr>
                            <m:t>|</m:t>
                          </m:r>
                          <m:r>
                            <a:rPr lang="en-US" sz="4000" b="1" i="1">
                              <a:latin typeface="Cambria Math" panose="02040503050406030204" pitchFamily="18" charset="0"/>
                            </a:rPr>
                            <m:t>𝒙</m:t>
                          </m:r>
                          <m:r>
                            <a:rPr lang="en-US" sz="4000" b="1" i="1">
                              <a:latin typeface="Cambria Math" panose="02040503050406030204" pitchFamily="18" charset="0"/>
                            </a:rPr>
                            <m:t>)</m:t>
                          </m:r>
                        </m:sub>
                      </m:sSub>
                      <m:d>
                        <m:dPr>
                          <m:begChr m:val="["/>
                          <m:endChr m:val="]"/>
                          <m:ctrlPr>
                            <a:rPr lang="en-US" sz="4000" b="1" i="1">
                              <a:latin typeface="Cambria Math" panose="02040503050406030204" pitchFamily="18" charset="0"/>
                            </a:rPr>
                          </m:ctrlPr>
                        </m:dPr>
                        <m:e>
                          <m:func>
                            <m:funcPr>
                              <m:ctrlPr>
                                <a:rPr lang="en-US" sz="4000" b="1" i="1">
                                  <a:latin typeface="Cambria Math" panose="02040503050406030204" pitchFamily="18" charset="0"/>
                                </a:rPr>
                              </m:ctrlPr>
                            </m:funcPr>
                            <m:fName>
                              <m:r>
                                <a:rPr lang="en-US" sz="4000" b="1">
                                  <a:latin typeface="Cambria Math" panose="02040503050406030204" pitchFamily="18" charset="0"/>
                                </a:rPr>
                                <m:t>𝐥𝐨𝐠</m:t>
                              </m:r>
                            </m:fName>
                            <m:e>
                              <m:r>
                                <a:rPr lang="en-US" sz="4000" b="1" i="1">
                                  <a:latin typeface="Cambria Math" panose="02040503050406030204" pitchFamily="18" charset="0"/>
                                </a:rPr>
                                <m:t>𝒑</m:t>
                              </m:r>
                              <m:d>
                                <m:dPr>
                                  <m:ctrlPr>
                                    <a:rPr lang="en-US" sz="4000" b="1" i="1">
                                      <a:latin typeface="Cambria Math" panose="02040503050406030204" pitchFamily="18" charset="0"/>
                                    </a:rPr>
                                  </m:ctrlPr>
                                </m:dPr>
                                <m:e>
                                  <m:r>
                                    <a:rPr lang="en-US" sz="4000" b="1" i="1">
                                      <a:latin typeface="Cambria Math" panose="02040503050406030204" pitchFamily="18" charset="0"/>
                                    </a:rPr>
                                    <m:t>𝒙</m:t>
                                  </m:r>
                                </m:e>
                                <m:e>
                                  <m:r>
                                    <a:rPr lang="en-US" sz="4000" b="1" i="1">
                                      <a:latin typeface="Cambria Math" panose="02040503050406030204" pitchFamily="18" charset="0"/>
                                    </a:rPr>
                                    <m:t>𝒛</m:t>
                                  </m:r>
                                </m:e>
                              </m:d>
                            </m:e>
                          </m:func>
                        </m:e>
                      </m:d>
                      <m:r>
                        <a:rPr lang="en-US" sz="4000">
                          <a:latin typeface="Cambria Math" panose="02040503050406030204" pitchFamily="18" charset="0"/>
                        </a:rPr>
                        <m:t>−</m:t>
                      </m:r>
                      <m:r>
                        <a:rPr lang="en-US" sz="4000" b="1" i="1">
                          <a:latin typeface="Cambria Math" panose="02040503050406030204" pitchFamily="18" charset="0"/>
                        </a:rPr>
                        <m:t>𝑲𝑳</m:t>
                      </m:r>
                      <m:d>
                        <m:dPr>
                          <m:ctrlPr>
                            <a:rPr lang="en-US" sz="4000" b="1" i="1">
                              <a:latin typeface="Cambria Math" panose="02040503050406030204" pitchFamily="18" charset="0"/>
                            </a:rPr>
                          </m:ctrlPr>
                        </m:dPr>
                        <m:e>
                          <m:r>
                            <a:rPr lang="en-US" sz="4000" b="1" i="1">
                              <a:latin typeface="Cambria Math" panose="02040503050406030204" pitchFamily="18" charset="0"/>
                            </a:rPr>
                            <m:t>𝒒</m:t>
                          </m:r>
                          <m:d>
                            <m:dPr>
                              <m:ctrlPr>
                                <a:rPr lang="en-US" sz="4000" b="1" i="1">
                                  <a:latin typeface="Cambria Math" panose="02040503050406030204" pitchFamily="18" charset="0"/>
                                </a:rPr>
                              </m:ctrlPr>
                            </m:dPr>
                            <m:e>
                              <m:r>
                                <a:rPr lang="en-US" sz="4000" b="1" i="1">
                                  <a:latin typeface="Cambria Math" panose="02040503050406030204" pitchFamily="18" charset="0"/>
                                </a:rPr>
                                <m:t>𝒛</m:t>
                              </m:r>
                            </m:e>
                            <m:e>
                              <m:r>
                                <a:rPr lang="en-US" sz="4000" b="1" i="1">
                                  <a:latin typeface="Cambria Math" panose="02040503050406030204" pitchFamily="18" charset="0"/>
                                </a:rPr>
                                <m:t>𝒙</m:t>
                              </m:r>
                            </m:e>
                          </m:d>
                          <m:r>
                            <a:rPr lang="en-US" sz="4000" b="1" i="1">
                              <a:latin typeface="Cambria Math" panose="02040503050406030204" pitchFamily="18" charset="0"/>
                            </a:rPr>
                            <m:t>||</m:t>
                          </m:r>
                          <m:r>
                            <a:rPr lang="en-US" sz="4000" b="1" i="1">
                              <a:latin typeface="Cambria Math" panose="02040503050406030204" pitchFamily="18" charset="0"/>
                            </a:rPr>
                            <m:t>𝒑</m:t>
                          </m:r>
                          <m:r>
                            <a:rPr lang="en-US" sz="4000" b="1" i="1">
                              <a:latin typeface="Cambria Math" panose="02040503050406030204" pitchFamily="18" charset="0"/>
                            </a:rPr>
                            <m:t>(</m:t>
                          </m:r>
                          <m:r>
                            <a:rPr lang="en-US" sz="4000" b="1" i="1">
                              <a:latin typeface="Cambria Math" panose="02040503050406030204" pitchFamily="18" charset="0"/>
                            </a:rPr>
                            <m:t>𝒛</m:t>
                          </m:r>
                          <m:r>
                            <a:rPr lang="en-US" sz="4000" b="1" i="1">
                              <a:latin typeface="Cambria Math" panose="02040503050406030204" pitchFamily="18" charset="0"/>
                            </a:rPr>
                            <m:t>)</m:t>
                          </m:r>
                        </m:e>
                      </m:d>
                    </m:oMath>
                  </m:oMathPara>
                </a14:m>
                <a:endParaRPr lang="en-US" sz="4000"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0" y="1910850"/>
                <a:ext cx="12192000" cy="4351338"/>
              </a:xfrm>
              <a:blipFill>
                <a:blip r:embed="rId3"/>
                <a:stretch>
                  <a:fillRect/>
                </a:stretch>
              </a:blipFill>
            </p:spPr>
            <p:txBody>
              <a:bodyPr/>
              <a:lstStyle/>
              <a:p>
                <a:r>
                  <a:rPr lang="en-US">
                    <a:noFill/>
                  </a:rPr>
                  <a:t> </a:t>
                </a:r>
              </a:p>
            </p:txBody>
          </p:sp>
        </mc:Fallback>
      </mc:AlternateContent>
      <p:cxnSp>
        <p:nvCxnSpPr>
          <p:cNvPr id="5" name="Curved Connector 4"/>
          <p:cNvCxnSpPr/>
          <p:nvPr/>
        </p:nvCxnSpPr>
        <p:spPr>
          <a:xfrm rot="16200000" flipH="1">
            <a:off x="217578" y="4200403"/>
            <a:ext cx="1913640" cy="867266"/>
          </a:xfrm>
          <a:prstGeom prst="curvedConnector3">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170443" y="2025882"/>
            <a:ext cx="2007909" cy="1477328"/>
          </a:xfrm>
          <a:prstGeom prst="rect">
            <a:avLst/>
          </a:prstGeom>
          <a:noFill/>
        </p:spPr>
        <p:txBody>
          <a:bodyPr wrap="square" rtlCol="0">
            <a:spAutoFit/>
          </a:bodyPr>
          <a:lstStyle/>
          <a:p>
            <a:r>
              <a:rPr lang="en-US" b="1" dirty="0"/>
              <a:t>Assume P is Gaussian. What does this mean?</a:t>
            </a:r>
          </a:p>
          <a:p>
            <a:r>
              <a:rPr lang="en-US" b="1" dirty="0"/>
              <a:t>What about Bernoulli?</a:t>
            </a:r>
          </a:p>
        </p:txBody>
      </p:sp>
      <p:cxnSp>
        <p:nvCxnSpPr>
          <p:cNvPr id="8" name="Curved Connector 7"/>
          <p:cNvCxnSpPr/>
          <p:nvPr/>
        </p:nvCxnSpPr>
        <p:spPr>
          <a:xfrm rot="10800000" flipV="1">
            <a:off x="10353483" y="5380260"/>
            <a:ext cx="1459302" cy="560436"/>
          </a:xfrm>
          <a:prstGeom prst="curvedConnector3">
            <a:avLst>
              <a:gd name="adj1" fmla="val 50000"/>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10446589" y="4074088"/>
            <a:ext cx="2007909" cy="1200329"/>
          </a:xfrm>
          <a:prstGeom prst="rect">
            <a:avLst/>
          </a:prstGeom>
          <a:noFill/>
        </p:spPr>
        <p:txBody>
          <a:bodyPr wrap="square" rtlCol="0">
            <a:spAutoFit/>
          </a:bodyPr>
          <a:lstStyle/>
          <a:p>
            <a:r>
              <a:rPr lang="en-US" b="1" dirty="0"/>
              <a:t>We push the approximate posterior to the prior </a:t>
            </a:r>
          </a:p>
        </p:txBody>
      </p:sp>
      <p:cxnSp>
        <p:nvCxnSpPr>
          <p:cNvPr id="15" name="Curved Connector 14"/>
          <p:cNvCxnSpPr/>
          <p:nvPr/>
        </p:nvCxnSpPr>
        <p:spPr>
          <a:xfrm rot="16200000" flipH="1">
            <a:off x="3121946" y="4377821"/>
            <a:ext cx="430052" cy="6529"/>
          </a:xfrm>
          <a:prstGeom prst="curvedConnector3">
            <a:avLst>
              <a:gd name="adj1" fmla="val 50000"/>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2308903" y="3683441"/>
            <a:ext cx="2663437" cy="369332"/>
          </a:xfrm>
          <a:prstGeom prst="rect">
            <a:avLst/>
          </a:prstGeom>
          <a:noFill/>
        </p:spPr>
        <p:txBody>
          <a:bodyPr wrap="square" rtlCol="0">
            <a:spAutoFit/>
          </a:bodyPr>
          <a:lstStyle/>
          <a:p>
            <a:r>
              <a:rPr lang="en-US" b="1" dirty="0"/>
              <a:t>Does not depend on z</a:t>
            </a:r>
          </a:p>
        </p:txBody>
      </p:sp>
      <p:cxnSp>
        <p:nvCxnSpPr>
          <p:cNvPr id="22" name="Curved Connector 21"/>
          <p:cNvCxnSpPr/>
          <p:nvPr/>
        </p:nvCxnSpPr>
        <p:spPr>
          <a:xfrm rot="16200000" flipH="1">
            <a:off x="9861739" y="5271153"/>
            <a:ext cx="430052" cy="6529"/>
          </a:xfrm>
          <a:prstGeom prst="curvedConnector3">
            <a:avLst>
              <a:gd name="adj1" fmla="val 50000"/>
            </a:avLst>
          </a:prstGeom>
          <a:ln w="762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p:cNvSpPr txBox="1"/>
              <p:nvPr/>
            </p:nvSpPr>
            <p:spPr>
              <a:xfrm>
                <a:off x="6093847" y="4244805"/>
                <a:ext cx="266343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r>
                        <a:rPr lang="en-US" b="1" i="1" smtClean="0">
                          <a:latin typeface="Cambria Math" panose="02040503050406030204" pitchFamily="18" charset="0"/>
                        </a:rPr>
                        <m:t>𝟎</m:t>
                      </m:r>
                    </m:oMath>
                  </m:oMathPara>
                </a14:m>
                <a:endParaRPr lang="en-US" b="1" dirty="0"/>
              </a:p>
            </p:txBody>
          </p:sp>
        </mc:Choice>
        <mc:Fallback xmlns="">
          <p:sp>
            <p:nvSpPr>
              <p:cNvPr id="23" name="TextBox 22"/>
              <p:cNvSpPr txBox="1">
                <a:spLocks noRot="1" noChangeAspect="1" noMove="1" noResize="1" noEditPoints="1" noAdjustHandles="1" noChangeArrowheads="1" noChangeShapeType="1" noTextEdit="1"/>
              </p:cNvSpPr>
              <p:nvPr/>
            </p:nvSpPr>
            <p:spPr>
              <a:xfrm>
                <a:off x="6093847" y="4244805"/>
                <a:ext cx="2663437" cy="369332"/>
              </a:xfrm>
              <a:prstGeom prst="rect">
                <a:avLst/>
              </a:prstGeom>
              <a:blipFill>
                <a:blip r:embed="rId4"/>
                <a:stretch>
                  <a:fillRect/>
                </a:stretch>
              </a:blipFill>
            </p:spPr>
            <p:txBody>
              <a:bodyPr/>
              <a:lstStyle/>
              <a:p>
                <a:r>
                  <a:rPr lang="en-US">
                    <a:noFill/>
                  </a:rPr>
                  <a:t> </a:t>
                </a:r>
              </a:p>
            </p:txBody>
          </p:sp>
        </mc:Fallback>
      </mc:AlternateContent>
      <p:sp>
        <p:nvSpPr>
          <p:cNvPr id="24" name="Right Brace 23"/>
          <p:cNvSpPr/>
          <p:nvPr/>
        </p:nvSpPr>
        <p:spPr>
          <a:xfrm rot="5400000">
            <a:off x="5821838" y="2820629"/>
            <a:ext cx="335435" cy="7132198"/>
          </a:xfrm>
          <a:prstGeom prst="rightBrace">
            <a:avLst>
              <a:gd name="adj1" fmla="val 328514"/>
              <a:gd name="adj2" fmla="val 53498"/>
            </a:avLst>
          </a:prstGeom>
          <a:ln w="57150">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5" name="Rectangle 24"/>
              <p:cNvSpPr/>
              <p:nvPr/>
            </p:nvSpPr>
            <p:spPr>
              <a:xfrm>
                <a:off x="5382744" y="6521010"/>
                <a:ext cx="75296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x-none" b="1" i="1">
                          <a:latin typeface="Cambria Math" panose="02040503050406030204" pitchFamily="18" charset="0"/>
                        </a:rPr>
                        <m:t>𝓛</m:t>
                      </m:r>
                      <m:d>
                        <m:dPr>
                          <m:ctrlPr>
                            <a:rPr lang="en-US" b="1" i="1">
                              <a:latin typeface="Cambria Math" panose="02040503050406030204" pitchFamily="18" charset="0"/>
                            </a:rPr>
                          </m:ctrlPr>
                        </m:dPr>
                        <m:e>
                          <m:r>
                            <a:rPr lang="en-US" b="1" i="1">
                              <a:latin typeface="Cambria Math" panose="02040503050406030204" pitchFamily="18" charset="0"/>
                            </a:rPr>
                            <m:t>𝝓</m:t>
                          </m:r>
                        </m:e>
                      </m:d>
                    </m:oMath>
                  </m:oMathPara>
                </a14:m>
                <a:endParaRPr lang="en-US" dirty="0"/>
              </a:p>
            </p:txBody>
          </p:sp>
        </mc:Choice>
        <mc:Fallback xmlns="">
          <p:sp>
            <p:nvSpPr>
              <p:cNvPr id="25" name="Rectangle 24"/>
              <p:cNvSpPr>
                <a:spLocks noRot="1" noChangeAspect="1" noMove="1" noResize="1" noEditPoints="1" noAdjustHandles="1" noChangeArrowheads="1" noChangeShapeType="1" noTextEdit="1"/>
              </p:cNvSpPr>
              <p:nvPr/>
            </p:nvSpPr>
            <p:spPr>
              <a:xfrm>
                <a:off x="5382744" y="6521010"/>
                <a:ext cx="752962" cy="369332"/>
              </a:xfrm>
              <a:prstGeom prst="rect">
                <a:avLst/>
              </a:prstGeom>
              <a:blipFill>
                <a:blip r:embed="rId5"/>
                <a:stretch>
                  <a:fillRect b="-13333"/>
                </a:stretch>
              </a:blipFill>
            </p:spPr>
            <p:txBody>
              <a:bodyPr/>
              <a:lstStyle/>
              <a:p>
                <a:r>
                  <a:rPr lang="en-US">
                    <a:noFill/>
                  </a:rPr>
                  <a:t> </a:t>
                </a:r>
              </a:p>
            </p:txBody>
          </p:sp>
        </mc:Fallback>
      </mc:AlternateContent>
    </p:spTree>
    <p:extLst>
      <p:ext uri="{BB962C8B-B14F-4D97-AF65-F5344CB8AC3E}">
        <p14:creationId xmlns:p14="http://schemas.microsoft.com/office/powerpoint/2010/main" val="336858805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we have so far</a:t>
            </a:r>
            <a:endParaRPr lang="he-IL" dirty="0"/>
          </a:p>
        </p:txBody>
      </p:sp>
      <p:sp>
        <p:nvSpPr>
          <p:cNvPr id="3" name="Content Placeholder 2"/>
          <p:cNvSpPr>
            <a:spLocks noGrp="1"/>
          </p:cNvSpPr>
          <p:nvPr>
            <p:ph idx="1"/>
          </p:nvPr>
        </p:nvSpPr>
        <p:spPr/>
        <p:txBody>
          <a:bodyPr/>
          <a:lstStyle/>
          <a:p>
            <a:r>
              <a:rPr lang="en-US" dirty="0"/>
              <a:t>We want to learn a latent variable model</a:t>
            </a:r>
          </a:p>
          <a:p>
            <a:r>
              <a:rPr lang="en-US" dirty="0"/>
              <a:t>The likelihood and posterior are intractable and we can’t use EM</a:t>
            </a:r>
          </a:p>
          <a:p>
            <a:r>
              <a:rPr lang="en-US" dirty="0"/>
              <a:t>We approximate the posterior using a tractable function and use KL divergence to pick the best possible approximation</a:t>
            </a:r>
          </a:p>
          <a:p>
            <a:r>
              <a:rPr lang="en-US" dirty="0"/>
              <a:t>Because we cannot compute the KL, we optimize an alternative objective that is equivalent to the KL up to an added constant</a:t>
            </a:r>
          </a:p>
          <a:p>
            <a:r>
              <a:rPr lang="en-US" dirty="0"/>
              <a:t>The ELBO has similar properties to a regularized </a:t>
            </a:r>
            <a:r>
              <a:rPr lang="en-US" dirty="0" err="1"/>
              <a:t>autoencoder</a:t>
            </a:r>
            <a:endParaRPr lang="en-US" dirty="0"/>
          </a:p>
        </p:txBody>
      </p:sp>
    </p:spTree>
    <p:extLst>
      <p:ext uri="{BB962C8B-B14F-4D97-AF65-F5344CB8AC3E}">
        <p14:creationId xmlns:p14="http://schemas.microsoft.com/office/powerpoint/2010/main" val="45134923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Neural Network Perspective</a:t>
            </a:r>
            <a:endParaRPr lang="he-IL" dirty="0"/>
          </a:p>
        </p:txBody>
      </p:sp>
    </p:spTree>
    <p:extLst>
      <p:ext uri="{BB962C8B-B14F-4D97-AF65-F5344CB8AC3E}">
        <p14:creationId xmlns:p14="http://schemas.microsoft.com/office/powerpoint/2010/main" val="323917530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 practice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1" y="1825625"/>
                <a:ext cx="4416188" cy="4351338"/>
              </a:xfrm>
            </p:spPr>
            <p:txBody>
              <a:bodyPr>
                <a:normAutofit/>
              </a:bodyPr>
              <a:lstStyle/>
              <a:p>
                <a:r>
                  <a:rPr lang="en-US" dirty="0"/>
                  <a:t>How should we pick the approximating functions?</a:t>
                </a:r>
              </a:p>
              <a:p>
                <a:r>
                  <a:rPr lang="en-US" dirty="0"/>
                  <a:t>A </a:t>
                </a:r>
                <a:r>
                  <a:rPr lang="en-US" b="1" dirty="0"/>
                  <a:t>probabilistic encoder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𝜙</m:t>
                        </m:r>
                      </m:sub>
                    </m:sSub>
                    <m:d>
                      <m:dPr>
                        <m:ctrlPr>
                          <a:rPr lang="en-US" i="1">
                            <a:latin typeface="Cambria Math" panose="02040503050406030204" pitchFamily="18" charset="0"/>
                          </a:rPr>
                        </m:ctrlPr>
                      </m:dPr>
                      <m:e>
                        <m:r>
                          <a:rPr lang="en-US" i="1">
                            <a:latin typeface="Cambria Math" panose="02040503050406030204" pitchFamily="18" charset="0"/>
                          </a:rPr>
                          <m:t>𝑧</m:t>
                        </m:r>
                      </m:e>
                      <m:e>
                        <m:r>
                          <a:rPr lang="en-US" i="1">
                            <a:latin typeface="Cambria Math" panose="02040503050406030204" pitchFamily="18" charset="0"/>
                          </a:rPr>
                          <m:t>𝑥</m:t>
                        </m:r>
                      </m:e>
                    </m:d>
                  </m:oMath>
                </a14:m>
                <a:r>
                  <a:rPr lang="en-US" dirty="0"/>
                  <a:t>, approximating the true (intractable) posterior distribution </a:t>
                </a:r>
                <a14:m>
                  <m:oMath xmlns:m="http://schemas.openxmlformats.org/officeDocument/2006/math">
                    <m:r>
                      <a:rPr lang="en-US" i="1">
                        <a:latin typeface="Cambria Math" panose="02040503050406030204" pitchFamily="18" charset="0"/>
                      </a:rPr>
                      <m:t>𝑝</m:t>
                    </m:r>
                    <m:d>
                      <m:dPr>
                        <m:ctrlPr>
                          <a:rPr lang="en-US" i="1">
                            <a:latin typeface="Cambria Math" panose="02040503050406030204" pitchFamily="18" charset="0"/>
                          </a:rPr>
                        </m:ctrlPr>
                      </m:dPr>
                      <m:e>
                        <m:r>
                          <a:rPr lang="en-US" i="1">
                            <a:latin typeface="Cambria Math" panose="02040503050406030204" pitchFamily="18" charset="0"/>
                          </a:rPr>
                          <m:t>𝑧</m:t>
                        </m:r>
                      </m:e>
                      <m:e>
                        <m:r>
                          <a:rPr lang="en-US" i="1">
                            <a:latin typeface="Cambria Math" panose="02040503050406030204" pitchFamily="18" charset="0"/>
                          </a:rPr>
                          <m:t>𝑥</m:t>
                        </m:r>
                      </m:e>
                    </m:d>
                  </m:oMath>
                </a14:m>
                <a:endParaRPr lang="he-IL" dirty="0"/>
              </a:p>
              <a:p>
                <a:r>
                  <a:rPr lang="en-US" dirty="0"/>
                  <a:t>A </a:t>
                </a:r>
                <a:r>
                  <a:rPr lang="en-US" b="1" dirty="0"/>
                  <a:t>generative decoder</a:t>
                </a:r>
                <a:br>
                  <a:rPr lang="en-US" b="0" i="0" dirty="0">
                    <a:latin typeface="Cambria Math" panose="02040503050406030204" pitchFamily="18" charset="0"/>
                  </a:rPr>
                </a:br>
                <a14:m>
                  <m:oMath xmlns:m="http://schemas.openxmlformats.org/officeDocument/2006/math">
                    <m:r>
                      <a:rPr lang="en-US" b="0" i="0" smtClean="0">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𝜃</m:t>
                        </m:r>
                      </m:sub>
                    </m:sSub>
                    <m:d>
                      <m:dPr>
                        <m:ctrlPr>
                          <a:rPr lang="en-US" i="1">
                            <a:latin typeface="Cambria Math" panose="02040503050406030204" pitchFamily="18" charset="0"/>
                          </a:rPr>
                        </m:ctrlPr>
                      </m:dPr>
                      <m:e>
                        <m:r>
                          <a:rPr lang="en-US" i="1">
                            <a:latin typeface="Cambria Math" panose="02040503050406030204" pitchFamily="18" charset="0"/>
                          </a:rPr>
                          <m:t>𝑥</m:t>
                        </m:r>
                      </m:e>
                      <m:e>
                        <m:r>
                          <a:rPr lang="en-US" i="1">
                            <a:latin typeface="Cambria Math" panose="02040503050406030204" pitchFamily="18" charset="0"/>
                          </a:rPr>
                          <m:t>𝑧</m:t>
                        </m:r>
                      </m:e>
                    </m:d>
                  </m:oMath>
                </a14:m>
                <a:r>
                  <a:rPr lang="en-US" dirty="0"/>
                  <a:t>, which notably does not rely on any input</a:t>
                </a:r>
                <a:endParaRPr lang="he-IL"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1" y="1825625"/>
                <a:ext cx="4416188" cy="4351338"/>
              </a:xfrm>
              <a:blipFill>
                <a:blip r:embed="rId3"/>
                <a:stretch>
                  <a:fillRect l="-2486" t="-2241" b="-980"/>
                </a:stretch>
              </a:blipFill>
            </p:spPr>
            <p:txBody>
              <a:bodyPr/>
              <a:lstStyle/>
              <a:p>
                <a:r>
                  <a:rPr lang="en-US">
                    <a:noFill/>
                  </a:rPr>
                  <a:t> </a:t>
                </a:r>
              </a:p>
            </p:txBody>
          </p:sp>
        </mc:Fallback>
      </mc:AlternateContent>
      <p:pic>
        <p:nvPicPr>
          <p:cNvPr id="5" name="Picture 4"/>
          <p:cNvPicPr>
            <a:picLocks noChangeAspect="1"/>
          </p:cNvPicPr>
          <p:nvPr/>
        </p:nvPicPr>
        <p:blipFill>
          <a:blip r:embed="rId4"/>
          <a:stretch>
            <a:fillRect/>
          </a:stretch>
        </p:blipFill>
        <p:spPr>
          <a:xfrm>
            <a:off x="5466543" y="2502776"/>
            <a:ext cx="5887257" cy="299703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09921628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Lower Bound: Reconstruction Error</a:t>
            </a:r>
            <a:endParaRPr lang="he-IL"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Adding the two parts of the autoencoder together, we get </a:t>
                </a:r>
                <a14:m>
                  <m:oMath xmlns:m="http://schemas.openxmlformats.org/officeDocument/2006/math">
                    <m:r>
                      <a:rPr lang="en-US" i="1">
                        <a:latin typeface="Cambria Math" panose="02040503050406030204" pitchFamily="18" charset="0"/>
                      </a:rPr>
                      <m:t>𝑝</m:t>
                    </m:r>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𝑥</m:t>
                        </m:r>
                      </m:e>
                    </m:acc>
                    <m:r>
                      <a:rPr lang="en-US" i="1">
                        <a:latin typeface="Cambria Math" panose="02040503050406030204" pitchFamily="18" charset="0"/>
                      </a:rPr>
                      <m:t>)</m:t>
                    </m:r>
                  </m:oMath>
                </a14:m>
                <a:r>
                  <a:rPr lang="en-US" dirty="0"/>
                  <a:t>, and if we assume it has a Gaussian form, we obtain:</a:t>
                </a:r>
              </a:p>
              <a:p>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𝑞</m:t>
                          </m:r>
                          <m:r>
                            <a:rPr lang="en-US" i="1">
                              <a:latin typeface="Cambria Math" panose="02040503050406030204" pitchFamily="18" charset="0"/>
                            </a:rPr>
                            <m:t>(</m:t>
                          </m:r>
                          <m:r>
                            <a:rPr lang="en-US" i="1">
                              <a:latin typeface="Cambria Math" panose="02040503050406030204" pitchFamily="18" charset="0"/>
                            </a:rPr>
                            <m:t>𝑧</m:t>
                          </m:r>
                          <m:r>
                            <a:rPr lang="en-US" i="1">
                              <a:latin typeface="Cambria Math" panose="02040503050406030204" pitchFamily="18" charset="0"/>
                            </a:rPr>
                            <m:t>)</m:t>
                          </m:r>
                        </m:sub>
                      </m:sSub>
                      <m:d>
                        <m:dPr>
                          <m:begChr m:val="["/>
                          <m:endChr m:val="]"/>
                          <m:ctrlPr>
                            <a:rPr lang="en-US" i="1">
                              <a:latin typeface="Cambria Math" panose="02040503050406030204" pitchFamily="18" charset="0"/>
                            </a:rPr>
                          </m:ctrlPr>
                        </m:dPr>
                        <m:e>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r>
                                <a:rPr lang="en-US" i="1">
                                  <a:latin typeface="Cambria Math" panose="02040503050406030204" pitchFamily="18" charset="0"/>
                                </a:rPr>
                                <m:t>𝑝</m:t>
                              </m:r>
                              <m:d>
                                <m:dPr>
                                  <m:ctrlPr>
                                    <a:rPr lang="en-US" i="1">
                                      <a:latin typeface="Cambria Math" panose="02040503050406030204" pitchFamily="18" charset="0"/>
                                    </a:rPr>
                                  </m:ctrlPr>
                                </m:dPr>
                                <m:e>
                                  <m:r>
                                    <a:rPr lang="en-US" i="1">
                                      <a:latin typeface="Cambria Math" panose="02040503050406030204" pitchFamily="18" charset="0"/>
                                    </a:rPr>
                                    <m:t>𝑥</m:t>
                                  </m:r>
                                </m:e>
                                <m:e>
                                  <m:r>
                                    <a:rPr lang="en-US" i="1">
                                      <a:latin typeface="Cambria Math" panose="02040503050406030204" pitchFamily="18" charset="0"/>
                                    </a:rPr>
                                    <m:t>𝑧</m:t>
                                  </m:r>
                                </m:e>
                              </m:d>
                            </m:e>
                          </m:func>
                        </m:e>
                      </m:d>
                      <m:r>
                        <a:rPr lang="en-US" b="0" i="0"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𝑞</m:t>
                          </m:r>
                          <m:r>
                            <a:rPr lang="en-US" i="1">
                              <a:latin typeface="Cambria Math" panose="02040503050406030204" pitchFamily="18" charset="0"/>
                            </a:rPr>
                            <m:t>(</m:t>
                          </m:r>
                          <m:r>
                            <a:rPr lang="en-US" i="1">
                              <a:latin typeface="Cambria Math" panose="02040503050406030204" pitchFamily="18" charset="0"/>
                            </a:rPr>
                            <m:t>𝑧</m:t>
                          </m:r>
                          <m:r>
                            <a:rPr lang="en-US" i="1">
                              <a:latin typeface="Cambria Math" panose="02040503050406030204" pitchFamily="18" charset="0"/>
                            </a:rPr>
                            <m:t>)</m:t>
                          </m:r>
                        </m:sub>
                      </m:sSub>
                      <m:d>
                        <m:dPr>
                          <m:begChr m:val="["/>
                          <m:endChr m:val="]"/>
                          <m:ctrlPr>
                            <a:rPr lang="en-US" i="1">
                              <a:latin typeface="Cambria Math" panose="02040503050406030204" pitchFamily="18" charset="0"/>
                            </a:rPr>
                          </m:ctrlPr>
                        </m:dPr>
                        <m:e>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𝑥</m:t>
                                              </m:r>
                                            </m:e>
                                          </m:acc>
                                        </m:e>
                                      </m:d>
                                    </m:e>
                                    <m:sup>
                                      <m:r>
                                        <a:rPr lang="en-US" b="0" i="1" smtClean="0">
                                          <a:latin typeface="Cambria Math" panose="02040503050406030204" pitchFamily="18" charset="0"/>
                                        </a:rPr>
                                        <m:t>2</m:t>
                                      </m:r>
                                    </m:sup>
                                  </m:sSup>
                                </m:sup>
                              </m:sSup>
                            </m:e>
                          </m:func>
                        </m:e>
                      </m:d>
                      <m:r>
                        <a:rPr lang="en-US" b="0" i="1" smtClean="0">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𝑥</m:t>
                                  </m:r>
                                </m:e>
                              </m:acc>
                            </m:e>
                          </m:d>
                        </m:e>
                        <m:sup>
                          <m:r>
                            <a:rPr lang="en-US" i="1">
                              <a:latin typeface="Cambria Math" panose="02040503050406030204" pitchFamily="18" charset="0"/>
                            </a:rPr>
                            <m:t>2</m:t>
                          </m:r>
                        </m:sup>
                      </m:sSup>
                    </m:oMath>
                  </m:oMathPara>
                </a14:m>
                <a:endParaRPr lang="he-IL" dirty="0"/>
              </a:p>
              <a:p>
                <a:pPr marL="0" indent="0">
                  <a:buNone/>
                </a:pPr>
                <a:endParaRPr lang="he-IL" dirty="0"/>
              </a:p>
              <a:p>
                <a:r>
                  <a:rPr lang="en-US" dirty="0"/>
                  <a:t>What happens if we assume Bernoulli form?</a:t>
                </a:r>
                <a:endParaRPr lang="he-IL" dirty="0"/>
              </a:p>
              <a:p>
                <a:endParaRPr lang="he-IL"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043" t="-2241"/>
                </a:stretch>
              </a:blipFill>
            </p:spPr>
            <p:txBody>
              <a:bodyPr/>
              <a:lstStyle/>
              <a:p>
                <a:r>
                  <a:rPr lang="he-IL">
                    <a:noFill/>
                  </a:rPr>
                  <a:t> </a:t>
                </a:r>
              </a:p>
            </p:txBody>
          </p:sp>
        </mc:Fallback>
      </mc:AlternateContent>
    </p:spTree>
    <p:extLst>
      <p:ext uri="{BB962C8B-B14F-4D97-AF65-F5344CB8AC3E}">
        <p14:creationId xmlns:p14="http://schemas.microsoft.com/office/powerpoint/2010/main" val="122260870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Variational </a:t>
            </a:r>
            <a:r>
              <a:rPr lang="en-US" dirty="0" err="1"/>
              <a:t>Autoencoder</a:t>
            </a:r>
            <a:endParaRPr lang="en-US" dirty="0"/>
          </a:p>
        </p:txBody>
      </p:sp>
      <p:pic>
        <p:nvPicPr>
          <p:cNvPr id="5122" name="Picture 2" descr="Screen-Shot-2018-03-18-at-12.24.19-A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65309" y="1690688"/>
            <a:ext cx="9261381" cy="45793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196452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Features as Probability Distributions</a:t>
            </a:r>
            <a:endParaRPr lang="he-IL"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55200" y="1934632"/>
            <a:ext cx="8881599" cy="399864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TextBox 5"/>
          <p:cNvSpPr txBox="1"/>
          <p:nvPr/>
        </p:nvSpPr>
        <p:spPr>
          <a:xfrm>
            <a:off x="245659" y="6346209"/>
            <a:ext cx="7560860" cy="646331"/>
          </a:xfrm>
          <a:prstGeom prst="rect">
            <a:avLst/>
          </a:prstGeom>
          <a:noFill/>
        </p:spPr>
        <p:txBody>
          <a:bodyPr wrap="square" rtlCol="0">
            <a:spAutoFit/>
          </a:bodyPr>
          <a:lstStyle/>
          <a:p>
            <a:r>
              <a:rPr lang="en-US" dirty="0"/>
              <a:t>Image taken from jeremyjordan.me/</a:t>
            </a:r>
            <a:r>
              <a:rPr lang="en-US" dirty="0" err="1"/>
              <a:t>variational</a:t>
            </a:r>
            <a:r>
              <a:rPr lang="en-US" dirty="0"/>
              <a:t>-autoencoders/</a:t>
            </a:r>
          </a:p>
          <a:p>
            <a:endParaRPr lang="en-US" dirty="0"/>
          </a:p>
        </p:txBody>
      </p:sp>
    </p:spTree>
    <p:extLst>
      <p:ext uri="{BB962C8B-B14F-4D97-AF65-F5344CB8AC3E}">
        <p14:creationId xmlns:p14="http://schemas.microsoft.com/office/powerpoint/2010/main" val="17460566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Features as Probability Distributions</a:t>
            </a:r>
          </a:p>
        </p:txBody>
      </p:sp>
      <p:pic>
        <p:nvPicPr>
          <p:cNvPr id="3074" name="Picture 2" descr="Screen-Shot-2018-03-16-at-10.24.28-P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52992" y="1998603"/>
            <a:ext cx="8286016" cy="436106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91948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0163" y="1690688"/>
            <a:ext cx="9891673" cy="444142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2" name="TextBox 1"/>
          <p:cNvSpPr txBox="1"/>
          <p:nvPr/>
        </p:nvSpPr>
        <p:spPr>
          <a:xfrm>
            <a:off x="245659" y="6346209"/>
            <a:ext cx="7560860" cy="646331"/>
          </a:xfrm>
          <a:prstGeom prst="rect">
            <a:avLst/>
          </a:prstGeom>
          <a:noFill/>
        </p:spPr>
        <p:txBody>
          <a:bodyPr wrap="square" rtlCol="0">
            <a:spAutoFit/>
          </a:bodyPr>
          <a:lstStyle/>
          <a:p>
            <a:r>
              <a:rPr lang="en-US" dirty="0"/>
              <a:t>Image taken from jeremyjordan.me/</a:t>
            </a:r>
            <a:r>
              <a:rPr lang="en-US" dirty="0" err="1"/>
              <a:t>variational</a:t>
            </a:r>
            <a:r>
              <a:rPr lang="en-US" dirty="0"/>
              <a:t>-autoencoders/</a:t>
            </a:r>
          </a:p>
          <a:p>
            <a:endParaRPr lang="en-US" dirty="0"/>
          </a:p>
        </p:txBody>
      </p:sp>
      <p:sp>
        <p:nvSpPr>
          <p:cNvPr id="5" name="Title 1"/>
          <p:cNvSpPr>
            <a:spLocks noGrp="1"/>
          </p:cNvSpPr>
          <p:nvPr>
            <p:ph type="title"/>
          </p:nvPr>
        </p:nvSpPr>
        <p:spPr>
          <a:xfrm>
            <a:off x="838200" y="365125"/>
            <a:ext cx="10515600" cy="1325563"/>
          </a:xfrm>
        </p:spPr>
        <p:txBody>
          <a:bodyPr/>
          <a:lstStyle/>
          <a:p>
            <a:r>
              <a:rPr lang="en-US" dirty="0"/>
              <a:t>Features as Probability Distributions</a:t>
            </a:r>
          </a:p>
        </p:txBody>
      </p:sp>
    </p:spTree>
    <p:extLst>
      <p:ext uri="{BB962C8B-B14F-4D97-AF65-F5344CB8AC3E}">
        <p14:creationId xmlns:p14="http://schemas.microsoft.com/office/powerpoint/2010/main" val="302328446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Variational </a:t>
            </a:r>
            <a:r>
              <a:rPr lang="en-US" dirty="0" err="1"/>
              <a:t>Autoencoder</a:t>
            </a:r>
            <a:endParaRPr lang="en-US" dirty="0"/>
          </a:p>
        </p:txBody>
      </p:sp>
      <p:pic>
        <p:nvPicPr>
          <p:cNvPr id="5122" name="Picture 2" descr="Screen-Shot-2018-03-18-at-12.24.19-A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65309" y="1690688"/>
            <a:ext cx="9261381" cy="45793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785476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Sample Layer</a:t>
            </a:r>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373442" y="2148681"/>
            <a:ext cx="9445115" cy="3655771"/>
          </a:xfrm>
        </p:spPr>
      </p:pic>
    </p:spTree>
    <p:extLst>
      <p:ext uri="{BB962C8B-B14F-4D97-AF65-F5344CB8AC3E}">
        <p14:creationId xmlns:p14="http://schemas.microsoft.com/office/powerpoint/2010/main" val="327430340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46670" y="411802"/>
            <a:ext cx="10972800" cy="767276"/>
          </a:xfrm>
        </p:spPr>
        <p:txBody>
          <a:bodyPr/>
          <a:lstStyle/>
          <a:p>
            <a:r>
              <a:rPr lang="es-ES_tradnl" dirty="0" err="1"/>
              <a:t>Reparametrization</a:t>
            </a:r>
            <a:r>
              <a:rPr lang="es-ES_tradnl" dirty="0"/>
              <a:t> </a:t>
            </a:r>
            <a:r>
              <a:rPr lang="es-ES_tradnl" dirty="0" err="1"/>
              <a:t>Trick</a:t>
            </a:r>
            <a:endParaRPr lang="es-ES_tradnl" dirty="0"/>
          </a:p>
        </p:txBody>
      </p:sp>
      <p:sp>
        <p:nvSpPr>
          <p:cNvPr id="3" name="Marcador de número de diapositiva 2"/>
          <p:cNvSpPr>
            <a:spLocks noGrp="1"/>
          </p:cNvSpPr>
          <p:nvPr>
            <p:ph type="sldNum" sz="quarter" idx="12"/>
          </p:nvPr>
        </p:nvSpPr>
        <p:spPr/>
        <p:txBody>
          <a:bodyPr/>
          <a:lstStyle/>
          <a:p>
            <a:fld id="{A13833A1-46C9-FB45-812F-A8AC7B5136EB}" type="slidenum">
              <a:rPr lang="en-US" smtClean="0"/>
              <a:t>70</a:t>
            </a:fld>
            <a:endParaRPr lang="en-US"/>
          </a:p>
        </p:txBody>
      </p:sp>
      <p:grpSp>
        <p:nvGrpSpPr>
          <p:cNvPr id="5" name="Group 32"/>
          <p:cNvGrpSpPr>
            <a:grpSpLocks noChangeAspect="1"/>
          </p:cNvGrpSpPr>
          <p:nvPr/>
        </p:nvGrpSpPr>
        <p:grpSpPr>
          <a:xfrm>
            <a:off x="401481" y="1931693"/>
            <a:ext cx="11340251" cy="1897851"/>
            <a:chOff x="-809293" y="2599447"/>
            <a:chExt cx="10347935" cy="1731782"/>
          </a:xfrm>
        </p:grpSpPr>
        <p:sp>
          <p:nvSpPr>
            <p:cNvPr id="6" name="Rounded Rectangle 33"/>
            <p:cNvSpPr/>
            <p:nvPr/>
          </p:nvSpPr>
          <p:spPr>
            <a:xfrm>
              <a:off x="1135726" y="2841631"/>
              <a:ext cx="1722237" cy="1489598"/>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2700" dirty="0">
                  <a:solidFill>
                    <a:srgbClr val="0000FF"/>
                  </a:solidFill>
                </a:rPr>
                <a:t>Encoder</a:t>
              </a:r>
            </a:p>
          </p:txBody>
        </p:sp>
        <p:sp>
          <p:nvSpPr>
            <p:cNvPr id="7" name="Rounded Rectangle 39"/>
            <p:cNvSpPr/>
            <p:nvPr/>
          </p:nvSpPr>
          <p:spPr>
            <a:xfrm>
              <a:off x="5923820" y="2822290"/>
              <a:ext cx="1668169" cy="1489598"/>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2700" dirty="0">
                  <a:solidFill>
                    <a:srgbClr val="0000FF"/>
                  </a:solidFill>
                </a:rPr>
                <a:t>Decoder</a:t>
              </a:r>
            </a:p>
          </p:txBody>
        </p:sp>
        <p:pic>
          <p:nvPicPr>
            <p:cNvPr id="8" name="Picture 40"/>
            <p:cNvPicPr>
              <a:picLocks noChangeAspect="1"/>
            </p:cNvPicPr>
            <p:nvPr/>
          </p:nvPicPr>
          <p:blipFill>
            <a:blip r:embed="rId2"/>
            <a:stretch>
              <a:fillRect/>
            </a:stretch>
          </p:blipFill>
          <p:spPr>
            <a:xfrm>
              <a:off x="-809293" y="2895393"/>
              <a:ext cx="1229694" cy="1257300"/>
            </a:xfrm>
            <a:prstGeom prst="rect">
              <a:avLst/>
            </a:prstGeom>
          </p:spPr>
        </p:pic>
        <p:pic>
          <p:nvPicPr>
            <p:cNvPr id="9" name="Picture 41"/>
            <p:cNvPicPr>
              <a:picLocks noChangeAspect="1"/>
            </p:cNvPicPr>
            <p:nvPr/>
          </p:nvPicPr>
          <p:blipFill>
            <a:blip r:embed="rId3"/>
            <a:stretch>
              <a:fillRect/>
            </a:stretch>
          </p:blipFill>
          <p:spPr>
            <a:xfrm>
              <a:off x="8344764" y="2951431"/>
              <a:ext cx="1193878" cy="1270000"/>
            </a:xfrm>
            <a:prstGeom prst="rect">
              <a:avLst/>
            </a:prstGeom>
          </p:spPr>
        </p:pic>
        <p:cxnSp>
          <p:nvCxnSpPr>
            <p:cNvPr id="10" name="Straight Arrow Connector 42"/>
            <p:cNvCxnSpPr/>
            <p:nvPr/>
          </p:nvCxnSpPr>
          <p:spPr>
            <a:xfrm>
              <a:off x="420401" y="3541451"/>
              <a:ext cx="586892" cy="0"/>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11" name="Straight Arrow Connector 43"/>
            <p:cNvCxnSpPr/>
            <p:nvPr/>
          </p:nvCxnSpPr>
          <p:spPr>
            <a:xfrm>
              <a:off x="7683000" y="3567088"/>
              <a:ext cx="586892" cy="0"/>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12" name="Rectangle 44"/>
            <p:cNvSpPr/>
            <p:nvPr/>
          </p:nvSpPr>
          <p:spPr>
            <a:xfrm>
              <a:off x="3649593" y="2599447"/>
              <a:ext cx="445227" cy="844651"/>
            </a:xfrm>
            <a:prstGeom prst="rect">
              <a:avLst/>
            </a:prstGeom>
            <a:solidFill>
              <a:schemeClr val="bg1">
                <a:lumMod val="50000"/>
              </a:schemeClr>
            </a:solid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00" i="1" dirty="0"/>
            </a:p>
          </p:txBody>
        </p:sp>
        <p:cxnSp>
          <p:nvCxnSpPr>
            <p:cNvPr id="14" name="Straight Arrow Connector 46"/>
            <p:cNvCxnSpPr/>
            <p:nvPr/>
          </p:nvCxnSpPr>
          <p:spPr>
            <a:xfrm>
              <a:off x="5353160" y="3541451"/>
              <a:ext cx="478625" cy="0"/>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grpSp>
      <p:sp>
        <p:nvSpPr>
          <p:cNvPr id="16" name="Rectangle 44"/>
          <p:cNvSpPr/>
          <p:nvPr/>
        </p:nvSpPr>
        <p:spPr>
          <a:xfrm>
            <a:off x="5287951" y="3080518"/>
            <a:ext cx="487922" cy="925649"/>
          </a:xfrm>
          <a:prstGeom prst="rect">
            <a:avLst/>
          </a:prstGeom>
          <a:solidFill>
            <a:schemeClr val="bg1">
              <a:lumMod val="50000"/>
            </a:schemeClr>
          </a:solid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00" i="1" dirty="0"/>
          </a:p>
        </p:txBody>
      </p:sp>
      <p:sp>
        <p:nvSpPr>
          <p:cNvPr id="18" name="Rectangle 23"/>
          <p:cNvSpPr/>
          <p:nvPr/>
        </p:nvSpPr>
        <p:spPr>
          <a:xfrm>
            <a:off x="6577718" y="2356430"/>
            <a:ext cx="400704" cy="1131570"/>
          </a:xfrm>
          <a:prstGeom prst="rect">
            <a:avLst/>
          </a:prstGeom>
          <a:solidFill>
            <a:schemeClr val="bg1">
              <a:lumMod val="50000"/>
            </a:schemeClr>
          </a:solid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600" i="1" dirty="0"/>
              <a:t>z</a:t>
            </a:r>
          </a:p>
        </p:txBody>
      </p:sp>
      <mc:AlternateContent xmlns:mc="http://schemas.openxmlformats.org/markup-compatibility/2006" xmlns:a14="http://schemas.microsoft.com/office/drawing/2010/main">
        <mc:Choice Requires="a14">
          <p:sp>
            <p:nvSpPr>
              <p:cNvPr id="4" name="CuadroTexto 3"/>
              <p:cNvSpPr txBox="1"/>
              <p:nvPr/>
            </p:nvSpPr>
            <p:spPr>
              <a:xfrm>
                <a:off x="5435944" y="2079431"/>
                <a:ext cx="191933" cy="5539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ES_tradnl" sz="3600" i="1" smtClean="0">
                          <a:solidFill>
                            <a:schemeClr val="bg1"/>
                          </a:solidFill>
                          <a:latin typeface="Cambria Math" charset="0"/>
                          <a:ea typeface="Cambria Math" charset="0"/>
                          <a:cs typeface="Cambria Math" charset="0"/>
                        </a:rPr>
                        <m:t>𝜇</m:t>
                      </m:r>
                    </m:oMath>
                  </m:oMathPara>
                </a14:m>
                <a:endParaRPr lang="es-ES_tradnl" sz="3600" dirty="0">
                  <a:solidFill>
                    <a:srgbClr val="FF0000"/>
                  </a:solidFill>
                </a:endParaRPr>
              </a:p>
            </p:txBody>
          </p:sp>
        </mc:Choice>
        <mc:Fallback xmlns="">
          <p:sp>
            <p:nvSpPr>
              <p:cNvPr id="4" name="CuadroTexto 3"/>
              <p:cNvSpPr txBox="1">
                <a:spLocks noRot="1" noChangeAspect="1" noMove="1" noResize="1" noEditPoints="1" noAdjustHandles="1" noChangeArrowheads="1" noChangeShapeType="1" noTextEdit="1"/>
              </p:cNvSpPr>
              <p:nvPr/>
            </p:nvSpPr>
            <p:spPr>
              <a:xfrm>
                <a:off x="5435944" y="2079431"/>
                <a:ext cx="191933" cy="553998"/>
              </a:xfrm>
              <a:prstGeom prst="rect">
                <a:avLst/>
              </a:prstGeom>
              <a:blipFill>
                <a:blip r:embed="rId4"/>
                <a:stretch>
                  <a:fillRect r="-29032"/>
                </a:stretch>
              </a:blipFill>
            </p:spPr>
            <p:txBody>
              <a:bodyPr/>
              <a:lstStyle/>
              <a:p>
                <a:r>
                  <a:rPr lang="es-CL">
                    <a:noFill/>
                  </a:rPr>
                  <a:t> </a:t>
                </a:r>
              </a:p>
            </p:txBody>
          </p:sp>
        </mc:Fallback>
      </mc:AlternateContent>
      <mc:AlternateContent xmlns:mc="http://schemas.openxmlformats.org/markup-compatibility/2006" xmlns:a14="http://schemas.microsoft.com/office/drawing/2010/main">
        <mc:Choice Requires="a14">
          <p:sp>
            <p:nvSpPr>
              <p:cNvPr id="17" name="CuadroTexto 16"/>
              <p:cNvSpPr txBox="1"/>
              <p:nvPr/>
            </p:nvSpPr>
            <p:spPr>
              <a:xfrm>
                <a:off x="5413991" y="3276637"/>
                <a:ext cx="211126" cy="5539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ES_tradnl" sz="3600" i="1">
                          <a:solidFill>
                            <a:schemeClr val="bg1"/>
                          </a:solidFill>
                          <a:latin typeface="Cambria Math" charset="0"/>
                          <a:ea typeface="Cambria Math" charset="0"/>
                          <a:cs typeface="Cambria Math" charset="0"/>
                        </a:rPr>
                        <m:t>𝜎</m:t>
                      </m:r>
                    </m:oMath>
                  </m:oMathPara>
                </a14:m>
                <a:endParaRPr lang="es-ES_tradnl" sz="3600" i="1" dirty="0">
                  <a:solidFill>
                    <a:schemeClr val="bg1"/>
                  </a:solidFill>
                  <a:latin typeface="Cambria Math" charset="0"/>
                  <a:ea typeface="Cambria Math" charset="0"/>
                  <a:cs typeface="Cambria Math" charset="0"/>
                </a:endParaRPr>
              </a:p>
            </p:txBody>
          </p:sp>
        </mc:Choice>
        <mc:Fallback xmlns="">
          <p:sp>
            <p:nvSpPr>
              <p:cNvPr id="17" name="CuadroTexto 16"/>
              <p:cNvSpPr txBox="1">
                <a:spLocks noRot="1" noChangeAspect="1" noMove="1" noResize="1" noEditPoints="1" noAdjustHandles="1" noChangeArrowheads="1" noChangeShapeType="1" noTextEdit="1"/>
              </p:cNvSpPr>
              <p:nvPr/>
            </p:nvSpPr>
            <p:spPr>
              <a:xfrm>
                <a:off x="5413991" y="3276637"/>
                <a:ext cx="211126" cy="553998"/>
              </a:xfrm>
              <a:prstGeom prst="rect">
                <a:avLst/>
              </a:prstGeom>
              <a:blipFill>
                <a:blip r:embed="rId5"/>
                <a:stretch>
                  <a:fillRect r="-25714"/>
                </a:stretch>
              </a:blipFill>
            </p:spPr>
            <p:txBody>
              <a:bodyPr/>
              <a:lstStyle/>
              <a:p>
                <a:r>
                  <a:rPr lang="es-CL">
                    <a:noFill/>
                  </a:rPr>
                  <a:t> </a:t>
                </a:r>
              </a:p>
            </p:txBody>
          </p:sp>
        </mc:Fallback>
      </mc:AlternateContent>
      <p:cxnSp>
        <p:nvCxnSpPr>
          <p:cNvPr id="19" name="Straight Arrow Connector 45"/>
          <p:cNvCxnSpPr/>
          <p:nvPr/>
        </p:nvCxnSpPr>
        <p:spPr>
          <a:xfrm>
            <a:off x="5956117" y="2922215"/>
            <a:ext cx="526901" cy="0"/>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45"/>
          <p:cNvCxnSpPr/>
          <p:nvPr/>
        </p:nvCxnSpPr>
        <p:spPr>
          <a:xfrm>
            <a:off x="4580558" y="2948182"/>
            <a:ext cx="526901" cy="0"/>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pic>
        <p:nvPicPr>
          <p:cNvPr id="26" name="Imagen 25"/>
          <p:cNvPicPr>
            <a:picLocks noChangeAspect="1"/>
          </p:cNvPicPr>
          <p:nvPr/>
        </p:nvPicPr>
        <p:blipFill>
          <a:blip r:embed="rId6"/>
          <a:stretch>
            <a:fillRect/>
          </a:stretch>
        </p:blipFill>
        <p:spPr>
          <a:xfrm>
            <a:off x="1040106" y="1605576"/>
            <a:ext cx="5745445" cy="774700"/>
          </a:xfrm>
          <a:prstGeom prst="rect">
            <a:avLst/>
          </a:prstGeom>
        </p:spPr>
      </p:pic>
      <p:pic>
        <p:nvPicPr>
          <p:cNvPr id="21" name="Imagen 20"/>
          <p:cNvPicPr>
            <a:picLocks noChangeAspect="1"/>
          </p:cNvPicPr>
          <p:nvPr/>
        </p:nvPicPr>
        <p:blipFill>
          <a:blip r:embed="rId6"/>
          <a:stretch>
            <a:fillRect/>
          </a:stretch>
        </p:blipFill>
        <p:spPr>
          <a:xfrm>
            <a:off x="6785551" y="1727946"/>
            <a:ext cx="4347887" cy="774700"/>
          </a:xfrm>
          <a:prstGeom prst="rect">
            <a:avLst/>
          </a:prstGeom>
        </p:spPr>
      </p:pic>
    </p:spTree>
    <p:extLst>
      <p:ext uri="{BB962C8B-B14F-4D97-AF65-F5344CB8AC3E}">
        <p14:creationId xmlns:p14="http://schemas.microsoft.com/office/powerpoint/2010/main" val="65262304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46670" y="411802"/>
            <a:ext cx="10972800" cy="767276"/>
          </a:xfrm>
        </p:spPr>
        <p:txBody>
          <a:bodyPr/>
          <a:lstStyle/>
          <a:p>
            <a:r>
              <a:rPr lang="es-ES_tradnl" dirty="0" err="1"/>
              <a:t>Reparametrization</a:t>
            </a:r>
            <a:r>
              <a:rPr lang="es-ES_tradnl" dirty="0"/>
              <a:t> </a:t>
            </a:r>
            <a:r>
              <a:rPr lang="es-ES_tradnl" dirty="0" err="1"/>
              <a:t>Trick</a:t>
            </a:r>
            <a:endParaRPr lang="es-ES_tradnl" dirty="0"/>
          </a:p>
        </p:txBody>
      </p:sp>
      <p:sp>
        <p:nvSpPr>
          <p:cNvPr id="3" name="Marcador de número de diapositiva 2"/>
          <p:cNvSpPr>
            <a:spLocks noGrp="1"/>
          </p:cNvSpPr>
          <p:nvPr>
            <p:ph type="sldNum" sz="quarter" idx="12"/>
          </p:nvPr>
        </p:nvSpPr>
        <p:spPr/>
        <p:txBody>
          <a:bodyPr/>
          <a:lstStyle/>
          <a:p>
            <a:fld id="{A13833A1-46C9-FB45-812F-A8AC7B5136EB}" type="slidenum">
              <a:rPr lang="en-US" smtClean="0"/>
              <a:t>71</a:t>
            </a:fld>
            <a:endParaRPr lang="en-US"/>
          </a:p>
        </p:txBody>
      </p:sp>
      <p:grpSp>
        <p:nvGrpSpPr>
          <p:cNvPr id="5" name="Group 32"/>
          <p:cNvGrpSpPr>
            <a:grpSpLocks noChangeAspect="1"/>
          </p:cNvGrpSpPr>
          <p:nvPr/>
        </p:nvGrpSpPr>
        <p:grpSpPr>
          <a:xfrm>
            <a:off x="401481" y="1931693"/>
            <a:ext cx="11340251" cy="1897851"/>
            <a:chOff x="-809293" y="2599447"/>
            <a:chExt cx="10347935" cy="1731782"/>
          </a:xfrm>
        </p:grpSpPr>
        <p:sp>
          <p:nvSpPr>
            <p:cNvPr id="6" name="Rounded Rectangle 33"/>
            <p:cNvSpPr/>
            <p:nvPr/>
          </p:nvSpPr>
          <p:spPr>
            <a:xfrm>
              <a:off x="1135726" y="2841631"/>
              <a:ext cx="1722237" cy="1489598"/>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2700" dirty="0">
                  <a:solidFill>
                    <a:srgbClr val="0000FF"/>
                  </a:solidFill>
                </a:rPr>
                <a:t>Encoder</a:t>
              </a:r>
            </a:p>
          </p:txBody>
        </p:sp>
        <p:sp>
          <p:nvSpPr>
            <p:cNvPr id="7" name="Rounded Rectangle 39"/>
            <p:cNvSpPr/>
            <p:nvPr/>
          </p:nvSpPr>
          <p:spPr>
            <a:xfrm>
              <a:off x="5923820" y="2822290"/>
              <a:ext cx="1668169" cy="1489598"/>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2700" dirty="0">
                  <a:solidFill>
                    <a:srgbClr val="0000FF"/>
                  </a:solidFill>
                </a:rPr>
                <a:t>Decoder</a:t>
              </a:r>
            </a:p>
          </p:txBody>
        </p:sp>
        <p:pic>
          <p:nvPicPr>
            <p:cNvPr id="8" name="Picture 40"/>
            <p:cNvPicPr>
              <a:picLocks noChangeAspect="1"/>
            </p:cNvPicPr>
            <p:nvPr/>
          </p:nvPicPr>
          <p:blipFill>
            <a:blip r:embed="rId2"/>
            <a:stretch>
              <a:fillRect/>
            </a:stretch>
          </p:blipFill>
          <p:spPr>
            <a:xfrm>
              <a:off x="-809293" y="2895393"/>
              <a:ext cx="1229694" cy="1257300"/>
            </a:xfrm>
            <a:prstGeom prst="rect">
              <a:avLst/>
            </a:prstGeom>
          </p:spPr>
        </p:pic>
        <p:pic>
          <p:nvPicPr>
            <p:cNvPr id="9" name="Picture 41"/>
            <p:cNvPicPr>
              <a:picLocks noChangeAspect="1"/>
            </p:cNvPicPr>
            <p:nvPr/>
          </p:nvPicPr>
          <p:blipFill>
            <a:blip r:embed="rId3"/>
            <a:stretch>
              <a:fillRect/>
            </a:stretch>
          </p:blipFill>
          <p:spPr>
            <a:xfrm>
              <a:off x="8344764" y="2951431"/>
              <a:ext cx="1193878" cy="1270000"/>
            </a:xfrm>
            <a:prstGeom prst="rect">
              <a:avLst/>
            </a:prstGeom>
          </p:spPr>
        </p:pic>
        <p:cxnSp>
          <p:nvCxnSpPr>
            <p:cNvPr id="10" name="Straight Arrow Connector 42"/>
            <p:cNvCxnSpPr/>
            <p:nvPr/>
          </p:nvCxnSpPr>
          <p:spPr>
            <a:xfrm>
              <a:off x="420401" y="3541451"/>
              <a:ext cx="586892" cy="0"/>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11" name="Straight Arrow Connector 43"/>
            <p:cNvCxnSpPr/>
            <p:nvPr/>
          </p:nvCxnSpPr>
          <p:spPr>
            <a:xfrm>
              <a:off x="7683000" y="3567088"/>
              <a:ext cx="586892" cy="0"/>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12" name="Rectangle 44"/>
            <p:cNvSpPr/>
            <p:nvPr/>
          </p:nvSpPr>
          <p:spPr>
            <a:xfrm>
              <a:off x="3649593" y="2599447"/>
              <a:ext cx="445227" cy="844651"/>
            </a:xfrm>
            <a:prstGeom prst="rect">
              <a:avLst/>
            </a:prstGeom>
            <a:solidFill>
              <a:schemeClr val="bg1">
                <a:lumMod val="50000"/>
              </a:schemeClr>
            </a:solid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00" i="1" dirty="0"/>
            </a:p>
          </p:txBody>
        </p:sp>
        <p:cxnSp>
          <p:nvCxnSpPr>
            <p:cNvPr id="14" name="Straight Arrow Connector 46"/>
            <p:cNvCxnSpPr/>
            <p:nvPr/>
          </p:nvCxnSpPr>
          <p:spPr>
            <a:xfrm>
              <a:off x="5353160" y="3541451"/>
              <a:ext cx="478625" cy="0"/>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grpSp>
      <p:sp>
        <p:nvSpPr>
          <p:cNvPr id="16" name="Rectangle 44"/>
          <p:cNvSpPr/>
          <p:nvPr/>
        </p:nvSpPr>
        <p:spPr>
          <a:xfrm>
            <a:off x="5287951" y="3080518"/>
            <a:ext cx="487922" cy="925649"/>
          </a:xfrm>
          <a:prstGeom prst="rect">
            <a:avLst/>
          </a:prstGeom>
          <a:solidFill>
            <a:schemeClr val="bg1">
              <a:lumMod val="50000"/>
            </a:schemeClr>
          </a:solid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00" i="1" dirty="0"/>
          </a:p>
        </p:txBody>
      </p:sp>
      <p:sp>
        <p:nvSpPr>
          <p:cNvPr id="18" name="Rectangle 23"/>
          <p:cNvSpPr/>
          <p:nvPr/>
        </p:nvSpPr>
        <p:spPr>
          <a:xfrm>
            <a:off x="6577718" y="2356430"/>
            <a:ext cx="400704" cy="1131570"/>
          </a:xfrm>
          <a:prstGeom prst="rect">
            <a:avLst/>
          </a:prstGeom>
          <a:solidFill>
            <a:schemeClr val="bg1">
              <a:lumMod val="50000"/>
            </a:schemeClr>
          </a:solid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600" i="1" dirty="0"/>
              <a:t>z</a:t>
            </a:r>
          </a:p>
        </p:txBody>
      </p:sp>
      <mc:AlternateContent xmlns:mc="http://schemas.openxmlformats.org/markup-compatibility/2006" xmlns:a14="http://schemas.microsoft.com/office/drawing/2010/main">
        <mc:Choice Requires="a14">
          <p:sp>
            <p:nvSpPr>
              <p:cNvPr id="4" name="CuadroTexto 3"/>
              <p:cNvSpPr txBox="1"/>
              <p:nvPr/>
            </p:nvSpPr>
            <p:spPr>
              <a:xfrm>
                <a:off x="5435944" y="2079431"/>
                <a:ext cx="191933" cy="5539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ES_tradnl" sz="3600" i="1">
                          <a:solidFill>
                            <a:schemeClr val="lt1"/>
                          </a:solidFill>
                          <a:latin typeface="Cambria Math" charset="0"/>
                        </a:rPr>
                        <m:t>𝜇</m:t>
                      </m:r>
                    </m:oMath>
                  </m:oMathPara>
                </a14:m>
                <a:endParaRPr lang="es-ES_tradnl" sz="3600" i="1" dirty="0">
                  <a:solidFill>
                    <a:schemeClr val="lt1"/>
                  </a:solidFill>
                </a:endParaRPr>
              </a:p>
            </p:txBody>
          </p:sp>
        </mc:Choice>
        <mc:Fallback xmlns="">
          <p:sp>
            <p:nvSpPr>
              <p:cNvPr id="4" name="CuadroTexto 3"/>
              <p:cNvSpPr txBox="1">
                <a:spLocks noRot="1" noChangeAspect="1" noMove="1" noResize="1" noEditPoints="1" noAdjustHandles="1" noChangeArrowheads="1" noChangeShapeType="1" noTextEdit="1"/>
              </p:cNvSpPr>
              <p:nvPr/>
            </p:nvSpPr>
            <p:spPr>
              <a:xfrm>
                <a:off x="5435944" y="2079431"/>
                <a:ext cx="191933" cy="553998"/>
              </a:xfrm>
              <a:prstGeom prst="rect">
                <a:avLst/>
              </a:prstGeom>
              <a:blipFill>
                <a:blip r:embed="rId4"/>
                <a:stretch>
                  <a:fillRect r="-29032"/>
                </a:stretch>
              </a:blipFill>
            </p:spPr>
            <p:txBody>
              <a:bodyPr/>
              <a:lstStyle/>
              <a:p>
                <a:r>
                  <a:rPr lang="es-CL">
                    <a:noFill/>
                  </a:rPr>
                  <a:t> </a:t>
                </a:r>
              </a:p>
            </p:txBody>
          </p:sp>
        </mc:Fallback>
      </mc:AlternateContent>
      <mc:AlternateContent xmlns:mc="http://schemas.openxmlformats.org/markup-compatibility/2006" xmlns:a14="http://schemas.microsoft.com/office/drawing/2010/main">
        <mc:Choice Requires="a14">
          <p:sp>
            <p:nvSpPr>
              <p:cNvPr id="17" name="CuadroTexto 16"/>
              <p:cNvSpPr txBox="1"/>
              <p:nvPr/>
            </p:nvSpPr>
            <p:spPr>
              <a:xfrm>
                <a:off x="5435945" y="3276637"/>
                <a:ext cx="191933" cy="5539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ES_tradnl" sz="3600" i="1">
                          <a:solidFill>
                            <a:schemeClr val="lt1"/>
                          </a:solidFill>
                          <a:latin typeface="Cambria Math" charset="0"/>
                        </a:rPr>
                        <m:t>𝜎</m:t>
                      </m:r>
                    </m:oMath>
                  </m:oMathPara>
                </a14:m>
                <a:endParaRPr lang="es-ES_tradnl" sz="3600" i="1" dirty="0">
                  <a:solidFill>
                    <a:schemeClr val="lt1"/>
                  </a:solidFill>
                </a:endParaRPr>
              </a:p>
            </p:txBody>
          </p:sp>
        </mc:Choice>
        <mc:Fallback xmlns="">
          <p:sp>
            <p:nvSpPr>
              <p:cNvPr id="17" name="CuadroTexto 16"/>
              <p:cNvSpPr txBox="1">
                <a:spLocks noRot="1" noChangeAspect="1" noMove="1" noResize="1" noEditPoints="1" noAdjustHandles="1" noChangeArrowheads="1" noChangeShapeType="1" noTextEdit="1"/>
              </p:cNvSpPr>
              <p:nvPr/>
            </p:nvSpPr>
            <p:spPr>
              <a:xfrm>
                <a:off x="5435945" y="3276637"/>
                <a:ext cx="191933" cy="553998"/>
              </a:xfrm>
              <a:prstGeom prst="rect">
                <a:avLst/>
              </a:prstGeom>
              <a:blipFill>
                <a:blip r:embed="rId5"/>
                <a:stretch>
                  <a:fillRect r="-41935"/>
                </a:stretch>
              </a:blipFill>
            </p:spPr>
            <p:txBody>
              <a:bodyPr/>
              <a:lstStyle/>
              <a:p>
                <a:r>
                  <a:rPr lang="es-CL">
                    <a:noFill/>
                  </a:rPr>
                  <a:t> </a:t>
                </a:r>
              </a:p>
            </p:txBody>
          </p:sp>
        </mc:Fallback>
      </mc:AlternateContent>
      <p:cxnSp>
        <p:nvCxnSpPr>
          <p:cNvPr id="19" name="Straight Arrow Connector 45"/>
          <p:cNvCxnSpPr/>
          <p:nvPr/>
        </p:nvCxnSpPr>
        <p:spPr>
          <a:xfrm>
            <a:off x="5956117" y="2922215"/>
            <a:ext cx="526901" cy="0"/>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45"/>
          <p:cNvCxnSpPr/>
          <p:nvPr/>
        </p:nvCxnSpPr>
        <p:spPr>
          <a:xfrm>
            <a:off x="4580558" y="2948182"/>
            <a:ext cx="526901" cy="0"/>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15" name="Rectángulo 14"/>
          <p:cNvSpPr/>
          <p:nvPr/>
        </p:nvSpPr>
        <p:spPr>
          <a:xfrm>
            <a:off x="5627877" y="4451392"/>
            <a:ext cx="2453442" cy="534308"/>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s-ES_tradnl"/>
          </a:p>
        </p:txBody>
      </p:sp>
      <mc:AlternateContent xmlns:mc="http://schemas.openxmlformats.org/markup-compatibility/2006" xmlns:a14="http://schemas.microsoft.com/office/drawing/2010/main">
        <mc:Choice Requires="a14">
          <p:sp>
            <p:nvSpPr>
              <p:cNvPr id="13" name="CuadroTexto 12"/>
              <p:cNvSpPr txBox="1"/>
              <p:nvPr/>
            </p:nvSpPr>
            <p:spPr>
              <a:xfrm>
                <a:off x="5653246" y="4451392"/>
                <a:ext cx="2366610" cy="4616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3000" b="0" i="1" smtClean="0">
                          <a:latin typeface="Cambria Math" charset="0"/>
                        </a:rPr>
                        <m:t>𝑍</m:t>
                      </m:r>
                      <m:r>
                        <a:rPr lang="es-ES" sz="3000" b="0" i="1" smtClean="0">
                          <a:latin typeface="Cambria Math" charset="0"/>
                        </a:rPr>
                        <m:t>= </m:t>
                      </m:r>
                      <m:r>
                        <a:rPr lang="es-ES" sz="3000" i="1">
                          <a:latin typeface="Cambria Math" charset="0"/>
                          <a:ea typeface="Cambria Math" charset="0"/>
                          <a:cs typeface="Cambria Math" charset="0"/>
                        </a:rPr>
                        <m:t>𝜇</m:t>
                      </m:r>
                      <m:r>
                        <a:rPr lang="es-ES" sz="3000" b="0" i="1" smtClean="0">
                          <a:latin typeface="Cambria Math" charset="0"/>
                        </a:rPr>
                        <m:t>+</m:t>
                      </m:r>
                      <m:r>
                        <a:rPr lang="es-ES" sz="3000" b="0" i="1" smtClean="0">
                          <a:latin typeface="Cambria Math" charset="0"/>
                          <a:ea typeface="Cambria Math" charset="0"/>
                          <a:cs typeface="Cambria Math" charset="0"/>
                        </a:rPr>
                        <m:t>𝜀</m:t>
                      </m:r>
                      <m:r>
                        <a:rPr lang="es-ES" sz="3000" i="1">
                          <a:latin typeface="Cambria Math" charset="0"/>
                          <a:ea typeface="Cambria Math" charset="0"/>
                          <a:cs typeface="Cambria Math" charset="0"/>
                        </a:rPr>
                        <m:t>∘</m:t>
                      </m:r>
                      <m:r>
                        <a:rPr lang="es-ES" sz="3000" b="0" i="1" smtClean="0">
                          <a:latin typeface="Cambria Math" charset="0"/>
                          <a:ea typeface="Cambria Math" charset="0"/>
                          <a:cs typeface="Cambria Math" charset="0"/>
                        </a:rPr>
                        <m:t>𝜎</m:t>
                      </m:r>
                    </m:oMath>
                  </m:oMathPara>
                </a14:m>
                <a:endParaRPr lang="es-ES_tradnl" sz="3000" dirty="0"/>
              </a:p>
            </p:txBody>
          </p:sp>
        </mc:Choice>
        <mc:Fallback xmlns="">
          <p:sp>
            <p:nvSpPr>
              <p:cNvPr id="13" name="CuadroTexto 12"/>
              <p:cNvSpPr txBox="1">
                <a:spLocks noRot="1" noChangeAspect="1" noMove="1" noResize="1" noEditPoints="1" noAdjustHandles="1" noChangeArrowheads="1" noChangeShapeType="1" noTextEdit="1"/>
              </p:cNvSpPr>
              <p:nvPr/>
            </p:nvSpPr>
            <p:spPr>
              <a:xfrm>
                <a:off x="5653246" y="4451392"/>
                <a:ext cx="2366610" cy="461665"/>
              </a:xfrm>
              <a:prstGeom prst="rect">
                <a:avLst/>
              </a:prstGeom>
              <a:blipFill rotWithShape="0">
                <a:blip r:embed="rId6"/>
                <a:stretch>
                  <a:fillRect/>
                </a:stretch>
              </a:blipFill>
            </p:spPr>
            <p:txBody>
              <a:bodyPr/>
              <a:lstStyle/>
              <a:p>
                <a:r>
                  <a:rPr lang="es-ES_tradnl">
                    <a:noFill/>
                  </a:rPr>
                  <a:t> </a:t>
                </a:r>
              </a:p>
            </p:txBody>
          </p:sp>
        </mc:Fallback>
      </mc:AlternateContent>
      <p:pic>
        <p:nvPicPr>
          <p:cNvPr id="26" name="Imagen 25"/>
          <p:cNvPicPr>
            <a:picLocks noChangeAspect="1"/>
          </p:cNvPicPr>
          <p:nvPr/>
        </p:nvPicPr>
        <p:blipFill>
          <a:blip r:embed="rId7"/>
          <a:stretch>
            <a:fillRect/>
          </a:stretch>
        </p:blipFill>
        <p:spPr>
          <a:xfrm>
            <a:off x="1040106" y="1605576"/>
            <a:ext cx="5745445" cy="774700"/>
          </a:xfrm>
          <a:prstGeom prst="rect">
            <a:avLst/>
          </a:prstGeom>
        </p:spPr>
      </p:pic>
      <p:pic>
        <p:nvPicPr>
          <p:cNvPr id="28" name="Imagen 27"/>
          <p:cNvPicPr>
            <a:picLocks noChangeAspect="1"/>
          </p:cNvPicPr>
          <p:nvPr/>
        </p:nvPicPr>
        <p:blipFill>
          <a:blip r:embed="rId8"/>
          <a:stretch>
            <a:fillRect/>
          </a:stretch>
        </p:blipFill>
        <p:spPr>
          <a:xfrm>
            <a:off x="6709351" y="3555226"/>
            <a:ext cx="152400" cy="838200"/>
          </a:xfrm>
          <a:prstGeom prst="rect">
            <a:avLst/>
          </a:prstGeom>
        </p:spPr>
      </p:pic>
      <p:pic>
        <p:nvPicPr>
          <p:cNvPr id="24" name="Imagen 23"/>
          <p:cNvPicPr>
            <a:picLocks noChangeAspect="1"/>
          </p:cNvPicPr>
          <p:nvPr/>
        </p:nvPicPr>
        <p:blipFill>
          <a:blip r:embed="rId7"/>
          <a:stretch>
            <a:fillRect/>
          </a:stretch>
        </p:blipFill>
        <p:spPr>
          <a:xfrm>
            <a:off x="6785551" y="1727946"/>
            <a:ext cx="4347887" cy="774700"/>
          </a:xfrm>
          <a:prstGeom prst="rect">
            <a:avLst/>
          </a:prstGeom>
        </p:spPr>
      </p:pic>
    </p:spTree>
    <p:extLst>
      <p:ext uri="{BB962C8B-B14F-4D97-AF65-F5344CB8AC3E}">
        <p14:creationId xmlns:p14="http://schemas.microsoft.com/office/powerpoint/2010/main" val="331955683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46670" y="411802"/>
            <a:ext cx="10972800" cy="767276"/>
          </a:xfrm>
        </p:spPr>
        <p:txBody>
          <a:bodyPr/>
          <a:lstStyle/>
          <a:p>
            <a:r>
              <a:rPr lang="es-ES_tradnl" dirty="0" err="1"/>
              <a:t>Reparametrization</a:t>
            </a:r>
            <a:r>
              <a:rPr lang="es-ES_tradnl" dirty="0"/>
              <a:t> </a:t>
            </a:r>
            <a:r>
              <a:rPr lang="es-ES_tradnl" dirty="0" err="1"/>
              <a:t>Trick</a:t>
            </a:r>
            <a:endParaRPr lang="es-ES_tradnl" dirty="0"/>
          </a:p>
        </p:txBody>
      </p:sp>
      <p:sp>
        <p:nvSpPr>
          <p:cNvPr id="3" name="Marcador de número de diapositiva 2"/>
          <p:cNvSpPr>
            <a:spLocks noGrp="1"/>
          </p:cNvSpPr>
          <p:nvPr>
            <p:ph type="sldNum" sz="quarter" idx="12"/>
          </p:nvPr>
        </p:nvSpPr>
        <p:spPr/>
        <p:txBody>
          <a:bodyPr/>
          <a:lstStyle/>
          <a:p>
            <a:fld id="{A13833A1-46C9-FB45-812F-A8AC7B5136EB}" type="slidenum">
              <a:rPr lang="en-US" smtClean="0"/>
              <a:t>72</a:t>
            </a:fld>
            <a:endParaRPr lang="en-US"/>
          </a:p>
        </p:txBody>
      </p:sp>
      <p:grpSp>
        <p:nvGrpSpPr>
          <p:cNvPr id="5" name="Group 32"/>
          <p:cNvGrpSpPr>
            <a:grpSpLocks noChangeAspect="1"/>
          </p:cNvGrpSpPr>
          <p:nvPr/>
        </p:nvGrpSpPr>
        <p:grpSpPr>
          <a:xfrm>
            <a:off x="401481" y="1931693"/>
            <a:ext cx="11340251" cy="1897851"/>
            <a:chOff x="-809293" y="2599447"/>
            <a:chExt cx="10347935" cy="1731782"/>
          </a:xfrm>
        </p:grpSpPr>
        <p:sp>
          <p:nvSpPr>
            <p:cNvPr id="6" name="Rounded Rectangle 33"/>
            <p:cNvSpPr/>
            <p:nvPr/>
          </p:nvSpPr>
          <p:spPr>
            <a:xfrm>
              <a:off x="1135726" y="2841631"/>
              <a:ext cx="1722237" cy="1489598"/>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2700" dirty="0">
                  <a:solidFill>
                    <a:srgbClr val="0000FF"/>
                  </a:solidFill>
                </a:rPr>
                <a:t>Encoder</a:t>
              </a:r>
            </a:p>
          </p:txBody>
        </p:sp>
        <p:sp>
          <p:nvSpPr>
            <p:cNvPr id="7" name="Rounded Rectangle 39"/>
            <p:cNvSpPr/>
            <p:nvPr/>
          </p:nvSpPr>
          <p:spPr>
            <a:xfrm>
              <a:off x="5923820" y="2822290"/>
              <a:ext cx="1668169" cy="1489598"/>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2700" dirty="0">
                  <a:solidFill>
                    <a:srgbClr val="0000FF"/>
                  </a:solidFill>
                </a:rPr>
                <a:t>Decoder</a:t>
              </a:r>
            </a:p>
          </p:txBody>
        </p:sp>
        <p:pic>
          <p:nvPicPr>
            <p:cNvPr id="8" name="Picture 40"/>
            <p:cNvPicPr>
              <a:picLocks noChangeAspect="1"/>
            </p:cNvPicPr>
            <p:nvPr/>
          </p:nvPicPr>
          <p:blipFill>
            <a:blip r:embed="rId2"/>
            <a:stretch>
              <a:fillRect/>
            </a:stretch>
          </p:blipFill>
          <p:spPr>
            <a:xfrm>
              <a:off x="-809293" y="2895393"/>
              <a:ext cx="1229694" cy="1257300"/>
            </a:xfrm>
            <a:prstGeom prst="rect">
              <a:avLst/>
            </a:prstGeom>
          </p:spPr>
        </p:pic>
        <p:pic>
          <p:nvPicPr>
            <p:cNvPr id="9" name="Picture 41"/>
            <p:cNvPicPr>
              <a:picLocks noChangeAspect="1"/>
            </p:cNvPicPr>
            <p:nvPr/>
          </p:nvPicPr>
          <p:blipFill>
            <a:blip r:embed="rId3"/>
            <a:stretch>
              <a:fillRect/>
            </a:stretch>
          </p:blipFill>
          <p:spPr>
            <a:xfrm>
              <a:off x="8344764" y="2951431"/>
              <a:ext cx="1193878" cy="1270000"/>
            </a:xfrm>
            <a:prstGeom prst="rect">
              <a:avLst/>
            </a:prstGeom>
          </p:spPr>
        </p:pic>
        <p:cxnSp>
          <p:nvCxnSpPr>
            <p:cNvPr id="10" name="Straight Arrow Connector 42"/>
            <p:cNvCxnSpPr/>
            <p:nvPr/>
          </p:nvCxnSpPr>
          <p:spPr>
            <a:xfrm>
              <a:off x="420401" y="3541451"/>
              <a:ext cx="586892" cy="0"/>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11" name="Straight Arrow Connector 43"/>
            <p:cNvCxnSpPr/>
            <p:nvPr/>
          </p:nvCxnSpPr>
          <p:spPr>
            <a:xfrm>
              <a:off x="7683000" y="3567088"/>
              <a:ext cx="586892" cy="0"/>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12" name="Rectangle 44"/>
            <p:cNvSpPr/>
            <p:nvPr/>
          </p:nvSpPr>
          <p:spPr>
            <a:xfrm>
              <a:off x="3649593" y="2599447"/>
              <a:ext cx="445227" cy="844651"/>
            </a:xfrm>
            <a:prstGeom prst="rect">
              <a:avLst/>
            </a:prstGeom>
            <a:solidFill>
              <a:schemeClr val="bg1">
                <a:lumMod val="50000"/>
              </a:schemeClr>
            </a:solid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00" i="1" dirty="0"/>
            </a:p>
          </p:txBody>
        </p:sp>
        <p:cxnSp>
          <p:nvCxnSpPr>
            <p:cNvPr id="14" name="Straight Arrow Connector 46"/>
            <p:cNvCxnSpPr/>
            <p:nvPr/>
          </p:nvCxnSpPr>
          <p:spPr>
            <a:xfrm>
              <a:off x="5353160" y="3541451"/>
              <a:ext cx="478625" cy="0"/>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grpSp>
      <p:sp>
        <p:nvSpPr>
          <p:cNvPr id="16" name="Rectangle 44"/>
          <p:cNvSpPr/>
          <p:nvPr/>
        </p:nvSpPr>
        <p:spPr>
          <a:xfrm>
            <a:off x="5287951" y="3080518"/>
            <a:ext cx="487922" cy="925649"/>
          </a:xfrm>
          <a:prstGeom prst="rect">
            <a:avLst/>
          </a:prstGeom>
          <a:solidFill>
            <a:schemeClr val="bg1">
              <a:lumMod val="50000"/>
            </a:schemeClr>
          </a:solid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00" i="1" dirty="0"/>
          </a:p>
        </p:txBody>
      </p:sp>
      <p:sp>
        <p:nvSpPr>
          <p:cNvPr id="18" name="Rectangle 23"/>
          <p:cNvSpPr/>
          <p:nvPr/>
        </p:nvSpPr>
        <p:spPr>
          <a:xfrm>
            <a:off x="6577718" y="2356430"/>
            <a:ext cx="400704" cy="1131570"/>
          </a:xfrm>
          <a:prstGeom prst="rect">
            <a:avLst/>
          </a:prstGeom>
          <a:solidFill>
            <a:schemeClr val="bg1">
              <a:lumMod val="50000"/>
            </a:schemeClr>
          </a:solid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600" i="1" dirty="0"/>
              <a:t>z</a:t>
            </a:r>
          </a:p>
        </p:txBody>
      </p:sp>
      <mc:AlternateContent xmlns:mc="http://schemas.openxmlformats.org/markup-compatibility/2006" xmlns:a14="http://schemas.microsoft.com/office/drawing/2010/main">
        <mc:Choice Requires="a14">
          <p:sp>
            <p:nvSpPr>
              <p:cNvPr id="4" name="CuadroTexto 3"/>
              <p:cNvSpPr txBox="1"/>
              <p:nvPr/>
            </p:nvSpPr>
            <p:spPr>
              <a:xfrm>
                <a:off x="5435944" y="2079431"/>
                <a:ext cx="191933" cy="5539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ES_tradnl" sz="3600" i="1">
                          <a:solidFill>
                            <a:schemeClr val="lt1"/>
                          </a:solidFill>
                          <a:latin typeface="Cambria Math" charset="0"/>
                        </a:rPr>
                        <m:t>𝜇</m:t>
                      </m:r>
                    </m:oMath>
                  </m:oMathPara>
                </a14:m>
                <a:endParaRPr lang="es-ES_tradnl" sz="3600" i="1" dirty="0">
                  <a:solidFill>
                    <a:schemeClr val="lt1"/>
                  </a:solidFill>
                </a:endParaRPr>
              </a:p>
            </p:txBody>
          </p:sp>
        </mc:Choice>
        <mc:Fallback xmlns="">
          <p:sp>
            <p:nvSpPr>
              <p:cNvPr id="4" name="CuadroTexto 3"/>
              <p:cNvSpPr txBox="1">
                <a:spLocks noRot="1" noChangeAspect="1" noMove="1" noResize="1" noEditPoints="1" noAdjustHandles="1" noChangeArrowheads="1" noChangeShapeType="1" noTextEdit="1"/>
              </p:cNvSpPr>
              <p:nvPr/>
            </p:nvSpPr>
            <p:spPr>
              <a:xfrm>
                <a:off x="5435944" y="2079431"/>
                <a:ext cx="191933" cy="553998"/>
              </a:xfrm>
              <a:prstGeom prst="rect">
                <a:avLst/>
              </a:prstGeom>
              <a:blipFill>
                <a:blip r:embed="rId4"/>
                <a:stretch>
                  <a:fillRect r="-29032"/>
                </a:stretch>
              </a:blipFill>
            </p:spPr>
            <p:txBody>
              <a:bodyPr/>
              <a:lstStyle/>
              <a:p>
                <a:r>
                  <a:rPr lang="es-CL">
                    <a:noFill/>
                  </a:rPr>
                  <a:t> </a:t>
                </a:r>
              </a:p>
            </p:txBody>
          </p:sp>
        </mc:Fallback>
      </mc:AlternateContent>
      <mc:AlternateContent xmlns:mc="http://schemas.openxmlformats.org/markup-compatibility/2006" xmlns:a14="http://schemas.microsoft.com/office/drawing/2010/main">
        <mc:Choice Requires="a14">
          <p:sp>
            <p:nvSpPr>
              <p:cNvPr id="17" name="CuadroTexto 16"/>
              <p:cNvSpPr txBox="1"/>
              <p:nvPr/>
            </p:nvSpPr>
            <p:spPr>
              <a:xfrm>
                <a:off x="5435945" y="3276637"/>
                <a:ext cx="191933" cy="5539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ES_tradnl" sz="3600" i="1">
                          <a:solidFill>
                            <a:schemeClr val="lt1"/>
                          </a:solidFill>
                          <a:latin typeface="Cambria Math" charset="0"/>
                        </a:rPr>
                        <m:t>𝜎</m:t>
                      </m:r>
                    </m:oMath>
                  </m:oMathPara>
                </a14:m>
                <a:endParaRPr lang="es-ES_tradnl" sz="3600" i="1" dirty="0">
                  <a:solidFill>
                    <a:schemeClr val="lt1"/>
                  </a:solidFill>
                </a:endParaRPr>
              </a:p>
            </p:txBody>
          </p:sp>
        </mc:Choice>
        <mc:Fallback xmlns="">
          <p:sp>
            <p:nvSpPr>
              <p:cNvPr id="17" name="CuadroTexto 16"/>
              <p:cNvSpPr txBox="1">
                <a:spLocks noRot="1" noChangeAspect="1" noMove="1" noResize="1" noEditPoints="1" noAdjustHandles="1" noChangeArrowheads="1" noChangeShapeType="1" noTextEdit="1"/>
              </p:cNvSpPr>
              <p:nvPr/>
            </p:nvSpPr>
            <p:spPr>
              <a:xfrm>
                <a:off x="5435945" y="3276637"/>
                <a:ext cx="191933" cy="553998"/>
              </a:xfrm>
              <a:prstGeom prst="rect">
                <a:avLst/>
              </a:prstGeom>
              <a:blipFill>
                <a:blip r:embed="rId5"/>
                <a:stretch>
                  <a:fillRect r="-41935"/>
                </a:stretch>
              </a:blipFill>
            </p:spPr>
            <p:txBody>
              <a:bodyPr/>
              <a:lstStyle/>
              <a:p>
                <a:r>
                  <a:rPr lang="es-CL">
                    <a:noFill/>
                  </a:rPr>
                  <a:t> </a:t>
                </a:r>
              </a:p>
            </p:txBody>
          </p:sp>
        </mc:Fallback>
      </mc:AlternateContent>
      <p:cxnSp>
        <p:nvCxnSpPr>
          <p:cNvPr id="19" name="Straight Arrow Connector 45"/>
          <p:cNvCxnSpPr/>
          <p:nvPr/>
        </p:nvCxnSpPr>
        <p:spPr>
          <a:xfrm>
            <a:off x="5956117" y="2922215"/>
            <a:ext cx="526901" cy="0"/>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45"/>
          <p:cNvCxnSpPr/>
          <p:nvPr/>
        </p:nvCxnSpPr>
        <p:spPr>
          <a:xfrm>
            <a:off x="4580558" y="2948182"/>
            <a:ext cx="526901" cy="0"/>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15" name="Rectángulo 14"/>
          <p:cNvSpPr/>
          <p:nvPr/>
        </p:nvSpPr>
        <p:spPr>
          <a:xfrm>
            <a:off x="5627877" y="4451392"/>
            <a:ext cx="2453442" cy="534308"/>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s-ES_tradnl"/>
          </a:p>
        </p:txBody>
      </p:sp>
      <mc:AlternateContent xmlns:mc="http://schemas.openxmlformats.org/markup-compatibility/2006" xmlns:a14="http://schemas.microsoft.com/office/drawing/2010/main">
        <mc:Choice Requires="a14">
          <p:sp>
            <p:nvSpPr>
              <p:cNvPr id="13" name="CuadroTexto 12"/>
              <p:cNvSpPr txBox="1"/>
              <p:nvPr/>
            </p:nvSpPr>
            <p:spPr>
              <a:xfrm>
                <a:off x="5653246" y="4451392"/>
                <a:ext cx="2366610" cy="4616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3000" b="0" i="1" smtClean="0">
                          <a:latin typeface="Cambria Math" charset="0"/>
                        </a:rPr>
                        <m:t>𝑍</m:t>
                      </m:r>
                      <m:r>
                        <a:rPr lang="es-ES" sz="3000" b="0" i="1" smtClean="0">
                          <a:latin typeface="Cambria Math" charset="0"/>
                        </a:rPr>
                        <m:t>= </m:t>
                      </m:r>
                      <m:r>
                        <a:rPr lang="es-ES" sz="3000" i="1">
                          <a:latin typeface="Cambria Math" charset="0"/>
                          <a:ea typeface="Cambria Math" charset="0"/>
                          <a:cs typeface="Cambria Math" charset="0"/>
                        </a:rPr>
                        <m:t>𝜇</m:t>
                      </m:r>
                      <m:r>
                        <a:rPr lang="es-ES" sz="3000" b="0" i="1" smtClean="0">
                          <a:latin typeface="Cambria Math" charset="0"/>
                        </a:rPr>
                        <m:t>+</m:t>
                      </m:r>
                      <m:r>
                        <a:rPr lang="es-ES" sz="3000" b="0" i="1" smtClean="0">
                          <a:latin typeface="Cambria Math" charset="0"/>
                          <a:ea typeface="Cambria Math" charset="0"/>
                          <a:cs typeface="Cambria Math" charset="0"/>
                        </a:rPr>
                        <m:t>𝜀</m:t>
                      </m:r>
                      <m:r>
                        <a:rPr lang="es-ES" sz="3000" i="1">
                          <a:latin typeface="Cambria Math" charset="0"/>
                          <a:ea typeface="Cambria Math" charset="0"/>
                          <a:cs typeface="Cambria Math" charset="0"/>
                        </a:rPr>
                        <m:t>∘</m:t>
                      </m:r>
                      <m:r>
                        <a:rPr lang="es-ES" sz="3000" b="0" i="1" smtClean="0">
                          <a:latin typeface="Cambria Math" charset="0"/>
                          <a:ea typeface="Cambria Math" charset="0"/>
                          <a:cs typeface="Cambria Math" charset="0"/>
                        </a:rPr>
                        <m:t>𝜎</m:t>
                      </m:r>
                    </m:oMath>
                  </m:oMathPara>
                </a14:m>
                <a:endParaRPr lang="es-ES_tradnl" sz="3000" dirty="0"/>
              </a:p>
            </p:txBody>
          </p:sp>
        </mc:Choice>
        <mc:Fallback xmlns="">
          <p:sp>
            <p:nvSpPr>
              <p:cNvPr id="13" name="CuadroTexto 12"/>
              <p:cNvSpPr txBox="1">
                <a:spLocks noRot="1" noChangeAspect="1" noMove="1" noResize="1" noEditPoints="1" noAdjustHandles="1" noChangeArrowheads="1" noChangeShapeType="1" noTextEdit="1"/>
              </p:cNvSpPr>
              <p:nvPr/>
            </p:nvSpPr>
            <p:spPr>
              <a:xfrm>
                <a:off x="5653246" y="4451392"/>
                <a:ext cx="2366610" cy="461665"/>
              </a:xfrm>
              <a:prstGeom prst="rect">
                <a:avLst/>
              </a:prstGeom>
              <a:blipFill rotWithShape="0">
                <a:blip r:embed="rId6"/>
                <a:stretch>
                  <a:fillRect/>
                </a:stretch>
              </a:blipFill>
            </p:spPr>
            <p:txBody>
              <a:bodyPr/>
              <a:lstStyle/>
              <a:p>
                <a:r>
                  <a:rPr lang="es-ES_tradnl">
                    <a:noFill/>
                  </a:rPr>
                  <a:t> </a:t>
                </a:r>
              </a:p>
            </p:txBody>
          </p:sp>
        </mc:Fallback>
      </mc:AlternateContent>
      <p:pic>
        <p:nvPicPr>
          <p:cNvPr id="28" name="Imagen 27"/>
          <p:cNvPicPr>
            <a:picLocks noChangeAspect="1"/>
          </p:cNvPicPr>
          <p:nvPr/>
        </p:nvPicPr>
        <p:blipFill>
          <a:blip r:embed="rId7"/>
          <a:stretch>
            <a:fillRect/>
          </a:stretch>
        </p:blipFill>
        <p:spPr>
          <a:xfrm>
            <a:off x="6709351" y="3555226"/>
            <a:ext cx="152400" cy="838200"/>
          </a:xfrm>
          <a:prstGeom prst="rect">
            <a:avLst/>
          </a:prstGeom>
        </p:spPr>
      </p:pic>
      <p:sp>
        <p:nvSpPr>
          <p:cNvPr id="23" name="Rectángulo 22"/>
          <p:cNvSpPr/>
          <p:nvPr/>
        </p:nvSpPr>
        <p:spPr>
          <a:xfrm>
            <a:off x="5686359" y="5688117"/>
            <a:ext cx="2333497" cy="534308"/>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s-ES_tradnl"/>
          </a:p>
        </p:txBody>
      </p:sp>
      <mc:AlternateContent xmlns:mc="http://schemas.openxmlformats.org/markup-compatibility/2006" xmlns:a14="http://schemas.microsoft.com/office/drawing/2010/main">
        <mc:Choice Requires="a14">
          <p:sp>
            <p:nvSpPr>
              <p:cNvPr id="24" name="CuadroTexto 23"/>
              <p:cNvSpPr txBox="1"/>
              <p:nvPr/>
            </p:nvSpPr>
            <p:spPr>
              <a:xfrm>
                <a:off x="5875583" y="5718259"/>
                <a:ext cx="1972335" cy="4616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3000" b="0" i="1" smtClean="0">
                          <a:latin typeface="Cambria Math" charset="0"/>
                          <a:ea typeface="Cambria Math" charset="0"/>
                          <a:cs typeface="Cambria Math" charset="0"/>
                        </a:rPr>
                        <m:t>𝜀</m:t>
                      </m:r>
                      <m:r>
                        <a:rPr lang="es-ES" sz="3000" b="0" i="1" smtClean="0">
                          <a:latin typeface="Cambria Math" charset="0"/>
                          <a:ea typeface="Cambria Math" charset="0"/>
                          <a:cs typeface="Cambria Math" charset="0"/>
                        </a:rPr>
                        <m:t> ∼</m:t>
                      </m:r>
                      <m:r>
                        <a:rPr lang="es-ES" sz="3000" b="0" i="1" smtClean="0">
                          <a:latin typeface="Cambria Math" charset="0"/>
                          <a:ea typeface="Cambria Math" charset="0"/>
                          <a:cs typeface="Cambria Math" charset="0"/>
                        </a:rPr>
                        <m:t>𝑁</m:t>
                      </m:r>
                      <m:r>
                        <a:rPr lang="es-ES" sz="3000" b="0" i="1" smtClean="0">
                          <a:latin typeface="Cambria Math" charset="0"/>
                          <a:ea typeface="Cambria Math" charset="0"/>
                          <a:cs typeface="Cambria Math" charset="0"/>
                        </a:rPr>
                        <m:t>(0,</m:t>
                      </m:r>
                      <m:r>
                        <a:rPr lang="es-ES" sz="3000" b="0" i="1" smtClean="0">
                          <a:latin typeface="Cambria Math" charset="0"/>
                          <a:ea typeface="Cambria Math" charset="0"/>
                          <a:cs typeface="Cambria Math" charset="0"/>
                        </a:rPr>
                        <m:t>𝐼</m:t>
                      </m:r>
                      <m:r>
                        <a:rPr lang="es-ES" sz="3000" b="0" i="1" smtClean="0">
                          <a:latin typeface="Cambria Math" charset="0"/>
                          <a:ea typeface="Cambria Math" charset="0"/>
                          <a:cs typeface="Cambria Math" charset="0"/>
                        </a:rPr>
                        <m:t>)</m:t>
                      </m:r>
                    </m:oMath>
                  </m:oMathPara>
                </a14:m>
                <a:endParaRPr lang="es-ES_tradnl" sz="3000" dirty="0"/>
              </a:p>
            </p:txBody>
          </p:sp>
        </mc:Choice>
        <mc:Fallback xmlns="">
          <p:sp>
            <p:nvSpPr>
              <p:cNvPr id="24" name="CuadroTexto 23"/>
              <p:cNvSpPr txBox="1">
                <a:spLocks noRot="1" noChangeAspect="1" noMove="1" noResize="1" noEditPoints="1" noAdjustHandles="1" noChangeArrowheads="1" noChangeShapeType="1" noTextEdit="1"/>
              </p:cNvSpPr>
              <p:nvPr/>
            </p:nvSpPr>
            <p:spPr>
              <a:xfrm>
                <a:off x="5875583" y="5718259"/>
                <a:ext cx="1972335" cy="461665"/>
              </a:xfrm>
              <a:prstGeom prst="rect">
                <a:avLst/>
              </a:prstGeom>
              <a:blipFill rotWithShape="0">
                <a:blip r:embed="rId8"/>
                <a:stretch>
                  <a:fillRect/>
                </a:stretch>
              </a:blipFill>
            </p:spPr>
            <p:txBody>
              <a:bodyPr/>
              <a:lstStyle/>
              <a:p>
                <a:r>
                  <a:rPr lang="es-ES_tradnl">
                    <a:noFill/>
                  </a:rPr>
                  <a:t> </a:t>
                </a:r>
              </a:p>
            </p:txBody>
          </p:sp>
        </mc:Fallback>
      </mc:AlternateContent>
      <p:pic>
        <p:nvPicPr>
          <p:cNvPr id="25" name="Imagen 24"/>
          <p:cNvPicPr>
            <a:picLocks noChangeAspect="1"/>
          </p:cNvPicPr>
          <p:nvPr/>
        </p:nvPicPr>
        <p:blipFill>
          <a:blip r:embed="rId9"/>
          <a:stretch>
            <a:fillRect/>
          </a:stretch>
        </p:blipFill>
        <p:spPr>
          <a:xfrm>
            <a:off x="6697512" y="4998805"/>
            <a:ext cx="164239" cy="656956"/>
          </a:xfrm>
          <a:prstGeom prst="rect">
            <a:avLst/>
          </a:prstGeom>
        </p:spPr>
      </p:pic>
      <p:pic>
        <p:nvPicPr>
          <p:cNvPr id="27" name="Imagen 26"/>
          <p:cNvPicPr>
            <a:picLocks noChangeAspect="1"/>
          </p:cNvPicPr>
          <p:nvPr/>
        </p:nvPicPr>
        <p:blipFill>
          <a:blip r:embed="rId10"/>
          <a:stretch>
            <a:fillRect/>
          </a:stretch>
        </p:blipFill>
        <p:spPr>
          <a:xfrm>
            <a:off x="1040106" y="1605576"/>
            <a:ext cx="5745445" cy="774700"/>
          </a:xfrm>
          <a:prstGeom prst="rect">
            <a:avLst/>
          </a:prstGeom>
        </p:spPr>
      </p:pic>
      <p:pic>
        <p:nvPicPr>
          <p:cNvPr id="30" name="Imagen 29"/>
          <p:cNvPicPr>
            <a:picLocks noChangeAspect="1"/>
          </p:cNvPicPr>
          <p:nvPr/>
        </p:nvPicPr>
        <p:blipFill>
          <a:blip r:embed="rId10"/>
          <a:stretch>
            <a:fillRect/>
          </a:stretch>
        </p:blipFill>
        <p:spPr>
          <a:xfrm>
            <a:off x="6785551" y="1727946"/>
            <a:ext cx="4347887" cy="774700"/>
          </a:xfrm>
          <a:prstGeom prst="rect">
            <a:avLst/>
          </a:prstGeom>
        </p:spPr>
      </p:pic>
    </p:spTree>
    <p:extLst>
      <p:ext uri="{BB962C8B-B14F-4D97-AF65-F5344CB8AC3E}">
        <p14:creationId xmlns:p14="http://schemas.microsoft.com/office/powerpoint/2010/main" val="3865133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Back-Propagation through Random Operations</a:t>
            </a:r>
            <a:endParaRPr lang="he-IL" sz="4000" dirty="0"/>
          </a:p>
        </p:txBody>
      </p:sp>
      <p:pic>
        <p:nvPicPr>
          <p:cNvPr id="5" name="Picture 4"/>
          <p:cNvPicPr>
            <a:picLocks noChangeAspect="1"/>
          </p:cNvPicPr>
          <p:nvPr/>
        </p:nvPicPr>
        <p:blipFill>
          <a:blip r:embed="rId3"/>
          <a:stretch>
            <a:fillRect/>
          </a:stretch>
        </p:blipFill>
        <p:spPr>
          <a:xfrm>
            <a:off x="1281580" y="1690688"/>
            <a:ext cx="9918216" cy="4621734"/>
          </a:xfrm>
          <a:prstGeom prst="rect">
            <a:avLst/>
          </a:prstGeom>
        </p:spPr>
      </p:pic>
    </p:spTree>
    <p:extLst>
      <p:ext uri="{BB962C8B-B14F-4D97-AF65-F5344CB8AC3E}">
        <p14:creationId xmlns:p14="http://schemas.microsoft.com/office/powerpoint/2010/main" val="113304748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365125"/>
            <a:ext cx="11145253" cy="1325563"/>
          </a:xfrm>
        </p:spPr>
        <p:txBody>
          <a:bodyPr/>
          <a:lstStyle/>
          <a:p>
            <a:r>
              <a:rPr lang="en-US" dirty="0"/>
              <a:t>Back-Propagation through Random Operations</a:t>
            </a:r>
          </a:p>
        </p:txBody>
      </p:sp>
      <p:pic>
        <p:nvPicPr>
          <p:cNvPr id="4" name="Picture 2" descr="Screen-Shot-2018-03-18-at-4.39.41-PM"/>
          <p:cNvPicPr>
            <a:picLocks noChangeAspect="1" noChangeArrowheads="1"/>
          </p:cNvPicPr>
          <p:nvPr/>
        </p:nvPicPr>
        <p:blipFill rotWithShape="1">
          <a:blip r:embed="rId2">
            <a:extLst>
              <a:ext uri="{28A0092B-C50C-407E-A947-70E740481C1C}">
                <a14:useLocalDpi xmlns:a14="http://schemas.microsoft.com/office/drawing/2010/main" val="0"/>
              </a:ext>
            </a:extLst>
          </a:blip>
          <a:srcRect l="22150" r="22413"/>
          <a:stretch/>
        </p:blipFill>
        <p:spPr bwMode="auto">
          <a:xfrm>
            <a:off x="3303104" y="1564205"/>
            <a:ext cx="5585791" cy="43993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846449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KL Divergence for Gaussian Distributions</a:t>
            </a:r>
            <a:endParaRPr lang="he-IL"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Recall that the density function for a multivariate Gaussian is:</a:t>
                </a:r>
              </a:p>
              <a:p>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f>
                            <m:fPr>
                              <m:ctrlPr>
                                <a:rPr lang="en-US" i="1">
                                  <a:latin typeface="Cambria Math" panose="02040503050406030204" pitchFamily="18" charset="0"/>
                                </a:rPr>
                              </m:ctrlPr>
                            </m:fPr>
                            <m:num>
                              <m:r>
                                <a:rPr lang="en-US" i="1">
                                  <a:latin typeface="Cambria Math" panose="02040503050406030204" pitchFamily="18" charset="0"/>
                                </a:rPr>
                                <m:t>1</m:t>
                              </m:r>
                            </m:num>
                            <m:den>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2</m:t>
                                      </m:r>
                                      <m:r>
                                        <a:rPr lang="en-US" i="1">
                                          <a:latin typeface="Cambria Math" panose="02040503050406030204" pitchFamily="18" charset="0"/>
                                        </a:rPr>
                                        <m:t>𝜋</m:t>
                                      </m:r>
                                    </m:e>
                                  </m:d>
                                </m:e>
                                <m:sup>
                                  <m:r>
                                    <a:rPr lang="en-US" i="1">
                                      <a:latin typeface="Cambria Math" panose="02040503050406030204" pitchFamily="18" charset="0"/>
                                    </a:rPr>
                                    <m:t>𝑛</m:t>
                                  </m:r>
                                </m:sup>
                              </m:sSup>
                              <m:func>
                                <m:funcPr>
                                  <m:ctrlPr>
                                    <a:rPr lang="en-US" i="1">
                                      <a:latin typeface="Cambria Math" panose="02040503050406030204" pitchFamily="18" charset="0"/>
                                    </a:rPr>
                                  </m:ctrlPr>
                                </m:funcPr>
                                <m:fName>
                                  <m:r>
                                    <m:rPr>
                                      <m:sty m:val="p"/>
                                    </m:rPr>
                                    <a:rPr lang="en-US">
                                      <a:latin typeface="Cambria Math" panose="02040503050406030204" pitchFamily="18" charset="0"/>
                                    </a:rPr>
                                    <m:t>det</m:t>
                                  </m:r>
                                </m:fName>
                                <m:e>
                                  <m:r>
                                    <a:rPr lang="en-US" i="1">
                                      <a:latin typeface="Cambria Math" panose="02040503050406030204" pitchFamily="18" charset="0"/>
                                    </a:rPr>
                                    <m:t>(</m:t>
                                  </m:r>
                                  <m:r>
                                    <m:rPr>
                                      <m:sty m:val="p"/>
                                    </m:rPr>
                                    <a:rPr lang="en-US">
                                      <a:latin typeface="Cambria Math" panose="02040503050406030204" pitchFamily="18" charset="0"/>
                                    </a:rPr>
                                    <m:t>Σ</m:t>
                                  </m:r>
                                  <m:r>
                                    <a:rPr lang="en-US" i="1">
                                      <a:latin typeface="Cambria Math" panose="02040503050406030204" pitchFamily="18" charset="0"/>
                                    </a:rPr>
                                    <m:t>)</m:t>
                                  </m:r>
                                </m:e>
                              </m:func>
                            </m:den>
                          </m:f>
                        </m:e>
                      </m:rad>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exp</m:t>
                          </m:r>
                        </m:fName>
                        <m:e>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𝜇</m:t>
                                  </m:r>
                                </m:e>
                              </m:d>
                            </m:e>
                            <m:sup>
                              <m:r>
                                <a:rPr lang="en-US" b="0" i="1" smtClean="0">
                                  <a:latin typeface="Cambria Math" panose="02040503050406030204" pitchFamily="18" charset="0"/>
                                </a:rPr>
                                <m:t>𝑇</m:t>
                              </m:r>
                            </m:sup>
                          </m:sSup>
                          <m:sSup>
                            <m:sSupPr>
                              <m:ctrlPr>
                                <a:rPr lang="en-US" b="0" i="1" smtClean="0">
                                  <a:latin typeface="Cambria Math" panose="02040503050406030204" pitchFamily="18" charset="0"/>
                                </a:rPr>
                              </m:ctrlPr>
                            </m:sSupPr>
                            <m:e>
                              <m:r>
                                <m:rPr>
                                  <m:sty m:val="p"/>
                                </m:rPr>
                                <a:rPr lang="en-US" b="0" i="0" smtClean="0">
                                  <a:latin typeface="Cambria Math" panose="02040503050406030204" pitchFamily="18" charset="0"/>
                                </a:rPr>
                                <m:t>Σ</m:t>
                              </m:r>
                            </m:e>
                            <m:sup>
                              <m:r>
                                <a:rPr lang="en-US" b="0" i="1" smtClean="0">
                                  <a:latin typeface="Cambria Math" panose="02040503050406030204" pitchFamily="18" charset="0"/>
                                </a:rPr>
                                <m:t>−1</m:t>
                              </m:r>
                            </m:sup>
                          </m:sSup>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𝜇</m:t>
                          </m:r>
                          <m:r>
                            <a:rPr lang="en-US" b="0" i="1" smtClean="0">
                              <a:latin typeface="Cambria Math" panose="02040503050406030204" pitchFamily="18" charset="0"/>
                            </a:rPr>
                            <m:t>)</m:t>
                          </m:r>
                        </m:e>
                      </m:func>
                    </m:oMath>
                  </m:oMathPara>
                </a14:m>
                <a:endParaRPr lang="en-US" dirty="0"/>
              </a:p>
              <a:p>
                <a:r>
                  <a:rPr lang="en-US" dirty="0"/>
                  <a:t>Consider two such distributions and compute </a:t>
                </a:r>
                <a14:m>
                  <m:oMath xmlns:m="http://schemas.openxmlformats.org/officeDocument/2006/math">
                    <m:r>
                      <a:rPr lang="en-US" b="0" i="1" smtClean="0">
                        <a:latin typeface="Cambria Math" panose="02040503050406030204" pitchFamily="18" charset="0"/>
                      </a:rPr>
                      <m:t>𝐾𝐿</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2</m:t>
                        </m:r>
                      </m:sub>
                    </m:sSub>
                    <m:r>
                      <a:rPr lang="en-US" b="0" i="1" smtClean="0">
                        <a:latin typeface="Cambria Math" panose="02040503050406030204" pitchFamily="18" charset="0"/>
                      </a:rPr>
                      <m:t>)</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he-IL">
                    <a:noFill/>
                  </a:rPr>
                  <a:t> </a:t>
                </a:r>
              </a:p>
            </p:txBody>
          </p:sp>
        </mc:Fallback>
      </mc:AlternateContent>
    </p:spTree>
    <p:extLst>
      <p:ext uri="{BB962C8B-B14F-4D97-AF65-F5344CB8AC3E}">
        <p14:creationId xmlns:p14="http://schemas.microsoft.com/office/powerpoint/2010/main" val="47966977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99258"/>
            <a:ext cx="10515600" cy="934230"/>
          </a:xfrm>
        </p:spPr>
        <p:txBody>
          <a:bodyPr/>
          <a:lstStyle/>
          <a:p>
            <a:r>
              <a:rPr lang="en-US" dirty="0"/>
              <a:t>KL Divergence for Gaussian Distributions</a:t>
            </a:r>
            <a:endParaRPr lang="he-IL" dirty="0"/>
          </a:p>
        </p:txBody>
      </p:sp>
      <p:pic>
        <p:nvPicPr>
          <p:cNvPr id="5" name="Picture 4"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27906"/>
            <a:ext cx="12192000" cy="5829716"/>
          </a:xfrm>
          <a:prstGeom prst="rect">
            <a:avLst/>
          </a:prstGeom>
        </p:spPr>
      </p:pic>
    </p:spTree>
    <p:extLst>
      <p:ext uri="{BB962C8B-B14F-4D97-AF65-F5344CB8AC3E}">
        <p14:creationId xmlns:p14="http://schemas.microsoft.com/office/powerpoint/2010/main" val="63452865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KL Divergence in code</a:t>
            </a:r>
            <a:endParaRPr lang="he-IL" dirty="0"/>
          </a:p>
        </p:txBody>
      </p:sp>
      <p:sp>
        <p:nvSpPr>
          <p:cNvPr id="7" name="Rectangle 4"/>
          <p:cNvSpPr>
            <a:spLocks noChangeArrowheads="1"/>
          </p:cNvSpPr>
          <p:nvPr/>
        </p:nvSpPr>
        <p:spPr bwMode="auto">
          <a:xfrm>
            <a:off x="318918" y="3439823"/>
            <a:ext cx="11480800" cy="2447080"/>
          </a:xfrm>
          <a:prstGeom prst="rect">
            <a:avLst/>
          </a:prstGeom>
          <a:solidFill>
            <a:srgbClr val="211E1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he-IL" altLang="he-IL" b="0" i="0" u="none" strike="noStrike" cap="none" normalizeH="0" baseline="0" dirty="0">
                <a:ln>
                  <a:noFill/>
                </a:ln>
                <a:solidFill>
                  <a:srgbClr val="DADADA"/>
                </a:solidFill>
                <a:effectLst/>
                <a:latin typeface="Consolas" panose="020B0609020204030204" pitchFamily="49" charset="0"/>
              </a:rPr>
              <a:t>vae </a:t>
            </a:r>
            <a:r>
              <a:rPr kumimoji="0" lang="he-IL" altLang="he-IL" b="0" i="0" u="none" strike="noStrike" cap="none" normalizeH="0" baseline="0" dirty="0">
                <a:ln>
                  <a:noFill/>
                </a:ln>
                <a:solidFill>
                  <a:srgbClr val="47B8D6"/>
                </a:solidFill>
                <a:effectLst/>
                <a:latin typeface="Consolas" panose="020B0609020204030204" pitchFamily="49" charset="0"/>
              </a:rPr>
              <a:t>=</a:t>
            </a:r>
            <a:r>
              <a:rPr kumimoji="0" lang="he-IL" altLang="he-IL" b="0" i="0" u="none" strike="noStrike" cap="none" normalizeH="0" baseline="0" dirty="0">
                <a:ln>
                  <a:noFill/>
                </a:ln>
                <a:solidFill>
                  <a:srgbClr val="DADADA"/>
                </a:solidFill>
                <a:effectLst/>
                <a:latin typeface="Consolas" panose="020B0609020204030204" pitchFamily="49" charset="0"/>
              </a:rPr>
              <a:t> Model(x, x_recon) </a:t>
            </a:r>
          </a:p>
          <a:p>
            <a:pPr marL="0" marR="0" lvl="0" indent="0" algn="l" defTabSz="914400" rtl="0" eaLnBrk="0" fontAlgn="base" latinLnBrk="0" hangingPunct="0">
              <a:lnSpc>
                <a:spcPct val="150000"/>
              </a:lnSpc>
              <a:spcBef>
                <a:spcPct val="0"/>
              </a:spcBef>
              <a:spcAft>
                <a:spcPct val="0"/>
              </a:spcAft>
              <a:buClrTx/>
              <a:buSzTx/>
              <a:buFontTx/>
              <a:buNone/>
              <a:tabLst/>
            </a:pPr>
            <a:r>
              <a:rPr kumimoji="0" lang="he-IL" altLang="he-IL" b="0" i="0" u="none" strike="noStrike" cap="none" normalizeH="0" baseline="0" dirty="0">
                <a:ln>
                  <a:noFill/>
                </a:ln>
                <a:solidFill>
                  <a:srgbClr val="DADADA"/>
                </a:solidFill>
                <a:effectLst/>
                <a:latin typeface="Consolas" panose="020B0609020204030204" pitchFamily="49" charset="0"/>
              </a:rPr>
              <a:t>recon_loss </a:t>
            </a:r>
            <a:r>
              <a:rPr kumimoji="0" lang="he-IL" altLang="he-IL" b="0" i="0" u="none" strike="noStrike" cap="none" normalizeH="0" baseline="0" dirty="0">
                <a:ln>
                  <a:noFill/>
                </a:ln>
                <a:solidFill>
                  <a:srgbClr val="47B8D6"/>
                </a:solidFill>
                <a:effectLst/>
                <a:latin typeface="Consolas" panose="020B0609020204030204" pitchFamily="49" charset="0"/>
              </a:rPr>
              <a:t>=</a:t>
            </a:r>
            <a:r>
              <a:rPr kumimoji="0" lang="he-IL" altLang="he-IL" b="0" i="0" u="none" strike="noStrike" cap="none" normalizeH="0" baseline="0" dirty="0">
                <a:ln>
                  <a:noFill/>
                </a:ln>
                <a:solidFill>
                  <a:srgbClr val="DADADA"/>
                </a:solidFill>
                <a:effectLst/>
                <a:latin typeface="Consolas" panose="020B0609020204030204" pitchFamily="49" charset="0"/>
              </a:rPr>
              <a:t> metrics.binary_crossentropy(x, x_recon) </a:t>
            </a:r>
          </a:p>
          <a:p>
            <a:pPr marL="0" marR="0" lvl="0" indent="0" algn="l" defTabSz="914400" rtl="0" eaLnBrk="0" fontAlgn="base" latinLnBrk="0" hangingPunct="0">
              <a:lnSpc>
                <a:spcPct val="150000"/>
              </a:lnSpc>
              <a:spcBef>
                <a:spcPct val="0"/>
              </a:spcBef>
              <a:spcAft>
                <a:spcPct val="0"/>
              </a:spcAft>
              <a:buClrTx/>
              <a:buSzTx/>
              <a:buFontTx/>
              <a:buNone/>
              <a:tabLst/>
            </a:pPr>
            <a:r>
              <a:rPr lang="en-US" altLang="he-IL" dirty="0" err="1">
                <a:solidFill>
                  <a:srgbClr val="DADADA"/>
                </a:solidFill>
                <a:latin typeface="Consolas" panose="020B0609020204030204" pitchFamily="49" charset="0"/>
              </a:rPr>
              <a:t>kl_loss</a:t>
            </a:r>
            <a:r>
              <a:rPr lang="en-US" altLang="he-IL" dirty="0">
                <a:solidFill>
                  <a:srgbClr val="DADADA"/>
                </a:solidFill>
                <a:latin typeface="Consolas" panose="020B0609020204030204" pitchFamily="49" charset="0"/>
              </a:rPr>
              <a:t> = -0.5 * </a:t>
            </a:r>
            <a:r>
              <a:rPr lang="en-US" altLang="he-IL" dirty="0" err="1">
                <a:solidFill>
                  <a:srgbClr val="DADADA"/>
                </a:solidFill>
                <a:latin typeface="Consolas" panose="020B0609020204030204" pitchFamily="49" charset="0"/>
              </a:rPr>
              <a:t>K.sum</a:t>
            </a:r>
            <a:r>
              <a:rPr lang="en-US" altLang="he-IL" dirty="0">
                <a:solidFill>
                  <a:srgbClr val="DADADA"/>
                </a:solidFill>
                <a:latin typeface="Consolas" panose="020B0609020204030204" pitchFamily="49" charset="0"/>
              </a:rPr>
              <a:t>(1 + z_log_var – K.square(</a:t>
            </a:r>
            <a:r>
              <a:rPr lang="en-US" altLang="he-IL" dirty="0" err="1">
                <a:solidFill>
                  <a:srgbClr val="DADADA"/>
                </a:solidFill>
                <a:latin typeface="Consolas" panose="020B0609020204030204" pitchFamily="49" charset="0"/>
              </a:rPr>
              <a:t>z_mean</a:t>
            </a:r>
            <a:r>
              <a:rPr lang="en-US" altLang="he-IL" dirty="0">
                <a:solidFill>
                  <a:srgbClr val="DADADA"/>
                </a:solidFill>
                <a:latin typeface="Consolas" panose="020B0609020204030204" pitchFamily="49" charset="0"/>
              </a:rPr>
              <a:t>) – </a:t>
            </a:r>
            <a:r>
              <a:rPr lang="en-US" altLang="he-IL" dirty="0" err="1">
                <a:solidFill>
                  <a:srgbClr val="DADADA"/>
                </a:solidFill>
                <a:latin typeface="Consolas" panose="020B0609020204030204" pitchFamily="49" charset="0"/>
              </a:rPr>
              <a:t>K.exp</a:t>
            </a:r>
            <a:r>
              <a:rPr lang="en-US" altLang="he-IL" dirty="0">
                <a:solidFill>
                  <a:srgbClr val="DADADA"/>
                </a:solidFill>
                <a:latin typeface="Consolas" panose="020B0609020204030204" pitchFamily="49" charset="0"/>
              </a:rPr>
              <a:t>(z_log_var), axis=-1)</a:t>
            </a:r>
            <a:endParaRPr kumimoji="0" lang="he-IL" altLang="he-IL" b="0" i="0" u="none" strike="noStrike" cap="none" normalizeH="0" baseline="0" dirty="0">
              <a:ln>
                <a:noFill/>
              </a:ln>
              <a:solidFill>
                <a:srgbClr val="CCCCCC"/>
              </a:solidFill>
              <a:effectLst/>
              <a:latin typeface="Consolas" panose="020B0609020204030204"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he-IL" altLang="he-IL" b="0" i="0" u="none" strike="noStrike" cap="none" normalizeH="0" baseline="0" dirty="0">
                <a:ln>
                  <a:noFill/>
                </a:ln>
                <a:solidFill>
                  <a:srgbClr val="DADADA"/>
                </a:solidFill>
                <a:effectLst/>
                <a:latin typeface="Consolas" panose="020B0609020204030204" pitchFamily="49" charset="0"/>
              </a:rPr>
              <a:t>vae_loss </a:t>
            </a:r>
            <a:r>
              <a:rPr kumimoji="0" lang="he-IL" altLang="he-IL" b="0" i="0" u="none" strike="noStrike" cap="none" normalizeH="0" baseline="0" dirty="0">
                <a:ln>
                  <a:noFill/>
                </a:ln>
                <a:solidFill>
                  <a:srgbClr val="47B8D6"/>
                </a:solidFill>
                <a:effectLst/>
                <a:latin typeface="Consolas" panose="020B0609020204030204" pitchFamily="49" charset="0"/>
              </a:rPr>
              <a:t>=</a:t>
            </a:r>
            <a:r>
              <a:rPr kumimoji="0" lang="he-IL" altLang="he-IL" b="0" i="0" u="none" strike="noStrike" cap="none" normalizeH="0" baseline="0" dirty="0">
                <a:ln>
                  <a:noFill/>
                </a:ln>
                <a:solidFill>
                  <a:srgbClr val="DADADA"/>
                </a:solidFill>
                <a:effectLst/>
                <a:latin typeface="Consolas" panose="020B0609020204030204" pitchFamily="49" charset="0"/>
              </a:rPr>
              <a:t> K.mean(kl_loss(</a:t>
            </a:r>
          </a:p>
          <a:p>
            <a:pPr marL="0" marR="0" lvl="0" indent="0" algn="l" defTabSz="914400" rtl="0" eaLnBrk="0" fontAlgn="base" latinLnBrk="0" hangingPunct="0">
              <a:lnSpc>
                <a:spcPct val="150000"/>
              </a:lnSpc>
              <a:spcBef>
                <a:spcPct val="0"/>
              </a:spcBef>
              <a:spcAft>
                <a:spcPct val="0"/>
              </a:spcAft>
              <a:buClrTx/>
              <a:buSzTx/>
              <a:buFontTx/>
              <a:buNone/>
              <a:tabLst/>
            </a:pPr>
            <a:r>
              <a:rPr kumimoji="0" lang="he-IL" altLang="he-IL" b="0" i="0" u="none" strike="noStrike" cap="none" normalizeH="0" baseline="0" dirty="0">
                <a:ln>
                  <a:noFill/>
                </a:ln>
                <a:solidFill>
                  <a:srgbClr val="DADADA"/>
                </a:solidFill>
                <a:effectLst/>
                <a:latin typeface="Consolas" panose="020B0609020204030204" pitchFamily="49" charset="0"/>
              </a:rPr>
              <a:t>vae.add_loss(vae_loss) </a:t>
            </a:r>
          </a:p>
          <a:p>
            <a:pPr marL="0" marR="0" lvl="0" indent="0" algn="l" defTabSz="914400" rtl="0" eaLnBrk="0" fontAlgn="base" latinLnBrk="0" hangingPunct="0">
              <a:lnSpc>
                <a:spcPct val="150000"/>
              </a:lnSpc>
              <a:spcBef>
                <a:spcPct val="0"/>
              </a:spcBef>
              <a:spcAft>
                <a:spcPct val="0"/>
              </a:spcAft>
              <a:buClrTx/>
              <a:buSzTx/>
              <a:buFontTx/>
              <a:buNone/>
              <a:tabLst/>
            </a:pPr>
            <a:r>
              <a:rPr kumimoji="0" lang="he-IL" altLang="he-IL" b="0" i="0" u="none" strike="noStrike" cap="none" normalizeH="0" baseline="0" dirty="0">
                <a:ln>
                  <a:noFill/>
                </a:ln>
                <a:solidFill>
                  <a:srgbClr val="DADADA"/>
                </a:solidFill>
                <a:effectLst/>
                <a:latin typeface="Consolas" panose="020B0609020204030204" pitchFamily="49" charset="0"/>
              </a:rPr>
              <a:t>vae.compile(</a:t>
            </a:r>
            <a:r>
              <a:rPr kumimoji="0" lang="he-IL" altLang="he-IL" b="0" i="0" u="none" strike="noStrike" cap="none" normalizeH="0" baseline="0" dirty="0">
                <a:ln>
                  <a:noFill/>
                </a:ln>
                <a:solidFill>
                  <a:srgbClr val="C1C144"/>
                </a:solidFill>
                <a:effectLst/>
                <a:latin typeface="Consolas" panose="020B0609020204030204" pitchFamily="49" charset="0"/>
              </a:rPr>
              <a:t>optimizer</a:t>
            </a:r>
            <a:r>
              <a:rPr kumimoji="0" lang="he-IL" altLang="he-IL" b="0" i="0" u="none" strike="noStrike" cap="none" normalizeH="0" baseline="0" dirty="0">
                <a:ln>
                  <a:noFill/>
                </a:ln>
                <a:solidFill>
                  <a:srgbClr val="47B8D6"/>
                </a:solidFill>
                <a:effectLst/>
                <a:latin typeface="Consolas" panose="020B0609020204030204" pitchFamily="49" charset="0"/>
              </a:rPr>
              <a:t>=</a:t>
            </a:r>
            <a:r>
              <a:rPr kumimoji="0" lang="he-IL" altLang="he-IL" b="0" i="0" u="none" strike="noStrike" cap="none" normalizeH="0" baseline="0" dirty="0">
                <a:ln>
                  <a:noFill/>
                </a:ln>
                <a:solidFill>
                  <a:srgbClr val="AD9361"/>
                </a:solidFill>
                <a:effectLst/>
                <a:latin typeface="Consolas" panose="020B0609020204030204" pitchFamily="49" charset="0"/>
              </a:rPr>
              <a:t>'rmsprop'</a:t>
            </a:r>
            <a:r>
              <a:rPr kumimoji="0" lang="he-IL" altLang="he-IL" b="0" i="0" u="none" strike="noStrike" cap="none" normalizeH="0" baseline="0" dirty="0">
                <a:ln>
                  <a:noFill/>
                </a:ln>
                <a:solidFill>
                  <a:srgbClr val="DADADA"/>
                </a:solidFill>
                <a:effectLst/>
                <a:latin typeface="Consolas" panose="020B0609020204030204" pitchFamily="49" charset="0"/>
              </a:rPr>
              <a:t>, </a:t>
            </a:r>
            <a:r>
              <a:rPr kumimoji="0" lang="he-IL" altLang="he-IL" b="0" i="0" u="none" strike="noStrike" cap="none" normalizeH="0" baseline="0" dirty="0">
                <a:ln>
                  <a:noFill/>
                </a:ln>
                <a:solidFill>
                  <a:srgbClr val="C1C144"/>
                </a:solidFill>
                <a:effectLst/>
                <a:latin typeface="Consolas" panose="020B0609020204030204" pitchFamily="49" charset="0"/>
              </a:rPr>
              <a:t>loss</a:t>
            </a:r>
            <a:r>
              <a:rPr kumimoji="0" lang="he-IL" altLang="he-IL" b="0" i="0" u="none" strike="noStrike" cap="none" normalizeH="0" baseline="0" dirty="0">
                <a:ln>
                  <a:noFill/>
                </a:ln>
                <a:solidFill>
                  <a:srgbClr val="47B8D6"/>
                </a:solidFill>
                <a:effectLst/>
                <a:latin typeface="Consolas" panose="020B0609020204030204" pitchFamily="49" charset="0"/>
              </a:rPr>
              <a:t>=</a:t>
            </a:r>
            <a:r>
              <a:rPr kumimoji="0" lang="he-IL" altLang="he-IL" b="1" i="0" u="none" strike="noStrike" cap="none" normalizeH="0" baseline="0" dirty="0">
                <a:ln>
                  <a:noFill/>
                </a:ln>
                <a:solidFill>
                  <a:srgbClr val="DE8E30"/>
                </a:solidFill>
                <a:effectLst/>
                <a:latin typeface="Consolas" panose="020B0609020204030204" pitchFamily="49" charset="0"/>
              </a:rPr>
              <a:t>None</a:t>
            </a:r>
            <a:r>
              <a:rPr kumimoji="0" lang="en-US" altLang="he-IL" b="0" i="0" u="none" strike="noStrike" cap="none" normalizeH="0" baseline="0" dirty="0">
                <a:ln>
                  <a:noFill/>
                </a:ln>
                <a:solidFill>
                  <a:srgbClr val="DADADA"/>
                </a:solidFill>
                <a:effectLst/>
                <a:latin typeface="Consolas" panose="020B0609020204030204" pitchFamily="49" charset="0"/>
              </a:rPr>
              <a:t>)</a:t>
            </a:r>
            <a:endParaRPr kumimoji="0" lang="he-IL" altLang="he-IL" sz="1800" b="0" i="0" u="none" strike="noStrike" cap="none" normalizeH="0" baseline="0" dirty="0">
              <a:ln>
                <a:noFill/>
              </a:ln>
              <a:solidFill>
                <a:schemeClr val="tx1"/>
              </a:solidFill>
              <a:effectLst/>
              <a:latin typeface="Arial" panose="020B0604020202020204" pitchFamily="34" charset="0"/>
            </a:endParaRPr>
          </a:p>
        </p:txBody>
      </p:sp>
      <mc:AlternateContent xmlns:mc="http://schemas.openxmlformats.org/markup-compatibility/2006" xmlns:a14="http://schemas.microsoft.com/office/drawing/2010/main">
        <mc:Choice Requires="a14">
          <p:sp>
            <p:nvSpPr>
              <p:cNvPr id="10" name="Rectangle 9"/>
              <p:cNvSpPr/>
              <p:nvPr/>
            </p:nvSpPr>
            <p:spPr>
              <a:xfrm>
                <a:off x="-1" y="1784737"/>
                <a:ext cx="12118639" cy="112947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600" b="0" i="1" smtClean="0">
                          <a:latin typeface="Cambria Math" panose="02040503050406030204" pitchFamily="18" charset="0"/>
                        </a:rPr>
                        <m:t>𝐾𝐿</m:t>
                      </m:r>
                      <m:r>
                        <a:rPr lang="en-US" sz="3600" b="0" i="1" smtClean="0">
                          <a:latin typeface="Cambria Math" panose="02040503050406030204" pitchFamily="18" charset="0"/>
                        </a:rPr>
                        <m:t>[</m:t>
                      </m:r>
                      <m:r>
                        <a:rPr lang="en-US" sz="3600" b="0" i="1" smtClean="0">
                          <a:latin typeface="Cambria Math" panose="02040503050406030204" pitchFamily="18" charset="0"/>
                        </a:rPr>
                        <m:t>𝑁</m:t>
                      </m:r>
                      <m:r>
                        <a:rPr lang="en-US" sz="3600" b="0" i="1" smtClean="0">
                          <a:latin typeface="Cambria Math" panose="02040503050406030204" pitchFamily="18" charset="0"/>
                        </a:rPr>
                        <m:t>(</m:t>
                      </m:r>
                      <m:r>
                        <a:rPr lang="en-US" sz="3600" b="0" i="1" smtClean="0">
                          <a:latin typeface="Cambria Math" panose="02040503050406030204" pitchFamily="18" charset="0"/>
                        </a:rPr>
                        <m:t>𝜇</m:t>
                      </m:r>
                      <m:r>
                        <a:rPr lang="en-US" sz="3600" b="0" i="1" smtClean="0">
                          <a:latin typeface="Cambria Math" panose="02040503050406030204" pitchFamily="18" charset="0"/>
                        </a:rPr>
                        <m:t>,</m:t>
                      </m:r>
                      <m:r>
                        <m:rPr>
                          <m:sty m:val="p"/>
                        </m:rPr>
                        <a:rPr lang="en-US" sz="3600" b="0" i="0" smtClean="0">
                          <a:latin typeface="Cambria Math" panose="02040503050406030204" pitchFamily="18" charset="0"/>
                        </a:rPr>
                        <m:t>Σ</m:t>
                      </m:r>
                      <m:r>
                        <a:rPr lang="en-US" sz="3600" b="0" i="0" smtClean="0">
                          <a:latin typeface="Cambria Math" panose="02040503050406030204" pitchFamily="18" charset="0"/>
                        </a:rPr>
                        <m:t>)||</m:t>
                      </m:r>
                      <m:r>
                        <m:rPr>
                          <m:sty m:val="p"/>
                        </m:rPr>
                        <a:rPr lang="en-US" sz="3600" b="0" i="0" smtClean="0">
                          <a:latin typeface="Cambria Math" panose="02040503050406030204" pitchFamily="18" charset="0"/>
                        </a:rPr>
                        <m:t>N</m:t>
                      </m:r>
                      <m:d>
                        <m:dPr>
                          <m:ctrlPr>
                            <a:rPr lang="en-US" sz="3600" i="1" smtClean="0">
                              <a:latin typeface="Cambria Math" panose="02040503050406030204" pitchFamily="18" charset="0"/>
                            </a:rPr>
                          </m:ctrlPr>
                        </m:dPr>
                        <m:e>
                          <m:r>
                            <a:rPr lang="en-US" sz="3600" b="0" i="0" smtClean="0">
                              <a:latin typeface="Cambria Math" panose="02040503050406030204" pitchFamily="18" charset="0"/>
                            </a:rPr>
                            <m:t>0,1</m:t>
                          </m:r>
                        </m:e>
                      </m:d>
                      <m:r>
                        <a:rPr lang="en-US" sz="3600" b="0" i="0" smtClean="0">
                          <a:latin typeface="Cambria Math" panose="02040503050406030204" pitchFamily="18" charset="0"/>
                        </a:rPr>
                        <m:t>]=−</m:t>
                      </m:r>
                      <m:f>
                        <m:fPr>
                          <m:ctrlPr>
                            <a:rPr lang="en-US" sz="3600" i="1" smtClean="0">
                              <a:latin typeface="Cambria Math" panose="02040503050406030204" pitchFamily="18" charset="0"/>
                            </a:rPr>
                          </m:ctrlPr>
                        </m:fPr>
                        <m:num>
                          <m:r>
                            <a:rPr lang="en-US" sz="3600" b="0" i="0" smtClean="0">
                              <a:latin typeface="Cambria Math" panose="02040503050406030204" pitchFamily="18" charset="0"/>
                            </a:rPr>
                            <m:t>1</m:t>
                          </m:r>
                        </m:num>
                        <m:den>
                          <m:r>
                            <a:rPr lang="en-US" sz="3600" b="0" i="0" smtClean="0">
                              <a:latin typeface="Cambria Math" panose="02040503050406030204" pitchFamily="18" charset="0"/>
                            </a:rPr>
                            <m:t>2</m:t>
                          </m:r>
                        </m:den>
                      </m:f>
                      <m:d>
                        <m:dPr>
                          <m:begChr m:val="["/>
                          <m:endChr m:val="]"/>
                          <m:ctrlPr>
                            <a:rPr lang="en-US" sz="3600" i="1" smtClean="0">
                              <a:latin typeface="Cambria Math" panose="02040503050406030204" pitchFamily="18" charset="0"/>
                            </a:rPr>
                          </m:ctrlPr>
                        </m:dPr>
                        <m:e>
                          <m:r>
                            <a:rPr lang="en-US" sz="3600" b="0" i="1">
                              <a:latin typeface="Cambria Math" panose="02040503050406030204" pitchFamily="18" charset="0"/>
                            </a:rPr>
                            <m:t>𝑛</m:t>
                          </m:r>
                          <m:r>
                            <a:rPr lang="en-US" sz="3600" b="0" i="1">
                              <a:latin typeface="Cambria Math" panose="02040503050406030204" pitchFamily="18" charset="0"/>
                            </a:rPr>
                            <m:t>+</m:t>
                          </m:r>
                          <m:r>
                            <m:rPr>
                              <m:sty m:val="p"/>
                            </m:rPr>
                            <a:rPr lang="en-US" sz="3600" b="0">
                              <a:latin typeface="Cambria Math" panose="02040503050406030204" pitchFamily="18" charset="0"/>
                            </a:rPr>
                            <m:t>log</m:t>
                          </m:r>
                          <m:r>
                            <a:rPr lang="en-US" sz="3600" b="0" i="1">
                              <a:latin typeface="Cambria Math" panose="02040503050406030204" pitchFamily="18" charset="0"/>
                            </a:rPr>
                            <m:t>(</m:t>
                          </m:r>
                          <m:r>
                            <m:rPr>
                              <m:sty m:val="p"/>
                            </m:rPr>
                            <a:rPr lang="en-US" sz="3600" b="0">
                              <a:latin typeface="Cambria Math" panose="02040503050406030204" pitchFamily="18" charset="0"/>
                            </a:rPr>
                            <m:t>det</m:t>
                          </m:r>
                          <m:d>
                            <m:dPr>
                              <m:ctrlPr>
                                <a:rPr lang="en-US" sz="3600" i="1">
                                  <a:latin typeface="Cambria Math" panose="02040503050406030204" pitchFamily="18" charset="0"/>
                                </a:rPr>
                              </m:ctrlPr>
                            </m:dPr>
                            <m:e>
                              <m:r>
                                <m:rPr>
                                  <m:sty m:val="p"/>
                                </m:rPr>
                                <a:rPr lang="en-US" sz="3600" b="0">
                                  <a:latin typeface="Cambria Math" panose="02040503050406030204" pitchFamily="18" charset="0"/>
                                </a:rPr>
                                <m:t>Σ</m:t>
                              </m:r>
                            </m:e>
                          </m:d>
                          <m:r>
                            <a:rPr lang="en-US" sz="3600" b="0" i="1">
                              <a:latin typeface="Cambria Math" panose="02040503050406030204" pitchFamily="18" charset="0"/>
                            </a:rPr>
                            <m:t>)</m:t>
                          </m:r>
                          <m:r>
                            <a:rPr lang="en-US" sz="3600" b="0" i="1" smtClean="0">
                              <a:latin typeface="Cambria Math" panose="02040503050406030204" pitchFamily="18" charset="0"/>
                            </a:rPr>
                            <m:t>−</m:t>
                          </m:r>
                          <m:sSup>
                            <m:sSupPr>
                              <m:ctrlPr>
                                <a:rPr lang="en-US" sz="3600" i="1" smtClean="0">
                                  <a:latin typeface="Cambria Math" panose="02040503050406030204" pitchFamily="18" charset="0"/>
                                </a:rPr>
                              </m:ctrlPr>
                            </m:sSupPr>
                            <m:e>
                              <m:r>
                                <a:rPr lang="en-US" sz="3600" b="0" i="1" smtClean="0">
                                  <a:latin typeface="Cambria Math" panose="02040503050406030204" pitchFamily="18" charset="0"/>
                                </a:rPr>
                                <m:t>𝜇</m:t>
                              </m:r>
                            </m:e>
                            <m:sup>
                              <m:r>
                                <a:rPr lang="en-US" sz="3600" b="0" i="1" smtClean="0">
                                  <a:latin typeface="Cambria Math" panose="02040503050406030204" pitchFamily="18" charset="0"/>
                                </a:rPr>
                                <m:t>𝑇</m:t>
                              </m:r>
                            </m:sup>
                          </m:sSup>
                          <m:r>
                            <a:rPr lang="en-US" sz="3600" b="0" i="1">
                              <a:latin typeface="Cambria Math" panose="02040503050406030204" pitchFamily="18" charset="0"/>
                            </a:rPr>
                            <m:t>𝜇</m:t>
                          </m:r>
                          <m:r>
                            <a:rPr lang="en-US" sz="3600" b="0" i="1">
                              <a:latin typeface="Cambria Math" panose="02040503050406030204" pitchFamily="18" charset="0"/>
                            </a:rPr>
                            <m:t>−</m:t>
                          </m:r>
                          <m:r>
                            <a:rPr lang="en-US" sz="3600" b="0" i="1">
                              <a:latin typeface="Cambria Math" panose="02040503050406030204" pitchFamily="18" charset="0"/>
                            </a:rPr>
                            <m:t>𝑡𝑟</m:t>
                          </m:r>
                          <m:d>
                            <m:dPr>
                              <m:ctrlPr>
                                <a:rPr lang="en-US" sz="3600" i="1">
                                  <a:latin typeface="Cambria Math" panose="02040503050406030204" pitchFamily="18" charset="0"/>
                                </a:rPr>
                              </m:ctrlPr>
                            </m:dPr>
                            <m:e>
                              <m:r>
                                <m:rPr>
                                  <m:sty m:val="p"/>
                                </m:rPr>
                                <a:rPr lang="en-US" sz="3600" b="0" i="1">
                                  <a:latin typeface="Cambria Math" panose="02040503050406030204" pitchFamily="18" charset="0"/>
                                </a:rPr>
                                <m:t>Σ</m:t>
                              </m:r>
                            </m:e>
                          </m:d>
                        </m:e>
                      </m:d>
                    </m:oMath>
                  </m:oMathPara>
                </a14:m>
                <a:endParaRPr lang="he-IL" sz="3600" dirty="0"/>
              </a:p>
            </p:txBody>
          </p:sp>
        </mc:Choice>
        <mc:Fallback xmlns="">
          <p:sp>
            <p:nvSpPr>
              <p:cNvPr id="10" name="Rectangle 9"/>
              <p:cNvSpPr>
                <a:spLocks noRot="1" noChangeAspect="1" noMove="1" noResize="1" noEditPoints="1" noAdjustHandles="1" noChangeArrowheads="1" noChangeShapeType="1" noTextEdit="1"/>
              </p:cNvSpPr>
              <p:nvPr/>
            </p:nvSpPr>
            <p:spPr>
              <a:xfrm>
                <a:off x="-1" y="1784737"/>
                <a:ext cx="12118639" cy="1129476"/>
              </a:xfrm>
              <a:prstGeom prst="rect">
                <a:avLst/>
              </a:prstGeom>
              <a:blipFill>
                <a:blip r:embed="rId2"/>
                <a:stretch>
                  <a:fillRect/>
                </a:stretch>
              </a:blipFill>
            </p:spPr>
            <p:txBody>
              <a:bodyPr/>
              <a:lstStyle/>
              <a:p>
                <a:r>
                  <a:rPr lang="he-IL">
                    <a:noFill/>
                  </a:rPr>
                  <a:t> </a:t>
                </a:r>
              </a:p>
            </p:txBody>
          </p:sp>
        </mc:Fallback>
      </mc:AlternateContent>
    </p:spTree>
    <p:extLst>
      <p:ext uri="{BB962C8B-B14F-4D97-AF65-F5344CB8AC3E}">
        <p14:creationId xmlns:p14="http://schemas.microsoft.com/office/powerpoint/2010/main" val="43194362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 to VAE motivation</a:t>
            </a:r>
            <a:endParaRPr lang="he-IL" dirty="0"/>
          </a:p>
        </p:txBody>
      </p:sp>
      <p:sp>
        <p:nvSpPr>
          <p:cNvPr id="3" name="Content Placeholder 2"/>
          <p:cNvSpPr>
            <a:spLocks noGrp="1"/>
          </p:cNvSpPr>
          <p:nvPr>
            <p:ph idx="1"/>
          </p:nvPr>
        </p:nvSpPr>
        <p:spPr>
          <a:xfrm>
            <a:off x="357187" y="1778000"/>
            <a:ext cx="11477625" cy="4351338"/>
          </a:xfrm>
        </p:spPr>
        <p:txBody>
          <a:bodyPr/>
          <a:lstStyle/>
          <a:p>
            <a:r>
              <a:rPr lang="en-US" dirty="0"/>
              <a:t>VAE are a deep learning technique for learning useful latent representations</a:t>
            </a:r>
          </a:p>
          <a:p>
            <a:pPr lvl="1"/>
            <a:r>
              <a:rPr lang="en-US" dirty="0"/>
              <a:t>Image Generation</a:t>
            </a:r>
          </a:p>
          <a:p>
            <a:pPr lvl="1"/>
            <a:r>
              <a:rPr lang="en-US" dirty="0"/>
              <a:t>Latent Space Interpolation</a:t>
            </a:r>
          </a:p>
          <a:p>
            <a:pPr lvl="1"/>
            <a:r>
              <a:rPr lang="en-US" dirty="0"/>
              <a:t>Latent Space Arithmetic</a:t>
            </a:r>
          </a:p>
          <a:p>
            <a:pPr lvl="1"/>
            <a:endParaRPr lang="en-US" dirty="0"/>
          </a:p>
          <a:p>
            <a:r>
              <a:rPr lang="en-US" dirty="0"/>
              <a:t>Is the new learned latent space useful?</a:t>
            </a:r>
            <a:endParaRPr lang="he-IL" dirty="0"/>
          </a:p>
        </p:txBody>
      </p:sp>
    </p:spTree>
    <p:extLst>
      <p:ext uri="{BB962C8B-B14F-4D97-AF65-F5344CB8AC3E}">
        <p14:creationId xmlns:p14="http://schemas.microsoft.com/office/powerpoint/2010/main" val="247419592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Latent Space Visualizations</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3896" y="2044759"/>
            <a:ext cx="3931307" cy="3877601"/>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94871" y="2044758"/>
            <a:ext cx="3802411" cy="3877601"/>
          </a:xfrm>
          <a:prstGeom prst="rect">
            <a:avLst/>
          </a:prstGeom>
        </p:spPr>
      </p:pic>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96951" y="2044759"/>
            <a:ext cx="3759447" cy="3877601"/>
          </a:xfrm>
          <a:prstGeom prst="rect">
            <a:avLst/>
          </a:prstGeom>
        </p:spPr>
      </p:pic>
      <p:sp>
        <p:nvSpPr>
          <p:cNvPr id="8" name="TextBox 7"/>
          <p:cNvSpPr txBox="1"/>
          <p:nvPr/>
        </p:nvSpPr>
        <p:spPr>
          <a:xfrm>
            <a:off x="441692" y="1542197"/>
            <a:ext cx="3575713" cy="369332"/>
          </a:xfrm>
          <a:prstGeom prst="rect">
            <a:avLst/>
          </a:prstGeom>
          <a:noFill/>
        </p:spPr>
        <p:txBody>
          <a:bodyPr wrap="square" rtlCol="0">
            <a:spAutoFit/>
          </a:bodyPr>
          <a:lstStyle/>
          <a:p>
            <a:pPr algn="ctr"/>
            <a:r>
              <a:rPr lang="en-US" b="1" i="1" dirty="0"/>
              <a:t>KL Divergence</a:t>
            </a:r>
          </a:p>
        </p:txBody>
      </p:sp>
      <p:sp>
        <p:nvSpPr>
          <p:cNvPr id="9" name="TextBox 8"/>
          <p:cNvSpPr txBox="1"/>
          <p:nvPr/>
        </p:nvSpPr>
        <p:spPr>
          <a:xfrm>
            <a:off x="4413913" y="1556687"/>
            <a:ext cx="3575713" cy="369332"/>
          </a:xfrm>
          <a:prstGeom prst="rect">
            <a:avLst/>
          </a:prstGeom>
          <a:noFill/>
        </p:spPr>
        <p:txBody>
          <a:bodyPr wrap="square" rtlCol="0">
            <a:spAutoFit/>
          </a:bodyPr>
          <a:lstStyle/>
          <a:p>
            <a:pPr algn="ctr"/>
            <a:r>
              <a:rPr lang="en-US" b="1" i="1" dirty="0"/>
              <a:t>Reconstruction</a:t>
            </a:r>
          </a:p>
        </p:txBody>
      </p:sp>
      <p:sp>
        <p:nvSpPr>
          <p:cNvPr id="10" name="TextBox 9"/>
          <p:cNvSpPr txBox="1"/>
          <p:nvPr/>
        </p:nvSpPr>
        <p:spPr>
          <a:xfrm>
            <a:off x="8288817" y="1542197"/>
            <a:ext cx="3575713" cy="369332"/>
          </a:xfrm>
          <a:prstGeom prst="rect">
            <a:avLst/>
          </a:prstGeom>
          <a:noFill/>
        </p:spPr>
        <p:txBody>
          <a:bodyPr wrap="square" rtlCol="0">
            <a:spAutoFit/>
          </a:bodyPr>
          <a:lstStyle/>
          <a:p>
            <a:pPr algn="ctr"/>
            <a:r>
              <a:rPr lang="en-US" b="1" i="1" dirty="0"/>
              <a:t>Reconstruction + KL Divergence</a:t>
            </a:r>
          </a:p>
        </p:txBody>
      </p:sp>
    </p:spTree>
    <p:extLst>
      <p:ext uri="{BB962C8B-B14F-4D97-AF65-F5344CB8AC3E}">
        <p14:creationId xmlns:p14="http://schemas.microsoft.com/office/powerpoint/2010/main" val="249356318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Generating Numbers (MNIST)</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772" y="1690688"/>
            <a:ext cx="4687738" cy="4615865"/>
          </a:xfrm>
          <a:prstGeom prst="rect">
            <a:avLst/>
          </a:prstGeom>
        </p:spPr>
      </p:pic>
      <p:sp>
        <p:nvSpPr>
          <p:cNvPr id="5" name="TextBox 4"/>
          <p:cNvSpPr txBox="1"/>
          <p:nvPr/>
        </p:nvSpPr>
        <p:spPr>
          <a:xfrm>
            <a:off x="1534784" y="6378147"/>
            <a:ext cx="3575713" cy="369332"/>
          </a:xfrm>
          <a:prstGeom prst="rect">
            <a:avLst/>
          </a:prstGeom>
          <a:noFill/>
        </p:spPr>
        <p:txBody>
          <a:bodyPr wrap="square" rtlCol="0">
            <a:spAutoFit/>
          </a:bodyPr>
          <a:lstStyle/>
          <a:p>
            <a:pPr algn="ctr"/>
            <a:r>
              <a:rPr lang="en-US" b="1" i="1" dirty="0"/>
              <a:t>Generating Images from VAE</a:t>
            </a:r>
          </a:p>
        </p:txBody>
      </p:sp>
      <p:sp>
        <p:nvSpPr>
          <p:cNvPr id="6" name="TextBox 5"/>
          <p:cNvSpPr txBox="1"/>
          <p:nvPr/>
        </p:nvSpPr>
        <p:spPr>
          <a:xfrm>
            <a:off x="6757745" y="6384069"/>
            <a:ext cx="4496014" cy="369332"/>
          </a:xfrm>
          <a:prstGeom prst="rect">
            <a:avLst/>
          </a:prstGeom>
          <a:noFill/>
        </p:spPr>
        <p:txBody>
          <a:bodyPr wrap="square" rtlCol="0">
            <a:spAutoFit/>
          </a:bodyPr>
          <a:lstStyle/>
          <a:p>
            <a:pPr algn="ctr"/>
            <a:r>
              <a:rPr lang="en-US" b="1" i="1" dirty="0"/>
              <a:t>“Generating” Images from Traditional AE</a:t>
            </a:r>
          </a:p>
        </p:txBody>
      </p:sp>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57706" y="1690688"/>
            <a:ext cx="4696093" cy="4624092"/>
          </a:xfrm>
          <a:prstGeom prst="rect">
            <a:avLst/>
          </a:prstGeom>
        </p:spPr>
      </p:pic>
    </p:spTree>
    <p:extLst>
      <p:ext uri="{BB962C8B-B14F-4D97-AF65-F5344CB8AC3E}">
        <p14:creationId xmlns:p14="http://schemas.microsoft.com/office/powerpoint/2010/main" val="40549063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Generating Faces (</a:t>
            </a:r>
            <a:r>
              <a:rPr lang="en-US" dirty="0" err="1"/>
              <a:t>CelebA</a:t>
            </a:r>
            <a:r>
              <a:rPr lang="en-US" dirty="0"/>
              <a:t>)</a:t>
            </a:r>
            <a:endParaRPr lang="he-IL" dirty="0"/>
          </a:p>
        </p:txBody>
      </p:sp>
      <p:sp>
        <p:nvSpPr>
          <p:cNvPr id="3" name="Content Placeholder 2"/>
          <p:cNvSpPr>
            <a:spLocks noGrp="1"/>
          </p:cNvSpPr>
          <p:nvPr>
            <p:ph idx="1"/>
          </p:nvPr>
        </p:nvSpPr>
        <p:spPr/>
        <p:txBody>
          <a:bodyPr/>
          <a:lstStyle/>
          <a:p>
            <a:endParaRPr lang="he-IL" dirty="0"/>
          </a:p>
        </p:txBody>
      </p:sp>
      <p:pic>
        <p:nvPicPr>
          <p:cNvPr id="1028" name="Picture 4" descr="vae_random.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79813" y="1485106"/>
            <a:ext cx="5032374" cy="5032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369092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Latent Space Interpolation</a:t>
            </a:r>
            <a:endParaRPr lang="he-IL" dirty="0"/>
          </a:p>
        </p:txBody>
      </p:sp>
      <p:sp>
        <p:nvSpPr>
          <p:cNvPr id="7" name="Content Placeholder 6"/>
          <p:cNvSpPr>
            <a:spLocks noGrp="1"/>
          </p:cNvSpPr>
          <p:nvPr>
            <p:ph idx="1"/>
          </p:nvPr>
        </p:nvSpPr>
        <p:spPr/>
        <p:txBody>
          <a:bodyPr/>
          <a:lstStyle/>
          <a:p>
            <a:r>
              <a:rPr lang="en-US" dirty="0"/>
              <a:t>If the latent space representation is useful, maybe we could take two different images, represent them as points in latent space, and create images from the line connecting the two points?</a:t>
            </a:r>
            <a:endParaRPr lang="he-IL" dirty="0"/>
          </a:p>
        </p:txBody>
      </p:sp>
      <p:pic>
        <p:nvPicPr>
          <p:cNvPr id="3078" name="Picture 6" descr="Image result for Latent Spac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23075" y="3494309"/>
            <a:ext cx="3759200" cy="281758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90625" y="3618135"/>
            <a:ext cx="952500" cy="476250"/>
          </a:xfrm>
          <a:prstGeom prst="rect">
            <a:avLst/>
          </a:prstGeom>
        </p:spPr>
      </p:pic>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90625" y="4329112"/>
            <a:ext cx="952500" cy="476250"/>
          </a:xfrm>
          <a:prstGeom prst="rect">
            <a:avLst/>
          </a:prstGeom>
        </p:spPr>
      </p:pic>
      <p:pic>
        <p:nvPicPr>
          <p:cNvPr id="10" name="Picture 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022599" y="3923273"/>
            <a:ext cx="4054475" cy="1959663"/>
          </a:xfrm>
          <a:prstGeom prst="rect">
            <a:avLst/>
          </a:prstGeom>
        </p:spPr>
      </p:pic>
      <p:pic>
        <p:nvPicPr>
          <p:cNvPr id="3080" name="Picture 8" descr="https://cdn-images-1.medium.com/max/800/1*vR5kbTi1Icqg8_g6dSE43A.gif"/>
          <p:cNvPicPr>
            <a:picLocks noChangeAspect="1" noChangeArrowheads="1" noCrop="1"/>
          </p:cNvPicPr>
          <p:nvPr/>
        </p:nvPicPr>
        <p:blipFill>
          <a:blip r:embed="rId7">
            <a:extLst>
              <a:ext uri="{28A0092B-C50C-407E-A947-70E740481C1C}">
                <a14:useLocalDpi xmlns:a14="http://schemas.microsoft.com/office/drawing/2010/main" val="0"/>
              </a:ext>
            </a:extLst>
          </a:blip>
          <a:srcRect/>
          <a:stretch>
            <a:fillRect/>
          </a:stretch>
        </p:blipFill>
        <p:spPr bwMode="auto">
          <a:xfrm>
            <a:off x="1190625" y="5038725"/>
            <a:ext cx="952500" cy="476250"/>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descr="https://cdn-images-1.medium.com/max/800/1*vRiXZd55FUkEzjVKql-2qw.gif"/>
          <p:cNvPicPr>
            <a:picLocks noChangeAspect="1" noChangeArrowheads="1" noCrop="1"/>
          </p:cNvPicPr>
          <p:nvPr/>
        </p:nvPicPr>
        <p:blipFill>
          <a:blip r:embed="rId8">
            <a:extLst>
              <a:ext uri="{28A0092B-C50C-407E-A947-70E740481C1C}">
                <a14:useLocalDpi xmlns:a14="http://schemas.microsoft.com/office/drawing/2010/main" val="0"/>
              </a:ext>
            </a:extLst>
          </a:blip>
          <a:srcRect/>
          <a:stretch>
            <a:fillRect/>
          </a:stretch>
        </p:blipFill>
        <p:spPr bwMode="auto">
          <a:xfrm>
            <a:off x="1190625" y="5748338"/>
            <a:ext cx="952500" cy="476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025395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Latent Space Arithmetic</a:t>
            </a:r>
            <a:endParaRPr lang="he-IL" dirty="0"/>
          </a:p>
        </p:txBody>
      </p:sp>
      <p:sp>
        <p:nvSpPr>
          <p:cNvPr id="3" name="Content Placeholder 2"/>
          <p:cNvSpPr>
            <a:spLocks noGrp="1"/>
          </p:cNvSpPr>
          <p:nvPr>
            <p:ph idx="1"/>
          </p:nvPr>
        </p:nvSpPr>
        <p:spPr/>
        <p:txBody>
          <a:bodyPr/>
          <a:lstStyle/>
          <a:p>
            <a:r>
              <a:rPr lang="en-US" dirty="0"/>
              <a:t>Instead of interpolation, could we extract the latent vector responsible for a specific attribute?</a:t>
            </a:r>
            <a:endParaRPr lang="he-IL" dirty="0"/>
          </a:p>
        </p:txBody>
      </p:sp>
      <p:pic>
        <p:nvPicPr>
          <p:cNvPr id="7170" name="Picture 2" descr="Image result for word to ve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72647" y="3217399"/>
            <a:ext cx="7645400" cy="267460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2274" y="3905250"/>
            <a:ext cx="3134447" cy="1514983"/>
          </a:xfrm>
          <a:prstGeom prst="rect">
            <a:avLst/>
          </a:prstGeom>
        </p:spPr>
      </p:pic>
    </p:spTree>
    <p:extLst>
      <p:ext uri="{BB962C8B-B14F-4D97-AF65-F5344CB8AC3E}">
        <p14:creationId xmlns:p14="http://schemas.microsoft.com/office/powerpoint/2010/main" val="164770596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Latent Space Arithmetic</a:t>
            </a:r>
            <a:endParaRPr lang="he-IL" dirty="0"/>
          </a:p>
        </p:txBody>
      </p:sp>
      <p:pic>
        <p:nvPicPr>
          <p:cNvPr id="7" name="Picture 6"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1925" y="2847975"/>
            <a:ext cx="7692030" cy="2024218"/>
          </a:xfrm>
          <a:prstGeom prst="rect">
            <a:avLst/>
          </a:prstGeom>
        </p:spPr>
      </p:pic>
      <p:pic>
        <p:nvPicPr>
          <p:cNvPr id="8" name="Picture 7" descr="Screen Clippi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48068" y="1461762"/>
            <a:ext cx="3991532" cy="4658375"/>
          </a:xfrm>
          <a:prstGeom prst="rect">
            <a:avLst/>
          </a:prstGeom>
        </p:spPr>
      </p:pic>
    </p:spTree>
    <p:extLst>
      <p:ext uri="{BB962C8B-B14F-4D97-AF65-F5344CB8AC3E}">
        <p14:creationId xmlns:p14="http://schemas.microsoft.com/office/powerpoint/2010/main" val="3834974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Latent Space Arithmetic</a:t>
            </a:r>
            <a:endParaRPr lang="he-IL" dirty="0"/>
          </a:p>
        </p:txBody>
      </p:sp>
      <p:pic>
        <p:nvPicPr>
          <p:cNvPr id="4" name="Picture 2" descr="Figure 6. Vector arithmetic for visual attributes. Each row is the generated faces from latent vector zleft by adding or subtracting an attribute-specific vector, i.e., zleft + α zsmiling , where α = 0, 0.1, . . . , 1. The first row is the transition by adding a smiling vector with a linear factor α from left to right, the second row is the transition by subtracting a smiling vector, the third and fourth row are the results by adding a eyeglass vector to the latent representation for a man and women, and the last row shows results by subtracting an eyeglass vector."/>
          <p:cNvPicPr>
            <a:picLocks noChangeAspect="1" noChangeArrowheads="1"/>
          </p:cNvPicPr>
          <p:nvPr/>
        </p:nvPicPr>
        <p:blipFill rotWithShape="1">
          <a:blip r:embed="rId3">
            <a:extLst>
              <a:ext uri="{28A0092B-C50C-407E-A947-70E740481C1C}">
                <a14:useLocalDpi xmlns:a14="http://schemas.microsoft.com/office/drawing/2010/main" val="0"/>
              </a:ext>
            </a:extLst>
          </a:blip>
          <a:srcRect l="13683" t="4372" r="9744" b="8590"/>
          <a:stretch/>
        </p:blipFill>
        <p:spPr bwMode="auto">
          <a:xfrm>
            <a:off x="1990724" y="1388177"/>
            <a:ext cx="8796799" cy="49840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806920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Music VAE</a:t>
            </a:r>
            <a:endParaRPr lang="he-IL" dirty="0"/>
          </a:p>
        </p:txBody>
      </p:sp>
      <p:pic>
        <p:nvPicPr>
          <p:cNvPr id="4" name="G5JT16flZwM"/>
          <p:cNvPicPr>
            <a:picLocks noGrp="1" noRot="1" noChangeAspect="1"/>
          </p:cNvPicPr>
          <p:nvPr>
            <p:ph idx="1"/>
            <a:videoFile r:link="rId1"/>
          </p:nvPr>
        </p:nvPicPr>
        <p:blipFill>
          <a:blip r:embed="rId3"/>
          <a:stretch>
            <a:fillRect/>
          </a:stretch>
        </p:blipFill>
        <p:spPr>
          <a:xfrm>
            <a:off x="2190750" y="1819870"/>
            <a:ext cx="7781925" cy="4377333"/>
          </a:xfrm>
          <a:prstGeom prst="rect">
            <a:avLst/>
          </a:prstGeom>
        </p:spPr>
      </p:pic>
    </p:spTree>
    <p:extLst>
      <p:ext uri="{BB962C8B-B14F-4D97-AF65-F5344CB8AC3E}">
        <p14:creationId xmlns:p14="http://schemas.microsoft.com/office/powerpoint/2010/main" val="221871034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a:xfrm>
            <a:off x="838200" y="1825625"/>
            <a:ext cx="10879318" cy="4351338"/>
          </a:xfrm>
        </p:spPr>
        <p:txBody>
          <a:bodyPr/>
          <a:lstStyle/>
          <a:p>
            <a:r>
              <a:rPr lang="en-US" dirty="0"/>
              <a:t>Probabilistic spin to traditional autoencoders</a:t>
            </a:r>
          </a:p>
          <a:p>
            <a:r>
              <a:rPr lang="en-US" dirty="0"/>
              <a:t>Defines an intractable distribution and optimizes a variational lower bound</a:t>
            </a:r>
          </a:p>
          <a:p>
            <a:r>
              <a:rPr lang="en-US" dirty="0"/>
              <a:t>Allows data generation and a useful latent representation</a:t>
            </a:r>
          </a:p>
          <a:p>
            <a:r>
              <a:rPr lang="en-US" dirty="0"/>
              <a:t>Samples blurrier and lower quality images compared to state-of-the-art techniques </a:t>
            </a:r>
          </a:p>
        </p:txBody>
      </p:sp>
    </p:spTree>
    <p:extLst>
      <p:ext uri="{BB962C8B-B14F-4D97-AF65-F5344CB8AC3E}">
        <p14:creationId xmlns:p14="http://schemas.microsoft.com/office/powerpoint/2010/main" val="81373584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Bibliography</a:t>
            </a:r>
          </a:p>
        </p:txBody>
      </p:sp>
      <p:sp>
        <p:nvSpPr>
          <p:cNvPr id="3" name="Content Placeholder 2"/>
          <p:cNvSpPr>
            <a:spLocks noGrp="1"/>
          </p:cNvSpPr>
          <p:nvPr>
            <p:ph idx="1"/>
          </p:nvPr>
        </p:nvSpPr>
        <p:spPr>
          <a:xfrm>
            <a:off x="269158" y="1573104"/>
            <a:ext cx="11653684" cy="4351338"/>
          </a:xfrm>
        </p:spPr>
        <p:txBody>
          <a:bodyPr>
            <a:noAutofit/>
          </a:bodyPr>
          <a:lstStyle/>
          <a:p>
            <a:pPr marL="180000">
              <a:lnSpc>
                <a:spcPct val="100000"/>
              </a:lnSpc>
            </a:pPr>
            <a:r>
              <a:rPr lang="en-US" sz="1800" dirty="0"/>
              <a:t>https://arxiv.org/pdf/1312.6114.pdf</a:t>
            </a:r>
          </a:p>
          <a:p>
            <a:pPr marL="180000">
              <a:lnSpc>
                <a:spcPct val="100000"/>
              </a:lnSpc>
            </a:pPr>
            <a:r>
              <a:rPr lang="en-US" sz="1800" dirty="0"/>
              <a:t>https://arxiv.org/pdf/1606.05908.pdf</a:t>
            </a:r>
          </a:p>
          <a:p>
            <a:pPr marL="180000">
              <a:lnSpc>
                <a:spcPct val="100000"/>
              </a:lnSpc>
            </a:pPr>
            <a:r>
              <a:rPr lang="en-US" sz="1800" dirty="0"/>
              <a:t>https://arxiv.org/pdf/1502.04623.pdf</a:t>
            </a:r>
          </a:p>
          <a:p>
            <a:pPr marL="180000">
              <a:lnSpc>
                <a:spcPct val="100000"/>
              </a:lnSpc>
            </a:pPr>
            <a:r>
              <a:rPr lang="en-US" sz="1800" dirty="0"/>
              <a:t>http://blog.fastforwardlabs.com/2016/08/12/introducing-variational-autoencoders-in-prose-and.html</a:t>
            </a:r>
          </a:p>
          <a:p>
            <a:pPr marL="180000">
              <a:lnSpc>
                <a:spcPct val="100000"/>
              </a:lnSpc>
            </a:pPr>
            <a:r>
              <a:rPr lang="en-US" sz="1800" dirty="0"/>
              <a:t>http://blog.fastforwardlabs.com/2016/08/22/under-the-hood-of-the-variational-autoencoder-in.html</a:t>
            </a:r>
          </a:p>
          <a:p>
            <a:pPr marL="180000">
              <a:lnSpc>
                <a:spcPct val="100000"/>
              </a:lnSpc>
              <a:defRPr/>
            </a:pPr>
            <a:r>
              <a:rPr lang="en-US" sz="1800" dirty="0"/>
              <a:t>https://ermongroup.github.io/cs228-notes/extras/vae/</a:t>
            </a:r>
          </a:p>
          <a:p>
            <a:pPr marL="180000">
              <a:lnSpc>
                <a:spcPct val="100000"/>
              </a:lnSpc>
              <a:defRPr/>
            </a:pPr>
            <a:r>
              <a:rPr lang="en-US" sz="1800" dirty="0"/>
              <a:t>http://kvfrans.com/variational-autoencoders-explained/</a:t>
            </a:r>
          </a:p>
          <a:p>
            <a:pPr marL="180000">
              <a:lnSpc>
                <a:spcPct val="100000"/>
              </a:lnSpc>
            </a:pPr>
            <a:r>
              <a:rPr lang="en-US" sz="1800" dirty="0"/>
              <a:t>https://stats.stackexchange.com/questions/267924/explanation-of-the-free-bits-technique-for-variational-autoencoders</a:t>
            </a:r>
          </a:p>
          <a:p>
            <a:pPr marL="180000">
              <a:lnSpc>
                <a:spcPct val="100000"/>
              </a:lnSpc>
              <a:defRPr/>
            </a:pPr>
            <a:r>
              <a:rPr lang="en-US" sz="1800" dirty="0"/>
              <a:t>http://szhao.me/2017/06/10/a-tutorial-on-mmd-variational-autoencoders.html</a:t>
            </a:r>
          </a:p>
          <a:p>
            <a:pPr marL="180000">
              <a:lnSpc>
                <a:spcPct val="100000"/>
              </a:lnSpc>
            </a:pPr>
            <a:r>
              <a:rPr lang="en-US" sz="1800" dirty="0"/>
              <a:t>https://www.cs.princeton.edu/courses/archive/spring17/cos598E/Ghassen.pdf</a:t>
            </a:r>
            <a:endParaRPr lang="he-IL" sz="1800" dirty="0"/>
          </a:p>
          <a:p>
            <a:pPr marL="180000">
              <a:lnSpc>
                <a:spcPct val="100000"/>
              </a:lnSpc>
            </a:pPr>
            <a:r>
              <a:rPr lang="en-US" sz="1800" dirty="0"/>
              <a:t>https://www.jeremyjordan.me/variational-autoencoders/</a:t>
            </a:r>
          </a:p>
          <a:p>
            <a:pPr marL="180000" indent="0">
              <a:lnSpc>
                <a:spcPct val="100000"/>
              </a:lnSpc>
              <a:buNone/>
            </a:pPr>
            <a:endParaRPr lang="en-US" sz="1800" dirty="0"/>
          </a:p>
        </p:txBody>
      </p:sp>
    </p:spTree>
    <p:extLst>
      <p:ext uri="{BB962C8B-B14F-4D97-AF65-F5344CB8AC3E}">
        <p14:creationId xmlns:p14="http://schemas.microsoft.com/office/powerpoint/2010/main" val="33270754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9221</TotalTime>
  <Words>3889</Words>
  <Application>Microsoft Macintosh PowerPoint</Application>
  <PresentationFormat>Widescreen</PresentationFormat>
  <Paragraphs>571</Paragraphs>
  <Slides>88</Slides>
  <Notes>52</Notes>
  <HiddenSlides>7</HiddenSlides>
  <MMClips>3</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88</vt:i4>
      </vt:variant>
    </vt:vector>
  </HeadingPairs>
  <TitlesOfParts>
    <vt:vector size="96" baseType="lpstr">
      <vt:lpstr>Arial</vt:lpstr>
      <vt:lpstr>Calibri</vt:lpstr>
      <vt:lpstr>Calibri Light</vt:lpstr>
      <vt:lpstr>Cambria Math</vt:lpstr>
      <vt:lpstr>Consolas</vt:lpstr>
      <vt:lpstr>Karla</vt:lpstr>
      <vt:lpstr>Office Theme</vt:lpstr>
      <vt:lpstr>Equation</vt:lpstr>
      <vt:lpstr>Variational Autoencoders</vt:lpstr>
      <vt:lpstr>Recap - Autoencoders</vt:lpstr>
      <vt:lpstr>Variational Autoencoders</vt:lpstr>
      <vt:lpstr>Motivation</vt:lpstr>
      <vt:lpstr>Architecture</vt:lpstr>
      <vt:lpstr>VAE – Probabilistic Intuition</vt:lpstr>
      <vt:lpstr>Latent Space Representation</vt:lpstr>
      <vt:lpstr>Information Theory Recap</vt:lpstr>
      <vt:lpstr>Information – Definition and Intuition</vt:lpstr>
      <vt:lpstr>Information - Derivation</vt:lpstr>
      <vt:lpstr>Information – Derivation – Cont.</vt:lpstr>
      <vt:lpstr>Entropy – Definition</vt:lpstr>
      <vt:lpstr>Entropy - Intuition</vt:lpstr>
      <vt:lpstr>Entropy - Intuition</vt:lpstr>
      <vt:lpstr>Proof of Gaussians having maximum Entropy</vt:lpstr>
      <vt:lpstr>Kullback–Leibler Divergence</vt:lpstr>
      <vt:lpstr>Kullback–Leibler Divergence Properties</vt:lpstr>
      <vt:lpstr>Information Theory - Summary</vt:lpstr>
      <vt:lpstr>Information Theory Perspective</vt:lpstr>
      <vt:lpstr>Latent Variable Models – General Case</vt:lpstr>
      <vt:lpstr>Learning Statistical Models</vt:lpstr>
      <vt:lpstr>Intractability - Intuition</vt:lpstr>
      <vt:lpstr>Intractability</vt:lpstr>
      <vt:lpstr>Variational Inference</vt:lpstr>
      <vt:lpstr>Variational Inference</vt:lpstr>
      <vt:lpstr>Information Theory Revisited</vt:lpstr>
      <vt:lpstr>Outline</vt:lpstr>
      <vt:lpstr>Generative models</vt:lpstr>
      <vt:lpstr>Generative models</vt:lpstr>
      <vt:lpstr>Generative models</vt:lpstr>
      <vt:lpstr>Generative models</vt:lpstr>
      <vt:lpstr>Variational Autoencoders</vt:lpstr>
      <vt:lpstr>Variational Autoencoders</vt:lpstr>
      <vt:lpstr>Variational Autoencoders</vt:lpstr>
      <vt:lpstr>Variational Autoencoders</vt:lpstr>
      <vt:lpstr>Variational Autoencoders</vt:lpstr>
      <vt:lpstr>Variational Autoencoders</vt:lpstr>
      <vt:lpstr>Variational Autoencoders</vt:lpstr>
      <vt:lpstr>Outline</vt:lpstr>
      <vt:lpstr>Variational Autoencoders</vt:lpstr>
      <vt:lpstr>Blending Latent Variables</vt:lpstr>
      <vt:lpstr>Blending Latent Variables</vt:lpstr>
      <vt:lpstr>Blending Latent Variables</vt:lpstr>
      <vt:lpstr>Blending Latent Variables</vt:lpstr>
      <vt:lpstr>Blending Latent Variables</vt:lpstr>
      <vt:lpstr>Blending Latent Variables</vt:lpstr>
      <vt:lpstr>Blending Latent Variables</vt:lpstr>
      <vt:lpstr>Blending Latent Variables</vt:lpstr>
      <vt:lpstr>Blending Latent Variables</vt:lpstr>
      <vt:lpstr>Blending Latent Variables</vt:lpstr>
      <vt:lpstr>Blending Latent Variables</vt:lpstr>
      <vt:lpstr>Blending Latent Variables</vt:lpstr>
      <vt:lpstr>Blending Latent Variables</vt:lpstr>
      <vt:lpstr>Back to the optimization problem</vt:lpstr>
      <vt:lpstr>Let the derivations begin</vt:lpstr>
      <vt:lpstr>“Minimizing” KL Divergence</vt:lpstr>
      <vt:lpstr>“Minimizing” KL Divergence</vt:lpstr>
      <vt:lpstr>Evidence Lower BOund (ELBO)</vt:lpstr>
      <vt:lpstr>Putting it all together</vt:lpstr>
      <vt:lpstr>What we have so far</vt:lpstr>
      <vt:lpstr>Neural Network Perspective</vt:lpstr>
      <vt:lpstr>In practice</vt:lpstr>
      <vt:lpstr>Lower Bound: Reconstruction Error</vt:lpstr>
      <vt:lpstr>The Variational Autoencoder</vt:lpstr>
      <vt:lpstr>Features as Probability Distributions</vt:lpstr>
      <vt:lpstr>Features as Probability Distributions</vt:lpstr>
      <vt:lpstr>Features as Probability Distributions</vt:lpstr>
      <vt:lpstr>The Variational Autoencoder</vt:lpstr>
      <vt:lpstr>Sample Layer</vt:lpstr>
      <vt:lpstr>Reparametrization Trick</vt:lpstr>
      <vt:lpstr>Reparametrization Trick</vt:lpstr>
      <vt:lpstr>Reparametrization Trick</vt:lpstr>
      <vt:lpstr>Back-Propagation through Random Operations</vt:lpstr>
      <vt:lpstr>Back-Propagation through Random Operations</vt:lpstr>
      <vt:lpstr>KL Divergence for Gaussian Distributions</vt:lpstr>
      <vt:lpstr>KL Divergence for Gaussian Distributions</vt:lpstr>
      <vt:lpstr>KL Divergence in code</vt:lpstr>
      <vt:lpstr>Back to VAE motivation</vt:lpstr>
      <vt:lpstr>Latent Space Visualizations</vt:lpstr>
      <vt:lpstr>Generating Numbers (MNIST)</vt:lpstr>
      <vt:lpstr>Generating Faces (CelebA)</vt:lpstr>
      <vt:lpstr>Latent Space Interpolation</vt:lpstr>
      <vt:lpstr>Latent Space Arithmetic</vt:lpstr>
      <vt:lpstr>Latent Space Arithmetic</vt:lpstr>
      <vt:lpstr>Latent Space Arithmetic</vt:lpstr>
      <vt:lpstr>Music VAE</vt:lpstr>
      <vt:lpstr>Summary</vt:lpstr>
      <vt:lpstr>Bibliography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Variational AE</dc:title>
  <dc:creator>Alon Oring</dc:creator>
  <cp:lastModifiedBy>Dr. Shangsong Liang</cp:lastModifiedBy>
  <cp:revision>176</cp:revision>
  <dcterms:created xsi:type="dcterms:W3CDTF">2018-04-17T19:57:11Z</dcterms:created>
  <dcterms:modified xsi:type="dcterms:W3CDTF">2024-12-17T05:32:26Z</dcterms:modified>
</cp:coreProperties>
</file>