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gif" ContentType="image/gi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103"/>
  </p:handoutMasterIdLst>
  <p:sldIdLst>
    <p:sldId id="569" r:id="rId3"/>
    <p:sldId id="599" r:id="rId5"/>
    <p:sldId id="517" r:id="rId6"/>
    <p:sldId id="622" r:id="rId7"/>
    <p:sldId id="548" r:id="rId8"/>
    <p:sldId id="570" r:id="rId9"/>
    <p:sldId id="518" r:id="rId10"/>
    <p:sldId id="525" r:id="rId11"/>
    <p:sldId id="605" r:id="rId12"/>
    <p:sldId id="606" r:id="rId13"/>
    <p:sldId id="526" r:id="rId14"/>
    <p:sldId id="600" r:id="rId15"/>
    <p:sldId id="624" r:id="rId16"/>
    <p:sldId id="627" r:id="rId17"/>
    <p:sldId id="626" r:id="rId18"/>
    <p:sldId id="625" r:id="rId19"/>
    <p:sldId id="571" r:id="rId20"/>
    <p:sldId id="572" r:id="rId21"/>
    <p:sldId id="521" r:id="rId22"/>
    <p:sldId id="520" r:id="rId23"/>
    <p:sldId id="522" r:id="rId24"/>
    <p:sldId id="523" r:id="rId25"/>
    <p:sldId id="527" r:id="rId26"/>
    <p:sldId id="528" r:id="rId27"/>
    <p:sldId id="531" r:id="rId28"/>
    <p:sldId id="529" r:id="rId29"/>
    <p:sldId id="607" r:id="rId30"/>
    <p:sldId id="532" r:id="rId31"/>
    <p:sldId id="549" r:id="rId32"/>
    <p:sldId id="550" r:id="rId33"/>
    <p:sldId id="534" r:id="rId34"/>
    <p:sldId id="663" r:id="rId35"/>
    <p:sldId id="552" r:id="rId36"/>
    <p:sldId id="629" r:id="rId37"/>
    <p:sldId id="662" r:id="rId38"/>
    <p:sldId id="631" r:id="rId39"/>
    <p:sldId id="632" r:id="rId40"/>
    <p:sldId id="633" r:id="rId41"/>
    <p:sldId id="634" r:id="rId42"/>
    <p:sldId id="635" r:id="rId43"/>
    <p:sldId id="636" r:id="rId44"/>
    <p:sldId id="637" r:id="rId45"/>
    <p:sldId id="638" r:id="rId46"/>
    <p:sldId id="639" r:id="rId47"/>
    <p:sldId id="640" r:id="rId48"/>
    <p:sldId id="641" r:id="rId49"/>
    <p:sldId id="642" r:id="rId50"/>
    <p:sldId id="644" r:id="rId51"/>
    <p:sldId id="645" r:id="rId52"/>
    <p:sldId id="646" r:id="rId53"/>
    <p:sldId id="652" r:id="rId54"/>
    <p:sldId id="653" r:id="rId55"/>
    <p:sldId id="654" r:id="rId56"/>
    <p:sldId id="655" r:id="rId57"/>
    <p:sldId id="656" r:id="rId58"/>
    <p:sldId id="657" r:id="rId59"/>
    <p:sldId id="658" r:id="rId60"/>
    <p:sldId id="667" r:id="rId61"/>
    <p:sldId id="659" r:id="rId62"/>
    <p:sldId id="660" r:id="rId63"/>
    <p:sldId id="668" r:id="rId64"/>
    <p:sldId id="647" r:id="rId65"/>
    <p:sldId id="648" r:id="rId66"/>
    <p:sldId id="649" r:id="rId67"/>
    <p:sldId id="650" r:id="rId68"/>
    <p:sldId id="651" r:id="rId69"/>
    <p:sldId id="551" r:id="rId70"/>
    <p:sldId id="553" r:id="rId71"/>
    <p:sldId id="608" r:id="rId72"/>
    <p:sldId id="560" r:id="rId73"/>
    <p:sldId id="573" r:id="rId74"/>
    <p:sldId id="538" r:id="rId75"/>
    <p:sldId id="540" r:id="rId76"/>
    <p:sldId id="539" r:id="rId77"/>
    <p:sldId id="669" r:id="rId78"/>
    <p:sldId id="670" r:id="rId79"/>
    <p:sldId id="671" r:id="rId80"/>
    <p:sldId id="672" r:id="rId81"/>
    <p:sldId id="674" r:id="rId82"/>
    <p:sldId id="673" r:id="rId83"/>
    <p:sldId id="675" r:id="rId84"/>
    <p:sldId id="676" r:id="rId85"/>
    <p:sldId id="677" r:id="rId86"/>
    <p:sldId id="541" r:id="rId87"/>
    <p:sldId id="679" r:id="rId88"/>
    <p:sldId id="558" r:id="rId89"/>
    <p:sldId id="664" r:id="rId90"/>
    <p:sldId id="678" r:id="rId91"/>
    <p:sldId id="665" r:id="rId92"/>
    <p:sldId id="561" r:id="rId93"/>
    <p:sldId id="567" r:id="rId94"/>
    <p:sldId id="576" r:id="rId95"/>
    <p:sldId id="559" r:id="rId96"/>
    <p:sldId id="564" r:id="rId97"/>
    <p:sldId id="603" r:id="rId98"/>
    <p:sldId id="601" r:id="rId99"/>
    <p:sldId id="609" r:id="rId100"/>
    <p:sldId id="565" r:id="rId101"/>
    <p:sldId id="680" r:id="rId102"/>
  </p:sldIdLst>
  <p:sldSz cx="9144000" cy="6858000" type="screen4x3"/>
  <p:notesSz cx="6934200" cy="9220200"/>
  <p:custDataLst>
    <p:tags r:id="rId107"/>
  </p:custData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61" autoAdjust="0"/>
    <p:restoredTop sz="95273" autoAdjust="0"/>
  </p:normalViewPr>
  <p:slideViewPr>
    <p:cSldViewPr>
      <p:cViewPr varScale="1">
        <p:scale>
          <a:sx n="112" d="100"/>
          <a:sy n="112" d="100"/>
        </p:scale>
        <p:origin x="1400" y="17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9960"/>
    </p:cViewPr>
  </p:sorterViewPr>
  <p:notesViewPr>
    <p:cSldViewPr>
      <p:cViewPr varScale="1">
        <p:scale>
          <a:sx n="98" d="100"/>
          <a:sy n="98" d="100"/>
        </p:scale>
        <p:origin x="4280" y="20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7" Type="http://schemas.openxmlformats.org/officeDocument/2006/relationships/tags" Target="tags/tag1.xml"/><Relationship Id="rId106" Type="http://schemas.openxmlformats.org/officeDocument/2006/relationships/tableStyles" Target="tableStyles.xml"/><Relationship Id="rId105" Type="http://schemas.openxmlformats.org/officeDocument/2006/relationships/viewProps" Target="viewProps.xml"/><Relationship Id="rId104" Type="http://schemas.openxmlformats.org/officeDocument/2006/relationships/presProps" Target="presProps.xml"/><Relationship Id="rId103" Type="http://schemas.openxmlformats.org/officeDocument/2006/relationships/handoutMaster" Target="handoutMasters/handoutMaster1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45.xml"/><Relationship Id="rId8" Type="http://schemas.openxmlformats.org/officeDocument/2006/relationships/slide" Target="slides/slide44.xml"/><Relationship Id="rId7" Type="http://schemas.openxmlformats.org/officeDocument/2006/relationships/slide" Target="slides/slide43.xml"/><Relationship Id="rId6" Type="http://schemas.openxmlformats.org/officeDocument/2006/relationships/slide" Target="slides/slide40.xml"/><Relationship Id="rId5" Type="http://schemas.openxmlformats.org/officeDocument/2006/relationships/slide" Target="slides/slide39.xml"/><Relationship Id="rId4" Type="http://schemas.openxmlformats.org/officeDocument/2006/relationships/slide" Target="slides/slide38.xml"/><Relationship Id="rId3" Type="http://schemas.openxmlformats.org/officeDocument/2006/relationships/slide" Target="slides/slide37.xml"/><Relationship Id="rId2" Type="http://schemas.openxmlformats.org/officeDocument/2006/relationships/slide" Target="slides/slide36.xml"/><Relationship Id="rId17" Type="http://schemas.openxmlformats.org/officeDocument/2006/relationships/slide" Target="slides/slide92.xml"/><Relationship Id="rId16" Type="http://schemas.openxmlformats.org/officeDocument/2006/relationships/slide" Target="slides/slide91.xml"/><Relationship Id="rId15" Type="http://schemas.openxmlformats.org/officeDocument/2006/relationships/slide" Target="slides/slide63.xml"/><Relationship Id="rId14" Type="http://schemas.openxmlformats.org/officeDocument/2006/relationships/slide" Target="slides/slide62.xml"/><Relationship Id="rId13" Type="http://schemas.openxmlformats.org/officeDocument/2006/relationships/slide" Target="slides/slide49.xml"/><Relationship Id="rId12" Type="http://schemas.openxmlformats.org/officeDocument/2006/relationships/slide" Target="slides/slide48.xml"/><Relationship Id="rId11" Type="http://schemas.openxmlformats.org/officeDocument/2006/relationships/slide" Target="slides/slide47.xml"/><Relationship Id="rId10" Type="http://schemas.openxmlformats.org/officeDocument/2006/relationships/slide" Target="slides/slide46.xml"/><Relationship Id="rId1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6.emf"/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379913"/>
            <a:ext cx="5087937" cy="41465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5903" tIns="47953" rIns="95903" bIns="47953" numCol="1" anchor="t" anchorCtr="0" compatLnSpc="1"/>
          <a:lstStyle/>
          <a:p>
            <a:pPr lvl="0"/>
            <a:r>
              <a:rPr lang="en-US" noProof="0"/>
              <a:t>Click to edit Master notes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8499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700088"/>
            <a:ext cx="4587875" cy="3441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6990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385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4084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76425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8400" y="693738"/>
            <a:ext cx="4605338" cy="3454400"/>
          </a:xfrm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9913"/>
            <a:ext cx="5086350" cy="414655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16" tIns="45355" rIns="90716" bIns="4535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  <a:solidFill>
            <a:srgbClr val="FFFFFF"/>
          </a:solidFill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  <a:solidFill>
            <a:srgbClr val="FFFFFF"/>
          </a:solidFill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743" tIns="45370" rIns="90743" bIns="45370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 Third Level</a:t>
            </a:r>
            <a:endParaRPr lang="en-US" dirty="0"/>
          </a:p>
        </p:txBody>
      </p:sp>
      <p:grpSp>
        <p:nvGrpSpPr>
          <p:cNvPr id="1028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Rectangle 1"/>
          <p:cNvSpPr/>
          <p:nvPr userDrawn="1"/>
        </p:nvSpPr>
        <p:spPr>
          <a:xfrm>
            <a:off x="8454919" y="6400800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fld id="{20C2B3EF-A58E-4072-B0B8-DA68EAC103CC}" type="slidenum">
              <a:rPr lang="en-US" smtClean="0"/>
            </a:fld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2514600" y="6334780"/>
            <a:ext cx="3733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/>
              <a:t>Data Mining: Data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6.bin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0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GI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9.e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1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6.e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25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4.e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3.e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14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openxmlformats.org/officeDocument/2006/relationships/image" Target="../media/image30.wmf"/><Relationship Id="rId1" Type="http://schemas.openxmlformats.org/officeDocument/2006/relationships/oleObject" Target="../embeddings/oleObject18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oleObject" Target="../embeddings/oleObject19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wmf"/><Relationship Id="rId1" Type="http://schemas.openxmlformats.org/officeDocument/2006/relationships/image" Target="../media/image46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57.png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1" Type="http://schemas.openxmlformats.org/officeDocument/2006/relationships/image" Target="../media/image57.pn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1" Type="http://schemas.openxmlformats.org/officeDocument/2006/relationships/image" Target="../media/image57.png"/></Relationships>
</file>

<file path=ppt/slides/_rels/slide8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5.png"/><Relationship Id="rId2" Type="http://schemas.openxmlformats.org/officeDocument/2006/relationships/image" Target="../media/image63.png"/><Relationship Id="rId1" Type="http://schemas.openxmlformats.org/officeDocument/2006/relationships/image" Target="../media/image6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8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3.pn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8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hyperlink" Target="https://www.visiondummy.com/2014/04/curse-dimensionality-affect-classification/" TargetMode="Externa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jpeg"/><Relationship Id="rId1" Type="http://schemas.openxmlformats.org/officeDocument/2006/relationships/image" Target="../media/image78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763000" cy="838200"/>
          </a:xfrm>
        </p:spPr>
        <p:txBody>
          <a:bodyPr/>
          <a:lstStyle/>
          <a:p>
            <a:pPr algn="ctr"/>
            <a:r>
              <a:rPr lang="en-US" dirty="0"/>
              <a:t>Data Mining: Data</a:t>
            </a:r>
            <a:endParaRPr lang="en-US" sz="28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81000" y="1508497"/>
            <a:ext cx="8153400" cy="4696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3200" b="0" dirty="0"/>
              <a:t>Introduction</a:t>
            </a:r>
            <a:r>
              <a:rPr lang="zh-CN" altLang="en-US" sz="3200" b="0" dirty="0"/>
              <a:t> </a:t>
            </a:r>
            <a:r>
              <a:rPr lang="en-US" altLang="zh-CN" sz="3200" b="0"/>
              <a:t>to</a:t>
            </a:r>
            <a:r>
              <a:rPr lang="zh-CN" altLang="en-US" sz="3200" b="0"/>
              <a:t> </a:t>
            </a:r>
            <a:r>
              <a:rPr lang="en-US" sz="3200" b="0" dirty="0"/>
              <a:t>Data Mining</a:t>
            </a:r>
            <a:endParaRPr 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0" dirty="0"/>
              <a:t> </a:t>
            </a:r>
            <a:r>
              <a:rPr lang="en-US" altLang="zh-CN" sz="2800" b="0" dirty="0"/>
              <a:t>Lecture</a:t>
            </a:r>
            <a:r>
              <a:rPr lang="zh-CN" altLang="en-US" sz="2800" b="0" dirty="0"/>
              <a:t> </a:t>
            </a:r>
            <a:r>
              <a:rPr lang="en-US" sz="2800" b="0" dirty="0"/>
              <a:t>by</a:t>
            </a:r>
            <a:endParaRPr lang="en-US" sz="28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2800" b="0" dirty="0"/>
              <a:t>Shangsong Liang (</a:t>
            </a:r>
            <a:r>
              <a:rPr lang="zh-CN" altLang="en-US" sz="2800" b="0" dirty="0"/>
              <a:t>梁上松</a:t>
            </a:r>
            <a:r>
              <a:rPr lang="en-US" sz="2800" b="0" dirty="0"/>
              <a:t>)</a:t>
            </a:r>
            <a:endParaRPr lang="zh-CN" altLang="en-US" sz="28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28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0" dirty="0"/>
              <a:t>Originally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Produced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by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Tan,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Steinbach,</a:t>
            </a:r>
            <a:r>
              <a:rPr lang="zh-CN" altLang="en-US" sz="2000" b="0" dirty="0"/>
              <a:t> </a:t>
            </a:r>
            <a:r>
              <a:rPr lang="en-US" altLang="zh-CN" sz="2000" b="0" dirty="0" err="1"/>
              <a:t>Karpatne</a:t>
            </a:r>
            <a:r>
              <a:rPr lang="en-US" altLang="zh-CN" sz="2000" b="0" dirty="0"/>
              <a:t>,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and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Kumar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for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the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book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&lt;&lt;Introduction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to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Data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Mining&gt;&gt;, Modified by S. Liang</a:t>
            </a:r>
            <a:endParaRPr lang="en-US" sz="2000" b="0" dirty="0"/>
          </a:p>
          <a:p>
            <a:pPr algn="ctr"/>
            <a:endParaRPr lang="en-US" sz="1600" b="0" dirty="0">
              <a:solidFill>
                <a:srgbClr val="0000FF"/>
              </a:solidFill>
            </a:endParaRPr>
          </a:p>
          <a:p>
            <a:pPr algn="ctr"/>
            <a:endParaRPr lang="en-US" sz="1600" b="0" dirty="0"/>
          </a:p>
          <a:p>
            <a:pPr algn="ctr"/>
            <a:endParaRPr lang="en-US" sz="1600" b="0" dirty="0"/>
          </a:p>
          <a:p>
            <a:pPr algn="ctr"/>
            <a:endParaRPr lang="en-US" sz="1600" b="0" dirty="0"/>
          </a:p>
          <a:p>
            <a:endParaRPr lang="en-US" sz="20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Attributes and Objects</a:t>
            </a:r>
            <a:endParaRPr lang="en-US" dirty="0"/>
          </a:p>
          <a:p>
            <a:endParaRPr lang="en-US" dirty="0"/>
          </a:p>
          <a:p>
            <a:r>
              <a:rPr lang="en-US" dirty="0"/>
              <a:t>Types of Data</a:t>
            </a:r>
            <a:endParaRPr lang="en-US" dirty="0"/>
          </a:p>
          <a:p>
            <a:endParaRPr lang="en-US" dirty="0"/>
          </a:p>
          <a:p>
            <a:r>
              <a:rPr lang="en-US" dirty="0"/>
              <a:t>Data Quality</a:t>
            </a:r>
            <a:endParaRPr lang="en-US" dirty="0"/>
          </a:p>
          <a:p>
            <a:endParaRPr lang="en-US" dirty="0"/>
          </a:p>
          <a:p>
            <a:r>
              <a:rPr lang="en-US" dirty="0"/>
              <a:t>Similarity and Distance</a:t>
            </a:r>
            <a:endParaRPr lang="en-US" dirty="0"/>
          </a:p>
          <a:p>
            <a:endParaRPr lang="en-US" dirty="0"/>
          </a:p>
          <a:p>
            <a:r>
              <a:rPr lang="en-US" dirty="0"/>
              <a:t>Data Preprocessing</a:t>
            </a:r>
            <a:endParaRPr lang="en-US" dirty="0"/>
          </a:p>
          <a:p>
            <a:pPr>
              <a:buFont typeface="Monotype Sorts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Data?</a:t>
            </a:r>
            <a:endParaRPr lang="en-US" dirty="0"/>
          </a:p>
        </p:txBody>
      </p:sp>
      <p:sp>
        <p:nvSpPr>
          <p:cNvPr id="4099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143000"/>
            <a:ext cx="4267200" cy="51816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Collection of </a:t>
            </a:r>
            <a:r>
              <a:rPr lang="en-US" sz="2400" b="1" i="1" dirty="0">
                <a:solidFill>
                  <a:srgbClr val="CC6600"/>
                </a:solidFill>
              </a:rPr>
              <a:t>data objects </a:t>
            </a:r>
            <a:r>
              <a:rPr lang="en-US" sz="2400" dirty="0"/>
              <a:t>and their </a:t>
            </a:r>
            <a:r>
              <a:rPr lang="en-US" sz="2400" b="1" i="1" dirty="0">
                <a:solidFill>
                  <a:srgbClr val="CC6600"/>
                </a:solidFill>
              </a:rPr>
              <a:t>attributes</a:t>
            </a:r>
            <a:endParaRPr lang="en-US" sz="2400" b="1" i="1" dirty="0">
              <a:solidFill>
                <a:srgbClr val="CC6600"/>
              </a:solidFill>
            </a:endParaRPr>
          </a:p>
          <a:p>
            <a:pPr lvl="4"/>
            <a:endParaRPr lang="en-US" sz="600" dirty="0"/>
          </a:p>
          <a:p>
            <a:r>
              <a:rPr lang="en-US" sz="2400" dirty="0"/>
              <a:t>An </a:t>
            </a:r>
            <a:r>
              <a:rPr lang="en-US" sz="2400" b="1" i="1" dirty="0">
                <a:solidFill>
                  <a:srgbClr val="CC6600"/>
                </a:solidFill>
              </a:rPr>
              <a:t>attribute</a:t>
            </a:r>
            <a:r>
              <a:rPr lang="en-US" sz="2400" dirty="0"/>
              <a:t> is a property or characteristic of an object</a:t>
            </a:r>
            <a:endParaRPr lang="en-US" sz="2400" dirty="0"/>
          </a:p>
          <a:p>
            <a:pPr lvl="1"/>
            <a:r>
              <a:rPr lang="en-US" sz="2000" dirty="0"/>
              <a:t>Examples: eye color of a person, temperature, etc.</a:t>
            </a:r>
            <a:endParaRPr lang="en-US" sz="2000" dirty="0"/>
          </a:p>
          <a:p>
            <a:pPr lvl="1"/>
            <a:r>
              <a:rPr lang="en-US" sz="2000" dirty="0"/>
              <a:t>Attribute is also known as variable, field, characteristic, dimension, or feature</a:t>
            </a:r>
            <a:endParaRPr lang="en-US" sz="2000" dirty="0"/>
          </a:p>
          <a:p>
            <a:r>
              <a:rPr lang="en-US" sz="2400" dirty="0"/>
              <a:t>A collection of attributes describe an </a:t>
            </a:r>
            <a:r>
              <a:rPr lang="en-US" sz="2400" b="1" i="1" dirty="0">
                <a:solidFill>
                  <a:srgbClr val="CC6600"/>
                </a:solidFill>
              </a:rPr>
              <a:t>object</a:t>
            </a:r>
            <a:endParaRPr lang="en-US" sz="2400" b="1" i="1" dirty="0">
              <a:solidFill>
                <a:srgbClr val="CC6600"/>
              </a:solidFill>
            </a:endParaRPr>
          </a:p>
          <a:p>
            <a:pPr lvl="1"/>
            <a:r>
              <a:rPr lang="en-US" sz="2000" dirty="0"/>
              <a:t>Object is also known as record, point, case, sample, entity, or instance</a:t>
            </a:r>
            <a:endParaRPr lang="en-US" sz="2000" dirty="0"/>
          </a:p>
          <a:p>
            <a:pPr lvl="4"/>
            <a:endParaRPr lang="en-US" dirty="0"/>
          </a:p>
        </p:txBody>
      </p:sp>
      <p:grpSp>
        <p:nvGrpSpPr>
          <p:cNvPr id="4100" name="Group 16"/>
          <p:cNvGrpSpPr/>
          <p:nvPr/>
        </p:nvGrpSpPr>
        <p:grpSpPr bwMode="auto">
          <a:xfrm>
            <a:off x="5630863" y="1601788"/>
            <a:ext cx="3513137" cy="5027612"/>
            <a:chOff x="3403" y="1104"/>
            <a:chExt cx="2213" cy="2640"/>
          </a:xfrm>
        </p:grpSpPr>
        <p:graphicFrame>
          <p:nvGraphicFramePr>
            <p:cNvPr id="4107" name="Object 10"/>
            <p:cNvGraphicFramePr>
              <a:graphicFrameLocks noChangeAspect="1"/>
            </p:cNvGraphicFramePr>
            <p:nvPr/>
          </p:nvGraphicFramePr>
          <p:xfrm>
            <a:off x="3403" y="1378"/>
            <a:ext cx="2213" cy="2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1" name="Document" r:id="rId1" imgW="5405755" imgH="5779135" progId="Word.Document.8">
                    <p:embed/>
                  </p:oleObj>
                </mc:Choice>
                <mc:Fallback>
                  <p:oleObj name="Document" r:id="rId1" imgW="5405755" imgH="5779135" progId="Word.Document.8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378"/>
                          <a:ext cx="2213" cy="2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8" name="AutoShape 12"/>
            <p:cNvSpPr/>
            <p:nvPr/>
          </p:nvSpPr>
          <p:spPr bwMode="auto">
            <a:xfrm rot="5400000">
              <a:off x="4340" y="240"/>
              <a:ext cx="240" cy="1968"/>
            </a:xfrm>
            <a:prstGeom prst="leftBrace">
              <a:avLst>
                <a:gd name="adj1" fmla="val 68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1" name="Text Box 14"/>
          <p:cNvSpPr txBox="1">
            <a:spLocks noChangeArrowheads="1"/>
          </p:cNvSpPr>
          <p:nvPr/>
        </p:nvSpPr>
        <p:spPr bwMode="auto">
          <a:xfrm>
            <a:off x="6477000" y="106997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Attributes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4102" name="AutoShape 15"/>
          <p:cNvSpPr/>
          <p:nvPr/>
        </p:nvSpPr>
        <p:spPr bwMode="auto">
          <a:xfrm>
            <a:off x="5257800" y="2517775"/>
            <a:ext cx="381000" cy="3808413"/>
          </a:xfrm>
          <a:prstGeom prst="leftBrace">
            <a:avLst>
              <a:gd name="adj1" fmla="val 83299"/>
              <a:gd name="adj2" fmla="val 50000"/>
            </a:avLst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17"/>
          <p:cNvSpPr txBox="1">
            <a:spLocks noChangeArrowheads="1"/>
          </p:cNvSpPr>
          <p:nvPr/>
        </p:nvSpPr>
        <p:spPr bwMode="auto">
          <a:xfrm rot="16200000">
            <a:off x="4335463" y="388937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Objects</a:t>
            </a:r>
            <a:endParaRPr lang="en-US" sz="2000">
              <a:solidFill>
                <a:srgbClr val="FF0000"/>
              </a:solidFill>
            </a:endParaRPr>
          </a:p>
        </p:txBody>
      </p:sp>
      <p:grpSp>
        <p:nvGrpSpPr>
          <p:cNvPr id="4104" name="Group 19"/>
          <p:cNvGrpSpPr/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4105" name="Rectangle 20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Rectangle 21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Complete View of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may have parts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different parts of the data may have relationships </a:t>
            </a:r>
            <a:endParaRPr lang="en-US" dirty="0"/>
          </a:p>
          <a:p>
            <a:endParaRPr lang="en-US" dirty="0"/>
          </a:p>
          <a:p>
            <a:r>
              <a:rPr lang="en-US" dirty="0"/>
              <a:t>More generally, data may have structure</a:t>
            </a:r>
            <a:endParaRPr lang="en-US" dirty="0"/>
          </a:p>
          <a:p>
            <a:endParaRPr lang="en-US" dirty="0"/>
          </a:p>
          <a:p>
            <a:r>
              <a:rPr lang="en-US" dirty="0"/>
              <a:t>Data can be incomplete</a:t>
            </a:r>
            <a:endParaRPr lang="en-US" dirty="0"/>
          </a:p>
          <a:p>
            <a:endParaRPr lang="en-US" dirty="0"/>
          </a:p>
          <a:p>
            <a:r>
              <a:rPr lang="en-US" dirty="0"/>
              <a:t>We will discuss this in more detail</a:t>
            </a:r>
            <a:r>
              <a:rPr lang="en-US" altLang="zh-CN" dirty="0"/>
              <a:t>s</a:t>
            </a:r>
            <a:r>
              <a:rPr lang="en-US" dirty="0"/>
              <a:t> later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 Values</a:t>
            </a:r>
            <a:endParaRPr lang="en-US"/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80437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i="1" dirty="0">
                <a:solidFill>
                  <a:srgbClr val="CC6600"/>
                </a:solidFill>
              </a:rPr>
              <a:t>Attribute values</a:t>
            </a:r>
            <a:r>
              <a:rPr lang="en-US" b="1" i="1" dirty="0"/>
              <a:t> </a:t>
            </a:r>
            <a:r>
              <a:rPr lang="en-US" dirty="0"/>
              <a:t>are numbers or symbols assigned to an attribute for a particular object</a:t>
            </a:r>
            <a:endParaRPr lang="en-US" dirty="0"/>
          </a:p>
          <a:p>
            <a:pPr lvl="4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Distinction between attributes and attribute values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Same attribute can be mapped to different attribute values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 </a:t>
            </a:r>
            <a:r>
              <a:rPr lang="en-US" sz="2200" dirty="0"/>
              <a:t>Example: height can be measured in feet or meters</a:t>
            </a:r>
            <a:endParaRPr lang="en-US" sz="2200" dirty="0"/>
          </a:p>
          <a:p>
            <a:pPr lvl="4">
              <a:lnSpc>
                <a:spcPct val="90000"/>
              </a:lnSpc>
            </a:pP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dirty="0"/>
              <a:t>Different attributes can be mapped to the same set of values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 </a:t>
            </a:r>
            <a:r>
              <a:rPr lang="en-US" sz="2200" dirty="0"/>
              <a:t>Example: Attribute values for ID and age are integers</a:t>
            </a:r>
            <a:endParaRPr lang="en-US" sz="2200" dirty="0"/>
          </a:p>
          <a:p>
            <a:pPr lvl="2">
              <a:lnSpc>
                <a:spcPct val="90000"/>
              </a:lnSpc>
            </a:pPr>
            <a:r>
              <a:rPr lang="en-US" sz="2200" dirty="0"/>
              <a:t> But properties of attribute values can be different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Measurement of Length </a:t>
            </a: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The way you measure an attribute may not match the attributes properties.</a:t>
            </a: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1514475" y="1679575"/>
          <a:ext cx="6105525" cy="484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" name="VISIO" r:id="rId1" imgW="5582285" imgH="4442460" progId="Visio.Drawing.6">
                  <p:embed/>
                </p:oleObj>
              </mc:Choice>
              <mc:Fallback>
                <p:oleObj name="VISIO" r:id="rId1" imgW="5582285" imgH="444246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475" y="1679575"/>
                        <a:ext cx="6105525" cy="484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9" name="Group 5"/>
          <p:cNvGrpSpPr/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6152" name="Rectangle 6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3" name="Rectangle 7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50" name="Text Box 8"/>
          <p:cNvSpPr txBox="1">
            <a:spLocks noChangeArrowheads="1"/>
          </p:cNvSpPr>
          <p:nvPr/>
        </p:nvSpPr>
        <p:spPr bwMode="auto">
          <a:xfrm>
            <a:off x="7543800" y="2984500"/>
            <a:ext cx="1600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sz="1800" dirty="0"/>
          </a:p>
        </p:txBody>
      </p:sp>
      <p:sp>
        <p:nvSpPr>
          <p:cNvPr id="6151" name="Text Box 9"/>
          <p:cNvSpPr txBox="1">
            <a:spLocks noChangeArrowheads="1"/>
          </p:cNvSpPr>
          <p:nvPr/>
        </p:nvSpPr>
        <p:spPr bwMode="auto">
          <a:xfrm>
            <a:off x="7543800" y="3233737"/>
            <a:ext cx="16764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dirty="0"/>
              <a:t>This scale preserves  only the ordering property of  length.</a:t>
            </a:r>
            <a:endParaRPr lang="en-US" sz="1800" dirty="0"/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4925" y="3233737"/>
            <a:ext cx="16002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dirty="0"/>
              <a:t>This scale preserves  the ordering  and </a:t>
            </a:r>
            <a:r>
              <a:rPr lang="en-US" sz="1800" dirty="0" err="1"/>
              <a:t>additvity</a:t>
            </a:r>
            <a:r>
              <a:rPr lang="en-US" sz="1800" dirty="0"/>
              <a:t> properties of length.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Attributes </a:t>
            </a:r>
            <a:endParaRPr lang="en-US"/>
          </a:p>
        </p:txBody>
      </p:sp>
      <p:sp>
        <p:nvSpPr>
          <p:cNvPr id="7171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15400" cy="5181600"/>
          </a:xfrm>
        </p:spPr>
        <p:txBody>
          <a:bodyPr/>
          <a:lstStyle/>
          <a:p>
            <a:r>
              <a:rPr lang="en-US" dirty="0"/>
              <a:t> There are different types of attributes</a:t>
            </a:r>
            <a:endParaRPr lang="en-US" dirty="0"/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Nominal (</a:t>
            </a:r>
            <a:r>
              <a:rPr lang="zh-CN" altLang="en-US" sz="2800" dirty="0">
                <a:solidFill>
                  <a:srgbClr val="FF0000"/>
                </a:solidFill>
              </a:rPr>
              <a:t>标称</a:t>
            </a:r>
            <a:r>
              <a:rPr lang="en-US" altLang="zh-CN" sz="2800" dirty="0">
                <a:solidFill>
                  <a:srgbClr val="FF0000"/>
                </a:solidFill>
              </a:rPr>
              <a:t>/</a:t>
            </a:r>
            <a:r>
              <a:rPr lang="zh-CN" altLang="en-US" sz="2800" dirty="0">
                <a:solidFill>
                  <a:srgbClr val="FF0000"/>
                </a:solidFill>
              </a:rPr>
              <a:t>名词词组</a:t>
            </a:r>
            <a:r>
              <a:rPr lang="en-US" sz="2800" dirty="0">
                <a:solidFill>
                  <a:srgbClr val="FF0000"/>
                </a:solidFill>
              </a:rPr>
              <a:t>)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ID numbers, eye color, zip codes</a:t>
            </a:r>
            <a:endParaRPr lang="en-US" sz="2400" dirty="0"/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Ordinal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rankings (e.g., taste of potato chips on a scale from 1-10), grades, height {tall, medium, short}</a:t>
            </a:r>
            <a:endParaRPr lang="en-US" sz="2400" dirty="0"/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Interval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calendar dates, temperatures in Celsius or Fahrenheit.</a:t>
            </a:r>
            <a:endParaRPr lang="en-US" sz="2400" dirty="0"/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Ratio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temperature in Kelvin, length, time, counts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763000" cy="533400"/>
          </a:xfrm>
        </p:spPr>
        <p:txBody>
          <a:bodyPr/>
          <a:lstStyle/>
          <a:p>
            <a:r>
              <a:rPr lang="en-US"/>
              <a:t>Properties</a:t>
            </a:r>
            <a:r>
              <a:rPr lang="en-US" altLang="zh-CN"/>
              <a:t>/operations</a:t>
            </a:r>
            <a:r>
              <a:rPr lang="en-US"/>
              <a:t> </a:t>
            </a:r>
            <a:r>
              <a:rPr lang="en-US" dirty="0"/>
              <a:t>of Attribute Values </a:t>
            </a:r>
            <a:endParaRPr lang="en-US" dirty="0"/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type of an attribute depends on which of the following properties/operations it possesses:</a:t>
            </a:r>
            <a:endParaRPr lang="en-US" dirty="0"/>
          </a:p>
          <a:p>
            <a:pPr lvl="1"/>
            <a:r>
              <a:rPr lang="en-US" dirty="0"/>
              <a:t>Distinctness:  		</a:t>
            </a:r>
            <a:r>
              <a:rPr lang="en-US" sz="2800" dirty="0"/>
              <a:t>=  </a:t>
            </a:r>
            <a:r>
              <a:rPr lang="en-US" sz="2800" dirty="0">
                <a:sym typeface="Symbol" panose="05050102010706020507" pitchFamily="18" charset="2"/>
              </a:rPr>
              <a:t></a:t>
            </a:r>
            <a:r>
              <a:rPr lang="en-US" dirty="0">
                <a:sym typeface="Symbol" panose="05050102010706020507" pitchFamily="18" charset="2"/>
              </a:rPr>
              <a:t>		</a:t>
            </a:r>
            <a:endParaRPr lang="en-US" dirty="0"/>
          </a:p>
          <a:p>
            <a:pPr lvl="1"/>
            <a:r>
              <a:rPr lang="en-US" dirty="0"/>
              <a:t>Order:  			</a:t>
            </a:r>
            <a:r>
              <a:rPr lang="en-US" sz="2800" dirty="0"/>
              <a:t>&lt;  &gt;</a:t>
            </a:r>
            <a:r>
              <a:rPr lang="en-US" dirty="0"/>
              <a:t>  		</a:t>
            </a:r>
            <a:endParaRPr lang="en-US" dirty="0"/>
          </a:p>
          <a:p>
            <a:pPr lvl="1"/>
            <a:r>
              <a:rPr lang="en-US" dirty="0"/>
              <a:t>Differences are		</a:t>
            </a:r>
            <a:r>
              <a:rPr lang="en-US" sz="2800" dirty="0"/>
              <a:t>+  -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meaningful : 		</a:t>
            </a:r>
            <a:endParaRPr lang="en-US" dirty="0"/>
          </a:p>
          <a:p>
            <a:pPr lvl="1"/>
            <a:r>
              <a:rPr lang="en-US" dirty="0"/>
              <a:t>Ratios are  		 </a:t>
            </a:r>
            <a:r>
              <a:rPr lang="en-US" sz="2800" dirty="0"/>
              <a:t>*  /</a:t>
            </a:r>
            <a:br>
              <a:rPr lang="en-US" sz="2800" dirty="0"/>
            </a:br>
            <a:r>
              <a:rPr lang="en-US" dirty="0"/>
              <a:t>meaningful</a:t>
            </a:r>
            <a:endParaRPr lang="en-US" dirty="0"/>
          </a:p>
          <a:p>
            <a:pPr lvl="4"/>
            <a:endParaRPr lang="en-US" sz="1400" dirty="0"/>
          </a:p>
          <a:p>
            <a:pPr lvl="1"/>
            <a:r>
              <a:rPr lang="en-US" dirty="0"/>
              <a:t>Nominal attribute: distinctness</a:t>
            </a:r>
            <a:endParaRPr lang="en-US" dirty="0"/>
          </a:p>
          <a:p>
            <a:pPr lvl="1"/>
            <a:r>
              <a:rPr lang="en-US" dirty="0"/>
              <a:t>Ordinal attribute: distinctness &amp; order</a:t>
            </a:r>
            <a:endParaRPr lang="en-US" dirty="0"/>
          </a:p>
          <a:p>
            <a:pPr lvl="1"/>
            <a:r>
              <a:rPr lang="en-US" dirty="0"/>
              <a:t>Interval attribute: distinctness, order &amp; meaningful differences</a:t>
            </a:r>
            <a:endParaRPr lang="en-US" dirty="0"/>
          </a:p>
          <a:p>
            <a:pPr lvl="1"/>
            <a:r>
              <a:rPr lang="en-US" dirty="0"/>
              <a:t>Ratio attribute: all 4 properties/operations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1033"/>
          <p:cNvGraphicFramePr>
            <a:graphicFrameLocks noChangeAspect="1"/>
          </p:cNvGraphicFramePr>
          <p:nvPr/>
        </p:nvGraphicFramePr>
        <p:xfrm>
          <a:off x="277813" y="539750"/>
          <a:ext cx="8597900" cy="536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5" name="Document" r:id="rId1" imgW="8586470" imgH="5367655" progId="Word.Document.8">
                  <p:embed/>
                </p:oleObj>
              </mc:Choice>
              <mc:Fallback>
                <p:oleObj name="Document" r:id="rId1" imgW="8586470" imgH="5367655" progId="Word.Document.8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3" y="539750"/>
                        <a:ext cx="8597900" cy="536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Text Box 1034"/>
          <p:cNvSpPr txBox="1">
            <a:spLocks noChangeArrowheads="1"/>
          </p:cNvSpPr>
          <p:nvPr/>
        </p:nvSpPr>
        <p:spPr bwMode="auto">
          <a:xfrm>
            <a:off x="1066800" y="6248400"/>
            <a:ext cx="716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This categorization of attributes is due to S. S. Stevens</a:t>
            </a:r>
            <a:endParaRPr 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182"/>
          <p:cNvGraphicFramePr>
            <a:graphicFrameLocks noChangeAspect="1"/>
          </p:cNvGraphicFramePr>
          <p:nvPr/>
        </p:nvGraphicFramePr>
        <p:xfrm>
          <a:off x="342900" y="533400"/>
          <a:ext cx="8128000" cy="505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" name="Document" r:id="rId1" imgW="8466455" imgH="5275580" progId="Word.Document.8">
                  <p:embed/>
                </p:oleObj>
              </mc:Choice>
              <mc:Fallback>
                <p:oleObj name="Document" r:id="rId1" imgW="8466455" imgH="5275580" progId="Word.Document.8">
                  <p:embed/>
                  <p:pic>
                    <p:nvPicPr>
                      <p:cNvPr id="0" name="Object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" y="533400"/>
                        <a:ext cx="8128000" cy="505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Text Box 183"/>
          <p:cNvSpPr txBox="1">
            <a:spLocks noChangeArrowheads="1"/>
          </p:cNvSpPr>
          <p:nvPr/>
        </p:nvSpPr>
        <p:spPr bwMode="auto">
          <a:xfrm>
            <a:off x="1066800" y="6248400"/>
            <a:ext cx="716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This categorization of attributes is due to S. S. Stevens</a:t>
            </a:r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 and Continuous Attributes </a:t>
            </a:r>
            <a:endParaRPr lang="en-US"/>
          </a:p>
        </p:txBody>
      </p:sp>
      <p:sp>
        <p:nvSpPr>
          <p:cNvPr id="1229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Discrete Attribute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z="2200" dirty="0"/>
              <a:t>Has only a finite or </a:t>
            </a:r>
            <a:r>
              <a:rPr lang="en-US" sz="2200" dirty="0" err="1"/>
              <a:t>countably</a:t>
            </a:r>
            <a:r>
              <a:rPr lang="en-US" sz="2200" dirty="0"/>
              <a:t> infinite set of values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Examples: zip codes, counts, or the set of words in a collection of documents 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Often represented as integer variables.   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Note: </a:t>
            </a:r>
            <a:r>
              <a:rPr lang="en-US" sz="2200" dirty="0">
                <a:solidFill>
                  <a:srgbClr val="CC3300"/>
                </a:solidFill>
              </a:rPr>
              <a:t>binary attributes</a:t>
            </a:r>
            <a:r>
              <a:rPr lang="en-US" sz="2200" dirty="0"/>
              <a:t> are a special case of discrete attributes 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dirty="0"/>
              <a:t>Continuous Attribute 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z="2200" dirty="0"/>
              <a:t>Has real numbers as attribute values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Examples: temperature, height, or weight.  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Practically, real values can only be measured and represented using a finite number of digits.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Continuous attributes are typically represented as floating-point variables.  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Asymmetric Attributes</a:t>
            </a:r>
            <a:r>
              <a:rPr lang="en-US" altLang="zh-CN" dirty="0"/>
              <a:t>/</a:t>
            </a:r>
            <a:r>
              <a:rPr lang="zh-CN" altLang="en-US"/>
              <a:t>不对称属性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Only presence (a non-zero attribute value) is regarded as important</a:t>
            </a:r>
            <a:endParaRPr lang="en-US" sz="2400" dirty="0"/>
          </a:p>
          <a:p>
            <a:pPr marL="1311275" lvl="2" indent="-396875"/>
            <a:r>
              <a:rPr lang="en-US" sz="1800" dirty="0"/>
              <a:t>Words present in documents</a:t>
            </a:r>
            <a:endParaRPr lang="en-US" sz="1800" dirty="0"/>
          </a:p>
          <a:p>
            <a:pPr marL="1311275" lvl="2" indent="-396875"/>
            <a:r>
              <a:rPr lang="en-US" sz="1800" dirty="0"/>
              <a:t>Items present in customer transactions</a:t>
            </a:r>
            <a:endParaRPr lang="en-US" sz="1800" dirty="0"/>
          </a:p>
          <a:p>
            <a:pPr marL="1311275" lvl="2" indent="-396875"/>
            <a:endParaRPr lang="en-US" sz="1800" dirty="0"/>
          </a:p>
          <a:p>
            <a:r>
              <a:rPr lang="en-US" sz="2400" dirty="0"/>
              <a:t>If we met a friend in the grocery store would we ever say the following?</a:t>
            </a:r>
            <a:br>
              <a:rPr lang="en-US" sz="2400" dirty="0"/>
            </a:br>
            <a:br>
              <a:rPr lang="en-US" sz="1000" dirty="0"/>
            </a:br>
            <a:r>
              <a:rPr lang="en-US" sz="2400" i="1" dirty="0">
                <a:latin typeface="Times New Roman" panose="02020603050405020304" pitchFamily="18" charset="0"/>
              </a:rPr>
              <a:t>“I see our purchases are very similar since we didn’t buy most of the same things.” </a:t>
            </a:r>
            <a:endParaRPr lang="en-US" sz="2400" i="1" dirty="0">
              <a:latin typeface="Times New Roman" panose="02020603050405020304" pitchFamily="18" charset="0"/>
            </a:endParaRPr>
          </a:p>
          <a:p>
            <a:endParaRPr lang="en-US" sz="2400" i="1" dirty="0">
              <a:latin typeface="Times New Roman" panose="02020603050405020304" pitchFamily="18" charset="0"/>
            </a:endParaRPr>
          </a:p>
          <a:p>
            <a:r>
              <a:rPr lang="en-US" sz="2400" dirty="0"/>
              <a:t>We need two asymmetric binary attributes to represent one ordinary binary attribute</a:t>
            </a:r>
            <a:endParaRPr lang="en-US" sz="2400" dirty="0"/>
          </a:p>
          <a:p>
            <a:pPr lvl="1"/>
            <a:r>
              <a:rPr lang="en-US" sz="2200" dirty="0"/>
              <a:t>Association analysis uses asymmetric attributes</a:t>
            </a:r>
            <a:endParaRPr lang="en-US" sz="2200" dirty="0"/>
          </a:p>
          <a:p>
            <a:pPr lvl="1"/>
            <a:endParaRPr lang="en-US" sz="2200" dirty="0"/>
          </a:p>
          <a:p>
            <a:r>
              <a:rPr lang="en-US" sz="2600" dirty="0"/>
              <a:t>Asymmetric attributes typically arise from objects that are sets</a:t>
            </a:r>
            <a:endParaRPr lang="en-US" sz="2600" dirty="0">
              <a:solidFill>
                <a:srgbClr val="CC66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Critiques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/>
          </a:bodyPr>
          <a:lstStyle/>
          <a:p>
            <a:r>
              <a:rPr lang="en-US" sz="2400" dirty="0"/>
              <a:t>Incomplete </a:t>
            </a:r>
            <a:endParaRPr lang="en-US" sz="2400" dirty="0"/>
          </a:p>
          <a:p>
            <a:pPr lvl="1"/>
            <a:r>
              <a:rPr lang="en-US" sz="2000" dirty="0"/>
              <a:t>Asymmetric binary</a:t>
            </a:r>
            <a:endParaRPr lang="en-US" sz="2000" dirty="0"/>
          </a:p>
          <a:p>
            <a:pPr lvl="1"/>
            <a:r>
              <a:rPr lang="en-US" sz="2000" dirty="0"/>
              <a:t>Cyclical</a:t>
            </a:r>
            <a:endParaRPr lang="en-US" sz="2000" dirty="0"/>
          </a:p>
          <a:p>
            <a:pPr lvl="1"/>
            <a:r>
              <a:rPr lang="en-US" sz="2000" dirty="0"/>
              <a:t>Multivariate</a:t>
            </a:r>
            <a:endParaRPr lang="en-US" sz="2000" dirty="0"/>
          </a:p>
          <a:p>
            <a:pPr lvl="1"/>
            <a:r>
              <a:rPr lang="en-US" sz="2000" dirty="0"/>
              <a:t>Partially ordered</a:t>
            </a:r>
            <a:endParaRPr lang="en-US" sz="2000" dirty="0"/>
          </a:p>
          <a:p>
            <a:pPr lvl="1"/>
            <a:r>
              <a:rPr lang="en-US" sz="2000" dirty="0"/>
              <a:t>Partial membership</a:t>
            </a:r>
            <a:endParaRPr lang="en-US" sz="2000" dirty="0"/>
          </a:p>
          <a:p>
            <a:pPr lvl="1"/>
            <a:r>
              <a:rPr lang="en-US" sz="2000" dirty="0"/>
              <a:t>Relationships between the data</a:t>
            </a:r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Real data is approximate and noisy</a:t>
            </a:r>
            <a:endParaRPr lang="en-US" sz="2400" dirty="0"/>
          </a:p>
          <a:p>
            <a:pPr lvl="1"/>
            <a:r>
              <a:rPr lang="en-US" sz="2000" dirty="0"/>
              <a:t>This can complicate recognition of the proper attribute type</a:t>
            </a:r>
            <a:endParaRPr lang="en-US" sz="2000" dirty="0"/>
          </a:p>
          <a:p>
            <a:pPr lvl="1"/>
            <a:r>
              <a:rPr lang="en-US" sz="2000" dirty="0"/>
              <a:t>Treating one attribute type as another may be approximately correct</a:t>
            </a:r>
            <a:endParaRPr lang="en-US" sz="2000" dirty="0"/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lvl="2" indent="233680"/>
            <a:endParaRPr lang="en-US" sz="1600" dirty="0"/>
          </a:p>
          <a:p>
            <a:pPr lvl="2" indent="233680"/>
            <a:endParaRPr lang="en-US" sz="1600" dirty="0"/>
          </a:p>
          <a:p>
            <a:pPr lvl="1"/>
            <a:endParaRPr lang="en-US" sz="2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Critiques  …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/>
          </a:bodyPr>
          <a:lstStyle/>
          <a:p>
            <a:r>
              <a:rPr lang="en-US" dirty="0"/>
              <a:t>Not a good guide for statistical analysis</a:t>
            </a:r>
            <a:endParaRPr lang="en-US" dirty="0"/>
          </a:p>
          <a:p>
            <a:pPr lvl="1"/>
            <a:r>
              <a:rPr lang="en-US" dirty="0"/>
              <a:t>May unnecessarily restrict operations and results </a:t>
            </a:r>
            <a:endParaRPr lang="en-US" dirty="0"/>
          </a:p>
          <a:p>
            <a:pPr marL="1262380" lvl="2" indent="-347980"/>
            <a:r>
              <a:rPr lang="en-US" dirty="0"/>
              <a:t>Statistical analysis is often approximate</a:t>
            </a:r>
            <a:endParaRPr lang="en-US" dirty="0"/>
          </a:p>
          <a:p>
            <a:pPr marL="1262380" lvl="2" indent="-347980"/>
            <a:r>
              <a:rPr lang="en-US" dirty="0"/>
              <a:t>Thus, for example, using interval analysis for ordinal values may be justified</a:t>
            </a:r>
            <a:endParaRPr lang="en-US" dirty="0"/>
          </a:p>
          <a:p>
            <a:pPr lvl="1"/>
            <a:r>
              <a:rPr lang="en-US" dirty="0"/>
              <a:t>Transformations are common but don’t preserve scales</a:t>
            </a:r>
            <a:endParaRPr lang="en-US" dirty="0"/>
          </a:p>
          <a:p>
            <a:pPr marL="1262380" lvl="2" indent="-347980"/>
            <a:r>
              <a:rPr lang="en-US" dirty="0"/>
              <a:t>Can transform data to a new scale with better statistical properties</a:t>
            </a:r>
            <a:endParaRPr lang="en-US" dirty="0"/>
          </a:p>
          <a:p>
            <a:pPr marL="1262380" lvl="2" indent="-347980"/>
            <a:r>
              <a:rPr lang="en-US" dirty="0"/>
              <a:t>Many statistical analyses depend only on the distribution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Complicated Examples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/>
          </a:bodyPr>
          <a:lstStyle/>
          <a:p>
            <a:r>
              <a:rPr lang="en-US" sz="2400" dirty="0"/>
              <a:t>ID numbers </a:t>
            </a:r>
            <a:endParaRPr lang="en-US" sz="2400" dirty="0"/>
          </a:p>
          <a:p>
            <a:pPr lvl="1"/>
            <a:r>
              <a:rPr lang="en-US" sz="2000" dirty="0"/>
              <a:t>Nominal, ordinal, or interval?</a:t>
            </a: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Number of cylinders in an automobile engine </a:t>
            </a:r>
            <a:endParaRPr lang="en-US" sz="2400" dirty="0"/>
          </a:p>
          <a:p>
            <a:pPr lvl="1"/>
            <a:r>
              <a:rPr lang="en-US" sz="2000" dirty="0"/>
              <a:t>Nominal, ordinal, or ratio?</a:t>
            </a: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Biased Scale </a:t>
            </a:r>
            <a:endParaRPr lang="en-US" sz="2400" dirty="0"/>
          </a:p>
          <a:p>
            <a:pPr lvl="1"/>
            <a:r>
              <a:rPr lang="en-US" sz="2000" dirty="0"/>
              <a:t>Interval or Ratio</a:t>
            </a:r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 for Attribute Types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 fontScale="85000" lnSpcReduction="20000"/>
          </a:bodyPr>
          <a:lstStyle/>
          <a:p>
            <a:endParaRPr lang="en-US" sz="2000" dirty="0"/>
          </a:p>
          <a:p>
            <a:r>
              <a:rPr lang="en-US" dirty="0"/>
              <a:t>The types of operations you choose should be “meaningful” for the type of data you have</a:t>
            </a:r>
            <a:endParaRPr lang="en-US" dirty="0"/>
          </a:p>
          <a:p>
            <a:pPr lvl="1"/>
            <a:r>
              <a:rPr lang="en-US" dirty="0"/>
              <a:t>Distinctness, order, meaningful intervals, and meaningful ratios are only four properties of data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 data type you see – often numbers or strings – may not capture all the properties or may suggest properties that are not there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Analysis may depend on these other properties of the data</a:t>
            </a:r>
            <a:endParaRPr lang="en-US" dirty="0"/>
          </a:p>
          <a:p>
            <a:pPr lvl="2" indent="233680"/>
            <a:r>
              <a:rPr lang="en-US" dirty="0"/>
              <a:t>Many statistical analyses depend only on the distribution</a:t>
            </a:r>
            <a:endParaRPr lang="en-US" dirty="0"/>
          </a:p>
          <a:p>
            <a:pPr lvl="2" indent="233680"/>
            <a:endParaRPr lang="en-US" dirty="0"/>
          </a:p>
          <a:p>
            <a:pPr lvl="1"/>
            <a:r>
              <a:rPr lang="en-US" dirty="0"/>
              <a:t>Many times what is meaningful is measured by statistical significance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But in the end, what is meaningful is measured by the domain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Types of data sets </a:t>
            </a:r>
            <a:endParaRPr lang="en-US"/>
          </a:p>
        </p:txBody>
      </p:sp>
      <p:sp>
        <p:nvSpPr>
          <p:cNvPr id="1433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anose="02020603050405020304" pitchFamily="18" charset="0"/>
              </a:rPr>
              <a:t>Record</a:t>
            </a:r>
            <a:endParaRPr lang="en-US" sz="2600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Data Matrix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Document Data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Transaction Data</a:t>
            </a:r>
            <a:endParaRPr lang="en-US" dirty="0"/>
          </a:p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anose="02020603050405020304" pitchFamily="18" charset="0"/>
              </a:rPr>
              <a:t>Graph</a:t>
            </a:r>
            <a:endParaRPr lang="en-US" sz="2600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World Wide Web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Molecular Structures</a:t>
            </a:r>
            <a:endParaRPr lang="en-US" dirty="0"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anose="02020603050405020304" pitchFamily="18" charset="0"/>
              </a:rPr>
              <a:t>Ordered</a:t>
            </a:r>
            <a:endParaRPr lang="en-US" sz="2600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Spatial Data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Temporal Data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Sequential Data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Genetic Sequence Data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 sz="2800"/>
              <a:t>Important Characteristics of Data</a:t>
            </a:r>
            <a:endParaRPr lang="en-US" sz="280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>
            <a:normAutofit fontScale="92500" lnSpcReduction="10000"/>
          </a:bodyPr>
          <a:lstStyle/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Dimensionality (number of attributes)</a:t>
            </a:r>
            <a:endParaRPr lang="en-US" sz="2800" dirty="0"/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High dimensional data brings a number of challenges</a:t>
            </a: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 err="1"/>
              <a:t>Sparsity</a:t>
            </a:r>
            <a:endParaRPr lang="en-US" sz="2800" dirty="0"/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Only presence counts</a:t>
            </a: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Resolution</a:t>
            </a:r>
            <a:r>
              <a:rPr lang="zh-CN" altLang="en-US" sz="2800" dirty="0"/>
              <a:t> </a:t>
            </a:r>
            <a:r>
              <a:rPr lang="en-US" altLang="zh-CN" sz="2800" dirty="0"/>
              <a:t>(</a:t>
            </a:r>
            <a:r>
              <a:rPr lang="zh-CN" altLang="en-US" sz="2800" dirty="0"/>
              <a:t>分辨率</a:t>
            </a:r>
            <a:r>
              <a:rPr lang="en-US" altLang="zh-CN" sz="2800" dirty="0"/>
              <a:t>)</a:t>
            </a:r>
            <a:endParaRPr lang="en-US" sz="2800" dirty="0"/>
          </a:p>
          <a:p>
            <a:pPr lvl="2" indent="-342900">
              <a:lnSpc>
                <a:spcPct val="105000"/>
              </a:lnSpc>
              <a:spcBef>
                <a:spcPct val="20000"/>
              </a:spcBef>
            </a:pPr>
            <a:r>
              <a:rPr lang="en-US" sz="2400" dirty="0"/>
              <a:t> Patterns depend on the scale </a:t>
            </a:r>
            <a:endParaRPr lang="en-US" sz="2400" dirty="0"/>
          </a:p>
          <a:p>
            <a:pPr lvl="2">
              <a:lnSpc>
                <a:spcPct val="95000"/>
              </a:lnSpc>
              <a:spcBef>
                <a:spcPct val="20000"/>
              </a:spcBef>
            </a:pP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Size</a:t>
            </a:r>
            <a:endParaRPr lang="en-US" sz="2800" dirty="0"/>
          </a:p>
          <a:p>
            <a:pPr lvl="2" indent="-342900">
              <a:lnSpc>
                <a:spcPct val="115000"/>
              </a:lnSpc>
              <a:spcBef>
                <a:spcPct val="20000"/>
              </a:spcBef>
            </a:pPr>
            <a:r>
              <a:rPr lang="en-US" sz="2400" dirty="0"/>
              <a:t>Type of analysis may depend on size of data</a:t>
            </a: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Record Data </a:t>
            </a:r>
            <a:endParaRPr lang="en-US"/>
          </a:p>
        </p:txBody>
      </p:sp>
      <p:sp>
        <p:nvSpPr>
          <p:cNvPr id="1638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990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that consists of a collection of records, each of which consists of a fixed set of attributes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6388" name="Object 5"/>
          <p:cNvGraphicFramePr>
            <a:graphicFrameLocks noChangeAspect="1"/>
          </p:cNvGraphicFramePr>
          <p:nvPr/>
        </p:nvGraphicFramePr>
        <p:xfrm>
          <a:off x="2209800" y="2209800"/>
          <a:ext cx="38481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0" name="Document" r:id="rId1" imgW="5405755" imgH="5779135" progId="Word.Document.8">
                  <p:embed/>
                </p:oleObj>
              </mc:Choice>
              <mc:Fallback>
                <p:oleObj name="Document" r:id="rId1" imgW="5405755" imgH="577913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09800"/>
                        <a:ext cx="38481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Matrix </a:t>
            </a:r>
            <a:endParaRPr lang="en-US"/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3124200"/>
          </a:xfrm>
        </p:spPr>
        <p:txBody>
          <a:bodyPr/>
          <a:lstStyle/>
          <a:p>
            <a:r>
              <a:rPr lang="en-US" sz="2400" dirty="0"/>
              <a:t>If data objects have the same fixed set of numeric attributes, then the data objects can be thought of as points in a multi-dimensional space, where each dimension represents a distinct attribute </a:t>
            </a:r>
            <a:endParaRPr lang="en-US" sz="2400" dirty="0"/>
          </a:p>
          <a:p>
            <a:pPr lvl="4"/>
            <a:endParaRPr lang="en-US" sz="1800" dirty="0"/>
          </a:p>
          <a:p>
            <a:r>
              <a:rPr lang="en-US" sz="2400" dirty="0"/>
              <a:t>Such data set can be represented by an </a:t>
            </a:r>
            <a:r>
              <a:rPr lang="en-US" sz="2400" i="1" dirty="0"/>
              <a:t>m</a:t>
            </a:r>
            <a:r>
              <a:rPr lang="en-US" sz="2400" dirty="0"/>
              <a:t> by </a:t>
            </a:r>
            <a:r>
              <a:rPr lang="en-US" sz="2400" i="1" dirty="0"/>
              <a:t>n</a:t>
            </a:r>
            <a:r>
              <a:rPr lang="en-US" sz="2400" dirty="0"/>
              <a:t> matrix, where there are </a:t>
            </a:r>
            <a:r>
              <a:rPr lang="en-US" sz="2400" i="1" dirty="0"/>
              <a:t>m</a:t>
            </a:r>
            <a:r>
              <a:rPr lang="en-US" sz="2400" dirty="0"/>
              <a:t> rows, one for each object, and </a:t>
            </a:r>
            <a:r>
              <a:rPr lang="en-US" sz="2400" i="1" dirty="0"/>
              <a:t>n</a:t>
            </a:r>
            <a:r>
              <a:rPr lang="en-US" sz="2400" dirty="0"/>
              <a:t> columns, one for each attribute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 Data</a:t>
            </a:r>
            <a:endParaRPr lang="en-US"/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document becomes a ‘term’ vector </a:t>
            </a:r>
            <a:endParaRPr lang="en-US" dirty="0"/>
          </a:p>
          <a:p>
            <a:pPr lvl="1"/>
            <a:r>
              <a:rPr lang="en-US" dirty="0"/>
              <a:t>Each term is a component (attribute) of the vector</a:t>
            </a:r>
            <a:endParaRPr lang="en-US" dirty="0"/>
          </a:p>
          <a:p>
            <a:pPr lvl="1"/>
            <a:r>
              <a:rPr lang="en-US" dirty="0"/>
              <a:t>The value of each component is the number of times the corresponding term occurs in the document.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8436" name="Object 8"/>
          <p:cNvGraphicFramePr>
            <a:graphicFrameLocks noChangeAspect="1"/>
          </p:cNvGraphicFramePr>
          <p:nvPr/>
        </p:nvGraphicFramePr>
        <p:xfrm>
          <a:off x="685800" y="3048000"/>
          <a:ext cx="7038975" cy="319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9" name="Visio" r:id="rId1" imgW="5986145" imgH="2727960" progId="Visio.Drawing.6">
                  <p:embed/>
                </p:oleObj>
              </mc:Choice>
              <mc:Fallback>
                <p:oleObj name="Visio" r:id="rId1" imgW="5986145" imgH="2727960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048000"/>
                        <a:ext cx="7038975" cy="319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Data</a:t>
            </a:r>
            <a:endParaRPr lang="en-US" dirty="0"/>
          </a:p>
        </p:txBody>
      </p:sp>
      <p:sp>
        <p:nvSpPr>
          <p:cNvPr id="1945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special type of record data, where </a:t>
            </a:r>
            <a:endParaRPr lang="en-US" dirty="0"/>
          </a:p>
          <a:p>
            <a:pPr lvl="1"/>
            <a:r>
              <a:rPr lang="en-US" dirty="0"/>
              <a:t>Each record (transaction) involves a set of items.  </a:t>
            </a:r>
            <a:endParaRPr lang="en-US" dirty="0"/>
          </a:p>
          <a:p>
            <a:pPr lvl="1"/>
            <a:r>
              <a:rPr lang="en-US" dirty="0"/>
              <a:t>For example, consider a grocery store.  The set of products purchased by a customer during one shopping trip constitute a transaction, while the individual products that were purchased are the items.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9460" name="Object 5"/>
          <p:cNvGraphicFramePr>
            <a:graphicFrameLocks noChangeAspect="1"/>
          </p:cNvGraphicFramePr>
          <p:nvPr/>
        </p:nvGraphicFramePr>
        <p:xfrm>
          <a:off x="1752600" y="3641725"/>
          <a:ext cx="5421313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2" name="Document" r:id="rId1" imgW="3823970" imgH="1999615" progId="Word.Document.8">
                  <p:embed/>
                </p:oleObj>
              </mc:Choice>
              <mc:Fallback>
                <p:oleObj name="Document" r:id="rId1" imgW="3823970" imgH="199961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641725"/>
                        <a:ext cx="5421313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Data </a:t>
            </a:r>
            <a:endParaRPr lang="en-US" dirty="0"/>
          </a:p>
        </p:txBody>
      </p:sp>
      <p:sp>
        <p:nvSpPr>
          <p:cNvPr id="20483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/>
          <a:lstStyle/>
          <a:p>
            <a:r>
              <a:rPr lang="en-US" sz="2500" dirty="0"/>
              <a:t>Examples: Generic graph, a molecule, and webpages </a:t>
            </a:r>
            <a:endParaRPr lang="en-US" sz="2500" dirty="0"/>
          </a:p>
        </p:txBody>
      </p:sp>
      <p:graphicFrame>
        <p:nvGraphicFramePr>
          <p:cNvPr id="20484" name="Object 5"/>
          <p:cNvGraphicFramePr>
            <a:graphicFrameLocks noChangeAspect="1"/>
          </p:cNvGraphicFramePr>
          <p:nvPr/>
        </p:nvGraphicFramePr>
        <p:xfrm>
          <a:off x="152400" y="1676400"/>
          <a:ext cx="2979738" cy="228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6" name="VISIO" r:id="rId1" imgW="839470" imgH="646430" progId="Visio.Drawing.6">
                  <p:embed/>
                </p:oleObj>
              </mc:Choice>
              <mc:Fallback>
                <p:oleObj name="VISIO" r:id="rId1" imgW="839470" imgH="64643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676400"/>
                        <a:ext cx="2979738" cy="228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5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600200"/>
            <a:ext cx="5959475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486" name="Object 10"/>
          <p:cNvGraphicFramePr>
            <a:graphicFrameLocks noChangeAspect="1"/>
          </p:cNvGraphicFramePr>
          <p:nvPr/>
        </p:nvGraphicFramePr>
        <p:xfrm>
          <a:off x="381000" y="4191000"/>
          <a:ext cx="196532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7" name="VISIO" r:id="rId4" imgW="5792470" imgH="5411470" progId="Visio.Drawing.6">
                  <p:embed/>
                </p:oleObj>
              </mc:Choice>
              <mc:Fallback>
                <p:oleObj name="VISIO" r:id="rId4" imgW="5792470" imgH="5411470" progId="Visio.Drawing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191000"/>
                        <a:ext cx="1965325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11"/>
          <p:cNvSpPr>
            <a:spLocks noChangeArrowheads="1"/>
          </p:cNvSpPr>
          <p:nvPr/>
        </p:nvSpPr>
        <p:spPr bwMode="auto">
          <a:xfrm>
            <a:off x="0" y="5943600"/>
            <a:ext cx="3065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</a:pPr>
            <a:r>
              <a:rPr lang="en-US" sz="2000" b="0"/>
              <a:t>Benzene Molecule: C6H6</a:t>
            </a:r>
            <a:endParaRPr lang="en-US" sz="2000" b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Ordered Data </a:t>
            </a:r>
            <a:endParaRPr lang="en-US"/>
          </a:p>
        </p:txBody>
      </p:sp>
      <p:sp>
        <p:nvSpPr>
          <p:cNvPr id="21507" name="Rectangle 1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Sequences of transactions</a:t>
            </a:r>
            <a:endParaRPr lang="en-US"/>
          </a:p>
        </p:txBody>
      </p:sp>
      <p:pic>
        <p:nvPicPr>
          <p:cNvPr id="21508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725" y="2408238"/>
            <a:ext cx="5121275" cy="38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7"/>
          <p:cNvSpPr txBox="1">
            <a:spLocks noChangeArrowheads="1"/>
          </p:cNvSpPr>
          <p:nvPr/>
        </p:nvSpPr>
        <p:spPr bwMode="auto">
          <a:xfrm>
            <a:off x="2422525" y="5486400"/>
            <a:ext cx="26828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An element of the sequence</a:t>
            </a:r>
            <a:endParaRPr lang="en-US" sz="2400"/>
          </a:p>
        </p:txBody>
      </p:sp>
      <p:sp>
        <p:nvSpPr>
          <p:cNvPr id="21510" name="AutoShape 8"/>
          <p:cNvSpPr/>
          <p:nvPr/>
        </p:nvSpPr>
        <p:spPr bwMode="auto">
          <a:xfrm rot="-5400000">
            <a:off x="2994025" y="4457700"/>
            <a:ext cx="533400" cy="1371600"/>
          </a:xfrm>
          <a:prstGeom prst="leftBrace">
            <a:avLst>
              <a:gd name="adj1" fmla="val 21429"/>
              <a:gd name="adj2" fmla="val 50000"/>
            </a:avLst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Text Box 9"/>
          <p:cNvSpPr txBox="1">
            <a:spLocks noChangeArrowheads="1"/>
          </p:cNvSpPr>
          <p:nvPr/>
        </p:nvSpPr>
        <p:spPr bwMode="auto">
          <a:xfrm>
            <a:off x="2514600" y="18288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Items/Events</a:t>
            </a:r>
            <a:endParaRPr lang="en-US" sz="2400"/>
          </a:p>
        </p:txBody>
      </p:sp>
      <p:sp>
        <p:nvSpPr>
          <p:cNvPr id="21512" name="Line 10"/>
          <p:cNvSpPr>
            <a:spLocks noChangeShapeType="1"/>
          </p:cNvSpPr>
          <p:nvPr/>
        </p:nvSpPr>
        <p:spPr bwMode="auto">
          <a:xfrm>
            <a:off x="31242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Line 11"/>
          <p:cNvSpPr>
            <a:spLocks noChangeShapeType="1"/>
          </p:cNvSpPr>
          <p:nvPr/>
        </p:nvSpPr>
        <p:spPr bwMode="auto">
          <a:xfrm>
            <a:off x="35814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Ordered Data </a:t>
            </a:r>
            <a:endParaRPr lang="en-US"/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Genomic sequence data</a:t>
            </a:r>
            <a:endParaRPr lang="en-US"/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1600200" y="1676400"/>
          <a:ext cx="5356225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4" name="VISIO" r:id="rId1" imgW="2330450" imgH="1991995" progId="Visio.Drawing.6">
                  <p:embed/>
                </p:oleObj>
              </mc:Choice>
              <mc:Fallback>
                <p:oleObj name="VISIO" r:id="rId1" imgW="2330450" imgH="199199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76400"/>
                        <a:ext cx="5356225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9" descr="sst_land_temp_82_best"/>
          <p:cNvPicPr>
            <a:picLocks noGrp="1" noChangeAspect="1" noChangeArrowheads="1" noCrop="1"/>
          </p:cNvPicPr>
          <p:nvPr>
            <p:ph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1427163"/>
            <a:ext cx="6629400" cy="4973637"/>
          </a:xfrm>
          <a:noFill/>
        </p:spPr>
      </p:pic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Ordered Data</a:t>
            </a:r>
            <a:endParaRPr lang="en-US" sz="2800"/>
          </a:p>
        </p:txBody>
      </p:sp>
      <p:sp>
        <p:nvSpPr>
          <p:cNvPr id="23556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Spatio-Temporal Data</a:t>
            </a:r>
            <a:endParaRPr lang="en-US"/>
          </a:p>
        </p:txBody>
      </p:sp>
      <p:sp>
        <p:nvSpPr>
          <p:cNvPr id="23557" name="Rectangle 3"/>
          <p:cNvSpPr>
            <a:spLocks noChangeArrowheads="1"/>
          </p:cNvSpPr>
          <p:nvPr/>
        </p:nvSpPr>
        <p:spPr bwMode="auto">
          <a:xfrm>
            <a:off x="2667000" y="2667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8" name="Text Box 12"/>
          <p:cNvSpPr txBox="1">
            <a:spLocks noChangeArrowheads="1"/>
          </p:cNvSpPr>
          <p:nvPr/>
        </p:nvSpPr>
        <p:spPr bwMode="auto">
          <a:xfrm>
            <a:off x="457200" y="2955925"/>
            <a:ext cx="2667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Average Monthly Temperature of land and ocean</a:t>
            </a:r>
            <a:endParaRPr lang="en-US"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</a:t>
            </a: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Poor data quality negatively affects many data processing efforts</a:t>
            </a:r>
            <a:endParaRPr lang="en-US" sz="2400" dirty="0"/>
          </a:p>
          <a:p>
            <a:pPr>
              <a:buFont typeface="Monotype Sorts" charset="2"/>
              <a:buNone/>
            </a:pPr>
            <a:r>
              <a:rPr lang="en-US" sz="2400" dirty="0"/>
              <a:t>“</a:t>
            </a:r>
            <a:r>
              <a:rPr lang="en-US" sz="2400" dirty="0">
                <a:latin typeface="Times New Roman" panose="02020603050405020304" pitchFamily="18" charset="0"/>
              </a:rPr>
              <a:t>The most important point is that poor data quality is an unfolding disaster.</a:t>
            </a:r>
            <a:endParaRPr lang="en-US" sz="2400" dirty="0">
              <a:latin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</a:rPr>
              <a:t>Poor data quality costs the typical company at least ten percent (10%) of revenue; twenty percent (20%) is probably a better estimate.”</a:t>
            </a:r>
            <a:endParaRPr lang="en-US" dirty="0">
              <a:latin typeface="Times New Roman" panose="02020603050405020304" pitchFamily="18" charset="0"/>
            </a:endParaRPr>
          </a:p>
          <a:p>
            <a:pPr>
              <a:buFont typeface="Monotype Sorts" charset="2"/>
              <a:buNone/>
            </a:pPr>
            <a:r>
              <a:rPr lang="en-US" sz="2400" dirty="0">
                <a:latin typeface="Times New Roman" panose="02020603050405020304" pitchFamily="18" charset="0"/>
              </a:rPr>
              <a:t>			Thomas C. Redman, DM Review, August 2004</a:t>
            </a:r>
            <a:endParaRPr lang="en-US" sz="2400" dirty="0">
              <a:latin typeface="Times New Roman" panose="02020603050405020304" pitchFamily="18" charset="0"/>
            </a:endParaRPr>
          </a:p>
          <a:p>
            <a:pPr>
              <a:buFont typeface="Monotype Sorts" charset="2"/>
              <a:buNone/>
            </a:pPr>
            <a:endParaRPr lang="en-US" sz="900" dirty="0">
              <a:latin typeface="Times New Roman" panose="02020603050405020304" pitchFamily="18" charset="0"/>
            </a:endParaRPr>
          </a:p>
          <a:p>
            <a:r>
              <a:rPr lang="en-US" sz="2400" dirty="0"/>
              <a:t>Data mining example: a classification model for detecting people who are loan risks is built using poor data</a:t>
            </a:r>
            <a:endParaRPr lang="en-US" sz="2400" dirty="0"/>
          </a:p>
          <a:p>
            <a:pPr lvl="1"/>
            <a:r>
              <a:rPr lang="en-US" sz="2200" dirty="0"/>
              <a:t>Some credit-worthy candidates are denied loans</a:t>
            </a:r>
            <a:endParaRPr lang="en-US" sz="2200" dirty="0"/>
          </a:p>
          <a:p>
            <a:pPr lvl="1"/>
            <a:r>
              <a:rPr lang="en-US" sz="2200" dirty="0"/>
              <a:t>More loans are given to individuals that default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…</a:t>
            </a:r>
            <a:endParaRPr lang="en-US"/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kinds of data quality problems?</a:t>
            </a:r>
            <a:endParaRPr lang="en-US" dirty="0"/>
          </a:p>
          <a:p>
            <a:r>
              <a:rPr lang="en-US" dirty="0"/>
              <a:t>How can we detect problems with the data? </a:t>
            </a:r>
            <a:endParaRPr lang="en-US" dirty="0"/>
          </a:p>
          <a:p>
            <a:r>
              <a:rPr lang="en-US" dirty="0"/>
              <a:t>What can we do about these problems? </a:t>
            </a:r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Examples of data quality problems: </a:t>
            </a:r>
            <a:endParaRPr lang="en-US" dirty="0"/>
          </a:p>
          <a:p>
            <a:pPr lvl="1"/>
            <a:r>
              <a:rPr lang="en-US" dirty="0"/>
              <a:t>Noise and outliers </a:t>
            </a:r>
            <a:endParaRPr lang="en-US" dirty="0"/>
          </a:p>
          <a:p>
            <a:pPr lvl="1"/>
            <a:r>
              <a:rPr lang="en-US" dirty="0"/>
              <a:t>Missing values </a:t>
            </a:r>
            <a:endParaRPr lang="en-US" dirty="0"/>
          </a:p>
          <a:p>
            <a:pPr lvl="1"/>
            <a:r>
              <a:rPr lang="en-US" dirty="0"/>
              <a:t>Duplicate data </a:t>
            </a:r>
            <a:endParaRPr lang="en-US" dirty="0"/>
          </a:p>
          <a:p>
            <a:pPr lvl="1"/>
            <a:r>
              <a:rPr lang="en-US" dirty="0"/>
              <a:t>Wrong data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Noise</a:t>
            </a:r>
            <a:endParaRPr lang="en-US"/>
          </a:p>
        </p:txBody>
      </p:sp>
      <p:sp>
        <p:nvSpPr>
          <p:cNvPr id="2662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1371600"/>
          </a:xfrm>
        </p:spPr>
        <p:txBody>
          <a:bodyPr>
            <a:normAutofit fontScale="85000" lnSpcReduction="20000"/>
          </a:bodyPr>
          <a:lstStyle/>
          <a:p>
            <a:r>
              <a:rPr lang="en-US" sz="2600" dirty="0"/>
              <a:t>For objects, noise is an extraneous</a:t>
            </a:r>
            <a:r>
              <a:rPr lang="zh-CN" altLang="en-US" sz="2600" dirty="0"/>
              <a:t> </a:t>
            </a:r>
            <a:r>
              <a:rPr lang="en-US" altLang="zh-CN" sz="2600" dirty="0"/>
              <a:t>(</a:t>
            </a:r>
            <a:r>
              <a:rPr lang="zh-CN" altLang="en-US" sz="2600" dirty="0"/>
              <a:t>外来的</a:t>
            </a:r>
            <a:r>
              <a:rPr lang="en-US" altLang="zh-CN" sz="2600" dirty="0"/>
              <a:t>)</a:t>
            </a:r>
            <a:r>
              <a:rPr lang="en-US" sz="2600" dirty="0"/>
              <a:t> object</a:t>
            </a:r>
            <a:endParaRPr lang="en-US" sz="2600" dirty="0"/>
          </a:p>
          <a:p>
            <a:r>
              <a:rPr lang="en-US" sz="2600" dirty="0"/>
              <a:t>For attributes, noise refers to modification of original values</a:t>
            </a:r>
            <a:endParaRPr lang="en-US" sz="2600" dirty="0"/>
          </a:p>
          <a:p>
            <a:pPr lvl="1"/>
            <a:r>
              <a:rPr lang="en-US" dirty="0"/>
              <a:t>Examples: distortion of a person’s voice when talking on a poor phone and “snow” on television screen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4169"/>
          <a:stretch>
            <a:fillRect/>
          </a:stretch>
        </p:blipFill>
        <p:spPr bwMode="auto">
          <a:xfrm>
            <a:off x="76200" y="2667000"/>
            <a:ext cx="417487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2" t="4170" r="6250"/>
          <a:stretch>
            <a:fillRect/>
          </a:stretch>
        </p:blipFill>
        <p:spPr bwMode="auto">
          <a:xfrm>
            <a:off x="4495801" y="2665412"/>
            <a:ext cx="3801019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1066800" y="59436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Two Sine Waves</a:t>
            </a:r>
            <a:endParaRPr lang="en-US" sz="2400"/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4724400" y="59436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Two Sine Waves + Noise</a:t>
            </a:r>
            <a:endParaRPr 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CC6600"/>
                </a:solidFill>
              </a:rPr>
              <a:t>Outliers</a:t>
            </a:r>
            <a:r>
              <a:rPr lang="en-US" dirty="0"/>
              <a:t> are data objects with characteristics that are considerably different than most of the other data objects in the data set</a:t>
            </a:r>
            <a:endParaRPr lang="en-US" dirty="0"/>
          </a:p>
          <a:p>
            <a:pPr lvl="1"/>
            <a:r>
              <a:rPr lang="en-US" b="1" dirty="0"/>
              <a:t>Case 1:</a:t>
            </a:r>
            <a:r>
              <a:rPr lang="en-US" dirty="0"/>
              <a:t> Outliers are </a:t>
            </a:r>
            <a:br>
              <a:rPr lang="en-US" dirty="0"/>
            </a:br>
            <a:r>
              <a:rPr lang="en-US" dirty="0"/>
              <a:t>noise that interferes</a:t>
            </a:r>
            <a:br>
              <a:rPr lang="en-US" dirty="0"/>
            </a:br>
            <a:r>
              <a:rPr lang="en-US" dirty="0"/>
              <a:t>with data analysis </a:t>
            </a:r>
            <a:br>
              <a:rPr lang="en-US" dirty="0"/>
            </a:br>
            <a:endParaRPr lang="en-US" sz="1200" dirty="0"/>
          </a:p>
          <a:p>
            <a:pPr lvl="1"/>
            <a:r>
              <a:rPr lang="en-US" b="1" dirty="0"/>
              <a:t>Case 2: </a:t>
            </a:r>
            <a:r>
              <a:rPr lang="en-US" dirty="0"/>
              <a:t>Outliers are </a:t>
            </a:r>
            <a:br>
              <a:rPr lang="en-US" dirty="0"/>
            </a:br>
            <a:r>
              <a:rPr lang="en-US" dirty="0"/>
              <a:t>the goal of our analysis</a:t>
            </a:r>
            <a:endParaRPr lang="en-US" dirty="0"/>
          </a:p>
          <a:p>
            <a:pPr lvl="2"/>
            <a:r>
              <a:rPr lang="en-US" dirty="0"/>
              <a:t> </a:t>
            </a:r>
            <a:r>
              <a:rPr lang="en-US" sz="2200" dirty="0"/>
              <a:t>Credit card fraud</a:t>
            </a:r>
            <a:endParaRPr lang="en-US" sz="2200" dirty="0"/>
          </a:p>
          <a:p>
            <a:pPr lvl="2"/>
            <a:r>
              <a:rPr lang="en-US" sz="2200" dirty="0"/>
              <a:t> Intrusion detection</a:t>
            </a:r>
            <a:r>
              <a:rPr lang="en-US" dirty="0"/>
              <a:t> </a:t>
            </a:r>
            <a:endParaRPr lang="en-US" dirty="0"/>
          </a:p>
          <a:p>
            <a:pPr lvl="2"/>
            <a:endParaRPr lang="en-US" sz="1200" dirty="0"/>
          </a:p>
          <a:p>
            <a:r>
              <a:rPr lang="en-US" dirty="0"/>
              <a:t>Causes?</a:t>
            </a:r>
            <a:endParaRPr lang="en-US" dirty="0"/>
          </a:p>
        </p:txBody>
      </p:sp>
      <p:grpSp>
        <p:nvGrpSpPr>
          <p:cNvPr id="27651" name="Group 4"/>
          <p:cNvGrpSpPr/>
          <p:nvPr/>
        </p:nvGrpSpPr>
        <p:grpSpPr bwMode="auto">
          <a:xfrm>
            <a:off x="4495800" y="2439988"/>
            <a:ext cx="4267200" cy="3884612"/>
            <a:chOff x="3648" y="2448"/>
            <a:chExt cx="2112" cy="1872"/>
          </a:xfrm>
        </p:grpSpPr>
        <p:pic>
          <p:nvPicPr>
            <p:cNvPr id="27653" name="Picture 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4" name="Oval 6"/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Oval 7"/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Oval 8"/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Oval 9"/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Outliers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  <a:endParaRPr lang="en-US" dirty="0"/>
          </a:p>
        </p:txBody>
      </p:sp>
      <p:sp>
        <p:nvSpPr>
          <p:cNvPr id="286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Reasons for missing values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Information is not collected </a:t>
            </a:r>
            <a:br>
              <a:rPr lang="en-US" dirty="0"/>
            </a:br>
            <a:r>
              <a:rPr lang="en-US" dirty="0"/>
              <a:t>(e.g., people decline to give their age and weight)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Attributes may not be applicable to all cases </a:t>
            </a:r>
            <a:br>
              <a:rPr lang="en-US" dirty="0"/>
            </a:br>
            <a:r>
              <a:rPr lang="en-US" dirty="0"/>
              <a:t>(e.g., annual income is not applicable to children)</a:t>
            </a: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Handling missing values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Eliminate data objects or variables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Estimate missing values</a:t>
            </a:r>
            <a:endParaRPr lang="en-US" dirty="0"/>
          </a:p>
          <a:p>
            <a:pPr marL="1148080" lvl="2" indent="-233680">
              <a:lnSpc>
                <a:spcPct val="90000"/>
              </a:lnSpc>
            </a:pPr>
            <a:r>
              <a:rPr lang="en-US" dirty="0"/>
              <a:t>Example: time series of temperature</a:t>
            </a:r>
            <a:endParaRPr lang="en-US" dirty="0"/>
          </a:p>
          <a:p>
            <a:pPr marL="1148080" lvl="2" indent="-233680">
              <a:lnSpc>
                <a:spcPct val="90000"/>
              </a:lnSpc>
            </a:pPr>
            <a:r>
              <a:rPr lang="en-US" dirty="0"/>
              <a:t>Example: census results 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Ignore the missing value during analysis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 …</a:t>
            </a:r>
            <a:endParaRPr lang="en-US" dirty="0"/>
          </a:p>
        </p:txBody>
      </p:sp>
      <p:sp>
        <p:nvSpPr>
          <p:cNvPr id="286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Missing completely at random (MCAR)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err="1"/>
              <a:t>Missingness</a:t>
            </a:r>
            <a:r>
              <a:rPr lang="en-US" dirty="0"/>
              <a:t> of a value is independent of attributes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Fill in values based on the attribute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Analysis may be unbiased overall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Missing at Random (MAR)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err="1"/>
              <a:t>Missingness</a:t>
            </a:r>
            <a:r>
              <a:rPr lang="en-US" dirty="0"/>
              <a:t> is related to other variables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Fill in values based other values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Almost always produces a bias in the analysis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Missing Not at Random (MNAR)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err="1"/>
              <a:t>Missingness</a:t>
            </a:r>
            <a:r>
              <a:rPr lang="en-US" dirty="0"/>
              <a:t> is related to unobserved measurements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Informative or non-ignorable </a:t>
            </a:r>
            <a:r>
              <a:rPr lang="en-US" dirty="0" err="1"/>
              <a:t>missingness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Not possible to know the situation from the data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Duplicate Data</a:t>
            </a: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set may include data objects that are duplicates, or almost duplicates of one another</a:t>
            </a:r>
            <a:endParaRPr lang="en-US" dirty="0"/>
          </a:p>
          <a:p>
            <a:pPr lvl="1"/>
            <a:r>
              <a:rPr lang="en-US" dirty="0"/>
              <a:t>Major issue when merging data from heterogeneous sources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Examples:</a:t>
            </a:r>
            <a:endParaRPr lang="en-US" dirty="0"/>
          </a:p>
          <a:p>
            <a:pPr lvl="1"/>
            <a:r>
              <a:rPr lang="en-US" dirty="0"/>
              <a:t>Same person with multiple email addresses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Data cleaning</a:t>
            </a:r>
            <a:endParaRPr lang="en-US" dirty="0"/>
          </a:p>
          <a:p>
            <a:pPr lvl="1"/>
            <a:r>
              <a:rPr lang="en-US" dirty="0"/>
              <a:t>Process of dealing with duplicate data issues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When should duplicate data not be removed?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Similarity and Dissimilarity Measures</a:t>
            </a:r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Similarity measure</a:t>
            </a:r>
            <a:endParaRPr lang="en-US" dirty="0"/>
          </a:p>
          <a:p>
            <a:pPr lvl="1"/>
            <a:r>
              <a:rPr lang="en-US" dirty="0"/>
              <a:t>Numerical measure of how alike two data objects are.</a:t>
            </a:r>
            <a:endParaRPr lang="en-US" dirty="0"/>
          </a:p>
          <a:p>
            <a:pPr lvl="1"/>
            <a:r>
              <a:rPr lang="en-US" dirty="0"/>
              <a:t>Is higher when objects are more alike.</a:t>
            </a:r>
            <a:endParaRPr lang="en-US" dirty="0"/>
          </a:p>
          <a:p>
            <a:pPr lvl="1"/>
            <a:r>
              <a:rPr lang="en-US" dirty="0"/>
              <a:t>Often falls in the range [0,1]</a:t>
            </a:r>
            <a:endParaRPr lang="en-US" dirty="0"/>
          </a:p>
          <a:p>
            <a:r>
              <a:rPr lang="en-US" dirty="0"/>
              <a:t>Dissimilarity measure</a:t>
            </a:r>
            <a:endParaRPr lang="en-US" dirty="0"/>
          </a:p>
          <a:p>
            <a:pPr lvl="1"/>
            <a:r>
              <a:rPr lang="en-US" dirty="0"/>
              <a:t>Numerical measure of how different two data objects are </a:t>
            </a:r>
            <a:endParaRPr lang="en-US" dirty="0"/>
          </a:p>
          <a:p>
            <a:pPr lvl="1"/>
            <a:r>
              <a:rPr lang="en-US" dirty="0"/>
              <a:t>Lower when objects are more alike</a:t>
            </a:r>
            <a:endParaRPr lang="en-US" dirty="0"/>
          </a:p>
          <a:p>
            <a:pPr lvl="1"/>
            <a:r>
              <a:rPr lang="en-US" dirty="0"/>
              <a:t>Minimum dissimilarity is often 0</a:t>
            </a:r>
            <a:endParaRPr lang="en-US" dirty="0"/>
          </a:p>
          <a:p>
            <a:pPr lvl="1"/>
            <a:r>
              <a:rPr lang="en-US" dirty="0"/>
              <a:t>Upper limit varies</a:t>
            </a:r>
            <a:endParaRPr lang="en-US" dirty="0"/>
          </a:p>
          <a:p>
            <a:r>
              <a:rPr lang="en-US" dirty="0">
                <a:solidFill>
                  <a:srgbClr val="CC6600"/>
                </a:solidFill>
              </a:rPr>
              <a:t>Proximity</a:t>
            </a:r>
            <a:r>
              <a:rPr lang="en-US" dirty="0"/>
              <a:t> refers to a similarity or dissimilarity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Similarity/Dissimilarity for Simple Attributes</a:t>
            </a:r>
            <a:endParaRPr lang="en-US" sz="2800"/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228600" y="1143000"/>
            <a:ext cx="8686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0" dirty="0"/>
              <a:t>The following table shows the similarity and dissimilarity between two objects,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/>
              <a:t> and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</a:t>
            </a:r>
            <a:r>
              <a:rPr lang="en-US" sz="2400" b="0" dirty="0"/>
              <a:t> with respect to a single, simple attribute.</a:t>
            </a:r>
            <a:endParaRPr lang="en-US" sz="2400" b="0" dirty="0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2750"/>
            <a:ext cx="9144000" cy="274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Euclidean Distance</a:t>
            </a:r>
            <a:endParaRPr lang="en-US" sz="2800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8351837" cy="51816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/>
              <a:t>Euclidean Distance</a:t>
            </a:r>
            <a:endParaRPr lang="en-US" sz="24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1800" dirty="0"/>
              <a:t>   </a:t>
            </a:r>
            <a:endParaRPr lang="en-US" sz="1800" dirty="0"/>
          </a:p>
          <a:p>
            <a:pPr marL="742950" lvl="1" indent="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dirty="0"/>
              <a:t>where </a:t>
            </a:r>
            <a:r>
              <a:rPr lang="en-US" i="1" dirty="0"/>
              <a:t>n</a:t>
            </a:r>
            <a:r>
              <a:rPr lang="en-US" dirty="0"/>
              <a:t> is the number of dimensions (attributes) and </a:t>
            </a:r>
            <a:r>
              <a:rPr lang="en-US" i="1" dirty="0">
                <a:latin typeface="Times New Roman" panose="02020603050405020304" pitchFamily="18" charset="0"/>
              </a:rPr>
              <a:t>x</a:t>
            </a:r>
            <a:r>
              <a:rPr lang="en-US" i="1" baseline="-25000" dirty="0">
                <a:latin typeface="Times New Roman" panose="02020603050405020304" pitchFamily="18" charset="0"/>
              </a:rPr>
              <a:t>k</a:t>
            </a:r>
            <a:r>
              <a:rPr lang="en-US" dirty="0"/>
              <a:t> and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i="1" baseline="-25000" dirty="0">
                <a:latin typeface="Times New Roman" panose="02020603050405020304" pitchFamily="18" charset="0"/>
              </a:rPr>
              <a:t> </a:t>
            </a:r>
            <a:r>
              <a:rPr lang="en-US" dirty="0"/>
              <a:t> are, respectively, the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/>
              <a:t> attributes (components) or data objects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</a:t>
            </a:r>
            <a:endParaRPr 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880645" name="Rectangle 5"/>
          <p:cNvSpPr>
            <a:spLocks noChangeArrowheads="1"/>
          </p:cNvSpPr>
          <p:nvPr/>
        </p:nvSpPr>
        <p:spPr bwMode="auto">
          <a:xfrm>
            <a:off x="762000" y="5522913"/>
            <a:ext cx="6456363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sz="2400" b="0"/>
              <a:t> Standardization is necessary, if scales differ.</a:t>
            </a:r>
            <a:endParaRPr lang="en-US" sz="2400" b="0"/>
          </a:p>
        </p:txBody>
      </p:sp>
      <p:pic>
        <p:nvPicPr>
          <p:cNvPr id="78895" name="Picture 4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358" y="1600200"/>
            <a:ext cx="400764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4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Euclidean Distance</a:t>
            </a:r>
            <a:endParaRPr lang="en-US" sz="2800"/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228600" y="1143000"/>
          <a:ext cx="4378325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13" name="VISIO" r:id="rId1" imgW="3631565" imgH="2656205" progId="Visio.Drawing.6">
                  <p:embed/>
                </p:oleObj>
              </mc:Choice>
              <mc:Fallback>
                <p:oleObj name="VISIO" r:id="rId1" imgW="3631565" imgH="2656205" progId="Visio.Drawing.6">
                  <p:embed/>
                  <p:pic>
                    <p:nvPicPr>
                      <p:cNvPr id="0" name="图片 804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4378325" cy="319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4862513" y="1674813"/>
          <a:ext cx="3976687" cy="183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14" name="Worksheet" r:id="rId3" imgW="2169160" imgH="1003935" progId="Excel.Sheet.8">
                  <p:embed/>
                </p:oleObj>
              </mc:Choice>
              <mc:Fallback>
                <p:oleObj name="Worksheet" r:id="rId3" imgW="2169160" imgH="1003935" progId="Excel.Sheet.8">
                  <p:embed/>
                  <p:pic>
                    <p:nvPicPr>
                      <p:cNvPr id="0" name="图片 804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1674813"/>
                        <a:ext cx="3976687" cy="183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3048000" y="5973763"/>
            <a:ext cx="28194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Distance Matrix</a:t>
            </a:r>
            <a:endParaRPr lang="en-US" sz="2200"/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1371600" y="4114800"/>
          <a:ext cx="659923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15" name="Worksheet" r:id="rId5" imgW="3603625" imgH="1003935" progId="Excel.Sheet.8">
                  <p:embed/>
                </p:oleObj>
              </mc:Choice>
              <mc:Fallback>
                <p:oleObj name="Worksheet" r:id="rId5" imgW="3603625" imgH="1003935" progId="Excel.Sheet.8">
                  <p:embed/>
                  <p:pic>
                    <p:nvPicPr>
                      <p:cNvPr id="0" name="图片 804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114800"/>
                        <a:ext cx="6599238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 dirty="0" err="1"/>
              <a:t>Minkowski</a:t>
            </a:r>
            <a:r>
              <a:rPr lang="en-US" sz="2800" dirty="0"/>
              <a:t> Distance</a:t>
            </a:r>
            <a:r>
              <a:rPr lang="en-US" altLang="zh-CN" sz="2800" dirty="0"/>
              <a:t>(</a:t>
            </a:r>
            <a:r>
              <a:rPr lang="zh-CN" altLang="en-US" sz="2800" dirty="0"/>
              <a:t>明氏距离</a:t>
            </a:r>
            <a:r>
              <a:rPr lang="en-US" altLang="zh-CN" sz="2800" dirty="0"/>
              <a:t>/</a:t>
            </a:r>
            <a:r>
              <a:rPr lang="zh-CN" altLang="en-US" sz="2800" dirty="0"/>
              <a:t>明可夫斯基距离</a:t>
            </a:r>
            <a:r>
              <a:rPr lang="en-US" altLang="zh-CN" sz="2800" dirty="0"/>
              <a:t>)</a:t>
            </a:r>
            <a:endParaRPr lang="en-US" sz="2800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7508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 err="1"/>
              <a:t>Minkowski</a:t>
            </a:r>
            <a:r>
              <a:rPr lang="en-US" sz="2400" dirty="0"/>
              <a:t> Distance is a generalization of Euclidean Distance</a:t>
            </a:r>
            <a:endParaRPr lang="en-US" sz="24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4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4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2000" dirty="0"/>
              <a:t>   </a:t>
            </a: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2000" dirty="0"/>
              <a:t>   </a:t>
            </a:r>
            <a:r>
              <a:rPr lang="en-US" sz="2200" dirty="0"/>
              <a:t>Where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dirty="0"/>
              <a:t> is a parameter, </a:t>
            </a:r>
            <a:r>
              <a:rPr lang="en-US" sz="22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/>
              <a:t> is the number of dimensions (attributes) and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dirty="0"/>
              <a:t> and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dirty="0"/>
              <a:t> are, respectively, the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200" dirty="0"/>
              <a:t> attributes (components) or data objects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/>
              <a:t> and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/>
              <a:t>.</a:t>
            </a:r>
            <a:endParaRPr lang="en-US" sz="22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200" dirty="0"/>
          </a:p>
        </p:txBody>
      </p:sp>
      <p:pic>
        <p:nvPicPr>
          <p:cNvPr id="80944" name="Picture 48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467" y="1981200"/>
            <a:ext cx="510942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Minkowski Distance: Examples</a:t>
            </a:r>
            <a:endParaRPr lang="en-US" sz="2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458200" cy="51816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i="1" dirty="0">
                <a:cs typeface="Times New Roman" panose="02020603050405020304" pitchFamily="18" charset="0"/>
              </a:rPr>
              <a:t>r</a:t>
            </a:r>
            <a:r>
              <a:rPr lang="en-US" sz="2400" dirty="0">
                <a:cs typeface="Times New Roman" panose="02020603050405020304" pitchFamily="18" charset="0"/>
              </a:rPr>
              <a:t> = 1.  City block (Manhattan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cs typeface="Times New Roman" panose="02020603050405020304" pitchFamily="18" charset="0"/>
              </a:rPr>
              <a:t>曼哈顿</a:t>
            </a:r>
            <a:r>
              <a:rPr lang="en-US" altLang="zh-CN" sz="2400" dirty="0">
                <a:cs typeface="Times New Roman" panose="02020603050405020304" pitchFamily="18" charset="0"/>
              </a:rPr>
              <a:t>)</a:t>
            </a:r>
            <a:r>
              <a:rPr lang="en-US" sz="2400" dirty="0">
                <a:cs typeface="Times New Roman" panose="02020603050405020304" pitchFamily="18" charset="0"/>
              </a:rPr>
              <a:t>, taxicab, L</a:t>
            </a:r>
            <a:r>
              <a:rPr lang="en-US" sz="2400" baseline="-30000" dirty="0">
                <a:cs typeface="Times New Roman" panose="02020603050405020304" pitchFamily="18" charset="0"/>
              </a:rPr>
              <a:t>1</a:t>
            </a:r>
            <a:r>
              <a:rPr lang="en-US" sz="2400" dirty="0">
                <a:cs typeface="Times New Roman" panose="02020603050405020304" pitchFamily="18" charset="0"/>
              </a:rPr>
              <a:t> norm) distance. 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200" dirty="0">
                <a:cs typeface="Times New Roman" panose="02020603050405020304" pitchFamily="18" charset="0"/>
              </a:rPr>
              <a:t>A common example of this is the Hamming distance, which is just the number of bits that are different between two binary vectors</a:t>
            </a:r>
            <a:endParaRPr lang="en-US" sz="2200" dirty="0">
              <a:cs typeface="Times New Roman" panose="02020603050405020304" pitchFamily="18" charset="0"/>
            </a:endParaRPr>
          </a:p>
          <a:p>
            <a:pPr lvl="4">
              <a:lnSpc>
                <a:spcPct val="90000"/>
              </a:lnSpc>
            </a:pPr>
            <a:endParaRPr lang="en-US" sz="2200" b="1" dirty="0"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i="1" dirty="0">
                <a:cs typeface="Times New Roman" panose="02020603050405020304" pitchFamily="18" charset="0"/>
              </a:rPr>
              <a:t>r</a:t>
            </a:r>
            <a:r>
              <a:rPr lang="en-US" sz="2400" dirty="0">
                <a:cs typeface="Times New Roman" panose="02020603050405020304" pitchFamily="18" charset="0"/>
              </a:rPr>
              <a:t> = 2.  Euclidean distance</a:t>
            </a:r>
            <a:endParaRPr lang="en-US" sz="2400" dirty="0">
              <a:cs typeface="Times New Roman" panose="02020603050405020304" pitchFamily="18" charset="0"/>
            </a:endParaRPr>
          </a:p>
          <a:p>
            <a:pPr lvl="4">
              <a:lnSpc>
                <a:spcPct val="90000"/>
              </a:lnSpc>
            </a:pPr>
            <a:endParaRPr lang="en-US" sz="1800" dirty="0"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i="1" dirty="0">
                <a:cs typeface="Times New Roman" panose="02020603050405020304" pitchFamily="18" charset="0"/>
              </a:rPr>
              <a:t>r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sz="2400" dirty="0">
                <a:cs typeface="Times New Roman" panose="02020603050405020304" pitchFamily="18" charset="0"/>
              </a:rPr>
              <a:t>.  “</a:t>
            </a:r>
            <a:r>
              <a:rPr lang="en-US" sz="2400" dirty="0" err="1">
                <a:cs typeface="Times New Roman" panose="02020603050405020304" pitchFamily="18" charset="0"/>
              </a:rPr>
              <a:t>supremum</a:t>
            </a:r>
            <a:r>
              <a:rPr lang="en-US" sz="2400" dirty="0">
                <a:cs typeface="Times New Roman" panose="02020603050405020304" pitchFamily="18" charset="0"/>
              </a:rPr>
              <a:t>” (</a:t>
            </a:r>
            <a:r>
              <a:rPr lang="en-US" altLang="zh-CN" sz="2400" dirty="0" err="1">
                <a:cs typeface="Times New Roman" panose="02020603050405020304" pitchFamily="18" charset="0"/>
              </a:rPr>
              <a:t>Chebyshev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cs typeface="Times New Roman" panose="02020603050405020304" pitchFamily="18" charset="0"/>
              </a:rPr>
              <a:t>切比雪夫</a:t>
            </a:r>
            <a:r>
              <a:rPr lang="en-US" altLang="zh-CN" sz="2400" dirty="0">
                <a:cs typeface="Times New Roman" panose="02020603050405020304" pitchFamily="18" charset="0"/>
              </a:rPr>
              <a:t>),</a:t>
            </a:r>
            <a:r>
              <a:rPr lang="zh-CN" alt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cs typeface="Times New Roman" panose="02020603050405020304" pitchFamily="18" charset="0"/>
              </a:rPr>
              <a:t>L</a:t>
            </a:r>
            <a:r>
              <a:rPr lang="en-US" sz="2400" baseline="-30000" dirty="0" err="1">
                <a:cs typeface="Times New Roman" panose="02020603050405020304" pitchFamily="18" charset="0"/>
              </a:rPr>
              <a:t>max</a:t>
            </a:r>
            <a:r>
              <a:rPr lang="en-US" sz="2400" baseline="-30000" dirty="0"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Times New Roman" panose="02020603050405020304" pitchFamily="18" charset="0"/>
              </a:rPr>
              <a:t>norm, L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sz="2400" baseline="-30000" dirty="0"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Times New Roman" panose="02020603050405020304" pitchFamily="18" charset="0"/>
              </a:rPr>
              <a:t>norm) distance. 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200" dirty="0">
                <a:cs typeface="Times New Roman" panose="02020603050405020304" pitchFamily="18" charset="0"/>
              </a:rPr>
              <a:t>This is the maximum difference between any component of the vectors</a:t>
            </a:r>
            <a:endParaRPr lang="en-US" sz="2200" dirty="0">
              <a:cs typeface="Times New Roman" panose="02020603050405020304" pitchFamily="18" charset="0"/>
            </a:endParaRPr>
          </a:p>
          <a:p>
            <a:pPr lvl="4">
              <a:lnSpc>
                <a:spcPct val="90000"/>
              </a:lnSpc>
            </a:pPr>
            <a:endParaRPr lang="zh-CN" altLang="en-US" sz="2200" dirty="0">
              <a:cs typeface="Times New Roman" panose="02020603050405020304" pitchFamily="18" charset="0"/>
            </a:endParaRPr>
          </a:p>
          <a:p>
            <a:pPr lvl="4">
              <a:lnSpc>
                <a:spcPct val="90000"/>
              </a:lnSpc>
            </a:pPr>
            <a:endParaRPr lang="zh-CN" altLang="en-US" sz="2200" dirty="0">
              <a:cs typeface="Times New Roman" panose="02020603050405020304" pitchFamily="18" charset="0"/>
            </a:endParaRPr>
          </a:p>
          <a:p>
            <a:pPr lvl="4">
              <a:lnSpc>
                <a:spcPct val="90000"/>
              </a:lnSpc>
            </a:pPr>
            <a:endParaRPr lang="en-US" sz="2200" dirty="0"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cs typeface="Times New Roman" panose="02020603050405020304" pitchFamily="18" charset="0"/>
              </a:rPr>
              <a:t>Do not confuse </a:t>
            </a:r>
            <a:r>
              <a:rPr lang="en-US" sz="2400" i="1" dirty="0">
                <a:cs typeface="Times New Roman" panose="02020603050405020304" pitchFamily="18" charset="0"/>
              </a:rPr>
              <a:t>r</a:t>
            </a:r>
            <a:r>
              <a:rPr lang="en-US" sz="2400" dirty="0">
                <a:cs typeface="Times New Roman" panose="02020603050405020304" pitchFamily="18" charset="0"/>
              </a:rPr>
              <a:t> with </a:t>
            </a:r>
            <a:r>
              <a:rPr lang="en-US" sz="2400" i="1" dirty="0">
                <a:cs typeface="Times New Roman" panose="02020603050405020304" pitchFamily="18" charset="0"/>
              </a:rPr>
              <a:t>n</a:t>
            </a:r>
            <a:r>
              <a:rPr lang="en-US" sz="2400" dirty="0">
                <a:cs typeface="Times New Roman" panose="02020603050405020304" pitchFamily="18" charset="0"/>
              </a:rPr>
              <a:t>, i.e., all these distances are defined for all numbers of dimensions.</a:t>
            </a:r>
            <a:endParaRPr lang="en-US" sz="2400" i="1" dirty="0"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4419600"/>
            <a:ext cx="507224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Minkowski Distance</a:t>
            </a:r>
            <a:endParaRPr lang="en-US"/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4876800" y="5867400"/>
            <a:ext cx="213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Distance Matrix</a:t>
            </a:r>
            <a:endParaRPr lang="en-US" sz="2000"/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304800" y="2587625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6" name="Worksheet" r:id="rId1" imgW="2169160" imgH="1003935" progId="Excel.Sheet.8">
                  <p:embed/>
                </p:oleObj>
              </mc:Choice>
              <mc:Fallback>
                <p:oleObj name="Worksheet" r:id="rId1" imgW="2169160" imgH="1003935" progId="Excel.Sheet.8">
                  <p:embed/>
                  <p:pic>
                    <p:nvPicPr>
                      <p:cNvPr id="0" name="图片 826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587625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3810000" y="1292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7" name="Worksheet" r:id="rId3" imgW="3603625" imgH="1003935" progId="Excel.Sheet.8">
                  <p:embed/>
                </p:oleObj>
              </mc:Choice>
              <mc:Fallback>
                <p:oleObj name="Worksheet" r:id="rId3" imgW="3603625" imgH="1003935" progId="Excel.Sheet.8">
                  <p:embed/>
                  <p:pic>
                    <p:nvPicPr>
                      <p:cNvPr id="0" name="图片 826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92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3810000" y="2816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8" name="Worksheet" r:id="rId5" imgW="3603625" imgH="1003935" progId="Excel.Sheet.8">
                  <p:embed/>
                </p:oleObj>
              </mc:Choice>
              <mc:Fallback>
                <p:oleObj name="Worksheet" r:id="rId5" imgW="3603625" imgH="1003935" progId="Excel.Sheet.8">
                  <p:embed/>
                  <p:pic>
                    <p:nvPicPr>
                      <p:cNvPr id="0" name="图片 826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816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1" name="Object 7"/>
          <p:cNvGraphicFramePr>
            <a:graphicFrameLocks noChangeAspect="1"/>
          </p:cNvGraphicFramePr>
          <p:nvPr/>
        </p:nvGraphicFramePr>
        <p:xfrm>
          <a:off x="3810000" y="4340225"/>
          <a:ext cx="4872038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9" name="Worksheet" r:id="rId7" imgW="3603625" imgH="1021715" progId="Excel.Sheet.8">
                  <p:embed/>
                </p:oleObj>
              </mc:Choice>
              <mc:Fallback>
                <p:oleObj name="Worksheet" r:id="rId7" imgW="3603625" imgH="1021715" progId="Excel.Sheet.8">
                  <p:embed/>
                  <p:pic>
                    <p:nvPicPr>
                      <p:cNvPr id="0" name="图片 826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340225"/>
                        <a:ext cx="4872038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Mahalanobis</a:t>
            </a:r>
            <a:r>
              <a:rPr lang="en-US" sz="2800" dirty="0"/>
              <a:t> Distance</a:t>
            </a:r>
            <a:r>
              <a:rPr lang="en-US" altLang="zh-CN" sz="2800" dirty="0"/>
              <a:t>(</a:t>
            </a:r>
            <a:r>
              <a:rPr lang="zh-CN" altLang="en-US" sz="2800" dirty="0"/>
              <a:t>马哈拉诺比斯距离</a:t>
            </a:r>
            <a:r>
              <a:rPr lang="en-US" altLang="zh-CN" sz="2800" dirty="0"/>
              <a:t>)</a:t>
            </a:r>
            <a:endParaRPr lang="en-US" sz="2800" dirty="0"/>
          </a:p>
        </p:txBody>
      </p:sp>
      <p:pic>
        <p:nvPicPr>
          <p:cNvPr id="68611" name="Picture 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" t="3334" r="7321"/>
          <a:stretch>
            <a:fillRect/>
          </a:stretch>
        </p:blipFill>
        <p:spPr>
          <a:xfrm>
            <a:off x="0" y="1981200"/>
            <a:ext cx="5502275" cy="3879850"/>
          </a:xfrm>
          <a:noFill/>
        </p:spPr>
      </p:pic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0" y="5881688"/>
            <a:ext cx="914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For red points, the Euclidean distance is 14.7, Mahalanobis distance is 6.</a:t>
            </a:r>
            <a:endParaRPr lang="en-US" sz="2000"/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5486400" y="2178050"/>
            <a:ext cx="3352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sym typeface="Symbol" panose="05050102010706020507" pitchFamily="18" charset="2"/>
              </a:rPr>
              <a:t> is the </a:t>
            </a:r>
            <a:r>
              <a:rPr lang="en-US" sz="2000" dirty="0"/>
              <a:t>covariance matrix</a:t>
            </a:r>
            <a:endParaRPr lang="en-US" sz="20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381000" y="1219200"/>
                <a:ext cx="678948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</a:rPr>
                        <m:t>𝐦𝐚𝐡𝐚𝐥𝐚𝐧𝐨𝐛𝐢𝐬</m:t>
                      </m:r>
                      <m:d>
                        <m:dPr>
                          <m:ctrlPr>
                            <a:rPr lang="en-US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d>
                      <m:r>
                        <a:rPr lang="en-US" sz="28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Ʃ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219200"/>
                <a:ext cx="6789487" cy="523220"/>
              </a:xfrm>
              <a:prstGeom prst="rect">
                <a:avLst/>
              </a:prstGeom>
              <a:blipFill rotWithShape="1">
                <a:blip r:embed="rId2"/>
                <a:stretch>
                  <a:fillRect r="1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316" y="3232210"/>
            <a:ext cx="373031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Mahalanobis Distance</a:t>
            </a:r>
            <a:endParaRPr lang="en-US"/>
          </a:p>
        </p:txBody>
      </p:sp>
      <p:sp>
        <p:nvSpPr>
          <p:cNvPr id="69635" name="Text Box 7"/>
          <p:cNvSpPr txBox="1">
            <a:spLocks noChangeArrowheads="1"/>
          </p:cNvSpPr>
          <p:nvPr/>
        </p:nvSpPr>
        <p:spPr bwMode="auto">
          <a:xfrm>
            <a:off x="6400800" y="1143000"/>
            <a:ext cx="2743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Covariance Matrix:</a:t>
            </a:r>
            <a:endParaRPr lang="en-US" sz="2400"/>
          </a:p>
        </p:txBody>
      </p:sp>
      <p:graphicFrame>
        <p:nvGraphicFramePr>
          <p:cNvPr id="69636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477000" y="1905000"/>
          <a:ext cx="23495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59" name="Equation" r:id="rId1" imgW="939800" imgH="457200" progId="Equation.3">
                  <p:embed/>
                </p:oleObj>
              </mc:Choice>
              <mc:Fallback>
                <p:oleObj name="Equation" r:id="rId1" imgW="939800" imgH="457200" progId="Equation.3">
                  <p:embed/>
                  <p:pic>
                    <p:nvPicPr>
                      <p:cNvPr id="0" name="图片 84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05000"/>
                        <a:ext cx="23495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7" name="Text Box 12"/>
          <p:cNvSpPr txBox="1">
            <a:spLocks noChangeArrowheads="1"/>
          </p:cNvSpPr>
          <p:nvPr/>
        </p:nvSpPr>
        <p:spPr bwMode="auto">
          <a:xfrm>
            <a:off x="6629400" y="3200400"/>
            <a:ext cx="2286000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A: (0.5, 0.5)</a:t>
            </a:r>
            <a:endParaRPr lang="en-US" sz="2200"/>
          </a:p>
          <a:p>
            <a:pPr>
              <a:spcBef>
                <a:spcPct val="50000"/>
              </a:spcBef>
            </a:pPr>
            <a:r>
              <a:rPr lang="en-US" sz="2200"/>
              <a:t>B: (0, 1)</a:t>
            </a:r>
            <a:endParaRPr lang="en-US" sz="2200"/>
          </a:p>
          <a:p>
            <a:pPr>
              <a:spcBef>
                <a:spcPct val="50000"/>
              </a:spcBef>
            </a:pPr>
            <a:r>
              <a:rPr lang="en-US" sz="2200"/>
              <a:t>C: (1.5, 1.5)</a:t>
            </a:r>
            <a:endParaRPr lang="en-US" sz="2200"/>
          </a:p>
          <a:p>
            <a:pPr>
              <a:spcBef>
                <a:spcPct val="50000"/>
              </a:spcBef>
            </a:pPr>
            <a:endParaRPr lang="en-US" sz="2200"/>
          </a:p>
          <a:p>
            <a:pPr>
              <a:spcBef>
                <a:spcPct val="50000"/>
              </a:spcBef>
            </a:pPr>
            <a:r>
              <a:rPr lang="en-US" sz="2200"/>
              <a:t>Mahal(A,B) = 5</a:t>
            </a:r>
            <a:endParaRPr lang="en-US" sz="2200"/>
          </a:p>
          <a:p>
            <a:pPr>
              <a:spcBef>
                <a:spcPct val="50000"/>
              </a:spcBef>
            </a:pPr>
            <a:r>
              <a:rPr lang="en-US" sz="2200"/>
              <a:t>Mahal(A,C) = 4 </a:t>
            </a:r>
            <a:endParaRPr lang="en-US" sz="2200"/>
          </a:p>
        </p:txBody>
      </p:sp>
      <p:grpSp>
        <p:nvGrpSpPr>
          <p:cNvPr id="69638" name="Group 13"/>
          <p:cNvGrpSpPr/>
          <p:nvPr/>
        </p:nvGrpSpPr>
        <p:grpSpPr bwMode="auto">
          <a:xfrm>
            <a:off x="0" y="1143000"/>
            <a:ext cx="6477000" cy="4857750"/>
            <a:chOff x="144" y="768"/>
            <a:chExt cx="4080" cy="3060"/>
          </a:xfrm>
        </p:grpSpPr>
        <p:pic>
          <p:nvPicPr>
            <p:cNvPr id="69642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92" t="4398" r="6593" b="4733"/>
            <a:stretch>
              <a:fillRect/>
            </a:stretch>
          </p:blipFill>
          <p:spPr bwMode="auto">
            <a:xfrm>
              <a:off x="144" y="768"/>
              <a:ext cx="4080" cy="3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9643" name="Line 15"/>
            <p:cNvSpPr>
              <a:spLocks noChangeShapeType="1"/>
            </p:cNvSpPr>
            <p:nvPr/>
          </p:nvSpPr>
          <p:spPr bwMode="auto">
            <a:xfrm flipV="1">
              <a:off x="1632" y="1872"/>
              <a:ext cx="120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44" name="Line 16"/>
            <p:cNvSpPr>
              <a:spLocks noChangeShapeType="1"/>
            </p:cNvSpPr>
            <p:nvPr/>
          </p:nvSpPr>
          <p:spPr bwMode="auto">
            <a:xfrm flipH="1" flipV="1">
              <a:off x="1104" y="2256"/>
              <a:ext cx="52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39" name="Text Box 17"/>
          <p:cNvSpPr txBox="1">
            <a:spLocks noChangeArrowheads="1"/>
          </p:cNvSpPr>
          <p:nvPr/>
        </p:nvSpPr>
        <p:spPr bwMode="auto">
          <a:xfrm>
            <a:off x="1219200" y="32766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B</a:t>
            </a:r>
            <a:endParaRPr lang="en-US" sz="1800"/>
          </a:p>
        </p:txBody>
      </p:sp>
      <p:sp>
        <p:nvSpPr>
          <p:cNvPr id="69640" name="Text Box 18"/>
          <p:cNvSpPr txBox="1">
            <a:spLocks noChangeArrowheads="1"/>
          </p:cNvSpPr>
          <p:nvPr/>
        </p:nvSpPr>
        <p:spPr bwMode="auto">
          <a:xfrm>
            <a:off x="2209800" y="39766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A</a:t>
            </a:r>
            <a:endParaRPr lang="en-US" sz="1800"/>
          </a:p>
        </p:txBody>
      </p:sp>
      <p:sp>
        <p:nvSpPr>
          <p:cNvPr id="69641" name="Text Box 19"/>
          <p:cNvSpPr txBox="1">
            <a:spLocks noChangeArrowheads="1"/>
          </p:cNvSpPr>
          <p:nvPr/>
        </p:nvSpPr>
        <p:spPr bwMode="auto">
          <a:xfrm>
            <a:off x="4114800" y="25146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C</a:t>
            </a:r>
            <a:endParaRPr lang="en-US"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Common Properties of a Distance</a:t>
            </a:r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Distances, such as the Euclidean distance, have some well known properties.</a:t>
            </a:r>
            <a:endParaRPr lang="en-US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endParaRPr lang="en-US" sz="1400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</a:t>
            </a:r>
            <a:r>
              <a:rPr lang="en-US" dirty="0"/>
              <a:t>for all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</a:t>
            </a:r>
            <a:r>
              <a:rPr lang="en-US" dirty="0"/>
              <a:t>only if </a:t>
            </a:r>
            <a:br>
              <a:rPr lang="en-US" dirty="0"/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</a:t>
            </a:r>
            <a:r>
              <a:rPr lang="en-US" i="1" dirty="0"/>
              <a:t>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(Positive definiteness)</a:t>
            </a:r>
            <a:endParaRPr lang="en-US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r>
              <a:rPr lang="en-US" dirty="0"/>
              <a:t>for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(Symmetry)</a:t>
            </a:r>
            <a:endParaRPr lang="en-US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  for all points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/>
              <a:t>.  </a:t>
            </a:r>
            <a:br>
              <a:rPr lang="en-US" dirty="0"/>
            </a:br>
            <a:r>
              <a:rPr lang="en-US" dirty="0"/>
              <a:t>(Triangle Inequality)</a:t>
            </a:r>
            <a:endParaRPr lang="en-US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sz="12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2400" dirty="0"/>
              <a:t>	where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 is the distance (dissimilarity) between points (data objects),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/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.</a:t>
            </a:r>
            <a:endParaRPr lang="en-US" sz="24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</a:pPr>
            <a:endParaRPr lang="en-US" sz="14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A distance that satisfies these properties is a </a:t>
            </a:r>
            <a:r>
              <a:rPr lang="en-US" dirty="0">
                <a:solidFill>
                  <a:srgbClr val="FF0000"/>
                </a:solidFill>
              </a:rPr>
              <a:t>metric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90600" y="6065322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Is</a:t>
            </a:r>
            <a:r>
              <a:rPr lang="zh-CN" altLang="en-US" sz="1800" dirty="0"/>
              <a:t> </a:t>
            </a:r>
            <a:r>
              <a:rPr lang="en-US" sz="1800" b="0" dirty="0" err="1"/>
              <a:t>Kullback</a:t>
            </a:r>
            <a:r>
              <a:rPr lang="en-US" sz="1800" b="0" dirty="0"/>
              <a:t>–</a:t>
            </a:r>
            <a:r>
              <a:rPr lang="en-US" sz="1800" b="0" dirty="0" err="1"/>
              <a:t>Leibler</a:t>
            </a:r>
            <a:r>
              <a:rPr lang="en-US" sz="1800" b="0" dirty="0"/>
              <a:t> </a:t>
            </a:r>
            <a:r>
              <a:rPr lang="en-US" sz="1800" dirty="0"/>
              <a:t>divergence</a:t>
            </a:r>
            <a:r>
              <a:rPr lang="zh-CN" altLang="en-US" sz="1800" dirty="0"/>
              <a:t> </a:t>
            </a:r>
            <a:r>
              <a:rPr lang="en-US" altLang="zh-CN" sz="1800" dirty="0"/>
              <a:t>a</a:t>
            </a:r>
            <a:r>
              <a:rPr lang="zh-CN" altLang="en-US" sz="1800" dirty="0"/>
              <a:t> </a:t>
            </a:r>
            <a:r>
              <a:rPr lang="en-US" altLang="zh-CN" sz="1800" dirty="0"/>
              <a:t>metric?</a:t>
            </a:r>
            <a:r>
              <a:rPr lang="zh-CN" altLang="en-US" sz="1800" dirty="0"/>
              <a:t> </a:t>
            </a:r>
            <a:r>
              <a:rPr lang="en-US" altLang="zh-CN" sz="1800" dirty="0"/>
              <a:t>Why?</a:t>
            </a:r>
            <a:endParaRPr lang="en-US" sz="1800" dirty="0"/>
          </a:p>
        </p:txBody>
      </p:sp>
      <p:pic>
        <p:nvPicPr>
          <p:cNvPr id="4" name="Picture 3" descr="A picture containing logo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5652283"/>
            <a:ext cx="3352800" cy="51991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Common Properties of a Similarity</a:t>
            </a:r>
            <a:endParaRPr 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Similarities, also have some well known properties.</a:t>
            </a:r>
            <a:endParaRPr lang="en-US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endParaRPr lang="en-US" sz="14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1 </a:t>
            </a:r>
            <a:r>
              <a:rPr lang="en-US" dirty="0"/>
              <a:t>(or maximum similarity) only if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</a:t>
            </a:r>
            <a:r>
              <a:rPr lang="en-US" i="1" dirty="0"/>
              <a:t>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  for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(Symmetry)</a:t>
            </a:r>
            <a:br>
              <a:rPr lang="en-US" dirty="0"/>
            </a:br>
            <a:endParaRPr lang="en-US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400" dirty="0"/>
              <a:t>	where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/>
              <a:t>is the similarity between points (data objects),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/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.</a:t>
            </a:r>
            <a:endParaRPr lang="en-US" sz="24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Similarity Between Binary Vectors</a:t>
            </a: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  <a:tabLst>
                <a:tab pos="914400" algn="l"/>
                <a:tab pos="1371600" algn="l"/>
              </a:tabLst>
            </a:pPr>
            <a:r>
              <a:rPr lang="en-US" sz="2200" dirty="0"/>
              <a:t>Common situation is that objects, </a:t>
            </a:r>
            <a:r>
              <a:rPr lang="en-US" sz="2200" i="1" dirty="0"/>
              <a:t>p</a:t>
            </a:r>
            <a:r>
              <a:rPr lang="en-US" sz="2200" dirty="0"/>
              <a:t> and </a:t>
            </a:r>
            <a:r>
              <a:rPr lang="en-US" sz="2200" i="1" dirty="0"/>
              <a:t>q</a:t>
            </a:r>
            <a:r>
              <a:rPr lang="en-US" sz="2200" dirty="0"/>
              <a:t>, have only binary attributes</a:t>
            </a:r>
            <a:endParaRPr lang="en-US" sz="2200" dirty="0"/>
          </a:p>
          <a:p>
            <a:pPr marL="2171700" lvl="4" indent="-342900">
              <a:lnSpc>
                <a:spcPct val="80000"/>
              </a:lnSpc>
              <a:tabLst>
                <a:tab pos="914400" algn="l"/>
                <a:tab pos="1371600" algn="l"/>
              </a:tabLst>
            </a:pPr>
            <a:endParaRPr lang="en-US" sz="12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tabLst>
                <a:tab pos="914400" algn="l"/>
                <a:tab pos="1371600" algn="l"/>
              </a:tabLst>
            </a:pPr>
            <a:r>
              <a:rPr lang="en-US" sz="2200" dirty="0"/>
              <a:t>Compute similarities using the following quantities</a:t>
            </a:r>
            <a:endParaRPr lang="en-US" sz="22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200" dirty="0">
                <a:latin typeface="cmmi10" pitchFamily="34" charset="0"/>
              </a:rPr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000" dirty="0"/>
              <a:t> = the number of attributes where </a:t>
            </a:r>
            <a:r>
              <a:rPr lang="en-US" sz="2000" i="1" dirty="0"/>
              <a:t>p</a:t>
            </a:r>
            <a:r>
              <a:rPr lang="en-US" sz="2000" dirty="0"/>
              <a:t> was 0 and </a:t>
            </a:r>
            <a:r>
              <a:rPr lang="en-US" sz="2000" i="1" dirty="0"/>
              <a:t>q</a:t>
            </a:r>
            <a:r>
              <a:rPr lang="en-US" sz="2000" dirty="0"/>
              <a:t> was 1</a:t>
            </a: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/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baseline="-25000" dirty="0"/>
              <a:t> </a:t>
            </a:r>
            <a:r>
              <a:rPr lang="en-US" sz="2000" dirty="0"/>
              <a:t>= the number of attributes where </a:t>
            </a:r>
            <a:r>
              <a:rPr lang="en-US" sz="2000" i="1" dirty="0"/>
              <a:t>p</a:t>
            </a:r>
            <a:r>
              <a:rPr lang="en-US" sz="2000" dirty="0"/>
              <a:t> was 1 and </a:t>
            </a:r>
            <a:r>
              <a:rPr lang="en-US" sz="2000" i="1" dirty="0"/>
              <a:t>q </a:t>
            </a:r>
            <a:r>
              <a:rPr lang="en-US" sz="2000" dirty="0"/>
              <a:t>was 0</a:t>
            </a: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/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000" dirty="0"/>
              <a:t> = the number of attributes where </a:t>
            </a:r>
            <a:r>
              <a:rPr lang="en-US" sz="2000" i="1" dirty="0"/>
              <a:t>p</a:t>
            </a:r>
            <a:r>
              <a:rPr lang="en-US" sz="2000" dirty="0"/>
              <a:t> was 0 and </a:t>
            </a:r>
            <a:r>
              <a:rPr lang="en-US" sz="2000" i="1" dirty="0"/>
              <a:t>q</a:t>
            </a:r>
            <a:r>
              <a:rPr lang="en-US" sz="2000" dirty="0"/>
              <a:t> was 0</a:t>
            </a: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/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/>
              <a:t> = the number of attributes where </a:t>
            </a:r>
            <a:r>
              <a:rPr lang="en-US" sz="2000" i="1" dirty="0"/>
              <a:t>p</a:t>
            </a:r>
            <a:r>
              <a:rPr lang="en-US" sz="2000" dirty="0"/>
              <a:t> was 1 and </a:t>
            </a:r>
            <a:r>
              <a:rPr lang="en-US" sz="2000" i="1" dirty="0"/>
              <a:t>q</a:t>
            </a:r>
            <a:r>
              <a:rPr lang="en-US" sz="2000" dirty="0"/>
              <a:t> was 1</a:t>
            </a: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tabLst>
                <a:tab pos="914400" algn="l"/>
                <a:tab pos="1371600" algn="l"/>
              </a:tabLst>
            </a:pPr>
            <a:r>
              <a:rPr lang="en-US" sz="2000" dirty="0"/>
              <a:t>Simple Matching and </a:t>
            </a:r>
            <a:r>
              <a:rPr lang="en-US" sz="2000" dirty="0" err="1"/>
              <a:t>Jaccard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zh-CN" altLang="en-US" sz="2000" dirty="0"/>
              <a:t>雅卡尔</a:t>
            </a:r>
            <a:r>
              <a:rPr lang="en-US" altLang="zh-CN" sz="2000" dirty="0"/>
              <a:t>)</a:t>
            </a:r>
            <a:r>
              <a:rPr lang="en-US" sz="2000" dirty="0"/>
              <a:t> Coefficients </a:t>
            </a: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anose="02020603050405020304" pitchFamily="18" charset="0"/>
              </a:rPr>
              <a:t>	SMC 	=  number of matches / number of attributes </a:t>
            </a:r>
            <a:endParaRPr lang="en-US" sz="2000" dirty="0"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anose="02020603050405020304" pitchFamily="18" charset="0"/>
              </a:rPr>
              <a:t>                 	=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anose="02020603050405020304" pitchFamily="18" charset="0"/>
              </a:rPr>
              <a:t>	J 	= number of 11 matches / number of non-zero attributes</a:t>
            </a:r>
            <a:endParaRPr lang="en-US" sz="2000" dirty="0"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anose="02020603050405020304" pitchFamily="18" charset="0"/>
              </a:rPr>
              <a:t>   	  	=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SMC versus Jaccard: Example</a:t>
            </a:r>
            <a:endParaRPr 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275637" cy="5106988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1 0 0 0 0 0 0 0 0 0    	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0 0 0 0 0 0 1 0 0 1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  (the number of attributes where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 and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1)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   (the number of attributes where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1 and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   (the number of attributes where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 and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  (the number of attributes where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1 and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1)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SMC 	=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= (0+7) / (2+1+0+7) = 0.7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=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/ (2 + 1 + 0) = 0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endParaRPr lang="en-US" sz="2200" i="1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Cosine Similarity</a:t>
            </a: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spcBef>
                <a:spcPts val="400"/>
              </a:spcBef>
            </a:pPr>
            <a:r>
              <a:rPr lang="en-US" sz="2400" dirty="0">
                <a:cs typeface="Times New Roman" panose="02020603050405020304" pitchFamily="18" charset="0"/>
              </a:rPr>
              <a:t> If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cs typeface="Times New Roman" panose="02020603050405020304" pitchFamily="18" charset="0"/>
              </a:rPr>
              <a:t> are two document vectors, then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spcBef>
                <a:spcPts val="400"/>
              </a:spcBef>
              <a:buFont typeface="Monotype Sorts" charset="2"/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cos(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=  &lt;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/ ||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||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spcBef>
                <a:spcPts val="400"/>
              </a:spcBef>
              <a:buNone/>
            </a:pPr>
            <a:r>
              <a:rPr lang="en-US" sz="2400" dirty="0">
                <a:cs typeface="Times New Roman" panose="02020603050405020304" pitchFamily="18" charset="0"/>
              </a:rPr>
              <a:t>where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400" dirty="0">
                <a:cs typeface="Times New Roman" panose="02020603050405020304" pitchFamily="18" charset="0"/>
              </a:rPr>
              <a:t> indicates inner product or vector dot product of vectors,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sz="2400" dirty="0">
                <a:cs typeface="Times New Roman" panose="02020603050405020304" pitchFamily="18" charset="0"/>
              </a:rPr>
              <a:t> 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d ||</a:t>
            </a:r>
            <a:r>
              <a:rPr lang="en-US" sz="2400" dirty="0">
                <a:cs typeface="Times New Roman" panose="02020603050405020304" pitchFamily="18" charset="0"/>
              </a:rPr>
              <a:t> is the   length of vector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cs typeface="Times New Roman" panose="02020603050405020304" pitchFamily="18" charset="0"/>
              </a:rPr>
              <a:t>.  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</a:pPr>
            <a:r>
              <a:rPr lang="en-US" sz="3200" dirty="0"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Times New Roman" panose="02020603050405020304" pitchFamily="18" charset="0"/>
              </a:rPr>
              <a:t>Example: 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3 2 0 5 0 0 0 2 0 0 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1 0 0 0 0 0 0 1 0 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d2&gt;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3*1 + 2*0 + 0*0 + 5*0 + 0*0 + 0*0 + 0*0 + 2*1 + 0*0 + 0*2 = 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= (3*3+2*2+0*0+5*5+0*0+0*0+0*0+2*2+0*0+0*0)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(42) 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6.481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= (1*1+0*0+0*0+0*0+0*0+0*0+0*0+1*1+0*0+2*2)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(6) 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2.449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= 0.3150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Font typeface="Monotype Sorts" charset="2"/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280400" cy="5334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Correlation measures the linear relationship between objects</a:t>
            </a:r>
            <a:endParaRPr lang="en-US" sz="2800" dirty="0"/>
          </a:p>
        </p:txBody>
      </p:sp>
      <p:pic>
        <p:nvPicPr>
          <p:cNvPr id="85160" name="Picture 16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67" y="990600"/>
            <a:ext cx="725199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Visually Evaluating Correlation</a:t>
            </a:r>
            <a:endParaRPr lang="en-US" sz="2800"/>
          </a:p>
        </p:txBody>
      </p:sp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228600" y="990600"/>
          <a:ext cx="5915025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07" name="Bitmap Image" r:id="rId1" imgW="7543800" imgH="7229475" progId="Paint.Picture">
                  <p:embed/>
                </p:oleObj>
              </mc:Choice>
              <mc:Fallback>
                <p:oleObj name="Bitmap Image" r:id="rId1" imgW="7543800" imgH="7229475" progId="Paint.Picture">
                  <p:embed/>
                  <p:pic>
                    <p:nvPicPr>
                      <p:cNvPr id="0" name="图片 86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243" t="1854" r="5334" b="10373"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5915025" cy="563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6629400" y="2971800"/>
            <a:ext cx="22860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Scatter plots showing the similarity from –1 to 1.</a:t>
            </a:r>
            <a:endParaRPr lang="en-US" sz="2200"/>
          </a:p>
        </p:txBody>
      </p:sp>
      <p:grpSp>
        <p:nvGrpSpPr>
          <p:cNvPr id="77829" name="Group 5"/>
          <p:cNvGrpSpPr/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77830" name="Rectangle 6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1" name="Rectangle 7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Drawback of Correlation</a:t>
            </a:r>
            <a:endParaRPr 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(-3, -2, -1, 0, 1, 2, 3)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(9, 4, 1, 0, 1, 4, 9)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0, mean(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2.16,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3.74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(-3)(5)+(-2)(0)+(-1)(-3)+(0)(-4)+(1)(-3)+(2)(0)+3(5) / ( 6 * 2.16 * 3.74 )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= 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Proximity 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Domain of application</a:t>
            </a:r>
            <a:endParaRPr lang="en-US" dirty="0"/>
          </a:p>
          <a:p>
            <a:pPr lvl="1"/>
            <a:r>
              <a:rPr lang="en-US" dirty="0"/>
              <a:t>Similarity measures tend to be specific to the type of attribute and data </a:t>
            </a:r>
            <a:endParaRPr lang="en-US" dirty="0"/>
          </a:p>
          <a:p>
            <a:pPr lvl="1"/>
            <a:r>
              <a:rPr lang="en-US" dirty="0"/>
              <a:t>Record data, images, graphs, sequences, 3D-protein structure, etc. tend to have different measures</a:t>
            </a:r>
            <a:endParaRPr lang="en-US" dirty="0"/>
          </a:p>
          <a:p>
            <a:r>
              <a:rPr lang="en-US" dirty="0"/>
              <a:t>However, one can talk about various properties that you would like a proximity measure to have</a:t>
            </a:r>
            <a:endParaRPr lang="en-US" dirty="0"/>
          </a:p>
          <a:p>
            <a:pPr lvl="1"/>
            <a:r>
              <a:rPr lang="en-US" dirty="0"/>
              <a:t>Symmetry is a common one</a:t>
            </a:r>
            <a:endParaRPr lang="en-US" dirty="0"/>
          </a:p>
          <a:p>
            <a:pPr lvl="1"/>
            <a:r>
              <a:rPr lang="en-US" dirty="0"/>
              <a:t>Tolerance to noise and outliers is another</a:t>
            </a:r>
            <a:endParaRPr lang="en-US" dirty="0"/>
          </a:p>
          <a:p>
            <a:pPr lvl="1"/>
            <a:r>
              <a:rPr lang="en-US" dirty="0"/>
              <a:t>Ability to find more types of patterns? </a:t>
            </a:r>
            <a:endParaRPr lang="en-US" dirty="0"/>
          </a:p>
          <a:p>
            <a:pPr lvl="1"/>
            <a:r>
              <a:rPr lang="en-US" dirty="0"/>
              <a:t>Many others possible</a:t>
            </a:r>
            <a:endParaRPr lang="en-US" dirty="0"/>
          </a:p>
          <a:p>
            <a:r>
              <a:rPr lang="en-US" dirty="0"/>
              <a:t>The measure must be applicable to the data and produce results that agree with domain knowledge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Based 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theory is a well-developed and fundamental disciple with broad applications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Some similarity measures are based on information theory </a:t>
            </a:r>
            <a:endParaRPr lang="en-US" dirty="0"/>
          </a:p>
          <a:p>
            <a:pPr lvl="1"/>
            <a:r>
              <a:rPr lang="en-US" dirty="0"/>
              <a:t>Mutual information in various versions</a:t>
            </a:r>
            <a:endParaRPr lang="en-US" dirty="0"/>
          </a:p>
          <a:p>
            <a:pPr lvl="1"/>
            <a:r>
              <a:rPr lang="en-US" dirty="0"/>
              <a:t>General and can handle non-linear relationships</a:t>
            </a:r>
            <a:endParaRPr lang="en-US" dirty="0"/>
          </a:p>
          <a:p>
            <a:pPr lvl="1"/>
            <a:r>
              <a:rPr lang="en-US" dirty="0"/>
              <a:t>Can be complicated and time intensive to compute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and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Information relates to possible outcomes of an event </a:t>
            </a:r>
            <a:endParaRPr lang="en-US" dirty="0"/>
          </a:p>
          <a:p>
            <a:pPr lvl="1"/>
            <a:r>
              <a:rPr lang="en-US" dirty="0"/>
              <a:t>transmission of a message, flip of a coin, or measurement of a piece of data 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more certain an outcome, the less information that it contains and vice-versa</a:t>
            </a:r>
            <a:endParaRPr lang="en-US" dirty="0"/>
          </a:p>
          <a:p>
            <a:pPr lvl="1"/>
            <a:r>
              <a:rPr lang="en-US" dirty="0"/>
              <a:t>For example, if a coin has two heads, then an outcome of heads provides no information</a:t>
            </a:r>
            <a:endParaRPr lang="en-US" dirty="0"/>
          </a:p>
          <a:p>
            <a:pPr lvl="1"/>
            <a:r>
              <a:rPr lang="en-US" dirty="0"/>
              <a:t>More quantitatively, the information is related the probability of an outcome</a:t>
            </a:r>
            <a:endParaRPr lang="en-US" dirty="0"/>
          </a:p>
          <a:p>
            <a:pPr marL="1148080" lvl="2" indent="-233680"/>
            <a:r>
              <a:rPr lang="en-US" dirty="0"/>
              <a:t>The smaller the probability of an outcome, the more information it provides and vice-versa</a:t>
            </a:r>
            <a:endParaRPr lang="en-US" dirty="0"/>
          </a:p>
          <a:p>
            <a:pPr lvl="1"/>
            <a:r>
              <a:rPr lang="en-US" dirty="0"/>
              <a:t>Entropy is the commonly used measure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4934001" y="2133600"/>
            <a:ext cx="1371600" cy="685800"/>
            <a:chOff x="2514600" y="2895600"/>
            <a:chExt cx="3810000" cy="1905000"/>
          </a:xfrm>
        </p:grpSpPr>
        <p:pic>
          <p:nvPicPr>
            <p:cNvPr id="87044" name="Picture 4" descr="2012 Lincoln One-Cent Obverse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2895600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046" name="Picture 6" descr="2012 Lincoln One-Cent Revers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2895600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020" y="2133600"/>
            <a:ext cx="912572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For </a:t>
                </a:r>
                <a:endParaRPr lang="en-US" dirty="0"/>
              </a:p>
              <a:p>
                <a:pPr lvl="1"/>
                <a:r>
                  <a:rPr lang="en-US" dirty="0"/>
                  <a:t>a variable (event),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, </a:t>
                </a:r>
                <a:endParaRPr lang="en-US" dirty="0"/>
              </a:p>
              <a:p>
                <a:pPr lvl="1"/>
                <a:r>
                  <a:rPr lang="en-US" dirty="0"/>
                  <a:t>with 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/>
                  <a:t> possible values (outcomes), 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x</a:t>
                </a:r>
                <a:r>
                  <a:rPr lang="en-US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…, </a:t>
                </a:r>
                <a:r>
                  <a:rPr lang="en-US" i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/>
                  <a:t>each outcome having probability, 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p</a:t>
                </a:r>
                <a:r>
                  <a:rPr lang="en-US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…, </a:t>
                </a:r>
                <a:r>
                  <a:rPr lang="en-US" i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/>
                  <a:t>  </a:t>
                </a:r>
                <a:endParaRPr lang="en-US" dirty="0"/>
              </a:p>
              <a:p>
                <a:pPr lvl="1"/>
                <a:r>
                  <a:rPr lang="en-US" dirty="0"/>
                  <a:t>the entropy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dirty="0"/>
                  <a:t>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H(X)</a:t>
                </a:r>
                <a:r>
                  <a:rPr lang="en-US" dirty="0"/>
                  <a:t>, is given by</a:t>
                </a:r>
                <a:endParaRPr lang="en-US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 panose="02040503050406030204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Entropy is between 0 and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en-US" dirty="0"/>
                  <a:t>and is measured in bits</a:t>
                </a:r>
                <a:endParaRPr lang="en-US" dirty="0"/>
              </a:p>
              <a:p>
                <a:pPr lvl="1"/>
                <a:r>
                  <a:rPr lang="en-US" dirty="0"/>
                  <a:t>Thus, entropy is a measure of how many bits it takes to represent an observation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on average</a:t>
                </a: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4" b="-52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Examples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a coin with probability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dirty="0"/>
                  <a:t> of heads and probability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 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p </a:t>
                </a:r>
                <a:r>
                  <a:rPr lang="en-US" dirty="0"/>
                  <a:t>of tails</a:t>
                </a:r>
                <a:endParaRPr lang="en-US" dirty="0"/>
              </a:p>
              <a:p>
                <a:endParaRPr lang="en-US" sz="1000" dirty="0"/>
              </a:p>
              <a:p>
                <a:pPr marL="10287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/>
                        </a:rPr>
                        <m:t>𝑝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/>
                            </a:rPr>
                            <m:t>−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/>
                        </a:rPr>
                        <m:t>𝑞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/>
                            </a:rPr>
                            <m:t>𝑞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028700" indent="0">
                  <a:buNone/>
                </a:pPr>
                <a:endParaRPr lang="en-US" sz="1000" dirty="0"/>
              </a:p>
              <a:p>
                <a:pPr lvl="1"/>
                <a:r>
                  <a:rPr lang="en-US" dirty="0"/>
                  <a:t>For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0.5,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0.5 </a:t>
                </a:r>
                <a:r>
                  <a:rPr lang="en-US" dirty="0"/>
                  <a:t>(fair coin)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dirty="0"/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</a:t>
                </a:r>
                <a:r>
                  <a:rPr lang="en-US" dirty="0"/>
                  <a:t> </a:t>
                </a:r>
                <a:endParaRPr lang="en-US" dirty="0"/>
              </a:p>
              <a:p>
                <a:pPr lvl="1"/>
                <a:r>
                  <a:rPr lang="en-US" dirty="0"/>
                  <a:t>For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or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dirty="0"/>
                  <a:t>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dirty="0"/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</a:t>
                </a:r>
                <a:r>
                  <a:rPr lang="en-US" dirty="0"/>
                  <a:t> </a:t>
                </a:r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What is the entropy of a fair four-sided die? </a:t>
                </a:r>
                <a:endParaRPr lang="en-US" dirty="0"/>
              </a:p>
              <a:p>
                <a:pPr lvl="1"/>
                <a:endParaRPr lang="en-US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4" b="-20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for Sample Data: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Maximum entropy is log</a:t>
            </a:r>
            <a:r>
              <a:rPr lang="en-US" baseline="-25000" dirty="0"/>
              <a:t>2</a:t>
            </a:r>
            <a:r>
              <a:rPr lang="en-US" dirty="0"/>
              <a:t>5 = 2.3219</a:t>
            </a:r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1295400"/>
          <a:ext cx="6096000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Hair Color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Black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0.3113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0.4105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0.2161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Other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0.2161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1.1540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for Sample Data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we have </a:t>
                </a:r>
                <a:endParaRPr lang="en-US" dirty="0"/>
              </a:p>
              <a:p>
                <a:pPr lvl="1"/>
                <a:r>
                  <a:rPr lang="en-US" dirty="0"/>
                  <a:t>a number of observations 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dirty="0"/>
                  <a:t>) of some attribute,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, e.g., the hair color of students in the class, </a:t>
                </a:r>
                <a:endParaRPr lang="en-US" dirty="0"/>
              </a:p>
              <a:p>
                <a:pPr lvl="1"/>
                <a:r>
                  <a:rPr lang="en-US" dirty="0"/>
                  <a:t>where there are </a:t>
                </a:r>
                <a:r>
                  <a:rPr lang="en-US" i="1" dirty="0">
                    <a:latin typeface="Cambria" panose="02040503050406030204" pitchFamily="18" charset="0"/>
                  </a:rPr>
                  <a:t>n</a:t>
                </a:r>
                <a:r>
                  <a:rPr lang="en-US" dirty="0"/>
                  <a:t> different possible values</a:t>
                </a:r>
                <a:endParaRPr lang="en-US" dirty="0"/>
              </a:p>
              <a:p>
                <a:pPr lvl="1"/>
                <a:r>
                  <a:rPr lang="en-US" dirty="0"/>
                  <a:t>And the number of observation in the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aseline="30000" dirty="0" err="1"/>
                  <a:t>th</a:t>
                </a:r>
                <a:r>
                  <a:rPr lang="en-US" dirty="0"/>
                  <a:t> category is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en-US" baseline="-25000" dirty="0"/>
              </a:p>
              <a:p>
                <a:pPr lvl="1"/>
                <a:r>
                  <a:rPr lang="en-US" dirty="0"/>
                  <a:t>Then, for this sample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a:rPr lang="en-US" i="1">
                          <a:latin typeface="Cambria Math" panose="02040503050406030204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endParaRPr lang="en-US" i="1" dirty="0"/>
              </a:p>
              <a:p>
                <a:r>
                  <a:rPr lang="en-US" dirty="0"/>
                  <a:t>For continuous data, the calculation is harder</a:t>
                </a:r>
                <a:endParaRPr lang="en-US" dirty="0"/>
              </a:p>
              <a:p>
                <a:endParaRPr lang="en-US" i="1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4" b="-4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Conditional</a:t>
            </a:r>
            <a:r>
              <a:rPr lang="zh-CN" altLang="en-US" dirty="0"/>
              <a:t> </a:t>
            </a:r>
            <a:r>
              <a:rPr lang="en-US" altLang="zh-CN" dirty="0"/>
              <a:t>Entropy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295400"/>
            <a:ext cx="5077024" cy="4590098"/>
          </a:xfr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Information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Information one variable provides about another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Formally,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/>
                      </a:rPr>
                      <m:t>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/>
                      </a:rPr>
                      <m:t>=</m:t>
                    </m:r>
                    <m:r>
                      <a:rPr lang="en-US" b="0" i="1" smtClean="0">
                        <a:latin typeface="Cambria Math" panose="02040503050406030204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/>
                      </a:rPr>
                      <m:t>+</m:t>
                    </m:r>
                    <m:r>
                      <a:rPr lang="en-US" b="0" i="1" smtClean="0">
                        <a:latin typeface="Cambria Math" panose="02040503050406030204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/>
                      </a:rPr>
                      <m:t>−</m:t>
                    </m:r>
                    <m:r>
                      <a:rPr lang="en-US" b="0" i="1" smtClean="0">
                        <a:latin typeface="Cambria Math" panose="02040503050406030204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/>
                      </a:rPr>
                      <m:t>(</m:t>
                    </m:r>
                    <m:r>
                      <a:rPr lang="en-US" b="0" i="1" smtClean="0">
                        <a:latin typeface="Cambria Math" panose="02040503050406030204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/>
                      </a:rPr>
                      <m:t>,</m:t>
                    </m:r>
                    <m:r>
                      <a:rPr lang="en-US" b="0" i="1" smtClean="0">
                        <a:latin typeface="Cambria Math" panose="02040503050406030204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US" dirty="0"/>
                  <a:t>, where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H(X,Y)</a:t>
                </a:r>
                <a:r>
                  <a:rPr lang="en-US" dirty="0"/>
                  <a:t> is the joint entropy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and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Y,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 panose="02040503050406030204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/>
                                        </a:rPr>
                                        <m:t>𝑝</m:t>
                                      </m:r>
                                      <m:r>
                                        <a:rPr lang="en-US" i="1" baseline="-25000">
                                          <a:latin typeface="Cambria Math" panose="02040503050406030204"/>
                                        </a:rPr>
                                        <m:t>𝑖𝑗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/>
                                    </a:rPr>
                                    <m:t>𝑝</m:t>
                                  </m:r>
                                  <m:r>
                                    <a:rPr lang="en-US" i="1" baseline="-25000">
                                      <a:latin typeface="Cambria Math" panose="02040503050406030204"/>
                                    </a:rPr>
                                    <m:t>𝑖𝑗</m:t>
                                  </m:r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900" dirty="0"/>
                  <a:t>Where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dirty="0"/>
                  <a:t> is the probability that the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aseline="30000" dirty="0" err="1"/>
                  <a:t>th</a:t>
                </a:r>
                <a:r>
                  <a:rPr lang="en-US" dirty="0"/>
                  <a:t> value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and the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baseline="30000" dirty="0" err="1"/>
                  <a:t>th</a:t>
                </a:r>
                <a:r>
                  <a:rPr lang="en-US" dirty="0"/>
                  <a:t> value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/>
                  <a:t> occur together</a:t>
                </a:r>
                <a:r>
                  <a:rPr lang="en-US" altLang="zh-CN" dirty="0"/>
                  <a:t>.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also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computed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as:</a:t>
                </a: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r>
                  <a:rPr lang="en-US" dirty="0"/>
                  <a:t>For discrete variables, this is easy to compute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Maximum mutual information for discrete variables is </a:t>
                </a:r>
                <a:br>
                  <a:rPr lang="en-US" dirty="0"/>
                </a:br>
                <a:r>
                  <a:rPr lang="en-US" dirty="0"/>
                  <a:t>log</a:t>
                </a:r>
                <a:r>
                  <a:rPr lang="en-US" baseline="-25000" dirty="0"/>
                  <a:t>2</a:t>
                </a:r>
                <a:r>
                  <a:rPr lang="en-US" dirty="0"/>
                  <a:t>(min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/>
                  <a:t>)</a:t>
                </a:r>
                <a:r>
                  <a:rPr lang="en-US" altLang="zh-CN" dirty="0"/>
                  <a:t>)</a:t>
                </a:r>
                <a:r>
                  <a:rPr lang="en-US" dirty="0"/>
                  <a:t>, where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(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/>
                  <a:t>) is the number of values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/>
                  <a:t>)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4038600"/>
            <a:ext cx="5410200" cy="99019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Information Example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1219200"/>
          <a:ext cx="3733800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6800"/>
                <a:gridCol w="914400"/>
                <a:gridCol w="601980"/>
                <a:gridCol w="1150620"/>
              </a:tblGrid>
              <a:tr h="400050">
                <a:tc>
                  <a:txBody>
                    <a:bodyPr/>
                    <a:lstStyle/>
                    <a:p>
                      <a:r>
                        <a:rPr lang="en-US" dirty="0"/>
                        <a:t>Student Status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0.5184</a:t>
                      </a:r>
                      <a:endParaRPr lang="en-US" sz="1400" dirty="0"/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0.4744</a:t>
                      </a:r>
                      <a:endParaRPr lang="en-US" sz="1400" dirty="0"/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0.9928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3276600"/>
          <a:ext cx="3733800" cy="1752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6800"/>
                <a:gridCol w="914400"/>
                <a:gridCol w="609600"/>
                <a:gridCol w="1143000"/>
              </a:tblGrid>
              <a:tr h="349556"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41364"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0.5301</a:t>
                      </a:r>
                      <a:endParaRPr lang="en-US" sz="1400" dirty="0"/>
                    </a:p>
                  </a:txBody>
                  <a:tcPr/>
                </a:tc>
              </a:tr>
              <a:tr h="341364"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0.5000</a:t>
                      </a:r>
                      <a:endParaRPr lang="en-US" sz="1400" dirty="0"/>
                    </a:p>
                  </a:txBody>
                  <a:tcPr/>
                </a:tc>
              </a:tr>
              <a:tr h="341364"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0.4105</a:t>
                      </a:r>
                      <a:endParaRPr lang="en-US" sz="1400" dirty="0"/>
                    </a:p>
                  </a:txBody>
                  <a:tcPr/>
                </a:tc>
              </a:tr>
              <a:tr h="362748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1.4406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67200" y="1219201"/>
          <a:ext cx="4724400" cy="35283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6800"/>
                <a:gridCol w="914400"/>
                <a:gridCol w="914400"/>
                <a:gridCol w="762000"/>
                <a:gridCol w="1066800"/>
              </a:tblGrid>
              <a:tr h="745570">
                <a:tc>
                  <a:txBody>
                    <a:bodyPr/>
                    <a:lstStyle/>
                    <a:p>
                      <a:r>
                        <a:rPr lang="en-US" dirty="0"/>
                        <a:t>Student Status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5981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0.2161</a:t>
                      </a:r>
                      <a:endParaRPr lang="en-US" sz="1400" dirty="0"/>
                    </a:p>
                  </a:txBody>
                  <a:tcPr/>
                </a:tc>
              </a:tr>
              <a:tr h="388648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0.5211</a:t>
                      </a:r>
                      <a:endParaRPr lang="en-US" sz="1400" dirty="0"/>
                    </a:p>
                  </a:txBody>
                  <a:tcPr/>
                </a:tc>
              </a:tr>
              <a:tr h="465981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0.3322</a:t>
                      </a:r>
                      <a:endParaRPr lang="en-US" sz="1400" dirty="0"/>
                    </a:p>
                  </a:txBody>
                  <a:tcPr/>
                </a:tc>
              </a:tr>
              <a:tr h="371086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0.5211</a:t>
                      </a:r>
                      <a:endParaRPr lang="en-US" sz="14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0.4644</a:t>
                      </a:r>
                      <a:endParaRPr lang="en-US" sz="1400" dirty="0"/>
                    </a:p>
                  </a:txBody>
                  <a:tcPr/>
                </a:tc>
              </a:tr>
              <a:tr h="355033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0.2161</a:t>
                      </a:r>
                      <a:endParaRPr lang="en-US" sz="1400" dirty="0"/>
                    </a:p>
                  </a:txBody>
                  <a:tcPr/>
                </a:tc>
              </a:tr>
              <a:tr h="355033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2.2710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33400" y="5486400"/>
            <a:ext cx="800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Mutual information of Student Status and Grade =  0.9928 + 1.4406 - 2.2710 = 0.1624</a:t>
            </a:r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Relationship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500" y="1714500"/>
            <a:ext cx="54483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0" y="4921250"/>
            <a:ext cx="553085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General Approach for Combining Similarities</a:t>
            </a:r>
            <a:endParaRPr lang="en-US" sz="2800"/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351837" cy="4800600"/>
          </a:xfrm>
        </p:spPr>
        <p:txBody>
          <a:bodyPr/>
          <a:lstStyle/>
          <a:p>
            <a:pPr marL="533400" indent="-533400">
              <a:spcBef>
                <a:spcPct val="20000"/>
              </a:spcBef>
              <a:buSzPct val="85000"/>
            </a:pPr>
            <a:r>
              <a:rPr lang="en-US" sz="2400" dirty="0"/>
              <a:t>Sometimes attributes are of many different types, but an overall similarity is needed.</a:t>
            </a:r>
            <a:endParaRPr lang="en-US" sz="2400" dirty="0"/>
          </a:p>
          <a:p>
            <a:pPr marL="533400" indent="-533400">
              <a:spcBef>
                <a:spcPct val="20000"/>
              </a:spcBef>
              <a:buFont typeface="Monotype Sorts" charset="2"/>
              <a:buNone/>
            </a:pPr>
            <a:r>
              <a:rPr lang="en-US" sz="2400" dirty="0"/>
              <a:t>1: For the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/>
              <a:t> attribute, compute a similarity, </a:t>
            </a:r>
            <a:r>
              <a:rPr lang="en-US" sz="2400" i="1" dirty="0" err="1">
                <a:latin typeface="Times New Roman" panose="02020603050405020304" pitchFamily="18" charset="0"/>
              </a:rPr>
              <a:t>s</a:t>
            </a:r>
            <a:r>
              <a:rPr lang="en-US" sz="2400" i="1" baseline="-25000" dirty="0" err="1">
                <a:latin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</a:rPr>
              <a:t>)</a:t>
            </a:r>
            <a:r>
              <a:rPr lang="en-US" sz="2400" dirty="0"/>
              <a:t>, in the range [0, 1].</a:t>
            </a:r>
            <a:endParaRPr lang="en-US" sz="2400" dirty="0"/>
          </a:p>
          <a:p>
            <a:pPr marL="533400" indent="-533400">
              <a:spcBef>
                <a:spcPct val="20000"/>
              </a:spcBef>
              <a:buFont typeface="Monotype Sorts" charset="2"/>
              <a:buNone/>
            </a:pPr>
            <a:r>
              <a:rPr lang="en-US" sz="2400" dirty="0"/>
              <a:t>2: Define an indicator variable, </a:t>
            </a:r>
            <a:r>
              <a:rPr lang="en-US" sz="2400" dirty="0">
                <a:sym typeface="Symbol" panose="05050102010706020507" pitchFamily="18" charset="2"/>
              </a:rPr>
              <a:t></a:t>
            </a:r>
            <a:r>
              <a:rPr lang="en-US" sz="2400" i="1" baseline="-25000" dirty="0">
                <a:latin typeface="Times New Roman" panose="02020603050405020304" pitchFamily="18" charset="0"/>
              </a:rPr>
              <a:t>k</a:t>
            </a:r>
            <a:r>
              <a:rPr lang="en-US" sz="2400" dirty="0"/>
              <a:t>, for the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/>
              <a:t> attribute as follows:</a:t>
            </a:r>
            <a:endParaRPr lang="en-US" sz="2400" dirty="0"/>
          </a:p>
          <a:p>
            <a:pPr marL="990600" lvl="1" indent="-533400">
              <a:buNone/>
            </a:pPr>
            <a:r>
              <a:rPr lang="en-US" sz="2200" dirty="0">
                <a:sym typeface="Symbol" panose="05050102010706020507" pitchFamily="18" charset="2"/>
              </a:rPr>
              <a:t></a:t>
            </a:r>
            <a:r>
              <a:rPr lang="en-US" sz="2200" i="1" baseline="-25000" dirty="0">
                <a:latin typeface="Times New Roman" panose="02020603050405020304" pitchFamily="18" charset="0"/>
              </a:rPr>
              <a:t>k</a:t>
            </a:r>
            <a:r>
              <a:rPr lang="en-US" sz="2200" dirty="0"/>
              <a:t> = 0 if the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/>
              <a:t> </a:t>
            </a:r>
            <a:r>
              <a:rPr lang="en-US" sz="2200" dirty="0"/>
              <a:t>attribute is an asymmetric attribute and</a:t>
            </a:r>
            <a:endParaRPr lang="en-US" sz="2200" dirty="0"/>
          </a:p>
          <a:p>
            <a:pPr marL="990600" lvl="1" indent="-533400">
              <a:buFont typeface="Arial" panose="020B0604020202020204" pitchFamily="34" charset="0"/>
              <a:buNone/>
            </a:pPr>
            <a:r>
              <a:rPr lang="en-US" sz="2200" dirty="0"/>
              <a:t>       both objects have a value of 0, or if one of the objects   has a missing value for the </a:t>
            </a:r>
            <a:r>
              <a:rPr lang="en-US" sz="2200" dirty="0" err="1"/>
              <a:t>kth</a:t>
            </a:r>
            <a:r>
              <a:rPr lang="en-US" sz="2200" dirty="0"/>
              <a:t> attribute</a:t>
            </a:r>
            <a:endParaRPr lang="en-US" sz="2200" dirty="0"/>
          </a:p>
          <a:p>
            <a:pPr marL="990600" lvl="1" indent="-533400">
              <a:buFont typeface="Arial" panose="020B0604020202020204" pitchFamily="34" charset="0"/>
              <a:buNone/>
            </a:pPr>
            <a:r>
              <a:rPr lang="en-US" sz="2200" dirty="0">
                <a:sym typeface="Symbol" panose="05050102010706020507" pitchFamily="18" charset="2"/>
              </a:rPr>
              <a:t></a:t>
            </a:r>
            <a:r>
              <a:rPr lang="en-US" sz="2200" i="1" baseline="-25000" dirty="0">
                <a:latin typeface="Times New Roman" panose="02020603050405020304" pitchFamily="18" charset="0"/>
              </a:rPr>
              <a:t>k</a:t>
            </a:r>
            <a:r>
              <a:rPr lang="en-US" sz="2200" dirty="0"/>
              <a:t> = 1 otherwise</a:t>
            </a:r>
            <a:endParaRPr lang="en-US" sz="2200" dirty="0"/>
          </a:p>
          <a:p>
            <a:pPr marL="533400" indent="-533400">
              <a:buFont typeface="Monotype Sorts" charset="2"/>
              <a:buNone/>
            </a:pPr>
            <a:r>
              <a:rPr lang="en-US" sz="2400" dirty="0"/>
              <a:t>3. Compute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Weights to Combine Similarities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89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May not want to treat all attributes the same.</a:t>
                </a:r>
                <a:endParaRPr lang="en-US" dirty="0"/>
              </a:p>
              <a:p>
                <a:pPr lvl="1"/>
                <a:r>
                  <a:rPr lang="en-US" dirty="0"/>
                  <a:t>Use non-negative weights </a:t>
                </a:r>
                <a:r>
                  <a:rPr lang="en-US" dirty="0">
                    <a:sym typeface="Symbol" panose="05050102010706020507"/>
                  </a:rPr>
                  <a:t>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/>
                            <a:ea typeface="Cambria Math" panose="02040503050406030204"/>
                          </a:rPr>
                          <m:t>𝜔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/>
                      </a:rPr>
                      <m:t>𝑠𝑖𝑚𝑖𝑙𝑎𝑟𝑖𝑡𝑦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/>
                          </a:rPr>
                          <m:t>𝐱</m:t>
                        </m:r>
                        <m:r>
                          <a:rPr lang="en-US" i="1">
                            <a:latin typeface="Cambria Math" panose="02040503050406030204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/>
                          </a:rPr>
                          <m:t>𝐲</m:t>
                        </m:r>
                      </m:e>
                    </m:d>
                    <m:r>
                      <a:rPr lang="en-US" i="1">
                        <a:latin typeface="Cambria Math" panose="02040503050406030204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/>
                              </a:rPr>
                              <m:t>(</m:t>
                            </m:r>
                            <m:r>
                              <a:rPr lang="en-US" b="1">
                                <a:latin typeface="Cambria Math" panose="02040503050406030204"/>
                              </a:rPr>
                              <m:t>𝐱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,</m:t>
                            </m:r>
                            <m:r>
                              <a:rPr lang="en-US" b="1">
                                <a:latin typeface="Cambria Math" panose="02040503050406030204"/>
                              </a:rPr>
                              <m:t>𝐲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Can also define a weighted form of distance</a:t>
                </a: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80899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901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72000"/>
            <a:ext cx="5119688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Density</a:t>
            </a:r>
            <a:endParaRPr 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Measures the degree to which data objects are close to each other in a specified area</a:t>
            </a:r>
            <a:endParaRPr lang="en-US" sz="2400" dirty="0"/>
          </a:p>
          <a:p>
            <a:r>
              <a:rPr lang="en-US" sz="2400" dirty="0"/>
              <a:t>The notion of density is closely related to that of proximity</a:t>
            </a:r>
            <a:endParaRPr lang="en-US" sz="2400" dirty="0"/>
          </a:p>
          <a:p>
            <a:r>
              <a:rPr lang="en-US" sz="2400" dirty="0"/>
              <a:t>Concept of density is typically used for clustering and anomaly detection</a:t>
            </a:r>
            <a:endParaRPr lang="en-US" sz="2400" dirty="0"/>
          </a:p>
          <a:p>
            <a:r>
              <a:rPr lang="en-US" sz="2400" dirty="0"/>
              <a:t>Examples:</a:t>
            </a:r>
            <a:endParaRPr lang="en-US" sz="2400" dirty="0"/>
          </a:p>
          <a:p>
            <a:pPr lvl="1"/>
            <a:r>
              <a:rPr lang="en-US" dirty="0"/>
              <a:t>Euclidean density</a:t>
            </a:r>
            <a:endParaRPr lang="en-US" dirty="0"/>
          </a:p>
          <a:p>
            <a:pPr lvl="2"/>
            <a:r>
              <a:rPr lang="en-US" sz="2400" dirty="0"/>
              <a:t> </a:t>
            </a:r>
            <a:r>
              <a:rPr lang="en-US" sz="2200" dirty="0"/>
              <a:t>Euclidean density = number of points per unit volume</a:t>
            </a:r>
            <a:endParaRPr lang="en-US" sz="2200" dirty="0"/>
          </a:p>
          <a:p>
            <a:pPr lvl="1"/>
            <a:r>
              <a:rPr lang="en-US" dirty="0"/>
              <a:t>Probability density</a:t>
            </a:r>
            <a:endParaRPr lang="en-US" dirty="0"/>
          </a:p>
          <a:p>
            <a:pPr lvl="2"/>
            <a:r>
              <a:rPr lang="en-US" sz="2400" dirty="0"/>
              <a:t> </a:t>
            </a:r>
            <a:r>
              <a:rPr lang="en-US" sz="2200" dirty="0"/>
              <a:t>Estimate what the distribution of the data looks like</a:t>
            </a:r>
            <a:endParaRPr lang="en-US" sz="2200" dirty="0"/>
          </a:p>
          <a:p>
            <a:pPr lvl="1"/>
            <a:r>
              <a:rPr lang="en-US" dirty="0"/>
              <a:t>Graph-based density</a:t>
            </a:r>
            <a:endParaRPr lang="en-US" dirty="0"/>
          </a:p>
          <a:p>
            <a:pPr lvl="2"/>
            <a:r>
              <a:rPr lang="en-US" sz="2400" dirty="0"/>
              <a:t> Connectivity</a:t>
            </a:r>
            <a:endParaRPr lang="en-US" sz="2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r>
              <a:rPr lang="en-US"/>
              <a:t>Euclidean Density: Grid-based Approach</a:t>
            </a:r>
            <a:endParaRPr 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Simplest approach is to divide region into a number of rectangular cells of equal volume and define density as # of points the cell contains</a:t>
            </a:r>
            <a:endParaRPr lang="en-US" dirty="0"/>
          </a:p>
        </p:txBody>
      </p:sp>
      <p:sp>
        <p:nvSpPr>
          <p:cNvPr id="82948" name="Text Box 5"/>
          <p:cNvSpPr txBox="1">
            <a:spLocks noChangeArrowheads="1"/>
          </p:cNvSpPr>
          <p:nvPr/>
        </p:nvSpPr>
        <p:spPr bwMode="auto">
          <a:xfrm>
            <a:off x="228600" y="59436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 </a:t>
            </a:r>
            <a:r>
              <a:rPr lang="en-US" sz="2400"/>
              <a:t>Grid-based density.		    Counts for each cell.</a:t>
            </a:r>
            <a:endParaRPr lang="en-US" sz="2400"/>
          </a:p>
        </p:txBody>
      </p:sp>
      <p:pic>
        <p:nvPicPr>
          <p:cNvPr id="82949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" t="3334" r="2870" b="11636"/>
          <a:stretch>
            <a:fillRect/>
          </a:stretch>
        </p:blipFill>
        <p:spPr>
          <a:xfrm>
            <a:off x="0" y="2590800"/>
            <a:ext cx="9144000" cy="3886200"/>
          </a:xfr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Euclidean Density: Center-Based</a:t>
            </a:r>
            <a:endParaRPr 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Euclidean density is the number of points within a specified radius of the point</a:t>
            </a:r>
            <a:endParaRPr lang="en-US" dirty="0"/>
          </a:p>
          <a:p>
            <a:endParaRPr lang="en-US" dirty="0"/>
          </a:p>
        </p:txBody>
      </p:sp>
      <p:pic>
        <p:nvPicPr>
          <p:cNvPr id="83972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71"/>
          <a:stretch>
            <a:fillRect/>
          </a:stretch>
        </p:blipFill>
        <p:spPr>
          <a:xfrm>
            <a:off x="990600" y="2133600"/>
            <a:ext cx="6746875" cy="3652838"/>
          </a:xfrm>
          <a:noFill/>
        </p:spPr>
      </p:pic>
      <p:sp>
        <p:nvSpPr>
          <p:cNvPr id="83973" name="Text Box 5"/>
          <p:cNvSpPr txBox="1">
            <a:spLocks noChangeArrowheads="1"/>
          </p:cNvSpPr>
          <p:nvPr/>
        </p:nvSpPr>
        <p:spPr bwMode="auto">
          <a:xfrm>
            <a:off x="1676400" y="5791200"/>
            <a:ext cx="693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Illustration of center-based density.</a:t>
            </a:r>
            <a:endParaRPr lang="en-US" sz="24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Preprocessing</a:t>
            </a: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Aggregation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Sampling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Dimensionality Reduction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Feature subset selection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Feature creation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Discretization and </a:t>
            </a:r>
            <a:r>
              <a:rPr lang="en-US" dirty="0" err="1"/>
              <a:t>Binarization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Attribute Transformation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</a:t>
            </a:r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Combining two or more attributes (or objects) into a single attribute (or object)</a:t>
            </a:r>
            <a:endParaRPr lang="en-US" dirty="0"/>
          </a:p>
          <a:p>
            <a:endParaRPr lang="en-US" dirty="0"/>
          </a:p>
          <a:p>
            <a:r>
              <a:rPr lang="en-US" dirty="0"/>
              <a:t>Purpose</a:t>
            </a:r>
            <a:endParaRPr lang="en-US" dirty="0"/>
          </a:p>
          <a:p>
            <a:pPr lvl="1"/>
            <a:r>
              <a:rPr lang="en-US" dirty="0"/>
              <a:t>Data reduction</a:t>
            </a:r>
            <a:endParaRPr lang="en-US" dirty="0"/>
          </a:p>
          <a:p>
            <a:pPr lvl="2"/>
            <a:r>
              <a:rPr lang="en-US" sz="2200" dirty="0"/>
              <a:t> Reduce the number of attributes or objects</a:t>
            </a:r>
            <a:endParaRPr lang="en-US" sz="2200" dirty="0"/>
          </a:p>
          <a:p>
            <a:pPr lvl="1"/>
            <a:r>
              <a:rPr lang="en-US" dirty="0"/>
              <a:t>Change of scale</a:t>
            </a:r>
            <a:endParaRPr lang="en-US" dirty="0"/>
          </a:p>
          <a:p>
            <a:pPr lvl="2"/>
            <a:r>
              <a:rPr lang="en-US" sz="2200" dirty="0"/>
              <a:t> Cities aggregated into regions, states, countries, etc.</a:t>
            </a:r>
            <a:endParaRPr lang="en-US" sz="2200" dirty="0"/>
          </a:p>
          <a:p>
            <a:pPr lvl="2"/>
            <a:r>
              <a:rPr lang="en-US" sz="2200" dirty="0"/>
              <a:t> Days aggregated into weeks, months, or years</a:t>
            </a:r>
            <a:endParaRPr lang="en-US" sz="2200" dirty="0"/>
          </a:p>
          <a:p>
            <a:pPr lvl="1"/>
            <a:r>
              <a:rPr lang="en-US" dirty="0"/>
              <a:t>More “stable” data</a:t>
            </a:r>
            <a:endParaRPr lang="en-US" dirty="0"/>
          </a:p>
          <a:p>
            <a:pPr lvl="2"/>
            <a:r>
              <a:rPr lang="en-US" sz="2200" dirty="0"/>
              <a:t> Aggregated data tends to have less variability </a:t>
            </a:r>
            <a:endParaRPr lang="en-US" sz="2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Precipitation in Australia</a:t>
            </a:r>
            <a:endParaRPr 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is based on precipitation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降雨量</a:t>
            </a:r>
            <a:r>
              <a:rPr lang="en-US" altLang="zh-CN" dirty="0"/>
              <a:t>)</a:t>
            </a:r>
            <a:r>
              <a:rPr lang="en-US" dirty="0"/>
              <a:t> in Australia from the period 1982 to 1993. </a:t>
            </a:r>
            <a:endParaRPr lang="en-US" dirty="0"/>
          </a:p>
          <a:p>
            <a:pPr lvl="1">
              <a:buFont typeface="Arial" panose="020B0604020202020204" pitchFamily="34" charset="0"/>
              <a:buNone/>
            </a:pPr>
            <a:r>
              <a:rPr lang="en-US" dirty="0"/>
              <a:t>The next slide shows </a:t>
            </a:r>
            <a:endParaRPr lang="en-US" dirty="0"/>
          </a:p>
          <a:p>
            <a:pPr lvl="1"/>
            <a:r>
              <a:rPr lang="en-US" dirty="0"/>
              <a:t>A histogram for the standard deviation of average monthly precipitation for 3,030 0.5◦ by 0.5◦ grid cells in Australia, and</a:t>
            </a:r>
            <a:endParaRPr lang="en-US" dirty="0"/>
          </a:p>
          <a:p>
            <a:pPr lvl="1"/>
            <a:r>
              <a:rPr lang="en-US" dirty="0"/>
              <a:t>A histogram for the standard deviation of the average yearly precipitation for the same locations.</a:t>
            </a:r>
            <a:endParaRPr lang="en-US" dirty="0"/>
          </a:p>
          <a:p>
            <a:r>
              <a:rPr lang="en-US" dirty="0"/>
              <a:t>The average yearly precipitation has less variability than the average monthly precipitation. </a:t>
            </a:r>
            <a:endParaRPr lang="en-US" dirty="0"/>
          </a:p>
          <a:p>
            <a:r>
              <a:rPr lang="en-US" dirty="0"/>
              <a:t>All precipitation measurements (and their standard deviations) are in centimeters.</a:t>
            </a:r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Precipitation in Australia …</a:t>
            </a:r>
            <a:endParaRPr lang="en-US" dirty="0"/>
          </a:p>
        </p:txBody>
      </p:sp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3796" name="Text Box 5"/>
          <p:cNvSpPr txBox="1">
            <a:spLocks noChangeArrowheads="1"/>
          </p:cNvSpPr>
          <p:nvPr/>
        </p:nvSpPr>
        <p:spPr bwMode="auto">
          <a:xfrm>
            <a:off x="381000" y="5654675"/>
            <a:ext cx="403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dirty="0"/>
              <a:t>Standard Deviation of Average Monthly Precipitation</a:t>
            </a:r>
            <a:endParaRPr lang="en-US" sz="1800" dirty="0"/>
          </a:p>
        </p:txBody>
      </p:sp>
      <p:sp>
        <p:nvSpPr>
          <p:cNvPr id="33797" name="Rectangle 6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3798" name="Text Box 7"/>
          <p:cNvSpPr txBox="1">
            <a:spLocks noChangeArrowheads="1"/>
          </p:cNvSpPr>
          <p:nvPr/>
        </p:nvSpPr>
        <p:spPr bwMode="auto">
          <a:xfrm>
            <a:off x="4876800" y="5654675"/>
            <a:ext cx="3429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Standard Deviation of Average Yearly Precipitation</a:t>
            </a:r>
            <a:endParaRPr lang="en-US" sz="1800"/>
          </a:p>
        </p:txBody>
      </p:sp>
      <p:pic>
        <p:nvPicPr>
          <p:cNvPr id="33799" name="Picture 8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" r="18164" b="5911"/>
          <a:stretch>
            <a:fillRect/>
          </a:stretch>
        </p:blipFill>
        <p:spPr bwMode="auto">
          <a:xfrm>
            <a:off x="152400" y="1768475"/>
            <a:ext cx="4038600" cy="361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0" name="Picture 9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1" r="5850" b="6668"/>
          <a:stretch>
            <a:fillRect/>
          </a:stretch>
        </p:blipFill>
        <p:spPr bwMode="auto">
          <a:xfrm>
            <a:off x="4648200" y="1768476"/>
            <a:ext cx="4495800" cy="358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1" name="Text Box 10"/>
          <p:cNvSpPr txBox="1">
            <a:spLocks noChangeArrowheads="1"/>
          </p:cNvSpPr>
          <p:nvPr/>
        </p:nvSpPr>
        <p:spPr bwMode="auto">
          <a:xfrm>
            <a:off x="533400" y="1143000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Variation of Precipitation in Australia</a:t>
            </a:r>
            <a:endParaRPr lang="en-US" sz="24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Sampling </a:t>
            </a:r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>
            <a:normAutofit lnSpcReduction="10000"/>
          </a:bodyPr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ea typeface="MS Mincho" pitchFamily="49" charset="-128"/>
              </a:rPr>
              <a:t>Sampling is the main technique employed for data reduction.</a:t>
            </a:r>
            <a:endParaRPr lang="en-US" dirty="0">
              <a:ea typeface="MS Mincho" pitchFamily="49" charset="-128"/>
            </a:endParaRPr>
          </a:p>
          <a:p>
            <a:pPr lvl="1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ea typeface="MS Mincho" pitchFamily="49" charset="-128"/>
              </a:rPr>
              <a:t>It is often used for both the preliminary investigation of the data and the final data analysis.</a:t>
            </a:r>
            <a:endParaRPr lang="en-US" dirty="0">
              <a:ea typeface="MS Mincho" pitchFamily="49" charset="-128"/>
            </a:endParaRPr>
          </a:p>
          <a:p>
            <a:pPr lvl="1" algn="just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2000" dirty="0">
                <a:ea typeface="MS Mincho" pitchFamily="49" charset="-128"/>
              </a:rPr>
              <a:t> </a:t>
            </a:r>
            <a:endParaRPr lang="en-US" sz="2000" dirty="0"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cs typeface="Times New Roman" panose="02020603050405020304" pitchFamily="18" charset="0"/>
              </a:rPr>
              <a:t>Statisticians often sample because </a:t>
            </a:r>
            <a:r>
              <a:rPr lang="en-US" dirty="0">
                <a:solidFill>
                  <a:srgbClr val="CC6600"/>
                </a:solidFill>
                <a:cs typeface="Times New Roman" panose="02020603050405020304" pitchFamily="18" charset="0"/>
              </a:rPr>
              <a:t>obtaining</a:t>
            </a:r>
            <a:r>
              <a:rPr lang="en-US" dirty="0">
                <a:cs typeface="Times New Roman" panose="02020603050405020304" pitchFamily="18" charset="0"/>
              </a:rPr>
              <a:t> the entire set of data of interest is too expensive or time consuming.</a:t>
            </a:r>
            <a:endParaRPr lang="en-US" dirty="0"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charset="2"/>
              <a:buNone/>
            </a:pPr>
            <a:r>
              <a:rPr lang="en-US" sz="2400" dirty="0">
                <a:cs typeface="Times New Roman" panose="02020603050405020304" pitchFamily="18" charset="0"/>
              </a:rPr>
              <a:t> 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cs typeface="Times New Roman" panose="02020603050405020304" pitchFamily="18" charset="0"/>
              </a:rPr>
              <a:t>Sampling is typically used in data mining because </a:t>
            </a:r>
            <a:r>
              <a:rPr lang="en-US" dirty="0">
                <a:solidFill>
                  <a:srgbClr val="CC6600"/>
                </a:solidFill>
                <a:cs typeface="Times New Roman" panose="02020603050405020304" pitchFamily="18" charset="0"/>
              </a:rPr>
              <a:t>processing</a:t>
            </a:r>
            <a:r>
              <a:rPr lang="en-US" dirty="0">
                <a:cs typeface="Times New Roman" panose="02020603050405020304" pitchFamily="18" charset="0"/>
              </a:rPr>
              <a:t> the entire set of data of interest is too expensive or time consuming.</a:t>
            </a:r>
            <a:endParaRPr lang="en-US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Sampling … </a:t>
            </a:r>
            <a:endParaRPr lang="en-US"/>
          </a:p>
        </p:txBody>
      </p:sp>
      <p:sp>
        <p:nvSpPr>
          <p:cNvPr id="35843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principle for effective sampling is the following: </a:t>
            </a:r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Using a sample will work almost as well as using the entire data set, if the sample is </a:t>
            </a:r>
            <a:r>
              <a:rPr lang="en-US" dirty="0">
                <a:solidFill>
                  <a:srgbClr val="CC6600"/>
                </a:solidFill>
              </a:rPr>
              <a:t>representative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 sample is </a:t>
            </a:r>
            <a:r>
              <a:rPr lang="en-US" dirty="0">
                <a:solidFill>
                  <a:srgbClr val="CC6600"/>
                </a:solidFill>
              </a:rPr>
              <a:t>representative</a:t>
            </a:r>
            <a:r>
              <a:rPr lang="en-US" dirty="0"/>
              <a:t> if it has approximately the same properties (of interest) as the original set of data  </a:t>
            </a:r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Sample Size</a:t>
            </a:r>
            <a:endParaRPr lang="en-US"/>
          </a:p>
        </p:txBody>
      </p:sp>
      <p:sp>
        <p:nvSpPr>
          <p:cNvPr id="3686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charset="2"/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868" name="Picture 205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6" r="12498"/>
          <a:stretch>
            <a:fillRect/>
          </a:stretch>
        </p:blipFill>
        <p:spPr bwMode="auto">
          <a:xfrm>
            <a:off x="52388" y="1844675"/>
            <a:ext cx="3198812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205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6" t="13811" r="14642" b="10954"/>
          <a:stretch>
            <a:fillRect/>
          </a:stretch>
        </p:blipFill>
        <p:spPr bwMode="auto">
          <a:xfrm>
            <a:off x="3048000" y="2206625"/>
            <a:ext cx="3198813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205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r="13213"/>
          <a:stretch>
            <a:fillRect/>
          </a:stretch>
        </p:blipFill>
        <p:spPr bwMode="auto">
          <a:xfrm>
            <a:off x="5943600" y="1828800"/>
            <a:ext cx="3198813" cy="318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Text Box 2055"/>
          <p:cNvSpPr txBox="1">
            <a:spLocks noChangeArrowheads="1"/>
          </p:cNvSpPr>
          <p:nvPr/>
        </p:nvSpPr>
        <p:spPr bwMode="auto">
          <a:xfrm>
            <a:off x="914400" y="4495800"/>
            <a:ext cx="807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8000 points		         2000 Points			500 Points</a:t>
            </a:r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Sampling</a:t>
            </a:r>
            <a:endParaRPr lang="en-US" dirty="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Simple Random Sampling</a:t>
            </a:r>
            <a:endParaRPr lang="en-US" dirty="0"/>
          </a:p>
          <a:p>
            <a:pPr marL="749300" lvl="1">
              <a:lnSpc>
                <a:spcPct val="90000"/>
              </a:lnSpc>
            </a:pPr>
            <a:r>
              <a:rPr lang="en-US" dirty="0"/>
              <a:t>There is an equal probability of selecting any particular item</a:t>
            </a:r>
            <a:endParaRPr lang="en-US" dirty="0"/>
          </a:p>
          <a:p>
            <a:pPr marL="749300" lvl="1">
              <a:lnSpc>
                <a:spcPct val="90000"/>
              </a:lnSpc>
            </a:pPr>
            <a:r>
              <a:rPr lang="en-US" dirty="0"/>
              <a:t>Sampling without replacement</a:t>
            </a:r>
            <a:endParaRPr lang="en-US" dirty="0"/>
          </a:p>
          <a:p>
            <a:pPr marL="1148080" lvl="2" indent="-284480">
              <a:lnSpc>
                <a:spcPct val="90000"/>
              </a:lnSpc>
            </a:pPr>
            <a:r>
              <a:rPr lang="en-US" sz="2400" dirty="0"/>
              <a:t>As each item is selected, it is removed from the population</a:t>
            </a:r>
            <a:endParaRPr lang="en-US" sz="2400" dirty="0"/>
          </a:p>
          <a:p>
            <a:pPr marL="749300" lvl="1">
              <a:lnSpc>
                <a:spcPct val="90000"/>
              </a:lnSpc>
            </a:pPr>
            <a:r>
              <a:rPr lang="en-US" dirty="0"/>
              <a:t>Sampling with replacement</a:t>
            </a:r>
            <a:endParaRPr lang="en-US" dirty="0"/>
          </a:p>
          <a:p>
            <a:pPr marL="1148080" lvl="2" indent="-284480">
              <a:lnSpc>
                <a:spcPct val="90000"/>
              </a:lnSpc>
            </a:pPr>
            <a:r>
              <a:rPr lang="en-US" sz="2400" dirty="0"/>
              <a:t>Objects are not removed from the population as they are selected for the sample.   </a:t>
            </a:r>
            <a:endParaRPr lang="en-US" sz="2400" dirty="0"/>
          </a:p>
          <a:p>
            <a:pPr marL="1148080" lvl="2" indent="-284480"/>
            <a:r>
              <a:rPr lang="en-US" sz="2400" dirty="0"/>
              <a:t>In sampling with replacement, the same object can be picked up more than once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dirty="0"/>
              <a:t>Stratified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层级的</a:t>
            </a:r>
            <a:r>
              <a:rPr lang="en-US" altLang="zh-CN" dirty="0"/>
              <a:t>)</a:t>
            </a:r>
            <a:r>
              <a:rPr lang="en-US" dirty="0"/>
              <a:t> sampling</a:t>
            </a:r>
            <a:endParaRPr lang="en-US" dirty="0"/>
          </a:p>
          <a:p>
            <a:pPr marL="749300" lvl="1">
              <a:lnSpc>
                <a:spcPct val="90000"/>
              </a:lnSpc>
            </a:pPr>
            <a:r>
              <a:rPr lang="en-US" dirty="0"/>
              <a:t>Split the data into several partitions; then draw random samples from each partition</a:t>
            </a:r>
            <a:endParaRPr 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Methods </a:t>
            </a:r>
            <a:endParaRPr lang="en-US" dirty="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Monte Carlo Estimator: Evaluating Integrals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676400"/>
            <a:ext cx="4648200" cy="1143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819400"/>
            <a:ext cx="4318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Methods </a:t>
            </a:r>
            <a:endParaRPr lang="en-US" dirty="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Image that we want to integrate a one-dimensional function f(x)  from a to b :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444752" y="-15544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981200"/>
            <a:ext cx="2768600" cy="116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83" y="2356884"/>
            <a:ext cx="4516617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Methods </a:t>
            </a:r>
            <a:endParaRPr lang="en-US" dirty="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Image that we want to integrate a one-dimensional function f(x)  from a to b :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444752" y="-15544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981200"/>
            <a:ext cx="2768600" cy="1168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100" y="2209800"/>
            <a:ext cx="4432300" cy="4128844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Methods </a:t>
            </a:r>
            <a:endParaRPr lang="en-US" dirty="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Image that we want to integrate a one-dimensional function f(x)  from a to b :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444752" y="-15544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981200"/>
            <a:ext cx="2768600" cy="1168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09" y="3276600"/>
            <a:ext cx="8643981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Methods </a:t>
            </a:r>
            <a:endParaRPr lang="en-US" dirty="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We can formalize this idea with the following formula: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444752" y="-15544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676400"/>
            <a:ext cx="4064000" cy="1371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38" y="3078126"/>
            <a:ext cx="8476062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35640" y="4550751"/>
            <a:ext cx="5764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Basic Monte Carlo Estimator</a:t>
            </a:r>
            <a:endParaRPr lang="en-US" sz="3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Methods </a:t>
            </a:r>
            <a:endParaRPr lang="en-US" dirty="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Image that we want to integrate a one-dimensional function f(x)  from a to b :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444752" y="-15544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981200"/>
            <a:ext cx="2768600" cy="1168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733800"/>
            <a:ext cx="4457700" cy="15113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Methods </a:t>
            </a:r>
            <a:endParaRPr lang="en-US" dirty="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444752" y="-15544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52" y="2590800"/>
            <a:ext cx="7918850" cy="3632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996879"/>
            <a:ext cx="4457700" cy="1511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276601"/>
            <a:ext cx="4283587" cy="30988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Methods </a:t>
            </a:r>
            <a:endParaRPr lang="en-US" dirty="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Generalization to Arbitrary PDF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We can extend Monte Carlo integration to random variables with arbitr</a:t>
            </a:r>
            <a:r>
              <a:rPr lang="en-US" altLang="zh-CN" dirty="0"/>
              <a:t>ar</a:t>
            </a:r>
            <a:r>
              <a:rPr lang="en-US" dirty="0"/>
              <a:t>y PDFs. The more generic formula is then: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444752" y="-15544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431" y="2501605"/>
            <a:ext cx="3517900" cy="1397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200" y="4191000"/>
            <a:ext cx="7162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>
                <a:solidFill>
                  <a:srgbClr val="323232"/>
                </a:solidFill>
                <a:latin typeface="Open Sans" charset="0"/>
              </a:rPr>
              <a:t> </a:t>
            </a:r>
            <a:r>
              <a:rPr lang="en-US" sz="2400" dirty="0">
                <a:solidFill>
                  <a:srgbClr val="323232"/>
                </a:solidFill>
                <a:latin typeface="Open Sans" charset="0"/>
              </a:rPr>
              <a:t>T</a:t>
            </a:r>
            <a:r>
              <a:rPr lang="en-US" sz="2400">
                <a:solidFill>
                  <a:srgbClr val="323232"/>
                </a:solidFill>
                <a:latin typeface="Open Sans" charset="0"/>
              </a:rPr>
              <a:t>he </a:t>
            </a:r>
            <a:r>
              <a:rPr lang="en-US" sz="2400" dirty="0">
                <a:solidFill>
                  <a:srgbClr val="323232"/>
                </a:solidFill>
                <a:latin typeface="Open Sans" charset="0"/>
              </a:rPr>
              <a:t>pdf in the denominator is the same as the pdf of the random variable X</a:t>
            </a:r>
            <a:endParaRPr lang="en-US" sz="2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Methods </a:t>
            </a:r>
            <a:endParaRPr lang="en-US" dirty="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Generalization to Arbitrary PDF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We can extend Monte Carlo integration to random variables with arbitr</a:t>
            </a:r>
            <a:r>
              <a:rPr lang="en-US" altLang="zh-CN" dirty="0"/>
              <a:t>ar</a:t>
            </a:r>
            <a:r>
              <a:rPr lang="en-US" dirty="0"/>
              <a:t>y PDFs. The more generic formula is then: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444752" y="-15544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2526141"/>
            <a:ext cx="5638800" cy="3646059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Sample Size</a:t>
            </a:r>
            <a:endParaRPr lang="en-US"/>
          </a:p>
        </p:txBody>
      </p:sp>
      <p:sp>
        <p:nvSpPr>
          <p:cNvPr id="389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245" algn="l"/>
              </a:tabLst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What sample size is necessary to get at least one object from each of 10 equal-sized groups.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2037" name="Picture 102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905000"/>
            <a:ext cx="5786438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Curse of Dimensionality</a:t>
            </a:r>
            <a:endParaRPr lang="en-US" dirty="0"/>
          </a:p>
        </p:txBody>
      </p:sp>
      <p:sp>
        <p:nvSpPr>
          <p:cNvPr id="39939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76199" y="1143000"/>
            <a:ext cx="3429001" cy="5181600"/>
          </a:xfrm>
        </p:spPr>
        <p:txBody>
          <a:bodyPr/>
          <a:lstStyle/>
          <a:p>
            <a:r>
              <a:rPr lang="en-US" altLang="zh-CN" sz="2000" dirty="0"/>
              <a:t>Data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only</a:t>
            </a:r>
            <a:r>
              <a:rPr lang="zh-CN" altLang="en-US" sz="2000" dirty="0"/>
              <a:t> </a:t>
            </a:r>
            <a:r>
              <a:rPr lang="en-US" altLang="zh-CN" sz="2000" dirty="0"/>
              <a:t>one</a:t>
            </a:r>
            <a:r>
              <a:rPr lang="zh-CN" altLang="en-US" sz="2000" dirty="0"/>
              <a:t> </a:t>
            </a:r>
            <a:r>
              <a:rPr lang="en-US" altLang="zh-CN" sz="2000" dirty="0"/>
              <a:t>dimension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relatively</a:t>
            </a:r>
            <a:r>
              <a:rPr lang="zh-CN" altLang="en-US" sz="2000" dirty="0"/>
              <a:t> </a:t>
            </a:r>
            <a:r>
              <a:rPr lang="en-US" altLang="zh-CN" sz="2000" dirty="0"/>
              <a:t>packed</a:t>
            </a:r>
            <a:endParaRPr lang="en-US" sz="2000" dirty="0"/>
          </a:p>
          <a:p>
            <a:r>
              <a:rPr lang="en-US" altLang="zh-CN" sz="2000" dirty="0"/>
              <a:t>Adding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dimension</a:t>
            </a:r>
            <a:r>
              <a:rPr lang="zh-CN" altLang="en-US" sz="2000" dirty="0"/>
              <a:t> </a:t>
            </a:r>
            <a:r>
              <a:rPr lang="en-US" altLang="zh-CN" sz="2000" dirty="0"/>
              <a:t>“stretch”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points</a:t>
            </a:r>
            <a:r>
              <a:rPr lang="zh-CN" altLang="en-US" sz="2000" dirty="0"/>
              <a:t> </a:t>
            </a:r>
            <a:r>
              <a:rPr lang="en-US" altLang="zh-CN" sz="2000" dirty="0"/>
              <a:t>across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dimension,</a:t>
            </a:r>
            <a:r>
              <a:rPr lang="zh-CN" altLang="en-US" sz="2000" dirty="0"/>
              <a:t> </a:t>
            </a:r>
            <a:r>
              <a:rPr lang="en-US" altLang="zh-CN" sz="2000" dirty="0"/>
              <a:t>making</a:t>
            </a:r>
            <a:r>
              <a:rPr lang="zh-CN" altLang="en-US" sz="2000" dirty="0"/>
              <a:t> </a:t>
            </a:r>
            <a:r>
              <a:rPr lang="en-US" altLang="zh-CN" sz="2000" dirty="0"/>
              <a:t>them</a:t>
            </a:r>
            <a:r>
              <a:rPr lang="zh-CN" altLang="en-US" sz="2000" dirty="0"/>
              <a:t> </a:t>
            </a:r>
            <a:r>
              <a:rPr lang="en-US" altLang="zh-CN" sz="2000" dirty="0"/>
              <a:t>further</a:t>
            </a:r>
            <a:r>
              <a:rPr lang="zh-CN" altLang="en-US" sz="2000" dirty="0"/>
              <a:t> </a:t>
            </a:r>
            <a:r>
              <a:rPr lang="en-US" altLang="zh-CN" sz="2000" dirty="0"/>
              <a:t>apart</a:t>
            </a:r>
            <a:endParaRPr lang="zh-CN" altLang="en-US" sz="2000" dirty="0"/>
          </a:p>
          <a:p>
            <a:r>
              <a:rPr lang="en-US" altLang="zh-CN" sz="2000" dirty="0"/>
              <a:t>Adding</a:t>
            </a:r>
            <a:r>
              <a:rPr lang="zh-CN" altLang="en-US" sz="2000" dirty="0"/>
              <a:t> </a:t>
            </a:r>
            <a:r>
              <a:rPr lang="en-US" altLang="zh-CN" sz="2000" dirty="0"/>
              <a:t>more</a:t>
            </a:r>
            <a:r>
              <a:rPr lang="zh-CN" altLang="en-US" sz="2000" dirty="0"/>
              <a:t> </a:t>
            </a:r>
            <a:r>
              <a:rPr lang="en-US" altLang="zh-CN" sz="2000" dirty="0"/>
              <a:t>dimensions</a:t>
            </a:r>
            <a:r>
              <a:rPr lang="zh-CN" altLang="en-US" sz="2000" dirty="0"/>
              <a:t> </a:t>
            </a:r>
            <a:r>
              <a:rPr lang="en-US" altLang="zh-CN" sz="2000" dirty="0"/>
              <a:t>will</a:t>
            </a:r>
            <a:r>
              <a:rPr lang="zh-CN" altLang="en-US" sz="2000" dirty="0"/>
              <a:t> </a:t>
            </a:r>
            <a:r>
              <a:rPr lang="en-US" altLang="zh-CN" sz="2000" dirty="0"/>
              <a:t>make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points</a:t>
            </a:r>
            <a:r>
              <a:rPr lang="zh-CN" altLang="en-US" sz="2000" dirty="0"/>
              <a:t> </a:t>
            </a:r>
            <a:r>
              <a:rPr lang="en-US" altLang="zh-CN" sz="2000" dirty="0"/>
              <a:t>further</a:t>
            </a:r>
            <a:r>
              <a:rPr lang="zh-CN" altLang="en-US" sz="2000" dirty="0"/>
              <a:t> </a:t>
            </a:r>
            <a:r>
              <a:rPr lang="en-US" altLang="zh-CN" sz="2000" dirty="0"/>
              <a:t>apart—high</a:t>
            </a:r>
            <a:r>
              <a:rPr lang="zh-CN" altLang="en-US" sz="2000" dirty="0"/>
              <a:t> </a:t>
            </a:r>
            <a:r>
              <a:rPr lang="en-US" altLang="zh-CN" sz="2000" dirty="0"/>
              <a:t>dimensional</a:t>
            </a:r>
            <a:r>
              <a:rPr lang="zh-CN" altLang="en-US" sz="2000" dirty="0"/>
              <a:t> </a:t>
            </a:r>
            <a:r>
              <a:rPr lang="en-US" altLang="zh-CN" sz="2000" dirty="0"/>
              <a:t>data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extremely</a:t>
            </a:r>
            <a:r>
              <a:rPr lang="zh-CN" altLang="en-US" sz="2000" dirty="0"/>
              <a:t> </a:t>
            </a:r>
            <a:r>
              <a:rPr lang="en-US" altLang="zh-CN" sz="2000" dirty="0"/>
              <a:t>sparse</a:t>
            </a:r>
            <a:endParaRPr lang="zh-CN" altLang="en-US" sz="2000" dirty="0"/>
          </a:p>
          <a:p>
            <a:r>
              <a:rPr lang="en-US" altLang="zh-CN" sz="2000" dirty="0"/>
              <a:t>Distance</a:t>
            </a:r>
            <a:r>
              <a:rPr lang="zh-CN" altLang="en-US" sz="2000" dirty="0"/>
              <a:t> </a:t>
            </a:r>
            <a:r>
              <a:rPr lang="en-US" altLang="zh-CN" sz="2000" dirty="0"/>
              <a:t>measure</a:t>
            </a:r>
            <a:r>
              <a:rPr lang="zh-CN" altLang="en-US" sz="2000" dirty="0"/>
              <a:t> </a:t>
            </a:r>
            <a:r>
              <a:rPr lang="en-US" altLang="zh-CN" sz="2000" dirty="0"/>
              <a:t>become</a:t>
            </a:r>
            <a:r>
              <a:rPr lang="zh-CN" altLang="en-US" sz="2000" dirty="0"/>
              <a:t> </a:t>
            </a:r>
            <a:r>
              <a:rPr lang="en-US" altLang="zh-CN" sz="2000" dirty="0"/>
              <a:t>meaningless—due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 err="1"/>
              <a:t>equi</a:t>
            </a:r>
            <a:r>
              <a:rPr lang="en-US" altLang="zh-CN" sz="2000" dirty="0"/>
              <a:t>-distance</a:t>
            </a:r>
            <a:endParaRPr lang="en-US" sz="2000" dirty="0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143000"/>
            <a:ext cx="3327400" cy="1032641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676930"/>
            <a:ext cx="2451100" cy="17585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4435475"/>
            <a:ext cx="2881573" cy="2193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10754" y="1162050"/>
            <a:ext cx="1426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(a)</a:t>
            </a:r>
            <a:r>
              <a:rPr lang="zh-CN" altLang="en-US" sz="1800" dirty="0"/>
              <a:t> </a:t>
            </a:r>
            <a:r>
              <a:rPr lang="en-US" altLang="zh-CN" sz="1800" dirty="0"/>
              <a:t>Many</a:t>
            </a:r>
            <a:r>
              <a:rPr lang="zh-CN" altLang="en-US" sz="1800" dirty="0"/>
              <a:t> </a:t>
            </a:r>
            <a:r>
              <a:rPr lang="en-US" altLang="zh-CN" sz="1800" dirty="0"/>
              <a:t>objects</a:t>
            </a:r>
            <a:r>
              <a:rPr lang="zh-CN" altLang="en-US" sz="1800" dirty="0"/>
              <a:t> </a:t>
            </a:r>
            <a:r>
              <a:rPr lang="en-US" altLang="zh-CN" sz="1800" dirty="0"/>
              <a:t>in</a:t>
            </a:r>
            <a:r>
              <a:rPr lang="zh-CN" altLang="en-US" sz="1800" dirty="0"/>
              <a:t> </a:t>
            </a:r>
            <a:r>
              <a:rPr lang="en-US" altLang="zh-CN" sz="1800" dirty="0"/>
              <a:t>one</a:t>
            </a:r>
            <a:r>
              <a:rPr lang="zh-CN" altLang="en-US" sz="1800" dirty="0"/>
              <a:t> </a:t>
            </a:r>
            <a:r>
              <a:rPr lang="en-US" altLang="zh-CN" sz="1800" dirty="0"/>
              <a:t>unit</a:t>
            </a:r>
            <a:r>
              <a:rPr lang="zh-CN" altLang="en-US" sz="1800" dirty="0"/>
              <a:t> </a:t>
            </a:r>
            <a:r>
              <a:rPr lang="en-US" altLang="zh-CN" sz="1800" dirty="0"/>
              <a:t>bin</a:t>
            </a:r>
            <a:endParaRPr lang="en-US" sz="1800" dirty="0"/>
          </a:p>
        </p:txBody>
      </p:sp>
      <p:sp>
        <p:nvSpPr>
          <p:cNvPr id="13" name="TextBox 12"/>
          <p:cNvSpPr txBox="1"/>
          <p:nvPr/>
        </p:nvSpPr>
        <p:spPr>
          <a:xfrm>
            <a:off x="7215515" y="2956037"/>
            <a:ext cx="1426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(b)</a:t>
            </a:r>
            <a:r>
              <a:rPr lang="zh-CN" altLang="en-US" sz="1800" dirty="0"/>
              <a:t> </a:t>
            </a:r>
            <a:r>
              <a:rPr lang="en-US" altLang="zh-CN" sz="1800" dirty="0"/>
              <a:t>6</a:t>
            </a:r>
            <a:r>
              <a:rPr lang="zh-CN" altLang="en-US" sz="1800" dirty="0"/>
              <a:t> </a:t>
            </a:r>
            <a:r>
              <a:rPr lang="en-US" altLang="zh-CN" sz="1800" dirty="0"/>
              <a:t>objects</a:t>
            </a:r>
            <a:r>
              <a:rPr lang="zh-CN" altLang="en-US" sz="1800" dirty="0"/>
              <a:t> </a:t>
            </a:r>
            <a:r>
              <a:rPr lang="en-US" altLang="zh-CN" sz="1800" dirty="0"/>
              <a:t>in</a:t>
            </a:r>
            <a:r>
              <a:rPr lang="zh-CN" altLang="en-US" sz="1800" dirty="0"/>
              <a:t> </a:t>
            </a:r>
            <a:r>
              <a:rPr lang="en-US" altLang="zh-CN" sz="1800" dirty="0"/>
              <a:t>one</a:t>
            </a:r>
            <a:r>
              <a:rPr lang="zh-CN" altLang="en-US" sz="1800" dirty="0"/>
              <a:t> </a:t>
            </a:r>
            <a:r>
              <a:rPr lang="en-US" altLang="zh-CN" sz="1800" dirty="0"/>
              <a:t>unit</a:t>
            </a:r>
            <a:r>
              <a:rPr lang="zh-CN" altLang="en-US" sz="1800" dirty="0"/>
              <a:t> </a:t>
            </a:r>
            <a:r>
              <a:rPr lang="en-US" altLang="zh-CN" sz="1800" dirty="0"/>
              <a:t>bin</a:t>
            </a:r>
            <a:endParaRPr lang="en-US" sz="1800" dirty="0"/>
          </a:p>
        </p:txBody>
      </p:sp>
      <p:sp>
        <p:nvSpPr>
          <p:cNvPr id="14" name="TextBox 13"/>
          <p:cNvSpPr txBox="1"/>
          <p:nvPr/>
        </p:nvSpPr>
        <p:spPr>
          <a:xfrm>
            <a:off x="7267835" y="4813121"/>
            <a:ext cx="1426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(c)</a:t>
            </a:r>
            <a:r>
              <a:rPr lang="zh-CN" altLang="en-US" sz="1800" dirty="0"/>
              <a:t> </a:t>
            </a:r>
            <a:r>
              <a:rPr lang="en-US" altLang="zh-CN" sz="1800" dirty="0"/>
              <a:t>4</a:t>
            </a:r>
            <a:r>
              <a:rPr lang="zh-CN" altLang="en-US" sz="1800" dirty="0"/>
              <a:t> </a:t>
            </a:r>
            <a:r>
              <a:rPr lang="en-US" altLang="zh-CN" sz="1800" dirty="0"/>
              <a:t>objects</a:t>
            </a:r>
            <a:r>
              <a:rPr lang="zh-CN" altLang="en-US" sz="1800" dirty="0"/>
              <a:t> </a:t>
            </a:r>
            <a:r>
              <a:rPr lang="en-US" altLang="zh-CN" sz="1800" dirty="0"/>
              <a:t>in</a:t>
            </a:r>
            <a:r>
              <a:rPr lang="zh-CN" altLang="en-US" sz="1800" dirty="0"/>
              <a:t> </a:t>
            </a:r>
            <a:r>
              <a:rPr lang="en-US" altLang="zh-CN" sz="1800" dirty="0"/>
              <a:t>one</a:t>
            </a:r>
            <a:r>
              <a:rPr lang="zh-CN" altLang="en-US" sz="1800" dirty="0"/>
              <a:t> </a:t>
            </a:r>
            <a:r>
              <a:rPr lang="en-US" altLang="zh-CN" sz="1800" dirty="0"/>
              <a:t>unit</a:t>
            </a:r>
            <a:r>
              <a:rPr lang="zh-CN" altLang="en-US" sz="1800" dirty="0"/>
              <a:t> </a:t>
            </a:r>
            <a:r>
              <a:rPr lang="en-US" altLang="zh-CN" sz="1800" dirty="0"/>
              <a:t>bin</a:t>
            </a:r>
            <a:endParaRPr lang="en-US" sz="1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Curse of Dimensionality</a:t>
            </a:r>
            <a:endParaRPr lang="en-US" dirty="0"/>
          </a:p>
        </p:txBody>
      </p:sp>
      <p:sp>
        <p:nvSpPr>
          <p:cNvPr id="39939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143000"/>
            <a:ext cx="4083050" cy="5181600"/>
          </a:xfrm>
        </p:spPr>
        <p:txBody>
          <a:bodyPr/>
          <a:lstStyle/>
          <a:p>
            <a:r>
              <a:rPr lang="en-US" sz="2400" dirty="0"/>
              <a:t>When dimensionality increases, data becomes increasingly sparse in the space that it occupies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Definitions of density and distance between points, which are critical for clustering and outlier detection, become less meaningful</a:t>
            </a:r>
            <a:endParaRPr lang="en-US" sz="2400" dirty="0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39942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2" r="8356"/>
          <a:stretch>
            <a:fillRect/>
          </a:stretch>
        </p:blipFill>
        <p:spPr>
          <a:xfrm>
            <a:off x="4114800" y="1066800"/>
            <a:ext cx="5029200" cy="3963988"/>
          </a:xfrm>
          <a:noFill/>
        </p:spPr>
      </p:pic>
      <p:sp>
        <p:nvSpPr>
          <p:cNvPr id="39943" name="Text Box 13"/>
          <p:cNvSpPr txBox="1">
            <a:spLocks noChangeArrowheads="1"/>
          </p:cNvSpPr>
          <p:nvPr/>
        </p:nvSpPr>
        <p:spPr bwMode="auto">
          <a:xfrm>
            <a:off x="3733800" y="5105400"/>
            <a:ext cx="53340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14300" indent="-1143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sz="2000"/>
              <a:t>Randomly generate 500 points</a:t>
            </a:r>
            <a:endParaRPr lang="en-US" sz="200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/>
              <a:t>Compute difference between max and min distance between any pair of points</a:t>
            </a:r>
            <a:endParaRPr lang="en-US" sz="20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Curse of Dimensionality</a:t>
            </a:r>
            <a:endParaRPr lang="en-US" dirty="0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143000"/>
            <a:ext cx="6585763" cy="43561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Curse of Dimensionality</a:t>
            </a:r>
            <a:endParaRPr lang="en-US" dirty="0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362200"/>
            <a:ext cx="4274820" cy="2590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2238717"/>
            <a:ext cx="4051300" cy="26838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Curse of Dimensionality</a:t>
            </a:r>
            <a:endParaRPr lang="en-US" dirty="0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1676400" y="5796321"/>
            <a:ext cx="7110536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hlinkClick r:id="rId1"/>
              </a:rPr>
              <a:t>https://www.visiondummy.com/2014/04/curse-dimensionality-affect-classification/</a:t>
            </a:r>
            <a:endParaRPr lang="zh-CN" altLang="en-US" dirty="0"/>
          </a:p>
          <a:p>
            <a:pPr>
              <a:spcBef>
                <a:spcPct val="50000"/>
              </a:spcBef>
            </a:pPr>
            <a:r>
              <a:rPr lang="en-US" dirty="0"/>
              <a:t>https://</a:t>
            </a:r>
            <a:r>
              <a:rPr lang="en-US" dirty="0" err="1"/>
              <a:t>zhuanlan.zhihu.com</a:t>
            </a:r>
            <a:r>
              <a:rPr lang="en-US" dirty="0"/>
              <a:t>/p/27488363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4" y="1600200"/>
            <a:ext cx="3121025" cy="42840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905000"/>
            <a:ext cx="4470400" cy="318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</a:t>
            </a:r>
            <a:endParaRPr lang="en-US"/>
          </a:p>
        </p:txBody>
      </p:sp>
      <p:sp>
        <p:nvSpPr>
          <p:cNvPr id="409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Purpose: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Avoid curse of dimensionality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Reduce amount of time and memory required by data mining algorithms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Allow data to be more easily visualized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May help to eliminate irrelevant features or reduce noise</a:t>
            </a:r>
            <a:endParaRPr lang="en-US"/>
          </a:p>
          <a:p>
            <a:pPr lvl="4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Techniques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Principal Components Analysis (PCA)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Singular Value Decomposition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Others: supervised and non-linear techniques</a:t>
            </a:r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5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Reduction: PCA</a:t>
            </a:r>
            <a:endParaRPr lang="en-US"/>
          </a:p>
        </p:txBody>
      </p:sp>
      <p:sp>
        <p:nvSpPr>
          <p:cNvPr id="41987" name="Rectangle 105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is to find a projection that captures the largest  amount of variation in data</a:t>
            </a:r>
            <a:endParaRPr lang="en-US" dirty="0"/>
          </a:p>
          <a:p>
            <a:endParaRPr lang="en-US" dirty="0"/>
          </a:p>
        </p:txBody>
      </p:sp>
      <p:grpSp>
        <p:nvGrpSpPr>
          <p:cNvPr id="41988" name="Group 1088"/>
          <p:cNvGrpSpPr/>
          <p:nvPr/>
        </p:nvGrpSpPr>
        <p:grpSpPr bwMode="auto">
          <a:xfrm>
            <a:off x="2057400" y="2286000"/>
            <a:ext cx="3546475" cy="4051300"/>
            <a:chOff x="1498" y="1664"/>
            <a:chExt cx="2234" cy="1950"/>
          </a:xfrm>
        </p:grpSpPr>
        <p:sp>
          <p:nvSpPr>
            <p:cNvPr id="41989" name="Line 1059"/>
            <p:cNvSpPr>
              <a:spLocks noChangeShapeType="1"/>
            </p:cNvSpPr>
            <p:nvPr/>
          </p:nvSpPr>
          <p:spPr bwMode="auto">
            <a:xfrm flipV="1">
              <a:off x="1820" y="1664"/>
              <a:ext cx="0" cy="16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0" name="Line 1060"/>
            <p:cNvSpPr>
              <a:spLocks noChangeShapeType="1"/>
            </p:cNvSpPr>
            <p:nvPr/>
          </p:nvSpPr>
          <p:spPr bwMode="auto">
            <a:xfrm>
              <a:off x="1820" y="3320"/>
              <a:ext cx="17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1" name="Line 1061"/>
            <p:cNvSpPr>
              <a:spLocks noChangeShapeType="1"/>
            </p:cNvSpPr>
            <p:nvPr/>
          </p:nvSpPr>
          <p:spPr bwMode="auto">
            <a:xfrm flipV="1">
              <a:off x="1828" y="2429"/>
              <a:ext cx="1632" cy="88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2" name="Oval 1063"/>
            <p:cNvSpPr>
              <a:spLocks noChangeArrowheads="1"/>
            </p:cNvSpPr>
            <p:nvPr/>
          </p:nvSpPr>
          <p:spPr bwMode="auto">
            <a:xfrm>
              <a:off x="2164" y="2946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3" name="Oval 1064"/>
            <p:cNvSpPr>
              <a:spLocks noChangeArrowheads="1"/>
            </p:cNvSpPr>
            <p:nvPr/>
          </p:nvSpPr>
          <p:spPr bwMode="auto">
            <a:xfrm>
              <a:off x="2340" y="280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4" name="Oval 1065"/>
            <p:cNvSpPr>
              <a:spLocks noChangeArrowheads="1"/>
            </p:cNvSpPr>
            <p:nvPr/>
          </p:nvSpPr>
          <p:spPr bwMode="auto">
            <a:xfrm>
              <a:off x="2044" y="3129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5" name="Oval 1066"/>
            <p:cNvSpPr>
              <a:spLocks noChangeArrowheads="1"/>
            </p:cNvSpPr>
            <p:nvPr/>
          </p:nvSpPr>
          <p:spPr bwMode="auto">
            <a:xfrm>
              <a:off x="2428" y="2872"/>
              <a:ext cx="47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6" name="Oval 1067"/>
            <p:cNvSpPr>
              <a:spLocks noChangeArrowheads="1"/>
            </p:cNvSpPr>
            <p:nvPr/>
          </p:nvSpPr>
          <p:spPr bwMode="auto">
            <a:xfrm>
              <a:off x="2332" y="29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7" name="Oval 1068"/>
            <p:cNvSpPr>
              <a:spLocks noChangeArrowheads="1"/>
            </p:cNvSpPr>
            <p:nvPr/>
          </p:nvSpPr>
          <p:spPr bwMode="auto">
            <a:xfrm>
              <a:off x="2692" y="29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8" name="Oval 1069"/>
            <p:cNvSpPr>
              <a:spLocks noChangeArrowheads="1"/>
            </p:cNvSpPr>
            <p:nvPr/>
          </p:nvSpPr>
          <p:spPr bwMode="auto">
            <a:xfrm>
              <a:off x="2612" y="31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9" name="Oval 1070"/>
            <p:cNvSpPr>
              <a:spLocks noChangeArrowheads="1"/>
            </p:cNvSpPr>
            <p:nvPr/>
          </p:nvSpPr>
          <p:spPr bwMode="auto">
            <a:xfrm>
              <a:off x="2468" y="3071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0" name="Oval 1071"/>
            <p:cNvSpPr>
              <a:spLocks noChangeArrowheads="1"/>
            </p:cNvSpPr>
            <p:nvPr/>
          </p:nvSpPr>
          <p:spPr bwMode="auto">
            <a:xfrm>
              <a:off x="2588" y="27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1" name="Oval 1072"/>
            <p:cNvSpPr>
              <a:spLocks noChangeArrowheads="1"/>
            </p:cNvSpPr>
            <p:nvPr/>
          </p:nvSpPr>
          <p:spPr bwMode="auto">
            <a:xfrm>
              <a:off x="2964" y="280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2" name="Oval 1073"/>
            <p:cNvSpPr>
              <a:spLocks noChangeArrowheads="1"/>
            </p:cNvSpPr>
            <p:nvPr/>
          </p:nvSpPr>
          <p:spPr bwMode="auto">
            <a:xfrm>
              <a:off x="3204" y="248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3" name="Oval 1074"/>
            <p:cNvSpPr>
              <a:spLocks noChangeArrowheads="1"/>
            </p:cNvSpPr>
            <p:nvPr/>
          </p:nvSpPr>
          <p:spPr bwMode="auto">
            <a:xfrm>
              <a:off x="2236" y="3154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4" name="Oval 1075"/>
            <p:cNvSpPr>
              <a:spLocks noChangeArrowheads="1"/>
            </p:cNvSpPr>
            <p:nvPr/>
          </p:nvSpPr>
          <p:spPr bwMode="auto">
            <a:xfrm>
              <a:off x="2756" y="2713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5" name="Oval 1076"/>
            <p:cNvSpPr>
              <a:spLocks noChangeArrowheads="1"/>
            </p:cNvSpPr>
            <p:nvPr/>
          </p:nvSpPr>
          <p:spPr bwMode="auto">
            <a:xfrm>
              <a:off x="2932" y="25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6" name="Oval 1077"/>
            <p:cNvSpPr>
              <a:spLocks noChangeArrowheads="1"/>
            </p:cNvSpPr>
            <p:nvPr/>
          </p:nvSpPr>
          <p:spPr bwMode="auto">
            <a:xfrm>
              <a:off x="2452" y="27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7" name="Oval 1078"/>
            <p:cNvSpPr>
              <a:spLocks noChangeArrowheads="1"/>
            </p:cNvSpPr>
            <p:nvPr/>
          </p:nvSpPr>
          <p:spPr bwMode="auto">
            <a:xfrm>
              <a:off x="2836" y="2614"/>
              <a:ext cx="47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8" name="Oval 1079"/>
            <p:cNvSpPr>
              <a:spLocks noChangeArrowheads="1"/>
            </p:cNvSpPr>
            <p:nvPr/>
          </p:nvSpPr>
          <p:spPr bwMode="auto">
            <a:xfrm>
              <a:off x="2908" y="295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9" name="Freeform 1080"/>
            <p:cNvSpPr/>
            <p:nvPr/>
          </p:nvSpPr>
          <p:spPr bwMode="auto">
            <a:xfrm>
              <a:off x="1928" y="2409"/>
              <a:ext cx="1457" cy="1006"/>
            </a:xfrm>
            <a:custGeom>
              <a:avLst/>
              <a:gdLst>
                <a:gd name="T0" fmla="*/ 4 w 1457"/>
                <a:gd name="T1" fmla="*/ 1002 h 968"/>
                <a:gd name="T2" fmla="*/ 212 w 1457"/>
                <a:gd name="T3" fmla="*/ 488 h 968"/>
                <a:gd name="T4" fmla="*/ 716 w 1457"/>
                <a:gd name="T5" fmla="*/ 166 h 968"/>
                <a:gd name="T6" fmla="*/ 1356 w 1457"/>
                <a:gd name="T7" fmla="*/ 26 h 968"/>
                <a:gd name="T8" fmla="*/ 1324 w 1457"/>
                <a:gd name="T9" fmla="*/ 318 h 968"/>
                <a:gd name="T10" fmla="*/ 940 w 1457"/>
                <a:gd name="T11" fmla="*/ 882 h 968"/>
                <a:gd name="T12" fmla="*/ 188 w 1457"/>
                <a:gd name="T13" fmla="*/ 1194 h 968"/>
                <a:gd name="T14" fmla="*/ 4 w 1457"/>
                <a:gd name="T15" fmla="*/ 1002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57"/>
                <a:gd name="T25" fmla="*/ 0 h 968"/>
                <a:gd name="T26" fmla="*/ 1457 w 1457"/>
                <a:gd name="T27" fmla="*/ 968 h 9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57" h="968">
                  <a:moveTo>
                    <a:pt x="4" y="796"/>
                  </a:moveTo>
                  <a:cubicBezTo>
                    <a:pt x="8" y="703"/>
                    <a:pt x="93" y="499"/>
                    <a:pt x="212" y="388"/>
                  </a:cubicBezTo>
                  <a:cubicBezTo>
                    <a:pt x="331" y="277"/>
                    <a:pt x="525" y="193"/>
                    <a:pt x="716" y="132"/>
                  </a:cubicBezTo>
                  <a:cubicBezTo>
                    <a:pt x="907" y="71"/>
                    <a:pt x="1255" y="0"/>
                    <a:pt x="1356" y="20"/>
                  </a:cubicBezTo>
                  <a:cubicBezTo>
                    <a:pt x="1457" y="40"/>
                    <a:pt x="1393" y="139"/>
                    <a:pt x="1324" y="252"/>
                  </a:cubicBezTo>
                  <a:cubicBezTo>
                    <a:pt x="1255" y="365"/>
                    <a:pt x="1129" y="584"/>
                    <a:pt x="940" y="700"/>
                  </a:cubicBezTo>
                  <a:cubicBezTo>
                    <a:pt x="751" y="816"/>
                    <a:pt x="344" y="928"/>
                    <a:pt x="188" y="948"/>
                  </a:cubicBezTo>
                  <a:cubicBezTo>
                    <a:pt x="32" y="968"/>
                    <a:pt x="0" y="889"/>
                    <a:pt x="4" y="796"/>
                  </a:cubicBez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0" name="Oval 1081"/>
            <p:cNvSpPr>
              <a:spLocks noChangeArrowheads="1"/>
            </p:cNvSpPr>
            <p:nvPr/>
          </p:nvSpPr>
          <p:spPr bwMode="auto">
            <a:xfrm>
              <a:off x="2124" y="3271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1" name="Text Box 1085"/>
            <p:cNvSpPr txBox="1">
              <a:spLocks noChangeArrowheads="1"/>
            </p:cNvSpPr>
            <p:nvPr/>
          </p:nvSpPr>
          <p:spPr bwMode="auto">
            <a:xfrm>
              <a:off x="1498" y="1666"/>
              <a:ext cx="27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anose="02020603050405020304" pitchFamily="18" charset="0"/>
                </a:rPr>
                <a:t>x</a:t>
              </a:r>
              <a:r>
                <a:rPr lang="en-US" sz="2400" b="0" baseline="-25000">
                  <a:latin typeface="Times New Roman" panose="02020603050405020304" pitchFamily="18" charset="0"/>
                </a:rPr>
                <a:t>2</a:t>
              </a:r>
              <a:endParaRPr lang="en-US" sz="2400" b="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2012" name="Text Box 1086"/>
            <p:cNvSpPr txBox="1">
              <a:spLocks noChangeArrowheads="1"/>
            </p:cNvSpPr>
            <p:nvPr/>
          </p:nvSpPr>
          <p:spPr bwMode="auto">
            <a:xfrm>
              <a:off x="3456" y="3394"/>
              <a:ext cx="27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anose="02020603050405020304" pitchFamily="18" charset="0"/>
                </a:rPr>
                <a:t>x</a:t>
              </a:r>
              <a:r>
                <a:rPr lang="en-US" sz="2400" b="0" baseline="-25000">
                  <a:latin typeface="Times New Roman" panose="02020603050405020304" pitchFamily="18" charset="0"/>
                </a:rPr>
                <a:t>1</a:t>
              </a:r>
              <a:endParaRPr lang="en-US" sz="2400" b="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2013" name="Text Box 1087"/>
            <p:cNvSpPr txBox="1">
              <a:spLocks noChangeArrowheads="1"/>
            </p:cNvSpPr>
            <p:nvPr/>
          </p:nvSpPr>
          <p:spPr bwMode="auto">
            <a:xfrm>
              <a:off x="3504" y="2242"/>
              <a:ext cx="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anose="02020603050405020304" pitchFamily="18" charset="0"/>
                </a:rPr>
                <a:t>e</a:t>
              </a:r>
              <a:endParaRPr lang="en-US" sz="2400" b="0" baseline="-25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3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4" name="Picture 4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5" name="Picture 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6" name="Picture 4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7" name="Picture 4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Reduction: PCA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Subset Selection</a:t>
            </a:r>
            <a:endParaRPr lang="en-US"/>
          </a:p>
        </p:txBody>
      </p:sp>
      <p:sp>
        <p:nvSpPr>
          <p:cNvPr id="440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Another way to reduce dimensionality of data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Redundant features 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Duplicate much or all of the information contained in one or more other attributes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Example: purchase price of a product and the amount of sales tax paid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Irrelevant features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Contain no information that is useful for the data mining task at hand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Example: students' ID is often irrelevant to the task of predicting students' GPA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Many techniques developed, especially for classification</a:t>
            </a:r>
            <a:endParaRPr lang="en-US" dirty="0"/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Creation</a:t>
            </a:r>
            <a:endParaRPr lang="en-US"/>
          </a:p>
        </p:txBody>
      </p:sp>
      <p:sp>
        <p:nvSpPr>
          <p:cNvPr id="4505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Create new attributes that can capture the important information in a data set much more efficiently than the original attributes</a:t>
            </a:r>
            <a:endParaRPr lang="en-US"/>
          </a:p>
          <a:p>
            <a:pPr lvl="4"/>
            <a:endParaRPr lang="en-US"/>
          </a:p>
          <a:p>
            <a:r>
              <a:rPr lang="en-US"/>
              <a:t>Three general methodologies:</a:t>
            </a:r>
            <a:endParaRPr lang="en-US"/>
          </a:p>
          <a:p>
            <a:pPr lvl="1"/>
            <a:r>
              <a:rPr lang="en-US"/>
              <a:t>Feature extraction</a:t>
            </a:r>
            <a:endParaRPr lang="en-US"/>
          </a:p>
          <a:p>
            <a:pPr marL="1148080" lvl="2" indent="-233680"/>
            <a:r>
              <a:rPr lang="en-US" sz="2400"/>
              <a:t> </a:t>
            </a:r>
            <a:r>
              <a:rPr lang="en-US" sz="2200"/>
              <a:t>Example: extracting edges from images</a:t>
            </a:r>
            <a:endParaRPr lang="en-US" sz="2200"/>
          </a:p>
          <a:p>
            <a:pPr lvl="1"/>
            <a:r>
              <a:rPr lang="en-US"/>
              <a:t>Feature construction</a:t>
            </a:r>
            <a:endParaRPr lang="en-US"/>
          </a:p>
          <a:p>
            <a:pPr marL="1148080" lvl="2" indent="-233680"/>
            <a:r>
              <a:rPr lang="en-US" sz="2200"/>
              <a:t> Example: dividing mass by volume to get density</a:t>
            </a:r>
            <a:r>
              <a:rPr lang="en-US" sz="2400"/>
              <a:t> </a:t>
            </a:r>
            <a:endParaRPr lang="en-US" sz="2400"/>
          </a:p>
          <a:p>
            <a:pPr lvl="1"/>
            <a:r>
              <a:rPr lang="en-US"/>
              <a:t>Mapping data to new space</a:t>
            </a:r>
            <a:endParaRPr lang="en-US"/>
          </a:p>
          <a:p>
            <a:pPr marL="1148080" lvl="2" indent="-233680"/>
            <a:r>
              <a:rPr lang="en-US" sz="2200"/>
              <a:t> Example: Fourier and wavelet analysis </a:t>
            </a:r>
            <a:endParaRPr lang="en-US" sz="22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Mapping Data to a New Space</a:t>
            </a: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245" algn="l"/>
              </a:tabLst>
            </a:pP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245" algn="l"/>
              </a:tabLst>
            </a:pP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4608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4"/>
          <a:stretch>
            <a:fillRect/>
          </a:stretch>
        </p:blipFill>
        <p:spPr bwMode="auto">
          <a:xfrm>
            <a:off x="4419600" y="1524000"/>
            <a:ext cx="46990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2" r="6250"/>
          <a:stretch>
            <a:fillRect/>
          </a:stretch>
        </p:blipFill>
        <p:spPr bwMode="auto">
          <a:xfrm>
            <a:off x="76200" y="1366838"/>
            <a:ext cx="4689475" cy="411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8" name="Text Box 10"/>
          <p:cNvSpPr txBox="1">
            <a:spLocks noChangeArrowheads="1"/>
          </p:cNvSpPr>
          <p:nvPr/>
        </p:nvSpPr>
        <p:spPr bwMode="auto">
          <a:xfrm>
            <a:off x="914400" y="5715000"/>
            <a:ext cx="3886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Two Sine Waves + Noise</a:t>
            </a:r>
            <a:endParaRPr lang="en-US" sz="2200"/>
          </a:p>
        </p:txBody>
      </p:sp>
      <p:sp>
        <p:nvSpPr>
          <p:cNvPr id="46089" name="Text Box 11"/>
          <p:cNvSpPr txBox="1">
            <a:spLocks noChangeArrowheads="1"/>
          </p:cNvSpPr>
          <p:nvPr/>
        </p:nvSpPr>
        <p:spPr bwMode="auto">
          <a:xfrm>
            <a:off x="5867400" y="5715000"/>
            <a:ext cx="2514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Frequency</a:t>
            </a:r>
            <a:endParaRPr lang="en-US" sz="2200"/>
          </a:p>
        </p:txBody>
      </p:sp>
      <p:sp>
        <p:nvSpPr>
          <p:cNvPr id="46090" name="Rectangle 12"/>
          <p:cNvSpPr>
            <a:spLocks noChangeArrowheads="1"/>
          </p:cNvSpPr>
          <p:nvPr/>
        </p:nvSpPr>
        <p:spPr bwMode="auto">
          <a:xfrm>
            <a:off x="298450" y="1143000"/>
            <a:ext cx="83947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tabLst>
                <a:tab pos="1198245" algn="l"/>
              </a:tabLst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Fourier and wavelet transform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91" name="Text Box 13"/>
          <p:cNvSpPr txBox="1">
            <a:spLocks noChangeArrowheads="1"/>
          </p:cNvSpPr>
          <p:nvPr/>
        </p:nvSpPr>
        <p:spPr bwMode="auto">
          <a:xfrm>
            <a:off x="5562600" y="5257800"/>
            <a:ext cx="228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/>
              <a:t>Frequency</a:t>
            </a:r>
            <a:endParaRPr lang="en-US" b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Discretization</a:t>
            </a: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CC6600"/>
                </a:solidFill>
              </a:rPr>
              <a:t>Discretization</a:t>
            </a:r>
            <a:r>
              <a:rPr lang="en-US" dirty="0"/>
              <a:t> is the process of converting a continuous attribute into an ordinal attribute</a:t>
            </a:r>
            <a:endParaRPr lang="en-US" dirty="0"/>
          </a:p>
          <a:p>
            <a:pPr lvl="1"/>
            <a:r>
              <a:rPr lang="en-US" dirty="0"/>
              <a:t>A potentially infinite number of values are mapped into  a small number of categories</a:t>
            </a:r>
            <a:endParaRPr lang="en-US" dirty="0"/>
          </a:p>
          <a:p>
            <a:pPr lvl="1"/>
            <a:r>
              <a:rPr lang="en-US" dirty="0"/>
              <a:t>Discretization is commonly used in classification</a:t>
            </a:r>
            <a:endParaRPr lang="en-US" dirty="0"/>
          </a:p>
          <a:p>
            <a:pPr lvl="1"/>
            <a:r>
              <a:rPr lang="en-US" sz="2600" dirty="0"/>
              <a:t>Many classification algorithms work best if both the independent and dependent variables have only a few values</a:t>
            </a:r>
            <a:endParaRPr lang="en-US" sz="2600" dirty="0"/>
          </a:p>
          <a:p>
            <a:pPr lvl="1"/>
            <a:r>
              <a:rPr lang="en-US" sz="2600" dirty="0"/>
              <a:t>We give an illustration of the usefulness of discretization using the Iris data set</a:t>
            </a:r>
            <a:endParaRPr lang="en-US" sz="2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Binarization</a:t>
            </a:r>
            <a:endParaRPr 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 err="1"/>
              <a:t>Binarization</a:t>
            </a:r>
            <a:r>
              <a:rPr lang="en-US" dirty="0"/>
              <a:t> maps a continuous or categorical attribute into one or more binary variables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Typically used for association analysis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Often convert a continuous attribute to a categorical attribute and then convert a categorical attribute to a set of binary attributes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Association analysis needs asymmetric binary attributes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Examples: eye color and height measured as </a:t>
            </a:r>
            <a:br>
              <a:rPr lang="en-US" dirty="0"/>
            </a:br>
            <a:r>
              <a:rPr lang="en-US" dirty="0"/>
              <a:t>{low, medium, high}</a:t>
            </a:r>
            <a:endParaRPr lang="en-US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 Transformation</a:t>
            </a:r>
            <a:endParaRPr 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CC6600"/>
                </a:solidFill>
              </a:rPr>
              <a:t>attribute transform</a:t>
            </a:r>
            <a:r>
              <a:rPr lang="en-US" dirty="0"/>
              <a:t> is a function that maps the entire set of values of a given attribute to a new set of replacement values such that each old value can be identified with one of the new values</a:t>
            </a:r>
            <a:endParaRPr lang="en-US" dirty="0"/>
          </a:p>
          <a:p>
            <a:pPr lvl="1"/>
            <a:r>
              <a:rPr lang="en-US" sz="2600" dirty="0"/>
              <a:t>Simple functions: x</a:t>
            </a:r>
            <a:r>
              <a:rPr lang="en-US" sz="2600" baseline="30000" dirty="0"/>
              <a:t>k</a:t>
            </a:r>
            <a:r>
              <a:rPr lang="en-US" sz="2600" dirty="0"/>
              <a:t>, log(x), e</a:t>
            </a:r>
            <a:r>
              <a:rPr lang="en-US" sz="2600" baseline="30000" dirty="0"/>
              <a:t>x</a:t>
            </a:r>
            <a:r>
              <a:rPr lang="en-US" sz="2600" dirty="0"/>
              <a:t>, |x|</a:t>
            </a:r>
            <a:endParaRPr lang="en-US" sz="2600" dirty="0"/>
          </a:p>
          <a:p>
            <a:pPr lvl="1"/>
            <a:r>
              <a:rPr lang="en-US" sz="2600" dirty="0">
                <a:solidFill>
                  <a:srgbClr val="CC6600"/>
                </a:solidFill>
              </a:rPr>
              <a:t>Normalization</a:t>
            </a:r>
            <a:endParaRPr lang="en-US" sz="2600" dirty="0">
              <a:solidFill>
                <a:srgbClr val="CC6600"/>
              </a:solidFill>
            </a:endParaRPr>
          </a:p>
          <a:p>
            <a:pPr marL="1257300" lvl="2" indent="-279400"/>
            <a:r>
              <a:rPr lang="en-US" sz="2400" dirty="0"/>
              <a:t>Refers to various techniques to adjust to differences among attributes in terms of frequency of occurrence, mean, variance, range</a:t>
            </a:r>
            <a:endParaRPr lang="en-US" sz="2400" dirty="0"/>
          </a:p>
          <a:p>
            <a:pPr marL="1257300" lvl="2" indent="-279400"/>
            <a:r>
              <a:rPr lang="en-US" sz="2400" dirty="0"/>
              <a:t>Take out unwanted, common signal, e.g., seasonality  </a:t>
            </a:r>
            <a:endParaRPr lang="en-US" sz="2400" dirty="0"/>
          </a:p>
          <a:p>
            <a:pPr lvl="1"/>
            <a:r>
              <a:rPr lang="en-US" dirty="0"/>
              <a:t>In statistics, </a:t>
            </a:r>
            <a:r>
              <a:rPr lang="en-US" dirty="0">
                <a:solidFill>
                  <a:srgbClr val="CC6600"/>
                </a:solidFill>
              </a:rPr>
              <a:t>standardization</a:t>
            </a:r>
            <a:r>
              <a:rPr lang="en-US" dirty="0"/>
              <a:t> refers to subtracting off the means and dividing by the standard deviation</a:t>
            </a:r>
            <a:endParaRPr lang="en-US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4000" dirty="0"/>
          </a:p>
          <a:p>
            <a:pPr marL="0" indent="0">
              <a:buNone/>
            </a:pPr>
            <a:endParaRPr lang="en-US" altLang="zh-CN" sz="4000" dirty="0"/>
          </a:p>
          <a:p>
            <a:pPr marL="0" indent="0">
              <a:buNone/>
            </a:pPr>
            <a:r>
              <a:rPr lang="zh-CN" altLang="en-US" sz="4000" dirty="0"/>
              <a:t>     </a:t>
            </a:r>
            <a:r>
              <a:rPr lang="en-US" altLang="zh-CN" sz="4000" dirty="0"/>
              <a:t>Thank</a:t>
            </a:r>
            <a:r>
              <a:rPr lang="zh-CN" altLang="en-US" sz="4000" dirty="0"/>
              <a:t> </a:t>
            </a:r>
            <a:r>
              <a:rPr lang="en-US" altLang="zh-CN" sz="4000" dirty="0"/>
              <a:t>You!</a:t>
            </a:r>
            <a:endParaRPr lang="en-US" sz="4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E0MGI3OTJmZTFhNzMwMTAzYmJmMTYwYTQ3NjA2NmUifQ==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0</TotalTime>
  <Words>25975</Words>
  <Application>WPS 演示</Application>
  <PresentationFormat>On-screen Show (4:3)</PresentationFormat>
  <Paragraphs>1168</Paragraphs>
  <Slides>99</Slides>
  <Notes>41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19</vt:i4>
      </vt:variant>
      <vt:variant>
        <vt:lpstr>幻灯片标题</vt:lpstr>
      </vt:variant>
      <vt:variant>
        <vt:i4>99</vt:i4>
      </vt:variant>
    </vt:vector>
  </HeadingPairs>
  <TitlesOfParts>
    <vt:vector size="139" baseType="lpstr">
      <vt:lpstr>Arial</vt:lpstr>
      <vt:lpstr>宋体</vt:lpstr>
      <vt:lpstr>Wingdings</vt:lpstr>
      <vt:lpstr>Tahoma</vt:lpstr>
      <vt:lpstr>Monotype Sorts</vt:lpstr>
      <vt:lpstr>Wingdings</vt:lpstr>
      <vt:lpstr>Times New Roman</vt:lpstr>
      <vt:lpstr>Symbol</vt:lpstr>
      <vt:lpstr>微软雅黑</vt:lpstr>
      <vt:lpstr>Arial Unicode MS</vt:lpstr>
      <vt:lpstr>Calibri</vt:lpstr>
      <vt:lpstr>Cambria Math</vt:lpstr>
      <vt:lpstr>cmmi10</vt:lpstr>
      <vt:lpstr>Cambria Math</vt:lpstr>
      <vt:lpstr>Cambria</vt:lpstr>
      <vt:lpstr>Symbol</vt:lpstr>
      <vt:lpstr>MS Mincho</vt:lpstr>
      <vt:lpstr>Yu Gothic</vt:lpstr>
      <vt:lpstr>Open Sans</vt:lpstr>
      <vt:lpstr>Segoe Print</vt:lpstr>
      <vt:lpstr>LC.BRev.FY97</vt:lpstr>
      <vt:lpstr>Word.Document.8</vt:lpstr>
      <vt:lpstr>Visio.Drawing.6</vt:lpstr>
      <vt:lpstr>Visio.Drawing.6</vt:lpstr>
      <vt:lpstr>Excel.Sheet.8</vt:lpstr>
      <vt:lpstr>Excel.Sheet.8</vt:lpstr>
      <vt:lpstr>Excel.Sheet.8</vt:lpstr>
      <vt:lpstr>Excel.Sheet.8</vt:lpstr>
      <vt:lpstr>Excel.Sheet.8</vt:lpstr>
      <vt:lpstr>Excel.Sheet.8</vt:lpstr>
      <vt:lpstr>Equation.3</vt:lpstr>
      <vt:lpstr>Paint.Picture</vt:lpstr>
      <vt:lpstr>Visio.Drawing.6</vt:lpstr>
      <vt:lpstr>Word.Document.8</vt:lpstr>
      <vt:lpstr>Word.Document.8</vt:lpstr>
      <vt:lpstr>Word.Document.8</vt:lpstr>
      <vt:lpstr>Visio.Drawing.6</vt:lpstr>
      <vt:lpstr>Word.Document.8</vt:lpstr>
      <vt:lpstr>Visio.Drawing.6</vt:lpstr>
      <vt:lpstr>Visio.Drawing.6</vt:lpstr>
      <vt:lpstr>Data Mining: Data</vt:lpstr>
      <vt:lpstr>Outline</vt:lpstr>
      <vt:lpstr>What is Data?</vt:lpstr>
      <vt:lpstr>A More Complete View of Data</vt:lpstr>
      <vt:lpstr>Attribute Values</vt:lpstr>
      <vt:lpstr>Measurement of Length </vt:lpstr>
      <vt:lpstr>Types of Attributes </vt:lpstr>
      <vt:lpstr>Properties/operations of Attribute Values </vt:lpstr>
      <vt:lpstr>PowerPoint 演示文稿</vt:lpstr>
      <vt:lpstr>PowerPoint 演示文稿</vt:lpstr>
      <vt:lpstr>Discrete and Continuous Attributes </vt:lpstr>
      <vt:lpstr>Asymmetric Attributes/不对称属性</vt:lpstr>
      <vt:lpstr>Critiques</vt:lpstr>
      <vt:lpstr>Critiques  …</vt:lpstr>
      <vt:lpstr>More Complicated Examples</vt:lpstr>
      <vt:lpstr>Key Messages for Attribute Types</vt:lpstr>
      <vt:lpstr>Types of data sets </vt:lpstr>
      <vt:lpstr>Important Characteristics of Data</vt:lpstr>
      <vt:lpstr>Record Data </vt:lpstr>
      <vt:lpstr>Data Matrix </vt:lpstr>
      <vt:lpstr>Document Data</vt:lpstr>
      <vt:lpstr>Transaction Data</vt:lpstr>
      <vt:lpstr>Graph Data </vt:lpstr>
      <vt:lpstr>Ordered Data </vt:lpstr>
      <vt:lpstr>Ordered Data </vt:lpstr>
      <vt:lpstr>Ordered Data</vt:lpstr>
      <vt:lpstr>Data Quality </vt:lpstr>
      <vt:lpstr>Data Quality …</vt:lpstr>
      <vt:lpstr>Noise</vt:lpstr>
      <vt:lpstr>Outliers</vt:lpstr>
      <vt:lpstr>Missing Values</vt:lpstr>
      <vt:lpstr>Missing Values …</vt:lpstr>
      <vt:lpstr>Duplicate Data</vt:lpstr>
      <vt:lpstr>Similarity and Dissimilarity Measures</vt:lpstr>
      <vt:lpstr>Similarity/Dissimilarity for Simple Attributes</vt:lpstr>
      <vt:lpstr>Euclidean Distance</vt:lpstr>
      <vt:lpstr>Euclidean Distance</vt:lpstr>
      <vt:lpstr>Minkowski Distance(明氏距离/明可夫斯基距离)</vt:lpstr>
      <vt:lpstr>Minkowski Distance: Examples</vt:lpstr>
      <vt:lpstr>Minkowski Distance</vt:lpstr>
      <vt:lpstr>Mahalanobis Distance(马哈拉诺比斯距离)</vt:lpstr>
      <vt:lpstr>Mahalanobis Distance</vt:lpstr>
      <vt:lpstr>Common Properties of a Distance</vt:lpstr>
      <vt:lpstr>Common Properties of a Similarity</vt:lpstr>
      <vt:lpstr>Similarity Between Binary Vectors</vt:lpstr>
      <vt:lpstr>SMC versus Jaccard: Example</vt:lpstr>
      <vt:lpstr>Cosine Similarity</vt:lpstr>
      <vt:lpstr>Correlation measures the linear relationship between objects</vt:lpstr>
      <vt:lpstr>Visually Evaluating Correlation</vt:lpstr>
      <vt:lpstr>Drawback of Correlation</vt:lpstr>
      <vt:lpstr>Comparison of Proximity Measures</vt:lpstr>
      <vt:lpstr>Information Based Measures</vt:lpstr>
      <vt:lpstr>Information and Probability</vt:lpstr>
      <vt:lpstr>Entropy</vt:lpstr>
      <vt:lpstr>Entropy Examples</vt:lpstr>
      <vt:lpstr>Entropy for Sample Data: Example</vt:lpstr>
      <vt:lpstr>Entropy for Sample Data</vt:lpstr>
      <vt:lpstr>Conditional Entropy</vt:lpstr>
      <vt:lpstr>Mutual Information</vt:lpstr>
      <vt:lpstr>Mutual Information Example</vt:lpstr>
      <vt:lpstr>Relationship</vt:lpstr>
      <vt:lpstr>General Approach for Combining Similarities</vt:lpstr>
      <vt:lpstr>Using Weights to Combine Similarities</vt:lpstr>
      <vt:lpstr>Density</vt:lpstr>
      <vt:lpstr>Euclidean Density: Grid-based Approach</vt:lpstr>
      <vt:lpstr>Euclidean Density: Center-Based</vt:lpstr>
      <vt:lpstr>Data Preprocessing</vt:lpstr>
      <vt:lpstr>Aggregation</vt:lpstr>
      <vt:lpstr>Example: Precipitation in Australia</vt:lpstr>
      <vt:lpstr>Example: Precipitation in Australia …</vt:lpstr>
      <vt:lpstr>Sampling </vt:lpstr>
      <vt:lpstr>Sampling … </vt:lpstr>
      <vt:lpstr>Sample Size</vt:lpstr>
      <vt:lpstr>Types of Sampling</vt:lpstr>
      <vt:lpstr>Monte Carlo Methods </vt:lpstr>
      <vt:lpstr>Monte Carlo Methods </vt:lpstr>
      <vt:lpstr>Monte Carlo Methods </vt:lpstr>
      <vt:lpstr>Monte Carlo Methods </vt:lpstr>
      <vt:lpstr>Monte Carlo Methods </vt:lpstr>
      <vt:lpstr>Monte Carlo Methods </vt:lpstr>
      <vt:lpstr>Monte Carlo Methods </vt:lpstr>
      <vt:lpstr>Monte Carlo Methods </vt:lpstr>
      <vt:lpstr>Monte Carlo Methods </vt:lpstr>
      <vt:lpstr>Sample Size</vt:lpstr>
      <vt:lpstr>Curse of Dimensionality</vt:lpstr>
      <vt:lpstr>Curse of Dimensionality</vt:lpstr>
      <vt:lpstr>Curse of Dimensionality</vt:lpstr>
      <vt:lpstr>Curse of Dimensionality</vt:lpstr>
      <vt:lpstr>Curse of Dimensionality</vt:lpstr>
      <vt:lpstr>Dimensionality Reduction</vt:lpstr>
      <vt:lpstr>Dimensionality Reduction: PCA</vt:lpstr>
      <vt:lpstr>Dimensionality Reduction: PCA</vt:lpstr>
      <vt:lpstr>Feature Subset Selection</vt:lpstr>
      <vt:lpstr>Feature Creation</vt:lpstr>
      <vt:lpstr>Mapping Data to a New Space</vt:lpstr>
      <vt:lpstr>Discretization</vt:lpstr>
      <vt:lpstr>Binarization</vt:lpstr>
      <vt:lpstr>Attribute Transformation</vt:lpstr>
      <vt:lpstr>PowerPoint 演示文稿</vt:lpstr>
    </vt:vector>
  </TitlesOfParts>
  <LinksUpToDate>false</LinksUpToDate>
  <SharedDoc>false</SharedDoc>
  <HyperlinksChanged>false</HyperlinksChanged>
  <AppVersion>14.0000</AppVersion>
  <Pages>3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Billyfu</cp:lastModifiedBy>
  <cp:revision>621</cp:revision>
  <cp:lastPrinted>2018-02-04T02:00:00Z</cp:lastPrinted>
  <dcterms:created xsi:type="dcterms:W3CDTF">1998-03-18T13:44:00Z</dcterms:created>
  <dcterms:modified xsi:type="dcterms:W3CDTF">2024-09-19T09:40:16Z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E06AED7BFC0A4EB29A132C89EF083808_12</vt:lpwstr>
  </property>
  <property fmtid="{D5CDD505-2E9C-101B-9397-08002B2CF9AE}" pid="3" name="KSOProductBuildVer">
    <vt:lpwstr>2052-12.1.0.18240</vt:lpwstr>
  </property>
</Properties>
</file>