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handoutMasterIdLst>
    <p:handoutMasterId r:id="rId25"/>
  </p:handoutMasterIdLst>
  <p:sldIdLst>
    <p:sldId id="335" r:id="rId2"/>
    <p:sldId id="339" r:id="rId3"/>
    <p:sldId id="342" r:id="rId4"/>
    <p:sldId id="340" r:id="rId5"/>
    <p:sldId id="341" r:id="rId6"/>
    <p:sldId id="343" r:id="rId7"/>
    <p:sldId id="336" r:id="rId8"/>
    <p:sldId id="337" r:id="rId9"/>
    <p:sldId id="338" r:id="rId10"/>
    <p:sldId id="344" r:id="rId11"/>
    <p:sldId id="345" r:id="rId12"/>
    <p:sldId id="358" r:id="rId13"/>
    <p:sldId id="360" r:id="rId14"/>
    <p:sldId id="347" r:id="rId15"/>
    <p:sldId id="348" r:id="rId16"/>
    <p:sldId id="349" r:id="rId17"/>
    <p:sldId id="350" r:id="rId18"/>
    <p:sldId id="352" r:id="rId19"/>
    <p:sldId id="354" r:id="rId20"/>
    <p:sldId id="355" r:id="rId21"/>
    <p:sldId id="356" r:id="rId22"/>
    <p:sldId id="357" r:id="rId2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85433" autoAdjust="0"/>
  </p:normalViewPr>
  <p:slideViewPr>
    <p:cSldViewPr snapToGrid="0">
      <p:cViewPr varScale="1">
        <p:scale>
          <a:sx n="58" d="100"/>
          <a:sy n="58" d="100"/>
        </p:scale>
        <p:origin x="1388" y="5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19.xml"/><Relationship Id="rId3" Type="http://schemas.openxmlformats.org/officeDocument/2006/relationships/slide" Target="slides/slide7.xml"/><Relationship Id="rId7" Type="http://schemas.openxmlformats.org/officeDocument/2006/relationships/slide" Target="slides/slide11.xml"/><Relationship Id="rId12" Type="http://schemas.openxmlformats.org/officeDocument/2006/relationships/slide" Target="slides/slide18.xml"/><Relationship Id="rId2" Type="http://schemas.openxmlformats.org/officeDocument/2006/relationships/slide" Target="slides/slide4.xml"/><Relationship Id="rId16" Type="http://schemas.openxmlformats.org/officeDocument/2006/relationships/slide" Target="slides/slide22.xml"/><Relationship Id="rId1" Type="http://schemas.openxmlformats.org/officeDocument/2006/relationships/slide" Target="slides/slide3.xml"/><Relationship Id="rId6" Type="http://schemas.openxmlformats.org/officeDocument/2006/relationships/slide" Target="slides/slide10.xml"/><Relationship Id="rId11" Type="http://schemas.openxmlformats.org/officeDocument/2006/relationships/slide" Target="slides/slide17.xml"/><Relationship Id="rId5" Type="http://schemas.openxmlformats.org/officeDocument/2006/relationships/slide" Target="slides/slide9.xml"/><Relationship Id="rId15" Type="http://schemas.openxmlformats.org/officeDocument/2006/relationships/slide" Target="slides/slide21.xml"/><Relationship Id="rId10" Type="http://schemas.openxmlformats.org/officeDocument/2006/relationships/slide" Target="slides/slide16.xml"/><Relationship Id="rId4" Type="http://schemas.openxmlformats.org/officeDocument/2006/relationships/slide" Target="slides/slide8.xml"/><Relationship Id="rId9" Type="http://schemas.openxmlformats.org/officeDocument/2006/relationships/slide" Target="slides/slide15.xml"/><Relationship Id="rId14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979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192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7320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>
                <a:latin typeface="Times New Roman" panose="02020603050405020304" pitchFamily="18" charset="0"/>
              </a:rPr>
              <a:t>https://random-online.com/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58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113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Model (II)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zh-CN" altLang="en-US" dirty="0" smtClean="0"/>
              <a:t>数据结构  </a:t>
            </a:r>
            <a:r>
              <a:rPr lang="en-US" altLang="zh-CN" dirty="0">
                <a:latin typeface="Helvetica" panose="020B0604020202020204" pitchFamily="34" charset="0"/>
              </a:rPr>
              <a:t>——</a:t>
            </a:r>
            <a:r>
              <a:rPr lang="en-US" altLang="zh-CN" dirty="0"/>
              <a:t> </a:t>
            </a:r>
            <a:r>
              <a:rPr lang="zh-CN" altLang="en-US" dirty="0" smtClean="0"/>
              <a:t>关系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449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关系的定义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5200650" cy="4351338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数学上的关系</a:t>
            </a:r>
          </a:p>
          <a:p>
            <a:pPr lvl="1" eaLnBrk="1" hangingPunct="1"/>
            <a:r>
              <a:rPr lang="zh-CN" altLang="en-US" sz="2400" dirty="0" smtClean="0"/>
              <a:t>定义在</a:t>
            </a:r>
            <a:r>
              <a:rPr lang="en-US" altLang="zh-CN" sz="2400" dirty="0" smtClean="0"/>
              <a:t>D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 , D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,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…</a:t>
            </a:r>
            <a:r>
              <a:rPr lang="en-US" altLang="zh-CN" sz="2400" dirty="0" smtClean="0"/>
              <a:t>, </a:t>
            </a:r>
            <a:r>
              <a:rPr lang="en-US" altLang="zh-CN" sz="2400" dirty="0" err="1" smtClean="0"/>
              <a:t>D</a:t>
            </a:r>
            <a:r>
              <a:rPr lang="en-US" altLang="zh-CN" sz="2400" baseline="-25000" dirty="0" err="1" smtClean="0"/>
              <a:t>n</a:t>
            </a:r>
            <a:r>
              <a:rPr lang="zh-CN" altLang="en-US" sz="2400" dirty="0" smtClean="0"/>
              <a:t>上的关系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是笛卡儿积</a:t>
            </a:r>
            <a:r>
              <a:rPr lang="en-US" altLang="zh-CN" sz="2400" dirty="0" smtClean="0"/>
              <a:t>D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×D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×</a:t>
            </a:r>
            <a:r>
              <a:rPr lang="en-US" altLang="zh-CN" sz="2400" dirty="0" smtClean="0">
                <a:latin typeface="Helvetica" panose="020B0604020202020204" pitchFamily="34" charset="0"/>
              </a:rPr>
              <a:t>…</a:t>
            </a:r>
            <a:r>
              <a:rPr lang="en-US" altLang="zh-CN" sz="2400" dirty="0" smtClean="0"/>
              <a:t>×</a:t>
            </a:r>
            <a:r>
              <a:rPr lang="en-US" altLang="zh-CN" sz="2400" dirty="0" err="1" smtClean="0"/>
              <a:t>D</a:t>
            </a:r>
            <a:r>
              <a:rPr lang="en-US" altLang="zh-CN" sz="2400" baseline="-25000" dirty="0" err="1" smtClean="0"/>
              <a:t>n</a:t>
            </a:r>
            <a:r>
              <a:rPr lang="zh-CN" altLang="en-US" sz="2400" dirty="0" smtClean="0"/>
              <a:t>的一个命名子集（由有意义的元组构成）</a:t>
            </a:r>
            <a:endParaRPr lang="en-US" altLang="zh-CN" sz="2400" i="1" dirty="0" smtClean="0"/>
          </a:p>
          <a:p>
            <a:pPr lvl="1" eaLnBrk="1" hangingPunct="1"/>
            <a:r>
              <a:rPr lang="en-US" altLang="zh-CN" sz="2400" dirty="0" smtClean="0"/>
              <a:t>R</a:t>
            </a:r>
            <a:r>
              <a:rPr lang="zh-CN" altLang="en-US" sz="2400" dirty="0" smtClean="0"/>
              <a:t>即是关系名。</a:t>
            </a:r>
          </a:p>
        </p:txBody>
      </p:sp>
      <p:graphicFrame>
        <p:nvGraphicFramePr>
          <p:cNvPr id="200904" name="Group 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94324"/>
              </p:ext>
            </p:extLst>
          </p:nvPr>
        </p:nvGraphicFramePr>
        <p:xfrm>
          <a:off x="939800" y="5368470"/>
          <a:ext cx="3213100" cy="1095375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</a:p>
                  </a:txBody>
                  <a:tcPr marL="0" marR="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0816" name="Text Box 112"/>
          <p:cNvSpPr txBox="1">
            <a:spLocks noChangeArrowheads="1"/>
          </p:cNvSpPr>
          <p:nvPr/>
        </p:nvSpPr>
        <p:spPr bwMode="auto">
          <a:xfrm>
            <a:off x="1905000" y="483507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</a:p>
        </p:txBody>
      </p:sp>
      <p:graphicFrame>
        <p:nvGraphicFramePr>
          <p:cNvPr id="200910" name="Group 206"/>
          <p:cNvGraphicFramePr>
            <a:graphicFrameLocks noGrp="1"/>
          </p:cNvGraphicFramePr>
          <p:nvPr/>
        </p:nvGraphicFramePr>
        <p:xfrm>
          <a:off x="6311900" y="0"/>
          <a:ext cx="2730500" cy="6513516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0E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186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5" marB="468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00898" name="Text Box 194"/>
          <p:cNvSpPr txBox="1">
            <a:spLocks noChangeArrowheads="1"/>
          </p:cNvSpPr>
          <p:nvPr/>
        </p:nvSpPr>
        <p:spPr bwMode="auto">
          <a:xfrm>
            <a:off x="6629400" y="6491288"/>
            <a:ext cx="2362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×D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×</a:t>
            </a:r>
            <a:r>
              <a:rPr kumimoji="1" lang="en-US" altLang="zh-CN" sz="2200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kumimoji="1" lang="en-US" altLang="zh-CN" sz="2200" baseline="-18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0899" name="AutoShape 195"/>
          <p:cNvSpPr>
            <a:spLocks noChangeArrowheads="1"/>
          </p:cNvSpPr>
          <p:nvPr/>
        </p:nvSpPr>
        <p:spPr bwMode="auto">
          <a:xfrm>
            <a:off x="4597400" y="5816600"/>
            <a:ext cx="1231900" cy="355600"/>
          </a:xfrm>
          <a:prstGeom prst="leftArrow">
            <a:avLst>
              <a:gd name="adj1" fmla="val 50000"/>
              <a:gd name="adj2" fmla="val 86607"/>
            </a:avLst>
          </a:prstGeom>
          <a:solidFill>
            <a:srgbClr val="00E4A8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34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0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816" grpId="0" autoUpdateAnimBg="0"/>
      <p:bldP spid="20089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</a:t>
            </a:r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关系数据库</a:t>
            </a:r>
          </a:p>
          <a:p>
            <a:pPr lvl="1" eaLnBrk="1" hangingPunct="1"/>
            <a:r>
              <a:rPr lang="zh-CN" altLang="en-US" sz="2400" dirty="0" smtClean="0"/>
              <a:t>一组关系（表）的集合</a:t>
            </a:r>
          </a:p>
          <a:p>
            <a:pPr eaLnBrk="1" hangingPunct="1"/>
            <a:r>
              <a:rPr lang="zh-CN" altLang="en-US" sz="2400" dirty="0" smtClean="0"/>
              <a:t>关系数据库的模式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一组关系模式的集合</a:t>
            </a:r>
          </a:p>
          <a:p>
            <a:pPr eaLnBrk="1" hangingPunct="1"/>
            <a:r>
              <a:rPr lang="zh-CN" altLang="en-US" sz="2400" dirty="0" smtClean="0"/>
              <a:t>关系数据库的实例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在特定时刻上的一组关系实例的集合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70748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</a:t>
            </a:r>
            <a:endParaRPr lang="en-US" altLang="zh-CN" smtClean="0"/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169863" y="1690688"/>
            <a:ext cx="5994400" cy="93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department (</a:t>
            </a:r>
            <a:r>
              <a:rPr kumimoji="1" lang="en-US" altLang="zh-CN" sz="2200" b="1" u="sng">
                <a:latin typeface="Tahoma" panose="020B0604030504040204" pitchFamily="34" charset="0"/>
                <a:ea typeface="宋体" panose="02010600030101010101" pitchFamily="2" charset="-122"/>
              </a:rPr>
              <a:t>dept-no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, dept-name)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student (dept-no, </a:t>
            </a:r>
            <a:r>
              <a:rPr kumimoji="1" lang="en-US" altLang="zh-CN" sz="2200" b="1" u="sng">
                <a:latin typeface="Tahoma" panose="020B0604030504040204" pitchFamily="34" charset="0"/>
                <a:ea typeface="宋体" panose="02010600030101010101" pitchFamily="2" charset="-122"/>
              </a:rPr>
              <a:t>student-no</a:t>
            </a:r>
            <a:r>
              <a:rPr kumimoji="1" lang="en-US" altLang="zh-CN" sz="2200" b="1">
                <a:latin typeface="Tahoma" panose="020B0604030504040204" pitchFamily="34" charset="0"/>
                <a:ea typeface="宋体" panose="02010600030101010101" pitchFamily="2" charset="-122"/>
              </a:rPr>
              <a:t>, name, sex)</a:t>
            </a:r>
          </a:p>
        </p:txBody>
      </p:sp>
      <p:graphicFrame>
        <p:nvGraphicFramePr>
          <p:cNvPr id="324660" name="Group 52"/>
          <p:cNvGraphicFramePr>
            <a:graphicFrameLocks noGrp="1"/>
          </p:cNvGraphicFramePr>
          <p:nvPr/>
        </p:nvGraphicFramePr>
        <p:xfrm>
          <a:off x="944563" y="4700588"/>
          <a:ext cx="4406900" cy="14605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-no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student-no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Kate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Female</a:t>
                      </a:r>
                      <a:endParaRPr kumimoji="0" lang="zh-CN" altLang="en-US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4639" name="Text Box 31"/>
          <p:cNvSpPr txBox="1">
            <a:spLocks noChangeArrowheads="1"/>
          </p:cNvSpPr>
          <p:nvPr/>
        </p:nvSpPr>
        <p:spPr bwMode="auto">
          <a:xfrm>
            <a:off x="2233613" y="4322763"/>
            <a:ext cx="18288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</a:p>
        </p:txBody>
      </p:sp>
      <p:graphicFrame>
        <p:nvGraphicFramePr>
          <p:cNvPr id="324658" name="Group 50"/>
          <p:cNvGraphicFramePr>
            <a:graphicFrameLocks noGrp="1"/>
          </p:cNvGraphicFramePr>
          <p:nvPr/>
        </p:nvGraphicFramePr>
        <p:xfrm>
          <a:off x="1003300" y="3263900"/>
          <a:ext cx="3784600" cy="1017588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7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-no</a:t>
                      </a: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dept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-name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Computer Science</a:t>
                      </a:r>
                      <a:endParaRPr kumimoji="0" lang="en-US" altLang="zh-CN" sz="2200" b="0" i="0" u="none" strike="noStrike" cap="none" normalizeH="0" baseline="-2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5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0" i="0" u="none" strike="noStrike" cap="none" normalizeH="0" baseline="-2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Economics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4654" name="Text Box 46"/>
          <p:cNvSpPr txBox="1">
            <a:spLocks noChangeArrowheads="1"/>
          </p:cNvSpPr>
          <p:nvPr/>
        </p:nvSpPr>
        <p:spPr bwMode="auto">
          <a:xfrm>
            <a:off x="2074863" y="2844800"/>
            <a:ext cx="2184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200" b="1">
                <a:latin typeface="Arial" panose="020B0604020202020204" pitchFamily="34" charset="0"/>
                <a:ea typeface="宋体" panose="02010600030101010101" pitchFamily="2" charset="-122"/>
              </a:rPr>
              <a:t>department</a:t>
            </a:r>
          </a:p>
        </p:txBody>
      </p:sp>
      <p:sp>
        <p:nvSpPr>
          <p:cNvPr id="324655" name="Rectangle 47"/>
          <p:cNvSpPr>
            <a:spLocks noChangeArrowheads="1"/>
          </p:cNvSpPr>
          <p:nvPr/>
        </p:nvSpPr>
        <p:spPr bwMode="auto">
          <a:xfrm>
            <a:off x="6503988" y="1887538"/>
            <a:ext cx="24320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zh-CN" altLang="en-US" sz="2200" b="1" dirty="0">
                <a:solidFill>
                  <a:srgbClr val="30E44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一个数据库的模式</a:t>
            </a:r>
          </a:p>
        </p:txBody>
      </p:sp>
      <p:sp>
        <p:nvSpPr>
          <p:cNvPr id="324656" name="Rectangle 48"/>
          <p:cNvSpPr>
            <a:spLocks noChangeArrowheads="1"/>
          </p:cNvSpPr>
          <p:nvPr/>
        </p:nvSpPr>
        <p:spPr bwMode="auto">
          <a:xfrm>
            <a:off x="5734050" y="4303713"/>
            <a:ext cx="24320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zh-CN" altLang="en-US" sz="2200" b="1">
                <a:solidFill>
                  <a:srgbClr val="30E444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一个数据库的实例</a:t>
            </a:r>
          </a:p>
        </p:txBody>
      </p:sp>
    </p:spTree>
    <p:extLst>
      <p:ext uri="{BB962C8B-B14F-4D97-AF65-F5344CB8AC3E}">
        <p14:creationId xmlns:p14="http://schemas.microsoft.com/office/powerpoint/2010/main" val="225224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2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2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animBg="1" autoUpdateAnimBg="0"/>
      <p:bldP spid="324639" grpId="0" autoUpdateAnimBg="0"/>
      <p:bldP spid="324654" grpId="0" autoUpdateAnimBg="0"/>
      <p:bldP spid="324655" grpId="0" autoUpdateAnimBg="0"/>
      <p:bldP spid="32465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zh-CN" altLang="en-US" dirty="0" smtClean="0"/>
              <a:t>数据操作 </a:t>
            </a:r>
            <a:r>
              <a:rPr lang="en-US" altLang="zh-CN" dirty="0"/>
              <a:t>—— </a:t>
            </a:r>
            <a:r>
              <a:rPr lang="zh-CN" altLang="en-US" dirty="0"/>
              <a:t>关系</a:t>
            </a:r>
            <a:r>
              <a:rPr lang="zh-CN" altLang="en-US" dirty="0" smtClean="0"/>
              <a:t>操作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260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关系操作概述</a:t>
            </a:r>
            <a:endParaRPr lang="en-US" altLang="zh-CN" smtClean="0"/>
          </a:p>
        </p:txBody>
      </p:sp>
      <p:sp>
        <p:nvSpPr>
          <p:cNvPr id="436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关系操作：对关系进行操作，常见的有查询操作和修改操作</a:t>
            </a:r>
          </a:p>
          <a:p>
            <a:pPr lvl="1" eaLnBrk="1" hangingPunct="1"/>
            <a:r>
              <a:rPr lang="zh-CN" altLang="en-US" sz="2400" dirty="0" smtClean="0"/>
              <a:t>查询操作：不改变关系的内容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元组</a:t>
            </a:r>
            <a:r>
              <a:rPr lang="en-US" altLang="zh-CN" sz="2400" dirty="0" smtClean="0"/>
              <a:t>)</a:t>
            </a:r>
          </a:p>
          <a:p>
            <a:pPr lvl="2" eaLnBrk="1" hangingPunct="1"/>
            <a:r>
              <a:rPr lang="zh-CN" altLang="en-US" sz="2400" dirty="0" smtClean="0"/>
              <a:t>例如：找出两个关系的公共元组，即交运算</a:t>
            </a:r>
          </a:p>
          <a:p>
            <a:pPr lvl="1" eaLnBrk="1" hangingPunct="1"/>
            <a:r>
              <a:rPr lang="zh-CN" altLang="en-US" sz="2400" dirty="0" smtClean="0"/>
              <a:t>修改操作：改变关系的内容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元组</a:t>
            </a:r>
            <a:r>
              <a:rPr lang="en-US" altLang="zh-CN" sz="2400" dirty="0" smtClean="0"/>
              <a:t>)</a:t>
            </a:r>
          </a:p>
          <a:p>
            <a:pPr lvl="2" eaLnBrk="1" hangingPunct="1"/>
            <a:r>
              <a:rPr lang="zh-CN" altLang="en-US" sz="2400" dirty="0" smtClean="0"/>
              <a:t>添加，删除，更新等</a:t>
            </a:r>
          </a:p>
          <a:p>
            <a:pPr lvl="1" eaLnBrk="1" hangingPunct="1"/>
            <a:r>
              <a:rPr lang="zh-CN" altLang="en-US" sz="2400" dirty="0" smtClean="0"/>
              <a:t>两类操作的联系</a:t>
            </a:r>
          </a:p>
          <a:p>
            <a:pPr lvl="2" eaLnBrk="1" hangingPunct="1"/>
            <a:r>
              <a:rPr lang="zh-CN" altLang="en-US" sz="2400" dirty="0" smtClean="0"/>
              <a:t>查询操作是修改操作的基础，修改操作实际是对查询出来的结果进行修改</a:t>
            </a:r>
          </a:p>
        </p:txBody>
      </p:sp>
    </p:spTree>
    <p:extLst>
      <p:ext uri="{BB962C8B-B14F-4D97-AF65-F5344CB8AC3E}">
        <p14:creationId xmlns:p14="http://schemas.microsoft.com/office/powerpoint/2010/main" val="60908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7" grpId="0" uiExpand="1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关系操作概述</a:t>
            </a:r>
            <a:endParaRPr lang="en-US" altLang="zh-CN" smtClean="0"/>
          </a:p>
        </p:txBody>
      </p:sp>
      <p:sp>
        <p:nvSpPr>
          <p:cNvPr id="43725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关系操作的表示：查询语言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关系模型中使用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纯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查询语言，如关系代数、关系演算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FF0000"/>
                </a:solidFill>
              </a:rPr>
              <a:t>关系代数</a:t>
            </a:r>
            <a:r>
              <a:rPr lang="zh-CN" altLang="en-US" sz="2400" dirty="0" smtClean="0"/>
              <a:t>：用关系运算来表示查询和修改。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关系演算：用谓词演算来表示查询和修改。根据谓词的不同，又分为元组关系演算和域关系演算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关系数据库中使用实际的查询语言，如</a:t>
            </a:r>
            <a:r>
              <a:rPr lang="en-US" altLang="zh-CN" sz="2400" dirty="0" smtClean="0">
                <a:solidFill>
                  <a:srgbClr val="FF0000"/>
                </a:solidFill>
              </a:rPr>
              <a:t>SQL(</a:t>
            </a:r>
            <a:r>
              <a:rPr lang="zh-CN" altLang="en-US" sz="2400" dirty="0" smtClean="0">
                <a:solidFill>
                  <a:srgbClr val="FF0000"/>
                </a:solidFill>
              </a:rPr>
              <a:t>重点</a:t>
            </a:r>
            <a:r>
              <a:rPr lang="en-US" altLang="zh-CN" sz="2400" dirty="0" smtClean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000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关系操作概述</a:t>
            </a:r>
            <a:endParaRPr lang="en-US" altLang="zh-CN" smtClean="0"/>
          </a:p>
        </p:txBody>
      </p:sp>
      <p:sp>
        <p:nvSpPr>
          <p:cNvPr id="438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查询语言的分类</a:t>
            </a:r>
          </a:p>
          <a:p>
            <a:pPr lvl="1" eaLnBrk="1" hangingPunct="1"/>
            <a:r>
              <a:rPr lang="zh-CN" altLang="en-US" sz="2400" dirty="0" smtClean="0"/>
              <a:t>过程化：用户要指定 </a:t>
            </a:r>
            <a:r>
              <a:rPr lang="en-US" altLang="zh-CN" sz="2400" dirty="0" smtClean="0"/>
              <a:t>① what: </a:t>
            </a:r>
            <a:r>
              <a:rPr lang="zh-CN" altLang="en-US" sz="2400" dirty="0" smtClean="0"/>
              <a:t>查询什么 </a:t>
            </a:r>
            <a:r>
              <a:rPr lang="en-US" altLang="zh-CN" sz="2400" dirty="0" smtClean="0"/>
              <a:t>② how: </a:t>
            </a:r>
            <a:r>
              <a:rPr lang="zh-CN" altLang="en-US" sz="2400" dirty="0" smtClean="0"/>
              <a:t>怎么查询，要用什么样的方法、过程？</a:t>
            </a:r>
          </a:p>
          <a:p>
            <a:pPr lvl="1" eaLnBrk="1" hangingPunct="1"/>
            <a:r>
              <a:rPr lang="zh-CN" altLang="en-US" sz="2400" dirty="0" smtClean="0"/>
              <a:t>非过程化：用户只要指定查询什么，而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怎么查询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的问题留给系统处理，系统会自动寻找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近似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最优的查询方法，又叫查询执行计划。</a:t>
            </a:r>
          </a:p>
          <a:p>
            <a:pPr lvl="1" eaLnBrk="1" hangingPunct="1"/>
            <a:r>
              <a:rPr lang="zh-CN" altLang="en-US" sz="2400" u="sng" dirty="0" smtClean="0"/>
              <a:t>关系代数是过程化的，</a:t>
            </a:r>
            <a:r>
              <a:rPr lang="en-US" altLang="zh-CN" sz="2400" u="sng" dirty="0" smtClean="0"/>
              <a:t>SQL</a:t>
            </a:r>
            <a:r>
              <a:rPr lang="zh-CN" altLang="en-US" sz="2400" u="sng" dirty="0" smtClean="0"/>
              <a:t>和关系演算是非过程化的</a:t>
            </a:r>
          </a:p>
        </p:txBody>
      </p:sp>
    </p:spTree>
    <p:extLst>
      <p:ext uri="{BB962C8B-B14F-4D97-AF65-F5344CB8AC3E}">
        <p14:creationId xmlns:p14="http://schemas.microsoft.com/office/powerpoint/2010/main" val="36596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8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8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38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8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38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38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38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5" grpId="0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什么是关系代数</a:t>
            </a:r>
            <a:endParaRPr lang="en-US" altLang="zh-CN" smtClean="0"/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858656"/>
            <a:ext cx="8218896" cy="4903787"/>
          </a:xfrm>
        </p:spPr>
        <p:txBody>
          <a:bodyPr rtlCol="0">
            <a:noAutofit/>
          </a:bodyPr>
          <a:lstStyle/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什么是代数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系统</a:t>
            </a:r>
            <a:r>
              <a:rPr lang="en-US" altLang="zh-CN" sz="2400" dirty="0" smtClean="0"/>
              <a:t>)?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代数系统包括</a:t>
            </a:r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运算对象</a:t>
            </a:r>
            <a:endParaRPr lang="en-US" altLang="zh-CN" sz="2400" dirty="0" smtClean="0"/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基于运算对象的一组运算。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例如，实数代数包括</a:t>
            </a:r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实数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运算对象</a:t>
            </a:r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加、减、乘、除</a:t>
            </a:r>
            <a:r>
              <a:rPr lang="en-US" altLang="zh-CN" sz="2400" dirty="0" smtClean="0">
                <a:latin typeface="Helvetica" panose="020B0604020202020204" pitchFamily="34" charset="0"/>
              </a:rPr>
              <a:t>…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基于实数的运算</a:t>
            </a:r>
          </a:p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封闭的代数系统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运算的结果，仍不超出运算对象的范围。</a:t>
            </a:r>
          </a:p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思考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整数和加、减、乘、除运算，是否构成封闭的代数系统？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整数和加、减、乘、商、余运算呢？</a:t>
            </a:r>
          </a:p>
        </p:txBody>
      </p:sp>
    </p:spTree>
    <p:extLst>
      <p:ext uri="{BB962C8B-B14F-4D97-AF65-F5344CB8AC3E}">
        <p14:creationId xmlns:p14="http://schemas.microsoft.com/office/powerpoint/2010/main" val="25245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77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377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uiExpand="1" build="p" bldLvl="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什么是关系代数</a:t>
            </a:r>
            <a:endParaRPr lang="en-US" altLang="zh-CN" smtClean="0"/>
          </a:p>
        </p:txBody>
      </p:sp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>
          <a:xfrm>
            <a:off x="209005" y="1171212"/>
            <a:ext cx="8934995" cy="4903787"/>
          </a:xfrm>
        </p:spPr>
        <p:txBody>
          <a:bodyPr rtlCol="0">
            <a:noAutofit/>
          </a:bodyPr>
          <a:lstStyle/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关系代数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关系                           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运算对象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选择，投影，</a:t>
            </a:r>
            <a:r>
              <a:rPr lang="en-US" altLang="zh-CN" sz="2400" dirty="0" smtClean="0">
                <a:latin typeface="Helvetica" panose="020B0604020202020204" pitchFamily="34" charset="0"/>
              </a:rPr>
              <a:t>……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基于关系的一组运算。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历史：关系模型创始人</a:t>
            </a:r>
            <a:r>
              <a:rPr lang="en-US" altLang="zh-CN" sz="2400" dirty="0" err="1" smtClean="0"/>
              <a:t>E.F.Codd</a:t>
            </a:r>
            <a:r>
              <a:rPr lang="zh-CN" altLang="en-US" sz="2400" dirty="0" smtClean="0"/>
              <a:t>在集合代数基础上发展而来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关系代数是封闭的，</a:t>
            </a:r>
            <a:r>
              <a:rPr lang="zh-CN" altLang="en-US" sz="2400" u="sng" dirty="0" smtClean="0"/>
              <a:t>任何关系运算的结果还是一个关系</a:t>
            </a:r>
          </a:p>
          <a:p>
            <a:pPr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关系运算的分类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基本运算</a:t>
            </a:r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选择；投影；笛卡儿积；集合并；集合差；更名</a:t>
            </a:r>
          </a:p>
          <a:p>
            <a:pPr lvl="1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扩展运算（前两种基础上对运算能力进行扩展和增强）</a:t>
            </a:r>
          </a:p>
          <a:p>
            <a:pPr lvl="2" eaLnBrk="1" fontAlgn="auto" hangingPunct="1">
              <a:spcBef>
                <a:spcPct val="30000"/>
              </a:spcBef>
              <a:spcAft>
                <a:spcPts val="0"/>
              </a:spcAft>
              <a:defRPr/>
            </a:pPr>
            <a:r>
              <a:rPr lang="zh-CN" altLang="en-US" sz="2400" dirty="0" smtClean="0"/>
              <a:t>外连接；聚集运算</a:t>
            </a:r>
          </a:p>
        </p:txBody>
      </p:sp>
    </p:spTree>
    <p:extLst>
      <p:ext uri="{BB962C8B-B14F-4D97-AF65-F5344CB8AC3E}">
        <p14:creationId xmlns:p14="http://schemas.microsoft.com/office/powerpoint/2010/main" val="6874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8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78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78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3" grpId="0" uiExpand="1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2400" dirty="0"/>
              <a:t>A  procedural language consisting  of a set of operations that take </a:t>
            </a:r>
            <a:r>
              <a:rPr lang="en-US" altLang="en-US" sz="2400" b="1" dirty="0"/>
              <a:t>one or two relations </a:t>
            </a:r>
            <a:r>
              <a:rPr lang="en-US" altLang="en-US" sz="2400" dirty="0"/>
              <a:t>as input and produce a new relation as their result. </a:t>
            </a:r>
          </a:p>
          <a:p>
            <a:r>
              <a:rPr lang="en-US" altLang="en-US" sz="2400" dirty="0"/>
              <a:t>Six basic operators</a:t>
            </a:r>
          </a:p>
          <a:p>
            <a:pPr lvl="1"/>
            <a:r>
              <a:rPr lang="en-US" altLang="en-US" sz="2400" dirty="0"/>
              <a:t>select: </a:t>
            </a:r>
            <a:r>
              <a:rPr kumimoji="0" lang="en-US" altLang="en-US" sz="2400" dirty="0">
                <a:sym typeface="Symbol" panose="05050102010706020507" pitchFamily="18" charset="2"/>
              </a:rPr>
              <a:t></a:t>
            </a:r>
            <a:endParaRPr lang="en-US" altLang="en-US" sz="2400" dirty="0"/>
          </a:p>
          <a:p>
            <a:pPr lvl="1"/>
            <a:r>
              <a:rPr lang="en-US" altLang="en-US" sz="2400" dirty="0"/>
              <a:t>project: </a:t>
            </a: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endParaRPr lang="en-US" altLang="en-US" sz="2400" dirty="0"/>
          </a:p>
          <a:p>
            <a:pPr lvl="1"/>
            <a:r>
              <a:rPr lang="en-US" altLang="en-US" sz="2400" dirty="0"/>
              <a:t>union: </a:t>
            </a:r>
            <a:r>
              <a:rPr lang="en-US" altLang="en-US" sz="2400" dirty="0">
                <a:sym typeface="Symbol" panose="05050102010706020507" pitchFamily="18" charset="2"/>
              </a:rPr>
              <a:t></a:t>
            </a:r>
            <a:endParaRPr lang="en-US" altLang="en-US" sz="2400" dirty="0"/>
          </a:p>
          <a:p>
            <a:pPr lvl="1"/>
            <a:r>
              <a:rPr lang="en-US" altLang="en-US" sz="2400" dirty="0"/>
              <a:t>set difference: </a:t>
            </a:r>
            <a:r>
              <a:rPr lang="en-US" altLang="en-US" sz="2400" i="1" dirty="0"/>
              <a:t>–</a:t>
            </a:r>
            <a:r>
              <a:rPr lang="en-US" altLang="en-US" sz="2400" dirty="0"/>
              <a:t> </a:t>
            </a:r>
          </a:p>
          <a:p>
            <a:pPr lvl="1"/>
            <a:r>
              <a:rPr lang="en-US" altLang="en-US" sz="2400" dirty="0"/>
              <a:t>Cartesian product: x</a:t>
            </a:r>
          </a:p>
          <a:p>
            <a:pPr lvl="1"/>
            <a:r>
              <a:rPr lang="en-US" altLang="en-US" sz="2400" dirty="0"/>
              <a:t>rename: </a:t>
            </a:r>
            <a:r>
              <a:rPr lang="en-US" altLang="en-US" sz="24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5246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1" y="1102297"/>
                <a:ext cx="7594414" cy="2055431"/>
              </a:xfrm>
            </p:spPr>
            <p:txBody>
              <a:bodyPr/>
              <a:lstStyle/>
              <a:p>
                <a:r>
                  <a:rPr lang="en-US" altLang="en-US" sz="2400" dirty="0" smtClean="0">
                    <a:sym typeface="Symbol" panose="05050102010706020507" pitchFamily="18" charset="2"/>
                  </a:rPr>
                  <a:t>Q1: select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those tuples of the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instructor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 relation where the instructor is in the “Physics” department. </a:t>
                </a:r>
                <a:endParaRPr lang="en-US" altLang="en-US" sz="2400" dirty="0" smtClean="0">
                  <a:sym typeface="Symbol" panose="05050102010706020507" pitchFamily="18" charset="2"/>
                </a:endParaRPr>
              </a:p>
              <a:p>
                <a:pPr>
                  <a:tabLst>
                    <a:tab pos="3257550" algn="ctr"/>
                  </a:tabLst>
                </a:pPr>
                <a:r>
                  <a:rPr lang="en-US" altLang="en-US" sz="2400" dirty="0" smtClean="0"/>
                  <a:t>Q2: eliminate </a:t>
                </a:r>
                <a:r>
                  <a:rPr lang="en-US" altLang="en-US" sz="2400" dirty="0"/>
                  <a:t>the </a:t>
                </a:r>
                <a:r>
                  <a:rPr lang="en-US" altLang="en-US" sz="2400" i="1" dirty="0" err="1"/>
                  <a:t>dept_name</a:t>
                </a:r>
                <a:r>
                  <a:rPr lang="en-US" altLang="en-US" sz="2400" dirty="0"/>
                  <a:t> attribute of </a:t>
                </a:r>
                <a:r>
                  <a:rPr lang="en-US" altLang="en-US" sz="2400" i="1" dirty="0" smtClean="0"/>
                  <a:t>instructor</a:t>
                </a:r>
              </a:p>
              <a:p>
                <a:pPr>
                  <a:tabLst>
                    <a:tab pos="3257550" algn="ctr"/>
                  </a:tabLst>
                </a:pPr>
                <a:r>
                  <a:rPr lang="en-US" altLang="en-US" sz="2400" dirty="0" smtClean="0"/>
                  <a:t>Q3: Find </a:t>
                </a:r>
                <a:r>
                  <a:rPr lang="en-US" altLang="en-US" sz="2400" dirty="0"/>
                  <a:t>the names of all instructors in the Physics department</a:t>
                </a:r>
                <a:r>
                  <a:rPr lang="en-US" altLang="en-US" sz="2400" dirty="0" smtClean="0"/>
                  <a:t>.</a:t>
                </a:r>
                <a:endParaRPr lang="en-US" altLang="en-US" sz="2400" i="1" dirty="0"/>
              </a:p>
              <a:p>
                <a:r>
                  <a:rPr lang="en-US" altLang="zh-CN" sz="2000" dirty="0" smtClean="0">
                    <a:sym typeface="Symbol" panose="05050102010706020507" pitchFamily="18" charset="2"/>
                  </a:rPr>
                  <a:t>Q4</a:t>
                </a:r>
                <a:r>
                  <a:rPr lang="zh-CN" altLang="en-US" sz="2000" dirty="0" smtClean="0">
                    <a:sym typeface="Symbol" panose="05050102010706020507" pitchFamily="18" charset="2"/>
                  </a:rPr>
                  <a:t>： </a:t>
                </a: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？</m:t>
                    </m:r>
                  </m:oMath>
                </a14:m>
                <a:endParaRPr lang="en-US" altLang="en-US" sz="2400" dirty="0" smtClean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en-US" sz="2000" dirty="0">
                    <a:sym typeface="Symbol" panose="05050102010706020507" pitchFamily="18" charset="2"/>
                  </a:rPr>
                  <a:t>schema:   i</a:t>
                </a:r>
                <a:r>
                  <a:rPr lang="en-US" altLang="en-US" sz="20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 (</a:t>
                </a:r>
                <a:r>
                  <a:rPr lang="en-US" altLang="en-US" sz="2000" i="1" dirty="0">
                    <a:sym typeface="Symbol" panose="05050102010706020507" pitchFamily="18" charset="2"/>
                  </a:rPr>
                  <a:t>ID, name, dept_name, salary</a:t>
                </a:r>
                <a:r>
                  <a:rPr lang="en-US" altLang="en-US" sz="2000" dirty="0">
                    <a:sym typeface="Symbol" panose="05050102010706020507" pitchFamily="18" charset="2"/>
                  </a:rPr>
                  <a:t>)</a:t>
                </a:r>
              </a:p>
              <a:p>
                <a:pPr lvl="1"/>
                <a:r>
                  <a:rPr lang="en-US" altLang="en-US" sz="2000" dirty="0">
                    <a:sym typeface="Symbol" panose="05050102010706020507" pitchFamily="18" charset="2"/>
                  </a:rPr>
                  <a:t>Instance:</a:t>
                </a:r>
              </a:p>
            </p:txBody>
          </p:sp>
        </mc:Choice>
        <mc:Fallback>
          <p:sp>
            <p:nvSpPr>
              <p:cNvPr id="921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1" y="1102297"/>
                <a:ext cx="7594414" cy="2055431"/>
              </a:xfrm>
              <a:blipFill>
                <a:blip r:embed="rId3"/>
                <a:stretch>
                  <a:fillRect l="-1284" t="-2374" b="-75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-1" b="12197"/>
          <a:stretch/>
        </p:blipFill>
        <p:spPr>
          <a:xfrm>
            <a:off x="3481330" y="4146373"/>
            <a:ext cx="3316446" cy="261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1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删除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用关系代数表示删除</a:t>
            </a:r>
          </a:p>
          <a:p>
            <a:pPr lvl="1" eaLnBrk="1" hangingPunct="1"/>
            <a:r>
              <a:rPr lang="zh-CN" altLang="en-US" sz="2400" dirty="0" smtClean="0"/>
              <a:t>格式：从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中删除一些满足特定条件的元组 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用查询</a:t>
            </a:r>
            <a:r>
              <a:rPr lang="en-US" altLang="zh-CN" sz="2400" dirty="0" smtClean="0"/>
              <a:t>E</a:t>
            </a:r>
            <a:r>
              <a:rPr lang="zh-CN" altLang="en-US" sz="2400" dirty="0" smtClean="0"/>
              <a:t>表示</a:t>
            </a:r>
            <a:r>
              <a:rPr lang="en-US" altLang="zh-CN" sz="2400" dirty="0" smtClean="0"/>
              <a:t>) </a:t>
            </a:r>
            <a:r>
              <a:rPr lang="zh-CN" altLang="en-US" sz="2400" dirty="0" smtClean="0"/>
              <a:t>，表示为</a:t>
            </a:r>
            <a:endParaRPr lang="en-US" altLang="zh-CN" sz="2400" dirty="0" smtClean="0"/>
          </a:p>
          <a:p>
            <a:pPr lvl="1" eaLnBrk="1" hangingPunct="1"/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  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  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E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endParaRPr lang="en-US" altLang="zh-CN" sz="2400" i="1" dirty="0" smtClean="0">
              <a:solidFill>
                <a:srgbClr val="30E444"/>
              </a:solidFill>
            </a:endParaRPr>
          </a:p>
          <a:p>
            <a:pPr lvl="1" eaLnBrk="1" hangingPunct="1"/>
            <a:r>
              <a:rPr lang="zh-CN" altLang="en-US" sz="2400" dirty="0" smtClean="0"/>
              <a:t>是对存储关系的赋值运算（赋予新值，即存储关系被修改）</a:t>
            </a:r>
          </a:p>
        </p:txBody>
      </p:sp>
    </p:spTree>
    <p:extLst>
      <p:ext uri="{BB962C8B-B14F-4D97-AF65-F5344CB8AC3E}">
        <p14:creationId xmlns:p14="http://schemas.microsoft.com/office/powerpoint/2010/main" val="258369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删除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例：</a:t>
            </a:r>
          </a:p>
          <a:p>
            <a:pPr lvl="2" eaLnBrk="1" hangingPunct="1"/>
            <a:r>
              <a:rPr lang="en-US" altLang="zh-CN" sz="2400" dirty="0" smtClean="0"/>
              <a:t>R: </a:t>
            </a:r>
            <a:r>
              <a:rPr lang="zh-CN" altLang="en-US" sz="2400" dirty="0" smtClean="0"/>
              <a:t>学生选修课程关系。</a:t>
            </a:r>
          </a:p>
          <a:p>
            <a:pPr lvl="2" eaLnBrk="1" hangingPunct="1"/>
            <a:r>
              <a:rPr lang="zh-CN" altLang="en-US" sz="2400" dirty="0" smtClean="0"/>
              <a:t>删除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号学生选修的课程</a:t>
            </a:r>
          </a:p>
          <a:p>
            <a:pPr marL="857250" lvl="2" indent="0" eaLnBrk="1" hangingPunct="1">
              <a:buNone/>
            </a:pPr>
            <a:endParaRPr lang="zh-CN" altLang="en-US" dirty="0" smtClean="0"/>
          </a:p>
        </p:txBody>
      </p:sp>
      <p:graphicFrame>
        <p:nvGraphicFramePr>
          <p:cNvPr id="396354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80681"/>
              </p:ext>
            </p:extLst>
          </p:nvPr>
        </p:nvGraphicFramePr>
        <p:xfrm>
          <a:off x="1346199" y="3916363"/>
          <a:ext cx="2468563" cy="2422992"/>
        </p:xfrm>
        <a:graphic>
          <a:graphicData uri="http://schemas.openxmlformats.org/drawingml/2006/table">
            <a:tbl>
              <a:tblPr/>
              <a:tblGrid>
                <a:gridCol w="766106">
                  <a:extLst>
                    <a:ext uri="{9D8B030D-6E8A-4147-A177-3AD203B41FA5}">
                      <a16:colId xmlns:a16="http://schemas.microsoft.com/office/drawing/2014/main" val="46487599"/>
                    </a:ext>
                  </a:extLst>
                </a:gridCol>
                <a:gridCol w="989553">
                  <a:extLst>
                    <a:ext uri="{9D8B030D-6E8A-4147-A177-3AD203B41FA5}">
                      <a16:colId xmlns:a16="http://schemas.microsoft.com/office/drawing/2014/main" val="3130834463"/>
                    </a:ext>
                  </a:extLst>
                </a:gridCol>
                <a:gridCol w="712904">
                  <a:extLst>
                    <a:ext uri="{9D8B030D-6E8A-4147-A177-3AD203B41FA5}">
                      <a16:colId xmlns:a16="http://schemas.microsoft.com/office/drawing/2014/main" val="409684685"/>
                    </a:ext>
                  </a:extLst>
                </a:gridCol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05668"/>
                  </a:ext>
                </a:extLst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501341"/>
                  </a:ext>
                </a:extLst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816814"/>
                  </a:ext>
                </a:extLst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662159"/>
                  </a:ext>
                </a:extLst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65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95804"/>
                  </a:ext>
                </a:extLst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8100" marR="38100" marT="19036" marB="1903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</a:t>
                      </a:r>
                    </a:p>
                  </a:txBody>
                  <a:tcPr marL="38100" marR="38100" marT="19036" marB="1903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507133"/>
                  </a:ext>
                </a:extLst>
              </a:tr>
            </a:tbl>
          </a:graphicData>
        </a:graphic>
      </p:graphicFrame>
      <p:sp>
        <p:nvSpPr>
          <p:cNvPr id="36898" name="Text Box 34"/>
          <p:cNvSpPr txBox="1">
            <a:spLocks noChangeArrowheads="1"/>
          </p:cNvSpPr>
          <p:nvPr/>
        </p:nvSpPr>
        <p:spPr bwMode="auto">
          <a:xfrm>
            <a:off x="2032000" y="3306763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smtClean="0">
                <a:latin typeface="Tahoma" charset="0"/>
              </a:rPr>
              <a:t>R</a:t>
            </a:r>
          </a:p>
        </p:txBody>
      </p:sp>
      <p:sp>
        <p:nvSpPr>
          <p:cNvPr id="396323" name="AutoShape 35"/>
          <p:cNvSpPr>
            <a:spLocks noChangeArrowheads="1"/>
          </p:cNvSpPr>
          <p:nvPr/>
        </p:nvSpPr>
        <p:spPr bwMode="auto">
          <a:xfrm>
            <a:off x="4025900" y="4724400"/>
            <a:ext cx="1803400" cy="457200"/>
          </a:xfrm>
          <a:prstGeom prst="rightArrow">
            <a:avLst>
              <a:gd name="adj1" fmla="val 50000"/>
              <a:gd name="adj2" fmla="val 98611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smtClean="0"/>
          </a:p>
        </p:txBody>
      </p:sp>
      <p:graphicFrame>
        <p:nvGraphicFramePr>
          <p:cNvPr id="396352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431934"/>
              </p:ext>
            </p:extLst>
          </p:nvPr>
        </p:nvGraphicFramePr>
        <p:xfrm>
          <a:off x="6204857" y="3916363"/>
          <a:ext cx="2481943" cy="1615472"/>
        </p:xfrm>
        <a:graphic>
          <a:graphicData uri="http://schemas.openxmlformats.org/drawingml/2006/table">
            <a:tbl>
              <a:tblPr/>
              <a:tblGrid>
                <a:gridCol w="770258">
                  <a:extLst>
                    <a:ext uri="{9D8B030D-6E8A-4147-A177-3AD203B41FA5}">
                      <a16:colId xmlns:a16="http://schemas.microsoft.com/office/drawing/2014/main" val="3081676850"/>
                    </a:ext>
                  </a:extLst>
                </a:gridCol>
                <a:gridCol w="994917">
                  <a:extLst>
                    <a:ext uri="{9D8B030D-6E8A-4147-A177-3AD203B41FA5}">
                      <a16:colId xmlns:a16="http://schemas.microsoft.com/office/drawing/2014/main" val="2112428866"/>
                    </a:ext>
                  </a:extLst>
                </a:gridCol>
                <a:gridCol w="716768">
                  <a:extLst>
                    <a:ext uri="{9D8B030D-6E8A-4147-A177-3AD203B41FA5}">
                      <a16:colId xmlns:a16="http://schemas.microsoft.com/office/drawing/2014/main" val="3812699934"/>
                    </a:ext>
                  </a:extLst>
                </a:gridCol>
              </a:tblGrid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726383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529049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571473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65</a:t>
                      </a: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400630"/>
                  </a:ext>
                </a:extLst>
              </a:tr>
            </a:tbl>
          </a:graphicData>
        </a:graphic>
      </p:graphicFrame>
      <p:sp>
        <p:nvSpPr>
          <p:cNvPr id="396346" name="Text Box 58"/>
          <p:cNvSpPr txBox="1">
            <a:spLocks noChangeArrowheads="1"/>
          </p:cNvSpPr>
          <p:nvPr/>
        </p:nvSpPr>
        <p:spPr bwMode="auto">
          <a:xfrm>
            <a:off x="7162800" y="3306763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smtClean="0">
                <a:latin typeface="Tahoma" charset="0"/>
              </a:rPr>
              <a:t>R</a:t>
            </a: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4927600" y="3758869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72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9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9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346" grpId="0" autoUpdateAnimBg="0"/>
      <p:bldP spid="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插入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用关系代数表示插入</a:t>
            </a:r>
          </a:p>
          <a:p>
            <a:pPr lvl="1" eaLnBrk="1" hangingPunct="1"/>
            <a:r>
              <a:rPr lang="zh-CN" altLang="en-US" sz="2400" dirty="0" smtClean="0"/>
              <a:t>格式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：插入一个 元组</a:t>
            </a:r>
            <a:r>
              <a:rPr lang="en-US" altLang="zh-CN" sz="2400" dirty="0" smtClean="0"/>
              <a:t>r </a:t>
            </a:r>
            <a:r>
              <a:rPr lang="zh-CN" altLang="en-US" sz="2400" dirty="0" smtClean="0"/>
              <a:t>（指定各个属性值） ，表示为</a:t>
            </a:r>
            <a:endParaRPr lang="en-US" altLang="zh-CN" sz="2400" dirty="0" smtClean="0"/>
          </a:p>
          <a:p>
            <a:pPr lvl="1" eaLnBrk="1" hangingPunct="1"/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R 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  R</a:t>
            </a:r>
            <a:r>
              <a:rPr lang="en-US" altLang="zh-CN" sz="2400" dirty="0" smtClean="0">
                <a:solidFill>
                  <a:srgbClr val="0070C0"/>
                </a:solidFill>
              </a:rPr>
              <a:t> ∪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{ r 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rgbClr val="30E444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   格式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：插入多个元组（来自查询</a:t>
            </a:r>
            <a:r>
              <a:rPr lang="en-US" altLang="zh-CN" sz="2400" dirty="0" smtClean="0"/>
              <a:t>E</a:t>
            </a:r>
            <a:r>
              <a:rPr lang="zh-CN" altLang="en-US" sz="2400" dirty="0" smtClean="0"/>
              <a:t>的结果），表示为</a:t>
            </a:r>
            <a:endParaRPr lang="en-US" altLang="zh-CN" sz="2400" dirty="0" smtClean="0"/>
          </a:p>
          <a:p>
            <a:pPr lvl="1" eaLnBrk="1" hangingPunct="1"/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70C0"/>
                </a:solidFill>
              </a:rPr>
              <a:t>R 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  R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∪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03061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插入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例：</a:t>
            </a:r>
          </a:p>
          <a:p>
            <a:pPr lvl="2" eaLnBrk="1" hangingPunct="1"/>
            <a:r>
              <a:rPr lang="en-US" altLang="zh-CN" sz="2400" dirty="0" smtClean="0"/>
              <a:t>S: </a:t>
            </a:r>
            <a:r>
              <a:rPr lang="zh-CN" altLang="en-US" sz="2400" dirty="0" smtClean="0"/>
              <a:t>学生关系；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课程关系； </a:t>
            </a:r>
            <a:r>
              <a:rPr lang="en-US" altLang="zh-CN" sz="2400" dirty="0" smtClean="0"/>
              <a:t>R: </a:t>
            </a:r>
            <a:r>
              <a:rPr lang="zh-CN" altLang="en-US" sz="2400" dirty="0" smtClean="0"/>
              <a:t>选修关系。</a:t>
            </a:r>
          </a:p>
          <a:p>
            <a:pPr lvl="2" eaLnBrk="1" hangingPunct="1"/>
            <a:r>
              <a:rPr lang="zh-CN" altLang="en-US" sz="2400" dirty="0" smtClean="0"/>
              <a:t>新加入一个学生到关系</a:t>
            </a:r>
            <a:r>
              <a:rPr lang="en-US" altLang="zh-CN" sz="2400" dirty="0" smtClean="0"/>
              <a:t>S</a:t>
            </a:r>
            <a:r>
              <a:rPr lang="zh-CN" altLang="en-US" sz="2400" dirty="0" smtClean="0"/>
              <a:t>，学号为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，姓名小周，性别女</a:t>
            </a:r>
            <a:endParaRPr lang="en-US" altLang="zh-CN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70C0"/>
                </a:solidFill>
              </a:rPr>
              <a:t>S 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  S</a:t>
            </a:r>
            <a:r>
              <a:rPr lang="en-US" altLang="zh-CN" sz="2400" dirty="0" smtClean="0">
                <a:solidFill>
                  <a:srgbClr val="0070C0"/>
                </a:solidFill>
              </a:rPr>
              <a:t> ∪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 { (4 ,</a:t>
            </a:r>
            <a:r>
              <a:rPr lang="en-US" altLang="zh-CN" sz="2400" dirty="0" smtClean="0">
                <a:solidFill>
                  <a:srgbClr val="0070C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小周</a:t>
            </a:r>
            <a:r>
              <a:rPr lang="zh-CN" altLang="en-US" sz="2400" dirty="0" smtClean="0">
                <a:solidFill>
                  <a:srgbClr val="0070C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dirty="0" smtClean="0">
                <a:solidFill>
                  <a:srgbClr val="0070C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女</a:t>
            </a:r>
            <a:r>
              <a:rPr lang="zh-CN" altLang="en-US" sz="2400" dirty="0" smtClean="0">
                <a:solidFill>
                  <a:srgbClr val="0070C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) }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2" eaLnBrk="1" hangingPunct="1"/>
            <a:endParaRPr lang="zh-CN" altLang="en-US" dirty="0" smtClean="0">
              <a:solidFill>
                <a:srgbClr val="30E444"/>
              </a:solidFill>
            </a:endParaRPr>
          </a:p>
        </p:txBody>
      </p:sp>
      <p:graphicFrame>
        <p:nvGraphicFramePr>
          <p:cNvPr id="398459" name="Group 123"/>
          <p:cNvGraphicFramePr>
            <a:graphicFrameLocks noGrp="1"/>
          </p:cNvGraphicFramePr>
          <p:nvPr/>
        </p:nvGraphicFramePr>
        <p:xfrm>
          <a:off x="5621338" y="4586288"/>
          <a:ext cx="1571625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61195968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03189037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89568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7355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323105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644708"/>
                  </a:ext>
                </a:extLst>
              </a:tr>
            </a:tbl>
          </a:graphicData>
        </a:graphic>
      </p:graphicFrame>
      <p:sp>
        <p:nvSpPr>
          <p:cNvPr id="38933" name="Text Box 76"/>
          <p:cNvSpPr txBox="1">
            <a:spLocks noChangeArrowheads="1"/>
          </p:cNvSpPr>
          <p:nvPr/>
        </p:nvSpPr>
        <p:spPr bwMode="auto">
          <a:xfrm>
            <a:off x="6002338" y="398462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smtClean="0">
                <a:latin typeface="Tahoma" charset="0"/>
              </a:rPr>
              <a:t>R</a:t>
            </a:r>
          </a:p>
        </p:txBody>
      </p:sp>
      <p:graphicFrame>
        <p:nvGraphicFramePr>
          <p:cNvPr id="398457" name="Group 121"/>
          <p:cNvGraphicFramePr>
            <a:graphicFrameLocks noGrp="1"/>
          </p:cNvGraphicFramePr>
          <p:nvPr/>
        </p:nvGraphicFramePr>
        <p:xfrm>
          <a:off x="1284288" y="4565650"/>
          <a:ext cx="2057400" cy="1485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169566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8994021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92076098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14723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593988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1572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383638"/>
                  </a:ext>
                </a:extLst>
              </a:tr>
            </a:tbl>
          </a:graphicData>
        </a:graphic>
      </p:graphicFrame>
      <p:sp>
        <p:nvSpPr>
          <p:cNvPr id="38956" name="Text Box 99"/>
          <p:cNvSpPr txBox="1">
            <a:spLocks noChangeArrowheads="1"/>
          </p:cNvSpPr>
          <p:nvPr/>
        </p:nvSpPr>
        <p:spPr bwMode="auto">
          <a:xfrm>
            <a:off x="1970088" y="394970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dirty="0" smtClean="0">
                <a:latin typeface="Tahoma" charset="0"/>
              </a:rPr>
              <a:t>S</a:t>
            </a:r>
          </a:p>
        </p:txBody>
      </p:sp>
      <p:graphicFrame>
        <p:nvGraphicFramePr>
          <p:cNvPr id="398458" name="Group 122"/>
          <p:cNvGraphicFramePr>
            <a:graphicFrameLocks noGrp="1"/>
          </p:cNvGraphicFramePr>
          <p:nvPr/>
        </p:nvGraphicFramePr>
        <p:xfrm>
          <a:off x="3605213" y="4568825"/>
          <a:ext cx="1765300" cy="14859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151651765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56255062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95065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25451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物理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88387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英语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521739"/>
                  </a:ext>
                </a:extLst>
              </a:tr>
            </a:tbl>
          </a:graphicData>
        </a:graphic>
      </p:graphicFrame>
      <p:sp>
        <p:nvSpPr>
          <p:cNvPr id="38974" name="Text Box 117"/>
          <p:cNvSpPr txBox="1">
            <a:spLocks noChangeArrowheads="1"/>
          </p:cNvSpPr>
          <p:nvPr/>
        </p:nvSpPr>
        <p:spPr bwMode="auto">
          <a:xfrm>
            <a:off x="3986213" y="395922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smtClean="0">
                <a:latin typeface="Tahoma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2496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插入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例：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添加</a:t>
            </a:r>
            <a:r>
              <a:rPr lang="zh-CN" altLang="en-US" sz="2400" dirty="0" smtClean="0">
                <a:solidFill>
                  <a:srgbClr val="0070C0"/>
                </a:solidFill>
              </a:rPr>
              <a:t>所有男学生选修英语课</a:t>
            </a:r>
            <a:r>
              <a:rPr lang="zh-CN" altLang="en-US" sz="2400" dirty="0" smtClean="0"/>
              <a:t>的信息到关系</a:t>
            </a:r>
            <a:r>
              <a:rPr lang="en-US" altLang="zh-CN" sz="2400" dirty="0" smtClean="0"/>
              <a:t>R</a:t>
            </a:r>
          </a:p>
          <a:p>
            <a:pPr marL="857250" lvl="2" indent="0" eaLnBrk="1" hangingPunct="1">
              <a:buNone/>
            </a:pPr>
            <a:endParaRPr lang="en-US" altLang="zh-CN" sz="2400" dirty="0" smtClean="0"/>
          </a:p>
        </p:txBody>
      </p:sp>
      <p:graphicFrame>
        <p:nvGraphicFramePr>
          <p:cNvPr id="10" name="Group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578379"/>
              </p:ext>
            </p:extLst>
          </p:nvPr>
        </p:nvGraphicFramePr>
        <p:xfrm>
          <a:off x="5407025" y="4066388"/>
          <a:ext cx="1571625" cy="22272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735769327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80411897"/>
                    </a:ext>
                  </a:extLst>
                </a:gridCol>
              </a:tblGrid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301508"/>
                  </a:ext>
                </a:extLst>
              </a:tr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593968"/>
                  </a:ext>
                </a:extLst>
              </a:tr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95552"/>
                  </a:ext>
                </a:extLst>
              </a:tr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706482"/>
                  </a:ext>
                </a:extLst>
              </a:tr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150304"/>
                  </a:ext>
                </a:extLst>
              </a:tr>
              <a:tr h="37121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17982" marB="1798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7982" marB="1798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360011"/>
                  </a:ext>
                </a:extLst>
              </a:tr>
            </a:tbl>
          </a:graphicData>
        </a:graphic>
      </p:graphicFrame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5788025" y="346472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smtClean="0">
                <a:latin typeface="Tahoma" charset="0"/>
              </a:rPr>
              <a:t>R</a:t>
            </a:r>
          </a:p>
        </p:txBody>
      </p:sp>
      <p:graphicFrame>
        <p:nvGraphicFramePr>
          <p:cNvPr id="12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740215"/>
              </p:ext>
            </p:extLst>
          </p:nvPr>
        </p:nvGraphicFramePr>
        <p:xfrm>
          <a:off x="1069975" y="4045750"/>
          <a:ext cx="2057400" cy="185579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19995749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1611673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53633954"/>
                    </a:ext>
                  </a:extLst>
                </a:gridCol>
              </a:tblGrid>
              <a:tr h="371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</a:p>
                  </a:txBody>
                  <a:tcPr marL="0" marR="0" marT="17969" marB="1796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830739"/>
                  </a:ext>
                </a:extLst>
              </a:tr>
              <a:tr h="371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969" marB="1796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56795"/>
                  </a:ext>
                </a:extLst>
              </a:tr>
              <a:tr h="371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17969" marB="1796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823235"/>
                  </a:ext>
                </a:extLst>
              </a:tr>
              <a:tr h="371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17969" marB="1796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男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220992"/>
                  </a:ext>
                </a:extLst>
              </a:tr>
              <a:tr h="371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17969" marB="1796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小周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女</a:t>
                      </a:r>
                    </a:p>
                  </a:txBody>
                  <a:tcPr marL="0" marR="0" marT="17969" marB="1796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58435"/>
                  </a:ext>
                </a:extLst>
              </a:tr>
            </a:tbl>
          </a:graphicData>
        </a:graphic>
      </p:graphicFrame>
      <p:sp>
        <p:nvSpPr>
          <p:cNvPr id="13" name="Text Box 48"/>
          <p:cNvSpPr txBox="1">
            <a:spLocks noChangeArrowheads="1"/>
          </p:cNvSpPr>
          <p:nvPr/>
        </p:nvSpPr>
        <p:spPr bwMode="auto">
          <a:xfrm>
            <a:off x="1755775" y="342980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smtClean="0">
                <a:latin typeface="Tahoma" charset="0"/>
              </a:rPr>
              <a:t>S</a:t>
            </a:r>
          </a:p>
        </p:txBody>
      </p:sp>
      <p:graphicFrame>
        <p:nvGraphicFramePr>
          <p:cNvPr id="14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146142"/>
              </p:ext>
            </p:extLst>
          </p:nvPr>
        </p:nvGraphicFramePr>
        <p:xfrm>
          <a:off x="3390900" y="4048925"/>
          <a:ext cx="1765300" cy="148590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139598575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7937022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067079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54888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物理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55933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英语</a:t>
                      </a: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829245"/>
                  </a:ext>
                </a:extLst>
              </a:tr>
            </a:tbl>
          </a:graphicData>
        </a:graphic>
      </p:graphicFrame>
      <p:sp>
        <p:nvSpPr>
          <p:cNvPr id="15" name="Text Box 66"/>
          <p:cNvSpPr txBox="1">
            <a:spLocks noChangeArrowheads="1"/>
          </p:cNvSpPr>
          <p:nvPr/>
        </p:nvSpPr>
        <p:spPr bwMode="auto">
          <a:xfrm>
            <a:off x="3771900" y="343932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smtClean="0">
                <a:latin typeface="Tahoma" charset="0"/>
              </a:rPr>
              <a:t>C</a:t>
            </a:r>
          </a:p>
        </p:txBody>
      </p:sp>
      <p:sp>
        <p:nvSpPr>
          <p:cNvPr id="16" name="Rectangle 60"/>
          <p:cNvSpPr>
            <a:spLocks noChangeArrowheads="1"/>
          </p:cNvSpPr>
          <p:nvPr/>
        </p:nvSpPr>
        <p:spPr bwMode="auto">
          <a:xfrm>
            <a:off x="3813711" y="2377757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10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 bldLvl="4"/>
      <p:bldP spid="1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更新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用关系代数表示</a:t>
            </a:r>
            <a:r>
              <a:rPr lang="zh-CN" altLang="en-US" sz="2400" dirty="0" smtClean="0">
                <a:solidFill>
                  <a:srgbClr val="0070C0"/>
                </a:solidFill>
              </a:rPr>
              <a:t>全部更新</a:t>
            </a:r>
          </a:p>
          <a:p>
            <a:pPr lvl="1" eaLnBrk="1" hangingPunct="1"/>
            <a:r>
              <a:rPr lang="zh-CN" altLang="zh-CN" sz="2400" dirty="0" smtClean="0"/>
              <a:t>利用广义投影</a:t>
            </a:r>
            <a:r>
              <a:rPr lang="zh-CN" altLang="en-US" sz="2400" dirty="0" smtClean="0"/>
              <a:t>改变全部元组在某些属性上的值，表示为</a:t>
            </a:r>
            <a:endParaRPr lang="en-US" altLang="zh-CN" sz="2400" i="1" dirty="0" smtClean="0">
              <a:solidFill>
                <a:srgbClr val="FF3300"/>
              </a:solidFill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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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F1 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,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F2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smtClean="0">
                <a:solidFill>
                  <a:srgbClr val="0070C0"/>
                </a:solidFill>
                <a:latin typeface="Helvetica" panose="020B0604020202020204" pitchFamily="34" charset="0"/>
              </a:rPr>
              <a:t>…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err="1" smtClean="0">
                <a:solidFill>
                  <a:srgbClr val="0070C0"/>
                </a:solidFill>
                <a:sym typeface="Symbol" panose="05050102010706020507" pitchFamily="18" charset="2"/>
              </a:rPr>
              <a:t>Fn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(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400" dirty="0" smtClean="0"/>
              <a:t>F</a:t>
            </a:r>
            <a:r>
              <a:rPr lang="en-US" altLang="zh-CN" sz="2400" baseline="-25000" dirty="0" smtClean="0"/>
              <a:t>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F</a:t>
            </a:r>
            <a:r>
              <a:rPr lang="en-US" altLang="zh-CN" sz="2400" baseline="-25000" dirty="0" smtClean="0"/>
              <a:t>2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/>
              <a:t>F</a:t>
            </a:r>
            <a:r>
              <a:rPr lang="en-US" altLang="zh-CN" sz="2400" baseline="-25000" dirty="0" err="1" smtClean="0"/>
              <a:t>n</a:t>
            </a:r>
            <a:r>
              <a:rPr lang="zh-CN" altLang="en-US" sz="2400" dirty="0" smtClean="0"/>
              <a:t>和原来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的属性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, A</a:t>
            </a:r>
            <a:r>
              <a:rPr lang="en-US" altLang="zh-CN" sz="2400" baseline="-25000" dirty="0" smtClean="0"/>
              <a:t>2</a:t>
            </a:r>
            <a:r>
              <a:rPr lang="zh-CN" altLang="en-US" sz="2400" dirty="0" smtClean="0"/>
              <a:t>，</a:t>
            </a:r>
            <a:r>
              <a:rPr lang="en-US" altLang="zh-CN" sz="2400" dirty="0" smtClean="0">
                <a:latin typeface="Helvetica" panose="020B0604020202020204" pitchFamily="34" charset="0"/>
              </a:rPr>
              <a:t>……</a:t>
            </a:r>
            <a:r>
              <a:rPr lang="en-US" altLang="zh-CN" sz="2400" dirty="0" smtClean="0"/>
              <a:t> A</a:t>
            </a:r>
            <a:r>
              <a:rPr lang="en-US" altLang="zh-CN" sz="2400" baseline="-25000" dirty="0" smtClean="0"/>
              <a:t>n</a:t>
            </a:r>
            <a:r>
              <a:rPr lang="zh-CN" altLang="en-US" sz="2400" dirty="0" smtClean="0"/>
              <a:t>相对应</a:t>
            </a:r>
          </a:p>
          <a:p>
            <a:pPr lvl="1" eaLnBrk="1" hangingPunct="1"/>
            <a:r>
              <a:rPr lang="zh-CN" altLang="en-US" sz="2400" dirty="0" smtClean="0"/>
              <a:t>当第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个属性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不需要修改时，</a:t>
            </a:r>
            <a:r>
              <a:rPr lang="en-US" altLang="zh-CN" sz="2400" dirty="0" smtClean="0"/>
              <a:t>F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就是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；当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需要修改时，</a:t>
            </a:r>
            <a:r>
              <a:rPr lang="en-US" altLang="zh-CN" sz="2400" dirty="0" smtClean="0"/>
              <a:t>F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就是一个表达式（可能涉及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，该表达式给出了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的新值</a:t>
            </a:r>
          </a:p>
          <a:p>
            <a:pPr lvl="1"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500" dirty="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79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更新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例：</a:t>
            </a:r>
          </a:p>
          <a:p>
            <a:pPr lvl="2" eaLnBrk="1" hangingPunct="1"/>
            <a:r>
              <a:rPr lang="en-US" altLang="zh-CN" sz="2400" dirty="0" err="1" smtClean="0"/>
              <a:t>Emp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职工关系。</a:t>
            </a:r>
          </a:p>
          <a:p>
            <a:pPr lvl="2" eaLnBrk="1" hangingPunct="1"/>
            <a:r>
              <a:rPr lang="zh-CN" altLang="en-US" sz="2400" dirty="0" smtClean="0"/>
              <a:t>给每位职工上调</a:t>
            </a:r>
            <a:r>
              <a:rPr lang="en-US" altLang="zh-CN" sz="2400" dirty="0" smtClean="0"/>
              <a:t>10%</a:t>
            </a:r>
            <a:r>
              <a:rPr lang="zh-CN" altLang="en-US" sz="2400" dirty="0" smtClean="0"/>
              <a:t>的工资</a:t>
            </a:r>
          </a:p>
          <a:p>
            <a:pPr lvl="2" algn="ctr"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</p:txBody>
      </p:sp>
      <p:graphicFrame>
        <p:nvGraphicFramePr>
          <p:cNvPr id="403519" name="Group 63"/>
          <p:cNvGraphicFramePr>
            <a:graphicFrameLocks noGrp="1"/>
          </p:cNvGraphicFramePr>
          <p:nvPr/>
        </p:nvGraphicFramePr>
        <p:xfrm>
          <a:off x="596900" y="4398963"/>
          <a:ext cx="2286000" cy="214471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924483454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13061658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47949938"/>
                    </a:ext>
                  </a:extLst>
                </a:gridCol>
              </a:tblGrid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职工号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工资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526248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776102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116037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985627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小刘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734646"/>
                  </a:ext>
                </a:extLst>
              </a:tr>
            </a:tbl>
          </a:graphicData>
        </a:graphic>
      </p:graphicFrame>
      <p:sp>
        <p:nvSpPr>
          <p:cNvPr id="44062" name="Text Box 30"/>
          <p:cNvSpPr txBox="1">
            <a:spLocks noChangeArrowheads="1"/>
          </p:cNvSpPr>
          <p:nvPr/>
        </p:nvSpPr>
        <p:spPr bwMode="auto">
          <a:xfrm>
            <a:off x="1371600" y="3784600"/>
            <a:ext cx="889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dirty="0" err="1" smtClean="0">
                <a:latin typeface="Tahoma" charset="0"/>
              </a:rPr>
              <a:t>Emp</a:t>
            </a:r>
            <a:endParaRPr kumimoji="1" lang="en-US" altLang="zh-CN" sz="2800" dirty="0" smtClean="0">
              <a:latin typeface="Tahoma" charset="0"/>
            </a:endParaRPr>
          </a:p>
        </p:txBody>
      </p:sp>
      <p:sp>
        <p:nvSpPr>
          <p:cNvPr id="403487" name="AutoShape 31"/>
          <p:cNvSpPr>
            <a:spLocks noChangeArrowheads="1"/>
          </p:cNvSpPr>
          <p:nvPr/>
        </p:nvSpPr>
        <p:spPr bwMode="auto">
          <a:xfrm>
            <a:off x="3619500" y="50927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46800" rIns="0" bIns="46800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403520" name="Group 64"/>
          <p:cNvGraphicFramePr>
            <a:graphicFrameLocks noGrp="1"/>
          </p:cNvGraphicFramePr>
          <p:nvPr/>
        </p:nvGraphicFramePr>
        <p:xfrm>
          <a:off x="5384800" y="4398963"/>
          <a:ext cx="2286000" cy="214471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3382384305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86579860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094055384"/>
                    </a:ext>
                  </a:extLst>
                </a:gridCol>
              </a:tblGrid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职工号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工资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070108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479407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52764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2640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315601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小刘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3520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566076"/>
                  </a:ext>
                </a:extLst>
              </a:tr>
            </a:tbl>
          </a:graphicData>
        </a:graphic>
      </p:graphicFrame>
      <p:sp>
        <p:nvSpPr>
          <p:cNvPr id="403514" name="Text Box 58"/>
          <p:cNvSpPr txBox="1">
            <a:spLocks noChangeArrowheads="1"/>
          </p:cNvSpPr>
          <p:nvPr/>
        </p:nvSpPr>
        <p:spPr bwMode="auto">
          <a:xfrm>
            <a:off x="6108700" y="3784600"/>
            <a:ext cx="901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dirty="0" err="1" smtClean="0">
                <a:latin typeface="Tahoma" charset="0"/>
              </a:rPr>
              <a:t>Emp</a:t>
            </a:r>
            <a:endParaRPr kumimoji="1" lang="en-US" altLang="zh-CN" sz="2800" dirty="0" smtClean="0">
              <a:latin typeface="Tahoma" charset="0"/>
            </a:endParaRP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3861062" y="3947154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47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0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514" grpId="0" autoUpdateAnimBg="0"/>
      <p:bldP spid="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更新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用关系代数表示部分更新</a:t>
            </a:r>
          </a:p>
          <a:p>
            <a:pPr lvl="1" eaLnBrk="1" hangingPunct="1"/>
            <a:r>
              <a:rPr lang="zh-CN" altLang="en-US" sz="2400" dirty="0" smtClean="0"/>
              <a:t>只对部分满足特定条件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的元组进行更新，表示为</a:t>
            </a:r>
          </a:p>
          <a:p>
            <a:pPr lvl="1" eaLnBrk="1" hangingPunct="1"/>
            <a:endParaRPr lang="en-US" altLang="zh-CN" sz="2400" i="1" dirty="0" smtClean="0">
              <a:solidFill>
                <a:srgbClr val="FF3300"/>
              </a:solidFill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  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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F1 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,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F2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smtClean="0">
                <a:solidFill>
                  <a:srgbClr val="0070C0"/>
                </a:solidFill>
                <a:latin typeface="Helvetica" panose="020B0604020202020204" pitchFamily="34" charset="0"/>
              </a:rPr>
              <a:t>…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err="1" smtClean="0">
                <a:solidFill>
                  <a:srgbClr val="0070C0"/>
                </a:solidFill>
                <a:sym typeface="Symbol" panose="05050102010706020507" pitchFamily="18" charset="2"/>
              </a:rPr>
              <a:t>Fn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(</a:t>
            </a:r>
            <a:r>
              <a:rPr lang="en-US" altLang="zh-CN" sz="2400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p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dirty="0" smtClean="0">
                <a:solidFill>
                  <a:srgbClr val="0070C0"/>
                </a:solidFill>
              </a:rPr>
              <a:t>)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) </a:t>
            </a:r>
            <a:r>
              <a:rPr lang="en-US" altLang="zh-CN" sz="2400" dirty="0" smtClean="0">
                <a:solidFill>
                  <a:srgbClr val="0070C0"/>
                </a:solidFill>
              </a:rPr>
              <a:t>∪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 ( 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－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p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dirty="0" smtClean="0">
                <a:solidFill>
                  <a:srgbClr val="0070C0"/>
                </a:solidFill>
              </a:rPr>
              <a:t>)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)</a:t>
            </a:r>
          </a:p>
          <a:p>
            <a:pPr lvl="1" eaLnBrk="1" hangingPunct="1"/>
            <a:endParaRPr lang="en-US" altLang="zh-CN" sz="2400" dirty="0" smtClean="0">
              <a:solidFill>
                <a:srgbClr val="30E444"/>
              </a:solidFill>
            </a:endParaRPr>
          </a:p>
          <a:p>
            <a:pPr lvl="1" eaLnBrk="1" hangingPunct="1"/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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F1 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, </a:t>
            </a:r>
            <a:r>
              <a:rPr lang="en-US" altLang="zh-CN" sz="2400" i="1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F2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smtClean="0">
                <a:solidFill>
                  <a:srgbClr val="0070C0"/>
                </a:solidFill>
                <a:latin typeface="Helvetica" panose="020B0604020202020204" pitchFamily="34" charset="0"/>
              </a:rPr>
              <a:t>…</a:t>
            </a:r>
            <a:r>
              <a:rPr lang="en-US" altLang="zh-CN" sz="2400" i="1" baseline="-25000" dirty="0" smtClean="0">
                <a:solidFill>
                  <a:srgbClr val="0070C0"/>
                </a:solidFill>
              </a:rPr>
              <a:t> , </a:t>
            </a:r>
            <a:r>
              <a:rPr lang="en-US" altLang="zh-CN" sz="2400" i="1" baseline="-25000" dirty="0" err="1" smtClean="0">
                <a:solidFill>
                  <a:srgbClr val="0070C0"/>
                </a:solidFill>
                <a:sym typeface="Symbol" panose="05050102010706020507" pitchFamily="18" charset="2"/>
              </a:rPr>
              <a:t>Fn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(</a:t>
            </a:r>
            <a:r>
              <a:rPr lang="en-US" altLang="zh-CN" sz="2400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p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dirty="0" smtClean="0">
                <a:solidFill>
                  <a:srgbClr val="0070C0"/>
                </a:solidFill>
              </a:rPr>
              <a:t>)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) </a:t>
            </a:r>
            <a:r>
              <a:rPr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400" dirty="0" smtClean="0">
                <a:sym typeface="Symbol" panose="05050102010706020507" pitchFamily="18" charset="2"/>
              </a:rPr>
              <a:t>对满足条件</a:t>
            </a:r>
            <a:r>
              <a:rPr lang="en-US" altLang="zh-CN" sz="2400" dirty="0" smtClean="0">
                <a:sym typeface="Symbol" panose="05050102010706020507" pitchFamily="18" charset="2"/>
              </a:rPr>
              <a:t>p</a:t>
            </a:r>
            <a:r>
              <a:rPr lang="zh-CN" altLang="en-US" sz="2400" dirty="0" smtClean="0">
                <a:sym typeface="Symbol" panose="05050102010706020507" pitchFamily="18" charset="2"/>
              </a:rPr>
              <a:t>的元组进行更新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－ </a:t>
            </a:r>
            <a:r>
              <a:rPr lang="en-US" altLang="zh-CN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 smtClean="0">
                <a:solidFill>
                  <a:srgbClr val="0070C0"/>
                </a:solidFill>
                <a:sym typeface="Symbol" panose="05050102010706020507" pitchFamily="18" charset="2"/>
              </a:rPr>
              <a:t>p</a:t>
            </a:r>
            <a:r>
              <a:rPr lang="en-US" altLang="zh-CN" sz="2400" i="1" dirty="0" smtClean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en-US" altLang="zh-CN" sz="2400" i="1" dirty="0" smtClean="0">
                <a:solidFill>
                  <a:srgbClr val="0070C0"/>
                </a:solidFill>
              </a:rPr>
              <a:t>r </a:t>
            </a:r>
            <a:r>
              <a:rPr lang="en-US" altLang="zh-CN" sz="2400" dirty="0" smtClean="0">
                <a:solidFill>
                  <a:srgbClr val="0070C0"/>
                </a:solidFill>
              </a:rPr>
              <a:t>) </a:t>
            </a:r>
            <a:r>
              <a:rPr lang="zh-CN" altLang="en-US" sz="2400" dirty="0" smtClean="0">
                <a:solidFill>
                  <a:srgbClr val="0070C0"/>
                </a:solidFill>
              </a:rPr>
              <a:t>：</a:t>
            </a:r>
            <a:r>
              <a:rPr lang="zh-CN" altLang="en-US" sz="2400" dirty="0" smtClean="0"/>
              <a:t>对不满足条件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的元组，不进行更新（不变）</a:t>
            </a:r>
          </a:p>
          <a:p>
            <a:pPr lvl="1"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lang="zh-CN" altLang="en-US" sz="2500" dirty="0" smtClean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90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更新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例：</a:t>
            </a:r>
          </a:p>
          <a:p>
            <a:pPr lvl="2" eaLnBrk="1" hangingPunct="1"/>
            <a:r>
              <a:rPr lang="en-US" altLang="zh-CN" sz="2400" dirty="0" err="1" smtClean="0"/>
              <a:t>Emp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职工关系。</a:t>
            </a:r>
          </a:p>
          <a:p>
            <a:pPr lvl="2" eaLnBrk="1" hangingPunct="1"/>
            <a:r>
              <a:rPr lang="zh-CN" altLang="en-US" sz="2400" dirty="0" smtClean="0"/>
              <a:t>给职工小张上调</a:t>
            </a:r>
            <a:r>
              <a:rPr lang="en-US" altLang="zh-CN" sz="2400" dirty="0" smtClean="0"/>
              <a:t>10%</a:t>
            </a:r>
            <a:r>
              <a:rPr lang="zh-CN" altLang="en-US" sz="2400" dirty="0" smtClean="0"/>
              <a:t>的工资</a:t>
            </a:r>
          </a:p>
          <a:p>
            <a:pPr lvl="2" algn="ctr" eaLnBrk="1" hangingPunct="1">
              <a:buFont typeface="Wingdings" panose="05000000000000000000" pitchFamily="2" charset="2"/>
              <a:buNone/>
            </a:pPr>
            <a:endParaRPr lang="en-US" altLang="zh-CN" sz="1200" dirty="0" smtClean="0"/>
          </a:p>
        </p:txBody>
      </p:sp>
      <p:graphicFrame>
        <p:nvGraphicFramePr>
          <p:cNvPr id="453695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68622"/>
              </p:ext>
            </p:extLst>
          </p:nvPr>
        </p:nvGraphicFramePr>
        <p:xfrm>
          <a:off x="958850" y="4107127"/>
          <a:ext cx="2286000" cy="214471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85072142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155327918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1279997"/>
                    </a:ext>
                  </a:extLst>
                </a:gridCol>
              </a:tblGrid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职工号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工资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344780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495261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7344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612228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小刘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613740"/>
                  </a:ext>
                </a:extLst>
              </a:tr>
            </a:tbl>
          </a:graphicData>
        </a:graphic>
      </p:graphicFrame>
      <p:sp>
        <p:nvSpPr>
          <p:cNvPr id="46110" name="Text Box 30"/>
          <p:cNvSpPr txBox="1">
            <a:spLocks noChangeArrowheads="1"/>
          </p:cNvSpPr>
          <p:nvPr/>
        </p:nvSpPr>
        <p:spPr bwMode="auto">
          <a:xfrm>
            <a:off x="1657350" y="3430893"/>
            <a:ext cx="889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dirty="0" err="1" smtClean="0">
                <a:latin typeface="Tahoma" charset="0"/>
              </a:rPr>
              <a:t>Emp</a:t>
            </a:r>
            <a:endParaRPr kumimoji="1" lang="en-US" altLang="zh-CN" sz="2800" dirty="0" smtClean="0">
              <a:latin typeface="Tahoma" charset="0"/>
            </a:endParaRPr>
          </a:p>
        </p:txBody>
      </p:sp>
      <p:sp>
        <p:nvSpPr>
          <p:cNvPr id="453663" name="AutoShape 31"/>
          <p:cNvSpPr>
            <a:spLocks noChangeArrowheads="1"/>
          </p:cNvSpPr>
          <p:nvPr/>
        </p:nvSpPr>
        <p:spPr bwMode="auto">
          <a:xfrm>
            <a:off x="3981450" y="461358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46800" rIns="0" bIns="46800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453696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466352"/>
              </p:ext>
            </p:extLst>
          </p:nvPr>
        </p:nvGraphicFramePr>
        <p:xfrm>
          <a:off x="5746750" y="3919843"/>
          <a:ext cx="2286000" cy="214471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1528909528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17928421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78159964"/>
                    </a:ext>
                  </a:extLst>
                </a:gridCol>
              </a:tblGrid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职工号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工资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36618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097281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870887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小陈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67473"/>
                  </a:ext>
                </a:extLst>
              </a:tr>
              <a:tr h="42894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46807" marB="468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小刘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3200</a:t>
                      </a:r>
                    </a:p>
                  </a:txBody>
                  <a:tcPr marL="0" marR="0" marT="46807" marB="4680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090968"/>
                  </a:ext>
                </a:extLst>
              </a:tr>
            </a:tbl>
          </a:graphicData>
        </a:graphic>
      </p:graphicFrame>
      <p:sp>
        <p:nvSpPr>
          <p:cNvPr id="453690" name="Text Box 58"/>
          <p:cNvSpPr txBox="1">
            <a:spLocks noChangeArrowheads="1"/>
          </p:cNvSpPr>
          <p:nvPr/>
        </p:nvSpPr>
        <p:spPr bwMode="auto">
          <a:xfrm>
            <a:off x="6438900" y="3430893"/>
            <a:ext cx="901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400" dirty="0" err="1" smtClean="0">
                <a:latin typeface="Tahoma" charset="0"/>
              </a:rPr>
              <a:t>Emp</a:t>
            </a:r>
            <a:endParaRPr kumimoji="1" lang="en-US" altLang="zh-CN" sz="2800" dirty="0" smtClean="0">
              <a:latin typeface="Tahoma" charset="0"/>
            </a:endParaRP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4102231" y="3430893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125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5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5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90" grpId="0" autoUpdateAnimBg="0"/>
      <p:bldP spid="9" grpId="0" autoUpdateAnimBg="0"/>
    </p:bld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95925</TotalTime>
  <Words>1332</Words>
  <Application>Microsoft Office PowerPoint</Application>
  <PresentationFormat>全屏显示(4:3)</PresentationFormat>
  <Paragraphs>393</Paragraphs>
  <Slides>22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  <vt:variant>
        <vt:lpstr>自定义放映</vt:lpstr>
      </vt:variant>
      <vt:variant>
        <vt:i4>1</vt:i4>
      </vt:variant>
    </vt:vector>
  </HeadingPairs>
  <TitlesOfParts>
    <vt:vector size="36" baseType="lpstr">
      <vt:lpstr>Monotype Sorts</vt:lpstr>
      <vt:lpstr>MS PGothic</vt:lpstr>
      <vt:lpstr>MS PGothic</vt:lpstr>
      <vt:lpstr>宋体</vt:lpstr>
      <vt:lpstr>Arial</vt:lpstr>
      <vt:lpstr>Cambria Math</vt:lpstr>
      <vt:lpstr>Helvetica</vt:lpstr>
      <vt:lpstr>Symbol</vt:lpstr>
      <vt:lpstr>Tahoma</vt:lpstr>
      <vt:lpstr>Times New Roman</vt:lpstr>
      <vt:lpstr>Webdings</vt:lpstr>
      <vt:lpstr>Wingdings</vt:lpstr>
      <vt:lpstr>2_db-5-grey</vt:lpstr>
      <vt:lpstr>Chapter 2: Intro to Relational Model (II)</vt:lpstr>
      <vt:lpstr>数据结构  —— 关系</vt:lpstr>
      <vt:lpstr>关系的定义</vt:lpstr>
      <vt:lpstr>关系数据库</vt:lpstr>
      <vt:lpstr>关系数据库</vt:lpstr>
      <vt:lpstr>数据操作 —— 关系操作</vt:lpstr>
      <vt:lpstr>关系操作概述</vt:lpstr>
      <vt:lpstr>关系操作概述</vt:lpstr>
      <vt:lpstr>关系操作概述</vt:lpstr>
      <vt:lpstr>什么是关系代数</vt:lpstr>
      <vt:lpstr>什么是关系代数</vt:lpstr>
      <vt:lpstr>Relational Algebra</vt:lpstr>
      <vt:lpstr>Examples</vt:lpstr>
      <vt:lpstr>删除</vt:lpstr>
      <vt:lpstr>删除</vt:lpstr>
      <vt:lpstr>插入</vt:lpstr>
      <vt:lpstr>插入</vt:lpstr>
      <vt:lpstr>插入</vt:lpstr>
      <vt:lpstr>更新</vt:lpstr>
      <vt:lpstr>更新</vt:lpstr>
      <vt:lpstr>更新</vt:lpstr>
      <vt:lpstr>更新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dell</cp:lastModifiedBy>
  <cp:revision>519</cp:revision>
  <cp:lastPrinted>1999-06-28T19:27:31Z</cp:lastPrinted>
  <dcterms:created xsi:type="dcterms:W3CDTF">2009-12-21T15:40:22Z</dcterms:created>
  <dcterms:modified xsi:type="dcterms:W3CDTF">2021-09-05T11:54:39Z</dcterms:modified>
</cp:coreProperties>
</file>