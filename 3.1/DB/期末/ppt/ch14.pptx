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6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4" r:id="rId3"/>
  </p:sldMasterIdLst>
  <p:notesMasterIdLst>
    <p:notesMasterId r:id="rId5"/>
  </p:notesMasterIdLst>
  <p:handoutMasterIdLst>
    <p:handoutMasterId r:id="rId110"/>
  </p:handoutMasterIdLst>
  <p:sldIdLst>
    <p:sldId id="332" r:id="rId4"/>
    <p:sldId id="455" r:id="rId6"/>
    <p:sldId id="471" r:id="rId7"/>
    <p:sldId id="257" r:id="rId8"/>
    <p:sldId id="258" r:id="rId9"/>
    <p:sldId id="259" r:id="rId10"/>
    <p:sldId id="425" r:id="rId11"/>
    <p:sldId id="262" r:id="rId12"/>
    <p:sldId id="454" r:id="rId13"/>
    <p:sldId id="460" r:id="rId14"/>
    <p:sldId id="263" r:id="rId15"/>
    <p:sldId id="459" r:id="rId16"/>
    <p:sldId id="264" r:id="rId17"/>
    <p:sldId id="434" r:id="rId18"/>
    <p:sldId id="265" r:id="rId19"/>
    <p:sldId id="266" r:id="rId20"/>
    <p:sldId id="267" r:id="rId21"/>
    <p:sldId id="574" r:id="rId22"/>
    <p:sldId id="575" r:id="rId23"/>
    <p:sldId id="576" r:id="rId24"/>
    <p:sldId id="381" r:id="rId25"/>
    <p:sldId id="382" r:id="rId26"/>
    <p:sldId id="383" r:id="rId27"/>
    <p:sldId id="384" r:id="rId28"/>
    <p:sldId id="416" r:id="rId29"/>
    <p:sldId id="457" r:id="rId30"/>
    <p:sldId id="387" r:id="rId31"/>
    <p:sldId id="577" r:id="rId32"/>
    <p:sldId id="578" r:id="rId33"/>
    <p:sldId id="579" r:id="rId34"/>
    <p:sldId id="580" r:id="rId35"/>
    <p:sldId id="581" r:id="rId36"/>
    <p:sldId id="343" r:id="rId37"/>
    <p:sldId id="418" r:id="rId38"/>
    <p:sldId id="451" r:id="rId39"/>
    <p:sldId id="345" r:id="rId40"/>
    <p:sldId id="346" r:id="rId41"/>
    <p:sldId id="347" r:id="rId42"/>
    <p:sldId id="299" r:id="rId43"/>
    <p:sldId id="426" r:id="rId44"/>
    <p:sldId id="453" r:id="rId45"/>
    <p:sldId id="300" r:id="rId46"/>
    <p:sldId id="401" r:id="rId47"/>
    <p:sldId id="357" r:id="rId48"/>
    <p:sldId id="427" r:id="rId49"/>
    <p:sldId id="271" r:id="rId50"/>
    <p:sldId id="435" r:id="rId51"/>
    <p:sldId id="272" r:id="rId52"/>
    <p:sldId id="273" r:id="rId53"/>
    <p:sldId id="461" r:id="rId54"/>
    <p:sldId id="462" r:id="rId55"/>
    <p:sldId id="463" r:id="rId56"/>
    <p:sldId id="464" r:id="rId57"/>
    <p:sldId id="465" r:id="rId58"/>
    <p:sldId id="466" r:id="rId59"/>
    <p:sldId id="467" r:id="rId60"/>
    <p:sldId id="428" r:id="rId61"/>
    <p:sldId id="380" r:id="rId62"/>
    <p:sldId id="468" r:id="rId63"/>
    <p:sldId id="469" r:id="rId64"/>
    <p:sldId id="470" r:id="rId65"/>
    <p:sldId id="436" r:id="rId66"/>
    <p:sldId id="278" r:id="rId67"/>
    <p:sldId id="279" r:id="rId68"/>
    <p:sldId id="280" r:id="rId69"/>
    <p:sldId id="281" r:id="rId70"/>
    <p:sldId id="446" r:id="rId71"/>
    <p:sldId id="287" r:id="rId72"/>
    <p:sldId id="472" r:id="rId73"/>
    <p:sldId id="288" r:id="rId74"/>
    <p:sldId id="289" r:id="rId75"/>
    <p:sldId id="424" r:id="rId76"/>
    <p:sldId id="473" r:id="rId77"/>
    <p:sldId id="475" r:id="rId78"/>
    <p:sldId id="476" r:id="rId79"/>
    <p:sldId id="290" r:id="rId80"/>
    <p:sldId id="291" r:id="rId81"/>
    <p:sldId id="348" r:id="rId82"/>
    <p:sldId id="393" r:id="rId83"/>
    <p:sldId id="394" r:id="rId84"/>
    <p:sldId id="408" r:id="rId85"/>
    <p:sldId id="409" r:id="rId86"/>
    <p:sldId id="395" r:id="rId87"/>
    <p:sldId id="396" r:id="rId88"/>
    <p:sldId id="410" r:id="rId89"/>
    <p:sldId id="438" r:id="rId90"/>
    <p:sldId id="398" r:id="rId91"/>
    <p:sldId id="412" r:id="rId92"/>
    <p:sldId id="447" r:id="rId93"/>
    <p:sldId id="413" r:id="rId94"/>
    <p:sldId id="414" r:id="rId95"/>
    <p:sldId id="407" r:id="rId96"/>
    <p:sldId id="439" r:id="rId97"/>
    <p:sldId id="448" r:id="rId98"/>
    <p:sldId id="440" r:id="rId99"/>
    <p:sldId id="302" r:id="rId100"/>
    <p:sldId id="303" r:id="rId101"/>
    <p:sldId id="431" r:id="rId102"/>
    <p:sldId id="441" r:id="rId103"/>
    <p:sldId id="442" r:id="rId104"/>
    <p:sldId id="443" r:id="rId105"/>
    <p:sldId id="432" r:id="rId106"/>
    <p:sldId id="445" r:id="rId107"/>
    <p:sldId id="433" r:id="rId108"/>
    <p:sldId id="449" r:id="rId109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340" y="52"/>
      </p:cViewPr>
      <p:guideLst>
        <p:guide orient="horz" pos="680"/>
        <p:guide pos="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-23670"/>
    </p:cViewPr>
  </p:sorterViewPr>
  <p:notesViewPr>
    <p:cSldViewPr snapToGrid="0">
      <p:cViewPr varScale="1">
        <p:scale>
          <a:sx n="51" d="100"/>
          <a:sy n="51" d="100"/>
        </p:scale>
        <p:origin x="219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3" Type="http://schemas.openxmlformats.org/officeDocument/2006/relationships/tableStyles" Target="tableStyles.xml"/><Relationship Id="rId112" Type="http://schemas.openxmlformats.org/officeDocument/2006/relationships/viewProps" Target="viewProps.xml"/><Relationship Id="rId111" Type="http://schemas.openxmlformats.org/officeDocument/2006/relationships/presProps" Target="presProps.xml"/><Relationship Id="rId110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>
                <a:latin typeface="Times New Roman" panose="02020503050405090304" pitchFamily="18" charset="0"/>
              </a:defRPr>
            </a:lvl1pPr>
          </a:lstStyle>
          <a:p>
            <a:fld id="{9F21AF21-E34B-4BD5-AC40-448A5921D942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002" tIns="44001" rIns="88002" bIns="44001" numCol="1" anchor="t" anchorCtr="0" compatLnSpc="1"/>
          <a:lstStyle>
            <a:lvl1pPr defTabSz="879475">
              <a:defRPr sz="12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002" tIns="44001" rIns="88002" bIns="44001" numCol="1" anchor="t" anchorCtr="0" compatLnSpc="1"/>
          <a:lstStyle>
            <a:lvl1pPr algn="r" defTabSz="879475">
              <a:defRPr sz="12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002" tIns="44001" rIns="88002" bIns="44001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002" tIns="44001" rIns="88002" bIns="44001" numCol="1" anchor="b" anchorCtr="0" compatLnSpc="1"/>
          <a:lstStyle>
            <a:lvl1pPr defTabSz="879475">
              <a:defRPr sz="1200"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8002" tIns="44001" rIns="88002" bIns="44001" numCol="1" anchor="b" anchorCtr="0" compatLnSpc="1"/>
          <a:lstStyle>
            <a:lvl1pPr algn="r" defTabSz="879475">
              <a:defRPr sz="1200">
                <a:latin typeface="Times New Roman" panose="02020503050405090304" pitchFamily="18" charset="0"/>
              </a:defRPr>
            </a:lvl1pPr>
          </a:lstStyle>
          <a:p>
            <a:fld id="{4ECE00E5-1464-4ADA-9CEB-920722EE8C4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6F1A6D1-0721-4D26-A1A3-1AB4D70577E7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6F1A6D1-0721-4D26-A1A3-1AB4D70577E7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9702E69-A796-456C-8856-48AD9C8C9A4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200" dirty="0"/>
              <a:t>If a lock cannot be granted, the requesting transaction is made to wait till all incompatible locks held by other transactions have been released.  The lock is then granted.</a:t>
            </a:r>
            <a:endParaRPr lang="en-US" altLang="en-US" sz="1200" dirty="0"/>
          </a:p>
          <a:p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28A582B-3CD1-4357-870E-F2BE1FD49E70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982EC89-B20C-4094-938B-231411E2148A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C3DE15F-304C-4F8B-973C-37594E88A91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7216424-5483-4674-976A-4CF840959603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D0E9FD9-D26A-4801-8463-8811DB58E320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B58FF41-950F-4F96-8279-E010A1BE69B8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23A6097-897E-46D6-809E-2E2D3FD64F8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F98A016-F54F-4898-8554-458A48F2F13C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F482EFC-DA03-4276-85F4-EF7CA60623D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197FB18-F33B-4585-AE4B-7195EC71C23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9571464-BC2A-4607-9109-DE5DFF5600A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7BF320E-3154-48B9-AFD3-84664BED856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7BF320E-3154-48B9-AFD3-84664BED856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C9270D3-72BB-4558-B8B9-976293801957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87C4D67-3A9F-42B6-82B2-2B1E3CE0D62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DBC5AB9-34BB-442E-A644-79BF67BF4889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A9C8992-0439-4DD7-A8E0-8B90E9D06DF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C8FB574-47DE-4DCE-A16E-1940A6943B7A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8CCAE0D-C571-4990-82FF-D6A11D67E2F0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DB6ACC3-5598-4868-AA42-D5B6F7BEB9B9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DA260BE-933F-43F0-A67B-1CD2DF8C0DD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DA260BE-933F-43F0-A67B-1CD2DF8C0DD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0CF7858-74D6-4DDB-8009-CC35575E0098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01DA6A0-02BB-4D71-B33D-F03ABD98D15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23B7618-7D90-4BA4-BC1F-59B7982BAA44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2CDEB19-7668-4DFA-B17B-F224EEB58113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8732069-807E-47D7-95A3-D1DF1191DD5C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DE71B4-D3EF-4777-AD23-504415B9A2E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1523D01-CB60-4D8E-BBC1-C6D315F1CAEA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1523D01-CB60-4D8E-BBC1-C6D315F1CAEA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9D5D61E-FE1D-46C0-8D95-40E755B6230E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5684354-EFAC-41FF-B516-AE0C5E555C9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E8C4E9D-4935-44CB-8AC4-6B9713B93F17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2A5EFC4-AD3B-4937-8F4D-EDC709F382A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2A5EFC4-AD3B-4937-8F4D-EDC709F382A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2A5EFC4-AD3B-4937-8F4D-EDC709F382A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E14E066-082A-47E1-81B4-29AAAD3439C6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ECC8A96-2953-4794-A0A3-95C96FA6C869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2FCF535-1CE8-4C77-A553-D55FB53991B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7AB73B2-AFA1-4786-A8FD-CEBD8E0D78F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460E851-83EB-4E72-8E92-746D4B0C48B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460E851-83EB-4E72-8E92-746D4B0C48B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B9D7AC6-36B2-4382-83DA-D59E74BCFFA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DC3BF8F-0195-4827-BBC0-B218DD863F25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E6EC7CE-F2EE-485B-9A5D-E8BCAB06B1C6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E6EC7CE-F2EE-485B-9A5D-E8BCAB06B1C6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E6EC7CE-F2EE-485B-9A5D-E8BCAB06B1C6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E6EC7CE-F2EE-485B-9A5D-E8BCAB06B1C6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395DD1B-2D93-47C9-8D5A-05E8D733474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F50612E-B279-47A4-93FD-9229584693D0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E862462-7B11-40E2-83B8-F716DD55698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0DB6444-4C9B-4E9B-973E-950F3FD049E9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3EC6C25-0E02-43B5-B146-D6C048B3A5E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5B87932-4976-448E-9F67-BF13DB3E625B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4F68E9-32B3-4CA4-A853-0A07C0682703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9925ECA-F7F7-4B13-B151-F27CFAE4C5E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2B6DE38-D087-4BCB-81A2-516A3168C20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82050BF-7294-450A-AF0E-EBA11DA1F1FA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A6E2F6F-722C-4531-8888-ED2072BC3FC0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9DB34445-DC80-4C9B-AA91-FDDF5BC17F2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911F0CC-46E2-480C-BC45-E4E403C3B792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A9AA73C-5F08-42B2-AEED-7842630CE24F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5ACB83F-5DBC-4A1B-ABBB-53F43CC12C31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FB2722D-C7BE-435D-ABDE-FC7C221B900D}" type="slidenum">
              <a:rPr lang="en-US" altLang="en-US" sz="1200">
                <a:latin typeface="Times New Roman" panose="02020503050405090304" pitchFamily="18" charset="0"/>
              </a:rPr>
            </a:fld>
            <a:endParaRPr lang="en-US" altLang="en-US" sz="1200">
              <a:latin typeface="Times New Roman" panose="0202050305040509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CFDC9EC4-5C98-44E9-9772-DADA868FE973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9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</a:fld>
            <a:endParaRPr lang="en-US" alt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9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Helvetica" pitchFamily="34" charset="0"/>
              </a:rPr>
              <a:t>Database System Concepts, 7</a:t>
            </a:r>
            <a:r>
              <a:rPr lang="en-US" b="1" baseline="30000" dirty="0">
                <a:solidFill>
                  <a:srgbClr val="002060"/>
                </a:solidFill>
                <a:latin typeface="Helvetica" pitchFamily="34" charset="0"/>
              </a:rPr>
              <a:t>th</a:t>
            </a:r>
            <a:r>
              <a:rPr lang="en-US" b="1" dirty="0">
                <a:solidFill>
                  <a:srgbClr val="002060"/>
                </a:solidFill>
                <a:latin typeface="Helvetica" pitchFamily="34" charset="0"/>
              </a:rPr>
              <a:t> Ed</a:t>
            </a:r>
            <a:r>
              <a:rPr lang="en-US" dirty="0">
                <a:solidFill>
                  <a:srgbClr val="002060"/>
                </a:solidFill>
                <a:latin typeface="Helvetica" pitchFamily="34" charset="0"/>
              </a:rPr>
              <a:t>.</a:t>
            </a:r>
            <a:endParaRPr lang="en-US" dirty="0">
              <a:solidFill>
                <a:srgbClr val="002060"/>
              </a:solidFill>
              <a:latin typeface="Helvetica" pitchFamily="34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©Silberschatz, Korth and Sudarshan</a:t>
            </a:r>
            <a:b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</a:b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See </a:t>
            </a:r>
            <a:r>
              <a:rPr lang="en-US" sz="1200" b="1" dirty="0">
                <a:solidFill>
                  <a:srgbClr val="002060"/>
                </a:solidFill>
                <a:latin typeface="Helvetica" pitchFamily="34" charset="0"/>
                <a:hlinkClick r:id="rId2"/>
              </a:rPr>
              <a:t>www.db-book.com</a:t>
            </a: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 for conditions on re-use </a:t>
            </a:r>
            <a:endParaRPr lang="en-US" sz="1200" b="1" dirty="0">
              <a:solidFill>
                <a:srgbClr val="002060"/>
              </a:solidFill>
              <a:latin typeface="Helvetica" pitchFamily="34" charset="0"/>
            </a:endParaRP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anose="02020503050405090304" pitchFamily="18" charset="0"/>
              </a:defRPr>
            </a:lvl1pPr>
          </a:lstStyle>
          <a:p>
            <a:fld id="{CFDC9EC4-5C98-44E9-9772-DADA868FE97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55D9-A89F-414B-BFBD-EF780077DC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AD8-15D5-402F-9053-687FF50D7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CFDC9EC4-5C98-44E9-9772-DADA868FE973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9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</a:fld>
            <a:endParaRPr lang="en-US" alt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9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50305040509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Helvetica" pitchFamily="34" charset="0"/>
              </a:rPr>
              <a:t>Database System Concepts, 7</a:t>
            </a:r>
            <a:r>
              <a:rPr lang="en-US" b="1" baseline="30000" dirty="0">
                <a:solidFill>
                  <a:srgbClr val="002060"/>
                </a:solidFill>
                <a:latin typeface="Helvetica" pitchFamily="34" charset="0"/>
              </a:rPr>
              <a:t>th</a:t>
            </a:r>
            <a:r>
              <a:rPr lang="en-US" b="1" dirty="0">
                <a:solidFill>
                  <a:srgbClr val="002060"/>
                </a:solidFill>
                <a:latin typeface="Helvetica" pitchFamily="34" charset="0"/>
              </a:rPr>
              <a:t> Ed</a:t>
            </a:r>
            <a:r>
              <a:rPr lang="en-US" dirty="0">
                <a:solidFill>
                  <a:srgbClr val="002060"/>
                </a:solidFill>
                <a:latin typeface="Helvetica" pitchFamily="34" charset="0"/>
              </a:rPr>
              <a:t>.</a:t>
            </a:r>
            <a:endParaRPr lang="en-US" dirty="0">
              <a:solidFill>
                <a:srgbClr val="002060"/>
              </a:solidFill>
              <a:latin typeface="Helvetica" pitchFamily="34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©Silberschatz, Korth and Sudarshan</a:t>
            </a:r>
            <a:b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</a:b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See </a:t>
            </a:r>
            <a:r>
              <a:rPr lang="en-US" sz="1200" b="1" dirty="0">
                <a:solidFill>
                  <a:srgbClr val="002060"/>
                </a:solidFill>
                <a:latin typeface="Helvetica" pitchFamily="34" charset="0"/>
                <a:hlinkClick r:id="rId2"/>
              </a:rPr>
              <a:t>www.db-book.com</a:t>
            </a:r>
            <a:r>
              <a:rPr lang="en-US" sz="1200" b="1" dirty="0">
                <a:solidFill>
                  <a:srgbClr val="002060"/>
                </a:solidFill>
                <a:latin typeface="Helvetica" pitchFamily="34" charset="0"/>
              </a:rPr>
              <a:t> for conditions on re-use </a:t>
            </a:r>
            <a:endParaRPr lang="en-US" sz="1200" b="1" dirty="0">
              <a:solidFill>
                <a:srgbClr val="002060"/>
              </a:solidFill>
              <a:latin typeface="Helvetica" pitchFamily="34" charset="0"/>
            </a:endParaRP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anose="02020503050405090304" pitchFamily="18" charset="0"/>
              </a:defRPr>
            </a:lvl1pPr>
          </a:lstStyle>
          <a:p>
            <a:fld id="{CFDC9EC4-5C98-44E9-9772-DADA868FE97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55D9-A89F-414B-BFBD-EF780077DC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3FAD8-15D5-402F-9053-687FF50D7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43251494-9320-46DB-9561-B10814EE66F9}" type="slidenum">
              <a:rPr lang="en-US" altLang="en-US" smtClean="0"/>
            </a:fld>
            <a:endParaRPr lang="en-US" alt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18.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50305040509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43251494-9320-46DB-9561-B10814EE66F9}" type="slidenum">
              <a:rPr lang="en-US" altLang="en-US" smtClean="0"/>
            </a:fld>
            <a:endParaRPr lang="en-US" alt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18.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50305040509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sv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14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 Concurrency Control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43674" cy="5367972"/>
          </a:xfrm>
        </p:spPr>
        <p:txBody>
          <a:bodyPr/>
          <a:lstStyle/>
          <a:p>
            <a:r>
              <a:rPr lang="en-US" altLang="en-US" sz="2400" dirty="0">
                <a:solidFill>
                  <a:srgbClr val="FF0000"/>
                </a:solidFill>
              </a:rPr>
              <a:t>We need a way to guarantee that all </a:t>
            </a:r>
            <a:r>
              <a:rPr lang="en-US" altLang="en-US" sz="2400" dirty="0" smtClean="0">
                <a:solidFill>
                  <a:srgbClr val="FF0000"/>
                </a:solidFill>
              </a:rPr>
              <a:t>execution schedules </a:t>
            </a:r>
            <a:r>
              <a:rPr lang="en-US" altLang="en-US" sz="2400" dirty="0">
                <a:solidFill>
                  <a:srgbClr val="FF0000"/>
                </a:solidFill>
              </a:rPr>
              <a:t>are correct (i.e., serializable) </a:t>
            </a:r>
            <a:r>
              <a:rPr lang="en-US" altLang="en-US" sz="2400" dirty="0" smtClean="0">
                <a:solidFill>
                  <a:srgbClr val="FF0000"/>
                </a:solidFill>
              </a:rPr>
              <a:t>without knowing </a:t>
            </a:r>
            <a:r>
              <a:rPr lang="en-US" altLang="en-US" sz="2400" dirty="0">
                <a:solidFill>
                  <a:srgbClr val="FF0000"/>
                </a:solidFill>
              </a:rPr>
              <a:t>the entire schedule ahead of time</a:t>
            </a:r>
            <a:r>
              <a:rPr lang="en-US" altLang="en-US" sz="2400" dirty="0" smtClean="0"/>
              <a:t>.</a:t>
            </a:r>
            <a:endParaRPr lang="en-US" altLang="en-US" sz="2400" dirty="0" smtClean="0"/>
          </a:p>
          <a:p>
            <a:endParaRPr lang="en-US" altLang="en-US" sz="2400" dirty="0"/>
          </a:p>
          <a:p>
            <a:r>
              <a:rPr lang="en-US" altLang="en-US" sz="2400" dirty="0"/>
              <a:t>Lock-Based Protocols</a:t>
            </a:r>
            <a:endParaRPr lang="en-US" altLang="en-US" sz="2400" dirty="0"/>
          </a:p>
          <a:p>
            <a:r>
              <a:rPr lang="en-US" altLang="en-US" sz="2400" dirty="0"/>
              <a:t>Timestamp-Based Protocols</a:t>
            </a:r>
            <a:endParaRPr lang="en-US" altLang="en-US" sz="2400" dirty="0"/>
          </a:p>
          <a:p>
            <a:r>
              <a:rPr lang="en-US" altLang="en-US" sz="2400" dirty="0" err="1"/>
              <a:t>Multiversion</a:t>
            </a:r>
            <a:r>
              <a:rPr lang="en-US" altLang="en-US" sz="2400" dirty="0"/>
              <a:t> Schemes</a:t>
            </a:r>
            <a:endParaRPr lang="en-US" altLang="en-US" sz="2400" dirty="0"/>
          </a:p>
          <a:p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3790" y="2798661"/>
            <a:ext cx="7928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chemeClr val="bg1">
                    <a:lumMod val="25000"/>
                  </a:schemeClr>
                </a:solidFill>
              </a:rPr>
              <a:t>Lock</a:t>
            </a:r>
            <a:r>
              <a:rPr lang="en-US" sz="3200" b="1" dirty="0" smtClean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Based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43674" cy="5367972"/>
          </a:xfrm>
        </p:spPr>
        <p:txBody>
          <a:bodyPr/>
          <a:lstStyle/>
          <a:p>
            <a:r>
              <a:rPr lang="en-US" altLang="en-US" sz="2000" dirty="0"/>
              <a:t>A lock is a mechanism to control concurrent access to a data item</a:t>
            </a:r>
            <a:endParaRPr lang="en-US" altLang="en-US" sz="2000" dirty="0"/>
          </a:p>
          <a:p>
            <a:r>
              <a:rPr lang="en-US" altLang="en-US" sz="2000" dirty="0"/>
              <a:t>Data items can be locked in two modes 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i="1" dirty="0"/>
              <a:t>    </a:t>
            </a:r>
            <a:r>
              <a:rPr lang="en-US" altLang="en-US" sz="2000" dirty="0"/>
              <a:t>1</a:t>
            </a:r>
            <a:r>
              <a:rPr lang="en-US" altLang="en-US" sz="2000" i="1" dirty="0"/>
              <a:t>.  </a:t>
            </a:r>
            <a:r>
              <a:rPr lang="en-US" altLang="en-US" sz="2000" b="1" dirty="0">
                <a:solidFill>
                  <a:srgbClr val="002060"/>
                </a:solidFill>
              </a:rPr>
              <a:t>exclusive</a:t>
            </a:r>
            <a:r>
              <a:rPr lang="en-US" altLang="en-US" sz="2000" i="1" dirty="0"/>
              <a:t> (X) mode</a:t>
            </a:r>
            <a:r>
              <a:rPr lang="en-US" altLang="en-US" sz="2000" dirty="0"/>
              <a:t>. Data item can be both read as well  as   </a:t>
            </a:r>
            <a:endParaRPr lang="en-US" altLang="en-US" sz="2000" dirty="0"/>
          </a:p>
          <a:p>
            <a:pPr>
              <a:lnSpc>
                <a:spcPct val="6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written. X-lock is requested using </a:t>
            </a:r>
            <a:r>
              <a:rPr lang="en-US" altLang="en-US" sz="2000" b="1" dirty="0"/>
              <a:t> lock-X</a:t>
            </a:r>
            <a:r>
              <a:rPr lang="en-US" altLang="en-US" sz="2000" dirty="0"/>
              <a:t> instruction.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i="1" dirty="0"/>
              <a:t>    </a:t>
            </a:r>
            <a:r>
              <a:rPr lang="en-US" altLang="en-US" sz="2000" dirty="0"/>
              <a:t>2</a:t>
            </a:r>
            <a:r>
              <a:rPr lang="en-US" altLang="en-US" sz="2000" i="1" dirty="0"/>
              <a:t>.  </a:t>
            </a:r>
            <a:r>
              <a:rPr lang="en-US" altLang="en-US" sz="2000" b="1" dirty="0">
                <a:solidFill>
                  <a:srgbClr val="002060"/>
                </a:solidFill>
              </a:rPr>
              <a:t>shared</a:t>
            </a:r>
            <a:r>
              <a:rPr lang="en-US" altLang="en-US" sz="2000" i="1" dirty="0"/>
              <a:t> (S) mode</a:t>
            </a:r>
            <a:r>
              <a:rPr lang="en-US" altLang="en-US" sz="2000" dirty="0"/>
              <a:t>. Data item can only be read. S-lock is          </a:t>
            </a:r>
            <a:endParaRPr lang="en-US" altLang="en-US" sz="2000" dirty="0"/>
          </a:p>
          <a:p>
            <a:pPr>
              <a:lnSpc>
                <a:spcPct val="6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requested using </a:t>
            </a:r>
            <a:r>
              <a:rPr lang="en-US" altLang="en-US" sz="2000" b="1" dirty="0"/>
              <a:t> lock-S</a:t>
            </a:r>
            <a:r>
              <a:rPr lang="en-US" altLang="en-US" sz="2000" dirty="0"/>
              <a:t> instruction.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Lock requests are made to concurrency-control manager. Transaction can proceed only after request is granted.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696940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Lock-compatibility matrix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dirty="0">
              <a:solidFill>
                <a:schemeClr val="tx2"/>
              </a:solidFill>
            </a:endParaRPr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A transaction may be granted a lock on an item if the requested lock is compatible with locks already held on the item by other transactions</a:t>
            </a:r>
            <a:endParaRPr lang="en-US" altLang="en-US" sz="2000" dirty="0"/>
          </a:p>
          <a:p>
            <a:r>
              <a:rPr lang="en-US" altLang="en-US" sz="2000" dirty="0"/>
              <a:t>Any number of transactions can hold shared locks on an item, </a:t>
            </a:r>
            <a:endParaRPr lang="en-US" altLang="en-US" sz="2000" dirty="0"/>
          </a:p>
          <a:p>
            <a:r>
              <a:rPr lang="en-US" altLang="en-US" sz="2000" dirty="0"/>
              <a:t>But if any transaction holds an exclusive on the item no other transaction may hold any lock on the item.</a:t>
            </a:r>
            <a:endParaRPr lang="en-US" altLang="en-US" sz="2000" dirty="0"/>
          </a:p>
        </p:txBody>
      </p:sp>
      <p:pic>
        <p:nvPicPr>
          <p:cNvPr id="7172" name="Picture 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804" y="1604825"/>
            <a:ext cx="2634076" cy="150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US" altLang="en-US" sz="2000" dirty="0"/>
              <a:t>Example of a transaction performing locking: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:</a:t>
            </a:r>
            <a:r>
              <a:rPr lang="en-US" altLang="en-US" sz="2000" b="1" dirty="0"/>
              <a:t> lock-S</a:t>
            </a:r>
            <a:r>
              <a:rPr lang="en-US" altLang="en-US" sz="2000" i="1" dirty="0"/>
              <a:t>(A)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read </a:t>
            </a:r>
            <a:r>
              <a:rPr lang="en-US" altLang="en-US" sz="2000" i="1" dirty="0"/>
              <a:t>(A)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unlock</a:t>
            </a:r>
            <a:r>
              <a:rPr lang="en-US" altLang="en-US" sz="2000" i="1" dirty="0"/>
              <a:t>(A)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lock-S</a:t>
            </a:r>
            <a:r>
              <a:rPr lang="en-US" altLang="en-US" sz="2000" i="1" dirty="0"/>
              <a:t>(B)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read </a:t>
            </a:r>
            <a:r>
              <a:rPr lang="en-US" altLang="en-US" sz="2000" i="1" dirty="0"/>
              <a:t>(B)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unlock</a:t>
            </a:r>
            <a:r>
              <a:rPr lang="en-US" altLang="en-US" sz="2000" i="1" dirty="0"/>
              <a:t>(B)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                           display</a:t>
            </a:r>
            <a:r>
              <a:rPr lang="en-US" altLang="en-US" sz="2000" i="1" dirty="0"/>
              <a:t>(A+B)</a:t>
            </a:r>
            <a:endParaRPr lang="en-US" altLang="en-US" sz="2000" i="1" dirty="0"/>
          </a:p>
          <a:p>
            <a:r>
              <a:rPr lang="en-US" altLang="en-US" sz="2000" dirty="0"/>
              <a:t>Locking as above is </a:t>
            </a:r>
            <a:r>
              <a:rPr lang="en-US" altLang="en-US" sz="2000" i="1" u="sng" dirty="0"/>
              <a:t>not sufficient </a:t>
            </a:r>
            <a:r>
              <a:rPr lang="en-US" altLang="en-US" sz="2000" dirty="0"/>
              <a:t>to guarantee serializability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 With Lock Grants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17" y="909058"/>
            <a:ext cx="3687417" cy="5363110"/>
          </a:xfrm>
        </p:spPr>
        <p:txBody>
          <a:bodyPr/>
          <a:lstStyle/>
          <a:p>
            <a:r>
              <a:rPr lang="en-IN" sz="2000" dirty="0"/>
              <a:t>Grants omitted in rest of chapter</a:t>
            </a:r>
            <a:endParaRPr lang="en-IN" sz="2000" dirty="0"/>
          </a:p>
          <a:p>
            <a:pPr lvl="1"/>
            <a:r>
              <a:rPr lang="en-IN" sz="2000" dirty="0"/>
              <a:t>Assume grant happens just before the next instruction following lock request</a:t>
            </a:r>
            <a:endParaRPr lang="en-IN" sz="2000" dirty="0"/>
          </a:p>
          <a:p>
            <a:r>
              <a:rPr lang="en-IN" sz="2000" dirty="0"/>
              <a:t>This schedule is not serializable (why?)</a:t>
            </a:r>
            <a:endParaRPr lang="en-IN" sz="2000" dirty="0"/>
          </a:p>
          <a:p>
            <a:r>
              <a:rPr lang="en-US" altLang="en-US" sz="2000" dirty="0"/>
              <a:t>A  </a:t>
            </a:r>
            <a:r>
              <a:rPr lang="en-US" altLang="en-US" sz="2000" b="1" dirty="0">
                <a:solidFill>
                  <a:srgbClr val="002060"/>
                </a:solidFill>
              </a:rPr>
              <a:t>locking protocol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is a set of rules followed by all transactions while requesting and releasing locks.</a:t>
            </a:r>
            <a:endParaRPr lang="en-US" altLang="en-US" sz="2000" dirty="0"/>
          </a:p>
          <a:p>
            <a:r>
              <a:rPr lang="en-US" altLang="en-US" sz="2000" dirty="0"/>
              <a:t>Locking protocols enforce serializability by restricting the set of possible schedules</a:t>
            </a:r>
            <a:r>
              <a:rPr lang="en-US" altLang="en-US" dirty="0"/>
              <a:t>.</a:t>
            </a:r>
            <a:endParaRPr lang="en-US" altLang="en-US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1585" y="971364"/>
            <a:ext cx="4573439" cy="4799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Protocol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（重点）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845" y="1102497"/>
            <a:ext cx="4797264" cy="5367972"/>
          </a:xfrm>
        </p:spPr>
        <p:txBody>
          <a:bodyPr/>
          <a:lstStyle/>
          <a:p>
            <a:r>
              <a:rPr lang="en-US" altLang="en-US" dirty="0"/>
              <a:t>A protocol which ensures conflict-serializable schedules.</a:t>
            </a:r>
            <a:endParaRPr lang="en-US" altLang="en-US" dirty="0"/>
          </a:p>
          <a:p>
            <a:r>
              <a:rPr lang="en-US" altLang="en-US" dirty="0"/>
              <a:t>Phase 1: </a:t>
            </a:r>
            <a:r>
              <a:rPr lang="en-US" altLang="en-US" b="1" dirty="0">
                <a:solidFill>
                  <a:srgbClr val="002060"/>
                </a:solidFill>
              </a:rPr>
              <a:t>Growing Phase</a:t>
            </a:r>
            <a:endParaRPr lang="en-US" altLang="en-US" b="1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Transaction may obtain locks </a:t>
            </a:r>
            <a:endParaRPr lang="en-US" altLang="en-US" dirty="0"/>
          </a:p>
          <a:p>
            <a:pPr lvl="1"/>
            <a:r>
              <a:rPr lang="en-US" altLang="en-US" dirty="0"/>
              <a:t>Transaction may not release locks</a:t>
            </a:r>
            <a:endParaRPr lang="en-US" altLang="en-US" dirty="0"/>
          </a:p>
          <a:p>
            <a:r>
              <a:rPr lang="en-US" altLang="en-US" dirty="0"/>
              <a:t>Phase 2: </a:t>
            </a:r>
            <a:r>
              <a:rPr lang="en-US" altLang="en-US" b="1" dirty="0">
                <a:solidFill>
                  <a:srgbClr val="002060"/>
                </a:solidFill>
              </a:rPr>
              <a:t>Shrinking Phase</a:t>
            </a:r>
            <a:endParaRPr lang="en-US" altLang="en-US" b="1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Transaction may release locks</a:t>
            </a:r>
            <a:endParaRPr lang="en-US" altLang="en-US" dirty="0"/>
          </a:p>
          <a:p>
            <a:pPr lvl="1"/>
            <a:r>
              <a:rPr lang="en-US" altLang="en-US" dirty="0"/>
              <a:t>Transaction may not obtain locks</a:t>
            </a:r>
            <a:endParaRPr lang="en-US" altLang="en-US" dirty="0"/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The protocol assures serializability</a:t>
            </a:r>
            <a:r>
              <a:rPr lang="en-US" altLang="en-US" dirty="0"/>
              <a:t>. It can be proved that the transactions can be serialized in the order of their </a:t>
            </a:r>
            <a:r>
              <a:rPr lang="en-US" altLang="en-US" b="1" dirty="0">
                <a:solidFill>
                  <a:srgbClr val="002060"/>
                </a:solidFill>
              </a:rPr>
              <a:t>lock points</a:t>
            </a:r>
            <a:r>
              <a:rPr lang="en-US" altLang="en-US" i="1" dirty="0">
                <a:solidFill>
                  <a:srgbClr val="002060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(i.e., the point where a transaction acquired its final lock). </a:t>
            </a:r>
            <a:r>
              <a:rPr lang="en-US" altLang="en-US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Why</a:t>
            </a:r>
            <a:r>
              <a:rPr lang="zh-CN" altLang="en-US" dirty="0" smtClean="0">
                <a:solidFill>
                  <a:srgbClr val="FF0000"/>
                </a:solidFill>
              </a:rPr>
              <a:t>？）</a:t>
            </a:r>
            <a:endParaRPr lang="en-US" altLang="en-US" dirty="0">
              <a:solidFill>
                <a:srgbClr val="FF0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583990" y="1941816"/>
            <a:ext cx="3261560" cy="1761771"/>
            <a:chOff x="5728328" y="1541124"/>
            <a:chExt cx="3261560" cy="1761771"/>
          </a:xfrm>
        </p:grpSpPr>
        <p:cxnSp>
          <p:nvCxnSpPr>
            <p:cNvPr id="3" name="Straight Connector 2"/>
            <p:cNvCxnSpPr/>
            <p:nvPr/>
          </p:nvCxnSpPr>
          <p:spPr bwMode="auto">
            <a:xfrm flipV="1">
              <a:off x="6298054" y="1931542"/>
              <a:ext cx="637498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/>
            <p:cNvCxnSpPr/>
            <p:nvPr/>
          </p:nvCxnSpPr>
          <p:spPr bwMode="auto">
            <a:xfrm>
              <a:off x="6935552" y="1931542"/>
              <a:ext cx="6567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/>
            <p:cNvCxnSpPr/>
            <p:nvPr/>
          </p:nvCxnSpPr>
          <p:spPr bwMode="auto">
            <a:xfrm>
              <a:off x="7592351" y="1931541"/>
              <a:ext cx="1017142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6174763" y="1541124"/>
              <a:ext cx="0" cy="12842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6185037" y="2825393"/>
              <a:ext cx="280485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6935552" y="2964341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Time</a:t>
              </a:r>
              <a:endParaRPr lang="en-IN" dirty="0"/>
            </a:p>
          </p:txBody>
        </p:sp>
        <p:sp>
          <p:nvSpPr>
            <p:cNvPr id="19" name="TextBox 18"/>
            <p:cNvSpPr txBox="1"/>
            <p:nvPr/>
          </p:nvSpPr>
          <p:spPr>
            <a:xfrm rot="16200000">
              <a:off x="5496912" y="1900888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Locks</a:t>
              </a:r>
              <a:endParaRPr lang="en-IN" dirty="0"/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>
              <a:off x="6832309" y="2964343"/>
              <a:ext cx="8632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/>
            <p:cNvCxnSpPr/>
            <p:nvPr/>
          </p:nvCxnSpPr>
          <p:spPr bwMode="auto">
            <a:xfrm flipV="1">
              <a:off x="6066882" y="1715668"/>
              <a:ext cx="0" cy="7089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4" name="Straight Arrow Connector 23"/>
          <p:cNvCxnSpPr/>
          <p:nvPr/>
        </p:nvCxnSpPr>
        <p:spPr bwMode="auto">
          <a:xfrm>
            <a:off x="3666478" y="1861257"/>
            <a:ext cx="3021493" cy="609600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 flipV="1">
            <a:off x="3870664" y="2583951"/>
            <a:ext cx="3804867" cy="372313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 flipV="1">
            <a:off x="5255581" y="2825355"/>
            <a:ext cx="1954740" cy="1737767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EXAMPLE</a:t>
            </a:r>
            <a:endParaRPr lang="en-US" altLang="en-US" dirty="0"/>
          </a:p>
        </p:txBody>
      </p:sp>
      <p:sp>
        <p:nvSpPr>
          <p:cNvPr id="19459" name="Text Box 11"/>
          <p:cNvSpPr txBox="1">
            <a:spLocks noChangeArrowheads="1"/>
          </p:cNvSpPr>
          <p:nvPr/>
        </p:nvSpPr>
        <p:spPr bwMode="auto">
          <a:xfrm>
            <a:off x="812800" y="1550988"/>
            <a:ext cx="2895600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 sz="24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spcBef>
                <a:spcPct val="25000"/>
              </a:spcBef>
              <a:buClr>
                <a:srgbClr val="CC6600"/>
              </a:buClr>
              <a:buSzPct val="105000"/>
              <a:buFont typeface="Monotype Sorts" pitchFamily="-65" charset="2"/>
              <a:buChar char="H"/>
              <a:defRPr kumimoji="1" sz="22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25000"/>
              </a:spcBef>
              <a:buClr>
                <a:srgbClr val="000099"/>
              </a:buClr>
              <a:buSzPct val="85000"/>
              <a:buFont typeface="Monotype Sorts" pitchFamily="-65" charset="2"/>
              <a:buChar char="4"/>
              <a:defRPr kumimoji="1" sz="20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2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T1</a:t>
            </a:r>
            <a:endParaRPr lang="en-US" altLang="zh-CN" sz="2800" i="0" baseline="-2500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9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Lock-S (B)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Lock-X (A)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read(B);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read(A);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A := A + 0.1*B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err="1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unLock</a:t>
            </a: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 (B)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write(A);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err="1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unLock</a:t>
            </a: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 (A)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commit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</p:txBody>
      </p:sp>
      <p:sp>
        <p:nvSpPr>
          <p:cNvPr id="19460" name="Line 12"/>
          <p:cNvSpPr>
            <a:spLocks noChangeShapeType="1"/>
          </p:cNvSpPr>
          <p:nvPr/>
        </p:nvSpPr>
        <p:spPr bwMode="auto">
          <a:xfrm>
            <a:off x="584200" y="2084388"/>
            <a:ext cx="304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pitchFamily="34" charset="0"/>
              <a:sym typeface="Symbol" charset="2"/>
            </a:endParaRPr>
          </a:p>
        </p:txBody>
      </p:sp>
      <p:sp>
        <p:nvSpPr>
          <p:cNvPr id="19461" name="Text Box 13"/>
          <p:cNvSpPr txBox="1">
            <a:spLocks noChangeArrowheads="1"/>
          </p:cNvSpPr>
          <p:nvPr/>
        </p:nvSpPr>
        <p:spPr bwMode="auto">
          <a:xfrm>
            <a:off x="5470525" y="1550988"/>
            <a:ext cx="2895600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 sz="24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spcBef>
                <a:spcPct val="25000"/>
              </a:spcBef>
              <a:buClr>
                <a:srgbClr val="CC6600"/>
              </a:buClr>
              <a:buSzPct val="105000"/>
              <a:buFont typeface="Monotype Sorts" pitchFamily="-65" charset="2"/>
              <a:buChar char="H"/>
              <a:defRPr kumimoji="1" sz="22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25000"/>
              </a:spcBef>
              <a:buClr>
                <a:srgbClr val="000099"/>
              </a:buClr>
              <a:buSzPct val="85000"/>
              <a:buFont typeface="Monotype Sorts" pitchFamily="-65" charset="2"/>
              <a:buChar char="4"/>
              <a:defRPr kumimoji="1" sz="20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2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T1</a:t>
            </a:r>
            <a:endParaRPr lang="en-US" altLang="zh-CN" sz="2800" i="0" baseline="-2500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9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Lock-S (B)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read(B);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err="1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unLock</a:t>
            </a: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 (B)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Lock-X (A)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read(A);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A := A + 0.1*B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write(A);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err="1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unLock</a:t>
            </a:r>
            <a:r>
              <a:rPr lang="en-US" altLang="zh-CN" sz="2800" i="0" dirty="0" smtClean="0">
                <a:solidFill>
                  <a:srgbClr val="FF3300"/>
                </a:solidFill>
                <a:latin typeface="Times New Roman" panose="02020503050405090304" pitchFamily="18" charset="0"/>
                <a:ea typeface="宋体" charset="0"/>
                <a:sym typeface="Symbol" charset="2"/>
              </a:rPr>
              <a:t> (A)</a:t>
            </a:r>
            <a:endParaRPr lang="en-US" altLang="zh-CN" sz="2800" i="0" dirty="0" smtClean="0">
              <a:solidFill>
                <a:srgbClr val="FF3300"/>
              </a:solidFill>
              <a:latin typeface="Times New Roman" panose="02020503050405090304" pitchFamily="18" charset="0"/>
              <a:ea typeface="宋体" charset="0"/>
              <a:sym typeface="Symbol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i="0" dirty="0" smtClean="0">
                <a:latin typeface="Times New Roman" panose="02020503050405090304" pitchFamily="18" charset="0"/>
                <a:ea typeface="宋体" charset="0"/>
                <a:sym typeface="Symbol" charset="2"/>
              </a:rPr>
              <a:t>commit</a:t>
            </a:r>
            <a:endParaRPr lang="en-US" altLang="zh-CN" sz="2800" i="0" dirty="0" smtClean="0">
              <a:latin typeface="Times New Roman" panose="02020503050405090304" pitchFamily="18" charset="0"/>
              <a:ea typeface="宋体" charset="0"/>
              <a:sym typeface="Symbol" charset="2"/>
            </a:endParaRPr>
          </a:p>
        </p:txBody>
      </p:sp>
      <p:sp>
        <p:nvSpPr>
          <p:cNvPr id="19462" name="Line 14"/>
          <p:cNvSpPr>
            <a:spLocks noChangeShapeType="1"/>
          </p:cNvSpPr>
          <p:nvPr/>
        </p:nvSpPr>
        <p:spPr bwMode="auto">
          <a:xfrm>
            <a:off x="5241925" y="2084388"/>
            <a:ext cx="304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pitchFamily="34" charset="0"/>
              <a:sym typeface="Symbol" charset="2"/>
            </a:endParaRPr>
          </a:p>
        </p:txBody>
      </p:sp>
      <p:sp>
        <p:nvSpPr>
          <p:cNvPr id="19463" name="Rectangle 15"/>
          <p:cNvSpPr>
            <a:spLocks noChangeArrowheads="1"/>
          </p:cNvSpPr>
          <p:nvPr/>
        </p:nvSpPr>
        <p:spPr bwMode="auto">
          <a:xfrm>
            <a:off x="660400" y="62118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 sz="24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spcBef>
                <a:spcPct val="25000"/>
              </a:spcBef>
              <a:buClr>
                <a:srgbClr val="CC6600"/>
              </a:buClr>
              <a:buSzPct val="105000"/>
              <a:buFont typeface="Monotype Sorts" pitchFamily="-65" charset="2"/>
              <a:buChar char="H"/>
              <a:defRPr kumimoji="1" sz="22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25000"/>
              </a:spcBef>
              <a:buClr>
                <a:srgbClr val="000099"/>
              </a:buClr>
              <a:buSzPct val="85000"/>
              <a:buFont typeface="Monotype Sorts" pitchFamily="-65" charset="2"/>
              <a:buChar char="4"/>
              <a:defRPr kumimoji="1" sz="20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2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符合两阶段封锁协议</a:t>
            </a:r>
            <a:endParaRPr lang="en-US" altLang="zh-CN" sz="2800" b="1" i="0">
              <a:solidFill>
                <a:srgbClr val="0000FF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9464" name="Rectangle 16"/>
          <p:cNvSpPr>
            <a:spLocks noChangeArrowheads="1"/>
          </p:cNvSpPr>
          <p:nvPr/>
        </p:nvSpPr>
        <p:spPr bwMode="auto">
          <a:xfrm>
            <a:off x="5156200" y="6211888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 sz="24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spcBef>
                <a:spcPct val="25000"/>
              </a:spcBef>
              <a:buClr>
                <a:srgbClr val="CC6600"/>
              </a:buClr>
              <a:buSzPct val="105000"/>
              <a:buFont typeface="Monotype Sorts" pitchFamily="-65" charset="2"/>
              <a:buChar char="H"/>
              <a:defRPr kumimoji="1" sz="22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25000"/>
              </a:spcBef>
              <a:buClr>
                <a:srgbClr val="000099"/>
              </a:buClr>
              <a:buSzPct val="85000"/>
              <a:buFont typeface="Monotype Sorts" pitchFamily="-65" charset="2"/>
              <a:buChar char="4"/>
              <a:defRPr kumimoji="1" sz="20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2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不符合两阶段封锁协议</a:t>
            </a:r>
            <a:endParaRPr lang="en-US" altLang="zh-CN" sz="2800" b="1" i="0">
              <a:solidFill>
                <a:srgbClr val="0000FF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34796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2PL EXAMPLE</a:t>
            </a:r>
            <a:endParaRPr lang="en-US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36" y="1739237"/>
            <a:ext cx="6943725" cy="3876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34796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 smtClean="0"/>
              <a:t>Extensions </a:t>
            </a:r>
            <a:r>
              <a:rPr lang="en-US" altLang="en-US" sz="2000" dirty="0"/>
              <a:t>to basic two-phase locking needed to ensure recoverability of freedom from cascading roll-back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Strict two-phase locking: </a:t>
            </a:r>
            <a:r>
              <a:rPr lang="en-US" altLang="en-US" sz="2000" dirty="0"/>
              <a:t>a transaction must hold all its exclusive locks till it commits/aborts.</a:t>
            </a:r>
            <a:endParaRPr lang="en-US" altLang="en-US" sz="2000" dirty="0"/>
          </a:p>
          <a:p>
            <a:pPr lvl="2">
              <a:lnSpc>
                <a:spcPct val="110000"/>
              </a:lnSpc>
            </a:pPr>
            <a:r>
              <a:rPr lang="en-US" altLang="en-US" sz="2000" dirty="0"/>
              <a:t>Ensures recoverability and avoids cascading roll-backs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Rigorous two-phase locking</a:t>
            </a:r>
            <a:r>
              <a:rPr lang="en-US" altLang="en-US" sz="2000" dirty="0"/>
              <a:t>: a transaction must hold </a:t>
            </a:r>
            <a:r>
              <a:rPr lang="en-US" altLang="en-US" sz="2000" i="1" dirty="0"/>
              <a:t>all </a:t>
            </a:r>
            <a:r>
              <a:rPr lang="en-US" altLang="en-US" sz="2000" dirty="0"/>
              <a:t>locks till commit/abort. </a:t>
            </a:r>
            <a:endParaRPr lang="en-US" altLang="en-US" sz="2000" dirty="0"/>
          </a:p>
          <a:p>
            <a:pPr lvl="2">
              <a:lnSpc>
                <a:spcPct val="110000"/>
              </a:lnSpc>
            </a:pPr>
            <a:r>
              <a:rPr lang="en-US" altLang="en-US" sz="2000" dirty="0"/>
              <a:t>Transactions can be serialized in the order in which they commit.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Most databases implement rigorous two-phase locking, </a:t>
            </a:r>
            <a:r>
              <a:rPr lang="en-US" altLang="en-US" sz="2000" i="1" dirty="0"/>
              <a:t>but refer to it as simply two-phase locking</a:t>
            </a:r>
            <a:endParaRPr lang="en-US" alt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34796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Rigorous 2PL EXAMPLE</a:t>
            </a:r>
            <a:endParaRPr lang="en-US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36" y="1726524"/>
            <a:ext cx="7432208" cy="4119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58417" y="1044475"/>
            <a:ext cx="4988863" cy="5133916"/>
          </a:xfrm>
        </p:spPr>
        <p:txBody>
          <a:bodyPr/>
          <a:lstStyle/>
          <a:p>
            <a:r>
              <a:rPr lang="en-US" altLang="en-US" sz="2000" dirty="0"/>
              <a:t>Two-phase locking is not a necessary condition for </a:t>
            </a:r>
            <a:r>
              <a:rPr lang="en-US" altLang="en-US" sz="2000" dirty="0" err="1" smtClean="0"/>
              <a:t>serializability</a:t>
            </a:r>
            <a:r>
              <a:rPr lang="en-US" altLang="en-US" sz="2000" dirty="0" smtClean="0"/>
              <a:t> </a:t>
            </a:r>
            <a:r>
              <a:rPr lang="zh-CN" altLang="en-US" sz="2000" b="1" dirty="0" smtClean="0">
                <a:solidFill>
                  <a:srgbClr val="FF0000"/>
                </a:solidFill>
                <a:ea typeface="宋体" pitchFamily="2" charset="-122"/>
              </a:rPr>
              <a:t>充分</a:t>
            </a: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而不是必要条件</a:t>
            </a:r>
            <a:endParaRPr lang="en-US" altLang="en-US" sz="2000" dirty="0"/>
          </a:p>
          <a:p>
            <a:pPr lvl="1"/>
            <a:r>
              <a:rPr lang="en-US" altLang="en-US" sz="2000" dirty="0"/>
              <a:t>There are conflict serializable schedules that cannot be obtained if the two-phase locking protocol is used.  </a:t>
            </a:r>
            <a:endParaRPr lang="en-US" altLang="en-US" sz="2000" dirty="0"/>
          </a:p>
          <a:p>
            <a:r>
              <a:rPr lang="en-US" altLang="en-US" sz="2000" dirty="0"/>
              <a:t>In the absence of extra information (e.g., ordering of  access to data), two-phase locking is necessary for conflict serializability </a:t>
            </a:r>
            <a:r>
              <a:rPr lang="en-US" altLang="en-US" sz="2000" i="1" dirty="0"/>
              <a:t>in the following sense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Given a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that does not follow two-phase locking, we can find a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that uses two-phase locking, and a schedule for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that is not conflict serializable.</a:t>
            </a:r>
            <a:endParaRPr lang="en-US" altLang="en-US" sz="2000" i="1" dirty="0"/>
          </a:p>
          <a:p>
            <a:pPr lvl="1"/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" r="51213"/>
          <a:stretch>
            <a:fillRect/>
          </a:stretch>
        </p:blipFill>
        <p:spPr>
          <a:xfrm>
            <a:off x="5578034" y="602411"/>
            <a:ext cx="2797616" cy="6018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Locking Protocols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08163" cy="5367972"/>
          </a:xfrm>
        </p:spPr>
        <p:txBody>
          <a:bodyPr/>
          <a:lstStyle/>
          <a:p>
            <a:r>
              <a:rPr lang="en-US" altLang="en-US" sz="2000" dirty="0"/>
              <a:t>Given a locking protocol (such as 2PL)</a:t>
            </a:r>
            <a:endParaRPr lang="en-US" altLang="en-US" sz="2000" dirty="0"/>
          </a:p>
          <a:p>
            <a:pPr lvl="1"/>
            <a:r>
              <a:rPr lang="en-US" altLang="en-US" sz="2000" dirty="0"/>
              <a:t>A schedule S is </a:t>
            </a:r>
            <a:r>
              <a:rPr lang="en-US" altLang="en-US" sz="2000" b="1" dirty="0">
                <a:solidFill>
                  <a:srgbClr val="002060"/>
                </a:solidFill>
              </a:rPr>
              <a:t>legal</a:t>
            </a:r>
            <a:r>
              <a:rPr lang="en-US" altLang="en-US" sz="2000" dirty="0"/>
              <a:t> under a locking protocol if it can be generated by a set of transactions that follow the protocol </a:t>
            </a:r>
            <a:endParaRPr lang="en-US" altLang="en-US" sz="2000" dirty="0"/>
          </a:p>
          <a:p>
            <a:pPr lvl="1"/>
            <a:r>
              <a:rPr lang="en-US" altLang="en-US" sz="2000" dirty="0"/>
              <a:t>A protocol </a:t>
            </a:r>
            <a:r>
              <a:rPr lang="en-US" altLang="en-US" sz="2000" b="1" dirty="0">
                <a:solidFill>
                  <a:srgbClr val="002060"/>
                </a:solidFill>
              </a:rPr>
              <a:t>ensures</a:t>
            </a:r>
            <a:r>
              <a:rPr lang="en-US" altLang="en-US" sz="2000" dirty="0"/>
              <a:t> serializability if all legal schedules under that protocol are serializable</a:t>
            </a:r>
            <a:endParaRPr lang="en-US" altLang="en-US" sz="20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 Conversions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r>
              <a:rPr lang="en-US" altLang="en-US" sz="2000" dirty="0"/>
              <a:t>Two-phase locking protocol with lock conversions: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–   Growing Phase:        </a:t>
            </a:r>
            <a:endParaRPr lang="en-US" altLang="en-US" sz="2000" dirty="0"/>
          </a:p>
          <a:p>
            <a:pPr lvl="1"/>
            <a:r>
              <a:rPr lang="en-US" altLang="en-US" sz="2000" dirty="0"/>
              <a:t>can acquire a lock-S on item</a:t>
            </a:r>
            <a:endParaRPr lang="en-US" altLang="en-US" sz="2000" dirty="0"/>
          </a:p>
          <a:p>
            <a:pPr lvl="1"/>
            <a:r>
              <a:rPr lang="en-US" altLang="en-US" sz="2000" dirty="0"/>
              <a:t>can acquire a lock-X on item</a:t>
            </a:r>
            <a:endParaRPr lang="en-US" altLang="en-US" sz="2000" dirty="0"/>
          </a:p>
          <a:p>
            <a:pPr lvl="1"/>
            <a:r>
              <a:rPr lang="en-US" altLang="en-US" sz="2000" dirty="0"/>
              <a:t>can </a:t>
            </a:r>
            <a:r>
              <a:rPr lang="en-US" altLang="en-US" sz="2000" b="1" dirty="0">
                <a:solidFill>
                  <a:srgbClr val="002060"/>
                </a:solidFill>
              </a:rPr>
              <a:t>convert</a:t>
            </a:r>
            <a:r>
              <a:rPr lang="en-US" altLang="en-US" sz="2000" dirty="0"/>
              <a:t> a lock-S to a lock-X (</a:t>
            </a:r>
            <a:r>
              <a:rPr lang="en-US" altLang="en-US" sz="2000" b="1" dirty="0">
                <a:solidFill>
                  <a:srgbClr val="002060"/>
                </a:solidFill>
              </a:rPr>
              <a:t>upgrade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–   Shrinking Phase:</a:t>
            </a:r>
            <a:endParaRPr lang="en-US" altLang="en-US" sz="2000" dirty="0"/>
          </a:p>
          <a:p>
            <a:pPr lvl="1"/>
            <a:r>
              <a:rPr lang="en-US" altLang="en-US" sz="2000" dirty="0"/>
              <a:t>can release a lock-S</a:t>
            </a:r>
            <a:endParaRPr lang="en-US" altLang="en-US" sz="2000" dirty="0"/>
          </a:p>
          <a:p>
            <a:pPr lvl="1"/>
            <a:r>
              <a:rPr lang="en-US" altLang="en-US" sz="2000" dirty="0"/>
              <a:t>can release a lock-X</a:t>
            </a:r>
            <a:endParaRPr lang="en-US" altLang="en-US" sz="2000" dirty="0"/>
          </a:p>
          <a:p>
            <a:pPr lvl="1"/>
            <a:r>
              <a:rPr lang="en-US" altLang="en-US" sz="2000" dirty="0"/>
              <a:t>can convert a lock-X to a lock-S  (</a:t>
            </a:r>
            <a:r>
              <a:rPr lang="en-US" altLang="en-US" sz="2000" b="1" dirty="0">
                <a:solidFill>
                  <a:srgbClr val="002060"/>
                </a:solidFill>
              </a:rPr>
              <a:t>downgrade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This protocol ensures serializability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554898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A transaction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issues the standard read/write instruction, without explicit locking calls.</a:t>
            </a:r>
            <a:endParaRPr lang="en-US" altLang="en-US" sz="2000" dirty="0"/>
          </a:p>
          <a:p>
            <a:r>
              <a:rPr lang="en-US" altLang="en-US" sz="2000" dirty="0"/>
              <a:t>The operation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D</a:t>
            </a:r>
            <a:r>
              <a:rPr lang="en-US" altLang="en-US" sz="2000" dirty="0"/>
              <a:t>) is processed as: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</a:t>
            </a: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has a lock on </a:t>
            </a:r>
            <a:r>
              <a:rPr lang="en-US" altLang="en-US" sz="2000" i="1" dirty="0"/>
              <a:t>D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   </a:t>
            </a:r>
            <a:r>
              <a:rPr lang="en-US" altLang="en-US" sz="2000" b="1" dirty="0"/>
              <a:t>then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          read(</a:t>
            </a:r>
            <a:r>
              <a:rPr lang="en-US" altLang="en-US" sz="2000" i="1" dirty="0"/>
              <a:t>D</a:t>
            </a:r>
            <a:r>
              <a:rPr lang="en-US" altLang="en-US" sz="2000" dirty="0"/>
              <a:t>) 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                else begin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             if necessary wait until no other  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                             transaction has a </a:t>
            </a:r>
            <a:r>
              <a:rPr lang="en-US" altLang="en-US" sz="2000" b="1" dirty="0"/>
              <a:t>lock-X</a:t>
            </a:r>
            <a:r>
              <a:rPr lang="en-US" altLang="en-US" sz="2000" dirty="0"/>
              <a:t> on </a:t>
            </a:r>
            <a:r>
              <a:rPr lang="en-US" altLang="en-US" sz="2000" i="1" dirty="0"/>
              <a:t>D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                         grant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 </a:t>
            </a:r>
            <a:r>
              <a:rPr lang="en-US" altLang="en-US" sz="2000" b="1" dirty="0"/>
              <a:t> lock-S</a:t>
            </a:r>
            <a:r>
              <a:rPr lang="en-US" altLang="en-US" sz="2000" dirty="0"/>
              <a:t> on </a:t>
            </a:r>
            <a:r>
              <a:rPr lang="en-US" altLang="en-US" sz="2000" i="1" dirty="0"/>
              <a:t>D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                 read(</a:t>
            </a:r>
            <a:r>
              <a:rPr lang="en-US" altLang="en-US" sz="2000" i="1" dirty="0"/>
              <a:t>D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                       end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501631" cy="5367972"/>
          </a:xfrm>
        </p:spPr>
        <p:txBody>
          <a:bodyPr/>
          <a:lstStyle/>
          <a:p>
            <a:r>
              <a:rPr lang="en-US" altLang="en-US" sz="2000" dirty="0"/>
              <a:t>The operation </a:t>
            </a:r>
            <a:r>
              <a:rPr lang="en-US" altLang="en-US" sz="2000" b="1" dirty="0"/>
              <a:t>write</a:t>
            </a:r>
            <a:r>
              <a:rPr lang="en-US" altLang="en-US" sz="2000" i="1" dirty="0"/>
              <a:t>(D)</a:t>
            </a:r>
            <a:r>
              <a:rPr lang="en-US" altLang="en-US" sz="2000" dirty="0"/>
              <a:t> is processed as: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</a:t>
            </a:r>
            <a:r>
              <a:rPr lang="en-US" altLang="en-US" sz="2000" b="1" dirty="0"/>
              <a:t>if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has a  </a:t>
            </a:r>
            <a:r>
              <a:rPr lang="en-US" altLang="en-US" sz="2000" b="1" dirty="0"/>
              <a:t>lock-X</a:t>
            </a:r>
            <a:r>
              <a:rPr lang="en-US" altLang="en-US" sz="2000" dirty="0"/>
              <a:t> on </a:t>
            </a:r>
            <a:r>
              <a:rPr lang="en-US" altLang="en-US" sz="2000" i="1" dirty="0"/>
              <a:t>D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then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lnSpc>
                <a:spcPct val="6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write(</a:t>
            </a:r>
            <a:r>
              <a:rPr lang="en-US" altLang="en-US" sz="2000" i="1" dirty="0"/>
              <a:t>D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dirty="0"/>
              <a:t>       </a:t>
            </a:r>
            <a:r>
              <a:rPr lang="en-US" altLang="en-US" sz="2000" b="1" dirty="0"/>
              <a:t>else begin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  if necessary wait until no other trans. has any lock on </a:t>
            </a:r>
            <a:r>
              <a:rPr lang="en-US" altLang="en-US" sz="2000" i="1" dirty="0"/>
              <a:t>D</a:t>
            </a:r>
            <a:r>
              <a:rPr lang="en-US" altLang="en-US" sz="2000" dirty="0"/>
              <a:t>,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  if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has a </a:t>
            </a:r>
            <a:r>
              <a:rPr lang="en-US" altLang="en-US" sz="2000" b="1" dirty="0"/>
              <a:t>lock-S</a:t>
            </a:r>
            <a:r>
              <a:rPr lang="en-US" altLang="en-US" sz="2000" dirty="0"/>
              <a:t> on </a:t>
            </a:r>
            <a:r>
              <a:rPr lang="en-US" altLang="en-US" sz="2000" i="1" dirty="0"/>
              <a:t>D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        then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           upgrade</a:t>
            </a:r>
            <a:r>
              <a:rPr lang="en-US" altLang="en-US" sz="2000" dirty="0"/>
              <a:t> lock on </a:t>
            </a:r>
            <a:r>
              <a:rPr lang="en-US" altLang="en-US" sz="2000" i="1" dirty="0"/>
              <a:t>D</a:t>
            </a:r>
            <a:r>
              <a:rPr lang="en-US" altLang="en-US" sz="2000" dirty="0"/>
              <a:t>  to </a:t>
            </a:r>
            <a:r>
              <a:rPr lang="en-US" altLang="en-US" sz="2000" b="1" dirty="0"/>
              <a:t>lock-X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       else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r>
              <a:rPr lang="en-US" altLang="en-US" sz="2000" dirty="0"/>
              <a:t>                    grant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 </a:t>
            </a:r>
            <a:r>
              <a:rPr lang="en-US" altLang="en-US" sz="2000" b="1" dirty="0"/>
              <a:t>lock-X</a:t>
            </a:r>
            <a:r>
              <a:rPr lang="en-US" altLang="en-US" sz="2000" dirty="0"/>
              <a:t> on </a:t>
            </a:r>
            <a:r>
              <a:rPr lang="en-US" altLang="en-US" sz="2000" i="1" dirty="0"/>
              <a:t>D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write(</a:t>
            </a:r>
            <a:r>
              <a:rPr lang="en-US" altLang="en-US" sz="2000" i="1" dirty="0"/>
              <a:t>D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lnSpc>
                <a:spcPct val="50000"/>
              </a:lnSpc>
              <a:buFont typeface="Monotype Sorts" pitchFamily="-65" charset="2"/>
              <a:buNone/>
            </a:pPr>
            <a:r>
              <a:rPr lang="en-US" altLang="en-US" sz="2000" b="1" dirty="0"/>
              <a:t>         end</a:t>
            </a:r>
            <a:r>
              <a:rPr lang="en-US" altLang="en-US" sz="2000" dirty="0"/>
              <a:t>;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b="1" dirty="0"/>
              <a:t>All locks are released after commit or abort</a:t>
            </a:r>
            <a:endParaRPr lang="en-US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52702" y="973289"/>
            <a:ext cx="7599286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Consider the partial schedule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br>
              <a:rPr lang="en-US" altLang="en-US" sz="2000" dirty="0"/>
            </a:br>
            <a:endParaRPr lang="en-US" altLang="en-US" sz="2000" dirty="0"/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Neither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nor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4</a:t>
            </a:r>
            <a:r>
              <a:rPr lang="en-US" altLang="en-US" sz="2000" dirty="0"/>
              <a:t> can make progress — executing  </a:t>
            </a:r>
            <a:r>
              <a:rPr lang="en-US" altLang="en-US" sz="2000" b="1" dirty="0"/>
              <a:t>lock-S</a:t>
            </a:r>
            <a:r>
              <a:rPr lang="en-US" altLang="en-US" sz="2000" i="1" dirty="0"/>
              <a:t>(B)</a:t>
            </a:r>
            <a:r>
              <a:rPr lang="en-US" altLang="en-US" sz="2000" dirty="0"/>
              <a:t> causes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4</a:t>
            </a:r>
            <a:r>
              <a:rPr lang="en-US" altLang="en-US" sz="2000" dirty="0"/>
              <a:t> to wait for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to release its lock on </a:t>
            </a:r>
            <a:r>
              <a:rPr lang="en-US" altLang="en-US" sz="2000" i="1" dirty="0"/>
              <a:t>B</a:t>
            </a:r>
            <a:r>
              <a:rPr lang="en-US" altLang="en-US" sz="2000" dirty="0"/>
              <a:t>, while executing  </a:t>
            </a:r>
            <a:r>
              <a:rPr lang="en-US" altLang="en-US" sz="2000" b="1" dirty="0"/>
              <a:t>lock-X</a:t>
            </a:r>
            <a:r>
              <a:rPr lang="en-US" altLang="en-US" sz="2000" i="1" dirty="0"/>
              <a:t>(A)</a:t>
            </a:r>
            <a:r>
              <a:rPr lang="en-US" altLang="en-US" sz="2000" dirty="0"/>
              <a:t> causes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3</a:t>
            </a:r>
            <a:r>
              <a:rPr lang="en-US" altLang="en-US" sz="2000" i="1" dirty="0"/>
              <a:t> </a:t>
            </a:r>
            <a:r>
              <a:rPr lang="en-US" altLang="en-US" sz="2000" dirty="0"/>
              <a:t> to wait for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4</a:t>
            </a:r>
            <a:r>
              <a:rPr lang="en-US" altLang="en-US" sz="2000" dirty="0"/>
              <a:t> to release its lock on </a:t>
            </a:r>
            <a:r>
              <a:rPr lang="en-US" altLang="en-US" sz="2000" i="1" dirty="0"/>
              <a:t>A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Such a situation is called a </a:t>
            </a:r>
            <a:r>
              <a:rPr lang="en-US" altLang="en-US" sz="2000" b="1" dirty="0">
                <a:solidFill>
                  <a:srgbClr val="002060"/>
                </a:solidFill>
              </a:rPr>
              <a:t>deadlock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To handle a deadlock one of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4</a:t>
            </a:r>
            <a:r>
              <a:rPr lang="en-US" altLang="en-US" sz="2000" dirty="0"/>
              <a:t> must be rolled back </a:t>
            </a:r>
            <a:br>
              <a:rPr lang="en-US" altLang="en-US" sz="2000" dirty="0"/>
            </a:br>
            <a:r>
              <a:rPr lang="en-US" altLang="en-US" sz="2000" dirty="0"/>
              <a:t>and its locks released.</a:t>
            </a:r>
            <a:endParaRPr lang="en-US" altLang="en-US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15683" y="1316881"/>
            <a:ext cx="2981264" cy="29658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r>
              <a:rPr lang="en-US" altLang="en-US" sz="2000" dirty="0"/>
              <a:t>The potential for deadlock exists in most locking protocols. Deadlocks are a necessary evil.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Starvation</a:t>
            </a:r>
            <a:r>
              <a:rPr lang="en-US" altLang="en-US" sz="2000" dirty="0"/>
              <a:t> is also possible if concurrency control manager is badly designed. For example:</a:t>
            </a:r>
            <a:endParaRPr lang="en-US" altLang="en-US" sz="2000" dirty="0"/>
          </a:p>
          <a:p>
            <a:pPr lvl="1"/>
            <a:r>
              <a:rPr lang="en-US" altLang="en-US" sz="2000" dirty="0"/>
              <a:t>A transaction may be waiting for an X-lock on an item, while a sequence of other transactions request and are granted an S-lock on the same item.  </a:t>
            </a:r>
            <a:endParaRPr lang="en-US" altLang="en-US" sz="2000" dirty="0"/>
          </a:p>
          <a:p>
            <a:pPr lvl="1"/>
            <a:r>
              <a:rPr lang="en-US" altLang="en-US" sz="2000" dirty="0"/>
              <a:t>The same transaction is repeatedly rolled back due to deadlocks.</a:t>
            </a:r>
            <a:endParaRPr lang="en-US" altLang="en-US" sz="2000" dirty="0"/>
          </a:p>
          <a:p>
            <a:r>
              <a:rPr lang="en-US" altLang="en-US" sz="2000" dirty="0"/>
              <a:t>Concurrency control manager can be designed to prevent starvation.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34796" cy="5367972"/>
          </a:xfrm>
        </p:spPr>
        <p:txBody>
          <a:bodyPr/>
          <a:lstStyle/>
          <a:p>
            <a:r>
              <a:rPr lang="en-US" altLang="en-US" sz="2000" dirty="0"/>
              <a:t>Two-phase locking </a:t>
            </a:r>
            <a:r>
              <a:rPr lang="en-US" altLang="en-US" sz="2000" i="1" dirty="0"/>
              <a:t>does not</a:t>
            </a:r>
            <a:r>
              <a:rPr lang="en-US" altLang="en-US" sz="2000" dirty="0"/>
              <a:t> ensure freedom from deadlocks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Extensions to basic two-phase locking needed to ensure recoverability of freedom from cascading </a:t>
            </a:r>
            <a:r>
              <a:rPr lang="en-US" altLang="en-US" sz="2000" dirty="0" smtClean="0"/>
              <a:t>roll-back</a:t>
            </a:r>
            <a:endParaRPr lang="en-US" altLang="en-US" sz="2000" dirty="0" smtClean="0"/>
          </a:p>
          <a:p>
            <a:pPr>
              <a:lnSpc>
                <a:spcPct val="110000"/>
              </a:lnSpc>
            </a:pPr>
            <a:endParaRPr lang="en-US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57" y="2401393"/>
            <a:ext cx="6545340" cy="308958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861049" y="5697122"/>
            <a:ext cx="22855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CASCADING ABORTS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Handling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8144214" cy="5367972"/>
          </a:xfrm>
        </p:spPr>
        <p:txBody>
          <a:bodyPr/>
          <a:lstStyle/>
          <a:p>
            <a:r>
              <a:rPr lang="en-US" altLang="en-US" sz="2000" dirty="0"/>
              <a:t>System is </a:t>
            </a:r>
            <a:r>
              <a:rPr lang="en-US" altLang="en-US" sz="2000" b="1" dirty="0">
                <a:solidFill>
                  <a:srgbClr val="002060"/>
                </a:solidFill>
              </a:rPr>
              <a:t>deadlocked</a:t>
            </a:r>
            <a:r>
              <a:rPr lang="en-US" altLang="en-US" sz="2000" dirty="0"/>
              <a:t> if there is a set of transactions such that every transaction in the set is waiting for another transaction in the set.</a:t>
            </a:r>
            <a:endParaRPr lang="en-US" altLang="en-US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552" y="1954266"/>
            <a:ext cx="2931093" cy="2915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Handling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2497"/>
            <a:ext cx="7567782" cy="5367972"/>
          </a:xfrm>
        </p:spPr>
        <p:txBody>
          <a:bodyPr/>
          <a:lstStyle/>
          <a:p>
            <a:r>
              <a:rPr lang="en-US" altLang="en-US" sz="2000" b="1" i="1" dirty="0">
                <a:solidFill>
                  <a:srgbClr val="002060"/>
                </a:solidFill>
              </a:rPr>
              <a:t>Deadlock prevention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protocols ensure that the system will </a:t>
            </a:r>
            <a:r>
              <a:rPr lang="en-US" altLang="en-US" sz="2000" i="1" dirty="0"/>
              <a:t>never</a:t>
            </a:r>
            <a:r>
              <a:rPr lang="en-US" altLang="en-US" sz="2000" dirty="0"/>
              <a:t> enter into a deadlock state. Some prevention strategies:</a:t>
            </a:r>
            <a:endParaRPr lang="en-US" altLang="en-US" sz="2000" dirty="0"/>
          </a:p>
          <a:p>
            <a:pPr lvl="1"/>
            <a:r>
              <a:rPr lang="en-US" altLang="en-US" sz="2000" dirty="0"/>
              <a:t>Require that each transaction locks all its data items before it begins execution (pre-declaration).</a:t>
            </a:r>
            <a:endParaRPr lang="en-US" altLang="en-US" sz="2000" dirty="0"/>
          </a:p>
          <a:p>
            <a:pPr lvl="1"/>
            <a:r>
              <a:rPr lang="en-US" altLang="en-US" sz="2000" dirty="0"/>
              <a:t>Impose partial ordering of all data items and require that a transaction can lock data items only in the order specified by the partial order (graph-based protocol).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More Deadlock Prevention Strategies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8144214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wait-die</a:t>
            </a:r>
            <a:r>
              <a:rPr lang="en-US" altLang="en-US" sz="2000" dirty="0"/>
              <a:t> scheme — non-preemptive</a:t>
            </a:r>
            <a:endParaRPr lang="en-US" altLang="en-US" sz="2000" dirty="0"/>
          </a:p>
          <a:p>
            <a:pPr lvl="1"/>
            <a:r>
              <a:rPr lang="en-US" altLang="en-US" sz="2000" dirty="0"/>
              <a:t>Older transaction may wait for younger one to release data item.</a:t>
            </a:r>
            <a:endParaRPr lang="en-US" altLang="en-US" sz="2000" dirty="0"/>
          </a:p>
          <a:p>
            <a:pPr lvl="1"/>
            <a:r>
              <a:rPr lang="en-US" altLang="en-US" sz="2000" dirty="0"/>
              <a:t>Younger transactions never wait for older ones; they are rolled back instead.</a:t>
            </a:r>
            <a:endParaRPr lang="en-US" altLang="en-US" sz="2000" dirty="0"/>
          </a:p>
          <a:p>
            <a:pPr lvl="1"/>
            <a:r>
              <a:rPr lang="en-US" altLang="en-US" sz="2000" dirty="0"/>
              <a:t>A transaction may die several times before acquiring a lock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wound-wait</a:t>
            </a:r>
            <a:r>
              <a:rPr lang="en-US" altLang="en-US" sz="2000" dirty="0"/>
              <a:t> scheme — preemptive</a:t>
            </a:r>
            <a:endParaRPr lang="en-US" altLang="en-US" sz="2000" dirty="0"/>
          </a:p>
          <a:p>
            <a:pPr lvl="1"/>
            <a:r>
              <a:rPr lang="en-US" altLang="en-US" sz="2000" dirty="0"/>
              <a:t>Older transaction </a:t>
            </a:r>
            <a:r>
              <a:rPr lang="en-US" altLang="en-US" sz="2000" i="1" dirty="0"/>
              <a:t>wounds</a:t>
            </a:r>
            <a:r>
              <a:rPr lang="en-US" altLang="en-US" sz="2000" dirty="0"/>
              <a:t> (forces rollback) of younger transaction instead of waiting for it. </a:t>
            </a:r>
            <a:endParaRPr lang="en-US" altLang="en-US" sz="2000" dirty="0"/>
          </a:p>
          <a:p>
            <a:pPr lvl="1"/>
            <a:r>
              <a:rPr lang="en-US" altLang="en-US" sz="2000" dirty="0"/>
              <a:t>Younger transactions may wait for older ones.</a:t>
            </a:r>
            <a:endParaRPr lang="en-US" altLang="en-US" sz="2000" dirty="0"/>
          </a:p>
          <a:p>
            <a:pPr lvl="1"/>
            <a:r>
              <a:rPr lang="en-US" altLang="en-US" sz="2000" dirty="0"/>
              <a:t>Fewer rollbacks than </a:t>
            </a:r>
            <a:r>
              <a:rPr lang="en-US" altLang="en-US" sz="2000" i="1" dirty="0"/>
              <a:t>wait-die</a:t>
            </a:r>
            <a:r>
              <a:rPr lang="en-US" altLang="en-US" sz="2000" dirty="0"/>
              <a:t> scheme.</a:t>
            </a:r>
            <a:endParaRPr lang="en-US" altLang="en-US" sz="2000" dirty="0"/>
          </a:p>
          <a:p>
            <a:r>
              <a:rPr lang="en-US" altLang="en-US" sz="2000" dirty="0"/>
              <a:t>In both schemes, a rolled back transactions is restarted with its original timestamp. </a:t>
            </a:r>
            <a:endParaRPr lang="en-US" altLang="en-US" sz="2000" dirty="0"/>
          </a:p>
          <a:p>
            <a:pPr lvl="1"/>
            <a:r>
              <a:rPr lang="en-US" altLang="en-US" sz="2000" dirty="0"/>
              <a:t>Ensures that older transactions have precedence over newer ones, and starvation is thus avoided.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prevention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96940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Timeout-Based Schemes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/>
            <a:r>
              <a:rPr lang="en-US" altLang="en-US" sz="2000" dirty="0"/>
              <a:t>A transaction waits for a lock only for a specified amount of time. After that, the wait times out and the transaction is rolled back.</a:t>
            </a:r>
            <a:endParaRPr lang="en-US" altLang="en-US" sz="2000" dirty="0"/>
          </a:p>
          <a:p>
            <a:pPr lvl="1"/>
            <a:r>
              <a:rPr lang="en-US" altLang="en-US" sz="2000" dirty="0"/>
              <a:t>Ensures that deadlocks get resolved by timeout if they occur</a:t>
            </a:r>
            <a:endParaRPr lang="en-US" altLang="en-US" sz="2000" dirty="0"/>
          </a:p>
          <a:p>
            <a:pPr lvl="1"/>
            <a:r>
              <a:rPr lang="en-US" altLang="en-US" sz="2000" dirty="0"/>
              <a:t>Simple to implement</a:t>
            </a:r>
            <a:endParaRPr lang="en-US" altLang="en-US" sz="2000" dirty="0"/>
          </a:p>
          <a:p>
            <a:pPr lvl="1"/>
            <a:r>
              <a:rPr lang="en-US" altLang="en-US" sz="2000" dirty="0"/>
              <a:t>But may roll back transaction unnecessarily in absence of deadlock</a:t>
            </a:r>
            <a:endParaRPr lang="en-US" altLang="en-US" sz="2000" dirty="0"/>
          </a:p>
          <a:p>
            <a:pPr lvl="2"/>
            <a:r>
              <a:rPr lang="en-US" altLang="en-US" sz="2000" dirty="0"/>
              <a:t>Difficult to determine good value of the timeout interval.</a:t>
            </a:r>
            <a:endParaRPr lang="en-US" altLang="en-US" sz="2000" dirty="0"/>
          </a:p>
          <a:p>
            <a:pPr lvl="1"/>
            <a:r>
              <a:rPr lang="en-US" altLang="en-US" sz="2000" dirty="0"/>
              <a:t>Starvation is also possible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Detection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0206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Wait-for graph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i="1" dirty="0"/>
              <a:t>Vertices: </a:t>
            </a:r>
            <a:r>
              <a:rPr lang="en-US" altLang="en-US" sz="2000" dirty="0"/>
              <a:t>transactions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Edge from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charset="2"/>
              </a:rPr>
              <a:t>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. : if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charset="2"/>
              </a:rPr>
              <a:t>is waiting for a lock held in conflicting mode </a:t>
            </a:r>
            <a:r>
              <a:rPr lang="en-US" altLang="en-US" sz="2000" dirty="0" smtClean="0">
                <a:sym typeface="Symbol" charset="2"/>
              </a:rPr>
              <a:t>by </a:t>
            </a:r>
            <a:r>
              <a:rPr lang="en-US" altLang="en-US" sz="2000" i="1" dirty="0" err="1" smtClean="0"/>
              <a:t>T</a:t>
            </a:r>
            <a:r>
              <a:rPr lang="en-US" altLang="en-US" sz="2000" i="1" baseline="-25000" dirty="0" err="1" smtClean="0"/>
              <a:t>j</a:t>
            </a:r>
            <a:r>
              <a:rPr lang="en-US" altLang="en-US" sz="2000" i="1" baseline="-25000" dirty="0" smtClean="0"/>
              <a:t> </a:t>
            </a:r>
            <a:endParaRPr lang="en-US" altLang="en-US" sz="2000" dirty="0"/>
          </a:p>
          <a:p>
            <a:r>
              <a:rPr lang="en-US" altLang="en-US" sz="2000" dirty="0"/>
              <a:t>The system is in a deadlock state if and only if the wait-for graph has a cycle.  </a:t>
            </a:r>
            <a:endParaRPr lang="en-US" altLang="en-US" sz="2000" dirty="0"/>
          </a:p>
          <a:p>
            <a:r>
              <a:rPr lang="en-US" altLang="en-US" sz="2000" dirty="0"/>
              <a:t>Invoke a deadlock-detection algorithm periodically to look for cycles.</a:t>
            </a:r>
            <a:endParaRPr lang="en-US" altLang="en-US" sz="20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39853" y="5528535"/>
            <a:ext cx="3549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/>
              <a:t>Wait-for graph without a cycle</a:t>
            </a:r>
            <a:endParaRPr lang="en-US" altLang="en-US" sz="2000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984883" y="5571400"/>
            <a:ext cx="3264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/>
              <a:t>Wait-for graph  with a cycle</a:t>
            </a:r>
            <a:endParaRPr lang="en-US" altLang="en-US" sz="2000" dirty="0"/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077" y="3877671"/>
            <a:ext cx="2239962" cy="165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242" y="3953862"/>
            <a:ext cx="2153443" cy="157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Detection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0206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Wait-for </a:t>
            </a:r>
            <a:r>
              <a:rPr lang="en-US" altLang="en-US" sz="2000" b="1" dirty="0" smtClean="0">
                <a:solidFill>
                  <a:srgbClr val="002060"/>
                </a:solidFill>
              </a:rPr>
              <a:t>graph</a:t>
            </a:r>
            <a:endParaRPr lang="en-US" altLang="en-US" sz="2000" dirty="0">
              <a:solidFill>
                <a:srgbClr val="00206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36" y="1819570"/>
            <a:ext cx="7858125" cy="3933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Recovery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679185" cy="5367972"/>
          </a:xfrm>
        </p:spPr>
        <p:txBody>
          <a:bodyPr/>
          <a:lstStyle/>
          <a:p>
            <a:r>
              <a:rPr lang="en-US" altLang="en-US" sz="2000" dirty="0"/>
              <a:t>When deadlock is  detected :</a:t>
            </a:r>
            <a:endParaRPr lang="en-US" altLang="en-US" sz="2000" dirty="0"/>
          </a:p>
          <a:p>
            <a:pPr lvl="1"/>
            <a:r>
              <a:rPr lang="en-US" altLang="en-US" sz="2000" dirty="0"/>
              <a:t>Some transaction will have to rolled back (made a </a:t>
            </a:r>
            <a:r>
              <a:rPr lang="en-US" altLang="en-US" sz="2000" b="1" dirty="0">
                <a:solidFill>
                  <a:srgbClr val="002060"/>
                </a:solidFill>
              </a:rPr>
              <a:t>victim</a:t>
            </a:r>
            <a:r>
              <a:rPr lang="en-US" altLang="en-US" sz="2000" dirty="0"/>
              <a:t>) to break deadlock cycle.  </a:t>
            </a:r>
            <a:endParaRPr lang="en-US" altLang="en-US" sz="2000" dirty="0"/>
          </a:p>
          <a:p>
            <a:pPr lvl="2"/>
            <a:r>
              <a:rPr lang="en-US" altLang="en-US" sz="2000" dirty="0"/>
              <a:t>Select that transaction as victim that will incur minimum cost</a:t>
            </a:r>
            <a:endParaRPr lang="en-US" altLang="en-US" sz="2000" dirty="0"/>
          </a:p>
          <a:p>
            <a:pPr lvl="1"/>
            <a:r>
              <a:rPr lang="en-US" altLang="en-US" sz="2000" dirty="0"/>
              <a:t>Rollback -- determine how far to roll back transaction</a:t>
            </a:r>
            <a:endParaRPr lang="en-US" altLang="en-US" sz="2000" dirty="0"/>
          </a:p>
          <a:p>
            <a:pPr lvl="2"/>
            <a:r>
              <a:rPr lang="en-US" altLang="en-US" sz="2000" b="1" dirty="0">
                <a:solidFill>
                  <a:srgbClr val="002060"/>
                </a:solidFill>
              </a:rPr>
              <a:t>Total rollback</a:t>
            </a:r>
            <a:r>
              <a:rPr lang="en-US" altLang="en-US" sz="2000" dirty="0"/>
              <a:t>: Abort the transaction and then restart it.</a:t>
            </a:r>
            <a:endParaRPr lang="en-US" altLang="en-US" sz="2000" dirty="0"/>
          </a:p>
          <a:p>
            <a:pPr lvl="2"/>
            <a:r>
              <a:rPr lang="en-US" altLang="en-US" sz="2000" b="1" dirty="0">
                <a:solidFill>
                  <a:srgbClr val="002060"/>
                </a:solidFill>
              </a:rPr>
              <a:t>Partial rollback</a:t>
            </a:r>
            <a:r>
              <a:rPr lang="en-US" altLang="en-US" sz="2000" dirty="0"/>
              <a:t>: Roll back victim transaction only as far as necessary to release locks that another transaction in cycle is waiting for</a:t>
            </a:r>
            <a:endParaRPr lang="en-US" altLang="en-US" sz="2000" dirty="0"/>
          </a:p>
          <a:p>
            <a:r>
              <a:rPr lang="en-US" altLang="en-US" sz="2000" dirty="0"/>
              <a:t>Starvation can happen (why?)</a:t>
            </a:r>
            <a:endParaRPr lang="en-US" altLang="en-US" sz="2000" dirty="0"/>
          </a:p>
          <a:p>
            <a:pPr lvl="1"/>
            <a:r>
              <a:rPr lang="en-US" altLang="en-US" sz="2000" dirty="0"/>
              <a:t>One solution: oldest transaction in the deadlock set is never chosen as victim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Implementation of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Locking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79185" cy="5367972"/>
          </a:xfrm>
        </p:spPr>
        <p:txBody>
          <a:bodyPr/>
          <a:lstStyle/>
          <a:p>
            <a:r>
              <a:rPr lang="en-US" altLang="en-US" sz="2000" dirty="0"/>
              <a:t>A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lock manager </a:t>
            </a:r>
            <a:r>
              <a:rPr lang="en-US" altLang="en-US" sz="2000" dirty="0"/>
              <a:t>can be implemented as a separate process </a:t>
            </a:r>
            <a:endParaRPr lang="en-US" altLang="en-US" sz="2000" dirty="0"/>
          </a:p>
          <a:p>
            <a:r>
              <a:rPr lang="en-US" altLang="en-US" sz="2000" dirty="0"/>
              <a:t>Transactions can send lock and unlock requests as messages</a:t>
            </a:r>
            <a:endParaRPr lang="en-US" altLang="en-US" sz="2000" dirty="0"/>
          </a:p>
          <a:p>
            <a:r>
              <a:rPr lang="en-US" altLang="en-US" sz="2000" dirty="0"/>
              <a:t>The lock manager replies to a lock request by sending a lock grant messages (or a message asking the transaction to roll back, in case of  a deadlock)</a:t>
            </a:r>
            <a:endParaRPr lang="en-US" altLang="en-US" sz="2000" dirty="0"/>
          </a:p>
          <a:p>
            <a:pPr lvl="1"/>
            <a:r>
              <a:rPr lang="en-US" altLang="en-US" sz="2000" dirty="0"/>
              <a:t>The requesting transaction waits until its request is answered</a:t>
            </a:r>
            <a:endParaRPr lang="en-US" altLang="en-US" sz="2000" dirty="0"/>
          </a:p>
          <a:p>
            <a:r>
              <a:rPr lang="en-US" altLang="en-US" sz="2000" dirty="0"/>
              <a:t>The lock manager maintains an in-memory data-structure called a </a:t>
            </a:r>
            <a:r>
              <a:rPr lang="en-US" altLang="en-US" sz="2000" b="1" dirty="0">
                <a:solidFill>
                  <a:srgbClr val="002060"/>
                </a:solidFill>
              </a:rPr>
              <a:t>lock table </a:t>
            </a:r>
            <a:r>
              <a:rPr lang="en-US" altLang="en-US" sz="2000" dirty="0"/>
              <a:t>to record granted locks and pending requests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Table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610100" y="923278"/>
            <a:ext cx="4191000" cy="5325122"/>
          </a:xfrm>
          <a:noFill/>
        </p:spPr>
        <p:txBody>
          <a:bodyPr/>
          <a:lstStyle/>
          <a:p>
            <a:r>
              <a:rPr lang="en-US" altLang="en-US" dirty="0"/>
              <a:t>Dark rectangles indicate granted locks, light colored ones indicate waiting requests</a:t>
            </a:r>
            <a:endParaRPr lang="en-US" altLang="en-US" dirty="0"/>
          </a:p>
          <a:p>
            <a:r>
              <a:rPr lang="en-US" altLang="en-US" dirty="0"/>
              <a:t>Lock table also records the type of lock granted or requested</a:t>
            </a:r>
            <a:endParaRPr lang="en-US" altLang="en-US" dirty="0"/>
          </a:p>
          <a:p>
            <a:r>
              <a:rPr lang="en-US" altLang="en-US" dirty="0"/>
              <a:t>New request is added to the end of the queue of requests for the data item, and granted if it is compatible with all earlier locks</a:t>
            </a:r>
            <a:endParaRPr lang="en-US" altLang="en-US" dirty="0"/>
          </a:p>
          <a:p>
            <a:r>
              <a:rPr lang="en-US" altLang="en-US" dirty="0"/>
              <a:t>Unlock requests result in the request being deleted, and later requests are checked to see if they can now be granted</a:t>
            </a:r>
            <a:endParaRPr lang="en-US" altLang="en-US" dirty="0"/>
          </a:p>
          <a:p>
            <a:r>
              <a:rPr lang="en-US" altLang="en-US" dirty="0"/>
              <a:t>If transaction aborts, all waiting or granted requests of the transaction are deleted </a:t>
            </a:r>
            <a:endParaRPr lang="en-US" altLang="en-US" dirty="0"/>
          </a:p>
          <a:p>
            <a:pPr lvl="1"/>
            <a:r>
              <a:rPr lang="en-US" altLang="en-US" dirty="0"/>
              <a:t>lock manager may keep a list of locks held by each transaction, to implement this efficiently</a:t>
            </a:r>
            <a:endParaRPr lang="en-US" altLang="en-US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156" y="1216346"/>
            <a:ext cx="3632559" cy="5189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Graph-Based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Protocols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670306" cy="5367972"/>
          </a:xfrm>
        </p:spPr>
        <p:txBody>
          <a:bodyPr/>
          <a:lstStyle/>
          <a:p>
            <a:r>
              <a:rPr lang="en-US" altLang="en-US" sz="2000" dirty="0"/>
              <a:t>Graph-based protocols are an alternative to two-phase locking</a:t>
            </a:r>
            <a:endParaRPr lang="en-US" altLang="en-US" sz="2000" dirty="0"/>
          </a:p>
          <a:p>
            <a:r>
              <a:rPr lang="en-US" altLang="en-US" sz="2000" dirty="0"/>
              <a:t>Impose a partial ordering </a:t>
            </a:r>
            <a:r>
              <a:rPr lang="en-US" altLang="en-US" sz="2000" dirty="0">
                <a:sym typeface="Symbol" charset="2"/>
              </a:rPr>
              <a:t> </a:t>
            </a:r>
            <a:r>
              <a:rPr lang="en-US" altLang="en-US" sz="2000" dirty="0"/>
              <a:t>on the set </a:t>
            </a:r>
            <a:r>
              <a:rPr lang="en-US" altLang="en-US" sz="2000" b="1" dirty="0"/>
              <a:t>D</a:t>
            </a:r>
            <a:r>
              <a:rPr lang="en-US" altLang="en-US" sz="2000" dirty="0"/>
              <a:t> = {</a:t>
            </a:r>
            <a:r>
              <a:rPr lang="en-US" altLang="en-US" sz="2000" i="1" dirty="0"/>
              <a:t>d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d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,..., d</a:t>
            </a:r>
            <a:r>
              <a:rPr lang="en-US" altLang="en-US" sz="2000" i="1" baseline="-25000" dirty="0"/>
              <a:t>h</a:t>
            </a:r>
            <a:r>
              <a:rPr lang="en-US" altLang="en-US" sz="2000" dirty="0"/>
              <a:t>} of all data items.</a:t>
            </a:r>
            <a:endParaRPr lang="en-US" altLang="en-US" sz="2000" dirty="0"/>
          </a:p>
          <a:p>
            <a:pPr lvl="1"/>
            <a:r>
              <a:rPr lang="en-US" altLang="en-US" sz="2000" dirty="0"/>
              <a:t>If </a:t>
            </a: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charset="2"/>
              </a:rPr>
              <a:t> </a:t>
            </a:r>
            <a:r>
              <a:rPr lang="en-US" altLang="en-US" sz="2000" i="1" dirty="0" err="1"/>
              <a:t>d</a:t>
            </a:r>
            <a:r>
              <a:rPr lang="en-US" altLang="en-US" sz="2000" i="1" baseline="-25000" dirty="0" err="1"/>
              <a:t>j</a:t>
            </a:r>
            <a:r>
              <a:rPr lang="en-US" altLang="en-US" sz="2000" i="1" baseline="-25000" dirty="0"/>
              <a:t> </a:t>
            </a:r>
            <a:r>
              <a:rPr lang="en-US" altLang="en-US" sz="2000" dirty="0"/>
              <a:t> then any transaction accessing both </a:t>
            </a: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 err="1"/>
              <a:t>d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must access d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before accessing </a:t>
            </a:r>
            <a:r>
              <a:rPr lang="en-US" altLang="en-US" sz="2000" i="1" dirty="0" err="1"/>
              <a:t>d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dirty="0"/>
              <a:t>Implies that the set </a:t>
            </a:r>
            <a:r>
              <a:rPr lang="en-US" altLang="en-US" sz="2000" b="1" dirty="0"/>
              <a:t>D</a:t>
            </a:r>
            <a:r>
              <a:rPr lang="en-US" altLang="en-US" sz="2000" dirty="0"/>
              <a:t> may now be viewed as a directed acyclic graph, called a </a:t>
            </a:r>
            <a:r>
              <a:rPr lang="en-US" altLang="en-US" sz="2000" i="1" dirty="0"/>
              <a:t>database graph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The </a:t>
            </a:r>
            <a:r>
              <a:rPr lang="en-US" altLang="en-US" sz="2000" i="1" dirty="0"/>
              <a:t>tree-protocol</a:t>
            </a:r>
            <a:r>
              <a:rPr lang="en-US" altLang="en-US" sz="2000" dirty="0"/>
              <a:t> is a simple kind of graph protocol. 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Tree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Protocol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619"/>
            <a:ext cx="7750207" cy="2738938"/>
          </a:xfrm>
        </p:spPr>
        <p:txBody>
          <a:bodyPr/>
          <a:lstStyle/>
          <a:p>
            <a:r>
              <a:rPr lang="en-US" altLang="en-US" sz="2000" dirty="0"/>
              <a:t>Only exclusive locks are allowed.</a:t>
            </a:r>
            <a:endParaRPr lang="en-US" altLang="en-US" sz="2000" dirty="0"/>
          </a:p>
          <a:p>
            <a:r>
              <a:rPr lang="en-US" altLang="en-US" sz="2000" dirty="0"/>
              <a:t>The first lock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may be on any data item. Subsequently, a data </a:t>
            </a:r>
            <a:r>
              <a:rPr lang="en-US" altLang="en-US" sz="2000" i="1" dirty="0"/>
              <a:t>Q</a:t>
            </a:r>
            <a:r>
              <a:rPr lang="en-US" altLang="en-US" sz="2000" dirty="0"/>
              <a:t> can be locked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only if the parent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 is currently locked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Data items may be unlocked at any time.</a:t>
            </a:r>
            <a:endParaRPr lang="en-US" altLang="en-US" sz="2000" dirty="0"/>
          </a:p>
          <a:p>
            <a:r>
              <a:rPr lang="en-US" altLang="en-US" sz="2000" dirty="0"/>
              <a:t>A data item that has been locked and unlocked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 cannot subsequently be relocked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</a:t>
            </a:r>
            <a:endParaRPr lang="en-US" altLang="en-US" sz="2000" dirty="0"/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198" y="3841557"/>
            <a:ext cx="2460625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Graph-Based Protocols (Cont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.)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01944" y="1032923"/>
            <a:ext cx="8035160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The tree protocol ensures conflict serializability as well as freedom from deadlock.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Unlocking may occur earlier in the tree-locking protocol than in the two-phase locking protocol.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Shorter waiting times, and increase in concurrency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Protocol is deadlock-free, no rollbacks are required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Drawbacks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Protocol does not guarantee recoverability or cascade freedom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Need to introduce commit dependencies to ensure recoverability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Transactions may have to lock data items that they do not access.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increased locking overhead, and additional waiting time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potential decrease in concurrency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Schedules not possible under two-phase locking are possible under the tree protocol, and vice versa.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Granularity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05818" cy="5367972"/>
          </a:xfrm>
        </p:spPr>
        <p:txBody>
          <a:bodyPr/>
          <a:lstStyle/>
          <a:p>
            <a:r>
              <a:rPr lang="en-US" altLang="en-US" dirty="0"/>
              <a:t>Allow data items to be of various sizes and define a hierarchy of data granularities, where the small granularities are nested within larger ones</a:t>
            </a:r>
            <a:endParaRPr lang="en-US" altLang="en-US" dirty="0"/>
          </a:p>
          <a:p>
            <a:r>
              <a:rPr lang="en-US" altLang="en-US" dirty="0"/>
              <a:t>Can be represented graphically as a tree (but don't confuse with tree-locking protocol)</a:t>
            </a:r>
            <a:endParaRPr lang="en-US" altLang="en-US" dirty="0"/>
          </a:p>
          <a:p>
            <a:r>
              <a:rPr lang="en-US" altLang="en-US" dirty="0"/>
              <a:t>When a transaction locks a node in the tree </a:t>
            </a:r>
            <a:r>
              <a:rPr lang="en-US" altLang="en-US" i="1" dirty="0"/>
              <a:t>explicitly</a:t>
            </a:r>
            <a:r>
              <a:rPr lang="en-US" altLang="en-US" dirty="0"/>
              <a:t>, it </a:t>
            </a:r>
            <a:r>
              <a:rPr lang="en-US" altLang="en-US" i="1" dirty="0"/>
              <a:t>implicitly</a:t>
            </a:r>
            <a:r>
              <a:rPr lang="en-US" altLang="en-US" dirty="0"/>
              <a:t> locks all the node's descendants in the same mode.</a:t>
            </a:r>
            <a:endParaRPr lang="en-US" altLang="en-US" dirty="0"/>
          </a:p>
          <a:p>
            <a:r>
              <a:rPr lang="en-US" altLang="en-US" dirty="0">
                <a:solidFill>
                  <a:srgbClr val="002060"/>
                </a:solidFill>
              </a:rPr>
              <a:t>Granularity of locking </a:t>
            </a:r>
            <a:r>
              <a:rPr lang="en-US" altLang="en-US" dirty="0"/>
              <a:t>(level in tree where locking is done):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Fine granularity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(lower in tree): high concurrency, high locking overhead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Coarse granularity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(higher in tree): low locking overhead, low concurrency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Granularity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Hierarchy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92474" y="1157889"/>
            <a:ext cx="8153092" cy="1756761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The levels, starting from the coarsest (top) level are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database</a:t>
            </a:r>
            <a:endParaRPr lang="en-US" altLang="en-US" sz="2000" i="1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area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file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record</a:t>
            </a:r>
            <a:r>
              <a:rPr lang="en-US" altLang="en-US" sz="2000" dirty="0"/>
              <a:t> </a:t>
            </a:r>
            <a:endParaRPr lang="en-US" altLang="en-US" sz="2000" dirty="0"/>
          </a:p>
        </p:txBody>
      </p:sp>
      <p:pic>
        <p:nvPicPr>
          <p:cNvPr id="30724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6" y="2925464"/>
            <a:ext cx="5745163" cy="263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Granularity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Hierarchy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92474" y="1200752"/>
            <a:ext cx="7265676" cy="221396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The levels, starting from the coarsest (top) level are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database</a:t>
            </a:r>
            <a:endParaRPr lang="en-US" altLang="en-US" sz="2000" i="1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area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file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record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The corresponding tree</a:t>
            </a:r>
            <a:endParaRPr lang="en-US" altLang="en-US" sz="2000" dirty="0"/>
          </a:p>
        </p:txBody>
      </p:sp>
      <p:pic>
        <p:nvPicPr>
          <p:cNvPr id="30724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7" y="3256027"/>
            <a:ext cx="5216521" cy="239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Intention Lock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Modes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US" altLang="en-US" sz="2000" dirty="0"/>
              <a:t>In addition to S and X lock modes, there are three additional lock modes with multiple granularity:</a:t>
            </a:r>
            <a:endParaRPr lang="en-US" altLang="en-US" sz="2000" dirty="0"/>
          </a:p>
          <a:p>
            <a:pPr lvl="1"/>
            <a:r>
              <a:rPr lang="en-US" altLang="en-US" sz="2000" b="1" i="1" dirty="0"/>
              <a:t>intention-shared</a:t>
            </a:r>
            <a:r>
              <a:rPr lang="en-US" altLang="en-US" sz="2000" dirty="0"/>
              <a:t> (IS): indicates explicit locking at a lower level of the tree but only with shared locks.</a:t>
            </a:r>
            <a:endParaRPr lang="en-US" altLang="en-US" sz="2000" dirty="0"/>
          </a:p>
          <a:p>
            <a:pPr lvl="1"/>
            <a:r>
              <a:rPr lang="en-US" altLang="en-US" sz="2000" b="1" i="1" dirty="0"/>
              <a:t>intention</a:t>
            </a:r>
            <a:r>
              <a:rPr lang="en-US" altLang="en-US" sz="2000" b="1" dirty="0"/>
              <a:t>-</a:t>
            </a:r>
            <a:r>
              <a:rPr lang="en-US" altLang="en-US" sz="2000" b="1" i="1" dirty="0"/>
              <a:t>exclusive</a:t>
            </a:r>
            <a:r>
              <a:rPr lang="en-US" altLang="en-US" sz="2000" dirty="0"/>
              <a:t> (IX): indicates explicit locking at a lower level with exclusive or shared locks</a:t>
            </a:r>
            <a:endParaRPr lang="en-US" altLang="en-US" sz="2000" dirty="0"/>
          </a:p>
          <a:p>
            <a:pPr lvl="1"/>
            <a:r>
              <a:rPr lang="en-US" altLang="en-US" sz="2000" b="1" i="1" dirty="0"/>
              <a:t>shared and intention</a:t>
            </a:r>
            <a:r>
              <a:rPr lang="en-US" altLang="en-US" sz="2000" b="1" dirty="0"/>
              <a:t>-</a:t>
            </a:r>
            <a:r>
              <a:rPr lang="en-US" altLang="en-US" sz="2000" b="1" i="1" dirty="0"/>
              <a:t>exclusive</a:t>
            </a:r>
            <a:r>
              <a:rPr lang="en-US" altLang="en-US" sz="2000" dirty="0"/>
              <a:t> (SIX): the subtree rooted by that node is locked explicitly in shared mode and explicit locking is being done at a lower level with exclusive-mode locks.</a:t>
            </a:r>
            <a:endParaRPr lang="en-US" altLang="en-US" sz="2000" dirty="0"/>
          </a:p>
          <a:p>
            <a:r>
              <a:rPr lang="en-US" altLang="en-US" sz="2000" dirty="0"/>
              <a:t>Intention locks allow a higher level node to be locked in S or X mode without having to check all descendent nodes.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5108" y="315965"/>
            <a:ext cx="8180441" cy="653087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Compatibility Matrix with Intention Lock </a:t>
            </a: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Modes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65108" y="1102497"/>
            <a:ext cx="8180441" cy="5367972"/>
          </a:xfrm>
        </p:spPr>
        <p:txBody>
          <a:bodyPr/>
          <a:lstStyle/>
          <a:p>
            <a:r>
              <a:rPr lang="en-US" altLang="en-US" sz="2000" dirty="0"/>
              <a:t>The compatibility matrix for all lock modes is: 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pic>
        <p:nvPicPr>
          <p:cNvPr id="32772" name="Picture 1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022475"/>
            <a:ext cx="5881687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Multiple Granularity Locking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Scheme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（自学）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4132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lock a node </a:t>
            </a:r>
            <a:r>
              <a:rPr lang="en-US" altLang="en-US" i="1" dirty="0"/>
              <a:t>Q</a:t>
            </a:r>
            <a:r>
              <a:rPr lang="en-US" altLang="en-US" dirty="0"/>
              <a:t>, using the following rules:</a:t>
            </a:r>
            <a:endParaRPr lang="en-US" altLang="en-US" dirty="0"/>
          </a:p>
          <a:p>
            <a:pPr marL="800100" lvl="1" indent="-342900">
              <a:lnSpc>
                <a:spcPct val="90000"/>
              </a:lnSpc>
              <a:buAutoNum type="arabicPeriod"/>
            </a:pPr>
            <a:r>
              <a:rPr lang="en-US" altLang="en-US" dirty="0"/>
              <a:t>The lock compatibility matrix must be observed.</a:t>
            </a:r>
            <a:endParaRPr lang="en-US" altLang="en-US" dirty="0"/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</a:t>
            </a:r>
            <a:r>
              <a:rPr lang="en-US" altLang="en-US" dirty="0"/>
              <a:t>The root of the tree must be locked first, and may be locked in any</a:t>
            </a: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mode.</a:t>
            </a: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3.   </a:t>
            </a:r>
            <a:r>
              <a:rPr lang="en-US" altLang="en-US" dirty="0"/>
              <a:t>A node </a:t>
            </a:r>
            <a:r>
              <a:rPr lang="en-US" altLang="en-US" i="1" dirty="0"/>
              <a:t>Q</a:t>
            </a:r>
            <a:r>
              <a:rPr lang="en-US" altLang="en-US" dirty="0"/>
              <a:t> can be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S or IS mode only if the parent of </a:t>
            </a:r>
            <a:r>
              <a:rPr lang="en-US" altLang="en-US" i="1" dirty="0"/>
              <a:t>Q</a:t>
            </a:r>
            <a:r>
              <a:rPr lang="en-US" altLang="en-US" dirty="0"/>
              <a:t> is </a:t>
            </a: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currently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either IX or IS mode.</a:t>
            </a: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4.   </a:t>
            </a:r>
            <a:r>
              <a:rPr lang="en-US" altLang="en-US" dirty="0"/>
              <a:t>A node </a:t>
            </a:r>
            <a:r>
              <a:rPr lang="en-US" altLang="en-US" i="1" dirty="0"/>
              <a:t>Q</a:t>
            </a:r>
            <a:r>
              <a:rPr lang="en-US" altLang="en-US" dirty="0"/>
              <a:t> can be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X, SIX, or IX mode only if the parent </a:t>
            </a:r>
            <a:endParaRPr lang="en-US" altLang="en-US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/>
              <a:t>      of </a:t>
            </a:r>
            <a:r>
              <a:rPr lang="en-US" altLang="en-US" i="1" dirty="0"/>
              <a:t>Q</a:t>
            </a:r>
            <a:r>
              <a:rPr lang="en-US" altLang="en-US" dirty="0"/>
              <a:t> is currently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either IX or SIX mode.</a:t>
            </a:r>
            <a:endParaRPr lang="en-US" altLang="en-US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5.  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lock a node only if it has not previously unlocked any node (that </a:t>
            </a:r>
            <a:endParaRPr lang="en-US" altLang="en-US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/>
              <a:t>      is,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is two-phase).</a:t>
            </a:r>
            <a:endParaRPr lang="en-US" altLang="en-US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6.  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can unlock a node </a:t>
            </a:r>
            <a:r>
              <a:rPr lang="en-US" altLang="en-US" i="1" dirty="0"/>
              <a:t>Q</a:t>
            </a:r>
            <a:r>
              <a:rPr lang="en-US" altLang="en-US" dirty="0"/>
              <a:t> only if none of the children of </a:t>
            </a:r>
            <a:r>
              <a:rPr lang="en-US" altLang="en-US" i="1" dirty="0"/>
              <a:t>Q</a:t>
            </a:r>
            <a:r>
              <a:rPr lang="en-US" altLang="en-US" dirty="0"/>
              <a:t> are currently </a:t>
            </a: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Observe that locks are acquired in root-to-leaf order, whereas they are released in leaf-to-root order.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Lock granularity escalation</a:t>
            </a:r>
            <a:r>
              <a:rPr lang="en-US" altLang="en-US" dirty="0"/>
              <a:t>: in case there are too many locks at a particular level, switch to higher granularity S or X lock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57143"/>
            <a:ext cx="7882491" cy="659584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Insert/Delete Operations and Predicate Reads</a:t>
            </a:r>
            <a:endParaRPr 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42996"/>
            <a:ext cx="7608164" cy="50988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Locking rules for insert/delete operations</a:t>
            </a:r>
            <a:endParaRPr lang="en-US" altLang="en-US" sz="2000" dirty="0"/>
          </a:p>
          <a:p>
            <a:pPr marL="800100" lvl="1">
              <a:lnSpc>
                <a:spcPct val="90000"/>
              </a:lnSpc>
            </a:pPr>
            <a:r>
              <a:rPr lang="en-US" altLang="en-US" sz="2000" dirty="0"/>
              <a:t>An exclusive lock must be obtained on an item before it is deleted</a:t>
            </a:r>
            <a:endParaRPr lang="en-US" altLang="en-US" sz="2000" dirty="0"/>
          </a:p>
          <a:p>
            <a:pPr marL="800100" lvl="1">
              <a:lnSpc>
                <a:spcPct val="90000"/>
              </a:lnSpc>
            </a:pPr>
            <a:r>
              <a:rPr lang="en-US" altLang="en-US" sz="2000" dirty="0"/>
              <a:t>A transaction that inserts a new tuple into the database I automatically given an X-mode lock on the tuple</a:t>
            </a:r>
            <a:endParaRPr lang="en-US" altLang="en-US" sz="2000" dirty="0"/>
          </a:p>
          <a:p>
            <a:pPr marL="400050">
              <a:lnSpc>
                <a:spcPct val="90000"/>
              </a:lnSpc>
            </a:pPr>
            <a:r>
              <a:rPr lang="en-US" altLang="en-US" sz="2000" dirty="0"/>
              <a:t>Ensures that </a:t>
            </a:r>
            <a:endParaRPr lang="en-US" altLang="en-US" sz="2000" dirty="0"/>
          </a:p>
          <a:p>
            <a:pPr marL="800100" lvl="1">
              <a:lnSpc>
                <a:spcPct val="90000"/>
              </a:lnSpc>
            </a:pPr>
            <a:r>
              <a:rPr lang="en-US" altLang="en-US" sz="2000" dirty="0"/>
              <a:t>reads/writes conflict with deletes</a:t>
            </a:r>
            <a:endParaRPr lang="en-US" altLang="en-US" sz="2000" dirty="0"/>
          </a:p>
          <a:p>
            <a:pPr marL="800100" lvl="1">
              <a:lnSpc>
                <a:spcPct val="90000"/>
              </a:lnSpc>
            </a:pPr>
            <a:r>
              <a:rPr lang="en-US" altLang="en-US" sz="2000" dirty="0"/>
              <a:t>Inserted tuple is not accessible by other transactions until the transaction that inserts the tuple commits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Phantom Phenomenon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Example of </a:t>
            </a:r>
            <a:r>
              <a:rPr lang="en-US" altLang="en-US" sz="1800" b="1" dirty="0">
                <a:solidFill>
                  <a:srgbClr val="002060"/>
                </a:solidFill>
              </a:rPr>
              <a:t>phantom phenomenon</a:t>
            </a:r>
            <a:r>
              <a:rPr lang="en-US" altLang="en-US" sz="1800" dirty="0"/>
              <a:t>.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 transaction T1 that performs </a:t>
            </a:r>
            <a:r>
              <a:rPr lang="en-US" altLang="en-US" sz="1800" b="1" dirty="0">
                <a:solidFill>
                  <a:srgbClr val="002060"/>
                </a:solidFill>
              </a:rPr>
              <a:t>predicate read </a:t>
            </a:r>
            <a:r>
              <a:rPr lang="en-US" altLang="en-US" sz="1800" dirty="0"/>
              <a:t> (or scan) of a relation </a:t>
            </a:r>
            <a:endParaRPr lang="en-US" altLang="en-US" sz="1800" dirty="0"/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 </a:t>
            </a:r>
            <a:r>
              <a:rPr lang="en-US" altLang="en-US" sz="1800" b="1" dirty="0"/>
              <a:t>select</a:t>
            </a:r>
            <a:r>
              <a:rPr lang="en-US" altLang="en-US" sz="1800" dirty="0"/>
              <a:t> </a:t>
            </a:r>
            <a:r>
              <a:rPr lang="en-US" altLang="en-US" sz="1800" b="1" dirty="0"/>
              <a:t>count</a:t>
            </a:r>
            <a:r>
              <a:rPr lang="en-US" altLang="en-US" sz="1800" dirty="0"/>
              <a:t>(*)</a:t>
            </a:r>
            <a:br>
              <a:rPr lang="en-US" altLang="en-US" sz="1800" dirty="0"/>
            </a:br>
            <a:r>
              <a:rPr lang="en-US" altLang="en-US" sz="1800" dirty="0"/>
              <a:t>   </a:t>
            </a:r>
            <a:r>
              <a:rPr lang="en-US" altLang="en-US" sz="1800" b="1" dirty="0"/>
              <a:t>from</a:t>
            </a:r>
            <a:r>
              <a:rPr lang="en-US" altLang="en-US" sz="1800" dirty="0"/>
              <a:t> </a:t>
            </a:r>
            <a:r>
              <a:rPr lang="en-US" altLang="en-US" sz="1800" i="1" dirty="0"/>
              <a:t>instructor</a:t>
            </a:r>
            <a:br>
              <a:rPr lang="en-US" altLang="en-US" sz="1800" dirty="0"/>
            </a:br>
            <a:r>
              <a:rPr lang="en-US" altLang="en-US" sz="1800" dirty="0"/>
              <a:t>   </a:t>
            </a:r>
            <a:r>
              <a:rPr lang="en-US" altLang="en-US" sz="1800" b="1" dirty="0"/>
              <a:t>where</a:t>
            </a:r>
            <a:r>
              <a:rPr lang="en-US" altLang="en-US" sz="1800" dirty="0"/>
              <a:t> </a:t>
            </a:r>
            <a:r>
              <a:rPr lang="en-US" altLang="en-US" sz="1800" i="1" dirty="0"/>
              <a:t>dept_name </a:t>
            </a:r>
            <a:r>
              <a:rPr lang="en-US" altLang="en-US" sz="1800" dirty="0"/>
              <a:t>= 'Physics'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and a transaction T2 that inserts a tuple while T1 is active but after predicate read </a:t>
            </a:r>
            <a:endParaRPr lang="en-US" altLang="en-US" sz="1800" dirty="0"/>
          </a:p>
          <a:p>
            <a:pPr lvl="2">
              <a:lnSpc>
                <a:spcPct val="90000"/>
              </a:lnSpc>
            </a:pPr>
            <a:r>
              <a:rPr lang="en-US" altLang="en-US" sz="1800" b="1" dirty="0"/>
              <a:t>insert into</a:t>
            </a:r>
            <a:r>
              <a:rPr lang="en-US" altLang="en-US" sz="1800" dirty="0"/>
              <a:t> </a:t>
            </a:r>
            <a:r>
              <a:rPr lang="en-US" altLang="en-US" sz="1800" i="1" dirty="0"/>
              <a:t>instructor</a:t>
            </a:r>
            <a:r>
              <a:rPr lang="en-US" altLang="en-US" sz="1800" dirty="0"/>
              <a:t> </a:t>
            </a:r>
            <a:r>
              <a:rPr lang="en-US" altLang="en-US" sz="1800" b="1" dirty="0"/>
              <a:t>values</a:t>
            </a:r>
            <a:r>
              <a:rPr lang="en-US" altLang="en-US" sz="1800" dirty="0"/>
              <a:t> ('11111', 'Feynman', 'Physics', 94000)</a:t>
            </a:r>
            <a:endParaRPr lang="en-US" altLang="en-US" sz="1800" dirty="0"/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en-US" sz="1800" dirty="0"/>
              <a:t>(conceptually) conflict in spite of not accessing any tuple in common.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If only tuple locks are used, non-serializable schedules can result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E.g. the scan transaction does not see the new instructor, but may read some other tuple written by the update transaction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Can also occur with updates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E.g. update Wu’s department from Finance to Physics</a:t>
            </a: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57143"/>
            <a:ext cx="7882491" cy="659584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Insert/Delete Operations and Predicate Reads</a:t>
            </a:r>
            <a:endParaRPr 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42996"/>
            <a:ext cx="7608164" cy="50988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Another Example</a:t>
            </a:r>
            <a:r>
              <a:rPr lang="en-US" altLang="en-US" sz="2000" dirty="0"/>
              <a:t>:  T1 and T2 both find maximum instructor ID in </a:t>
            </a:r>
            <a:r>
              <a:rPr lang="en-US" altLang="en-US" sz="2000" dirty="0" smtClean="0"/>
              <a:t>parallel</a:t>
            </a:r>
            <a:r>
              <a:rPr lang="en-US" altLang="en-US" sz="2000" dirty="0"/>
              <a:t>, and create new instructors with ID = maximum ID + 1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Both instructors get same ID, not possible in serializable schedule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Schedule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2859" y="2975524"/>
            <a:ext cx="5076825" cy="31329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Phantoms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87076" y="824201"/>
            <a:ext cx="8558474" cy="5367972"/>
          </a:xfrm>
        </p:spPr>
        <p:txBody>
          <a:bodyPr/>
          <a:lstStyle/>
          <a:p>
            <a:r>
              <a:rPr lang="en-US" altLang="en-US" sz="2000" dirty="0"/>
              <a:t>There is a conflict at the data level</a:t>
            </a:r>
            <a:endParaRPr lang="en-US" altLang="en-US" sz="2000" dirty="0"/>
          </a:p>
          <a:p>
            <a:pPr lvl="1"/>
            <a:r>
              <a:rPr lang="en-US" altLang="en-US" sz="2000" dirty="0"/>
              <a:t>The transaction performing predicate read or scanning the relation is reading information that indicates what tuples the relation contains</a:t>
            </a:r>
            <a:endParaRPr lang="en-US" altLang="en-US" sz="2000" dirty="0"/>
          </a:p>
          <a:p>
            <a:pPr lvl="1"/>
            <a:r>
              <a:rPr lang="en-US" altLang="en-US" sz="2000" dirty="0"/>
              <a:t>The transaction inserting/deleting/updating a tuple updates the same information.</a:t>
            </a:r>
            <a:endParaRPr lang="en-US" altLang="en-US" sz="2000" dirty="0"/>
          </a:p>
          <a:p>
            <a:pPr lvl="1"/>
            <a:r>
              <a:rPr lang="en-US" altLang="en-US" sz="2000" dirty="0"/>
              <a:t>The conflict should be detected, e.g. by locking the information.</a:t>
            </a:r>
            <a:endParaRPr lang="en-US" altLang="en-US" sz="2000" dirty="0"/>
          </a:p>
          <a:p>
            <a:r>
              <a:rPr lang="en-US" altLang="en-US" sz="2000" dirty="0"/>
              <a:t>One solution: </a:t>
            </a:r>
            <a:endParaRPr lang="en-US" altLang="en-US" sz="2000" dirty="0"/>
          </a:p>
          <a:p>
            <a:pPr lvl="1"/>
            <a:r>
              <a:rPr lang="en-US" altLang="en-US" sz="2000" dirty="0"/>
              <a:t>Associate a data item with the relation, to represent the information about what tuples the relation contains.</a:t>
            </a:r>
            <a:endParaRPr lang="en-US" altLang="en-US" sz="2000" dirty="0"/>
          </a:p>
          <a:p>
            <a:pPr lvl="1"/>
            <a:r>
              <a:rPr lang="en-US" altLang="en-US" sz="2000" dirty="0"/>
              <a:t>Transactions scanning the relation acquire a shared lock in the data item, </a:t>
            </a:r>
            <a:endParaRPr lang="en-US" altLang="en-US" sz="2000" dirty="0"/>
          </a:p>
          <a:p>
            <a:pPr lvl="1"/>
            <a:r>
              <a:rPr lang="en-US" altLang="en-US" sz="2000" dirty="0"/>
              <a:t>Transactions inserting or deleting a tuple acquire an exclusive lock on the data item. (Note: locks on the data item do not conflict with locks on individual tuples.)</a:t>
            </a:r>
            <a:endParaRPr lang="en-US" altLang="en-US" sz="2000" dirty="0"/>
          </a:p>
          <a:p>
            <a:r>
              <a:rPr lang="en-US" altLang="en-US" sz="2000" dirty="0"/>
              <a:t>Above protocol provides very low concurrency for insertions/deletions.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Locking To Prevent Phantoms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830106" cy="5503786"/>
          </a:xfrm>
        </p:spPr>
        <p:txBody>
          <a:bodyPr/>
          <a:lstStyle/>
          <a:p>
            <a:r>
              <a:rPr lang="en-US" altLang="en-US" sz="1800" b="1" dirty="0">
                <a:solidFill>
                  <a:srgbClr val="002060"/>
                </a:solidFill>
              </a:rPr>
              <a:t>Index locking protocol </a:t>
            </a:r>
            <a:r>
              <a:rPr lang="en-US" altLang="en-US" sz="1800" dirty="0"/>
              <a:t>to prevent phantoms</a:t>
            </a:r>
            <a:endParaRPr lang="en-US" altLang="en-US" sz="1800" dirty="0"/>
          </a:p>
          <a:p>
            <a:pPr lvl="1"/>
            <a:r>
              <a:rPr lang="en-US" altLang="en-US" sz="1800" dirty="0"/>
              <a:t>Every relation must have at least one index. </a:t>
            </a:r>
            <a:endParaRPr lang="en-US" altLang="en-US" sz="1800" dirty="0"/>
          </a:p>
          <a:p>
            <a:pPr lvl="1"/>
            <a:r>
              <a:rPr lang="en-US" altLang="en-US" sz="1800" dirty="0"/>
              <a:t>A transaction can access tuples only after finding them through one or more indices on the relation</a:t>
            </a:r>
            <a:endParaRPr lang="en-US" altLang="en-US" sz="1800" dirty="0"/>
          </a:p>
          <a:p>
            <a:pPr lvl="1"/>
            <a:r>
              <a:rPr lang="en-US" altLang="en-US" sz="1800" dirty="0"/>
              <a:t>A transaction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dirty="0"/>
              <a:t> that performs a lookup must lock all the index leaf nodes that it accesses, in S-mode</a:t>
            </a:r>
            <a:endParaRPr lang="en-US" altLang="en-US" sz="1800" dirty="0"/>
          </a:p>
          <a:p>
            <a:pPr lvl="2"/>
            <a:r>
              <a:rPr lang="en-US" altLang="en-US" sz="1800" dirty="0"/>
              <a:t>Even if the leaf node does not contain any tuple satisfying the index lookup (e.g. for a range query, no tuple in a leaf is in the range)</a:t>
            </a:r>
            <a:endParaRPr lang="en-US" altLang="en-US" sz="1800" dirty="0"/>
          </a:p>
          <a:p>
            <a:pPr lvl="1"/>
            <a:r>
              <a:rPr lang="en-US" altLang="en-US" sz="1800" dirty="0"/>
              <a:t>A transaction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dirty="0"/>
              <a:t> that inserts, updates or deletes a tuple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dirty="0"/>
              <a:t> in a relation </a:t>
            </a:r>
            <a:r>
              <a:rPr lang="en-US" altLang="en-US" sz="1800" i="1" dirty="0"/>
              <a:t>r</a:t>
            </a:r>
            <a:r>
              <a:rPr lang="en-US" altLang="en-US" sz="1800" dirty="0"/>
              <a:t> </a:t>
            </a:r>
            <a:endParaRPr lang="en-US" altLang="en-US" sz="1800" dirty="0"/>
          </a:p>
          <a:p>
            <a:pPr lvl="2"/>
            <a:r>
              <a:rPr lang="en-US" altLang="en-US" sz="1800" dirty="0"/>
              <a:t>Must update all indices to </a:t>
            </a:r>
            <a:r>
              <a:rPr lang="en-US" altLang="en-US" sz="1800" i="1" dirty="0"/>
              <a:t>r</a:t>
            </a:r>
            <a:endParaRPr lang="en-US" altLang="en-US" sz="1800" dirty="0"/>
          </a:p>
          <a:p>
            <a:pPr lvl="2"/>
            <a:r>
              <a:rPr lang="en-US" altLang="en-US" sz="1800" dirty="0"/>
              <a:t>Must obtain exclusive locks on all index leaf nodes affected by the insert/update/delete</a:t>
            </a:r>
            <a:endParaRPr lang="en-US" altLang="en-US" sz="1800" dirty="0"/>
          </a:p>
          <a:p>
            <a:pPr lvl="1"/>
            <a:r>
              <a:rPr lang="en-US" altLang="en-US" sz="1800" dirty="0"/>
              <a:t>The rules of the two-phase locking protocol must be observed</a:t>
            </a:r>
            <a:endParaRPr lang="en-US" altLang="en-US" sz="1800" dirty="0"/>
          </a:p>
          <a:p>
            <a:r>
              <a:rPr lang="en-US" altLang="en-US" sz="1800" dirty="0"/>
              <a:t>Guarantees that phantom phenomenon won</a:t>
            </a:r>
            <a:r>
              <a:rPr lang="en-IN" altLang="en-US" sz="1800" dirty="0"/>
              <a:t>’</a:t>
            </a:r>
            <a:r>
              <a:rPr lang="en-US" altLang="ja-JP" sz="1800" dirty="0"/>
              <a:t>t occur</a:t>
            </a: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Next-Key Locking to Prevent Phantoms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8188602" cy="5367972"/>
          </a:xfrm>
        </p:spPr>
        <p:txBody>
          <a:bodyPr/>
          <a:lstStyle/>
          <a:p>
            <a:r>
              <a:rPr lang="en-US" altLang="en-US" sz="2000" dirty="0"/>
              <a:t>Index-locking protocol to prevent phantoms locks entire leaf node</a:t>
            </a:r>
            <a:endParaRPr lang="en-US" altLang="en-US" sz="2000" dirty="0"/>
          </a:p>
          <a:p>
            <a:pPr lvl="1"/>
            <a:r>
              <a:rPr lang="en-US" altLang="en-US" sz="2000" dirty="0"/>
              <a:t>Can result in poor concurrency if there are many inserts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Next-key locking protocol</a:t>
            </a:r>
            <a:r>
              <a:rPr lang="en-US" altLang="en-US" sz="2000" dirty="0"/>
              <a:t>: provides higher concurrency</a:t>
            </a:r>
            <a:endParaRPr lang="en-US" altLang="en-US" sz="2000" dirty="0"/>
          </a:p>
          <a:p>
            <a:pPr lvl="1"/>
            <a:r>
              <a:rPr lang="en-US" altLang="en-US" sz="2000" dirty="0"/>
              <a:t>Lock all values that satisfy index lookup (match lookup value, or fall in lookup range)</a:t>
            </a:r>
            <a:endParaRPr lang="en-US" altLang="en-US" sz="2000" dirty="0"/>
          </a:p>
          <a:p>
            <a:pPr lvl="1"/>
            <a:r>
              <a:rPr lang="en-US" altLang="en-US" sz="2000" dirty="0"/>
              <a:t>Also lock next key value in index</a:t>
            </a:r>
            <a:endParaRPr lang="en-US" altLang="en-US" sz="2000" dirty="0"/>
          </a:p>
          <a:p>
            <a:pPr lvl="2"/>
            <a:r>
              <a:rPr lang="en-US" altLang="en-US" sz="2000" dirty="0"/>
              <a:t>even for inserts/deletes</a:t>
            </a:r>
            <a:endParaRPr lang="en-US" altLang="en-US" sz="2000" dirty="0"/>
          </a:p>
          <a:p>
            <a:pPr lvl="1"/>
            <a:r>
              <a:rPr lang="en-US" altLang="en-US" sz="2000" dirty="0"/>
              <a:t>Lock mode: S for lookups, X for insert/delete/update</a:t>
            </a:r>
            <a:endParaRPr lang="en-US" altLang="en-US" sz="2000" dirty="0"/>
          </a:p>
          <a:p>
            <a:r>
              <a:rPr lang="en-US" altLang="en-US" sz="2000" dirty="0"/>
              <a:t>Ensures detection of query conflicts with inserts, deletes and updates</a:t>
            </a:r>
            <a:endParaRPr lang="en-US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70310" y="4973091"/>
                <a:ext cx="83752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Consider B+-tree leaf nodes as below, with query predicate 7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dirty="0"/>
                  <a:t> X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000" dirty="0"/>
                  <a:t> 16.  </a:t>
                </a:r>
                <a:br>
                  <a:rPr lang="en-IN" sz="2000" dirty="0"/>
                </a:br>
                <a:r>
                  <a:rPr lang="en-IN" sz="2000" dirty="0"/>
                  <a:t>Check what happens with next-key locking when inserting: (</a:t>
                </a:r>
                <a:r>
                  <a:rPr lang="en-IN" sz="2000" dirty="0" err="1"/>
                  <a:t>i</a:t>
                </a:r>
                <a:r>
                  <a:rPr lang="en-IN" sz="2000" dirty="0"/>
                  <a:t>) 15 and (ii) 7</a:t>
                </a:r>
                <a:endParaRPr lang="en-IN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10" y="4973091"/>
                <a:ext cx="8375240" cy="1015663"/>
              </a:xfrm>
              <a:prstGeom prst="rect">
                <a:avLst/>
              </a:prstGeom>
              <a:blipFill rotWithShape="1">
                <a:blip r:embed="rId1"/>
                <a:stretch>
                  <a:fillRect l="-5" t="-40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073" y="5877186"/>
            <a:ext cx="446722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9" y="2719148"/>
            <a:ext cx="7928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Timestamp Based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96940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Each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baseline="-25000" dirty="0"/>
              <a:t>  </a:t>
            </a:r>
            <a:r>
              <a:rPr lang="en-US" altLang="en-US" sz="2000" dirty="0"/>
              <a:t>is issued a timestamp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when it enters the system.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Each transaction has a </a:t>
            </a:r>
            <a:r>
              <a:rPr lang="en-US" altLang="en-US" sz="2000" i="1" dirty="0"/>
              <a:t>unique</a:t>
            </a:r>
            <a:r>
              <a:rPr lang="en-US" altLang="en-US" sz="2000" dirty="0"/>
              <a:t> timestamp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Timestamp </a:t>
            </a:r>
            <a:r>
              <a:rPr lang="en-US" altLang="en-US" sz="2000" dirty="0"/>
              <a:t>could be based on a logical counter</a:t>
            </a:r>
            <a:endParaRPr lang="en-US" altLang="en-US" sz="2000" dirty="0"/>
          </a:p>
          <a:p>
            <a:pPr lvl="2">
              <a:lnSpc>
                <a:spcPct val="110000"/>
              </a:lnSpc>
            </a:pPr>
            <a:r>
              <a:rPr lang="en-US" altLang="en-US" sz="2000" dirty="0"/>
              <a:t>Real time may not be unique</a:t>
            </a:r>
            <a:endParaRPr lang="en-US" altLang="en-US" sz="2000" dirty="0"/>
          </a:p>
          <a:p>
            <a:pPr lvl="2">
              <a:lnSpc>
                <a:spcPct val="110000"/>
              </a:lnSpc>
            </a:pPr>
            <a:r>
              <a:rPr lang="en-US" altLang="en-US" sz="2000" dirty="0"/>
              <a:t>Can use (wall-clock time, logical counter) to ensure 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Timestamp-based protocols manage concurrent execution such that </a:t>
            </a:r>
            <a:br>
              <a:rPr lang="en-US" altLang="en-US" sz="2000" dirty="0"/>
            </a:br>
            <a:r>
              <a:rPr lang="en-US" altLang="en-US" sz="2000" dirty="0"/>
              <a:t>      </a:t>
            </a:r>
            <a:r>
              <a:rPr lang="en-US" altLang="en-US" sz="2000" b="1" dirty="0"/>
              <a:t>time-stamp order = </a:t>
            </a:r>
            <a:r>
              <a:rPr lang="en-US" altLang="en-US" sz="2000" b="1" dirty="0" err="1"/>
              <a:t>serializability</a:t>
            </a:r>
            <a:r>
              <a:rPr lang="en-US" altLang="en-US" sz="2000" b="1" dirty="0"/>
              <a:t> </a:t>
            </a:r>
            <a:r>
              <a:rPr lang="en-US" altLang="en-US" sz="2000" b="1" dirty="0" smtClean="0"/>
              <a:t>order</a:t>
            </a:r>
            <a:endParaRPr lang="en-US" altLang="en-US" sz="2000" b="1" dirty="0" smtClean="0"/>
          </a:p>
          <a:p>
            <a:endParaRPr lang="zh-CN" altLang="en-US" dirty="0"/>
          </a:p>
          <a:p>
            <a:r>
              <a:rPr lang="en-US" altLang="zh-CN" sz="2000" dirty="0"/>
              <a:t>If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TS(</a:t>
            </a:r>
            <a:r>
              <a:rPr lang="en-US" altLang="en-US" sz="2000" b="1" i="1" dirty="0" err="1">
                <a:solidFill>
                  <a:srgbClr val="FF0000"/>
                </a:solidFill>
              </a:rPr>
              <a:t>T</a:t>
            </a:r>
            <a:r>
              <a:rPr lang="en-US" altLang="en-US" sz="2000" b="1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)&lt; TS(</a:t>
            </a:r>
            <a:r>
              <a:rPr lang="en-US" altLang="en-US" sz="2000" b="1" i="1" dirty="0" err="1" smtClean="0">
                <a:solidFill>
                  <a:srgbClr val="FF0000"/>
                </a:solidFill>
              </a:rPr>
              <a:t>T</a:t>
            </a:r>
            <a:r>
              <a:rPr lang="en-US" altLang="en-US" sz="2000" b="1" i="1" baseline="-25000" dirty="0" err="1" smtClean="0">
                <a:solidFill>
                  <a:srgbClr val="FF0000"/>
                </a:solidFill>
              </a:rPr>
              <a:t>j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), </a:t>
            </a:r>
            <a:r>
              <a:rPr lang="en-US" altLang="zh-CN" sz="2000" dirty="0"/>
              <a:t>then the DBMS must ensure that the execution schedule is equivalent to a serial schedule where </a:t>
            </a:r>
            <a:r>
              <a:rPr lang="en-US" altLang="en-US" sz="2000" b="1" i="1" dirty="0" err="1" smtClean="0">
                <a:solidFill>
                  <a:srgbClr val="FF0000"/>
                </a:solidFill>
              </a:rPr>
              <a:t>T</a:t>
            </a:r>
            <a:r>
              <a:rPr lang="en-US" altLang="en-US" sz="2000" b="1" i="1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en-US" sz="2000" b="1" i="1" baseline="-25000" dirty="0" smtClean="0">
                <a:solidFill>
                  <a:srgbClr val="FF0000"/>
                </a:solidFill>
              </a:rPr>
              <a:t>  </a:t>
            </a:r>
            <a:r>
              <a:rPr lang="en-US" altLang="zh-CN" sz="2000" dirty="0" smtClean="0"/>
              <a:t>appears </a:t>
            </a:r>
            <a:r>
              <a:rPr lang="en-US" altLang="zh-CN" sz="2000" dirty="0"/>
              <a:t>before </a:t>
            </a:r>
            <a:r>
              <a:rPr lang="en-US" altLang="en-US" sz="2000" b="1" i="1" dirty="0" err="1">
                <a:solidFill>
                  <a:srgbClr val="FF0000"/>
                </a:solidFill>
              </a:rPr>
              <a:t>T</a:t>
            </a:r>
            <a:r>
              <a:rPr lang="en-US" altLang="en-US" sz="2000" b="1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000" dirty="0" smtClean="0"/>
              <a:t>.</a:t>
            </a:r>
            <a:endParaRPr lang="en-US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Timestamp-Ordering Protocol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688062" cy="5367972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timestamp ordering (TSO) protocol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000" dirty="0"/>
              <a:t>Maintains for each data </a:t>
            </a:r>
            <a:r>
              <a:rPr lang="en-US" altLang="en-US" sz="2000" i="1" dirty="0"/>
              <a:t>Q </a:t>
            </a:r>
            <a:r>
              <a:rPr lang="en-US" altLang="en-US" sz="2000" dirty="0"/>
              <a:t>two timestamp values: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b="1" dirty="0"/>
              <a:t>W-timestamp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is the largest time-stamp of any transaction that executed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successfully.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b="1" dirty="0"/>
              <a:t>R-timestamp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is the largest time-stamp of any transaction that executed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successfully</a:t>
            </a:r>
            <a:r>
              <a:rPr lang="en-US" altLang="en-US" sz="2000" dirty="0" smtClean="0"/>
              <a:t>.</a:t>
            </a:r>
            <a:endParaRPr lang="en-US" altLang="en-US" sz="2000" dirty="0" smtClean="0"/>
          </a:p>
          <a:p>
            <a:pPr marL="342900" lvl="1" indent="-342900">
              <a:lnSpc>
                <a:spcPct val="11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2000" dirty="0"/>
              <a:t>Check timestamps for every operation: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dirty="0" smtClean="0">
                <a:solidFill>
                  <a:srgbClr val="0070C0"/>
                </a:solidFill>
              </a:rPr>
              <a:t>If </a:t>
            </a:r>
            <a:r>
              <a:rPr lang="en-US" altLang="en-US" sz="2000" dirty="0" err="1">
                <a:solidFill>
                  <a:srgbClr val="0070C0"/>
                </a:solidFill>
              </a:rPr>
              <a:t>txn</a:t>
            </a:r>
            <a:r>
              <a:rPr lang="en-US" altLang="en-US" sz="2000" dirty="0">
                <a:solidFill>
                  <a:srgbClr val="0070C0"/>
                </a:solidFill>
              </a:rPr>
              <a:t> tries to access an object "from the future", it </a:t>
            </a:r>
            <a:r>
              <a:rPr lang="en-US" altLang="en-US" sz="2000" dirty="0" smtClean="0">
                <a:solidFill>
                  <a:srgbClr val="0070C0"/>
                </a:solidFill>
              </a:rPr>
              <a:t>aborts and </a:t>
            </a:r>
            <a:r>
              <a:rPr lang="en-US" altLang="en-US" sz="2000" dirty="0">
                <a:solidFill>
                  <a:srgbClr val="0070C0"/>
                </a:solidFill>
              </a:rPr>
              <a:t>restarts.</a:t>
            </a:r>
            <a:endParaRPr lang="en-US" altLang="en-US" sz="2000" dirty="0">
              <a:solidFill>
                <a:srgbClr val="0070C0"/>
              </a:solidFill>
            </a:endParaRPr>
          </a:p>
          <a:p>
            <a:r>
              <a:rPr lang="en-US" altLang="en-US" sz="2000" dirty="0"/>
              <a:t>Imposes rules on read and write operations to ensure that </a:t>
            </a:r>
            <a:endParaRPr lang="en-US" altLang="en-US" sz="2000" dirty="0"/>
          </a:p>
          <a:p>
            <a:pPr lvl="1"/>
            <a:r>
              <a:rPr lang="en-US" altLang="en-US" sz="2000" dirty="0"/>
              <a:t>Any conflicting </a:t>
            </a:r>
            <a:r>
              <a:rPr lang="en-US" altLang="en-US" sz="2000" b="1" dirty="0"/>
              <a:t> </a:t>
            </a:r>
            <a:r>
              <a:rPr lang="en-US" altLang="en-US" sz="2000" dirty="0"/>
              <a:t>operations are executed in timestamp order</a:t>
            </a:r>
            <a:endParaRPr lang="en-US" altLang="en-US" sz="2000" dirty="0"/>
          </a:p>
          <a:p>
            <a:pPr lvl="1"/>
            <a:r>
              <a:rPr lang="en-US" altLang="en-US" sz="2000" dirty="0"/>
              <a:t>Out of order operations cause transaction rollback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14695" cy="5367972"/>
          </a:xfrm>
        </p:spPr>
        <p:txBody>
          <a:bodyPr/>
          <a:lstStyle/>
          <a:p>
            <a:r>
              <a:rPr lang="en-US" altLang="en-US" sz="2000" dirty="0"/>
              <a:t>Suppose a transaction T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issues a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marL="0" indent="0">
              <a:buNone/>
            </a:pP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1.</a:t>
            </a:r>
            <a:r>
              <a:rPr lang="en-US" altLang="en-US" dirty="0"/>
              <a:t>   </a:t>
            </a:r>
            <a:r>
              <a:rPr lang="en-US" altLang="en-US" sz="2000" dirty="0"/>
              <a:t>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</a:t>
            </a:r>
            <a:r>
              <a:rPr lang="en-US" altLang="en-US" sz="2000" dirty="0">
                <a:sym typeface="Symbol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b="1" dirty="0"/>
              <a:t>W</a:t>
            </a:r>
            <a:r>
              <a:rPr lang="en-US" altLang="en-US" sz="2000" dirty="0"/>
              <a:t>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needs to read a value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  that </a:t>
            </a:r>
            <a:r>
              <a:rPr lang="en-US" altLang="en-US" sz="2000" dirty="0" smtClean="0"/>
              <a:t>was </a:t>
            </a:r>
            <a:r>
              <a:rPr lang="en-US" altLang="en-US" sz="2000" dirty="0"/>
              <a:t>already overwritten.</a:t>
            </a:r>
            <a:endParaRPr lang="en-US" altLang="en-US" sz="2000" dirty="0"/>
          </a:p>
          <a:p>
            <a:pPr lvl="2"/>
            <a:r>
              <a:rPr lang="en-US" altLang="en-US" sz="2000" dirty="0"/>
              <a:t>Hence, the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 operation is rejected,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 is rolled back.</a:t>
            </a:r>
            <a:endParaRPr lang="en-US" altLang="en-US" sz="2000" dirty="0"/>
          </a:p>
          <a:p>
            <a:pPr marL="857250" lvl="2" indent="0">
              <a:buNone/>
            </a:pPr>
            <a:endParaRPr lang="en-US" altLang="en-US" sz="20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2.   </a:t>
            </a:r>
            <a:r>
              <a:rPr lang="en-US" altLang="en-US" sz="2000" dirty="0"/>
              <a:t>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</a:t>
            </a:r>
            <a:r>
              <a:rPr lang="en-US" altLang="en-US" sz="2000" b="1" dirty="0">
                <a:sym typeface="Symbol" charset="2"/>
              </a:rPr>
              <a:t></a:t>
            </a:r>
            <a:r>
              <a:rPr lang="en-US" altLang="en-US" sz="2000" dirty="0">
                <a:sym typeface="Symbol" charset="2"/>
              </a:rPr>
              <a:t> </a:t>
            </a:r>
            <a:r>
              <a:rPr lang="en-US" altLang="en-US" sz="2000" dirty="0"/>
              <a:t> </a:t>
            </a:r>
            <a:r>
              <a:rPr lang="en-US" altLang="en-US" sz="2000" b="1" dirty="0"/>
              <a:t>W</a:t>
            </a:r>
            <a:r>
              <a:rPr lang="en-US" altLang="en-US" sz="2000" dirty="0"/>
              <a:t>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 the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 operation is executed, </a:t>
            </a:r>
            <a:r>
              <a:rPr lang="en-US" altLang="en-US" sz="2000" dirty="0" smtClean="0"/>
              <a:t>and R-timestamp(</a:t>
            </a:r>
            <a:r>
              <a:rPr lang="en-US" altLang="en-US" sz="2000" i="1" dirty="0" smtClean="0"/>
              <a:t>Q</a:t>
            </a:r>
            <a:r>
              <a:rPr lang="en-US" altLang="en-US" sz="2000" dirty="0" smtClean="0"/>
              <a:t>) is set to </a:t>
            </a:r>
            <a:endParaRPr lang="en-US" altLang="en-US" sz="2000" dirty="0" smtClean="0"/>
          </a:p>
          <a:p>
            <a:pPr marL="800100" lvl="1" indent="-342900">
              <a:buFont typeface="Monotype Sorts" pitchFamily="-65" charset="2"/>
              <a:buNone/>
            </a:pPr>
            <a:r>
              <a:rPr lang="en-US" altLang="en-US" sz="2000" b="1" dirty="0" smtClean="0"/>
              <a:t>                 </a:t>
            </a:r>
            <a:r>
              <a:rPr lang="en-US" altLang="en-US" sz="2000" b="1" dirty="0"/>
              <a:t>max</a:t>
            </a:r>
            <a:r>
              <a:rPr lang="en-US" altLang="en-US" sz="2000" dirty="0"/>
              <a:t>(R-timestamp(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)).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63702" y="973288"/>
            <a:ext cx="7688063" cy="5367972"/>
          </a:xfrm>
        </p:spPr>
        <p:txBody>
          <a:bodyPr/>
          <a:lstStyle/>
          <a:p>
            <a:r>
              <a:rPr lang="en-US" altLang="en-US" sz="2000" dirty="0"/>
              <a:t>Suppose that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issues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).</a:t>
            </a:r>
            <a:endParaRPr lang="en-US" altLang="en-US" sz="2000" dirty="0"/>
          </a:p>
          <a:p>
            <a:endParaRPr lang="en-US" altLang="en-US" sz="20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1.</a:t>
            </a:r>
            <a:r>
              <a:rPr lang="en-US" altLang="en-US" sz="2000" dirty="0"/>
              <a:t>   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&lt; R-timestamp(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 the value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 that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</a:t>
            </a:r>
            <a:r>
              <a:rPr lang="en-US" altLang="en-US" sz="2000" dirty="0" smtClean="0"/>
              <a:t>producing was </a:t>
            </a:r>
            <a:r>
              <a:rPr lang="en-US" altLang="en-US" sz="2000" dirty="0"/>
              <a:t>needed previously, and the system assumed that that </a:t>
            </a:r>
            <a:r>
              <a:rPr lang="en-US" altLang="en-US" sz="2000" dirty="0" smtClean="0"/>
              <a:t>value would </a:t>
            </a:r>
            <a:r>
              <a:rPr lang="en-US" altLang="en-US" sz="2000" dirty="0"/>
              <a:t>never be produced. </a:t>
            </a:r>
            <a:endParaRPr lang="en-US" altLang="en-US" sz="20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/>
              <a:t>Hence, the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 operation is rejected,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rolled back</a:t>
            </a:r>
            <a:r>
              <a:rPr lang="en-US" altLang="en-US" sz="2000" dirty="0" smtClean="0"/>
              <a:t>.</a:t>
            </a:r>
            <a:endParaRPr lang="en-US" altLang="en-US" sz="2000" dirty="0" smtClean="0"/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20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2.</a:t>
            </a:r>
            <a:r>
              <a:rPr lang="en-US" altLang="en-US" sz="2000" dirty="0"/>
              <a:t>   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&lt; W-timestamp(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attempting to write an 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obsolete value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/>
              <a:t>Hence, this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 operation is rejected,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rolled back.</a:t>
            </a:r>
            <a:endParaRPr lang="en-US" altLang="en-US" sz="2000" dirty="0"/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20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3.   </a:t>
            </a:r>
            <a:r>
              <a:rPr lang="en-US" altLang="en-US" sz="2000" dirty="0"/>
              <a:t>Otherwise, the </a:t>
            </a:r>
            <a:r>
              <a:rPr lang="en-US" altLang="en-US" sz="2000" b="1" dirty="0"/>
              <a:t> write</a:t>
            </a:r>
            <a:r>
              <a:rPr lang="en-US" altLang="en-US" sz="2000" dirty="0"/>
              <a:t> operation is executed, and W-timestamp(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is </a:t>
            </a:r>
            <a:r>
              <a:rPr lang="en-US" altLang="en-US" sz="2000" dirty="0" smtClean="0"/>
              <a:t>set </a:t>
            </a:r>
            <a:r>
              <a:rPr lang="en-US" altLang="en-US" sz="2000" dirty="0"/>
              <a:t>to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8" y="1234411"/>
            <a:ext cx="8791575" cy="4886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15" y="1104946"/>
            <a:ext cx="8848725" cy="5038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4" y="1301318"/>
            <a:ext cx="8772525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" y="1260629"/>
            <a:ext cx="8734425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4" y="1249810"/>
            <a:ext cx="8734425" cy="508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" y="1163622"/>
            <a:ext cx="8991600" cy="5010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22" y="1300902"/>
            <a:ext cx="8839200" cy="5019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199" y="4526790"/>
            <a:ext cx="3664017" cy="1086681"/>
          </a:xfrm>
        </p:spPr>
        <p:txBody>
          <a:bodyPr/>
          <a:lstStyle/>
          <a:p>
            <a:r>
              <a:rPr lang="en-IN" sz="2000" dirty="0"/>
              <a:t>How about this one,</a:t>
            </a:r>
            <a:br>
              <a:rPr lang="en-IN" sz="2000" dirty="0"/>
            </a:br>
            <a:r>
              <a:rPr lang="en-IN" sz="2000" dirty="0"/>
              <a:t>where initially</a:t>
            </a:r>
            <a:br>
              <a:rPr lang="en-IN" sz="2000" dirty="0"/>
            </a:br>
            <a:r>
              <a:rPr lang="en-IN" sz="2000" dirty="0"/>
              <a:t>    R-TS(Q)=W-TS(Q)=0</a:t>
            </a:r>
            <a:endParaRPr lang="en-IN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4918" y="904570"/>
            <a:ext cx="3316287" cy="3446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2159" y="1811989"/>
            <a:ext cx="32828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Assume that initially:</a:t>
            </a:r>
            <a:endParaRPr lang="en-IN" sz="2000" dirty="0"/>
          </a:p>
          <a:p>
            <a:r>
              <a:rPr lang="en-IN" sz="2000" dirty="0"/>
              <a:t>    R-TS(A) = W-TS(A) = 0</a:t>
            </a:r>
            <a:endParaRPr lang="en-IN" sz="2000" dirty="0"/>
          </a:p>
          <a:p>
            <a:r>
              <a:rPr lang="en-IN" sz="2000" dirty="0"/>
              <a:t>    R-TS(B) = W-TS(B) = 0</a:t>
            </a:r>
            <a:endParaRPr lang="en-IN" sz="2000" dirty="0"/>
          </a:p>
          <a:p>
            <a:r>
              <a:rPr lang="en-IN" sz="2000" dirty="0"/>
              <a:t>Assume TS(T</a:t>
            </a:r>
            <a:r>
              <a:rPr lang="en-IN" sz="2000" baseline="-25000" dirty="0"/>
              <a:t>25</a:t>
            </a:r>
            <a:r>
              <a:rPr lang="en-IN" sz="2000" dirty="0"/>
              <a:t>) = 25 and         </a:t>
            </a:r>
            <a:br>
              <a:rPr lang="en-IN" sz="2000" dirty="0"/>
            </a:br>
            <a:r>
              <a:rPr lang="en-IN" sz="2000" dirty="0"/>
              <a:t>              TS(T</a:t>
            </a:r>
            <a:r>
              <a:rPr lang="en-IN" sz="2000" baseline="-25000" dirty="0"/>
              <a:t>26</a:t>
            </a:r>
            <a:r>
              <a:rPr lang="en-IN" sz="2000" dirty="0"/>
              <a:t>) = 26</a:t>
            </a:r>
            <a:endParaRPr lang="en-IN" sz="2000" dirty="0"/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0649" y="4397188"/>
            <a:ext cx="2359837" cy="1670940"/>
          </a:xfrm>
          <a:prstGeom prst="rect">
            <a:avLst/>
          </a:prstGeom>
        </p:spPr>
      </p:pic>
      <p:sp>
        <p:nvSpPr>
          <p:cNvPr id="9" name="Content Placeholder 2"/>
          <p:cNvSpPr txBox="1"/>
          <p:nvPr/>
        </p:nvSpPr>
        <p:spPr bwMode="auto">
          <a:xfrm>
            <a:off x="639192" y="1110116"/>
            <a:ext cx="4167758" cy="63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9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charset="-128"/>
              </a:defRPr>
            </a:lvl9pPr>
          </a:lstStyle>
          <a:p>
            <a:r>
              <a:rPr lang="en-IN" kern="0" dirty="0"/>
              <a:t>Is this schedule valid under TSO?</a:t>
            </a:r>
            <a:endParaRPr lang="en-IN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Correctness of Timestamp-Ordering Protocol</a:t>
            </a: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79184" cy="5367972"/>
          </a:xfrm>
        </p:spPr>
        <p:txBody>
          <a:bodyPr/>
          <a:lstStyle/>
          <a:p>
            <a:r>
              <a:rPr lang="en-US" altLang="en-US" sz="2000" dirty="0"/>
              <a:t>The timestamp-ordering protocol guarantees serializability since all the arcs in the precedence graph are of the form: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    </a:t>
            </a:r>
            <a:endParaRPr lang="en-US" altLang="en-US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     </a:t>
            </a:r>
            <a:r>
              <a:rPr lang="en-US" altLang="en-US" sz="2000" dirty="0"/>
              <a:t>Thus, there will be no cycles in the precedence graph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Timestamp protocol ensures freedom from deadlock as no transaction ever waits.  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But the schedule may not be cascade-free, and may  not even be recoverable.</a:t>
            </a:r>
            <a:endParaRPr lang="en-US" altLang="en-US" sz="2000" dirty="0"/>
          </a:p>
        </p:txBody>
      </p:sp>
      <p:pic>
        <p:nvPicPr>
          <p:cNvPr id="38916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733" y="1974285"/>
            <a:ext cx="4178101" cy="116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Thomas</a:t>
            </a:r>
            <a:r>
              <a:rPr lang="ja-JP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’</a:t>
            </a:r>
            <a:r>
              <a:rPr lang="en-US" altLang="ja-JP">
                <a:effectLst>
                  <a:outerShdw blurRad="38100" dist="38100" dir="2700000" algn="tl">
                    <a:srgbClr val="C0C0C0"/>
                  </a:outerShdw>
                </a:effectLst>
              </a:rPr>
              <a:t> Write Rule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01944" y="943471"/>
            <a:ext cx="7741328" cy="5367972"/>
          </a:xfrm>
        </p:spPr>
        <p:txBody>
          <a:bodyPr/>
          <a:lstStyle/>
          <a:p>
            <a:r>
              <a:rPr lang="en-US" altLang="en-US" sz="2000" dirty="0"/>
              <a:t>Modified version of the timestamp-ordering protocol in which obsolete </a:t>
            </a:r>
            <a:r>
              <a:rPr lang="en-US" altLang="en-US" sz="2000" b="1" dirty="0"/>
              <a:t> write</a:t>
            </a:r>
            <a:r>
              <a:rPr lang="en-US" altLang="en-US" sz="2000" dirty="0"/>
              <a:t> operations may be ignored under certain circumstances.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When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attempts to write data item </a:t>
            </a:r>
            <a:r>
              <a:rPr lang="en-US" altLang="en-US" sz="2000" i="1" dirty="0"/>
              <a:t>Q</a:t>
            </a:r>
            <a:r>
              <a:rPr lang="en-US" altLang="en-US" sz="2000" dirty="0"/>
              <a:t>, 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</a:t>
            </a:r>
            <a:r>
              <a:rPr lang="en-US" altLang="en-US" sz="2000" i="1" dirty="0"/>
              <a:t>&lt;</a:t>
            </a:r>
            <a:r>
              <a:rPr lang="en-US" altLang="en-US" sz="2000" dirty="0"/>
              <a:t> W-timestamp(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attempting to write an obsolete value of {</a:t>
            </a:r>
            <a:r>
              <a:rPr lang="en-US" altLang="en-US" sz="2000" i="1" dirty="0"/>
              <a:t>Q</a:t>
            </a:r>
            <a:r>
              <a:rPr lang="en-US" altLang="en-US" sz="2000" dirty="0"/>
              <a:t>}. </a:t>
            </a:r>
            <a:endParaRPr lang="en-US" altLang="en-US" sz="2000" dirty="0"/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Rather than rolling back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as the timestamp ordering protocol would have done, </a:t>
            </a:r>
            <a:r>
              <a:rPr lang="en-US" altLang="en-US" sz="2000" dirty="0">
                <a:solidFill>
                  <a:srgbClr val="FF0000"/>
                </a:solidFill>
              </a:rPr>
              <a:t>this {</a:t>
            </a:r>
            <a:r>
              <a:rPr lang="en-US" altLang="en-US" sz="2000" b="1" dirty="0">
                <a:solidFill>
                  <a:srgbClr val="FF0000"/>
                </a:solidFill>
              </a:rPr>
              <a:t>write</a:t>
            </a:r>
            <a:r>
              <a:rPr lang="en-US" altLang="en-US" sz="2000" dirty="0">
                <a:solidFill>
                  <a:srgbClr val="FF0000"/>
                </a:solidFill>
              </a:rPr>
              <a:t>} operation can be ignored</a:t>
            </a:r>
            <a:r>
              <a:rPr lang="en-US" altLang="en-US" sz="2000" dirty="0" smtClean="0"/>
              <a:t>. </a:t>
            </a:r>
            <a:r>
              <a:rPr lang="zh-CN" altLang="en-US" sz="2000" dirty="0" smtClean="0"/>
              <a:t>（把写操作去掉不会影响结果，因为该写操作最后都会被覆盖）</a:t>
            </a:r>
            <a:endParaRPr lang="en-US" altLang="en-US" sz="2000" dirty="0"/>
          </a:p>
          <a:p>
            <a:r>
              <a:rPr lang="en-US" altLang="en-US" sz="2000" dirty="0"/>
              <a:t>Otherwise this protocol is the same as the timestamp ordering protocol.</a:t>
            </a:r>
            <a:endParaRPr lang="en-US" altLang="en-US" sz="2000" dirty="0"/>
          </a:p>
          <a:p>
            <a:pPr>
              <a:lnSpc>
                <a:spcPct val="120000"/>
              </a:lnSpc>
            </a:pPr>
            <a:r>
              <a:rPr lang="en-US" altLang="en-US" sz="2000" dirty="0"/>
              <a:t>Thomas' Write Rule allows greater potential concurrency. </a:t>
            </a:r>
            <a:endParaRPr lang="en-US" altLang="en-US" sz="2000" dirty="0"/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Allows some view-serializable schedules that are not conflict-serializable.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Thomas</a:t>
            </a:r>
            <a:r>
              <a:rPr lang="ja-JP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’</a:t>
            </a:r>
            <a:r>
              <a:rPr lang="en-US" altLang="ja-JP">
                <a:effectLst>
                  <a:outerShdw blurRad="38100" dist="38100" dir="2700000" algn="tl">
                    <a:srgbClr val="C0C0C0"/>
                  </a:outerShdw>
                </a:effectLst>
              </a:rPr>
              <a:t> Write Rule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65" y="1438756"/>
            <a:ext cx="7740650" cy="42864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Thomas</a:t>
            </a:r>
            <a:r>
              <a:rPr lang="ja-JP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’</a:t>
            </a:r>
            <a:r>
              <a:rPr lang="en-US" altLang="ja-JP">
                <a:effectLst>
                  <a:outerShdw blurRad="38100" dist="38100" dir="2700000" algn="tl">
                    <a:srgbClr val="C0C0C0"/>
                  </a:outerShdw>
                </a:effectLst>
              </a:rPr>
              <a:t> Write Rule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406413"/>
            <a:ext cx="8407400" cy="47950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092" y="292136"/>
            <a:ext cx="8077200" cy="609600"/>
          </a:xfrm>
        </p:spPr>
        <p:txBody>
          <a:bodyPr/>
          <a:lstStyle/>
          <a:p>
            <a:r>
              <a:rPr lang="en-IN" dirty="0"/>
              <a:t>Validation-Based Protocol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702" y="1102497"/>
            <a:ext cx="7732451" cy="5367972"/>
          </a:xfrm>
        </p:spPr>
        <p:txBody>
          <a:bodyPr/>
          <a:lstStyle/>
          <a:p>
            <a:r>
              <a:rPr lang="en-IN" sz="2000" dirty="0"/>
              <a:t>Idea: can we use commit time as serialization order?</a:t>
            </a:r>
            <a:endParaRPr lang="en-IN" sz="2000" dirty="0"/>
          </a:p>
          <a:p>
            <a:r>
              <a:rPr lang="en-IN" sz="2000" dirty="0"/>
              <a:t>To do so:</a:t>
            </a:r>
            <a:endParaRPr lang="en-IN" sz="2000" dirty="0"/>
          </a:p>
          <a:p>
            <a:pPr lvl="1"/>
            <a:r>
              <a:rPr lang="en-IN" sz="2000" dirty="0"/>
              <a:t>Postpone writes to end of transaction</a:t>
            </a:r>
            <a:endParaRPr lang="en-IN" sz="2000" dirty="0"/>
          </a:p>
          <a:p>
            <a:pPr lvl="1"/>
            <a:r>
              <a:rPr lang="en-IN" sz="2000" dirty="0"/>
              <a:t>Keep track of data items read/written by transaction</a:t>
            </a:r>
            <a:endParaRPr lang="en-IN" sz="2000" dirty="0"/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Validation</a:t>
            </a:r>
            <a:r>
              <a:rPr lang="en-IN" sz="2000" dirty="0"/>
              <a:t> performed at commit time, detect any out-of-serialization order reads/writes</a:t>
            </a:r>
            <a:endParaRPr lang="en-IN" sz="2000" dirty="0"/>
          </a:p>
          <a:p>
            <a:r>
              <a:rPr lang="en-US" altLang="en-US" sz="2000" dirty="0"/>
              <a:t>Also called as </a:t>
            </a:r>
            <a:r>
              <a:rPr lang="en-US" altLang="en-US" sz="2000" b="1" dirty="0">
                <a:solidFill>
                  <a:srgbClr val="002060"/>
                </a:solidFill>
              </a:rPr>
              <a:t>optimistic concurrency control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 smtClean="0">
                <a:solidFill>
                  <a:srgbClr val="002060"/>
                </a:solidFill>
              </a:rPr>
              <a:t> (</a:t>
            </a:r>
            <a:r>
              <a:rPr lang="zh-CN" altLang="en-US" sz="2000" dirty="0" smtClean="0">
                <a:solidFill>
                  <a:srgbClr val="002060"/>
                </a:solidFill>
              </a:rPr>
              <a:t>乐观并发控制</a:t>
            </a:r>
            <a:r>
              <a:rPr lang="en-US" altLang="en-US" sz="2000" dirty="0" smtClean="0">
                <a:solidFill>
                  <a:srgbClr val="002060"/>
                </a:solidFill>
              </a:rPr>
              <a:t>) </a:t>
            </a:r>
            <a:r>
              <a:rPr lang="en-US" altLang="en-US" sz="2000" dirty="0" smtClean="0"/>
              <a:t>since </a:t>
            </a:r>
            <a:r>
              <a:rPr lang="en-US" altLang="en-US" sz="2000" dirty="0"/>
              <a:t>transaction executes fully in the hope that all will go well during validation</a:t>
            </a:r>
            <a:endParaRPr lang="en-US" altLang="en-US" sz="2000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Validation-Based Protocol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732450" cy="5367972"/>
          </a:xfrm>
        </p:spPr>
        <p:txBody>
          <a:bodyPr/>
          <a:lstStyle/>
          <a:p>
            <a:r>
              <a:rPr lang="en-US" altLang="en-US" sz="2000" dirty="0"/>
              <a:t>Execution of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is done in three phases.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1.  Read and execution phase</a:t>
            </a:r>
            <a:r>
              <a:rPr lang="en-US" altLang="en-US" sz="2000" dirty="0"/>
              <a:t>: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writes only to         </a:t>
            </a:r>
            <a:endParaRPr lang="en-US" altLang="en-US" sz="2000" dirty="0"/>
          </a:p>
          <a:p>
            <a:pPr>
              <a:lnSpc>
                <a:spcPct val="50000"/>
              </a:lnSpc>
              <a:buFont typeface="Monotype Sorts" pitchFamily="-65" charset="2"/>
              <a:buNone/>
            </a:pPr>
            <a:r>
              <a:rPr lang="en-US" altLang="en-US" sz="2000" dirty="0"/>
              <a:t>       </a:t>
            </a:r>
            <a:r>
              <a:rPr lang="en-US" altLang="en-US" sz="2000" dirty="0">
                <a:solidFill>
                  <a:srgbClr val="0070C0"/>
                </a:solidFill>
              </a:rPr>
              <a:t>temporary local </a:t>
            </a:r>
            <a:r>
              <a:rPr lang="en-US" altLang="en-US" sz="2000" dirty="0" smtClean="0">
                <a:solidFill>
                  <a:srgbClr val="0070C0"/>
                </a:solidFill>
              </a:rPr>
              <a:t>variables </a:t>
            </a:r>
            <a:endParaRPr lang="en-US" altLang="en-US" sz="2000" dirty="0">
              <a:solidFill>
                <a:srgbClr val="0070C0"/>
              </a:solidFill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2.  Validation phase</a:t>
            </a:r>
            <a:r>
              <a:rPr lang="en-US" altLang="en-US" sz="2000" dirty="0"/>
              <a:t>: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performs a  '‘validation test'' </a:t>
            </a:r>
            <a:endParaRPr lang="en-US" altLang="en-US" sz="2000" dirty="0"/>
          </a:p>
          <a:p>
            <a:pPr>
              <a:lnSpc>
                <a:spcPct val="60000"/>
              </a:lnSpc>
              <a:buFont typeface="Monotype Sorts" pitchFamily="-65" charset="2"/>
              <a:buNone/>
            </a:pPr>
            <a:r>
              <a:rPr lang="en-US" altLang="en-US" sz="2000" dirty="0"/>
              <a:t>        to determine if local variables can be written without violating         </a:t>
            </a:r>
            <a:endParaRPr lang="en-US" altLang="en-US" sz="2000" dirty="0"/>
          </a:p>
          <a:p>
            <a:pPr>
              <a:lnSpc>
                <a:spcPct val="50000"/>
              </a:lnSpc>
              <a:buFont typeface="Monotype Sorts" pitchFamily="-65" charset="2"/>
              <a:buNone/>
            </a:pPr>
            <a:r>
              <a:rPr lang="en-US" altLang="en-US" sz="2000" dirty="0"/>
              <a:t>        serializability.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  3.  Write phase</a:t>
            </a:r>
            <a:r>
              <a:rPr lang="en-US" altLang="en-US" sz="2000" dirty="0"/>
              <a:t>: If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validated, the updates are applied to the </a:t>
            </a:r>
            <a:endParaRPr lang="en-US" altLang="en-US" sz="2000" dirty="0"/>
          </a:p>
          <a:p>
            <a:pPr>
              <a:lnSpc>
                <a:spcPct val="50000"/>
              </a:lnSpc>
              <a:buFont typeface="Monotype Sorts" pitchFamily="-65" charset="2"/>
              <a:buNone/>
            </a:pPr>
            <a:r>
              <a:rPr lang="en-US" altLang="en-US" sz="2000" dirty="0"/>
              <a:t>	  database; otherwise,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is rolled back.</a:t>
            </a:r>
            <a:endParaRPr lang="en-US" altLang="en-US" sz="2000" dirty="0"/>
          </a:p>
          <a:p>
            <a:r>
              <a:rPr lang="en-US" altLang="en-US" sz="2000" dirty="0"/>
              <a:t>The three phases of concurrently executing transactions can be    interleaved, but each transaction must go through the three phases in that order.</a:t>
            </a:r>
            <a:endParaRPr lang="en-US" altLang="en-US" sz="2000" dirty="0"/>
          </a:p>
          <a:p>
            <a:pPr lvl="1"/>
            <a:r>
              <a:rPr lang="en-US" altLang="en-US" sz="2000" dirty="0"/>
              <a:t>We assume for simplicity that the validation and write phase occur together, atomically and serially</a:t>
            </a:r>
            <a:endParaRPr lang="en-US" altLang="en-US" sz="2000" dirty="0"/>
          </a:p>
          <a:p>
            <a:pPr lvl="2"/>
            <a:r>
              <a:rPr lang="en-US" altLang="en-US" sz="2000" dirty="0"/>
              <a:t>I.e., </a:t>
            </a:r>
            <a:r>
              <a:rPr lang="en-US" altLang="en-US" sz="2000" dirty="0">
                <a:solidFill>
                  <a:srgbClr val="0070C0"/>
                </a:solidFill>
              </a:rPr>
              <a:t>only one transaction executes validation/write at a time. </a:t>
            </a:r>
            <a:endParaRPr lang="en-US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Validation-Based Protocol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05818" cy="5367972"/>
          </a:xfrm>
          <a:noFill/>
        </p:spPr>
        <p:txBody>
          <a:bodyPr/>
          <a:lstStyle/>
          <a:p>
            <a:r>
              <a:rPr lang="en-US" altLang="en-US" sz="2000" dirty="0"/>
              <a:t>Each transaction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has 3 timestamps</a:t>
            </a:r>
            <a:endParaRPr lang="en-US" altLang="en-US" sz="2000" dirty="0"/>
          </a:p>
          <a:p>
            <a:pPr lvl="1"/>
            <a:r>
              <a:rPr lang="en-US" altLang="en-US" sz="2000" b="1" dirty="0" err="1">
                <a:solidFill>
                  <a:srgbClr val="002060"/>
                </a:solidFill>
              </a:rPr>
              <a:t>StartTS</a:t>
            </a:r>
            <a:r>
              <a:rPr lang="en-US" altLang="en-US" sz="2000" dirty="0"/>
              <a:t>(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: the time when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started its execution</a:t>
            </a:r>
            <a:endParaRPr lang="en-US" altLang="en-US" sz="2000" dirty="0"/>
          </a:p>
          <a:p>
            <a:pPr lvl="1"/>
            <a:r>
              <a:rPr lang="en-US" altLang="en-US" sz="2000" b="1" dirty="0" err="1">
                <a:solidFill>
                  <a:srgbClr val="002060"/>
                </a:solidFill>
              </a:rPr>
              <a:t>ValidationTS</a:t>
            </a:r>
            <a:r>
              <a:rPr lang="en-US" altLang="en-US" sz="2000" dirty="0"/>
              <a:t>(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): the time when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entered its validation phase</a:t>
            </a:r>
            <a:endParaRPr lang="en-US" altLang="en-US" sz="2000" dirty="0"/>
          </a:p>
          <a:p>
            <a:pPr lvl="1"/>
            <a:r>
              <a:rPr lang="en-US" altLang="en-US" sz="2000" b="1" dirty="0" err="1">
                <a:solidFill>
                  <a:srgbClr val="002060"/>
                </a:solidFill>
              </a:rPr>
              <a:t>FinishTS</a:t>
            </a:r>
            <a:r>
              <a:rPr lang="en-US" altLang="en-US" sz="2000" dirty="0"/>
              <a:t>(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: the time when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finished its write phase</a:t>
            </a:r>
            <a:endParaRPr lang="en-US" altLang="en-US" sz="2000" dirty="0"/>
          </a:p>
          <a:p>
            <a:r>
              <a:rPr lang="en-US" altLang="en-US" sz="2000" dirty="0"/>
              <a:t>Validation tests use above timestamps and read/write sets to ensure that serializability order is determined by validation time</a:t>
            </a:r>
            <a:endParaRPr lang="en-US" altLang="en-US" sz="2000" dirty="0"/>
          </a:p>
          <a:p>
            <a:pPr lvl="1"/>
            <a:r>
              <a:rPr lang="en-US" altLang="en-US" sz="2000" dirty="0"/>
              <a:t>Thus, TS(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= </a:t>
            </a:r>
            <a:r>
              <a:rPr lang="en-US" altLang="en-US" sz="2000" dirty="0" err="1"/>
              <a:t>ValidationTS</a:t>
            </a:r>
            <a:r>
              <a:rPr lang="en-US" altLang="en-US" sz="2000" dirty="0"/>
              <a:t>(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Validation-based protocol has been found to give greater degree of concurrency than locking/TSO </a:t>
            </a:r>
            <a:r>
              <a:rPr lang="en-US" altLang="en-US" sz="2000" dirty="0">
                <a:solidFill>
                  <a:srgbClr val="0070C0"/>
                </a:solidFill>
              </a:rPr>
              <a:t>if probability of conflicts is low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 Test for Transaction </a:t>
            </a: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i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endParaRPr lang="en-US" i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9084" cy="5367972"/>
          </a:xfrm>
        </p:spPr>
        <p:txBody>
          <a:bodyPr/>
          <a:lstStyle/>
          <a:p>
            <a:r>
              <a:rPr lang="en-US" altLang="en-US" sz="2000" dirty="0"/>
              <a:t>If for all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with TS (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) &lt; TS (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) either one of the following condition holds:</a:t>
            </a:r>
            <a:endParaRPr lang="en-US" altLang="en-US" sz="2000" dirty="0"/>
          </a:p>
          <a:p>
            <a:pPr marL="800100" lvl="1" indent="-342900"/>
            <a:r>
              <a:rPr lang="en-US" altLang="en-US" sz="2000" b="1" dirty="0" err="1"/>
              <a:t>finishTS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&lt; </a:t>
            </a:r>
            <a:r>
              <a:rPr lang="en-US" altLang="en-US" sz="2000" b="1" dirty="0" err="1"/>
              <a:t>startTS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) </a:t>
            </a:r>
            <a:endParaRPr lang="en-US" altLang="en-US" sz="2000" dirty="0"/>
          </a:p>
          <a:p>
            <a:pPr marL="800100" lvl="1" indent="-342900"/>
            <a:r>
              <a:rPr lang="en-US" altLang="en-US" sz="2000" b="1" dirty="0" err="1"/>
              <a:t>startTS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) &lt; </a:t>
            </a:r>
            <a:r>
              <a:rPr lang="en-US" altLang="en-US" sz="2000" b="1" dirty="0" err="1"/>
              <a:t>finishTS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&lt; </a:t>
            </a:r>
            <a:r>
              <a:rPr lang="en-US" altLang="en-US" sz="2000" b="1" dirty="0" err="1"/>
              <a:t>validationTS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) </a:t>
            </a:r>
            <a:r>
              <a:rPr lang="en-US" altLang="en-US" sz="2000" b="1" dirty="0"/>
              <a:t>and </a:t>
            </a:r>
            <a:r>
              <a:rPr lang="en-US" altLang="en-US" sz="2000" dirty="0"/>
              <a:t>the set of data items written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does not intersect with the set of data items read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.  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then validation succeeds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can be committed.  </a:t>
            </a:r>
            <a:endParaRPr lang="en-US" altLang="en-US" sz="2000" dirty="0"/>
          </a:p>
          <a:p>
            <a:r>
              <a:rPr lang="en-US" altLang="en-US" sz="2000" dirty="0"/>
              <a:t>Otherwise, validation fails and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is aborted.</a:t>
            </a:r>
            <a:endParaRPr lang="en-US" altLang="en-US" sz="2000" dirty="0"/>
          </a:p>
          <a:p>
            <a:r>
              <a:rPr lang="en-US" altLang="en-US" sz="2000" dirty="0"/>
              <a:t>Justification:  </a:t>
            </a:r>
            <a:endParaRPr lang="en-US" altLang="en-US" sz="2000" dirty="0"/>
          </a:p>
          <a:p>
            <a:pPr lvl="1"/>
            <a:r>
              <a:rPr lang="en-US" altLang="en-US" sz="2000" dirty="0"/>
              <a:t>First condition applies when execution is not concurrent</a:t>
            </a:r>
            <a:endParaRPr lang="en-US" altLang="en-US" sz="2000" dirty="0"/>
          </a:p>
          <a:p>
            <a:pPr lvl="2"/>
            <a:r>
              <a:rPr lang="en-US" altLang="en-US" sz="2000" dirty="0"/>
              <a:t>The writes of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do not affect reads of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since they occur after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has finished its reads.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 second condition holds, execution is concurrent,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does not read  any item written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Produced by Validation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8170847" cy="5367972"/>
          </a:xfrm>
        </p:spPr>
        <p:txBody>
          <a:bodyPr/>
          <a:lstStyle/>
          <a:p>
            <a:r>
              <a:rPr lang="en-US" altLang="en-US" sz="2000" dirty="0"/>
              <a:t>Example of schedule produced using validation</a:t>
            </a:r>
            <a:endParaRPr lang="en-US" altLang="en-US" sz="2000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7813" y="1527575"/>
            <a:ext cx="3289493" cy="38997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7539" y="2719148"/>
            <a:ext cx="733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Multiversion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Schemes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652701" y="1013045"/>
            <a:ext cx="7732451" cy="5367972"/>
          </a:xfrm>
        </p:spPr>
        <p:txBody>
          <a:bodyPr/>
          <a:lstStyle/>
          <a:p>
            <a:endParaRPr lang="zh-CN" altLang="en-US" dirty="0"/>
          </a:p>
          <a:p>
            <a:r>
              <a:rPr lang="en-US" altLang="zh-CN" sz="2000" dirty="0"/>
              <a:t>The DBMS maintains multiple </a:t>
            </a:r>
            <a:r>
              <a:rPr lang="en-US" altLang="zh-CN" sz="2000" dirty="0" smtClean="0"/>
              <a:t>physical versions </a:t>
            </a:r>
            <a:r>
              <a:rPr lang="en-US" altLang="zh-CN" sz="2000" dirty="0"/>
              <a:t>of a single </a:t>
            </a:r>
            <a:r>
              <a:rPr lang="en-US" altLang="zh-CN" sz="2000" dirty="0" smtClean="0"/>
              <a:t>logical object </a:t>
            </a:r>
            <a:r>
              <a:rPr lang="en-US" altLang="zh-CN" sz="2000" dirty="0"/>
              <a:t>in the database:</a:t>
            </a:r>
            <a:endParaRPr lang="en-US" altLang="zh-CN" sz="2000" dirty="0"/>
          </a:p>
          <a:p>
            <a:pPr lvl="1"/>
            <a:r>
              <a:rPr lang="en-US" altLang="zh-CN" sz="2000" dirty="0"/>
              <a:t>When a </a:t>
            </a:r>
            <a:r>
              <a:rPr lang="en-US" altLang="zh-CN" sz="2000" dirty="0" err="1" smtClean="0"/>
              <a:t>txn</a:t>
            </a:r>
            <a:r>
              <a:rPr lang="en-US" altLang="zh-CN" sz="2000" dirty="0" smtClean="0"/>
              <a:t> writes </a:t>
            </a:r>
            <a:r>
              <a:rPr lang="en-US" altLang="zh-CN" sz="2000" dirty="0"/>
              <a:t>to an object, the DBMS creates a new version of that object. </a:t>
            </a:r>
            <a:endParaRPr lang="en-US" altLang="zh-CN" sz="2000" dirty="0"/>
          </a:p>
          <a:p>
            <a:pPr lvl="1"/>
            <a:r>
              <a:rPr lang="en-US" altLang="zh-CN" sz="2000" dirty="0"/>
              <a:t>When a </a:t>
            </a:r>
            <a:r>
              <a:rPr lang="en-US" altLang="zh-CN" sz="2000" dirty="0" err="1" smtClean="0"/>
              <a:t>txn</a:t>
            </a:r>
            <a:r>
              <a:rPr lang="en-US" altLang="zh-CN" sz="2000" dirty="0" smtClean="0"/>
              <a:t> reads </a:t>
            </a:r>
            <a:r>
              <a:rPr lang="en-US" altLang="zh-CN" sz="2000" dirty="0"/>
              <a:t>an object, it reads the newest version that existed when the </a:t>
            </a:r>
            <a:r>
              <a:rPr lang="en-US" altLang="zh-CN" sz="2000" dirty="0" err="1" smtClean="0"/>
              <a:t>txn</a:t>
            </a:r>
            <a:r>
              <a:rPr lang="en-US" altLang="zh-CN" sz="2000" dirty="0" smtClean="0"/>
              <a:t> started.</a:t>
            </a:r>
            <a:endParaRPr lang="en-US" altLang="zh-CN" sz="2000" dirty="0" smtClean="0"/>
          </a:p>
          <a:p>
            <a:pPr lvl="1"/>
            <a:endParaRPr lang="en-US" altLang="zh-CN" sz="2000" dirty="0" smtClean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reads</a:t>
            </a:r>
            <a:r>
              <a:rPr lang="en-US" altLang="en-US" sz="2000" dirty="0"/>
              <a:t> never have to wait as an appropriate version is returned immediately.</a:t>
            </a:r>
            <a:endParaRPr lang="en-US" altLang="en-US" sz="20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Schemes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652701" y="1013045"/>
            <a:ext cx="7732451" cy="5367972"/>
          </a:xfrm>
        </p:spPr>
        <p:txBody>
          <a:bodyPr/>
          <a:lstStyle/>
          <a:p>
            <a:r>
              <a:rPr lang="en-US" altLang="en-US" sz="2000" dirty="0"/>
              <a:t>Multiversion schemes keep old versions of data item to increase concurrency.  Several variants: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Multiversion Timestamp Ordering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Multiversion Two-Phase Locking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Snapshot isolation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r>
              <a:rPr lang="en-US" altLang="en-US" sz="2000" dirty="0"/>
              <a:t>Key ideas:</a:t>
            </a:r>
            <a:endParaRPr lang="en-US" altLang="en-US" sz="2000" dirty="0"/>
          </a:p>
          <a:p>
            <a:pPr lvl="1"/>
            <a:r>
              <a:rPr lang="en-US" altLang="en-US" sz="2000" dirty="0"/>
              <a:t>Each successful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 results in the creation of a new version of the data item written.</a:t>
            </a:r>
            <a:endParaRPr lang="en-US" altLang="en-US" sz="2000" dirty="0"/>
          </a:p>
          <a:p>
            <a:pPr lvl="1"/>
            <a:r>
              <a:rPr lang="en-US" altLang="en-US" sz="2000" dirty="0"/>
              <a:t>Use timestamps to label versions.	</a:t>
            </a:r>
            <a:endParaRPr lang="en-US" altLang="en-US" sz="2000" dirty="0"/>
          </a:p>
          <a:p>
            <a:pPr lvl="1"/>
            <a:r>
              <a:rPr lang="en-US" altLang="en-US" sz="2000" dirty="0"/>
              <a:t>When a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operation is issued, select an appropriate version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 based on the timestamp of the transaction issuing the read request, and return the value of the selected version.  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670308" cy="5367972"/>
          </a:xfrm>
        </p:spPr>
        <p:txBody>
          <a:bodyPr/>
          <a:lstStyle/>
          <a:p>
            <a:r>
              <a:rPr lang="en-US" altLang="en-US" sz="2000" dirty="0"/>
              <a:t>Each data item </a:t>
            </a:r>
            <a:r>
              <a:rPr lang="en-US" altLang="en-US" sz="2000" i="1" dirty="0"/>
              <a:t>Q</a:t>
            </a:r>
            <a:r>
              <a:rPr lang="en-US" altLang="en-US" sz="2000" dirty="0"/>
              <a:t> has a sequence of versions &lt;</a:t>
            </a:r>
            <a:r>
              <a:rPr lang="en-US" altLang="en-US" sz="2000" i="1" dirty="0"/>
              <a:t>Q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Q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,...., 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m</a:t>
            </a:r>
            <a:r>
              <a:rPr lang="en-US" altLang="en-US" sz="2000" dirty="0"/>
              <a:t>&gt;. Each version 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 contains three data fields: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Content</a:t>
            </a:r>
            <a:r>
              <a:rPr lang="en-US" altLang="en-US" sz="2000" dirty="0"/>
              <a:t> -- the value of version 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i="1" dirty="0"/>
              <a:t>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W-timestamp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) -- timestamp of the transaction that created (wrote) version 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/>
              <a:t>k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R-timestamp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) -- largest timestamp of a transaction that successfully read version 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/>
              <a:t>k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 (Cont)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8161969" cy="5367972"/>
          </a:xfrm>
        </p:spPr>
        <p:txBody>
          <a:bodyPr/>
          <a:lstStyle/>
          <a:p>
            <a:r>
              <a:rPr lang="en-US" altLang="en-US" sz="2000" dirty="0"/>
              <a:t>Suppose that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issues a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or 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 operation.  </a:t>
            </a:r>
            <a:r>
              <a:rPr lang="en-US" altLang="en-US" sz="2000" b="1" dirty="0">
                <a:solidFill>
                  <a:srgbClr val="0070C0"/>
                </a:solidFill>
              </a:rPr>
              <a:t>Let </a:t>
            </a:r>
            <a:r>
              <a:rPr lang="en-US" altLang="en-US" sz="2000" b="1" i="1" dirty="0" err="1">
                <a:solidFill>
                  <a:srgbClr val="0070C0"/>
                </a:solidFill>
              </a:rPr>
              <a:t>Q</a:t>
            </a:r>
            <a:r>
              <a:rPr lang="en-US" altLang="en-US" sz="2000" b="1" i="1" baseline="-25000" dirty="0" err="1">
                <a:solidFill>
                  <a:srgbClr val="0070C0"/>
                </a:solidFill>
              </a:rPr>
              <a:t>k</a:t>
            </a:r>
            <a:r>
              <a:rPr lang="en-US" altLang="en-US" sz="2000" b="1" dirty="0">
                <a:solidFill>
                  <a:srgbClr val="0070C0"/>
                </a:solidFill>
              </a:rPr>
              <a:t> denote the version of </a:t>
            </a:r>
            <a:r>
              <a:rPr lang="en-US" altLang="en-US" sz="2000" b="1" i="1" dirty="0">
                <a:solidFill>
                  <a:srgbClr val="0070C0"/>
                </a:solidFill>
              </a:rPr>
              <a:t>Q</a:t>
            </a:r>
            <a:r>
              <a:rPr lang="en-US" altLang="en-US" sz="2000" b="1" dirty="0">
                <a:solidFill>
                  <a:srgbClr val="0070C0"/>
                </a:solidFill>
              </a:rPr>
              <a:t> whose write timestamp is the largest write timestamp less than or equal to TS(</a:t>
            </a:r>
            <a:r>
              <a:rPr lang="en-US" altLang="en-US" sz="2000" b="1" i="1" dirty="0" err="1">
                <a:solidFill>
                  <a:srgbClr val="0070C0"/>
                </a:solidFill>
              </a:rPr>
              <a:t>T</a:t>
            </a:r>
            <a:r>
              <a:rPr lang="en-US" altLang="en-US" sz="2000" b="1" baseline="-25000" dirty="0" err="1">
                <a:solidFill>
                  <a:srgbClr val="0070C0"/>
                </a:solidFill>
              </a:rPr>
              <a:t>i</a:t>
            </a:r>
            <a:r>
              <a:rPr lang="en-US" altLang="en-US" sz="2000" b="1" dirty="0">
                <a:solidFill>
                  <a:srgbClr val="0070C0"/>
                </a:solidFill>
              </a:rPr>
              <a:t>).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1.   </a:t>
            </a:r>
            <a:r>
              <a:rPr lang="en-US" altLang="en-US" sz="2000" dirty="0"/>
              <a:t>If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issues a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), then</a:t>
            </a:r>
            <a:endParaRPr lang="en-US" altLang="en-US" sz="2000" dirty="0"/>
          </a:p>
          <a:p>
            <a:pPr marL="1143000" lvl="2" indent="-342900"/>
            <a:r>
              <a:rPr lang="en-US" altLang="en-US" sz="2000" dirty="0"/>
              <a:t>the value returned is the  content of version 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/>
              <a:t>k</a:t>
            </a:r>
            <a:endParaRPr lang="en-US" altLang="en-US" sz="2000" dirty="0"/>
          </a:p>
          <a:p>
            <a:pPr marL="1143000" lvl="2" indent="-342900"/>
            <a:r>
              <a:rPr lang="en-US" altLang="en-US" sz="2000" dirty="0"/>
              <a:t>If R-timestamp(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) &lt;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), set R-timestamp(</a:t>
            </a:r>
            <a:r>
              <a:rPr lang="en-US" altLang="en-US" sz="2000" dirty="0" err="1"/>
              <a:t>Q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) =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), </a:t>
            </a: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2.    </a:t>
            </a:r>
            <a:r>
              <a:rPr lang="en-US" altLang="en-US" sz="2000" dirty="0"/>
              <a:t>If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issues a </a:t>
            </a:r>
            <a:r>
              <a:rPr lang="en-US" altLang="en-US" sz="2000" b="1" dirty="0"/>
              <a:t> 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/>
              <a:t>if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 </a:t>
            </a:r>
            <a:r>
              <a:rPr lang="en-US" altLang="en-US" sz="2000" i="1" dirty="0"/>
              <a:t>&lt;</a:t>
            </a:r>
            <a:r>
              <a:rPr lang="en-US" altLang="en-US" sz="2000" dirty="0"/>
              <a:t> R-timestamp(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), then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rolled back. </a:t>
            </a:r>
            <a:endParaRPr lang="en-US" altLang="en-US" sz="2000" dirty="0"/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/>
              <a:t>if TS(</a:t>
            </a:r>
            <a:r>
              <a:rPr lang="en-US" altLang="en-US" sz="2000" i="1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</a:t>
            </a:r>
            <a:r>
              <a:rPr lang="en-US" altLang="en-US" sz="2000" i="1" dirty="0"/>
              <a:t>=</a:t>
            </a:r>
            <a:r>
              <a:rPr lang="en-US" altLang="en-US" sz="2000" dirty="0"/>
              <a:t> W-timestamp(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), the contents of </a:t>
            </a:r>
            <a:r>
              <a:rPr lang="en-US" altLang="en-US" sz="2000" i="1" dirty="0" err="1"/>
              <a:t>Q</a:t>
            </a:r>
            <a:r>
              <a:rPr lang="en-US" altLang="en-US" sz="2000" i="1" baseline="-25000" dirty="0" err="1"/>
              <a:t>k</a:t>
            </a:r>
            <a:r>
              <a:rPr lang="en-US" altLang="en-US" sz="2000" dirty="0"/>
              <a:t> are overwritten</a:t>
            </a:r>
            <a:endParaRPr lang="en-US" altLang="en-US" sz="2000" dirty="0"/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/>
              <a:t>Otherwise,  a new version Q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of </a:t>
            </a:r>
            <a:r>
              <a:rPr lang="en-US" altLang="en-US" sz="2000" i="1" dirty="0"/>
              <a:t>Q</a:t>
            </a:r>
            <a:r>
              <a:rPr lang="en-US" altLang="en-US" sz="2000" dirty="0"/>
              <a:t> is created</a:t>
            </a:r>
            <a:endParaRPr lang="en-US" altLang="en-US" sz="2000" dirty="0"/>
          </a:p>
          <a:p>
            <a:pPr lvl="3"/>
            <a:r>
              <a:rPr lang="en-US" altLang="en-US" sz="2000" dirty="0"/>
              <a:t>W-timestamp(Q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 and R-timestamp(Q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 are initialized to TS(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). </a:t>
            </a:r>
            <a:endParaRPr lang="en-US" altLang="en-US" sz="2000" dirty="0"/>
          </a:p>
          <a:p>
            <a:pPr marL="1200150" lvl="2" indent="-342900">
              <a:buFont typeface="Monotype Sorts" pitchFamily="-65" charset="2"/>
              <a:buAutoNum type="arabicPeriod"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 (Cont)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661430" cy="5367972"/>
          </a:xfrm>
        </p:spPr>
        <p:txBody>
          <a:bodyPr/>
          <a:lstStyle/>
          <a:p>
            <a:r>
              <a:rPr lang="en-US" altLang="en-US" sz="2000" dirty="0"/>
              <a:t>Observations</a:t>
            </a:r>
            <a:endParaRPr lang="en-US" altLang="en-US" sz="2000" dirty="0"/>
          </a:p>
          <a:p>
            <a:pPr marL="800100" lvl="1" indent="-342900"/>
            <a:r>
              <a:rPr lang="en-US" altLang="en-US" sz="2000" b="1" dirty="0">
                <a:solidFill>
                  <a:srgbClr val="0070C0"/>
                </a:solidFill>
              </a:rPr>
              <a:t>Reads always succeed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marL="800100" lvl="1" indent="-342900"/>
            <a:r>
              <a:rPr lang="en-US" altLang="en-US" sz="2000" dirty="0"/>
              <a:t>A write by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is rejected if some other transaction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that (in the serialization order defined by the timestamp values) should read 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 err="1"/>
              <a:t>'s</a:t>
            </a:r>
            <a:r>
              <a:rPr lang="en-US" altLang="en-US" sz="2000" dirty="0"/>
              <a:t> write, has already read a version created by a transaction older than </a:t>
            </a:r>
            <a:r>
              <a:rPr lang="en-US" altLang="en-US" sz="2000" i="1" dirty="0" err="1"/>
              <a:t>T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Protocol guarantees serializability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4" y="1464898"/>
            <a:ext cx="8547786" cy="465533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2" y="1320912"/>
            <a:ext cx="8646767" cy="479773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8" y="1496564"/>
            <a:ext cx="8784295" cy="44569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Two-Phase Locking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76838" cy="5367972"/>
          </a:xfrm>
        </p:spPr>
        <p:txBody>
          <a:bodyPr/>
          <a:lstStyle/>
          <a:p>
            <a:r>
              <a:rPr lang="en-US" altLang="en-US" sz="1800" dirty="0"/>
              <a:t>Differentiates between read-only transactions and update transactions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002060"/>
                </a:solidFill>
              </a:rPr>
              <a:t>Update transactions </a:t>
            </a:r>
            <a:r>
              <a:rPr lang="en-US" altLang="en-US" sz="1800" dirty="0"/>
              <a:t>acquire read and write locks, and hold all locks up to the end of the transaction. That is, update transactions follow rigorous two-phase locking.</a:t>
            </a:r>
            <a:endParaRPr lang="en-US" altLang="en-US" sz="1800" dirty="0"/>
          </a:p>
          <a:p>
            <a:pPr lvl="1"/>
            <a:r>
              <a:rPr lang="en-US" altLang="en-US" sz="1800" dirty="0"/>
              <a:t>Read of a data item returns the latest version of the item</a:t>
            </a:r>
            <a:endParaRPr lang="en-US" altLang="en-US" sz="1800" dirty="0"/>
          </a:p>
          <a:p>
            <a:pPr lvl="1"/>
            <a:r>
              <a:rPr lang="en-US" altLang="en-US" sz="1800" dirty="0"/>
              <a:t>The first </a:t>
            </a:r>
            <a:r>
              <a:rPr lang="en-US" altLang="en-US" sz="1800" b="1" dirty="0"/>
              <a:t>write</a:t>
            </a:r>
            <a:r>
              <a:rPr lang="en-US" altLang="en-US" sz="1800" dirty="0"/>
              <a:t> of Q by </a:t>
            </a:r>
            <a:r>
              <a:rPr lang="en-US" altLang="en-US" sz="1800" dirty="0" err="1"/>
              <a:t>T</a:t>
            </a:r>
            <a:r>
              <a:rPr lang="en-US" altLang="en-US" sz="1800" baseline="-25000" dirty="0" err="1"/>
              <a:t>i</a:t>
            </a:r>
            <a:r>
              <a:rPr lang="en-US" altLang="en-US" sz="1800" baseline="-25000" dirty="0"/>
              <a:t> </a:t>
            </a:r>
            <a:r>
              <a:rPr lang="en-US" altLang="en-US" sz="1800" dirty="0"/>
              <a:t>results in the creation of a new version Q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of the data item Q written</a:t>
            </a:r>
            <a:endParaRPr lang="en-US" altLang="en-US" sz="1800" dirty="0"/>
          </a:p>
          <a:p>
            <a:pPr lvl="2"/>
            <a:r>
              <a:rPr lang="en-US" altLang="en-US" sz="1800" dirty="0"/>
              <a:t>W-timestamp(Q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 set to ∞ initially</a:t>
            </a:r>
            <a:endParaRPr lang="en-US" altLang="en-US" sz="1800" dirty="0"/>
          </a:p>
          <a:p>
            <a:pPr lvl="1"/>
            <a:r>
              <a:rPr lang="en-US" altLang="en-US" sz="1800" dirty="0"/>
              <a:t>When update transaction </a:t>
            </a:r>
            <a:r>
              <a:rPr lang="en-US" altLang="en-US" sz="1800" i="1" dirty="0" err="1"/>
              <a:t>T</a:t>
            </a:r>
            <a:r>
              <a:rPr lang="en-US" altLang="en-US" sz="1800" i="1" baseline="-25000" dirty="0" err="1"/>
              <a:t>i</a:t>
            </a:r>
            <a:r>
              <a:rPr lang="en-US" altLang="en-US" sz="1800" dirty="0"/>
              <a:t> completes, commit processing occurs:</a:t>
            </a:r>
            <a:endParaRPr lang="en-US" altLang="en-US" sz="1800" dirty="0"/>
          </a:p>
          <a:p>
            <a:pPr lvl="2"/>
            <a:r>
              <a:rPr lang="en-US" altLang="en-US" sz="1800" dirty="0"/>
              <a:t>Value </a:t>
            </a:r>
            <a:r>
              <a:rPr lang="en-US" altLang="en-US" sz="1800" b="1" dirty="0" err="1"/>
              <a:t>ts</a:t>
            </a:r>
            <a:r>
              <a:rPr lang="en-US" altLang="en-US" sz="1800" b="1" dirty="0"/>
              <a:t>-counter </a:t>
            </a:r>
            <a:r>
              <a:rPr lang="en-US" altLang="en-US" sz="1800" dirty="0"/>
              <a:t>stored in the database is used to assign timestamps</a:t>
            </a:r>
            <a:endParaRPr lang="en-US" altLang="en-US" sz="1800" dirty="0"/>
          </a:p>
          <a:p>
            <a:pPr lvl="3"/>
            <a:r>
              <a:rPr lang="en-US" altLang="en-US" sz="1800" b="1" dirty="0" err="1"/>
              <a:t>ts</a:t>
            </a:r>
            <a:r>
              <a:rPr lang="en-US" altLang="en-US" sz="1800" b="1" dirty="0"/>
              <a:t>-counter </a:t>
            </a:r>
            <a:r>
              <a:rPr lang="en-US" altLang="en-US" sz="1800" dirty="0"/>
              <a:t>is locked in two-phase manner</a:t>
            </a:r>
            <a:endParaRPr lang="en-US" altLang="en-US" sz="1800" dirty="0"/>
          </a:p>
          <a:p>
            <a:pPr lvl="2"/>
            <a:r>
              <a:rPr lang="en-US" altLang="en-US" sz="1800" dirty="0"/>
              <a:t>Set TS(</a:t>
            </a:r>
            <a:r>
              <a:rPr lang="en-US" altLang="en-US" sz="1800" dirty="0" err="1"/>
              <a:t>T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) = </a:t>
            </a:r>
            <a:r>
              <a:rPr lang="en-US" altLang="en-US" sz="1800" b="1" dirty="0" err="1"/>
              <a:t>ts</a:t>
            </a:r>
            <a:r>
              <a:rPr lang="en-US" altLang="en-US" sz="1800" b="1" dirty="0"/>
              <a:t>-counter</a:t>
            </a:r>
            <a:r>
              <a:rPr lang="en-US" altLang="en-US" sz="1800" dirty="0"/>
              <a:t> + 1</a:t>
            </a:r>
            <a:endParaRPr lang="en-US" altLang="en-US" sz="1800" dirty="0"/>
          </a:p>
          <a:p>
            <a:pPr lvl="2"/>
            <a:r>
              <a:rPr lang="en-US" altLang="en-US" sz="1800" dirty="0"/>
              <a:t>Set W-timestamp(Q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 = TS(</a:t>
            </a:r>
            <a:r>
              <a:rPr lang="en-US" altLang="en-US" sz="1800" dirty="0" err="1"/>
              <a:t>T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) for all versions Q</a:t>
            </a:r>
            <a:r>
              <a:rPr lang="en-US" altLang="en-US" sz="1800" baseline="-25000" dirty="0"/>
              <a:t>i </a:t>
            </a:r>
            <a:r>
              <a:rPr lang="en-US" altLang="en-US" sz="1800" dirty="0"/>
              <a:t>that it creates</a:t>
            </a:r>
            <a:endParaRPr lang="en-US" altLang="en-US" sz="1800" dirty="0"/>
          </a:p>
          <a:p>
            <a:pPr lvl="2"/>
            <a:r>
              <a:rPr lang="en-US" altLang="en-US" sz="1800" b="1" dirty="0" err="1"/>
              <a:t>ts</a:t>
            </a:r>
            <a:r>
              <a:rPr lang="en-US" altLang="en-US" sz="1800" b="1" dirty="0"/>
              <a:t>-counter</a:t>
            </a:r>
            <a:r>
              <a:rPr lang="en-US" altLang="en-US" sz="1800" dirty="0"/>
              <a:t> = </a:t>
            </a:r>
            <a:r>
              <a:rPr lang="en-US" altLang="en-US" sz="1800" b="1" dirty="0" err="1"/>
              <a:t>ts</a:t>
            </a:r>
            <a:r>
              <a:rPr lang="en-US" altLang="en-US" sz="1800" b="1" dirty="0"/>
              <a:t>-counter +</a:t>
            </a:r>
            <a:r>
              <a:rPr lang="en-US" altLang="en-US" sz="1800" dirty="0"/>
              <a:t> 1</a:t>
            </a:r>
            <a:endParaRPr lang="en-US" altLang="en-US" sz="1800" dirty="0"/>
          </a:p>
          <a:p>
            <a:pPr lvl="3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Two-Phase Locking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61429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Read-only transactions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dirty="0"/>
              <a:t>are assigned a timestamp = </a:t>
            </a:r>
            <a:r>
              <a:rPr lang="en-US" altLang="en-US" sz="2000" b="1" dirty="0"/>
              <a:t>ts-counter</a:t>
            </a:r>
            <a:r>
              <a:rPr lang="en-US" altLang="en-US" sz="2000" dirty="0"/>
              <a:t> when they start execution</a:t>
            </a:r>
            <a:endParaRPr lang="en-US" altLang="en-US" sz="2000" dirty="0"/>
          </a:p>
          <a:p>
            <a:pPr lvl="1"/>
            <a:r>
              <a:rPr lang="en-US" altLang="en-US" sz="2000" dirty="0"/>
              <a:t>follow the multiversion timestamp-ordering protocol for performing reads</a:t>
            </a:r>
            <a:endParaRPr lang="en-US" altLang="en-US" sz="2000" dirty="0"/>
          </a:p>
          <a:p>
            <a:pPr lvl="2"/>
            <a:r>
              <a:rPr lang="en-US" altLang="en-US" sz="2000" dirty="0"/>
              <a:t>Do not obtain any locks</a:t>
            </a:r>
            <a:endParaRPr lang="en-US" altLang="en-US" sz="2000" dirty="0"/>
          </a:p>
          <a:p>
            <a:r>
              <a:rPr lang="en-US" altLang="en-US" sz="2000" dirty="0"/>
              <a:t>Read-only transactions that start after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increments </a:t>
            </a:r>
            <a:r>
              <a:rPr lang="en-US" altLang="en-US" sz="2000" b="1" dirty="0"/>
              <a:t>ts-counter</a:t>
            </a:r>
            <a:r>
              <a:rPr lang="en-US" altLang="en-US" sz="2000" dirty="0"/>
              <a:t> will see the values updated by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r>
              <a:rPr lang="en-US" altLang="en-US" sz="2000" dirty="0"/>
              <a:t>Read-only transactions that start before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increments the</a:t>
            </a:r>
            <a:br>
              <a:rPr lang="en-US" altLang="en-US" sz="2000" dirty="0"/>
            </a:br>
            <a:r>
              <a:rPr lang="en-US" altLang="en-US" sz="2000" b="1" dirty="0"/>
              <a:t>ts-counter</a:t>
            </a:r>
            <a:r>
              <a:rPr lang="en-US" altLang="en-US" sz="2000" dirty="0"/>
              <a:t> will see the value before the updates by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.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r>
              <a:rPr lang="en-US" altLang="en-US" sz="2000" dirty="0"/>
              <a:t>Only serializable schedules are produced.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MVCC: Implementation Issues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30106" cy="5367972"/>
          </a:xfrm>
        </p:spPr>
        <p:txBody>
          <a:bodyPr/>
          <a:lstStyle/>
          <a:p>
            <a:r>
              <a:rPr lang="en-US" altLang="en-US" sz="2000" dirty="0"/>
              <a:t>Creation of multiple versions increases storage overhead</a:t>
            </a:r>
            <a:endParaRPr lang="en-US" altLang="en-US" sz="2000" dirty="0"/>
          </a:p>
          <a:p>
            <a:pPr lvl="1"/>
            <a:r>
              <a:rPr lang="en-US" altLang="en-US" sz="2000" dirty="0"/>
              <a:t>Extra tuples</a:t>
            </a:r>
            <a:endParaRPr lang="en-US" altLang="en-US" sz="2000" dirty="0"/>
          </a:p>
          <a:p>
            <a:pPr lvl="1"/>
            <a:r>
              <a:rPr lang="en-US" altLang="en-US" sz="2000" dirty="0"/>
              <a:t>Extra space in each tuple for storing version information</a:t>
            </a:r>
            <a:endParaRPr lang="en-US" altLang="en-US" sz="2000" dirty="0"/>
          </a:p>
          <a:p>
            <a:r>
              <a:rPr lang="en-US" altLang="en-US" sz="2000" dirty="0"/>
              <a:t>Versions can, however, be garbage collected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if Q has two versions Q5 and Q9, and the oldest active transaction has timestamp &gt; 9, than Q5 will never be required again</a:t>
            </a:r>
            <a:endParaRPr lang="en-US" altLang="en-US" sz="2000" dirty="0"/>
          </a:p>
          <a:p>
            <a:r>
              <a:rPr lang="en-US" altLang="en-US" sz="2000" dirty="0"/>
              <a:t>Issues with </a:t>
            </a:r>
            <a:endParaRPr lang="en-US" altLang="en-US" sz="2000" dirty="0"/>
          </a:p>
          <a:p>
            <a:pPr lvl="1"/>
            <a:r>
              <a:rPr lang="en-US" altLang="en-US" sz="2000" dirty="0"/>
              <a:t>primary key and foreign key constraint checking</a:t>
            </a:r>
            <a:endParaRPr lang="en-US" altLang="en-US" sz="2000" dirty="0"/>
          </a:p>
          <a:p>
            <a:pPr lvl="1"/>
            <a:r>
              <a:rPr lang="en-US" altLang="en-US" sz="2000" dirty="0"/>
              <a:t>Indexing of records with multiple versions</a:t>
            </a: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/>
              <a:t>See textbook for details</a:t>
            </a:r>
            <a:endParaRPr lang="en-US" altLang="en-US" sz="20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	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735874" y="987087"/>
            <a:ext cx="760025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Motivation: Decision support queries that read large amounts of data have concurrency conflicts with OLTP transactions that update a few rows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Poor performance results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Solution 1:  Use multiversion 2-phase locking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Give logical </a:t>
            </a:r>
            <a:r>
              <a:rPr lang="ja-JP" altLang="en-US" sz="1800" dirty="0"/>
              <a:t>“</a:t>
            </a:r>
            <a:r>
              <a:rPr lang="en-US" altLang="ja-JP" sz="1800" dirty="0"/>
              <a:t>snapshot</a:t>
            </a:r>
            <a:r>
              <a:rPr lang="ja-JP" altLang="en-US" sz="1800" dirty="0"/>
              <a:t>”</a:t>
            </a:r>
            <a:r>
              <a:rPr lang="en-US" altLang="ja-JP" sz="1800" dirty="0"/>
              <a:t> of database state to read only transaction</a:t>
            </a:r>
            <a:endParaRPr lang="en-US" altLang="ja-JP" sz="1800" dirty="0"/>
          </a:p>
          <a:p>
            <a:pPr lvl="2">
              <a:lnSpc>
                <a:spcPct val="90000"/>
              </a:lnSpc>
            </a:pPr>
            <a:r>
              <a:rPr lang="en-US" altLang="ja-JP" sz="1800" dirty="0"/>
              <a:t>Reads performed on snapshot</a:t>
            </a:r>
            <a:endParaRPr lang="en-US" altLang="ja-JP" sz="1800" dirty="0"/>
          </a:p>
          <a:p>
            <a:pPr lvl="1">
              <a:lnSpc>
                <a:spcPct val="90000"/>
              </a:lnSpc>
            </a:pPr>
            <a:r>
              <a:rPr lang="en-US" altLang="ja-JP" sz="1800" dirty="0"/>
              <a:t>Update (read-write) transactions use normal locking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Works well, but how does system know a transaction is read only?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Solution 2 (partial): Give snapshot of database state to every transaction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Reads performed on snapshot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Use 2-phase locking on updated data items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Problem: variety of anomalies such as lost update can result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Better solution: snapshot isolation level (next slide)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5825" y="1093788"/>
            <a:ext cx="4569750" cy="52974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kumimoji="0" lang="en-US" altLang="en-US" sz="1600" dirty="0"/>
              <a:t>A transaction T1 executing with Snapshot Isolation</a:t>
            </a:r>
            <a:endParaRPr kumimoji="0" lang="en-US" altLang="en-US" sz="1600" dirty="0"/>
          </a:p>
          <a:p>
            <a:pPr lvl="1">
              <a:buFont typeface="Arial" panose="020B0604020202090204" pitchFamily="34" charset="0"/>
              <a:buChar char="•"/>
            </a:pPr>
            <a:r>
              <a:rPr kumimoji="0" lang="en-US" altLang="en-US" sz="1600" dirty="0"/>
              <a:t>Takes snapshot of committed data at start</a:t>
            </a:r>
            <a:endParaRPr kumimoji="0" lang="en-US" altLang="en-US" sz="1600" dirty="0"/>
          </a:p>
          <a:p>
            <a:pPr lvl="1">
              <a:buFont typeface="Arial" panose="020B0604020202090204" pitchFamily="34" charset="0"/>
              <a:buChar char="•"/>
            </a:pPr>
            <a:r>
              <a:rPr kumimoji="0" lang="en-US" altLang="en-US" sz="1600" dirty="0"/>
              <a:t>Always reads/modifies data in its own snapshot</a:t>
            </a:r>
            <a:endParaRPr kumimoji="0" lang="en-US" altLang="en-US" sz="1600" dirty="0"/>
          </a:p>
          <a:p>
            <a:pPr lvl="1">
              <a:buFont typeface="Arial" panose="020B0604020202090204" pitchFamily="34" charset="0"/>
              <a:buChar char="•"/>
            </a:pPr>
            <a:r>
              <a:rPr kumimoji="0" lang="en-US" altLang="en-US" sz="1600" dirty="0"/>
              <a:t>Updates of concurrent transactions are not visible to T1 </a:t>
            </a:r>
            <a:endParaRPr kumimoji="0" lang="en-US" altLang="en-US" sz="1600" dirty="0"/>
          </a:p>
          <a:p>
            <a:pPr lvl="1">
              <a:buFont typeface="Arial" panose="020B0604020202090204" pitchFamily="34" charset="0"/>
              <a:buChar char="•"/>
            </a:pPr>
            <a:r>
              <a:rPr kumimoji="0" lang="en-US" altLang="en-US" sz="1600" dirty="0"/>
              <a:t>Writes of T1 complete when it commits</a:t>
            </a:r>
            <a:endParaRPr kumimoji="0" lang="en-US" altLang="en-US" sz="1600" dirty="0"/>
          </a:p>
          <a:p>
            <a:pPr lvl="1">
              <a:buFont typeface="Arial" panose="020B0604020202090204" pitchFamily="34" charset="0"/>
              <a:buChar char="•"/>
            </a:pPr>
            <a:r>
              <a:rPr kumimoji="0" lang="en-US" altLang="en-US" sz="1600" b="1" dirty="0"/>
              <a:t>First-committer-wins rule</a:t>
            </a:r>
            <a:r>
              <a:rPr kumimoji="0" lang="en-US" altLang="en-US" sz="1600" dirty="0"/>
              <a:t>:</a:t>
            </a:r>
            <a:endParaRPr kumimoji="0" lang="en-US" altLang="en-US" sz="1600" dirty="0"/>
          </a:p>
          <a:p>
            <a:pPr lvl="2"/>
            <a:r>
              <a:rPr kumimoji="0" lang="en-US" altLang="en-US" sz="1600" dirty="0"/>
              <a:t>Commits only if no other concurrent transaction has already written data that T1 intends to write.</a:t>
            </a:r>
            <a:endParaRPr kumimoji="0" lang="en-US" altLang="en-US" sz="1600" dirty="0"/>
          </a:p>
        </p:txBody>
      </p:sp>
      <p:graphicFrame>
        <p:nvGraphicFramePr>
          <p:cNvPr id="337924" name="Group 4"/>
          <p:cNvGraphicFramePr>
            <a:graphicFrameLocks noGrp="1"/>
          </p:cNvGraphicFramePr>
          <p:nvPr>
            <p:ph sz="half" idx="2"/>
          </p:nvPr>
        </p:nvGraphicFramePr>
        <p:xfrm>
          <a:off x="5537200" y="1144588"/>
          <a:ext cx="3289300" cy="4837113"/>
        </p:xfrm>
        <a:graphic>
          <a:graphicData uri="http://schemas.openxmlformats.org/drawingml/2006/table">
            <a:tbl>
              <a:tblPr/>
              <a:tblGrid>
                <a:gridCol w="1095375"/>
                <a:gridCol w="1252538"/>
                <a:gridCol w="941387"/>
              </a:tblGrid>
              <a:tr h="3921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T1</a:t>
                      </a:r>
                      <a:endParaRPr kumimoji="1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T2</a:t>
                      </a:r>
                      <a:endParaRPr kumimoji="1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T3</a:t>
                      </a:r>
                      <a:endParaRPr kumimoji="1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86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W(Y := 1)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Commit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02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Start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R(X) 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  <a:sym typeface="Wingdings" panose="05000000000000000000" charset="0"/>
                        </a:rPr>
                        <a:t> 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R(Y)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  <a:sym typeface="Wingdings" panose="05000000000000000000" charset="0"/>
                        </a:rPr>
                        <a:t> 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379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W(X:=2)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W(Z:=3)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Commit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22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R(Z) 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  <a:sym typeface="Wingdings" panose="05000000000000000000" charset="0"/>
                        </a:rPr>
                        <a:t> 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  <a:sym typeface="Wingdings" panose="05000000000000000000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  <a:sym typeface="Wingdings" panose="05000000000000000000" charset="0"/>
                        </a:rPr>
                        <a:t>R(Y)  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  <a:sym typeface="Wingdings" panose="05000000000000000000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  <a:sym typeface="Wingdings" panose="05000000000000000000" charset="0"/>
                        </a:rPr>
                        <a:t>W(X:=3)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Commit-</a:t>
                      </a:r>
                      <a:r>
                        <a:rPr kumimoji="1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Req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MS PGothic" charset="0"/>
                          <a:cs typeface="MS PGothic" charset="0"/>
                        </a:rPr>
                        <a:t>Abort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</a:pP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charset="0"/>
                        <a:cs typeface="MS PGothic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26" name="Text Box 30"/>
          <p:cNvSpPr txBox="1">
            <a:spLocks noChangeArrowheads="1"/>
          </p:cNvSpPr>
          <p:nvPr/>
        </p:nvSpPr>
        <p:spPr bwMode="auto">
          <a:xfrm>
            <a:off x="2046288" y="5165725"/>
            <a:ext cx="336708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dirty="0">
                <a:solidFill>
                  <a:srgbClr val="002060"/>
                </a:solidFill>
              </a:rPr>
              <a:t>Concurrent updates not visible</a:t>
            </a:r>
            <a:endParaRPr lang="en-US" altLang="en-US" dirty="0">
              <a:solidFill>
                <a:srgbClr val="002060"/>
              </a:solidFill>
            </a:endParaRP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Own updates are visible</a:t>
            </a:r>
            <a:endParaRPr lang="en-US" altLang="en-US" dirty="0">
              <a:solidFill>
                <a:srgbClr val="002060"/>
              </a:solidFill>
            </a:endParaRP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Not first-committer of X</a:t>
            </a:r>
            <a:endParaRPr lang="en-US" altLang="en-US" dirty="0">
              <a:solidFill>
                <a:srgbClr val="002060"/>
              </a:solidFill>
            </a:endParaRP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Serialization error, T2 is rolled back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5327" name="Line 31"/>
          <p:cNvSpPr>
            <a:spLocks noChangeShapeType="1"/>
          </p:cNvSpPr>
          <p:nvPr/>
        </p:nvSpPr>
        <p:spPr bwMode="auto">
          <a:xfrm flipV="1">
            <a:off x="5359400" y="4533900"/>
            <a:ext cx="1295400" cy="78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28" name="Line 32"/>
          <p:cNvSpPr>
            <a:spLocks noChangeShapeType="1"/>
          </p:cNvSpPr>
          <p:nvPr/>
        </p:nvSpPr>
        <p:spPr bwMode="auto">
          <a:xfrm flipV="1">
            <a:off x="5359400" y="4813300"/>
            <a:ext cx="130810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29" name="Line 33"/>
          <p:cNvSpPr>
            <a:spLocks noChangeShapeType="1"/>
          </p:cNvSpPr>
          <p:nvPr/>
        </p:nvSpPr>
        <p:spPr bwMode="auto">
          <a:xfrm flipV="1">
            <a:off x="5359400" y="5143500"/>
            <a:ext cx="1295400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30" name="Line 34"/>
          <p:cNvSpPr>
            <a:spLocks noChangeShapeType="1"/>
          </p:cNvSpPr>
          <p:nvPr/>
        </p:nvSpPr>
        <p:spPr bwMode="auto">
          <a:xfrm flipV="1">
            <a:off x="5372100" y="5842000"/>
            <a:ext cx="12954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231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>
                <a:ea typeface="MS PGothic" charset="0"/>
              </a:rPr>
              <a:t>Snapshot Read</a:t>
            </a:r>
            <a:endParaRPr lang="en-US" b="0">
              <a:effectLst/>
              <a:latin typeface="Arial" panose="020B0604020202090204" pitchFamily="34" charset="0"/>
              <a:ea typeface="MS PGothic" charset="0"/>
            </a:endParaRPr>
          </a:p>
        </p:txBody>
      </p:sp>
      <p:pic>
        <p:nvPicPr>
          <p:cNvPr id="56323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556993"/>
            <a:ext cx="7111205" cy="4551701"/>
          </a:xfrm>
        </p:spPr>
      </p:pic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806450" y="1109709"/>
            <a:ext cx="7948613" cy="36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Concurrent updates invisible to snapshot read</a:t>
            </a:r>
            <a:endParaRPr kumimoji="1" lang="en-US" alt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Snapshot Write:</a:t>
            </a:r>
            <a:r>
              <a:rPr lang="en-US" b="0">
                <a:effectLst/>
                <a:latin typeface="Arial" panose="020B0604020202090204" pitchFamily="34" charset="0"/>
                <a:ea typeface="+mj-ea"/>
                <a:cs typeface="+mj-cs"/>
              </a:rPr>
              <a:t> First Committer Wins</a:t>
            </a:r>
            <a:endParaRPr lang="en-US" b="0">
              <a:effectLst/>
              <a:latin typeface="Arial" panose="020B0604020202090204" pitchFamily="34" charset="0"/>
              <a:ea typeface="+mj-ea"/>
              <a:cs typeface="+mj-cs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42875" y="4521625"/>
            <a:ext cx="7261933" cy="1969663"/>
          </a:xfrm>
        </p:spPr>
        <p:txBody>
          <a:bodyPr/>
          <a:lstStyle/>
          <a:p>
            <a:pPr>
              <a:lnSpc>
                <a:spcPct val="80000"/>
              </a:lnSpc>
              <a:buFont typeface="Arial" panose="020B0604020202090204" pitchFamily="34" charset="0"/>
              <a:buChar char="•"/>
            </a:pPr>
            <a:r>
              <a:rPr lang="en-US" altLang="en-US" dirty="0"/>
              <a:t>Variant: </a:t>
            </a:r>
            <a:r>
              <a:rPr lang="ja-JP" altLang="en-US" dirty="0"/>
              <a:t>“</a:t>
            </a:r>
            <a:r>
              <a:rPr lang="en-US" altLang="ja-JP" b="1" dirty="0">
                <a:solidFill>
                  <a:srgbClr val="002060"/>
                </a:solidFill>
              </a:rPr>
              <a:t>First-updater-wins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Check for concurrent updates when write occurs by locking item</a:t>
            </a:r>
            <a:endParaRPr lang="en-US" altLang="en-US" dirty="0"/>
          </a:p>
          <a:p>
            <a:pPr lvl="2">
              <a:lnSpc>
                <a:spcPct val="80000"/>
              </a:lnSpc>
            </a:pPr>
            <a:r>
              <a:rPr lang="en-US" altLang="en-US" dirty="0"/>
              <a:t>But lock should be held till all concurrent transactions have finished</a:t>
            </a:r>
            <a:endParaRPr lang="en-US" altLang="en-US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(Oracle uses this plus some extra features)</a:t>
            </a:r>
            <a:endParaRPr lang="en-US" altLang="en-US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Differs only in when abort occurs, otherwise equivalent </a:t>
            </a:r>
            <a:endParaRPr lang="en-US" altLang="en-US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9889"/>
            <a:ext cx="5477730" cy="340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Benefits of SI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14695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Reads are </a:t>
            </a:r>
            <a:r>
              <a:rPr lang="en-US" altLang="en-US" i="1" dirty="0"/>
              <a:t>never </a:t>
            </a:r>
            <a:r>
              <a:rPr lang="en-US" altLang="en-US" dirty="0"/>
              <a:t>blocked,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and also don</a:t>
            </a:r>
            <a:r>
              <a:rPr lang="ja-JP" altLang="en-US" dirty="0"/>
              <a:t>’</a:t>
            </a:r>
            <a:r>
              <a:rPr lang="en-US" altLang="ja-JP" dirty="0"/>
              <a:t>t block other </a:t>
            </a:r>
            <a:r>
              <a:rPr lang="en-US" altLang="ja-JP" dirty="0" err="1"/>
              <a:t>txns</a:t>
            </a:r>
            <a:r>
              <a:rPr lang="en-US" altLang="ja-JP" dirty="0"/>
              <a:t> activities</a:t>
            </a:r>
            <a:endParaRPr lang="en-US" altLang="ja-JP" dirty="0"/>
          </a:p>
          <a:p>
            <a:pPr>
              <a:lnSpc>
                <a:spcPct val="90000"/>
              </a:lnSpc>
            </a:pPr>
            <a:r>
              <a:rPr lang="en-US" altLang="en-US" dirty="0"/>
              <a:t>Performance similar to Read Committed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Avoids several anomalies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No dirty read, i.e. no read of uncommitted data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No lost update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I.e., update made by a transaction is overwritten by another transaction that did not see the update)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No non-repeatable read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I.e., if read is executed again, it will see the same value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Problems with SI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SI does not always give serializable executions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Serializable: among two concurrent </a:t>
            </a:r>
            <a:r>
              <a:rPr lang="en-US" altLang="en-US" dirty="0" err="1"/>
              <a:t>txns</a:t>
            </a:r>
            <a:r>
              <a:rPr lang="en-US" altLang="en-US" dirty="0"/>
              <a:t>, one sees the effects of the other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In SI: neither sees the effects of the other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Result: Integrity constraints can be violated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8179725" cy="5367972"/>
          </a:xfrm>
        </p:spPr>
        <p:txBody>
          <a:bodyPr/>
          <a:lstStyle/>
          <a:p>
            <a:r>
              <a:rPr lang="en-US" altLang="en-US" dirty="0"/>
              <a:t>Example of problem with SI</a:t>
            </a:r>
            <a:endParaRPr lang="en-US" altLang="en-US" dirty="0"/>
          </a:p>
          <a:p>
            <a:pPr lvl="1"/>
            <a:r>
              <a:rPr kumimoji="0" lang="en-US" altLang="en-US" dirty="0"/>
              <a:t>Initially A = 3 and B = 17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Serial execution:  A = ??, B = ??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if both transactions start at the same time, </a:t>
            </a:r>
            <a:br>
              <a:rPr kumimoji="0" lang="en-US" altLang="en-US" dirty="0"/>
            </a:br>
            <a:r>
              <a:rPr kumimoji="0" lang="en-US" altLang="en-US" dirty="0"/>
              <a:t>with snapshot isolation:  A = ?? , B = ??</a:t>
            </a:r>
            <a:endParaRPr kumimoji="0" lang="en-US" altLang="en-US" dirty="0"/>
          </a:p>
          <a:p>
            <a:r>
              <a:rPr kumimoji="0" lang="en-US" altLang="en-US" dirty="0"/>
              <a:t>Called </a:t>
            </a:r>
            <a:r>
              <a:rPr kumimoji="0" lang="en-US" altLang="en-US" b="1" dirty="0">
                <a:solidFill>
                  <a:srgbClr val="002060"/>
                </a:solidFill>
              </a:rPr>
              <a:t>skew write</a:t>
            </a:r>
            <a:endParaRPr kumimoji="0" lang="en-US" altLang="en-US" b="1" dirty="0">
              <a:solidFill>
                <a:srgbClr val="002060"/>
              </a:solidFill>
            </a:endParaRPr>
          </a:p>
          <a:p>
            <a:r>
              <a:rPr kumimoji="0" lang="en-US" altLang="en-US" dirty="0"/>
              <a:t>Skew also occurs with inserts</a:t>
            </a:r>
            <a:endParaRPr kumimoji="0" lang="en-US" altLang="en-US" dirty="0"/>
          </a:p>
          <a:p>
            <a:pPr lvl="1"/>
            <a:r>
              <a:rPr kumimoji="0" lang="en-US" altLang="en-US" dirty="0" err="1"/>
              <a:t>E.g</a:t>
            </a:r>
            <a:r>
              <a:rPr kumimoji="0" lang="en-US" altLang="en-US" dirty="0"/>
              <a:t>: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Find max order number among all orders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Create a new order with order number = previous max + 1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Two transaction can both create order with same number</a:t>
            </a:r>
            <a:endParaRPr kumimoji="0" lang="en-US" altLang="en-US" dirty="0"/>
          </a:p>
          <a:p>
            <a:pPr lvl="3"/>
            <a:r>
              <a:rPr kumimoji="0" lang="en-US" altLang="en-US" dirty="0"/>
              <a:t>Is an example of phantom phenomenon</a:t>
            </a:r>
            <a:endParaRPr kumimoji="0" lang="en-US" altLang="en-US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3650" y="957471"/>
            <a:ext cx="2362926" cy="2979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 Anomalies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686971" y="1075864"/>
            <a:ext cx="7826714" cy="5367972"/>
          </a:xfrm>
        </p:spPr>
        <p:txBody>
          <a:bodyPr/>
          <a:lstStyle/>
          <a:p>
            <a:r>
              <a:rPr lang="en-US" altLang="en-US" dirty="0"/>
              <a:t>SI breaks serializability when transactions modify </a:t>
            </a:r>
            <a:r>
              <a:rPr lang="en-US" altLang="en-US" i="1" dirty="0"/>
              <a:t>different </a:t>
            </a:r>
            <a:r>
              <a:rPr lang="en-US" altLang="en-US" dirty="0"/>
              <a:t>items, each based on a previous state of the item the other modified</a:t>
            </a:r>
            <a:endParaRPr lang="en-US" altLang="en-US" dirty="0"/>
          </a:p>
          <a:p>
            <a:pPr lvl="1"/>
            <a:r>
              <a:rPr lang="en-US" altLang="en-US" dirty="0"/>
              <a:t>Not very common in practice</a:t>
            </a:r>
            <a:endParaRPr lang="en-US" altLang="en-US" dirty="0"/>
          </a:p>
          <a:p>
            <a:pPr lvl="2"/>
            <a:r>
              <a:rPr lang="en-US" altLang="en-US" dirty="0"/>
              <a:t>E.g., the TPC-C benchmark runs correctly under SI</a:t>
            </a:r>
            <a:endParaRPr lang="en-US" altLang="en-US" dirty="0"/>
          </a:p>
          <a:p>
            <a:pPr lvl="2"/>
            <a:r>
              <a:rPr lang="en-US" altLang="en-US" dirty="0"/>
              <a:t>when </a:t>
            </a:r>
            <a:r>
              <a:rPr lang="en-US" altLang="en-US" dirty="0" err="1"/>
              <a:t>txns</a:t>
            </a:r>
            <a:r>
              <a:rPr lang="en-US" altLang="en-US" dirty="0"/>
              <a:t> conflict due to modifying different data, there is usually also a shared item they both modify, so SI will abort one of them</a:t>
            </a:r>
            <a:endParaRPr lang="en-US" altLang="en-US" dirty="0"/>
          </a:p>
          <a:p>
            <a:pPr lvl="1"/>
            <a:r>
              <a:rPr lang="en-US" altLang="en-US" dirty="0"/>
              <a:t>But problems do occur</a:t>
            </a:r>
            <a:endParaRPr lang="en-US" altLang="en-US" dirty="0"/>
          </a:p>
          <a:p>
            <a:pPr lvl="2"/>
            <a:r>
              <a:rPr lang="en-US" altLang="en-US" dirty="0"/>
              <a:t>Application developers should be careful about write skew</a:t>
            </a:r>
            <a:endParaRPr lang="en-US" altLang="en-US" dirty="0"/>
          </a:p>
          <a:p>
            <a:r>
              <a:rPr lang="en-US" altLang="en-US" dirty="0"/>
              <a:t>SI can also cause a read-only transaction anomaly, where read-only transaction may see an inconsistent state even if updaters are serializable</a:t>
            </a:r>
            <a:endParaRPr lang="en-US" altLang="en-US" dirty="0"/>
          </a:p>
          <a:p>
            <a:pPr lvl="1"/>
            <a:r>
              <a:rPr lang="en-US" altLang="en-US" dirty="0"/>
              <a:t>We omit details</a:t>
            </a:r>
            <a:endParaRPr lang="en-US" altLang="en-US" dirty="0"/>
          </a:p>
          <a:p>
            <a:r>
              <a:rPr lang="en-US" altLang="en-US" dirty="0"/>
              <a:t>Using snapshots to verify primary/foreign key integrity can lead to inconsistency</a:t>
            </a:r>
            <a:endParaRPr lang="en-US" altLang="en-US" dirty="0"/>
          </a:p>
          <a:p>
            <a:pPr lvl="1"/>
            <a:r>
              <a:rPr lang="en-US" altLang="en-US" dirty="0"/>
              <a:t>Integrity constraint checking usually done outside of snapshot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Serializable Snapshot Isolation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458" y="1102497"/>
            <a:ext cx="7803472" cy="5367972"/>
          </a:xfrm>
        </p:spPr>
        <p:txBody>
          <a:bodyPr/>
          <a:lstStyle/>
          <a:p>
            <a:r>
              <a:rPr lang="en-IN" sz="2000" b="1" dirty="0">
                <a:solidFill>
                  <a:srgbClr val="002060"/>
                </a:solidFill>
              </a:rPr>
              <a:t>Serializable snapshot isolation (SSI)</a:t>
            </a:r>
            <a:r>
              <a:rPr lang="en-IN" sz="2000" dirty="0"/>
              <a:t>: extension of snapshot isolation that ensures serializability</a:t>
            </a:r>
            <a:endParaRPr lang="en-IN" sz="2000" dirty="0"/>
          </a:p>
          <a:p>
            <a:r>
              <a:rPr lang="en-IN" sz="2000" dirty="0"/>
              <a:t>Snapshot isolation tracks write-write conflicts, but does not track read-write conflicts</a:t>
            </a:r>
            <a:endParaRPr lang="en-IN" sz="2000" dirty="0"/>
          </a:p>
          <a:p>
            <a:pPr lvl="1"/>
            <a:r>
              <a:rPr lang="en-IN" sz="2000" dirty="0"/>
              <a:t>Where T</a:t>
            </a:r>
            <a:r>
              <a:rPr lang="en-IN" sz="2000" baseline="-25000" dirty="0"/>
              <a:t>i</a:t>
            </a:r>
            <a:r>
              <a:rPr lang="en-IN" sz="2000" dirty="0"/>
              <a:t> writes a data a data item Q, T</a:t>
            </a:r>
            <a:r>
              <a:rPr lang="en-IN" sz="2000" baseline="-25000" dirty="0"/>
              <a:t>j</a:t>
            </a:r>
            <a:r>
              <a:rPr lang="en-IN" sz="2000" dirty="0"/>
              <a:t> reads an earlier version of Q, but T</a:t>
            </a:r>
            <a:r>
              <a:rPr lang="en-IN" sz="2000" baseline="-25000" dirty="0"/>
              <a:t>j</a:t>
            </a:r>
            <a:r>
              <a:rPr lang="en-IN" sz="2000" dirty="0"/>
              <a:t> is serialized after T</a:t>
            </a:r>
            <a:r>
              <a:rPr lang="en-IN" sz="2000" baseline="-25000" dirty="0"/>
              <a:t>i</a:t>
            </a:r>
            <a:endParaRPr lang="en-IN" sz="2000" baseline="-25000" dirty="0"/>
          </a:p>
          <a:p>
            <a:r>
              <a:rPr lang="en-IN" sz="2000" dirty="0"/>
              <a:t>Idea:  track read-write dependencies separately, and roll-back transactions where cycles can occur</a:t>
            </a:r>
            <a:endParaRPr lang="en-IN" sz="2000" dirty="0"/>
          </a:p>
          <a:p>
            <a:pPr lvl="1"/>
            <a:r>
              <a:rPr lang="en-IN" sz="2000" dirty="0"/>
              <a:t>Ensures serializability</a:t>
            </a:r>
            <a:endParaRPr lang="en-IN" sz="2000" dirty="0"/>
          </a:p>
          <a:p>
            <a:pPr lvl="1"/>
            <a:r>
              <a:rPr lang="en-IN" sz="2000" dirty="0"/>
              <a:t>Details in book</a:t>
            </a:r>
            <a:endParaRPr lang="en-IN" sz="2000" dirty="0"/>
          </a:p>
          <a:p>
            <a:r>
              <a:rPr lang="en-IN" sz="2000" dirty="0"/>
              <a:t>Implemented in PostgreSQL from version 9.1 onwards</a:t>
            </a:r>
            <a:endParaRPr lang="en-IN" sz="2000" dirty="0"/>
          </a:p>
          <a:p>
            <a:pPr lvl="1"/>
            <a:r>
              <a:rPr lang="en-IN" sz="2000" dirty="0"/>
              <a:t>PostgreSQL implementation of SSI also uses index locking to detect phantom conflicts, thus ensuring true serializability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 Implementations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696941" cy="5367972"/>
          </a:xfrm>
        </p:spPr>
        <p:txBody>
          <a:bodyPr/>
          <a:lstStyle/>
          <a:p>
            <a:r>
              <a:rPr lang="en-US" altLang="en-US" sz="2000" dirty="0"/>
              <a:t>Snapshot isolation supported by many databases </a:t>
            </a:r>
            <a:endParaRPr lang="en-US" altLang="en-US" sz="2000" dirty="0"/>
          </a:p>
          <a:p>
            <a:pPr lvl="1"/>
            <a:r>
              <a:rPr lang="en-US" altLang="en-US" sz="2000" dirty="0"/>
              <a:t>Including Oracle, PostgreSQL, SQL Server, IBM DB2, </a:t>
            </a:r>
            <a:r>
              <a:rPr lang="en-US" altLang="en-US" sz="2000" dirty="0" err="1"/>
              <a:t>etc</a:t>
            </a:r>
            <a:endParaRPr lang="en-US" altLang="en-US" sz="2000" dirty="0"/>
          </a:p>
          <a:p>
            <a:pPr lvl="1"/>
            <a:r>
              <a:rPr lang="en-US" altLang="en-US" sz="2000" dirty="0"/>
              <a:t>Isolation level can be set to snapshot isolation</a:t>
            </a:r>
            <a:endParaRPr lang="en-US" altLang="en-US" sz="2000" dirty="0"/>
          </a:p>
          <a:p>
            <a:pPr marL="400050"/>
            <a:r>
              <a:rPr lang="en-US" altLang="en-US" sz="2000" dirty="0"/>
              <a:t>Oracle implements </a:t>
            </a:r>
            <a:r>
              <a:rPr lang="ja-JP" altLang="en-US" sz="2000" dirty="0"/>
              <a:t>“</a:t>
            </a:r>
            <a:r>
              <a:rPr lang="en-US" altLang="ja-JP" sz="2000" dirty="0"/>
              <a:t>first updater wins</a:t>
            </a:r>
            <a:r>
              <a:rPr lang="ja-JP" altLang="en-US" sz="2000" dirty="0"/>
              <a:t>”</a:t>
            </a:r>
            <a:r>
              <a:rPr lang="en-US" altLang="ja-JP" sz="2000" dirty="0"/>
              <a:t> rule (variant of </a:t>
            </a:r>
            <a:r>
              <a:rPr lang="ja-JP" altLang="en-US" sz="2000" dirty="0"/>
              <a:t>“</a:t>
            </a:r>
            <a:r>
              <a:rPr lang="en-US" altLang="ja-JP" sz="2000" dirty="0"/>
              <a:t>first committer wins</a:t>
            </a:r>
            <a:r>
              <a:rPr lang="ja-JP" altLang="en-US" sz="2000" dirty="0"/>
              <a:t>”</a:t>
            </a:r>
            <a:r>
              <a:rPr lang="en-US" altLang="ja-JP" sz="2000" dirty="0"/>
              <a:t>)</a:t>
            </a:r>
            <a:endParaRPr lang="en-US" altLang="ja-JP" sz="2000" dirty="0"/>
          </a:p>
          <a:p>
            <a:pPr marL="857250" lvl="1" indent="-342900"/>
            <a:r>
              <a:rPr lang="en-US" altLang="en-US" sz="2000" dirty="0"/>
              <a:t>Concurrent writer check is done at time of write, not at commit time</a:t>
            </a:r>
            <a:endParaRPr lang="en-US" altLang="en-US" sz="2000" dirty="0"/>
          </a:p>
          <a:p>
            <a:pPr marL="857250" lvl="1" indent="-342900"/>
            <a:r>
              <a:rPr lang="en-US" altLang="en-US" sz="2000" dirty="0"/>
              <a:t>Allows transactions to be rolled back earlier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Warning</a:t>
            </a:r>
            <a:r>
              <a:rPr lang="en-US" altLang="en-US" sz="2000" dirty="0"/>
              <a:t>: </a:t>
            </a:r>
            <a:r>
              <a:rPr lang="en-US" altLang="en-US" sz="2000" i="1" dirty="0"/>
              <a:t>even if isolation level is set to serializable, Oracle actually uses snapshot isolation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Old versions of</a:t>
            </a:r>
            <a:r>
              <a:rPr lang="en-US" altLang="en-US" sz="2000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PostgreSQL prior to 9.1 did this too</a:t>
            </a:r>
            <a:endParaRPr lang="en-US" altLang="en-US" sz="2000" dirty="0"/>
          </a:p>
          <a:p>
            <a:pPr lvl="1"/>
            <a:r>
              <a:rPr lang="en-US" altLang="en-US" sz="2000" dirty="0"/>
              <a:t>Oracle and PostgreSQL &lt; 9.1 do not support true serializable execution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Working Around SI Anomalies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696940" cy="5367972"/>
          </a:xfrm>
        </p:spPr>
        <p:txBody>
          <a:bodyPr/>
          <a:lstStyle/>
          <a:p>
            <a:r>
              <a:rPr lang="en-US" altLang="en-US" sz="2000" dirty="0"/>
              <a:t>Can work around SI anomalies for specific queries by using </a:t>
            </a:r>
            <a:r>
              <a:rPr lang="en-US" altLang="en-US" sz="2000" b="1" dirty="0"/>
              <a:t>select .. for update </a:t>
            </a:r>
            <a:r>
              <a:rPr lang="en-US" altLang="en-US" sz="2000" dirty="0"/>
              <a:t> (supported e.g. in Oracle)</a:t>
            </a:r>
            <a:endParaRPr lang="en-US" altLang="en-US" sz="2000" b="1" dirty="0"/>
          </a:p>
          <a:p>
            <a:pPr marL="800100" lvl="1" indent="-342900"/>
            <a:r>
              <a:rPr lang="en-US" altLang="en-US" sz="2000" dirty="0"/>
              <a:t>Example</a:t>
            </a:r>
            <a:endParaRPr lang="en-US" altLang="en-US" sz="2000" dirty="0"/>
          </a:p>
          <a:p>
            <a:pPr lvl="2"/>
            <a:r>
              <a:rPr lang="en-US" altLang="en-US" sz="2000" b="1" dirty="0"/>
              <a:t>select</a:t>
            </a:r>
            <a:r>
              <a:rPr lang="en-US" altLang="en-US" sz="2000" dirty="0"/>
              <a:t> </a:t>
            </a:r>
            <a:r>
              <a:rPr lang="en-US" altLang="en-US" sz="2000" b="1" dirty="0"/>
              <a:t>max</a:t>
            </a:r>
            <a:r>
              <a:rPr lang="en-US" altLang="en-US" sz="2000" dirty="0"/>
              <a:t>(</a:t>
            </a:r>
            <a:r>
              <a:rPr lang="en-US" altLang="en-US" sz="2000" dirty="0" err="1"/>
              <a:t>orderno</a:t>
            </a:r>
            <a:r>
              <a:rPr lang="en-US" altLang="en-US" sz="2000" dirty="0"/>
              <a:t>) </a:t>
            </a:r>
            <a:r>
              <a:rPr lang="en-US" altLang="en-US" sz="2000" b="1" dirty="0"/>
              <a:t>from</a:t>
            </a:r>
            <a:r>
              <a:rPr lang="en-US" altLang="en-US" sz="2000" dirty="0"/>
              <a:t> orders </a:t>
            </a:r>
            <a:r>
              <a:rPr lang="en-US" altLang="en-US" sz="2000" b="1" u="sng" dirty="0"/>
              <a:t>for update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 lvl="2"/>
            <a:r>
              <a:rPr lang="en-US" altLang="en-US" sz="2000" dirty="0"/>
              <a:t>read value into local variable </a:t>
            </a:r>
            <a:r>
              <a:rPr lang="en-US" altLang="en-US" sz="2000" dirty="0" err="1"/>
              <a:t>maxorder</a:t>
            </a:r>
            <a:endParaRPr lang="en-US" altLang="en-US" sz="2000" dirty="0"/>
          </a:p>
          <a:p>
            <a:pPr lvl="2"/>
            <a:r>
              <a:rPr lang="en-US" altLang="en-US" sz="2000" dirty="0"/>
              <a:t>insert into orders (maxorder+1, …)</a:t>
            </a:r>
            <a:endParaRPr lang="en-US" altLang="en-US" sz="2000" dirty="0"/>
          </a:p>
          <a:p>
            <a:pPr marL="400050"/>
            <a:r>
              <a:rPr lang="en-US" altLang="en-US" sz="2000" b="1" dirty="0">
                <a:solidFill>
                  <a:srgbClr val="002060"/>
                </a:solidFill>
              </a:rPr>
              <a:t>select for update (SFU) clause </a:t>
            </a:r>
            <a:r>
              <a:rPr lang="en-US" altLang="en-US" sz="2000" dirty="0"/>
              <a:t>treats all data read by the query as if it were also updated, preventing concurrent updates</a:t>
            </a:r>
            <a:endParaRPr lang="en-US" altLang="en-US" sz="2000" dirty="0"/>
          </a:p>
          <a:p>
            <a:pPr marL="400050"/>
            <a:r>
              <a:rPr lang="en-US" altLang="en-US" sz="2000" dirty="0"/>
              <a:t>Can be added to queries to ensure serializability in many applications</a:t>
            </a:r>
            <a:endParaRPr lang="en-US" altLang="en-US" sz="2000" dirty="0"/>
          </a:p>
          <a:p>
            <a:pPr marL="800100" lvl="1"/>
            <a:r>
              <a:rPr lang="en-US" altLang="en-US" sz="2000" dirty="0"/>
              <a:t>Does not handle phantom phenomenon/predicate reads though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5983" y="2719148"/>
            <a:ext cx="703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Weak Levels of Concurrency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528264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Degree-two consistency</a:t>
            </a:r>
            <a:r>
              <a:rPr lang="en-US" altLang="en-US" sz="2000" dirty="0"/>
              <a:t>: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differs from two-phase locking in that S-locks may be released at any time, and locks may be acquired at any time</a:t>
            </a:r>
            <a:endParaRPr lang="en-US" altLang="en-US" sz="2000" dirty="0"/>
          </a:p>
          <a:p>
            <a:pPr lvl="1"/>
            <a:r>
              <a:rPr lang="en-US" altLang="en-US" sz="2000" dirty="0"/>
              <a:t>X-locks must be held till end of transaction</a:t>
            </a:r>
            <a:endParaRPr lang="en-US" altLang="en-US" sz="2000" dirty="0"/>
          </a:p>
          <a:p>
            <a:pPr lvl="1"/>
            <a:r>
              <a:rPr lang="en-US" altLang="en-US" sz="2000" dirty="0"/>
              <a:t>Serializability is not guaranteed, programmer must ensure that no erroneous database state will occur]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Cursor stability</a:t>
            </a:r>
            <a:r>
              <a:rPr lang="en-US" altLang="en-US" sz="2000" dirty="0"/>
              <a:t>: </a:t>
            </a:r>
            <a:endParaRPr lang="en-US" altLang="en-US" sz="2000" dirty="0"/>
          </a:p>
          <a:p>
            <a:pPr lvl="1"/>
            <a:r>
              <a:rPr lang="en-US" altLang="en-US" sz="2000" dirty="0"/>
              <a:t>For reads, each tuple is locked, read, and lock is immediately released</a:t>
            </a:r>
            <a:endParaRPr lang="en-US" altLang="en-US" sz="2000" dirty="0"/>
          </a:p>
          <a:p>
            <a:pPr lvl="1"/>
            <a:r>
              <a:rPr lang="en-US" altLang="en-US" sz="2000" dirty="0"/>
              <a:t>X-locks are held till end of transaction</a:t>
            </a:r>
            <a:endParaRPr lang="en-US" altLang="en-US" sz="2000" dirty="0"/>
          </a:p>
          <a:p>
            <a:pPr lvl="1"/>
            <a:r>
              <a:rPr lang="en-US" altLang="en-US" sz="2000" dirty="0"/>
              <a:t>Special case of degree-two consistency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 in SQL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32451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SQL allows non-serializable executions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2060"/>
                </a:solidFill>
              </a:rPr>
              <a:t>Serializable</a:t>
            </a:r>
            <a:r>
              <a:rPr lang="en-US" altLang="en-US" sz="1800" dirty="0"/>
              <a:t>: is the default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2060"/>
                </a:solidFill>
              </a:rPr>
              <a:t>Repeatable read</a:t>
            </a:r>
            <a:r>
              <a:rPr lang="en-US" altLang="en-US" sz="1800" dirty="0"/>
              <a:t>: allows only committed records to be read, and repeating a read should return the same value (so read locks should be retained)</a:t>
            </a:r>
            <a:endParaRPr lang="en-US" altLang="en-US" sz="1800" dirty="0"/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However, the phantom phenomenon need not be prevented</a:t>
            </a:r>
            <a:endParaRPr lang="en-US" altLang="en-US" sz="1800" dirty="0"/>
          </a:p>
          <a:p>
            <a:pPr lvl="3">
              <a:lnSpc>
                <a:spcPct val="90000"/>
              </a:lnSpc>
            </a:pPr>
            <a:r>
              <a:rPr lang="en-US" altLang="en-US" sz="1800" dirty="0"/>
              <a:t>T1 may see some records inserted by T2, but may not see others inserted by T2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2060"/>
                </a:solidFill>
              </a:rPr>
              <a:t>Read committed</a:t>
            </a:r>
            <a:r>
              <a:rPr lang="en-US" altLang="en-US" sz="1800" dirty="0"/>
              <a:t>:  same as degree two consistency, but most systems implement it as cursor-stability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b="1" dirty="0">
                <a:solidFill>
                  <a:srgbClr val="002060"/>
                </a:solidFill>
              </a:rPr>
              <a:t>Read uncommitted</a:t>
            </a:r>
            <a:r>
              <a:rPr lang="en-US" altLang="en-US" sz="1800" dirty="0"/>
              <a:t>: allows even uncommitted data to be read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dirty="0"/>
              <a:t>In most database systems, read committed is the default consistency level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Can be changed as database configuration parameter, or per transaction</a:t>
            </a:r>
            <a:endParaRPr lang="en-US" altLang="en-US" sz="1800" dirty="0"/>
          </a:p>
          <a:p>
            <a:pPr lvl="2">
              <a:lnSpc>
                <a:spcPct val="90000"/>
              </a:lnSpc>
            </a:pPr>
            <a:r>
              <a:rPr lang="en-US" altLang="en-US" sz="1800" b="1" dirty="0"/>
              <a:t>set isolation level serializable</a:t>
            </a:r>
            <a:endParaRPr lang="en-US" altLang="en-US" sz="1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472" y="268425"/>
            <a:ext cx="8077200" cy="4684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Concurrency Control across User Interactions</a:t>
            </a:r>
            <a:endParaRPr lang="en-US" altLang="en-US" dirty="0">
              <a:effectLst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253447"/>
            <a:ext cx="7821228" cy="521702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Many applications need transaction support across user interactions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Can’</a:t>
            </a:r>
            <a:r>
              <a:rPr lang="en-US" altLang="ja-JP" sz="2000" dirty="0"/>
              <a:t>t use locking for long durations</a:t>
            </a:r>
            <a:endParaRPr lang="en-US" altLang="ja-JP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Application level concurrency control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Each tuple has a version number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Transaction notes version number when reading tuple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b="1" dirty="0"/>
              <a:t>select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r.balance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r.version</a:t>
            </a:r>
            <a:r>
              <a:rPr lang="en-US" altLang="en-US" sz="2000" dirty="0"/>
              <a:t> </a:t>
            </a:r>
            <a:r>
              <a:rPr lang="en-US" altLang="en-US" sz="2000" b="1" dirty="0"/>
              <a:t>into</a:t>
            </a:r>
            <a:r>
              <a:rPr lang="en-US" altLang="en-US" sz="2000" dirty="0"/>
              <a:t> :A, :version </a:t>
            </a:r>
            <a:br>
              <a:rPr lang="en-US" altLang="en-US" sz="2000" dirty="0"/>
            </a:br>
            <a:r>
              <a:rPr lang="en-US" altLang="en-US" sz="2000" b="1" dirty="0"/>
              <a:t>from</a:t>
            </a:r>
            <a:r>
              <a:rPr lang="en-US" altLang="en-US" sz="2000" dirty="0"/>
              <a:t> r </a:t>
            </a:r>
            <a:r>
              <a:rPr lang="en-US" altLang="en-US" sz="2000" b="1" dirty="0"/>
              <a:t>where </a:t>
            </a:r>
            <a:r>
              <a:rPr lang="en-US" altLang="en-US" sz="2000" dirty="0" err="1"/>
              <a:t>acctId</a:t>
            </a:r>
            <a:r>
              <a:rPr lang="en-US" altLang="en-US" sz="2000" dirty="0"/>
              <a:t> =23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When writing tuple, check that current version number is same as the version when tuple was read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b="1" dirty="0"/>
              <a:t>update </a:t>
            </a:r>
            <a:r>
              <a:rPr lang="en-US" altLang="en-US" sz="2000" dirty="0"/>
              <a:t>r </a:t>
            </a:r>
            <a:r>
              <a:rPr lang="en-US" altLang="en-US" sz="2000" b="1" dirty="0"/>
              <a:t>set </a:t>
            </a:r>
            <a:r>
              <a:rPr lang="en-US" altLang="en-US" sz="2000" dirty="0" err="1"/>
              <a:t>r.balance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r.balance</a:t>
            </a:r>
            <a:r>
              <a:rPr lang="en-US" altLang="en-US" sz="2000" dirty="0"/>
              <a:t> + :deposit, </a:t>
            </a:r>
            <a:r>
              <a:rPr lang="en-US" altLang="en-US" sz="2000" dirty="0" err="1"/>
              <a:t>r.version</a:t>
            </a:r>
            <a:r>
              <a:rPr lang="en-US" altLang="en-US" sz="2000" dirty="0"/>
              <a:t> = r.version+1 </a:t>
            </a:r>
            <a:br>
              <a:rPr lang="en-US" altLang="en-US" sz="2000" dirty="0"/>
            </a:br>
            <a:r>
              <a:rPr lang="en-US" altLang="en-US" sz="2000" b="1" dirty="0"/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acctId</a:t>
            </a:r>
            <a:r>
              <a:rPr lang="en-US" altLang="en-US" sz="2000" dirty="0"/>
              <a:t> = 23 </a:t>
            </a:r>
            <a:r>
              <a:rPr lang="en-US" altLang="en-US" sz="2000" b="1" dirty="0"/>
              <a:t>and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r.version</a:t>
            </a:r>
            <a:r>
              <a:rPr lang="en-US" altLang="en-US" sz="2000" dirty="0"/>
              <a:t> = :version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077200" cy="6193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Concurrency Control across User Interactions</a:t>
            </a:r>
            <a:endParaRPr lang="en-US" altLang="en-US" dirty="0">
              <a:effectLst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253447"/>
            <a:ext cx="7466121" cy="521702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Equivalent to </a:t>
            </a:r>
            <a:r>
              <a:rPr lang="en-US" altLang="en-US" sz="2000" b="1" dirty="0">
                <a:solidFill>
                  <a:srgbClr val="002060"/>
                </a:solidFill>
              </a:rPr>
              <a:t>optimistic concurrency control without validating read set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Unlike SI, reads are not guaranteed to be from a single snapshot.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Does not guarantee serializability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But avoids some anomalies such as “lost update anomaly”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Used internally in Hibernate ORM system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Implemented manually in many applications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Version numbers stored in tuples can also be used to support first committer wins check of snapshot isolation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895" y="2887596"/>
            <a:ext cx="8337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Advanced topics in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Online Index Creation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5824" y="1102497"/>
            <a:ext cx="7670307" cy="5367972"/>
          </a:xfrm>
        </p:spPr>
        <p:txBody>
          <a:bodyPr/>
          <a:lstStyle/>
          <a:p>
            <a:r>
              <a:rPr lang="en-IN" sz="1800" dirty="0"/>
              <a:t>Problem: how to create an index on a large relation without affecting concurrent updates</a:t>
            </a:r>
            <a:endParaRPr lang="en-IN" sz="1800" dirty="0"/>
          </a:p>
          <a:p>
            <a:pPr lvl="1"/>
            <a:r>
              <a:rPr lang="en-IN" sz="1800" dirty="0"/>
              <a:t>Index construction may take a long time</a:t>
            </a:r>
            <a:endParaRPr lang="en-IN" sz="1800" dirty="0"/>
          </a:p>
          <a:p>
            <a:pPr lvl="1"/>
            <a:r>
              <a:rPr lang="en-IN" sz="1800" dirty="0"/>
              <a:t>Two-phase locking will block all concurrent updates</a:t>
            </a:r>
            <a:endParaRPr lang="en-IN" sz="1800" dirty="0"/>
          </a:p>
          <a:p>
            <a:r>
              <a:rPr lang="en-IN" sz="1800" dirty="0"/>
              <a:t>Key ideas:  </a:t>
            </a:r>
            <a:endParaRPr lang="en-IN" sz="1800" dirty="0"/>
          </a:p>
          <a:p>
            <a:pPr lvl="1"/>
            <a:r>
              <a:rPr lang="en-IN" sz="1800" dirty="0"/>
              <a:t>Build index on a snapshot of the relation, but keep track of all updates that occur after snapshot</a:t>
            </a:r>
            <a:endParaRPr lang="en-IN" sz="1800" dirty="0"/>
          </a:p>
          <a:p>
            <a:pPr lvl="2"/>
            <a:r>
              <a:rPr lang="en-IN" sz="1800" dirty="0"/>
              <a:t>Updates are not applied on the index at this point</a:t>
            </a:r>
            <a:endParaRPr lang="en-IN" sz="1800" dirty="0"/>
          </a:p>
          <a:p>
            <a:pPr lvl="1"/>
            <a:r>
              <a:rPr lang="en-IN" sz="1800" dirty="0"/>
              <a:t>Then apply subsequent updates to catch up</a:t>
            </a:r>
            <a:endParaRPr lang="en-IN" sz="1800" dirty="0"/>
          </a:p>
          <a:p>
            <a:pPr lvl="1"/>
            <a:r>
              <a:rPr lang="en-IN" sz="1800" dirty="0"/>
              <a:t>Acquire relation lock towards end of catchup phase to block concurrent updates</a:t>
            </a:r>
            <a:endParaRPr lang="en-IN" sz="1800" dirty="0"/>
          </a:p>
          <a:p>
            <a:pPr lvl="1"/>
            <a:r>
              <a:rPr lang="en-IN" sz="1800" dirty="0"/>
              <a:t>Catch up with remaining updates, and add index to system </a:t>
            </a:r>
            <a:r>
              <a:rPr lang="en-IN" sz="1800" dirty="0" err="1"/>
              <a:t>catalog</a:t>
            </a:r>
            <a:endParaRPr lang="en-IN" sz="1800" dirty="0"/>
          </a:p>
          <a:p>
            <a:pPr lvl="1"/>
            <a:r>
              <a:rPr lang="en-IN" sz="1800" dirty="0"/>
              <a:t>Subsequent transactions will find the index in </a:t>
            </a:r>
            <a:r>
              <a:rPr lang="en-IN" sz="1800" dirty="0" err="1"/>
              <a:t>catalog</a:t>
            </a:r>
            <a:r>
              <a:rPr lang="en-IN" sz="1800" dirty="0"/>
              <a:t> and update it</a:t>
            </a:r>
            <a:endParaRPr lang="en-IN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in Index Structures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954585" cy="5367972"/>
          </a:xfrm>
        </p:spPr>
        <p:txBody>
          <a:bodyPr/>
          <a:lstStyle/>
          <a:p>
            <a:r>
              <a:rPr lang="en-US" altLang="en-US" sz="2000" dirty="0"/>
              <a:t>Indices are unlike other database items in that their only job is to help in accessing data.</a:t>
            </a:r>
            <a:endParaRPr lang="en-US" altLang="en-US" sz="2000" dirty="0"/>
          </a:p>
          <a:p>
            <a:r>
              <a:rPr lang="en-US" altLang="en-US" sz="2000" dirty="0"/>
              <a:t>Index-structures are typically accessed very often, much more than other database items. </a:t>
            </a:r>
            <a:endParaRPr lang="en-US" altLang="en-US" sz="2000" dirty="0"/>
          </a:p>
          <a:p>
            <a:pPr lvl="1"/>
            <a:r>
              <a:rPr lang="en-US" altLang="en-US" sz="2000" dirty="0"/>
              <a:t>Treating index-structures like other database items, e.g. by 2-phase locking of index nodes can lead to low concurrency.   </a:t>
            </a:r>
            <a:endParaRPr lang="en-US" altLang="en-US" sz="2000" dirty="0"/>
          </a:p>
          <a:p>
            <a:r>
              <a:rPr lang="en-US" altLang="en-US" sz="2000" dirty="0"/>
              <a:t>There are several index concurrency protocols where locks on internal nodes are released early, and not in a two-phase fashion.</a:t>
            </a:r>
            <a:endParaRPr lang="en-US" altLang="en-US" sz="2000" dirty="0"/>
          </a:p>
          <a:p>
            <a:pPr lvl="1"/>
            <a:r>
              <a:rPr lang="en-US" altLang="en-US" sz="2000" dirty="0"/>
              <a:t>It is acceptable to have nonserializable concurrent access to an index as long as the accuracy of the index is maintained.</a:t>
            </a:r>
            <a:endParaRPr lang="en-US" altLang="en-US" sz="2000" dirty="0"/>
          </a:p>
          <a:p>
            <a:pPr lvl="2"/>
            <a:r>
              <a:rPr lang="en-US" altLang="en-US" sz="2000" dirty="0"/>
              <a:t>In particular, the exact values read in an internal node of a </a:t>
            </a:r>
            <a:br>
              <a:rPr lang="en-US" altLang="en-US" sz="2000" dirty="0"/>
            </a:br>
            <a:r>
              <a:rPr lang="en-US" altLang="en-US" sz="2000" dirty="0"/>
              <a:t>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are irrelevant so long as we land up in the correct leaf node.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in Index Structures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8013158" cy="5367972"/>
          </a:xfrm>
        </p:spPr>
        <p:txBody>
          <a:bodyPr/>
          <a:lstStyle/>
          <a:p>
            <a:r>
              <a:rPr lang="en-US" altLang="en-US" sz="1800" b="1" dirty="0">
                <a:solidFill>
                  <a:srgbClr val="002060"/>
                </a:solidFill>
              </a:rPr>
              <a:t>Crabbing protocol</a:t>
            </a:r>
            <a:r>
              <a:rPr lang="en-US" altLang="en-US" sz="1800" dirty="0">
                <a:solidFill>
                  <a:srgbClr val="002060"/>
                </a:solidFill>
              </a:rPr>
              <a:t> used </a:t>
            </a:r>
            <a:r>
              <a:rPr lang="en-US" altLang="en-US" sz="1800" dirty="0"/>
              <a:t>instead of two-phase locking on the nodes of the B</a:t>
            </a:r>
            <a:r>
              <a:rPr lang="en-US" altLang="en-US" sz="1800" baseline="30000" dirty="0"/>
              <a:t>+</a:t>
            </a:r>
            <a:r>
              <a:rPr lang="en-US" altLang="en-US" sz="1800" dirty="0"/>
              <a:t>-tree during search/insertion/deletion:</a:t>
            </a:r>
            <a:endParaRPr lang="en-US" altLang="en-US" sz="1800" dirty="0"/>
          </a:p>
          <a:p>
            <a:pPr lvl="1"/>
            <a:r>
              <a:rPr lang="en-US" altLang="en-US" sz="1800" dirty="0"/>
              <a:t>First lock the root node in shared mode.</a:t>
            </a:r>
            <a:endParaRPr lang="en-US" altLang="en-US" sz="1800" dirty="0"/>
          </a:p>
          <a:p>
            <a:pPr lvl="1"/>
            <a:r>
              <a:rPr lang="en-US" altLang="en-US" sz="1800" dirty="0"/>
              <a:t>After locking all required children of a node in shared mode, release the lock on the node</a:t>
            </a:r>
            <a:endParaRPr lang="en-US" altLang="en-US" sz="1800" dirty="0"/>
          </a:p>
          <a:p>
            <a:pPr lvl="1"/>
            <a:r>
              <a:rPr lang="en-US" altLang="en-US" sz="1800" dirty="0"/>
              <a:t>During insertion/deletion, upgrade leaf node locks to exclusive mode.</a:t>
            </a:r>
            <a:endParaRPr lang="en-US" altLang="en-US" sz="1800" dirty="0"/>
          </a:p>
          <a:p>
            <a:pPr lvl="1"/>
            <a:r>
              <a:rPr lang="en-US" altLang="en-US" sz="1800" dirty="0"/>
              <a:t>When splitting or coalescing requires changes to a parent, lock the parent in exclusive mode.</a:t>
            </a:r>
            <a:endParaRPr lang="en-US" altLang="en-US" sz="1800" dirty="0"/>
          </a:p>
          <a:p>
            <a:r>
              <a:rPr lang="en-US" altLang="en-US" sz="1800" dirty="0"/>
              <a:t>Above protocol can cause excessive deadlocks</a:t>
            </a:r>
            <a:endParaRPr lang="en-US" altLang="en-US" sz="1800" dirty="0"/>
          </a:p>
          <a:p>
            <a:pPr lvl="1"/>
            <a:r>
              <a:rPr lang="en-US" altLang="en-US" sz="1800" dirty="0"/>
              <a:t>Searches coming down the tree deadlock with updates going up the tree</a:t>
            </a:r>
            <a:endParaRPr lang="en-US" altLang="en-US" sz="1800" dirty="0"/>
          </a:p>
          <a:p>
            <a:pPr lvl="1"/>
            <a:r>
              <a:rPr lang="en-US" altLang="en-US" sz="1800" dirty="0"/>
              <a:t>Can abort and restart search, without affecting transaction</a:t>
            </a:r>
            <a:endParaRPr lang="en-US" altLang="en-US" sz="1800" dirty="0"/>
          </a:p>
          <a:p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002060"/>
                </a:solidFill>
              </a:rPr>
              <a:t>B-link tree</a:t>
            </a:r>
            <a:r>
              <a:rPr lang="en-US" altLang="en-US" sz="1800" dirty="0"/>
              <a:t> </a:t>
            </a:r>
            <a:r>
              <a:rPr lang="en-US" altLang="en-US" sz="1800" b="1" dirty="0"/>
              <a:t>locking protocol</a:t>
            </a:r>
            <a:r>
              <a:rPr lang="en-US" altLang="en-US" sz="1800" dirty="0"/>
              <a:t> improves concurrency</a:t>
            </a:r>
            <a:endParaRPr lang="en-US" altLang="en-US" sz="1800" dirty="0"/>
          </a:p>
          <a:p>
            <a:pPr lvl="1"/>
            <a:r>
              <a:rPr lang="en-US" altLang="en-US" sz="1800" dirty="0"/>
              <a:t>Intuition: release lock on parent before acquiring lock on child</a:t>
            </a:r>
            <a:endParaRPr lang="en-US" altLang="en-US" sz="1800" dirty="0"/>
          </a:p>
          <a:p>
            <a:pPr lvl="2"/>
            <a:r>
              <a:rPr lang="en-US" altLang="en-US" sz="1800" dirty="0"/>
              <a:t>And deal with changes that may have happened between lock release and acquire</a:t>
            </a: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86" y="96242"/>
            <a:ext cx="8614611" cy="570215"/>
          </a:xfrm>
        </p:spPr>
        <p:txBody>
          <a:bodyPr/>
          <a:lstStyle/>
          <a:p>
            <a:r>
              <a:rPr lang="en-IN" sz="2600" dirty="0"/>
              <a:t>Concurrency Control in Main-Memory Databases</a:t>
            </a:r>
            <a:endParaRPr lang="en-IN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702" y="1102497"/>
            <a:ext cx="7688063" cy="5367972"/>
          </a:xfrm>
        </p:spPr>
        <p:txBody>
          <a:bodyPr/>
          <a:lstStyle/>
          <a:p>
            <a:r>
              <a:rPr lang="en-IN" sz="2000" dirty="0"/>
              <a:t>Index locking protocols can be simplified with main-memory databases</a:t>
            </a:r>
            <a:endParaRPr lang="en-IN" sz="2000" dirty="0"/>
          </a:p>
          <a:p>
            <a:pPr lvl="1"/>
            <a:r>
              <a:rPr lang="en-IN" sz="2000" dirty="0"/>
              <a:t>Short term lock can be obtained on entire index for duration of an operation, serializing updates on the index</a:t>
            </a:r>
            <a:endParaRPr lang="en-IN" sz="2000" dirty="0"/>
          </a:p>
          <a:p>
            <a:pPr lvl="2"/>
            <a:r>
              <a:rPr lang="en-IN" sz="2000" dirty="0"/>
              <a:t>Avoids overheads of multiple lock acquire/release</a:t>
            </a:r>
            <a:endParaRPr lang="en-IN" sz="2000" dirty="0"/>
          </a:p>
          <a:p>
            <a:pPr lvl="2"/>
            <a:r>
              <a:rPr lang="en-IN" sz="2000" dirty="0"/>
              <a:t>No major penalty since operations finish fast, since there is no disk wait</a:t>
            </a:r>
            <a:endParaRPr lang="en-IN" sz="2000" dirty="0"/>
          </a:p>
          <a:p>
            <a:r>
              <a:rPr lang="en-IN" sz="2000" dirty="0"/>
              <a:t>Latch-free techniques for data-structure update can speed up operations further</a:t>
            </a:r>
            <a:endParaRPr lang="en-IN" sz="2000" dirty="0"/>
          </a:p>
          <a:p>
            <a:pPr marL="457200" lvl="1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 Updates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IN" sz="2000" dirty="0"/>
              <a:t>This code is not safe without latches if executed concurrently:</a:t>
            </a:r>
            <a:endParaRPr lang="en-IN" sz="2000" dirty="0"/>
          </a:p>
          <a:p>
            <a:pPr marL="0" indent="0">
              <a:buNone/>
            </a:pPr>
            <a:r>
              <a:rPr lang="en-IN" i="1" dirty="0"/>
              <a:t>       insert</a:t>
            </a:r>
            <a:r>
              <a:rPr lang="en-IN" dirty="0"/>
              <a:t>(</a:t>
            </a:r>
            <a:r>
              <a:rPr lang="en-IN" i="1" dirty="0"/>
              <a:t>value</a:t>
            </a:r>
            <a:r>
              <a:rPr lang="en-IN" dirty="0"/>
              <a:t>, 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IN" i="1" dirty="0" err="1"/>
              <a:t>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</a:t>
            </a:r>
            <a:r>
              <a:rPr lang="en-IN" dirty="0"/>
              <a:t>}</a:t>
            </a:r>
            <a:endParaRPr lang="en-IN" dirty="0"/>
          </a:p>
          <a:p>
            <a:r>
              <a:rPr lang="en-IN" sz="2000" dirty="0"/>
              <a:t>This code is safe</a:t>
            </a:r>
            <a:br>
              <a:rPr lang="en-IN" sz="2000" dirty="0"/>
            </a:br>
            <a:r>
              <a:rPr lang="en-IN" dirty="0"/>
              <a:t>  </a:t>
            </a:r>
            <a:r>
              <a:rPr lang="en-IN" i="1" dirty="0"/>
              <a:t>insert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, </a:t>
            </a:r>
            <a:r>
              <a:rPr lang="en-IN" i="1" dirty="0"/>
              <a:t>value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/>
              <a:t>node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}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 Updates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81" y="1102497"/>
            <a:ext cx="8161969" cy="5367972"/>
          </a:xfrm>
        </p:spPr>
        <p:txBody>
          <a:bodyPr/>
          <a:lstStyle/>
          <a:p>
            <a:r>
              <a:rPr lang="en-IN" sz="2000" dirty="0"/>
              <a:t>This code is not safe without latches if executed concurrently:</a:t>
            </a:r>
            <a:endParaRPr lang="en-IN" sz="2000" dirty="0"/>
          </a:p>
          <a:p>
            <a:pPr marL="0" indent="0">
              <a:buNone/>
            </a:pPr>
            <a:r>
              <a:rPr lang="en-IN" i="1" dirty="0"/>
              <a:t>       insert</a:t>
            </a:r>
            <a:r>
              <a:rPr lang="en-IN" dirty="0"/>
              <a:t>(</a:t>
            </a:r>
            <a:r>
              <a:rPr lang="en-IN" i="1" dirty="0"/>
              <a:t>value</a:t>
            </a:r>
            <a:r>
              <a:rPr lang="en-IN" dirty="0"/>
              <a:t>, 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IN" i="1" dirty="0" err="1"/>
              <a:t>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</a:t>
            </a:r>
            <a:r>
              <a:rPr lang="en-IN" dirty="0"/>
              <a:t>}</a:t>
            </a:r>
            <a:endParaRPr lang="en-IN" dirty="0"/>
          </a:p>
          <a:p>
            <a:r>
              <a:rPr lang="en-IN" sz="2000" dirty="0"/>
              <a:t>This code is safe</a:t>
            </a:r>
            <a:br>
              <a:rPr lang="en-IN" sz="2000" dirty="0"/>
            </a:br>
            <a:r>
              <a:rPr lang="en-IN" dirty="0"/>
              <a:t>  </a:t>
            </a:r>
            <a:r>
              <a:rPr lang="en-IN" i="1" dirty="0"/>
              <a:t>insert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, </a:t>
            </a:r>
            <a:r>
              <a:rPr lang="en-IN" i="1" dirty="0"/>
              <a:t>value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/>
              <a:t>node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}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336" y="1102497"/>
            <a:ext cx="7723573" cy="5367972"/>
          </a:xfrm>
        </p:spPr>
        <p:txBody>
          <a:bodyPr/>
          <a:lstStyle/>
          <a:p>
            <a:r>
              <a:rPr lang="en-IN" sz="2000" i="1" dirty="0"/>
              <a:t>Consider:</a:t>
            </a:r>
            <a:endParaRPr lang="en-IN" sz="2000" i="1" dirty="0"/>
          </a:p>
          <a:p>
            <a:pPr marL="0" indent="0">
              <a:buNone/>
            </a:pPr>
            <a:r>
              <a:rPr lang="en-IN" i="1" dirty="0"/>
              <a:t>       delete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US" dirty="0"/>
              <a:t>/* This function is not quite safe; see explanation in text. */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      </a:t>
            </a:r>
            <a:r>
              <a:rPr lang="en-IN" i="1" dirty="0" err="1"/>
              <a:t>newhead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r>
              <a:rPr lang="en-IN" dirty="0"/>
              <a:t>−</a:t>
            </a:r>
            <a:r>
              <a:rPr lang="en-IN" i="1" dirty="0"/>
              <a:t>&gt;next</a:t>
            </a:r>
            <a:br>
              <a:rPr lang="en-IN" i="1" dirty="0"/>
            </a:br>
            <a:r>
              <a:rPr lang="en-IN" i="1" dirty="0"/>
              <a:t>      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 err="1"/>
              <a:t>newhead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     }</a:t>
            </a:r>
            <a:endParaRPr lang="en-IN" dirty="0"/>
          </a:p>
          <a:p>
            <a:r>
              <a:rPr lang="en-IN" sz="2000" dirty="0"/>
              <a:t>Above code is almost correct, but has a concurrency bug</a:t>
            </a:r>
            <a:endParaRPr lang="en-IN" sz="2000" dirty="0"/>
          </a:p>
          <a:p>
            <a:pPr lvl="1"/>
            <a:r>
              <a:rPr lang="en-IN" sz="2000" dirty="0"/>
              <a:t>P1 initiates delete with N1 as head; concurrently P2 deletes N1 and next node N2, and then reinserts N1 as head, with N3 as next</a:t>
            </a:r>
            <a:endParaRPr lang="en-IN" sz="2000" dirty="0"/>
          </a:p>
          <a:p>
            <a:pPr lvl="1"/>
            <a:r>
              <a:rPr lang="en-IN" sz="2000" dirty="0"/>
              <a:t>P1 may set head as N2 instead of N3.</a:t>
            </a:r>
            <a:endParaRPr lang="en-IN" sz="2000" dirty="0"/>
          </a:p>
          <a:p>
            <a:r>
              <a:rPr lang="en-IN" sz="2000" dirty="0"/>
              <a:t>Known as ABA problem</a:t>
            </a:r>
            <a:endParaRPr lang="en-IN" sz="2000" dirty="0"/>
          </a:p>
          <a:p>
            <a:r>
              <a:rPr lang="en-IN" sz="2000" dirty="0"/>
              <a:t>See book for details of how to avoid this problem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Concurrency Control with 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80" y="1102497"/>
            <a:ext cx="4802819" cy="5367972"/>
          </a:xfrm>
        </p:spPr>
        <p:txBody>
          <a:bodyPr/>
          <a:lstStyle/>
          <a:p>
            <a:r>
              <a:rPr lang="en-IN" dirty="0"/>
              <a:t>Consider this non-two phase schedule, which preserves database integrity constraints</a:t>
            </a:r>
            <a:endParaRPr lang="en-IN" dirty="0"/>
          </a:p>
          <a:p>
            <a:r>
              <a:rPr lang="en-IN" dirty="0"/>
              <a:t>Can be understood as transaction performing increment operation</a:t>
            </a:r>
            <a:endParaRPr lang="en-IN" dirty="0"/>
          </a:p>
          <a:p>
            <a:pPr lvl="1"/>
            <a:r>
              <a:rPr lang="en-IN" dirty="0"/>
              <a:t>E.g., increment(A, -50), increment (B, 50)</a:t>
            </a:r>
            <a:endParaRPr lang="en-IN" dirty="0"/>
          </a:p>
          <a:p>
            <a:pPr lvl="1"/>
            <a:r>
              <a:rPr lang="en-IN" dirty="0"/>
              <a:t>As long as increment operation does not return actual value, increments can be reordered</a:t>
            </a:r>
            <a:endParaRPr lang="en-IN" b="1" i="1" dirty="0"/>
          </a:p>
          <a:p>
            <a:pPr lvl="2"/>
            <a:r>
              <a:rPr lang="en-IN" b="1" i="1" dirty="0"/>
              <a:t>Increments commute</a:t>
            </a:r>
            <a:endParaRPr lang="en-IN" b="1" i="1" dirty="0"/>
          </a:p>
          <a:p>
            <a:pPr lvl="1"/>
            <a:r>
              <a:rPr lang="en-IN" dirty="0"/>
              <a:t>New increment-mode lock to support reordering</a:t>
            </a:r>
            <a:endParaRPr lang="en-IN" dirty="0"/>
          </a:p>
          <a:p>
            <a:pPr lvl="1"/>
            <a:r>
              <a:rPr lang="en-IN" dirty="0"/>
              <a:t>Conflict matrix with increment lock mode</a:t>
            </a:r>
            <a:endParaRPr lang="en-IN" dirty="0"/>
          </a:p>
          <a:p>
            <a:pPr lvl="2"/>
            <a:r>
              <a:rPr lang="en-IN" i="1" dirty="0"/>
              <a:t>Two increment operations do not conflict with each other</a:t>
            </a:r>
            <a:endParaRPr lang="en-IN" i="1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2172" y="1017963"/>
            <a:ext cx="2800346" cy="3619959"/>
          </a:xfrm>
          <a:prstGeom prst="rect">
            <a:avLst/>
          </a:prstGeom>
        </p:spPr>
      </p:pic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224" y="4829169"/>
            <a:ext cx="2500759" cy="1385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1616"/>
          </a:xfrm>
        </p:spPr>
        <p:txBody>
          <a:bodyPr/>
          <a:lstStyle/>
          <a:p>
            <a:r>
              <a:rPr lang="en-IN" dirty="0"/>
              <a:t>Concurrency Control with Operations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703" y="1102497"/>
            <a:ext cx="7448366" cy="5367972"/>
          </a:xfrm>
        </p:spPr>
        <p:txBody>
          <a:bodyPr/>
          <a:lstStyle/>
          <a:p>
            <a:r>
              <a:rPr lang="en-IN" sz="2000" dirty="0"/>
              <a:t>Undo of increment(v, n) is performed by increment (v, -n) </a:t>
            </a:r>
            <a:endParaRPr lang="en-IN" sz="2000" dirty="0"/>
          </a:p>
          <a:p>
            <a:r>
              <a:rPr lang="en-IN" sz="2000" dirty="0" err="1"/>
              <a:t>Increment_conditional</a:t>
            </a:r>
            <a:r>
              <a:rPr lang="en-IN" sz="2000" dirty="0"/>
              <a:t>(v, n):</a:t>
            </a:r>
            <a:endParaRPr lang="en-IN" sz="2000" dirty="0"/>
          </a:p>
          <a:p>
            <a:pPr lvl="1"/>
            <a:r>
              <a:rPr lang="en-IN" sz="2000" dirty="0"/>
              <a:t>Updates v by adding n to it, as long as final v &gt; 0, fails otherwise</a:t>
            </a:r>
            <a:endParaRPr lang="en-IN" sz="2000" dirty="0"/>
          </a:p>
          <a:p>
            <a:pPr lvl="1"/>
            <a:r>
              <a:rPr lang="en-IN" sz="2000" dirty="0"/>
              <a:t>Can be used to model, e.g. number of available tickets, </a:t>
            </a:r>
            <a:r>
              <a:rPr lang="en-IN" sz="2000" i="1" dirty="0" err="1"/>
              <a:t>avail_tickets</a:t>
            </a:r>
            <a:r>
              <a:rPr lang="en-IN" sz="2000" i="1" dirty="0"/>
              <a:t>, </a:t>
            </a:r>
            <a:r>
              <a:rPr lang="en-IN" sz="2000" dirty="0"/>
              <a:t>for a concert</a:t>
            </a:r>
            <a:endParaRPr lang="en-IN" sz="2000" dirty="0"/>
          </a:p>
          <a:p>
            <a:pPr lvl="1"/>
            <a:r>
              <a:rPr lang="en-IN" sz="2000" dirty="0" err="1"/>
              <a:t>Increment_conditional</a:t>
            </a:r>
            <a:r>
              <a:rPr lang="en-IN" sz="2000" dirty="0"/>
              <a:t> is NOT commutative</a:t>
            </a:r>
            <a:endParaRPr lang="en-IN" sz="2000" dirty="0"/>
          </a:p>
          <a:p>
            <a:pPr lvl="2"/>
            <a:r>
              <a:rPr lang="en-IN" sz="2000" dirty="0"/>
              <a:t>E.g., last few tickets for a concert</a:t>
            </a:r>
            <a:endParaRPr lang="en-IN" sz="2000" dirty="0"/>
          </a:p>
          <a:p>
            <a:pPr lvl="1"/>
            <a:r>
              <a:rPr lang="en-IN" sz="2000" dirty="0"/>
              <a:t>But reordering may still be acceptable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Transaction Systems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336" y="1102497"/>
            <a:ext cx="7563775" cy="5367972"/>
          </a:xfrm>
        </p:spPr>
        <p:txBody>
          <a:bodyPr/>
          <a:lstStyle/>
          <a:p>
            <a:r>
              <a:rPr lang="en-IN" sz="2000" dirty="0"/>
              <a:t>Transactions in a system may have deadlines within which they must be completed.</a:t>
            </a:r>
            <a:endParaRPr lang="en-IN" sz="2000" dirty="0"/>
          </a:p>
          <a:p>
            <a:pPr lvl="1"/>
            <a:r>
              <a:rPr lang="en-IN" sz="2000" dirty="0"/>
              <a:t>Hard deadline: missing deadline is an error</a:t>
            </a:r>
            <a:endParaRPr lang="en-IN" sz="2000" dirty="0"/>
          </a:p>
          <a:p>
            <a:pPr lvl="1"/>
            <a:r>
              <a:rPr lang="en-IN" sz="2000" dirty="0"/>
              <a:t>Firm deadline: value of transaction is 0 in case deadline is missed</a:t>
            </a:r>
            <a:endParaRPr lang="en-IN" sz="2000" dirty="0"/>
          </a:p>
          <a:p>
            <a:pPr lvl="1"/>
            <a:r>
              <a:rPr lang="en-IN" sz="2000" dirty="0"/>
              <a:t>Soft deadline: transaction still has some value if done after deadline</a:t>
            </a:r>
            <a:endParaRPr lang="en-IN" sz="2000" dirty="0"/>
          </a:p>
          <a:p>
            <a:r>
              <a:rPr lang="en-IN" sz="2000" dirty="0"/>
              <a:t>Locking can cause blocking</a:t>
            </a:r>
            <a:endParaRPr lang="en-IN" sz="2000" dirty="0"/>
          </a:p>
          <a:p>
            <a:r>
              <a:rPr lang="en-IN" sz="2000" dirty="0"/>
              <a:t>Optimistic concurrency control (validation protocol) has been shown to do will in a real-time setting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1783" y="2887596"/>
            <a:ext cx="44637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25000"/>
                  </a:schemeClr>
                </a:solidFill>
              </a:rPr>
              <a:t>End of </a:t>
            </a:r>
            <a:r>
              <a:rPr lang="en-US" sz="3200" b="1">
                <a:solidFill>
                  <a:schemeClr val="bg1">
                    <a:lumMod val="25000"/>
                  </a:schemeClr>
                </a:solidFill>
              </a:rPr>
              <a:t>Chapter </a:t>
            </a:r>
            <a:r>
              <a:rPr lang="en-US" sz="3200" b="1" smtClean="0">
                <a:solidFill>
                  <a:schemeClr val="bg1">
                    <a:lumMod val="25000"/>
                  </a:schemeClr>
                </a:solidFill>
              </a:rPr>
              <a:t>14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0</TotalTime>
  <Words>40154</Words>
  <Application>WPS 演示</Application>
  <PresentationFormat>全屏显示(4:3)</PresentationFormat>
  <Paragraphs>974</Paragraphs>
  <Slides>105</Slides>
  <Notes>77</Notes>
  <HiddenSlides>38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105</vt:i4>
      </vt:variant>
    </vt:vector>
  </HeadingPairs>
  <TitlesOfParts>
    <vt:vector size="135" baseType="lpstr">
      <vt:lpstr>Arial</vt:lpstr>
      <vt:lpstr>宋体</vt:lpstr>
      <vt:lpstr>Wingdings</vt:lpstr>
      <vt:lpstr>Helvetica</vt:lpstr>
      <vt:lpstr>MS PGothic</vt:lpstr>
      <vt:lpstr>冬青黑体简体中文</vt:lpstr>
      <vt:lpstr>Times New Roman</vt:lpstr>
      <vt:lpstr>MS PGothic</vt:lpstr>
      <vt:lpstr>苹方-简</vt:lpstr>
      <vt:lpstr>Monotype Sorts</vt:lpstr>
      <vt:lpstr>Thonburi</vt:lpstr>
      <vt:lpstr>Webdings</vt:lpstr>
      <vt:lpstr>MS PGothic</vt:lpstr>
      <vt:lpstr>MS PGothic</vt:lpstr>
      <vt:lpstr>微软雅黑</vt:lpstr>
      <vt:lpstr>汉仪旗黑</vt:lpstr>
      <vt:lpstr>宋体</vt:lpstr>
      <vt:lpstr>Arial Unicode MS</vt:lpstr>
      <vt:lpstr>汉仪书宋二KW</vt:lpstr>
      <vt:lpstr>Symbol</vt:lpstr>
      <vt:lpstr>Tahoma</vt:lpstr>
      <vt:lpstr>Kingsoft Sign</vt:lpstr>
      <vt:lpstr>Cambria Math</vt:lpstr>
      <vt:lpstr>Kingsoft Math</vt:lpstr>
      <vt:lpstr>Monotype Sorts</vt:lpstr>
      <vt:lpstr>Wingdings</vt:lpstr>
      <vt:lpstr>Symbol</vt:lpstr>
      <vt:lpstr>Webdings</vt:lpstr>
      <vt:lpstr>db</vt:lpstr>
      <vt:lpstr>1_db</vt:lpstr>
      <vt:lpstr>Chapter 15 : Concurrency Control </vt:lpstr>
      <vt:lpstr> Outline </vt:lpstr>
      <vt:lpstr>PowerPoint 演示文稿</vt:lpstr>
      <vt:lpstr>Lock-Based Protocols</vt:lpstr>
      <vt:lpstr>Lock-Based Protocols (Cont.)</vt:lpstr>
      <vt:lpstr>Lock-Based Protocols (Cont.)</vt:lpstr>
      <vt:lpstr>Schedule With Lock Grants</vt:lpstr>
      <vt:lpstr>The Two-Phase Locking Protocol（重点）</vt:lpstr>
      <vt:lpstr>EXAMPLE</vt:lpstr>
      <vt:lpstr>The Two-Phase Locking Protocol (Cont.)</vt:lpstr>
      <vt:lpstr>The Two-Phase Locking Protocol (Cont.)</vt:lpstr>
      <vt:lpstr>The Two-Phase Locking Protocol (Cont.)</vt:lpstr>
      <vt:lpstr>The Two-Phase Locking Protocol (Cont.)</vt:lpstr>
      <vt:lpstr>Locking Protocols</vt:lpstr>
      <vt:lpstr>Lock Conversions</vt:lpstr>
      <vt:lpstr>Automatic Acquisition of Locks</vt:lpstr>
      <vt:lpstr>Automatic Acquisition of Locks (Cont.)</vt:lpstr>
      <vt:lpstr>Deadlock</vt:lpstr>
      <vt:lpstr>Deadlock (Cont.)</vt:lpstr>
      <vt:lpstr>The Two-Phase Locking Protocol (Cont.)</vt:lpstr>
      <vt:lpstr>Deadlock Handling</vt:lpstr>
      <vt:lpstr>Deadlock Handling</vt:lpstr>
      <vt:lpstr>More Deadlock Prevention Strategies</vt:lpstr>
      <vt:lpstr>Deadlock prevention (Cont.)</vt:lpstr>
      <vt:lpstr>Deadlock Detection</vt:lpstr>
      <vt:lpstr>Deadlock Detection</vt:lpstr>
      <vt:lpstr>Deadlock Recovery</vt:lpstr>
      <vt:lpstr>Implementation of Locking</vt:lpstr>
      <vt:lpstr>Lock Table</vt:lpstr>
      <vt:lpstr>Graph-Based Protocols</vt:lpstr>
      <vt:lpstr>Tree Protocol</vt:lpstr>
      <vt:lpstr>Graph-Based Protocols (Cont.) </vt:lpstr>
      <vt:lpstr>Multiple Granularity（自学）</vt:lpstr>
      <vt:lpstr>Example of Granularity Hierarchy（自学）</vt:lpstr>
      <vt:lpstr>Example of Granularity Hierarchy（自学）</vt:lpstr>
      <vt:lpstr>Intention Lock Modes（自学）</vt:lpstr>
      <vt:lpstr>Compatibility Matrix with Intention Lock Modes（自学）</vt:lpstr>
      <vt:lpstr>Multiple Granularity Locking Scheme（自学）</vt:lpstr>
      <vt:lpstr>Insert/Delete Operations and Predicate Reads</vt:lpstr>
      <vt:lpstr>Phantom Phenomenon</vt:lpstr>
      <vt:lpstr>Insert/Delete Operations and Predicate Reads</vt:lpstr>
      <vt:lpstr>Handling Phantoms</vt:lpstr>
      <vt:lpstr>Index Locking To Prevent Phantoms</vt:lpstr>
      <vt:lpstr>Next-Key Locking to Prevent Phantoms</vt:lpstr>
      <vt:lpstr>PowerPoint 演示文稿</vt:lpstr>
      <vt:lpstr>Timestamp-Based Protocols</vt:lpstr>
      <vt:lpstr>Timestamp-Ordering Protocol</vt:lpstr>
      <vt:lpstr>Timestamp-Based Protocols (Cont.)</vt:lpstr>
      <vt:lpstr>Timestamp-Based Protocols (Cont.)</vt:lpstr>
      <vt:lpstr>Example of Schedule Under TSO</vt:lpstr>
      <vt:lpstr>Example of Schedule Under TSO</vt:lpstr>
      <vt:lpstr>Example of Schedule Under TSO</vt:lpstr>
      <vt:lpstr>Example of Schedule Under TSO</vt:lpstr>
      <vt:lpstr>Example of Schedule Under TSO</vt:lpstr>
      <vt:lpstr>Example of Schedule Under TSO</vt:lpstr>
      <vt:lpstr>Example of Schedule Under TSO</vt:lpstr>
      <vt:lpstr>Example of Schedule Under TSO</vt:lpstr>
      <vt:lpstr>Correctness of Timestamp-Ordering Protocol</vt:lpstr>
      <vt:lpstr>Thomas’ Write Rule</vt:lpstr>
      <vt:lpstr>Thomas’ Write Rule</vt:lpstr>
      <vt:lpstr>Thomas’ Write Rule</vt:lpstr>
      <vt:lpstr>Validation-Based Protocol</vt:lpstr>
      <vt:lpstr>Validation-Based Protocol</vt:lpstr>
      <vt:lpstr>Validation-Based Protocol (Cont.)</vt:lpstr>
      <vt:lpstr>Validation Test for Transaction Tj</vt:lpstr>
      <vt:lpstr>Schedule Produced by Validation</vt:lpstr>
      <vt:lpstr>PowerPoint 演示文稿</vt:lpstr>
      <vt:lpstr>Multiversion Schemes</vt:lpstr>
      <vt:lpstr>Multiversion Schemes</vt:lpstr>
      <vt:lpstr>Multiversion Timestamp Ordering</vt:lpstr>
      <vt:lpstr>Multiversion Timestamp Ordering (Cont)</vt:lpstr>
      <vt:lpstr>Multiversion Timestamp Ordering (Cont)</vt:lpstr>
      <vt:lpstr>Example</vt:lpstr>
      <vt:lpstr>Example</vt:lpstr>
      <vt:lpstr>Example</vt:lpstr>
      <vt:lpstr>Multiversion Two-Phase Locking</vt:lpstr>
      <vt:lpstr>Multiversion Two-Phase Locking (Cont.)</vt:lpstr>
      <vt:lpstr>MVCC: Implementation Issues</vt:lpstr>
      <vt:lpstr>Snapshot Isolation	</vt:lpstr>
      <vt:lpstr>Snapshot Isolation</vt:lpstr>
      <vt:lpstr>Snapshot Read</vt:lpstr>
      <vt:lpstr>Snapshot Write: First Committer Wins</vt:lpstr>
      <vt:lpstr>Benefits of SI</vt:lpstr>
      <vt:lpstr>Snapshot Isolation</vt:lpstr>
      <vt:lpstr>Snapshot Isolation Anomalies</vt:lpstr>
      <vt:lpstr>Serializable Snapshot Isolation</vt:lpstr>
      <vt:lpstr>SI Implementations</vt:lpstr>
      <vt:lpstr>Working Around SI Anomalies</vt:lpstr>
      <vt:lpstr>PowerPoint 演示文稿</vt:lpstr>
      <vt:lpstr>Weak Levels of Consistency</vt:lpstr>
      <vt:lpstr>Weak Levels of Consistency in SQL</vt:lpstr>
      <vt:lpstr>Concurrency Control across User Interactions</vt:lpstr>
      <vt:lpstr>Concurrency Control across User Interactions</vt:lpstr>
      <vt:lpstr>PowerPoint 演示文稿</vt:lpstr>
      <vt:lpstr>Online Index Creation</vt:lpstr>
      <vt:lpstr>Concurrency in Index Structures</vt:lpstr>
      <vt:lpstr>Concurrency in Index Structures (Cont.)</vt:lpstr>
      <vt:lpstr>Concurrency Control in Main-Memory Databases</vt:lpstr>
      <vt:lpstr>Latch-Free Data-structure Updates</vt:lpstr>
      <vt:lpstr>Latch-Free Data-structure Updates</vt:lpstr>
      <vt:lpstr>Latch-Free Data-structures (Cont.)</vt:lpstr>
      <vt:lpstr>Concurrency Control with Operations</vt:lpstr>
      <vt:lpstr>Concurrency Control with Operations (Cont.)</vt:lpstr>
      <vt:lpstr>Real-Time Transaction Systems</vt:lpstr>
      <vt:lpstr>PowerPoint 演示文稿</vt:lpstr>
    </vt:vector>
  </TitlesOfParts>
  <Company>IITB, Mumbai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14: Concurrency Control</dc:title>
  <dc:creator>nandu</dc:creator>
  <cp:lastModifiedBy>赖韩江</cp:lastModifiedBy>
  <cp:revision>474</cp:revision>
  <dcterms:created xsi:type="dcterms:W3CDTF">2025-12-20T04:31:56Z</dcterms:created>
  <dcterms:modified xsi:type="dcterms:W3CDTF">2025-12-20T04:31:56Z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9E2B8A5748FE7DB1BC2646697468B02D_42</vt:lpwstr>
  </property>
  <property fmtid="{D5CDD505-2E9C-101B-9397-08002B2CF9AE}" pid="3" name="KSOProductBuildVer">
    <vt:lpwstr>2052-6.14.0.8924</vt:lpwstr>
  </property>
</Properties>
</file>