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3" r:id="rId4"/>
    <p:sldId id="273" r:id="rId5"/>
    <p:sldId id="259" r:id="rId6"/>
    <p:sldId id="260" r:id="rId7"/>
    <p:sldId id="265" r:id="rId8"/>
    <p:sldId id="289" r:id="rId9"/>
    <p:sldId id="266" r:id="rId10"/>
    <p:sldId id="290" r:id="rId11"/>
    <p:sldId id="267" r:id="rId12"/>
    <p:sldId id="291" r:id="rId13"/>
    <p:sldId id="292" r:id="rId14"/>
    <p:sldId id="293" r:id="rId15"/>
    <p:sldId id="264" r:id="rId16"/>
    <p:sldId id="269" r:id="rId17"/>
    <p:sldId id="268" r:id="rId18"/>
    <p:sldId id="270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0" autoAdjust="0"/>
    <p:restoredTop sz="94660"/>
  </p:normalViewPr>
  <p:slideViewPr>
    <p:cSldViewPr snapToGrid="0">
      <p:cViewPr varScale="1">
        <p:scale>
          <a:sx n="84" d="100"/>
          <a:sy n="84" d="100"/>
        </p:scale>
        <p:origin x="5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凯淇 吴" userId="c606d5c88c64f719" providerId="LiveId" clId="{02D28865-91EC-4F61-AFBC-E3C864A0D0B0}"/>
    <pc:docChg chg="modSld">
      <pc:chgData name="凯淇 吴" userId="c606d5c88c64f719" providerId="LiveId" clId="{02D28865-91EC-4F61-AFBC-E3C864A0D0B0}" dt="2024-09-09T08:27:23.660" v="3" actId="20577"/>
      <pc:docMkLst>
        <pc:docMk/>
      </pc:docMkLst>
      <pc:sldChg chg="modSp mod">
        <pc:chgData name="凯淇 吴" userId="c606d5c88c64f719" providerId="LiveId" clId="{02D28865-91EC-4F61-AFBC-E3C864A0D0B0}" dt="2024-09-09T08:27:23.660" v="3" actId="20577"/>
        <pc:sldMkLst>
          <pc:docMk/>
          <pc:sldMk cId="0" sldId="256"/>
        </pc:sldMkLst>
        <pc:spChg chg="mod">
          <ac:chgData name="凯淇 吴" userId="c606d5c88c64f719" providerId="LiveId" clId="{02D28865-91EC-4F61-AFBC-E3C864A0D0B0}" dt="2024-09-09T08:27:23.660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6D1E0-6BE0-4E15-A7C1-47199E0DF7D9}" type="datetimeFigureOut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D038A-178A-4CD8-BF65-AF46F5084F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059E-92DA-4447-B286-422C1C18CA39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04163-DC28-48CC-84F5-12ABE14FE89F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5CBE-256E-4439-B5A1-4C46324A59AF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7516-DD2D-45AB-A003-9B8DB85B6D9E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BAAA-C460-4A20-9A94-28A603A090C0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FB05-9225-4CD7-8944-551AF5EAA7AC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795F-9A67-4E19-A0CA-82B2591426A6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3AE2-2B65-4FC4-8731-8B86742534A6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829A-88B9-4BDF-82AE-A6B0D7FBE5E0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20E14-BD34-4A16-BEA6-61BFDCB6EE13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3441-43CF-4600-A581-2728B3BC4035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D1992-018F-4C3E-97AC-BDF9A7AFECC8}" type="datetime1">
              <a:rPr lang="zh-CN" altLang="en-US" smtClean="0"/>
              <a:t>2024/09/09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go.microsoft.com/fwlink/?LinkID=123422" TargetMode="External"/><Relationship Id="rId2" Type="http://schemas.openxmlformats.org/officeDocument/2006/relationships/hyperlink" Target="http://go.microsoft.com/fwlink/?LinkId=12055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an.baidu.com/s/1pKkPeo7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58043" y="1024392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2024/2025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数据库系统实验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612086" cy="2423205"/>
          </a:xfrm>
        </p:spPr>
        <p:txBody>
          <a:bodyPr>
            <a:normAutofit/>
          </a:bodyPr>
          <a:lstStyle/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Yubao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刘玉葆）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 of Data and Computer Science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Yat-sen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endParaRPr lang="zh-CN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2501" y="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实验课参考教材</a:t>
            </a:r>
          </a:p>
        </p:txBody>
      </p:sp>
      <p:pic>
        <p:nvPicPr>
          <p:cNvPr id="1026" name="Picture 2" descr="http://www.tup.tsinghua.edu.cn/upload/bigbookimg/039528-0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329" y="1478416"/>
            <a:ext cx="3253468" cy="457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5283678" y="1478416"/>
            <a:ext cx="5109091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数据库系统实验指导教程（第二版）</a:t>
            </a:r>
            <a:endParaRPr lang="en-US" altLang="zh-CN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作者：汤娜</a:t>
            </a:r>
            <a:endParaRPr lang="en-US" altLang="zh-CN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出版社：清华大学出版社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出版日期：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2011.01.01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印刷日期：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2017.08.10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参考教材主要目录</a:t>
            </a:r>
          </a:p>
        </p:txBody>
      </p:sp>
      <p:sp>
        <p:nvSpPr>
          <p:cNvPr id="4" name="矩形 3"/>
          <p:cNvSpPr/>
          <p:nvPr/>
        </p:nvSpPr>
        <p:spPr>
          <a:xfrm>
            <a:off x="1409699" y="1047978"/>
            <a:ext cx="5598007" cy="51515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</a:p>
          <a:p>
            <a:pPr latinLnBrk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章数据库的完整性控制</a:t>
            </a:r>
          </a:p>
          <a:p>
            <a:pPr latinLnBrk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章数据库的安全性控制</a:t>
            </a:r>
          </a:p>
          <a:p>
            <a:pPr latinLnBrk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章数据库事务</a:t>
            </a:r>
          </a:p>
          <a:p>
            <a:pPr latinLnBrk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章数据库的备份与还原、导入与导出</a:t>
            </a:r>
          </a:p>
          <a:p>
            <a:pPr latinLnBrk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</a:p>
          <a:p>
            <a:pPr>
              <a:lnSpc>
                <a:spcPct val="200000"/>
              </a:lnSpc>
            </a:pP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本节课提纲</a:t>
            </a:r>
          </a:p>
        </p:txBody>
      </p:sp>
      <p:sp>
        <p:nvSpPr>
          <p:cNvPr id="4" name="矩形 3"/>
          <p:cNvSpPr/>
          <p:nvPr/>
        </p:nvSpPr>
        <p:spPr>
          <a:xfrm>
            <a:off x="1353820" y="1003300"/>
            <a:ext cx="419417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实验环境介绍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 2019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 2019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界面介绍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实验数据下载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实验数据导入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数据库基本操作简单示例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2597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实验环境</a:t>
            </a:r>
          </a:p>
        </p:txBody>
      </p:sp>
      <p:sp>
        <p:nvSpPr>
          <p:cNvPr id="4" name="矩形 3"/>
          <p:cNvSpPr/>
          <p:nvPr/>
        </p:nvSpPr>
        <p:spPr>
          <a:xfrm>
            <a:off x="6030397" y="1103365"/>
            <a:ext cx="5649686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 2019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一款使用结构化查询语言的关系型数据库服务器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提供了一系列丰富的集成服务，可以对数据进行查询、搜索、 同步、报告和分析等操作。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5" y="1819275"/>
            <a:ext cx="523875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</a:p>
        </p:txBody>
      </p:sp>
      <p:sp>
        <p:nvSpPr>
          <p:cNvPr id="4" name="矩形 3"/>
          <p:cNvSpPr/>
          <p:nvPr/>
        </p:nvSpPr>
        <p:spPr>
          <a:xfrm>
            <a:off x="1540329" y="1396773"/>
            <a:ext cx="10561320" cy="57543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base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：下载并安装 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Microsoft ODBC Driver for SQL Server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：下载并安装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SQL Server Management Studio (SSMS)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base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：下载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 2019</a:t>
            </a:r>
          </a:p>
          <a:p>
            <a:pPr algn="l" fontAlgn="base">
              <a:lnSpc>
                <a:spcPct val="20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https://www.microsoft.com/zh-cn/sql-server/sql-server-downloads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zh-CN" altLang="en-US" dirty="0"/>
            </a:br>
            <a:endParaRPr lang="zh-CN" altLang="en-US" dirty="0"/>
          </a:p>
          <a:p>
            <a:pPr algn="l" fontAlgn="base">
              <a:lnSpc>
                <a:spcPct val="200000"/>
              </a:lnSpc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</a:p>
        </p:txBody>
      </p:sp>
      <p:sp>
        <p:nvSpPr>
          <p:cNvPr id="4" name="矩形 3"/>
          <p:cNvSpPr/>
          <p:nvPr/>
        </p:nvSpPr>
        <p:spPr>
          <a:xfrm>
            <a:off x="903515" y="923244"/>
            <a:ext cx="5242589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：安装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 2008</a:t>
            </a:r>
          </a:p>
          <a:p>
            <a:pPr fontAlgn="base">
              <a:lnSpc>
                <a:spcPct val="200000"/>
              </a:lnSpc>
            </a:pPr>
            <a:endParaRPr lang="zh-CN" altLang="en-US" dirty="0"/>
          </a:p>
        </p:txBody>
      </p:sp>
      <p:pic>
        <p:nvPicPr>
          <p:cNvPr id="4098" name="Picture 2" descr="http://img.blog.csdn.net/20160114172137546?watermark/2/text/aHR0cDovL2Jsb2cuY3Nkbi5uZXQv/font/5a6L5L2T/fontsize/400/fill/I0JBQkFCMA==/dissolve/70/gravity/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786" y="1894115"/>
            <a:ext cx="9583504" cy="437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</a:p>
        </p:txBody>
      </p:sp>
      <p:sp>
        <p:nvSpPr>
          <p:cNvPr id="4" name="矩形 3"/>
          <p:cNvSpPr/>
          <p:nvPr/>
        </p:nvSpPr>
        <p:spPr>
          <a:xfrm>
            <a:off x="903515" y="923244"/>
            <a:ext cx="5192395" cy="15068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：安装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 2019</a:t>
            </a:r>
          </a:p>
          <a:p>
            <a:pPr fontAlgn="base">
              <a:lnSpc>
                <a:spcPct val="200000"/>
              </a:lnSpc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953895"/>
            <a:ext cx="7658100" cy="4219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39200" y="2260600"/>
            <a:ext cx="2438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勾选</a:t>
            </a:r>
            <a:r>
              <a:rPr lang="zh-CN" altLang="en-US" sz="2400">
                <a:solidFill>
                  <a:srgbClr val="FF0000"/>
                </a:solidFill>
              </a:rPr>
              <a:t>数据库引擎服务</a:t>
            </a:r>
            <a:r>
              <a:rPr lang="zh-CN" altLang="en-US" sz="2400"/>
              <a:t>和</a:t>
            </a:r>
            <a:r>
              <a:rPr lang="zh-CN" altLang="en-US" sz="2400">
                <a:solidFill>
                  <a:srgbClr val="FF0000"/>
                </a:solidFill>
              </a:rPr>
              <a:t>客户端工具连接</a:t>
            </a:r>
          </a:p>
        </p:txBody>
      </p:sp>
      <p:sp>
        <p:nvSpPr>
          <p:cNvPr id="7" name="矩形 6"/>
          <p:cNvSpPr/>
          <p:nvPr/>
        </p:nvSpPr>
        <p:spPr>
          <a:xfrm>
            <a:off x="1028700" y="3670300"/>
            <a:ext cx="660400" cy="2032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</a:p>
        </p:txBody>
      </p:sp>
      <p:pic>
        <p:nvPicPr>
          <p:cNvPr id="7172" name="Picture 4" descr="http://img.blog.csdn.net/20160114173230830?watermark/2/text/aHR0cDovL2Jsb2cuY3Nkbi5uZXQv/font/5a6L5L2T/fontsize/400/fill/I0JBQkFCMA==/dissolve/70/gravity/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76" y="1396773"/>
            <a:ext cx="5463081" cy="410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6874328" y="1396773"/>
            <a:ext cx="5029199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身份验证模式：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身份验证模式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）混合模式进行验证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Server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中选择添加当前用户。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</a:p>
        </p:txBody>
      </p:sp>
      <p:sp>
        <p:nvSpPr>
          <p:cNvPr id="3" name="矩形 2"/>
          <p:cNvSpPr/>
          <p:nvPr/>
        </p:nvSpPr>
        <p:spPr>
          <a:xfrm>
            <a:off x="6568067" y="1396773"/>
            <a:ext cx="5234239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在“开始”菜单上，搜索并打开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 Management Studio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在“连接到服务器”对话框中，验证默认设置，再单击“连接”。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36" y="1140628"/>
            <a:ext cx="5329193" cy="136209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25" y="2985770"/>
            <a:ext cx="4686300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</a:p>
        </p:txBody>
      </p:sp>
      <p:sp>
        <p:nvSpPr>
          <p:cNvPr id="3" name="矩形 2"/>
          <p:cNvSpPr/>
          <p:nvPr/>
        </p:nvSpPr>
        <p:spPr>
          <a:xfrm>
            <a:off x="6568067" y="1396773"/>
            <a:ext cx="5234239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如出现连接失败，需要打开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server 2019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配置管理器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sqlserver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网络设置，找到自己创建的实例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47140"/>
            <a:ext cx="5588635" cy="20878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600450"/>
            <a:ext cx="577215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</a:p>
        </p:txBody>
      </p:sp>
      <p:sp>
        <p:nvSpPr>
          <p:cNvPr id="3" name="矩形 2"/>
          <p:cNvSpPr/>
          <p:nvPr/>
        </p:nvSpPr>
        <p:spPr>
          <a:xfrm>
            <a:off x="6568067" y="1396773"/>
            <a:ext cx="5234239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找到“IP3”，更改IP地址 为自己电脑的IP地址（或者是127.0.0.1） 在TCP端口添加1433，然后选择启动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" y="1181100"/>
            <a:ext cx="5699760" cy="27120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595" y="3028315"/>
            <a:ext cx="4530725" cy="3083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</a:p>
        </p:txBody>
      </p:sp>
      <p:sp>
        <p:nvSpPr>
          <p:cNvPr id="3" name="矩形 2"/>
          <p:cNvSpPr/>
          <p:nvPr/>
        </p:nvSpPr>
        <p:spPr>
          <a:xfrm>
            <a:off x="6568067" y="1396773"/>
            <a:ext cx="5234239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“IPALL”的所有端口也改成“1433”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" y="1397000"/>
            <a:ext cx="6245225" cy="4273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508" y="712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启动</a:t>
            </a:r>
          </a:p>
        </p:txBody>
      </p:sp>
      <p:sp>
        <p:nvSpPr>
          <p:cNvPr id="3" name="矩形 2"/>
          <p:cNvSpPr/>
          <p:nvPr/>
        </p:nvSpPr>
        <p:spPr>
          <a:xfrm>
            <a:off x="9441815" y="2682240"/>
            <a:ext cx="30810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+mj-lt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重启服务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" y="1768475"/>
            <a:ext cx="8467725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838200" y="-115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Server 2019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主界面介绍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723" y="942740"/>
            <a:ext cx="9203931" cy="5556031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598778" y="1258349"/>
            <a:ext cx="4525911" cy="176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12" idx="1"/>
            <a:endCxn id="15" idx="3"/>
          </p:cNvCxnSpPr>
          <p:nvPr/>
        </p:nvCxnSpPr>
        <p:spPr>
          <a:xfrm flipH="1" flipV="1">
            <a:off x="1704190" y="1343158"/>
            <a:ext cx="894588" cy="3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50083" y="114310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菜单栏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2598224" y="1870745"/>
            <a:ext cx="2047468" cy="41189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2024741" y="4754563"/>
            <a:ext cx="5572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8999621" y="2556791"/>
            <a:ext cx="475995" cy="2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34589" y="4554508"/>
            <a:ext cx="2192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对象资源管理器</a:t>
            </a:r>
          </a:p>
        </p:txBody>
      </p:sp>
      <p:sp>
        <p:nvSpPr>
          <p:cNvPr id="23" name="矩形 22"/>
          <p:cNvSpPr/>
          <p:nvPr/>
        </p:nvSpPr>
        <p:spPr>
          <a:xfrm>
            <a:off x="2598224" y="1476631"/>
            <a:ext cx="798117" cy="172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1772201" y="1649184"/>
            <a:ext cx="826024" cy="484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47537" y="2156977"/>
            <a:ext cx="2277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查询语句</a:t>
            </a:r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6" name="矩形: 圆角 35"/>
          <p:cNvSpPr/>
          <p:nvPr/>
        </p:nvSpPr>
        <p:spPr>
          <a:xfrm>
            <a:off x="9475616" y="1809967"/>
            <a:ext cx="2047468" cy="41189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045210" y="235673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838200" y="-1158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实验数据</a:t>
            </a:r>
          </a:p>
        </p:txBody>
      </p:sp>
      <p:sp>
        <p:nvSpPr>
          <p:cNvPr id="18" name="矩形 17"/>
          <p:cNvSpPr/>
          <p:nvPr/>
        </p:nvSpPr>
        <p:spPr>
          <a:xfrm>
            <a:off x="6530898" y="1209685"/>
            <a:ext cx="54046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本课实验根据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数据库展开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School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数据库由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组成，如表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A1~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描述一个学校的学生，教师，课程，和选课关系。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注：假设某个学生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选择了由某个老师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开设的某门课程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cid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no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choices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表的主键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choices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表包含了来自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students, teachers, courses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三个表的外键 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35"/>
          <a:stretch>
            <a:fillRect/>
          </a:stretch>
        </p:blipFill>
        <p:spPr>
          <a:xfrm>
            <a:off x="337933" y="1042436"/>
            <a:ext cx="6062867" cy="5432650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446314" y="-1158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实验数据导入管理器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18" name="矩形 17"/>
          <p:cNvSpPr/>
          <p:nvPr/>
        </p:nvSpPr>
        <p:spPr>
          <a:xfrm>
            <a:off x="267972" y="1656053"/>
            <a:ext cx="6990611" cy="4661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解压数据，复制文件夹中两个文件夹，打开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数据库2019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文件夹，下面有两个文件：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School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data.MDF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数据文件）和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School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log.LDF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日志文件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 Server2019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安装目录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下的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MSSQL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中。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C:\Program Files\Microsoft SQL Server\MSSQL15.MSSQLSERVER\MSSQL\DATA\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Management studio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展开到“数据库”一级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并在“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”上右击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选择“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”选项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在“附加数据库”对话框中选择“添加”按钮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出现默认的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Server2019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安装目录下的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文件夹下的所有数据文件。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6314" y="993666"/>
            <a:ext cx="37299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实验数据下载：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群文件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452" y="1538936"/>
            <a:ext cx="4027057" cy="50994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96868" y="4427034"/>
            <a:ext cx="925552" cy="189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6" idx="3"/>
          </p:cNvCxnSpPr>
          <p:nvPr/>
        </p:nvCxnSpPr>
        <p:spPr>
          <a:xfrm>
            <a:off x="9322420" y="4521820"/>
            <a:ext cx="3679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624022" y="4383319"/>
            <a:ext cx="17283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data.MDF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1278" y="1209684"/>
            <a:ext cx="4085338" cy="510864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34343" y="1209684"/>
            <a:ext cx="5319407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 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data.MDF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单击“确定”按钮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回到“附加数据库”对话框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然后单击“确定”按钮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便可以导入数据库。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可在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Management studio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的“数据库”目录下看到新添加的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School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说明导入成功。</a:t>
            </a:r>
          </a:p>
        </p:txBody>
      </p:sp>
      <p:sp>
        <p:nvSpPr>
          <p:cNvPr id="6" name="矩形 5"/>
          <p:cNvSpPr/>
          <p:nvPr/>
        </p:nvSpPr>
        <p:spPr>
          <a:xfrm>
            <a:off x="7147931" y="2852484"/>
            <a:ext cx="568713" cy="223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716644" y="2975145"/>
            <a:ext cx="7375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585770" y="2810107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School</a:t>
            </a:r>
            <a:r>
              <a:rPr lang="zh-CN" altLang="en-US" sz="1400" dirty="0">
                <a:solidFill>
                  <a:srgbClr val="FF0000"/>
                </a:solidFill>
              </a:rPr>
              <a:t>数据库导入成功</a:t>
            </a:r>
          </a:p>
        </p:txBody>
      </p:sp>
      <p:sp>
        <p:nvSpPr>
          <p:cNvPr id="12" name="标题 1"/>
          <p:cNvSpPr txBox="1"/>
          <p:nvPr/>
        </p:nvSpPr>
        <p:spPr>
          <a:xfrm>
            <a:off x="446314" y="-1158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实验数据导入管理器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46314" y="991082"/>
            <a:ext cx="6828246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新建数据库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 DATABASE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数据库名字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12" name="标题 1"/>
          <p:cNvSpPr txBox="1"/>
          <p:nvPr/>
        </p:nvSpPr>
        <p:spPr>
          <a:xfrm>
            <a:off x="446314" y="-1158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数据库基本操作简单示例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86" y="1653198"/>
            <a:ext cx="7685714" cy="488571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839259" y="2369908"/>
            <a:ext cx="894443" cy="325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11" idx="1"/>
          </p:cNvCxnSpPr>
          <p:nvPr/>
        </p:nvCxnSpPr>
        <p:spPr>
          <a:xfrm flipH="1">
            <a:off x="3356393" y="2532468"/>
            <a:ext cx="2482866" cy="1343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35923" y="2196229"/>
            <a:ext cx="245291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先点击“新建查询”</a:t>
            </a:r>
          </a:p>
        </p:txBody>
      </p:sp>
      <p:sp>
        <p:nvSpPr>
          <p:cNvPr id="17" name="矩形 16"/>
          <p:cNvSpPr/>
          <p:nvPr/>
        </p:nvSpPr>
        <p:spPr>
          <a:xfrm>
            <a:off x="5506720" y="2722880"/>
            <a:ext cx="3103880" cy="853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35923" y="2930523"/>
            <a:ext cx="2900987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 database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My_test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>
            <a:endCxn id="26" idx="3"/>
          </p:cNvCxnSpPr>
          <p:nvPr/>
        </p:nvCxnSpPr>
        <p:spPr>
          <a:xfrm flipH="1">
            <a:off x="2023431" y="4968240"/>
            <a:ext cx="34832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19" idx="3"/>
          </p:cNvCxnSpPr>
          <p:nvPr/>
        </p:nvCxnSpPr>
        <p:spPr>
          <a:xfrm flipH="1">
            <a:off x="3136910" y="3253688"/>
            <a:ext cx="2369812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506720" y="4469580"/>
            <a:ext cx="3103880" cy="853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63013" y="4783574"/>
            <a:ext cx="176041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显示创建成功</a:t>
            </a:r>
          </a:p>
        </p:txBody>
      </p:sp>
      <p:sp>
        <p:nvSpPr>
          <p:cNvPr id="27" name="矩形 26"/>
          <p:cNvSpPr/>
          <p:nvPr/>
        </p:nvSpPr>
        <p:spPr>
          <a:xfrm>
            <a:off x="3746028" y="2159062"/>
            <a:ext cx="894443" cy="325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35923" y="3817081"/>
            <a:ext cx="312047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点击“执行”，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 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ALT+ X”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快捷键执行</a:t>
            </a:r>
          </a:p>
        </p:txBody>
      </p:sp>
      <p:cxnSp>
        <p:nvCxnSpPr>
          <p:cNvPr id="30" name="直接箭头连接符 29"/>
          <p:cNvCxnSpPr>
            <a:endCxn id="16" idx="3"/>
          </p:cNvCxnSpPr>
          <p:nvPr/>
        </p:nvCxnSpPr>
        <p:spPr>
          <a:xfrm flipH="1">
            <a:off x="2688839" y="2369908"/>
            <a:ext cx="1057190" cy="109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257063" y="5386508"/>
            <a:ext cx="3329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中关键字不区分字母大小写。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 database  =CREATE DATABASE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158" y="1667817"/>
            <a:ext cx="7704762" cy="491428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6313" y="991082"/>
            <a:ext cx="8991301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 table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数据库名字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&gt;(&lt;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&gt;,…) </a:t>
            </a:r>
          </a:p>
        </p:txBody>
      </p:sp>
      <p:sp>
        <p:nvSpPr>
          <p:cNvPr id="12" name="标题 1"/>
          <p:cNvSpPr txBox="1"/>
          <p:nvPr/>
        </p:nvSpPr>
        <p:spPr>
          <a:xfrm>
            <a:off x="446314" y="-1158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数据库基本操作简单示例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935720" y="635635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831840" y="2722880"/>
            <a:ext cx="3103880" cy="1300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39389" y="1816636"/>
            <a:ext cx="38347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CHAR(8)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UNIQUE,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Rname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CHAR(20),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Rarea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FLOAT(10),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PRIMARY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KEY(R#))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2464313" y="4968240"/>
            <a:ext cx="336752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3892492" y="3253688"/>
            <a:ext cx="22352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831840" y="4469580"/>
            <a:ext cx="3103880" cy="853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53820" y="4783574"/>
            <a:ext cx="156966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显示创建成功</a:t>
            </a:r>
          </a:p>
        </p:txBody>
      </p:sp>
      <p:sp>
        <p:nvSpPr>
          <p:cNvPr id="4" name="矩形 3"/>
          <p:cNvSpPr/>
          <p:nvPr/>
        </p:nvSpPr>
        <p:spPr>
          <a:xfrm>
            <a:off x="192947" y="2416029"/>
            <a:ext cx="3699545" cy="1702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077" y="1643674"/>
            <a:ext cx="7514286" cy="48952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6314" y="991082"/>
            <a:ext cx="6828246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查询数据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 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from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表名或视图名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</p:txBody>
      </p:sp>
      <p:sp>
        <p:nvSpPr>
          <p:cNvPr id="12" name="标题 1"/>
          <p:cNvSpPr txBox="1"/>
          <p:nvPr/>
        </p:nvSpPr>
        <p:spPr>
          <a:xfrm>
            <a:off x="446314" y="-1158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数据库基本操作简单示例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935720" y="635635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831840" y="2722880"/>
            <a:ext cx="3103880" cy="1300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68311" y="2941645"/>
            <a:ext cx="2686954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SNAME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STUDENTS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GRADE='2001'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SID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3393440" y="4968240"/>
            <a:ext cx="24384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3596640" y="3253688"/>
            <a:ext cx="22352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831840" y="4469580"/>
            <a:ext cx="3103880" cy="1452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66797" y="4783574"/>
            <a:ext cx="256993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6754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个学生的姓名</a:t>
            </a:r>
          </a:p>
        </p:txBody>
      </p:sp>
      <p:sp>
        <p:nvSpPr>
          <p:cNvPr id="6" name="矩形 5"/>
          <p:cNvSpPr/>
          <p:nvPr/>
        </p:nvSpPr>
        <p:spPr>
          <a:xfrm>
            <a:off x="9080598" y="3397569"/>
            <a:ext cx="1881316" cy="398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10140421" y="1268081"/>
            <a:ext cx="1" cy="21294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9236426" y="78089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返回记录行数</a:t>
            </a:r>
          </a:p>
        </p:txBody>
      </p:sp>
      <p:sp>
        <p:nvSpPr>
          <p:cNvPr id="22" name="矩形 21"/>
          <p:cNvSpPr/>
          <p:nvPr/>
        </p:nvSpPr>
        <p:spPr>
          <a:xfrm>
            <a:off x="666797" y="1708344"/>
            <a:ext cx="329560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查询年级为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的所有学生姓名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775" y="1532868"/>
            <a:ext cx="7561905" cy="490476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6314" y="991082"/>
            <a:ext cx="6828246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插入数据操作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 into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values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</a:p>
        </p:txBody>
      </p:sp>
      <p:sp>
        <p:nvSpPr>
          <p:cNvPr id="12" name="标题 1"/>
          <p:cNvSpPr txBox="1"/>
          <p:nvPr/>
        </p:nvSpPr>
        <p:spPr>
          <a:xfrm>
            <a:off x="446314" y="-1158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数据库基本操作简单示例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403080" y="625475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299200" y="2621280"/>
            <a:ext cx="4023360" cy="1300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13674" y="1676925"/>
            <a:ext cx="3172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表中插入一条新的学生记录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INTO STUDENTS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VALUES ('700045678','LiMing’,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'LX@cdemg.com',1992)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3464653" y="4513755"/>
            <a:ext cx="28345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4064000" y="3152088"/>
            <a:ext cx="22352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299200" y="4367980"/>
            <a:ext cx="3103880" cy="1452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054690" y="436798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查询，数据已插入成功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54" y="4777286"/>
            <a:ext cx="3562062" cy="171413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09600" y="5820760"/>
            <a:ext cx="2722880" cy="433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 flipV="1">
            <a:off x="3007360" y="4737312"/>
            <a:ext cx="0" cy="10834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56345" y="2508308"/>
            <a:ext cx="3107655" cy="17197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115736" y="4401536"/>
            <a:ext cx="2348917" cy="296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457" y="4905486"/>
            <a:ext cx="4047619" cy="1857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457" y="1676925"/>
            <a:ext cx="7253721" cy="30967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46314" y="991082"/>
            <a:ext cx="682824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删除数据操作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delete from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where &lt;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逻辑条件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</a:p>
        </p:txBody>
      </p:sp>
      <p:sp>
        <p:nvSpPr>
          <p:cNvPr id="12" name="标题 1"/>
          <p:cNvSpPr txBox="1"/>
          <p:nvPr/>
        </p:nvSpPr>
        <p:spPr>
          <a:xfrm>
            <a:off x="446314" y="-1158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数据库基本操作简单示例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403080" y="625475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868160" y="2652040"/>
            <a:ext cx="3454400" cy="822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13674" y="1676925"/>
            <a:ext cx="31726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表中删除刚刚插入的那条记录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STUDENTS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=700045678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3677920" y="4513755"/>
            <a:ext cx="262128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4064001" y="3152088"/>
            <a:ext cx="280415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868160" y="3652137"/>
            <a:ext cx="2534920" cy="533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40846" y="4450475"/>
            <a:ext cx="3185487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再次查询，数据已删除成功，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检索无结果</a:t>
            </a:r>
          </a:p>
        </p:txBody>
      </p:sp>
      <p:sp>
        <p:nvSpPr>
          <p:cNvPr id="8" name="矩形 7"/>
          <p:cNvSpPr/>
          <p:nvPr/>
        </p:nvSpPr>
        <p:spPr>
          <a:xfrm>
            <a:off x="4582337" y="6135307"/>
            <a:ext cx="2722880" cy="433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3626333" y="5069916"/>
            <a:ext cx="925347" cy="11848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14400" y="2508308"/>
            <a:ext cx="3149601" cy="1143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1026</Words>
  <Application>Microsoft Office PowerPoint</Application>
  <PresentationFormat>宽屏</PresentationFormat>
  <Paragraphs>146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等线</vt:lpstr>
      <vt:lpstr>等线 Light</vt:lpstr>
      <vt:lpstr>微软雅黑</vt:lpstr>
      <vt:lpstr>Arial</vt:lpstr>
      <vt:lpstr>Times New Roman</vt:lpstr>
      <vt:lpstr>Office 主题​​</vt:lpstr>
      <vt:lpstr>Lecture 1，Fall 2024/2025 数据库系统实验</vt:lpstr>
      <vt:lpstr>实验课参考教材</vt:lpstr>
      <vt:lpstr>参考教材主要目录</vt:lpstr>
      <vt:lpstr>本节课提纲</vt:lpstr>
      <vt:lpstr>实验环境</vt:lpstr>
      <vt:lpstr>SQL Server 2019 安装</vt:lpstr>
      <vt:lpstr>SQL Server 2019 安装</vt:lpstr>
      <vt:lpstr>SQL Server 2019 安装</vt:lpstr>
      <vt:lpstr>SQL Server 2019 安装</vt:lpstr>
      <vt:lpstr>SQL Server 2019 启动</vt:lpstr>
      <vt:lpstr>SQL Server 2019 启动</vt:lpstr>
      <vt:lpstr>SQL Server 2019 启动</vt:lpstr>
      <vt:lpstr>SQL Server 2019 启动</vt:lpstr>
      <vt:lpstr>SQL Server 2019 启动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1，Fall 2017/2018 数据库系统实验</dc:title>
  <dc:creator>Genan Dai</dc:creator>
  <cp:lastModifiedBy>凯淇 吴</cp:lastModifiedBy>
  <cp:revision>42</cp:revision>
  <dcterms:created xsi:type="dcterms:W3CDTF">2021-08-30T08:22:44Z</dcterms:created>
  <dcterms:modified xsi:type="dcterms:W3CDTF">2024-09-09T08:27:25Z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