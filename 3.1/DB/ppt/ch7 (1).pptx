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5"/>
  </p:notesMasterIdLst>
  <p:handoutMasterIdLst>
    <p:handoutMasterId r:id="rId146"/>
  </p:handoutMasterIdLst>
  <p:sldIdLst>
    <p:sldId id="438" r:id="rId3"/>
    <p:sldId id="440" r:id="rId4"/>
    <p:sldId id="441" r:id="rId6"/>
    <p:sldId id="474" r:id="rId7"/>
    <p:sldId id="475" r:id="rId8"/>
    <p:sldId id="476" r:id="rId9"/>
    <p:sldId id="477" r:id="rId10"/>
    <p:sldId id="478" r:id="rId11"/>
    <p:sldId id="479" r:id="rId12"/>
    <p:sldId id="480" r:id="rId13"/>
    <p:sldId id="481" r:id="rId14"/>
    <p:sldId id="482" r:id="rId15"/>
    <p:sldId id="483" r:id="rId16"/>
    <p:sldId id="484" r:id="rId17"/>
    <p:sldId id="485" r:id="rId18"/>
    <p:sldId id="486" r:id="rId19"/>
    <p:sldId id="495" r:id="rId20"/>
    <p:sldId id="496" r:id="rId21"/>
    <p:sldId id="639" r:id="rId22"/>
    <p:sldId id="640" r:id="rId23"/>
    <p:sldId id="641" r:id="rId24"/>
    <p:sldId id="642" r:id="rId25"/>
    <p:sldId id="643" r:id="rId26"/>
    <p:sldId id="644" r:id="rId27"/>
    <p:sldId id="645" r:id="rId28"/>
    <p:sldId id="646" r:id="rId29"/>
    <p:sldId id="647" r:id="rId30"/>
    <p:sldId id="648" r:id="rId31"/>
    <p:sldId id="649" r:id="rId32"/>
    <p:sldId id="650" r:id="rId33"/>
    <p:sldId id="651" r:id="rId34"/>
    <p:sldId id="652" r:id="rId35"/>
    <p:sldId id="653" r:id="rId36"/>
    <p:sldId id="654" r:id="rId37"/>
    <p:sldId id="655" r:id="rId38"/>
    <p:sldId id="656" r:id="rId39"/>
    <p:sldId id="657" r:id="rId40"/>
    <p:sldId id="658" r:id="rId41"/>
    <p:sldId id="659" r:id="rId42"/>
    <p:sldId id="660" r:id="rId43"/>
    <p:sldId id="661" r:id="rId44"/>
    <p:sldId id="662" r:id="rId45"/>
    <p:sldId id="663" r:id="rId46"/>
    <p:sldId id="664" r:id="rId47"/>
    <p:sldId id="665" r:id="rId48"/>
    <p:sldId id="666" r:id="rId49"/>
    <p:sldId id="667" r:id="rId50"/>
    <p:sldId id="668" r:id="rId51"/>
    <p:sldId id="670" r:id="rId52"/>
    <p:sldId id="671" r:id="rId53"/>
    <p:sldId id="672" r:id="rId54"/>
    <p:sldId id="669" r:id="rId55"/>
    <p:sldId id="443" r:id="rId56"/>
    <p:sldId id="444" r:id="rId57"/>
    <p:sldId id="445" r:id="rId58"/>
    <p:sldId id="446" r:id="rId59"/>
    <p:sldId id="447" r:id="rId60"/>
    <p:sldId id="451" r:id="rId61"/>
    <p:sldId id="452" r:id="rId62"/>
    <p:sldId id="453" r:id="rId63"/>
    <p:sldId id="454" r:id="rId64"/>
    <p:sldId id="531" r:id="rId65"/>
    <p:sldId id="519" r:id="rId66"/>
    <p:sldId id="462" r:id="rId67"/>
    <p:sldId id="463" r:id="rId68"/>
    <p:sldId id="464" r:id="rId69"/>
    <p:sldId id="468" r:id="rId70"/>
    <p:sldId id="469" r:id="rId71"/>
    <p:sldId id="473" r:id="rId72"/>
    <p:sldId id="372" r:id="rId73"/>
    <p:sldId id="373" r:id="rId74"/>
    <p:sldId id="374" r:id="rId75"/>
    <p:sldId id="375" r:id="rId76"/>
    <p:sldId id="376" r:id="rId77"/>
    <p:sldId id="437" r:id="rId78"/>
    <p:sldId id="378" r:id="rId79"/>
    <p:sldId id="379" r:id="rId80"/>
    <p:sldId id="380" r:id="rId81"/>
    <p:sldId id="532" r:id="rId82"/>
    <p:sldId id="381" r:id="rId83"/>
    <p:sldId id="382" r:id="rId84"/>
    <p:sldId id="383" r:id="rId85"/>
    <p:sldId id="384" r:id="rId86"/>
    <p:sldId id="385" r:id="rId87"/>
    <p:sldId id="386" r:id="rId88"/>
    <p:sldId id="387" r:id="rId89"/>
    <p:sldId id="388" r:id="rId90"/>
    <p:sldId id="389" r:id="rId91"/>
    <p:sldId id="394" r:id="rId92"/>
    <p:sldId id="530" r:id="rId93"/>
    <p:sldId id="526" r:id="rId94"/>
    <p:sldId id="527" r:id="rId95"/>
    <p:sldId id="528" r:id="rId96"/>
    <p:sldId id="529" r:id="rId97"/>
    <p:sldId id="522" r:id="rId98"/>
    <p:sldId id="523" r:id="rId99"/>
    <p:sldId id="533" r:id="rId100"/>
    <p:sldId id="524" r:id="rId101"/>
    <p:sldId id="525" r:id="rId102"/>
    <p:sldId id="395" r:id="rId103"/>
    <p:sldId id="396" r:id="rId104"/>
    <p:sldId id="397" r:id="rId105"/>
    <p:sldId id="398" r:id="rId106"/>
    <p:sldId id="399" r:id="rId107"/>
    <p:sldId id="400" r:id="rId108"/>
    <p:sldId id="401" r:id="rId109"/>
    <p:sldId id="402" r:id="rId110"/>
    <p:sldId id="403" r:id="rId111"/>
    <p:sldId id="404" r:id="rId112"/>
    <p:sldId id="405" r:id="rId113"/>
    <p:sldId id="406" r:id="rId114"/>
    <p:sldId id="534" r:id="rId115"/>
    <p:sldId id="407" r:id="rId116"/>
    <p:sldId id="408" r:id="rId117"/>
    <p:sldId id="409" r:id="rId118"/>
    <p:sldId id="410" r:id="rId119"/>
    <p:sldId id="411" r:id="rId120"/>
    <p:sldId id="412" r:id="rId121"/>
    <p:sldId id="413" r:id="rId122"/>
    <p:sldId id="414" r:id="rId123"/>
    <p:sldId id="415" r:id="rId124"/>
    <p:sldId id="416" r:id="rId125"/>
    <p:sldId id="417" r:id="rId126"/>
    <p:sldId id="418" r:id="rId127"/>
    <p:sldId id="419" r:id="rId128"/>
    <p:sldId id="420" r:id="rId129"/>
    <p:sldId id="421" r:id="rId130"/>
    <p:sldId id="422" r:id="rId131"/>
    <p:sldId id="423" r:id="rId132"/>
    <p:sldId id="424" r:id="rId133"/>
    <p:sldId id="425" r:id="rId134"/>
    <p:sldId id="426" r:id="rId135"/>
    <p:sldId id="427" r:id="rId136"/>
    <p:sldId id="428" r:id="rId137"/>
    <p:sldId id="429" r:id="rId138"/>
    <p:sldId id="430" r:id="rId139"/>
    <p:sldId id="431" r:id="rId140"/>
    <p:sldId id="432" r:id="rId141"/>
    <p:sldId id="433" r:id="rId142"/>
    <p:sldId id="434" r:id="rId143"/>
    <p:sldId id="435" r:id="rId144"/>
    <p:sldId id="436" r:id="rId145"/>
  </p:sldIdLst>
  <p:sldSz cx="9144000" cy="6858000" type="screen4x3"/>
  <p:notesSz cx="6997700" cy="9283700"/>
  <p:custShowLst>
    <p:custShow name="Custom Show 1" id="0">
      <p:sldLst/>
    </p:custShow>
  </p:custShow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07" userDrawn="1">
          <p15:clr>
            <a:srgbClr val="A4A3A4"/>
          </p15:clr>
        </p15:guide>
        <p15:guide id="2" pos="57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33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844" autoAdjust="0"/>
    <p:restoredTop sz="87270" autoAdjust="0"/>
  </p:normalViewPr>
  <p:slideViewPr>
    <p:cSldViewPr snapToGrid="0" showGuides="1">
      <p:cViewPr varScale="1">
        <p:scale>
          <a:sx n="60" d="100"/>
          <a:sy n="60" d="100"/>
        </p:scale>
        <p:origin x="1336" y="36"/>
      </p:cViewPr>
      <p:guideLst>
        <p:guide orient="horz" pos="707"/>
        <p:guide pos="576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615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96.xml"/><Relationship Id="rId98" Type="http://schemas.openxmlformats.org/officeDocument/2006/relationships/slide" Target="slides/slide95.xml"/><Relationship Id="rId97" Type="http://schemas.openxmlformats.org/officeDocument/2006/relationships/slide" Target="slides/slide94.xml"/><Relationship Id="rId96" Type="http://schemas.openxmlformats.org/officeDocument/2006/relationships/slide" Target="slides/slide93.xml"/><Relationship Id="rId95" Type="http://schemas.openxmlformats.org/officeDocument/2006/relationships/slide" Target="slides/slide92.xml"/><Relationship Id="rId94" Type="http://schemas.openxmlformats.org/officeDocument/2006/relationships/slide" Target="slides/slide91.xml"/><Relationship Id="rId93" Type="http://schemas.openxmlformats.org/officeDocument/2006/relationships/slide" Target="slides/slide90.xml"/><Relationship Id="rId92" Type="http://schemas.openxmlformats.org/officeDocument/2006/relationships/slide" Target="slides/slide89.xml"/><Relationship Id="rId91" Type="http://schemas.openxmlformats.org/officeDocument/2006/relationships/slide" Target="slides/slide88.xml"/><Relationship Id="rId90" Type="http://schemas.openxmlformats.org/officeDocument/2006/relationships/slide" Target="slides/slide87.xml"/><Relationship Id="rId9" Type="http://schemas.openxmlformats.org/officeDocument/2006/relationships/slide" Target="slides/slide6.xml"/><Relationship Id="rId89" Type="http://schemas.openxmlformats.org/officeDocument/2006/relationships/slide" Target="slides/slide86.xml"/><Relationship Id="rId88" Type="http://schemas.openxmlformats.org/officeDocument/2006/relationships/slide" Target="slides/slide85.xml"/><Relationship Id="rId87" Type="http://schemas.openxmlformats.org/officeDocument/2006/relationships/slide" Target="slides/slide84.xml"/><Relationship Id="rId86" Type="http://schemas.openxmlformats.org/officeDocument/2006/relationships/slide" Target="slides/slide83.xml"/><Relationship Id="rId85" Type="http://schemas.openxmlformats.org/officeDocument/2006/relationships/slide" Target="slides/slide82.xml"/><Relationship Id="rId84" Type="http://schemas.openxmlformats.org/officeDocument/2006/relationships/slide" Target="slides/slide81.xml"/><Relationship Id="rId83" Type="http://schemas.openxmlformats.org/officeDocument/2006/relationships/slide" Target="slides/slide80.xml"/><Relationship Id="rId82" Type="http://schemas.openxmlformats.org/officeDocument/2006/relationships/slide" Target="slides/slide79.xml"/><Relationship Id="rId81" Type="http://schemas.openxmlformats.org/officeDocument/2006/relationships/slide" Target="slides/slide78.xml"/><Relationship Id="rId80" Type="http://schemas.openxmlformats.org/officeDocument/2006/relationships/slide" Target="slides/slide77.xml"/><Relationship Id="rId8" Type="http://schemas.openxmlformats.org/officeDocument/2006/relationships/slide" Target="slides/slide5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notesMaster" Target="notesMasters/notesMaster1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9" Type="http://schemas.openxmlformats.org/officeDocument/2006/relationships/tableStyles" Target="tableStyles.xml"/><Relationship Id="rId148" Type="http://schemas.openxmlformats.org/officeDocument/2006/relationships/viewProps" Target="viewProps.xml"/><Relationship Id="rId147" Type="http://schemas.openxmlformats.org/officeDocument/2006/relationships/presProps" Target="presProps.xml"/><Relationship Id="rId146" Type="http://schemas.openxmlformats.org/officeDocument/2006/relationships/handoutMaster" Target="handoutMasters/handoutMaster1.xml"/><Relationship Id="rId145" Type="http://schemas.openxmlformats.org/officeDocument/2006/relationships/slide" Target="slides/slide142.xml"/><Relationship Id="rId144" Type="http://schemas.openxmlformats.org/officeDocument/2006/relationships/slide" Target="slides/slide141.xml"/><Relationship Id="rId143" Type="http://schemas.openxmlformats.org/officeDocument/2006/relationships/slide" Target="slides/slide140.xml"/><Relationship Id="rId142" Type="http://schemas.openxmlformats.org/officeDocument/2006/relationships/slide" Target="slides/slide139.xml"/><Relationship Id="rId141" Type="http://schemas.openxmlformats.org/officeDocument/2006/relationships/slide" Target="slides/slide138.xml"/><Relationship Id="rId140" Type="http://schemas.openxmlformats.org/officeDocument/2006/relationships/slide" Target="slides/slide137.xml"/><Relationship Id="rId14" Type="http://schemas.openxmlformats.org/officeDocument/2006/relationships/slide" Target="slides/slide11.xml"/><Relationship Id="rId139" Type="http://schemas.openxmlformats.org/officeDocument/2006/relationships/slide" Target="slides/slide136.xml"/><Relationship Id="rId138" Type="http://schemas.openxmlformats.org/officeDocument/2006/relationships/slide" Target="slides/slide135.xml"/><Relationship Id="rId137" Type="http://schemas.openxmlformats.org/officeDocument/2006/relationships/slide" Target="slides/slide134.xml"/><Relationship Id="rId136" Type="http://schemas.openxmlformats.org/officeDocument/2006/relationships/slide" Target="slides/slide133.xml"/><Relationship Id="rId135" Type="http://schemas.openxmlformats.org/officeDocument/2006/relationships/slide" Target="slides/slide132.xml"/><Relationship Id="rId134" Type="http://schemas.openxmlformats.org/officeDocument/2006/relationships/slide" Target="slides/slide131.xml"/><Relationship Id="rId133" Type="http://schemas.openxmlformats.org/officeDocument/2006/relationships/slide" Target="slides/slide130.xml"/><Relationship Id="rId132" Type="http://schemas.openxmlformats.org/officeDocument/2006/relationships/slide" Target="slides/slide129.xml"/><Relationship Id="rId131" Type="http://schemas.openxmlformats.org/officeDocument/2006/relationships/slide" Target="slides/slide128.xml"/><Relationship Id="rId130" Type="http://schemas.openxmlformats.org/officeDocument/2006/relationships/slide" Target="slides/slide127.xml"/><Relationship Id="rId13" Type="http://schemas.openxmlformats.org/officeDocument/2006/relationships/slide" Target="slides/slide10.xml"/><Relationship Id="rId129" Type="http://schemas.openxmlformats.org/officeDocument/2006/relationships/slide" Target="slides/slide126.xml"/><Relationship Id="rId128" Type="http://schemas.openxmlformats.org/officeDocument/2006/relationships/slide" Target="slides/slide125.xml"/><Relationship Id="rId127" Type="http://schemas.openxmlformats.org/officeDocument/2006/relationships/slide" Target="slides/slide124.xml"/><Relationship Id="rId126" Type="http://schemas.openxmlformats.org/officeDocument/2006/relationships/slide" Target="slides/slide123.xml"/><Relationship Id="rId125" Type="http://schemas.openxmlformats.org/officeDocument/2006/relationships/slide" Target="slides/slide122.xml"/><Relationship Id="rId124" Type="http://schemas.openxmlformats.org/officeDocument/2006/relationships/slide" Target="slides/slide121.xml"/><Relationship Id="rId123" Type="http://schemas.openxmlformats.org/officeDocument/2006/relationships/slide" Target="slides/slide120.xml"/><Relationship Id="rId122" Type="http://schemas.openxmlformats.org/officeDocument/2006/relationships/slide" Target="slides/slide119.xml"/><Relationship Id="rId121" Type="http://schemas.openxmlformats.org/officeDocument/2006/relationships/slide" Target="slides/slide118.xml"/><Relationship Id="rId120" Type="http://schemas.openxmlformats.org/officeDocument/2006/relationships/slide" Target="slides/slide117.xml"/><Relationship Id="rId12" Type="http://schemas.openxmlformats.org/officeDocument/2006/relationships/slide" Target="slides/slide9.xml"/><Relationship Id="rId119" Type="http://schemas.openxmlformats.org/officeDocument/2006/relationships/slide" Target="slides/slide116.xml"/><Relationship Id="rId118" Type="http://schemas.openxmlformats.org/officeDocument/2006/relationships/slide" Target="slides/slide115.xml"/><Relationship Id="rId117" Type="http://schemas.openxmlformats.org/officeDocument/2006/relationships/slide" Target="slides/slide114.xml"/><Relationship Id="rId116" Type="http://schemas.openxmlformats.org/officeDocument/2006/relationships/slide" Target="slides/slide113.xml"/><Relationship Id="rId115" Type="http://schemas.openxmlformats.org/officeDocument/2006/relationships/slide" Target="slides/slide112.xml"/><Relationship Id="rId114" Type="http://schemas.openxmlformats.org/officeDocument/2006/relationships/slide" Target="slides/slide111.xml"/><Relationship Id="rId113" Type="http://schemas.openxmlformats.org/officeDocument/2006/relationships/slide" Target="slides/slide110.xml"/><Relationship Id="rId112" Type="http://schemas.openxmlformats.org/officeDocument/2006/relationships/slide" Target="slides/slide109.xml"/><Relationship Id="rId111" Type="http://schemas.openxmlformats.org/officeDocument/2006/relationships/slide" Target="slides/slide108.xml"/><Relationship Id="rId110" Type="http://schemas.openxmlformats.org/officeDocument/2006/relationships/slide" Target="slides/slide107.xml"/><Relationship Id="rId11" Type="http://schemas.openxmlformats.org/officeDocument/2006/relationships/slide" Target="slides/slide8.xml"/><Relationship Id="rId109" Type="http://schemas.openxmlformats.org/officeDocument/2006/relationships/slide" Target="slides/slide106.xml"/><Relationship Id="rId108" Type="http://schemas.openxmlformats.org/officeDocument/2006/relationships/slide" Target="slides/slide105.xml"/><Relationship Id="rId107" Type="http://schemas.openxmlformats.org/officeDocument/2006/relationships/slide" Target="slides/slide104.xml"/><Relationship Id="rId106" Type="http://schemas.openxmlformats.org/officeDocument/2006/relationships/slide" Target="slides/slide103.xml"/><Relationship Id="rId105" Type="http://schemas.openxmlformats.org/officeDocument/2006/relationships/slide" Target="slides/slide102.xml"/><Relationship Id="rId104" Type="http://schemas.openxmlformats.org/officeDocument/2006/relationships/slide" Target="slides/slide101.xml"/><Relationship Id="rId103" Type="http://schemas.openxmlformats.org/officeDocument/2006/relationships/slide" Target="slides/slide100.xml"/><Relationship Id="rId102" Type="http://schemas.openxmlformats.org/officeDocument/2006/relationships/slide" Target="slides/slide99.xml"/><Relationship Id="rId101" Type="http://schemas.openxmlformats.org/officeDocument/2006/relationships/slide" Target="slides/slide98.xml"/><Relationship Id="rId100" Type="http://schemas.openxmlformats.org/officeDocument/2006/relationships/slide" Target="slides/slide97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_rels/viewProps.xml.rels><?xml version="1.0" encoding="UTF-8" standalone="yes"?>
<Relationships xmlns="http://schemas.openxmlformats.org/package/2006/relationships"><Relationship Id="rId7" Type="http://schemas.openxmlformats.org/officeDocument/2006/relationships/slide" Target="slides/slide112.xml"/><Relationship Id="rId6" Type="http://schemas.openxmlformats.org/officeDocument/2006/relationships/slide" Target="slides/slide97.xml"/><Relationship Id="rId5" Type="http://schemas.openxmlformats.org/officeDocument/2006/relationships/slide" Target="slides/slide90.xml"/><Relationship Id="rId4" Type="http://schemas.openxmlformats.org/officeDocument/2006/relationships/slide" Target="slides/slide79.xml"/><Relationship Id="rId3" Type="http://schemas.openxmlformats.org/officeDocument/2006/relationships/slide" Target="slides/slide63.xml"/><Relationship Id="rId2" Type="http://schemas.openxmlformats.org/officeDocument/2006/relationships/slide" Target="slides/slide62.xml"/><Relationship Id="rId1" Type="http://schemas.openxmlformats.org/officeDocument/2006/relationships/slide" Target="slides/slide1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027" tIns="46514" rIns="93027" bIns="46514" numCol="1" anchor="t" anchorCtr="0" compatLnSpc="1"/>
          <a:lstStyle>
            <a:lvl1pPr defTabSz="930275">
              <a:defRPr sz="1300">
                <a:latin typeface="Helvetica" panose="020B0604020202020204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726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027" tIns="46514" rIns="93027" bIns="46514" numCol="1" anchor="t" anchorCtr="0" compatLnSpc="1"/>
          <a:lstStyle>
            <a:lvl1pPr algn="r" defTabSz="930275">
              <a:defRPr sz="1300">
                <a:latin typeface="Helvetica" panose="020B0604020202020204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726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027" tIns="46514" rIns="93027" bIns="46514" numCol="1" anchor="b" anchorCtr="0" compatLnSpc="1"/>
          <a:lstStyle>
            <a:lvl1pPr defTabSz="930275">
              <a:defRPr sz="1300">
                <a:latin typeface="Helvetica" panose="020B0604020202020204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726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027" tIns="46514" rIns="93027" bIns="46514" numCol="1" anchor="b" anchorCtr="0" compatLnSpc="1"/>
          <a:lstStyle>
            <a:lvl1pPr algn="r" defTabSz="930275">
              <a:defRPr sz="1300"/>
            </a:lvl1pPr>
          </a:lstStyle>
          <a:p>
            <a:pPr>
              <a:defRPr/>
            </a:pPr>
            <a:fld id="{A8B4C920-550B-4EA7-9CB5-2D8883A273BF}" type="slidenum">
              <a:rPr lang="en-US" altLang="en-US"/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3027" tIns="46514" rIns="93027" bIns="46514" numCol="1" anchor="t" anchorCtr="0" compatLnSpc="1"/>
          <a:lstStyle>
            <a:lvl1pPr defTabSz="930275">
              <a:defRPr sz="1300">
                <a:latin typeface="Helvetica" panose="020B0604020202020204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06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3027" tIns="46514" rIns="93027" bIns="46514" numCol="1" anchor="t" anchorCtr="0" compatLnSpc="1"/>
          <a:lstStyle>
            <a:lvl1pPr algn="r" defTabSz="930275">
              <a:defRPr sz="1300">
                <a:latin typeface="Helvetica" panose="020B0604020202020204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77925" y="696913"/>
            <a:ext cx="4641850" cy="34813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06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1863" y="4410075"/>
            <a:ext cx="5133975" cy="41767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3027" tIns="46514" rIns="93027" bIns="46514" numCol="1" anchor="t" anchorCtr="0" compatLnSpc="1"/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2406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3027" tIns="46514" rIns="93027" bIns="46514" numCol="1" anchor="b" anchorCtr="0" compatLnSpc="1"/>
          <a:lstStyle>
            <a:lvl1pPr defTabSz="930275">
              <a:defRPr sz="1300">
                <a:latin typeface="Helvetica" panose="020B0604020202020204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06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3027" tIns="46514" rIns="93027" bIns="46514" numCol="1" anchor="b" anchorCtr="0" compatLnSpc="1"/>
          <a:lstStyle>
            <a:lvl1pPr algn="r" defTabSz="930275">
              <a:defRPr sz="1300"/>
            </a:lvl1pPr>
          </a:lstStyle>
          <a:p>
            <a:pPr>
              <a:defRPr/>
            </a:pPr>
            <a:fld id="{AE66C03C-4B0E-4149-8287-A3B340EB818D}" type="slidenum">
              <a:rPr lang="en-US" altLang="en-US"/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MS PGothic" panose="020B0600070205080204" pitchFamily="34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6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7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8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9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0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2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3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4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5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6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7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8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0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2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3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4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5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6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7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8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9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0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2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3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4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5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6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7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8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9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0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2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3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4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5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6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7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8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9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0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2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3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4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5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6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7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8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9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0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2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3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4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5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6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7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8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9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0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2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3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4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5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6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7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8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9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0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A48278F-1CF2-4C20-9F87-85520FC94509}" type="slidenum">
              <a:rPr lang="en-US" altLang="en-US" sz="1200"/>
            </a:fld>
            <a:endParaRPr lang="en-US" altLang="en-US" sz="1200"/>
          </a:p>
        </p:txBody>
      </p:sp>
      <p:sp>
        <p:nvSpPr>
          <p:cNvPr id="1116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1116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734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A844FD9B-FA56-471A-AC29-AFD38B132615}" type="slidenum">
              <a:rPr lang="en-US" altLang="en-US" sz="1200"/>
            </a:fld>
            <a:endParaRPr lang="en-US" altLang="en-US" sz="120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734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2C79F51-599B-4731-9C05-59A4A5345ABF}" type="slidenum">
              <a:rPr lang="en-US" altLang="en-US" sz="1200"/>
            </a:fld>
            <a:endParaRPr lang="en-US" altLang="en-US" sz="1200"/>
          </a:p>
        </p:txBody>
      </p:sp>
      <p:sp>
        <p:nvSpPr>
          <p:cNvPr id="1310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1310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734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75701DF6-0095-49A6-9538-0F4E1D04D191}" type="slidenum">
              <a:rPr lang="en-US" altLang="en-US" sz="1200"/>
            </a:fld>
            <a:endParaRPr lang="en-US" altLang="en-US" sz="1200"/>
          </a:p>
        </p:txBody>
      </p:sp>
      <p:sp>
        <p:nvSpPr>
          <p:cNvPr id="1198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1198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734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7CCD6A2-8F22-431C-9059-7B1E655B3F8B}" type="slidenum">
              <a:rPr lang="en-US" altLang="en-US" sz="1200"/>
            </a:fld>
            <a:endParaRPr lang="en-US" altLang="en-US" sz="1200"/>
          </a:p>
        </p:txBody>
      </p:sp>
      <p:sp>
        <p:nvSpPr>
          <p:cNvPr id="1208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1208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734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4B50642-8067-4638-B2FE-15C691E00756}" type="slidenum">
              <a:rPr lang="en-US" altLang="en-US" sz="1200"/>
            </a:fld>
            <a:endParaRPr lang="en-US" altLang="en-US" sz="1200"/>
          </a:p>
        </p:txBody>
      </p:sp>
      <p:sp>
        <p:nvSpPr>
          <p:cNvPr id="1218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1218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734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2C79F51-599B-4731-9C05-59A4A5345ABF}" type="slidenum">
              <a:rPr lang="en-US" altLang="en-US" sz="1200"/>
            </a:fld>
            <a:endParaRPr lang="en-US" altLang="en-US" sz="1200"/>
          </a:p>
        </p:txBody>
      </p:sp>
      <p:sp>
        <p:nvSpPr>
          <p:cNvPr id="1310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1310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734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36443853-1DD4-4877-B587-65D98B968857}" type="slidenum">
              <a:rPr lang="en-US" altLang="en-US" sz="1200"/>
            </a:fld>
            <a:endParaRPr lang="en-US" altLang="en-US" sz="1200"/>
          </a:p>
        </p:txBody>
      </p:sp>
      <p:sp>
        <p:nvSpPr>
          <p:cNvPr id="137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1372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734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sz="1200" b="1" i="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MS PGothic" panose="020B0600070205080204" pitchFamily="34" charset="-128"/>
                <a:cs typeface="MS PGothic" panose="020B0600070205080204" pitchFamily="34" charset="-128"/>
              </a:rPr>
              <a:t>定义：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MS PGothic" panose="020B0600070205080204" pitchFamily="34" charset="-128"/>
                <a:cs typeface="MS PGothic" panose="020B0600070205080204" pitchFamily="34" charset="-128"/>
              </a:rPr>
              <a:t> 非主属性既不传递依赖于码，也不部分依赖于码。</a:t>
            </a:r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A8B56BC-BF26-4697-801E-84F2929930E3}" type="slidenum">
              <a:rPr lang="en-US" altLang="en-US" sz="1200"/>
            </a:fld>
            <a:endParaRPr lang="en-US" altLang="en-US" sz="1200"/>
          </a:p>
        </p:txBody>
      </p:sp>
      <p:sp>
        <p:nvSpPr>
          <p:cNvPr id="1382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1382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734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948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1948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1948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1948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1948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1948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1948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1948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1948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2A4DCD6-4990-4088-8EFB-FAD2F8B84679}" type="slidenum">
              <a:rPr lang="en-US" altLang="en-US" sz="1200"/>
            </a:fld>
            <a:endParaRPr lang="en-US" altLang="en-US" sz="1200"/>
          </a:p>
        </p:txBody>
      </p:sp>
      <p:sp>
        <p:nvSpPr>
          <p:cNvPr id="139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1392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027" y="4410392"/>
            <a:ext cx="5131647" cy="417734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2AFCC4C7-9321-4F85-AC15-C96C02999C1E}" type="slidenum">
              <a:rPr lang="en-US" altLang="en-US" sz="1200"/>
            </a:fld>
            <a:endParaRPr lang="en-US" altLang="en-US" sz="1200"/>
          </a:p>
        </p:txBody>
      </p:sp>
      <p:sp>
        <p:nvSpPr>
          <p:cNvPr id="132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1321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734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MS PGothic" panose="020B0600070205080204" pitchFamily="34" charset="-128"/>
                <a:cs typeface="MS PGothic" panose="020B0600070205080204" pitchFamily="34" charset="-128"/>
              </a:rPr>
              <a:t>所有非主属性对每一个码都是完全函数依赖； </a:t>
            </a:r>
            <a:endParaRPr lang="zh-CN" altLang="en-US" sz="1200" b="0" i="0" kern="1200" dirty="0" smtClean="0">
              <a:solidFill>
                <a:schemeClr val="tx1"/>
              </a:solidFill>
              <a:effectLst/>
              <a:latin typeface="Times New Roman" panose="02020603050405020304" pitchFamily="18" charset="0"/>
              <a:ea typeface="MS PGothic" panose="020B0600070205080204" pitchFamily="34" charset="-128"/>
              <a:cs typeface="MS PGothic" panose="020B0600070205080204" pitchFamily="34" charset="-128"/>
            </a:endParaRPr>
          </a:p>
          <a:p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MS PGothic" panose="020B0600070205080204" pitchFamily="34" charset="-128"/>
                <a:cs typeface="MS PGothic" panose="020B0600070205080204" pitchFamily="34" charset="-128"/>
              </a:rPr>
              <a:t>没有任何属性完全函数依赖于非码的任何一组属性。 </a:t>
            </a:r>
            <a:endParaRPr lang="en-US" altLang="zh-CN" sz="1200" b="0" i="0" kern="1200" dirty="0" smtClean="0">
              <a:solidFill>
                <a:schemeClr val="tx1"/>
              </a:solidFill>
              <a:effectLst/>
              <a:latin typeface="Times New Roman" panose="02020603050405020304" pitchFamily="18" charset="0"/>
              <a:ea typeface="MS PGothic" panose="020B0600070205080204" pitchFamily="34" charset="-128"/>
              <a:cs typeface="MS PGothic" panose="020B0600070205080204" pitchFamily="34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MS PGothic" panose="020B0600070205080204" pitchFamily="34" charset="-128"/>
                <a:cs typeface="MS PGothic" panose="020B0600070205080204" pitchFamily="34" charset="-128"/>
              </a:rPr>
              <a:t>所有主属性对每一个不包含它的码也是完全函数依赖</a:t>
            </a:r>
            <a:endParaRPr lang="zh-CN" altLang="en-US" sz="1200" b="0" i="0" kern="1200" dirty="0" smtClean="0">
              <a:solidFill>
                <a:schemeClr val="tx1"/>
              </a:solidFill>
              <a:effectLst/>
              <a:latin typeface="Times New Roman" panose="02020603050405020304" pitchFamily="18" charset="0"/>
              <a:ea typeface="MS PGothic" panose="020B0600070205080204" pitchFamily="34" charset="-128"/>
              <a:cs typeface="MS PGothic" panose="020B0600070205080204" pitchFamily="34" charset="-128"/>
            </a:endParaRPr>
          </a:p>
          <a:p>
            <a:endParaRPr lang="zh-CN" altLang="en-US" sz="1200" b="0" i="0" kern="1200" dirty="0" smtClean="0">
              <a:solidFill>
                <a:schemeClr val="tx1"/>
              </a:solidFill>
              <a:effectLst/>
              <a:latin typeface="Times New Roman" panose="02020603050405020304" pitchFamily="18" charset="0"/>
              <a:ea typeface="MS PGothic" panose="020B0600070205080204" pitchFamily="34" charset="-128"/>
              <a:cs typeface="MS PGothic" panose="020B0600070205080204" pitchFamily="34" charset="-128"/>
            </a:endParaRPr>
          </a:p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F539C29-DF58-4677-B4D9-0CC127174E2D}" type="slidenum">
              <a:rPr lang="en-US" altLang="en-US" sz="1200"/>
            </a:fld>
            <a:endParaRPr lang="en-US" altLang="en-US" sz="1200"/>
          </a:p>
        </p:txBody>
      </p:sp>
      <p:sp>
        <p:nvSpPr>
          <p:cNvPr id="133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1331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734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34AAEBD-E2F0-458E-B3FA-52430D8DDC26}" type="slidenum">
              <a:rPr lang="zh-CN" altLang="en-US"/>
            </a:fld>
            <a:endParaRPr lang="en-US" altLang="zh-CN"/>
          </a:p>
        </p:txBody>
      </p:sp>
      <p:sp>
        <p:nvSpPr>
          <p:cNvPr id="7342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79475" y="733425"/>
            <a:ext cx="4886325" cy="3665538"/>
          </a:xfrm>
        </p:spPr>
      </p:sp>
      <p:sp>
        <p:nvSpPr>
          <p:cNvPr id="7342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zh-CN" altLang="en-US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759040D4-3005-4847-ABB3-16A2B4BDF1CE}" type="slidenum">
              <a:rPr lang="en-US" altLang="en-US" sz="1200"/>
            </a:fld>
            <a:endParaRPr lang="en-US" altLang="en-US" sz="1200"/>
          </a:p>
        </p:txBody>
      </p:sp>
      <p:sp>
        <p:nvSpPr>
          <p:cNvPr id="142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1423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734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9B7593E-E541-408E-B62F-DEA0E60392EA}" type="slidenum">
              <a:rPr lang="en-US" altLang="en-US" sz="1200"/>
            </a:fld>
            <a:endParaRPr lang="en-US" altLang="en-US" sz="1200"/>
          </a:p>
        </p:txBody>
      </p:sp>
      <p:sp>
        <p:nvSpPr>
          <p:cNvPr id="143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1433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734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FB03737A-222D-46BE-B7A9-3EA09C13F967}" type="slidenum">
              <a:rPr lang="en-US" altLang="en-US" sz="1200"/>
            </a:fld>
            <a:endParaRPr lang="en-US" altLang="en-US" sz="1200"/>
          </a:p>
        </p:txBody>
      </p:sp>
      <p:sp>
        <p:nvSpPr>
          <p:cNvPr id="144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1443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734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2C79F51-599B-4731-9C05-59A4A5345ABF}" type="slidenum">
              <a:rPr lang="en-US" altLang="en-US" sz="1200"/>
            </a:fld>
            <a:endParaRPr lang="en-US" altLang="en-US" sz="1200"/>
          </a:p>
        </p:txBody>
      </p:sp>
      <p:sp>
        <p:nvSpPr>
          <p:cNvPr id="1310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1310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734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21C07DE-DA20-4217-B91C-55FA724E7BD2}" type="slidenum">
              <a:rPr lang="en-US" altLang="en-US" sz="1200"/>
            </a:fld>
            <a:endParaRPr lang="en-US" altLang="en-US" sz="1200"/>
          </a:p>
        </p:txBody>
      </p:sp>
      <p:sp>
        <p:nvSpPr>
          <p:cNvPr id="1146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1146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734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D17C4D0E-10BE-41E0-A0AF-FD2B0011F8A3}" type="slidenum">
              <a:rPr lang="en-US" altLang="en-US" sz="1200"/>
            </a:fld>
            <a:endParaRPr lang="en-US" altLang="en-US" sz="1200"/>
          </a:p>
        </p:txBody>
      </p:sp>
      <p:sp>
        <p:nvSpPr>
          <p:cNvPr id="1157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1157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734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15C7E4C-29A1-4ED6-8D81-6DB7BB775B79}" type="slidenum">
              <a:rPr lang="en-US" altLang="en-US" sz="1200"/>
            </a:fld>
            <a:endParaRPr lang="en-US" altLang="en-US" sz="1200"/>
          </a:p>
        </p:txBody>
      </p:sp>
      <p:sp>
        <p:nvSpPr>
          <p:cNvPr id="1167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1167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734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AAEC5DC-5E4F-4639-8D2D-6BB23BF9650E}" type="slidenum">
              <a:rPr lang="en-US" altLang="en-US" sz="1200"/>
            </a:fld>
            <a:endParaRPr lang="en-US" altLang="en-US" sz="1200"/>
          </a:p>
        </p:txBody>
      </p:sp>
      <p:sp>
        <p:nvSpPr>
          <p:cNvPr id="1177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6338" y="693738"/>
            <a:ext cx="4643437" cy="3482975"/>
          </a:xfrm>
        </p:spPr>
      </p:sp>
      <p:sp>
        <p:nvSpPr>
          <p:cNvPr id="1177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893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7A450BD-08BE-4C06-8125-BBFA1D5AB413}" type="slidenum">
              <a:rPr lang="en-US" altLang="en-US" sz="1200"/>
            </a:fld>
            <a:endParaRPr lang="en-US" altLang="en-US" sz="1200"/>
          </a:p>
        </p:txBody>
      </p:sp>
      <p:sp>
        <p:nvSpPr>
          <p:cNvPr id="1187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1187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734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2FCC9CF2-4998-4C05-A98D-CC655C386950}" type="slidenum">
              <a:rPr lang="en-US" altLang="en-US" sz="1200"/>
            </a:fld>
            <a:endParaRPr lang="en-US" altLang="en-US" sz="1200"/>
          </a:p>
        </p:txBody>
      </p:sp>
      <p:sp>
        <p:nvSpPr>
          <p:cNvPr id="1228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1228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734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2601A597-9366-4E98-91B3-EC7AD41AF343}" type="slidenum">
              <a:rPr lang="en-US" altLang="en-US" sz="1200"/>
            </a:fld>
            <a:endParaRPr lang="en-US" altLang="en-US" sz="1200"/>
          </a:p>
        </p:txBody>
      </p:sp>
      <p:sp>
        <p:nvSpPr>
          <p:cNvPr id="1239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1239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734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C0684B9-9744-4E13-BCE3-67E4D5AC52B7}" type="slidenum">
              <a:rPr lang="en-US" altLang="en-US" sz="1200"/>
            </a:fld>
            <a:endParaRPr lang="en-US" altLang="en-US" sz="1200"/>
          </a:p>
        </p:txBody>
      </p:sp>
      <p:sp>
        <p:nvSpPr>
          <p:cNvPr id="1249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1249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734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A5911C6D-C523-432C-89F4-406A63F7E4F9}" type="slidenum">
              <a:rPr lang="en-US" altLang="en-US" sz="1200"/>
            </a:fld>
            <a:endParaRPr lang="en-US" altLang="en-US" sz="1200"/>
          </a:p>
        </p:txBody>
      </p:sp>
      <p:sp>
        <p:nvSpPr>
          <p:cNvPr id="1259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1259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734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1A3F653-7187-4F0A-8BDC-E8E4C0DB6067}" type="slidenum">
              <a:rPr lang="zh-CN" altLang="en-US"/>
            </a:fld>
            <a:endParaRPr lang="en-US" altLang="zh-CN"/>
          </a:p>
        </p:txBody>
      </p:sp>
      <p:sp>
        <p:nvSpPr>
          <p:cNvPr id="7362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79475" y="733425"/>
            <a:ext cx="4886325" cy="3665538"/>
          </a:xfrm>
        </p:spPr>
      </p:sp>
      <p:sp>
        <p:nvSpPr>
          <p:cNvPr id="7362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zh-CN" altLang="en-US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1A3F653-7187-4F0A-8BDC-E8E4C0DB6067}" type="slidenum">
              <a:rPr lang="zh-CN" altLang="en-US"/>
            </a:fld>
            <a:endParaRPr lang="en-US" altLang="zh-CN"/>
          </a:p>
        </p:txBody>
      </p:sp>
      <p:sp>
        <p:nvSpPr>
          <p:cNvPr id="7362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79475" y="733425"/>
            <a:ext cx="4886325" cy="3665538"/>
          </a:xfrm>
        </p:spPr>
      </p:sp>
      <p:sp>
        <p:nvSpPr>
          <p:cNvPr id="7362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zh-CN" altLang="en-US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62CACEA-96F7-41D9-A638-F44E853DC1F9}" type="slidenum">
              <a:rPr lang="en-US" altLang="en-US" sz="1200"/>
            </a:fld>
            <a:endParaRPr lang="en-US" altLang="en-US" sz="1200"/>
          </a:p>
        </p:txBody>
      </p:sp>
      <p:sp>
        <p:nvSpPr>
          <p:cNvPr id="134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1341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734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948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1948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1948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1948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1948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1948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1948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1948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1948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72678A41-D873-4EFC-8823-1C9E9A3093FE}" type="slidenum">
              <a:rPr lang="en-US" altLang="en-US" sz="1200"/>
            </a:fld>
            <a:endParaRPr lang="en-US" altLang="en-US" sz="1200"/>
          </a:p>
        </p:txBody>
      </p:sp>
      <p:sp>
        <p:nvSpPr>
          <p:cNvPr id="135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1351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027" y="4410392"/>
            <a:ext cx="5131647" cy="417734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7EA18F2D-D4E4-4C99-9424-81DA77918E26}" type="slidenum">
              <a:rPr lang="en-US" altLang="en-US" sz="1200"/>
            </a:fld>
            <a:endParaRPr lang="en-US" altLang="en-US" sz="1200"/>
          </a:p>
        </p:txBody>
      </p:sp>
      <p:sp>
        <p:nvSpPr>
          <p:cNvPr id="136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1361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734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3FB97D8D-6A75-4AFA-8548-85396391880A}" type="slidenum">
              <a:rPr lang="en-US" altLang="en-US" sz="1200"/>
            </a:fld>
            <a:endParaRPr lang="en-US" altLang="en-US" sz="1200"/>
          </a:p>
        </p:txBody>
      </p:sp>
      <p:sp>
        <p:nvSpPr>
          <p:cNvPr id="140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1402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734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F6DB8CD2-F9D8-4BCF-90A1-A8E625EDFB97}" type="slidenum">
              <a:rPr lang="en-US" altLang="en-US" sz="1200"/>
            </a:fld>
            <a:endParaRPr lang="en-US" altLang="en-US" sz="1200"/>
          </a:p>
        </p:txBody>
      </p:sp>
      <p:sp>
        <p:nvSpPr>
          <p:cNvPr id="141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1413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734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2B2ED6F9-53BE-4CD9-8D10-83BD677C8535}" type="slidenum">
              <a:rPr lang="en-US" altLang="en-US" sz="1200"/>
            </a:fld>
            <a:endParaRPr lang="en-US" altLang="en-US" sz="1200"/>
          </a:p>
        </p:txBody>
      </p:sp>
      <p:sp>
        <p:nvSpPr>
          <p:cNvPr id="145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1454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734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4B6CE2F-3CD3-45FE-B460-EC2ED3F07842}" type="slidenum">
              <a:rPr lang="en-US" altLang="en-US" sz="1200"/>
            </a:fld>
            <a:endParaRPr lang="en-US" altLang="en-US" sz="1200"/>
          </a:p>
        </p:txBody>
      </p:sp>
      <p:sp>
        <p:nvSpPr>
          <p:cNvPr id="146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1464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734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A4E4753A-8DE0-4CA5-9E0D-F3763DCF04F6}" type="slidenum">
              <a:rPr lang="en-US" altLang="en-US" sz="1200"/>
            </a:fld>
            <a:endParaRPr lang="en-US" altLang="en-US" sz="1200"/>
          </a:p>
        </p:txBody>
      </p:sp>
      <p:sp>
        <p:nvSpPr>
          <p:cNvPr id="147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1474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734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 smtClean="0">
                <a:latin typeface="Times New Roman" panose="02020603050405020304" pitchFamily="18" charset="0"/>
              </a:rPr>
              <a:t>闭包</a:t>
            </a:r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7E239C7-4B01-4ACB-AC64-19B9EB42973F}" type="slidenum">
              <a:rPr lang="en-US" altLang="en-US" sz="1200"/>
            </a:fld>
            <a:endParaRPr lang="en-US" altLang="en-US" sz="1200"/>
          </a:p>
        </p:txBody>
      </p:sp>
      <p:sp>
        <p:nvSpPr>
          <p:cNvPr id="148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1484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734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AC0A48C-B033-4AC9-8924-4B331051E00D}" type="slidenum">
              <a:rPr lang="en-US" altLang="en-US" sz="1200"/>
            </a:fld>
            <a:endParaRPr lang="en-US" altLang="en-US" sz="1200"/>
          </a:p>
        </p:txBody>
      </p:sp>
      <p:sp>
        <p:nvSpPr>
          <p:cNvPr id="149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1495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734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A7999FEA-463D-4EC2-9BE5-4E48B7E10B51}" type="slidenum">
              <a:rPr lang="en-US" altLang="en-US" sz="1200"/>
            </a:fld>
            <a:endParaRPr lang="en-US" altLang="en-US" sz="1200"/>
          </a:p>
        </p:txBody>
      </p:sp>
      <p:sp>
        <p:nvSpPr>
          <p:cNvPr id="150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1505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734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38F86710-0453-46DF-9A04-3F5F631C00F1}" type="slidenum">
              <a:rPr lang="en-US" altLang="en-US" sz="1200"/>
            </a:fld>
            <a:endParaRPr lang="en-US" altLang="en-US" sz="1200"/>
          </a:p>
        </p:txBody>
      </p:sp>
      <p:sp>
        <p:nvSpPr>
          <p:cNvPr id="152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152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734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38F86710-0453-46DF-9A04-3F5F631C00F1}" type="slidenum">
              <a:rPr lang="en-US" altLang="en-US" sz="1200"/>
            </a:fld>
            <a:endParaRPr lang="en-US" altLang="en-US" sz="1200"/>
          </a:p>
        </p:txBody>
      </p:sp>
      <p:sp>
        <p:nvSpPr>
          <p:cNvPr id="152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152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734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 smtClean="0">
                <a:latin typeface="Times New Roman" panose="02020603050405020304" pitchFamily="18" charset="0"/>
              </a:rPr>
              <a:t>属性集的闭包</a:t>
            </a:r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25BC543-30D6-4AA8-90B4-22C339D46936}" type="slidenum">
              <a:rPr lang="en-US" altLang="en-US" sz="1200"/>
            </a:fld>
            <a:endParaRPr lang="en-US" altLang="en-US" sz="1200"/>
          </a:p>
        </p:txBody>
      </p:sp>
      <p:sp>
        <p:nvSpPr>
          <p:cNvPr id="153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1536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734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F020452C-B463-4E95-A665-2B99AA28B79B}" type="slidenum">
              <a:rPr lang="en-US" altLang="en-US" sz="1200"/>
            </a:fld>
            <a:endParaRPr lang="en-US" altLang="en-US" sz="1200"/>
          </a:p>
        </p:txBody>
      </p:sp>
      <p:sp>
        <p:nvSpPr>
          <p:cNvPr id="154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1546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734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126D1A1-086F-49DE-B921-A09020A520AB}" type="slidenum">
              <a:rPr lang="en-US" altLang="en-US" sz="1200"/>
            </a:fld>
            <a:endParaRPr lang="en-US" altLang="en-US" sz="1200"/>
          </a:p>
        </p:txBody>
      </p:sp>
      <p:sp>
        <p:nvSpPr>
          <p:cNvPr id="155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1556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734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B1C003AC-91E0-4C02-A3AF-D03041938C29}" type="slidenum">
              <a:rPr lang="en-US" altLang="en-US" sz="1200"/>
            </a:fld>
            <a:endParaRPr lang="en-US" altLang="en-US" sz="1200"/>
          </a:p>
        </p:txBody>
      </p:sp>
      <p:sp>
        <p:nvSpPr>
          <p:cNvPr id="156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1566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734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5C3BE13-538F-4FB5-B532-CB8FA5D987FB}" type="slidenum">
              <a:rPr lang="en-US" altLang="en-US" sz="1200"/>
            </a:fld>
            <a:endParaRPr lang="en-US" altLang="en-US" sz="1200"/>
          </a:p>
        </p:txBody>
      </p:sp>
      <p:sp>
        <p:nvSpPr>
          <p:cNvPr id="157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1577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734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AD756CCF-944F-475F-BC67-70F3E02FC64F}" type="slidenum">
              <a:rPr lang="en-US" altLang="en-US" sz="1200"/>
            </a:fld>
            <a:endParaRPr lang="en-US" altLang="en-US" sz="1200"/>
          </a:p>
        </p:txBody>
      </p:sp>
      <p:sp>
        <p:nvSpPr>
          <p:cNvPr id="158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1587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734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71FD356F-B370-4905-B475-36D0765F2DB9}" type="slidenum">
              <a:rPr lang="en-US" altLang="en-US" sz="1200"/>
            </a:fld>
            <a:endParaRPr lang="en-US" altLang="en-US" sz="1200"/>
          </a:p>
        </p:txBody>
      </p:sp>
      <p:sp>
        <p:nvSpPr>
          <p:cNvPr id="159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1597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734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228007FB-A4A6-412F-8092-509E2CEC8D0B}" type="slidenum">
              <a:rPr lang="en-US" altLang="en-US" sz="1200"/>
            </a:fld>
            <a:endParaRPr lang="en-US" altLang="en-US" sz="1200"/>
          </a:p>
        </p:txBody>
      </p:sp>
      <p:sp>
        <p:nvSpPr>
          <p:cNvPr id="160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1607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734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FA8EE5B-27ED-41B6-B0F7-B62E458A1259}" type="slidenum">
              <a:rPr lang="en-US" altLang="en-US" sz="1200"/>
            </a:fld>
            <a:endParaRPr lang="en-US" altLang="en-US" sz="1200"/>
          </a:p>
        </p:txBody>
      </p:sp>
      <p:sp>
        <p:nvSpPr>
          <p:cNvPr id="161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1617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734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69B94BD-CECE-4C33-9065-62089078E886}" type="slidenum">
              <a:rPr lang="en-US" altLang="en-US" sz="1200"/>
            </a:fld>
            <a:endParaRPr lang="en-US" altLang="en-US" sz="1200"/>
          </a:p>
        </p:txBody>
      </p:sp>
      <p:sp>
        <p:nvSpPr>
          <p:cNvPr id="162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162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734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228526EF-2A76-46A8-A4E9-07C212D9D96D}" type="slidenum">
              <a:rPr lang="en-US" altLang="en-US" sz="1200"/>
            </a:fld>
            <a:endParaRPr lang="en-US" altLang="en-US" sz="1200"/>
          </a:p>
        </p:txBody>
      </p:sp>
      <p:sp>
        <p:nvSpPr>
          <p:cNvPr id="163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1638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734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696B17E-EA99-4BE4-8109-8D7786A8AC53}" type="slidenum">
              <a:rPr lang="en-US" altLang="en-US" sz="1200"/>
            </a:fld>
            <a:endParaRPr lang="en-US" altLang="en-US" sz="1200"/>
          </a:p>
        </p:txBody>
      </p:sp>
      <p:sp>
        <p:nvSpPr>
          <p:cNvPr id="168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1689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734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1A3F653-7187-4F0A-8BDC-E8E4C0DB6067}" type="slidenum">
              <a:rPr lang="zh-CN" altLang="en-US"/>
            </a:fld>
            <a:endParaRPr lang="en-US" altLang="zh-CN"/>
          </a:p>
        </p:txBody>
      </p:sp>
      <p:sp>
        <p:nvSpPr>
          <p:cNvPr id="7362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79475" y="733425"/>
            <a:ext cx="4886325" cy="3665538"/>
          </a:xfrm>
        </p:spPr>
      </p:sp>
      <p:sp>
        <p:nvSpPr>
          <p:cNvPr id="7362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zh-CN" altLang="en-US" smtClean="0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B1C0C611-501B-4334-8DD9-2D5A8FF01FE8}" type="slidenum">
              <a:rPr lang="en-US" altLang="en-US" sz="1200"/>
            </a:fld>
            <a:endParaRPr lang="en-US" altLang="en-US" sz="1200"/>
          </a:p>
        </p:txBody>
      </p:sp>
      <p:sp>
        <p:nvSpPr>
          <p:cNvPr id="164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164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734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D87BC9CE-BF8C-4DA1-B24E-2871B5D5AD09}" type="slidenum">
              <a:rPr lang="en-US" altLang="en-US" sz="1200"/>
            </a:fld>
            <a:endParaRPr lang="en-US" altLang="en-US" sz="1200"/>
          </a:p>
        </p:txBody>
      </p:sp>
      <p:sp>
        <p:nvSpPr>
          <p:cNvPr id="165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1658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734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ABC47A9-62C0-457E-AB19-17B7324B6011}" type="slidenum">
              <a:rPr lang="en-US" altLang="en-US" sz="1200"/>
            </a:fld>
            <a:endParaRPr lang="en-US" altLang="en-US" sz="1200"/>
          </a:p>
        </p:txBody>
      </p:sp>
      <p:sp>
        <p:nvSpPr>
          <p:cNvPr id="166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166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734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B37B9D3-CFBC-4A9A-892E-C5B737D92079}" type="slidenum">
              <a:rPr lang="en-US" altLang="en-US" sz="1200"/>
            </a:fld>
            <a:endParaRPr lang="en-US" altLang="en-US" sz="1200"/>
          </a:p>
        </p:txBody>
      </p:sp>
      <p:sp>
        <p:nvSpPr>
          <p:cNvPr id="167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1679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734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D954D0A1-F669-443E-ADD7-EBEE7996BBA6}" type="slidenum">
              <a:rPr lang="en-US" altLang="en-US" sz="1200"/>
            </a:fld>
            <a:endParaRPr lang="en-US" altLang="en-US" sz="1200"/>
          </a:p>
        </p:txBody>
      </p:sp>
      <p:sp>
        <p:nvSpPr>
          <p:cNvPr id="126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1269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734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948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1948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1948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1948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1948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1948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1948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1948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1948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A4B0E9C-818B-4892-804B-8736909E539A}" type="slidenum">
              <a:rPr lang="en-US" altLang="en-US" sz="1200"/>
            </a:fld>
            <a:endParaRPr lang="en-US" altLang="en-US" sz="1200"/>
          </a:p>
        </p:txBody>
      </p:sp>
      <p:sp>
        <p:nvSpPr>
          <p:cNvPr id="1280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1280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027" y="4410392"/>
            <a:ext cx="5131647" cy="417734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7A20DDD-E48D-486F-BB42-13CA60FBD528}" type="slidenum">
              <a:rPr lang="zh-CN" altLang="en-US"/>
            </a:fld>
            <a:endParaRPr lang="en-US" altLang="zh-CN"/>
          </a:p>
        </p:txBody>
      </p:sp>
      <p:sp>
        <p:nvSpPr>
          <p:cNvPr id="740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79475" y="733425"/>
            <a:ext cx="4886325" cy="3665538"/>
          </a:xfrm>
        </p:spPr>
      </p:sp>
      <p:sp>
        <p:nvSpPr>
          <p:cNvPr id="740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zh-CN" altLang="en-US" smtClean="0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2205F84-2065-4332-B0FA-E582A1DD7231}" type="slidenum">
              <a:rPr lang="en-US" altLang="en-US" sz="1200"/>
            </a:fld>
            <a:endParaRPr lang="en-US" altLang="en-US" sz="1200"/>
          </a:p>
        </p:txBody>
      </p:sp>
      <p:sp>
        <p:nvSpPr>
          <p:cNvPr id="1290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1290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734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AA862FF-AA55-4048-85C2-DAA9D3A35A69}" type="slidenum">
              <a:rPr lang="en-US" altLang="en-US" sz="1200"/>
            </a:fld>
            <a:endParaRPr lang="en-US" altLang="en-US" sz="1200"/>
          </a:p>
        </p:txBody>
      </p:sp>
      <p:sp>
        <p:nvSpPr>
          <p:cNvPr id="1300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1300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734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37F53DE-0A03-40E0-A2C9-F027B409EFB7}" type="slidenum">
              <a:rPr lang="en-US" altLang="en-US" sz="1200"/>
            </a:fld>
            <a:endParaRPr lang="en-US" altLang="en-US" sz="1200"/>
          </a:p>
        </p:txBody>
      </p:sp>
      <p:sp>
        <p:nvSpPr>
          <p:cNvPr id="169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169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734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2CBA1292-271E-4250-9539-FFC50DBCE514}" type="slidenum">
              <a:rPr lang="en-US" altLang="en-US" sz="1200"/>
            </a:fld>
            <a:endParaRPr lang="en-US" altLang="en-US" sz="1200"/>
          </a:p>
        </p:txBody>
      </p:sp>
      <p:sp>
        <p:nvSpPr>
          <p:cNvPr id="171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1710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734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5027822-1DA4-45D6-8B4A-F0F2C0E9336B}" type="slidenum">
              <a:rPr lang="en-US" altLang="en-US" sz="1200"/>
            </a:fld>
            <a:endParaRPr lang="en-US" altLang="en-US" sz="1200"/>
          </a:p>
        </p:txBody>
      </p:sp>
      <p:sp>
        <p:nvSpPr>
          <p:cNvPr id="172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1720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734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F5AE4C2-505E-4B52-AE25-D384F1F0AFC8}" type="slidenum">
              <a:rPr lang="en-US" altLang="en-US" sz="1200"/>
            </a:fld>
            <a:endParaRPr lang="en-US" altLang="en-US" sz="1200"/>
          </a:p>
        </p:txBody>
      </p:sp>
      <p:sp>
        <p:nvSpPr>
          <p:cNvPr id="173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1730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734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7749D456-034E-4195-8672-8080BB49D1C9}" type="slidenum">
              <a:rPr lang="en-US" altLang="en-US" sz="1200"/>
            </a:fld>
            <a:endParaRPr lang="en-US" altLang="en-US" sz="1200"/>
          </a:p>
        </p:txBody>
      </p:sp>
      <p:sp>
        <p:nvSpPr>
          <p:cNvPr id="174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74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AF5C975C-CA24-4F0D-85AD-F6146BCF0205}" type="slidenum">
              <a:rPr lang="en-US" altLang="en-US" sz="1200"/>
            </a:fld>
            <a:endParaRPr lang="en-US" altLang="en-US" sz="1200"/>
          </a:p>
        </p:txBody>
      </p:sp>
      <p:sp>
        <p:nvSpPr>
          <p:cNvPr id="175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1751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734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A5F8435-A232-49CF-A9C6-B8722E09AEA4}" type="slidenum">
              <a:rPr lang="en-US" altLang="en-US" sz="1200"/>
            </a:fld>
            <a:endParaRPr lang="en-US" altLang="en-US" sz="1200"/>
          </a:p>
        </p:txBody>
      </p:sp>
      <p:sp>
        <p:nvSpPr>
          <p:cNvPr id="176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1761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734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29301218-705C-4D04-BB0F-53A85D1868AA}" type="slidenum">
              <a:rPr lang="en-US" altLang="en-US" sz="1200"/>
            </a:fld>
            <a:endParaRPr lang="en-US" altLang="en-US" sz="1200"/>
          </a:p>
        </p:txBody>
      </p:sp>
      <p:sp>
        <p:nvSpPr>
          <p:cNvPr id="177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1771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734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5FB9D207-2DEF-441B-BED4-CFAF747A5F24}" type="slidenum">
              <a:rPr lang="en-US" altLang="en-US" sz="1200"/>
            </a:fld>
            <a:endParaRPr lang="en-US" altLang="en-US" sz="1200"/>
          </a:p>
        </p:txBody>
      </p:sp>
      <p:sp>
        <p:nvSpPr>
          <p:cNvPr id="178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1781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734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60B2CAC-AEF3-41E1-B7D5-B6BAEDAB4D0E}" type="slidenum">
              <a:rPr lang="en-US" altLang="en-US" sz="1200"/>
            </a:fld>
            <a:endParaRPr lang="en-US" altLang="en-US" sz="1200"/>
          </a:p>
        </p:txBody>
      </p:sp>
      <p:sp>
        <p:nvSpPr>
          <p:cNvPr id="179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1792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734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062B22B-5B5B-47F1-897F-E166688E4CF0}" type="slidenum">
              <a:rPr lang="en-US" altLang="en-US" sz="1200"/>
            </a:fld>
            <a:endParaRPr lang="en-US" altLang="en-US" sz="1200"/>
          </a:p>
        </p:txBody>
      </p:sp>
      <p:sp>
        <p:nvSpPr>
          <p:cNvPr id="180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1802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734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09E8797-367B-4BC3-98D0-381C471A0413}" type="slidenum">
              <a:rPr lang="en-US" altLang="en-US" sz="1200"/>
            </a:fld>
            <a:endParaRPr lang="en-US" altLang="en-US" sz="1200"/>
          </a:p>
        </p:txBody>
      </p:sp>
      <p:sp>
        <p:nvSpPr>
          <p:cNvPr id="181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1812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734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F16CA87-F6F2-46C8-9E14-EFA1929BCD15}" type="slidenum">
              <a:rPr lang="zh-CN" altLang="en-US"/>
            </a:fld>
            <a:endParaRPr lang="en-US" altLang="zh-CN"/>
          </a:p>
        </p:txBody>
      </p:sp>
      <p:sp>
        <p:nvSpPr>
          <p:cNvPr id="7526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79475" y="733425"/>
            <a:ext cx="4886325" cy="3665538"/>
          </a:xfrm>
        </p:spPr>
      </p:sp>
      <p:sp>
        <p:nvSpPr>
          <p:cNvPr id="7526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zh-CN" altLang="en-US" smtClean="0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DB84E881-A958-4B68-ADE6-2B7C0AFAFFC8}" type="slidenum">
              <a:rPr lang="en-US" altLang="en-US" sz="1200"/>
            </a:fld>
            <a:endParaRPr lang="en-US" altLang="en-US" sz="1200"/>
          </a:p>
        </p:txBody>
      </p:sp>
      <p:sp>
        <p:nvSpPr>
          <p:cNvPr id="182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1822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734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4A4D597-B539-4990-B3B7-C5878BB257C4}" type="slidenum">
              <a:rPr lang="en-US" altLang="en-US" sz="1200"/>
            </a:fld>
            <a:endParaRPr lang="en-US" altLang="en-US" sz="1200"/>
          </a:p>
        </p:txBody>
      </p:sp>
      <p:sp>
        <p:nvSpPr>
          <p:cNvPr id="183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1833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734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AF6520D-BDC3-4206-98C8-000B2AAC71C5}" type="slidenum">
              <a:rPr lang="en-US" altLang="en-US" sz="1200"/>
            </a:fld>
            <a:endParaRPr lang="en-US" altLang="en-US" sz="1200"/>
          </a:p>
        </p:txBody>
      </p:sp>
      <p:sp>
        <p:nvSpPr>
          <p:cNvPr id="184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1843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734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A439975-68C6-4A78-9207-604005262388}" type="slidenum">
              <a:rPr lang="en-US" altLang="en-US" sz="1200"/>
            </a:fld>
            <a:endParaRPr lang="en-US" altLang="en-US" sz="1200"/>
          </a:p>
        </p:txBody>
      </p:sp>
      <p:sp>
        <p:nvSpPr>
          <p:cNvPr id="185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85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0CA98BF-2766-4132-A090-BEDD1F53C69F}" type="slidenum">
              <a:rPr lang="en-US" altLang="en-US" sz="1200"/>
            </a:fld>
            <a:endParaRPr lang="en-US" altLang="en-US" sz="1200"/>
          </a:p>
        </p:txBody>
      </p:sp>
      <p:sp>
        <p:nvSpPr>
          <p:cNvPr id="186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1863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734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F70A9382-BE8A-447D-8A13-E2C05FAE4009}" type="slidenum">
              <a:rPr lang="en-US" altLang="en-US" sz="1200"/>
            </a:fld>
            <a:endParaRPr lang="en-US" altLang="en-US" sz="1200"/>
          </a:p>
        </p:txBody>
      </p:sp>
      <p:sp>
        <p:nvSpPr>
          <p:cNvPr id="187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1873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734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DEE3D57-1AB5-4E55-9DE6-56A88860B688}" type="slidenum">
              <a:rPr lang="en-US" altLang="en-US" sz="1200"/>
            </a:fld>
            <a:endParaRPr lang="en-US" altLang="en-US" sz="1200"/>
          </a:p>
        </p:txBody>
      </p:sp>
      <p:sp>
        <p:nvSpPr>
          <p:cNvPr id="188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1884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734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5FFF916E-004C-4E0F-94C7-A1F1AB4046CB}" type="slidenum">
              <a:rPr lang="en-US" altLang="en-US" sz="1200"/>
            </a:fld>
            <a:endParaRPr lang="en-US" altLang="en-US" sz="1200"/>
          </a:p>
        </p:txBody>
      </p:sp>
      <p:sp>
        <p:nvSpPr>
          <p:cNvPr id="189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1894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734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AA5FC84-D300-4993-8FFF-76B7189FD726}" type="slidenum">
              <a:rPr lang="en-US" altLang="en-US" sz="1200"/>
            </a:fld>
            <a:endParaRPr lang="en-US" altLang="en-US" sz="1200"/>
          </a:p>
        </p:txBody>
      </p:sp>
      <p:sp>
        <p:nvSpPr>
          <p:cNvPr id="190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1904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734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34D146A-0FCA-4AA9-B806-71D700033438}" type="slidenum">
              <a:rPr lang="en-US" altLang="en-US" sz="1200"/>
            </a:fld>
            <a:endParaRPr lang="en-US" altLang="en-US" sz="1200"/>
          </a:p>
        </p:txBody>
      </p:sp>
      <p:sp>
        <p:nvSpPr>
          <p:cNvPr id="191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1914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734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A7662A18-7A7C-4076-893B-6E4783118D4F}" type="slidenum">
              <a:rPr lang="en-US" altLang="en-US" sz="1200"/>
            </a:fld>
            <a:endParaRPr lang="en-US" altLang="en-US" sz="1200"/>
          </a:p>
        </p:txBody>
      </p:sp>
      <p:sp>
        <p:nvSpPr>
          <p:cNvPr id="192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1925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734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FEB02815-2E8F-4F1F-8AF4-3F688E850CE7}" type="slidenum">
              <a:rPr lang="en-US" altLang="en-US" sz="1200"/>
            </a:fld>
            <a:endParaRPr lang="en-US" altLang="en-US" sz="1200"/>
          </a:p>
        </p:txBody>
      </p:sp>
      <p:sp>
        <p:nvSpPr>
          <p:cNvPr id="193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1935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734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7AD0300-7DF2-417B-9258-1FCF1C4B0F18}" type="slidenum">
              <a:rPr lang="en-US" altLang="en-US" sz="1200"/>
            </a:fld>
            <a:endParaRPr lang="en-US" altLang="en-US" sz="1200"/>
          </a:p>
        </p:txBody>
      </p:sp>
      <p:sp>
        <p:nvSpPr>
          <p:cNvPr id="194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1945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734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383E816C-6BFE-45B8-AEE0-580237AF389A}" type="slidenum">
              <a:rPr lang="en-US" altLang="en-US" sz="1200"/>
            </a:fld>
            <a:endParaRPr lang="en-US" altLang="en-US" sz="1200"/>
          </a:p>
        </p:txBody>
      </p:sp>
      <p:sp>
        <p:nvSpPr>
          <p:cNvPr id="195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1955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734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65BE18E-95C0-4077-93A4-3B3170CA9954}" type="slidenum">
              <a:rPr lang="en-US" altLang="en-US" sz="1200"/>
            </a:fld>
            <a:endParaRPr lang="en-US" altLang="en-US" sz="1200"/>
          </a:p>
        </p:txBody>
      </p:sp>
      <p:sp>
        <p:nvSpPr>
          <p:cNvPr id="196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1966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734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D675266-589F-43B0-9701-90476419F730}" type="slidenum">
              <a:rPr lang="en-US" altLang="en-US" sz="1200"/>
            </a:fld>
            <a:endParaRPr lang="en-US" altLang="en-US" sz="1200"/>
          </a:p>
        </p:txBody>
      </p:sp>
      <p:sp>
        <p:nvSpPr>
          <p:cNvPr id="197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1976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734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588DF86E-0385-4E7C-82B3-654758E8AEBF}" type="slidenum">
              <a:rPr lang="en-US" altLang="en-US" sz="1200"/>
            </a:fld>
            <a:endParaRPr lang="en-US" altLang="en-US" sz="1200"/>
          </a:p>
        </p:txBody>
      </p:sp>
      <p:sp>
        <p:nvSpPr>
          <p:cNvPr id="198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1986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734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5DB39A99-E879-404A-858C-3AE1BF5F92CA}" type="slidenum">
              <a:rPr lang="en-US" altLang="en-US" sz="1200"/>
            </a:fld>
            <a:endParaRPr lang="en-US" altLang="en-US" sz="1200"/>
          </a:p>
        </p:txBody>
      </p:sp>
      <p:sp>
        <p:nvSpPr>
          <p:cNvPr id="199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1996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734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DDD9CE7-351F-48CE-967A-358B845A4695}" type="slidenum">
              <a:rPr lang="en-US" altLang="en-US" sz="1200"/>
            </a:fld>
            <a:endParaRPr lang="en-US" altLang="en-US" sz="1200"/>
          </a:p>
        </p:txBody>
      </p:sp>
      <p:sp>
        <p:nvSpPr>
          <p:cNvPr id="200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2007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734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70029BB9-2A89-4B67-AE42-9DB9D32BF98D}" type="slidenum">
              <a:rPr lang="en-US" altLang="en-US" sz="1200"/>
            </a:fld>
            <a:endParaRPr lang="en-US" altLang="en-US" sz="1200"/>
          </a:p>
        </p:txBody>
      </p:sp>
      <p:sp>
        <p:nvSpPr>
          <p:cNvPr id="201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2017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734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AF9645A2-1248-423A-8556-84A2D4FA5E36}" type="slidenum">
              <a:rPr lang="en-US" altLang="en-US" sz="1200"/>
            </a:fld>
            <a:endParaRPr lang="en-US" altLang="en-US" sz="1200"/>
          </a:p>
        </p:txBody>
      </p:sp>
      <p:sp>
        <p:nvSpPr>
          <p:cNvPr id="202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2027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734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D9BE1E68-DCB1-4B85-8BF4-1674F75BDA38}" type="slidenum">
              <a:rPr lang="en-US" altLang="en-US" sz="1200"/>
            </a:fld>
            <a:endParaRPr lang="en-US" altLang="en-US" sz="1200"/>
          </a:p>
        </p:txBody>
      </p:sp>
      <p:sp>
        <p:nvSpPr>
          <p:cNvPr id="203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2037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734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38419CD-81A9-4ED0-AB27-AA58D803B9B6}" type="slidenum">
              <a:rPr lang="en-US" altLang="en-US" sz="1200"/>
            </a:fld>
            <a:endParaRPr lang="en-US" altLang="en-US" sz="1200"/>
          </a:p>
        </p:txBody>
      </p:sp>
      <p:sp>
        <p:nvSpPr>
          <p:cNvPr id="204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2048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734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ACD90F2-E731-4C57-9E9C-AE613BD3ED33}" type="slidenum">
              <a:rPr lang="en-US" altLang="en-US" sz="1200"/>
            </a:fld>
            <a:endParaRPr lang="en-US" altLang="en-US" sz="1200"/>
          </a:p>
        </p:txBody>
      </p:sp>
      <p:sp>
        <p:nvSpPr>
          <p:cNvPr id="205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2058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734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5A6B90E9-AD16-49EE-8AC8-14E0E639CE5E}" type="slidenum">
              <a:rPr lang="en-US" altLang="en-US" sz="1200"/>
            </a:fld>
            <a:endParaRPr lang="en-US" altLang="en-US" sz="1200"/>
          </a:p>
        </p:txBody>
      </p:sp>
      <p:sp>
        <p:nvSpPr>
          <p:cNvPr id="206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2068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734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BBED4C9-4176-4C1E-9BDD-B23EF2DAA67E}" type="slidenum">
              <a:rPr lang="en-US" altLang="en-US" sz="1200"/>
            </a:fld>
            <a:endParaRPr lang="en-US" altLang="en-US" sz="1200"/>
          </a:p>
        </p:txBody>
      </p:sp>
      <p:sp>
        <p:nvSpPr>
          <p:cNvPr id="207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2078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734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745FF9D4-41DB-4DDD-A2B7-DFC2E567BB37}" type="slidenum">
              <a:rPr lang="en-US" altLang="en-US" sz="1200"/>
            </a:fld>
            <a:endParaRPr lang="en-US" altLang="en-US" sz="1200"/>
          </a:p>
        </p:txBody>
      </p:sp>
      <p:sp>
        <p:nvSpPr>
          <p:cNvPr id="208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2089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734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B4B128C-0F01-4305-977D-D3781B10800B}" type="slidenum">
              <a:rPr lang="en-US" altLang="en-US" sz="1200"/>
            </a:fld>
            <a:endParaRPr lang="en-US" altLang="en-US" sz="1200"/>
          </a:p>
        </p:txBody>
      </p:sp>
      <p:sp>
        <p:nvSpPr>
          <p:cNvPr id="2099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2099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734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B6A4B368-5493-43AB-83D2-FB2745DC6257}" type="slidenum">
              <a:rPr lang="en-US" altLang="en-US" sz="1200"/>
            </a:fld>
            <a:endParaRPr lang="en-US" altLang="en-US" sz="1200"/>
          </a:p>
        </p:txBody>
      </p:sp>
      <p:sp>
        <p:nvSpPr>
          <p:cNvPr id="210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2109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734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900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AE26C2D1-1E1E-42BD-85B4-1BCC855514C0}" type="slidenum">
              <a:rPr lang="en-US" altLang="en-US" sz="1200"/>
            </a:fld>
            <a:endParaRPr lang="en-US" altLang="en-US" sz="1200"/>
          </a:p>
        </p:txBody>
      </p:sp>
      <p:sp>
        <p:nvSpPr>
          <p:cNvPr id="211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2119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734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db-book.com/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2714127" y="5821363"/>
            <a:ext cx="3694112" cy="79375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b="1" dirty="0">
                <a:solidFill>
                  <a:srgbClr val="002060"/>
                </a:solidFill>
              </a:rPr>
              <a:t>Database System Concepts, 7</a:t>
            </a:r>
            <a:r>
              <a:rPr lang="en-US" altLang="en-US" b="1" baseline="30000" dirty="0">
                <a:solidFill>
                  <a:srgbClr val="002060"/>
                </a:solidFill>
              </a:rPr>
              <a:t>th</a:t>
            </a:r>
            <a:r>
              <a:rPr lang="en-US" altLang="en-US" b="1" dirty="0">
                <a:solidFill>
                  <a:srgbClr val="002060"/>
                </a:solidFill>
              </a:rPr>
              <a:t> Ed</a:t>
            </a:r>
            <a:r>
              <a:rPr lang="en-US" altLang="en-US" dirty="0">
                <a:solidFill>
                  <a:srgbClr val="002060"/>
                </a:solidFill>
              </a:rPr>
              <a:t>.</a:t>
            </a:r>
            <a:endParaRPr lang="en-US" altLang="en-US" dirty="0">
              <a:solidFill>
                <a:srgbClr val="002060"/>
              </a:solidFill>
            </a:endParaRPr>
          </a:p>
          <a:p>
            <a:pPr algn="ctr">
              <a:spcBef>
                <a:spcPct val="50000"/>
              </a:spcBef>
              <a:defRPr/>
            </a:pPr>
            <a:r>
              <a:rPr lang="en-US" altLang="en-US" sz="1200" b="1" dirty="0">
                <a:solidFill>
                  <a:srgbClr val="002060"/>
                </a:solidFill>
              </a:rPr>
              <a:t>©Silberschatz, Korth and Sudarshan</a:t>
            </a:r>
            <a:br>
              <a:rPr lang="en-US" altLang="en-US" sz="1200" b="1" dirty="0">
                <a:solidFill>
                  <a:srgbClr val="002060"/>
                </a:solidFill>
              </a:rPr>
            </a:br>
            <a:r>
              <a:rPr lang="en-US" altLang="en-US" sz="1200" b="1" dirty="0">
                <a:solidFill>
                  <a:srgbClr val="002060"/>
                </a:solidFill>
              </a:rPr>
              <a:t>See </a:t>
            </a:r>
            <a:r>
              <a:rPr lang="en-US" altLang="en-US" sz="1200" b="1" dirty="0">
                <a:solidFill>
                  <a:srgbClr val="002060"/>
                </a:solidFill>
                <a:hlinkClick r:id="rId2"/>
              </a:rPr>
              <a:t>www.db-book.com</a:t>
            </a:r>
            <a:r>
              <a:rPr lang="en-US" altLang="en-US" sz="1200" b="1" dirty="0">
                <a:solidFill>
                  <a:srgbClr val="002060"/>
                </a:solidFill>
              </a:rPr>
              <a:t> for conditions on re-use </a:t>
            </a:r>
            <a:endParaRPr lang="en-US" altLang="en-US" sz="1200" b="1" dirty="0">
              <a:solidFill>
                <a:srgbClr val="002060"/>
              </a:solidFill>
            </a:endParaRPr>
          </a:p>
        </p:txBody>
      </p:sp>
      <p:sp>
        <p:nvSpPr>
          <p:cNvPr id="5130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96063" y="6218238"/>
            <a:ext cx="1905000" cy="457200"/>
          </a:xfrm>
        </p:spPr>
        <p:txBody>
          <a:bodyPr/>
          <a:lstStyle>
            <a:lvl1pPr>
              <a:defRPr>
                <a:solidFill>
                  <a:srgbClr val="578963"/>
                </a:solidFill>
              </a:defRPr>
            </a:lvl1pPr>
          </a:lstStyle>
          <a:p>
            <a:pPr>
              <a:defRPr/>
            </a:pPr>
            <a:fld id="{3B69BB99-A72A-4470-971F-83530C443C91}" type="slidenum">
              <a:rPr lang="en-US" altLang="en-US"/>
            </a:fld>
            <a:endParaRPr lang="en-US" altLang="en-US"/>
          </a:p>
        </p:txBody>
      </p:sp>
      <p:pic>
        <p:nvPicPr>
          <p:cNvPr id="9" name="Picture 8" descr="Cover-6Ed"/>
          <p:cNvPicPr>
            <a:picLocks noChangeAspect="1" noChangeArrowheads="1"/>
          </p:cNvPicPr>
          <p:nvPr userDrawn="1"/>
        </p:nvPicPr>
        <p:blipFill>
          <a:blip r:embed="rId3"/>
          <a:stretch>
            <a:fillRect/>
          </a:stretch>
        </p:blipFill>
        <p:spPr bwMode="auto">
          <a:xfrm>
            <a:off x="13858" y="0"/>
            <a:ext cx="1331269" cy="170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42900" indent="-342900">
              <a:buSzPct val="110000"/>
              <a:buFont typeface="Wingdings" panose="05000000000000000000" pitchFamily="2" charset="2"/>
              <a:buChar char="§"/>
              <a:defRPr sz="1700"/>
            </a:lvl1pPr>
            <a:lvl2pPr marL="742950" indent="-285750">
              <a:buSzPct val="110000"/>
              <a:buFont typeface="Arial" panose="020B0604020202020204" pitchFamily="34" charset="0"/>
              <a:buChar char="•"/>
              <a:defRPr sz="1700"/>
            </a:lvl2pPr>
            <a:lvl3pPr marL="1085850" indent="-228600">
              <a:buFont typeface="Wingdings" panose="05000000000000000000" pitchFamily="2" charset="2"/>
              <a:buChar char="§"/>
              <a:defRPr sz="1700"/>
            </a:lvl3pPr>
            <a:lvl4pPr marL="1428750" indent="-228600">
              <a:buFont typeface="Arial" panose="020B0604020202020204" pitchFamily="34" charset="0"/>
              <a:buChar char="•"/>
              <a:defRPr sz="1700"/>
            </a:lvl4pPr>
            <a:lvl5pPr marL="1771650" indent="-228600">
              <a:buFont typeface="Wingdings" panose="05000000000000000000" pitchFamily="2" charset="2"/>
              <a:buChar char="§"/>
              <a:defRPr sz="17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7F3CAF-32BF-49A6-93F1-59C9E4B7C957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4388" y="1093788"/>
            <a:ext cx="3754437" cy="4903787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1225" y="1093788"/>
            <a:ext cx="3754438" cy="4903787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852D5F-D37B-4E9D-98AD-511A1ABBD6A9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191CCC-CC48-429B-87C9-7123B48E52D4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9D92F0-DB25-4E6B-A10D-A7937AC7A365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555C8E-F740-4D28-8DA3-D7B8E0F6F578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BBE5B0-1186-4DAB-9E97-511F15F5C63C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91DB2E-7BC4-4C22-ACAE-0B8B3F0C5147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E5E31B-1343-4510-8DCD-65E7B6544692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26250" y="117475"/>
            <a:ext cx="2019300" cy="58801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8350" y="117475"/>
            <a:ext cx="5905500" cy="58801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3574B0-C055-4E38-82A9-667A1DF1F8D0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D9E99-A0D8-4F2F-B04A-331DF655FEAB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1.jpe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14388" y="1093788"/>
            <a:ext cx="7661275" cy="4903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 dirty="0"/>
              <a:t>Click to edit Master text styles</a:t>
            </a:r>
            <a:endParaRPr lang="en-US" altLang="en-US" dirty="0"/>
          </a:p>
          <a:p>
            <a:pPr lvl="1"/>
            <a:r>
              <a:rPr lang="en-US" altLang="en-US" dirty="0"/>
              <a:t>Second level</a:t>
            </a:r>
            <a:endParaRPr lang="en-US" altLang="en-US" dirty="0"/>
          </a:p>
          <a:p>
            <a:pPr lvl="2"/>
            <a:r>
              <a:rPr lang="en-US" altLang="en-US" dirty="0"/>
              <a:t>Third level</a:t>
            </a:r>
            <a:endParaRPr lang="en-US" altLang="en-US" dirty="0"/>
          </a:p>
          <a:p>
            <a:pPr lvl="3"/>
            <a:r>
              <a:rPr lang="en-US" altLang="en-US" dirty="0"/>
              <a:t>Fourth level</a:t>
            </a:r>
            <a:endParaRPr lang="en-US" altLang="en-US" dirty="0"/>
          </a:p>
          <a:p>
            <a:pPr lvl="4"/>
            <a:r>
              <a:rPr lang="en-US" altLang="en-US" dirty="0"/>
              <a:t>Fifth level</a:t>
            </a:r>
            <a:endParaRPr lang="en-US" altLang="en-US" dirty="0"/>
          </a:p>
        </p:txBody>
      </p:sp>
      <p:sp>
        <p:nvSpPr>
          <p:cNvPr id="512003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>
              <a:spcBef>
                <a:spcPct val="50000"/>
              </a:spcBef>
              <a:defRPr sz="1400">
                <a:solidFill>
                  <a:srgbClr val="002060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8BECA7E0-09BC-41D3-BD93-B7E81A2ACCB7}" type="slidenum">
              <a:rPr lang="en-US" altLang="en-US" smtClean="0"/>
            </a:fld>
            <a:endParaRPr lang="en-US" altLang="en-US" dirty="0"/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6762750" y="6613525"/>
            <a:ext cx="2381250" cy="2444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2060"/>
                </a:solidFill>
              </a:rPr>
              <a:t>©Silberschatz, Korth and Sudarshan</a:t>
            </a:r>
            <a:endParaRPr lang="en-US" altLang="en-US" sz="1000" b="1" dirty="0">
              <a:solidFill>
                <a:srgbClr val="002060"/>
              </a:solidFill>
            </a:endParaRPr>
          </a:p>
        </p:txBody>
      </p:sp>
      <p:sp>
        <p:nvSpPr>
          <p:cNvPr id="512005" name="Text Box 5"/>
          <p:cNvSpPr txBox="1">
            <a:spLocks noChangeArrowheads="1"/>
          </p:cNvSpPr>
          <p:nvPr userDrawn="1"/>
        </p:nvSpPr>
        <p:spPr bwMode="auto">
          <a:xfrm>
            <a:off x="4479985" y="6613525"/>
            <a:ext cx="447558" cy="24622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 smtClean="0">
                <a:solidFill>
                  <a:srgbClr val="002060"/>
                </a:solidFill>
              </a:rPr>
              <a:t>7.</a:t>
            </a:r>
            <a:fld id="{669DE52E-05EC-4487-BE79-3F9A6A9F8797}" type="slidenum">
              <a:rPr lang="en-US" altLang="en-US" sz="1000" b="1" smtClean="0">
                <a:solidFill>
                  <a:srgbClr val="002060"/>
                </a:solidFill>
              </a:rPr>
            </a:fld>
            <a:endParaRPr lang="en-US" altLang="en-US" sz="1000" b="1" dirty="0">
              <a:solidFill>
                <a:srgbClr val="002060"/>
              </a:solidFill>
            </a:endParaRPr>
          </a:p>
        </p:txBody>
      </p:sp>
      <p:sp>
        <p:nvSpPr>
          <p:cNvPr id="512006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768350" y="117475"/>
            <a:ext cx="8077200" cy="609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613525"/>
            <a:ext cx="2571750" cy="2444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000" b="1" dirty="0">
                <a:solidFill>
                  <a:srgbClr val="002060"/>
                </a:solidFill>
              </a:rPr>
              <a:t>Database System Concepts - 7</a:t>
            </a:r>
            <a:r>
              <a:rPr lang="en-US" sz="1000" b="1" baseline="30000" dirty="0">
                <a:solidFill>
                  <a:srgbClr val="002060"/>
                </a:solidFill>
              </a:rPr>
              <a:t>th</a:t>
            </a:r>
            <a:r>
              <a:rPr lang="en-US" sz="1000" b="1" dirty="0">
                <a:solidFill>
                  <a:srgbClr val="002060"/>
                </a:solidFill>
              </a:rPr>
              <a:t> Edition</a:t>
            </a:r>
            <a:endParaRPr lang="en-US" sz="1000" b="1" dirty="0">
              <a:solidFill>
                <a:srgbClr val="002060"/>
              </a:solidFill>
            </a:endParaRPr>
          </a:p>
        </p:txBody>
      </p:sp>
      <p:sp>
        <p:nvSpPr>
          <p:cNvPr id="1032" name="Freeform 8"/>
          <p:cNvSpPr/>
          <p:nvPr/>
        </p:nvSpPr>
        <p:spPr bwMode="auto">
          <a:xfrm>
            <a:off x="8916988" y="5445125"/>
            <a:ext cx="227012" cy="47625"/>
          </a:xfrm>
          <a:custGeom>
            <a:avLst/>
            <a:gdLst>
              <a:gd name="T0" fmla="*/ 0 w 285"/>
              <a:gd name="T1" fmla="*/ 2147483646 h 61"/>
              <a:gd name="T2" fmla="*/ 2147483646 w 285"/>
              <a:gd name="T3" fmla="*/ 2147483646 h 61"/>
              <a:gd name="T4" fmla="*/ 2147483646 w 285"/>
              <a:gd name="T5" fmla="*/ 2147483646 h 61"/>
              <a:gd name="T6" fmla="*/ 2147483646 w 285"/>
              <a:gd name="T7" fmla="*/ 2147483646 h 61"/>
              <a:gd name="T8" fmla="*/ 2147483646 w 285"/>
              <a:gd name="T9" fmla="*/ 2147483646 h 61"/>
              <a:gd name="T10" fmla="*/ 2147483646 w 285"/>
              <a:gd name="T11" fmla="*/ 2147483646 h 61"/>
              <a:gd name="T12" fmla="*/ 2147483646 w 285"/>
              <a:gd name="T13" fmla="*/ 2147483646 h 61"/>
              <a:gd name="T14" fmla="*/ 2147483646 w 285"/>
              <a:gd name="T15" fmla="*/ 2147483646 h 61"/>
              <a:gd name="T16" fmla="*/ 2147483646 w 285"/>
              <a:gd name="T17" fmla="*/ 0 h 61"/>
              <a:gd name="T18" fmla="*/ 2147483646 w 285"/>
              <a:gd name="T19" fmla="*/ 0 h 61"/>
              <a:gd name="T20" fmla="*/ 2147483646 w 285"/>
              <a:gd name="T21" fmla="*/ 0 h 61"/>
              <a:gd name="T22" fmla="*/ 2147483646 w 285"/>
              <a:gd name="T23" fmla="*/ 0 h 61"/>
              <a:gd name="T24" fmla="*/ 2147483646 w 285"/>
              <a:gd name="T25" fmla="*/ 2147483646 h 61"/>
              <a:gd name="T26" fmla="*/ 2147483646 w 285"/>
              <a:gd name="T27" fmla="*/ 2147483646 h 61"/>
              <a:gd name="T28" fmla="*/ 2147483646 w 285"/>
              <a:gd name="T29" fmla="*/ 2147483646 h 61"/>
              <a:gd name="T30" fmla="*/ 2147483646 w 285"/>
              <a:gd name="T31" fmla="*/ 2147483646 h 61"/>
              <a:gd name="T32" fmla="*/ 2147483646 w 285"/>
              <a:gd name="T33" fmla="*/ 2147483646 h 61"/>
              <a:gd name="T34" fmla="*/ 2147483646 w 285"/>
              <a:gd name="T35" fmla="*/ 2147483646 h 61"/>
              <a:gd name="T36" fmla="*/ 2147483646 w 285"/>
              <a:gd name="T37" fmla="*/ 2147483646 h 61"/>
              <a:gd name="T38" fmla="*/ 2147483646 w 285"/>
              <a:gd name="T39" fmla="*/ 2147483646 h 61"/>
              <a:gd name="T40" fmla="*/ 2147483646 w 285"/>
              <a:gd name="T41" fmla="*/ 2147483646 h 61"/>
              <a:gd name="T42" fmla="*/ 2147483646 w 285"/>
              <a:gd name="T43" fmla="*/ 2147483646 h 61"/>
              <a:gd name="T44" fmla="*/ 2147483646 w 285"/>
              <a:gd name="T45" fmla="*/ 2147483646 h 61"/>
              <a:gd name="T46" fmla="*/ 2147483646 w 285"/>
              <a:gd name="T47" fmla="*/ 2147483646 h 61"/>
              <a:gd name="T48" fmla="*/ 2147483646 w 285"/>
              <a:gd name="T49" fmla="*/ 2147483646 h 61"/>
              <a:gd name="T50" fmla="*/ 2147483646 w 285"/>
              <a:gd name="T51" fmla="*/ 2147483646 h 61"/>
              <a:gd name="T52" fmla="*/ 2147483646 w 285"/>
              <a:gd name="T53" fmla="*/ 2147483646 h 61"/>
              <a:gd name="T54" fmla="*/ 2147483646 w 285"/>
              <a:gd name="T55" fmla="*/ 2147483646 h 61"/>
              <a:gd name="T56" fmla="*/ 2147483646 w 285"/>
              <a:gd name="T57" fmla="*/ 2147483646 h 61"/>
              <a:gd name="T58" fmla="*/ 2147483646 w 285"/>
              <a:gd name="T59" fmla="*/ 2147483646 h 61"/>
              <a:gd name="T60" fmla="*/ 2147483646 w 285"/>
              <a:gd name="T61" fmla="*/ 2147483646 h 61"/>
              <a:gd name="T62" fmla="*/ 2147483646 w 285"/>
              <a:gd name="T63" fmla="*/ 2147483646 h 61"/>
              <a:gd name="T64" fmla="*/ 2147483646 w 285"/>
              <a:gd name="T65" fmla="*/ 2147483646 h 61"/>
              <a:gd name="T66" fmla="*/ 2147483646 w 285"/>
              <a:gd name="T67" fmla="*/ 2147483646 h 61"/>
              <a:gd name="T68" fmla="*/ 2147483646 w 285"/>
              <a:gd name="T69" fmla="*/ 2147483646 h 61"/>
              <a:gd name="T70" fmla="*/ 2147483646 w 285"/>
              <a:gd name="T71" fmla="*/ 2147483646 h 61"/>
              <a:gd name="T72" fmla="*/ 2147483646 w 285"/>
              <a:gd name="T73" fmla="*/ 2147483646 h 61"/>
              <a:gd name="T74" fmla="*/ 2147483646 w 285"/>
              <a:gd name="T75" fmla="*/ 2147483646 h 61"/>
              <a:gd name="T76" fmla="*/ 2147483646 w 285"/>
              <a:gd name="T77" fmla="*/ 2147483646 h 61"/>
              <a:gd name="T78" fmla="*/ 2147483646 w 285"/>
              <a:gd name="T79" fmla="*/ 2147483646 h 61"/>
              <a:gd name="T80" fmla="*/ 2147483646 w 285"/>
              <a:gd name="T81" fmla="*/ 2147483646 h 61"/>
              <a:gd name="T82" fmla="*/ 2147483646 w 285"/>
              <a:gd name="T83" fmla="*/ 2147483646 h 61"/>
              <a:gd name="T84" fmla="*/ 2147483646 w 285"/>
              <a:gd name="T85" fmla="*/ 2147483646 h 61"/>
              <a:gd name="T86" fmla="*/ 2147483646 w 285"/>
              <a:gd name="T87" fmla="*/ 2147483646 h 61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285" h="61">
                <a:moveTo>
                  <a:pt x="2" y="61"/>
                </a:moveTo>
                <a:lnTo>
                  <a:pt x="0" y="59"/>
                </a:lnTo>
                <a:lnTo>
                  <a:pt x="0" y="55"/>
                </a:lnTo>
                <a:lnTo>
                  <a:pt x="2" y="48"/>
                </a:lnTo>
                <a:lnTo>
                  <a:pt x="5" y="40"/>
                </a:lnTo>
                <a:lnTo>
                  <a:pt x="9" y="34"/>
                </a:lnTo>
                <a:lnTo>
                  <a:pt x="13" y="31"/>
                </a:lnTo>
                <a:lnTo>
                  <a:pt x="17" y="25"/>
                </a:lnTo>
                <a:lnTo>
                  <a:pt x="24" y="21"/>
                </a:lnTo>
                <a:lnTo>
                  <a:pt x="30" y="17"/>
                </a:lnTo>
                <a:lnTo>
                  <a:pt x="40" y="13"/>
                </a:lnTo>
                <a:lnTo>
                  <a:pt x="45" y="10"/>
                </a:lnTo>
                <a:lnTo>
                  <a:pt x="51" y="8"/>
                </a:lnTo>
                <a:lnTo>
                  <a:pt x="57" y="6"/>
                </a:lnTo>
                <a:lnTo>
                  <a:pt x="64" y="6"/>
                </a:lnTo>
                <a:lnTo>
                  <a:pt x="70" y="2"/>
                </a:lnTo>
                <a:lnTo>
                  <a:pt x="78" y="2"/>
                </a:lnTo>
                <a:lnTo>
                  <a:pt x="85" y="0"/>
                </a:lnTo>
                <a:lnTo>
                  <a:pt x="93" y="0"/>
                </a:lnTo>
                <a:lnTo>
                  <a:pt x="100" y="0"/>
                </a:lnTo>
                <a:lnTo>
                  <a:pt x="110" y="0"/>
                </a:lnTo>
                <a:lnTo>
                  <a:pt x="118" y="0"/>
                </a:lnTo>
                <a:lnTo>
                  <a:pt x="129" y="0"/>
                </a:lnTo>
                <a:lnTo>
                  <a:pt x="137" y="0"/>
                </a:lnTo>
                <a:lnTo>
                  <a:pt x="146" y="2"/>
                </a:lnTo>
                <a:lnTo>
                  <a:pt x="154" y="2"/>
                </a:lnTo>
                <a:lnTo>
                  <a:pt x="163" y="4"/>
                </a:lnTo>
                <a:lnTo>
                  <a:pt x="173" y="6"/>
                </a:lnTo>
                <a:lnTo>
                  <a:pt x="182" y="8"/>
                </a:lnTo>
                <a:lnTo>
                  <a:pt x="192" y="8"/>
                </a:lnTo>
                <a:lnTo>
                  <a:pt x="201" y="12"/>
                </a:lnTo>
                <a:lnTo>
                  <a:pt x="209" y="12"/>
                </a:lnTo>
                <a:lnTo>
                  <a:pt x="216" y="13"/>
                </a:lnTo>
                <a:lnTo>
                  <a:pt x="224" y="15"/>
                </a:lnTo>
                <a:lnTo>
                  <a:pt x="234" y="17"/>
                </a:lnTo>
                <a:lnTo>
                  <a:pt x="239" y="19"/>
                </a:lnTo>
                <a:lnTo>
                  <a:pt x="247" y="21"/>
                </a:lnTo>
                <a:lnTo>
                  <a:pt x="254" y="23"/>
                </a:lnTo>
                <a:lnTo>
                  <a:pt x="260" y="25"/>
                </a:lnTo>
                <a:lnTo>
                  <a:pt x="266" y="25"/>
                </a:lnTo>
                <a:lnTo>
                  <a:pt x="270" y="27"/>
                </a:lnTo>
                <a:lnTo>
                  <a:pt x="273" y="27"/>
                </a:lnTo>
                <a:lnTo>
                  <a:pt x="279" y="29"/>
                </a:lnTo>
                <a:lnTo>
                  <a:pt x="283" y="31"/>
                </a:lnTo>
                <a:lnTo>
                  <a:pt x="285" y="32"/>
                </a:lnTo>
                <a:lnTo>
                  <a:pt x="279" y="44"/>
                </a:lnTo>
                <a:lnTo>
                  <a:pt x="277" y="44"/>
                </a:lnTo>
                <a:lnTo>
                  <a:pt x="273" y="42"/>
                </a:lnTo>
                <a:lnTo>
                  <a:pt x="268" y="42"/>
                </a:lnTo>
                <a:lnTo>
                  <a:pt x="260" y="40"/>
                </a:lnTo>
                <a:lnTo>
                  <a:pt x="251" y="38"/>
                </a:lnTo>
                <a:lnTo>
                  <a:pt x="241" y="36"/>
                </a:lnTo>
                <a:lnTo>
                  <a:pt x="235" y="34"/>
                </a:lnTo>
                <a:lnTo>
                  <a:pt x="230" y="34"/>
                </a:lnTo>
                <a:lnTo>
                  <a:pt x="224" y="32"/>
                </a:lnTo>
                <a:lnTo>
                  <a:pt x="218" y="32"/>
                </a:lnTo>
                <a:lnTo>
                  <a:pt x="213" y="31"/>
                </a:lnTo>
                <a:lnTo>
                  <a:pt x="207" y="31"/>
                </a:lnTo>
                <a:lnTo>
                  <a:pt x="201" y="29"/>
                </a:lnTo>
                <a:lnTo>
                  <a:pt x="196" y="29"/>
                </a:lnTo>
                <a:lnTo>
                  <a:pt x="190" y="27"/>
                </a:lnTo>
                <a:lnTo>
                  <a:pt x="182" y="27"/>
                </a:lnTo>
                <a:lnTo>
                  <a:pt x="178" y="25"/>
                </a:lnTo>
                <a:lnTo>
                  <a:pt x="173" y="25"/>
                </a:lnTo>
                <a:lnTo>
                  <a:pt x="167" y="23"/>
                </a:lnTo>
                <a:lnTo>
                  <a:pt x="163" y="23"/>
                </a:lnTo>
                <a:lnTo>
                  <a:pt x="158" y="21"/>
                </a:lnTo>
                <a:lnTo>
                  <a:pt x="154" y="21"/>
                </a:lnTo>
                <a:lnTo>
                  <a:pt x="148" y="19"/>
                </a:lnTo>
                <a:lnTo>
                  <a:pt x="142" y="19"/>
                </a:lnTo>
                <a:lnTo>
                  <a:pt x="144" y="48"/>
                </a:lnTo>
                <a:lnTo>
                  <a:pt x="110" y="15"/>
                </a:lnTo>
                <a:lnTo>
                  <a:pt x="118" y="48"/>
                </a:lnTo>
                <a:lnTo>
                  <a:pt x="83" y="21"/>
                </a:lnTo>
                <a:lnTo>
                  <a:pt x="91" y="48"/>
                </a:lnTo>
                <a:lnTo>
                  <a:pt x="59" y="29"/>
                </a:lnTo>
                <a:lnTo>
                  <a:pt x="57" y="29"/>
                </a:lnTo>
                <a:lnTo>
                  <a:pt x="53" y="31"/>
                </a:lnTo>
                <a:lnTo>
                  <a:pt x="49" y="31"/>
                </a:lnTo>
                <a:lnTo>
                  <a:pt x="43" y="34"/>
                </a:lnTo>
                <a:lnTo>
                  <a:pt x="38" y="36"/>
                </a:lnTo>
                <a:lnTo>
                  <a:pt x="32" y="38"/>
                </a:lnTo>
                <a:lnTo>
                  <a:pt x="26" y="42"/>
                </a:lnTo>
                <a:lnTo>
                  <a:pt x="23" y="44"/>
                </a:lnTo>
                <a:lnTo>
                  <a:pt x="15" y="50"/>
                </a:lnTo>
                <a:lnTo>
                  <a:pt x="7" y="55"/>
                </a:lnTo>
                <a:lnTo>
                  <a:pt x="4" y="59"/>
                </a:lnTo>
                <a:lnTo>
                  <a:pt x="2" y="6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en-IN"/>
          </a:p>
        </p:txBody>
      </p:sp>
      <p:pic>
        <p:nvPicPr>
          <p:cNvPr id="10" name="Picture 8" descr="Cover-6Ed"/>
          <p:cNvPicPr>
            <a:picLocks noChangeAspect="1" noChangeArrowheads="1"/>
          </p:cNvPicPr>
          <p:nvPr userDrawn="1"/>
        </p:nvPicPr>
        <p:blipFill>
          <a:blip r:embed="rId13"/>
          <a:stretch>
            <a:fillRect/>
          </a:stretch>
        </p:blipFill>
        <p:spPr bwMode="auto">
          <a:xfrm>
            <a:off x="5546" y="0"/>
            <a:ext cx="742012" cy="9476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rgbClr val="002060"/>
          </a:solidFill>
          <a:effectLst>
            <a:outerShdw blurRad="38100" dist="38100" dir="2700000" algn="tl">
              <a:srgbClr val="DDDDDD"/>
            </a:outerShdw>
          </a:effectLst>
          <a:latin typeface="+mj-lt"/>
          <a:ea typeface="MS PGothic" panose="020B0600070205080204" pitchFamily="34" charset="-128"/>
          <a:cs typeface="MS PGothic" panose="020B0600070205080204" pitchFamily="34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panose="020B0604020202020204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panose="020B0604020202020204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panose="020B0604020202020204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002060"/>
        </a:buClr>
        <a:buSzPct val="100000"/>
        <a:buFont typeface="Monotype Sorts" pitchFamily="-65" charset="2"/>
        <a:buChar char="n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  <a:cs typeface="MS PGothic" panose="020B0600070205080204" pitchFamily="34" charset="-128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chemeClr val="folHlink"/>
        </a:buClr>
        <a:buSzPct val="95000"/>
        <a:buFont typeface="Monotype Sorts" pitchFamily="-65" charset="2"/>
        <a:buChar char="l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33CC33"/>
        </a:buClr>
        <a:buSzPct val="85000"/>
        <a:buFont typeface="Webdings" panose="05030102010509060703" pitchFamily="18" charset="2"/>
        <a:buChar char="4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Font typeface="Times New Roman" panose="02020603050405020304" pitchFamily="18" charset="0"/>
        <a:buChar char="–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jpeg"/><Relationship Id="rId1" Type="http://schemas.openxmlformats.org/officeDocument/2006/relationships/image" Target="../media/image5.jpe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jpe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jpe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wmf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6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6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jpeg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12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Chapter </a:t>
            </a:r>
            <a:r>
              <a:rPr lang="en-US" altLang="en-US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7:  </a:t>
            </a: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Normalization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  <a:ea typeface="MS PGothic" panose="020B0600070205080204" pitchFamily="3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58963" y="2798064"/>
            <a:ext cx="5589587" cy="866274"/>
          </a:xfrm>
        </p:spPr>
        <p:txBody>
          <a:bodyPr/>
          <a:lstStyle/>
          <a:p>
            <a:pPr>
              <a:buFont typeface="Monotype Sorts" pitchFamily="-65" charset="2"/>
              <a:buNone/>
              <a:defRPr/>
            </a:pPr>
            <a:r>
              <a:rPr lang="en-US" alt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MS PGothic" panose="020B0600070205080204" pitchFamily="34" charset="-128"/>
                <a:cs typeface="+mj-cs"/>
              </a:rPr>
              <a:t>Overview of Normalization</a:t>
            </a:r>
            <a:endParaRPr lang="en-US" altLang="en-US" sz="3200" b="1" dirty="0"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j-lt"/>
              <a:ea typeface="MS PGothic" panose="020B0600070205080204" pitchFamily="34" charset="-128"/>
              <a:cs typeface="+mj-cs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Features of Good Relational Designs</a:t>
            </a:r>
            <a:endParaRPr lang="en-US" altLang="en-US" sz="2800" dirty="0">
              <a:effectLst>
                <a:outerShdw blurRad="38100" dist="38100" dir="2700000" algn="tl">
                  <a:srgbClr val="C0C0C0"/>
                </a:outerShdw>
              </a:effectLst>
              <a:ea typeface="MS PGothic" panose="020B0600070205080204" pitchFamily="34" charset="-128"/>
            </a:endParaRP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2020" y="1111060"/>
            <a:ext cx="7661585" cy="5020788"/>
          </a:xfrm>
        </p:spPr>
        <p:txBody>
          <a:bodyPr/>
          <a:lstStyle/>
          <a:p>
            <a:r>
              <a:rPr lang="en-US" altLang="en-US" sz="2000" dirty="0"/>
              <a:t>Suppose we combine </a:t>
            </a:r>
            <a:r>
              <a:rPr lang="en-US" altLang="en-US" sz="2000" i="1" dirty="0"/>
              <a:t>instructor</a:t>
            </a:r>
            <a:r>
              <a:rPr lang="en-US" altLang="en-US" sz="2000" dirty="0"/>
              <a:t> and </a:t>
            </a:r>
            <a:r>
              <a:rPr lang="en-US" altLang="en-US" sz="2000" i="1" dirty="0"/>
              <a:t>department </a:t>
            </a:r>
            <a:r>
              <a:rPr lang="en-US" altLang="en-US" sz="2000" dirty="0"/>
              <a:t>into </a:t>
            </a:r>
            <a:r>
              <a:rPr lang="en-US" altLang="en-US" sz="2000" i="1" dirty="0"/>
              <a:t>in_dep, </a:t>
            </a:r>
            <a:r>
              <a:rPr lang="en-US" altLang="en-US" sz="2000" dirty="0"/>
              <a:t>which represents the natural join on the relations </a:t>
            </a:r>
            <a:r>
              <a:rPr lang="en-US" altLang="en-US" sz="2000" i="1" dirty="0"/>
              <a:t>instructor</a:t>
            </a:r>
            <a:r>
              <a:rPr lang="en-US" altLang="en-US" sz="2000" dirty="0"/>
              <a:t> and </a:t>
            </a:r>
            <a:r>
              <a:rPr lang="en-US" altLang="en-US" sz="2000" i="1" dirty="0"/>
              <a:t>department</a:t>
            </a:r>
            <a:endParaRPr lang="en-US" altLang="en-US" sz="2000" i="1" dirty="0"/>
          </a:p>
          <a:p>
            <a:endParaRPr lang="en-US" altLang="en-US" sz="2000" i="1" dirty="0"/>
          </a:p>
          <a:p>
            <a:endParaRPr lang="en-US" altLang="en-US" sz="2000" i="1" dirty="0"/>
          </a:p>
          <a:p>
            <a:endParaRPr lang="en-US" altLang="en-US" sz="2000" i="1" dirty="0"/>
          </a:p>
          <a:p>
            <a:endParaRPr lang="en-US" altLang="en-US" sz="2000" i="1" dirty="0"/>
          </a:p>
          <a:p>
            <a:endParaRPr lang="en-US" altLang="en-US" sz="2000" i="1" dirty="0"/>
          </a:p>
          <a:p>
            <a:pPr marL="0" indent="0">
              <a:buNone/>
            </a:pPr>
            <a:endParaRPr lang="en-US" altLang="en-US" sz="2000" i="1" dirty="0"/>
          </a:p>
          <a:p>
            <a:endParaRPr lang="en-US" altLang="en-US" sz="2000" dirty="0" smtClean="0"/>
          </a:p>
          <a:p>
            <a:r>
              <a:rPr lang="en-US" altLang="en-US" sz="2000" dirty="0" smtClean="0"/>
              <a:t>There </a:t>
            </a:r>
            <a:r>
              <a:rPr lang="en-US" altLang="en-US" sz="2000" dirty="0"/>
              <a:t>is repetition of information</a:t>
            </a:r>
            <a:endParaRPr lang="en-US" altLang="en-US" sz="2000" dirty="0"/>
          </a:p>
          <a:p>
            <a:r>
              <a:rPr lang="en-US" altLang="en-US" sz="2000" dirty="0"/>
              <a:t>Need to use null values (if we add a new department with no instructors) </a:t>
            </a:r>
            <a:endParaRPr lang="en-US" altLang="en-US" sz="2000" dirty="0"/>
          </a:p>
          <a:p>
            <a:endParaRPr lang="en-US" altLang="en-US" sz="2000" dirty="0"/>
          </a:p>
          <a:p>
            <a:endParaRPr lang="en-US" altLang="en-US" sz="2000" i="1" dirty="0"/>
          </a:p>
        </p:txBody>
      </p:sp>
      <p:pic>
        <p:nvPicPr>
          <p:cNvPr id="8196" name="Picture 5" descr="8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3758" y="2108051"/>
            <a:ext cx="4553982" cy="2732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887104" y="5882184"/>
            <a:ext cx="766158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buClr>
                <a:srgbClr val="002060"/>
              </a:buClr>
              <a:buSzPct val="100000"/>
            </a:pPr>
            <a:endParaRPr lang="en-US" alt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>
                <a:latin typeface="Tahoma" panose="020B0604030504040204" pitchFamily="34" charset="0"/>
              </a:rPr>
              <a:t>“</a:t>
            </a:r>
            <a:r>
              <a:rPr lang="zh-CN" altLang="en-US" smtClean="0"/>
              <a:t>好</a:t>
            </a:r>
            <a:r>
              <a:rPr lang="zh-CN" altLang="en-US" smtClean="0">
                <a:latin typeface="Tahoma" panose="020B0604030504040204" pitchFamily="34" charset="0"/>
              </a:rPr>
              <a:t>”</a:t>
            </a:r>
            <a:r>
              <a:rPr lang="zh-CN" altLang="en-US" smtClean="0"/>
              <a:t>的关系数据库设计 </a:t>
            </a:r>
            <a:endParaRPr lang="zh-CN" altLang="en-US" smtClean="0"/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2400" dirty="0" smtClean="0"/>
              <a:t>关系数据库是由一组关系构成的</a:t>
            </a:r>
            <a:endParaRPr lang="zh-CN" altLang="en-US" sz="2400" dirty="0" smtClean="0"/>
          </a:p>
          <a:p>
            <a:pPr eaLnBrk="1" hangingPunct="1">
              <a:defRPr/>
            </a:pPr>
            <a:endParaRPr lang="en-US" altLang="zh-CN" sz="2400" dirty="0" smtClean="0"/>
          </a:p>
          <a:p>
            <a:pPr eaLnBrk="1" hangingPunct="1">
              <a:defRPr/>
            </a:pPr>
            <a:r>
              <a:rPr lang="en-US" altLang="zh-CN" sz="2400" dirty="0" smtClean="0">
                <a:latin typeface="Helvetica" panose="020B0604020202020204" pitchFamily="34" charset="0"/>
              </a:rPr>
              <a:t>“</a:t>
            </a:r>
            <a:r>
              <a:rPr lang="zh-CN" altLang="en-US" sz="2400" dirty="0" smtClean="0"/>
              <a:t>好</a:t>
            </a:r>
            <a:r>
              <a:rPr lang="zh-CN" altLang="en-US" sz="2400" dirty="0" smtClean="0">
                <a:latin typeface="Helvetica" panose="020B0604020202020204" pitchFamily="34" charset="0"/>
              </a:rPr>
              <a:t>”</a:t>
            </a:r>
            <a:r>
              <a:rPr lang="zh-CN" altLang="en-US" sz="2400" dirty="0" smtClean="0"/>
              <a:t>的关系数据库设计要求我们找到一些</a:t>
            </a:r>
            <a:r>
              <a:rPr lang="zh-CN" altLang="en-US" sz="2400" dirty="0" smtClean="0">
                <a:latin typeface="Helvetica" panose="020B0604020202020204" pitchFamily="34" charset="0"/>
              </a:rPr>
              <a:t>“</a:t>
            </a:r>
            <a:r>
              <a:rPr lang="zh-CN" altLang="en-US" sz="2400" dirty="0" smtClean="0"/>
              <a:t>好</a:t>
            </a:r>
            <a:r>
              <a:rPr lang="zh-CN" altLang="en-US" sz="2400" dirty="0" smtClean="0">
                <a:latin typeface="Helvetica" panose="020B0604020202020204" pitchFamily="34" charset="0"/>
              </a:rPr>
              <a:t>”</a:t>
            </a:r>
            <a:r>
              <a:rPr lang="zh-CN" altLang="en-US" sz="2400" dirty="0" smtClean="0"/>
              <a:t>关系</a:t>
            </a:r>
            <a:endParaRPr lang="en-US" altLang="zh-CN" sz="2400" dirty="0" smtClean="0"/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endParaRPr lang="en-US" altLang="zh-CN" sz="2400" dirty="0" smtClean="0"/>
          </a:p>
          <a:p>
            <a:pPr eaLnBrk="1" hangingPunct="1">
              <a:defRPr/>
            </a:pPr>
            <a:r>
              <a:rPr lang="zh-CN" altLang="en-US" sz="2400" dirty="0" smtClean="0"/>
              <a:t>包含</a:t>
            </a:r>
            <a:r>
              <a:rPr lang="zh-CN" altLang="en-US" sz="2400" dirty="0" smtClean="0">
                <a:latin typeface="Helvetica" panose="020B0604020202020204" pitchFamily="34" charset="0"/>
              </a:rPr>
              <a:t>“</a:t>
            </a:r>
            <a:r>
              <a:rPr lang="zh-CN" altLang="en-US" sz="2400" dirty="0" smtClean="0"/>
              <a:t>坏</a:t>
            </a:r>
            <a:r>
              <a:rPr lang="zh-CN" altLang="en-US" sz="2400" dirty="0" smtClean="0">
                <a:latin typeface="Helvetica" panose="020B0604020202020204" pitchFamily="34" charset="0"/>
              </a:rPr>
              <a:t>”</a:t>
            </a:r>
            <a:r>
              <a:rPr lang="zh-CN" altLang="en-US" sz="2400" dirty="0" smtClean="0"/>
              <a:t>关系的</a:t>
            </a:r>
            <a:r>
              <a:rPr lang="zh-CN" altLang="en-US" sz="2400" dirty="0" smtClean="0">
                <a:latin typeface="Helvetica" panose="020B0604020202020204" pitchFamily="34" charset="0"/>
              </a:rPr>
              <a:t>“</a:t>
            </a:r>
            <a:r>
              <a:rPr lang="zh-CN" altLang="en-US" sz="2400" dirty="0" smtClean="0"/>
              <a:t>坏</a:t>
            </a:r>
            <a:r>
              <a:rPr lang="zh-CN" altLang="en-US" sz="2400" dirty="0" smtClean="0">
                <a:latin typeface="Helvetica" panose="020B0604020202020204" pitchFamily="34" charset="0"/>
              </a:rPr>
              <a:t>”</a:t>
            </a:r>
            <a:r>
              <a:rPr lang="zh-CN" altLang="en-US" sz="2400" dirty="0" smtClean="0"/>
              <a:t>数据库设计具有某些问题</a:t>
            </a:r>
            <a:endParaRPr lang="zh-CN" altLang="en-US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关系数据库中的问题</a:t>
            </a:r>
            <a:endParaRPr lang="zh-CN" altLang="en-US" smtClean="0"/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z="2400" dirty="0" smtClean="0"/>
              <a:t>考虑以下数据库设计</a:t>
            </a:r>
            <a:endParaRPr lang="zh-CN" altLang="en-US" sz="2400" dirty="0" smtClean="0"/>
          </a:p>
          <a:p>
            <a:pPr lvl="1" eaLnBrk="1" hangingPunct="1"/>
            <a:r>
              <a:rPr lang="zh-CN" altLang="en-US" sz="2400" dirty="0" smtClean="0"/>
              <a:t>关系：</a:t>
            </a:r>
            <a:r>
              <a:rPr lang="en-US" altLang="zh-CN" sz="2400" dirty="0" smtClean="0"/>
              <a:t>worker (</a:t>
            </a:r>
            <a:r>
              <a:rPr lang="en-US" altLang="zh-CN" sz="2400" u="sng" dirty="0" smtClean="0"/>
              <a:t>name</a:t>
            </a:r>
            <a:r>
              <a:rPr lang="en-US" altLang="zh-CN" sz="2400" dirty="0" smtClean="0"/>
              <a:t>, branch, manager)</a:t>
            </a:r>
            <a:endParaRPr lang="en-US" altLang="zh-CN" sz="2400" dirty="0" smtClean="0"/>
          </a:p>
          <a:p>
            <a:pPr lvl="1" eaLnBrk="1" hangingPunct="1"/>
            <a:r>
              <a:rPr lang="zh-CN" altLang="en-US" sz="2400" dirty="0" smtClean="0"/>
              <a:t>假设一个部门仅有一位经理。但反过来，一个经理可以是多个部门的经理。</a:t>
            </a:r>
            <a:endParaRPr lang="zh-CN" altLang="en-US" sz="2400" dirty="0" smtClean="0"/>
          </a:p>
        </p:txBody>
      </p:sp>
      <p:graphicFrame>
        <p:nvGraphicFramePr>
          <p:cNvPr id="651306" name="Group 42"/>
          <p:cNvGraphicFramePr>
            <a:graphicFrameLocks noGrp="1"/>
          </p:cNvGraphicFramePr>
          <p:nvPr/>
        </p:nvGraphicFramePr>
        <p:xfrm>
          <a:off x="628650" y="4090988"/>
          <a:ext cx="3182938" cy="2220912"/>
        </p:xfrm>
        <a:graphic>
          <a:graphicData uri="http://schemas.openxmlformats.org/drawingml/2006/table">
            <a:tbl>
              <a:tblPr/>
              <a:tblGrid>
                <a:gridCol w="970857"/>
                <a:gridCol w="1056883"/>
                <a:gridCol w="1155198"/>
              </a:tblGrid>
              <a:tr h="441037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sng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name</a:t>
                      </a:r>
                      <a:endParaRPr kumimoji="0" lang="en-US" altLang="zh-CN" sz="2000" b="0" i="0" u="sng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branch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manager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35597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Jones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Frank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597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Smith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David 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597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Curry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Frank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597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Larry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David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597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Julia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Frank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51298" name="Rectangle 34"/>
          <p:cNvSpPr>
            <a:spLocks noChangeArrowheads="1"/>
          </p:cNvSpPr>
          <p:nvPr/>
        </p:nvSpPr>
        <p:spPr bwMode="auto">
          <a:xfrm>
            <a:off x="1538288" y="3567113"/>
            <a:ext cx="1363662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fontAlgn="auto" hangingPunct="1">
              <a:spcBef>
                <a:spcPct val="3500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Monotype Sorts" pitchFamily="-65" charset="2"/>
              <a:buNone/>
              <a:defRPr/>
            </a:pPr>
            <a:r>
              <a:rPr kumimoji="1" lang="en-US" altLang="zh-CN" sz="2800" b="1" dirty="0">
                <a:latin typeface="Helvetica" panose="020B0604020202020204" pitchFamily="34" charset="0"/>
                <a:ea typeface="宋体" panose="02010600030101010101" pitchFamily="2" charset="-122"/>
              </a:rPr>
              <a:t>worker</a:t>
            </a:r>
            <a:endParaRPr kumimoji="1" lang="en-US" altLang="zh-CN" sz="2800" b="1" dirty="0"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关系数据库中的问题</a:t>
            </a:r>
            <a:endParaRPr lang="zh-CN" altLang="en-US" smtClean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>
          <a:xfrm>
            <a:off x="768350" y="944701"/>
            <a:ext cx="7661275" cy="4903787"/>
          </a:xfrm>
        </p:spPr>
        <p:txBody>
          <a:bodyPr/>
          <a:lstStyle/>
          <a:p>
            <a:pPr eaLnBrk="1" hangingPunct="1"/>
            <a:r>
              <a:rPr lang="zh-CN" altLang="en-US" sz="2400" dirty="0" smtClean="0"/>
              <a:t>该数据库设计有如下问题</a:t>
            </a:r>
            <a:endParaRPr lang="zh-CN" altLang="en-US" sz="2400" dirty="0" smtClean="0"/>
          </a:p>
          <a:p>
            <a:pPr lvl="1" eaLnBrk="1" hangingPunct="1"/>
            <a:r>
              <a:rPr lang="zh-CN" altLang="en-US" sz="2400" dirty="0" smtClean="0"/>
              <a:t>冗余</a:t>
            </a:r>
            <a:endParaRPr lang="zh-CN" altLang="en-US" sz="2400" dirty="0" smtClean="0"/>
          </a:p>
          <a:p>
            <a:pPr lvl="2" eaLnBrk="1" hangingPunct="1"/>
            <a:r>
              <a:rPr lang="zh-CN" altLang="en-US" sz="2400" dirty="0" smtClean="0"/>
              <a:t>思考：有几个元组存储了</a:t>
            </a:r>
            <a:r>
              <a:rPr lang="en-US" altLang="zh-CN" sz="2400" u="sng" dirty="0" smtClean="0"/>
              <a:t>David</a:t>
            </a:r>
            <a:r>
              <a:rPr lang="zh-CN" altLang="en-US" sz="2400" u="sng" dirty="0" smtClean="0"/>
              <a:t>是部门</a:t>
            </a:r>
            <a:r>
              <a:rPr lang="en-US" altLang="zh-CN" sz="2400" u="sng" dirty="0" smtClean="0"/>
              <a:t>B</a:t>
            </a:r>
            <a:r>
              <a:rPr lang="zh-CN" altLang="en-US" sz="2400" u="sng" dirty="0" smtClean="0"/>
              <a:t>经理</a:t>
            </a:r>
            <a:r>
              <a:rPr lang="zh-CN" altLang="en-US" sz="2400" dirty="0" smtClean="0"/>
              <a:t>的信息？</a:t>
            </a:r>
            <a:endParaRPr lang="zh-CN" altLang="en-US" sz="2400" dirty="0" smtClean="0"/>
          </a:p>
          <a:p>
            <a:pPr lvl="2" eaLnBrk="1" hangingPunct="1"/>
            <a:r>
              <a:rPr lang="zh-CN" altLang="en-US" sz="2400" dirty="0" smtClean="0"/>
              <a:t>同部门的每一个员工都不必要地重复关于</a:t>
            </a:r>
            <a:r>
              <a:rPr lang="zh-CN" altLang="en-US" sz="2400" u="sng" dirty="0" smtClean="0"/>
              <a:t>谁是部门经理</a:t>
            </a:r>
            <a:r>
              <a:rPr lang="zh-CN" altLang="en-US" sz="2400" dirty="0" smtClean="0"/>
              <a:t>的信息</a:t>
            </a:r>
            <a:endParaRPr lang="zh-CN" altLang="en-US" sz="2400" dirty="0" smtClean="0"/>
          </a:p>
        </p:txBody>
      </p:sp>
      <p:graphicFrame>
        <p:nvGraphicFramePr>
          <p:cNvPr id="6" name="Group 42"/>
          <p:cNvGraphicFramePr>
            <a:graphicFrameLocks noGrp="1"/>
          </p:cNvGraphicFramePr>
          <p:nvPr/>
        </p:nvGraphicFramePr>
        <p:xfrm>
          <a:off x="628650" y="4090988"/>
          <a:ext cx="3182938" cy="2220912"/>
        </p:xfrm>
        <a:graphic>
          <a:graphicData uri="http://schemas.openxmlformats.org/drawingml/2006/table">
            <a:tbl>
              <a:tblPr/>
              <a:tblGrid>
                <a:gridCol w="970857"/>
                <a:gridCol w="1056883"/>
                <a:gridCol w="1155198"/>
              </a:tblGrid>
              <a:tr h="441037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sng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name</a:t>
                      </a:r>
                      <a:endParaRPr kumimoji="0" lang="en-US" altLang="zh-CN" sz="2000" b="0" i="0" u="sng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branch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manager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35597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Jones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Frank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597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Smith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E444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E444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E444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David 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E444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597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Curry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Frank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597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Larry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E444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E444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E444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David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E444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597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Julia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Frank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" name="Rectangle 34"/>
          <p:cNvSpPr>
            <a:spLocks noChangeArrowheads="1"/>
          </p:cNvSpPr>
          <p:nvPr/>
        </p:nvSpPr>
        <p:spPr bwMode="auto">
          <a:xfrm>
            <a:off x="1538288" y="3567113"/>
            <a:ext cx="1363662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fontAlgn="auto" hangingPunct="1">
              <a:spcBef>
                <a:spcPct val="3500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Monotype Sorts" pitchFamily="-65" charset="2"/>
              <a:buNone/>
              <a:defRPr/>
            </a:pPr>
            <a:r>
              <a:rPr kumimoji="1" lang="en-US" altLang="zh-CN" sz="2800" b="1" dirty="0">
                <a:latin typeface="Helvetica" panose="020B0604020202020204" pitchFamily="34" charset="0"/>
                <a:ea typeface="宋体" panose="02010600030101010101" pitchFamily="2" charset="-122"/>
              </a:rPr>
              <a:t>worker</a:t>
            </a:r>
            <a:endParaRPr kumimoji="1" lang="en-US" altLang="zh-CN" sz="2800" b="1" dirty="0"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关系数据库中的问题</a:t>
            </a:r>
            <a:endParaRPr lang="zh-CN" altLang="en-US" smtClean="0"/>
          </a:p>
        </p:txBody>
      </p:sp>
      <p:sp>
        <p:nvSpPr>
          <p:cNvPr id="691203" name="Rectangle 3"/>
          <p:cNvSpPr>
            <a:spLocks noGrp="1" noChangeArrowheads="1"/>
          </p:cNvSpPr>
          <p:nvPr>
            <p:ph idx="1"/>
          </p:nvPr>
        </p:nvSpPr>
        <p:spPr>
          <a:xfrm>
            <a:off x="700088" y="944701"/>
            <a:ext cx="7661275" cy="4903787"/>
          </a:xfrm>
        </p:spPr>
        <p:txBody>
          <a:bodyPr/>
          <a:lstStyle/>
          <a:p>
            <a:pPr lvl="1" eaLnBrk="1" hangingPunct="1"/>
            <a:r>
              <a:rPr lang="zh-CN" altLang="en-US" sz="2400" dirty="0" smtClean="0"/>
              <a:t>更新异常</a:t>
            </a:r>
            <a:endParaRPr lang="zh-CN" altLang="en-US" sz="2400" dirty="0" smtClean="0"/>
          </a:p>
          <a:p>
            <a:pPr lvl="2" eaLnBrk="1" hangingPunct="1"/>
            <a:r>
              <a:rPr lang="zh-CN" altLang="en-US" sz="2400" dirty="0" smtClean="0"/>
              <a:t>思考：如果</a:t>
            </a:r>
            <a:r>
              <a:rPr lang="zh-CN" altLang="en-US" sz="2400" u="sng" dirty="0" smtClean="0"/>
              <a:t>部门</a:t>
            </a:r>
            <a:r>
              <a:rPr lang="en-US" altLang="zh-CN" sz="2400" u="sng" dirty="0" smtClean="0"/>
              <a:t>B</a:t>
            </a:r>
            <a:r>
              <a:rPr lang="zh-CN" altLang="en-US" sz="2400" u="sng" dirty="0" smtClean="0"/>
              <a:t>的经理变成</a:t>
            </a:r>
            <a:r>
              <a:rPr lang="en-US" altLang="zh-CN" sz="2400" u="sng" dirty="0" smtClean="0"/>
              <a:t>Debbie</a:t>
            </a:r>
            <a:r>
              <a:rPr lang="zh-CN" altLang="en-US" sz="2400" dirty="0" smtClean="0"/>
              <a:t>，需要更新几个元组？</a:t>
            </a:r>
            <a:endParaRPr lang="zh-CN" altLang="en-US" sz="2400" dirty="0" smtClean="0"/>
          </a:p>
          <a:p>
            <a:pPr lvl="2" eaLnBrk="1" hangingPunct="1"/>
            <a:r>
              <a:rPr lang="zh-CN" altLang="en-US" sz="2400" dirty="0" smtClean="0"/>
              <a:t>如果一个部门的经理变动，我们必须更新部门里的每个员工以反映谁是新经理，否则就会出现这样的错误：该部门有两个经理</a:t>
            </a:r>
            <a:endParaRPr lang="en-US" altLang="zh-CN" sz="2400" dirty="0" smtClean="0"/>
          </a:p>
        </p:txBody>
      </p:sp>
      <p:sp>
        <p:nvSpPr>
          <p:cNvPr id="691268" name="AutoShape 68"/>
          <p:cNvSpPr>
            <a:spLocks noChangeArrowheads="1"/>
          </p:cNvSpPr>
          <p:nvPr/>
        </p:nvSpPr>
        <p:spPr bwMode="auto">
          <a:xfrm rot="16200000">
            <a:off x="4271963" y="4725988"/>
            <a:ext cx="381000" cy="1041400"/>
          </a:xfrm>
          <a:prstGeom prst="downArrow">
            <a:avLst>
              <a:gd name="adj1" fmla="val 50000"/>
              <a:gd name="adj2" fmla="val 68333"/>
            </a:avLst>
          </a:prstGeom>
          <a:solidFill>
            <a:srgbClr val="00E44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691318" name="Group 118"/>
          <p:cNvGraphicFramePr>
            <a:graphicFrameLocks noGrp="1"/>
          </p:cNvGraphicFramePr>
          <p:nvPr/>
        </p:nvGraphicFramePr>
        <p:xfrm>
          <a:off x="5114925" y="4090988"/>
          <a:ext cx="3228975" cy="2220910"/>
        </p:xfrm>
        <a:graphic>
          <a:graphicData uri="http://schemas.openxmlformats.org/drawingml/2006/table">
            <a:tbl>
              <a:tblPr/>
              <a:tblGrid>
                <a:gridCol w="984900"/>
                <a:gridCol w="1072169"/>
                <a:gridCol w="1171906"/>
              </a:tblGrid>
              <a:tr h="43859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sng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name</a:t>
                      </a:r>
                      <a:endParaRPr kumimoji="0" lang="en-US" altLang="zh-CN" sz="2000" b="0" i="0" u="sng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branch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manager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356463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Jones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Frank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6463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Smith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E444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E444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6B0B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Debbie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F6B0B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6463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Curry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Frank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6463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Larry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E444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E444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E444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David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E444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6463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Julia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Frank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91299" name="Rectangle 99"/>
          <p:cNvSpPr>
            <a:spLocks noChangeArrowheads="1"/>
          </p:cNvSpPr>
          <p:nvPr/>
        </p:nvSpPr>
        <p:spPr bwMode="auto">
          <a:xfrm>
            <a:off x="6048375" y="3567113"/>
            <a:ext cx="136207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fontAlgn="auto" hangingPunct="1">
              <a:spcBef>
                <a:spcPct val="3500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Monotype Sorts" pitchFamily="-65" charset="2"/>
              <a:buNone/>
              <a:defRPr/>
            </a:pPr>
            <a:r>
              <a:rPr kumimoji="1" lang="en-US" altLang="zh-CN" sz="2800" b="1" dirty="0">
                <a:latin typeface="Helvetica" panose="020B0604020202020204" pitchFamily="34" charset="0"/>
                <a:ea typeface="宋体" panose="02010600030101010101" pitchFamily="2" charset="-122"/>
              </a:rPr>
              <a:t>worker</a:t>
            </a:r>
            <a:endParaRPr kumimoji="1" lang="zh-CN" altLang="en-US" sz="2800" b="1" dirty="0"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91300" name="Text Box 100"/>
          <p:cNvSpPr txBox="1">
            <a:spLocks noChangeArrowheads="1"/>
          </p:cNvSpPr>
          <p:nvPr/>
        </p:nvSpPr>
        <p:spPr bwMode="auto">
          <a:xfrm>
            <a:off x="8361363" y="4711700"/>
            <a:ext cx="800100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/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kumimoji="1" lang="en-US" altLang="zh-CN" sz="6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endParaRPr kumimoji="1" lang="en-US" altLang="zh-CN" sz="60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0" name="Group 42"/>
          <p:cNvGraphicFramePr>
            <a:graphicFrameLocks noGrp="1"/>
          </p:cNvGraphicFramePr>
          <p:nvPr/>
        </p:nvGraphicFramePr>
        <p:xfrm>
          <a:off x="628650" y="4090988"/>
          <a:ext cx="3182938" cy="2220912"/>
        </p:xfrm>
        <a:graphic>
          <a:graphicData uri="http://schemas.openxmlformats.org/drawingml/2006/table">
            <a:tbl>
              <a:tblPr/>
              <a:tblGrid>
                <a:gridCol w="970857"/>
                <a:gridCol w="1056883"/>
                <a:gridCol w="1155198"/>
              </a:tblGrid>
              <a:tr h="441037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sng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name</a:t>
                      </a:r>
                      <a:endParaRPr kumimoji="0" lang="en-US" altLang="zh-CN" sz="2000" b="0" i="0" u="sng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branch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manager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35597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Jones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Frank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597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Smith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E444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E444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E444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David 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E444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597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Curry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Frank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597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Larry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E444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E444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E444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David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E444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597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Julia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Frank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1" name="Rectangle 34"/>
          <p:cNvSpPr>
            <a:spLocks noChangeArrowheads="1"/>
          </p:cNvSpPr>
          <p:nvPr/>
        </p:nvSpPr>
        <p:spPr bwMode="auto">
          <a:xfrm>
            <a:off x="1538288" y="3567113"/>
            <a:ext cx="1363662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fontAlgn="auto" hangingPunct="1">
              <a:spcBef>
                <a:spcPct val="3500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Monotype Sorts" pitchFamily="-65" charset="2"/>
              <a:buNone/>
              <a:defRPr/>
            </a:pPr>
            <a:r>
              <a:rPr kumimoji="1" lang="en-US" altLang="zh-CN" sz="2800" b="1" dirty="0">
                <a:latin typeface="Helvetica" panose="020B0604020202020204" pitchFamily="34" charset="0"/>
                <a:ea typeface="宋体" panose="02010600030101010101" pitchFamily="2" charset="-122"/>
              </a:rPr>
              <a:t>worker</a:t>
            </a:r>
            <a:endParaRPr kumimoji="1" lang="en-US" altLang="zh-CN" sz="2800" b="1" dirty="0"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91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91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91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91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691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691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691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500"/>
                                        <p:tgtEl>
                                          <p:spTgt spid="691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91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91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1203" grpId="0" bldLvl="3" autoUpdateAnimBg="0" build="p"/>
      <p:bldP spid="691268" grpId="0" animBg="1"/>
      <p:bldP spid="691299" grpId="0" autoUpdateAnimBg="0"/>
      <p:bldP spid="691300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关系数据库中的问题</a:t>
            </a:r>
            <a:endParaRPr lang="zh-CN" altLang="en-US" smtClean="0"/>
          </a:p>
        </p:txBody>
      </p:sp>
      <p:sp>
        <p:nvSpPr>
          <p:cNvPr id="69222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lvl="1" eaLnBrk="1" hangingPunct="1"/>
            <a:r>
              <a:rPr lang="zh-CN" altLang="en-US" sz="2400" dirty="0" smtClean="0"/>
              <a:t>插入异常</a:t>
            </a:r>
            <a:endParaRPr lang="zh-CN" altLang="en-US" sz="2400" dirty="0" smtClean="0"/>
          </a:p>
          <a:p>
            <a:pPr lvl="2" eaLnBrk="1" hangingPunct="1"/>
            <a:r>
              <a:rPr lang="zh-CN" altLang="en-US" sz="2400" dirty="0" smtClean="0"/>
              <a:t>思考：假设成立一个新部门</a:t>
            </a:r>
            <a:r>
              <a:rPr lang="en-US" altLang="zh-CN" sz="2400" dirty="0" smtClean="0"/>
              <a:t>D</a:t>
            </a:r>
            <a:r>
              <a:rPr lang="zh-CN" altLang="en-US" sz="2400" dirty="0" smtClean="0"/>
              <a:t>。经理是</a:t>
            </a:r>
            <a:r>
              <a:rPr lang="en-US" altLang="zh-CN" sz="2400" dirty="0" err="1" smtClean="0"/>
              <a:t>kevin</a:t>
            </a:r>
            <a:r>
              <a:rPr lang="zh-CN" altLang="en-US" sz="2400" dirty="0" smtClean="0"/>
              <a:t>，没有员工。我们能增加关于部门</a:t>
            </a:r>
            <a:r>
              <a:rPr lang="en-US" altLang="zh-CN" sz="2400" dirty="0" smtClean="0"/>
              <a:t>D</a:t>
            </a:r>
            <a:r>
              <a:rPr lang="zh-CN" altLang="en-US" sz="2400" dirty="0" smtClean="0"/>
              <a:t>的信息么？</a:t>
            </a:r>
            <a:endParaRPr lang="zh-CN" altLang="en-US" sz="2400" dirty="0" smtClean="0"/>
          </a:p>
          <a:p>
            <a:pPr lvl="2" eaLnBrk="1" hangingPunct="1"/>
            <a:r>
              <a:rPr lang="zh-CN" altLang="en-US" sz="2400" dirty="0" smtClean="0"/>
              <a:t>如果</a:t>
            </a:r>
            <a:r>
              <a:rPr lang="zh-CN" altLang="en-US" sz="2400" u="sng" dirty="0" smtClean="0"/>
              <a:t>一个部门还没有员工</a:t>
            </a:r>
            <a:r>
              <a:rPr lang="zh-CN" altLang="en-US" sz="2400" dirty="0" smtClean="0"/>
              <a:t>，我们就无法添加这个部门的信息</a:t>
            </a:r>
            <a:endParaRPr lang="zh-CN" altLang="en-US" sz="2400" dirty="0" smtClean="0"/>
          </a:p>
        </p:txBody>
      </p:sp>
      <p:graphicFrame>
        <p:nvGraphicFramePr>
          <p:cNvPr id="692308" name="Group 84"/>
          <p:cNvGraphicFramePr>
            <a:graphicFrameLocks noGrp="1"/>
          </p:cNvGraphicFramePr>
          <p:nvPr/>
        </p:nvGraphicFramePr>
        <p:xfrm>
          <a:off x="5081588" y="4090988"/>
          <a:ext cx="3173412" cy="2563812"/>
        </p:xfrm>
        <a:graphic>
          <a:graphicData uri="http://schemas.openxmlformats.org/drawingml/2006/table">
            <a:tbl>
              <a:tblPr/>
              <a:tblGrid>
                <a:gridCol w="967952"/>
                <a:gridCol w="1053720"/>
                <a:gridCol w="1151740"/>
              </a:tblGrid>
              <a:tr h="436398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sng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name</a:t>
                      </a:r>
                      <a:endParaRPr kumimoji="0" lang="en-US" altLang="zh-CN" sz="2000" b="0" i="0" u="sng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90" marB="179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branch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90" marB="179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manager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90" marB="179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354569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Jones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90" marB="179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90" marB="179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Frank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90" marB="179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4569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Smith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90" marB="179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90" marB="179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David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90" marB="179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4569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Curry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90" marB="179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90" marB="179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Frank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90" marB="179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4569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Larry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90" marB="179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90" marB="179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David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90" marB="179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4569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Julia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90" marB="179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90" marB="179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Frank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90" marB="179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4569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E444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null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E444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90" marB="179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E444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E444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90" marB="179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E444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Kevin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E444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90" marB="179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92294" name="Rectangle 70"/>
          <p:cNvSpPr>
            <a:spLocks noChangeArrowheads="1"/>
          </p:cNvSpPr>
          <p:nvPr/>
        </p:nvSpPr>
        <p:spPr bwMode="auto">
          <a:xfrm>
            <a:off x="6043613" y="3567113"/>
            <a:ext cx="1363662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fontAlgn="auto" hangingPunct="1">
              <a:spcBef>
                <a:spcPct val="3500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Monotype Sorts" pitchFamily="-65" charset="2"/>
              <a:buNone/>
              <a:defRPr/>
            </a:pPr>
            <a:r>
              <a:rPr kumimoji="1" lang="en-US" altLang="zh-CN" sz="2800" b="1" dirty="0">
                <a:latin typeface="Helvetica" panose="020B0604020202020204" pitchFamily="34" charset="0"/>
                <a:ea typeface="宋体" panose="02010600030101010101" pitchFamily="2" charset="-122"/>
              </a:rPr>
              <a:t>worker</a:t>
            </a:r>
            <a:endParaRPr kumimoji="1" lang="zh-CN" altLang="en-US" sz="2800" b="1" dirty="0"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92295" name="Text Box 71"/>
          <p:cNvSpPr txBox="1">
            <a:spLocks noChangeArrowheads="1"/>
          </p:cNvSpPr>
          <p:nvPr/>
        </p:nvSpPr>
        <p:spPr bwMode="auto">
          <a:xfrm>
            <a:off x="8332788" y="4743450"/>
            <a:ext cx="800100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/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kumimoji="1" lang="en-US" altLang="zh-CN" sz="6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endParaRPr kumimoji="1" lang="en-US" altLang="zh-CN" sz="60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AutoShape 68"/>
          <p:cNvSpPr>
            <a:spLocks noChangeArrowheads="1"/>
          </p:cNvSpPr>
          <p:nvPr/>
        </p:nvSpPr>
        <p:spPr bwMode="auto">
          <a:xfrm rot="16200000">
            <a:off x="4271963" y="4725988"/>
            <a:ext cx="381000" cy="1041400"/>
          </a:xfrm>
          <a:prstGeom prst="downArrow">
            <a:avLst>
              <a:gd name="adj1" fmla="val 50000"/>
              <a:gd name="adj2" fmla="val 68333"/>
            </a:avLst>
          </a:prstGeom>
          <a:solidFill>
            <a:srgbClr val="00E44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1" name="Group 42"/>
          <p:cNvGraphicFramePr>
            <a:graphicFrameLocks noGrp="1"/>
          </p:cNvGraphicFramePr>
          <p:nvPr/>
        </p:nvGraphicFramePr>
        <p:xfrm>
          <a:off x="628650" y="4090988"/>
          <a:ext cx="3182938" cy="2220912"/>
        </p:xfrm>
        <a:graphic>
          <a:graphicData uri="http://schemas.openxmlformats.org/drawingml/2006/table">
            <a:tbl>
              <a:tblPr/>
              <a:tblGrid>
                <a:gridCol w="970857"/>
                <a:gridCol w="1056883"/>
                <a:gridCol w="1155198"/>
              </a:tblGrid>
              <a:tr h="441037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sng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name</a:t>
                      </a:r>
                      <a:endParaRPr kumimoji="0" lang="en-US" altLang="zh-CN" sz="2000" b="0" i="0" u="sng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branch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manager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35597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Jones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Frank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597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Smith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David 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597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Curry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Frank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597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Larry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David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597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Julia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Frank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2" name="Rectangle 34"/>
          <p:cNvSpPr>
            <a:spLocks noChangeArrowheads="1"/>
          </p:cNvSpPr>
          <p:nvPr/>
        </p:nvSpPr>
        <p:spPr bwMode="auto">
          <a:xfrm>
            <a:off x="1538288" y="3567113"/>
            <a:ext cx="1363662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fontAlgn="auto" hangingPunct="1">
              <a:spcBef>
                <a:spcPct val="3500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Monotype Sorts" pitchFamily="-65" charset="2"/>
              <a:buNone/>
              <a:defRPr/>
            </a:pPr>
            <a:r>
              <a:rPr kumimoji="1" lang="en-US" altLang="zh-CN" sz="2800" b="1" dirty="0">
                <a:latin typeface="Helvetica" panose="020B0604020202020204" pitchFamily="34" charset="0"/>
                <a:ea typeface="宋体" panose="02010600030101010101" pitchFamily="2" charset="-122"/>
              </a:rPr>
              <a:t>worker</a:t>
            </a:r>
            <a:endParaRPr kumimoji="1" lang="en-US" altLang="zh-CN" sz="2800" b="1" dirty="0"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92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92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92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92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692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692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692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92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92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2227" grpId="0" bldLvl="3" autoUpdateAnimBg="0" build="p"/>
      <p:bldP spid="692294" grpId="0" autoUpdateAnimBg="0"/>
      <p:bldP spid="692295" grpId="0" autoUpdateAnimBg="0"/>
      <p:bldP spid="1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关系数据库中的问题</a:t>
            </a:r>
            <a:endParaRPr lang="zh-CN" altLang="en-US" smtClean="0"/>
          </a:p>
        </p:txBody>
      </p:sp>
      <p:sp>
        <p:nvSpPr>
          <p:cNvPr id="69325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lvl="1" eaLnBrk="1" hangingPunct="1"/>
            <a:r>
              <a:rPr lang="zh-CN" altLang="en-US" sz="2400" dirty="0" smtClean="0"/>
              <a:t>删除异常</a:t>
            </a:r>
            <a:endParaRPr lang="zh-CN" altLang="en-US" sz="2400" dirty="0" smtClean="0"/>
          </a:p>
          <a:p>
            <a:pPr lvl="2" eaLnBrk="1" hangingPunct="1"/>
            <a:r>
              <a:rPr lang="zh-CN" altLang="en-US" sz="2400" dirty="0" smtClean="0"/>
              <a:t>思考：在删除了部门</a:t>
            </a:r>
            <a:r>
              <a:rPr lang="en-US" altLang="zh-CN" sz="2400" dirty="0" smtClean="0"/>
              <a:t>B</a:t>
            </a:r>
            <a:r>
              <a:rPr lang="zh-CN" altLang="en-US" sz="2400" dirty="0" smtClean="0"/>
              <a:t>的所有员工以后，我们还能找出</a:t>
            </a:r>
            <a:r>
              <a:rPr lang="zh-CN" altLang="en-US" sz="2400" u="sng" dirty="0" smtClean="0"/>
              <a:t>谁是部门</a:t>
            </a:r>
            <a:r>
              <a:rPr lang="en-US" altLang="zh-CN" sz="2400" u="sng" dirty="0" smtClean="0"/>
              <a:t>B</a:t>
            </a:r>
            <a:r>
              <a:rPr lang="zh-CN" altLang="en-US" sz="2400" u="sng" dirty="0" smtClean="0"/>
              <a:t>的经理</a:t>
            </a:r>
            <a:r>
              <a:rPr lang="zh-CN" altLang="en-US" sz="2400" dirty="0" smtClean="0"/>
              <a:t>么？</a:t>
            </a:r>
            <a:endParaRPr lang="zh-CN" altLang="en-US" sz="2400" dirty="0" smtClean="0"/>
          </a:p>
          <a:p>
            <a:pPr lvl="2" eaLnBrk="1" hangingPunct="1"/>
            <a:r>
              <a:rPr lang="zh-CN" altLang="en-US" sz="2400" dirty="0" smtClean="0"/>
              <a:t>如果一个部门里的所有员工都被删除了，谁是部门经理的信息也会被删除</a:t>
            </a:r>
            <a:endParaRPr lang="en-US" altLang="zh-CN" sz="2400" dirty="0" smtClean="0"/>
          </a:p>
          <a:p>
            <a:pPr lvl="2" eaLnBrk="1" hangingPunct="1"/>
            <a:endParaRPr lang="zh-CN" altLang="en-US" dirty="0" smtClean="0"/>
          </a:p>
        </p:txBody>
      </p:sp>
      <p:graphicFrame>
        <p:nvGraphicFramePr>
          <p:cNvPr id="693324" name="Group 76"/>
          <p:cNvGraphicFramePr>
            <a:graphicFrameLocks noGrp="1"/>
          </p:cNvGraphicFramePr>
          <p:nvPr/>
        </p:nvGraphicFramePr>
        <p:xfrm>
          <a:off x="5105400" y="4090988"/>
          <a:ext cx="3289300" cy="1571624"/>
        </p:xfrm>
        <a:graphic>
          <a:graphicData uri="http://schemas.openxmlformats.org/drawingml/2006/table">
            <a:tbl>
              <a:tblPr/>
              <a:tblGrid>
                <a:gridCol w="1003300"/>
                <a:gridCol w="1092200"/>
                <a:gridCol w="1193800"/>
              </a:tblGrid>
              <a:tr h="457370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sng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name</a:t>
                      </a:r>
                      <a:endParaRPr kumimoji="0" lang="en-US" altLang="zh-CN" sz="2000" b="0" i="0" u="sng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branch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manager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371418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Jones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8007" marB="1800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8007" marB="1800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Frank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8007" marB="1800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1418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Curry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8007" marB="1800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8007" marB="1800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Frank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8007" marB="1800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1418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Julia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8007" marB="1800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8007" marB="1800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Frank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8007" marB="1800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93306" name="Rectangle 58"/>
          <p:cNvSpPr>
            <a:spLocks noChangeArrowheads="1"/>
          </p:cNvSpPr>
          <p:nvPr/>
        </p:nvSpPr>
        <p:spPr bwMode="auto">
          <a:xfrm>
            <a:off x="6067425" y="3567113"/>
            <a:ext cx="1363663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fontAlgn="auto" hangingPunct="1">
              <a:spcBef>
                <a:spcPct val="3500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Monotype Sorts" pitchFamily="-65" charset="2"/>
              <a:buNone/>
              <a:defRPr/>
            </a:pPr>
            <a:r>
              <a:rPr kumimoji="1" lang="en-US" altLang="zh-CN" sz="2800" b="1" dirty="0">
                <a:latin typeface="Helvetica" panose="020B0604020202020204" pitchFamily="34" charset="0"/>
                <a:ea typeface="宋体" panose="02010600030101010101" pitchFamily="2" charset="-122"/>
              </a:rPr>
              <a:t>worker</a:t>
            </a:r>
            <a:endParaRPr kumimoji="1" lang="zh-CN" altLang="en-US" sz="2800" b="1" dirty="0"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93307" name="Text Box 59"/>
          <p:cNvSpPr txBox="1">
            <a:spLocks noChangeArrowheads="1"/>
          </p:cNvSpPr>
          <p:nvPr/>
        </p:nvSpPr>
        <p:spPr bwMode="auto">
          <a:xfrm>
            <a:off x="5011738" y="5843588"/>
            <a:ext cx="3568700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>
            <a:lvl1pPr>
              <a:spcBef>
                <a:spcPct val="35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5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l"/>
              <a:defRPr sz="2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5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auto" hangingPunct="1"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000" b="0" dirty="0" smtClean="0">
                <a:solidFill>
                  <a:srgbClr val="7030A0"/>
                </a:solidFill>
                <a:latin typeface="Helvetica" panose="020B0604020202020204" pitchFamily="34" charset="0"/>
              </a:rPr>
              <a:t>谁是部门</a:t>
            </a:r>
            <a:r>
              <a:rPr kumimoji="1" lang="en-US" altLang="zh-CN" sz="2000" b="0" dirty="0" smtClean="0">
                <a:solidFill>
                  <a:srgbClr val="7030A0"/>
                </a:solidFill>
                <a:latin typeface="Helvetica" panose="020B0604020202020204" pitchFamily="34" charset="0"/>
              </a:rPr>
              <a:t>B</a:t>
            </a:r>
            <a:r>
              <a:rPr kumimoji="1" lang="zh-CN" altLang="en-US" sz="2000" b="0" dirty="0" smtClean="0">
                <a:solidFill>
                  <a:srgbClr val="7030A0"/>
                </a:solidFill>
                <a:latin typeface="Helvetica" panose="020B0604020202020204" pitchFamily="34" charset="0"/>
              </a:rPr>
              <a:t>的经理</a:t>
            </a:r>
            <a:r>
              <a:rPr kumimoji="1" lang="en-US" altLang="zh-CN" sz="2000" b="0" dirty="0" smtClean="0">
                <a:solidFill>
                  <a:srgbClr val="7030A0"/>
                </a:solidFill>
                <a:latin typeface="Helvetica" panose="020B0604020202020204" pitchFamily="34" charset="0"/>
              </a:rPr>
              <a:t>?</a:t>
            </a:r>
            <a:endParaRPr kumimoji="1" lang="en-US" altLang="zh-CN" sz="2000" b="0" dirty="0" smtClean="0">
              <a:solidFill>
                <a:srgbClr val="7030A0"/>
              </a:solidFill>
              <a:latin typeface="Helvetica" panose="020B0604020202020204" pitchFamily="34" charset="0"/>
            </a:endParaRPr>
          </a:p>
        </p:txBody>
      </p:sp>
      <p:sp>
        <p:nvSpPr>
          <p:cNvPr id="10" name="AutoShape 68"/>
          <p:cNvSpPr>
            <a:spLocks noChangeArrowheads="1"/>
          </p:cNvSpPr>
          <p:nvPr/>
        </p:nvSpPr>
        <p:spPr bwMode="auto">
          <a:xfrm rot="16200000">
            <a:off x="4271963" y="4725988"/>
            <a:ext cx="381000" cy="1041400"/>
          </a:xfrm>
          <a:prstGeom prst="downArrow">
            <a:avLst>
              <a:gd name="adj1" fmla="val 50000"/>
              <a:gd name="adj2" fmla="val 68333"/>
            </a:avLst>
          </a:prstGeom>
          <a:solidFill>
            <a:srgbClr val="00E44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1" name="Group 42"/>
          <p:cNvGraphicFramePr>
            <a:graphicFrameLocks noGrp="1"/>
          </p:cNvGraphicFramePr>
          <p:nvPr/>
        </p:nvGraphicFramePr>
        <p:xfrm>
          <a:off x="628650" y="4090988"/>
          <a:ext cx="3182938" cy="2220912"/>
        </p:xfrm>
        <a:graphic>
          <a:graphicData uri="http://schemas.openxmlformats.org/drawingml/2006/table">
            <a:tbl>
              <a:tblPr/>
              <a:tblGrid>
                <a:gridCol w="970857"/>
                <a:gridCol w="1056883"/>
                <a:gridCol w="1155198"/>
              </a:tblGrid>
              <a:tr h="441037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sng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name</a:t>
                      </a:r>
                      <a:endParaRPr kumimoji="0" lang="en-US" altLang="zh-CN" sz="2000" b="0" i="0" u="sng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branch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manager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35597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Jones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Frank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597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E444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Smith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E444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E444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E444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E444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David 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E444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597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Curry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Frank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597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E444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Larry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E444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E444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E444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E444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David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E444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597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Julia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Frank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2" name="Rectangle 34"/>
          <p:cNvSpPr>
            <a:spLocks noChangeArrowheads="1"/>
          </p:cNvSpPr>
          <p:nvPr/>
        </p:nvSpPr>
        <p:spPr bwMode="auto">
          <a:xfrm>
            <a:off x="1538288" y="3567113"/>
            <a:ext cx="1363662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fontAlgn="auto" hangingPunct="1">
              <a:spcBef>
                <a:spcPct val="3500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Monotype Sorts" pitchFamily="-65" charset="2"/>
              <a:buNone/>
              <a:defRPr/>
            </a:pPr>
            <a:r>
              <a:rPr kumimoji="1" lang="en-US" altLang="zh-CN" sz="2800" b="1" dirty="0">
                <a:latin typeface="Helvetica" panose="020B0604020202020204" pitchFamily="34" charset="0"/>
                <a:ea typeface="宋体" panose="02010600030101010101" pitchFamily="2" charset="-122"/>
              </a:rPr>
              <a:t>worker</a:t>
            </a:r>
            <a:endParaRPr kumimoji="1" lang="en-US" altLang="zh-CN" sz="2800" b="1" dirty="0"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3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93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93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3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93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93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3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693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3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693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3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693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3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93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93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3251" grpId="0" bldLvl="3" autoUpdateAnimBg="0" build="p"/>
      <p:bldP spid="693306" grpId="0" autoUpdateAnimBg="0"/>
      <p:bldP spid="693307" grpId="0" autoUpdateAnimBg="0"/>
      <p:bldP spid="1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什么导致了这些问题？</a:t>
            </a:r>
            <a:endParaRPr lang="zh-CN" altLang="en-US" smtClean="0"/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z="2400" dirty="0" smtClean="0"/>
              <a:t>不良的数据依赖</a:t>
            </a:r>
            <a:endParaRPr lang="zh-CN" altLang="en-US" sz="2400" dirty="0" smtClean="0"/>
          </a:p>
          <a:p>
            <a:pPr lvl="1" eaLnBrk="1" hangingPunct="1"/>
            <a:r>
              <a:rPr lang="zh-CN" altLang="en-US" sz="2400" dirty="0" smtClean="0"/>
              <a:t>函数依赖</a:t>
            </a:r>
            <a:r>
              <a:rPr lang="en-US" altLang="zh-CN" sz="2400" dirty="0" smtClean="0"/>
              <a:t>(</a:t>
            </a:r>
            <a:r>
              <a:rPr lang="zh-CN" altLang="en-US" sz="2400" dirty="0" smtClean="0"/>
              <a:t>简记为</a:t>
            </a:r>
            <a:r>
              <a:rPr lang="en-US" altLang="zh-CN" sz="2400" dirty="0" smtClean="0"/>
              <a:t>FD)</a:t>
            </a:r>
            <a:r>
              <a:rPr lang="zh-CN" altLang="en-US" sz="2400" dirty="0" smtClean="0"/>
              <a:t>是一种数据依赖，它具有以下形式</a:t>
            </a:r>
            <a:br>
              <a:rPr lang="zh-CN" altLang="en-US" sz="2400" dirty="0" smtClean="0"/>
            </a:br>
            <a:endParaRPr lang="zh-CN" altLang="en-US" sz="2400" dirty="0" smtClean="0"/>
          </a:p>
          <a:p>
            <a:pPr lvl="1" algn="ctr" eaLnBrk="1" hangingPunct="1">
              <a:buFont typeface="Wingdings" panose="05000000000000000000" pitchFamily="2" charset="2"/>
              <a:buNone/>
            </a:pPr>
            <a:r>
              <a:rPr lang="en-US" altLang="zh-CN" sz="2400" i="1" dirty="0" smtClean="0">
                <a:sym typeface="Symbol" panose="05050102010706020507" pitchFamily="18" charset="2"/>
              </a:rPr>
              <a:t>		 </a:t>
            </a:r>
            <a:r>
              <a:rPr lang="zh-CN" altLang="en-US" sz="2400" dirty="0" smtClean="0">
                <a:solidFill>
                  <a:srgbClr val="00E444"/>
                </a:solidFill>
                <a:sym typeface="Symbol" panose="05050102010706020507" pitchFamily="18" charset="2"/>
              </a:rPr>
              <a:t></a:t>
            </a:r>
            <a:r>
              <a:rPr lang="en-US" altLang="zh-CN" sz="2400" dirty="0" smtClean="0">
                <a:solidFill>
                  <a:srgbClr val="00E444"/>
                </a:solidFill>
                <a:sym typeface="Symbol" panose="05050102010706020507" pitchFamily="18" charset="2"/>
              </a:rPr>
              <a:t> </a:t>
            </a:r>
            <a:r>
              <a:rPr lang="en-US" altLang="zh-CN" sz="2400" dirty="0" smtClean="0">
                <a:solidFill>
                  <a:srgbClr val="00E444"/>
                </a:solidFill>
                <a:sym typeface="Monotype Sorts" pitchFamily="-65" charset="2"/>
              </a:rPr>
              <a:t> </a:t>
            </a:r>
            <a:r>
              <a:rPr lang="en-US" altLang="zh-CN" sz="2400" i="1" dirty="0" smtClean="0">
                <a:solidFill>
                  <a:srgbClr val="00E444"/>
                </a:solidFill>
                <a:sym typeface="Symbol" panose="05050102010706020507" pitchFamily="18" charset="2"/>
              </a:rPr>
              <a:t></a:t>
            </a:r>
            <a:r>
              <a:rPr lang="en-US" altLang="zh-CN" sz="2400" i="1" dirty="0" smtClean="0">
                <a:sym typeface="Symbol" panose="05050102010706020507" pitchFamily="18" charset="2"/>
              </a:rPr>
              <a:t>  </a:t>
            </a:r>
            <a:r>
              <a:rPr lang="en-US" altLang="zh-CN" sz="2400" dirty="0" smtClean="0">
                <a:sym typeface="Symbol" panose="05050102010706020507" pitchFamily="18" charset="2"/>
              </a:rPr>
              <a:t>(</a:t>
            </a:r>
            <a:r>
              <a:rPr lang="zh-CN" altLang="en-US" sz="2400" dirty="0" smtClean="0">
                <a:sym typeface="Symbol" panose="05050102010706020507" pitchFamily="18" charset="2"/>
              </a:rPr>
              <a:t>读作：蕴涵</a:t>
            </a:r>
            <a:r>
              <a:rPr lang="en-US" altLang="zh-CN" sz="2400" dirty="0" smtClean="0">
                <a:sym typeface="Symbol" panose="05050102010706020507" pitchFamily="18" charset="2"/>
              </a:rPr>
              <a:t>)</a:t>
            </a:r>
            <a:endParaRPr lang="en-US" altLang="zh-CN" sz="2400" dirty="0" smtClean="0">
              <a:sym typeface="Symbol" panose="05050102010706020507" pitchFamily="18" charset="2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br>
              <a:rPr lang="zh-CN" altLang="en-US" sz="2400" dirty="0" smtClean="0"/>
            </a:br>
            <a:r>
              <a:rPr lang="zh-CN" altLang="en-US" sz="2400" dirty="0" smtClean="0"/>
              <a:t>意义：当任意两个元组在属性集</a:t>
            </a:r>
            <a:r>
              <a:rPr lang="en-US" altLang="zh-CN" sz="2400" dirty="0" smtClean="0">
                <a:solidFill>
                  <a:srgbClr val="00E444"/>
                </a:solidFill>
                <a:sym typeface="Symbol" panose="05050102010706020507" pitchFamily="18" charset="2"/>
              </a:rPr>
              <a:t></a:t>
            </a:r>
            <a:r>
              <a:rPr lang="zh-CN" altLang="en-US" sz="2400" dirty="0" smtClean="0"/>
              <a:t>上</a:t>
            </a:r>
            <a:r>
              <a:rPr lang="zh-CN" altLang="en-US" sz="2400" u="sng" dirty="0" smtClean="0"/>
              <a:t>相等</a:t>
            </a:r>
            <a:r>
              <a:rPr lang="zh-CN" altLang="en-US" sz="2400" dirty="0" smtClean="0"/>
              <a:t>时，则它们在属性集</a:t>
            </a:r>
            <a:r>
              <a:rPr lang="en-US" altLang="zh-CN" sz="2400" i="1" dirty="0" smtClean="0">
                <a:solidFill>
                  <a:srgbClr val="00E444"/>
                </a:solidFill>
                <a:sym typeface="Symbol" panose="05050102010706020507" pitchFamily="18" charset="2"/>
              </a:rPr>
              <a:t></a:t>
            </a:r>
            <a:r>
              <a:rPr lang="zh-CN" altLang="en-US" sz="2400" dirty="0" smtClean="0"/>
              <a:t>上也</a:t>
            </a:r>
            <a:r>
              <a:rPr lang="zh-CN" altLang="en-US" sz="2400" u="sng" dirty="0" smtClean="0"/>
              <a:t>相等</a:t>
            </a:r>
            <a:r>
              <a:rPr lang="zh-CN" altLang="en-US" sz="2400" dirty="0" smtClean="0"/>
              <a:t>。即同一个</a:t>
            </a:r>
            <a:r>
              <a:rPr lang="en-US" altLang="zh-CN" sz="2400" dirty="0" smtClean="0">
                <a:solidFill>
                  <a:srgbClr val="00E444"/>
                </a:solidFill>
                <a:sym typeface="Symbol" panose="05050102010706020507" pitchFamily="18" charset="2"/>
              </a:rPr>
              <a:t></a:t>
            </a:r>
            <a:r>
              <a:rPr lang="zh-CN" altLang="en-US" sz="2400" dirty="0" smtClean="0"/>
              <a:t>（的值），必然对应同一个</a:t>
            </a:r>
            <a:r>
              <a:rPr lang="en-US" altLang="zh-CN" sz="2400" i="1" dirty="0" smtClean="0">
                <a:solidFill>
                  <a:srgbClr val="00E444"/>
                </a:solidFill>
                <a:sym typeface="Symbol" panose="05050102010706020507" pitchFamily="18" charset="2"/>
              </a:rPr>
              <a:t></a:t>
            </a:r>
            <a:r>
              <a:rPr lang="zh-CN" altLang="en-US" sz="2400" dirty="0" smtClean="0"/>
              <a:t>（的值）</a:t>
            </a:r>
            <a:endParaRPr lang="zh-CN" altLang="en-US" sz="2400" i="1" dirty="0" smtClean="0"/>
          </a:p>
          <a:p>
            <a:pPr lvl="1" eaLnBrk="1" hangingPunct="1">
              <a:buFont typeface="Wingdings" panose="05000000000000000000" pitchFamily="2" charset="2"/>
              <a:buNone/>
            </a:pPr>
            <a:endParaRPr lang="zh-CN" altLang="en-US" i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什么导致了这些问题？</a:t>
            </a:r>
            <a:endParaRPr lang="zh-CN" altLang="en-US" smtClean="0"/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lvl="1" eaLnBrk="1" hangingPunct="1"/>
            <a:r>
              <a:rPr lang="zh-CN" altLang="en-US" sz="2400" dirty="0" smtClean="0"/>
              <a:t>我们可以在</a:t>
            </a:r>
            <a:r>
              <a:rPr lang="en-US" altLang="zh-CN" sz="2400" dirty="0" smtClean="0"/>
              <a:t>worker</a:t>
            </a:r>
            <a:r>
              <a:rPr lang="zh-CN" altLang="en-US" sz="2400" dirty="0" smtClean="0"/>
              <a:t>关系中发现某些函数依赖，如下</a:t>
            </a:r>
            <a:endParaRPr lang="zh-CN" altLang="en-US" sz="2400" dirty="0" smtClean="0"/>
          </a:p>
          <a:p>
            <a:pPr lvl="4" eaLnBrk="1" hangingPunct="1">
              <a:buFont typeface="Wingdings" panose="05000000000000000000" pitchFamily="2" charset="2"/>
              <a:buNone/>
            </a:pPr>
            <a:r>
              <a:rPr lang="en-US" altLang="zh-CN" sz="2400" i="1" dirty="0" smtClean="0">
                <a:solidFill>
                  <a:srgbClr val="00E444"/>
                </a:solidFill>
              </a:rPr>
              <a:t>name → branch</a:t>
            </a:r>
            <a:endParaRPr lang="en-US" altLang="zh-CN" sz="2400" i="1" dirty="0" smtClean="0">
              <a:solidFill>
                <a:srgbClr val="00E444"/>
              </a:solidFill>
            </a:endParaRPr>
          </a:p>
          <a:p>
            <a:pPr lvl="4" eaLnBrk="1" hangingPunct="1">
              <a:buFont typeface="Wingdings" panose="05000000000000000000" pitchFamily="2" charset="2"/>
              <a:buNone/>
            </a:pPr>
            <a:r>
              <a:rPr lang="en-US" altLang="zh-CN" sz="2400" i="1" dirty="0" smtClean="0">
                <a:solidFill>
                  <a:srgbClr val="00E444"/>
                </a:solidFill>
              </a:rPr>
              <a:t>branch → manager</a:t>
            </a:r>
            <a:endParaRPr lang="en-US" altLang="zh-CN" sz="2400" i="1" dirty="0" smtClean="0">
              <a:solidFill>
                <a:srgbClr val="00E444"/>
              </a:solidFill>
            </a:endParaRPr>
          </a:p>
          <a:p>
            <a:pPr lvl="4" eaLnBrk="1" hangingPunct="1">
              <a:buFont typeface="Wingdings" panose="05000000000000000000" pitchFamily="2" charset="2"/>
              <a:buNone/>
            </a:pPr>
            <a:r>
              <a:rPr lang="en-US" altLang="zh-CN" sz="2400" i="1" dirty="0" smtClean="0">
                <a:solidFill>
                  <a:srgbClr val="00E444"/>
                </a:solidFill>
              </a:rPr>
              <a:t>name → manager</a:t>
            </a:r>
            <a:endParaRPr lang="en-US" altLang="zh-CN" sz="2400" i="1" dirty="0" smtClean="0">
              <a:solidFill>
                <a:srgbClr val="00E444"/>
              </a:solidFill>
            </a:endParaRPr>
          </a:p>
        </p:txBody>
      </p:sp>
      <p:graphicFrame>
        <p:nvGraphicFramePr>
          <p:cNvPr id="6" name="Group 42"/>
          <p:cNvGraphicFramePr>
            <a:graphicFrameLocks noGrp="1"/>
          </p:cNvGraphicFramePr>
          <p:nvPr/>
        </p:nvGraphicFramePr>
        <p:xfrm>
          <a:off x="628650" y="4090988"/>
          <a:ext cx="3182938" cy="2220912"/>
        </p:xfrm>
        <a:graphic>
          <a:graphicData uri="http://schemas.openxmlformats.org/drawingml/2006/table">
            <a:tbl>
              <a:tblPr/>
              <a:tblGrid>
                <a:gridCol w="970857"/>
                <a:gridCol w="1056883"/>
                <a:gridCol w="1155198"/>
              </a:tblGrid>
              <a:tr h="441037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sng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name</a:t>
                      </a:r>
                      <a:endParaRPr kumimoji="0" lang="en-US" altLang="zh-CN" sz="2000" b="0" i="0" u="sng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branch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manager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35597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Jones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Frank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597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Smith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E444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E444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E444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David 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E444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597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Curry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Frank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597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Larry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E444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E444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E444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David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E444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597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Julia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Frank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" name="Rectangle 34"/>
          <p:cNvSpPr>
            <a:spLocks noChangeArrowheads="1"/>
          </p:cNvSpPr>
          <p:nvPr/>
        </p:nvSpPr>
        <p:spPr bwMode="auto">
          <a:xfrm>
            <a:off x="1538288" y="3567113"/>
            <a:ext cx="1363662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fontAlgn="auto" hangingPunct="1">
              <a:spcBef>
                <a:spcPct val="3500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Monotype Sorts" pitchFamily="-65" charset="2"/>
              <a:buNone/>
              <a:defRPr/>
            </a:pPr>
            <a:r>
              <a:rPr kumimoji="1" lang="en-US" altLang="zh-CN" sz="2800" b="1" dirty="0">
                <a:latin typeface="Helvetica" panose="020B0604020202020204" pitchFamily="34" charset="0"/>
                <a:ea typeface="宋体" panose="02010600030101010101" pitchFamily="2" charset="-122"/>
              </a:rPr>
              <a:t>worker</a:t>
            </a:r>
            <a:endParaRPr kumimoji="1" lang="en-US" altLang="zh-CN" sz="2800" b="1" dirty="0"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什么导致了这些问题？</a:t>
            </a:r>
            <a:endParaRPr lang="zh-CN" altLang="en-US" smtClean="0"/>
          </a:p>
        </p:txBody>
      </p:sp>
      <p:sp>
        <p:nvSpPr>
          <p:cNvPr id="7075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lvl="1" eaLnBrk="1" hangingPunct="1"/>
            <a:r>
              <a:rPr lang="en-US" altLang="zh-CN" sz="2400" dirty="0" smtClean="0"/>
              <a:t>worker</a:t>
            </a:r>
            <a:r>
              <a:rPr lang="zh-CN" altLang="en-US" sz="2400" dirty="0" smtClean="0"/>
              <a:t>关系的这些函数依赖中</a:t>
            </a:r>
            <a:r>
              <a:rPr lang="en-US" altLang="zh-CN" sz="2400" dirty="0" smtClean="0"/>
              <a:t>, </a:t>
            </a:r>
            <a:r>
              <a:rPr lang="en-US" altLang="zh-CN" sz="2400" i="1" dirty="0" smtClean="0">
                <a:solidFill>
                  <a:srgbClr val="00E444"/>
                </a:solidFill>
              </a:rPr>
              <a:t>branch → manager</a:t>
            </a:r>
            <a:r>
              <a:rPr lang="zh-CN" altLang="en-US" sz="2400" dirty="0" smtClean="0"/>
              <a:t>是不良的</a:t>
            </a:r>
            <a:endParaRPr lang="zh-CN" altLang="en-US" sz="2400" dirty="0" smtClean="0"/>
          </a:p>
          <a:p>
            <a:pPr lvl="2" eaLnBrk="1" hangingPunct="1"/>
            <a:r>
              <a:rPr lang="zh-CN" altLang="en-US" sz="2400" dirty="0" smtClean="0"/>
              <a:t>由于左边的</a:t>
            </a:r>
            <a:r>
              <a:rPr lang="en-US" altLang="zh-CN" sz="2400" i="1" dirty="0" smtClean="0">
                <a:solidFill>
                  <a:srgbClr val="00E444"/>
                </a:solidFill>
              </a:rPr>
              <a:t>branch</a:t>
            </a:r>
            <a:r>
              <a:rPr lang="zh-CN" altLang="en-US" sz="2400" dirty="0" smtClean="0"/>
              <a:t>不是关系的码（这里指超码），同一</a:t>
            </a:r>
            <a:r>
              <a:rPr lang="en-US" altLang="zh-CN" sz="2400" i="1" dirty="0" smtClean="0"/>
              <a:t>branch</a:t>
            </a:r>
            <a:r>
              <a:rPr lang="zh-CN" altLang="en-US" sz="2400" dirty="0" smtClean="0"/>
              <a:t>可能出现多次，造成同一组合</a:t>
            </a:r>
            <a:r>
              <a:rPr lang="en-US" altLang="zh-CN" sz="2400" dirty="0" smtClean="0"/>
              <a:t>: </a:t>
            </a:r>
            <a:r>
              <a:rPr lang="en-US" altLang="zh-CN" sz="2400" i="1" dirty="0" smtClean="0">
                <a:solidFill>
                  <a:srgbClr val="00E444"/>
                </a:solidFill>
              </a:rPr>
              <a:t>(branch</a:t>
            </a:r>
            <a:r>
              <a:rPr lang="zh-CN" altLang="en-US" sz="2400" i="1" dirty="0" smtClean="0">
                <a:solidFill>
                  <a:srgbClr val="00E444"/>
                </a:solidFill>
              </a:rPr>
              <a:t>，</a:t>
            </a:r>
            <a:r>
              <a:rPr lang="en-US" altLang="zh-CN" sz="2400" i="1" dirty="0" smtClean="0">
                <a:solidFill>
                  <a:srgbClr val="00E444"/>
                </a:solidFill>
              </a:rPr>
              <a:t>manager)</a:t>
            </a:r>
            <a:r>
              <a:rPr lang="zh-CN" altLang="en-US" sz="2400" dirty="0" smtClean="0"/>
              <a:t>的重复</a:t>
            </a:r>
            <a:endParaRPr lang="zh-CN" altLang="en-US" sz="2400" dirty="0" smtClean="0"/>
          </a:p>
        </p:txBody>
      </p:sp>
      <p:graphicFrame>
        <p:nvGraphicFramePr>
          <p:cNvPr id="8" name="Group 42"/>
          <p:cNvGraphicFramePr>
            <a:graphicFrameLocks noGrp="1"/>
          </p:cNvGraphicFramePr>
          <p:nvPr/>
        </p:nvGraphicFramePr>
        <p:xfrm>
          <a:off x="628650" y="4090988"/>
          <a:ext cx="3182938" cy="2220912"/>
        </p:xfrm>
        <a:graphic>
          <a:graphicData uri="http://schemas.openxmlformats.org/drawingml/2006/table">
            <a:tbl>
              <a:tblPr/>
              <a:tblGrid>
                <a:gridCol w="970857"/>
                <a:gridCol w="1056883"/>
                <a:gridCol w="1155198"/>
              </a:tblGrid>
              <a:tr h="441037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sng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name</a:t>
                      </a:r>
                      <a:endParaRPr kumimoji="0" lang="en-US" altLang="zh-CN" sz="2000" b="0" i="0" u="sng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branch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manager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35597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Jones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Frank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597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Smith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E444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E444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E444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David 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E444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597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Curry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Frank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597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Larry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E444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E444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E444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David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E444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597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Julia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Frank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9" name="Rectangle 34"/>
          <p:cNvSpPr>
            <a:spLocks noChangeArrowheads="1"/>
          </p:cNvSpPr>
          <p:nvPr/>
        </p:nvSpPr>
        <p:spPr bwMode="auto">
          <a:xfrm>
            <a:off x="1538288" y="3567113"/>
            <a:ext cx="1363662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fontAlgn="auto" hangingPunct="1">
              <a:spcBef>
                <a:spcPct val="3500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Monotype Sorts" pitchFamily="-65" charset="2"/>
              <a:buNone/>
              <a:defRPr/>
            </a:pPr>
            <a:r>
              <a:rPr kumimoji="1" lang="en-US" altLang="zh-CN" sz="2800" b="1" dirty="0">
                <a:latin typeface="Helvetica" panose="020B0604020202020204" pitchFamily="34" charset="0"/>
                <a:ea typeface="宋体" panose="02010600030101010101" pitchFamily="2" charset="-122"/>
              </a:rPr>
              <a:t>worker</a:t>
            </a:r>
            <a:endParaRPr kumimoji="1" lang="en-US" altLang="zh-CN" sz="2800" b="1" dirty="0"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07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07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07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07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7587" grpId="0" bldLvl="2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如何解决这些问题？</a:t>
            </a:r>
            <a:endParaRPr lang="zh-CN" altLang="en-US" smtClean="0"/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z="2400" dirty="0" smtClean="0"/>
              <a:t>分解</a:t>
            </a:r>
            <a:endParaRPr lang="zh-CN" altLang="en-US" sz="2400" dirty="0" smtClean="0"/>
          </a:p>
          <a:p>
            <a:pPr lvl="1" eaLnBrk="1" hangingPunct="1"/>
            <a:r>
              <a:rPr lang="zh-CN" altLang="en-US" sz="2400" dirty="0" smtClean="0"/>
              <a:t>把一个</a:t>
            </a:r>
            <a:r>
              <a:rPr lang="en-US" altLang="zh-CN" sz="2400" dirty="0" smtClean="0">
                <a:latin typeface="Helvetica" panose="020B0604020202020204" pitchFamily="34" charset="0"/>
              </a:rPr>
              <a:t>“</a:t>
            </a:r>
            <a:r>
              <a:rPr lang="zh-CN" altLang="en-US" sz="2400" dirty="0" smtClean="0"/>
              <a:t>坏</a:t>
            </a:r>
            <a:r>
              <a:rPr lang="zh-CN" altLang="en-US" sz="2400" dirty="0" smtClean="0">
                <a:latin typeface="Helvetica" panose="020B0604020202020204" pitchFamily="34" charset="0"/>
              </a:rPr>
              <a:t>”</a:t>
            </a:r>
            <a:r>
              <a:rPr lang="zh-CN" altLang="en-US" sz="2400" dirty="0" smtClean="0"/>
              <a:t>关系分解为几个更小但是</a:t>
            </a:r>
            <a:r>
              <a:rPr lang="en-US" altLang="zh-CN" sz="2400" dirty="0" smtClean="0">
                <a:latin typeface="Helvetica" panose="020B0604020202020204" pitchFamily="34" charset="0"/>
              </a:rPr>
              <a:t>“</a:t>
            </a:r>
            <a:r>
              <a:rPr lang="zh-CN" altLang="en-US" sz="2400" dirty="0" smtClean="0"/>
              <a:t>好</a:t>
            </a:r>
            <a:r>
              <a:rPr lang="zh-CN" altLang="en-US" sz="2400" dirty="0" smtClean="0">
                <a:latin typeface="Helvetica" panose="020B0604020202020204" pitchFamily="34" charset="0"/>
              </a:rPr>
              <a:t>”</a:t>
            </a:r>
            <a:r>
              <a:rPr lang="zh-CN" altLang="en-US" sz="2400" dirty="0" smtClean="0"/>
              <a:t>的关系</a:t>
            </a:r>
            <a:endParaRPr lang="zh-CN" altLang="en-US" sz="2400" dirty="0" smtClean="0"/>
          </a:p>
          <a:p>
            <a:pPr lvl="1" eaLnBrk="1" hangingPunct="1"/>
            <a:r>
              <a:rPr lang="zh-CN" altLang="en-US" sz="2400" dirty="0" smtClean="0"/>
              <a:t>例如</a:t>
            </a:r>
            <a:endParaRPr lang="en-US" altLang="zh-CN" sz="2400" dirty="0" smtClean="0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400" i="1" dirty="0" smtClean="0"/>
              <a:t>	</a:t>
            </a:r>
            <a:endParaRPr lang="en-US" altLang="zh-CN" sz="2400" i="1" dirty="0" smtClean="0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400" i="1" dirty="0" smtClean="0">
                <a:solidFill>
                  <a:srgbClr val="00E444"/>
                </a:solidFill>
              </a:rPr>
              <a:t>		worker (</a:t>
            </a:r>
            <a:r>
              <a:rPr lang="en-US" altLang="zh-CN" sz="2400" i="1" u="sng" dirty="0" smtClean="0">
                <a:solidFill>
                  <a:srgbClr val="00E444"/>
                </a:solidFill>
              </a:rPr>
              <a:t>name</a:t>
            </a:r>
            <a:r>
              <a:rPr lang="en-US" altLang="zh-CN" sz="2400" i="1" dirty="0" smtClean="0">
                <a:solidFill>
                  <a:srgbClr val="00E444"/>
                </a:solidFill>
              </a:rPr>
              <a:t>, branch, manager) → </a:t>
            </a:r>
            <a:br>
              <a:rPr lang="en-US" altLang="zh-CN" sz="2400" i="1" dirty="0" smtClean="0">
                <a:solidFill>
                  <a:srgbClr val="00E444"/>
                </a:solidFill>
              </a:rPr>
            </a:br>
            <a:br>
              <a:rPr lang="en-US" altLang="zh-CN" sz="2400" i="1" dirty="0" smtClean="0">
                <a:solidFill>
                  <a:srgbClr val="00E444"/>
                </a:solidFill>
              </a:rPr>
            </a:br>
            <a:r>
              <a:rPr lang="en-US" altLang="zh-CN" sz="2400" i="1" dirty="0" smtClean="0">
                <a:solidFill>
                  <a:srgbClr val="00E444"/>
                </a:solidFill>
              </a:rPr>
              <a:t>	  worker1 (</a:t>
            </a:r>
            <a:r>
              <a:rPr lang="en-US" altLang="zh-CN" sz="2400" i="1" u="sng" dirty="0" smtClean="0">
                <a:solidFill>
                  <a:srgbClr val="00E444"/>
                </a:solidFill>
              </a:rPr>
              <a:t>name</a:t>
            </a:r>
            <a:r>
              <a:rPr lang="en-US" altLang="zh-CN" sz="2400" i="1" dirty="0" smtClean="0">
                <a:solidFill>
                  <a:srgbClr val="00E444"/>
                </a:solidFill>
              </a:rPr>
              <a:t>, branch),  </a:t>
            </a:r>
            <a:br>
              <a:rPr lang="en-US" altLang="zh-CN" sz="2400" i="1" dirty="0" smtClean="0">
                <a:solidFill>
                  <a:srgbClr val="00E444"/>
                </a:solidFill>
              </a:rPr>
            </a:br>
            <a:r>
              <a:rPr lang="en-US" altLang="zh-CN" sz="2400" i="1" dirty="0" smtClean="0">
                <a:solidFill>
                  <a:srgbClr val="00E444"/>
                </a:solidFill>
              </a:rPr>
              <a:t>    branch (</a:t>
            </a:r>
            <a:r>
              <a:rPr lang="en-US" altLang="zh-CN" sz="2400" i="1" u="sng" dirty="0" smtClean="0">
                <a:solidFill>
                  <a:srgbClr val="00E444"/>
                </a:solidFill>
              </a:rPr>
              <a:t>branch</a:t>
            </a:r>
            <a:r>
              <a:rPr lang="en-US" altLang="zh-CN" sz="2400" i="1" dirty="0" smtClean="0">
                <a:solidFill>
                  <a:srgbClr val="00E444"/>
                </a:solidFill>
              </a:rPr>
              <a:t>, manager)</a:t>
            </a:r>
            <a:endParaRPr lang="en-US" altLang="zh-CN" sz="2400" i="1" dirty="0" smtClean="0">
              <a:solidFill>
                <a:srgbClr val="00E444"/>
              </a:solidFill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endParaRPr lang="en-US" altLang="zh-CN" i="1" dirty="0" smtClean="0">
              <a:solidFill>
                <a:srgbClr val="00E444"/>
              </a:solidFill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endParaRPr lang="en-US" altLang="zh-CN" i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如何解决这些问题？</a:t>
            </a:r>
            <a:endParaRPr lang="zh-CN" altLang="en-US" smtClean="0"/>
          </a:p>
        </p:txBody>
      </p:sp>
      <p:sp>
        <p:nvSpPr>
          <p:cNvPr id="660483" name="Rectangle 3"/>
          <p:cNvSpPr>
            <a:spLocks noGrp="1" noChangeArrowheads="1"/>
          </p:cNvSpPr>
          <p:nvPr>
            <p:ph idx="1"/>
          </p:nvPr>
        </p:nvSpPr>
        <p:spPr>
          <a:xfrm>
            <a:off x="383381" y="1250950"/>
            <a:ext cx="7661275" cy="4903787"/>
          </a:xfrm>
        </p:spPr>
        <p:txBody>
          <a:bodyPr/>
          <a:lstStyle/>
          <a:p>
            <a:pPr lvl="1" eaLnBrk="1" hangingPunct="1"/>
            <a:r>
              <a:rPr lang="zh-CN" altLang="en-US" sz="2400" dirty="0" smtClean="0"/>
              <a:t>在分解后消除了不良函数依赖，所以避免了同一组合的重复，解决了以上问题</a:t>
            </a:r>
            <a:endParaRPr lang="zh-CN" altLang="en-US" sz="2400" dirty="0" smtClean="0"/>
          </a:p>
        </p:txBody>
      </p:sp>
      <p:sp>
        <p:nvSpPr>
          <p:cNvPr id="660546" name="AutoShape 66"/>
          <p:cNvSpPr>
            <a:spLocks noChangeArrowheads="1"/>
          </p:cNvSpPr>
          <p:nvPr/>
        </p:nvSpPr>
        <p:spPr bwMode="auto">
          <a:xfrm rot="16200000">
            <a:off x="4023519" y="4864894"/>
            <a:ext cx="381000" cy="671512"/>
          </a:xfrm>
          <a:prstGeom prst="downArrow">
            <a:avLst>
              <a:gd name="adj1" fmla="val 50000"/>
              <a:gd name="adj2" fmla="val 55833"/>
            </a:avLst>
          </a:prstGeom>
          <a:solidFill>
            <a:srgbClr val="00E44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660621" name="Group 141"/>
          <p:cNvGraphicFramePr>
            <a:graphicFrameLocks noGrp="1"/>
          </p:cNvGraphicFramePr>
          <p:nvPr/>
        </p:nvGraphicFramePr>
        <p:xfrm>
          <a:off x="4618038" y="4090988"/>
          <a:ext cx="1968500" cy="2220910"/>
        </p:xfrm>
        <a:graphic>
          <a:graphicData uri="http://schemas.openxmlformats.org/drawingml/2006/table">
            <a:tbl>
              <a:tblPr/>
              <a:tblGrid>
                <a:gridCol w="942494"/>
                <a:gridCol w="1026006"/>
              </a:tblGrid>
              <a:tr h="438590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sng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name</a:t>
                      </a:r>
                      <a:endParaRPr kumimoji="0" lang="en-US" altLang="zh-CN" sz="2000" b="0" i="0" u="sng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branch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356464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Jones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6464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Smith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6464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Curry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6464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Larry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6464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Julia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60569" name="Rectangle 89"/>
          <p:cNvSpPr>
            <a:spLocks noChangeArrowheads="1"/>
          </p:cNvSpPr>
          <p:nvPr/>
        </p:nvSpPr>
        <p:spPr bwMode="auto">
          <a:xfrm>
            <a:off x="4821238" y="3567113"/>
            <a:ext cx="1563687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fontAlgn="auto" hangingPunct="1">
              <a:spcBef>
                <a:spcPct val="3500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Monotype Sorts" pitchFamily="-65" charset="2"/>
              <a:buNone/>
              <a:defRPr/>
            </a:pPr>
            <a:r>
              <a:rPr kumimoji="1" lang="en-US" altLang="zh-CN" sz="2800" b="1" dirty="0">
                <a:latin typeface="Helvetica" panose="020B0604020202020204" pitchFamily="34" charset="0"/>
                <a:ea typeface="宋体" panose="02010600030101010101" pitchFamily="2" charset="-122"/>
              </a:rPr>
              <a:t>worker1</a:t>
            </a:r>
            <a:endParaRPr kumimoji="1" lang="zh-CN" altLang="en-US" sz="3200" b="1" dirty="0"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660623" name="Group 143"/>
          <p:cNvGraphicFramePr>
            <a:graphicFrameLocks noGrp="1"/>
          </p:cNvGraphicFramePr>
          <p:nvPr/>
        </p:nvGraphicFramePr>
        <p:xfrm>
          <a:off x="6896100" y="4090988"/>
          <a:ext cx="2001838" cy="1487486"/>
        </p:xfrm>
        <a:graphic>
          <a:graphicData uri="http://schemas.openxmlformats.org/drawingml/2006/table">
            <a:tbl>
              <a:tblPr/>
              <a:tblGrid>
                <a:gridCol w="924826"/>
                <a:gridCol w="1077012"/>
              </a:tblGrid>
              <a:tr h="432884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sng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branch</a:t>
                      </a:r>
                      <a:endParaRPr kumimoji="0" lang="en-US" altLang="zh-CN" sz="2000" b="0" i="0" u="sng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8015" marB="18015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manager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8015" marB="18015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351534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8015" marB="18015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Frank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8015" marB="18015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1534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E444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E444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8015" marB="18015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E444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David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E444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8015" marB="18015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1534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8015" marB="18015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Frank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8015" marB="18015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60609" name="Rectangle 129"/>
          <p:cNvSpPr>
            <a:spLocks noChangeArrowheads="1"/>
          </p:cNvSpPr>
          <p:nvPr/>
        </p:nvSpPr>
        <p:spPr bwMode="auto">
          <a:xfrm>
            <a:off x="7232650" y="3567113"/>
            <a:ext cx="13843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fontAlgn="auto" hangingPunct="1">
              <a:spcBef>
                <a:spcPct val="3500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Monotype Sorts" pitchFamily="-65" charset="2"/>
              <a:buNone/>
              <a:defRPr/>
            </a:pPr>
            <a:r>
              <a:rPr kumimoji="1" lang="en-US" altLang="zh-CN" sz="2800" b="1" dirty="0">
                <a:latin typeface="Helvetica" panose="020B0604020202020204" pitchFamily="34" charset="0"/>
                <a:ea typeface="宋体" panose="02010600030101010101" pitchFamily="2" charset="-122"/>
              </a:rPr>
              <a:t>branch</a:t>
            </a:r>
            <a:endParaRPr kumimoji="1" lang="zh-CN" altLang="en-US" sz="2800" b="1" dirty="0"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3" name="Group 42"/>
          <p:cNvGraphicFramePr>
            <a:graphicFrameLocks noGrp="1"/>
          </p:cNvGraphicFramePr>
          <p:nvPr/>
        </p:nvGraphicFramePr>
        <p:xfrm>
          <a:off x="628650" y="4090988"/>
          <a:ext cx="3182938" cy="2220912"/>
        </p:xfrm>
        <a:graphic>
          <a:graphicData uri="http://schemas.openxmlformats.org/drawingml/2006/table">
            <a:tbl>
              <a:tblPr/>
              <a:tblGrid>
                <a:gridCol w="970857"/>
                <a:gridCol w="1056883"/>
                <a:gridCol w="1155198"/>
              </a:tblGrid>
              <a:tr h="441037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sng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name</a:t>
                      </a:r>
                      <a:endParaRPr kumimoji="0" lang="en-US" altLang="zh-CN" sz="2000" b="0" i="0" u="sng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branch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manager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35597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Jones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Frank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597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Smith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E444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E444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E444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David 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E444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597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Curry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Frank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597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Larry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E444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E444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E444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David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E444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597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Julia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Frank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4" name="Rectangle 34"/>
          <p:cNvSpPr>
            <a:spLocks noChangeArrowheads="1"/>
          </p:cNvSpPr>
          <p:nvPr/>
        </p:nvSpPr>
        <p:spPr bwMode="auto">
          <a:xfrm>
            <a:off x="1538288" y="3567113"/>
            <a:ext cx="1363662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fontAlgn="auto" hangingPunct="1">
              <a:spcBef>
                <a:spcPct val="3500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Monotype Sorts" pitchFamily="-65" charset="2"/>
              <a:buNone/>
              <a:defRPr/>
            </a:pPr>
            <a:r>
              <a:rPr kumimoji="1" lang="en-US" altLang="zh-CN" sz="2800" b="1" dirty="0">
                <a:latin typeface="Helvetica" panose="020B0604020202020204" pitchFamily="34" charset="0"/>
                <a:ea typeface="宋体" panose="02010600030101010101" pitchFamily="2" charset="-122"/>
              </a:rPr>
              <a:t>worker</a:t>
            </a:r>
            <a:endParaRPr kumimoji="1" lang="en-US" altLang="zh-CN" sz="2800" b="1" dirty="0"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6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6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0483" grpId="0" bldLvl="2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如何解决这些问题？</a:t>
            </a:r>
            <a:endParaRPr lang="zh-CN" altLang="en-US" smtClean="0"/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z="2400" dirty="0" smtClean="0"/>
              <a:t>考虑另一种分解方案，如下所示</a:t>
            </a:r>
            <a:br>
              <a:rPr lang="en-US" altLang="zh-CN" sz="2400" dirty="0" smtClean="0"/>
            </a:br>
            <a:r>
              <a:rPr lang="en-US" altLang="zh-CN" sz="2400" i="1" dirty="0" smtClean="0">
                <a:solidFill>
                  <a:srgbClr val="00E444"/>
                </a:solidFill>
              </a:rPr>
              <a:t>	worker (</a:t>
            </a:r>
            <a:r>
              <a:rPr lang="en-US" altLang="zh-CN" sz="2400" i="1" u="sng" dirty="0" smtClean="0">
                <a:solidFill>
                  <a:srgbClr val="00E444"/>
                </a:solidFill>
              </a:rPr>
              <a:t>name</a:t>
            </a:r>
            <a:r>
              <a:rPr lang="en-US" altLang="zh-CN" sz="2400" i="1" dirty="0" smtClean="0">
                <a:solidFill>
                  <a:srgbClr val="00E444"/>
                </a:solidFill>
              </a:rPr>
              <a:t>, branch, manager) → </a:t>
            </a:r>
            <a:br>
              <a:rPr lang="en-US" altLang="zh-CN" sz="2400" i="1" dirty="0" smtClean="0">
                <a:solidFill>
                  <a:srgbClr val="00E444"/>
                </a:solidFill>
              </a:rPr>
            </a:br>
            <a:r>
              <a:rPr lang="en-US" altLang="zh-CN" sz="2400" i="1" dirty="0" smtClean="0">
                <a:solidFill>
                  <a:srgbClr val="00E444"/>
                </a:solidFill>
              </a:rPr>
              <a:t>          	worker2 (</a:t>
            </a:r>
            <a:r>
              <a:rPr lang="en-US" altLang="zh-CN" sz="2400" i="1" u="sng" dirty="0" smtClean="0">
                <a:solidFill>
                  <a:srgbClr val="00E444"/>
                </a:solidFill>
              </a:rPr>
              <a:t>name</a:t>
            </a:r>
            <a:r>
              <a:rPr lang="en-US" altLang="zh-CN" sz="2400" i="1" dirty="0" smtClean="0">
                <a:solidFill>
                  <a:srgbClr val="00E444"/>
                </a:solidFill>
              </a:rPr>
              <a:t>, manager),  </a:t>
            </a:r>
            <a:br>
              <a:rPr lang="en-US" altLang="zh-CN" sz="2400" i="1" dirty="0" smtClean="0">
                <a:solidFill>
                  <a:srgbClr val="00E444"/>
                </a:solidFill>
              </a:rPr>
            </a:br>
            <a:r>
              <a:rPr lang="en-US" altLang="zh-CN" sz="2400" i="1" dirty="0" smtClean="0">
                <a:solidFill>
                  <a:srgbClr val="00E444"/>
                </a:solidFill>
              </a:rPr>
              <a:t>         	branch (</a:t>
            </a:r>
            <a:r>
              <a:rPr lang="en-US" altLang="zh-CN" sz="2400" i="1" u="sng" dirty="0" smtClean="0">
                <a:solidFill>
                  <a:srgbClr val="00E444"/>
                </a:solidFill>
              </a:rPr>
              <a:t>branch</a:t>
            </a:r>
            <a:r>
              <a:rPr lang="en-US" altLang="zh-CN" sz="2400" i="1" dirty="0" smtClean="0">
                <a:solidFill>
                  <a:srgbClr val="00E444"/>
                </a:solidFill>
              </a:rPr>
              <a:t>, manager)</a:t>
            </a:r>
            <a:endParaRPr lang="en-US" altLang="zh-CN" sz="2400" dirty="0" smtClean="0">
              <a:solidFill>
                <a:srgbClr val="00E444"/>
              </a:solidFill>
            </a:endParaRPr>
          </a:p>
        </p:txBody>
      </p:sp>
      <p:graphicFrame>
        <p:nvGraphicFramePr>
          <p:cNvPr id="661658" name="Group 154"/>
          <p:cNvGraphicFramePr>
            <a:graphicFrameLocks noGrp="1"/>
          </p:cNvGraphicFramePr>
          <p:nvPr/>
        </p:nvGraphicFramePr>
        <p:xfrm>
          <a:off x="4618038" y="4090988"/>
          <a:ext cx="2171700" cy="2220910"/>
        </p:xfrm>
        <a:graphic>
          <a:graphicData uri="http://schemas.openxmlformats.org/drawingml/2006/table">
            <a:tbl>
              <a:tblPr/>
              <a:tblGrid>
                <a:gridCol w="979667"/>
                <a:gridCol w="1192033"/>
              </a:tblGrid>
              <a:tr h="438590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sng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name</a:t>
                      </a:r>
                      <a:endParaRPr kumimoji="0" lang="en-US" altLang="zh-CN" sz="2000" b="0" i="0" u="sng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manager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356464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Jones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Frank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6464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Smith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David 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6464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Curry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Frank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6464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Larry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David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6464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Julia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Frank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61621" name="Rectangle 117"/>
          <p:cNvSpPr>
            <a:spLocks noChangeArrowheads="1"/>
          </p:cNvSpPr>
          <p:nvPr/>
        </p:nvSpPr>
        <p:spPr bwMode="auto">
          <a:xfrm>
            <a:off x="4922838" y="3578225"/>
            <a:ext cx="1563687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fontAlgn="auto" hangingPunct="1">
              <a:spcBef>
                <a:spcPct val="3500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Monotype Sorts" pitchFamily="-65" charset="2"/>
              <a:buNone/>
              <a:defRPr/>
            </a:pPr>
            <a:r>
              <a:rPr kumimoji="1" lang="en-US" altLang="zh-CN" sz="2800" b="1" dirty="0">
                <a:latin typeface="Helvetica" panose="020B0604020202020204" pitchFamily="34" charset="0"/>
                <a:ea typeface="宋体" panose="02010600030101010101" pitchFamily="2" charset="-122"/>
              </a:rPr>
              <a:t>worker2</a:t>
            </a:r>
            <a:endParaRPr kumimoji="1" lang="zh-CN" altLang="en-US" sz="2800" b="1" dirty="0"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661657" name="Group 153"/>
          <p:cNvGraphicFramePr>
            <a:graphicFrameLocks noGrp="1"/>
          </p:cNvGraphicFramePr>
          <p:nvPr/>
        </p:nvGraphicFramePr>
        <p:xfrm>
          <a:off x="6992938" y="4100513"/>
          <a:ext cx="2027237" cy="1471612"/>
        </p:xfrm>
        <a:graphic>
          <a:graphicData uri="http://schemas.openxmlformats.org/drawingml/2006/table">
            <a:tbl>
              <a:tblPr/>
              <a:tblGrid>
                <a:gridCol w="936559"/>
                <a:gridCol w="1090678"/>
              </a:tblGrid>
              <a:tr h="42566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sng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branch</a:t>
                      </a:r>
                      <a:endParaRPr kumimoji="0" lang="en-US" altLang="zh-CN" sz="2000" b="0" i="0" u="sng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8017" marB="1801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manager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8017" marB="1801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348649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8017" marB="1801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Frank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8017" marB="1801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8649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8017" marB="1801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David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8017" marB="1801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8649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8017" marB="1801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Frank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8017" marB="1801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61639" name="Rectangle 135"/>
          <p:cNvSpPr>
            <a:spLocks noChangeArrowheads="1"/>
          </p:cNvSpPr>
          <p:nvPr/>
        </p:nvSpPr>
        <p:spPr bwMode="auto">
          <a:xfrm>
            <a:off x="7294563" y="3578225"/>
            <a:ext cx="1423987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fontAlgn="auto" hangingPunct="1">
              <a:spcBef>
                <a:spcPct val="3500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Monotype Sorts" pitchFamily="-65" charset="2"/>
              <a:buNone/>
              <a:defRPr/>
            </a:pPr>
            <a:r>
              <a:rPr kumimoji="1" lang="en-US" altLang="zh-CN" sz="2800" b="1" dirty="0">
                <a:latin typeface="Helvetica" panose="020B0604020202020204" pitchFamily="34" charset="0"/>
                <a:ea typeface="宋体" panose="02010600030101010101" pitchFamily="2" charset="-122"/>
              </a:rPr>
              <a:t>Branch</a:t>
            </a:r>
            <a:endParaRPr kumimoji="1" lang="zh-CN" altLang="en-US" sz="2800" b="1" dirty="0"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" name="AutoShape 66"/>
          <p:cNvSpPr>
            <a:spLocks noChangeArrowheads="1"/>
          </p:cNvSpPr>
          <p:nvPr/>
        </p:nvSpPr>
        <p:spPr bwMode="auto">
          <a:xfrm rot="16200000">
            <a:off x="4023519" y="4864894"/>
            <a:ext cx="381000" cy="671512"/>
          </a:xfrm>
          <a:prstGeom prst="downArrow">
            <a:avLst>
              <a:gd name="adj1" fmla="val 50000"/>
              <a:gd name="adj2" fmla="val 55833"/>
            </a:avLst>
          </a:prstGeom>
          <a:solidFill>
            <a:srgbClr val="00E44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2" name="Group 42"/>
          <p:cNvGraphicFramePr>
            <a:graphicFrameLocks noGrp="1"/>
          </p:cNvGraphicFramePr>
          <p:nvPr/>
        </p:nvGraphicFramePr>
        <p:xfrm>
          <a:off x="628650" y="4090988"/>
          <a:ext cx="3182938" cy="2220912"/>
        </p:xfrm>
        <a:graphic>
          <a:graphicData uri="http://schemas.openxmlformats.org/drawingml/2006/table">
            <a:tbl>
              <a:tblPr/>
              <a:tblGrid>
                <a:gridCol w="970857"/>
                <a:gridCol w="1056883"/>
                <a:gridCol w="1155198"/>
              </a:tblGrid>
              <a:tr h="441037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sng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name</a:t>
                      </a:r>
                      <a:endParaRPr kumimoji="0" lang="en-US" altLang="zh-CN" sz="2000" b="0" i="0" u="sng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branch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manager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35597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Jones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Frank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597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Smith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David 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597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Curry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Frank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597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Larry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David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597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Julia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Frank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3" name="Rectangle 34"/>
          <p:cNvSpPr>
            <a:spLocks noChangeArrowheads="1"/>
          </p:cNvSpPr>
          <p:nvPr/>
        </p:nvSpPr>
        <p:spPr bwMode="auto">
          <a:xfrm>
            <a:off x="1538288" y="3567113"/>
            <a:ext cx="1363662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fontAlgn="auto" hangingPunct="1">
              <a:spcBef>
                <a:spcPct val="3500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Monotype Sorts" pitchFamily="-65" charset="2"/>
              <a:buNone/>
              <a:defRPr/>
            </a:pPr>
            <a:r>
              <a:rPr kumimoji="1" lang="en-US" altLang="zh-CN" sz="2800" b="1" dirty="0">
                <a:latin typeface="Helvetica" panose="020B0604020202020204" pitchFamily="34" charset="0"/>
                <a:ea typeface="宋体" panose="02010600030101010101" pitchFamily="2" charset="-122"/>
              </a:rPr>
              <a:t>worker</a:t>
            </a:r>
            <a:endParaRPr kumimoji="1" lang="en-US" altLang="zh-CN" sz="2800" b="1" dirty="0"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61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661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661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661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1621" grpId="0" autoUpdateAnimBg="0"/>
      <p:bldP spid="661639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如何解决这些问题？</a:t>
            </a:r>
            <a:endParaRPr lang="zh-CN" altLang="en-US" smtClean="0"/>
          </a:p>
        </p:txBody>
      </p:sp>
      <p:sp>
        <p:nvSpPr>
          <p:cNvPr id="7086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z="2400" dirty="0" smtClean="0"/>
              <a:t>思考</a:t>
            </a:r>
            <a:endParaRPr lang="zh-CN" altLang="en-US" sz="2400" dirty="0" smtClean="0"/>
          </a:p>
          <a:p>
            <a:pPr lvl="1" eaLnBrk="1" hangingPunct="1"/>
            <a:r>
              <a:rPr lang="zh-CN" altLang="en-US" sz="2400" dirty="0" smtClean="0"/>
              <a:t>在分解后，你能找出</a:t>
            </a:r>
            <a:r>
              <a:rPr lang="en-US" altLang="zh-CN" sz="2400" u="sng" dirty="0" smtClean="0"/>
              <a:t>Jones</a:t>
            </a:r>
            <a:r>
              <a:rPr lang="zh-CN" altLang="en-US" sz="2400" u="sng" dirty="0" smtClean="0"/>
              <a:t>在哪个部门</a:t>
            </a:r>
            <a:r>
              <a:rPr lang="zh-CN" altLang="en-US" sz="2400" dirty="0" smtClean="0"/>
              <a:t>么？</a:t>
            </a:r>
            <a:endParaRPr lang="zh-CN" altLang="en-US" sz="2400" dirty="0" smtClean="0"/>
          </a:p>
          <a:p>
            <a:pPr eaLnBrk="1" hangingPunct="1"/>
            <a:r>
              <a:rPr lang="zh-CN" altLang="en-US" sz="2400" dirty="0" smtClean="0"/>
              <a:t>不正确的分解可能带来新的问题：丢失某些信息</a:t>
            </a:r>
            <a:endParaRPr lang="zh-CN" altLang="en-US" sz="2400" dirty="0" smtClean="0"/>
          </a:p>
          <a:p>
            <a:pPr lvl="1" eaLnBrk="1" hangingPunct="1"/>
            <a:r>
              <a:rPr lang="zh-CN" altLang="en-US" sz="2400" dirty="0" smtClean="0"/>
              <a:t>例如，这里会丢失有关员工属于哪个部门的信息</a:t>
            </a:r>
            <a:endParaRPr lang="zh-CN" altLang="en-US" sz="2400" dirty="0" smtClean="0"/>
          </a:p>
        </p:txBody>
      </p:sp>
      <p:graphicFrame>
        <p:nvGraphicFramePr>
          <p:cNvPr id="11" name="Group 154"/>
          <p:cNvGraphicFramePr>
            <a:graphicFrameLocks noGrp="1"/>
          </p:cNvGraphicFramePr>
          <p:nvPr/>
        </p:nvGraphicFramePr>
        <p:xfrm>
          <a:off x="4618038" y="4090988"/>
          <a:ext cx="2171700" cy="2220910"/>
        </p:xfrm>
        <a:graphic>
          <a:graphicData uri="http://schemas.openxmlformats.org/drawingml/2006/table">
            <a:tbl>
              <a:tblPr/>
              <a:tblGrid>
                <a:gridCol w="979667"/>
                <a:gridCol w="1192033"/>
              </a:tblGrid>
              <a:tr h="438590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sng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name</a:t>
                      </a:r>
                      <a:endParaRPr kumimoji="0" lang="en-US" altLang="zh-CN" sz="2000" b="0" i="0" u="sng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manager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356464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E444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Jones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E444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E444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Frank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E444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6464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Smith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David 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6464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Curry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Frank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6464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Larry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David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6464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Julia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Frank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2" name="Rectangle 117"/>
          <p:cNvSpPr>
            <a:spLocks noChangeArrowheads="1"/>
          </p:cNvSpPr>
          <p:nvPr/>
        </p:nvSpPr>
        <p:spPr bwMode="auto">
          <a:xfrm>
            <a:off x="4922838" y="3578225"/>
            <a:ext cx="1563687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fontAlgn="auto" hangingPunct="1">
              <a:spcBef>
                <a:spcPct val="3500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Monotype Sorts" pitchFamily="-65" charset="2"/>
              <a:buNone/>
              <a:defRPr/>
            </a:pPr>
            <a:r>
              <a:rPr kumimoji="1" lang="en-US" altLang="zh-CN" sz="2800" b="1" dirty="0">
                <a:latin typeface="Helvetica" panose="020B0604020202020204" pitchFamily="34" charset="0"/>
                <a:ea typeface="宋体" panose="02010600030101010101" pitchFamily="2" charset="-122"/>
              </a:rPr>
              <a:t>worker2</a:t>
            </a:r>
            <a:endParaRPr kumimoji="1" lang="zh-CN" altLang="en-US" sz="2800" b="1" dirty="0"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3" name="Group 153"/>
          <p:cNvGraphicFramePr>
            <a:graphicFrameLocks noGrp="1"/>
          </p:cNvGraphicFramePr>
          <p:nvPr/>
        </p:nvGraphicFramePr>
        <p:xfrm>
          <a:off x="6992938" y="4100513"/>
          <a:ext cx="2027237" cy="1471612"/>
        </p:xfrm>
        <a:graphic>
          <a:graphicData uri="http://schemas.openxmlformats.org/drawingml/2006/table">
            <a:tbl>
              <a:tblPr/>
              <a:tblGrid>
                <a:gridCol w="936559"/>
                <a:gridCol w="1090678"/>
              </a:tblGrid>
              <a:tr h="42566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sng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branch</a:t>
                      </a:r>
                      <a:endParaRPr kumimoji="0" lang="en-US" altLang="zh-CN" sz="2000" b="0" i="0" u="sng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8017" marB="1801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manager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8017" marB="1801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348649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8017" marB="1801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E444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Frank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E444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8017" marB="1801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8649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8017" marB="1801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David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8017" marB="1801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8649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8017" marB="1801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E444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Frank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E444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8017" marB="1801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4" name="Rectangle 135"/>
          <p:cNvSpPr>
            <a:spLocks noChangeArrowheads="1"/>
          </p:cNvSpPr>
          <p:nvPr/>
        </p:nvSpPr>
        <p:spPr bwMode="auto">
          <a:xfrm>
            <a:off x="7294563" y="3578225"/>
            <a:ext cx="1423987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fontAlgn="auto" hangingPunct="1">
              <a:spcBef>
                <a:spcPct val="3500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Monotype Sorts" pitchFamily="-65" charset="2"/>
              <a:buNone/>
              <a:defRPr/>
            </a:pPr>
            <a:r>
              <a:rPr kumimoji="1" lang="en-US" altLang="zh-CN" sz="2800" b="1" dirty="0">
                <a:latin typeface="Helvetica" panose="020B0604020202020204" pitchFamily="34" charset="0"/>
                <a:ea typeface="宋体" panose="02010600030101010101" pitchFamily="2" charset="-122"/>
              </a:rPr>
              <a:t>Branch</a:t>
            </a:r>
            <a:endParaRPr kumimoji="1" lang="zh-CN" altLang="en-US" sz="2800" b="1" dirty="0"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5" name="AutoShape 66"/>
          <p:cNvSpPr>
            <a:spLocks noChangeArrowheads="1"/>
          </p:cNvSpPr>
          <p:nvPr/>
        </p:nvSpPr>
        <p:spPr bwMode="auto">
          <a:xfrm rot="16200000">
            <a:off x="4023519" y="4864894"/>
            <a:ext cx="381000" cy="671512"/>
          </a:xfrm>
          <a:prstGeom prst="downArrow">
            <a:avLst>
              <a:gd name="adj1" fmla="val 50000"/>
              <a:gd name="adj2" fmla="val 55833"/>
            </a:avLst>
          </a:prstGeom>
          <a:solidFill>
            <a:srgbClr val="00E44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6" name="Group 42"/>
          <p:cNvGraphicFramePr>
            <a:graphicFrameLocks noGrp="1"/>
          </p:cNvGraphicFramePr>
          <p:nvPr/>
        </p:nvGraphicFramePr>
        <p:xfrm>
          <a:off x="628650" y="4090988"/>
          <a:ext cx="3182938" cy="2220912"/>
        </p:xfrm>
        <a:graphic>
          <a:graphicData uri="http://schemas.openxmlformats.org/drawingml/2006/table">
            <a:tbl>
              <a:tblPr/>
              <a:tblGrid>
                <a:gridCol w="970857"/>
                <a:gridCol w="1056883"/>
                <a:gridCol w="1155198"/>
              </a:tblGrid>
              <a:tr h="441037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sng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name</a:t>
                      </a:r>
                      <a:endParaRPr kumimoji="0" lang="en-US" altLang="zh-CN" sz="2000" b="0" i="0" u="sng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branch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manager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35597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Jones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Frank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597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Smith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David 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597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Curry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Frank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597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Larry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David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597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Julia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Frank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4" marB="179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7" name="Rectangle 34"/>
          <p:cNvSpPr>
            <a:spLocks noChangeArrowheads="1"/>
          </p:cNvSpPr>
          <p:nvPr/>
        </p:nvSpPr>
        <p:spPr bwMode="auto">
          <a:xfrm>
            <a:off x="1538288" y="3567113"/>
            <a:ext cx="1363662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fontAlgn="auto" hangingPunct="1">
              <a:spcBef>
                <a:spcPct val="3500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Monotype Sorts" pitchFamily="-65" charset="2"/>
              <a:buNone/>
              <a:defRPr/>
            </a:pPr>
            <a:r>
              <a:rPr kumimoji="1" lang="en-US" altLang="zh-CN" sz="2800" b="1" dirty="0">
                <a:latin typeface="Helvetica" panose="020B0604020202020204" pitchFamily="34" charset="0"/>
                <a:ea typeface="宋体" panose="02010600030101010101" pitchFamily="2" charset="-122"/>
              </a:rPr>
              <a:t>worker</a:t>
            </a:r>
            <a:endParaRPr kumimoji="1" lang="en-US" altLang="zh-CN" sz="2800" b="1" dirty="0"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08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08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086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086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086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086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086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086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8611" grpId="0" bldLvl="2" build="p"/>
      <p:bldP spid="12" grpId="0" autoUpdateAnimBg="0"/>
      <p:bldP spid="14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思考与练习</a:t>
            </a:r>
            <a:endParaRPr lang="zh-CN" altLang="en-US" smtClean="0"/>
          </a:p>
        </p:txBody>
      </p:sp>
      <p:sp>
        <p:nvSpPr>
          <p:cNvPr id="71577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z="2400" dirty="0" smtClean="0"/>
              <a:t>观察以下关系，然后回答问题</a:t>
            </a:r>
            <a:endParaRPr lang="en-US" altLang="zh-CN" sz="2400" dirty="0" smtClean="0"/>
          </a:p>
          <a:p>
            <a:pPr lvl="1" eaLnBrk="1" hangingPunct="1"/>
            <a:r>
              <a:rPr lang="zh-CN" altLang="en-US" sz="2400" dirty="0" smtClean="0"/>
              <a:t>问题</a:t>
            </a:r>
            <a:r>
              <a:rPr lang="en-US" altLang="zh-CN" sz="2400" dirty="0" smtClean="0"/>
              <a:t>1</a:t>
            </a:r>
            <a:r>
              <a:rPr lang="zh-CN" altLang="en-US" sz="2400" dirty="0" smtClean="0"/>
              <a:t>：在这个关系上能找到哪些函数依赖？它们是</a:t>
            </a:r>
            <a:r>
              <a:rPr lang="zh-CN" altLang="en-US" sz="2400" dirty="0" smtClean="0">
                <a:latin typeface="Helvetica" panose="020B0604020202020204" pitchFamily="34" charset="0"/>
              </a:rPr>
              <a:t>“</a:t>
            </a:r>
            <a:r>
              <a:rPr lang="zh-CN" altLang="en-US" sz="2400" dirty="0" smtClean="0"/>
              <a:t>好</a:t>
            </a:r>
            <a:r>
              <a:rPr lang="zh-CN" altLang="en-US" sz="2400" dirty="0" smtClean="0">
                <a:latin typeface="Helvetica" panose="020B0604020202020204" pitchFamily="34" charset="0"/>
              </a:rPr>
              <a:t>”</a:t>
            </a:r>
            <a:r>
              <a:rPr lang="zh-CN" altLang="en-US" sz="2400" dirty="0" smtClean="0"/>
              <a:t>的还是</a:t>
            </a:r>
            <a:r>
              <a:rPr lang="zh-CN" altLang="en-US" sz="2400" dirty="0" smtClean="0">
                <a:latin typeface="Helvetica" panose="020B0604020202020204" pitchFamily="34" charset="0"/>
              </a:rPr>
              <a:t>“</a:t>
            </a:r>
            <a:r>
              <a:rPr lang="zh-CN" altLang="en-US" sz="2400" dirty="0" smtClean="0"/>
              <a:t>坏</a:t>
            </a:r>
            <a:r>
              <a:rPr lang="zh-CN" altLang="en-US" sz="2400" dirty="0" smtClean="0">
                <a:latin typeface="Helvetica" panose="020B0604020202020204" pitchFamily="34" charset="0"/>
              </a:rPr>
              <a:t>”</a:t>
            </a:r>
            <a:r>
              <a:rPr lang="zh-CN" altLang="en-US" sz="2400" dirty="0" smtClean="0"/>
              <a:t>的？</a:t>
            </a:r>
            <a:endParaRPr lang="zh-CN" altLang="en-US" sz="2400" dirty="0" smtClean="0"/>
          </a:p>
          <a:p>
            <a:pPr lvl="1" eaLnBrk="1" hangingPunct="1"/>
            <a:r>
              <a:rPr lang="zh-CN" altLang="en-US" sz="2400" dirty="0" smtClean="0"/>
              <a:t>问题</a:t>
            </a:r>
            <a:r>
              <a:rPr lang="en-US" altLang="zh-CN" sz="2400" dirty="0" smtClean="0"/>
              <a:t>2:  </a:t>
            </a:r>
            <a:r>
              <a:rPr lang="zh-CN" altLang="en-US" sz="2400" dirty="0" smtClean="0"/>
              <a:t>它是一个</a:t>
            </a:r>
            <a:r>
              <a:rPr lang="en-US" altLang="zh-CN" sz="2400" dirty="0" smtClean="0">
                <a:latin typeface="Helvetica" panose="020B0604020202020204" pitchFamily="34" charset="0"/>
              </a:rPr>
              <a:t>“</a:t>
            </a:r>
            <a:r>
              <a:rPr lang="zh-CN" altLang="en-US" sz="2400" dirty="0" smtClean="0"/>
              <a:t>好</a:t>
            </a:r>
            <a:r>
              <a:rPr lang="en-US" altLang="zh-CN" sz="2400" dirty="0" smtClean="0">
                <a:latin typeface="Helvetica" panose="020B0604020202020204" pitchFamily="34" charset="0"/>
              </a:rPr>
              <a:t>”</a:t>
            </a:r>
            <a:r>
              <a:rPr lang="zh-CN" altLang="en-US" sz="2400" dirty="0" smtClean="0"/>
              <a:t>关系么？如果不是，存在哪些问题？</a:t>
            </a:r>
            <a:endParaRPr lang="zh-CN" altLang="en-US" sz="2400" dirty="0" smtClean="0"/>
          </a:p>
        </p:txBody>
      </p:sp>
      <p:graphicFrame>
        <p:nvGraphicFramePr>
          <p:cNvPr id="715901" name="Group 125"/>
          <p:cNvGraphicFramePr>
            <a:graphicFrameLocks noGrp="1"/>
          </p:cNvGraphicFramePr>
          <p:nvPr/>
        </p:nvGraphicFramePr>
        <p:xfrm>
          <a:off x="2455863" y="3997325"/>
          <a:ext cx="4130675" cy="2179638"/>
        </p:xfrm>
        <a:graphic>
          <a:graphicData uri="http://schemas.openxmlformats.org/drawingml/2006/table">
            <a:tbl>
              <a:tblPr/>
              <a:tblGrid>
                <a:gridCol w="974827"/>
                <a:gridCol w="1024185"/>
                <a:gridCol w="1335760"/>
                <a:gridCol w="795903"/>
              </a:tblGrid>
              <a:tr h="397173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sng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学号</a:t>
                      </a:r>
                      <a:endParaRPr kumimoji="0" lang="zh-CN" altLang="en-US" sz="2000" b="0" i="0" u="sng" strike="noStrike" cap="none" normalizeH="0" baseline="0" dirty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5" marB="17985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sng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课程号</a:t>
                      </a:r>
                      <a:endParaRPr kumimoji="0" lang="zh-CN" altLang="en-US" sz="2000" b="0" i="0" u="sng" strike="noStrike" cap="none" normalizeH="0" baseline="0" dirty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5" marB="17985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课程名</a:t>
                      </a:r>
                      <a:endParaRPr kumimoji="0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5" marB="17985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分数</a:t>
                      </a:r>
                      <a:endParaRPr kumimoji="0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5" marB="17985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356493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01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5" marB="17985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E444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E444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5" marB="17985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E444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数据库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E444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5" marB="17985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90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5" marB="17985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6493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01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5" marB="17985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5" marB="17985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</a:t>
                      </a: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语言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5" marB="17985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85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5" marB="17985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6493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02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5" marB="17985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E444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E444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5" marB="17985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E444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数据库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E444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5" marB="17985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70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5" marB="17985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6493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02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5" marB="17985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5" marB="17985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算法分析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5" marB="17985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100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5" marB="17985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6493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03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5" marB="17985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5" marB="17985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</a:t>
                      </a: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语言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5" marB="17985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80</a:t>
                      </a:r>
                      <a:endParaRPr kumimoji="0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17985" marB="17985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15856" name="Rectangle 80"/>
          <p:cNvSpPr>
            <a:spLocks noChangeArrowheads="1"/>
          </p:cNvSpPr>
          <p:nvPr/>
        </p:nvSpPr>
        <p:spPr bwMode="auto">
          <a:xfrm>
            <a:off x="4073525" y="3451225"/>
            <a:ext cx="906463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5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l"/>
              <a:defRPr sz="2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5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auto" hangingPunct="1">
              <a:spcAft>
                <a:spcPts val="0"/>
              </a:spcAft>
              <a:buClr>
                <a:schemeClr val="tx2"/>
              </a:buClr>
              <a:buSzPct val="90000"/>
              <a:buFont typeface="Monotype Sorts" pitchFamily="-65" charset="2"/>
              <a:buNone/>
              <a:defRPr/>
            </a:pPr>
            <a:r>
              <a:rPr kumimoji="1" lang="zh-CN" altLang="en-US" dirty="0" smtClean="0">
                <a:latin typeface="Helvetica" panose="020B0604020202020204" pitchFamily="34" charset="0"/>
              </a:rPr>
              <a:t>选修</a:t>
            </a:r>
            <a:endParaRPr kumimoji="1" lang="zh-CN" altLang="en-US" dirty="0" smtClean="0">
              <a:latin typeface="Helvetica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5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5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715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715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15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15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15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15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5779" grpId="0" bldLvl="2" autoUpdateAnimBg="0" build="p"/>
      <p:bldP spid="715856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数据库设计理论</a:t>
            </a:r>
            <a:endParaRPr lang="zh-CN" altLang="en-US" smtClean="0"/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z="2400" dirty="0" smtClean="0"/>
              <a:t>如何获得</a:t>
            </a:r>
            <a:r>
              <a:rPr lang="zh-CN" altLang="en-US" sz="2400" dirty="0" smtClean="0">
                <a:latin typeface="Helvetica" panose="020B0604020202020204" pitchFamily="34" charset="0"/>
              </a:rPr>
              <a:t>“</a:t>
            </a:r>
            <a:r>
              <a:rPr lang="zh-CN" altLang="en-US" sz="2400" dirty="0" smtClean="0"/>
              <a:t>好</a:t>
            </a:r>
            <a:r>
              <a:rPr lang="zh-CN" altLang="en-US" sz="2400" dirty="0" smtClean="0">
                <a:latin typeface="Helvetica" panose="020B0604020202020204" pitchFamily="34" charset="0"/>
              </a:rPr>
              <a:t>”</a:t>
            </a:r>
            <a:r>
              <a:rPr lang="zh-CN" altLang="en-US" sz="2400" dirty="0" smtClean="0"/>
              <a:t>的数据库设计？</a:t>
            </a:r>
            <a:endParaRPr lang="zh-CN" altLang="en-US" sz="2400" dirty="0" smtClean="0"/>
          </a:p>
          <a:p>
            <a:pPr marL="457200" lvl="1" indent="0" eaLnBrk="1" hangingPunct="1">
              <a:buFont typeface="Arial" panose="020B0604020202020204" pitchFamily="34" charset="0"/>
              <a:buNone/>
            </a:pPr>
            <a:r>
              <a:rPr lang="zh-CN" altLang="en-US" sz="2400" dirty="0" smtClean="0"/>
              <a:t>①  判定其中的一个关系</a:t>
            </a:r>
            <a:r>
              <a:rPr lang="en-US" altLang="zh-CN" sz="2400" dirty="0" smtClean="0"/>
              <a:t>R</a:t>
            </a:r>
            <a:r>
              <a:rPr lang="zh-CN" altLang="en-US" sz="2400" dirty="0" smtClean="0"/>
              <a:t>是否</a:t>
            </a:r>
            <a:r>
              <a:rPr lang="zh-CN" altLang="en-US" sz="2400" dirty="0" smtClean="0">
                <a:latin typeface="Helvetica" panose="020B0604020202020204" pitchFamily="34" charset="0"/>
              </a:rPr>
              <a:t>“</a:t>
            </a:r>
            <a:r>
              <a:rPr lang="zh-CN" altLang="en-US" sz="2400" dirty="0" smtClean="0"/>
              <a:t>好</a:t>
            </a:r>
            <a:r>
              <a:rPr lang="zh-CN" altLang="en-US" sz="2400" dirty="0" smtClean="0">
                <a:latin typeface="Helvetica" panose="020B0604020202020204" pitchFamily="34" charset="0"/>
              </a:rPr>
              <a:t>”</a:t>
            </a:r>
            <a:r>
              <a:rPr lang="zh-CN" altLang="en-US" sz="2400" dirty="0" smtClean="0"/>
              <a:t>的，即有没有</a:t>
            </a:r>
            <a:r>
              <a:rPr lang="zh-CN" altLang="en-US" sz="2400" dirty="0" smtClean="0">
                <a:latin typeface="Helvetica" panose="020B0604020202020204" pitchFamily="34" charset="0"/>
              </a:rPr>
              <a:t>“</a:t>
            </a:r>
            <a:r>
              <a:rPr lang="zh-CN" altLang="en-US" sz="2400" dirty="0" smtClean="0"/>
              <a:t>坏</a:t>
            </a:r>
            <a:r>
              <a:rPr lang="zh-CN" altLang="en-US" sz="2400" dirty="0" smtClean="0">
                <a:latin typeface="Helvetica" panose="020B0604020202020204" pitchFamily="34" charset="0"/>
              </a:rPr>
              <a:t>”</a:t>
            </a:r>
            <a:r>
              <a:rPr lang="zh-CN" altLang="en-US" sz="2400" dirty="0" smtClean="0"/>
              <a:t>数据依赖</a:t>
            </a:r>
            <a:endParaRPr lang="zh-CN" altLang="en-US" sz="2400" dirty="0" smtClean="0"/>
          </a:p>
          <a:p>
            <a:pPr marL="457200" lvl="1" indent="0" eaLnBrk="1" hangingPunct="1">
              <a:buFont typeface="Arial" panose="020B0604020202020204" pitchFamily="34" charset="0"/>
              <a:buNone/>
            </a:pPr>
            <a:r>
              <a:rPr lang="zh-CN" altLang="en-US" sz="2400" dirty="0" smtClean="0"/>
              <a:t>②  如果</a:t>
            </a:r>
            <a:r>
              <a:rPr lang="en-US" altLang="zh-CN" sz="2400" dirty="0" smtClean="0"/>
              <a:t>R</a:t>
            </a:r>
            <a:r>
              <a:rPr lang="zh-CN" altLang="en-US" sz="2400" dirty="0" smtClean="0"/>
              <a:t>不是好的，则要</a:t>
            </a:r>
            <a:r>
              <a:rPr lang="zh-CN" altLang="en-US" sz="2400" u="sng" dirty="0" smtClean="0"/>
              <a:t>正确地分解</a:t>
            </a:r>
            <a:r>
              <a:rPr lang="zh-CN" altLang="en-US" sz="2400" dirty="0" smtClean="0"/>
              <a:t>为几个较小的好关系</a:t>
            </a:r>
            <a:endParaRPr lang="zh-CN" altLang="en-US" sz="2400" dirty="0" smtClean="0"/>
          </a:p>
          <a:p>
            <a:pPr marL="457200" lvl="1" indent="0" eaLnBrk="1" hangingPunct="1">
              <a:buFont typeface="Arial" panose="020B0604020202020204" pitchFamily="34" charset="0"/>
              <a:buNone/>
            </a:pPr>
            <a:r>
              <a:rPr lang="zh-CN" altLang="en-US" sz="2400" dirty="0" smtClean="0"/>
              <a:t>③  重复以上两步，直到全部关系都变成</a:t>
            </a:r>
            <a:r>
              <a:rPr lang="zh-CN" altLang="en-US" sz="2400" dirty="0" smtClean="0">
                <a:latin typeface="Helvetica" panose="020B0604020202020204" pitchFamily="34" charset="0"/>
              </a:rPr>
              <a:t>“</a:t>
            </a:r>
            <a:r>
              <a:rPr lang="zh-CN" altLang="en-US" sz="2400" dirty="0" smtClean="0"/>
              <a:t>好</a:t>
            </a:r>
            <a:r>
              <a:rPr lang="zh-CN" altLang="en-US" sz="2400" dirty="0" smtClean="0">
                <a:latin typeface="Helvetica" panose="020B0604020202020204" pitchFamily="34" charset="0"/>
              </a:rPr>
              <a:t>”</a:t>
            </a:r>
            <a:r>
              <a:rPr lang="zh-CN" altLang="en-US" sz="2400" dirty="0" smtClean="0"/>
              <a:t>的为止</a:t>
            </a:r>
            <a:endParaRPr lang="en-US" altLang="zh-CN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374880" y="2169042"/>
            <a:ext cx="3901320" cy="1479550"/>
          </a:xfrm>
        </p:spPr>
        <p:txBody>
          <a:bodyPr/>
          <a:lstStyle/>
          <a:p>
            <a:pPr>
              <a:buFont typeface="Monotype Sorts" pitchFamily="-65" charset="2"/>
              <a:buNone/>
              <a:defRPr/>
            </a:pPr>
            <a:r>
              <a:rPr lang="en-US" alt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MS PGothic" panose="020B0600070205080204" pitchFamily="34" charset="-128"/>
                <a:cs typeface="+mj-cs"/>
              </a:rPr>
              <a:t>Functional</a:t>
            </a:r>
            <a:endParaRPr lang="en-US" altLang="en-US" sz="3200" b="1" dirty="0"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j-lt"/>
              <a:ea typeface="MS PGothic" panose="020B0600070205080204" pitchFamily="34" charset="-128"/>
              <a:cs typeface="+mj-cs"/>
            </a:endParaRPr>
          </a:p>
          <a:p>
            <a:pPr>
              <a:buFont typeface="Monotype Sorts" pitchFamily="-65" charset="2"/>
              <a:buNone/>
              <a:defRPr/>
            </a:pPr>
            <a:r>
              <a:rPr lang="en-US" alt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MS PGothic" panose="020B0600070205080204" pitchFamily="34" charset="-128"/>
                <a:cs typeface="+mj-cs"/>
              </a:rPr>
              <a:t>Dependencies</a:t>
            </a:r>
            <a:endParaRPr lang="en-US" altLang="en-US" sz="3200" b="1" dirty="0"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j-lt"/>
              <a:ea typeface="MS PGothic" panose="020B0600070205080204" pitchFamily="34" charset="-128"/>
              <a:cs typeface="+mj-cs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98425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Functional Dependencies</a:t>
            </a:r>
            <a:endParaRPr lang="en-US" altLang="en-US" sz="2800" dirty="0">
              <a:effectLst>
                <a:outerShdw blurRad="38100" dist="38100" dir="2700000" algn="tl">
                  <a:srgbClr val="C0C0C0"/>
                </a:outerShdw>
              </a:effectLst>
              <a:ea typeface="MS PGothic" panose="020B0600070205080204" pitchFamily="34" charset="-128"/>
            </a:endParaRP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06424"/>
            <a:ext cx="7461250" cy="3855720"/>
          </a:xfrm>
        </p:spPr>
        <p:txBody>
          <a:bodyPr/>
          <a:lstStyle/>
          <a:p>
            <a:pPr>
              <a:defRPr/>
            </a:pPr>
            <a:r>
              <a:rPr lang="en-US" altLang="en-US" sz="2000" dirty="0">
                <a:ea typeface="MS PGothic" panose="020B0600070205080204" pitchFamily="34" charset="-128"/>
              </a:rPr>
              <a:t>There are usually a variety of constraints (rules) on the data in the real world.</a:t>
            </a:r>
            <a:endParaRPr lang="en-US" altLang="en-US" sz="2000" i="1" dirty="0">
              <a:ea typeface="MS PGothic" panose="020B0600070205080204" pitchFamily="34" charset="-128"/>
            </a:endParaRPr>
          </a:p>
          <a:p>
            <a:pPr>
              <a:defRPr/>
            </a:pPr>
            <a:r>
              <a:rPr lang="en-US" altLang="en-US" sz="2000" dirty="0">
                <a:ea typeface="MS PGothic" panose="020B0600070205080204" pitchFamily="34" charset="-128"/>
              </a:rPr>
              <a:t>For example, some of the constraints that are expected to hold  in a university database are: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lvl="1">
              <a:defRPr/>
            </a:pPr>
            <a:r>
              <a:rPr lang="en-US" altLang="en-US" sz="2000" dirty="0">
                <a:ea typeface="MS PGothic" panose="020B0600070205080204" pitchFamily="34" charset="-128"/>
              </a:rPr>
              <a:t>Students and instructors are uniquely identified by their ID.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lvl="1">
              <a:defRPr/>
            </a:pPr>
            <a:r>
              <a:rPr lang="en-US" altLang="en-US" sz="2000" dirty="0">
                <a:ea typeface="MS PGothic" panose="020B0600070205080204" pitchFamily="34" charset="-128"/>
              </a:rPr>
              <a:t>Each student and instructor has only one name.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lvl="1">
              <a:defRPr/>
            </a:pPr>
            <a:r>
              <a:rPr lang="en-US" altLang="en-US" sz="2000" dirty="0">
                <a:ea typeface="MS PGothic" panose="020B0600070205080204" pitchFamily="34" charset="-128"/>
              </a:rPr>
              <a:t>Each instructor and student is (primarily) associated with only one department.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lvl="1">
              <a:defRPr/>
            </a:pPr>
            <a:r>
              <a:rPr lang="en-US" altLang="en-US" sz="2000" dirty="0">
                <a:ea typeface="MS PGothic" panose="020B0600070205080204" pitchFamily="34" charset="-128"/>
              </a:rPr>
              <a:t>Each department has only one value for its budget, and only one associated building.</a:t>
            </a:r>
            <a:endParaRPr lang="en-US" altLang="en-US" sz="2000" dirty="0">
              <a:ea typeface="MS PGothic" panose="020B0600070205080204" pitchFamily="3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98425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Functional Dependencies (Cont.)</a:t>
            </a:r>
            <a:endParaRPr lang="en-US" altLang="en-US" sz="2800" dirty="0">
              <a:effectLst>
                <a:outerShdw blurRad="38100" dist="38100" dir="2700000" algn="tl">
                  <a:srgbClr val="C0C0C0"/>
                </a:outerShdw>
              </a:effectLst>
              <a:ea typeface="MS PGothic" panose="020B0600070205080204" pitchFamily="34" charset="-128"/>
            </a:endParaRP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42557"/>
            <a:ext cx="7619746" cy="2990531"/>
          </a:xfrm>
        </p:spPr>
        <p:txBody>
          <a:bodyPr/>
          <a:lstStyle/>
          <a:p>
            <a:pPr>
              <a:defRPr/>
            </a:pPr>
            <a:r>
              <a:rPr lang="en-US" altLang="en-US" sz="2000" dirty="0">
                <a:ea typeface="MS PGothic" panose="020B0600070205080204" pitchFamily="34" charset="-128"/>
              </a:rPr>
              <a:t>An instance of a relation that satisfies all such real-world constraints is called a  </a:t>
            </a:r>
            <a:r>
              <a:rPr lang="en-US" altLang="en-US" sz="2000" b="1" dirty="0">
                <a:solidFill>
                  <a:srgbClr val="002060"/>
                </a:solidFill>
                <a:ea typeface="MS PGothic" panose="020B0600070205080204" pitchFamily="34" charset="-128"/>
              </a:rPr>
              <a:t>legal instance </a:t>
            </a:r>
            <a:r>
              <a:rPr lang="en-US" altLang="en-US" sz="2000" dirty="0">
                <a:ea typeface="MS PGothic" panose="020B0600070205080204" pitchFamily="34" charset="-128"/>
              </a:rPr>
              <a:t>of the relation;</a:t>
            </a:r>
            <a:endParaRPr lang="en-US" altLang="en-US" sz="2000" dirty="0"/>
          </a:p>
          <a:p>
            <a:r>
              <a:rPr lang="en-US" altLang="en-US" sz="2000" dirty="0">
                <a:ea typeface="MS PGothic" panose="020B0600070205080204" pitchFamily="34" charset="-128"/>
              </a:rPr>
              <a:t> A legal instance of a database is one where all the relation instances are legal instances</a:t>
            </a:r>
            <a:endParaRPr lang="en-US" altLang="en-US" sz="2000" dirty="0"/>
          </a:p>
          <a:p>
            <a:r>
              <a:rPr lang="en-US" altLang="en-US" sz="2000" dirty="0"/>
              <a:t>Constraints on the set of legal relations.</a:t>
            </a:r>
            <a:endParaRPr lang="en-US" altLang="en-US" sz="2000" dirty="0"/>
          </a:p>
          <a:p>
            <a:r>
              <a:rPr lang="en-US" altLang="en-US" sz="2000" dirty="0"/>
              <a:t>Require that the value for a certain set of attributes determines uniquely the value for another set of attributes.</a:t>
            </a:r>
            <a:endParaRPr lang="en-US" altLang="en-US" sz="2000" dirty="0"/>
          </a:p>
          <a:p>
            <a:r>
              <a:rPr lang="en-US" altLang="en-US" sz="2000" dirty="0"/>
              <a:t>A functional dependency is a generalization of the notion of a </a:t>
            </a:r>
            <a:r>
              <a:rPr lang="en-US" altLang="en-US" sz="2000" i="1" dirty="0"/>
              <a:t>key.</a:t>
            </a:r>
            <a:endParaRPr lang="en-US" alt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Functional Dependencies Definition </a:t>
            </a:r>
            <a:endParaRPr lang="en-US" altLang="en-US" sz="2800" dirty="0">
              <a:effectLst>
                <a:outerShdw blurRad="38100" dist="38100" dir="2700000" algn="tl">
                  <a:srgbClr val="C0C0C0"/>
                </a:outerShdw>
              </a:effectLst>
              <a:ea typeface="MS PGothic" panose="020B0600070205080204" pitchFamily="34" charset="-128"/>
            </a:endParaRP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65320"/>
            <a:ext cx="7839202" cy="5213560"/>
          </a:xfrm>
        </p:spPr>
        <p:txBody>
          <a:bodyPr/>
          <a:lstStyle/>
          <a:p>
            <a:pPr>
              <a:lnSpc>
                <a:spcPct val="90000"/>
              </a:lnSpc>
              <a:tabLst>
                <a:tab pos="2917825" algn="ctr"/>
              </a:tabLst>
            </a:pPr>
            <a:r>
              <a:rPr lang="en-US" altLang="en-US" sz="1700" dirty="0"/>
              <a:t>Let </a:t>
            </a:r>
            <a:r>
              <a:rPr lang="en-US" altLang="en-US" sz="1700" i="1" dirty="0"/>
              <a:t>R</a:t>
            </a:r>
            <a:r>
              <a:rPr lang="en-US" altLang="en-US" sz="1700" dirty="0"/>
              <a:t> be a relation schema</a:t>
            </a:r>
            <a:endParaRPr lang="en-US" altLang="en-US" sz="1700" dirty="0"/>
          </a:p>
          <a:p>
            <a:pPr>
              <a:lnSpc>
                <a:spcPct val="90000"/>
              </a:lnSpc>
              <a:buFont typeface="Monotype Sorts" pitchFamily="-65" charset="2"/>
              <a:buNone/>
              <a:tabLst>
                <a:tab pos="2917825" algn="ctr"/>
              </a:tabLst>
            </a:pPr>
            <a:r>
              <a:rPr lang="en-US" altLang="en-US" sz="1700" dirty="0"/>
              <a:t>		</a:t>
            </a:r>
            <a:r>
              <a:rPr lang="en-US" altLang="en-US" sz="1700" dirty="0">
                <a:sym typeface="Symbol" panose="05050102010706020507" pitchFamily="18" charset="2"/>
              </a:rPr>
              <a:t>  </a:t>
            </a:r>
            <a:r>
              <a:rPr lang="en-US" altLang="en-US" sz="1700" i="1" dirty="0">
                <a:sym typeface="Symbol" panose="05050102010706020507" pitchFamily="18" charset="2"/>
              </a:rPr>
              <a:t>R  and   </a:t>
            </a:r>
            <a:r>
              <a:rPr lang="en-US" altLang="en-US" sz="1700" dirty="0">
                <a:sym typeface="Symbol" panose="05050102010706020507" pitchFamily="18" charset="2"/>
              </a:rPr>
              <a:t> </a:t>
            </a:r>
            <a:r>
              <a:rPr lang="en-US" altLang="en-US" sz="1700" i="1" dirty="0">
                <a:sym typeface="Symbol" panose="05050102010706020507" pitchFamily="18" charset="2"/>
              </a:rPr>
              <a:t>R</a:t>
            </a:r>
            <a:endParaRPr lang="en-US" altLang="en-US" sz="1700" i="1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tabLst>
                <a:tab pos="2917825" algn="ctr"/>
              </a:tabLst>
            </a:pPr>
            <a:r>
              <a:rPr lang="en-US" altLang="en-US" sz="1700" dirty="0">
                <a:sym typeface="Symbol" panose="05050102010706020507" pitchFamily="18" charset="2"/>
              </a:rPr>
              <a:t>The </a:t>
            </a:r>
            <a:r>
              <a:rPr lang="en-US" altLang="en-US" sz="1700" b="1" dirty="0">
                <a:solidFill>
                  <a:srgbClr val="002060"/>
                </a:solidFill>
                <a:sym typeface="Symbol" panose="05050102010706020507" pitchFamily="18" charset="2"/>
              </a:rPr>
              <a:t>functional dependency</a:t>
            </a:r>
            <a:endParaRPr lang="en-US" altLang="en-US" sz="1700" b="1" dirty="0">
              <a:solidFill>
                <a:srgbClr val="002060"/>
              </a:solidFill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buFont typeface="Monotype Sorts" pitchFamily="-65" charset="2"/>
              <a:buNone/>
              <a:tabLst>
                <a:tab pos="2917825" algn="ctr"/>
              </a:tabLst>
            </a:pPr>
            <a:r>
              <a:rPr lang="en-US" altLang="en-US" sz="1700" i="1" dirty="0">
                <a:solidFill>
                  <a:srgbClr val="002060"/>
                </a:solidFill>
                <a:sym typeface="Symbol" panose="05050102010706020507" pitchFamily="18" charset="2"/>
              </a:rPr>
              <a:t>		 </a:t>
            </a:r>
            <a:r>
              <a:rPr lang="en-US" altLang="en-US" sz="1700" b="1" dirty="0">
                <a:solidFill>
                  <a:srgbClr val="002060"/>
                </a:solidFill>
                <a:sym typeface="Symbol" panose="05050102010706020507" pitchFamily="18" charset="2"/>
              </a:rPr>
              <a:t> </a:t>
            </a:r>
            <a:r>
              <a:rPr lang="en-US" altLang="en-US" sz="1700" b="1" dirty="0">
                <a:solidFill>
                  <a:srgbClr val="002060"/>
                </a:solidFill>
                <a:sym typeface="Monotype Sorts" pitchFamily="-65" charset="2"/>
              </a:rPr>
              <a:t> </a:t>
            </a:r>
            <a:r>
              <a:rPr lang="en-US" altLang="en-US" sz="1700" b="1" i="1" dirty="0">
                <a:solidFill>
                  <a:srgbClr val="002060"/>
                </a:solidFill>
                <a:sym typeface="Symbol" panose="05050102010706020507" pitchFamily="18" charset="2"/>
              </a:rPr>
              <a:t></a:t>
            </a:r>
            <a:endParaRPr lang="en-US" altLang="en-US" sz="900" b="1" i="1" dirty="0">
              <a:solidFill>
                <a:srgbClr val="002060"/>
              </a:solidFill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buFont typeface="Monotype Sorts" pitchFamily="-65" charset="2"/>
              <a:buNone/>
              <a:tabLst>
                <a:tab pos="2917825" algn="ctr"/>
              </a:tabLst>
            </a:pPr>
            <a:br>
              <a:rPr lang="en-US" altLang="en-US" sz="900" b="1" i="1" dirty="0">
                <a:solidFill>
                  <a:srgbClr val="000099"/>
                </a:solidFill>
                <a:sym typeface="Symbol" panose="05050102010706020507" pitchFamily="18" charset="2"/>
              </a:rPr>
            </a:br>
            <a:r>
              <a:rPr lang="en-US" altLang="en-US" sz="1700" b="1" dirty="0">
                <a:solidFill>
                  <a:srgbClr val="002060"/>
                </a:solidFill>
                <a:sym typeface="Symbol" panose="05050102010706020507" pitchFamily="18" charset="2"/>
              </a:rPr>
              <a:t>holds on</a:t>
            </a:r>
            <a:r>
              <a:rPr lang="en-US" altLang="en-US" sz="1700" dirty="0">
                <a:solidFill>
                  <a:srgbClr val="002060"/>
                </a:solidFill>
                <a:sym typeface="Symbol" panose="05050102010706020507" pitchFamily="18" charset="2"/>
              </a:rPr>
              <a:t> </a:t>
            </a:r>
            <a:r>
              <a:rPr lang="en-US" altLang="en-US" sz="1700" i="1" dirty="0">
                <a:sym typeface="Symbol" panose="05050102010706020507" pitchFamily="18" charset="2"/>
              </a:rPr>
              <a:t>R</a:t>
            </a:r>
            <a:r>
              <a:rPr lang="en-US" altLang="en-US" sz="1700" dirty="0">
                <a:sym typeface="Symbol" panose="05050102010706020507" pitchFamily="18" charset="2"/>
              </a:rPr>
              <a:t> if and only if for any legal relations </a:t>
            </a:r>
            <a:r>
              <a:rPr lang="en-US" altLang="en-US" sz="1700" i="1" dirty="0">
                <a:sym typeface="Symbol" panose="05050102010706020507" pitchFamily="18" charset="2"/>
              </a:rPr>
              <a:t>r</a:t>
            </a:r>
            <a:r>
              <a:rPr lang="en-US" altLang="en-US" sz="1700" dirty="0">
                <a:sym typeface="Symbol" panose="05050102010706020507" pitchFamily="18" charset="2"/>
              </a:rPr>
              <a:t>(R), whenever any two tuples </a:t>
            </a:r>
            <a:r>
              <a:rPr lang="en-US" altLang="en-US" sz="1700" i="1" dirty="0">
                <a:sym typeface="Symbol" panose="05050102010706020507" pitchFamily="18" charset="2"/>
              </a:rPr>
              <a:t>t</a:t>
            </a:r>
            <a:r>
              <a:rPr lang="en-US" altLang="en-US" sz="1700" baseline="-25000" dirty="0">
                <a:sym typeface="Symbol" panose="05050102010706020507" pitchFamily="18" charset="2"/>
              </a:rPr>
              <a:t>1</a:t>
            </a:r>
            <a:r>
              <a:rPr lang="en-US" altLang="en-US" sz="1700" i="1" dirty="0">
                <a:sym typeface="Symbol" panose="05050102010706020507" pitchFamily="18" charset="2"/>
              </a:rPr>
              <a:t> </a:t>
            </a:r>
            <a:r>
              <a:rPr lang="en-US" altLang="en-US" sz="1700" dirty="0">
                <a:sym typeface="Symbol" panose="05050102010706020507" pitchFamily="18" charset="2"/>
              </a:rPr>
              <a:t>and </a:t>
            </a:r>
            <a:r>
              <a:rPr lang="en-US" altLang="en-US" sz="1700" i="1" dirty="0">
                <a:sym typeface="Symbol" panose="05050102010706020507" pitchFamily="18" charset="2"/>
              </a:rPr>
              <a:t>t</a:t>
            </a:r>
            <a:r>
              <a:rPr lang="en-US" altLang="en-US" sz="1700" baseline="-25000" dirty="0">
                <a:sym typeface="Symbol" panose="05050102010706020507" pitchFamily="18" charset="2"/>
              </a:rPr>
              <a:t>2</a:t>
            </a:r>
            <a:r>
              <a:rPr lang="en-US" altLang="en-US" sz="1700" dirty="0">
                <a:sym typeface="Symbol" panose="05050102010706020507" pitchFamily="18" charset="2"/>
              </a:rPr>
              <a:t> of </a:t>
            </a:r>
            <a:r>
              <a:rPr lang="en-US" altLang="en-US" sz="1700" i="1" dirty="0">
                <a:sym typeface="Symbol" panose="05050102010706020507" pitchFamily="18" charset="2"/>
              </a:rPr>
              <a:t>r</a:t>
            </a:r>
            <a:r>
              <a:rPr lang="en-US" altLang="en-US" sz="1700" dirty="0">
                <a:sym typeface="Symbol" panose="05050102010706020507" pitchFamily="18" charset="2"/>
              </a:rPr>
              <a:t> agree on the attributes , they also agree on the attributes </a:t>
            </a:r>
            <a:r>
              <a:rPr lang="en-US" altLang="en-US" sz="1700" i="1" dirty="0">
                <a:sym typeface="Symbol" panose="05050102010706020507" pitchFamily="18" charset="2"/>
              </a:rPr>
              <a:t>. </a:t>
            </a:r>
            <a:r>
              <a:rPr lang="en-US" altLang="en-US" sz="1700" dirty="0">
                <a:sym typeface="Symbol" panose="05050102010706020507" pitchFamily="18" charset="2"/>
              </a:rPr>
              <a:t> That is, </a:t>
            </a:r>
            <a:endParaRPr lang="en-US" altLang="en-US" sz="900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buFont typeface="Monotype Sorts" pitchFamily="-65" charset="2"/>
              <a:buNone/>
              <a:tabLst>
                <a:tab pos="2917825" algn="ctr"/>
              </a:tabLst>
            </a:pPr>
            <a:endParaRPr lang="en-US" altLang="en-US" sz="900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buFont typeface="Monotype Sorts" pitchFamily="-65" charset="2"/>
              <a:buNone/>
              <a:tabLst>
                <a:tab pos="2917825" algn="ctr"/>
              </a:tabLst>
            </a:pPr>
            <a:r>
              <a:rPr lang="en-US" altLang="en-US" sz="1700" i="1" dirty="0">
                <a:sym typeface="Symbol" panose="05050102010706020507" pitchFamily="18" charset="2"/>
              </a:rPr>
              <a:t>		 t</a:t>
            </a:r>
            <a:r>
              <a:rPr lang="en-US" altLang="en-US" sz="1700" baseline="-25000" dirty="0">
                <a:sym typeface="Symbol" panose="05050102010706020507" pitchFamily="18" charset="2"/>
              </a:rPr>
              <a:t>1</a:t>
            </a:r>
            <a:r>
              <a:rPr lang="en-US" altLang="en-US" sz="1700" dirty="0">
                <a:sym typeface="Symbol" panose="05050102010706020507" pitchFamily="18" charset="2"/>
              </a:rPr>
              <a:t>[] = </a:t>
            </a:r>
            <a:r>
              <a:rPr lang="en-US" altLang="en-US" sz="1700" i="1" dirty="0">
                <a:sym typeface="Symbol" panose="05050102010706020507" pitchFamily="18" charset="2"/>
              </a:rPr>
              <a:t>t</a:t>
            </a:r>
            <a:r>
              <a:rPr lang="en-US" altLang="en-US" sz="1700" baseline="-25000" dirty="0">
                <a:sym typeface="Symbol" panose="05050102010706020507" pitchFamily="18" charset="2"/>
              </a:rPr>
              <a:t>2 </a:t>
            </a:r>
            <a:r>
              <a:rPr lang="en-US" altLang="en-US" sz="1700" dirty="0">
                <a:sym typeface="Symbol" panose="05050102010706020507" pitchFamily="18" charset="2"/>
              </a:rPr>
              <a:t>[]      </a:t>
            </a:r>
            <a:r>
              <a:rPr lang="en-US" altLang="en-US" sz="1700" i="1" dirty="0">
                <a:sym typeface="Symbol" panose="05050102010706020507" pitchFamily="18" charset="2"/>
              </a:rPr>
              <a:t>t</a:t>
            </a:r>
            <a:r>
              <a:rPr lang="en-US" altLang="en-US" sz="1700" baseline="-25000" dirty="0">
                <a:sym typeface="Symbol" panose="05050102010706020507" pitchFamily="18" charset="2"/>
              </a:rPr>
              <a:t>1</a:t>
            </a:r>
            <a:r>
              <a:rPr lang="en-US" altLang="en-US" sz="1700" dirty="0">
                <a:sym typeface="Symbol" panose="05050102010706020507" pitchFamily="18" charset="2"/>
              </a:rPr>
              <a:t>[</a:t>
            </a:r>
            <a:r>
              <a:rPr lang="en-US" altLang="en-US" sz="1700" i="1" dirty="0">
                <a:sym typeface="Symbol" panose="05050102010706020507" pitchFamily="18" charset="2"/>
              </a:rPr>
              <a:t> </a:t>
            </a:r>
            <a:r>
              <a:rPr lang="en-US" altLang="en-US" sz="1700" dirty="0">
                <a:sym typeface="Symbol" panose="05050102010706020507" pitchFamily="18" charset="2"/>
              </a:rPr>
              <a:t>]  = </a:t>
            </a:r>
            <a:r>
              <a:rPr lang="en-US" altLang="en-US" sz="1700" i="1" dirty="0">
                <a:sym typeface="Symbol" panose="05050102010706020507" pitchFamily="18" charset="2"/>
              </a:rPr>
              <a:t>t</a:t>
            </a:r>
            <a:r>
              <a:rPr lang="en-US" altLang="en-US" sz="1700" baseline="-25000" dirty="0">
                <a:sym typeface="Symbol" panose="05050102010706020507" pitchFamily="18" charset="2"/>
              </a:rPr>
              <a:t>2 </a:t>
            </a:r>
            <a:r>
              <a:rPr lang="en-US" altLang="en-US" sz="1700" dirty="0">
                <a:sym typeface="Symbol" panose="05050102010706020507" pitchFamily="18" charset="2"/>
              </a:rPr>
              <a:t>[</a:t>
            </a:r>
            <a:r>
              <a:rPr lang="en-US" altLang="en-US" sz="1700" i="1" dirty="0">
                <a:sym typeface="Symbol" panose="05050102010706020507" pitchFamily="18" charset="2"/>
              </a:rPr>
              <a:t> </a:t>
            </a:r>
            <a:r>
              <a:rPr lang="en-US" altLang="en-US" sz="1700" dirty="0">
                <a:sym typeface="Symbol" panose="05050102010706020507" pitchFamily="18" charset="2"/>
              </a:rPr>
              <a:t>] </a:t>
            </a:r>
            <a:endParaRPr lang="en-US" altLang="en-US" sz="900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buFont typeface="Monotype Sorts" pitchFamily="-65" charset="2"/>
              <a:buNone/>
              <a:tabLst>
                <a:tab pos="2917825" algn="ctr"/>
              </a:tabLst>
            </a:pPr>
            <a:endParaRPr lang="en-US" altLang="en-US" sz="900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tabLst>
                <a:tab pos="2917825" algn="ctr"/>
              </a:tabLst>
            </a:pPr>
            <a:r>
              <a:rPr lang="en-US" altLang="en-US" sz="1700" dirty="0"/>
              <a:t>Example:  Consider </a:t>
            </a:r>
            <a:r>
              <a:rPr lang="en-US" altLang="en-US" sz="1700" i="1" dirty="0"/>
              <a:t>r</a:t>
            </a:r>
            <a:r>
              <a:rPr lang="en-US" altLang="en-US" sz="1700" dirty="0"/>
              <a:t>(A</a:t>
            </a:r>
            <a:r>
              <a:rPr lang="en-US" altLang="en-US" sz="1700" i="1" dirty="0"/>
              <a:t>,B </a:t>
            </a:r>
            <a:r>
              <a:rPr lang="en-US" altLang="en-US" sz="1700" dirty="0"/>
              <a:t>) with the following instance of </a:t>
            </a:r>
            <a:r>
              <a:rPr lang="en-US" altLang="en-US" sz="1700" i="1" dirty="0"/>
              <a:t>r.</a:t>
            </a:r>
            <a:endParaRPr lang="en-US" altLang="en-US" sz="1700" dirty="0"/>
          </a:p>
          <a:p>
            <a:pPr>
              <a:lnSpc>
                <a:spcPct val="90000"/>
              </a:lnSpc>
              <a:tabLst>
                <a:tab pos="2917825" algn="ctr"/>
              </a:tabLst>
            </a:pPr>
            <a:endParaRPr lang="en-US" altLang="en-US" sz="1700" dirty="0"/>
          </a:p>
          <a:p>
            <a:pPr>
              <a:lnSpc>
                <a:spcPct val="90000"/>
              </a:lnSpc>
              <a:tabLst>
                <a:tab pos="2917825" algn="ctr"/>
              </a:tabLst>
            </a:pPr>
            <a:endParaRPr lang="en-US" altLang="en-US" sz="1700" dirty="0"/>
          </a:p>
          <a:p>
            <a:pPr>
              <a:lnSpc>
                <a:spcPct val="90000"/>
              </a:lnSpc>
              <a:buFont typeface="Monotype Sorts" pitchFamily="-65" charset="2"/>
              <a:buNone/>
              <a:tabLst>
                <a:tab pos="2917825" algn="ctr"/>
              </a:tabLst>
            </a:pPr>
            <a:endParaRPr lang="en-US" altLang="en-US" sz="1700" dirty="0"/>
          </a:p>
          <a:p>
            <a:pPr>
              <a:lnSpc>
                <a:spcPct val="90000"/>
              </a:lnSpc>
              <a:buFont typeface="Monotype Sorts" pitchFamily="-65" charset="2"/>
              <a:buNone/>
              <a:tabLst>
                <a:tab pos="2917825" algn="ctr"/>
              </a:tabLst>
            </a:pPr>
            <a:endParaRPr lang="en-US" altLang="en-US" sz="1700" dirty="0"/>
          </a:p>
          <a:p>
            <a:pPr>
              <a:lnSpc>
                <a:spcPct val="90000"/>
              </a:lnSpc>
              <a:tabLst>
                <a:tab pos="2917825" algn="ctr"/>
              </a:tabLst>
            </a:pPr>
            <a:r>
              <a:rPr lang="en-US" altLang="en-US" sz="1700" dirty="0"/>
              <a:t>On this instance, </a:t>
            </a:r>
            <a:r>
              <a:rPr lang="en-US" altLang="en-US" sz="1700" i="1" dirty="0"/>
              <a:t>B</a:t>
            </a:r>
            <a:r>
              <a:rPr lang="en-US" altLang="en-US" sz="1700" dirty="0"/>
              <a:t> </a:t>
            </a:r>
            <a:r>
              <a:rPr lang="en-US" altLang="en-US" sz="1700" dirty="0">
                <a:sym typeface="Symbol" panose="05050102010706020507" pitchFamily="18" charset="2"/>
              </a:rPr>
              <a:t></a:t>
            </a:r>
            <a:r>
              <a:rPr lang="en-US" altLang="en-US" sz="1700" dirty="0"/>
              <a:t> </a:t>
            </a:r>
            <a:r>
              <a:rPr lang="en-US" altLang="en-US" sz="1700" i="1" dirty="0"/>
              <a:t>A</a:t>
            </a:r>
            <a:r>
              <a:rPr lang="en-US" altLang="en-US" sz="1700" dirty="0"/>
              <a:t> hold;  </a:t>
            </a:r>
            <a:r>
              <a:rPr lang="en-US" altLang="en-US" sz="1700" i="1" dirty="0"/>
              <a:t>A</a:t>
            </a:r>
            <a:r>
              <a:rPr lang="en-US" altLang="en-US" sz="1700" dirty="0"/>
              <a:t> </a:t>
            </a:r>
            <a:r>
              <a:rPr lang="en-US" altLang="en-US" sz="1700" dirty="0">
                <a:sym typeface="Symbol" panose="05050102010706020507" pitchFamily="18" charset="2"/>
              </a:rPr>
              <a:t></a:t>
            </a:r>
            <a:r>
              <a:rPr lang="en-US" altLang="en-US" sz="1700" dirty="0">
                <a:sym typeface="Monotype Sorts" pitchFamily="-65" charset="2"/>
              </a:rPr>
              <a:t> </a:t>
            </a:r>
            <a:r>
              <a:rPr lang="en-US" altLang="en-US" sz="1700" i="1" dirty="0"/>
              <a:t>B</a:t>
            </a:r>
            <a:r>
              <a:rPr lang="en-US" altLang="en-US" sz="1700" dirty="0"/>
              <a:t> does </a:t>
            </a:r>
            <a:r>
              <a:rPr lang="en-US" altLang="en-US" sz="1700" b="1" dirty="0"/>
              <a:t>NOT</a:t>
            </a:r>
            <a:r>
              <a:rPr lang="en-US" altLang="en-US" sz="1700" dirty="0"/>
              <a:t> hold, </a:t>
            </a:r>
            <a:endParaRPr lang="en-US" altLang="en-US" sz="1700" dirty="0"/>
          </a:p>
          <a:p>
            <a:pPr>
              <a:lnSpc>
                <a:spcPct val="90000"/>
              </a:lnSpc>
              <a:tabLst>
                <a:tab pos="2917825" algn="ctr"/>
              </a:tabLst>
            </a:pPr>
            <a:endParaRPr lang="en-US" altLang="en-US" i="1" dirty="0">
              <a:sym typeface="Symbol" panose="05050102010706020507" pitchFamily="18" charset="2"/>
            </a:endParaRPr>
          </a:p>
        </p:txBody>
      </p:sp>
      <p:sp>
        <p:nvSpPr>
          <p:cNvPr id="17412" name="Text Box 4"/>
          <p:cNvSpPr txBox="1">
            <a:spLocks noChangeArrowheads="1"/>
          </p:cNvSpPr>
          <p:nvPr/>
        </p:nvSpPr>
        <p:spPr bwMode="auto">
          <a:xfrm>
            <a:off x="3789363" y="4424234"/>
            <a:ext cx="998537" cy="9223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457200" indent="-4572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buFontTx/>
              <a:buAutoNum type="arabicPlain"/>
            </a:pPr>
            <a:r>
              <a:rPr lang="en-US" altLang="en-US" sz="1800" dirty="0"/>
              <a:t>4</a:t>
            </a:r>
            <a:endParaRPr lang="en-US" altLang="en-US" sz="1800" dirty="0"/>
          </a:p>
          <a:p>
            <a:r>
              <a:rPr lang="en-US" altLang="en-US" sz="1800" dirty="0"/>
              <a:t>1     5</a:t>
            </a:r>
            <a:endParaRPr lang="en-US" altLang="en-US" sz="1800" dirty="0"/>
          </a:p>
          <a:p>
            <a:r>
              <a:rPr lang="en-US" altLang="en-US" sz="1800" dirty="0"/>
              <a:t>3     7</a:t>
            </a:r>
            <a:endParaRPr lang="en-US" alt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 smtClean="0"/>
              <a:t>补充：函数依赖</a:t>
            </a:r>
            <a:endParaRPr lang="zh-CN" altLang="en-US" dirty="0" smtClean="0"/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z="2400" dirty="0" smtClean="0"/>
              <a:t>定义</a:t>
            </a:r>
            <a:endParaRPr lang="zh-CN" altLang="en-US" sz="2400" dirty="0" smtClean="0"/>
          </a:p>
          <a:p>
            <a:pPr lvl="1" eaLnBrk="1" hangingPunct="1"/>
            <a:endParaRPr lang="en-US" altLang="zh-CN" sz="2400" dirty="0" smtClean="0"/>
          </a:p>
          <a:p>
            <a:pPr lvl="1" eaLnBrk="1" hangingPunct="1"/>
            <a:r>
              <a:rPr lang="en-US" altLang="zh-CN" sz="2400" dirty="0" smtClean="0"/>
              <a:t>R:      </a:t>
            </a:r>
            <a:r>
              <a:rPr lang="zh-CN" altLang="en-US" sz="2400" dirty="0" smtClean="0"/>
              <a:t>一个关系</a:t>
            </a:r>
            <a:br>
              <a:rPr lang="zh-CN" altLang="en-US" sz="2400" dirty="0" smtClean="0"/>
            </a:br>
            <a:endParaRPr lang="zh-CN" altLang="en-US" sz="2400" dirty="0" smtClean="0"/>
          </a:p>
          <a:p>
            <a:pPr lvl="1" eaLnBrk="1" hangingPunct="1"/>
            <a:r>
              <a:rPr lang="en-US" altLang="zh-CN" sz="2400" dirty="0" smtClean="0"/>
              <a:t>U:      </a:t>
            </a:r>
            <a:r>
              <a:rPr lang="zh-CN" altLang="en-US" sz="2400" dirty="0" smtClean="0"/>
              <a:t>关系</a:t>
            </a:r>
            <a:r>
              <a:rPr lang="en-US" altLang="zh-CN" sz="2400" dirty="0" smtClean="0"/>
              <a:t>R</a:t>
            </a:r>
            <a:r>
              <a:rPr lang="zh-CN" altLang="en-US" sz="2400" dirty="0" smtClean="0"/>
              <a:t>中的所有属性</a:t>
            </a:r>
            <a:br>
              <a:rPr lang="zh-CN" altLang="en-US" sz="2400" dirty="0" smtClean="0"/>
            </a:br>
            <a:endParaRPr lang="zh-CN" altLang="en-US" sz="2400" dirty="0" smtClean="0"/>
          </a:p>
          <a:p>
            <a:pPr lvl="1" eaLnBrk="1" hangingPunct="1"/>
            <a:r>
              <a:rPr lang="zh-CN" altLang="en-US" sz="2400" dirty="0" smtClean="0">
                <a:sym typeface="Symbol" panose="05050102010706020507" pitchFamily="18" charset="2"/>
              </a:rPr>
              <a:t></a:t>
            </a:r>
            <a:r>
              <a:rPr lang="en-US" altLang="zh-CN" sz="2400" dirty="0" smtClean="0">
                <a:sym typeface="Symbol" panose="05050102010706020507" pitchFamily="18" charset="2"/>
              </a:rPr>
              <a:t>,  : R</a:t>
            </a:r>
            <a:r>
              <a:rPr lang="zh-CN" altLang="en-US" sz="2400" dirty="0" smtClean="0">
                <a:sym typeface="Symbol" panose="05050102010706020507" pitchFamily="18" charset="2"/>
              </a:rPr>
              <a:t>中一或多个属性的集合</a:t>
            </a:r>
            <a:endParaRPr lang="zh-CN" altLang="en-US" sz="2400" dirty="0" smtClean="0"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函数依赖</a:t>
            </a:r>
            <a:endParaRPr lang="zh-CN" altLang="en-US" smtClean="0"/>
          </a:p>
        </p:txBody>
      </p:sp>
      <p:sp>
        <p:nvSpPr>
          <p:cNvPr id="6686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lvl="1" eaLnBrk="1" hangingPunct="1"/>
            <a:r>
              <a:rPr lang="zh-CN" altLang="en-US" sz="2400" dirty="0" smtClean="0">
                <a:sym typeface="Symbol" panose="05050102010706020507" pitchFamily="18" charset="2"/>
              </a:rPr>
              <a:t>我们说关系</a:t>
            </a:r>
            <a:r>
              <a:rPr lang="en-US" altLang="zh-CN" sz="2400" dirty="0" smtClean="0">
                <a:sym typeface="Symbol" panose="05050102010706020507" pitchFamily="18" charset="2"/>
              </a:rPr>
              <a:t>R</a:t>
            </a:r>
            <a:r>
              <a:rPr lang="zh-CN" altLang="en-US" sz="2400" dirty="0" smtClean="0">
                <a:sym typeface="Symbol" panose="05050102010706020507" pitchFamily="18" charset="2"/>
              </a:rPr>
              <a:t>上存在以下函数依赖</a:t>
            </a:r>
            <a:br>
              <a:rPr lang="zh-CN" altLang="en-US" sz="2400" dirty="0" smtClean="0">
                <a:sym typeface="Symbol" panose="05050102010706020507" pitchFamily="18" charset="2"/>
              </a:rPr>
            </a:br>
            <a:endParaRPr lang="zh-CN" altLang="en-US" sz="2400" dirty="0" smtClean="0">
              <a:sym typeface="Symbol" panose="05050102010706020507" pitchFamily="18" charset="2"/>
            </a:endParaRPr>
          </a:p>
          <a:p>
            <a:pPr lvl="1" algn="ctr" eaLnBrk="1" hangingPunct="1">
              <a:buFont typeface="Wingdings" panose="05000000000000000000" pitchFamily="2" charset="2"/>
              <a:buNone/>
            </a:pPr>
            <a:r>
              <a:rPr lang="en-US" altLang="zh-CN" sz="2400" i="1" dirty="0" smtClean="0">
                <a:sym typeface="Symbol" panose="05050102010706020507" pitchFamily="18" charset="2"/>
              </a:rPr>
              <a:t>		 </a:t>
            </a:r>
            <a:r>
              <a:rPr lang="zh-CN" altLang="en-US" sz="2400" dirty="0" smtClean="0">
                <a:solidFill>
                  <a:srgbClr val="00E444"/>
                </a:solidFill>
                <a:sym typeface="Symbol" panose="05050102010706020507" pitchFamily="18" charset="2"/>
              </a:rPr>
              <a:t></a:t>
            </a:r>
            <a:r>
              <a:rPr lang="en-US" altLang="zh-CN" sz="2400" dirty="0" smtClean="0">
                <a:solidFill>
                  <a:srgbClr val="00E444"/>
                </a:solidFill>
                <a:sym typeface="Symbol" panose="05050102010706020507" pitchFamily="18" charset="2"/>
              </a:rPr>
              <a:t> </a:t>
            </a:r>
            <a:r>
              <a:rPr lang="en-US" altLang="zh-CN" sz="2400" dirty="0" smtClean="0">
                <a:solidFill>
                  <a:srgbClr val="00E444"/>
                </a:solidFill>
                <a:sym typeface="Monotype Sorts" pitchFamily="-65" charset="2"/>
              </a:rPr>
              <a:t> </a:t>
            </a:r>
            <a:r>
              <a:rPr lang="en-US" altLang="zh-CN" sz="2400" i="1" dirty="0" smtClean="0">
                <a:solidFill>
                  <a:srgbClr val="00E444"/>
                </a:solidFill>
                <a:sym typeface="Symbol" panose="05050102010706020507" pitchFamily="18" charset="2"/>
              </a:rPr>
              <a:t></a:t>
            </a:r>
            <a:r>
              <a:rPr lang="en-US" altLang="zh-CN" sz="2400" i="1" dirty="0" smtClean="0">
                <a:sym typeface="Symbol" panose="05050102010706020507" pitchFamily="18" charset="2"/>
              </a:rPr>
              <a:t>  </a:t>
            </a:r>
            <a:r>
              <a:rPr lang="en-US" altLang="zh-CN" sz="2400" dirty="0" smtClean="0">
                <a:sym typeface="Symbol" panose="05050102010706020507" pitchFamily="18" charset="2"/>
              </a:rPr>
              <a:t>(</a:t>
            </a:r>
            <a:r>
              <a:rPr lang="zh-CN" altLang="en-US" sz="2400" dirty="0" smtClean="0">
                <a:sym typeface="Symbol" panose="05050102010706020507" pitchFamily="18" charset="2"/>
              </a:rPr>
              <a:t>读作：蕴涵</a:t>
            </a:r>
            <a:r>
              <a:rPr lang="en-US" altLang="zh-CN" sz="2400" dirty="0" smtClean="0">
                <a:sym typeface="Symbol" panose="05050102010706020507" pitchFamily="18" charset="2"/>
              </a:rPr>
              <a:t> </a:t>
            </a:r>
            <a:r>
              <a:rPr lang="zh-CN" altLang="en-US" sz="2400" dirty="0" smtClean="0">
                <a:sym typeface="Symbol" panose="05050102010706020507" pitchFamily="18" charset="2"/>
              </a:rPr>
              <a:t>，或</a:t>
            </a:r>
            <a:r>
              <a:rPr lang="en-US" altLang="zh-CN" sz="2400" dirty="0" smtClean="0">
                <a:sym typeface="Symbol" panose="05050102010706020507" pitchFamily="18" charset="2"/>
              </a:rPr>
              <a:t></a:t>
            </a:r>
            <a:r>
              <a:rPr lang="zh-CN" altLang="en-US" sz="2400" dirty="0" smtClean="0">
                <a:sym typeface="Symbol" panose="05050102010706020507" pitchFamily="18" charset="2"/>
              </a:rPr>
              <a:t>依赖</a:t>
            </a:r>
            <a:r>
              <a:rPr lang="en-US" altLang="zh-CN" sz="2400" dirty="0" smtClean="0">
                <a:sym typeface="Symbol" panose="05050102010706020507" pitchFamily="18" charset="2"/>
              </a:rPr>
              <a:t>)</a:t>
            </a:r>
            <a:br>
              <a:rPr lang="en-US" altLang="zh-CN" sz="2400" i="1" dirty="0" smtClean="0">
                <a:sym typeface="Symbol" panose="05050102010706020507" pitchFamily="18" charset="2"/>
              </a:rPr>
            </a:br>
            <a:br>
              <a:rPr lang="en-US" altLang="zh-CN" sz="2400" i="1" dirty="0" smtClean="0">
                <a:sym typeface="Symbol" panose="05050102010706020507" pitchFamily="18" charset="2"/>
              </a:rPr>
            </a:br>
            <a:r>
              <a:rPr lang="zh-CN" altLang="en-US" sz="2400" dirty="0" smtClean="0">
                <a:sym typeface="Symbol" panose="05050102010706020507" pitchFamily="18" charset="2"/>
              </a:rPr>
              <a:t>的条件是</a:t>
            </a:r>
            <a:r>
              <a:rPr lang="zh-CN" altLang="en-US" sz="2400" u="sng" dirty="0" smtClean="0">
                <a:sym typeface="Symbol" panose="05050102010706020507" pitchFamily="18" charset="2"/>
              </a:rPr>
              <a:t>当且仅当</a:t>
            </a:r>
            <a:r>
              <a:rPr lang="zh-CN" altLang="en-US" sz="2400" dirty="0" smtClean="0">
                <a:sym typeface="Symbol" panose="05050102010706020507" pitchFamily="18" charset="2"/>
              </a:rPr>
              <a:t>：任意</a:t>
            </a:r>
            <a:r>
              <a:rPr lang="zh-CN" altLang="en-US" sz="2400" dirty="0" smtClean="0"/>
              <a:t>两个元组如果在属性集</a:t>
            </a:r>
            <a:r>
              <a:rPr lang="zh-CN" altLang="en-US" sz="2400" dirty="0" smtClean="0">
                <a:sym typeface="Symbol" panose="05050102010706020507" pitchFamily="18" charset="2"/>
              </a:rPr>
              <a:t></a:t>
            </a:r>
            <a:r>
              <a:rPr lang="zh-CN" altLang="en-US" sz="2400" dirty="0" smtClean="0"/>
              <a:t>上相等，它们在属性集</a:t>
            </a:r>
            <a:r>
              <a:rPr lang="en-US" altLang="zh-CN" sz="2400" dirty="0" smtClean="0">
                <a:sym typeface="Symbol" panose="05050102010706020507" pitchFamily="18" charset="2"/>
              </a:rPr>
              <a:t></a:t>
            </a:r>
            <a:r>
              <a:rPr lang="zh-CN" altLang="en-US" sz="2400" dirty="0" smtClean="0"/>
              <a:t>上必然相等（ 同一个</a:t>
            </a:r>
            <a:r>
              <a:rPr lang="zh-CN" altLang="en-US" sz="2400" dirty="0" smtClean="0">
                <a:sym typeface="Symbol" panose="05050102010706020507" pitchFamily="18" charset="2"/>
              </a:rPr>
              <a:t></a:t>
            </a:r>
            <a:r>
              <a:rPr lang="zh-CN" altLang="en-US" sz="2400" dirty="0" smtClean="0"/>
              <a:t>对应同一个</a:t>
            </a:r>
            <a:r>
              <a:rPr lang="en-US" altLang="zh-CN" sz="2400" dirty="0" smtClean="0">
                <a:sym typeface="Symbol" panose="05050102010706020507" pitchFamily="18" charset="2"/>
              </a:rPr>
              <a:t></a:t>
            </a:r>
            <a:r>
              <a:rPr lang="zh-CN" altLang="en-US" sz="2400" dirty="0" smtClean="0">
                <a:sym typeface="Symbol" panose="05050102010706020507" pitchFamily="18" charset="2"/>
              </a:rPr>
              <a:t>）</a:t>
            </a:r>
            <a:endParaRPr lang="zh-CN" altLang="en-US" sz="2400" dirty="0" smtClean="0">
              <a:sym typeface="Symbol" panose="05050102010706020507" pitchFamily="18" charset="2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endParaRPr lang="en-US" altLang="zh-CN" sz="2400" dirty="0" smtClean="0">
              <a:sym typeface="Symbol" panose="05050102010706020507" pitchFamily="18" charset="2"/>
            </a:endParaRPr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zh-CN" sz="2400" i="1" dirty="0" smtClean="0">
                <a:solidFill>
                  <a:srgbClr val="00E444"/>
                </a:solidFill>
                <a:sym typeface="Symbol" panose="05050102010706020507" pitchFamily="18" charset="2"/>
              </a:rPr>
              <a:t>		 t</a:t>
            </a:r>
            <a:r>
              <a:rPr lang="en-US" altLang="zh-CN" sz="2400" baseline="-25000" dirty="0" smtClean="0">
                <a:solidFill>
                  <a:srgbClr val="00E444"/>
                </a:solidFill>
                <a:sym typeface="Symbol" panose="05050102010706020507" pitchFamily="18" charset="2"/>
              </a:rPr>
              <a:t>1</a:t>
            </a:r>
            <a:r>
              <a:rPr lang="en-US" altLang="zh-CN" sz="2400" dirty="0" smtClean="0">
                <a:solidFill>
                  <a:srgbClr val="00E444"/>
                </a:solidFill>
                <a:sym typeface="Symbol" panose="05050102010706020507" pitchFamily="18" charset="2"/>
              </a:rPr>
              <a:t>[</a:t>
            </a:r>
            <a:r>
              <a:rPr lang="zh-CN" altLang="en-US" sz="2400" dirty="0" smtClean="0">
                <a:solidFill>
                  <a:srgbClr val="00E444"/>
                </a:solidFill>
                <a:sym typeface="Symbol" panose="05050102010706020507" pitchFamily="18" charset="2"/>
              </a:rPr>
              <a:t></a:t>
            </a:r>
            <a:r>
              <a:rPr lang="en-US" altLang="zh-CN" sz="2400" dirty="0" smtClean="0">
                <a:solidFill>
                  <a:srgbClr val="00E444"/>
                </a:solidFill>
                <a:sym typeface="Symbol" panose="05050102010706020507" pitchFamily="18" charset="2"/>
              </a:rPr>
              <a:t>] = </a:t>
            </a:r>
            <a:r>
              <a:rPr lang="en-US" altLang="zh-CN" sz="2400" i="1" dirty="0" smtClean="0">
                <a:solidFill>
                  <a:srgbClr val="00E444"/>
                </a:solidFill>
                <a:sym typeface="Symbol" panose="05050102010706020507" pitchFamily="18" charset="2"/>
              </a:rPr>
              <a:t>t</a:t>
            </a:r>
            <a:r>
              <a:rPr lang="en-US" altLang="zh-CN" sz="2400" baseline="-25000" dirty="0" smtClean="0">
                <a:solidFill>
                  <a:srgbClr val="00E444"/>
                </a:solidFill>
                <a:sym typeface="Symbol" panose="05050102010706020507" pitchFamily="18" charset="2"/>
              </a:rPr>
              <a:t>2 </a:t>
            </a:r>
            <a:r>
              <a:rPr lang="en-US" altLang="zh-CN" sz="2400" dirty="0" smtClean="0">
                <a:solidFill>
                  <a:srgbClr val="00E444"/>
                </a:solidFill>
                <a:sym typeface="Symbol" panose="05050102010706020507" pitchFamily="18" charset="2"/>
              </a:rPr>
              <a:t>[</a:t>
            </a:r>
            <a:r>
              <a:rPr lang="zh-CN" altLang="en-US" sz="2400" dirty="0" smtClean="0">
                <a:solidFill>
                  <a:srgbClr val="00E444"/>
                </a:solidFill>
                <a:sym typeface="Symbol" panose="05050102010706020507" pitchFamily="18" charset="2"/>
              </a:rPr>
              <a:t></a:t>
            </a:r>
            <a:r>
              <a:rPr lang="en-US" altLang="zh-CN" sz="2400" dirty="0" smtClean="0">
                <a:solidFill>
                  <a:srgbClr val="00E444"/>
                </a:solidFill>
                <a:sym typeface="Symbol" panose="05050102010706020507" pitchFamily="18" charset="2"/>
              </a:rPr>
              <a:t>]      </a:t>
            </a:r>
            <a:r>
              <a:rPr lang="en-US" altLang="zh-CN" sz="2400" i="1" dirty="0" smtClean="0">
                <a:solidFill>
                  <a:srgbClr val="00E444"/>
                </a:solidFill>
                <a:sym typeface="Symbol" panose="05050102010706020507" pitchFamily="18" charset="2"/>
              </a:rPr>
              <a:t>t</a:t>
            </a:r>
            <a:r>
              <a:rPr lang="en-US" altLang="zh-CN" sz="2400" baseline="-25000" dirty="0" smtClean="0">
                <a:solidFill>
                  <a:srgbClr val="00E444"/>
                </a:solidFill>
                <a:sym typeface="Symbol" panose="05050102010706020507" pitchFamily="18" charset="2"/>
              </a:rPr>
              <a:t>1</a:t>
            </a:r>
            <a:r>
              <a:rPr lang="en-US" altLang="zh-CN" sz="2400" dirty="0" smtClean="0">
                <a:solidFill>
                  <a:srgbClr val="00E444"/>
                </a:solidFill>
                <a:sym typeface="Symbol" panose="05050102010706020507" pitchFamily="18" charset="2"/>
              </a:rPr>
              <a:t>[</a:t>
            </a:r>
            <a:r>
              <a:rPr lang="en-US" altLang="zh-CN" sz="2400" i="1" dirty="0" smtClean="0">
                <a:solidFill>
                  <a:srgbClr val="00E444"/>
                </a:solidFill>
                <a:sym typeface="Symbol" panose="05050102010706020507" pitchFamily="18" charset="2"/>
              </a:rPr>
              <a:t> </a:t>
            </a:r>
            <a:r>
              <a:rPr lang="en-US" altLang="zh-CN" sz="2400" dirty="0" smtClean="0">
                <a:solidFill>
                  <a:srgbClr val="00E444"/>
                </a:solidFill>
                <a:sym typeface="Symbol" panose="05050102010706020507" pitchFamily="18" charset="2"/>
              </a:rPr>
              <a:t>]  = </a:t>
            </a:r>
            <a:r>
              <a:rPr lang="en-US" altLang="zh-CN" sz="2400" i="1" dirty="0" smtClean="0">
                <a:solidFill>
                  <a:srgbClr val="00E444"/>
                </a:solidFill>
                <a:sym typeface="Symbol" panose="05050102010706020507" pitchFamily="18" charset="2"/>
              </a:rPr>
              <a:t>t</a:t>
            </a:r>
            <a:r>
              <a:rPr lang="en-US" altLang="zh-CN" sz="2400" baseline="-25000" dirty="0" smtClean="0">
                <a:solidFill>
                  <a:srgbClr val="00E444"/>
                </a:solidFill>
                <a:sym typeface="Symbol" panose="05050102010706020507" pitchFamily="18" charset="2"/>
              </a:rPr>
              <a:t>2 </a:t>
            </a:r>
            <a:r>
              <a:rPr lang="en-US" altLang="zh-CN" sz="2400" dirty="0" smtClean="0">
                <a:solidFill>
                  <a:srgbClr val="00E444"/>
                </a:solidFill>
                <a:sym typeface="Symbol" panose="05050102010706020507" pitchFamily="18" charset="2"/>
              </a:rPr>
              <a:t>[</a:t>
            </a:r>
            <a:r>
              <a:rPr lang="en-US" altLang="zh-CN" sz="2400" i="1" dirty="0" smtClean="0">
                <a:solidFill>
                  <a:srgbClr val="00E444"/>
                </a:solidFill>
                <a:sym typeface="Symbol" panose="05050102010706020507" pitchFamily="18" charset="2"/>
              </a:rPr>
              <a:t> </a:t>
            </a:r>
            <a:r>
              <a:rPr lang="en-US" altLang="zh-CN" sz="2400" dirty="0" smtClean="0">
                <a:solidFill>
                  <a:srgbClr val="00E444"/>
                </a:solidFill>
                <a:sym typeface="Symbol" panose="05050102010706020507" pitchFamily="18" charset="2"/>
              </a:rPr>
              <a:t>] </a:t>
            </a:r>
            <a:endParaRPr lang="en-US" altLang="zh-CN" sz="2400" dirty="0" smtClean="0">
              <a:solidFill>
                <a:srgbClr val="00E444"/>
              </a:solidFill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6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6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6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6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6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6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8675" grpId="0" bldLvl="2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函数依赖</a:t>
            </a:r>
            <a:endParaRPr lang="zh-CN" altLang="en-US" smtClean="0"/>
          </a:p>
        </p:txBody>
      </p:sp>
      <p:sp>
        <p:nvSpPr>
          <p:cNvPr id="6696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z="2400" dirty="0" smtClean="0"/>
              <a:t>例如</a:t>
            </a:r>
            <a:endParaRPr lang="zh-CN" altLang="en-US" sz="2400" dirty="0" smtClean="0"/>
          </a:p>
          <a:p>
            <a:pPr lvl="1" eaLnBrk="1" hangingPunct="1"/>
            <a:r>
              <a:rPr lang="zh-CN" altLang="en-US" sz="2400" dirty="0" smtClean="0"/>
              <a:t>考虑以下关系</a:t>
            </a:r>
            <a:endParaRPr lang="zh-CN" altLang="en-US" sz="2400" dirty="0" smtClean="0"/>
          </a:p>
          <a:p>
            <a:pPr lvl="1" eaLnBrk="1" hangingPunct="1"/>
            <a:endParaRPr lang="en-US" altLang="zh-CN" sz="2400" dirty="0" smtClean="0"/>
          </a:p>
          <a:p>
            <a:pPr lvl="1" eaLnBrk="1" hangingPunct="1"/>
            <a:endParaRPr lang="en-US" altLang="zh-CN" sz="2400" dirty="0" smtClean="0"/>
          </a:p>
          <a:p>
            <a:pPr lvl="1" eaLnBrk="1" hangingPunct="1"/>
            <a:endParaRPr lang="en-US" altLang="zh-CN" sz="2400" dirty="0" smtClean="0"/>
          </a:p>
          <a:p>
            <a:pPr lvl="1" eaLnBrk="1" hangingPunct="1"/>
            <a:endParaRPr lang="en-US" altLang="zh-CN" sz="2400" dirty="0" smtClean="0"/>
          </a:p>
          <a:p>
            <a:pPr lvl="1" eaLnBrk="1" hangingPunct="1"/>
            <a:endParaRPr lang="en-US" altLang="zh-CN" sz="2400" dirty="0" smtClean="0"/>
          </a:p>
          <a:p>
            <a:pPr marL="457200" lvl="1" indent="0" eaLnBrk="1" hangingPunct="1">
              <a:buNone/>
            </a:pPr>
            <a:endParaRPr lang="en-US" altLang="zh-CN" sz="2400" dirty="0" smtClean="0"/>
          </a:p>
          <a:p>
            <a:pPr lvl="1" eaLnBrk="1" hangingPunct="1"/>
            <a:r>
              <a:rPr lang="zh-CN" altLang="en-US" sz="2400" dirty="0" smtClean="0"/>
              <a:t>以上关系满足什么函数依赖？</a:t>
            </a:r>
            <a:endParaRPr lang="en-US" altLang="zh-CN" sz="2400" dirty="0" smtClean="0"/>
          </a:p>
        </p:txBody>
      </p:sp>
      <p:graphicFrame>
        <p:nvGraphicFramePr>
          <p:cNvPr id="669750" name="Group 54"/>
          <p:cNvGraphicFramePr>
            <a:graphicFrameLocks noGrp="1"/>
          </p:cNvGraphicFramePr>
          <p:nvPr/>
        </p:nvGraphicFramePr>
        <p:xfrm>
          <a:off x="3152016" y="2402854"/>
          <a:ext cx="3678237" cy="2162175"/>
        </p:xfrm>
        <a:graphic>
          <a:graphicData uri="http://schemas.openxmlformats.org/drawingml/2006/table">
            <a:tbl>
              <a:tblPr/>
              <a:tblGrid>
                <a:gridCol w="1003300"/>
                <a:gridCol w="1855787"/>
                <a:gridCol w="819150"/>
              </a:tblGrid>
              <a:tr h="44767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sng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name</a:t>
                      </a:r>
                      <a:endParaRPr kumimoji="0" lang="en-US" altLang="zh-CN" sz="2000" b="0" i="0" u="sng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college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city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330200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Jones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SCNU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GZ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Smith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SCUT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GZ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3652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Curry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TShingHua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BJ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04788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Larry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E444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PKU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E444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E444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BJ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E444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Julia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E444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PKU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E444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E444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BJ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E444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69730" name="Rectangle 34"/>
          <p:cNvSpPr>
            <a:spLocks noChangeArrowheads="1"/>
          </p:cNvSpPr>
          <p:nvPr/>
        </p:nvSpPr>
        <p:spPr bwMode="auto">
          <a:xfrm>
            <a:off x="4248978" y="1880566"/>
            <a:ext cx="1484313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fontAlgn="auto" hangingPunct="1">
              <a:spcBef>
                <a:spcPct val="3500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Monotype Sorts" pitchFamily="-65" charset="2"/>
              <a:buNone/>
              <a:defRPr/>
            </a:pPr>
            <a:r>
              <a:rPr kumimoji="1" lang="en-US" altLang="zh-CN" sz="2800" b="1" dirty="0">
                <a:latin typeface="Helvetica" panose="020B0604020202020204" pitchFamily="34" charset="0"/>
                <a:ea typeface="宋体" panose="02010600030101010101" pitchFamily="2" charset="-122"/>
              </a:rPr>
              <a:t>student</a:t>
            </a:r>
            <a:endParaRPr kumimoji="1" lang="zh-CN" altLang="en-US" sz="2800" b="1" dirty="0"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69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69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69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69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669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669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6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696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696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9699" grpId="0" bldLvl="2" autoUpdateAnimBg="0" build="p"/>
      <p:bldP spid="669730" grpId="0" bldLvl="0" animBg="1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85243" y="2286000"/>
            <a:ext cx="3901320" cy="1479550"/>
          </a:xfrm>
        </p:spPr>
        <p:txBody>
          <a:bodyPr/>
          <a:lstStyle/>
          <a:p>
            <a:pPr>
              <a:buFont typeface="Monotype Sorts" pitchFamily="-65" charset="2"/>
              <a:buNone/>
              <a:defRPr/>
            </a:pPr>
            <a:r>
              <a:rPr lang="en-US" alt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MS PGothic" panose="020B0600070205080204" pitchFamily="34" charset="-128"/>
                <a:cs typeface="+mj-cs"/>
              </a:rPr>
              <a:t>Normal Forms</a:t>
            </a:r>
            <a:endParaRPr lang="en-US" altLang="en-US" sz="3200" b="1" dirty="0"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j-lt"/>
              <a:ea typeface="MS PGothic" panose="020B0600070205080204" pitchFamily="34" charset="-128"/>
              <a:cs typeface="+mj-cs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为什么使用范式？</a:t>
            </a:r>
            <a:endParaRPr lang="zh-CN" altLang="en-US" smtClean="0"/>
          </a:p>
        </p:txBody>
      </p:sp>
      <p:sp>
        <p:nvSpPr>
          <p:cNvPr id="430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z="2400" dirty="0" smtClean="0">
                <a:latin typeface="Helvetica" panose="020B0604020202020204" pitchFamily="34" charset="0"/>
              </a:rPr>
              <a:t>“</a:t>
            </a:r>
            <a:r>
              <a:rPr lang="zh-CN" altLang="en-US" sz="2400" dirty="0" smtClean="0"/>
              <a:t>好</a:t>
            </a:r>
            <a:r>
              <a:rPr lang="zh-CN" altLang="en-US" sz="2400" dirty="0" smtClean="0">
                <a:latin typeface="Helvetica" panose="020B0604020202020204" pitchFamily="34" charset="0"/>
              </a:rPr>
              <a:t>”</a:t>
            </a:r>
            <a:r>
              <a:rPr lang="zh-CN" altLang="en-US" sz="2400" dirty="0" smtClean="0"/>
              <a:t>的关系数据库设计</a:t>
            </a:r>
            <a:endParaRPr lang="zh-CN" altLang="en-US" sz="2400" dirty="0" smtClean="0"/>
          </a:p>
          <a:p>
            <a:pPr lvl="1" eaLnBrk="1" hangingPunct="1"/>
            <a:r>
              <a:rPr lang="zh-CN" altLang="en-US" sz="2400" dirty="0" smtClean="0"/>
              <a:t>如何知道一个关系是否</a:t>
            </a:r>
            <a:r>
              <a:rPr lang="zh-CN" altLang="en-US" sz="2400" dirty="0" smtClean="0">
                <a:latin typeface="Helvetica" panose="020B0604020202020204" pitchFamily="34" charset="0"/>
              </a:rPr>
              <a:t>“</a:t>
            </a:r>
            <a:r>
              <a:rPr lang="zh-CN" altLang="en-US" sz="2400" dirty="0" smtClean="0"/>
              <a:t>好</a:t>
            </a:r>
            <a:r>
              <a:rPr lang="zh-CN" altLang="en-US" sz="2400" dirty="0" smtClean="0">
                <a:latin typeface="Helvetica" panose="020B0604020202020204" pitchFamily="34" charset="0"/>
              </a:rPr>
              <a:t>”</a:t>
            </a:r>
            <a:r>
              <a:rPr lang="zh-CN" altLang="en-US" sz="2400" dirty="0" smtClean="0"/>
              <a:t>，是否有</a:t>
            </a:r>
            <a:r>
              <a:rPr lang="zh-CN" altLang="en-US" sz="2400" dirty="0" smtClean="0">
                <a:latin typeface="Helvetica" panose="020B0604020202020204" pitchFamily="34" charset="0"/>
              </a:rPr>
              <a:t>“</a:t>
            </a:r>
            <a:r>
              <a:rPr lang="zh-CN" altLang="en-US" sz="2400" dirty="0" smtClean="0"/>
              <a:t>坏</a:t>
            </a:r>
            <a:r>
              <a:rPr lang="zh-CN" altLang="en-US" sz="2400" dirty="0" smtClean="0">
                <a:latin typeface="Helvetica" panose="020B0604020202020204" pitchFamily="34" charset="0"/>
              </a:rPr>
              <a:t>”</a:t>
            </a:r>
            <a:r>
              <a:rPr lang="zh-CN" altLang="en-US" sz="2400" dirty="0" smtClean="0"/>
              <a:t>的数据依赖</a:t>
            </a:r>
            <a:endParaRPr lang="zh-CN" altLang="en-US" sz="2400" dirty="0" smtClean="0"/>
          </a:p>
          <a:p>
            <a:pPr lvl="2" eaLnBrk="1" hangingPunct="1"/>
            <a:r>
              <a:rPr lang="zh-CN" altLang="en-US" sz="2400" dirty="0" smtClean="0"/>
              <a:t>判断属于哪一级别的</a:t>
            </a:r>
            <a:r>
              <a:rPr lang="zh-CN" altLang="en-US" sz="2400" u="sng" dirty="0" smtClean="0">
                <a:solidFill>
                  <a:srgbClr val="00E444"/>
                </a:solidFill>
              </a:rPr>
              <a:t>范式</a:t>
            </a:r>
            <a:endParaRPr lang="zh-CN" altLang="en-US" sz="2400" u="sng" dirty="0" smtClean="0">
              <a:solidFill>
                <a:srgbClr val="00E444"/>
              </a:solidFill>
            </a:endParaRPr>
          </a:p>
          <a:p>
            <a:pPr lvl="1" eaLnBrk="1" hangingPunct="1"/>
            <a:r>
              <a:rPr lang="en-US" altLang="zh-CN" sz="2400" dirty="0" smtClean="0">
                <a:latin typeface="Helvetica" panose="020B0604020202020204" pitchFamily="34" charset="0"/>
              </a:rPr>
              <a:t>……</a:t>
            </a:r>
            <a:endParaRPr lang="zh-CN" altLang="en-US" sz="2400" dirty="0" smtClean="0"/>
          </a:p>
          <a:p>
            <a:pPr eaLnBrk="1" hangingPunct="1"/>
            <a:r>
              <a:rPr lang="zh-CN" altLang="en-US" sz="2400" dirty="0" smtClean="0"/>
              <a:t>高级范式与低级范式相比，是</a:t>
            </a:r>
            <a:r>
              <a:rPr lang="zh-CN" altLang="en-US" sz="2400" dirty="0" smtClean="0">
                <a:latin typeface="Helvetica" panose="020B0604020202020204" pitchFamily="34" charset="0"/>
              </a:rPr>
              <a:t>“</a:t>
            </a:r>
            <a:r>
              <a:rPr lang="zh-CN" altLang="en-US" sz="2400" dirty="0" smtClean="0"/>
              <a:t>更好</a:t>
            </a:r>
            <a:r>
              <a:rPr lang="zh-CN" altLang="en-US" sz="2400" dirty="0" smtClean="0">
                <a:latin typeface="Helvetica" panose="020B0604020202020204" pitchFamily="34" charset="0"/>
              </a:rPr>
              <a:t>”</a:t>
            </a:r>
            <a:r>
              <a:rPr lang="zh-CN" altLang="en-US" sz="2400" dirty="0" smtClean="0"/>
              <a:t>的关系，因为</a:t>
            </a:r>
            <a:r>
              <a:rPr lang="zh-CN" altLang="en-US" sz="2400" dirty="0" smtClean="0">
                <a:latin typeface="Helvetica" panose="020B0604020202020204" pitchFamily="34" charset="0"/>
              </a:rPr>
              <a:t>“</a:t>
            </a:r>
            <a:r>
              <a:rPr lang="zh-CN" altLang="en-US" sz="2400" dirty="0" smtClean="0"/>
              <a:t>坏</a:t>
            </a:r>
            <a:r>
              <a:rPr lang="zh-CN" altLang="en-US" sz="2400" dirty="0" smtClean="0">
                <a:latin typeface="Helvetica" panose="020B0604020202020204" pitchFamily="34" charset="0"/>
              </a:rPr>
              <a:t>”</a:t>
            </a:r>
            <a:r>
              <a:rPr lang="zh-CN" altLang="en-US" sz="2400" dirty="0" smtClean="0"/>
              <a:t>数据依赖更少</a:t>
            </a:r>
            <a:endParaRPr lang="en-US" altLang="zh-CN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范式</a:t>
            </a:r>
            <a:endParaRPr lang="zh-CN" altLang="en-US" smtClean="0"/>
          </a:p>
        </p:txBody>
      </p:sp>
      <p:sp>
        <p:nvSpPr>
          <p:cNvPr id="695299" name="Rectangle 3"/>
          <p:cNvSpPr>
            <a:spLocks noGrp="1" noChangeArrowheads="1"/>
          </p:cNvSpPr>
          <p:nvPr>
            <p:ph idx="1"/>
          </p:nvPr>
        </p:nvSpPr>
        <p:spPr/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2400" dirty="0" smtClean="0"/>
              <a:t>范式</a:t>
            </a:r>
            <a:endParaRPr lang="zh-CN" altLang="en-US" sz="2400" dirty="0" smtClean="0"/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zh-CN" altLang="en-US" sz="2400" dirty="0" smtClean="0"/>
              <a:t>满足一定要求的所有关系的全集</a:t>
            </a:r>
            <a:endParaRPr lang="zh-CN" altLang="en-US" sz="2400" dirty="0" smtClean="0"/>
          </a:p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2400" dirty="0" smtClean="0"/>
              <a:t>范式级别</a:t>
            </a:r>
            <a:r>
              <a:rPr lang="en-US" altLang="zh-CN" sz="2400" dirty="0" smtClean="0"/>
              <a:t>(</a:t>
            </a:r>
            <a:r>
              <a:rPr lang="zh-CN" altLang="en-US" sz="2400" dirty="0" smtClean="0"/>
              <a:t>从低级到高级</a:t>
            </a:r>
            <a:r>
              <a:rPr lang="en-US" altLang="zh-CN" sz="2400" dirty="0" smtClean="0"/>
              <a:t>)</a:t>
            </a:r>
            <a:endParaRPr lang="en-US" altLang="zh-CN" sz="2400" dirty="0" smtClean="0"/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zh-CN" altLang="en-US" sz="2400" dirty="0" smtClean="0"/>
              <a:t>第一范式</a:t>
            </a:r>
            <a:r>
              <a:rPr lang="en-US" altLang="zh-CN" sz="2400" dirty="0" smtClean="0"/>
              <a:t>                (1NF)</a:t>
            </a:r>
            <a:endParaRPr lang="en-US" altLang="zh-CN" sz="2400" dirty="0" smtClean="0"/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zh-CN" altLang="en-US" sz="2400" dirty="0" smtClean="0"/>
              <a:t>第二范式                </a:t>
            </a:r>
            <a:r>
              <a:rPr lang="en-US" altLang="zh-CN" sz="2400" dirty="0" smtClean="0"/>
              <a:t>(2NF)</a:t>
            </a:r>
            <a:endParaRPr lang="en-US" altLang="zh-CN" sz="2400" dirty="0" smtClean="0"/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zh-CN" altLang="en-US" sz="2400" dirty="0" smtClean="0"/>
              <a:t>第三范式                </a:t>
            </a:r>
            <a:r>
              <a:rPr lang="en-US" altLang="zh-CN" sz="2400" dirty="0" smtClean="0"/>
              <a:t>(3NF) </a:t>
            </a:r>
            <a:endParaRPr lang="en-US" altLang="zh-CN" sz="2400" dirty="0" smtClean="0"/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altLang="zh-CN" sz="2400" dirty="0" smtClean="0"/>
              <a:t>BC</a:t>
            </a:r>
            <a:r>
              <a:rPr lang="zh-CN" altLang="en-US" sz="2400" dirty="0" smtClean="0"/>
              <a:t>范式                  </a:t>
            </a:r>
            <a:r>
              <a:rPr lang="en-US" altLang="zh-CN" sz="2400" dirty="0" smtClean="0"/>
              <a:t>(BCNF)</a:t>
            </a:r>
            <a:endParaRPr lang="en-US" altLang="zh-CN" sz="2400" dirty="0" smtClean="0"/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zh-CN" altLang="en-US" sz="2400" dirty="0" smtClean="0"/>
              <a:t>第四范式*               </a:t>
            </a:r>
            <a:r>
              <a:rPr lang="en-US" altLang="zh-CN" sz="2400" dirty="0" smtClean="0"/>
              <a:t>(4NF)</a:t>
            </a:r>
            <a:endParaRPr lang="en-US" altLang="zh-CN" sz="2400" dirty="0" smtClean="0"/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altLang="zh-CN" sz="2400" dirty="0" smtClean="0">
                <a:latin typeface="Helvetica" panose="020B0604020202020204" pitchFamily="34" charset="0"/>
              </a:rPr>
              <a:t>……</a:t>
            </a:r>
            <a:endParaRPr lang="en-US" altLang="zh-CN" sz="2400" dirty="0" smtClean="0"/>
          </a:p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2400" dirty="0" smtClean="0"/>
              <a:t>范式越高级，代表的关系就越</a:t>
            </a:r>
            <a:r>
              <a:rPr lang="zh-CN" altLang="en-US" sz="2400" dirty="0" smtClean="0">
                <a:latin typeface="Helvetica" panose="020B0604020202020204" pitchFamily="34" charset="0"/>
              </a:rPr>
              <a:t>“</a:t>
            </a:r>
            <a:r>
              <a:rPr lang="zh-CN" altLang="en-US" sz="2400" dirty="0" smtClean="0"/>
              <a:t>好</a:t>
            </a:r>
            <a:r>
              <a:rPr lang="zh-CN" altLang="en-US" sz="2400" dirty="0" smtClean="0">
                <a:latin typeface="Helvetica" panose="020B0604020202020204" pitchFamily="34" charset="0"/>
              </a:rPr>
              <a:t>”</a:t>
            </a:r>
            <a:r>
              <a:rPr lang="zh-CN" altLang="en-US" sz="2400" dirty="0" smtClean="0"/>
              <a:t>，要满足的要求也就越高</a:t>
            </a:r>
            <a:endParaRPr lang="zh-CN" altLang="en-US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范式</a:t>
            </a:r>
            <a:endParaRPr lang="zh-CN" altLang="en-US" smtClean="0"/>
          </a:p>
        </p:txBody>
      </p:sp>
      <p:sp>
        <p:nvSpPr>
          <p:cNvPr id="450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z="2400" dirty="0" smtClean="0"/>
              <a:t>不同范式之间的联系</a:t>
            </a:r>
            <a:endParaRPr lang="en-US" altLang="zh-CN" sz="2400" dirty="0" smtClean="0"/>
          </a:p>
          <a:p>
            <a:pPr lvl="1" eaLnBrk="1" hangingPunct="1"/>
            <a:r>
              <a:rPr lang="en-US" altLang="zh-CN" sz="2400" dirty="0" smtClean="0"/>
              <a:t>4NF </a:t>
            </a:r>
            <a:r>
              <a:rPr lang="en-US" altLang="zh-CN" sz="2400" dirty="0" smtClean="0">
                <a:sym typeface="Symbol" panose="05050102010706020507" pitchFamily="18" charset="2"/>
              </a:rPr>
              <a:t></a:t>
            </a:r>
            <a:r>
              <a:rPr lang="zh-CN" altLang="en-US" sz="2400" dirty="0" smtClean="0"/>
              <a:t> </a:t>
            </a:r>
            <a:r>
              <a:rPr lang="en-US" altLang="zh-CN" sz="2400" dirty="0" smtClean="0"/>
              <a:t>BCNF </a:t>
            </a:r>
            <a:r>
              <a:rPr lang="en-US" altLang="zh-CN" sz="2400" dirty="0" smtClean="0">
                <a:sym typeface="Symbol" panose="05050102010706020507" pitchFamily="18" charset="2"/>
              </a:rPr>
              <a:t></a:t>
            </a:r>
            <a:r>
              <a:rPr lang="zh-CN" altLang="en-US" sz="2400" dirty="0" smtClean="0"/>
              <a:t> </a:t>
            </a:r>
            <a:r>
              <a:rPr lang="en-US" altLang="zh-CN" sz="2400" dirty="0" smtClean="0"/>
              <a:t>3NF </a:t>
            </a:r>
            <a:r>
              <a:rPr lang="en-US" altLang="zh-CN" sz="2400" dirty="0" smtClean="0">
                <a:sym typeface="Symbol" panose="05050102010706020507" pitchFamily="18" charset="2"/>
              </a:rPr>
              <a:t></a:t>
            </a:r>
            <a:r>
              <a:rPr lang="zh-CN" altLang="en-US" sz="2400" dirty="0" smtClean="0"/>
              <a:t> </a:t>
            </a:r>
            <a:r>
              <a:rPr lang="en-US" altLang="zh-CN" sz="2400" dirty="0" smtClean="0"/>
              <a:t>2NF </a:t>
            </a:r>
            <a:r>
              <a:rPr lang="en-US" altLang="zh-CN" sz="2400" dirty="0" smtClean="0">
                <a:sym typeface="Symbol" panose="05050102010706020507" pitchFamily="18" charset="2"/>
              </a:rPr>
              <a:t></a:t>
            </a:r>
            <a:r>
              <a:rPr lang="zh-CN" altLang="en-US" sz="2400" dirty="0" smtClean="0"/>
              <a:t> </a:t>
            </a:r>
            <a:r>
              <a:rPr lang="en-US" altLang="zh-CN" sz="2400" dirty="0" smtClean="0"/>
              <a:t>1NF</a:t>
            </a:r>
            <a:endParaRPr lang="en-US" altLang="zh-CN" sz="2400" dirty="0" smtClean="0"/>
          </a:p>
          <a:p>
            <a:pPr lvl="1" eaLnBrk="1" hangingPunct="1"/>
            <a:r>
              <a:rPr lang="zh-CN" altLang="en-US" sz="2400" dirty="0" smtClean="0">
                <a:sym typeface="Symbol" panose="05050102010706020507" pitchFamily="18" charset="2"/>
              </a:rPr>
              <a:t>高级范式是低级范式的子集</a:t>
            </a:r>
            <a:endParaRPr lang="zh-CN" altLang="en-US" sz="2400" dirty="0" smtClean="0">
              <a:sym typeface="Symbol" panose="05050102010706020507" pitchFamily="18" charset="2"/>
            </a:endParaRPr>
          </a:p>
          <a:p>
            <a:pPr lvl="2" eaLnBrk="1" hangingPunct="1"/>
            <a:r>
              <a:rPr lang="zh-CN" altLang="en-US" sz="2400" dirty="0" smtClean="0">
                <a:sym typeface="Symbol" panose="05050102010706020507" pitchFamily="18" charset="2"/>
              </a:rPr>
              <a:t>范式越高，满足的要求也就越高；满足高要求的关系肯定能够满足低要求，所以高级范式中的关系肯定也在低级范式中</a:t>
            </a:r>
            <a:endParaRPr lang="zh-CN" altLang="en-US" sz="2400" dirty="0" smtClean="0">
              <a:sym typeface="Symbol" panose="05050102010706020507" pitchFamily="18" charset="2"/>
            </a:endParaRPr>
          </a:p>
        </p:txBody>
      </p:sp>
      <p:grpSp>
        <p:nvGrpSpPr>
          <p:cNvPr id="45060" name="Group 4"/>
          <p:cNvGrpSpPr/>
          <p:nvPr/>
        </p:nvGrpSpPr>
        <p:grpSpPr bwMode="auto">
          <a:xfrm>
            <a:off x="5662613" y="3606800"/>
            <a:ext cx="3044825" cy="2979738"/>
            <a:chOff x="3567" y="2272"/>
            <a:chExt cx="1918" cy="1877"/>
          </a:xfrm>
        </p:grpSpPr>
        <p:sp>
          <p:nvSpPr>
            <p:cNvPr id="696325" name="Oval 5"/>
            <p:cNvSpPr>
              <a:spLocks noChangeArrowheads="1"/>
            </p:cNvSpPr>
            <p:nvPr/>
          </p:nvSpPr>
          <p:spPr bwMode="auto">
            <a:xfrm>
              <a:off x="4265" y="3023"/>
              <a:ext cx="543" cy="52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96326" name="Oval 6"/>
            <p:cNvSpPr>
              <a:spLocks noChangeAspect="1" noChangeArrowheads="1"/>
            </p:cNvSpPr>
            <p:nvPr/>
          </p:nvSpPr>
          <p:spPr bwMode="auto">
            <a:xfrm>
              <a:off x="4085" y="2838"/>
              <a:ext cx="916" cy="87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96327" name="Oval 7"/>
            <p:cNvSpPr>
              <a:spLocks noChangeAspect="1" noChangeArrowheads="1"/>
            </p:cNvSpPr>
            <p:nvPr/>
          </p:nvSpPr>
          <p:spPr bwMode="auto">
            <a:xfrm>
              <a:off x="3931" y="2659"/>
              <a:ext cx="1238" cy="118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96328" name="Oval 8"/>
            <p:cNvSpPr>
              <a:spLocks noChangeAspect="1" noChangeArrowheads="1"/>
            </p:cNvSpPr>
            <p:nvPr/>
          </p:nvSpPr>
          <p:spPr bwMode="auto">
            <a:xfrm>
              <a:off x="3769" y="2495"/>
              <a:ext cx="1552" cy="1489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96329" name="Oval 9"/>
            <p:cNvSpPr>
              <a:spLocks noChangeAspect="1" noChangeArrowheads="1"/>
            </p:cNvSpPr>
            <p:nvPr/>
          </p:nvSpPr>
          <p:spPr bwMode="auto">
            <a:xfrm>
              <a:off x="3567" y="2310"/>
              <a:ext cx="1918" cy="1839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96330" name="Text Box 10"/>
            <p:cNvSpPr txBox="1">
              <a:spLocks noChangeArrowheads="1"/>
            </p:cNvSpPr>
            <p:nvPr/>
          </p:nvSpPr>
          <p:spPr bwMode="auto">
            <a:xfrm>
              <a:off x="4316" y="2272"/>
              <a:ext cx="49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1" fontAlgn="auto" hangingPunct="1">
                <a:spcBef>
                  <a:spcPct val="50000"/>
                </a:spcBef>
                <a:spcAft>
                  <a:spcPts val="0"/>
                </a:spcAft>
                <a:defRPr/>
              </a:pPr>
              <a:r>
                <a:rPr kumimoji="1" lang="en-US" altLang="zh-CN" sz="2000" b="1">
                  <a:latin typeface="Tahoma" panose="020B0604030504040204" pitchFamily="34" charset="0"/>
                  <a:ea typeface="宋体" panose="02010600030101010101" pitchFamily="2" charset="-122"/>
                </a:rPr>
                <a:t>1NF</a:t>
              </a:r>
              <a:endParaRPr kumimoji="1" lang="en-US" altLang="zh-CN" sz="2000" b="1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96331" name="Text Box 11"/>
            <p:cNvSpPr txBox="1">
              <a:spLocks noChangeArrowheads="1"/>
            </p:cNvSpPr>
            <p:nvPr/>
          </p:nvSpPr>
          <p:spPr bwMode="auto">
            <a:xfrm>
              <a:off x="4316" y="2447"/>
              <a:ext cx="49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1" fontAlgn="auto" hangingPunct="1">
                <a:spcBef>
                  <a:spcPct val="50000"/>
                </a:spcBef>
                <a:spcAft>
                  <a:spcPts val="0"/>
                </a:spcAft>
                <a:defRPr/>
              </a:pPr>
              <a:r>
                <a:rPr kumimoji="1" lang="en-US" altLang="zh-CN" sz="2000" b="1">
                  <a:latin typeface="Tahoma" panose="020B0604030504040204" pitchFamily="34" charset="0"/>
                  <a:ea typeface="宋体" panose="02010600030101010101" pitchFamily="2" charset="-122"/>
                </a:rPr>
                <a:t>2NF</a:t>
              </a:r>
              <a:endParaRPr kumimoji="1" lang="en-US" altLang="zh-CN" sz="2000" b="1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96332" name="Text Box 12"/>
            <p:cNvSpPr txBox="1">
              <a:spLocks noChangeArrowheads="1"/>
            </p:cNvSpPr>
            <p:nvPr/>
          </p:nvSpPr>
          <p:spPr bwMode="auto">
            <a:xfrm>
              <a:off x="4316" y="2634"/>
              <a:ext cx="49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1" fontAlgn="auto" hangingPunct="1">
                <a:spcBef>
                  <a:spcPct val="50000"/>
                </a:spcBef>
                <a:spcAft>
                  <a:spcPts val="0"/>
                </a:spcAft>
                <a:defRPr/>
              </a:pPr>
              <a:r>
                <a:rPr kumimoji="1" lang="en-US" altLang="zh-CN" sz="2000" b="1">
                  <a:latin typeface="Tahoma" panose="020B0604030504040204" pitchFamily="34" charset="0"/>
                  <a:ea typeface="宋体" panose="02010600030101010101" pitchFamily="2" charset="-122"/>
                </a:rPr>
                <a:t>3NF</a:t>
              </a:r>
              <a:endParaRPr kumimoji="1" lang="en-US" altLang="zh-CN" sz="2000" b="1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96333" name="Text Box 13"/>
            <p:cNvSpPr txBox="1">
              <a:spLocks noChangeArrowheads="1"/>
            </p:cNvSpPr>
            <p:nvPr/>
          </p:nvSpPr>
          <p:spPr bwMode="auto">
            <a:xfrm>
              <a:off x="4257" y="2817"/>
              <a:ext cx="67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1" fontAlgn="auto" hangingPunct="1">
                <a:spcBef>
                  <a:spcPct val="50000"/>
                </a:spcBef>
                <a:spcAft>
                  <a:spcPts val="0"/>
                </a:spcAft>
                <a:defRPr/>
              </a:pPr>
              <a:r>
                <a:rPr kumimoji="1" lang="en-US" altLang="zh-CN" sz="2000" b="1">
                  <a:latin typeface="Tahoma" panose="020B0604030504040204" pitchFamily="34" charset="0"/>
                  <a:ea typeface="宋体" panose="02010600030101010101" pitchFamily="2" charset="-122"/>
                </a:rPr>
                <a:t>BCNF</a:t>
              </a:r>
              <a:endParaRPr kumimoji="1" lang="en-US" altLang="zh-CN" sz="2000" b="1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96334" name="Text Box 14"/>
            <p:cNvSpPr txBox="1">
              <a:spLocks noChangeArrowheads="1"/>
            </p:cNvSpPr>
            <p:nvPr/>
          </p:nvSpPr>
          <p:spPr bwMode="auto">
            <a:xfrm>
              <a:off x="4316" y="3153"/>
              <a:ext cx="49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1" fontAlgn="auto" hangingPunct="1">
                <a:spcBef>
                  <a:spcPct val="50000"/>
                </a:spcBef>
                <a:spcAft>
                  <a:spcPts val="0"/>
                </a:spcAft>
                <a:defRPr/>
              </a:pPr>
              <a:r>
                <a:rPr kumimoji="1" lang="en-US" altLang="zh-CN" sz="2000" b="1">
                  <a:latin typeface="Tahoma" panose="020B0604030504040204" pitchFamily="34" charset="0"/>
                  <a:ea typeface="宋体" panose="02010600030101010101" pitchFamily="2" charset="-122"/>
                </a:rPr>
                <a:t>4NF</a:t>
              </a:r>
              <a:endParaRPr kumimoji="1" lang="en-US" altLang="zh-CN" sz="2000" b="1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第一范式</a:t>
            </a:r>
            <a:endParaRPr lang="zh-CN" altLang="en-US" smtClean="0"/>
          </a:p>
        </p:txBody>
      </p:sp>
      <p:sp>
        <p:nvSpPr>
          <p:cNvPr id="4608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z="2400" dirty="0" smtClean="0"/>
              <a:t>要求</a:t>
            </a:r>
            <a:endParaRPr lang="zh-CN" altLang="en-US" sz="2400" dirty="0" smtClean="0"/>
          </a:p>
          <a:p>
            <a:pPr lvl="1" eaLnBrk="1" hangingPunct="1"/>
            <a:r>
              <a:rPr lang="zh-CN" altLang="en-US" sz="2400" dirty="0" smtClean="0"/>
              <a:t>关系的每个属性都是原子的</a:t>
            </a:r>
            <a:endParaRPr lang="zh-CN" altLang="en-US" sz="2400" dirty="0" smtClean="0"/>
          </a:p>
          <a:p>
            <a:pPr eaLnBrk="1" hangingPunct="1"/>
            <a:r>
              <a:rPr lang="zh-CN" altLang="en-US" sz="2400" dirty="0" smtClean="0"/>
              <a:t>原子属性</a:t>
            </a:r>
            <a:endParaRPr lang="zh-CN" altLang="en-US" sz="2400" dirty="0" smtClean="0"/>
          </a:p>
          <a:p>
            <a:pPr lvl="1" eaLnBrk="1" hangingPunct="1"/>
            <a:r>
              <a:rPr lang="zh-CN" altLang="en-US" sz="2400" dirty="0" smtClean="0"/>
              <a:t>属性值不可再分</a:t>
            </a:r>
            <a:endParaRPr lang="zh-CN" altLang="en-US" sz="2400" dirty="0" smtClean="0"/>
          </a:p>
          <a:p>
            <a:pPr lvl="1" eaLnBrk="1" hangingPunct="1"/>
            <a:r>
              <a:rPr lang="zh-CN" altLang="en-US" sz="2400" dirty="0" smtClean="0"/>
              <a:t>例如</a:t>
            </a:r>
            <a:r>
              <a:rPr lang="en-US" altLang="zh-CN" sz="2400" dirty="0" smtClean="0"/>
              <a:t>. age, sex</a:t>
            </a:r>
            <a:endParaRPr lang="en-US" altLang="zh-CN" sz="2400" dirty="0" smtClean="0"/>
          </a:p>
          <a:p>
            <a:pPr eaLnBrk="1" hangingPunct="1"/>
            <a:r>
              <a:rPr lang="zh-CN" altLang="en-US" sz="2400" dirty="0" smtClean="0"/>
              <a:t>非原子属性</a:t>
            </a:r>
            <a:endParaRPr lang="zh-CN" altLang="en-US" sz="2400" dirty="0" smtClean="0"/>
          </a:p>
          <a:p>
            <a:pPr lvl="1" eaLnBrk="1" hangingPunct="1"/>
            <a:r>
              <a:rPr lang="zh-CN" altLang="en-US" sz="2400" dirty="0" smtClean="0"/>
              <a:t>属性值可以再分，包括</a:t>
            </a:r>
            <a:r>
              <a:rPr lang="en-US" altLang="zh-CN" sz="2400" dirty="0" smtClean="0">
                <a:latin typeface="Helvetica" panose="020B0604020202020204" pitchFamily="34" charset="0"/>
              </a:rPr>
              <a:t>——</a:t>
            </a:r>
            <a:endParaRPr lang="en-US" altLang="zh-CN" sz="2400" dirty="0" smtClean="0"/>
          </a:p>
          <a:p>
            <a:pPr lvl="1" eaLnBrk="1" hangingPunct="1"/>
            <a:r>
              <a:rPr lang="zh-CN" altLang="en-US" sz="2400" dirty="0" smtClean="0"/>
              <a:t>复合属性，例如</a:t>
            </a:r>
            <a:r>
              <a:rPr lang="en-US" altLang="zh-CN" sz="2400" dirty="0" smtClean="0"/>
              <a:t>parents</a:t>
            </a:r>
            <a:endParaRPr lang="en-US" altLang="zh-CN" sz="2400" dirty="0" smtClean="0"/>
          </a:p>
          <a:p>
            <a:pPr lvl="1" eaLnBrk="1" hangingPunct="1"/>
            <a:r>
              <a:rPr lang="zh-CN" altLang="en-US" sz="2400" dirty="0" smtClean="0"/>
              <a:t>多值属性，例如</a:t>
            </a:r>
            <a:r>
              <a:rPr lang="en-US" altLang="zh-CN" sz="2400" dirty="0" smtClean="0"/>
              <a:t>phone-numbers</a:t>
            </a:r>
            <a:endParaRPr lang="en-US" altLang="zh-CN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第一范式</a:t>
            </a:r>
            <a:endParaRPr lang="zh-CN" altLang="en-US" smtClean="0"/>
          </a:p>
        </p:txBody>
      </p:sp>
      <p:sp>
        <p:nvSpPr>
          <p:cNvPr id="471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z="2400" dirty="0" smtClean="0"/>
              <a:t>例子</a:t>
            </a:r>
            <a:endParaRPr lang="zh-CN" altLang="en-US" sz="2400" dirty="0" smtClean="0"/>
          </a:p>
          <a:p>
            <a:pPr lvl="1" eaLnBrk="1" hangingPunct="1"/>
            <a:r>
              <a:rPr lang="zh-CN" altLang="en-US" sz="2400" dirty="0" smtClean="0"/>
              <a:t>下面关系中，哪些在</a:t>
            </a:r>
            <a:r>
              <a:rPr lang="en-US" altLang="zh-CN" sz="2400" dirty="0" smtClean="0"/>
              <a:t>1NF</a:t>
            </a:r>
            <a:r>
              <a:rPr lang="zh-CN" altLang="en-US" sz="2400" dirty="0" smtClean="0"/>
              <a:t>中，哪些不在？ </a:t>
            </a:r>
            <a:endParaRPr lang="zh-CN" altLang="en-US" sz="2400" dirty="0" smtClean="0"/>
          </a:p>
        </p:txBody>
      </p:sp>
      <p:graphicFrame>
        <p:nvGraphicFramePr>
          <p:cNvPr id="698455" name="Group 87"/>
          <p:cNvGraphicFramePr>
            <a:graphicFrameLocks noGrp="1"/>
          </p:cNvGraphicFramePr>
          <p:nvPr/>
        </p:nvGraphicFramePr>
        <p:xfrm>
          <a:off x="628650" y="3408363"/>
          <a:ext cx="3770313" cy="1209675"/>
        </p:xfrm>
        <a:graphic>
          <a:graphicData uri="http://schemas.openxmlformats.org/drawingml/2006/table">
            <a:tbl>
              <a:tblPr/>
              <a:tblGrid>
                <a:gridCol w="813064"/>
                <a:gridCol w="939700"/>
                <a:gridCol w="2017549"/>
              </a:tblGrid>
              <a:tr h="40322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学号</a:t>
                      </a:r>
                      <a:endParaRPr kumimoji="0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8" marB="4680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姓名</a:t>
                      </a:r>
                      <a:endParaRPr kumimoji="0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8" marB="468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课程号</a:t>
                      </a:r>
                      <a:endParaRPr kumimoji="0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8" marB="468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40322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S1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8" marB="4680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John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8" marB="468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{C1</a:t>
                      </a: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C2</a:t>
                      </a: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C3}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8" marB="468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322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S2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8" marB="4680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Smith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8" marB="468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{C3</a:t>
                      </a: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C5}</a:t>
                      </a:r>
                      <a:endParaRPr kumimoji="0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8" marB="468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98390" name="Rectangle 22"/>
          <p:cNvSpPr>
            <a:spLocks noChangeArrowheads="1"/>
          </p:cNvSpPr>
          <p:nvPr/>
        </p:nvSpPr>
        <p:spPr bwMode="auto">
          <a:xfrm>
            <a:off x="1639888" y="2886075"/>
            <a:ext cx="1746250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fontAlgn="auto" hangingPunct="1">
              <a:spcBef>
                <a:spcPct val="3500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Monotype Sorts" pitchFamily="-65" charset="2"/>
              <a:buNone/>
              <a:defRPr/>
            </a:pPr>
            <a:r>
              <a:rPr kumimoji="1" lang="en-US" altLang="zh-CN" sz="2800" b="1" dirty="0">
                <a:latin typeface="Helvetica" panose="020B0604020202020204" pitchFamily="34" charset="0"/>
                <a:ea typeface="宋体" panose="02010600030101010101" pitchFamily="2" charset="-122"/>
              </a:rPr>
              <a:t>Student</a:t>
            </a:r>
            <a:endParaRPr kumimoji="1" lang="zh-CN" altLang="en-US" sz="2800" b="1" dirty="0"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698457" name="Group 89"/>
          <p:cNvGraphicFramePr>
            <a:graphicFrameLocks noGrp="1"/>
          </p:cNvGraphicFramePr>
          <p:nvPr/>
        </p:nvGraphicFramePr>
        <p:xfrm>
          <a:off x="5186363" y="3408363"/>
          <a:ext cx="3551237" cy="1209675"/>
        </p:xfrm>
        <a:graphic>
          <a:graphicData uri="http://schemas.openxmlformats.org/drawingml/2006/table">
            <a:tbl>
              <a:tblPr/>
              <a:tblGrid>
                <a:gridCol w="697997"/>
                <a:gridCol w="943008"/>
                <a:gridCol w="1910232"/>
              </a:tblGrid>
              <a:tr h="40322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学号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1" marB="4680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姓名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1" marB="468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父母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1" marB="468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40322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1" marB="4680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John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1" marB="468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(Tom, Angie)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1" marB="468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322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S2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1" marB="4680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Smith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1" marB="468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(Mike, Sophie)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01" marB="468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98409" name="Rectangle 41"/>
          <p:cNvSpPr>
            <a:spLocks noChangeArrowheads="1"/>
          </p:cNvSpPr>
          <p:nvPr/>
        </p:nvSpPr>
        <p:spPr bwMode="auto">
          <a:xfrm>
            <a:off x="6088063" y="2886075"/>
            <a:ext cx="1746250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fontAlgn="auto" hangingPunct="1">
              <a:spcBef>
                <a:spcPct val="3500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Monotype Sorts" pitchFamily="-65" charset="2"/>
              <a:buNone/>
              <a:defRPr/>
            </a:pPr>
            <a:r>
              <a:rPr kumimoji="1" lang="en-US" altLang="zh-CN" sz="2800" b="1" dirty="0">
                <a:latin typeface="Helvetica" panose="020B0604020202020204" pitchFamily="34" charset="0"/>
                <a:ea typeface="宋体" panose="02010600030101010101" pitchFamily="2" charset="-122"/>
              </a:rPr>
              <a:t>Student</a:t>
            </a:r>
            <a:endParaRPr kumimoji="1" lang="zh-CN" altLang="en-US" sz="2800" b="1" dirty="0"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698453" name="Group 85"/>
          <p:cNvGraphicFramePr>
            <a:graphicFrameLocks noGrp="1"/>
          </p:cNvGraphicFramePr>
          <p:nvPr/>
        </p:nvGraphicFramePr>
        <p:xfrm>
          <a:off x="5186363" y="5275263"/>
          <a:ext cx="3551237" cy="1260474"/>
        </p:xfrm>
        <a:graphic>
          <a:graphicData uri="http://schemas.openxmlformats.org/drawingml/2006/table">
            <a:tbl>
              <a:tblPr/>
              <a:tblGrid>
                <a:gridCol w="712663"/>
                <a:gridCol w="1038797"/>
                <a:gridCol w="918007"/>
                <a:gridCol w="881770"/>
              </a:tblGrid>
              <a:tr h="420158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学号</a:t>
                      </a:r>
                      <a:endParaRPr kumimoji="0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768" marB="4676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姓名</a:t>
                      </a:r>
                      <a:endParaRPr kumimoji="0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768" marB="4676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性别</a:t>
                      </a:r>
                      <a:endParaRPr kumimoji="0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768" marB="4676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年龄</a:t>
                      </a:r>
                      <a:endParaRPr kumimoji="0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768" marB="4676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420158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S1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768" marB="4676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John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768" marB="4676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Male</a:t>
                      </a:r>
                      <a:endParaRPr kumimoji="0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768" marB="4676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22</a:t>
                      </a:r>
                      <a:endParaRPr kumimoji="0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768" marB="4676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0158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S2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768" marB="4676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Smith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768" marB="4676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Male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768" marB="4676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23</a:t>
                      </a:r>
                      <a:endParaRPr kumimoji="0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768" marB="4676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98432" name="Rectangle 64"/>
          <p:cNvSpPr>
            <a:spLocks noChangeArrowheads="1"/>
          </p:cNvSpPr>
          <p:nvPr/>
        </p:nvSpPr>
        <p:spPr bwMode="auto">
          <a:xfrm>
            <a:off x="6229350" y="4752975"/>
            <a:ext cx="1746250" cy="525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lIns="0" tIns="46800" rIns="0" bIns="46800">
            <a:spAutoFit/>
          </a:bodyPr>
          <a:lstStyle/>
          <a:p>
            <a:pPr algn="ctr" eaLnBrk="1" fontAlgn="auto" hangingPunct="1">
              <a:spcBef>
                <a:spcPct val="3500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Monotype Sorts" pitchFamily="-65" charset="2"/>
              <a:buNone/>
              <a:defRPr/>
            </a:pPr>
            <a:r>
              <a:rPr kumimoji="1" lang="en-US" altLang="zh-CN" sz="2800" b="1" dirty="0">
                <a:latin typeface="Helvetica" panose="020B0604020202020204" pitchFamily="34" charset="0"/>
                <a:ea typeface="宋体" panose="02010600030101010101" pitchFamily="2" charset="-122"/>
              </a:rPr>
              <a:t>Student</a:t>
            </a:r>
            <a:endParaRPr kumimoji="1" lang="zh-CN" altLang="en-US" sz="2800" b="1" dirty="0"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一些术语和解释</a:t>
            </a:r>
            <a:endParaRPr lang="zh-CN" altLang="en-US" smtClean="0"/>
          </a:p>
        </p:txBody>
      </p:sp>
      <p:sp>
        <p:nvSpPr>
          <p:cNvPr id="795651" name="Rectangle 3"/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 lnSpcReduction="1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2600" dirty="0" smtClean="0"/>
              <a:t>例子关系</a:t>
            </a:r>
            <a:endParaRPr lang="zh-CN" altLang="en-US" sz="2600" dirty="0" smtClean="0"/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altLang="zh-CN" sz="2000" dirty="0" smtClean="0"/>
              <a:t>R(</a:t>
            </a:r>
            <a:r>
              <a:rPr lang="en-US" altLang="zh-CN" sz="2000" u="sng" dirty="0" smtClean="0"/>
              <a:t>ABC</a:t>
            </a:r>
            <a:r>
              <a:rPr lang="en-US" altLang="zh-CN" sz="2000" dirty="0" smtClean="0"/>
              <a:t>DE)</a:t>
            </a:r>
            <a:r>
              <a:rPr lang="zh-CN" altLang="en-US" sz="2000" dirty="0" smtClean="0"/>
              <a:t>。候选码只有一个</a:t>
            </a:r>
            <a:r>
              <a:rPr lang="en-US" altLang="zh-CN" sz="2000" dirty="0" smtClean="0"/>
              <a:t>ABC</a:t>
            </a:r>
            <a:r>
              <a:rPr lang="zh-CN" altLang="en-US" sz="2000" dirty="0" smtClean="0"/>
              <a:t>，所以也是主码。</a:t>
            </a:r>
            <a:endParaRPr lang="zh-CN" altLang="en-US" sz="2000" dirty="0" smtClean="0"/>
          </a:p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2600" dirty="0" smtClean="0"/>
              <a:t>码属性（</a:t>
            </a:r>
            <a:r>
              <a:rPr lang="zh-CN" altLang="en-US" sz="2600" dirty="0" smtClean="0">
                <a:solidFill>
                  <a:srgbClr val="00E444"/>
                </a:solidFill>
              </a:rPr>
              <a:t>主属性</a:t>
            </a:r>
            <a:r>
              <a:rPr lang="en-US" altLang="zh-CN" sz="2600" dirty="0" smtClean="0">
                <a:solidFill>
                  <a:srgbClr val="00E444"/>
                </a:solidFill>
              </a:rPr>
              <a:t>, prime attribute</a:t>
            </a:r>
            <a:r>
              <a:rPr lang="zh-CN" altLang="en-US" sz="2600" dirty="0" smtClean="0"/>
              <a:t>）</a:t>
            </a:r>
            <a:endParaRPr lang="zh-CN" altLang="en-US" sz="2600" dirty="0" smtClean="0"/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zh-CN" altLang="en-US" sz="2000" dirty="0" smtClean="0"/>
              <a:t>一个属性，出现在某个</a:t>
            </a:r>
            <a:r>
              <a:rPr lang="zh-CN" altLang="en-US" sz="2000" dirty="0" smtClean="0">
                <a:solidFill>
                  <a:srgbClr val="FF0000"/>
                </a:solidFill>
              </a:rPr>
              <a:t>候选码</a:t>
            </a:r>
            <a:r>
              <a:rPr lang="zh-CN" altLang="en-US" sz="2000" dirty="0"/>
              <a:t>（</a:t>
            </a:r>
            <a:r>
              <a:rPr lang="en-US" altLang="zh-CN" sz="2000" dirty="0">
                <a:solidFill>
                  <a:srgbClr val="00E444"/>
                </a:solidFill>
              </a:rPr>
              <a:t>candidate key</a:t>
            </a:r>
            <a:r>
              <a:rPr lang="zh-CN" altLang="en-US" sz="2000" dirty="0"/>
              <a:t>）</a:t>
            </a:r>
            <a:r>
              <a:rPr lang="zh-CN" altLang="en-US" sz="2000" dirty="0" smtClean="0"/>
              <a:t>中</a:t>
            </a:r>
            <a:endParaRPr lang="zh-CN" altLang="en-US" sz="2000" dirty="0" smtClean="0"/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zh-CN" altLang="en-US" sz="2000" dirty="0" smtClean="0"/>
              <a:t>例如：</a:t>
            </a:r>
            <a:r>
              <a:rPr lang="en-US" altLang="zh-CN" sz="2000" dirty="0" smtClean="0"/>
              <a:t>A, B, C</a:t>
            </a:r>
            <a:endParaRPr lang="en-US" altLang="zh-CN" sz="2000" dirty="0" smtClean="0"/>
          </a:p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2600" dirty="0" smtClean="0"/>
              <a:t>非码属性（</a:t>
            </a:r>
            <a:r>
              <a:rPr lang="zh-CN" altLang="en-US" sz="2600" dirty="0" smtClean="0">
                <a:solidFill>
                  <a:srgbClr val="00E444"/>
                </a:solidFill>
              </a:rPr>
              <a:t>非主属性</a:t>
            </a:r>
            <a:r>
              <a:rPr lang="en-US" altLang="zh-CN" sz="2600" dirty="0">
                <a:solidFill>
                  <a:srgbClr val="00E444"/>
                </a:solidFill>
              </a:rPr>
              <a:t>, </a:t>
            </a:r>
            <a:r>
              <a:rPr lang="en-US" altLang="zh-CN" sz="2600" dirty="0" smtClean="0">
                <a:solidFill>
                  <a:srgbClr val="00E444"/>
                </a:solidFill>
              </a:rPr>
              <a:t>non-prime </a:t>
            </a:r>
            <a:r>
              <a:rPr lang="en-US" altLang="zh-CN" sz="2600" dirty="0">
                <a:solidFill>
                  <a:srgbClr val="00E444"/>
                </a:solidFill>
              </a:rPr>
              <a:t>attribute </a:t>
            </a:r>
            <a:r>
              <a:rPr lang="zh-CN" altLang="en-US" sz="2600" dirty="0" smtClean="0"/>
              <a:t>）</a:t>
            </a:r>
            <a:endParaRPr lang="zh-CN" altLang="en-US" sz="2600" dirty="0" smtClean="0"/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zh-CN" altLang="en-US" sz="2000" dirty="0" smtClean="0"/>
              <a:t>一个属性，不出现在任何一个</a:t>
            </a:r>
            <a:r>
              <a:rPr lang="zh-CN" altLang="en-US" sz="2000" dirty="0" smtClean="0">
                <a:solidFill>
                  <a:srgbClr val="FF0000"/>
                </a:solidFill>
              </a:rPr>
              <a:t>候选码</a:t>
            </a:r>
            <a:r>
              <a:rPr lang="zh-CN" altLang="en-US" sz="2000" dirty="0" smtClean="0"/>
              <a:t>中</a:t>
            </a:r>
            <a:endParaRPr lang="zh-CN" altLang="en-US" sz="2000" dirty="0" smtClean="0"/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zh-CN" altLang="en-US" sz="2000" dirty="0" smtClean="0"/>
              <a:t>例如：</a:t>
            </a:r>
            <a:r>
              <a:rPr lang="en-US" altLang="zh-CN" sz="2000" dirty="0" smtClean="0"/>
              <a:t>D, E</a:t>
            </a:r>
            <a:endParaRPr lang="en-US" altLang="zh-CN" sz="2000" dirty="0" smtClean="0"/>
          </a:p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2600" dirty="0" smtClean="0"/>
              <a:t>（候选码）码的一部分</a:t>
            </a:r>
            <a:endParaRPr lang="zh-CN" altLang="en-US" sz="2600" dirty="0" smtClean="0"/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zh-CN" altLang="en-US" sz="2000" dirty="0" smtClean="0"/>
              <a:t>就是候选码的真子集。</a:t>
            </a:r>
            <a:endParaRPr lang="zh-CN" altLang="en-US" sz="2000" dirty="0" smtClean="0"/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zh-CN" altLang="en-US" sz="2000" dirty="0" smtClean="0"/>
              <a:t>例如，</a:t>
            </a:r>
            <a:r>
              <a:rPr lang="en-US" altLang="zh-CN" sz="2000" dirty="0" smtClean="0"/>
              <a:t>AB, BC, AC, A, B, C</a:t>
            </a:r>
            <a:r>
              <a:rPr lang="zh-CN" altLang="en-US" sz="2000" dirty="0" smtClean="0"/>
              <a:t>等等</a:t>
            </a:r>
            <a:endParaRPr lang="zh-CN" altLang="en-US" sz="2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一些术语和解释</a:t>
            </a:r>
            <a:endParaRPr lang="zh-CN" altLang="en-US" smtClean="0"/>
          </a:p>
        </p:txBody>
      </p:sp>
      <p:sp>
        <p:nvSpPr>
          <p:cNvPr id="4915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z="2600" dirty="0" smtClean="0"/>
              <a:t>超码</a:t>
            </a:r>
            <a:endParaRPr lang="zh-CN" altLang="en-US" sz="2600" dirty="0" smtClean="0"/>
          </a:p>
          <a:p>
            <a:pPr lvl="1" eaLnBrk="1" hangingPunct="1"/>
            <a:r>
              <a:rPr lang="zh-CN" altLang="en-US" sz="2000" dirty="0" smtClean="0"/>
              <a:t>具有唯一性的属性集。</a:t>
            </a:r>
            <a:endParaRPr lang="zh-CN" altLang="en-US" sz="2000" dirty="0" smtClean="0"/>
          </a:p>
          <a:p>
            <a:pPr lvl="1" eaLnBrk="1" hangingPunct="1"/>
            <a:r>
              <a:rPr lang="zh-CN" altLang="en-US" sz="2000" dirty="0" smtClean="0"/>
              <a:t>超码里面如果有多余的属性，那么去除后剩下的就是候选码。所以直观上看，超码含有或等于候选码。</a:t>
            </a:r>
            <a:endParaRPr lang="zh-CN" altLang="en-US" sz="2000" dirty="0" smtClean="0"/>
          </a:p>
          <a:p>
            <a:pPr lvl="1" eaLnBrk="1" hangingPunct="1"/>
            <a:r>
              <a:rPr lang="zh-CN" altLang="en-US" sz="2000" dirty="0" smtClean="0"/>
              <a:t>例如：</a:t>
            </a:r>
            <a:r>
              <a:rPr lang="en-US" altLang="zh-CN" sz="2000" dirty="0" smtClean="0"/>
              <a:t>ABC, ABCD, ABCE, ABCDE</a:t>
            </a:r>
            <a:r>
              <a:rPr lang="zh-CN" altLang="en-US" sz="2000" dirty="0" smtClean="0"/>
              <a:t>都是超码</a:t>
            </a:r>
            <a:endParaRPr lang="zh-CN" altLang="en-US" sz="2000" dirty="0" smtClean="0"/>
          </a:p>
          <a:p>
            <a:pPr eaLnBrk="1" hangingPunct="1"/>
            <a:r>
              <a:rPr lang="zh-CN" altLang="en-US" sz="2600" dirty="0" smtClean="0"/>
              <a:t>非码</a:t>
            </a:r>
            <a:endParaRPr lang="zh-CN" altLang="en-US" sz="2600" dirty="0" smtClean="0"/>
          </a:p>
          <a:p>
            <a:pPr lvl="1" eaLnBrk="1" hangingPunct="1"/>
            <a:r>
              <a:rPr lang="zh-CN" altLang="en-US" sz="2000" dirty="0" smtClean="0"/>
              <a:t>非超码，也就是超码以外，不具有唯一性的属性集。</a:t>
            </a:r>
            <a:endParaRPr lang="zh-CN" altLang="en-US" sz="2000" dirty="0" smtClean="0"/>
          </a:p>
          <a:p>
            <a:pPr lvl="1" eaLnBrk="1" hangingPunct="1"/>
            <a:r>
              <a:rPr lang="zh-CN" altLang="en-US" sz="2000" dirty="0" smtClean="0"/>
              <a:t>直观上看，非码不含有候选码</a:t>
            </a:r>
            <a:endParaRPr lang="zh-CN" altLang="en-US" sz="2000" dirty="0" smtClean="0"/>
          </a:p>
          <a:p>
            <a:pPr lvl="1" eaLnBrk="1" hangingPunct="1"/>
            <a:r>
              <a:rPr lang="zh-CN" altLang="en-US" sz="2000" dirty="0" smtClean="0"/>
              <a:t>例如：</a:t>
            </a:r>
            <a:r>
              <a:rPr lang="en-US" altLang="zh-CN" sz="2000" dirty="0" smtClean="0"/>
              <a:t>AC, AD, CD, BD</a:t>
            </a:r>
            <a:r>
              <a:rPr lang="zh-CN" altLang="en-US" sz="2000" dirty="0" smtClean="0"/>
              <a:t>等都是非码</a:t>
            </a:r>
            <a:endParaRPr lang="zh-CN" altLang="en-US" sz="2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第二范式</a:t>
            </a:r>
            <a:endParaRPr lang="zh-CN" altLang="en-US" smtClean="0"/>
          </a:p>
        </p:txBody>
      </p:sp>
      <p:sp>
        <p:nvSpPr>
          <p:cNvPr id="5017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z="2400" dirty="0" smtClean="0"/>
              <a:t>要求</a:t>
            </a:r>
            <a:endParaRPr lang="zh-CN" altLang="en-US" sz="2400" dirty="0" smtClean="0"/>
          </a:p>
          <a:p>
            <a:pPr lvl="1" eaLnBrk="1" hangingPunct="1"/>
            <a:r>
              <a:rPr lang="zh-CN" altLang="en-US" sz="2400" dirty="0" smtClean="0"/>
              <a:t>关系在</a:t>
            </a:r>
            <a:r>
              <a:rPr lang="en-US" altLang="zh-CN" sz="2400" dirty="0" smtClean="0"/>
              <a:t>1NF</a:t>
            </a:r>
            <a:r>
              <a:rPr lang="zh-CN" altLang="en-US" sz="2400" dirty="0" smtClean="0"/>
              <a:t>中</a:t>
            </a:r>
            <a:endParaRPr lang="zh-CN" altLang="en-US" sz="2400" dirty="0" smtClean="0"/>
          </a:p>
          <a:p>
            <a:pPr lvl="1" eaLnBrk="1" hangingPunct="1"/>
            <a:r>
              <a:rPr lang="zh-CN" altLang="en-US" sz="2400" dirty="0" smtClean="0"/>
              <a:t>每个非码属性都</a:t>
            </a:r>
            <a:r>
              <a:rPr lang="zh-CN" altLang="en-US" sz="2400" dirty="0" smtClean="0">
                <a:solidFill>
                  <a:schemeClr val="accent3">
                    <a:lumMod val="50000"/>
                  </a:schemeClr>
                </a:solidFill>
              </a:rPr>
              <a:t>完全函数依赖于</a:t>
            </a:r>
            <a:r>
              <a:rPr lang="zh-CN" altLang="en-US" sz="2400" dirty="0" smtClean="0"/>
              <a:t>候选码</a:t>
            </a:r>
            <a:endParaRPr lang="zh-CN" altLang="en-US" sz="2400" dirty="0" smtClean="0"/>
          </a:p>
          <a:p>
            <a:pPr lvl="2" eaLnBrk="1" hangingPunct="1"/>
            <a:r>
              <a:rPr lang="zh-CN" altLang="en-US" sz="2400" dirty="0" smtClean="0"/>
              <a:t>判断是否属于</a:t>
            </a:r>
            <a:r>
              <a:rPr lang="en-US" altLang="zh-CN" sz="2400" dirty="0" smtClean="0"/>
              <a:t>2NF</a:t>
            </a:r>
            <a:r>
              <a:rPr lang="zh-CN" altLang="en-US" sz="2400" dirty="0" smtClean="0"/>
              <a:t>：检查每个非码属性，是否可能依赖于候选码的一部分？有，不属于，否则属于。</a:t>
            </a:r>
            <a:endParaRPr lang="zh-CN" altLang="en-US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第二范式</a:t>
            </a:r>
            <a:endParaRPr lang="zh-CN" altLang="en-US" smtClean="0"/>
          </a:p>
        </p:txBody>
      </p:sp>
      <p:sp>
        <p:nvSpPr>
          <p:cNvPr id="5120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z="2400" dirty="0" smtClean="0"/>
              <a:t>例子</a:t>
            </a:r>
            <a:endParaRPr lang="zh-CN" altLang="en-US" sz="2400" dirty="0" smtClean="0"/>
          </a:p>
          <a:p>
            <a:pPr lvl="1" eaLnBrk="1" hangingPunct="1"/>
            <a:r>
              <a:rPr lang="zh-CN" altLang="en-US" sz="2400" dirty="0" smtClean="0"/>
              <a:t>以下关系在</a:t>
            </a:r>
            <a:r>
              <a:rPr lang="en-US" altLang="zh-CN" sz="2400" dirty="0" smtClean="0"/>
              <a:t>1NF</a:t>
            </a:r>
            <a:r>
              <a:rPr lang="zh-CN" altLang="en-US" sz="2400" dirty="0" smtClean="0"/>
              <a:t>中？在</a:t>
            </a:r>
            <a:r>
              <a:rPr lang="en-US" altLang="zh-CN" sz="2400" dirty="0" smtClean="0"/>
              <a:t>2NF</a:t>
            </a:r>
            <a:r>
              <a:rPr lang="zh-CN" altLang="en-US" sz="2400" dirty="0" smtClean="0"/>
              <a:t>中？为什么？</a:t>
            </a:r>
            <a:endParaRPr lang="zh-CN" altLang="en-US" sz="2400" dirty="0" smtClean="0"/>
          </a:p>
          <a:p>
            <a:pPr lvl="1" eaLnBrk="1" hangingPunct="1"/>
            <a:r>
              <a:rPr lang="zh-CN" altLang="en-US" sz="2400" dirty="0" smtClean="0"/>
              <a:t>它们有我们以前讨论过的四个问题吗？</a:t>
            </a:r>
            <a:endParaRPr lang="zh-CN" altLang="en-US" sz="2400" dirty="0" smtClean="0"/>
          </a:p>
        </p:txBody>
      </p:sp>
      <p:graphicFrame>
        <p:nvGraphicFramePr>
          <p:cNvPr id="701529" name="Group 89"/>
          <p:cNvGraphicFramePr>
            <a:graphicFrameLocks noGrp="1"/>
          </p:cNvGraphicFramePr>
          <p:nvPr/>
        </p:nvGraphicFramePr>
        <p:xfrm>
          <a:off x="628650" y="4092575"/>
          <a:ext cx="4348163" cy="2112965"/>
        </p:xfrm>
        <a:graphic>
          <a:graphicData uri="http://schemas.openxmlformats.org/drawingml/2006/table">
            <a:tbl>
              <a:tblPr/>
              <a:tblGrid>
                <a:gridCol w="816993"/>
                <a:gridCol w="928054"/>
                <a:gridCol w="1086280"/>
                <a:gridCol w="1516836"/>
              </a:tblGrid>
              <a:tr h="422593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学号</a:t>
                      </a:r>
                      <a:endParaRPr kumimoji="0" lang="zh-CN" altLang="en-US" sz="2000" b="0" i="0" u="sng" strike="noStrike" cap="none" normalizeH="0" baseline="0" dirty="0" smtClean="0">
                        <a:ln>
                          <a:noFill/>
                        </a:ln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27" marB="468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姓名</a:t>
                      </a:r>
                      <a:endParaRPr kumimoji="0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27" marB="468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课程号</a:t>
                      </a:r>
                      <a:endParaRPr kumimoji="0" lang="zh-CN" altLang="en-US" sz="2000" b="0" i="0" u="sng" strike="noStrike" cap="none" normalizeH="0" baseline="0" dirty="0" smtClean="0">
                        <a:ln>
                          <a:noFill/>
                        </a:ln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27" marB="468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课程名</a:t>
                      </a:r>
                      <a:endParaRPr kumimoji="0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27" marB="468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422593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E444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S1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E444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27" marB="468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E444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John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E444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27" marB="468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C1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27" marB="468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database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27" marB="468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2593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S2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27" marB="468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Smith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27" marB="468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C1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27" marB="468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database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27" marB="468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2593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E444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S1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E444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27" marB="468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E444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John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E444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27" marB="468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E444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C2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E444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27" marB="468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E444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algorithm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E444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27" marB="468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2593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S2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27" marB="468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Smith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27" marB="468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E444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C2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E444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27" marB="468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E444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algorithm</a:t>
                      </a:r>
                      <a:endParaRPr kumimoji="0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E444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27" marB="468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01476" name="Rectangle 36"/>
          <p:cNvSpPr>
            <a:spLocks noChangeArrowheads="1"/>
          </p:cNvSpPr>
          <p:nvPr/>
        </p:nvSpPr>
        <p:spPr bwMode="auto">
          <a:xfrm>
            <a:off x="1928813" y="3541713"/>
            <a:ext cx="1746250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fontAlgn="auto" hangingPunct="1">
              <a:spcBef>
                <a:spcPct val="3500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Monotype Sorts" pitchFamily="-65" charset="2"/>
              <a:buNone/>
              <a:defRPr/>
            </a:pPr>
            <a:r>
              <a:rPr kumimoji="1" lang="en-US" altLang="zh-CN" sz="2800" b="1" dirty="0">
                <a:latin typeface="Helvetica" panose="020B0604020202020204" pitchFamily="34" charset="0"/>
                <a:ea typeface="宋体" panose="02010600030101010101" pitchFamily="2" charset="-122"/>
              </a:rPr>
              <a:t>SC</a:t>
            </a:r>
            <a:endParaRPr kumimoji="1" lang="zh-CN" altLang="en-US" sz="2800" b="1" dirty="0"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701528" name="Group 88"/>
          <p:cNvGraphicFramePr>
            <a:graphicFrameLocks noGrp="1"/>
          </p:cNvGraphicFramePr>
          <p:nvPr/>
        </p:nvGraphicFramePr>
        <p:xfrm>
          <a:off x="5580063" y="4092575"/>
          <a:ext cx="2641599" cy="2112965"/>
        </p:xfrm>
        <a:graphic>
          <a:graphicData uri="http://schemas.openxmlformats.org/drawingml/2006/table">
            <a:tbl>
              <a:tblPr/>
              <a:tblGrid>
                <a:gridCol w="721548"/>
                <a:gridCol w="978370"/>
                <a:gridCol w="941681"/>
              </a:tblGrid>
              <a:tr h="422593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学号</a:t>
                      </a:r>
                      <a:endParaRPr kumimoji="0" lang="zh-CN" altLang="en-US" sz="2000" b="0" i="0" u="sng" strike="noStrike" cap="none" normalizeH="0" baseline="0" dirty="0" smtClean="0">
                        <a:ln>
                          <a:noFill/>
                        </a:ln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27" marB="468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课程号</a:t>
                      </a:r>
                      <a:endParaRPr kumimoji="0" lang="zh-CN" altLang="en-US" sz="2000" b="0" i="0" u="sng" strike="noStrike" cap="none" normalizeH="0" baseline="0" dirty="0" smtClean="0">
                        <a:ln>
                          <a:noFill/>
                        </a:ln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27" marB="468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成绩</a:t>
                      </a:r>
                      <a:endParaRPr kumimoji="0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27" marB="468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422593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S1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27" marB="468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C1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27" marB="468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77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27" marB="468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2593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S2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27" marB="468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C1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27" marB="468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80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27" marB="468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2593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S1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27" marB="468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C2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27" marB="468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90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27" marB="468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2593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S2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27" marB="468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C2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27" marB="468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82</a:t>
                      </a:r>
                      <a:endParaRPr kumimoji="0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27" marB="468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01503" name="Rectangle 63"/>
          <p:cNvSpPr>
            <a:spLocks noChangeArrowheads="1"/>
          </p:cNvSpPr>
          <p:nvPr/>
        </p:nvSpPr>
        <p:spPr bwMode="auto">
          <a:xfrm>
            <a:off x="6027738" y="3541713"/>
            <a:ext cx="1746250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fontAlgn="auto" hangingPunct="1">
              <a:spcBef>
                <a:spcPct val="3500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Monotype Sorts" pitchFamily="-65" charset="2"/>
              <a:buNone/>
              <a:defRPr/>
            </a:pPr>
            <a:r>
              <a:rPr kumimoji="1" lang="en-US" altLang="zh-CN" sz="2800" b="1" dirty="0">
                <a:latin typeface="Helvetica" panose="020B0604020202020204" pitchFamily="34" charset="0"/>
                <a:ea typeface="宋体" panose="02010600030101010101" pitchFamily="2" charset="-122"/>
              </a:rPr>
              <a:t>SC</a:t>
            </a:r>
            <a:endParaRPr kumimoji="1" lang="zh-CN" altLang="en-US" sz="2800" b="1" dirty="0"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第三范式</a:t>
            </a:r>
            <a:endParaRPr lang="zh-CN" altLang="en-US" smtClean="0"/>
          </a:p>
        </p:txBody>
      </p:sp>
      <p:sp>
        <p:nvSpPr>
          <p:cNvPr id="52227" name="Rectangle 3"/>
          <p:cNvSpPr>
            <a:spLocks noGrp="1" noChangeArrowheads="1"/>
          </p:cNvSpPr>
          <p:nvPr>
            <p:ph idx="1"/>
          </p:nvPr>
        </p:nvSpPr>
        <p:spPr>
          <a:xfrm>
            <a:off x="554222" y="1453485"/>
            <a:ext cx="8101013" cy="4351338"/>
          </a:xfrm>
        </p:spPr>
        <p:txBody>
          <a:bodyPr/>
          <a:lstStyle/>
          <a:p>
            <a:pPr eaLnBrk="1" hangingPunct="1"/>
            <a:r>
              <a:rPr lang="zh-CN" altLang="en-US" sz="2400" dirty="0" smtClean="0"/>
              <a:t>要求</a:t>
            </a:r>
            <a:endParaRPr lang="zh-CN" altLang="en-US" sz="2400" dirty="0" smtClean="0"/>
          </a:p>
          <a:p>
            <a:pPr lvl="1" eaLnBrk="1" hangingPunct="1"/>
            <a:r>
              <a:rPr lang="zh-CN" altLang="en-US" sz="2400" dirty="0" smtClean="0"/>
              <a:t>关系在</a:t>
            </a:r>
            <a:r>
              <a:rPr lang="en-US" altLang="zh-CN" sz="2400" dirty="0" smtClean="0"/>
              <a:t>1NF</a:t>
            </a:r>
            <a:r>
              <a:rPr lang="zh-CN" altLang="en-US" sz="2400" dirty="0" smtClean="0"/>
              <a:t>中</a:t>
            </a:r>
            <a:endParaRPr lang="zh-CN" altLang="en-US" sz="2400" dirty="0" smtClean="0"/>
          </a:p>
          <a:p>
            <a:pPr lvl="1" eaLnBrk="1" hangingPunct="1"/>
            <a:r>
              <a:rPr lang="zh-CN" altLang="en-US" sz="2400" dirty="0" smtClean="0"/>
              <a:t>每个非码属性都非传递依赖于候选码</a:t>
            </a:r>
            <a:endParaRPr lang="zh-CN" altLang="en-US" sz="2400" dirty="0" smtClean="0"/>
          </a:p>
          <a:p>
            <a:pPr lvl="2" eaLnBrk="1" hangingPunct="1"/>
            <a:r>
              <a:rPr lang="zh-CN" altLang="en-US" sz="2400" dirty="0" smtClean="0"/>
              <a:t>判断是否属于</a:t>
            </a:r>
            <a:r>
              <a:rPr lang="en-US" altLang="zh-CN" sz="2400" dirty="0" smtClean="0"/>
              <a:t>3NF</a:t>
            </a:r>
            <a:r>
              <a:rPr lang="zh-CN" altLang="en-US" sz="2400" dirty="0" smtClean="0"/>
              <a:t>：检查每个非码属性</a:t>
            </a:r>
            <a:r>
              <a:rPr lang="en-US" altLang="zh-CN" sz="2400" dirty="0" smtClean="0"/>
              <a:t>, </a:t>
            </a:r>
            <a:r>
              <a:rPr lang="zh-CN" altLang="en-US" sz="2400" dirty="0" smtClean="0"/>
              <a:t>是否只依赖于超码（包含候选码）。如果有依赖于非超码，不属于，否则属于。</a:t>
            </a:r>
            <a:endParaRPr lang="zh-CN" altLang="en-US" sz="2400" dirty="0" smtClean="0"/>
          </a:p>
          <a:p>
            <a:pPr lvl="2" eaLnBrk="1" hangingPunct="1"/>
            <a:r>
              <a:rPr lang="zh-CN" altLang="en-US" sz="2400" dirty="0" smtClean="0"/>
              <a:t>注意</a:t>
            </a:r>
            <a:r>
              <a:rPr lang="en-US" altLang="zh-CN" sz="2400" dirty="0" smtClean="0"/>
              <a:t>, </a:t>
            </a:r>
            <a:r>
              <a:rPr lang="zh-CN" altLang="en-US" sz="2400" dirty="0" smtClean="0"/>
              <a:t>因为任何属性集都函数依赖于候选码</a:t>
            </a:r>
            <a:r>
              <a:rPr lang="en-US" altLang="zh-CN" sz="2400" dirty="0" smtClean="0"/>
              <a:t>(K</a:t>
            </a:r>
            <a:r>
              <a:rPr lang="zh-CN" altLang="en-US" sz="2400" dirty="0" smtClean="0"/>
              <a:t>→</a:t>
            </a:r>
            <a:r>
              <a:rPr lang="en-US" altLang="zh-CN" sz="2400" dirty="0" smtClean="0"/>
              <a:t>U)</a:t>
            </a:r>
            <a:r>
              <a:rPr lang="zh-CN" altLang="en-US" sz="2400" dirty="0" smtClean="0"/>
              <a:t>，所以非码属性</a:t>
            </a:r>
            <a:r>
              <a:rPr lang="en-US" altLang="zh-CN" sz="2400" dirty="0" smtClean="0"/>
              <a:t>A</a:t>
            </a:r>
            <a:r>
              <a:rPr lang="zh-CN" altLang="en-US" sz="2400" dirty="0" smtClean="0"/>
              <a:t>依赖于某个非码</a:t>
            </a:r>
            <a:r>
              <a:rPr lang="en-US" altLang="zh-CN" sz="2400" dirty="0" smtClean="0"/>
              <a:t>B</a:t>
            </a:r>
            <a:r>
              <a:rPr lang="zh-CN" altLang="en-US" sz="2400" dirty="0" smtClean="0"/>
              <a:t>的同时，也就传递依赖了候选码</a:t>
            </a:r>
            <a:r>
              <a:rPr lang="en-US" altLang="zh-CN" sz="2400" dirty="0" smtClean="0"/>
              <a:t>K (K</a:t>
            </a:r>
            <a:r>
              <a:rPr lang="zh-CN" altLang="en-US" sz="2400" dirty="0" smtClean="0"/>
              <a:t>→</a:t>
            </a:r>
            <a:r>
              <a:rPr lang="en-US" altLang="zh-CN" sz="2400" dirty="0" smtClean="0"/>
              <a:t>B</a:t>
            </a:r>
            <a:r>
              <a:rPr lang="zh-CN" altLang="en-US" sz="2400" dirty="0" smtClean="0"/>
              <a:t>→</a:t>
            </a:r>
            <a:r>
              <a:rPr lang="en-US" altLang="zh-CN" sz="2400" dirty="0" smtClean="0"/>
              <a:t>A)</a:t>
            </a:r>
            <a:endParaRPr lang="en-US" altLang="zh-CN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第三范式</a:t>
            </a:r>
            <a:endParaRPr lang="zh-CN" altLang="en-US" smtClean="0"/>
          </a:p>
        </p:txBody>
      </p:sp>
      <p:sp>
        <p:nvSpPr>
          <p:cNvPr id="542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z="2400" dirty="0" smtClean="0"/>
              <a:t>例子</a:t>
            </a:r>
            <a:endParaRPr lang="zh-CN" altLang="en-US" sz="2400" dirty="0" smtClean="0"/>
          </a:p>
          <a:p>
            <a:pPr lvl="1" eaLnBrk="1" hangingPunct="1"/>
            <a:r>
              <a:rPr lang="zh-CN" altLang="en-US" sz="2400" dirty="0" smtClean="0"/>
              <a:t>以下关系在</a:t>
            </a:r>
            <a:r>
              <a:rPr lang="en-US" altLang="zh-CN" sz="2400" dirty="0" smtClean="0"/>
              <a:t>3NF</a:t>
            </a:r>
            <a:r>
              <a:rPr lang="zh-CN" altLang="en-US" sz="2400" dirty="0" smtClean="0"/>
              <a:t>中？在</a:t>
            </a:r>
            <a:r>
              <a:rPr lang="en-US" altLang="zh-CN" sz="2400" dirty="0" smtClean="0"/>
              <a:t>2NF</a:t>
            </a:r>
            <a:r>
              <a:rPr lang="zh-CN" altLang="en-US" sz="2400" dirty="0" smtClean="0"/>
              <a:t>中？</a:t>
            </a:r>
            <a:endParaRPr lang="en-US" altLang="zh-CN" sz="2400" dirty="0" smtClean="0"/>
          </a:p>
          <a:p>
            <a:pPr lvl="1" eaLnBrk="1" hangingPunct="1"/>
            <a:r>
              <a:rPr lang="zh-CN" altLang="en-US" sz="2400" dirty="0" smtClean="0"/>
              <a:t>它们有我们以前讨论过的四个问题吗？</a:t>
            </a:r>
            <a:endParaRPr lang="zh-CN" altLang="en-US" sz="2400" dirty="0" smtClean="0"/>
          </a:p>
        </p:txBody>
      </p:sp>
      <p:graphicFrame>
        <p:nvGraphicFramePr>
          <p:cNvPr id="705608" name="Group 72"/>
          <p:cNvGraphicFramePr>
            <a:graphicFrameLocks noGrp="1"/>
          </p:cNvGraphicFramePr>
          <p:nvPr/>
        </p:nvGraphicFramePr>
        <p:xfrm>
          <a:off x="628650" y="4140200"/>
          <a:ext cx="3983038" cy="2036765"/>
        </p:xfrm>
        <a:graphic>
          <a:graphicData uri="http://schemas.openxmlformats.org/drawingml/2006/table">
            <a:tbl>
              <a:tblPr/>
              <a:tblGrid>
                <a:gridCol w="720856"/>
                <a:gridCol w="1030886"/>
                <a:gridCol w="960633"/>
                <a:gridCol w="1270663"/>
              </a:tblGrid>
              <a:tr h="407353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学号</a:t>
                      </a:r>
                      <a:endParaRPr kumimoji="0" lang="zh-CN" altLang="en-US" sz="2000" b="0" i="0" u="sng" strike="noStrike" cap="none" normalizeH="0" baseline="0" dirty="0" smtClean="0">
                        <a:ln>
                          <a:noFill/>
                        </a:ln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15" marB="468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姓名</a:t>
                      </a:r>
                      <a:endParaRPr kumimoji="0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15" marB="468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班号</a:t>
                      </a:r>
                      <a:endParaRPr kumimoji="0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15" marB="468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班名</a:t>
                      </a:r>
                      <a:endParaRPr kumimoji="0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15" marB="468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407353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S1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15" marB="468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小王</a:t>
                      </a:r>
                      <a:endParaRPr kumimoji="0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15" marB="468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C1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15" marB="468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会计班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15" marB="468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7353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S2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15" marB="468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小张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15" marB="468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C1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15" marB="468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会计班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15" marB="468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7353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S3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15" marB="468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小李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15" marB="468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E444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C2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E444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15" marB="468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E444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电算班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E444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15" marB="468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7353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S4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15" marB="468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小孙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15" marB="468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E444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C2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E444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15" marB="468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E444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电算班</a:t>
                      </a:r>
                      <a:endParaRPr kumimoji="0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E444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15" marB="468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05572" name="Rectangle 36"/>
          <p:cNvSpPr>
            <a:spLocks noChangeArrowheads="1"/>
          </p:cNvSpPr>
          <p:nvPr/>
        </p:nvSpPr>
        <p:spPr bwMode="auto">
          <a:xfrm>
            <a:off x="1747838" y="3616325"/>
            <a:ext cx="174625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fontAlgn="auto" hangingPunct="1">
              <a:spcBef>
                <a:spcPct val="3500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Monotype Sorts" pitchFamily="-65" charset="2"/>
              <a:buNone/>
              <a:defRPr/>
            </a:pPr>
            <a:r>
              <a:rPr kumimoji="1" lang="en-US" altLang="zh-CN" sz="2800" b="1" dirty="0">
                <a:latin typeface="Helvetica" panose="020B0604020202020204" pitchFamily="34" charset="0"/>
                <a:ea typeface="宋体" panose="02010600030101010101" pitchFamily="2" charset="-122"/>
              </a:rPr>
              <a:t>Student</a:t>
            </a:r>
            <a:endParaRPr kumimoji="1" lang="zh-CN" altLang="en-US" sz="2800" b="1" dirty="0"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705609" name="Group 73"/>
          <p:cNvGraphicFramePr>
            <a:graphicFrameLocks noGrp="1"/>
          </p:cNvGraphicFramePr>
          <p:nvPr/>
        </p:nvGraphicFramePr>
        <p:xfrm>
          <a:off x="5262563" y="4140200"/>
          <a:ext cx="3252787" cy="2036765"/>
        </p:xfrm>
        <a:graphic>
          <a:graphicData uri="http://schemas.openxmlformats.org/drawingml/2006/table">
            <a:tbl>
              <a:tblPr/>
              <a:tblGrid>
                <a:gridCol w="842460"/>
                <a:gridCol w="1128926"/>
                <a:gridCol w="1281401"/>
              </a:tblGrid>
              <a:tr h="407353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学号</a:t>
                      </a:r>
                      <a:endParaRPr kumimoji="0" lang="zh-CN" altLang="en-US" sz="2000" b="0" i="0" u="sng" strike="noStrike" cap="none" normalizeH="0" baseline="0" dirty="0" smtClean="0">
                        <a:ln>
                          <a:noFill/>
                        </a:ln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15" marB="468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姓名</a:t>
                      </a:r>
                      <a:endParaRPr kumimoji="0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15" marB="468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班号</a:t>
                      </a:r>
                      <a:endParaRPr kumimoji="0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15" marB="468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407353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S1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15" marB="468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小王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15" marB="468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C1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15" marB="468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7353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S2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15" marB="468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小张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15" marB="468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C1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15" marB="468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7353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S3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15" marB="468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小李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15" marB="468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E444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C2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E444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15" marB="468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7353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S4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15" marB="468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小孙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15" marB="468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E444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C2</a:t>
                      </a:r>
                      <a:endParaRPr kumimoji="0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E444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46815" marB="468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05599" name="Rectangle 63"/>
          <p:cNvSpPr>
            <a:spLocks noChangeArrowheads="1"/>
          </p:cNvSpPr>
          <p:nvPr/>
        </p:nvSpPr>
        <p:spPr bwMode="auto">
          <a:xfrm>
            <a:off x="6015038" y="3616325"/>
            <a:ext cx="174625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fontAlgn="auto" hangingPunct="1">
              <a:spcBef>
                <a:spcPct val="3500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Monotype Sorts" pitchFamily="-65" charset="2"/>
              <a:buNone/>
              <a:defRPr/>
            </a:pPr>
            <a:r>
              <a:rPr kumimoji="1" lang="en-US" altLang="zh-CN" sz="2800" b="1" dirty="0">
                <a:latin typeface="Helvetica" panose="020B0604020202020204" pitchFamily="34" charset="0"/>
                <a:ea typeface="宋体" panose="02010600030101010101" pitchFamily="2" charset="-122"/>
              </a:rPr>
              <a:t>Student</a:t>
            </a:r>
            <a:endParaRPr kumimoji="1" lang="zh-CN" altLang="en-US" sz="2800" b="1" dirty="0"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Third Normal Form</a:t>
            </a:r>
            <a:endParaRPr lang="en-US" altLang="en-US" sz="2800" dirty="0">
              <a:effectLst>
                <a:outerShdw blurRad="38100" dist="38100" dir="2700000" algn="tl">
                  <a:srgbClr val="C0C0C0"/>
                </a:outerShdw>
              </a:effectLst>
              <a:ea typeface="MS PGothic" panose="020B0600070205080204" pitchFamily="34" charset="-128"/>
            </a:endParaRP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93788"/>
            <a:ext cx="7621048" cy="4903787"/>
          </a:xfrm>
        </p:spPr>
        <p:txBody>
          <a:bodyPr/>
          <a:lstStyle/>
          <a:p>
            <a:pPr>
              <a:tabLst>
                <a:tab pos="2738120" algn="l"/>
              </a:tabLst>
            </a:pPr>
            <a:r>
              <a:rPr lang="en-US" altLang="en-US" sz="2000" dirty="0"/>
              <a:t>A relation schema </a:t>
            </a:r>
            <a:r>
              <a:rPr lang="en-US" altLang="en-US" sz="2000" i="1" dirty="0"/>
              <a:t>R</a:t>
            </a:r>
            <a:r>
              <a:rPr lang="en-US" altLang="en-US" sz="2000" dirty="0"/>
              <a:t> is in </a:t>
            </a:r>
            <a:r>
              <a:rPr lang="en-US" altLang="en-US" sz="2000" b="1" dirty="0">
                <a:solidFill>
                  <a:srgbClr val="002060"/>
                </a:solidFill>
              </a:rPr>
              <a:t>third normal form (3NF)</a:t>
            </a:r>
            <a:r>
              <a:rPr lang="en-US" altLang="en-US" sz="2000" dirty="0">
                <a:solidFill>
                  <a:srgbClr val="002060"/>
                </a:solidFill>
              </a:rPr>
              <a:t> </a:t>
            </a:r>
            <a:r>
              <a:rPr lang="en-US" altLang="en-US" sz="2000" dirty="0"/>
              <a:t>if for all:</a:t>
            </a:r>
            <a:endParaRPr lang="en-US" altLang="en-US" sz="2000" dirty="0"/>
          </a:p>
          <a:p>
            <a:pPr>
              <a:buFont typeface="Monotype Sorts" pitchFamily="-65" charset="2"/>
              <a:buNone/>
              <a:tabLst>
                <a:tab pos="2738120" algn="l"/>
              </a:tabLst>
            </a:pPr>
            <a:r>
              <a:rPr lang="en-US" altLang="en-US" sz="2000" dirty="0"/>
              <a:t>		</a:t>
            </a:r>
            <a:r>
              <a:rPr lang="en-US" altLang="en-US" sz="2000" dirty="0">
                <a:sym typeface="Symbol" panose="05050102010706020507" pitchFamily="18" charset="2"/>
              </a:rPr>
              <a:t></a:t>
            </a:r>
            <a:r>
              <a:rPr lang="en-US" altLang="en-US" sz="2000" dirty="0">
                <a:sym typeface="Greek Symbols"/>
              </a:rPr>
              <a:t> </a:t>
            </a:r>
            <a:r>
              <a:rPr lang="en-US" altLang="en-US" sz="2000" dirty="0">
                <a:sym typeface="Symbol" panose="05050102010706020507" pitchFamily="18" charset="2"/>
              </a:rPr>
              <a:t></a:t>
            </a:r>
            <a:r>
              <a:rPr lang="en-US" altLang="en-US" sz="2000" dirty="0">
                <a:sym typeface="Monotype Sorts" pitchFamily="-65" charset="2"/>
              </a:rPr>
              <a:t> </a:t>
            </a:r>
            <a:r>
              <a:rPr lang="en-US" altLang="en-US" sz="2000" i="1" dirty="0">
                <a:sym typeface="Symbol" panose="05050102010706020507" pitchFamily="18" charset="2"/>
              </a:rPr>
              <a:t></a:t>
            </a:r>
            <a:r>
              <a:rPr lang="en-US" altLang="en-US" sz="2000" dirty="0">
                <a:sym typeface="Monotype Sorts" pitchFamily="-65" charset="2"/>
              </a:rPr>
              <a:t> in </a:t>
            </a:r>
            <a:r>
              <a:rPr lang="en-US" altLang="en-US" sz="2000" i="1" dirty="0">
                <a:sym typeface="Monotype Sorts" pitchFamily="-65" charset="2"/>
              </a:rPr>
              <a:t>F</a:t>
            </a:r>
            <a:r>
              <a:rPr lang="en-US" altLang="en-US" sz="2000" baseline="30000" dirty="0">
                <a:sym typeface="Monotype Sorts" pitchFamily="-65" charset="2"/>
              </a:rPr>
              <a:t>+</a:t>
            </a:r>
            <a:endParaRPr lang="en-US" altLang="en-US" sz="2000" baseline="30000" dirty="0">
              <a:sym typeface="Monotype Sorts" pitchFamily="-65" charset="2"/>
            </a:endParaRPr>
          </a:p>
          <a:p>
            <a:pPr>
              <a:buFont typeface="Monotype Sorts" pitchFamily="-65" charset="2"/>
              <a:buNone/>
              <a:tabLst>
                <a:tab pos="2738120" algn="l"/>
              </a:tabLst>
            </a:pPr>
            <a:r>
              <a:rPr lang="en-US" altLang="en-US" sz="2000" dirty="0">
                <a:sym typeface="Monotype Sorts" pitchFamily="-65" charset="2"/>
              </a:rPr>
              <a:t> </a:t>
            </a:r>
            <a:br>
              <a:rPr lang="en-US" altLang="en-US" sz="2000" dirty="0">
                <a:sym typeface="Monotype Sorts" pitchFamily="-65" charset="2"/>
              </a:rPr>
            </a:br>
            <a:r>
              <a:rPr lang="en-US" altLang="en-US" sz="2000" dirty="0">
                <a:sym typeface="Monotype Sorts" pitchFamily="-65" charset="2"/>
              </a:rPr>
              <a:t>at least one of the following holds:</a:t>
            </a:r>
            <a:endParaRPr lang="en-US" altLang="en-US" sz="2000" dirty="0">
              <a:sym typeface="Monotype Sorts" pitchFamily="-65" charset="2"/>
            </a:endParaRPr>
          </a:p>
          <a:p>
            <a:pPr lvl="1">
              <a:tabLst>
                <a:tab pos="2738120" algn="l"/>
              </a:tabLst>
            </a:pPr>
            <a:r>
              <a:rPr lang="en-US" altLang="en-US" sz="2000" dirty="0">
                <a:sym typeface="Symbol" panose="05050102010706020507" pitchFamily="18" charset="2"/>
              </a:rPr>
              <a:t></a:t>
            </a:r>
            <a:r>
              <a:rPr lang="en-US" altLang="en-US" sz="2000" dirty="0">
                <a:sym typeface="Greek Symbols"/>
              </a:rPr>
              <a:t> </a:t>
            </a:r>
            <a:r>
              <a:rPr lang="en-US" altLang="en-US" sz="2000" dirty="0">
                <a:sym typeface="Symbol" panose="05050102010706020507" pitchFamily="18" charset="2"/>
              </a:rPr>
              <a:t></a:t>
            </a:r>
            <a:r>
              <a:rPr lang="en-US" altLang="en-US" sz="2000" dirty="0">
                <a:sym typeface="Monotype Sorts" pitchFamily="-65" charset="2"/>
              </a:rPr>
              <a:t> </a:t>
            </a:r>
            <a:r>
              <a:rPr lang="en-US" altLang="en-US" sz="2000" i="1" dirty="0">
                <a:sym typeface="Symbol" panose="05050102010706020507" pitchFamily="18" charset="2"/>
              </a:rPr>
              <a:t></a:t>
            </a:r>
            <a:r>
              <a:rPr lang="en-US" altLang="en-US" sz="2000" i="1" dirty="0">
                <a:sym typeface="Greek Symbols"/>
              </a:rPr>
              <a:t> </a:t>
            </a:r>
            <a:r>
              <a:rPr lang="en-US" altLang="en-US" sz="2000" dirty="0">
                <a:sym typeface="Greek Symbols"/>
              </a:rPr>
              <a:t>is trivial (i.e., </a:t>
            </a:r>
            <a:r>
              <a:rPr lang="en-US" altLang="en-US" sz="2000" i="1" dirty="0">
                <a:sym typeface="Symbol" panose="05050102010706020507" pitchFamily="18" charset="2"/>
              </a:rPr>
              <a:t></a:t>
            </a:r>
            <a:r>
              <a:rPr lang="en-US" altLang="en-US" sz="2000" i="1" dirty="0">
                <a:sym typeface="Greek Symbols"/>
              </a:rPr>
              <a:t> </a:t>
            </a:r>
            <a:r>
              <a:rPr lang="en-US" altLang="en-US" sz="2000" dirty="0">
                <a:sym typeface="Symbol" panose="05050102010706020507" pitchFamily="18" charset="2"/>
              </a:rPr>
              <a:t> </a:t>
            </a:r>
            <a:r>
              <a:rPr lang="en-US" altLang="en-US" sz="2000" dirty="0">
                <a:sym typeface="Greek Symbols"/>
              </a:rPr>
              <a:t>)</a:t>
            </a:r>
            <a:endParaRPr lang="en-US" altLang="en-US" sz="2000" dirty="0">
              <a:sym typeface="Greek Symbols"/>
            </a:endParaRPr>
          </a:p>
          <a:p>
            <a:pPr lvl="1">
              <a:tabLst>
                <a:tab pos="2738120" algn="l"/>
              </a:tabLst>
            </a:pPr>
            <a:r>
              <a:rPr lang="en-US" altLang="en-US" sz="2000" dirty="0">
                <a:sym typeface="Symbol" panose="05050102010706020507" pitchFamily="18" charset="2"/>
              </a:rPr>
              <a:t></a:t>
            </a:r>
            <a:r>
              <a:rPr lang="en-US" altLang="en-US" sz="2000" dirty="0">
                <a:sym typeface="Greek Symbols"/>
              </a:rPr>
              <a:t> is a </a:t>
            </a:r>
            <a:r>
              <a:rPr lang="en-US" altLang="en-US" sz="2000" dirty="0" err="1">
                <a:sym typeface="Greek Symbols"/>
              </a:rPr>
              <a:t>superkey</a:t>
            </a:r>
            <a:r>
              <a:rPr lang="en-US" altLang="en-US" sz="2000" dirty="0">
                <a:sym typeface="Greek Symbols"/>
              </a:rPr>
              <a:t> for </a:t>
            </a:r>
            <a:r>
              <a:rPr lang="en-US" altLang="en-US" sz="2000" i="1" dirty="0">
                <a:sym typeface="Greek Symbols"/>
              </a:rPr>
              <a:t>R</a:t>
            </a:r>
            <a:endParaRPr lang="en-US" altLang="en-US" sz="2000" dirty="0">
              <a:sym typeface="Greek Symbols"/>
            </a:endParaRPr>
          </a:p>
          <a:p>
            <a:pPr lvl="1">
              <a:tabLst>
                <a:tab pos="2738120" algn="l"/>
              </a:tabLst>
            </a:pPr>
            <a:r>
              <a:rPr lang="en-US" altLang="en-US" sz="2000" dirty="0">
                <a:sym typeface="Greek Symbols"/>
              </a:rPr>
              <a:t>Each attribute </a:t>
            </a:r>
            <a:r>
              <a:rPr lang="en-US" altLang="en-US" sz="2000" i="1" dirty="0">
                <a:sym typeface="Greek Symbols"/>
              </a:rPr>
              <a:t>A</a:t>
            </a:r>
            <a:r>
              <a:rPr lang="en-US" altLang="en-US" sz="2000" dirty="0">
                <a:sym typeface="Greek Symbols"/>
              </a:rPr>
              <a:t> in </a:t>
            </a:r>
            <a:r>
              <a:rPr lang="en-US" altLang="en-US" sz="2000" i="1" dirty="0">
                <a:sym typeface="Symbol" panose="05050102010706020507" pitchFamily="18" charset="2"/>
              </a:rPr>
              <a:t></a:t>
            </a:r>
            <a:r>
              <a:rPr lang="en-US" altLang="en-US" sz="2000" dirty="0">
                <a:sym typeface="Greek Symbols"/>
              </a:rPr>
              <a:t> – </a:t>
            </a:r>
            <a:r>
              <a:rPr lang="en-US" altLang="en-US" sz="2000" dirty="0">
                <a:sym typeface="Symbol" panose="05050102010706020507" pitchFamily="18" charset="2"/>
              </a:rPr>
              <a:t></a:t>
            </a:r>
            <a:r>
              <a:rPr lang="en-US" altLang="en-US" sz="2000" dirty="0">
                <a:sym typeface="Greek Symbols"/>
              </a:rPr>
              <a:t> is contained in a candidate key for </a:t>
            </a:r>
            <a:r>
              <a:rPr lang="en-US" altLang="en-US" sz="2000" i="1" dirty="0">
                <a:sym typeface="Greek Symbols"/>
              </a:rPr>
              <a:t>R.</a:t>
            </a:r>
            <a:endParaRPr lang="en-US" altLang="en-US" sz="2000" i="1" dirty="0">
              <a:sym typeface="Greek Symbols"/>
            </a:endParaRPr>
          </a:p>
          <a:p>
            <a:pPr lvl="1">
              <a:buFont typeface="Monotype Sorts" pitchFamily="-65" charset="2"/>
              <a:buNone/>
              <a:tabLst>
                <a:tab pos="2738120" algn="l"/>
              </a:tabLst>
            </a:pPr>
            <a:r>
              <a:rPr lang="en-US" altLang="en-US" sz="2000" i="1" dirty="0">
                <a:sym typeface="Greek Symbols"/>
              </a:rPr>
              <a:t>   </a:t>
            </a:r>
            <a:r>
              <a:rPr lang="en-US" altLang="en-US" sz="2000" dirty="0">
                <a:sym typeface="Greek Symbols"/>
              </a:rPr>
              <a:t>(</a:t>
            </a:r>
            <a:r>
              <a:rPr lang="en-US" altLang="en-US" sz="2000" b="1" dirty="0">
                <a:sym typeface="Greek Symbols"/>
              </a:rPr>
              <a:t>NOTE</a:t>
            </a:r>
            <a:r>
              <a:rPr lang="en-US" altLang="en-US" sz="2000" i="1" dirty="0">
                <a:sym typeface="Greek Symbols"/>
              </a:rPr>
              <a:t>: </a:t>
            </a:r>
            <a:r>
              <a:rPr lang="en-US" altLang="en-US" sz="2000" dirty="0">
                <a:sym typeface="Greek Symbols"/>
              </a:rPr>
              <a:t>each attribute may be in a different candidate key)</a:t>
            </a:r>
            <a:endParaRPr lang="en-US" altLang="en-US" sz="2000" i="1" dirty="0">
              <a:sym typeface="Greek Symbols"/>
            </a:endParaRPr>
          </a:p>
          <a:p>
            <a:pPr>
              <a:tabLst>
                <a:tab pos="2738120" algn="l"/>
              </a:tabLst>
            </a:pPr>
            <a:r>
              <a:rPr lang="en-US" altLang="en-US" sz="2000" dirty="0">
                <a:sym typeface="Greek Symbols"/>
              </a:rPr>
              <a:t>If a relation is in BCNF it is in 3NF (since in BCNF one of the first two conditions above must hold).</a:t>
            </a:r>
            <a:endParaRPr lang="en-US" altLang="en-US" sz="2000" dirty="0">
              <a:sym typeface="Greek Symbols"/>
            </a:endParaRPr>
          </a:p>
          <a:p>
            <a:pPr>
              <a:tabLst>
                <a:tab pos="2738120" algn="l"/>
              </a:tabLst>
            </a:pPr>
            <a:r>
              <a:rPr lang="en-US" altLang="en-US" sz="2000" dirty="0">
                <a:solidFill>
                  <a:srgbClr val="FF0000"/>
                </a:solidFill>
              </a:rPr>
              <a:t>Third condition is a minimal relaxation of BCNF to ensure dependency preservation </a:t>
            </a:r>
            <a:r>
              <a:rPr lang="en-US" altLang="en-US" sz="2000" dirty="0"/>
              <a:t>(will see why later).</a:t>
            </a:r>
            <a:endParaRPr lang="en-US" altLang="en-US" sz="2000" dirty="0"/>
          </a:p>
          <a:p>
            <a:pPr>
              <a:tabLst>
                <a:tab pos="2738120" algn="l"/>
              </a:tabLst>
            </a:pPr>
            <a:endParaRPr lang="en-US" altLang="en-US" sz="2000" dirty="0">
              <a:sym typeface="Greek Symbol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066" name="Rectangle 2"/>
          <p:cNvSpPr>
            <a:spLocks noGrp="1" noChangeArrowheads="1"/>
          </p:cNvSpPr>
          <p:nvPr>
            <p:ph type="title"/>
          </p:nvPr>
        </p:nvSpPr>
        <p:spPr>
          <a:xfrm>
            <a:off x="709613" y="98425"/>
            <a:ext cx="8015287" cy="625475"/>
          </a:xfrm>
        </p:spPr>
        <p:txBody>
          <a:bodyPr/>
          <a:lstStyle/>
          <a:p>
            <a:pPr>
              <a:defRPr/>
            </a:pPr>
            <a:r>
              <a:rPr lang="en-US" sz="2800" dirty="0">
                <a:ea typeface="MS PGothic" panose="020B0600070205080204" pitchFamily="34" charset="-128"/>
              </a:rPr>
              <a:t>3NF Example</a:t>
            </a:r>
            <a:endParaRPr lang="en-US" altLang="en-US" sz="2800" dirty="0">
              <a:effectLst>
                <a:outerShdw blurRad="38100" dist="38100" dir="2700000" algn="tl">
                  <a:srgbClr val="C0C0C0"/>
                </a:outerShdw>
              </a:effectLst>
              <a:ea typeface="MS PGothic" panose="020B0600070205080204" pitchFamily="34" charset="-128"/>
            </a:endParaRP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953" y="1093788"/>
            <a:ext cx="8015287" cy="4490148"/>
          </a:xfrm>
        </p:spPr>
        <p:txBody>
          <a:bodyPr/>
          <a:lstStyle/>
          <a:p>
            <a:r>
              <a:rPr lang="en-US" altLang="en-US" sz="2000" dirty="0"/>
              <a:t>Consider a schema:</a:t>
            </a:r>
            <a:endParaRPr lang="en-US" altLang="en-US" sz="2000" dirty="0"/>
          </a:p>
          <a:p>
            <a:pPr>
              <a:buFont typeface="Monotype Sorts" pitchFamily="-65" charset="2"/>
              <a:buNone/>
            </a:pPr>
            <a:r>
              <a:rPr lang="en-US" altLang="en-US" sz="2000" dirty="0"/>
              <a:t>         </a:t>
            </a:r>
            <a:r>
              <a:rPr lang="en-US" altLang="en-US" sz="2000" i="1" dirty="0" err="1"/>
              <a:t>dept_advisor</a:t>
            </a:r>
            <a:r>
              <a:rPr lang="en-US" altLang="en-US" sz="2000" i="1" dirty="0"/>
              <a:t>(</a:t>
            </a:r>
            <a:r>
              <a:rPr lang="en-US" altLang="en-US" sz="2000" i="1" dirty="0" err="1"/>
              <a:t>s_ID</a:t>
            </a:r>
            <a:r>
              <a:rPr lang="en-US" altLang="en-US" sz="2000" i="1" dirty="0"/>
              <a:t>, </a:t>
            </a:r>
            <a:r>
              <a:rPr lang="en-US" altLang="en-US" sz="2000" i="1" dirty="0" err="1"/>
              <a:t>i_ID</a:t>
            </a:r>
            <a:r>
              <a:rPr lang="en-US" altLang="en-US" sz="2000" i="1" dirty="0"/>
              <a:t>, </a:t>
            </a:r>
            <a:r>
              <a:rPr lang="en-US" altLang="en-US" sz="2000" i="1" dirty="0" err="1"/>
              <a:t>dept_name</a:t>
            </a:r>
            <a:r>
              <a:rPr lang="en-US" altLang="en-US" sz="2000" dirty="0"/>
              <a:t>)</a:t>
            </a:r>
            <a:endParaRPr lang="en-US" altLang="en-US" sz="2000" dirty="0"/>
          </a:p>
          <a:p>
            <a:r>
              <a:rPr lang="en-US" altLang="en-US" sz="2000" dirty="0"/>
              <a:t>With function dependencies:</a:t>
            </a:r>
            <a:endParaRPr lang="en-US" altLang="en-US" sz="2000" dirty="0"/>
          </a:p>
          <a:p>
            <a:pPr>
              <a:buFont typeface="Monotype Sorts" pitchFamily="-65" charset="2"/>
              <a:buNone/>
            </a:pPr>
            <a:r>
              <a:rPr lang="en-US" altLang="en-US" sz="2000" dirty="0"/>
              <a:t>             </a:t>
            </a:r>
            <a:r>
              <a:rPr lang="en-US" altLang="en-US" sz="2000" i="1" dirty="0" err="1"/>
              <a:t>i_ID</a:t>
            </a:r>
            <a:r>
              <a:rPr lang="en-US" altLang="en-US" sz="2000" dirty="0"/>
              <a:t> </a:t>
            </a:r>
            <a:r>
              <a:rPr lang="en-US" altLang="en-US" sz="2000" dirty="0">
                <a:sym typeface="Symbol" panose="05050102010706020507" pitchFamily="18" charset="2"/>
              </a:rPr>
              <a:t> </a:t>
            </a:r>
            <a:r>
              <a:rPr lang="en-US" altLang="en-US" sz="2000" i="1" dirty="0" err="1">
                <a:sym typeface="Symbol" panose="05050102010706020507" pitchFamily="18" charset="2"/>
              </a:rPr>
              <a:t>dept_name</a:t>
            </a:r>
            <a:endParaRPr lang="en-US" altLang="en-US" sz="2000" i="1" dirty="0">
              <a:sym typeface="Symbol" panose="05050102010706020507" pitchFamily="18" charset="2"/>
            </a:endParaRPr>
          </a:p>
          <a:p>
            <a:pPr>
              <a:buFont typeface="Monotype Sorts" pitchFamily="-65" charset="2"/>
              <a:buNone/>
            </a:pPr>
            <a:r>
              <a:rPr lang="en-US" altLang="en-US" sz="2000" dirty="0"/>
              <a:t>             </a:t>
            </a:r>
            <a:r>
              <a:rPr lang="en-US" altLang="en-US" sz="2000" i="1" dirty="0" err="1"/>
              <a:t>s_ID</a:t>
            </a:r>
            <a:r>
              <a:rPr lang="en-US" altLang="en-US" sz="2000" i="1" dirty="0"/>
              <a:t>, </a:t>
            </a:r>
            <a:r>
              <a:rPr lang="en-US" altLang="en-US" sz="2000" i="1" dirty="0" err="1">
                <a:sym typeface="Symbol" panose="05050102010706020507" pitchFamily="18" charset="2"/>
              </a:rPr>
              <a:t>dept_name</a:t>
            </a:r>
            <a:r>
              <a:rPr lang="en-US" altLang="en-US" sz="2000" i="1" dirty="0"/>
              <a:t> </a:t>
            </a:r>
            <a:r>
              <a:rPr lang="en-US" altLang="en-US" sz="2000" dirty="0">
                <a:sym typeface="Symbol" panose="05050102010706020507" pitchFamily="18" charset="2"/>
              </a:rPr>
              <a:t> </a:t>
            </a:r>
            <a:r>
              <a:rPr lang="en-US" altLang="en-US" sz="2000" i="1" dirty="0" err="1">
                <a:sym typeface="Symbol" panose="05050102010706020507" pitchFamily="18" charset="2"/>
              </a:rPr>
              <a:t>i_ID</a:t>
            </a:r>
            <a:endParaRPr lang="en-US" altLang="en-US" sz="2000" i="1" dirty="0">
              <a:sym typeface="Symbol" panose="05050102010706020507" pitchFamily="18" charset="2"/>
            </a:endParaRPr>
          </a:p>
          <a:p>
            <a:r>
              <a:rPr lang="en-US" altLang="en-US" sz="2000" dirty="0">
                <a:sym typeface="Monotype Sorts" pitchFamily="-65" charset="2"/>
              </a:rPr>
              <a:t>Two candidate keys =  {</a:t>
            </a:r>
            <a:r>
              <a:rPr lang="en-US" altLang="en-US" sz="2000" i="1" dirty="0" err="1"/>
              <a:t>s_ID</a:t>
            </a:r>
            <a:r>
              <a:rPr lang="en-US" altLang="en-US" sz="2000" i="1" dirty="0"/>
              <a:t>, </a:t>
            </a:r>
            <a:r>
              <a:rPr lang="en-US" altLang="en-US" sz="2000" i="1" dirty="0" err="1">
                <a:sym typeface="Symbol" panose="05050102010706020507" pitchFamily="18" charset="2"/>
              </a:rPr>
              <a:t>dept_name</a:t>
            </a:r>
            <a:r>
              <a:rPr lang="en-US" altLang="en-US" sz="2000" dirty="0">
                <a:sym typeface="Symbol" panose="05050102010706020507" pitchFamily="18" charset="2"/>
              </a:rPr>
              <a:t>}, {</a:t>
            </a:r>
            <a:r>
              <a:rPr lang="en-US" altLang="en-US" sz="2000" i="1" dirty="0" err="1"/>
              <a:t>s_ID</a:t>
            </a:r>
            <a:r>
              <a:rPr lang="en-US" altLang="en-US" sz="2000" i="1" dirty="0"/>
              <a:t>,</a:t>
            </a:r>
            <a:r>
              <a:rPr lang="en-US" altLang="en-US" sz="2000" i="1" dirty="0">
                <a:sym typeface="Symbol" panose="05050102010706020507" pitchFamily="18" charset="2"/>
              </a:rPr>
              <a:t> </a:t>
            </a:r>
            <a:r>
              <a:rPr lang="en-US" altLang="en-US" sz="2000" i="1" dirty="0" err="1">
                <a:sym typeface="Symbol" panose="05050102010706020507" pitchFamily="18" charset="2"/>
              </a:rPr>
              <a:t>i_ID</a:t>
            </a:r>
            <a:r>
              <a:rPr lang="en-US" altLang="en-US" sz="2000" i="1" dirty="0">
                <a:sym typeface="Symbol" panose="05050102010706020507" pitchFamily="18" charset="2"/>
              </a:rPr>
              <a:t> </a:t>
            </a:r>
            <a:r>
              <a:rPr lang="en-US" altLang="en-US" sz="2000" dirty="0">
                <a:sym typeface="Symbol" panose="05050102010706020507" pitchFamily="18" charset="2"/>
              </a:rPr>
              <a:t>}</a:t>
            </a:r>
            <a:endParaRPr lang="en-US" altLang="en-US" sz="2000" dirty="0">
              <a:sym typeface="Monotype Sorts" pitchFamily="-65" charset="2"/>
            </a:endParaRPr>
          </a:p>
          <a:p>
            <a:r>
              <a:rPr lang="en-US" altLang="en-US" sz="2000" dirty="0">
                <a:sym typeface="Monotype Sorts" pitchFamily="-65" charset="2"/>
              </a:rPr>
              <a:t>We have seen before that </a:t>
            </a:r>
            <a:r>
              <a:rPr lang="en-US" altLang="en-US" sz="2000" i="1" dirty="0" err="1"/>
              <a:t>dept_advisor</a:t>
            </a:r>
            <a:r>
              <a:rPr lang="en-US" altLang="en-US" sz="2000" i="1" dirty="0"/>
              <a:t> </a:t>
            </a:r>
            <a:r>
              <a:rPr lang="en-US" altLang="en-US" sz="2000" dirty="0">
                <a:sym typeface="Monotype Sorts" pitchFamily="-65" charset="2"/>
              </a:rPr>
              <a:t>is </a:t>
            </a:r>
            <a:r>
              <a:rPr lang="en-US" altLang="en-US" sz="2000" dirty="0">
                <a:solidFill>
                  <a:srgbClr val="002060"/>
                </a:solidFill>
                <a:sym typeface="Monotype Sorts" pitchFamily="-65" charset="2"/>
              </a:rPr>
              <a:t>not</a:t>
            </a:r>
            <a:r>
              <a:rPr lang="en-US" altLang="en-US" sz="2000" dirty="0">
                <a:sym typeface="Monotype Sorts" pitchFamily="-65" charset="2"/>
              </a:rPr>
              <a:t> in BCNF</a:t>
            </a:r>
            <a:endParaRPr lang="en-US" altLang="en-US" sz="2000" dirty="0">
              <a:sym typeface="Monotype Sorts" pitchFamily="-65" charset="2"/>
            </a:endParaRPr>
          </a:p>
          <a:p>
            <a:r>
              <a:rPr lang="en-US" altLang="en-US" sz="2000" i="1" dirty="0">
                <a:sym typeface="Monotype Sorts" pitchFamily="-65" charset="2"/>
              </a:rPr>
              <a:t>R,  </a:t>
            </a:r>
            <a:r>
              <a:rPr lang="en-US" altLang="en-US" sz="2000" dirty="0">
                <a:sym typeface="Monotype Sorts" pitchFamily="-65" charset="2"/>
              </a:rPr>
              <a:t>however, </a:t>
            </a:r>
            <a:r>
              <a:rPr lang="en-US" altLang="en-US" sz="2000" i="1" dirty="0">
                <a:sym typeface="Monotype Sorts" pitchFamily="-65" charset="2"/>
              </a:rPr>
              <a:t> </a:t>
            </a:r>
            <a:r>
              <a:rPr lang="en-US" altLang="en-US" sz="2000" dirty="0">
                <a:sym typeface="Monotype Sorts" pitchFamily="-65" charset="2"/>
              </a:rPr>
              <a:t>is in  3NF</a:t>
            </a:r>
            <a:endParaRPr lang="en-US" altLang="en-US" sz="2000" dirty="0">
              <a:sym typeface="Monotype Sorts" pitchFamily="-65" charset="2"/>
            </a:endParaRPr>
          </a:p>
          <a:p>
            <a:pPr lvl="1"/>
            <a:r>
              <a:rPr lang="en-US" altLang="en-US" sz="2000" i="1" dirty="0"/>
              <a:t> </a:t>
            </a:r>
            <a:r>
              <a:rPr lang="en-US" altLang="en-US" sz="2000" i="1" dirty="0" err="1"/>
              <a:t>s_ID</a:t>
            </a:r>
            <a:r>
              <a:rPr lang="en-US" altLang="en-US" sz="2000" i="1" dirty="0"/>
              <a:t>, </a:t>
            </a:r>
            <a:r>
              <a:rPr lang="en-US" altLang="en-US" sz="2000" i="1" dirty="0" err="1">
                <a:sym typeface="Symbol" panose="05050102010706020507" pitchFamily="18" charset="2"/>
              </a:rPr>
              <a:t>dept_name</a:t>
            </a:r>
            <a:r>
              <a:rPr lang="en-US" altLang="en-US" sz="2000" i="1" dirty="0"/>
              <a:t> </a:t>
            </a:r>
            <a:r>
              <a:rPr lang="en-US" altLang="en-US" sz="2000" dirty="0">
                <a:sym typeface="Monotype Sorts" pitchFamily="-65" charset="2"/>
              </a:rPr>
              <a:t>is a </a:t>
            </a:r>
            <a:r>
              <a:rPr lang="en-US" altLang="en-US" sz="2000" dirty="0" err="1">
                <a:sym typeface="Monotype Sorts" pitchFamily="-65" charset="2"/>
              </a:rPr>
              <a:t>superkey</a:t>
            </a:r>
            <a:endParaRPr lang="en-US" altLang="en-US" sz="2000" dirty="0">
              <a:sym typeface="Monotype Sorts" pitchFamily="-65" charset="2"/>
            </a:endParaRPr>
          </a:p>
          <a:p>
            <a:pPr lvl="1"/>
            <a:r>
              <a:rPr lang="en-US" altLang="en-US" sz="2000" dirty="0"/>
              <a:t> </a:t>
            </a:r>
            <a:r>
              <a:rPr lang="en-US" altLang="en-US" sz="2000" i="1" dirty="0" err="1"/>
              <a:t>i_ID</a:t>
            </a:r>
            <a:r>
              <a:rPr lang="en-US" altLang="en-US" sz="2000" dirty="0"/>
              <a:t> </a:t>
            </a:r>
            <a:r>
              <a:rPr lang="en-US" altLang="en-US" sz="2000" dirty="0">
                <a:sym typeface="Symbol" panose="05050102010706020507" pitchFamily="18" charset="2"/>
              </a:rPr>
              <a:t> </a:t>
            </a:r>
            <a:r>
              <a:rPr lang="en-US" altLang="en-US" sz="2000" i="1" dirty="0" err="1">
                <a:sym typeface="Symbol" panose="05050102010706020507" pitchFamily="18" charset="2"/>
              </a:rPr>
              <a:t>dept_name</a:t>
            </a:r>
            <a:r>
              <a:rPr lang="en-US" altLang="en-US" sz="2000" dirty="0">
                <a:sym typeface="Monotype Sorts" pitchFamily="-65" charset="2"/>
              </a:rPr>
              <a:t> </a:t>
            </a:r>
            <a:r>
              <a:rPr lang="en-US" altLang="en-US" sz="2000" i="1" dirty="0">
                <a:sym typeface="Monotype Sorts" pitchFamily="-65" charset="2"/>
              </a:rPr>
              <a:t> and </a:t>
            </a:r>
            <a:r>
              <a:rPr lang="en-US" altLang="en-US" sz="2000" i="1" dirty="0"/>
              <a:t> </a:t>
            </a:r>
            <a:r>
              <a:rPr lang="en-US" altLang="en-US" sz="2000" i="1" dirty="0" err="1"/>
              <a:t>i_ID</a:t>
            </a:r>
            <a:r>
              <a:rPr lang="en-US" altLang="en-US" sz="2000" i="1" dirty="0">
                <a:sym typeface="Monotype Sorts" pitchFamily="-65" charset="2"/>
              </a:rPr>
              <a:t> </a:t>
            </a:r>
            <a:r>
              <a:rPr lang="en-US" altLang="en-US" sz="2000" dirty="0">
                <a:sym typeface="Monotype Sorts" pitchFamily="-65" charset="2"/>
              </a:rPr>
              <a:t>is NOT a </a:t>
            </a:r>
            <a:r>
              <a:rPr lang="en-US" altLang="en-US" sz="2000" dirty="0" err="1">
                <a:sym typeface="Monotype Sorts" pitchFamily="-65" charset="2"/>
              </a:rPr>
              <a:t>superkey</a:t>
            </a:r>
            <a:r>
              <a:rPr lang="en-US" altLang="en-US" sz="2000" dirty="0">
                <a:sym typeface="Monotype Sorts" pitchFamily="-65" charset="2"/>
              </a:rPr>
              <a:t>, but:</a:t>
            </a:r>
            <a:endParaRPr lang="en-US" altLang="en-US" sz="2000" dirty="0">
              <a:sym typeface="Monotype Sorts" pitchFamily="-65" charset="2"/>
            </a:endParaRPr>
          </a:p>
          <a:p>
            <a:pPr lvl="2"/>
            <a:r>
              <a:rPr lang="en-US" altLang="en-US" sz="2000" dirty="0">
                <a:sym typeface="Monotype Sorts" pitchFamily="-65" charset="2"/>
              </a:rPr>
              <a:t>{ </a:t>
            </a:r>
            <a:r>
              <a:rPr lang="en-US" altLang="en-US" sz="2000" i="1" dirty="0" err="1">
                <a:sym typeface="Symbol" panose="05050102010706020507" pitchFamily="18" charset="2"/>
              </a:rPr>
              <a:t>dept_name</a:t>
            </a:r>
            <a:r>
              <a:rPr lang="en-US" altLang="en-US" sz="2000" dirty="0">
                <a:sym typeface="Monotype Sorts" pitchFamily="-65" charset="2"/>
              </a:rPr>
              <a:t>} – {</a:t>
            </a:r>
            <a:r>
              <a:rPr lang="en-US" altLang="en-US" sz="2000" i="1" dirty="0" err="1"/>
              <a:t>i_ID</a:t>
            </a:r>
            <a:r>
              <a:rPr lang="en-US" altLang="en-US" sz="2000" dirty="0">
                <a:sym typeface="Monotype Sorts" pitchFamily="-65" charset="2"/>
              </a:rPr>
              <a:t> }  = </a:t>
            </a:r>
            <a:r>
              <a:rPr lang="en-US" altLang="en-US" sz="2000" i="1" dirty="0">
                <a:sym typeface="Monotype Sorts" pitchFamily="-65" charset="2"/>
              </a:rPr>
              <a:t>  </a:t>
            </a:r>
            <a:r>
              <a:rPr lang="en-US" altLang="en-US" sz="2000" dirty="0">
                <a:sym typeface="Monotype Sorts" pitchFamily="-65" charset="2"/>
              </a:rPr>
              <a:t>{</a:t>
            </a:r>
            <a:r>
              <a:rPr lang="en-US" altLang="en-US" sz="2000" i="1" dirty="0" err="1">
                <a:sym typeface="Symbol" panose="05050102010706020507" pitchFamily="18" charset="2"/>
              </a:rPr>
              <a:t>dept_name</a:t>
            </a:r>
            <a:r>
              <a:rPr lang="en-US" altLang="en-US" sz="2000" i="1" dirty="0">
                <a:sym typeface="Monotype Sorts" pitchFamily="-65" charset="2"/>
              </a:rPr>
              <a:t> </a:t>
            </a:r>
            <a:r>
              <a:rPr lang="en-US" altLang="en-US" sz="2000" dirty="0">
                <a:sym typeface="Monotype Sorts" pitchFamily="-65" charset="2"/>
              </a:rPr>
              <a:t>} and</a:t>
            </a:r>
            <a:endParaRPr lang="en-US" altLang="en-US" sz="2000" dirty="0">
              <a:sym typeface="Monotype Sorts" pitchFamily="-65" charset="2"/>
            </a:endParaRPr>
          </a:p>
          <a:p>
            <a:pPr lvl="2"/>
            <a:r>
              <a:rPr lang="en-US" altLang="en-US" sz="2000" i="1" dirty="0" err="1">
                <a:sym typeface="Symbol" panose="05050102010706020507" pitchFamily="18" charset="2"/>
              </a:rPr>
              <a:t>dept_name</a:t>
            </a:r>
            <a:r>
              <a:rPr lang="en-US" altLang="en-US" sz="2000" i="1" dirty="0">
                <a:sym typeface="Monotype Sorts" pitchFamily="-65" charset="2"/>
              </a:rPr>
              <a:t>  </a:t>
            </a:r>
            <a:r>
              <a:rPr lang="en-US" altLang="en-US" sz="2000" dirty="0">
                <a:sym typeface="Greek Symbols"/>
              </a:rPr>
              <a:t>is contained in a  candidate key</a:t>
            </a:r>
            <a:endParaRPr lang="en-US" altLang="en-US" sz="2000" i="1" dirty="0">
              <a:sym typeface="Greek Symbols"/>
            </a:endParaRPr>
          </a:p>
          <a:p>
            <a:pPr>
              <a:buFont typeface="Monotype Sorts" pitchFamily="-65" charset="2"/>
              <a:buNone/>
            </a:pPr>
            <a:r>
              <a:rPr lang="zh-CN" altLang="en-US" sz="2000" i="1" dirty="0" smtClean="0">
                <a:solidFill>
                  <a:schemeClr val="accent3">
                    <a:lumMod val="50000"/>
                  </a:schemeClr>
                </a:solidFill>
                <a:sym typeface="Symbol" panose="05050102010706020507" pitchFamily="18" charset="2"/>
              </a:rPr>
              <a:t>不用管主属性？</a:t>
            </a:r>
            <a:endParaRPr lang="en-US" altLang="en-US" sz="2000" i="1" dirty="0">
              <a:solidFill>
                <a:schemeClr val="accent3">
                  <a:lumMod val="50000"/>
                </a:schemeClr>
              </a:solidFill>
              <a:sym typeface="Symbol" panose="05050102010706020507" pitchFamily="18" charset="2"/>
            </a:endParaRPr>
          </a:p>
          <a:p>
            <a:pPr>
              <a:buFont typeface="Monotype Sorts" pitchFamily="-65" charset="2"/>
              <a:buNone/>
            </a:pPr>
            <a:endParaRPr lang="en-US" altLang="en-US" sz="2000" dirty="0">
              <a:sym typeface="Symbol" panose="05050102010706020507" pitchFamily="18" charset="2"/>
            </a:endParaRPr>
          </a:p>
          <a:p>
            <a:endParaRPr lang="en-US" alt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290" name="Rectangle 2"/>
          <p:cNvSpPr>
            <a:spLocks noGrp="1" noChangeArrowheads="1"/>
          </p:cNvSpPr>
          <p:nvPr>
            <p:ph type="title"/>
          </p:nvPr>
        </p:nvSpPr>
        <p:spPr>
          <a:xfrm>
            <a:off x="781050" y="174963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sz="2800" dirty="0">
                <a:ea typeface="MS PGothic" panose="020B0600070205080204" pitchFamily="34" charset="-128"/>
              </a:rPr>
              <a:t>Redundancy in 3NF</a:t>
            </a:r>
            <a:endParaRPr lang="en-US" sz="2800" dirty="0">
              <a:ea typeface="MS PGothic" panose="020B0600070205080204" pitchFamily="34" charset="-128"/>
            </a:endParaRPr>
          </a:p>
        </p:txBody>
      </p:sp>
      <p:sp>
        <p:nvSpPr>
          <p:cNvPr id="34819" name="Rectangle 10"/>
          <p:cNvSpPr>
            <a:spLocks noGrp="1" noChangeArrowheads="1"/>
          </p:cNvSpPr>
          <p:nvPr>
            <p:ph type="body" idx="1"/>
          </p:nvPr>
        </p:nvSpPr>
        <p:spPr>
          <a:xfrm>
            <a:off x="781050" y="1130542"/>
            <a:ext cx="7716774" cy="5123954"/>
          </a:xfrm>
        </p:spPr>
        <p:txBody>
          <a:bodyPr/>
          <a:lstStyle/>
          <a:p>
            <a:r>
              <a:rPr lang="en-US" altLang="en-US" sz="2000" dirty="0"/>
              <a:t>Consider  the schema R below,  which is in 3NF</a:t>
            </a:r>
            <a:endParaRPr lang="en-US" altLang="en-US" sz="2000" dirty="0"/>
          </a:p>
          <a:p>
            <a:pPr marL="0" indent="0">
              <a:buNone/>
            </a:pPr>
            <a:endParaRPr lang="en-US" altLang="en-US" sz="2000" dirty="0"/>
          </a:p>
          <a:p>
            <a:endParaRPr lang="en-US" altLang="en-US" sz="2000" dirty="0"/>
          </a:p>
          <a:p>
            <a:endParaRPr lang="en-US" altLang="en-US" sz="2000" dirty="0"/>
          </a:p>
          <a:p>
            <a:endParaRPr lang="en-US" altLang="en-US" sz="2000" dirty="0"/>
          </a:p>
          <a:p>
            <a:endParaRPr lang="en-US" altLang="en-US" sz="2000" dirty="0"/>
          </a:p>
          <a:p>
            <a:endParaRPr lang="en-US" altLang="en-US" sz="2000" dirty="0"/>
          </a:p>
          <a:p>
            <a:pPr marL="0" indent="0">
              <a:buNone/>
            </a:pPr>
            <a:endParaRPr lang="en-US" altLang="en-US" sz="2000" dirty="0"/>
          </a:p>
          <a:p>
            <a:r>
              <a:rPr lang="en-US" altLang="en-US" sz="2000" dirty="0"/>
              <a:t>What is wrong with the table?</a:t>
            </a:r>
            <a:endParaRPr lang="en-US" altLang="en-US" sz="2000" dirty="0"/>
          </a:p>
          <a:p>
            <a:pPr marL="0" indent="0">
              <a:buNone/>
            </a:pPr>
            <a:endParaRPr lang="en-US" altLang="en-US" sz="1700" dirty="0"/>
          </a:p>
        </p:txBody>
      </p:sp>
      <p:sp>
        <p:nvSpPr>
          <p:cNvPr id="34822" name="TextBox 1"/>
          <p:cNvSpPr txBox="1">
            <a:spLocks noChangeArrowheads="1"/>
          </p:cNvSpPr>
          <p:nvPr/>
        </p:nvSpPr>
        <p:spPr bwMode="auto">
          <a:xfrm>
            <a:off x="781051" y="1530989"/>
            <a:ext cx="6717030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800100" lvl="1" indent="-342900">
              <a:spcBef>
                <a:spcPts val="0"/>
              </a:spcBef>
              <a:buClr>
                <a:srgbClr val="F5960B"/>
              </a:buClr>
              <a:buSzPct val="110000"/>
              <a:buFont typeface="Arial" panose="020B0604020202020204" pitchFamily="34" charset="0"/>
              <a:buChar char="•"/>
            </a:pPr>
            <a:r>
              <a:rPr lang="en-US" altLang="en-US" sz="2000" i="1" dirty="0"/>
              <a:t>R = </a:t>
            </a:r>
            <a:r>
              <a:rPr lang="en-US" altLang="en-US" sz="2000" dirty="0"/>
              <a:t>(</a:t>
            </a:r>
            <a:r>
              <a:rPr lang="en-US" altLang="en-US" sz="2000" i="1" dirty="0"/>
              <a:t>J, K, L </a:t>
            </a:r>
            <a:r>
              <a:rPr lang="en-US" altLang="en-US" sz="2000" dirty="0"/>
              <a:t>)</a:t>
            </a:r>
            <a:endParaRPr lang="en-US" altLang="en-US" sz="2000" i="1" dirty="0"/>
          </a:p>
          <a:p>
            <a:pPr marL="800100" lvl="1" indent="-342900">
              <a:spcBef>
                <a:spcPts val="0"/>
              </a:spcBef>
              <a:buClr>
                <a:srgbClr val="F5960B"/>
              </a:buClr>
              <a:buSzPct val="110000"/>
              <a:buFont typeface="Arial" panose="020B0604020202020204" pitchFamily="34" charset="0"/>
              <a:buChar char="•"/>
            </a:pPr>
            <a:r>
              <a:rPr lang="en-US" altLang="en-US" sz="2000" i="1" dirty="0"/>
              <a:t>F = </a:t>
            </a:r>
            <a:r>
              <a:rPr lang="en-US" altLang="en-US" sz="2000" dirty="0"/>
              <a:t>{</a:t>
            </a:r>
            <a:r>
              <a:rPr lang="en-US" altLang="en-US" sz="2000" i="1" dirty="0"/>
              <a:t>JK </a:t>
            </a:r>
            <a:r>
              <a:rPr lang="en-US" altLang="en-US" sz="2000" dirty="0">
                <a:sym typeface="Symbol" panose="05050102010706020507" pitchFamily="18" charset="2"/>
              </a:rPr>
              <a:t></a:t>
            </a:r>
            <a:r>
              <a:rPr lang="en-US" altLang="en-US" sz="2000" dirty="0">
                <a:sym typeface="Monotype Sorts" pitchFamily="-65" charset="2"/>
              </a:rPr>
              <a:t> </a:t>
            </a:r>
            <a:r>
              <a:rPr lang="en-US" altLang="en-US" sz="2000" i="1" dirty="0">
                <a:sym typeface="Monotype Sorts" pitchFamily="-65" charset="2"/>
              </a:rPr>
              <a:t>L, L </a:t>
            </a:r>
            <a:r>
              <a:rPr lang="en-US" altLang="en-US" sz="2000" dirty="0">
                <a:sym typeface="Symbol" panose="05050102010706020507" pitchFamily="18" charset="2"/>
              </a:rPr>
              <a:t></a:t>
            </a:r>
            <a:r>
              <a:rPr lang="en-US" altLang="en-US" sz="2000" dirty="0">
                <a:sym typeface="Monotype Sorts" pitchFamily="-65" charset="2"/>
              </a:rPr>
              <a:t> </a:t>
            </a:r>
            <a:r>
              <a:rPr lang="en-US" altLang="en-US" sz="2000" i="1" dirty="0">
                <a:sym typeface="Monotype Sorts" pitchFamily="-65" charset="2"/>
              </a:rPr>
              <a:t>K </a:t>
            </a:r>
            <a:r>
              <a:rPr lang="en-US" altLang="en-US" sz="2000" dirty="0">
                <a:sym typeface="Monotype Sorts" pitchFamily="-65" charset="2"/>
              </a:rPr>
              <a:t>}</a:t>
            </a:r>
            <a:endParaRPr lang="en-US" altLang="en-US" sz="2000" dirty="0">
              <a:sym typeface="Monotype Sorts" pitchFamily="-65" charset="2"/>
            </a:endParaRPr>
          </a:p>
          <a:p>
            <a:pPr marL="800100" lvl="1" indent="-342900">
              <a:spcBef>
                <a:spcPts val="0"/>
              </a:spcBef>
              <a:buClr>
                <a:srgbClr val="F5960B"/>
              </a:buClr>
              <a:buSzPct val="110000"/>
              <a:buFont typeface="Arial" panose="020B0604020202020204" pitchFamily="34" charset="0"/>
              <a:buChar char="•"/>
            </a:pPr>
            <a:r>
              <a:rPr lang="en-US" altLang="en-US" sz="2000" dirty="0">
                <a:sym typeface="Monotype Sorts" pitchFamily="-65" charset="2"/>
              </a:rPr>
              <a:t>And an instance table:</a:t>
            </a:r>
            <a:endParaRPr lang="en-US" altLang="en-US" sz="2000" dirty="0">
              <a:sym typeface="Monotype Sorts" pitchFamily="-65" charset="2"/>
            </a:endParaRPr>
          </a:p>
        </p:txBody>
      </p:sp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781049" y="4793279"/>
            <a:ext cx="7472935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800100" lvl="1" indent="-342900">
              <a:buClr>
                <a:srgbClr val="FF9933"/>
              </a:buClr>
              <a:buSzPct val="110000"/>
              <a:buFont typeface="Arial" panose="020B0604020202020204" pitchFamily="34" charset="0"/>
              <a:buChar char="•"/>
            </a:pPr>
            <a:r>
              <a:rPr lang="en-US" altLang="en-US" sz="2000" dirty="0"/>
              <a:t>Repetition of information</a:t>
            </a:r>
            <a:endParaRPr lang="en-US" altLang="en-US" sz="2000" dirty="0"/>
          </a:p>
          <a:p>
            <a:pPr marL="800100" lvl="1" indent="-342900">
              <a:buClr>
                <a:srgbClr val="FF9933"/>
              </a:buClr>
              <a:buSzPct val="110000"/>
              <a:buFont typeface="Arial" panose="020B0604020202020204" pitchFamily="34" charset="0"/>
              <a:buChar char="•"/>
            </a:pPr>
            <a:r>
              <a:rPr lang="en-US" altLang="en-US" sz="2000" dirty="0"/>
              <a:t>Need to use null values (e.g., to represent the relationship </a:t>
            </a:r>
            <a:r>
              <a:rPr lang="en-US" altLang="en-US" sz="2000" i="1" dirty="0">
                <a:sym typeface="Monotype Sorts" pitchFamily="-65" charset="2"/>
              </a:rPr>
              <a:t>l</a:t>
            </a:r>
            <a:r>
              <a:rPr lang="en-US" altLang="en-US" sz="2000" baseline="-25000" dirty="0">
                <a:sym typeface="Monotype Sorts" pitchFamily="-65" charset="2"/>
              </a:rPr>
              <a:t>2</a:t>
            </a:r>
            <a:r>
              <a:rPr lang="en-US" altLang="en-US" sz="2000" dirty="0">
                <a:sym typeface="Monotype Sorts" pitchFamily="-65" charset="2"/>
              </a:rPr>
              <a:t>, </a:t>
            </a:r>
            <a:r>
              <a:rPr lang="en-US" altLang="en-US" sz="2000" i="1" dirty="0">
                <a:sym typeface="Monotype Sorts" pitchFamily="-65" charset="2"/>
              </a:rPr>
              <a:t>k</a:t>
            </a:r>
            <a:r>
              <a:rPr lang="en-US" altLang="en-US" sz="2000" baseline="-25000" dirty="0">
                <a:sym typeface="Monotype Sorts" pitchFamily="-65" charset="2"/>
              </a:rPr>
              <a:t>2</a:t>
            </a:r>
            <a:r>
              <a:rPr lang="en-US" altLang="en-US" sz="2000" dirty="0">
                <a:sym typeface="Monotype Sorts" pitchFamily="-65" charset="2"/>
              </a:rPr>
              <a:t> </a:t>
            </a:r>
            <a:endParaRPr lang="en-US" altLang="en-US" sz="2000" dirty="0">
              <a:sym typeface="Monotype Sorts" pitchFamily="-65" charset="2"/>
            </a:endParaRPr>
          </a:p>
          <a:p>
            <a:pPr lvl="1">
              <a:buClr>
                <a:srgbClr val="F89108"/>
              </a:buClr>
              <a:buSzPct val="80000"/>
            </a:pPr>
            <a:r>
              <a:rPr lang="en-US" altLang="en-US" sz="2000" dirty="0">
                <a:sym typeface="Monotype Sorts" pitchFamily="-65" charset="2"/>
              </a:rPr>
              <a:t>     where there is no corresponding value for </a:t>
            </a:r>
            <a:r>
              <a:rPr lang="en-US" altLang="en-US" sz="2000" i="1" dirty="0">
                <a:sym typeface="Monotype Sorts" pitchFamily="-65" charset="2"/>
              </a:rPr>
              <a:t>J</a:t>
            </a:r>
            <a:r>
              <a:rPr lang="en-US" altLang="en-US" sz="2000" dirty="0">
                <a:sym typeface="Monotype Sorts" pitchFamily="-65" charset="2"/>
              </a:rPr>
              <a:t>)</a:t>
            </a:r>
            <a:endParaRPr lang="en-US" altLang="en-US" sz="20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1373" y="2546652"/>
            <a:ext cx="1350380" cy="172242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Boyce-Codd Normal Form</a:t>
            </a:r>
            <a:endParaRPr lang="en-US" altLang="en-US" sz="2800" dirty="0">
              <a:effectLst>
                <a:outerShdw blurRad="38100" dist="38100" dir="2700000" algn="tl">
                  <a:srgbClr val="C0C0C0"/>
                </a:outerShdw>
              </a:effectLst>
              <a:ea typeface="MS PGothic" panose="020B0600070205080204" pitchFamily="34" charset="-128"/>
            </a:endParaRPr>
          </a:p>
        </p:txBody>
      </p:sp>
      <p:sp>
        <p:nvSpPr>
          <p:cNvPr id="683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63639"/>
            <a:ext cx="7541149" cy="266465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400" dirty="0"/>
              <a:t>A relation schema </a:t>
            </a:r>
            <a:r>
              <a:rPr lang="en-US" altLang="en-US" sz="2400" i="1" dirty="0"/>
              <a:t>R</a:t>
            </a:r>
            <a:r>
              <a:rPr lang="en-US" altLang="en-US" sz="2400" dirty="0"/>
              <a:t> is in BCNF with respect to a set </a:t>
            </a:r>
            <a:r>
              <a:rPr lang="en-US" altLang="en-US" sz="2400" i="1" dirty="0"/>
              <a:t>F</a:t>
            </a:r>
            <a:r>
              <a:rPr lang="en-US" altLang="en-US" sz="2400" dirty="0"/>
              <a:t> of functional  dependencies if for all functional dependencies in </a:t>
            </a:r>
            <a:r>
              <a:rPr lang="en-US" altLang="en-US" sz="2400" i="1" dirty="0"/>
              <a:t>F</a:t>
            </a:r>
            <a:r>
              <a:rPr lang="en-US" altLang="en-US" sz="2400" baseline="30000" dirty="0"/>
              <a:t>+</a:t>
            </a:r>
            <a:r>
              <a:rPr lang="en-US" altLang="en-US" sz="2400" dirty="0"/>
              <a:t> of the form </a:t>
            </a:r>
            <a:endParaRPr lang="en-US" altLang="en-US" sz="2400" dirty="0"/>
          </a:p>
          <a:p>
            <a:pPr>
              <a:buFont typeface="Monotype Sorts" pitchFamily="-65" charset="2"/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                 </a:t>
            </a:r>
            <a:r>
              <a:rPr lang="en-US" altLang="en-US" sz="2400" dirty="0">
                <a:sym typeface="Greek Symbols"/>
              </a:rPr>
              <a:t> </a:t>
            </a:r>
            <a:r>
              <a:rPr lang="en-US" altLang="en-US" sz="2400" dirty="0">
                <a:sym typeface="Symbol" panose="05050102010706020507" pitchFamily="18" charset="2"/>
              </a:rPr>
              <a:t></a:t>
            </a:r>
            <a:r>
              <a:rPr lang="en-US" altLang="en-US" sz="2400" dirty="0">
                <a:sym typeface="Monotype Sorts" pitchFamily="-65" charset="2"/>
              </a:rPr>
              <a:t> </a:t>
            </a:r>
            <a:r>
              <a:rPr lang="en-US" altLang="en-US" sz="2400" i="1" dirty="0">
                <a:sym typeface="Symbol" panose="05050102010706020507" pitchFamily="18" charset="2"/>
              </a:rPr>
              <a:t></a:t>
            </a:r>
            <a:endParaRPr lang="en-US" altLang="en-US" sz="2400" i="1" dirty="0">
              <a:sym typeface="Greek Symbols"/>
            </a:endParaRPr>
          </a:p>
          <a:p>
            <a:pPr>
              <a:buFont typeface="Monotype Sorts" pitchFamily="-65" charset="2"/>
              <a:buNone/>
            </a:pPr>
            <a:r>
              <a:rPr lang="en-US" altLang="en-US" sz="2400" i="1" dirty="0">
                <a:sym typeface="Greek Symbols"/>
              </a:rPr>
              <a:t>      </a:t>
            </a:r>
            <a:r>
              <a:rPr lang="en-US" altLang="en-US" sz="2400" dirty="0">
                <a:sym typeface="Greek Symbols"/>
              </a:rPr>
              <a:t>where </a:t>
            </a:r>
            <a:r>
              <a:rPr lang="en-US" altLang="en-US" sz="2400" dirty="0">
                <a:sym typeface="Symbol" panose="05050102010706020507" pitchFamily="18" charset="2"/>
              </a:rPr>
              <a:t></a:t>
            </a:r>
            <a:r>
              <a:rPr lang="en-US" altLang="en-US" sz="2400" dirty="0">
                <a:sym typeface="Greek Symbols"/>
              </a:rPr>
              <a:t> </a:t>
            </a:r>
            <a:r>
              <a:rPr lang="en-US" altLang="en-US" sz="2400" dirty="0">
                <a:sym typeface="Symbol" panose="05050102010706020507" pitchFamily="18" charset="2"/>
              </a:rPr>
              <a:t> </a:t>
            </a:r>
            <a:r>
              <a:rPr lang="en-US" altLang="en-US" sz="2400" i="1" dirty="0">
                <a:sym typeface="Symbol" panose="05050102010706020507" pitchFamily="18" charset="2"/>
              </a:rPr>
              <a:t>R</a:t>
            </a:r>
            <a:r>
              <a:rPr lang="en-US" altLang="en-US" sz="2400" dirty="0">
                <a:sym typeface="Symbol" panose="05050102010706020507" pitchFamily="18" charset="2"/>
              </a:rPr>
              <a:t> and </a:t>
            </a:r>
            <a:r>
              <a:rPr lang="en-US" altLang="en-US" sz="2400" i="1" dirty="0">
                <a:sym typeface="Symbol" panose="05050102010706020507" pitchFamily="18" charset="2"/>
              </a:rPr>
              <a:t></a:t>
            </a:r>
            <a:r>
              <a:rPr lang="en-US" altLang="en-US" sz="2400" dirty="0">
                <a:sym typeface="Greek Symbols"/>
              </a:rPr>
              <a:t> </a:t>
            </a:r>
            <a:r>
              <a:rPr lang="en-US" altLang="en-US" sz="2400" dirty="0">
                <a:sym typeface="Symbol" panose="05050102010706020507" pitchFamily="18" charset="2"/>
              </a:rPr>
              <a:t> </a:t>
            </a:r>
            <a:r>
              <a:rPr lang="en-US" altLang="en-US" sz="2400" i="1" dirty="0">
                <a:sym typeface="Symbol" panose="05050102010706020507" pitchFamily="18" charset="2"/>
              </a:rPr>
              <a:t>R</a:t>
            </a:r>
            <a:r>
              <a:rPr lang="en-US" altLang="en-US" sz="2400" dirty="0">
                <a:sym typeface="Symbol" panose="05050102010706020507" pitchFamily="18" charset="2"/>
              </a:rPr>
              <a:t>,</a:t>
            </a:r>
            <a:r>
              <a:rPr lang="en-US" altLang="en-US" sz="2400" i="1" dirty="0">
                <a:sym typeface="Symbol" panose="05050102010706020507" pitchFamily="18" charset="2"/>
              </a:rPr>
              <a:t> </a:t>
            </a:r>
            <a:r>
              <a:rPr lang="en-US" altLang="en-US" sz="2400" dirty="0">
                <a:sym typeface="Symbol" panose="05050102010706020507" pitchFamily="18" charset="2"/>
              </a:rPr>
              <a:t>at least one of the following holds:</a:t>
            </a:r>
            <a:endParaRPr lang="en-US" altLang="en-US" sz="2400" dirty="0">
              <a:sym typeface="Symbol" panose="05050102010706020507" pitchFamily="18" charset="2"/>
            </a:endParaRPr>
          </a:p>
          <a:p>
            <a:pPr lvl="1"/>
            <a:r>
              <a:rPr lang="en-US" altLang="en-US" sz="2400" dirty="0">
                <a:sym typeface="Symbol" panose="05050102010706020507" pitchFamily="18" charset="2"/>
              </a:rPr>
              <a:t></a:t>
            </a:r>
            <a:r>
              <a:rPr lang="en-US" altLang="en-US" sz="2400" dirty="0">
                <a:sym typeface="Greek Symbols"/>
              </a:rPr>
              <a:t> </a:t>
            </a:r>
            <a:r>
              <a:rPr lang="en-US" altLang="en-US" sz="2400" dirty="0">
                <a:sym typeface="Symbol" panose="05050102010706020507" pitchFamily="18" charset="2"/>
              </a:rPr>
              <a:t></a:t>
            </a:r>
            <a:r>
              <a:rPr lang="en-US" altLang="en-US" sz="2400" dirty="0">
                <a:sym typeface="Monotype Sorts" pitchFamily="-65" charset="2"/>
              </a:rPr>
              <a:t> </a:t>
            </a:r>
            <a:r>
              <a:rPr lang="en-US" altLang="en-US" sz="2400" i="1" dirty="0">
                <a:sym typeface="Symbol" panose="05050102010706020507" pitchFamily="18" charset="2"/>
              </a:rPr>
              <a:t></a:t>
            </a:r>
            <a:r>
              <a:rPr lang="en-US" altLang="en-US" sz="2400" i="1" dirty="0">
                <a:sym typeface="Greek Symbols"/>
              </a:rPr>
              <a:t>  </a:t>
            </a:r>
            <a:r>
              <a:rPr lang="en-US" altLang="en-US" sz="2400" dirty="0">
                <a:sym typeface="Greek Symbols"/>
              </a:rPr>
              <a:t>is trivial (i.e., </a:t>
            </a:r>
            <a:r>
              <a:rPr lang="en-US" altLang="en-US" sz="2400" i="1" dirty="0">
                <a:sym typeface="Symbol" panose="05050102010706020507" pitchFamily="18" charset="2"/>
              </a:rPr>
              <a:t></a:t>
            </a:r>
            <a:r>
              <a:rPr lang="en-US" altLang="en-US" sz="2400" dirty="0">
                <a:sym typeface="Greek Symbols"/>
              </a:rPr>
              <a:t> </a:t>
            </a:r>
            <a:r>
              <a:rPr lang="en-US" altLang="en-US" sz="2400" dirty="0">
                <a:sym typeface="Symbol" panose="05050102010706020507" pitchFamily="18" charset="2"/>
              </a:rPr>
              <a:t> </a:t>
            </a:r>
            <a:r>
              <a:rPr lang="en-US" altLang="en-US" sz="2400" dirty="0">
                <a:sym typeface="Greek Symbols"/>
              </a:rPr>
              <a:t>)</a:t>
            </a:r>
            <a:endParaRPr lang="en-US" altLang="en-US" sz="2400" dirty="0">
              <a:sym typeface="Greek Symbols"/>
            </a:endParaRPr>
          </a:p>
          <a:p>
            <a:pPr lvl="1"/>
            <a:r>
              <a:rPr lang="en-US" altLang="en-US" sz="2400" dirty="0">
                <a:sym typeface="Symbol" panose="05050102010706020507" pitchFamily="18" charset="2"/>
              </a:rPr>
              <a:t></a:t>
            </a:r>
            <a:r>
              <a:rPr lang="en-US" altLang="en-US" sz="2400" dirty="0">
                <a:sym typeface="Greek Symbols"/>
              </a:rPr>
              <a:t> is a </a:t>
            </a:r>
            <a:r>
              <a:rPr lang="en-US" altLang="en-US" sz="2400" dirty="0" err="1">
                <a:sym typeface="Greek Symbols"/>
              </a:rPr>
              <a:t>superkey</a:t>
            </a:r>
            <a:r>
              <a:rPr lang="en-US" altLang="en-US" sz="2400" dirty="0">
                <a:sym typeface="Greek Symbols"/>
              </a:rPr>
              <a:t> for </a:t>
            </a:r>
            <a:r>
              <a:rPr lang="en-US" altLang="en-US" sz="2400" i="1" dirty="0">
                <a:sym typeface="Greek Symbols"/>
              </a:rPr>
              <a:t>R</a:t>
            </a:r>
            <a:endParaRPr lang="en-US" altLang="en-US" sz="2400" i="1" dirty="0">
              <a:sym typeface="Greek Symbols"/>
            </a:endParaRPr>
          </a:p>
          <a:p>
            <a:endParaRPr lang="en-US" altLang="en-US" sz="2000" i="1" dirty="0">
              <a:sym typeface="Greek Symbols"/>
            </a:endParaRPr>
          </a:p>
          <a:p>
            <a:endParaRPr lang="en-US" altLang="en-US" sz="2000" dirty="0"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3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3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3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3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30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3011" grpId="0" autoUpdateAnimBg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Boyce-Codd Normal Form (Cont.)</a:t>
            </a:r>
            <a:endParaRPr lang="en-US" altLang="en-US" sz="2800" dirty="0">
              <a:effectLst>
                <a:outerShdw blurRad="38100" dist="38100" dir="2700000" algn="tl">
                  <a:srgbClr val="C0C0C0"/>
                </a:outerShdw>
              </a:effectLst>
              <a:ea typeface="MS PGothic" panose="020B0600070205080204" pitchFamily="34" charset="-128"/>
            </a:endParaRPr>
          </a:p>
        </p:txBody>
      </p:sp>
      <p:sp>
        <p:nvSpPr>
          <p:cNvPr id="683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63639"/>
            <a:ext cx="7774928" cy="3725354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000" dirty="0"/>
              <a:t>Example schema  that is </a:t>
            </a:r>
            <a:r>
              <a:rPr lang="en-US" altLang="en-US" sz="2000" b="1" i="1" dirty="0"/>
              <a:t>not</a:t>
            </a:r>
            <a:r>
              <a:rPr lang="en-US" altLang="en-US" sz="2000" dirty="0"/>
              <a:t>  in BCNF:</a:t>
            </a:r>
            <a:endParaRPr lang="en-US" altLang="en-US" sz="2000" dirty="0"/>
          </a:p>
          <a:p>
            <a:pPr>
              <a:buFont typeface="Monotype Sorts" pitchFamily="-65" charset="2"/>
              <a:buNone/>
            </a:pPr>
            <a:r>
              <a:rPr lang="en-US" altLang="en-US" sz="2000" dirty="0"/>
              <a:t>          </a:t>
            </a:r>
            <a:r>
              <a:rPr lang="en-US" altLang="en-US" sz="2000" i="1" dirty="0" err="1"/>
              <a:t>in_dep</a:t>
            </a:r>
            <a:r>
              <a:rPr lang="en-US" altLang="en-US" sz="2000" i="1" dirty="0"/>
              <a:t> </a:t>
            </a:r>
            <a:r>
              <a:rPr lang="en-US" altLang="en-US" sz="2000" dirty="0"/>
              <a:t>(</a:t>
            </a:r>
            <a:r>
              <a:rPr lang="en-US" altLang="en-US" sz="2000" i="1" u="sng" dirty="0"/>
              <a:t>ID, </a:t>
            </a:r>
            <a:r>
              <a:rPr lang="en-US" altLang="en-US" sz="2000" i="1" dirty="0"/>
              <a:t>name, salary</a:t>
            </a:r>
            <a:r>
              <a:rPr lang="en-US" altLang="en-US" sz="2000" i="1" u="sng" dirty="0"/>
              <a:t>, </a:t>
            </a:r>
            <a:r>
              <a:rPr lang="en-US" altLang="en-US" sz="2000" i="1" u="sng" dirty="0" err="1"/>
              <a:t>dept_name</a:t>
            </a:r>
            <a:r>
              <a:rPr lang="en-US" altLang="en-US" sz="2000" i="1" u="sng" dirty="0"/>
              <a:t>, </a:t>
            </a:r>
            <a:r>
              <a:rPr lang="en-US" altLang="en-US" sz="2000" i="1" dirty="0"/>
              <a:t>building, budget </a:t>
            </a:r>
            <a:r>
              <a:rPr lang="en-US" altLang="en-US" sz="2000" dirty="0"/>
              <a:t>)</a:t>
            </a:r>
            <a:endParaRPr lang="en-US" altLang="en-US" sz="2000" dirty="0"/>
          </a:p>
          <a:p>
            <a:pPr>
              <a:buFont typeface="Monotype Sorts" pitchFamily="-65" charset="2"/>
              <a:buNone/>
            </a:pPr>
            <a:r>
              <a:rPr lang="en-US" altLang="en-US" sz="2000" dirty="0"/>
              <a:t>      because :</a:t>
            </a:r>
            <a:endParaRPr lang="en-US" altLang="en-US" sz="2000" dirty="0"/>
          </a:p>
          <a:p>
            <a:pPr lvl="1"/>
            <a:r>
              <a:rPr lang="en-US" altLang="en-US" sz="2000" i="1" dirty="0" err="1"/>
              <a:t>dept_name</a:t>
            </a:r>
            <a:r>
              <a:rPr lang="en-US" altLang="en-US" sz="2000" dirty="0">
                <a:sym typeface="Symbol" panose="05050102010706020507" pitchFamily="18" charset="2"/>
              </a:rPr>
              <a:t></a:t>
            </a:r>
            <a:r>
              <a:rPr lang="en-US" altLang="en-US" sz="2000" dirty="0">
                <a:sym typeface="Monotype Sorts" pitchFamily="-65" charset="2"/>
              </a:rPr>
              <a:t> </a:t>
            </a:r>
            <a:r>
              <a:rPr lang="en-US" altLang="en-US" sz="2000" i="1" dirty="0">
                <a:sym typeface="Monotype Sorts" pitchFamily="-65" charset="2"/>
              </a:rPr>
              <a:t>building, budget  </a:t>
            </a:r>
            <a:endParaRPr lang="en-US" altLang="en-US" sz="2000" i="1" dirty="0">
              <a:sym typeface="Monotype Sorts" pitchFamily="-65" charset="2"/>
            </a:endParaRPr>
          </a:p>
          <a:p>
            <a:pPr lvl="2"/>
            <a:r>
              <a:rPr lang="en-US" altLang="en-US" sz="2000" dirty="0">
                <a:sym typeface="Monotype Sorts" pitchFamily="-65" charset="2"/>
              </a:rPr>
              <a:t>holds on </a:t>
            </a:r>
            <a:r>
              <a:rPr lang="en-US" altLang="en-US" sz="2000" i="1" dirty="0" err="1">
                <a:sym typeface="Monotype Sorts" pitchFamily="-65" charset="2"/>
              </a:rPr>
              <a:t>in_dep</a:t>
            </a:r>
            <a:endParaRPr lang="en-US" altLang="en-US" sz="2000" i="1" dirty="0">
              <a:sym typeface="Monotype Sorts" pitchFamily="-65" charset="2"/>
            </a:endParaRPr>
          </a:p>
          <a:p>
            <a:pPr lvl="2"/>
            <a:r>
              <a:rPr lang="en-US" altLang="en-US" sz="2000" dirty="0">
                <a:sym typeface="Monotype Sorts" pitchFamily="-65" charset="2"/>
              </a:rPr>
              <a:t>but </a:t>
            </a:r>
            <a:r>
              <a:rPr lang="en-US" altLang="en-US" sz="2000" i="1" dirty="0" err="1" smtClean="0">
                <a:sym typeface="Monotype Sorts" pitchFamily="-65" charset="2"/>
              </a:rPr>
              <a:t>dept_name</a:t>
            </a:r>
            <a:r>
              <a:rPr lang="en-US" altLang="en-US" sz="2000" dirty="0" smtClean="0">
                <a:sym typeface="Monotype Sorts" pitchFamily="-65" charset="2"/>
              </a:rPr>
              <a:t> </a:t>
            </a:r>
            <a:r>
              <a:rPr lang="en-US" altLang="en-US" sz="2000" dirty="0">
                <a:sym typeface="Monotype Sorts" pitchFamily="-65" charset="2"/>
              </a:rPr>
              <a:t>is not a </a:t>
            </a:r>
            <a:r>
              <a:rPr lang="en-US" altLang="en-US" sz="2000" dirty="0" err="1">
                <a:sym typeface="Monotype Sorts" pitchFamily="-65" charset="2"/>
              </a:rPr>
              <a:t>superkey</a:t>
            </a:r>
            <a:endParaRPr lang="en-US" altLang="en-US" sz="2000" dirty="0">
              <a:sym typeface="Monotype Sorts" pitchFamily="-65" charset="2"/>
            </a:endParaRPr>
          </a:p>
          <a:p>
            <a:r>
              <a:rPr lang="en-US" altLang="en-US" sz="2000" dirty="0">
                <a:sym typeface="Monotype Sorts" pitchFamily="-65" charset="2"/>
              </a:rPr>
              <a:t>When decompose  </a:t>
            </a:r>
            <a:r>
              <a:rPr lang="en-US" altLang="en-US" sz="2000" i="1" dirty="0" err="1">
                <a:sym typeface="Monotype Sorts" pitchFamily="-65" charset="2"/>
              </a:rPr>
              <a:t>in_dept</a:t>
            </a:r>
            <a:r>
              <a:rPr lang="en-US" altLang="en-US" sz="2000" i="1" dirty="0">
                <a:sym typeface="Monotype Sorts" pitchFamily="-65" charset="2"/>
              </a:rPr>
              <a:t>  </a:t>
            </a:r>
            <a:r>
              <a:rPr lang="en-US" altLang="en-US" sz="2000" dirty="0">
                <a:sym typeface="Monotype Sorts" pitchFamily="-65" charset="2"/>
              </a:rPr>
              <a:t>into</a:t>
            </a:r>
            <a:r>
              <a:rPr lang="en-US" altLang="en-US" sz="2000" i="1" dirty="0">
                <a:sym typeface="Monotype Sorts" pitchFamily="-65" charset="2"/>
              </a:rPr>
              <a:t> instructor </a:t>
            </a:r>
            <a:r>
              <a:rPr lang="en-US" altLang="en-US" sz="2000" dirty="0">
                <a:sym typeface="Monotype Sorts" pitchFamily="-65" charset="2"/>
              </a:rPr>
              <a:t>and </a:t>
            </a:r>
            <a:r>
              <a:rPr lang="en-US" altLang="en-US" sz="2000" i="1" dirty="0">
                <a:sym typeface="Monotype Sorts" pitchFamily="-65" charset="2"/>
              </a:rPr>
              <a:t>department </a:t>
            </a:r>
            <a:endParaRPr lang="en-US" altLang="en-US" sz="2000" i="1" dirty="0">
              <a:sym typeface="Monotype Sorts" pitchFamily="-65" charset="2"/>
            </a:endParaRPr>
          </a:p>
          <a:p>
            <a:pPr lvl="1"/>
            <a:r>
              <a:rPr lang="en-US" altLang="en-US" sz="2000" i="1" dirty="0">
                <a:sym typeface="Monotype Sorts" pitchFamily="-65" charset="2"/>
              </a:rPr>
              <a:t>instructor</a:t>
            </a:r>
            <a:r>
              <a:rPr lang="en-US" altLang="en-US" sz="2000" dirty="0">
                <a:sym typeface="Monotype Sorts" pitchFamily="-65" charset="2"/>
              </a:rPr>
              <a:t>  is in BCNF</a:t>
            </a:r>
            <a:endParaRPr lang="en-US" altLang="en-US" sz="2000" dirty="0">
              <a:sym typeface="Monotype Sorts" pitchFamily="-65" charset="2"/>
            </a:endParaRPr>
          </a:p>
          <a:p>
            <a:pPr lvl="1"/>
            <a:r>
              <a:rPr lang="en-US" altLang="en-US" sz="2000" i="1" dirty="0">
                <a:sym typeface="Monotype Sorts" pitchFamily="-65" charset="2"/>
              </a:rPr>
              <a:t>department </a:t>
            </a:r>
            <a:r>
              <a:rPr lang="en-US" altLang="en-US" sz="2000" dirty="0">
                <a:sym typeface="Monotype Sorts" pitchFamily="-65" charset="2"/>
              </a:rPr>
              <a:t>is in BCNF</a:t>
            </a:r>
            <a:endParaRPr lang="en-US" altLang="en-US" sz="2000" dirty="0">
              <a:sym typeface="Monotype Sorts" pitchFamily="-65" charset="2"/>
            </a:endParaRPr>
          </a:p>
          <a:p>
            <a:pPr>
              <a:buFont typeface="Monotype Sorts" pitchFamily="-65" charset="2"/>
              <a:buNone/>
            </a:pPr>
            <a:endParaRPr lang="en-US" altLang="en-US" sz="2000" dirty="0">
              <a:sym typeface="Monotype Sorts" pitchFamily="-65" charset="2"/>
            </a:endParaRPr>
          </a:p>
          <a:p>
            <a:pPr>
              <a:buFont typeface="Monotype Sorts" pitchFamily="-65" charset="2"/>
              <a:buNone/>
            </a:pPr>
            <a:endParaRPr lang="en-US" altLang="en-US" sz="2000" dirty="0">
              <a:sym typeface="Monotype Sorts" pitchFamily="-65" charset="2"/>
            </a:endParaRPr>
          </a:p>
          <a:p>
            <a:endParaRPr lang="en-US" altLang="en-US" sz="2000" i="1" dirty="0">
              <a:sym typeface="Greek Symbols"/>
            </a:endParaRPr>
          </a:p>
          <a:p>
            <a:endParaRPr lang="en-US" altLang="en-US" sz="2000" dirty="0"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3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3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3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3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30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30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30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30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30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3011" grpId="0" autoUpdateAnimBg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 smtClean="0"/>
              <a:t>例子：范式</a:t>
            </a:r>
            <a:endParaRPr lang="zh-CN" altLang="en-US" dirty="0" smtClean="0"/>
          </a:p>
        </p:txBody>
      </p:sp>
      <p:sp>
        <p:nvSpPr>
          <p:cNvPr id="563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z="2400" dirty="0" smtClean="0"/>
              <a:t>例子</a:t>
            </a:r>
            <a:endParaRPr lang="zh-CN" altLang="en-US" sz="2400" dirty="0" smtClean="0"/>
          </a:p>
          <a:p>
            <a:pPr lvl="1" eaLnBrk="1" hangingPunct="1"/>
            <a:r>
              <a:rPr lang="zh-CN" altLang="en-US" sz="2400" dirty="0" smtClean="0"/>
              <a:t>考虑以下关系</a:t>
            </a:r>
            <a:br>
              <a:rPr lang="zh-CN" altLang="en-US" sz="2400" dirty="0" smtClean="0"/>
            </a:br>
            <a:endParaRPr lang="zh-CN" altLang="en-US" sz="2400" dirty="0" smtClean="0"/>
          </a:p>
          <a:p>
            <a:pPr lvl="1" algn="ctr"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/>
              <a:t>R(S, T, C)</a:t>
            </a:r>
            <a:endParaRPr lang="en-US" altLang="zh-CN" sz="2400" dirty="0" smtClean="0"/>
          </a:p>
          <a:p>
            <a:pPr lvl="1" algn="ctr" eaLnBrk="1" hangingPunct="1">
              <a:buFont typeface="Wingdings" panose="05000000000000000000" pitchFamily="2" charset="2"/>
              <a:buNone/>
            </a:pPr>
            <a:endParaRPr lang="zh-CN" altLang="en-US" sz="2400" dirty="0" smtClean="0"/>
          </a:p>
          <a:p>
            <a:pPr lvl="2" eaLnBrk="1" hangingPunct="1"/>
            <a:r>
              <a:rPr lang="en-US" altLang="zh-CN" sz="2400" dirty="0" smtClean="0"/>
              <a:t>S: </a:t>
            </a:r>
            <a:r>
              <a:rPr lang="zh-CN" altLang="en-US" sz="2400" dirty="0" smtClean="0"/>
              <a:t>学生</a:t>
            </a:r>
            <a:r>
              <a:rPr lang="en-US" altLang="zh-CN" sz="2400" dirty="0" smtClean="0"/>
              <a:t>;     T: </a:t>
            </a:r>
            <a:r>
              <a:rPr lang="zh-CN" altLang="en-US" sz="2400" dirty="0" smtClean="0"/>
              <a:t>教师</a:t>
            </a:r>
            <a:r>
              <a:rPr lang="en-US" altLang="zh-CN" sz="2400" dirty="0" smtClean="0"/>
              <a:t>;    C: </a:t>
            </a:r>
            <a:r>
              <a:rPr lang="zh-CN" altLang="en-US" sz="2400" dirty="0" smtClean="0"/>
              <a:t>课程</a:t>
            </a:r>
            <a:endParaRPr lang="zh-CN" altLang="en-US" sz="2400" dirty="0" smtClean="0"/>
          </a:p>
        </p:txBody>
      </p:sp>
      <p:graphicFrame>
        <p:nvGraphicFramePr>
          <p:cNvPr id="725030" name="Group 38"/>
          <p:cNvGraphicFramePr>
            <a:graphicFrameLocks noGrp="1"/>
          </p:cNvGraphicFramePr>
          <p:nvPr/>
        </p:nvGraphicFramePr>
        <p:xfrm>
          <a:off x="4451350" y="4406900"/>
          <a:ext cx="4064001" cy="1905000"/>
        </p:xfrm>
        <a:graphic>
          <a:graphicData uri="http://schemas.openxmlformats.org/drawingml/2006/table">
            <a:tbl>
              <a:tblPr/>
              <a:tblGrid>
                <a:gridCol w="1245275"/>
                <a:gridCol w="1408614"/>
                <a:gridCol w="1410112"/>
              </a:tblGrid>
              <a:tr h="317500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317500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Smith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Jones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Java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7500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Curry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Jones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Java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7500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Smith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E444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Frank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E444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E444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C++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E444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7500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Curry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E444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Frank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E444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E444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C++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E444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7500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Larry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David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C++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25026" name="Rectangle 34"/>
          <p:cNvSpPr>
            <a:spLocks noChangeArrowheads="1"/>
          </p:cNvSpPr>
          <p:nvPr/>
        </p:nvSpPr>
        <p:spPr bwMode="auto">
          <a:xfrm>
            <a:off x="6261100" y="3883025"/>
            <a:ext cx="4445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fontAlgn="auto" hangingPunct="1">
              <a:spcBef>
                <a:spcPct val="3500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Monotype Sorts" pitchFamily="-65" charset="2"/>
              <a:buNone/>
              <a:defRPr/>
            </a:pPr>
            <a:r>
              <a:rPr kumimoji="1" lang="en-US" altLang="zh-CN" sz="2800" b="1" dirty="0">
                <a:latin typeface="Helvetica" panose="020B0604020202020204" pitchFamily="34" charset="0"/>
                <a:ea typeface="宋体" panose="02010600030101010101" pitchFamily="2" charset="-122"/>
              </a:rPr>
              <a:t>R</a:t>
            </a:r>
            <a:endParaRPr kumimoji="1" lang="zh-CN" altLang="en-US" sz="2800" b="1" dirty="0"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 smtClean="0"/>
              <a:t>范式</a:t>
            </a:r>
            <a:endParaRPr lang="zh-CN" altLang="en-US" dirty="0" smtClean="0"/>
          </a:p>
        </p:txBody>
      </p:sp>
      <p:sp>
        <p:nvSpPr>
          <p:cNvPr id="72601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lvl="2" eaLnBrk="1" hangingPunct="1"/>
            <a:r>
              <a:rPr lang="zh-CN" altLang="en-US" sz="2400" dirty="0" smtClean="0"/>
              <a:t>假设一个教师只教一门课程，但是一门课程有多个教师。也就是</a:t>
            </a:r>
            <a:r>
              <a:rPr lang="en-US" altLang="zh-CN" sz="2400" dirty="0" smtClean="0"/>
              <a:t>T→C</a:t>
            </a:r>
            <a:endParaRPr lang="en-US" altLang="zh-CN" sz="2400" dirty="0" smtClean="0"/>
          </a:p>
          <a:p>
            <a:pPr lvl="2" eaLnBrk="1" hangingPunct="1"/>
            <a:r>
              <a:rPr lang="zh-CN" altLang="en-US" sz="2400" dirty="0" smtClean="0"/>
              <a:t>假设给定一个学生和一门课程，只有一个老师给他上这门课程。也就是</a:t>
            </a:r>
            <a:r>
              <a:rPr lang="en-US" altLang="zh-CN" sz="2400" dirty="0" smtClean="0"/>
              <a:t>SC→T</a:t>
            </a:r>
            <a:endParaRPr lang="en-US" altLang="zh-CN" sz="2400" dirty="0" smtClean="0"/>
          </a:p>
          <a:p>
            <a:pPr lvl="1" eaLnBrk="1" hangingPunct="1"/>
            <a:endParaRPr lang="en-US" altLang="zh-CN" sz="1800" dirty="0" smtClean="0"/>
          </a:p>
          <a:p>
            <a:pPr lvl="1" eaLnBrk="1" hangingPunct="1"/>
            <a:r>
              <a:rPr lang="zh-CN" altLang="en-US" sz="2400" dirty="0" smtClean="0"/>
              <a:t>所以函数依赖集为</a:t>
            </a:r>
            <a:r>
              <a:rPr lang="en-US" altLang="zh-CN" sz="2400" dirty="0" smtClean="0"/>
              <a:t>:  F={ T→C, SC→T }</a:t>
            </a:r>
            <a:endParaRPr lang="zh-CN" altLang="en-US" sz="2400" dirty="0" smtClean="0"/>
          </a:p>
        </p:txBody>
      </p:sp>
      <p:graphicFrame>
        <p:nvGraphicFramePr>
          <p:cNvPr id="6" name="Group 38"/>
          <p:cNvGraphicFramePr>
            <a:graphicFrameLocks noGrp="1"/>
          </p:cNvGraphicFramePr>
          <p:nvPr/>
        </p:nvGraphicFramePr>
        <p:xfrm>
          <a:off x="4451350" y="4406900"/>
          <a:ext cx="4064001" cy="1905000"/>
        </p:xfrm>
        <a:graphic>
          <a:graphicData uri="http://schemas.openxmlformats.org/drawingml/2006/table">
            <a:tbl>
              <a:tblPr/>
              <a:tblGrid>
                <a:gridCol w="1245275"/>
                <a:gridCol w="1408614"/>
                <a:gridCol w="1410112"/>
              </a:tblGrid>
              <a:tr h="317500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317500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Smith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Jones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Java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7500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Curry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Jones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Java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7500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Smith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E444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Frank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E444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E444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C++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E444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7500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Curry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E444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Frank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E444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E444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C++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E444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7500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Larry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David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C++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" name="Rectangle 34"/>
          <p:cNvSpPr>
            <a:spLocks noChangeArrowheads="1"/>
          </p:cNvSpPr>
          <p:nvPr/>
        </p:nvSpPr>
        <p:spPr bwMode="auto">
          <a:xfrm>
            <a:off x="6261100" y="3883025"/>
            <a:ext cx="4445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fontAlgn="auto" hangingPunct="1">
              <a:spcBef>
                <a:spcPct val="3500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Monotype Sorts" pitchFamily="-65" charset="2"/>
              <a:buNone/>
              <a:defRPr/>
            </a:pPr>
            <a:r>
              <a:rPr kumimoji="1" lang="en-US" altLang="zh-CN" sz="2800" b="1" dirty="0">
                <a:latin typeface="Helvetica" panose="020B0604020202020204" pitchFamily="34" charset="0"/>
                <a:ea typeface="宋体" panose="02010600030101010101" pitchFamily="2" charset="-122"/>
              </a:rPr>
              <a:t>R</a:t>
            </a:r>
            <a:endParaRPr kumimoji="1" lang="zh-CN" altLang="en-US" sz="2800" b="1" dirty="0"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0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260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260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0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260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260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0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260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260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6019" grpId="0" bldLvl="2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 smtClean="0"/>
              <a:t>范式</a:t>
            </a:r>
            <a:endParaRPr lang="zh-CN" altLang="en-US" dirty="0" smtClean="0"/>
          </a:p>
        </p:txBody>
      </p:sp>
      <p:sp>
        <p:nvSpPr>
          <p:cNvPr id="7270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lvl="2" algn="ctr" eaLnBrk="1" hangingPunct="1">
              <a:buFont typeface="Wingdings" panose="05000000000000000000" pitchFamily="2" charset="2"/>
              <a:buNone/>
            </a:pPr>
            <a:r>
              <a:rPr lang="en-US" altLang="zh-CN" sz="2800" dirty="0" smtClean="0"/>
              <a:t>R(S, T, C), </a:t>
            </a:r>
            <a:r>
              <a:rPr lang="zh-CN" altLang="en-US" sz="2800" dirty="0" smtClean="0"/>
              <a:t> </a:t>
            </a:r>
            <a:r>
              <a:rPr lang="en-US" altLang="zh-CN" sz="2800" dirty="0" smtClean="0"/>
              <a:t>F={ T→C, SC→T }</a:t>
            </a:r>
            <a:endParaRPr lang="zh-CN" altLang="en-US" sz="2800" dirty="0" smtClean="0"/>
          </a:p>
          <a:p>
            <a:pPr lvl="1" eaLnBrk="1" hangingPunct="1"/>
            <a:endParaRPr lang="en-US" altLang="zh-CN" sz="1200" dirty="0" smtClean="0"/>
          </a:p>
          <a:p>
            <a:pPr lvl="1" eaLnBrk="1" hangingPunct="1"/>
            <a:r>
              <a:rPr lang="zh-CN" altLang="en-US" sz="2400" dirty="0" smtClean="0"/>
              <a:t>问题</a:t>
            </a:r>
            <a:r>
              <a:rPr lang="en-US" altLang="zh-CN" sz="2400" dirty="0" smtClean="0"/>
              <a:t>1: R</a:t>
            </a:r>
            <a:r>
              <a:rPr lang="zh-CN" altLang="en-US" sz="2400" dirty="0" smtClean="0"/>
              <a:t>的候选码是什么？</a:t>
            </a:r>
            <a:endParaRPr lang="zh-CN" altLang="en-US" sz="2400" dirty="0" smtClean="0"/>
          </a:p>
          <a:p>
            <a:pPr lvl="2" eaLnBrk="1" hangingPunct="1"/>
            <a:r>
              <a:rPr lang="zh-CN" altLang="en-US" sz="2400" dirty="0" smtClean="0"/>
              <a:t>候选码</a:t>
            </a:r>
            <a:r>
              <a:rPr lang="en-US" altLang="zh-CN" sz="2400" dirty="0" smtClean="0"/>
              <a:t>: ST, SC </a:t>
            </a:r>
            <a:endParaRPr lang="en-US" altLang="zh-CN" sz="2400" dirty="0" smtClean="0"/>
          </a:p>
          <a:p>
            <a:pPr lvl="2" eaLnBrk="1" hangingPunct="1"/>
            <a:r>
              <a:rPr lang="zh-CN" altLang="en-US" sz="2400" dirty="0" smtClean="0"/>
              <a:t>证明</a:t>
            </a:r>
            <a:r>
              <a:rPr lang="en-US" altLang="zh-CN" sz="2400" dirty="0" smtClean="0"/>
              <a:t>: (ST)</a:t>
            </a:r>
            <a:r>
              <a:rPr lang="en-US" altLang="zh-CN" sz="2400" baseline="30000" dirty="0" smtClean="0"/>
              <a:t>+</a:t>
            </a:r>
            <a:r>
              <a:rPr lang="en-US" altLang="zh-CN" sz="2400" dirty="0" smtClean="0"/>
              <a:t>=(STC), (SC)</a:t>
            </a:r>
            <a:r>
              <a:rPr lang="en-US" altLang="zh-CN" sz="2400" baseline="30000" dirty="0" smtClean="0"/>
              <a:t>+</a:t>
            </a:r>
            <a:r>
              <a:rPr lang="en-US" altLang="zh-CN" sz="2400" dirty="0" smtClean="0"/>
              <a:t>=(STC),</a:t>
            </a:r>
            <a:r>
              <a:rPr lang="zh-CN" altLang="en-US" sz="2400" dirty="0" smtClean="0"/>
              <a:t>所以</a:t>
            </a:r>
            <a:r>
              <a:rPr lang="en-US" altLang="zh-CN" sz="2400" dirty="0" smtClean="0"/>
              <a:t>ST, SC</a:t>
            </a:r>
            <a:r>
              <a:rPr lang="zh-CN" altLang="en-US" sz="2400" dirty="0" smtClean="0"/>
              <a:t>是超码</a:t>
            </a:r>
            <a:r>
              <a:rPr lang="en-US" altLang="zh-CN" sz="2400" dirty="0" smtClean="0"/>
              <a:t>. </a:t>
            </a:r>
            <a:r>
              <a:rPr lang="zh-CN" altLang="en-US" sz="2400" dirty="0" smtClean="0"/>
              <a:t>而</a:t>
            </a:r>
            <a:r>
              <a:rPr lang="en-US" altLang="zh-CN" sz="2400" dirty="0" smtClean="0"/>
              <a:t>(S)</a:t>
            </a:r>
            <a:r>
              <a:rPr lang="en-US" altLang="zh-CN" sz="2400" baseline="30000" dirty="0" smtClean="0"/>
              <a:t>+</a:t>
            </a:r>
            <a:r>
              <a:rPr lang="en-US" altLang="zh-CN" sz="2400" dirty="0" smtClean="0"/>
              <a:t>=(S), (T)</a:t>
            </a:r>
            <a:r>
              <a:rPr lang="en-US" altLang="zh-CN" sz="2400" baseline="30000" dirty="0" smtClean="0"/>
              <a:t>+</a:t>
            </a:r>
            <a:r>
              <a:rPr lang="en-US" altLang="zh-CN" sz="2400" dirty="0" smtClean="0"/>
              <a:t>=(TC), (C)</a:t>
            </a:r>
            <a:r>
              <a:rPr lang="en-US" altLang="zh-CN" sz="2400" baseline="30000" dirty="0" smtClean="0"/>
              <a:t>+</a:t>
            </a:r>
            <a:r>
              <a:rPr lang="en-US" altLang="zh-CN" sz="2400" dirty="0" smtClean="0"/>
              <a:t>=(C), </a:t>
            </a:r>
            <a:r>
              <a:rPr lang="zh-CN" altLang="en-US" sz="2400" dirty="0" smtClean="0"/>
              <a:t>所以</a:t>
            </a:r>
            <a:r>
              <a:rPr lang="en-US" altLang="zh-CN" sz="2400" dirty="0" smtClean="0"/>
              <a:t>ST, SC</a:t>
            </a:r>
            <a:r>
              <a:rPr lang="zh-CN" altLang="en-US" sz="2400" dirty="0" smtClean="0"/>
              <a:t>的真子集都不是超码</a:t>
            </a:r>
            <a:endParaRPr lang="en-US" altLang="zh-CN" sz="2400" dirty="0" smtClean="0"/>
          </a:p>
        </p:txBody>
      </p:sp>
      <p:graphicFrame>
        <p:nvGraphicFramePr>
          <p:cNvPr id="6" name="Group 38"/>
          <p:cNvGraphicFramePr>
            <a:graphicFrameLocks noGrp="1"/>
          </p:cNvGraphicFramePr>
          <p:nvPr/>
        </p:nvGraphicFramePr>
        <p:xfrm>
          <a:off x="4451350" y="4406900"/>
          <a:ext cx="4064001" cy="1905000"/>
        </p:xfrm>
        <a:graphic>
          <a:graphicData uri="http://schemas.openxmlformats.org/drawingml/2006/table">
            <a:tbl>
              <a:tblPr/>
              <a:tblGrid>
                <a:gridCol w="1245275"/>
                <a:gridCol w="1408614"/>
                <a:gridCol w="1410112"/>
              </a:tblGrid>
              <a:tr h="317500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317500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Smith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Jones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Java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7500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Curry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Jones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Java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7500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Smith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E444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Frank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E444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E444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C++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E444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7500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Curry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E444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Frank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E444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E444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C++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E444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7500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Larry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David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C++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" name="Rectangle 34"/>
          <p:cNvSpPr>
            <a:spLocks noChangeArrowheads="1"/>
          </p:cNvSpPr>
          <p:nvPr/>
        </p:nvSpPr>
        <p:spPr bwMode="auto">
          <a:xfrm>
            <a:off x="6261100" y="3883025"/>
            <a:ext cx="4445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fontAlgn="auto" hangingPunct="1">
              <a:spcBef>
                <a:spcPct val="3500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Monotype Sorts" pitchFamily="-65" charset="2"/>
              <a:buNone/>
              <a:defRPr/>
            </a:pPr>
            <a:r>
              <a:rPr kumimoji="1" lang="en-US" altLang="zh-CN" sz="2800" b="1" dirty="0">
                <a:latin typeface="Helvetica" panose="020B0604020202020204" pitchFamily="34" charset="0"/>
                <a:ea typeface="宋体" panose="02010600030101010101" pitchFamily="2" charset="-122"/>
              </a:rPr>
              <a:t>R</a:t>
            </a:r>
            <a:endParaRPr kumimoji="1" lang="zh-CN" altLang="en-US" sz="2800" b="1" dirty="0"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270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270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270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270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270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270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270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270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043" grpId="0" bldLvl="2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 smtClean="0"/>
              <a:t>范式</a:t>
            </a:r>
            <a:endParaRPr lang="zh-CN" altLang="en-US" dirty="0" smtClean="0"/>
          </a:p>
        </p:txBody>
      </p:sp>
      <p:sp>
        <p:nvSpPr>
          <p:cNvPr id="7280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lvl="2" algn="ctr" eaLnBrk="1" hangingPunct="1">
              <a:buFont typeface="Wingdings" panose="05000000000000000000" pitchFamily="2" charset="2"/>
              <a:buNone/>
            </a:pPr>
            <a:r>
              <a:rPr lang="en-US" altLang="zh-CN" sz="2800" dirty="0" smtClean="0"/>
              <a:t>R(S, T, C), </a:t>
            </a:r>
            <a:r>
              <a:rPr lang="zh-CN" altLang="en-US" sz="2800" dirty="0" smtClean="0"/>
              <a:t> </a:t>
            </a:r>
            <a:r>
              <a:rPr lang="en-US" altLang="zh-CN" sz="2800" dirty="0" smtClean="0"/>
              <a:t>F={ T→C, SC→T }, </a:t>
            </a:r>
            <a:br>
              <a:rPr lang="en-US" altLang="zh-CN" sz="2800" dirty="0" smtClean="0"/>
            </a:br>
            <a:r>
              <a:rPr lang="zh-CN" altLang="en-US" sz="2600" dirty="0" smtClean="0"/>
              <a:t>候选码</a:t>
            </a:r>
            <a:r>
              <a:rPr lang="en-US" altLang="zh-CN" sz="2600" dirty="0" smtClean="0"/>
              <a:t>: ST, SC</a:t>
            </a:r>
            <a:endParaRPr lang="zh-CN" altLang="en-US" sz="2600" dirty="0" smtClean="0"/>
          </a:p>
          <a:p>
            <a:pPr lvl="1" eaLnBrk="1" hangingPunct="1"/>
            <a:endParaRPr lang="en-US" altLang="zh-CN" sz="1200" dirty="0" smtClean="0"/>
          </a:p>
          <a:p>
            <a:pPr lvl="1" eaLnBrk="1" hangingPunct="1"/>
            <a:r>
              <a:rPr lang="zh-CN" altLang="en-US" sz="2400" dirty="0" smtClean="0"/>
              <a:t>问题</a:t>
            </a:r>
            <a:r>
              <a:rPr lang="en-US" altLang="zh-CN" sz="2400" dirty="0" smtClean="0"/>
              <a:t>2: R</a:t>
            </a:r>
            <a:r>
              <a:rPr lang="zh-CN" altLang="en-US" sz="2400" dirty="0" smtClean="0"/>
              <a:t>在</a:t>
            </a:r>
            <a:r>
              <a:rPr lang="en-US" altLang="zh-CN" sz="2400" dirty="0" smtClean="0"/>
              <a:t>3NF</a:t>
            </a:r>
            <a:r>
              <a:rPr lang="zh-CN" altLang="en-US" sz="2400" dirty="0" smtClean="0"/>
              <a:t>中么？在</a:t>
            </a:r>
            <a:r>
              <a:rPr lang="en-US" altLang="zh-CN" sz="2400" dirty="0" smtClean="0"/>
              <a:t>BCNF</a:t>
            </a:r>
            <a:r>
              <a:rPr lang="zh-CN" altLang="en-US" sz="2400" dirty="0" smtClean="0"/>
              <a:t>中么？</a:t>
            </a:r>
            <a:endParaRPr lang="zh-CN" altLang="en-US" sz="2400" dirty="0" smtClean="0"/>
          </a:p>
          <a:p>
            <a:pPr lvl="2" eaLnBrk="1" hangingPunct="1"/>
            <a:r>
              <a:rPr lang="en-US" altLang="zh-CN" sz="2400" dirty="0" smtClean="0"/>
              <a:t>R</a:t>
            </a:r>
            <a:r>
              <a:rPr lang="zh-CN" altLang="en-US" sz="2400" dirty="0" smtClean="0"/>
              <a:t>在</a:t>
            </a:r>
            <a:r>
              <a:rPr lang="en-US" altLang="zh-CN" sz="2400" dirty="0" smtClean="0"/>
              <a:t>3NF</a:t>
            </a:r>
            <a:r>
              <a:rPr lang="zh-CN" altLang="en-US" sz="2400" dirty="0" smtClean="0"/>
              <a:t>中，因为</a:t>
            </a:r>
            <a:r>
              <a:rPr lang="en-US" altLang="zh-CN" sz="2400" dirty="0" smtClean="0"/>
              <a:t>R</a:t>
            </a:r>
            <a:r>
              <a:rPr lang="zh-CN" altLang="en-US" sz="2400" dirty="0" smtClean="0"/>
              <a:t>中没有非码属性</a:t>
            </a:r>
            <a:endParaRPr lang="en-US" altLang="zh-CN" sz="2400" dirty="0" smtClean="0"/>
          </a:p>
          <a:p>
            <a:pPr lvl="2" eaLnBrk="1" hangingPunct="1"/>
            <a:r>
              <a:rPr lang="en-US" altLang="zh-CN" sz="2400" dirty="0" smtClean="0"/>
              <a:t>R</a:t>
            </a:r>
            <a:r>
              <a:rPr lang="zh-CN" altLang="en-US" sz="2400" dirty="0" smtClean="0"/>
              <a:t>不在</a:t>
            </a:r>
            <a:r>
              <a:rPr lang="en-US" altLang="zh-CN" sz="2400" dirty="0" smtClean="0"/>
              <a:t>BCNF</a:t>
            </a:r>
            <a:r>
              <a:rPr lang="zh-CN" altLang="en-US" sz="2400" dirty="0" smtClean="0"/>
              <a:t>中，因为</a:t>
            </a:r>
            <a:r>
              <a:rPr lang="en-US" altLang="zh-CN" sz="2400" dirty="0" smtClean="0"/>
              <a:t>T→C</a:t>
            </a:r>
            <a:r>
              <a:rPr lang="zh-CN" altLang="en-US" sz="2400" dirty="0" smtClean="0"/>
              <a:t>是非平凡的，且左边</a:t>
            </a:r>
            <a:r>
              <a:rPr lang="en-US" altLang="zh-CN" sz="2400" dirty="0" smtClean="0"/>
              <a:t>T</a:t>
            </a:r>
            <a:r>
              <a:rPr lang="zh-CN" altLang="en-US" sz="2400" dirty="0" smtClean="0"/>
              <a:t>不是超码</a:t>
            </a:r>
            <a:endParaRPr lang="en-US" altLang="zh-CN" sz="2400" dirty="0" smtClean="0"/>
          </a:p>
        </p:txBody>
      </p:sp>
      <p:graphicFrame>
        <p:nvGraphicFramePr>
          <p:cNvPr id="6" name="Group 38"/>
          <p:cNvGraphicFramePr>
            <a:graphicFrameLocks noGrp="1"/>
          </p:cNvGraphicFramePr>
          <p:nvPr/>
        </p:nvGraphicFramePr>
        <p:xfrm>
          <a:off x="4451350" y="4406900"/>
          <a:ext cx="4064001" cy="1905000"/>
        </p:xfrm>
        <a:graphic>
          <a:graphicData uri="http://schemas.openxmlformats.org/drawingml/2006/table">
            <a:tbl>
              <a:tblPr/>
              <a:tblGrid>
                <a:gridCol w="1245275"/>
                <a:gridCol w="1408614"/>
                <a:gridCol w="1410112"/>
              </a:tblGrid>
              <a:tr h="317500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317500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Smith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Jones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Java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7500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Curry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Jones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Java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7500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Smith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E444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Frank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E444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E444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C++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E444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7500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Curry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E444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Frank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E444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E444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C++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E444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7500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Larry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David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C++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" name="Rectangle 34"/>
          <p:cNvSpPr>
            <a:spLocks noChangeArrowheads="1"/>
          </p:cNvSpPr>
          <p:nvPr/>
        </p:nvSpPr>
        <p:spPr bwMode="auto">
          <a:xfrm>
            <a:off x="6261100" y="3883025"/>
            <a:ext cx="4445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fontAlgn="auto" hangingPunct="1">
              <a:spcBef>
                <a:spcPct val="3500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Monotype Sorts" pitchFamily="-65" charset="2"/>
              <a:buNone/>
              <a:defRPr/>
            </a:pPr>
            <a:r>
              <a:rPr kumimoji="1" lang="en-US" altLang="zh-CN" sz="2800" b="1" dirty="0">
                <a:latin typeface="Helvetica" panose="020B0604020202020204" pitchFamily="34" charset="0"/>
                <a:ea typeface="宋体" panose="02010600030101010101" pitchFamily="2" charset="-122"/>
              </a:rPr>
              <a:t>R</a:t>
            </a:r>
            <a:endParaRPr kumimoji="1" lang="zh-CN" altLang="en-US" sz="2800" b="1" dirty="0"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0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280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280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0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280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280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0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280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280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8067" grpId="0" bldLvl="2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BC</a:t>
            </a:r>
            <a:r>
              <a:rPr lang="zh-CN" altLang="en-US" smtClean="0"/>
              <a:t>范式</a:t>
            </a:r>
            <a:endParaRPr lang="zh-CN" altLang="en-US" smtClean="0"/>
          </a:p>
        </p:txBody>
      </p:sp>
      <p:sp>
        <p:nvSpPr>
          <p:cNvPr id="7290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lvl="2" algn="ctr" eaLnBrk="1" hangingPunct="1">
              <a:buFont typeface="Wingdings" panose="05000000000000000000" pitchFamily="2" charset="2"/>
              <a:buNone/>
            </a:pPr>
            <a:r>
              <a:rPr lang="en-US" altLang="zh-CN" sz="2800" dirty="0" smtClean="0"/>
              <a:t>R(S, T, C), </a:t>
            </a:r>
            <a:r>
              <a:rPr lang="zh-CN" altLang="en-US" sz="2800" dirty="0" smtClean="0"/>
              <a:t> </a:t>
            </a:r>
            <a:r>
              <a:rPr lang="en-US" altLang="zh-CN" sz="2800" dirty="0" smtClean="0"/>
              <a:t>F={ T→C, SC→T }, </a:t>
            </a:r>
            <a:br>
              <a:rPr lang="en-US" altLang="zh-CN" sz="2800" dirty="0" smtClean="0"/>
            </a:br>
            <a:r>
              <a:rPr lang="zh-CN" altLang="en-US" sz="2600" dirty="0" smtClean="0"/>
              <a:t>候选码</a:t>
            </a:r>
            <a:r>
              <a:rPr lang="en-US" altLang="zh-CN" sz="2600" dirty="0" smtClean="0"/>
              <a:t>: ST, SC</a:t>
            </a:r>
            <a:endParaRPr lang="zh-CN" altLang="en-US" sz="2600" dirty="0" smtClean="0"/>
          </a:p>
          <a:p>
            <a:pPr lvl="1" eaLnBrk="1" hangingPunct="1"/>
            <a:endParaRPr lang="en-US" altLang="zh-CN" sz="1400" dirty="0" smtClean="0"/>
          </a:p>
          <a:p>
            <a:pPr lvl="1" eaLnBrk="1" hangingPunct="1"/>
            <a:r>
              <a:rPr lang="zh-CN" altLang="en-US" sz="2400" dirty="0" smtClean="0"/>
              <a:t>问题</a:t>
            </a:r>
            <a:r>
              <a:rPr lang="en-US" altLang="zh-CN" sz="2400" dirty="0" smtClean="0"/>
              <a:t>3: </a:t>
            </a:r>
            <a:r>
              <a:rPr lang="zh-CN" altLang="en-US" sz="2400" dirty="0" smtClean="0"/>
              <a:t>它们有我们以前讨论过的四个问题吗？</a:t>
            </a:r>
            <a:endParaRPr lang="zh-CN" altLang="en-US" sz="2400" dirty="0" smtClean="0"/>
          </a:p>
          <a:p>
            <a:pPr lvl="2" eaLnBrk="1" hangingPunct="1"/>
            <a:r>
              <a:rPr lang="zh-CN" altLang="en-US" sz="2400" dirty="0" smtClean="0"/>
              <a:t>是的，因为组合</a:t>
            </a:r>
            <a:r>
              <a:rPr lang="en-US" altLang="zh-CN" sz="2400" dirty="0" smtClean="0"/>
              <a:t>(T, C)</a:t>
            </a:r>
            <a:r>
              <a:rPr lang="zh-CN" altLang="en-US" sz="2400" dirty="0" smtClean="0"/>
              <a:t>的值重复</a:t>
            </a:r>
            <a:endParaRPr lang="zh-CN" altLang="en-US" sz="2400" dirty="0" smtClean="0"/>
          </a:p>
        </p:txBody>
      </p:sp>
      <p:graphicFrame>
        <p:nvGraphicFramePr>
          <p:cNvPr id="6" name="Group 38"/>
          <p:cNvGraphicFramePr>
            <a:graphicFrameLocks noGrp="1"/>
          </p:cNvGraphicFramePr>
          <p:nvPr/>
        </p:nvGraphicFramePr>
        <p:xfrm>
          <a:off x="4451350" y="4406900"/>
          <a:ext cx="4064001" cy="1905000"/>
        </p:xfrm>
        <a:graphic>
          <a:graphicData uri="http://schemas.openxmlformats.org/drawingml/2006/table">
            <a:tbl>
              <a:tblPr/>
              <a:tblGrid>
                <a:gridCol w="1245275"/>
                <a:gridCol w="1408614"/>
                <a:gridCol w="1410112"/>
              </a:tblGrid>
              <a:tr h="317500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317500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Smith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Jones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Java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7500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Curry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Jones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Java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7500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Smith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E444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Frank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E444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E444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C++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E444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7500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Curry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E444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Frank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E444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E444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C++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E444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7500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Larry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David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C++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" name="Rectangle 34"/>
          <p:cNvSpPr>
            <a:spLocks noChangeArrowheads="1"/>
          </p:cNvSpPr>
          <p:nvPr/>
        </p:nvSpPr>
        <p:spPr bwMode="auto">
          <a:xfrm>
            <a:off x="6261100" y="3883025"/>
            <a:ext cx="4445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fontAlgn="auto" hangingPunct="1">
              <a:spcBef>
                <a:spcPct val="3500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Monotype Sorts" pitchFamily="-65" charset="2"/>
              <a:buNone/>
              <a:defRPr/>
            </a:pPr>
            <a:r>
              <a:rPr kumimoji="1" lang="en-US" altLang="zh-CN" sz="2800" b="1" dirty="0">
                <a:latin typeface="Helvetica" panose="020B0604020202020204" pitchFamily="34" charset="0"/>
                <a:ea typeface="宋体" panose="02010600030101010101" pitchFamily="2" charset="-122"/>
              </a:rPr>
              <a:t>R</a:t>
            </a:r>
            <a:endParaRPr kumimoji="1" lang="zh-CN" altLang="en-US" sz="2800" b="1" dirty="0"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0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290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290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0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290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290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9091" grpId="0" bldLvl="2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总结</a:t>
            </a:r>
            <a:endParaRPr lang="zh-CN" altLang="en-US" smtClean="0"/>
          </a:p>
        </p:txBody>
      </p:sp>
      <p:graphicFrame>
        <p:nvGraphicFramePr>
          <p:cNvPr id="733208" name="Group 24"/>
          <p:cNvGraphicFramePr>
            <a:graphicFrameLocks noGrp="1"/>
          </p:cNvGraphicFramePr>
          <p:nvPr>
            <p:ph idx="1"/>
          </p:nvPr>
        </p:nvGraphicFramePr>
        <p:xfrm>
          <a:off x="628650" y="1825625"/>
          <a:ext cx="7886700" cy="3795714"/>
        </p:xfrm>
        <a:graphic>
          <a:graphicData uri="http://schemas.openxmlformats.org/drawingml/2006/table">
            <a:tbl>
              <a:tblPr/>
              <a:tblGrid>
                <a:gridCol w="6110732"/>
                <a:gridCol w="1775968"/>
              </a:tblGrid>
              <a:tr h="703263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857250" indent="5715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200150" indent="17145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543050" indent="28575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000250" indent="28575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457450" indent="28575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2914650" indent="28575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371850" indent="28575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检查每个函数依赖： </a:t>
                      </a:r>
                      <a:r>
                        <a:rPr kumimoji="0" lang="zh-CN" altLang="en-US" sz="24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 </a:t>
                      </a:r>
                      <a:r>
                        <a:rPr kumimoji="0" lang="zh-CN" altLang="en-US" sz="24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Monotype Sorts" pitchFamily="-65" charset="2"/>
                        </a:rPr>
                        <a:t> </a:t>
                      </a:r>
                      <a:r>
                        <a:rPr kumimoji="0" lang="zh-CN" altLang="en-US" sz="24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</a:t>
                      </a:r>
                      <a:endParaRPr kumimoji="0" lang="zh-CN" altLang="en-US" sz="24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sym typeface="Symbol" panose="05050102010706020507" pitchFamily="18" charset="2"/>
                      </a:endParaRPr>
                    </a:p>
                  </a:txBody>
                  <a:tcPr marL="110400" marR="1104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857250" indent="5715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200150" indent="17145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543050" indent="28575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000250" indent="28575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457450" indent="28575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2914650" indent="28575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371850" indent="28575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结论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10400" marR="1104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30288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857250" indent="5715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200150" indent="17145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543050" indent="28575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000250" indent="28575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457450" indent="28575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2914650" indent="28575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371850" indent="28575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</a:t>
                      </a: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 非码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10400" marR="1104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857250" indent="5715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200150" indent="17145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543050" indent="28575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000250" indent="28575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457450" indent="28575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2914650" indent="28575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371850" indent="28575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非</a:t>
                      </a: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BCNF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10400" marR="1104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3187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857250" indent="5715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200150" indent="17145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543050" indent="28575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000250" indent="28575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457450" indent="28575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2914650" indent="28575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371850" indent="28575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 </a:t>
                      </a:r>
                      <a:r>
                        <a:rPr kumimoji="0" lang="zh-CN" alt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非码， </a:t>
                      </a:r>
                      <a:r>
                        <a:rPr kumimoji="0" lang="zh-CN" altLang="en-US" sz="24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 </a:t>
                      </a:r>
                      <a:r>
                        <a:rPr kumimoji="0" lang="zh-CN" alt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有非码属性</a:t>
                      </a:r>
                      <a:endParaRPr kumimoji="0" lang="zh-CN" alt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10400" marR="1104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857250" indent="5715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200150" indent="17145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543050" indent="28575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000250" indent="28575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457450" indent="28575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2914650" indent="28575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371850" indent="28575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非</a:t>
                      </a: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3NF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10400" marR="1104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30288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857250" indent="5715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200150" indent="17145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543050" indent="28575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000250" indent="28575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457450" indent="28575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2914650" indent="28575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371850" indent="28575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 </a:t>
                      </a: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是候选码的一部分，</a:t>
                      </a:r>
                      <a:r>
                        <a:rPr kumimoji="0" lang="zh-CN" altLang="en-US" sz="24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</a:t>
                      </a: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有非码属性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sym typeface="Symbol" panose="05050102010706020507" pitchFamily="18" charset="2"/>
                      </a:endParaRPr>
                    </a:p>
                  </a:txBody>
                  <a:tcPr marL="110400" marR="1104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857250" indent="5715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200150" indent="17145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543050" indent="28575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000250" indent="28575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457450" indent="28575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2914650" indent="28575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371850" indent="28575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非</a:t>
                      </a:r>
                      <a:r>
                        <a:rPr kumimoji="0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2NF</a:t>
                      </a:r>
                      <a:endParaRPr kumimoji="0" lang="en-US" altLang="zh-CN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10400" marR="1104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202" name="Rectangle 2"/>
          <p:cNvSpPr>
            <a:spLocks noGrp="1" noChangeArrowheads="1"/>
          </p:cNvSpPr>
          <p:nvPr>
            <p:ph type="title"/>
          </p:nvPr>
        </p:nvSpPr>
        <p:spPr>
          <a:xfrm>
            <a:off x="1422400" y="125766"/>
            <a:ext cx="7124700" cy="635000"/>
          </a:xfrm>
        </p:spPr>
        <p:txBody>
          <a:bodyPr/>
          <a:lstStyle/>
          <a:p>
            <a:pPr>
              <a:defRPr/>
            </a:pPr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How good is BCNF?</a:t>
            </a:r>
            <a:endParaRPr lang="en-US" altLang="en-US" sz="2800" dirty="0">
              <a:effectLst>
                <a:outerShdw blurRad="38100" dist="38100" dir="2700000" algn="tl">
                  <a:srgbClr val="C0C0C0"/>
                </a:outerShdw>
              </a:effectLst>
              <a:ea typeface="MS PGothic" panose="020B0600070205080204" pitchFamily="34" charset="-128"/>
            </a:endParaRP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72357" y="1093789"/>
            <a:ext cx="7469436" cy="2454084"/>
          </a:xfrm>
        </p:spPr>
        <p:txBody>
          <a:bodyPr/>
          <a:lstStyle/>
          <a:p>
            <a:pPr>
              <a:tabLst>
                <a:tab pos="2976245" algn="ctr"/>
              </a:tabLst>
            </a:pPr>
            <a:r>
              <a:rPr lang="en-US" altLang="en-US" sz="2400" dirty="0"/>
              <a:t>There are database schemas in BCNF that do not seem to be sufficiently normalized </a:t>
            </a:r>
            <a:endParaRPr lang="en-US" altLang="en-US" sz="2400" dirty="0"/>
          </a:p>
          <a:p>
            <a:pPr>
              <a:tabLst>
                <a:tab pos="2976245" algn="ctr"/>
              </a:tabLst>
            </a:pPr>
            <a:r>
              <a:rPr lang="en-US" altLang="en-US" sz="2400" dirty="0"/>
              <a:t>Consider a relation </a:t>
            </a:r>
            <a:endParaRPr lang="en-US" altLang="en-US" sz="2400" dirty="0"/>
          </a:p>
          <a:p>
            <a:pPr>
              <a:buFont typeface="Monotype Sorts" pitchFamily="-65" charset="2"/>
              <a:buNone/>
              <a:tabLst>
                <a:tab pos="2976245" algn="ctr"/>
              </a:tabLst>
            </a:pPr>
            <a:r>
              <a:rPr lang="en-US" altLang="en-US" sz="2400" dirty="0"/>
              <a:t>		</a:t>
            </a:r>
            <a:r>
              <a:rPr lang="en-US" altLang="en-US" sz="2400" i="1" dirty="0" err="1"/>
              <a:t>inst_info</a:t>
            </a:r>
            <a:r>
              <a:rPr lang="en-US" altLang="en-US" sz="2400" i="1" dirty="0"/>
              <a:t> (ID, </a:t>
            </a:r>
            <a:r>
              <a:rPr lang="en-US" altLang="en-US" sz="2400" i="1" dirty="0" err="1"/>
              <a:t>child_name</a:t>
            </a:r>
            <a:r>
              <a:rPr lang="en-US" altLang="en-US" sz="2400" i="1" dirty="0"/>
              <a:t>, phone)</a:t>
            </a:r>
            <a:endParaRPr lang="en-US" altLang="en-US" sz="2400" i="1" dirty="0"/>
          </a:p>
          <a:p>
            <a:pPr lvl="1">
              <a:tabLst>
                <a:tab pos="2976245" algn="ctr"/>
              </a:tabLst>
            </a:pPr>
            <a:r>
              <a:rPr lang="en-US" altLang="en-US" sz="2400" dirty="0"/>
              <a:t>where an instructor may have more than one phone and can have multiple children</a:t>
            </a:r>
            <a:endParaRPr lang="en-US" altLang="en-US" sz="2400" dirty="0"/>
          </a:p>
          <a:p>
            <a:pPr lvl="1">
              <a:tabLst>
                <a:tab pos="2976245" algn="ctr"/>
              </a:tabLst>
            </a:pPr>
            <a:r>
              <a:rPr lang="en-US" altLang="en-US" sz="2400" dirty="0"/>
              <a:t>Instance of </a:t>
            </a:r>
            <a:r>
              <a:rPr lang="en-US" altLang="en-US" sz="2400" i="1" dirty="0" err="1"/>
              <a:t>inst_info</a:t>
            </a:r>
            <a:endParaRPr lang="en-US" altLang="en-US" sz="2400" i="1" dirty="0"/>
          </a:p>
          <a:p>
            <a:pPr>
              <a:buFont typeface="Monotype Sorts" pitchFamily="-65" charset="2"/>
              <a:buNone/>
              <a:tabLst>
                <a:tab pos="2976245" algn="ctr"/>
              </a:tabLst>
            </a:pPr>
            <a:endParaRPr lang="en-US" altLang="en-US" sz="1700" dirty="0"/>
          </a:p>
          <a:p>
            <a:pPr>
              <a:buFont typeface="Monotype Sorts" pitchFamily="-65" charset="2"/>
              <a:buNone/>
              <a:tabLst>
                <a:tab pos="2976245" algn="ctr"/>
              </a:tabLst>
            </a:pPr>
            <a:endParaRPr lang="en-US" altLang="en-US" sz="1700" dirty="0"/>
          </a:p>
        </p:txBody>
      </p:sp>
      <p:pic>
        <p:nvPicPr>
          <p:cNvPr id="37892" name="Picture 11" descr="C:\Users\as668\Desktop\Judi-Done\7_100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8790" y="4533046"/>
            <a:ext cx="3536569" cy="152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68350" y="1133475"/>
            <a:ext cx="7594415" cy="2314575"/>
          </a:xfrm>
        </p:spPr>
        <p:txBody>
          <a:bodyPr/>
          <a:lstStyle/>
          <a:p>
            <a:pPr>
              <a:tabLst>
                <a:tab pos="1993900" algn="l"/>
              </a:tabLst>
            </a:pPr>
            <a:r>
              <a:rPr kumimoji="0" lang="en-US" altLang="en-US" sz="2400" dirty="0"/>
              <a:t>There are no non-trivial functional dependencies and therefore the relation is in BCNF </a:t>
            </a:r>
            <a:endParaRPr kumimoji="0" lang="en-US" altLang="en-US" sz="2400" dirty="0"/>
          </a:p>
          <a:p>
            <a:pPr>
              <a:tabLst>
                <a:tab pos="1993900" algn="l"/>
              </a:tabLst>
            </a:pPr>
            <a:r>
              <a:rPr kumimoji="0" lang="en-US" altLang="en-US" sz="2400" dirty="0"/>
              <a:t>Insertion anomalies – i.e., if we add a phone 981-992-3443 to 99999, we need to add two tuples</a:t>
            </a:r>
            <a:endParaRPr kumimoji="0" lang="en-US" altLang="en-US" sz="2400" dirty="0"/>
          </a:p>
          <a:p>
            <a:pPr>
              <a:buFont typeface="Monotype Sorts" pitchFamily="-65" charset="2"/>
              <a:buNone/>
              <a:tabLst>
                <a:tab pos="1993900" algn="l"/>
              </a:tabLst>
            </a:pPr>
            <a:r>
              <a:rPr kumimoji="0" lang="en-US" altLang="en-US" sz="2400" dirty="0"/>
              <a:t>		(99999, David,   981-992-3443)</a:t>
            </a:r>
            <a:br>
              <a:rPr kumimoji="0" lang="en-US" altLang="en-US" sz="2400" dirty="0"/>
            </a:br>
            <a:r>
              <a:rPr kumimoji="0" lang="en-US" altLang="en-US" sz="2400" dirty="0"/>
              <a:t>	(99999, William, 981-992-3443)</a:t>
            </a:r>
            <a:br>
              <a:rPr kumimoji="0" lang="en-US" altLang="en-US" sz="2400" dirty="0"/>
            </a:br>
            <a:endParaRPr kumimoji="0" lang="en-US" altLang="en-US" sz="2400" dirty="0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How good is BCNF? (Cont.)</a:t>
            </a:r>
            <a:endParaRPr lang="en-US" altLang="en-US" sz="2800" dirty="0">
              <a:effectLst>
                <a:outerShdw blurRad="38100" dist="38100" dir="2700000" algn="tl">
                  <a:srgbClr val="C0C0C0"/>
                </a:outerShdw>
              </a:effectLst>
              <a:ea typeface="MS PGothic" panose="020B0600070205080204" pitchFamily="3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72359" y="1020763"/>
            <a:ext cx="7252558" cy="4646612"/>
          </a:xfrm>
        </p:spPr>
        <p:txBody>
          <a:bodyPr/>
          <a:lstStyle/>
          <a:p>
            <a:r>
              <a:rPr lang="en-US" altLang="en-US" sz="2000" dirty="0"/>
              <a:t>It is better to decompose </a:t>
            </a:r>
            <a:r>
              <a:rPr lang="en-US" altLang="en-US" sz="2000" i="1" dirty="0" err="1"/>
              <a:t>inst_info</a:t>
            </a:r>
            <a:r>
              <a:rPr lang="en-US" altLang="en-US" sz="2000" i="1" dirty="0"/>
              <a:t> </a:t>
            </a:r>
            <a:r>
              <a:rPr lang="en-US" altLang="en-US" sz="2000" dirty="0"/>
              <a:t>into:</a:t>
            </a:r>
            <a:endParaRPr lang="en-US" altLang="en-US" sz="2000" dirty="0"/>
          </a:p>
          <a:p>
            <a:pPr lvl="1"/>
            <a:r>
              <a:rPr lang="en-US" altLang="en-US" sz="2000" i="1" dirty="0" err="1"/>
              <a:t>inst_child</a:t>
            </a:r>
            <a:r>
              <a:rPr lang="en-US" altLang="en-US" sz="2000" dirty="0"/>
              <a:t>:</a:t>
            </a:r>
            <a:endParaRPr lang="en-US" altLang="en-US" sz="2000" dirty="0"/>
          </a:p>
          <a:p>
            <a:pPr lvl="1"/>
            <a:endParaRPr lang="en-US" altLang="en-US" sz="2000" dirty="0"/>
          </a:p>
          <a:p>
            <a:pPr lvl="1">
              <a:buFont typeface="Monotype Sorts" pitchFamily="-65" charset="2"/>
              <a:buNone/>
            </a:pPr>
            <a:endParaRPr lang="en-US" altLang="en-US" sz="2000" dirty="0"/>
          </a:p>
          <a:p>
            <a:pPr lvl="1">
              <a:buFont typeface="Monotype Sorts" pitchFamily="-65" charset="2"/>
              <a:buNone/>
            </a:pPr>
            <a:endParaRPr lang="en-US" altLang="en-US" sz="2000" dirty="0"/>
          </a:p>
          <a:p>
            <a:pPr lvl="1"/>
            <a:r>
              <a:rPr lang="en-US" altLang="en-US" sz="2000" i="1" dirty="0" err="1"/>
              <a:t>inst_phone</a:t>
            </a:r>
            <a:r>
              <a:rPr lang="en-US" altLang="en-US" sz="2000" i="1" dirty="0"/>
              <a:t>:</a:t>
            </a:r>
            <a:endParaRPr lang="en-US" altLang="en-US" sz="2000" i="1" dirty="0"/>
          </a:p>
          <a:p>
            <a:endParaRPr lang="en-US" altLang="en-US" sz="2000" dirty="0"/>
          </a:p>
          <a:p>
            <a:endParaRPr lang="en-US" altLang="en-US" sz="2000" dirty="0"/>
          </a:p>
          <a:p>
            <a:pPr marL="0" indent="0">
              <a:buNone/>
            </a:pPr>
            <a:endParaRPr lang="en-US" altLang="en-US" sz="2000" dirty="0"/>
          </a:p>
          <a:p>
            <a:r>
              <a:rPr lang="en-US" altLang="en-US" sz="2000" dirty="0"/>
              <a:t>This suggests the need for higher normal forms, such as Fourth Normal Form (4NF), which we shall see later</a:t>
            </a:r>
            <a:endParaRPr lang="en-US" altLang="en-US" sz="2000" dirty="0"/>
          </a:p>
        </p:txBody>
      </p:sp>
      <p:sp>
        <p:nvSpPr>
          <p:cNvPr id="695310" name="Rectangle 14"/>
          <p:cNvSpPr>
            <a:spLocks noGrp="1" noChangeArrowheads="1"/>
          </p:cNvSpPr>
          <p:nvPr>
            <p:ph type="title"/>
          </p:nvPr>
        </p:nvSpPr>
        <p:spPr>
          <a:xfrm>
            <a:off x="958788" y="119063"/>
            <a:ext cx="7804212" cy="576262"/>
          </a:xfrm>
        </p:spPr>
        <p:txBody>
          <a:bodyPr/>
          <a:lstStyle/>
          <a:p>
            <a:pPr>
              <a:defRPr/>
            </a:pPr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Higher Normal Forms </a:t>
            </a:r>
            <a:endParaRPr lang="en-US" altLang="en-US" sz="2800" dirty="0">
              <a:effectLst>
                <a:outerShdw blurRad="38100" dist="38100" dir="2700000" algn="tl">
                  <a:srgbClr val="C0C0C0"/>
                </a:outerShdw>
              </a:effectLst>
              <a:ea typeface="MS PGothic" panose="020B0600070205080204" pitchFamily="34" charset="-128"/>
            </a:endParaRPr>
          </a:p>
        </p:txBody>
      </p:sp>
      <p:pic>
        <p:nvPicPr>
          <p:cNvPr id="39940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2962" y="2055285"/>
            <a:ext cx="1975676" cy="8281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941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9284" y="3677115"/>
            <a:ext cx="1939354" cy="7825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442190" y="2762767"/>
            <a:ext cx="3901320" cy="1479550"/>
          </a:xfrm>
        </p:spPr>
        <p:txBody>
          <a:bodyPr/>
          <a:lstStyle/>
          <a:p>
            <a:pPr>
              <a:buFont typeface="Monotype Sorts" pitchFamily="-65" charset="2"/>
              <a:buNone/>
              <a:defRPr/>
            </a:pPr>
            <a:r>
              <a:rPr lang="en-US" alt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  <a:sym typeface="+mn-ea"/>
              </a:rPr>
              <a:t>Decomposition</a:t>
            </a:r>
            <a:endParaRPr lang="en-US" altLang="en-US" sz="3200" b="1" dirty="0"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j-lt"/>
              <a:ea typeface="MS PGothic" panose="020B0600070205080204" pitchFamily="34" charset="-128"/>
              <a:cs typeface="+mj-cs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Decomposition</a:t>
            </a:r>
            <a:endParaRPr lang="en-US" altLang="en-US" sz="2800" dirty="0">
              <a:effectLst>
                <a:outerShdw blurRad="38100" dist="38100" dir="2700000" algn="tl">
                  <a:srgbClr val="C0C0C0"/>
                </a:outerShdw>
              </a:effectLst>
              <a:ea typeface="MS PGothic" panose="020B0600070205080204" pitchFamily="34" charset="-128"/>
            </a:endParaRP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895005"/>
            <a:ext cx="8246440" cy="5178425"/>
          </a:xfrm>
        </p:spPr>
        <p:txBody>
          <a:bodyPr/>
          <a:lstStyle/>
          <a:p>
            <a:r>
              <a:rPr lang="en-US" altLang="en-US" sz="2000" dirty="0"/>
              <a:t>The only way to avoid the repetition-of-information problem in the </a:t>
            </a:r>
            <a:r>
              <a:rPr lang="en-US" altLang="en-US" sz="2000" dirty="0" err="1" smtClean="0"/>
              <a:t>i</a:t>
            </a:r>
            <a:r>
              <a:rPr lang="en-US" altLang="en-US" sz="2000" i="1" dirty="0" err="1" smtClean="0"/>
              <a:t>n</a:t>
            </a:r>
            <a:r>
              <a:rPr lang="en-US" altLang="zh-CN" sz="2000" i="1" dirty="0" err="1" smtClean="0"/>
              <a:t>st</a:t>
            </a:r>
            <a:r>
              <a:rPr lang="en-US" altLang="en-US" sz="2000" i="1" dirty="0" err="1" smtClean="0"/>
              <a:t>_dep</a:t>
            </a:r>
            <a:r>
              <a:rPr lang="en-US" altLang="en-US" sz="2000" dirty="0" smtClean="0"/>
              <a:t> </a:t>
            </a:r>
            <a:r>
              <a:rPr lang="en-US" altLang="en-US" sz="2000" dirty="0"/>
              <a:t>schema is to decompose it into two schemas – instructor and </a:t>
            </a:r>
            <a:r>
              <a:rPr lang="en-US" altLang="en-US" sz="2000" i="1" dirty="0"/>
              <a:t>department </a:t>
            </a:r>
            <a:r>
              <a:rPr lang="en-US" altLang="en-US" sz="2000" dirty="0"/>
              <a:t>schemas.</a:t>
            </a:r>
            <a:endParaRPr lang="en-US" altLang="en-US" sz="2000" dirty="0"/>
          </a:p>
          <a:p>
            <a:r>
              <a:rPr lang="en-US" altLang="en-US" sz="2000" dirty="0"/>
              <a:t>Not all decompositions are good.  Suppose we </a:t>
            </a:r>
            <a:r>
              <a:rPr lang="en-US" altLang="en-US" sz="2000" dirty="0" smtClean="0"/>
              <a:t>decompose</a:t>
            </a:r>
            <a:br>
              <a:rPr lang="en-US" altLang="en-US" sz="2000" dirty="0"/>
            </a:br>
            <a:r>
              <a:rPr lang="en-US" altLang="en-US" sz="2000" dirty="0"/>
              <a:t>    </a:t>
            </a:r>
            <a:endParaRPr lang="en-US" altLang="en-US" sz="2000" dirty="0" smtClean="0"/>
          </a:p>
          <a:p>
            <a:pPr marL="0" indent="0">
              <a:buNone/>
            </a:pPr>
            <a:r>
              <a:rPr lang="en-US" altLang="en-US" sz="2000" dirty="0"/>
              <a:t> </a:t>
            </a:r>
            <a:r>
              <a:rPr lang="en-US" altLang="en-US" sz="2000" dirty="0" smtClean="0"/>
              <a:t>           </a:t>
            </a:r>
            <a:r>
              <a:rPr lang="en-US" altLang="en-US" sz="2000" i="1" dirty="0"/>
              <a:t>employee(ID, name, street, city, salary)</a:t>
            </a:r>
            <a:r>
              <a:rPr lang="en-US" altLang="en-US" sz="2000" dirty="0"/>
              <a:t>  </a:t>
            </a:r>
            <a:endParaRPr lang="en-US" altLang="en-US" sz="2000" dirty="0"/>
          </a:p>
          <a:p>
            <a:pPr>
              <a:buFont typeface="Monotype Sorts" pitchFamily="-65" charset="2"/>
              <a:buNone/>
            </a:pPr>
            <a:r>
              <a:rPr lang="en-US" altLang="en-US" sz="2000" dirty="0"/>
              <a:t>       into</a:t>
            </a:r>
            <a:endParaRPr lang="en-US" altLang="en-US" sz="2000" dirty="0"/>
          </a:p>
          <a:p>
            <a:pPr>
              <a:buFont typeface="Monotype Sorts" pitchFamily="-65" charset="2"/>
              <a:buNone/>
            </a:pPr>
            <a:r>
              <a:rPr lang="en-US" altLang="en-US" sz="2000" dirty="0"/>
              <a:t>	       </a:t>
            </a:r>
            <a:r>
              <a:rPr lang="en-US" altLang="en-US" sz="2000" i="1" dirty="0"/>
              <a:t>employee1</a:t>
            </a:r>
            <a:r>
              <a:rPr lang="en-US" altLang="en-US" sz="2000" dirty="0"/>
              <a:t> (</a:t>
            </a:r>
            <a:r>
              <a:rPr lang="en-US" altLang="en-US" sz="2000" i="1" dirty="0"/>
              <a:t>ID</a:t>
            </a:r>
            <a:r>
              <a:rPr lang="en-US" altLang="en-US" sz="2000" dirty="0"/>
              <a:t>, </a:t>
            </a:r>
            <a:r>
              <a:rPr lang="en-US" altLang="en-US" sz="2000" i="1" dirty="0"/>
              <a:t>name</a:t>
            </a:r>
            <a:r>
              <a:rPr lang="en-US" altLang="en-US" sz="2000" dirty="0"/>
              <a:t>)</a:t>
            </a:r>
            <a:endParaRPr lang="en-US" altLang="en-US" sz="2000" dirty="0"/>
          </a:p>
          <a:p>
            <a:pPr>
              <a:buFont typeface="Monotype Sorts" pitchFamily="-65" charset="2"/>
              <a:buNone/>
            </a:pPr>
            <a:r>
              <a:rPr lang="en-US" altLang="en-US" sz="2000" dirty="0"/>
              <a:t>	       </a:t>
            </a:r>
            <a:r>
              <a:rPr lang="en-US" altLang="en-US" sz="2000" i="1" dirty="0"/>
              <a:t>employee2</a:t>
            </a:r>
            <a:r>
              <a:rPr lang="en-US" altLang="en-US" sz="2000" dirty="0"/>
              <a:t> (</a:t>
            </a:r>
            <a:r>
              <a:rPr lang="en-US" altLang="en-US" sz="2000" i="1" dirty="0"/>
              <a:t>name</a:t>
            </a:r>
            <a:r>
              <a:rPr lang="en-US" altLang="en-US" sz="2000" dirty="0"/>
              <a:t>, </a:t>
            </a:r>
            <a:r>
              <a:rPr lang="en-US" altLang="en-US" sz="2000" i="1" dirty="0"/>
              <a:t>street, city, salary</a:t>
            </a:r>
            <a:r>
              <a:rPr lang="en-US" altLang="en-US" sz="2000" dirty="0"/>
              <a:t>)</a:t>
            </a:r>
            <a:endParaRPr lang="en-US" altLang="en-US" sz="2000" dirty="0"/>
          </a:p>
          <a:p>
            <a:pPr>
              <a:buFont typeface="Monotype Sorts" pitchFamily="-65" charset="2"/>
              <a:buNone/>
            </a:pPr>
            <a:endParaRPr lang="en-US" altLang="en-US" sz="2000" dirty="0"/>
          </a:p>
          <a:p>
            <a:pPr>
              <a:buFont typeface="Monotype Sorts" pitchFamily="-65" charset="2"/>
              <a:buNone/>
            </a:pPr>
            <a:r>
              <a:rPr lang="en-US" altLang="en-US" sz="2000" dirty="0"/>
              <a:t>    </a:t>
            </a:r>
            <a:r>
              <a:rPr lang="en-US" altLang="en-US" sz="2000" dirty="0" smtClean="0"/>
              <a:t>The </a:t>
            </a:r>
            <a:r>
              <a:rPr lang="en-US" altLang="en-US" sz="2000" dirty="0"/>
              <a:t>problem arises when we have two employees with the same name</a:t>
            </a:r>
            <a:endParaRPr lang="en-US" altLang="en-US" sz="2000" dirty="0"/>
          </a:p>
          <a:p>
            <a:r>
              <a:rPr lang="en-US" altLang="en-US" sz="2000" dirty="0"/>
              <a:t>The next slide shows how we lose information -- we cannot reconstruct the original </a:t>
            </a:r>
            <a:r>
              <a:rPr lang="en-US" altLang="en-US" sz="2000" i="1" dirty="0"/>
              <a:t>employee</a:t>
            </a:r>
            <a:r>
              <a:rPr lang="en-US" altLang="en-US" sz="2000" dirty="0"/>
              <a:t> relation -- and so, this is a </a:t>
            </a:r>
            <a:r>
              <a:rPr lang="en-US" altLang="en-US" sz="2000" b="1" dirty="0">
                <a:solidFill>
                  <a:srgbClr val="002060"/>
                </a:solidFill>
              </a:rPr>
              <a:t>lossy decomposition</a:t>
            </a:r>
            <a:r>
              <a:rPr lang="en-US" altLang="en-US" sz="2000" dirty="0"/>
              <a:t>.</a:t>
            </a:r>
            <a:endParaRPr lang="en-US" altLang="en-US" sz="2000" dirty="0"/>
          </a:p>
          <a:p>
            <a:pPr lvl="1">
              <a:buFont typeface="Monotype Sorts" pitchFamily="-65" charset="2"/>
              <a:buNone/>
            </a:pPr>
            <a:endParaRPr lang="en-US" altLang="en-US" sz="2000" i="1" dirty="0"/>
          </a:p>
          <a:p>
            <a:pPr lvl="1">
              <a:buFont typeface="Monotype Sorts" pitchFamily="-65" charset="2"/>
              <a:buNone/>
            </a:pPr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A Lossy Decomposition</a:t>
            </a:r>
            <a:endParaRPr lang="en-US" altLang="en-US" sz="2800" dirty="0">
              <a:effectLst>
                <a:outerShdw blurRad="38100" dist="38100" dir="2700000" algn="tl">
                  <a:srgbClr val="C0C0C0"/>
                </a:outerShdw>
              </a:effectLst>
              <a:ea typeface="MS PGothic" panose="020B0600070205080204" pitchFamily="34" charset="-128"/>
            </a:endParaRPr>
          </a:p>
        </p:txBody>
      </p:sp>
      <p:pic>
        <p:nvPicPr>
          <p:cNvPr id="11267" name="Picture 5" descr="8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3184" y="1093475"/>
            <a:ext cx="5716016" cy="5235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Lossless Decomposition</a:t>
            </a:r>
            <a:endParaRPr lang="en-US" altLang="en-US" sz="2800" dirty="0">
              <a:effectLst>
                <a:outerShdw blurRad="38100" dist="38100" dir="2700000" algn="tl">
                  <a:srgbClr val="C0C0C0"/>
                </a:outerShdw>
              </a:effectLst>
              <a:ea typeface="MS PGothic" panose="020B0600070205080204" pitchFamily="34" charset="-128"/>
            </a:endParaRP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093789"/>
            <a:ext cx="7522210" cy="4160964"/>
          </a:xfrm>
        </p:spPr>
        <p:txBody>
          <a:bodyPr/>
          <a:lstStyle/>
          <a:p>
            <a:r>
              <a:rPr lang="en-US" altLang="en-US" sz="2400" dirty="0"/>
              <a:t>Let </a:t>
            </a:r>
            <a:r>
              <a:rPr lang="en-US" altLang="en-US" sz="2400" i="1" dirty="0"/>
              <a:t>R</a:t>
            </a:r>
            <a:r>
              <a:rPr lang="en-US" altLang="en-US" sz="2400" dirty="0"/>
              <a:t> be a relation schema and let </a:t>
            </a:r>
            <a:r>
              <a:rPr lang="en-US" altLang="en-US" sz="2400" i="1" dirty="0"/>
              <a:t>R</a:t>
            </a:r>
            <a:r>
              <a:rPr lang="en-US" altLang="en-US" sz="2400" i="1" baseline="-25000" dirty="0"/>
              <a:t>1 </a:t>
            </a:r>
            <a:r>
              <a:rPr lang="en-US" altLang="en-US" sz="2400" dirty="0"/>
              <a:t>and </a:t>
            </a:r>
            <a:r>
              <a:rPr lang="en-US" altLang="en-US" sz="2400" i="1" dirty="0"/>
              <a:t>R</a:t>
            </a:r>
            <a:r>
              <a:rPr lang="en-US" altLang="en-US" sz="2400" i="1" baseline="-25000" dirty="0"/>
              <a:t>2 </a:t>
            </a:r>
            <a:r>
              <a:rPr lang="en-US" altLang="en-US" sz="2400" dirty="0"/>
              <a:t>form a decomposition of R . That is R = </a:t>
            </a:r>
            <a:r>
              <a:rPr lang="en-US" altLang="en-US" sz="2400" i="1" dirty="0"/>
              <a:t>R</a:t>
            </a:r>
            <a:r>
              <a:rPr lang="en-US" altLang="en-US" sz="2400" i="1" baseline="-25000" dirty="0"/>
              <a:t>1 </a:t>
            </a:r>
            <a:r>
              <a:rPr lang="en-US" altLang="en-US" sz="2400" dirty="0"/>
              <a:t> U </a:t>
            </a:r>
            <a:r>
              <a:rPr lang="en-US" altLang="en-US" sz="2400" i="1" dirty="0"/>
              <a:t>R</a:t>
            </a:r>
            <a:r>
              <a:rPr lang="en-US" altLang="en-US" sz="2400" i="1" baseline="-25000" dirty="0"/>
              <a:t>2</a:t>
            </a:r>
            <a:endParaRPr lang="en-US" altLang="en-US" sz="2400" dirty="0"/>
          </a:p>
          <a:p>
            <a:r>
              <a:rPr lang="en-US" altLang="en-US" sz="2400" dirty="0"/>
              <a:t>We say that the decomposition is a </a:t>
            </a:r>
            <a:r>
              <a:rPr lang="en-US" altLang="en-US" sz="2400" b="1" dirty="0">
                <a:solidFill>
                  <a:srgbClr val="002060"/>
                </a:solidFill>
              </a:rPr>
              <a:t>lossless decomposition  </a:t>
            </a:r>
            <a:r>
              <a:rPr lang="en-US" altLang="en-US" sz="2400" dirty="0"/>
              <a:t>if there is no loss of information by replacing  R with the two relation schemas</a:t>
            </a:r>
            <a:r>
              <a:rPr lang="en-US" altLang="en-US" sz="2400" i="1" dirty="0"/>
              <a:t> R</a:t>
            </a:r>
            <a:r>
              <a:rPr lang="en-US" altLang="en-US" sz="2400" i="1" baseline="-25000" dirty="0"/>
              <a:t>1 </a:t>
            </a:r>
            <a:r>
              <a:rPr lang="en-US" altLang="en-US" sz="2400" dirty="0"/>
              <a:t> U </a:t>
            </a:r>
            <a:r>
              <a:rPr lang="en-US" altLang="en-US" sz="2400" i="1" dirty="0"/>
              <a:t>R</a:t>
            </a:r>
            <a:r>
              <a:rPr lang="en-US" altLang="en-US" sz="2400" i="1" baseline="-25000" dirty="0"/>
              <a:t>2</a:t>
            </a:r>
            <a:r>
              <a:rPr lang="en-US" altLang="en-US" sz="2400" dirty="0"/>
              <a:t> </a:t>
            </a:r>
            <a:endParaRPr lang="en-US" altLang="en-US" sz="2400" dirty="0"/>
          </a:p>
          <a:p>
            <a:r>
              <a:rPr lang="en-US" altLang="en-US" sz="2400" dirty="0">
                <a:sym typeface="Symbol" panose="05050102010706020507" pitchFamily="18" charset="2"/>
              </a:rPr>
              <a:t>Formally,</a:t>
            </a:r>
            <a:endParaRPr lang="en-US" altLang="en-US" sz="2400" dirty="0">
              <a:sym typeface="Symbol" panose="05050102010706020507" pitchFamily="18" charset="2"/>
            </a:endParaRPr>
          </a:p>
          <a:p>
            <a:pPr>
              <a:buFont typeface="Monotype Sorts" pitchFamily="-65" charset="2"/>
              <a:buNone/>
            </a:pPr>
            <a:r>
              <a:rPr lang="en-US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            </a:t>
            </a:r>
            <a:r>
              <a:rPr lang="en-US" altLang="en-US" sz="2400" dirty="0" smtClean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 </a:t>
            </a:r>
            <a:r>
              <a:rPr lang="en-US" altLang="en-US" sz="2400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en-US" sz="2400" baseline="-50000" dirty="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 (r)      </a:t>
            </a:r>
            <a:r>
              <a:rPr lang="en-US" altLang="en-US" sz="2400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en-US" sz="2400" baseline="-50000" dirty="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 (r) = </a:t>
            </a:r>
            <a:r>
              <a:rPr lang="en-US" altLang="en-US" sz="2400" i="1" dirty="0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endParaRPr lang="en-US" altLang="en-US" sz="2400" i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r>
              <a:rPr lang="en-US" altLang="en-US" sz="2400" dirty="0">
                <a:sym typeface="Symbol" panose="05050102010706020507" pitchFamily="18" charset="2"/>
              </a:rPr>
              <a:t>And,  conversely a decomposition is lossy if</a:t>
            </a:r>
            <a:endParaRPr lang="en-US" altLang="en-US" sz="2400" i="1" dirty="0"/>
          </a:p>
          <a:p>
            <a:pPr lvl="1">
              <a:buFont typeface="Monotype Sorts" pitchFamily="-65" charset="2"/>
              <a:buNone/>
            </a:pPr>
            <a:r>
              <a:rPr lang="en-US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     r     </a:t>
            </a:r>
            <a:r>
              <a:rPr lang="en-US" altLang="en-US" sz="2400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en-US" sz="2400" baseline="-50000" dirty="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 (r)      </a:t>
            </a:r>
            <a:r>
              <a:rPr lang="en-US" altLang="en-US" sz="2400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en-US" sz="2400" baseline="-50000" dirty="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 (r) = </a:t>
            </a:r>
            <a:r>
              <a:rPr lang="en-US" altLang="en-US" sz="2400" i="1" dirty="0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lang="en-US" altLang="en-US" sz="2400" dirty="0"/>
          </a:p>
        </p:txBody>
      </p:sp>
      <p:sp>
        <p:nvSpPr>
          <p:cNvPr id="12292" name="Freeform 19"/>
          <p:cNvSpPr/>
          <p:nvPr/>
        </p:nvSpPr>
        <p:spPr bwMode="auto">
          <a:xfrm>
            <a:off x="2875994" y="3816627"/>
            <a:ext cx="205137" cy="230014"/>
          </a:xfrm>
          <a:custGeom>
            <a:avLst/>
            <a:gdLst>
              <a:gd name="T0" fmla="*/ 0 w 182"/>
              <a:gd name="T1" fmla="*/ 0 h 182"/>
              <a:gd name="T2" fmla="*/ 0 w 182"/>
              <a:gd name="T3" fmla="*/ 2147483647 h 182"/>
              <a:gd name="T4" fmla="*/ 2147483647 w 182"/>
              <a:gd name="T5" fmla="*/ 0 h 182"/>
              <a:gd name="T6" fmla="*/ 2147483647 w 182"/>
              <a:gd name="T7" fmla="*/ 2147483647 h 182"/>
              <a:gd name="T8" fmla="*/ 0 w 182"/>
              <a:gd name="T9" fmla="*/ 0 h 18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82"/>
              <a:gd name="T16" fmla="*/ 0 h 182"/>
              <a:gd name="T17" fmla="*/ 182 w 182"/>
              <a:gd name="T18" fmla="*/ 182 h 18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82" h="182">
                <a:moveTo>
                  <a:pt x="0" y="0"/>
                </a:moveTo>
                <a:lnTo>
                  <a:pt x="0" y="182"/>
                </a:lnTo>
                <a:lnTo>
                  <a:pt x="182" y="0"/>
                </a:lnTo>
                <a:lnTo>
                  <a:pt x="182" y="182"/>
                </a:lnTo>
                <a:lnTo>
                  <a:pt x="0" y="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293" name="Freeform 19"/>
          <p:cNvSpPr/>
          <p:nvPr/>
        </p:nvSpPr>
        <p:spPr bwMode="auto">
          <a:xfrm>
            <a:off x="3370238" y="4830259"/>
            <a:ext cx="207849" cy="198941"/>
          </a:xfrm>
          <a:custGeom>
            <a:avLst/>
            <a:gdLst>
              <a:gd name="T0" fmla="*/ 0 w 182"/>
              <a:gd name="T1" fmla="*/ 0 h 182"/>
              <a:gd name="T2" fmla="*/ 0 w 182"/>
              <a:gd name="T3" fmla="*/ 2147483647 h 182"/>
              <a:gd name="T4" fmla="*/ 2147483647 w 182"/>
              <a:gd name="T5" fmla="*/ 0 h 182"/>
              <a:gd name="T6" fmla="*/ 2147483647 w 182"/>
              <a:gd name="T7" fmla="*/ 2147483647 h 182"/>
              <a:gd name="T8" fmla="*/ 0 w 182"/>
              <a:gd name="T9" fmla="*/ 0 h 18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82"/>
              <a:gd name="T16" fmla="*/ 0 h 182"/>
              <a:gd name="T17" fmla="*/ 182 w 182"/>
              <a:gd name="T18" fmla="*/ 182 h 18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82" h="182">
                <a:moveTo>
                  <a:pt x="0" y="0"/>
                </a:moveTo>
                <a:lnTo>
                  <a:pt x="0" y="182"/>
                </a:lnTo>
                <a:lnTo>
                  <a:pt x="182" y="0"/>
                </a:lnTo>
                <a:lnTo>
                  <a:pt x="182" y="182"/>
                </a:lnTo>
                <a:lnTo>
                  <a:pt x="0" y="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628650" y="252413"/>
            <a:ext cx="8534400" cy="457200"/>
          </a:xfrm>
        </p:spPr>
        <p:txBody>
          <a:bodyPr/>
          <a:lstStyle/>
          <a:p>
            <a:pPr>
              <a:defRPr/>
            </a:pPr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Example of Lossless Decomposition </a:t>
            </a:r>
            <a:endParaRPr lang="en-US" altLang="en-US" sz="2800" dirty="0">
              <a:effectLst>
                <a:outerShdw blurRad="38100" dist="38100" dir="2700000" algn="tl">
                  <a:srgbClr val="C0C0C0"/>
                </a:outerShdw>
              </a:effectLst>
              <a:ea typeface="MS PGothic" panose="020B0600070205080204" pitchFamily="34" charset="-128"/>
            </a:endParaRP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72359" y="1095375"/>
            <a:ext cx="7541522" cy="830961"/>
          </a:xfrm>
        </p:spPr>
        <p:txBody>
          <a:bodyPr/>
          <a:lstStyle/>
          <a:p>
            <a:pPr>
              <a:tabLst>
                <a:tab pos="2336800" algn="l"/>
                <a:tab pos="3765550" algn="l"/>
              </a:tabLst>
            </a:pPr>
            <a:r>
              <a:rPr lang="en-US" altLang="en-US" sz="2000" dirty="0"/>
              <a:t>Decomposition of </a:t>
            </a:r>
            <a:r>
              <a:rPr lang="en-US" altLang="en-US" sz="2000" i="1" dirty="0"/>
              <a:t>R = (A, B, C)</a:t>
            </a:r>
            <a:br>
              <a:rPr lang="en-US" altLang="en-US" sz="2000" i="1" dirty="0"/>
            </a:br>
            <a:r>
              <a:rPr lang="en-US" altLang="en-US" sz="2000" i="1" dirty="0"/>
              <a:t>	R</a:t>
            </a:r>
            <a:r>
              <a:rPr lang="en-US" altLang="en-US" sz="2000" i="1" baseline="-25000" dirty="0"/>
              <a:t>1</a:t>
            </a:r>
            <a:r>
              <a:rPr lang="en-US" altLang="en-US" sz="2000" i="1" dirty="0"/>
              <a:t> = (A, B)	R</a:t>
            </a:r>
            <a:r>
              <a:rPr lang="en-US" altLang="en-US" sz="2000" baseline="-25000" dirty="0"/>
              <a:t>2</a:t>
            </a:r>
            <a:r>
              <a:rPr lang="en-US" altLang="en-US" sz="2000" i="1" dirty="0"/>
              <a:t> = (B, C)</a:t>
            </a:r>
            <a:endParaRPr lang="en-US" altLang="en-US" sz="2000" dirty="0"/>
          </a:p>
        </p:txBody>
      </p:sp>
      <p:pic>
        <p:nvPicPr>
          <p:cNvPr id="13316" name="Picture 30" descr="C:\Users\as668\Desktop\Judi\7_02 figure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1008" y="2015512"/>
            <a:ext cx="4100004" cy="2723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771525" y="185738"/>
            <a:ext cx="8372475" cy="598487"/>
          </a:xfrm>
        </p:spPr>
        <p:txBody>
          <a:bodyPr/>
          <a:lstStyle/>
          <a:p>
            <a:pPr>
              <a:defRPr/>
            </a:pPr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Normalization Theory</a:t>
            </a:r>
            <a:endParaRPr lang="en-US" altLang="en-US" sz="2800" dirty="0">
              <a:effectLst>
                <a:outerShdw blurRad="38100" dist="38100" dir="2700000" algn="tl">
                  <a:srgbClr val="C0C0C0"/>
                </a:outerShdw>
              </a:effectLst>
              <a:ea typeface="MS PGothic" panose="020B0600070205080204" pitchFamily="34" charset="-128"/>
            </a:endParaRP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71525" y="1105980"/>
            <a:ext cx="7925908" cy="3124643"/>
          </a:xfrm>
        </p:spPr>
        <p:txBody>
          <a:bodyPr/>
          <a:lstStyle/>
          <a:p>
            <a:r>
              <a:rPr lang="en-US" altLang="en-US" sz="2400" dirty="0">
                <a:solidFill>
                  <a:srgbClr val="7030A0"/>
                </a:solidFill>
              </a:rPr>
              <a:t>Decide whether a particular relation </a:t>
            </a:r>
            <a:r>
              <a:rPr lang="en-US" altLang="en-US" sz="2400" i="1" dirty="0">
                <a:solidFill>
                  <a:srgbClr val="7030A0"/>
                </a:solidFill>
              </a:rPr>
              <a:t>R</a:t>
            </a:r>
            <a:r>
              <a:rPr lang="en-US" altLang="en-US" sz="2400" dirty="0">
                <a:solidFill>
                  <a:srgbClr val="7030A0"/>
                </a:solidFill>
              </a:rPr>
              <a:t> is in </a:t>
            </a:r>
            <a:r>
              <a:rPr lang="ja-JP" altLang="en-US" sz="2400" dirty="0">
                <a:solidFill>
                  <a:srgbClr val="7030A0"/>
                </a:solidFill>
                <a:latin typeface="Arial" panose="020B0604020202020204" pitchFamily="34" charset="0"/>
              </a:rPr>
              <a:t>“</a:t>
            </a:r>
            <a:r>
              <a:rPr lang="en-US" altLang="ja-JP" sz="2400" dirty="0">
                <a:solidFill>
                  <a:srgbClr val="7030A0"/>
                </a:solidFill>
              </a:rPr>
              <a:t>good</a:t>
            </a:r>
            <a:r>
              <a:rPr lang="ja-JP" altLang="en-US" sz="2400" dirty="0">
                <a:solidFill>
                  <a:srgbClr val="7030A0"/>
                </a:solidFill>
                <a:latin typeface="Arial" panose="020B0604020202020204" pitchFamily="34" charset="0"/>
              </a:rPr>
              <a:t>”</a:t>
            </a:r>
            <a:r>
              <a:rPr lang="en-US" altLang="ja-JP" sz="2400" dirty="0">
                <a:solidFill>
                  <a:srgbClr val="7030A0"/>
                </a:solidFill>
              </a:rPr>
              <a:t> form</a:t>
            </a:r>
            <a:r>
              <a:rPr lang="en-US" altLang="ja-JP" sz="2400" dirty="0"/>
              <a:t>.</a:t>
            </a:r>
            <a:endParaRPr lang="en-US" altLang="ja-JP" sz="2400" dirty="0"/>
          </a:p>
          <a:p>
            <a:r>
              <a:rPr lang="en-US" altLang="en-US" sz="2400" dirty="0"/>
              <a:t>In the case that a relation </a:t>
            </a:r>
            <a:r>
              <a:rPr lang="en-US" altLang="en-US" sz="2400" i="1" dirty="0"/>
              <a:t>R</a:t>
            </a:r>
            <a:r>
              <a:rPr lang="en-US" altLang="en-US" sz="2400" dirty="0"/>
              <a:t> is not in </a:t>
            </a:r>
            <a:r>
              <a:rPr lang="ja-JP" altLang="en-US" sz="2400" dirty="0">
                <a:latin typeface="Arial" panose="020B0604020202020204" pitchFamily="34" charset="0"/>
              </a:rPr>
              <a:t>“</a:t>
            </a:r>
            <a:r>
              <a:rPr lang="en-US" altLang="ja-JP" sz="2400" dirty="0"/>
              <a:t>good</a:t>
            </a:r>
            <a:r>
              <a:rPr lang="ja-JP" altLang="en-US" sz="2400" dirty="0">
                <a:latin typeface="Arial" panose="020B0604020202020204" pitchFamily="34" charset="0"/>
              </a:rPr>
              <a:t>”</a:t>
            </a:r>
            <a:r>
              <a:rPr lang="en-US" altLang="ja-JP" sz="2400" dirty="0"/>
              <a:t> form, decompose it into  set of relations {</a:t>
            </a:r>
            <a:r>
              <a:rPr lang="en-US" altLang="ja-JP" sz="2400" i="1" dirty="0"/>
              <a:t>R</a:t>
            </a:r>
            <a:r>
              <a:rPr lang="en-US" altLang="ja-JP" sz="2400" baseline="-25000" dirty="0"/>
              <a:t>1</a:t>
            </a:r>
            <a:r>
              <a:rPr lang="en-US" altLang="ja-JP" sz="2400" i="1" dirty="0"/>
              <a:t>, R</a:t>
            </a:r>
            <a:r>
              <a:rPr lang="en-US" altLang="ja-JP" sz="2400" baseline="-25000" dirty="0"/>
              <a:t>2</a:t>
            </a:r>
            <a:r>
              <a:rPr lang="en-US" altLang="ja-JP" sz="2400" i="1" dirty="0"/>
              <a:t>, ..., R</a:t>
            </a:r>
            <a:r>
              <a:rPr lang="en-US" altLang="ja-JP" sz="2400" i="1" baseline="-25000" dirty="0"/>
              <a:t>n</a:t>
            </a:r>
            <a:r>
              <a:rPr lang="en-US" altLang="ja-JP" sz="2400" dirty="0"/>
              <a:t>} such that </a:t>
            </a:r>
            <a:endParaRPr lang="en-US" altLang="ja-JP" sz="2400" dirty="0"/>
          </a:p>
          <a:p>
            <a:pPr lvl="1"/>
            <a:r>
              <a:rPr lang="en-US" altLang="en-US" sz="2400" dirty="0">
                <a:solidFill>
                  <a:srgbClr val="7030A0"/>
                </a:solidFill>
              </a:rPr>
              <a:t>Each relation is in good form </a:t>
            </a:r>
            <a:endParaRPr lang="en-US" altLang="en-US" sz="2400" dirty="0">
              <a:solidFill>
                <a:srgbClr val="7030A0"/>
              </a:solidFill>
            </a:endParaRPr>
          </a:p>
          <a:p>
            <a:pPr lvl="1"/>
            <a:r>
              <a:rPr lang="en-US" altLang="en-US" sz="2400" dirty="0">
                <a:solidFill>
                  <a:srgbClr val="7030A0"/>
                </a:solidFill>
              </a:rPr>
              <a:t>The decomposition is a lossless decomposition</a:t>
            </a:r>
            <a:endParaRPr lang="en-US" altLang="en-US" sz="2400" dirty="0">
              <a:solidFill>
                <a:srgbClr val="7030A0"/>
              </a:solidFill>
            </a:endParaRPr>
          </a:p>
          <a:p>
            <a:r>
              <a:rPr lang="en-US" altLang="en-US" sz="2400" dirty="0"/>
              <a:t>Our theory is based on:</a:t>
            </a:r>
            <a:endParaRPr lang="en-US" altLang="en-US" sz="2400" dirty="0"/>
          </a:p>
          <a:p>
            <a:pPr lvl="1"/>
            <a:r>
              <a:rPr lang="en-US" altLang="en-US" sz="2400" dirty="0"/>
              <a:t>Functional dependencies</a:t>
            </a:r>
            <a:endParaRPr lang="en-US" altLang="en-US" sz="2400" dirty="0"/>
          </a:p>
          <a:p>
            <a:pPr lvl="1"/>
            <a:r>
              <a:rPr lang="en-US" altLang="en-US" sz="2400" dirty="0"/>
              <a:t>Multivalued dependencies</a:t>
            </a:r>
            <a:endParaRPr lang="en-US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955866" y="266700"/>
            <a:ext cx="7924800" cy="457200"/>
          </a:xfrm>
        </p:spPr>
        <p:txBody>
          <a:bodyPr/>
          <a:lstStyle/>
          <a:p>
            <a:pPr>
              <a:defRPr/>
            </a:pPr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Closure of a Set of Functional Dependencies</a:t>
            </a:r>
            <a:endParaRPr lang="en-US" altLang="en-US" sz="2800" dirty="0">
              <a:effectLst>
                <a:outerShdw blurRad="38100" dist="38100" dir="2700000" algn="tl">
                  <a:srgbClr val="C0C0C0"/>
                </a:outerShdw>
              </a:effectLst>
              <a:ea typeface="MS PGothic" panose="020B0600070205080204" pitchFamily="34" charset="-128"/>
            </a:endParaRP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27385" y="1326944"/>
            <a:ext cx="8058896" cy="2720403"/>
          </a:xfrm>
        </p:spPr>
        <p:txBody>
          <a:bodyPr/>
          <a:lstStyle/>
          <a:p>
            <a:r>
              <a:rPr lang="en-US" altLang="en-US" sz="2400" dirty="0"/>
              <a:t>Given a set </a:t>
            </a:r>
            <a:r>
              <a:rPr lang="en-US" altLang="en-US" sz="2400" i="1" dirty="0"/>
              <a:t>F</a:t>
            </a:r>
            <a:r>
              <a:rPr lang="en-US" altLang="en-US" sz="2400" dirty="0"/>
              <a:t> set of functional dependencies, there are certain other functional dependencies that are logically implied by </a:t>
            </a:r>
            <a:r>
              <a:rPr lang="en-US" altLang="en-US" sz="2400" i="1" dirty="0"/>
              <a:t>F</a:t>
            </a:r>
            <a:r>
              <a:rPr lang="en-US" altLang="en-US" sz="2400" dirty="0"/>
              <a:t>.</a:t>
            </a:r>
            <a:endParaRPr lang="en-US" altLang="en-US" sz="2400" dirty="0"/>
          </a:p>
          <a:p>
            <a:pPr lvl="1"/>
            <a:r>
              <a:rPr lang="en-US" altLang="en-US" sz="2400" dirty="0"/>
              <a:t> If  </a:t>
            </a:r>
            <a:r>
              <a:rPr lang="en-US" altLang="en-US" sz="2400" i="1" dirty="0"/>
              <a:t>A</a:t>
            </a:r>
            <a:r>
              <a:rPr lang="en-US" altLang="en-US" sz="2400" dirty="0"/>
              <a:t> </a:t>
            </a:r>
            <a:r>
              <a:rPr lang="en-US" altLang="en-US" sz="2400" dirty="0">
                <a:sym typeface="Symbol" panose="05050102010706020507" pitchFamily="18" charset="2"/>
              </a:rPr>
              <a:t></a:t>
            </a:r>
            <a:r>
              <a:rPr lang="en-US" altLang="en-US" sz="2400" dirty="0">
                <a:sym typeface="Monotype Sorts" pitchFamily="-65" charset="2"/>
              </a:rPr>
              <a:t> </a:t>
            </a:r>
            <a:r>
              <a:rPr lang="en-US" altLang="en-US" sz="2400" i="1" dirty="0">
                <a:sym typeface="Monotype Sorts" pitchFamily="-65" charset="2"/>
              </a:rPr>
              <a:t>B</a:t>
            </a:r>
            <a:r>
              <a:rPr lang="en-US" altLang="en-US" sz="2400" dirty="0">
                <a:sym typeface="Monotype Sorts" pitchFamily="-65" charset="2"/>
              </a:rPr>
              <a:t> and  </a:t>
            </a:r>
            <a:r>
              <a:rPr lang="en-US" altLang="en-US" sz="2400" i="1" dirty="0">
                <a:sym typeface="Monotype Sorts" pitchFamily="-65" charset="2"/>
              </a:rPr>
              <a:t>B</a:t>
            </a:r>
            <a:r>
              <a:rPr lang="en-US" altLang="en-US" sz="2400" dirty="0">
                <a:sym typeface="Monotype Sorts" pitchFamily="-65" charset="2"/>
              </a:rPr>
              <a:t> </a:t>
            </a:r>
            <a:r>
              <a:rPr lang="en-US" altLang="en-US" sz="2400" dirty="0">
                <a:sym typeface="Symbol" panose="05050102010706020507" pitchFamily="18" charset="2"/>
              </a:rPr>
              <a:t></a:t>
            </a:r>
            <a:r>
              <a:rPr lang="en-US" altLang="en-US" sz="2400" dirty="0">
                <a:sym typeface="Monotype Sorts" pitchFamily="-65" charset="2"/>
              </a:rPr>
              <a:t> </a:t>
            </a:r>
            <a:r>
              <a:rPr lang="en-US" altLang="en-US" sz="2400" i="1" dirty="0">
                <a:sym typeface="Monotype Sorts" pitchFamily="-65" charset="2"/>
              </a:rPr>
              <a:t>C</a:t>
            </a:r>
            <a:r>
              <a:rPr lang="en-US" altLang="en-US" sz="2400" dirty="0">
                <a:sym typeface="Monotype Sorts" pitchFamily="-65" charset="2"/>
              </a:rPr>
              <a:t>,  then we can infer that </a:t>
            </a:r>
            <a:r>
              <a:rPr lang="en-US" altLang="en-US" sz="2400" i="1" dirty="0">
                <a:sym typeface="Monotype Sorts" pitchFamily="-65" charset="2"/>
              </a:rPr>
              <a:t>A</a:t>
            </a:r>
            <a:r>
              <a:rPr lang="en-US" altLang="en-US" sz="2400" dirty="0">
                <a:sym typeface="Monotype Sorts" pitchFamily="-65" charset="2"/>
              </a:rPr>
              <a:t> </a:t>
            </a:r>
            <a:r>
              <a:rPr lang="en-US" altLang="en-US" sz="2400" dirty="0">
                <a:sym typeface="Symbol" panose="05050102010706020507" pitchFamily="18" charset="2"/>
              </a:rPr>
              <a:t></a:t>
            </a:r>
            <a:r>
              <a:rPr lang="en-US" altLang="en-US" sz="2400" dirty="0">
                <a:sym typeface="Monotype Sorts" pitchFamily="-65" charset="2"/>
              </a:rPr>
              <a:t> C</a:t>
            </a:r>
            <a:endParaRPr lang="en-US" altLang="en-US" sz="2400" dirty="0">
              <a:sym typeface="Monotype Sorts" pitchFamily="-65" charset="2"/>
            </a:endParaRPr>
          </a:p>
          <a:p>
            <a:pPr lvl="1"/>
            <a:r>
              <a:rPr lang="en-US" altLang="en-US" sz="2400" dirty="0">
                <a:sym typeface="Monotype Sorts" pitchFamily="-65" charset="2"/>
              </a:rPr>
              <a:t>etc.</a:t>
            </a:r>
            <a:endParaRPr lang="en-US" altLang="en-US" sz="2400" dirty="0"/>
          </a:p>
          <a:p>
            <a:r>
              <a:rPr lang="en-US" altLang="en-US" sz="2400" dirty="0">
                <a:solidFill>
                  <a:srgbClr val="7030A0"/>
                </a:solidFill>
              </a:rPr>
              <a:t>The set of </a:t>
            </a:r>
            <a:r>
              <a:rPr lang="en-US" altLang="en-US" sz="2400" b="1" dirty="0">
                <a:solidFill>
                  <a:srgbClr val="7030A0"/>
                </a:solidFill>
              </a:rPr>
              <a:t>all</a:t>
            </a:r>
            <a:r>
              <a:rPr lang="en-US" altLang="en-US" sz="2400" dirty="0">
                <a:solidFill>
                  <a:srgbClr val="7030A0"/>
                </a:solidFill>
              </a:rPr>
              <a:t> functional dependencies logically implied by </a:t>
            </a:r>
            <a:r>
              <a:rPr lang="en-US" altLang="en-US" sz="2400" i="1" dirty="0">
                <a:solidFill>
                  <a:srgbClr val="7030A0"/>
                </a:solidFill>
              </a:rPr>
              <a:t>F</a:t>
            </a:r>
            <a:r>
              <a:rPr lang="en-US" altLang="en-US" sz="2400" dirty="0">
                <a:solidFill>
                  <a:srgbClr val="7030A0"/>
                </a:solidFill>
              </a:rPr>
              <a:t> is the </a:t>
            </a:r>
            <a:r>
              <a:rPr lang="en-US" altLang="en-US" sz="2400" b="1" dirty="0">
                <a:solidFill>
                  <a:srgbClr val="7030A0"/>
                </a:solidFill>
              </a:rPr>
              <a:t>closure</a:t>
            </a:r>
            <a:r>
              <a:rPr lang="en-US" altLang="en-US" sz="2400" dirty="0">
                <a:solidFill>
                  <a:srgbClr val="7030A0"/>
                </a:solidFill>
              </a:rPr>
              <a:t> of </a:t>
            </a:r>
            <a:r>
              <a:rPr lang="en-US" altLang="en-US" sz="2400" i="1" dirty="0">
                <a:solidFill>
                  <a:srgbClr val="7030A0"/>
                </a:solidFill>
              </a:rPr>
              <a:t>F</a:t>
            </a:r>
            <a:r>
              <a:rPr lang="en-US" altLang="en-US" sz="2400" dirty="0">
                <a:solidFill>
                  <a:srgbClr val="7030A0"/>
                </a:solidFill>
              </a:rPr>
              <a:t>.</a:t>
            </a:r>
            <a:endParaRPr lang="en-US" altLang="en-US" sz="2400" dirty="0">
              <a:solidFill>
                <a:srgbClr val="7030A0"/>
              </a:solidFill>
            </a:endParaRPr>
          </a:p>
          <a:p>
            <a:r>
              <a:rPr lang="en-US" altLang="en-US" sz="2400" dirty="0">
                <a:solidFill>
                  <a:srgbClr val="7030A0"/>
                </a:solidFill>
              </a:rPr>
              <a:t>We denote the </a:t>
            </a:r>
            <a:r>
              <a:rPr lang="en-US" altLang="en-US" sz="2400" i="1" dirty="0">
                <a:solidFill>
                  <a:srgbClr val="7030A0"/>
                </a:solidFill>
              </a:rPr>
              <a:t>closure </a:t>
            </a:r>
            <a:r>
              <a:rPr lang="en-US" altLang="en-US" sz="2400" dirty="0">
                <a:solidFill>
                  <a:srgbClr val="7030A0"/>
                </a:solidFill>
              </a:rPr>
              <a:t>of </a:t>
            </a:r>
            <a:r>
              <a:rPr lang="en-US" altLang="en-US" sz="2400" i="1" dirty="0">
                <a:solidFill>
                  <a:srgbClr val="7030A0"/>
                </a:solidFill>
              </a:rPr>
              <a:t>F</a:t>
            </a:r>
            <a:r>
              <a:rPr lang="en-US" altLang="en-US" sz="2400" dirty="0">
                <a:solidFill>
                  <a:srgbClr val="7030A0"/>
                </a:solidFill>
              </a:rPr>
              <a:t> by </a:t>
            </a:r>
            <a:r>
              <a:rPr lang="en-US" altLang="en-US" sz="2400" b="1" i="1" dirty="0">
                <a:solidFill>
                  <a:srgbClr val="7030A0"/>
                </a:solidFill>
              </a:rPr>
              <a:t>F</a:t>
            </a:r>
            <a:r>
              <a:rPr lang="en-US" altLang="en-US" sz="2400" b="1" i="1" baseline="44000" dirty="0">
                <a:solidFill>
                  <a:srgbClr val="7030A0"/>
                </a:solidFill>
              </a:rPr>
              <a:t>+</a:t>
            </a:r>
            <a:r>
              <a:rPr lang="en-US" altLang="en-US" sz="2400" i="1" dirty="0">
                <a:solidFill>
                  <a:srgbClr val="7030A0"/>
                </a:solidFill>
              </a:rPr>
              <a:t>.</a:t>
            </a:r>
            <a:endParaRPr lang="en-US" altLang="en-US" sz="2400" i="1" dirty="0">
              <a:solidFill>
                <a:srgbClr val="7030A0"/>
              </a:solidFill>
            </a:endParaRPr>
          </a:p>
          <a:p>
            <a:endParaRPr lang="en-US" altLang="en-US" dirty="0">
              <a:sym typeface="Greek Symbol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Keys and Functional Dependencies</a:t>
            </a:r>
            <a:endParaRPr lang="en-US" altLang="en-US" sz="2800" dirty="0">
              <a:effectLst>
                <a:outerShdw blurRad="38100" dist="38100" dir="2700000" algn="tl">
                  <a:srgbClr val="C0C0C0"/>
                </a:outerShdw>
              </a:effectLst>
              <a:ea typeface="MS PGothic" panose="020B0600070205080204" pitchFamily="34" charset="-128"/>
            </a:endParaRP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093789"/>
            <a:ext cx="7656558" cy="4648644"/>
          </a:xfrm>
        </p:spPr>
        <p:txBody>
          <a:bodyPr/>
          <a:lstStyle/>
          <a:p>
            <a:pPr>
              <a:tabLst>
                <a:tab pos="1250950" algn="l"/>
                <a:tab pos="2172970" algn="l"/>
                <a:tab pos="3378200" algn="l"/>
              </a:tabLst>
            </a:pPr>
            <a:r>
              <a:rPr lang="en-US" altLang="en-US" sz="2000" i="1" dirty="0">
                <a:sym typeface="Symbol" panose="05050102010706020507" pitchFamily="18" charset="2"/>
              </a:rPr>
              <a:t>K</a:t>
            </a:r>
            <a:r>
              <a:rPr lang="en-US" altLang="en-US" sz="2000" dirty="0">
                <a:sym typeface="Symbol" panose="05050102010706020507" pitchFamily="18" charset="2"/>
              </a:rPr>
              <a:t> is a </a:t>
            </a:r>
            <a:r>
              <a:rPr lang="en-US" altLang="en-US" sz="2000" dirty="0" err="1">
                <a:sym typeface="Symbol" panose="05050102010706020507" pitchFamily="18" charset="2"/>
              </a:rPr>
              <a:t>superkey</a:t>
            </a:r>
            <a:r>
              <a:rPr lang="en-US" altLang="en-US" sz="2000" dirty="0">
                <a:sym typeface="Symbol" panose="05050102010706020507" pitchFamily="18" charset="2"/>
              </a:rPr>
              <a:t> for relation schema </a:t>
            </a:r>
            <a:r>
              <a:rPr lang="en-US" altLang="en-US" sz="2000" i="1" dirty="0">
                <a:sym typeface="Symbol" panose="05050102010706020507" pitchFamily="18" charset="2"/>
              </a:rPr>
              <a:t>R</a:t>
            </a:r>
            <a:r>
              <a:rPr lang="en-US" altLang="en-US" sz="2000" dirty="0">
                <a:sym typeface="Symbol" panose="05050102010706020507" pitchFamily="18" charset="2"/>
              </a:rPr>
              <a:t> if and only if </a:t>
            </a:r>
            <a:r>
              <a:rPr lang="en-US" altLang="en-US" sz="2000" i="1" dirty="0">
                <a:sym typeface="Symbol" panose="05050102010706020507" pitchFamily="18" charset="2"/>
              </a:rPr>
              <a:t>K </a:t>
            </a:r>
            <a:r>
              <a:rPr lang="en-US" altLang="en-US" sz="2000" dirty="0">
                <a:sym typeface="Symbol" panose="05050102010706020507" pitchFamily="18" charset="2"/>
              </a:rPr>
              <a:t></a:t>
            </a:r>
            <a:r>
              <a:rPr lang="en-US" altLang="en-US" sz="2000" dirty="0">
                <a:sym typeface="Monotype Sorts" pitchFamily="-65" charset="2"/>
              </a:rPr>
              <a:t> </a:t>
            </a:r>
            <a:r>
              <a:rPr lang="en-US" altLang="en-US" sz="2000" i="1" dirty="0">
                <a:sym typeface="Monotype Sorts" pitchFamily="-65" charset="2"/>
              </a:rPr>
              <a:t>R</a:t>
            </a:r>
            <a:endParaRPr lang="en-US" altLang="en-US" sz="2000" dirty="0">
              <a:sym typeface="Monotype Sorts" pitchFamily="-65" charset="2"/>
            </a:endParaRPr>
          </a:p>
          <a:p>
            <a:pPr>
              <a:tabLst>
                <a:tab pos="1250950" algn="l"/>
                <a:tab pos="2172970" algn="l"/>
                <a:tab pos="3378200" algn="l"/>
              </a:tabLst>
            </a:pPr>
            <a:r>
              <a:rPr lang="en-US" altLang="en-US" sz="2000" i="1" dirty="0">
                <a:sym typeface="Monotype Sorts" pitchFamily="-65" charset="2"/>
              </a:rPr>
              <a:t>K</a:t>
            </a:r>
            <a:r>
              <a:rPr lang="en-US" altLang="en-US" sz="2000" dirty="0">
                <a:sym typeface="Monotype Sorts" pitchFamily="-65" charset="2"/>
              </a:rPr>
              <a:t> is a candidate key for </a:t>
            </a:r>
            <a:r>
              <a:rPr lang="en-US" altLang="en-US" sz="2000" i="1" dirty="0">
                <a:sym typeface="Monotype Sorts" pitchFamily="-65" charset="2"/>
              </a:rPr>
              <a:t>R</a:t>
            </a:r>
            <a:r>
              <a:rPr lang="en-US" altLang="en-US" sz="2000" dirty="0">
                <a:sym typeface="Monotype Sorts" pitchFamily="-65" charset="2"/>
              </a:rPr>
              <a:t> if and only if </a:t>
            </a:r>
            <a:endParaRPr lang="en-US" altLang="en-US" sz="2000" dirty="0">
              <a:sym typeface="Monotype Sorts" pitchFamily="-65" charset="2"/>
            </a:endParaRPr>
          </a:p>
          <a:p>
            <a:pPr lvl="1">
              <a:tabLst>
                <a:tab pos="1250950" algn="l"/>
                <a:tab pos="2172970" algn="l"/>
                <a:tab pos="3378200" algn="l"/>
              </a:tabLst>
            </a:pPr>
            <a:r>
              <a:rPr lang="en-US" altLang="en-US" sz="2000" i="1" dirty="0">
                <a:sym typeface="Monotype Sorts" pitchFamily="-65" charset="2"/>
              </a:rPr>
              <a:t>K </a:t>
            </a:r>
            <a:r>
              <a:rPr lang="en-US" altLang="en-US" sz="2000" dirty="0">
                <a:sym typeface="Symbol" panose="05050102010706020507" pitchFamily="18" charset="2"/>
              </a:rPr>
              <a:t></a:t>
            </a:r>
            <a:r>
              <a:rPr lang="en-US" altLang="en-US" sz="2000" dirty="0">
                <a:sym typeface="Monotype Sorts" pitchFamily="-65" charset="2"/>
              </a:rPr>
              <a:t> </a:t>
            </a:r>
            <a:r>
              <a:rPr lang="en-US" altLang="en-US" sz="2000" i="1" dirty="0">
                <a:sym typeface="Monotype Sorts" pitchFamily="-65" charset="2"/>
              </a:rPr>
              <a:t>R</a:t>
            </a:r>
            <a:r>
              <a:rPr lang="en-US" altLang="en-US" sz="2000" dirty="0">
                <a:sym typeface="Monotype Sorts" pitchFamily="-65" charset="2"/>
              </a:rPr>
              <a:t>, and</a:t>
            </a:r>
            <a:endParaRPr lang="en-US" altLang="en-US" sz="2000" dirty="0">
              <a:sym typeface="Monotype Sorts" pitchFamily="-65" charset="2"/>
            </a:endParaRPr>
          </a:p>
          <a:p>
            <a:pPr lvl="1">
              <a:tabLst>
                <a:tab pos="1250950" algn="l"/>
                <a:tab pos="2172970" algn="l"/>
                <a:tab pos="3378200" algn="l"/>
              </a:tabLst>
            </a:pPr>
            <a:r>
              <a:rPr lang="en-US" altLang="en-US" sz="2000" dirty="0">
                <a:sym typeface="Monotype Sorts" pitchFamily="-65" charset="2"/>
              </a:rPr>
              <a:t>for no </a:t>
            </a:r>
            <a:r>
              <a:rPr lang="en-US" altLang="en-US" sz="2000" dirty="0">
                <a:sym typeface="Symbol" panose="05050102010706020507" pitchFamily="18" charset="2"/>
              </a:rPr>
              <a:t>  </a:t>
            </a:r>
            <a:r>
              <a:rPr lang="en-US" altLang="en-US" sz="2000" i="1" dirty="0">
                <a:sym typeface="Symbol" panose="05050102010706020507" pitchFamily="18" charset="2"/>
              </a:rPr>
              <a:t>K, </a:t>
            </a:r>
            <a:r>
              <a:rPr lang="en-US" altLang="en-US" sz="2000" dirty="0">
                <a:sym typeface="Symbol" panose="05050102010706020507" pitchFamily="18" charset="2"/>
              </a:rPr>
              <a:t> </a:t>
            </a:r>
            <a:r>
              <a:rPr lang="en-US" altLang="en-US" sz="2000" dirty="0">
                <a:sym typeface="Monotype Sorts" pitchFamily="-65" charset="2"/>
              </a:rPr>
              <a:t> </a:t>
            </a:r>
            <a:r>
              <a:rPr lang="en-US" altLang="en-US" sz="2000" i="1" dirty="0">
                <a:sym typeface="Monotype Sorts" pitchFamily="-65" charset="2"/>
              </a:rPr>
              <a:t>R</a:t>
            </a:r>
            <a:endParaRPr lang="en-US" altLang="en-US" sz="2000" i="1" dirty="0">
              <a:sym typeface="Monotype Sorts" pitchFamily="-65" charset="2"/>
            </a:endParaRPr>
          </a:p>
          <a:p>
            <a:pPr>
              <a:tabLst>
                <a:tab pos="1250950" algn="l"/>
                <a:tab pos="2172970" algn="l"/>
                <a:tab pos="3378200" algn="l"/>
              </a:tabLst>
            </a:pPr>
            <a:r>
              <a:rPr lang="en-US" altLang="en-US" sz="2000" dirty="0"/>
              <a:t>Functional dependencies allow us to express constraints that cannot be expressed using </a:t>
            </a:r>
            <a:r>
              <a:rPr lang="en-US" altLang="en-US" sz="2000" dirty="0" err="1"/>
              <a:t>superkeys</a:t>
            </a:r>
            <a:r>
              <a:rPr lang="en-US" altLang="en-US" sz="2000" dirty="0"/>
              <a:t>.  Consider the schema:</a:t>
            </a:r>
            <a:endParaRPr lang="en-US" altLang="en-US" sz="2000" dirty="0"/>
          </a:p>
          <a:p>
            <a:pPr>
              <a:buFont typeface="Monotype Sorts" pitchFamily="-65" charset="2"/>
              <a:buNone/>
              <a:tabLst>
                <a:tab pos="1250950" algn="l"/>
                <a:tab pos="2172970" algn="l"/>
                <a:tab pos="3378200" algn="l"/>
              </a:tabLst>
            </a:pPr>
            <a:r>
              <a:rPr lang="en-US" altLang="en-US" sz="2000" dirty="0"/>
              <a:t>	      </a:t>
            </a:r>
            <a:r>
              <a:rPr lang="en-US" altLang="en-US" sz="2000" i="1" dirty="0" err="1"/>
              <a:t>in_dep</a:t>
            </a:r>
            <a:r>
              <a:rPr lang="en-US" altLang="en-US" sz="2000" i="1" dirty="0"/>
              <a:t> </a:t>
            </a:r>
            <a:r>
              <a:rPr lang="en-US" altLang="en-US" sz="2000" dirty="0"/>
              <a:t>(</a:t>
            </a:r>
            <a:r>
              <a:rPr lang="en-US" altLang="en-US" sz="2000" i="1" u="sng" dirty="0"/>
              <a:t>ID, </a:t>
            </a:r>
            <a:r>
              <a:rPr lang="en-US" altLang="en-US" sz="2000" i="1" dirty="0"/>
              <a:t>name, salary</a:t>
            </a:r>
            <a:r>
              <a:rPr lang="en-US" altLang="en-US" sz="2000" i="1" u="sng" dirty="0"/>
              <a:t>, </a:t>
            </a:r>
            <a:r>
              <a:rPr lang="en-US" altLang="en-US" sz="2000" i="1" u="sng" dirty="0" err="1"/>
              <a:t>dept_name</a:t>
            </a:r>
            <a:r>
              <a:rPr lang="en-US" altLang="en-US" sz="2000" i="1" u="sng" dirty="0"/>
              <a:t>, </a:t>
            </a:r>
            <a:r>
              <a:rPr lang="en-US" altLang="en-US" sz="2000" i="1" dirty="0"/>
              <a:t>building, budget </a:t>
            </a:r>
            <a:r>
              <a:rPr lang="en-US" altLang="en-US" sz="2000" dirty="0"/>
              <a:t>)</a:t>
            </a:r>
            <a:r>
              <a:rPr lang="en-US" altLang="en-US" sz="2000" i="1" dirty="0"/>
              <a:t>.</a:t>
            </a:r>
            <a:endParaRPr lang="en-US" altLang="en-US" sz="2000" i="1" dirty="0"/>
          </a:p>
          <a:p>
            <a:pPr>
              <a:buFont typeface="Monotype Sorts" pitchFamily="-65" charset="2"/>
              <a:buNone/>
              <a:tabLst>
                <a:tab pos="1250950" algn="l"/>
                <a:tab pos="2172970" algn="l"/>
                <a:tab pos="3378200" algn="l"/>
              </a:tabLst>
            </a:pPr>
            <a:r>
              <a:rPr lang="en-US" altLang="en-US" sz="2000" i="1" dirty="0"/>
              <a:t>	</a:t>
            </a:r>
            <a:r>
              <a:rPr lang="en-US" altLang="en-US" sz="2000" dirty="0"/>
              <a:t>We expect these functional dependencies to hold:</a:t>
            </a:r>
            <a:endParaRPr lang="en-US" altLang="en-US" sz="2000" dirty="0"/>
          </a:p>
          <a:p>
            <a:pPr>
              <a:buFont typeface="Monotype Sorts" pitchFamily="-65" charset="2"/>
              <a:buNone/>
              <a:tabLst>
                <a:tab pos="1250950" algn="l"/>
                <a:tab pos="2172970" algn="l"/>
                <a:tab pos="3378200" algn="l"/>
              </a:tabLst>
            </a:pPr>
            <a:r>
              <a:rPr lang="en-US" altLang="en-US" sz="2000" dirty="0"/>
              <a:t>	                          </a:t>
            </a:r>
            <a:r>
              <a:rPr lang="en-US" altLang="en-US" sz="2000" i="1" dirty="0" err="1"/>
              <a:t>dept_name</a:t>
            </a:r>
            <a:r>
              <a:rPr lang="en-US" altLang="en-US" sz="2000" dirty="0">
                <a:sym typeface="Symbol" panose="05050102010706020507" pitchFamily="18" charset="2"/>
              </a:rPr>
              <a:t></a:t>
            </a:r>
            <a:r>
              <a:rPr lang="en-US" altLang="en-US" sz="2000" dirty="0">
                <a:sym typeface="Monotype Sorts" pitchFamily="-65" charset="2"/>
              </a:rPr>
              <a:t> </a:t>
            </a:r>
            <a:r>
              <a:rPr lang="en-US" altLang="en-US" sz="2000" i="1" dirty="0">
                <a:sym typeface="Monotype Sorts" pitchFamily="-65" charset="2"/>
              </a:rPr>
              <a:t>building</a:t>
            </a:r>
            <a:endParaRPr lang="en-US" altLang="en-US" sz="2000" i="1" dirty="0">
              <a:sym typeface="Monotype Sorts" pitchFamily="-65" charset="2"/>
            </a:endParaRPr>
          </a:p>
          <a:p>
            <a:pPr>
              <a:buFont typeface="Monotype Sorts" pitchFamily="-65" charset="2"/>
              <a:buNone/>
              <a:tabLst>
                <a:tab pos="1250950" algn="l"/>
                <a:tab pos="2172970" algn="l"/>
                <a:tab pos="3378200" algn="l"/>
              </a:tabLst>
            </a:pPr>
            <a:r>
              <a:rPr lang="en-US" altLang="en-US" sz="2000" i="1" dirty="0">
                <a:sym typeface="Monotype Sorts" pitchFamily="-65" charset="2"/>
              </a:rPr>
              <a:t>                               ID </a:t>
            </a:r>
            <a:r>
              <a:rPr lang="en-US" altLang="en-US" sz="2000" dirty="0">
                <a:sym typeface="Wingdings" panose="05000000000000000000" pitchFamily="2" charset="2"/>
              </a:rPr>
              <a:t></a:t>
            </a:r>
            <a:r>
              <a:rPr lang="en-US" altLang="en-US" sz="2000" i="1" dirty="0">
                <a:sym typeface="Wingdings" panose="05000000000000000000" pitchFamily="2" charset="2"/>
              </a:rPr>
              <a:t> building</a:t>
            </a:r>
            <a:endParaRPr lang="en-US" altLang="en-US" sz="2000" i="1" dirty="0">
              <a:sym typeface="Monotype Sorts" pitchFamily="-65" charset="2"/>
            </a:endParaRPr>
          </a:p>
          <a:p>
            <a:pPr>
              <a:buFont typeface="Monotype Sorts" pitchFamily="-65" charset="2"/>
              <a:buNone/>
              <a:tabLst>
                <a:tab pos="1250950" algn="l"/>
                <a:tab pos="2172970" algn="l"/>
                <a:tab pos="3378200" algn="l"/>
              </a:tabLst>
            </a:pPr>
            <a:r>
              <a:rPr lang="en-US" altLang="en-US" sz="2000" i="1" dirty="0">
                <a:sym typeface="Monotype Sorts" pitchFamily="-65" charset="2"/>
              </a:rPr>
              <a:t>	</a:t>
            </a:r>
            <a:r>
              <a:rPr lang="en-US" altLang="en-US" sz="2000" dirty="0">
                <a:sym typeface="Monotype Sorts" pitchFamily="-65" charset="2"/>
              </a:rPr>
              <a:t>but would not expect the following to hold: </a:t>
            </a:r>
            <a:endParaRPr lang="en-US" altLang="en-US" sz="2000" dirty="0">
              <a:sym typeface="Monotype Sorts" pitchFamily="-65" charset="2"/>
            </a:endParaRPr>
          </a:p>
          <a:p>
            <a:pPr>
              <a:buFont typeface="Monotype Sorts" pitchFamily="-65" charset="2"/>
              <a:buNone/>
              <a:tabLst>
                <a:tab pos="1250950" algn="l"/>
                <a:tab pos="2172970" algn="l"/>
                <a:tab pos="3378200" algn="l"/>
              </a:tabLst>
            </a:pPr>
            <a:r>
              <a:rPr lang="en-US" altLang="en-US" sz="2000" dirty="0">
                <a:sym typeface="Monotype Sorts" pitchFamily="-65" charset="2"/>
              </a:rPr>
              <a:t>			</a:t>
            </a:r>
            <a:r>
              <a:rPr lang="en-US" altLang="en-US" sz="2000" i="1" dirty="0" err="1">
                <a:sym typeface="Monotype Sorts" pitchFamily="-65" charset="2"/>
              </a:rPr>
              <a:t>dept_name</a:t>
            </a:r>
            <a:r>
              <a:rPr lang="en-US" altLang="en-US" sz="2000" i="1" dirty="0">
                <a:sym typeface="Monotype Sorts" pitchFamily="-65" charset="2"/>
              </a:rPr>
              <a:t> </a:t>
            </a:r>
            <a:r>
              <a:rPr lang="en-US" altLang="en-US" sz="2000" dirty="0">
                <a:sym typeface="Symbol" panose="05050102010706020507" pitchFamily="18" charset="2"/>
              </a:rPr>
              <a:t></a:t>
            </a:r>
            <a:r>
              <a:rPr lang="en-US" altLang="en-US" sz="2000" dirty="0">
                <a:sym typeface="Monotype Sorts" pitchFamily="-65" charset="2"/>
              </a:rPr>
              <a:t> </a:t>
            </a:r>
            <a:r>
              <a:rPr lang="en-US" altLang="en-US" sz="2000" i="1" dirty="0">
                <a:sym typeface="Monotype Sorts" pitchFamily="-65" charset="2"/>
              </a:rPr>
              <a:t>salary</a:t>
            </a:r>
            <a:endParaRPr lang="en-US" altLang="en-US" sz="2000" i="1" dirty="0">
              <a:sym typeface="Monotype Sorts" pitchFamily="-65" charset="2"/>
            </a:endParaRPr>
          </a:p>
          <a:p>
            <a:pPr>
              <a:buFont typeface="Monotype Sorts" pitchFamily="-65" charset="2"/>
              <a:buNone/>
              <a:tabLst>
                <a:tab pos="1250950" algn="l"/>
                <a:tab pos="2172970" algn="l"/>
                <a:tab pos="3378200" algn="l"/>
              </a:tabLst>
            </a:pPr>
            <a:endParaRPr lang="en-US" altLang="en-US" i="1" dirty="0">
              <a:sym typeface="Monotype Sorts" pitchFamily="-65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Use of Functional Dependencies</a:t>
            </a:r>
            <a:endParaRPr lang="en-US" altLang="en-US" sz="2800" dirty="0">
              <a:effectLst>
                <a:outerShdw blurRad="38100" dist="38100" dir="2700000" algn="tl">
                  <a:srgbClr val="C0C0C0"/>
                </a:outerShdw>
              </a:effectLst>
              <a:ea typeface="MS PGothic" panose="020B0600070205080204" pitchFamily="34" charset="-128"/>
            </a:endParaRP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17403"/>
            <a:ext cx="7567782" cy="4210501"/>
          </a:xfrm>
        </p:spPr>
        <p:txBody>
          <a:bodyPr/>
          <a:lstStyle/>
          <a:p>
            <a:r>
              <a:rPr lang="en-US" altLang="en-US" sz="2000" dirty="0"/>
              <a:t>We use functional dependencies to:</a:t>
            </a:r>
            <a:endParaRPr lang="en-US" altLang="en-US" sz="2000" dirty="0"/>
          </a:p>
          <a:p>
            <a:pPr lvl="1"/>
            <a:r>
              <a:rPr lang="en-US" altLang="en-US" sz="2000" dirty="0"/>
              <a:t>To test relations to see if they are legal under a given set of functional dependencies. </a:t>
            </a:r>
            <a:endParaRPr lang="en-US" altLang="en-US" sz="2000" dirty="0"/>
          </a:p>
          <a:p>
            <a:pPr lvl="2"/>
            <a:r>
              <a:rPr lang="en-US" altLang="en-US" sz="2000" dirty="0"/>
              <a:t> If a relation </a:t>
            </a:r>
            <a:r>
              <a:rPr lang="en-US" altLang="en-US" sz="2000" i="1" dirty="0"/>
              <a:t>r</a:t>
            </a:r>
            <a:r>
              <a:rPr lang="en-US" altLang="en-US" sz="2000" dirty="0"/>
              <a:t> is legal under a set </a:t>
            </a:r>
            <a:r>
              <a:rPr lang="en-US" altLang="en-US" sz="2000" i="1" dirty="0"/>
              <a:t>F</a:t>
            </a:r>
            <a:r>
              <a:rPr lang="en-US" altLang="en-US" sz="2000" dirty="0"/>
              <a:t> of functional dependencies, we say that </a:t>
            </a:r>
            <a:r>
              <a:rPr lang="en-US" altLang="en-US" sz="2000" i="1" dirty="0"/>
              <a:t>r</a:t>
            </a:r>
            <a:r>
              <a:rPr lang="en-US" altLang="en-US" sz="2000" dirty="0"/>
              <a:t> </a:t>
            </a:r>
            <a:r>
              <a:rPr lang="en-US" altLang="en-US" sz="2000" b="1" dirty="0">
                <a:solidFill>
                  <a:srgbClr val="002060"/>
                </a:solidFill>
              </a:rPr>
              <a:t>satisfies</a:t>
            </a:r>
            <a:r>
              <a:rPr lang="en-US" altLang="en-US" sz="2000" b="1" dirty="0">
                <a:solidFill>
                  <a:srgbClr val="000099"/>
                </a:solidFill>
              </a:rPr>
              <a:t> </a:t>
            </a:r>
            <a:r>
              <a:rPr lang="en-US" altLang="en-US" sz="2000" i="1" dirty="0"/>
              <a:t>F.</a:t>
            </a:r>
            <a:endParaRPr lang="en-US" altLang="en-US" sz="2000" dirty="0"/>
          </a:p>
          <a:p>
            <a:pPr lvl="1"/>
            <a:r>
              <a:rPr lang="en-US" altLang="en-US" sz="2000" dirty="0"/>
              <a:t>To specify constraints on the set of legal relations</a:t>
            </a:r>
            <a:endParaRPr lang="en-US" altLang="en-US" sz="2000" dirty="0"/>
          </a:p>
          <a:p>
            <a:pPr lvl="2"/>
            <a:r>
              <a:rPr lang="en-US" altLang="en-US" sz="2000" dirty="0"/>
              <a:t>We say that </a:t>
            </a:r>
            <a:r>
              <a:rPr lang="en-US" altLang="en-US" sz="2000" i="1" dirty="0"/>
              <a:t>F</a:t>
            </a:r>
            <a:r>
              <a:rPr lang="en-US" altLang="en-US" sz="2000" dirty="0"/>
              <a:t> </a:t>
            </a:r>
            <a:r>
              <a:rPr lang="en-US" altLang="en-US" sz="2000" b="1" dirty="0">
                <a:solidFill>
                  <a:srgbClr val="002060"/>
                </a:solidFill>
              </a:rPr>
              <a:t>holds on</a:t>
            </a:r>
            <a:r>
              <a:rPr lang="en-US" altLang="en-US" sz="2000" dirty="0">
                <a:solidFill>
                  <a:srgbClr val="002060"/>
                </a:solidFill>
              </a:rPr>
              <a:t> </a:t>
            </a:r>
            <a:r>
              <a:rPr lang="en-US" altLang="en-US" sz="2000" i="1" dirty="0"/>
              <a:t>R</a:t>
            </a:r>
            <a:r>
              <a:rPr lang="en-US" altLang="en-US" sz="2000" dirty="0"/>
              <a:t> if all legal relations on </a:t>
            </a:r>
            <a:r>
              <a:rPr lang="en-US" altLang="en-US" sz="2000" i="1" dirty="0"/>
              <a:t>R</a:t>
            </a:r>
            <a:r>
              <a:rPr lang="en-US" altLang="en-US" sz="2000" dirty="0"/>
              <a:t> satisfy the set of functional dependencies </a:t>
            </a:r>
            <a:r>
              <a:rPr lang="en-US" altLang="en-US" sz="2000" i="1" dirty="0"/>
              <a:t>F.</a:t>
            </a:r>
            <a:endParaRPr lang="en-US" altLang="en-US" sz="2000" i="1" dirty="0"/>
          </a:p>
          <a:p>
            <a:r>
              <a:rPr lang="en-US" altLang="en-US" sz="2000" dirty="0"/>
              <a:t>Note:  A specific instance of a relation schema may satisfy a functional dependency even if the functional dependency does not hold on all legal instances.  </a:t>
            </a:r>
            <a:endParaRPr lang="en-US" altLang="en-US" sz="2000" dirty="0"/>
          </a:p>
          <a:p>
            <a:pPr lvl="1"/>
            <a:r>
              <a:rPr lang="en-US" altLang="en-US" sz="2000" dirty="0"/>
              <a:t>For example, a specific instance of </a:t>
            </a:r>
            <a:r>
              <a:rPr lang="en-US" altLang="en-US" sz="2000" i="1" dirty="0"/>
              <a:t>instructor</a:t>
            </a:r>
            <a:r>
              <a:rPr lang="en-US" altLang="en-US" sz="2000" dirty="0"/>
              <a:t> may, by chance, satisfy </a:t>
            </a:r>
            <a:br>
              <a:rPr lang="en-US" altLang="en-US" sz="2000" dirty="0"/>
            </a:br>
            <a:r>
              <a:rPr lang="en-US" altLang="en-US" sz="2000" dirty="0"/>
              <a:t>               </a:t>
            </a:r>
            <a:r>
              <a:rPr lang="en-US" altLang="en-US" sz="2000" i="1" dirty="0"/>
              <a:t>name </a:t>
            </a:r>
            <a:r>
              <a:rPr lang="en-US" altLang="en-US" sz="2000" dirty="0">
                <a:sym typeface="Symbol" panose="05050102010706020507" pitchFamily="18" charset="2"/>
              </a:rPr>
              <a:t></a:t>
            </a:r>
            <a:r>
              <a:rPr lang="en-US" altLang="en-US" sz="2000" dirty="0">
                <a:sym typeface="Monotype Sorts" pitchFamily="-65" charset="2"/>
              </a:rPr>
              <a:t> </a:t>
            </a:r>
            <a:r>
              <a:rPr lang="en-US" altLang="en-US" sz="2000" i="1" dirty="0">
                <a:sym typeface="Monotype Sorts" pitchFamily="-65" charset="2"/>
              </a:rPr>
              <a:t>ID.</a:t>
            </a:r>
            <a:endParaRPr lang="en-US" altLang="en-US" sz="2000" i="1" dirty="0">
              <a:sym typeface="Monotype Sorts" pitchFamily="-65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Trivial Functional Dependencies</a:t>
            </a:r>
            <a:endParaRPr lang="en-US" altLang="en-US" sz="2800" dirty="0">
              <a:effectLst>
                <a:outerShdw blurRad="38100" dist="38100" dir="2700000" algn="tl">
                  <a:srgbClr val="C0C0C0"/>
                </a:outerShdw>
              </a:effectLst>
              <a:ea typeface="MS PGothic" panose="020B0600070205080204" pitchFamily="34" charset="-128"/>
            </a:endParaRP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75247"/>
            <a:ext cx="7452372" cy="2374069"/>
          </a:xfrm>
        </p:spPr>
        <p:txBody>
          <a:bodyPr/>
          <a:lstStyle/>
          <a:p>
            <a:r>
              <a:rPr lang="en-US" altLang="en-US" sz="2400" i="1" dirty="0">
                <a:sym typeface="Monotype Sorts" pitchFamily="-65" charset="2"/>
              </a:rPr>
              <a:t>A </a:t>
            </a:r>
            <a:r>
              <a:rPr lang="en-US" altLang="en-US" sz="2400" dirty="0">
                <a:sym typeface="Monotype Sorts" pitchFamily="-65" charset="2"/>
              </a:rPr>
              <a:t>functional dependency is </a:t>
            </a:r>
            <a:r>
              <a:rPr lang="en-US" altLang="en-US" sz="2400" b="1" dirty="0">
                <a:solidFill>
                  <a:srgbClr val="002060"/>
                </a:solidFill>
                <a:sym typeface="Monotype Sorts" pitchFamily="-65" charset="2"/>
              </a:rPr>
              <a:t>trivial</a:t>
            </a:r>
            <a:r>
              <a:rPr lang="en-US" altLang="en-US" sz="2400" dirty="0">
                <a:sym typeface="Monotype Sorts" pitchFamily="-65" charset="2"/>
              </a:rPr>
              <a:t> if it is satisfied by all instances of a relation</a:t>
            </a:r>
            <a:endParaRPr lang="en-US" altLang="en-US" sz="2400" dirty="0">
              <a:sym typeface="Monotype Sorts" pitchFamily="-65" charset="2"/>
            </a:endParaRPr>
          </a:p>
          <a:p>
            <a:r>
              <a:rPr lang="en-US" altLang="en-US" sz="2400" dirty="0">
                <a:sym typeface="Monotype Sorts" pitchFamily="-65" charset="2"/>
              </a:rPr>
              <a:t>Example</a:t>
            </a:r>
            <a:r>
              <a:rPr lang="en-US" altLang="en-US" sz="2400" i="1" dirty="0">
                <a:sym typeface="Monotype Sorts" pitchFamily="-65" charset="2"/>
              </a:rPr>
              <a:t>:</a:t>
            </a:r>
            <a:endParaRPr lang="en-US" altLang="en-US" sz="2400" i="1" dirty="0">
              <a:sym typeface="Monotype Sorts" pitchFamily="-65" charset="2"/>
            </a:endParaRPr>
          </a:p>
          <a:p>
            <a:pPr lvl="1"/>
            <a:r>
              <a:rPr lang="en-US" altLang="en-US" sz="2400" i="1" dirty="0">
                <a:sym typeface="Monotype Sorts" pitchFamily="-65" charset="2"/>
              </a:rPr>
              <a:t> ID, name</a:t>
            </a:r>
            <a:r>
              <a:rPr lang="en-US" altLang="en-US" sz="2400" i="1" dirty="0"/>
              <a:t> </a:t>
            </a:r>
            <a:r>
              <a:rPr lang="en-US" altLang="en-US" sz="2400" dirty="0">
                <a:sym typeface="Symbol" panose="05050102010706020507" pitchFamily="18" charset="2"/>
              </a:rPr>
              <a:t></a:t>
            </a:r>
            <a:r>
              <a:rPr lang="en-US" altLang="en-US" sz="2400" dirty="0">
                <a:sym typeface="Monotype Sorts" pitchFamily="-65" charset="2"/>
              </a:rPr>
              <a:t> </a:t>
            </a:r>
            <a:r>
              <a:rPr lang="en-US" altLang="en-US" sz="2400" i="1" dirty="0">
                <a:sym typeface="Monotype Sorts" pitchFamily="-65" charset="2"/>
              </a:rPr>
              <a:t>ID</a:t>
            </a:r>
            <a:endParaRPr lang="en-US" altLang="en-US" sz="2400" i="1" dirty="0">
              <a:sym typeface="Monotype Sorts" pitchFamily="-65" charset="2"/>
            </a:endParaRPr>
          </a:p>
          <a:p>
            <a:pPr lvl="1"/>
            <a:r>
              <a:rPr lang="en-US" altLang="en-US" sz="2400" i="1" dirty="0">
                <a:sym typeface="Monotype Sorts" pitchFamily="-65" charset="2"/>
              </a:rPr>
              <a:t> name </a:t>
            </a:r>
            <a:r>
              <a:rPr lang="en-US" altLang="en-US" sz="2400" dirty="0">
                <a:sym typeface="Symbol" panose="05050102010706020507" pitchFamily="18" charset="2"/>
              </a:rPr>
              <a:t></a:t>
            </a:r>
            <a:r>
              <a:rPr lang="en-US" altLang="en-US" sz="2400" dirty="0">
                <a:sym typeface="Monotype Sorts" pitchFamily="-65" charset="2"/>
              </a:rPr>
              <a:t> </a:t>
            </a:r>
            <a:r>
              <a:rPr lang="en-US" altLang="en-US" sz="2400" i="1" dirty="0">
                <a:sym typeface="Monotype Sorts" pitchFamily="-65" charset="2"/>
              </a:rPr>
              <a:t>name</a:t>
            </a:r>
            <a:endParaRPr lang="en-US" altLang="en-US" sz="2400" i="1" dirty="0">
              <a:sym typeface="Monotype Sorts" pitchFamily="-65" charset="2"/>
            </a:endParaRPr>
          </a:p>
          <a:p>
            <a:r>
              <a:rPr lang="en-US" altLang="en-US" sz="2400" dirty="0">
                <a:sym typeface="Monotype Sorts" pitchFamily="-65" charset="2"/>
              </a:rPr>
              <a:t>In general, </a:t>
            </a:r>
            <a:r>
              <a:rPr lang="en-US" altLang="en-US" sz="2400" dirty="0">
                <a:sym typeface="Symbol" panose="05050102010706020507" pitchFamily="18" charset="2"/>
              </a:rPr>
              <a:t> </a:t>
            </a:r>
            <a:r>
              <a:rPr lang="en-US" altLang="en-US" sz="2400" dirty="0">
                <a:sym typeface="Monotype Sorts" pitchFamily="-65" charset="2"/>
              </a:rPr>
              <a:t> </a:t>
            </a:r>
            <a:r>
              <a:rPr lang="en-US" altLang="en-US" sz="2400" i="1" dirty="0">
                <a:sym typeface="Symbol" panose="05050102010706020507" pitchFamily="18" charset="2"/>
              </a:rPr>
              <a:t> </a:t>
            </a:r>
            <a:r>
              <a:rPr lang="en-US" altLang="en-US" sz="2400" dirty="0">
                <a:sym typeface="Symbol" panose="05050102010706020507" pitchFamily="18" charset="2"/>
              </a:rPr>
              <a:t>is trivial if</a:t>
            </a:r>
            <a:r>
              <a:rPr lang="en-US" altLang="en-US" sz="2400" i="1" dirty="0">
                <a:sym typeface="Symbol" panose="05050102010706020507" pitchFamily="18" charset="2"/>
              </a:rPr>
              <a:t> </a:t>
            </a:r>
            <a:r>
              <a:rPr lang="en-US" altLang="en-US" sz="2400" dirty="0">
                <a:sym typeface="Symbol" panose="05050102010706020507" pitchFamily="18" charset="2"/>
              </a:rPr>
              <a:t>   </a:t>
            </a:r>
            <a:endParaRPr lang="en-US" altLang="en-US" sz="2400" dirty="0" smtClean="0">
              <a:sym typeface="Symbol" panose="05050102010706020507" pitchFamily="18" charset="2"/>
            </a:endParaRPr>
          </a:p>
          <a:p>
            <a:r>
              <a:rPr lang="zh-CN" altLang="en-US" sz="2400" dirty="0">
                <a:sym typeface="Monotype Sorts" pitchFamily="-65" charset="2"/>
              </a:rPr>
              <a:t>函数依赖</a:t>
            </a:r>
            <a:r>
              <a:rPr lang="en-US" altLang="zh-CN" sz="2400" dirty="0">
                <a:sym typeface="Symbol" panose="05050102010706020507" pitchFamily="18" charset="2"/>
              </a:rPr>
              <a:t> </a:t>
            </a:r>
            <a:r>
              <a:rPr lang="en-US" altLang="zh-CN" sz="2400" dirty="0">
                <a:sym typeface="Monotype Sorts" pitchFamily="-65" charset="2"/>
              </a:rPr>
              <a:t> </a:t>
            </a:r>
            <a:r>
              <a:rPr lang="en-US" altLang="zh-CN" sz="2400" dirty="0">
                <a:sym typeface="Symbol" panose="05050102010706020507" pitchFamily="18" charset="2"/>
              </a:rPr>
              <a:t></a:t>
            </a:r>
            <a:r>
              <a:rPr lang="zh-CN" altLang="en-US" sz="2400" dirty="0">
                <a:sym typeface="Symbol" panose="05050102010706020507" pitchFamily="18" charset="2"/>
              </a:rPr>
              <a:t>，当</a:t>
            </a:r>
            <a:r>
              <a:rPr lang="en-US" altLang="zh-CN" sz="2400" dirty="0">
                <a:sym typeface="Symbol" panose="05050102010706020507" pitchFamily="18" charset="2"/>
              </a:rPr>
              <a:t>   </a:t>
            </a:r>
            <a:r>
              <a:rPr lang="zh-CN" altLang="en-US" sz="2400" dirty="0">
                <a:sym typeface="Symbol" panose="05050102010706020507" pitchFamily="18" charset="2"/>
              </a:rPr>
              <a:t>时是平凡的；否则是非平凡的</a:t>
            </a:r>
            <a:endParaRPr lang="zh-CN" altLang="en-US" sz="2400" dirty="0">
              <a:sym typeface="Symbol" panose="05050102010706020507" pitchFamily="18" charset="2"/>
            </a:endParaRPr>
          </a:p>
          <a:p>
            <a:pPr eaLnBrk="1" hangingPunct="1"/>
            <a:r>
              <a:rPr lang="zh-CN" altLang="en-US" sz="2400" dirty="0">
                <a:sym typeface="Monotype Sorts" pitchFamily="-65" charset="2"/>
              </a:rPr>
              <a:t>平凡的函数依赖总是成立的，为什么？</a:t>
            </a:r>
            <a:endParaRPr lang="zh-CN" altLang="en-US" sz="2400" dirty="0">
              <a:sym typeface="Monotype Sorts" pitchFamily="-65" charset="2"/>
            </a:endParaRPr>
          </a:p>
          <a:p>
            <a:pPr lvl="1" eaLnBrk="1" hangingPunct="1"/>
            <a:r>
              <a:rPr lang="zh-CN" altLang="en-US" sz="2400" dirty="0">
                <a:sym typeface="Monotype Sorts" pitchFamily="-65" charset="2"/>
              </a:rPr>
              <a:t>换句话说，平凡的函数依赖是没有意义的，我们一般所讨论的函数依赖都应该排除这种情况。</a:t>
            </a:r>
            <a:endParaRPr lang="zh-CN" altLang="en-US" sz="2400" dirty="0">
              <a:sym typeface="Monotype Sorts" pitchFamily="-65" charset="2"/>
            </a:endParaRPr>
          </a:p>
          <a:p>
            <a:br>
              <a:rPr lang="en-US" altLang="en-US" i="1" dirty="0">
                <a:sym typeface="Symbol" panose="05050102010706020507" pitchFamily="18" charset="2"/>
              </a:rPr>
            </a:br>
            <a:r>
              <a:rPr lang="en-US" altLang="en-US" i="1" dirty="0">
                <a:sym typeface="Symbol" panose="05050102010706020507" pitchFamily="18" charset="2"/>
              </a:rPr>
              <a:t> </a:t>
            </a:r>
            <a:endParaRPr lang="en-US" altLang="en-US" i="1" dirty="0">
              <a:sym typeface="Symbol" panose="05050102010706020507" pitchFamily="18" charset="2"/>
            </a:endParaRPr>
          </a:p>
          <a:p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如何让关系达到更高的范式</a:t>
            </a:r>
            <a:r>
              <a:rPr lang="en-US" altLang="zh-CN" smtClean="0"/>
              <a:t>?</a:t>
            </a:r>
            <a:endParaRPr lang="zh-CN" altLang="en-US" smtClean="0"/>
          </a:p>
        </p:txBody>
      </p:sp>
      <p:sp>
        <p:nvSpPr>
          <p:cNvPr id="645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2400" dirty="0" smtClean="0"/>
              <a:t>分解</a:t>
            </a:r>
            <a:endParaRPr lang="zh-CN" altLang="en-US" sz="2400" dirty="0" smtClean="0"/>
          </a:p>
          <a:p>
            <a:pPr lvl="1" eaLnBrk="1" hangingPunct="1">
              <a:defRPr/>
            </a:pPr>
            <a:r>
              <a:rPr lang="zh-CN" altLang="en-US" sz="2400" dirty="0" smtClean="0"/>
              <a:t>把一个属于低级范式的</a:t>
            </a:r>
            <a:r>
              <a:rPr lang="en-US" altLang="zh-CN" sz="2400" dirty="0" smtClean="0">
                <a:latin typeface="Helvetica" panose="020B0604020202020204" pitchFamily="34" charset="0"/>
              </a:rPr>
              <a:t>“</a:t>
            </a:r>
            <a:r>
              <a:rPr lang="zh-CN" altLang="en-US" sz="2400" dirty="0" smtClean="0"/>
              <a:t>坏</a:t>
            </a:r>
            <a:r>
              <a:rPr lang="zh-CN" altLang="en-US" sz="2400" dirty="0" smtClean="0">
                <a:latin typeface="Helvetica" panose="020B0604020202020204" pitchFamily="34" charset="0"/>
              </a:rPr>
              <a:t>”</a:t>
            </a:r>
            <a:r>
              <a:rPr lang="zh-CN" altLang="en-US" sz="2400" dirty="0" smtClean="0"/>
              <a:t>关系，分解为几个属于高级范式的 </a:t>
            </a:r>
            <a:r>
              <a:rPr lang="en-US" altLang="zh-CN" sz="2400" dirty="0" smtClean="0">
                <a:latin typeface="Helvetica" panose="020B0604020202020204" pitchFamily="34" charset="0"/>
              </a:rPr>
              <a:t>“</a:t>
            </a:r>
            <a:r>
              <a:rPr lang="zh-CN" altLang="en-US" sz="2400" dirty="0" smtClean="0"/>
              <a:t>好</a:t>
            </a:r>
            <a:r>
              <a:rPr lang="zh-CN" altLang="en-US" sz="2400" dirty="0" smtClean="0">
                <a:latin typeface="Helvetica" panose="020B0604020202020204" pitchFamily="34" charset="0"/>
              </a:rPr>
              <a:t>”</a:t>
            </a:r>
            <a:r>
              <a:rPr lang="zh-CN" altLang="en-US" sz="2400" dirty="0" smtClean="0"/>
              <a:t>关系</a:t>
            </a:r>
            <a:endParaRPr lang="zh-CN" altLang="en-US" sz="2400" dirty="0" smtClean="0"/>
          </a:p>
          <a:p>
            <a:pPr lvl="1" eaLnBrk="1" hangingPunct="1">
              <a:defRPr/>
            </a:pPr>
            <a:r>
              <a:rPr lang="zh-CN" altLang="en-US" sz="2400" dirty="0" smtClean="0"/>
              <a:t>但是某些情况下分解会带来新的问题，比如信息丢失，这样的分解是不正确的。</a:t>
            </a:r>
            <a:endParaRPr lang="zh-CN" altLang="en-US" sz="2400" dirty="0" smtClean="0"/>
          </a:p>
          <a:p>
            <a:pPr eaLnBrk="1" hangingPunct="1">
              <a:defRPr/>
            </a:pPr>
            <a:endParaRPr lang="zh-CN" altLang="en-US" sz="2400" dirty="0" smtClean="0"/>
          </a:p>
          <a:p>
            <a:pPr eaLnBrk="1" hangingPunct="1">
              <a:defRPr/>
            </a:pPr>
            <a:r>
              <a:rPr lang="zh-CN" altLang="en-US" sz="2400" dirty="0" smtClean="0"/>
              <a:t>要点</a:t>
            </a:r>
            <a:endParaRPr lang="zh-CN" altLang="en-US" sz="2400" dirty="0" smtClean="0"/>
          </a:p>
          <a:p>
            <a:pPr marL="457200" lvl="1" indent="0" eaLnBrk="1" hangingPunct="1">
              <a:buNone/>
              <a:defRPr/>
            </a:pPr>
            <a:r>
              <a:rPr lang="zh-CN" altLang="en-US" sz="2400" dirty="0" smtClean="0"/>
              <a:t> 什么样的分解方案才是正确的（不丢失信息的）</a:t>
            </a:r>
            <a:r>
              <a:rPr lang="en-US" altLang="zh-CN" sz="2400" dirty="0" smtClean="0"/>
              <a:t>? </a:t>
            </a:r>
            <a:endParaRPr lang="en-US" altLang="zh-CN" sz="2400" u="sng" dirty="0" smtClean="0">
              <a:solidFill>
                <a:srgbClr val="00E444"/>
              </a:solidFill>
            </a:endParaRPr>
          </a:p>
          <a:p>
            <a:pPr marL="457200" lvl="1" indent="0" eaLnBrk="1" hangingPunct="1">
              <a:buNone/>
              <a:defRPr/>
            </a:pPr>
            <a:r>
              <a:rPr lang="en-US" altLang="en-US" sz="2400" dirty="0" smtClean="0">
                <a:solidFill>
                  <a:srgbClr val="7030A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	Dependency Preservation </a:t>
            </a:r>
            <a:endParaRPr lang="en-US" altLang="en-US" sz="2400" dirty="0">
              <a:solidFill>
                <a:srgbClr val="7030A0"/>
              </a:solidFill>
              <a:effectLst>
                <a:outerShdw blurRad="38100" dist="38100" dir="2700000" algn="tl">
                  <a:srgbClr val="C0C0C0"/>
                </a:outerShdw>
              </a:effectLst>
              <a:ea typeface="MS PGothic" panose="020B0600070205080204" pitchFamily="34" charset="-128"/>
            </a:endParaRPr>
          </a:p>
          <a:p>
            <a:pPr marL="457200" lvl="1" indent="0" eaLnBrk="1" hangingPunct="1">
              <a:buNone/>
              <a:defRPr/>
            </a:pPr>
            <a:r>
              <a:rPr lang="en-US" altLang="zh-CN" sz="2400" dirty="0" smtClean="0">
                <a:solidFill>
                  <a:srgbClr val="7030A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      </a:t>
            </a:r>
            <a:r>
              <a:rPr lang="en-US" altLang="en-US" sz="2400" dirty="0">
                <a:solidFill>
                  <a:srgbClr val="7030A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Lossless </a:t>
            </a:r>
            <a:r>
              <a:rPr lang="en-US" altLang="en-US" sz="2400" dirty="0" smtClean="0">
                <a:solidFill>
                  <a:srgbClr val="7030A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Decomposition</a:t>
            </a:r>
            <a:endParaRPr lang="en-US" altLang="en-US" sz="2400" dirty="0" smtClean="0">
              <a:solidFill>
                <a:srgbClr val="7030A0"/>
              </a:solidFill>
              <a:effectLst>
                <a:outerShdw blurRad="38100" dist="38100" dir="2700000" algn="tl">
                  <a:srgbClr val="C0C0C0"/>
                </a:outerShdw>
              </a:effectLst>
              <a:ea typeface="MS PGothic" panose="020B0600070205080204" pitchFamily="34" charset="-128"/>
            </a:endParaRPr>
          </a:p>
          <a:p>
            <a:pPr marL="457200" lvl="1" indent="0" eaLnBrk="1" hangingPunct="1">
              <a:buNone/>
              <a:defRPr/>
            </a:pPr>
            <a:r>
              <a:rPr lang="en-US" altLang="zh-CN" sz="2400" u="sng" dirty="0" smtClean="0">
                <a:solidFill>
                  <a:srgbClr val="7030A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(</a:t>
            </a:r>
            <a:r>
              <a:rPr lang="zh-CN" altLang="en-US" sz="2400" u="sng" dirty="0" smtClean="0">
                <a:solidFill>
                  <a:srgbClr val="7030A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怎么做到？）</a:t>
            </a:r>
            <a:endParaRPr lang="en-US" altLang="zh-CN" sz="2400" u="sng" dirty="0" smtClean="0">
              <a:solidFill>
                <a:srgbClr val="7030A0"/>
              </a:solidFill>
            </a:endParaRPr>
          </a:p>
          <a:p>
            <a:pPr marL="914400" lvl="1" indent="-457200" eaLnBrk="1" hangingPunct="1">
              <a:buFont typeface="Arial" panose="020B0604020202020204" pitchFamily="34" charset="0"/>
              <a:buAutoNum type="arabicPeriod"/>
              <a:defRPr/>
            </a:pPr>
            <a:endParaRPr lang="zh-CN" altLang="en-US" sz="2400" u="sng" dirty="0" smtClean="0">
              <a:solidFill>
                <a:srgbClr val="00E444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如何让关系达到更高的范式</a:t>
            </a:r>
            <a:r>
              <a:rPr lang="en-US" altLang="zh-CN" smtClean="0"/>
              <a:t>?</a:t>
            </a:r>
            <a:endParaRPr lang="zh-CN" altLang="en-US" smtClean="0"/>
          </a:p>
        </p:txBody>
      </p:sp>
      <p:sp>
        <p:nvSpPr>
          <p:cNvPr id="645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2400" dirty="0" smtClean="0"/>
              <a:t>分解</a:t>
            </a:r>
            <a:endParaRPr lang="zh-CN" altLang="en-US" sz="2400" dirty="0" smtClean="0"/>
          </a:p>
          <a:p>
            <a:pPr lvl="1" eaLnBrk="1" hangingPunct="1">
              <a:defRPr/>
            </a:pPr>
            <a:r>
              <a:rPr lang="zh-CN" altLang="en-US" sz="2400" dirty="0" smtClean="0"/>
              <a:t>把一个属于低级范式的</a:t>
            </a:r>
            <a:r>
              <a:rPr lang="en-US" altLang="zh-CN" sz="2400" dirty="0" smtClean="0">
                <a:latin typeface="Helvetica" panose="020B0604020202020204" pitchFamily="34" charset="0"/>
              </a:rPr>
              <a:t>“</a:t>
            </a:r>
            <a:r>
              <a:rPr lang="zh-CN" altLang="en-US" sz="2400" dirty="0" smtClean="0"/>
              <a:t>坏</a:t>
            </a:r>
            <a:r>
              <a:rPr lang="zh-CN" altLang="en-US" sz="2400" dirty="0" smtClean="0">
                <a:latin typeface="Helvetica" panose="020B0604020202020204" pitchFamily="34" charset="0"/>
              </a:rPr>
              <a:t>”</a:t>
            </a:r>
            <a:r>
              <a:rPr lang="zh-CN" altLang="en-US" sz="2400" dirty="0" smtClean="0"/>
              <a:t>关系，分解为几个属于高级范式的 </a:t>
            </a:r>
            <a:r>
              <a:rPr lang="en-US" altLang="zh-CN" sz="2400" dirty="0" smtClean="0">
                <a:latin typeface="Helvetica" panose="020B0604020202020204" pitchFamily="34" charset="0"/>
              </a:rPr>
              <a:t>“</a:t>
            </a:r>
            <a:r>
              <a:rPr lang="zh-CN" altLang="en-US" sz="2400" dirty="0" smtClean="0"/>
              <a:t>好</a:t>
            </a:r>
            <a:r>
              <a:rPr lang="zh-CN" altLang="en-US" sz="2400" dirty="0" smtClean="0">
                <a:latin typeface="Helvetica" panose="020B0604020202020204" pitchFamily="34" charset="0"/>
              </a:rPr>
              <a:t>”</a:t>
            </a:r>
            <a:r>
              <a:rPr lang="zh-CN" altLang="en-US" sz="2400" dirty="0" smtClean="0"/>
              <a:t>关系</a:t>
            </a:r>
            <a:endParaRPr lang="zh-CN" altLang="en-US" sz="2400" dirty="0" smtClean="0"/>
          </a:p>
          <a:p>
            <a:pPr lvl="1" eaLnBrk="1" hangingPunct="1">
              <a:defRPr/>
            </a:pPr>
            <a:r>
              <a:rPr lang="zh-CN" altLang="en-US" sz="2400" dirty="0" smtClean="0"/>
              <a:t>但是某些情况下分解会带来新的问题，比如信息丢失，这样的分解是不正确的。</a:t>
            </a:r>
            <a:endParaRPr lang="zh-CN" altLang="en-US" sz="2400" dirty="0" smtClean="0"/>
          </a:p>
          <a:p>
            <a:pPr eaLnBrk="1" hangingPunct="1">
              <a:defRPr/>
            </a:pPr>
            <a:endParaRPr lang="zh-CN" altLang="en-US" sz="2400" dirty="0" smtClean="0"/>
          </a:p>
          <a:p>
            <a:pPr eaLnBrk="1" hangingPunct="1">
              <a:defRPr/>
            </a:pPr>
            <a:r>
              <a:rPr lang="zh-CN" altLang="en-US" sz="2400" dirty="0" smtClean="0"/>
              <a:t>两个要点</a:t>
            </a:r>
            <a:endParaRPr lang="zh-CN" altLang="en-US" sz="2400" dirty="0" smtClean="0"/>
          </a:p>
          <a:p>
            <a:pPr marL="457200" lvl="1" indent="0" eaLnBrk="1" hangingPunct="1">
              <a:buNone/>
              <a:defRPr/>
            </a:pPr>
            <a:r>
              <a:rPr lang="en-US" altLang="zh-CN" sz="2400" dirty="0" smtClean="0"/>
              <a:t>1. </a:t>
            </a:r>
            <a:r>
              <a:rPr lang="zh-CN" altLang="en-US" sz="2400" dirty="0" smtClean="0"/>
              <a:t>什么样的分解方案才是正确的（不丢失信息的）</a:t>
            </a:r>
            <a:r>
              <a:rPr lang="en-US" altLang="zh-CN" sz="2400" dirty="0" smtClean="0"/>
              <a:t>?  </a:t>
            </a:r>
            <a:r>
              <a:rPr lang="en-US" altLang="zh-CN" sz="2400" dirty="0" smtClean="0">
                <a:latin typeface="Helvetica" panose="020B0604020202020204" pitchFamily="34" charset="0"/>
              </a:rPr>
              <a:t>——</a:t>
            </a:r>
            <a:r>
              <a:rPr lang="en-US" altLang="zh-CN" sz="2400" dirty="0" smtClean="0"/>
              <a:t> </a:t>
            </a:r>
            <a:r>
              <a:rPr lang="en-US" altLang="en-US" sz="2400" dirty="0">
                <a:solidFill>
                  <a:srgbClr val="FF0000"/>
                </a:solidFill>
                <a:sym typeface="Monotype Sorts" pitchFamily="-65" charset="2"/>
              </a:rPr>
              <a:t>Lossless-join </a:t>
            </a:r>
            <a:r>
              <a:rPr lang="en-US" altLang="en-US" sz="2400" dirty="0" smtClean="0">
                <a:solidFill>
                  <a:srgbClr val="FF0000"/>
                </a:solidFill>
                <a:sym typeface="Monotype Sorts" pitchFamily="-65" charset="2"/>
              </a:rPr>
              <a:t>decomposition </a:t>
            </a:r>
            <a:r>
              <a:rPr lang="en-US" altLang="zh-CN" sz="2400" dirty="0" smtClean="0">
                <a:sym typeface="Monotype Sorts" pitchFamily="-65" charset="2"/>
              </a:rPr>
              <a:t>and </a:t>
            </a:r>
            <a:r>
              <a:rPr lang="en-US" altLang="en-US" sz="2400" dirty="0">
                <a:solidFill>
                  <a:srgbClr val="FF0000"/>
                </a:solidFill>
                <a:sym typeface="Monotype Sorts" pitchFamily="-65" charset="2"/>
              </a:rPr>
              <a:t>dependency preserving </a:t>
            </a:r>
            <a:endParaRPr lang="zh-CN" altLang="en-US" sz="2400" u="sng" dirty="0" smtClean="0">
              <a:solidFill>
                <a:srgbClr val="00E444"/>
              </a:solidFill>
            </a:endParaRPr>
          </a:p>
          <a:p>
            <a:pPr marL="457200" lvl="1" indent="0" eaLnBrk="1" hangingPunct="1">
              <a:buFont typeface="Arial" panose="020B0604020202020204" pitchFamily="34" charset="0"/>
              <a:buNone/>
              <a:defRPr/>
            </a:pPr>
            <a:r>
              <a:rPr lang="en-US" altLang="zh-CN" sz="2400" dirty="0" smtClean="0"/>
              <a:t>2. </a:t>
            </a:r>
            <a:r>
              <a:rPr lang="zh-CN" altLang="en-US" sz="2400" dirty="0" smtClean="0"/>
              <a:t>怎么找到正确的分解方案</a:t>
            </a:r>
            <a:r>
              <a:rPr lang="en-US" altLang="zh-CN" sz="2400" dirty="0" smtClean="0"/>
              <a:t>? </a:t>
            </a:r>
            <a:r>
              <a:rPr lang="en-US" altLang="zh-CN" sz="2400" dirty="0" smtClean="0">
                <a:latin typeface="Helvetica" panose="020B0604020202020204" pitchFamily="34" charset="0"/>
              </a:rPr>
              <a:t>——</a:t>
            </a:r>
            <a:r>
              <a:rPr lang="en-US" altLang="zh-CN" sz="2400" dirty="0" smtClean="0"/>
              <a:t> </a:t>
            </a:r>
            <a:r>
              <a:rPr lang="zh-CN" altLang="en-US" sz="2400" u="sng" dirty="0" smtClean="0">
                <a:solidFill>
                  <a:srgbClr val="00E444"/>
                </a:solidFill>
              </a:rPr>
              <a:t>规范化</a:t>
            </a:r>
            <a:endParaRPr lang="zh-CN" altLang="en-US" sz="2400" u="sng" dirty="0" smtClean="0">
              <a:solidFill>
                <a:srgbClr val="00E444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Decomposing a Schema into BCNF</a:t>
            </a:r>
            <a:endParaRPr lang="en-US" altLang="en-US" sz="2800" dirty="0">
              <a:effectLst>
                <a:outerShdw blurRad="38100" dist="38100" dir="2700000" algn="tl">
                  <a:srgbClr val="C0C0C0"/>
                </a:outerShdw>
              </a:effectLst>
              <a:ea typeface="MS PGothic" panose="020B0600070205080204" pitchFamily="34" charset="-128"/>
            </a:endParaRPr>
          </a:p>
        </p:txBody>
      </p:sp>
      <p:sp>
        <p:nvSpPr>
          <p:cNvPr id="683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63639"/>
            <a:ext cx="7399106" cy="433495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000" dirty="0"/>
              <a:t>Let  R be a schema </a:t>
            </a:r>
            <a:r>
              <a:rPr lang="en-US" altLang="en-US" sz="2000" i="1" dirty="0"/>
              <a:t>R  </a:t>
            </a:r>
            <a:r>
              <a:rPr lang="en-US" altLang="en-US" sz="2000" dirty="0"/>
              <a:t>that is not in BCNF.  Let </a:t>
            </a:r>
            <a:r>
              <a:rPr lang="en-US" altLang="en-US" sz="2000" dirty="0">
                <a:sym typeface="Symbol" panose="05050102010706020507" pitchFamily="18" charset="2"/>
              </a:rPr>
              <a:t></a:t>
            </a:r>
            <a:r>
              <a:rPr lang="en-US" altLang="en-US" sz="2000" dirty="0">
                <a:sym typeface="Greek Symbols"/>
              </a:rPr>
              <a:t> </a:t>
            </a:r>
            <a:r>
              <a:rPr kumimoji="0" lang="en-US" altLang="en-US" sz="2000" dirty="0">
                <a:sym typeface="Symbol" panose="05050102010706020507" pitchFamily="18" charset="2"/>
              </a:rPr>
              <a:t></a:t>
            </a:r>
            <a:r>
              <a:rPr lang="en-US" altLang="en-US" sz="2000" i="1" dirty="0">
                <a:sym typeface="Symbol" panose="05050102010706020507" pitchFamily="18" charset="2"/>
              </a:rPr>
              <a:t></a:t>
            </a:r>
            <a:r>
              <a:rPr lang="en-US" altLang="en-US" sz="2000" i="1" dirty="0">
                <a:sym typeface="Greek Symbols"/>
              </a:rPr>
              <a:t>   </a:t>
            </a:r>
            <a:r>
              <a:rPr lang="en-US" altLang="en-US" sz="2000" dirty="0">
                <a:sym typeface="Greek Symbols"/>
              </a:rPr>
              <a:t>be the FD that </a:t>
            </a:r>
            <a:r>
              <a:rPr lang="en-US" altLang="en-US" sz="2000" dirty="0"/>
              <a:t>causes a violation of BCNF.</a:t>
            </a:r>
            <a:endParaRPr lang="en-US" altLang="en-US" sz="2000" dirty="0"/>
          </a:p>
          <a:p>
            <a:pPr>
              <a:lnSpc>
                <a:spcPct val="90000"/>
              </a:lnSpc>
            </a:pPr>
            <a:r>
              <a:rPr lang="en-US" altLang="en-US" sz="2000" dirty="0">
                <a:solidFill>
                  <a:srgbClr val="FF0000"/>
                </a:solidFill>
              </a:rPr>
              <a:t>We decompose </a:t>
            </a:r>
            <a:r>
              <a:rPr lang="en-US" altLang="en-US" sz="2000" i="1" dirty="0">
                <a:solidFill>
                  <a:srgbClr val="FF0000"/>
                </a:solidFill>
              </a:rPr>
              <a:t>R</a:t>
            </a:r>
            <a:r>
              <a:rPr lang="en-US" altLang="en-US" sz="2000" dirty="0">
                <a:solidFill>
                  <a:srgbClr val="FF0000"/>
                </a:solidFill>
              </a:rPr>
              <a:t> into:</a:t>
            </a:r>
            <a:endParaRPr lang="en-US" altLang="en-US" sz="2000" dirty="0">
              <a:solidFill>
                <a:srgbClr val="FF0000"/>
              </a:solidFill>
            </a:endParaRPr>
          </a:p>
          <a:p>
            <a:pPr lvl="1">
              <a:lnSpc>
                <a:spcPct val="90000"/>
              </a:lnSpc>
              <a:buFont typeface="Times" panose="02020603050405020304" pitchFamily="18" charset="0"/>
              <a:buChar char="•"/>
            </a:pPr>
            <a:r>
              <a:rPr lang="en-US" altLang="en-US" sz="2000" dirty="0">
                <a:solidFill>
                  <a:srgbClr val="FF0000"/>
                </a:solidFill>
              </a:rPr>
              <a:t>(</a:t>
            </a:r>
            <a:r>
              <a:rPr lang="en-US" altLang="en-US" sz="2000" dirty="0">
                <a:solidFill>
                  <a:srgbClr val="FF0000"/>
                </a:solidFill>
                <a:sym typeface="Symbol" panose="05050102010706020507" pitchFamily="18" charset="2"/>
              </a:rPr>
              <a:t></a:t>
            </a:r>
            <a:r>
              <a:rPr lang="en-US" altLang="en-US" sz="2000" dirty="0">
                <a:solidFill>
                  <a:srgbClr val="FF0000"/>
                </a:solidFill>
                <a:sym typeface="Greek Symbols"/>
              </a:rPr>
              <a:t> U </a:t>
            </a:r>
            <a:r>
              <a:rPr lang="en-US" altLang="en-US" sz="2000" dirty="0">
                <a:solidFill>
                  <a:srgbClr val="FF0000"/>
                </a:solidFill>
                <a:sym typeface="Symbol" panose="05050102010706020507" pitchFamily="18" charset="2"/>
              </a:rPr>
              <a:t></a:t>
            </a:r>
            <a:r>
              <a:rPr lang="en-US" altLang="en-US" sz="2000" i="1" dirty="0">
                <a:solidFill>
                  <a:srgbClr val="FF0000"/>
                </a:solidFill>
                <a:sym typeface="Symbol" panose="05050102010706020507" pitchFamily="18" charset="2"/>
              </a:rPr>
              <a:t> </a:t>
            </a:r>
            <a:r>
              <a:rPr lang="en-US" altLang="en-US" sz="2000" dirty="0">
                <a:solidFill>
                  <a:srgbClr val="FF0000"/>
                </a:solidFill>
                <a:sym typeface="Symbol" panose="05050102010706020507" pitchFamily="18" charset="2"/>
              </a:rPr>
              <a:t>)</a:t>
            </a:r>
            <a:endParaRPr lang="en-US" altLang="en-US" sz="2000" dirty="0">
              <a:solidFill>
                <a:srgbClr val="FF0000"/>
              </a:solidFill>
            </a:endParaRPr>
          </a:p>
          <a:p>
            <a:pPr lvl="1">
              <a:lnSpc>
                <a:spcPct val="90000"/>
              </a:lnSpc>
              <a:buFont typeface="Times" panose="02020603050405020304" pitchFamily="18" charset="0"/>
              <a:buChar char="•"/>
            </a:pPr>
            <a:r>
              <a:rPr lang="en-US" altLang="en-US" sz="2000" dirty="0">
                <a:solidFill>
                  <a:srgbClr val="FF0000"/>
                </a:solidFill>
              </a:rPr>
              <a:t>( </a:t>
            </a:r>
            <a:r>
              <a:rPr lang="en-US" altLang="en-US" sz="2000" i="1" dirty="0">
                <a:solidFill>
                  <a:srgbClr val="FF0000"/>
                </a:solidFill>
              </a:rPr>
              <a:t>R</a:t>
            </a:r>
            <a:r>
              <a:rPr lang="en-US" altLang="en-US" sz="2000" dirty="0">
                <a:solidFill>
                  <a:srgbClr val="FF0000"/>
                </a:solidFill>
              </a:rPr>
              <a:t> - ( </a:t>
            </a:r>
            <a:r>
              <a:rPr lang="en-US" altLang="en-US" sz="2000" i="1" dirty="0">
                <a:solidFill>
                  <a:srgbClr val="FF0000"/>
                </a:solidFill>
                <a:sym typeface="Symbol" panose="05050102010706020507" pitchFamily="18" charset="2"/>
              </a:rPr>
              <a:t> - </a:t>
            </a:r>
            <a:r>
              <a:rPr lang="en-US" altLang="en-US" sz="2000" dirty="0">
                <a:solidFill>
                  <a:srgbClr val="FF0000"/>
                </a:solidFill>
                <a:sym typeface="Symbol" panose="05050102010706020507" pitchFamily="18" charset="2"/>
              </a:rPr>
              <a:t> ) )</a:t>
            </a:r>
            <a:endParaRPr lang="en-US" altLang="en-US" sz="2000" dirty="0">
              <a:solidFill>
                <a:srgbClr val="FF0000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en-US" sz="2000" dirty="0"/>
              <a:t>In our example of </a:t>
            </a:r>
            <a:r>
              <a:rPr lang="en-US" altLang="en-US" sz="2000" i="1" dirty="0" err="1"/>
              <a:t>in_dep</a:t>
            </a:r>
            <a:r>
              <a:rPr lang="en-US" altLang="en-US" sz="2000" dirty="0"/>
              <a:t>, </a:t>
            </a:r>
            <a:endParaRPr lang="en-US" altLang="en-US" sz="2000" dirty="0"/>
          </a:p>
          <a:p>
            <a:pPr lvl="1">
              <a:lnSpc>
                <a:spcPct val="90000"/>
              </a:lnSpc>
            </a:pPr>
            <a:r>
              <a:rPr lang="en-US" altLang="en-US" sz="2000" dirty="0">
                <a:sym typeface="Symbol" panose="05050102010706020507" pitchFamily="18" charset="2"/>
              </a:rPr>
              <a:t> = </a:t>
            </a:r>
            <a:r>
              <a:rPr lang="en-US" altLang="en-US" sz="2000" i="1" dirty="0" err="1">
                <a:sym typeface="Symbol" panose="05050102010706020507" pitchFamily="18" charset="2"/>
              </a:rPr>
              <a:t>dept_name</a:t>
            </a:r>
            <a:endParaRPr lang="en-US" altLang="en-US" sz="2000" dirty="0">
              <a:sym typeface="Symbol" panose="05050102010706020507" pitchFamily="18" charset="2"/>
            </a:endParaRPr>
          </a:p>
          <a:p>
            <a:pPr lvl="1">
              <a:lnSpc>
                <a:spcPct val="90000"/>
              </a:lnSpc>
            </a:pPr>
            <a:r>
              <a:rPr lang="en-US" altLang="en-US" sz="2000" i="1" dirty="0">
                <a:sym typeface="Symbol" panose="05050102010706020507" pitchFamily="18" charset="2"/>
              </a:rPr>
              <a:t> </a:t>
            </a:r>
            <a:r>
              <a:rPr lang="en-US" altLang="en-US" sz="2000" dirty="0">
                <a:sym typeface="Symbol" panose="05050102010706020507" pitchFamily="18" charset="2"/>
              </a:rPr>
              <a:t>=</a:t>
            </a:r>
            <a:r>
              <a:rPr lang="en-US" altLang="en-US" sz="2000" i="1" dirty="0">
                <a:sym typeface="Symbol" panose="05050102010706020507" pitchFamily="18" charset="2"/>
              </a:rPr>
              <a:t> building, budget</a:t>
            </a:r>
            <a:endParaRPr lang="en-US" altLang="en-US" sz="2000" i="1" dirty="0">
              <a:sym typeface="Symbol" panose="05050102010706020507" pitchFamily="18" charset="2"/>
            </a:endParaRPr>
          </a:p>
          <a:p>
            <a:pPr lvl="1">
              <a:lnSpc>
                <a:spcPct val="90000"/>
              </a:lnSpc>
              <a:buFont typeface="Monotype Sorts" pitchFamily="-65" charset="2"/>
              <a:buNone/>
            </a:pPr>
            <a:r>
              <a:rPr lang="en-US" altLang="en-US" sz="2000" dirty="0"/>
              <a:t>and </a:t>
            </a:r>
            <a:r>
              <a:rPr lang="en-US" altLang="en-US" sz="2000" i="1" dirty="0" err="1"/>
              <a:t>in_dep</a:t>
            </a:r>
            <a:r>
              <a:rPr lang="en-US" altLang="en-US" sz="2000" i="1" dirty="0"/>
              <a:t> </a:t>
            </a:r>
            <a:r>
              <a:rPr lang="en-US" altLang="en-US" sz="2000" dirty="0"/>
              <a:t>is replaced by</a:t>
            </a:r>
            <a:endParaRPr lang="en-US" altLang="en-US" sz="2000" dirty="0"/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 (</a:t>
            </a:r>
            <a:r>
              <a:rPr lang="en-US" altLang="en-US" sz="2000" dirty="0">
                <a:sym typeface="Symbol" panose="05050102010706020507" pitchFamily="18" charset="2"/>
              </a:rPr>
              <a:t></a:t>
            </a:r>
            <a:r>
              <a:rPr lang="en-US" altLang="en-US" sz="2000" dirty="0">
                <a:sym typeface="Greek Symbols"/>
              </a:rPr>
              <a:t> U </a:t>
            </a:r>
            <a:r>
              <a:rPr lang="en-US" altLang="en-US" sz="2000" dirty="0">
                <a:sym typeface="Symbol" panose="05050102010706020507" pitchFamily="18" charset="2"/>
              </a:rPr>
              <a:t></a:t>
            </a:r>
            <a:r>
              <a:rPr lang="en-US" altLang="en-US" sz="2000" i="1" dirty="0">
                <a:sym typeface="Symbol" panose="05050102010706020507" pitchFamily="18" charset="2"/>
              </a:rPr>
              <a:t> </a:t>
            </a:r>
            <a:r>
              <a:rPr lang="en-US" altLang="en-US" sz="2000" dirty="0">
                <a:sym typeface="Symbol" panose="05050102010706020507" pitchFamily="18" charset="2"/>
              </a:rPr>
              <a:t>) = ( </a:t>
            </a:r>
            <a:r>
              <a:rPr lang="en-US" altLang="en-US" sz="2000" i="1" dirty="0" err="1">
                <a:sym typeface="Symbol" panose="05050102010706020507" pitchFamily="18" charset="2"/>
              </a:rPr>
              <a:t>dept_name</a:t>
            </a:r>
            <a:r>
              <a:rPr lang="en-US" altLang="en-US" sz="2000" i="1" dirty="0">
                <a:sym typeface="Symbol" panose="05050102010706020507" pitchFamily="18" charset="2"/>
              </a:rPr>
              <a:t>, building, budget</a:t>
            </a:r>
            <a:r>
              <a:rPr lang="en-US" altLang="en-US" sz="2000" dirty="0">
                <a:sym typeface="Symbol" panose="05050102010706020507" pitchFamily="18" charset="2"/>
              </a:rPr>
              <a:t> )</a:t>
            </a:r>
            <a:endParaRPr lang="en-US" altLang="en-US" sz="2000" dirty="0">
              <a:sym typeface="Symbol" panose="05050102010706020507" pitchFamily="18" charset="2"/>
            </a:endParaRP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( </a:t>
            </a:r>
            <a:r>
              <a:rPr lang="en-US" altLang="en-US" sz="2000" i="1" dirty="0"/>
              <a:t>R</a:t>
            </a:r>
            <a:r>
              <a:rPr lang="en-US" altLang="en-US" sz="2000" dirty="0"/>
              <a:t> - ( </a:t>
            </a:r>
            <a:r>
              <a:rPr lang="en-US" altLang="en-US" sz="2000" i="1" dirty="0">
                <a:sym typeface="Symbol" panose="05050102010706020507" pitchFamily="18" charset="2"/>
              </a:rPr>
              <a:t> - </a:t>
            </a:r>
            <a:r>
              <a:rPr lang="en-US" altLang="en-US" sz="2000" dirty="0">
                <a:sym typeface="Symbol" panose="05050102010706020507" pitchFamily="18" charset="2"/>
              </a:rPr>
              <a:t> ) ) = ( </a:t>
            </a:r>
            <a:r>
              <a:rPr lang="en-US" altLang="en-US" sz="2000" i="1" dirty="0">
                <a:sym typeface="Symbol" panose="05050102010706020507" pitchFamily="18" charset="2"/>
              </a:rPr>
              <a:t>ID, name, </a:t>
            </a:r>
            <a:r>
              <a:rPr lang="en-US" altLang="en-US" sz="2000" i="1" dirty="0" err="1">
                <a:sym typeface="Symbol" panose="05050102010706020507" pitchFamily="18" charset="2"/>
              </a:rPr>
              <a:t>dept_name</a:t>
            </a:r>
            <a:r>
              <a:rPr lang="en-US" altLang="en-US" sz="2000" i="1" dirty="0">
                <a:sym typeface="Symbol" panose="05050102010706020507" pitchFamily="18" charset="2"/>
              </a:rPr>
              <a:t>, salary</a:t>
            </a:r>
            <a:r>
              <a:rPr lang="en-US" altLang="en-US" sz="2000" dirty="0">
                <a:sym typeface="Symbol" panose="05050102010706020507" pitchFamily="18" charset="2"/>
              </a:rPr>
              <a:t> )</a:t>
            </a:r>
            <a:endParaRPr lang="en-US" altLang="en-US" sz="2000" dirty="0"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3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3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3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3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30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30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30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30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30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30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3011" grpId="0" autoUpdateAnimBg="0" build="p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>
                <a:ea typeface="MS PGothic" panose="020B0600070205080204" pitchFamily="34" charset="-128"/>
              </a:rPr>
              <a:t>Example</a:t>
            </a:r>
            <a:endParaRPr lang="en-US" sz="2800" dirty="0">
              <a:ea typeface="MS PGothic" panose="020B0600070205080204" pitchFamily="34" charset="-128"/>
            </a:endParaRPr>
          </a:p>
        </p:txBody>
      </p:sp>
      <p:sp>
        <p:nvSpPr>
          <p:cNvPr id="924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093789"/>
            <a:ext cx="7607554" cy="4502340"/>
          </a:xfrm>
        </p:spPr>
        <p:txBody>
          <a:bodyPr/>
          <a:lstStyle/>
          <a:p>
            <a:pPr>
              <a:tabLst>
                <a:tab pos="2054225" algn="l"/>
              </a:tabLst>
            </a:pPr>
            <a:r>
              <a:rPr lang="en-US" altLang="en-US" sz="2000" i="1" dirty="0"/>
              <a:t>R = (A, B, C)</a:t>
            </a:r>
            <a:br>
              <a:rPr lang="en-US" altLang="en-US" sz="2000" i="1" dirty="0"/>
            </a:br>
            <a:r>
              <a:rPr lang="en-US" altLang="en-US" sz="2000" i="1" dirty="0"/>
              <a:t>F = {A </a:t>
            </a:r>
            <a:r>
              <a:rPr lang="en-US" altLang="en-US" sz="2000" dirty="0">
                <a:sym typeface="Symbol" panose="05050102010706020507" pitchFamily="18" charset="2"/>
              </a:rPr>
              <a:t></a:t>
            </a:r>
            <a:r>
              <a:rPr lang="en-US" altLang="en-US" sz="2000" dirty="0">
                <a:sym typeface="Monotype Sorts" pitchFamily="-65" charset="2"/>
              </a:rPr>
              <a:t> </a:t>
            </a:r>
            <a:r>
              <a:rPr lang="en-US" altLang="en-US" sz="2000" i="1" dirty="0">
                <a:sym typeface="Monotype Sorts" pitchFamily="-65" charset="2"/>
              </a:rPr>
              <a:t>B, B </a:t>
            </a:r>
            <a:r>
              <a:rPr lang="en-US" altLang="en-US" sz="2000" dirty="0">
                <a:sym typeface="Symbol" panose="05050102010706020507" pitchFamily="18" charset="2"/>
              </a:rPr>
              <a:t></a:t>
            </a:r>
            <a:r>
              <a:rPr lang="en-US" altLang="en-US" sz="2000" dirty="0">
                <a:sym typeface="Monotype Sorts" pitchFamily="-65" charset="2"/>
              </a:rPr>
              <a:t> </a:t>
            </a:r>
            <a:r>
              <a:rPr lang="en-US" altLang="en-US" sz="2000" i="1" dirty="0">
                <a:sym typeface="Monotype Sorts" pitchFamily="-65" charset="2"/>
              </a:rPr>
              <a:t>C)</a:t>
            </a:r>
            <a:endParaRPr lang="en-US" altLang="en-US" sz="2000" dirty="0">
              <a:sym typeface="Monotype Sorts" pitchFamily="-65" charset="2"/>
            </a:endParaRPr>
          </a:p>
          <a:p>
            <a:pPr>
              <a:tabLst>
                <a:tab pos="2054225" algn="l"/>
              </a:tabLst>
            </a:pPr>
            <a:r>
              <a:rPr lang="en-US" altLang="en-US" sz="2000" i="1" dirty="0">
                <a:sym typeface="Monotype Sorts" pitchFamily="-65" charset="2"/>
              </a:rPr>
              <a:t>R</a:t>
            </a:r>
            <a:r>
              <a:rPr lang="en-US" altLang="en-US" sz="2000" baseline="-25000" dirty="0">
                <a:sym typeface="Monotype Sorts" pitchFamily="-65" charset="2"/>
              </a:rPr>
              <a:t>1</a:t>
            </a:r>
            <a:r>
              <a:rPr lang="en-US" altLang="en-US" sz="2000" i="1" dirty="0">
                <a:sym typeface="Monotype Sorts" pitchFamily="-65" charset="2"/>
              </a:rPr>
              <a:t> = (A, B),   R</a:t>
            </a:r>
            <a:r>
              <a:rPr lang="en-US" altLang="en-US" sz="2000" baseline="-25000" dirty="0">
                <a:sym typeface="Monotype Sorts" pitchFamily="-65" charset="2"/>
              </a:rPr>
              <a:t>2</a:t>
            </a:r>
            <a:r>
              <a:rPr lang="en-US" altLang="en-US" sz="2000" i="1" dirty="0">
                <a:sym typeface="Monotype Sorts" pitchFamily="-65" charset="2"/>
              </a:rPr>
              <a:t> = (B, C)</a:t>
            </a:r>
            <a:endParaRPr lang="en-US" altLang="en-US" sz="2000" i="1" dirty="0">
              <a:sym typeface="Monotype Sorts" pitchFamily="-65" charset="2"/>
            </a:endParaRPr>
          </a:p>
          <a:p>
            <a:pPr lvl="1">
              <a:tabLst>
                <a:tab pos="2054225" algn="l"/>
              </a:tabLst>
            </a:pPr>
            <a:r>
              <a:rPr lang="en-US" altLang="en-US" sz="2000" dirty="0">
                <a:sym typeface="Monotype Sorts" pitchFamily="-65" charset="2"/>
              </a:rPr>
              <a:t>Lossless-join decomposition:</a:t>
            </a:r>
            <a:endParaRPr lang="en-US" altLang="en-US" sz="2000" dirty="0">
              <a:sym typeface="Monotype Sorts" pitchFamily="-65" charset="2"/>
            </a:endParaRPr>
          </a:p>
          <a:p>
            <a:pPr lvl="1">
              <a:buFont typeface="Monotype Sorts" pitchFamily="-65" charset="2"/>
              <a:buNone/>
              <a:tabLst>
                <a:tab pos="2054225" algn="l"/>
              </a:tabLst>
            </a:pPr>
            <a:r>
              <a:rPr lang="en-US" altLang="en-US" sz="2000" dirty="0">
                <a:sym typeface="Monotype Sorts" pitchFamily="-65" charset="2"/>
              </a:rPr>
              <a:t>		 </a:t>
            </a:r>
            <a:r>
              <a:rPr lang="en-US" altLang="en-US" sz="2000" i="1" dirty="0">
                <a:sym typeface="Monotype Sorts" pitchFamily="-65" charset="2"/>
              </a:rPr>
              <a:t>R</a:t>
            </a:r>
            <a:r>
              <a:rPr lang="en-US" altLang="en-US" sz="2000" baseline="-25000" dirty="0">
                <a:sym typeface="Monotype Sorts" pitchFamily="-65" charset="2"/>
              </a:rPr>
              <a:t>1  </a:t>
            </a:r>
            <a:r>
              <a:rPr lang="en-US" altLang="en-US" sz="2000" dirty="0">
                <a:sym typeface="Symbol" panose="05050102010706020507" pitchFamily="18" charset="2"/>
              </a:rPr>
              <a:t> </a:t>
            </a:r>
            <a:r>
              <a:rPr lang="en-US" altLang="en-US" sz="2000" i="1" dirty="0">
                <a:sym typeface="Monotype Sorts" pitchFamily="-65" charset="2"/>
              </a:rPr>
              <a:t>R</a:t>
            </a:r>
            <a:r>
              <a:rPr lang="en-US" altLang="en-US" sz="2000" baseline="-25000" dirty="0">
                <a:sym typeface="Monotype Sorts" pitchFamily="-65" charset="2"/>
              </a:rPr>
              <a:t>2</a:t>
            </a:r>
            <a:r>
              <a:rPr lang="en-US" altLang="en-US" sz="2000" i="1" dirty="0">
                <a:sym typeface="Monotype Sorts" pitchFamily="-65" charset="2"/>
              </a:rPr>
              <a:t> = </a:t>
            </a:r>
            <a:r>
              <a:rPr lang="en-US" altLang="en-US" sz="2000" dirty="0">
                <a:sym typeface="Monotype Sorts" pitchFamily="-65" charset="2"/>
              </a:rPr>
              <a:t>{</a:t>
            </a:r>
            <a:r>
              <a:rPr lang="en-US" altLang="en-US" sz="2000" i="1" dirty="0">
                <a:sym typeface="Monotype Sorts" pitchFamily="-65" charset="2"/>
              </a:rPr>
              <a:t>B</a:t>
            </a:r>
            <a:r>
              <a:rPr lang="en-US" altLang="en-US" sz="2000" dirty="0">
                <a:sym typeface="Monotype Sorts" pitchFamily="-65" charset="2"/>
              </a:rPr>
              <a:t>}</a:t>
            </a:r>
            <a:r>
              <a:rPr lang="en-US" altLang="en-US" sz="2000" i="1" dirty="0">
                <a:sym typeface="Monotype Sorts" pitchFamily="-65" charset="2"/>
              </a:rPr>
              <a:t>   </a:t>
            </a:r>
            <a:r>
              <a:rPr lang="en-US" altLang="en-US" sz="2000" dirty="0">
                <a:sym typeface="Monotype Sorts" pitchFamily="-65" charset="2"/>
              </a:rPr>
              <a:t>and </a:t>
            </a:r>
            <a:r>
              <a:rPr lang="en-US" altLang="en-US" sz="2000" i="1" dirty="0">
                <a:sym typeface="Monotype Sorts" pitchFamily="-65" charset="2"/>
              </a:rPr>
              <a:t>B </a:t>
            </a:r>
            <a:r>
              <a:rPr lang="en-US" altLang="en-US" sz="2000" dirty="0">
                <a:sym typeface="Symbol" panose="05050102010706020507" pitchFamily="18" charset="2"/>
              </a:rPr>
              <a:t></a:t>
            </a:r>
            <a:r>
              <a:rPr lang="en-US" altLang="en-US" sz="2000" dirty="0">
                <a:sym typeface="Monotype Sorts" pitchFamily="-65" charset="2"/>
              </a:rPr>
              <a:t> </a:t>
            </a:r>
            <a:r>
              <a:rPr lang="en-US" altLang="en-US" sz="2000" i="1" dirty="0">
                <a:sym typeface="Monotype Sorts" pitchFamily="-65" charset="2"/>
              </a:rPr>
              <a:t>BC</a:t>
            </a:r>
            <a:endParaRPr lang="en-US" altLang="en-US" sz="2000" i="1" dirty="0">
              <a:sym typeface="Monotype Sorts" pitchFamily="-65" charset="2"/>
            </a:endParaRPr>
          </a:p>
          <a:p>
            <a:pPr lvl="1">
              <a:tabLst>
                <a:tab pos="2054225" algn="l"/>
              </a:tabLst>
            </a:pPr>
            <a:r>
              <a:rPr lang="en-US" altLang="en-US" sz="2000" dirty="0">
                <a:sym typeface="Monotype Sorts" pitchFamily="-65" charset="2"/>
              </a:rPr>
              <a:t>Dependency preserving</a:t>
            </a:r>
            <a:endParaRPr lang="en-US" altLang="en-US" sz="2000" dirty="0">
              <a:sym typeface="Monotype Sorts" pitchFamily="-65" charset="2"/>
            </a:endParaRPr>
          </a:p>
          <a:p>
            <a:pPr>
              <a:tabLst>
                <a:tab pos="2054225" algn="l"/>
              </a:tabLst>
            </a:pPr>
            <a:r>
              <a:rPr lang="en-US" altLang="en-US" sz="2000" i="1" dirty="0">
                <a:sym typeface="Monotype Sorts" pitchFamily="-65" charset="2"/>
              </a:rPr>
              <a:t>R</a:t>
            </a:r>
            <a:r>
              <a:rPr lang="en-US" altLang="en-US" sz="2000" i="1" baseline="-25000" dirty="0">
                <a:sym typeface="Monotype Sorts" pitchFamily="-65" charset="2"/>
              </a:rPr>
              <a:t>1 </a:t>
            </a:r>
            <a:r>
              <a:rPr lang="en-US" altLang="en-US" sz="2000" i="1" dirty="0">
                <a:sym typeface="Monotype Sorts" pitchFamily="-65" charset="2"/>
              </a:rPr>
              <a:t>= (A, B),   R</a:t>
            </a:r>
            <a:r>
              <a:rPr lang="en-US" altLang="en-US" sz="2000" baseline="-25000" dirty="0">
                <a:sym typeface="Monotype Sorts" pitchFamily="-65" charset="2"/>
              </a:rPr>
              <a:t>2</a:t>
            </a:r>
            <a:r>
              <a:rPr lang="en-US" altLang="en-US" sz="2000" i="1" dirty="0">
                <a:sym typeface="Monotype Sorts" pitchFamily="-65" charset="2"/>
              </a:rPr>
              <a:t> = (A, C)</a:t>
            </a:r>
            <a:endParaRPr lang="en-US" altLang="en-US" sz="2000" i="1" dirty="0">
              <a:sym typeface="Monotype Sorts" pitchFamily="-65" charset="2"/>
            </a:endParaRPr>
          </a:p>
          <a:p>
            <a:pPr lvl="1">
              <a:tabLst>
                <a:tab pos="2054225" algn="l"/>
              </a:tabLst>
            </a:pPr>
            <a:r>
              <a:rPr lang="en-US" altLang="en-US" sz="2000" dirty="0">
                <a:sym typeface="Monotype Sorts" pitchFamily="-65" charset="2"/>
              </a:rPr>
              <a:t>Lossless-join decomposition:</a:t>
            </a:r>
            <a:endParaRPr lang="en-US" altLang="en-US" sz="2000" dirty="0">
              <a:sym typeface="Monotype Sorts" pitchFamily="-65" charset="2"/>
            </a:endParaRPr>
          </a:p>
          <a:p>
            <a:pPr lvl="1">
              <a:buFont typeface="Monotype Sorts" pitchFamily="-65" charset="2"/>
              <a:buNone/>
              <a:tabLst>
                <a:tab pos="2054225" algn="l"/>
              </a:tabLst>
            </a:pPr>
            <a:r>
              <a:rPr lang="en-US" altLang="en-US" sz="2000" dirty="0">
                <a:sym typeface="Monotype Sorts" pitchFamily="-65" charset="2"/>
              </a:rPr>
              <a:t>		 </a:t>
            </a:r>
            <a:r>
              <a:rPr lang="en-US" altLang="en-US" sz="2000" i="1" dirty="0">
                <a:sym typeface="Monotype Sorts" pitchFamily="-65" charset="2"/>
              </a:rPr>
              <a:t>R</a:t>
            </a:r>
            <a:r>
              <a:rPr lang="en-US" altLang="en-US" sz="2000" baseline="-25000" dirty="0">
                <a:sym typeface="Monotype Sorts" pitchFamily="-65" charset="2"/>
              </a:rPr>
              <a:t>1  </a:t>
            </a:r>
            <a:r>
              <a:rPr lang="en-US" altLang="en-US" sz="2000" dirty="0">
                <a:sym typeface="Symbol" panose="05050102010706020507" pitchFamily="18" charset="2"/>
              </a:rPr>
              <a:t> </a:t>
            </a:r>
            <a:r>
              <a:rPr lang="en-US" altLang="en-US" sz="2000" i="1" dirty="0">
                <a:sym typeface="Monotype Sorts" pitchFamily="-65" charset="2"/>
              </a:rPr>
              <a:t>R</a:t>
            </a:r>
            <a:r>
              <a:rPr lang="en-US" altLang="en-US" sz="2000" baseline="-25000" dirty="0">
                <a:sym typeface="Monotype Sorts" pitchFamily="-65" charset="2"/>
              </a:rPr>
              <a:t>2</a:t>
            </a:r>
            <a:r>
              <a:rPr lang="en-US" altLang="en-US" sz="2000" i="1" dirty="0">
                <a:sym typeface="Monotype Sorts" pitchFamily="-65" charset="2"/>
              </a:rPr>
              <a:t> =</a:t>
            </a:r>
            <a:r>
              <a:rPr lang="en-US" altLang="en-US" sz="2000" dirty="0">
                <a:sym typeface="Monotype Sorts" pitchFamily="-65" charset="2"/>
              </a:rPr>
              <a:t> {</a:t>
            </a:r>
            <a:r>
              <a:rPr lang="en-US" altLang="en-US" sz="2000" i="1" dirty="0">
                <a:sym typeface="Monotype Sorts" pitchFamily="-65" charset="2"/>
              </a:rPr>
              <a:t>A</a:t>
            </a:r>
            <a:r>
              <a:rPr lang="en-US" altLang="en-US" sz="2000" dirty="0">
                <a:sym typeface="Monotype Sorts" pitchFamily="-65" charset="2"/>
              </a:rPr>
              <a:t>}</a:t>
            </a:r>
            <a:r>
              <a:rPr lang="en-US" altLang="en-US" sz="2000" i="1" dirty="0">
                <a:sym typeface="Monotype Sorts" pitchFamily="-65" charset="2"/>
              </a:rPr>
              <a:t> </a:t>
            </a:r>
            <a:r>
              <a:rPr lang="en-US" altLang="en-US" sz="2000" dirty="0">
                <a:sym typeface="Monotype Sorts" pitchFamily="-65" charset="2"/>
              </a:rPr>
              <a:t>and </a:t>
            </a:r>
            <a:r>
              <a:rPr lang="en-US" altLang="en-US" sz="2000" i="1" dirty="0">
                <a:sym typeface="Monotype Sorts" pitchFamily="-65" charset="2"/>
              </a:rPr>
              <a:t>A </a:t>
            </a:r>
            <a:r>
              <a:rPr lang="en-US" altLang="en-US" sz="2000" dirty="0">
                <a:sym typeface="Symbol" panose="05050102010706020507" pitchFamily="18" charset="2"/>
              </a:rPr>
              <a:t></a:t>
            </a:r>
            <a:r>
              <a:rPr lang="en-US" altLang="en-US" sz="2000" dirty="0">
                <a:sym typeface="Monotype Sorts" pitchFamily="-65" charset="2"/>
              </a:rPr>
              <a:t> A</a:t>
            </a:r>
            <a:r>
              <a:rPr lang="en-US" altLang="en-US" sz="2000" i="1" dirty="0">
                <a:sym typeface="Monotype Sorts" pitchFamily="-65" charset="2"/>
              </a:rPr>
              <a:t>B</a:t>
            </a:r>
            <a:endParaRPr lang="en-US" altLang="en-US" sz="2000" i="1" dirty="0">
              <a:sym typeface="Monotype Sorts" pitchFamily="-65" charset="2"/>
            </a:endParaRPr>
          </a:p>
          <a:p>
            <a:pPr lvl="1">
              <a:tabLst>
                <a:tab pos="2054225" algn="l"/>
              </a:tabLst>
            </a:pPr>
            <a:r>
              <a:rPr lang="en-US" altLang="en-US" sz="2000" dirty="0">
                <a:solidFill>
                  <a:srgbClr val="FF0000"/>
                </a:solidFill>
                <a:sym typeface="Monotype Sorts" pitchFamily="-65" charset="2"/>
              </a:rPr>
              <a:t>Not dependency preserving </a:t>
            </a:r>
            <a:br>
              <a:rPr lang="en-US" altLang="en-US" sz="2000" dirty="0">
                <a:solidFill>
                  <a:srgbClr val="FF0000"/>
                </a:solidFill>
                <a:sym typeface="Monotype Sorts" pitchFamily="-65" charset="2"/>
              </a:rPr>
            </a:br>
            <a:r>
              <a:rPr lang="en-US" altLang="en-US" sz="2000" dirty="0">
                <a:solidFill>
                  <a:srgbClr val="FF0000"/>
                </a:solidFill>
                <a:sym typeface="Monotype Sorts" pitchFamily="-65" charset="2"/>
              </a:rPr>
              <a:t>(cannot check </a:t>
            </a:r>
            <a:r>
              <a:rPr lang="en-US" altLang="en-US" sz="2000" i="1" dirty="0">
                <a:solidFill>
                  <a:srgbClr val="FF0000"/>
                </a:solidFill>
                <a:sym typeface="Monotype Sorts" pitchFamily="-65" charset="2"/>
              </a:rPr>
              <a:t>B </a:t>
            </a:r>
            <a:r>
              <a:rPr lang="en-US" altLang="en-US" sz="2000" dirty="0">
                <a:solidFill>
                  <a:srgbClr val="FF0000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2000" dirty="0">
                <a:solidFill>
                  <a:srgbClr val="FF0000"/>
                </a:solidFill>
                <a:sym typeface="Monotype Sorts" pitchFamily="-65" charset="2"/>
              </a:rPr>
              <a:t> </a:t>
            </a:r>
            <a:r>
              <a:rPr lang="en-US" altLang="en-US" sz="2000" i="1" dirty="0">
                <a:solidFill>
                  <a:srgbClr val="FF0000"/>
                </a:solidFill>
                <a:sym typeface="Monotype Sorts" pitchFamily="-65" charset="2"/>
              </a:rPr>
              <a:t>C </a:t>
            </a:r>
            <a:r>
              <a:rPr lang="en-US" altLang="en-US" sz="2000" dirty="0">
                <a:sym typeface="Monotype Sorts" pitchFamily="-65" charset="2"/>
              </a:rPr>
              <a:t>without computing </a:t>
            </a:r>
            <a:r>
              <a:rPr lang="en-US" altLang="en-US" sz="2000" i="1" dirty="0">
                <a:sym typeface="Monotype Sorts" pitchFamily="-65" charset="2"/>
              </a:rPr>
              <a:t>R</a:t>
            </a:r>
            <a:r>
              <a:rPr lang="en-US" altLang="en-US" sz="2000" i="1" baseline="-25000" dirty="0">
                <a:sym typeface="Monotype Sorts" pitchFamily="-65" charset="2"/>
              </a:rPr>
              <a:t>1 </a:t>
            </a:r>
            <a:r>
              <a:rPr lang="en-US" altLang="en-US" sz="2000" dirty="0">
                <a:sym typeface="Monotype Sorts" pitchFamily="-65" charset="2"/>
              </a:rPr>
              <a:t>    </a:t>
            </a:r>
            <a:r>
              <a:rPr lang="en-US" altLang="en-US" sz="2000" i="1" dirty="0">
                <a:sym typeface="Monotype Sorts" pitchFamily="-65" charset="2"/>
              </a:rPr>
              <a:t>R</a:t>
            </a:r>
            <a:r>
              <a:rPr lang="en-US" altLang="en-US" sz="2000" baseline="-25000" dirty="0">
                <a:sym typeface="Monotype Sorts" pitchFamily="-65" charset="2"/>
              </a:rPr>
              <a:t>2</a:t>
            </a:r>
            <a:r>
              <a:rPr lang="en-US" altLang="en-US" sz="2000" dirty="0">
                <a:sym typeface="Monotype Sorts" pitchFamily="-65" charset="2"/>
              </a:rPr>
              <a:t>)</a:t>
            </a:r>
            <a:endParaRPr lang="en-US" altLang="en-US" sz="2000" dirty="0">
              <a:sym typeface="Monotype Sorts" pitchFamily="-65" charset="2"/>
            </a:endParaRPr>
          </a:p>
        </p:txBody>
      </p:sp>
      <p:pic>
        <p:nvPicPr>
          <p:cNvPr id="30724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2713" y="5040323"/>
            <a:ext cx="285774" cy="285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4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4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4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4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4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46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46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46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4675" grpId="0" autoUpdateAnimBg="0" build="p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BCNF and Dependency Preservation</a:t>
            </a:r>
            <a:endParaRPr lang="en-US" altLang="en-US" sz="2800" dirty="0">
              <a:effectLst>
                <a:outerShdw blurRad="38100" dist="38100" dir="2700000" algn="tl">
                  <a:srgbClr val="C0C0C0"/>
                </a:outerShdw>
              </a:effectLst>
              <a:ea typeface="MS PGothic" panose="020B0600070205080204" pitchFamily="34" charset="-128"/>
            </a:endParaRP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093788"/>
            <a:ext cx="7612170" cy="5075000"/>
          </a:xfrm>
        </p:spPr>
        <p:txBody>
          <a:bodyPr/>
          <a:lstStyle/>
          <a:p>
            <a:pPr>
              <a:defRPr/>
            </a:pPr>
            <a:r>
              <a:rPr lang="en-US" altLang="en-US" sz="2000" dirty="0">
                <a:ea typeface="MS PGothic" panose="020B0600070205080204" pitchFamily="34" charset="-128"/>
              </a:rPr>
              <a:t>It is not always possible to achieve both BCNF and dependency preservation </a:t>
            </a:r>
            <a:endParaRPr lang="en-US" altLang="en-US" sz="2000" dirty="0"/>
          </a:p>
          <a:p>
            <a:pPr>
              <a:defRPr/>
            </a:pPr>
            <a:r>
              <a:rPr lang="en-US" altLang="en-US" sz="2000" dirty="0"/>
              <a:t>Consider a schema:</a:t>
            </a:r>
            <a:endParaRPr lang="en-US" altLang="en-US" sz="2000" dirty="0"/>
          </a:p>
          <a:p>
            <a:pPr>
              <a:buFont typeface="Monotype Sorts" pitchFamily="-65" charset="2"/>
              <a:buNone/>
              <a:defRPr/>
            </a:pPr>
            <a:r>
              <a:rPr lang="en-US" altLang="en-US" sz="2000" dirty="0"/>
              <a:t>         </a:t>
            </a:r>
            <a:r>
              <a:rPr lang="en-US" altLang="en-US" sz="2000" i="1" dirty="0" err="1"/>
              <a:t>dept_advisor</a:t>
            </a:r>
            <a:r>
              <a:rPr lang="en-US" altLang="en-US" sz="2000" i="1" dirty="0"/>
              <a:t>(</a:t>
            </a:r>
            <a:r>
              <a:rPr lang="en-US" altLang="en-US" sz="2000" i="1" dirty="0" err="1"/>
              <a:t>s_ID</a:t>
            </a:r>
            <a:r>
              <a:rPr lang="en-US" altLang="en-US" sz="2000" i="1" dirty="0"/>
              <a:t>, </a:t>
            </a:r>
            <a:r>
              <a:rPr lang="en-US" altLang="en-US" sz="2000" i="1" dirty="0" err="1"/>
              <a:t>i_ID</a:t>
            </a:r>
            <a:r>
              <a:rPr lang="en-US" altLang="en-US" sz="2000" i="1" dirty="0"/>
              <a:t>, </a:t>
            </a:r>
            <a:r>
              <a:rPr lang="en-US" altLang="en-US" sz="2000" i="1" dirty="0" err="1"/>
              <a:t>department_name</a:t>
            </a:r>
            <a:r>
              <a:rPr lang="en-US" altLang="en-US" sz="2000" dirty="0"/>
              <a:t>)</a:t>
            </a:r>
            <a:endParaRPr lang="en-US" altLang="en-US" sz="2000" dirty="0"/>
          </a:p>
          <a:p>
            <a:pPr>
              <a:defRPr/>
            </a:pPr>
            <a:r>
              <a:rPr lang="en-US" altLang="en-US" sz="2000" dirty="0"/>
              <a:t>With function dependencies:</a:t>
            </a:r>
            <a:endParaRPr lang="en-US" altLang="en-US" sz="2000" dirty="0"/>
          </a:p>
          <a:p>
            <a:pPr>
              <a:buFont typeface="Monotype Sorts" pitchFamily="-65" charset="2"/>
              <a:buNone/>
              <a:defRPr/>
            </a:pPr>
            <a:r>
              <a:rPr lang="en-US" altLang="en-US" sz="2000" dirty="0"/>
              <a:t>             </a:t>
            </a:r>
            <a:r>
              <a:rPr lang="en-US" altLang="en-US" sz="2000" i="1" dirty="0"/>
              <a:t>i_ID</a:t>
            </a:r>
            <a:r>
              <a:rPr lang="en-US" altLang="en-US" sz="2000" dirty="0"/>
              <a:t> </a:t>
            </a:r>
            <a:r>
              <a:rPr lang="en-US" altLang="en-US" sz="2000" dirty="0">
                <a:sym typeface="Symbol" panose="05050102010706020507" pitchFamily="18" charset="2"/>
              </a:rPr>
              <a:t> </a:t>
            </a:r>
            <a:r>
              <a:rPr lang="en-US" altLang="en-US" sz="2000" i="1" dirty="0">
                <a:sym typeface="Symbol" panose="05050102010706020507" pitchFamily="18" charset="2"/>
              </a:rPr>
              <a:t>dept_name</a:t>
            </a:r>
            <a:endParaRPr lang="en-US" altLang="en-US" sz="2000" i="1" dirty="0">
              <a:sym typeface="Symbol" panose="05050102010706020507" pitchFamily="18" charset="2"/>
            </a:endParaRPr>
          </a:p>
          <a:p>
            <a:pPr>
              <a:buFont typeface="Monotype Sorts" pitchFamily="-65" charset="2"/>
              <a:buNone/>
              <a:defRPr/>
            </a:pPr>
            <a:r>
              <a:rPr lang="en-US" altLang="en-US" sz="2000" dirty="0"/>
              <a:t>             </a:t>
            </a:r>
            <a:r>
              <a:rPr lang="en-US" altLang="en-US" sz="2000" i="1" dirty="0"/>
              <a:t>s_ID, </a:t>
            </a:r>
            <a:r>
              <a:rPr lang="en-US" altLang="en-US" sz="2000" i="1" dirty="0">
                <a:sym typeface="Symbol" panose="05050102010706020507" pitchFamily="18" charset="2"/>
              </a:rPr>
              <a:t>dept_name</a:t>
            </a:r>
            <a:r>
              <a:rPr lang="en-US" altLang="en-US" sz="2000" i="1" dirty="0"/>
              <a:t> </a:t>
            </a:r>
            <a:r>
              <a:rPr lang="en-US" altLang="en-US" sz="2000" dirty="0">
                <a:sym typeface="Symbol" panose="05050102010706020507" pitchFamily="18" charset="2"/>
              </a:rPr>
              <a:t> </a:t>
            </a:r>
            <a:r>
              <a:rPr lang="en-US" altLang="en-US" sz="2000" i="1" dirty="0">
                <a:sym typeface="Symbol" panose="05050102010706020507" pitchFamily="18" charset="2"/>
              </a:rPr>
              <a:t>i_ID</a:t>
            </a:r>
            <a:endParaRPr lang="en-US" altLang="en-US" sz="2000" i="1" dirty="0">
              <a:sym typeface="Symbol" panose="05050102010706020507" pitchFamily="18" charset="2"/>
            </a:endParaRPr>
          </a:p>
          <a:p>
            <a:pPr>
              <a:defRPr/>
            </a:pPr>
            <a:r>
              <a:rPr lang="en-US" altLang="en-US" sz="2000" i="1" dirty="0"/>
              <a:t>dept_advisor </a:t>
            </a:r>
            <a:r>
              <a:rPr lang="en-US" altLang="en-US" sz="2000" dirty="0"/>
              <a:t>is not in BCNF </a:t>
            </a:r>
            <a:endParaRPr lang="en-US" altLang="en-US" sz="2000" dirty="0"/>
          </a:p>
          <a:p>
            <a:pPr lvl="1">
              <a:defRPr/>
            </a:pPr>
            <a:r>
              <a:rPr lang="en-US" altLang="en-US" sz="2000" dirty="0"/>
              <a:t> </a:t>
            </a:r>
            <a:r>
              <a:rPr lang="en-US" altLang="en-US" sz="2000" i="1" dirty="0"/>
              <a:t>i_ID</a:t>
            </a:r>
            <a:r>
              <a:rPr lang="en-US" altLang="en-US" sz="2000" dirty="0"/>
              <a:t>  is not a superkey.</a:t>
            </a:r>
            <a:endParaRPr lang="en-US" altLang="en-US" sz="2000" dirty="0"/>
          </a:p>
          <a:p>
            <a:pPr>
              <a:defRPr/>
            </a:pPr>
            <a:r>
              <a:rPr lang="en-US" altLang="en-US" sz="2000" dirty="0">
                <a:sym typeface="Symbol" panose="05050102010706020507" pitchFamily="18" charset="2"/>
              </a:rPr>
              <a:t>Any decomposition  of </a:t>
            </a:r>
            <a:r>
              <a:rPr lang="en-US" altLang="en-US" sz="2000" i="1" dirty="0"/>
              <a:t>dept_advisor </a:t>
            </a:r>
            <a:r>
              <a:rPr lang="en-US" altLang="en-US" sz="2000" dirty="0">
                <a:sym typeface="Symbol" panose="05050102010706020507" pitchFamily="18" charset="2"/>
              </a:rPr>
              <a:t>will not include all the attributes in</a:t>
            </a:r>
            <a:endParaRPr lang="en-US" altLang="en-US" sz="2000" dirty="0">
              <a:sym typeface="Symbol" panose="05050102010706020507" pitchFamily="18" charset="2"/>
            </a:endParaRPr>
          </a:p>
          <a:p>
            <a:pPr>
              <a:buFont typeface="Monotype Sorts" pitchFamily="-65" charset="2"/>
              <a:buNone/>
              <a:defRPr/>
            </a:pPr>
            <a:r>
              <a:rPr lang="en-US" altLang="en-US" sz="2000" dirty="0">
                <a:sym typeface="Symbol" panose="05050102010706020507" pitchFamily="18" charset="2"/>
              </a:rPr>
              <a:t>            </a:t>
            </a:r>
            <a:r>
              <a:rPr lang="en-US" altLang="en-US" sz="2000" i="1" dirty="0"/>
              <a:t>s_ID, </a:t>
            </a:r>
            <a:r>
              <a:rPr lang="en-US" altLang="en-US" sz="2000" i="1" dirty="0">
                <a:sym typeface="Symbol" panose="05050102010706020507" pitchFamily="18" charset="2"/>
              </a:rPr>
              <a:t>dept_name</a:t>
            </a:r>
            <a:r>
              <a:rPr lang="en-US" altLang="en-US" sz="2000" i="1" dirty="0"/>
              <a:t> </a:t>
            </a:r>
            <a:r>
              <a:rPr lang="en-US" altLang="en-US" sz="2000" i="1" dirty="0">
                <a:sym typeface="Symbol" panose="05050102010706020507" pitchFamily="18" charset="2"/>
              </a:rPr>
              <a:t> i_ID</a:t>
            </a:r>
            <a:endParaRPr lang="en-US" altLang="en-US" sz="2000" i="1" dirty="0">
              <a:sym typeface="Symbol" panose="05050102010706020507" pitchFamily="18" charset="2"/>
            </a:endParaRPr>
          </a:p>
          <a:p>
            <a:pPr>
              <a:defRPr/>
            </a:pPr>
            <a:r>
              <a:rPr lang="en-US" altLang="en-US" sz="2000" dirty="0">
                <a:sym typeface="Symbol" panose="05050102010706020507" pitchFamily="18" charset="2"/>
              </a:rPr>
              <a:t>Thus, the composition is  NOT be</a:t>
            </a:r>
            <a:r>
              <a:rPr lang="en-US" altLang="en-US" sz="2000" b="1" dirty="0">
                <a:solidFill>
                  <a:schemeClr val="bg1">
                    <a:lumMod val="25000"/>
                  </a:schemeClr>
                </a:solidFill>
              </a:rPr>
              <a:t> </a:t>
            </a:r>
            <a:r>
              <a:rPr lang="en-US" altLang="en-US" sz="2000" dirty="0">
                <a:sym typeface="Symbol" panose="05050102010706020507" pitchFamily="18" charset="2"/>
              </a:rPr>
              <a:t>dependency preserving</a:t>
            </a:r>
            <a:endParaRPr lang="en-US" altLang="en-US" sz="2000" dirty="0">
              <a:ea typeface="MS PGothic" panose="020B0600070205080204" pitchFamily="3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154" name="Rectangle 2"/>
          <p:cNvSpPr>
            <a:spLocks noGrp="1" noChangeArrowheads="1"/>
          </p:cNvSpPr>
          <p:nvPr>
            <p:ph type="title"/>
          </p:nvPr>
        </p:nvSpPr>
        <p:spPr>
          <a:xfrm>
            <a:off x="1317625" y="184150"/>
            <a:ext cx="6969125" cy="500063"/>
          </a:xfrm>
        </p:spPr>
        <p:txBody>
          <a:bodyPr/>
          <a:lstStyle/>
          <a:p>
            <a:pPr>
              <a:defRPr/>
            </a:pPr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Comparison of BCNF and 3NF</a:t>
            </a:r>
            <a:endParaRPr lang="en-US" altLang="en-US" sz="2800" dirty="0">
              <a:effectLst>
                <a:outerShdw blurRad="38100" dist="38100" dir="2700000" algn="tl">
                  <a:srgbClr val="C0C0C0"/>
                </a:outerShdw>
              </a:effectLst>
              <a:ea typeface="MS PGothic" panose="020B0600070205080204" pitchFamily="34" charset="-128"/>
            </a:endParaRP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1236" y="1093788"/>
            <a:ext cx="7599285" cy="2661348"/>
          </a:xfrm>
        </p:spPr>
        <p:txBody>
          <a:bodyPr/>
          <a:lstStyle/>
          <a:p>
            <a:r>
              <a:rPr lang="en-US" altLang="en-US" sz="2400" dirty="0"/>
              <a:t>Advantages to 3NF over BCNF.  It is always possible to obtain a 3NF design without sacrificing </a:t>
            </a:r>
            <a:r>
              <a:rPr lang="en-US" altLang="en-US" sz="2400" dirty="0" smtClean="0"/>
              <a:t>loss </a:t>
            </a:r>
            <a:r>
              <a:rPr lang="en-US" altLang="en-US" sz="2400" dirty="0"/>
              <a:t>or dependency preservation. </a:t>
            </a:r>
            <a:endParaRPr lang="en-US" altLang="en-US" sz="2400" dirty="0"/>
          </a:p>
          <a:p>
            <a:r>
              <a:rPr lang="en-US" altLang="en-US" sz="2400" dirty="0"/>
              <a:t>Disadvantages to 3NF. </a:t>
            </a:r>
            <a:endParaRPr lang="en-US" altLang="en-US" sz="2400" dirty="0"/>
          </a:p>
          <a:p>
            <a:pPr lvl="1"/>
            <a:r>
              <a:rPr lang="en-US" altLang="en-US" sz="2400" dirty="0"/>
              <a:t>We may have to use null values to represent some of the possible meaningful relationships among data items.</a:t>
            </a:r>
            <a:endParaRPr lang="en-US" altLang="en-US" sz="2400" dirty="0"/>
          </a:p>
          <a:p>
            <a:pPr lvl="1"/>
            <a:r>
              <a:rPr lang="en-US" altLang="en-US" sz="2400" dirty="0"/>
              <a:t> There is the problem of repetition of information.</a:t>
            </a:r>
            <a:endParaRPr lang="en-US" altLang="en-US" sz="2400" dirty="0"/>
          </a:p>
          <a:p>
            <a:pPr>
              <a:buFont typeface="Monotype Sorts" pitchFamily="-65" charset="2"/>
              <a:buNone/>
            </a:pPr>
            <a:endParaRPr lang="en-US" alt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154" name="Rectangle 2"/>
          <p:cNvSpPr>
            <a:spLocks noGrp="1" noChangeArrowheads="1"/>
          </p:cNvSpPr>
          <p:nvPr>
            <p:ph type="title"/>
          </p:nvPr>
        </p:nvSpPr>
        <p:spPr>
          <a:xfrm>
            <a:off x="1317625" y="184150"/>
            <a:ext cx="6969125" cy="500063"/>
          </a:xfrm>
        </p:spPr>
        <p:txBody>
          <a:bodyPr/>
          <a:lstStyle/>
          <a:p>
            <a:pPr>
              <a:defRPr/>
            </a:pPr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Goals of Normalization</a:t>
            </a:r>
            <a:endParaRPr lang="en-US" altLang="en-US" sz="2800" dirty="0">
              <a:effectLst>
                <a:outerShdw blurRad="38100" dist="38100" dir="2700000" algn="tl">
                  <a:srgbClr val="C0C0C0"/>
                </a:outerShdw>
              </a:effectLst>
              <a:ea typeface="MS PGothic" panose="020B0600070205080204" pitchFamily="34" charset="-128"/>
            </a:endParaRP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72359" y="1093789"/>
            <a:ext cx="7401846" cy="2844227"/>
          </a:xfrm>
        </p:spPr>
        <p:txBody>
          <a:bodyPr/>
          <a:lstStyle/>
          <a:p>
            <a:r>
              <a:rPr lang="en-US" altLang="en-US" sz="2400" dirty="0"/>
              <a:t>Let </a:t>
            </a:r>
            <a:r>
              <a:rPr lang="en-US" altLang="en-US" sz="2400" i="1" dirty="0"/>
              <a:t>R</a:t>
            </a:r>
            <a:r>
              <a:rPr lang="en-US" altLang="en-US" sz="2400" dirty="0"/>
              <a:t> be a relation scheme with a set</a:t>
            </a:r>
            <a:r>
              <a:rPr lang="en-US" altLang="en-US" sz="2400" i="1" dirty="0"/>
              <a:t> F</a:t>
            </a:r>
            <a:r>
              <a:rPr lang="en-US" altLang="en-US" sz="2400" dirty="0"/>
              <a:t> of functional dependencies.</a:t>
            </a:r>
            <a:endParaRPr lang="en-US" altLang="en-US" sz="2400" dirty="0"/>
          </a:p>
          <a:p>
            <a:r>
              <a:rPr lang="en-US" altLang="en-US" sz="2400" dirty="0"/>
              <a:t>Decide whether a relation scheme </a:t>
            </a:r>
            <a:r>
              <a:rPr lang="en-US" altLang="en-US" sz="2400" i="1" dirty="0"/>
              <a:t>R</a:t>
            </a:r>
            <a:r>
              <a:rPr lang="en-US" altLang="en-US" sz="2400" dirty="0"/>
              <a:t> is in </a:t>
            </a:r>
            <a:r>
              <a:rPr lang="ja-JP" altLang="en-US" sz="2400" dirty="0">
                <a:latin typeface="Arial" panose="020B0604020202020204" pitchFamily="34" charset="0"/>
              </a:rPr>
              <a:t>“</a:t>
            </a:r>
            <a:r>
              <a:rPr lang="en-US" altLang="ja-JP" sz="2400" dirty="0"/>
              <a:t>good</a:t>
            </a:r>
            <a:r>
              <a:rPr lang="ja-JP" altLang="en-US" sz="2400" dirty="0">
                <a:latin typeface="Arial" panose="020B0604020202020204" pitchFamily="34" charset="0"/>
              </a:rPr>
              <a:t>”</a:t>
            </a:r>
            <a:r>
              <a:rPr lang="en-US" altLang="ja-JP" sz="2400" dirty="0"/>
              <a:t> form.</a:t>
            </a:r>
            <a:endParaRPr lang="en-US" altLang="ja-JP" sz="2400" dirty="0"/>
          </a:p>
          <a:p>
            <a:r>
              <a:rPr lang="en-US" altLang="en-US" sz="2400" dirty="0"/>
              <a:t>In the case that a relation scheme </a:t>
            </a:r>
            <a:r>
              <a:rPr lang="en-US" altLang="en-US" sz="2400" i="1" dirty="0"/>
              <a:t>R</a:t>
            </a:r>
            <a:r>
              <a:rPr lang="en-US" altLang="en-US" sz="2400" dirty="0"/>
              <a:t> is not in </a:t>
            </a:r>
            <a:r>
              <a:rPr lang="ja-JP" altLang="en-US" sz="2400" dirty="0">
                <a:latin typeface="Arial" panose="020B0604020202020204" pitchFamily="34" charset="0"/>
              </a:rPr>
              <a:t>“</a:t>
            </a:r>
            <a:r>
              <a:rPr lang="en-US" altLang="ja-JP" sz="2400" dirty="0"/>
              <a:t>good</a:t>
            </a:r>
            <a:r>
              <a:rPr lang="ja-JP" altLang="en-US" sz="2400" dirty="0">
                <a:latin typeface="Arial" panose="020B0604020202020204" pitchFamily="34" charset="0"/>
              </a:rPr>
              <a:t>”</a:t>
            </a:r>
            <a:r>
              <a:rPr lang="en-US" altLang="ja-JP" sz="2400" dirty="0"/>
              <a:t> form, need to decompose it into a set of relation scheme  {</a:t>
            </a:r>
            <a:r>
              <a:rPr lang="en-US" altLang="ja-JP" sz="2400" i="1" dirty="0"/>
              <a:t>R</a:t>
            </a:r>
            <a:r>
              <a:rPr lang="en-US" altLang="ja-JP" sz="2400" baseline="-25000" dirty="0"/>
              <a:t>1</a:t>
            </a:r>
            <a:r>
              <a:rPr lang="en-US" altLang="ja-JP" sz="2400" i="1" dirty="0"/>
              <a:t>, R</a:t>
            </a:r>
            <a:r>
              <a:rPr lang="en-US" altLang="ja-JP" sz="2400" baseline="-25000" dirty="0"/>
              <a:t>2</a:t>
            </a:r>
            <a:r>
              <a:rPr lang="en-US" altLang="ja-JP" sz="2400" i="1" dirty="0"/>
              <a:t>, ..., R</a:t>
            </a:r>
            <a:r>
              <a:rPr lang="en-US" altLang="ja-JP" sz="2400" i="1" baseline="-25000" dirty="0"/>
              <a:t>n</a:t>
            </a:r>
            <a:r>
              <a:rPr lang="en-US" altLang="ja-JP" sz="2400" dirty="0"/>
              <a:t>} such that:</a:t>
            </a:r>
            <a:endParaRPr lang="en-US" altLang="ja-JP" sz="2400" dirty="0"/>
          </a:p>
          <a:p>
            <a:pPr lvl="1"/>
            <a:r>
              <a:rPr lang="en-US" altLang="en-US" sz="2400" dirty="0"/>
              <a:t>Each relation scheme is in good form </a:t>
            </a:r>
            <a:endParaRPr lang="en-US" altLang="en-US" sz="2400" dirty="0"/>
          </a:p>
          <a:p>
            <a:pPr lvl="1"/>
            <a:r>
              <a:rPr lang="en-US" altLang="en-US" sz="2400" dirty="0"/>
              <a:t>The decomposition is a lossless decomposition</a:t>
            </a:r>
            <a:endParaRPr lang="en-US" altLang="en-US" sz="2400" dirty="0"/>
          </a:p>
          <a:p>
            <a:pPr lvl="1"/>
            <a:r>
              <a:rPr lang="en-US" altLang="en-US" sz="2400" dirty="0"/>
              <a:t>Preferably, the decomposition should be dependency preserving.</a:t>
            </a:r>
            <a:endParaRPr lang="en-US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70067" y="2927700"/>
            <a:ext cx="6364461" cy="607980"/>
          </a:xfrm>
        </p:spPr>
        <p:txBody>
          <a:bodyPr/>
          <a:lstStyle/>
          <a:p>
            <a:pPr>
              <a:buFont typeface="Monotype Sorts" pitchFamily="-65" charset="2"/>
              <a:buNone/>
              <a:defRPr/>
            </a:pPr>
            <a:r>
              <a:rPr lang="en-US" alt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MS PGothic" panose="020B0600070205080204" pitchFamily="34" charset="-128"/>
                <a:cs typeface="+mj-cs"/>
              </a:rPr>
              <a:t>Functional-Dependency Theory</a:t>
            </a:r>
            <a:endParaRPr lang="en-US" altLang="en-US" sz="3200" b="1" dirty="0"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j-lt"/>
              <a:ea typeface="MS PGothic" panose="020B0600070205080204" pitchFamily="34" charset="-128"/>
              <a:cs typeface="+mj-cs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Functional-Dependency Theory Roadmap</a:t>
            </a:r>
            <a:endParaRPr lang="en-US" altLang="en-US" sz="2800" dirty="0">
              <a:effectLst>
                <a:outerShdw blurRad="38100" dist="38100" dir="2700000" algn="tl">
                  <a:srgbClr val="C0C0C0"/>
                </a:outerShdw>
              </a:effectLst>
              <a:ea typeface="MS PGothic" panose="020B0600070205080204" pitchFamily="34" charset="-128"/>
            </a:endParaRP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23950"/>
            <a:ext cx="7523394" cy="2365208"/>
          </a:xfrm>
        </p:spPr>
        <p:txBody>
          <a:bodyPr/>
          <a:lstStyle/>
          <a:p>
            <a:r>
              <a:rPr lang="en-US" altLang="en-US" sz="2400" dirty="0"/>
              <a:t>We now consider the formal theory that tells us which functional dependencies are implied logically by a given set of functional dependencies.</a:t>
            </a:r>
            <a:endParaRPr lang="en-US" altLang="en-US" sz="2400" dirty="0"/>
          </a:p>
          <a:p>
            <a:r>
              <a:rPr lang="en-US" altLang="en-US" sz="2400" dirty="0"/>
              <a:t>We then develop algorithms to generate lossless decompositions into BCNF and 3NF</a:t>
            </a:r>
            <a:endParaRPr lang="en-US" altLang="en-US" sz="2400" dirty="0"/>
          </a:p>
          <a:p>
            <a:r>
              <a:rPr lang="en-US" altLang="en-US" sz="2400" dirty="0"/>
              <a:t>We then develop algorithms to test if a decomposition is dependency-preserving</a:t>
            </a:r>
            <a:endParaRPr lang="en-US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882234" y="302796"/>
            <a:ext cx="7924800" cy="457200"/>
          </a:xfrm>
        </p:spPr>
        <p:txBody>
          <a:bodyPr/>
          <a:lstStyle/>
          <a:p>
            <a:pPr>
              <a:defRPr/>
            </a:pPr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Closure of a Set of Functional Dependencies</a:t>
            </a:r>
            <a:endParaRPr lang="en-US" altLang="en-US" sz="2800" dirty="0">
              <a:effectLst>
                <a:outerShdw blurRad="38100" dist="38100" dir="2700000" algn="tl">
                  <a:srgbClr val="C0C0C0"/>
                </a:outerShdw>
              </a:effectLst>
              <a:ea typeface="MS PGothic" panose="020B0600070205080204" pitchFamily="34" charset="-128"/>
            </a:endParaRP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72357" y="1137711"/>
            <a:ext cx="7705817" cy="2620461"/>
          </a:xfrm>
        </p:spPr>
        <p:txBody>
          <a:bodyPr/>
          <a:lstStyle/>
          <a:p>
            <a:r>
              <a:rPr lang="en-US" altLang="en-US" sz="2400" dirty="0"/>
              <a:t>Given a set </a:t>
            </a:r>
            <a:r>
              <a:rPr lang="en-US" altLang="en-US" sz="2400" i="1" dirty="0"/>
              <a:t>F</a:t>
            </a:r>
            <a:r>
              <a:rPr lang="en-US" altLang="en-US" sz="2400" dirty="0"/>
              <a:t> set of functional dependencies, there are certain other functional dependencies that are logically implied by </a:t>
            </a:r>
            <a:r>
              <a:rPr lang="en-US" altLang="en-US" sz="2400" i="1" dirty="0"/>
              <a:t>F</a:t>
            </a:r>
            <a:r>
              <a:rPr lang="en-US" altLang="en-US" sz="2400" dirty="0"/>
              <a:t>.</a:t>
            </a:r>
            <a:endParaRPr lang="en-US" altLang="en-US" sz="2400" dirty="0"/>
          </a:p>
          <a:p>
            <a:pPr lvl="1"/>
            <a:r>
              <a:rPr lang="en-US" altLang="en-US" sz="2400" dirty="0"/>
              <a:t> If  </a:t>
            </a:r>
            <a:r>
              <a:rPr lang="en-US" altLang="en-US" sz="2400" i="1" dirty="0"/>
              <a:t>A</a:t>
            </a:r>
            <a:r>
              <a:rPr lang="en-US" altLang="en-US" sz="2400" dirty="0"/>
              <a:t> </a:t>
            </a:r>
            <a:r>
              <a:rPr lang="en-US" altLang="en-US" sz="2400" dirty="0">
                <a:sym typeface="Symbol" panose="05050102010706020507" pitchFamily="18" charset="2"/>
              </a:rPr>
              <a:t></a:t>
            </a:r>
            <a:r>
              <a:rPr lang="en-US" altLang="en-US" sz="2400" dirty="0">
                <a:sym typeface="Monotype Sorts" pitchFamily="-65" charset="2"/>
              </a:rPr>
              <a:t> </a:t>
            </a:r>
            <a:r>
              <a:rPr lang="en-US" altLang="en-US" sz="2400" i="1" dirty="0">
                <a:sym typeface="Monotype Sorts" pitchFamily="-65" charset="2"/>
              </a:rPr>
              <a:t>B</a:t>
            </a:r>
            <a:r>
              <a:rPr lang="en-US" altLang="en-US" sz="2400" dirty="0">
                <a:sym typeface="Monotype Sorts" pitchFamily="-65" charset="2"/>
              </a:rPr>
              <a:t> and  </a:t>
            </a:r>
            <a:r>
              <a:rPr lang="en-US" altLang="en-US" sz="2400" i="1" dirty="0">
                <a:sym typeface="Monotype Sorts" pitchFamily="-65" charset="2"/>
              </a:rPr>
              <a:t>B</a:t>
            </a:r>
            <a:r>
              <a:rPr lang="en-US" altLang="en-US" sz="2400" dirty="0">
                <a:sym typeface="Monotype Sorts" pitchFamily="-65" charset="2"/>
              </a:rPr>
              <a:t> </a:t>
            </a:r>
            <a:r>
              <a:rPr lang="en-US" altLang="en-US" sz="2400" dirty="0">
                <a:sym typeface="Symbol" panose="05050102010706020507" pitchFamily="18" charset="2"/>
              </a:rPr>
              <a:t></a:t>
            </a:r>
            <a:r>
              <a:rPr lang="en-US" altLang="en-US" sz="2400" dirty="0">
                <a:sym typeface="Monotype Sorts" pitchFamily="-65" charset="2"/>
              </a:rPr>
              <a:t> </a:t>
            </a:r>
            <a:r>
              <a:rPr lang="en-US" altLang="en-US" sz="2400" i="1" dirty="0">
                <a:sym typeface="Monotype Sorts" pitchFamily="-65" charset="2"/>
              </a:rPr>
              <a:t>C</a:t>
            </a:r>
            <a:r>
              <a:rPr lang="en-US" altLang="en-US" sz="2400" dirty="0">
                <a:sym typeface="Monotype Sorts" pitchFamily="-65" charset="2"/>
              </a:rPr>
              <a:t>,  then we can infer that </a:t>
            </a:r>
            <a:r>
              <a:rPr lang="en-US" altLang="en-US" sz="2400" i="1" dirty="0">
                <a:sym typeface="Monotype Sorts" pitchFamily="-65" charset="2"/>
              </a:rPr>
              <a:t>A</a:t>
            </a:r>
            <a:r>
              <a:rPr lang="en-US" altLang="en-US" sz="2400" dirty="0">
                <a:sym typeface="Monotype Sorts" pitchFamily="-65" charset="2"/>
              </a:rPr>
              <a:t> </a:t>
            </a:r>
            <a:r>
              <a:rPr lang="en-US" altLang="en-US" sz="2400" dirty="0">
                <a:sym typeface="Symbol" panose="05050102010706020507" pitchFamily="18" charset="2"/>
              </a:rPr>
              <a:t></a:t>
            </a:r>
            <a:r>
              <a:rPr lang="en-US" altLang="en-US" sz="2400" dirty="0">
                <a:sym typeface="Monotype Sorts" pitchFamily="-65" charset="2"/>
              </a:rPr>
              <a:t> C</a:t>
            </a:r>
            <a:endParaRPr lang="en-US" altLang="en-US" sz="2400" dirty="0">
              <a:sym typeface="Monotype Sorts" pitchFamily="-65" charset="2"/>
            </a:endParaRPr>
          </a:p>
          <a:p>
            <a:pPr lvl="1"/>
            <a:r>
              <a:rPr lang="en-US" altLang="en-US" sz="2400" dirty="0">
                <a:sym typeface="Monotype Sorts" pitchFamily="-65" charset="2"/>
              </a:rPr>
              <a:t>etc.</a:t>
            </a:r>
            <a:endParaRPr lang="en-US" altLang="en-US" sz="2400" dirty="0"/>
          </a:p>
          <a:p>
            <a:r>
              <a:rPr lang="en-US" altLang="en-US" sz="2400" dirty="0"/>
              <a:t>The set of </a:t>
            </a:r>
            <a:r>
              <a:rPr lang="en-US" altLang="en-US" sz="2400" b="1" dirty="0">
                <a:solidFill>
                  <a:srgbClr val="002060"/>
                </a:solidFill>
              </a:rPr>
              <a:t>all</a:t>
            </a:r>
            <a:r>
              <a:rPr lang="en-US" altLang="en-US" sz="2400" dirty="0">
                <a:solidFill>
                  <a:srgbClr val="002060"/>
                </a:solidFill>
              </a:rPr>
              <a:t> </a:t>
            </a:r>
            <a:r>
              <a:rPr lang="en-US" altLang="en-US" sz="2400" dirty="0"/>
              <a:t>functional dependencies logically implied by </a:t>
            </a:r>
            <a:r>
              <a:rPr lang="en-US" altLang="en-US" sz="2400" i="1" dirty="0"/>
              <a:t>F</a:t>
            </a:r>
            <a:r>
              <a:rPr lang="en-US" altLang="en-US" sz="2400" dirty="0"/>
              <a:t> is the </a:t>
            </a:r>
            <a:r>
              <a:rPr lang="en-US" altLang="en-US" sz="2400" b="1" dirty="0">
                <a:solidFill>
                  <a:srgbClr val="002060"/>
                </a:solidFill>
              </a:rPr>
              <a:t>closure</a:t>
            </a:r>
            <a:r>
              <a:rPr lang="en-US" altLang="en-US" sz="2400" dirty="0"/>
              <a:t> of </a:t>
            </a:r>
            <a:r>
              <a:rPr lang="en-US" altLang="en-US" sz="2400" i="1" dirty="0"/>
              <a:t>F</a:t>
            </a:r>
            <a:r>
              <a:rPr lang="en-US" altLang="en-US" sz="2400" dirty="0"/>
              <a:t>.</a:t>
            </a:r>
            <a:endParaRPr lang="en-US" altLang="en-US" sz="2400" dirty="0"/>
          </a:p>
          <a:p>
            <a:r>
              <a:rPr lang="en-US" altLang="en-US" sz="2400" dirty="0"/>
              <a:t>We denote the </a:t>
            </a:r>
            <a:r>
              <a:rPr lang="en-US" altLang="en-US" sz="2400" i="1" dirty="0"/>
              <a:t>closure </a:t>
            </a:r>
            <a:r>
              <a:rPr lang="en-US" altLang="en-US" sz="2400" dirty="0"/>
              <a:t>of </a:t>
            </a:r>
            <a:r>
              <a:rPr lang="en-US" altLang="en-US" sz="2400" i="1" dirty="0"/>
              <a:t>F</a:t>
            </a:r>
            <a:r>
              <a:rPr lang="en-US" altLang="en-US" sz="2400" dirty="0"/>
              <a:t> by </a:t>
            </a:r>
            <a:r>
              <a:rPr lang="en-US" altLang="en-US" sz="2400" b="1" i="1" dirty="0">
                <a:solidFill>
                  <a:srgbClr val="002060"/>
                </a:solidFill>
              </a:rPr>
              <a:t>F</a:t>
            </a:r>
            <a:r>
              <a:rPr lang="en-US" altLang="en-US" sz="2400" b="1" i="1" baseline="44000" dirty="0" smtClean="0">
                <a:solidFill>
                  <a:srgbClr val="002060"/>
                </a:solidFill>
              </a:rPr>
              <a:t>+</a:t>
            </a:r>
            <a:r>
              <a:rPr lang="en-US" altLang="en-US" sz="2400" i="1" dirty="0" smtClean="0">
                <a:solidFill>
                  <a:srgbClr val="000099"/>
                </a:solidFill>
              </a:rPr>
              <a:t>.</a:t>
            </a:r>
            <a:endParaRPr lang="en-US" altLang="en-US" sz="2400" i="1" dirty="0" smtClean="0">
              <a:solidFill>
                <a:srgbClr val="000099"/>
              </a:solidFill>
            </a:endParaRPr>
          </a:p>
          <a:p>
            <a:r>
              <a:rPr lang="en-US" altLang="zh-CN" sz="2400" i="1" dirty="0" smtClean="0">
                <a:solidFill>
                  <a:srgbClr val="FF0000"/>
                </a:solidFill>
              </a:rPr>
              <a:t>Why</a:t>
            </a:r>
            <a:r>
              <a:rPr lang="zh-CN" altLang="en-US" sz="2400" i="1" dirty="0" smtClean="0">
                <a:solidFill>
                  <a:srgbClr val="FF0000"/>
                </a:solidFill>
              </a:rPr>
              <a:t>？</a:t>
            </a:r>
            <a:endParaRPr lang="en-US" altLang="en-US" sz="2400" i="1" dirty="0">
              <a:solidFill>
                <a:srgbClr val="FF0000"/>
              </a:solidFill>
            </a:endParaRPr>
          </a:p>
          <a:p>
            <a:endParaRPr lang="en-US" altLang="en-US" dirty="0">
              <a:sym typeface="Greek Symbol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22" name="Rectangle 2"/>
          <p:cNvSpPr>
            <a:spLocks noGrp="1" noChangeArrowheads="1"/>
          </p:cNvSpPr>
          <p:nvPr>
            <p:ph type="title"/>
          </p:nvPr>
        </p:nvSpPr>
        <p:spPr>
          <a:xfrm>
            <a:off x="977900" y="304800"/>
            <a:ext cx="7924800" cy="457200"/>
          </a:xfrm>
        </p:spPr>
        <p:txBody>
          <a:bodyPr/>
          <a:lstStyle/>
          <a:p>
            <a:pPr>
              <a:defRPr/>
            </a:pPr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Closure of a Set of Functional Dependencies</a:t>
            </a:r>
            <a:endParaRPr lang="en-US" altLang="en-US" sz="2800" dirty="0">
              <a:effectLst>
                <a:outerShdw blurRad="38100" dist="38100" dir="2700000" algn="tl">
                  <a:srgbClr val="C0C0C0"/>
                </a:outerShdw>
              </a:effectLst>
              <a:ea typeface="MS PGothic" panose="020B0600070205080204" pitchFamily="34" charset="-128"/>
            </a:endParaRP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6714" y="1303808"/>
            <a:ext cx="7976972" cy="3105654"/>
          </a:xfrm>
        </p:spPr>
        <p:txBody>
          <a:bodyPr/>
          <a:lstStyle/>
          <a:p>
            <a:r>
              <a:rPr lang="en-US" altLang="en-US" sz="2400" dirty="0"/>
              <a:t>We can compute F</a:t>
            </a:r>
            <a:r>
              <a:rPr lang="en-US" altLang="en-US" sz="2400" i="1" baseline="30000" dirty="0"/>
              <a:t>+</a:t>
            </a:r>
            <a:r>
              <a:rPr lang="en-US" altLang="en-US" sz="2400" i="1" dirty="0"/>
              <a:t>,</a:t>
            </a:r>
            <a:r>
              <a:rPr lang="en-US" altLang="en-US" sz="2400" dirty="0"/>
              <a:t> the closure of F, by repeatedly applying </a:t>
            </a:r>
            <a:r>
              <a:rPr lang="en-US" altLang="en-US" sz="2400" b="1" dirty="0">
                <a:solidFill>
                  <a:srgbClr val="002060"/>
                </a:solidFill>
              </a:rPr>
              <a:t>Armstrong</a:t>
            </a:r>
            <a:r>
              <a:rPr lang="en-US" altLang="en-US" sz="2400" b="1" dirty="0">
                <a:solidFill>
                  <a:srgbClr val="002060"/>
                </a:solidFill>
                <a:latin typeface="Arial" panose="020B0604020202020204" pitchFamily="34" charset="0"/>
              </a:rPr>
              <a:t>’</a:t>
            </a:r>
            <a:r>
              <a:rPr lang="en-US" altLang="ja-JP" sz="2400" b="1" dirty="0">
                <a:solidFill>
                  <a:srgbClr val="002060"/>
                </a:solidFill>
              </a:rPr>
              <a:t>s Axioms</a:t>
            </a:r>
            <a:r>
              <a:rPr lang="en-US" altLang="ja-JP" sz="2400" b="1" dirty="0">
                <a:solidFill>
                  <a:srgbClr val="000099"/>
                </a:solidFill>
              </a:rPr>
              <a:t>:</a:t>
            </a:r>
            <a:endParaRPr lang="en-US" altLang="ja-JP" sz="2400" b="1" dirty="0">
              <a:solidFill>
                <a:srgbClr val="000099"/>
              </a:solidFill>
            </a:endParaRPr>
          </a:p>
          <a:p>
            <a:pPr lvl="1"/>
            <a:r>
              <a:rPr lang="en-US" altLang="en-US" sz="2400" b="1" dirty="0">
                <a:sym typeface="Symbol" panose="05050102010706020507" pitchFamily="18" charset="2"/>
              </a:rPr>
              <a:t>Reflexive rule:</a:t>
            </a:r>
            <a:r>
              <a:rPr lang="en-US" altLang="en-US" sz="2400" dirty="0"/>
              <a:t> if </a:t>
            </a:r>
            <a:r>
              <a:rPr lang="en-US" altLang="en-US" sz="2400" i="1" dirty="0">
                <a:sym typeface="Symbol" panose="05050102010706020507" pitchFamily="18" charset="2"/>
              </a:rPr>
              <a:t></a:t>
            </a:r>
            <a:r>
              <a:rPr lang="en-US" altLang="en-US" sz="2400" dirty="0">
                <a:sym typeface="Symbol" panose="05050102010706020507" pitchFamily="18" charset="2"/>
              </a:rPr>
              <a:t>  , then  </a:t>
            </a:r>
            <a:r>
              <a:rPr lang="en-US" altLang="en-US" sz="2400" dirty="0">
                <a:sym typeface="Monotype Sorts" pitchFamily="-65" charset="2"/>
              </a:rPr>
              <a:t> </a:t>
            </a:r>
            <a:r>
              <a:rPr lang="en-US" altLang="en-US" sz="2400" i="1" dirty="0">
                <a:sym typeface="Symbol" panose="05050102010706020507" pitchFamily="18" charset="2"/>
              </a:rPr>
              <a:t>  </a:t>
            </a:r>
            <a:endParaRPr lang="en-US" altLang="en-US" sz="2400" dirty="0">
              <a:sym typeface="Symbol" panose="05050102010706020507" pitchFamily="18" charset="2"/>
            </a:endParaRPr>
          </a:p>
          <a:p>
            <a:pPr lvl="1"/>
            <a:r>
              <a:rPr lang="en-US" altLang="en-US" sz="2400" b="1" dirty="0">
                <a:sym typeface="Symbol" panose="05050102010706020507" pitchFamily="18" charset="2"/>
              </a:rPr>
              <a:t>Augmentation  rule</a:t>
            </a:r>
            <a:r>
              <a:rPr lang="en-US" altLang="en-US" sz="2400" b="1" dirty="0">
                <a:solidFill>
                  <a:srgbClr val="000099"/>
                </a:solidFill>
                <a:sym typeface="Symbol" panose="05050102010706020507" pitchFamily="18" charset="2"/>
              </a:rPr>
              <a:t>: </a:t>
            </a:r>
            <a:r>
              <a:rPr lang="en-US" altLang="en-US" sz="2400" dirty="0">
                <a:sym typeface="Symbol" panose="05050102010706020507" pitchFamily="18" charset="2"/>
              </a:rPr>
              <a:t>if  </a:t>
            </a:r>
            <a:r>
              <a:rPr lang="en-US" altLang="en-US" sz="2400" dirty="0">
                <a:sym typeface="Monotype Sorts" pitchFamily="-65" charset="2"/>
              </a:rPr>
              <a:t> </a:t>
            </a:r>
            <a:r>
              <a:rPr lang="en-US" altLang="en-US" sz="2400" i="1" dirty="0">
                <a:sym typeface="Symbol" panose="05050102010706020507" pitchFamily="18" charset="2"/>
              </a:rPr>
              <a:t>, </a:t>
            </a:r>
            <a:r>
              <a:rPr lang="en-US" altLang="en-US" sz="2400" dirty="0">
                <a:sym typeface="Symbol" panose="05050102010706020507" pitchFamily="18" charset="2"/>
              </a:rPr>
              <a:t>then </a:t>
            </a:r>
            <a:r>
              <a:rPr lang="en-US" altLang="en-US" sz="2400" dirty="0">
                <a:sym typeface="Greek Symbols"/>
              </a:rPr>
              <a:t> </a:t>
            </a:r>
            <a:r>
              <a:rPr lang="en-US" altLang="en-US" sz="2400" dirty="0">
                <a:sym typeface="Symbol" panose="05050102010706020507" pitchFamily="18" charset="2"/>
              </a:rPr>
              <a:t> </a:t>
            </a:r>
            <a:r>
              <a:rPr lang="en-US" altLang="en-US" sz="2400" dirty="0">
                <a:sym typeface="Monotype Sorts" pitchFamily="-65" charset="2"/>
              </a:rPr>
              <a:t> </a:t>
            </a:r>
            <a:r>
              <a:rPr lang="en-US" altLang="en-US" sz="2400" dirty="0">
                <a:sym typeface="Symbol" panose="05050102010706020507" pitchFamily="18" charset="2"/>
              </a:rPr>
              <a:t> </a:t>
            </a:r>
            <a:r>
              <a:rPr lang="en-US" altLang="en-US" sz="2400" dirty="0">
                <a:sym typeface="Monotype Sorts" pitchFamily="-65" charset="2"/>
              </a:rPr>
              <a:t> </a:t>
            </a:r>
            <a:r>
              <a:rPr lang="en-US" altLang="en-US" sz="2400" i="1" dirty="0">
                <a:sym typeface="Symbol" panose="05050102010706020507" pitchFamily="18" charset="2"/>
              </a:rPr>
              <a:t></a:t>
            </a:r>
            <a:endParaRPr lang="en-US" altLang="en-US" sz="2400" dirty="0">
              <a:sym typeface="Symbol" panose="05050102010706020507" pitchFamily="18" charset="2"/>
            </a:endParaRPr>
          </a:p>
          <a:p>
            <a:pPr lvl="1"/>
            <a:r>
              <a:rPr lang="en-US" altLang="en-US" sz="2400" b="1" dirty="0">
                <a:sym typeface="Symbol" panose="05050102010706020507" pitchFamily="18" charset="2"/>
              </a:rPr>
              <a:t>Transitivity rule</a:t>
            </a:r>
            <a:r>
              <a:rPr lang="en-US" altLang="en-US" sz="2400" b="1" dirty="0">
                <a:solidFill>
                  <a:srgbClr val="000099"/>
                </a:solidFill>
                <a:sym typeface="Symbol" panose="05050102010706020507" pitchFamily="18" charset="2"/>
              </a:rPr>
              <a:t>:  </a:t>
            </a:r>
            <a:r>
              <a:rPr lang="en-US" altLang="en-US" sz="2400" dirty="0">
                <a:sym typeface="Symbol" panose="05050102010706020507" pitchFamily="18" charset="2"/>
              </a:rPr>
              <a:t>if  </a:t>
            </a:r>
            <a:r>
              <a:rPr lang="en-US" altLang="en-US" sz="2400" dirty="0">
                <a:sym typeface="Monotype Sorts" pitchFamily="-65" charset="2"/>
              </a:rPr>
              <a:t> </a:t>
            </a:r>
            <a:r>
              <a:rPr lang="en-US" altLang="en-US" sz="2400" i="1" dirty="0">
                <a:sym typeface="Symbol" panose="05050102010706020507" pitchFamily="18" charset="2"/>
              </a:rPr>
              <a:t>, </a:t>
            </a:r>
            <a:r>
              <a:rPr lang="en-US" altLang="en-US" sz="2400" dirty="0">
                <a:sym typeface="Symbol" panose="05050102010706020507" pitchFamily="18" charset="2"/>
              </a:rPr>
              <a:t>and </a:t>
            </a:r>
            <a:r>
              <a:rPr lang="en-US" altLang="en-US" sz="2400" i="1" dirty="0">
                <a:sym typeface="Symbol" panose="05050102010706020507" pitchFamily="18" charset="2"/>
              </a:rPr>
              <a:t> </a:t>
            </a:r>
            <a:r>
              <a:rPr lang="en-US" altLang="en-US" sz="2400" dirty="0">
                <a:sym typeface="Symbol" panose="05050102010706020507" pitchFamily="18" charset="2"/>
              </a:rPr>
              <a:t> </a:t>
            </a:r>
            <a:r>
              <a:rPr lang="en-US" altLang="en-US" sz="2400" dirty="0">
                <a:sym typeface="Monotype Sorts" pitchFamily="-65" charset="2"/>
              </a:rPr>
              <a:t>, then </a:t>
            </a:r>
            <a:r>
              <a:rPr lang="en-US" altLang="en-US" sz="2400" dirty="0">
                <a:sym typeface="Symbol" panose="05050102010706020507" pitchFamily="18" charset="2"/>
              </a:rPr>
              <a:t> </a:t>
            </a:r>
            <a:r>
              <a:rPr lang="en-US" altLang="en-US" sz="2400" dirty="0">
                <a:sym typeface="Monotype Sorts" pitchFamily="-65" charset="2"/>
              </a:rPr>
              <a:t> </a:t>
            </a:r>
            <a:r>
              <a:rPr lang="en-US" altLang="en-US" sz="2400" dirty="0">
                <a:sym typeface="Symbol" panose="05050102010706020507" pitchFamily="18" charset="2"/>
              </a:rPr>
              <a:t> </a:t>
            </a:r>
            <a:endParaRPr lang="en-US" altLang="en-US" sz="2400" b="1" dirty="0">
              <a:sym typeface="Greek Symbols"/>
            </a:endParaRPr>
          </a:p>
          <a:p>
            <a:r>
              <a:rPr lang="en-US" altLang="en-US" sz="2400" dirty="0">
                <a:sym typeface="Greek Symbols"/>
              </a:rPr>
              <a:t>These rules are </a:t>
            </a:r>
            <a:endParaRPr lang="en-US" altLang="en-US" sz="2400" dirty="0">
              <a:sym typeface="Greek Symbols"/>
            </a:endParaRPr>
          </a:p>
          <a:p>
            <a:pPr lvl="1"/>
            <a:r>
              <a:rPr lang="en-US" altLang="en-US" sz="2400" b="1" dirty="0">
                <a:solidFill>
                  <a:srgbClr val="002060"/>
                </a:solidFill>
                <a:sym typeface="Greek Symbols"/>
              </a:rPr>
              <a:t>Sound</a:t>
            </a:r>
            <a:r>
              <a:rPr lang="en-US" altLang="en-US" sz="2400" dirty="0">
                <a:solidFill>
                  <a:srgbClr val="002060"/>
                </a:solidFill>
                <a:sym typeface="Greek Symbols"/>
              </a:rPr>
              <a:t> </a:t>
            </a:r>
            <a:r>
              <a:rPr lang="en-US" altLang="en-US" sz="2400" dirty="0">
                <a:sym typeface="Greek Symbols"/>
              </a:rPr>
              <a:t>-- generate only functional dependencies that actually hold,  and </a:t>
            </a:r>
            <a:endParaRPr lang="en-US" altLang="en-US" sz="2400" dirty="0">
              <a:sym typeface="Greek Symbols"/>
            </a:endParaRPr>
          </a:p>
          <a:p>
            <a:pPr lvl="1"/>
            <a:r>
              <a:rPr lang="en-US" altLang="en-US" sz="2400" b="1" dirty="0">
                <a:solidFill>
                  <a:srgbClr val="002060"/>
                </a:solidFill>
                <a:sym typeface="Greek Symbols"/>
              </a:rPr>
              <a:t>Complete</a:t>
            </a:r>
            <a:r>
              <a:rPr lang="en-US" altLang="en-US" sz="2400" dirty="0">
                <a:sym typeface="Greek Symbols"/>
              </a:rPr>
              <a:t>  -- generate all functional dependencies that hold.</a:t>
            </a:r>
            <a:endParaRPr lang="en-US" altLang="en-US" sz="2400" dirty="0">
              <a:sym typeface="Greek Symbols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Example of </a:t>
            </a:r>
            <a:r>
              <a:rPr lang="en-US" altLang="en-US" dirty="0">
                <a:sym typeface="MS LineDraw"/>
              </a:rPr>
              <a:t> </a:t>
            </a:r>
            <a:r>
              <a:rPr lang="en-US" altLang="en-US" i="1" dirty="0">
                <a:sym typeface="MS LineDraw"/>
              </a:rPr>
              <a:t>F</a:t>
            </a:r>
            <a:r>
              <a:rPr lang="en-US" altLang="en-US" baseline="30000" dirty="0">
                <a:sym typeface="MS LineDraw"/>
              </a:rPr>
              <a:t>+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  <a:ea typeface="MS PGothic" panose="020B0600070205080204" pitchFamily="34" charset="-128"/>
            </a:endParaRPr>
          </a:p>
        </p:txBody>
      </p:sp>
      <p:sp>
        <p:nvSpPr>
          <p:cNvPr id="7014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07803"/>
            <a:ext cx="7873858" cy="4975225"/>
          </a:xfrm>
        </p:spPr>
        <p:txBody>
          <a:bodyPr/>
          <a:lstStyle/>
          <a:p>
            <a:pPr>
              <a:tabLst>
                <a:tab pos="803275" algn="l"/>
              </a:tabLst>
            </a:pPr>
            <a:r>
              <a:rPr lang="en-US" altLang="en-US" i="1" dirty="0"/>
              <a:t>R = (A, B, C, G, H, I)</a:t>
            </a:r>
            <a:br>
              <a:rPr lang="en-US" altLang="en-US" i="1" dirty="0"/>
            </a:br>
            <a:r>
              <a:rPr lang="en-US" altLang="en-US" i="1" dirty="0"/>
              <a:t>F = </a:t>
            </a:r>
            <a:r>
              <a:rPr lang="en-US" altLang="en-US" dirty="0"/>
              <a:t>{ </a:t>
            </a:r>
            <a:r>
              <a:rPr lang="en-US" altLang="en-US" i="1" dirty="0">
                <a:sym typeface="Iconic Symbols Ext"/>
              </a:rPr>
              <a:t>A </a:t>
            </a:r>
            <a:r>
              <a:rPr lang="en-US" altLang="en-US" dirty="0">
                <a:sym typeface="Symbol" panose="05050102010706020507" pitchFamily="18" charset="2"/>
              </a:rPr>
              <a:t></a:t>
            </a:r>
            <a:r>
              <a:rPr lang="en-US" altLang="en-US" dirty="0">
                <a:sym typeface="Monotype Sorts" pitchFamily="-65" charset="2"/>
              </a:rPr>
              <a:t> </a:t>
            </a:r>
            <a:r>
              <a:rPr lang="en-US" altLang="en-US" i="1" dirty="0">
                <a:sym typeface="Monotype Sorts" pitchFamily="-65" charset="2"/>
              </a:rPr>
              <a:t>B</a:t>
            </a:r>
            <a:br>
              <a:rPr lang="en-US" altLang="en-US" i="1" dirty="0">
                <a:sym typeface="Monotype Sorts" pitchFamily="-65" charset="2"/>
              </a:rPr>
            </a:br>
            <a:r>
              <a:rPr lang="en-US" altLang="en-US" i="1" dirty="0">
                <a:sym typeface="Monotype Sorts" pitchFamily="-65" charset="2"/>
              </a:rPr>
              <a:t>	 </a:t>
            </a:r>
            <a:r>
              <a:rPr lang="en-US" altLang="en-US" i="1" dirty="0">
                <a:sym typeface="Iconic Symbols Ext"/>
              </a:rPr>
              <a:t>A </a:t>
            </a:r>
            <a:r>
              <a:rPr lang="en-US" altLang="en-US" dirty="0">
                <a:sym typeface="Symbol" panose="05050102010706020507" pitchFamily="18" charset="2"/>
              </a:rPr>
              <a:t></a:t>
            </a:r>
            <a:r>
              <a:rPr lang="en-US" altLang="en-US" dirty="0">
                <a:sym typeface="Monotype Sorts" pitchFamily="-65" charset="2"/>
              </a:rPr>
              <a:t> </a:t>
            </a:r>
            <a:r>
              <a:rPr lang="en-US" altLang="en-US" i="1" dirty="0">
                <a:sym typeface="Monotype Sorts" pitchFamily="-65" charset="2"/>
              </a:rPr>
              <a:t>C</a:t>
            </a:r>
            <a:br>
              <a:rPr lang="en-US" altLang="en-US" i="1" dirty="0">
                <a:sym typeface="Monotype Sorts" pitchFamily="-65" charset="2"/>
              </a:rPr>
            </a:br>
            <a:r>
              <a:rPr lang="en-US" altLang="en-US" i="1" dirty="0">
                <a:sym typeface="Monotype Sorts" pitchFamily="-65" charset="2"/>
              </a:rPr>
              <a:t>	</a:t>
            </a:r>
            <a:r>
              <a:rPr lang="en-US" altLang="en-US" i="1" dirty="0">
                <a:sym typeface="Iconic Symbols Ext"/>
              </a:rPr>
              <a:t>CG </a:t>
            </a:r>
            <a:r>
              <a:rPr lang="en-US" altLang="en-US" dirty="0">
                <a:sym typeface="Symbol" panose="05050102010706020507" pitchFamily="18" charset="2"/>
              </a:rPr>
              <a:t></a:t>
            </a:r>
            <a:r>
              <a:rPr lang="en-US" altLang="en-US" dirty="0">
                <a:sym typeface="Monotype Sorts" pitchFamily="-65" charset="2"/>
              </a:rPr>
              <a:t> </a:t>
            </a:r>
            <a:r>
              <a:rPr lang="en-US" altLang="en-US" i="1" dirty="0">
                <a:sym typeface="Monotype Sorts" pitchFamily="-65" charset="2"/>
              </a:rPr>
              <a:t>H</a:t>
            </a:r>
            <a:br>
              <a:rPr lang="en-US" altLang="en-US" i="1" dirty="0">
                <a:sym typeface="Monotype Sorts" pitchFamily="-65" charset="2"/>
              </a:rPr>
            </a:br>
            <a:r>
              <a:rPr lang="en-US" altLang="en-US" i="1" dirty="0">
                <a:sym typeface="Monotype Sorts" pitchFamily="-65" charset="2"/>
              </a:rPr>
              <a:t>	</a:t>
            </a:r>
            <a:r>
              <a:rPr lang="en-US" altLang="en-US" i="1" dirty="0">
                <a:sym typeface="Iconic Symbols Ext"/>
              </a:rPr>
              <a:t>CG </a:t>
            </a:r>
            <a:r>
              <a:rPr lang="en-US" altLang="en-US" dirty="0">
                <a:sym typeface="Symbol" panose="05050102010706020507" pitchFamily="18" charset="2"/>
              </a:rPr>
              <a:t></a:t>
            </a:r>
            <a:r>
              <a:rPr lang="en-US" altLang="en-US" dirty="0">
                <a:sym typeface="Monotype Sorts" pitchFamily="-65" charset="2"/>
              </a:rPr>
              <a:t> </a:t>
            </a:r>
            <a:r>
              <a:rPr lang="en-US" altLang="en-US" i="1" dirty="0">
                <a:sym typeface="Monotype Sorts" pitchFamily="-65" charset="2"/>
              </a:rPr>
              <a:t>I</a:t>
            </a:r>
            <a:br>
              <a:rPr lang="en-US" altLang="en-US" i="1" dirty="0">
                <a:sym typeface="Monotype Sorts" pitchFamily="-65" charset="2"/>
              </a:rPr>
            </a:br>
            <a:r>
              <a:rPr lang="en-US" altLang="en-US" i="1" dirty="0">
                <a:sym typeface="Monotype Sorts" pitchFamily="-65" charset="2"/>
              </a:rPr>
              <a:t>	 </a:t>
            </a:r>
            <a:r>
              <a:rPr lang="en-US" altLang="en-US" i="1" dirty="0">
                <a:sym typeface="Iconic Symbols Ext"/>
              </a:rPr>
              <a:t>B </a:t>
            </a:r>
            <a:r>
              <a:rPr lang="en-US" altLang="en-US" dirty="0">
                <a:sym typeface="Symbol" panose="05050102010706020507" pitchFamily="18" charset="2"/>
              </a:rPr>
              <a:t></a:t>
            </a:r>
            <a:r>
              <a:rPr lang="en-US" altLang="en-US" dirty="0">
                <a:sym typeface="Monotype Sorts" pitchFamily="-65" charset="2"/>
              </a:rPr>
              <a:t> </a:t>
            </a:r>
            <a:r>
              <a:rPr lang="en-US" altLang="en-US" i="1" dirty="0">
                <a:sym typeface="Monotype Sorts" pitchFamily="-65" charset="2"/>
              </a:rPr>
              <a:t>H</a:t>
            </a:r>
            <a:r>
              <a:rPr lang="en-US" altLang="en-US" dirty="0">
                <a:sym typeface="Monotype Sorts" pitchFamily="-65" charset="2"/>
              </a:rPr>
              <a:t>}</a:t>
            </a:r>
            <a:endParaRPr lang="en-US" altLang="en-US" dirty="0">
              <a:sym typeface="MS LineDraw"/>
            </a:endParaRPr>
          </a:p>
          <a:p>
            <a:pPr>
              <a:tabLst>
                <a:tab pos="803275" algn="l"/>
              </a:tabLst>
            </a:pPr>
            <a:r>
              <a:rPr lang="en-US" altLang="en-US" dirty="0">
                <a:sym typeface="MS LineDraw"/>
              </a:rPr>
              <a:t>Some members of </a:t>
            </a:r>
            <a:r>
              <a:rPr lang="en-US" altLang="en-US" i="1" dirty="0">
                <a:sym typeface="MS LineDraw"/>
              </a:rPr>
              <a:t>F</a:t>
            </a:r>
            <a:r>
              <a:rPr lang="en-US" altLang="en-US" baseline="30000" dirty="0">
                <a:sym typeface="MS LineDraw"/>
              </a:rPr>
              <a:t>+</a:t>
            </a:r>
            <a:endParaRPr lang="en-US" altLang="en-US" dirty="0">
              <a:sym typeface="MS LineDraw"/>
            </a:endParaRPr>
          </a:p>
          <a:p>
            <a:pPr lvl="1">
              <a:tabLst>
                <a:tab pos="803275" algn="l"/>
              </a:tabLst>
            </a:pPr>
            <a:r>
              <a:rPr lang="en-US" altLang="en-US" i="1" dirty="0">
                <a:sym typeface="Monotype Sorts" pitchFamily="-65" charset="2"/>
              </a:rPr>
              <a:t>A </a:t>
            </a:r>
            <a:r>
              <a:rPr lang="en-US" altLang="en-US" dirty="0">
                <a:sym typeface="Symbol" panose="05050102010706020507" pitchFamily="18" charset="2"/>
              </a:rPr>
              <a:t></a:t>
            </a:r>
            <a:r>
              <a:rPr lang="en-US" altLang="en-US" dirty="0">
                <a:sym typeface="Monotype Sorts" pitchFamily="-65" charset="2"/>
              </a:rPr>
              <a:t> </a:t>
            </a:r>
            <a:r>
              <a:rPr lang="en-US" altLang="en-US" i="1" dirty="0">
                <a:sym typeface="Monotype Sorts" pitchFamily="-65" charset="2"/>
              </a:rPr>
              <a:t>H        </a:t>
            </a:r>
            <a:endParaRPr lang="en-US" altLang="en-US" i="1" dirty="0">
              <a:sym typeface="Monotype Sorts" pitchFamily="-65" charset="2"/>
            </a:endParaRPr>
          </a:p>
          <a:p>
            <a:pPr lvl="2">
              <a:tabLst>
                <a:tab pos="803275" algn="l"/>
              </a:tabLst>
            </a:pPr>
            <a:r>
              <a:rPr lang="en-US" altLang="en-US" dirty="0">
                <a:sym typeface="Monotype Sorts" pitchFamily="-65" charset="2"/>
              </a:rPr>
              <a:t>by transitivity from </a:t>
            </a:r>
            <a:r>
              <a:rPr lang="en-US" altLang="en-US" i="1" dirty="0">
                <a:sym typeface="Iconic Symbols Ext"/>
              </a:rPr>
              <a:t>A </a:t>
            </a:r>
            <a:r>
              <a:rPr lang="en-US" altLang="en-US" dirty="0">
                <a:sym typeface="Symbol" panose="05050102010706020507" pitchFamily="18" charset="2"/>
              </a:rPr>
              <a:t></a:t>
            </a:r>
            <a:r>
              <a:rPr lang="en-US" altLang="en-US" dirty="0">
                <a:sym typeface="Monotype Sorts" pitchFamily="-65" charset="2"/>
              </a:rPr>
              <a:t> </a:t>
            </a:r>
            <a:r>
              <a:rPr lang="en-US" altLang="en-US" i="1" dirty="0">
                <a:sym typeface="Monotype Sorts" pitchFamily="-65" charset="2"/>
              </a:rPr>
              <a:t>B and </a:t>
            </a:r>
            <a:r>
              <a:rPr lang="en-US" altLang="en-US" i="1" dirty="0">
                <a:sym typeface="Iconic Symbols Ext"/>
              </a:rPr>
              <a:t>B </a:t>
            </a:r>
            <a:r>
              <a:rPr lang="en-US" altLang="en-US" dirty="0">
                <a:sym typeface="Symbol" panose="05050102010706020507" pitchFamily="18" charset="2"/>
              </a:rPr>
              <a:t></a:t>
            </a:r>
            <a:r>
              <a:rPr lang="en-US" altLang="en-US" dirty="0">
                <a:sym typeface="Monotype Sorts" pitchFamily="-65" charset="2"/>
              </a:rPr>
              <a:t> </a:t>
            </a:r>
            <a:r>
              <a:rPr lang="en-US" altLang="en-US" i="1" dirty="0">
                <a:sym typeface="Monotype Sorts" pitchFamily="-65" charset="2"/>
              </a:rPr>
              <a:t>H</a:t>
            </a:r>
            <a:endParaRPr lang="en-US" altLang="en-US" i="1" dirty="0">
              <a:sym typeface="Monotype Sorts" pitchFamily="-65" charset="2"/>
            </a:endParaRPr>
          </a:p>
          <a:p>
            <a:pPr lvl="1">
              <a:tabLst>
                <a:tab pos="803275" algn="l"/>
              </a:tabLst>
            </a:pPr>
            <a:r>
              <a:rPr lang="en-US" altLang="en-US" i="1" dirty="0">
                <a:sym typeface="Monotype Sorts" pitchFamily="-65" charset="2"/>
              </a:rPr>
              <a:t>AG </a:t>
            </a:r>
            <a:r>
              <a:rPr lang="en-US" altLang="en-US" dirty="0">
                <a:sym typeface="Symbol" panose="05050102010706020507" pitchFamily="18" charset="2"/>
              </a:rPr>
              <a:t></a:t>
            </a:r>
            <a:r>
              <a:rPr lang="en-US" altLang="en-US" dirty="0">
                <a:sym typeface="Monotype Sorts" pitchFamily="-65" charset="2"/>
              </a:rPr>
              <a:t> </a:t>
            </a:r>
            <a:r>
              <a:rPr lang="en-US" altLang="en-US" i="1" dirty="0">
                <a:sym typeface="Monotype Sorts" pitchFamily="-65" charset="2"/>
              </a:rPr>
              <a:t>I       </a:t>
            </a:r>
            <a:endParaRPr lang="en-US" altLang="en-US" dirty="0">
              <a:sym typeface="Monotype Sorts" pitchFamily="-65" charset="2"/>
            </a:endParaRPr>
          </a:p>
          <a:p>
            <a:pPr lvl="2">
              <a:tabLst>
                <a:tab pos="803275" algn="l"/>
              </a:tabLst>
            </a:pPr>
            <a:r>
              <a:rPr lang="en-US" altLang="en-US" dirty="0">
                <a:sym typeface="Monotype Sorts" pitchFamily="-65" charset="2"/>
              </a:rPr>
              <a:t>by augmenting </a:t>
            </a:r>
            <a:r>
              <a:rPr lang="en-US" altLang="en-US" i="1" dirty="0">
                <a:sym typeface="Iconic Symbols Ext"/>
              </a:rPr>
              <a:t>A </a:t>
            </a:r>
            <a:r>
              <a:rPr lang="en-US" altLang="en-US" dirty="0">
                <a:sym typeface="Symbol" panose="05050102010706020507" pitchFamily="18" charset="2"/>
              </a:rPr>
              <a:t></a:t>
            </a:r>
            <a:r>
              <a:rPr lang="en-US" altLang="en-US" dirty="0">
                <a:sym typeface="Monotype Sorts" pitchFamily="-65" charset="2"/>
              </a:rPr>
              <a:t> </a:t>
            </a:r>
            <a:r>
              <a:rPr lang="en-US" altLang="en-US" i="1" dirty="0">
                <a:sym typeface="Monotype Sorts" pitchFamily="-65" charset="2"/>
              </a:rPr>
              <a:t>C </a:t>
            </a:r>
            <a:r>
              <a:rPr lang="en-US" altLang="en-US" dirty="0">
                <a:sym typeface="Monotype Sorts" pitchFamily="-65" charset="2"/>
              </a:rPr>
              <a:t>with G, to get </a:t>
            </a:r>
            <a:r>
              <a:rPr lang="en-US" altLang="en-US" i="1" dirty="0">
                <a:sym typeface="Iconic Symbols Ext"/>
              </a:rPr>
              <a:t>AG </a:t>
            </a:r>
            <a:r>
              <a:rPr lang="en-US" altLang="en-US" dirty="0">
                <a:sym typeface="Symbol" panose="05050102010706020507" pitchFamily="18" charset="2"/>
              </a:rPr>
              <a:t></a:t>
            </a:r>
            <a:r>
              <a:rPr lang="en-US" altLang="en-US" dirty="0">
                <a:sym typeface="Monotype Sorts" pitchFamily="-65" charset="2"/>
              </a:rPr>
              <a:t> </a:t>
            </a:r>
            <a:r>
              <a:rPr lang="en-US" altLang="en-US" i="1" dirty="0">
                <a:sym typeface="Monotype Sorts" pitchFamily="-65" charset="2"/>
              </a:rPr>
              <a:t>CG </a:t>
            </a:r>
            <a:br>
              <a:rPr lang="en-US" altLang="en-US" i="1" dirty="0">
                <a:sym typeface="Monotype Sorts" pitchFamily="-65" charset="2"/>
              </a:rPr>
            </a:br>
            <a:r>
              <a:rPr lang="en-US" altLang="en-US" i="1" dirty="0">
                <a:sym typeface="Monotype Sorts" pitchFamily="-65" charset="2"/>
              </a:rPr>
              <a:t>                   </a:t>
            </a:r>
            <a:r>
              <a:rPr lang="en-US" altLang="en-US" dirty="0">
                <a:sym typeface="Monotype Sorts" pitchFamily="-65" charset="2"/>
              </a:rPr>
              <a:t>and then transitivity with </a:t>
            </a:r>
            <a:r>
              <a:rPr lang="en-US" altLang="en-US" i="1" dirty="0">
                <a:sym typeface="Iconic Symbols Ext"/>
              </a:rPr>
              <a:t>CG </a:t>
            </a:r>
            <a:r>
              <a:rPr lang="en-US" altLang="en-US" dirty="0">
                <a:sym typeface="Symbol" panose="05050102010706020507" pitchFamily="18" charset="2"/>
              </a:rPr>
              <a:t></a:t>
            </a:r>
            <a:r>
              <a:rPr lang="en-US" altLang="en-US" dirty="0">
                <a:sym typeface="Monotype Sorts" pitchFamily="-65" charset="2"/>
              </a:rPr>
              <a:t> </a:t>
            </a:r>
            <a:r>
              <a:rPr lang="en-US" altLang="en-US" i="1" dirty="0">
                <a:sym typeface="Monotype Sorts" pitchFamily="-65" charset="2"/>
              </a:rPr>
              <a:t>I </a:t>
            </a:r>
            <a:endParaRPr lang="en-US" altLang="en-US" i="1" dirty="0">
              <a:sym typeface="Monotype Sorts" pitchFamily="-65" charset="2"/>
            </a:endParaRPr>
          </a:p>
          <a:p>
            <a:pPr lvl="1">
              <a:tabLst>
                <a:tab pos="803275" algn="l"/>
              </a:tabLst>
            </a:pPr>
            <a:r>
              <a:rPr lang="en-US" altLang="en-US" i="1" dirty="0">
                <a:sym typeface="Monotype Sorts" pitchFamily="-65" charset="2"/>
              </a:rPr>
              <a:t>CG </a:t>
            </a:r>
            <a:r>
              <a:rPr lang="en-US" altLang="en-US" dirty="0">
                <a:sym typeface="Symbol" panose="05050102010706020507" pitchFamily="18" charset="2"/>
              </a:rPr>
              <a:t></a:t>
            </a:r>
            <a:r>
              <a:rPr lang="en-US" altLang="en-US" dirty="0">
                <a:sym typeface="Monotype Sorts" pitchFamily="-65" charset="2"/>
              </a:rPr>
              <a:t> </a:t>
            </a:r>
            <a:r>
              <a:rPr lang="en-US" altLang="en-US" i="1" dirty="0">
                <a:sym typeface="Monotype Sorts" pitchFamily="-65" charset="2"/>
              </a:rPr>
              <a:t>HI     </a:t>
            </a:r>
            <a:endParaRPr lang="en-US" altLang="en-US" dirty="0">
              <a:sym typeface="Monotype Sorts" pitchFamily="-65" charset="2"/>
            </a:endParaRPr>
          </a:p>
          <a:p>
            <a:pPr lvl="2">
              <a:tabLst>
                <a:tab pos="803275" algn="l"/>
              </a:tabLst>
            </a:pPr>
            <a:r>
              <a:rPr lang="en-US" altLang="en-US" dirty="0">
                <a:sym typeface="Monotype Sorts" pitchFamily="-65" charset="2"/>
              </a:rPr>
              <a:t>by augmenting </a:t>
            </a:r>
            <a:r>
              <a:rPr lang="en-US" altLang="en-US" i="1" dirty="0">
                <a:sym typeface="Iconic Symbols Ext"/>
              </a:rPr>
              <a:t>CG </a:t>
            </a:r>
            <a:r>
              <a:rPr lang="en-US" altLang="en-US" dirty="0">
                <a:sym typeface="Symbol" panose="05050102010706020507" pitchFamily="18" charset="2"/>
              </a:rPr>
              <a:t></a:t>
            </a:r>
            <a:r>
              <a:rPr lang="en-US" altLang="en-US" dirty="0">
                <a:sym typeface="Monotype Sorts" pitchFamily="-65" charset="2"/>
              </a:rPr>
              <a:t> </a:t>
            </a:r>
            <a:r>
              <a:rPr lang="en-US" altLang="en-US" i="1" dirty="0">
                <a:sym typeface="Monotype Sorts" pitchFamily="-65" charset="2"/>
              </a:rPr>
              <a:t>I </a:t>
            </a:r>
            <a:r>
              <a:rPr lang="en-US" altLang="en-US" dirty="0">
                <a:sym typeface="Monotype Sorts" pitchFamily="-65" charset="2"/>
              </a:rPr>
              <a:t>to infer </a:t>
            </a:r>
            <a:r>
              <a:rPr lang="en-US" altLang="en-US" i="1" dirty="0">
                <a:sym typeface="Iconic Symbols Ext"/>
              </a:rPr>
              <a:t>CG </a:t>
            </a:r>
            <a:r>
              <a:rPr lang="en-US" altLang="en-US" dirty="0">
                <a:sym typeface="Symbol" panose="05050102010706020507" pitchFamily="18" charset="2"/>
              </a:rPr>
              <a:t></a:t>
            </a:r>
            <a:r>
              <a:rPr lang="en-US" altLang="en-US" dirty="0">
                <a:sym typeface="Monotype Sorts" pitchFamily="-65" charset="2"/>
              </a:rPr>
              <a:t> CG</a:t>
            </a:r>
            <a:r>
              <a:rPr lang="en-US" altLang="en-US" i="1" dirty="0">
                <a:sym typeface="Monotype Sorts" pitchFamily="-65" charset="2"/>
              </a:rPr>
              <a:t>I, </a:t>
            </a:r>
            <a:endParaRPr lang="en-US" altLang="en-US" i="1" dirty="0">
              <a:sym typeface="Monotype Sorts" pitchFamily="-65" charset="2"/>
            </a:endParaRPr>
          </a:p>
          <a:p>
            <a:pPr lvl="2">
              <a:buFont typeface="Webdings" panose="05030102010509060703" pitchFamily="18" charset="2"/>
              <a:buNone/>
              <a:tabLst>
                <a:tab pos="803275" algn="l"/>
              </a:tabLst>
            </a:pPr>
            <a:r>
              <a:rPr lang="en-US" altLang="en-US" dirty="0">
                <a:sym typeface="Monotype Sorts" pitchFamily="-65" charset="2"/>
              </a:rPr>
              <a:t>    and augmenting of </a:t>
            </a:r>
            <a:r>
              <a:rPr lang="en-US" altLang="en-US" i="1" dirty="0">
                <a:sym typeface="Iconic Symbols Ext"/>
              </a:rPr>
              <a:t>CG </a:t>
            </a:r>
            <a:r>
              <a:rPr lang="en-US" altLang="en-US" dirty="0">
                <a:sym typeface="Symbol" panose="05050102010706020507" pitchFamily="18" charset="2"/>
              </a:rPr>
              <a:t></a:t>
            </a:r>
            <a:r>
              <a:rPr lang="en-US" altLang="en-US" dirty="0">
                <a:sym typeface="Monotype Sorts" pitchFamily="-65" charset="2"/>
              </a:rPr>
              <a:t> </a:t>
            </a:r>
            <a:r>
              <a:rPr lang="en-US" altLang="en-US" i="1" dirty="0">
                <a:sym typeface="Monotype Sorts" pitchFamily="-65" charset="2"/>
              </a:rPr>
              <a:t>H </a:t>
            </a:r>
            <a:r>
              <a:rPr lang="en-US" altLang="en-US" dirty="0">
                <a:sym typeface="Monotype Sorts" pitchFamily="-65" charset="2"/>
              </a:rPr>
              <a:t>to infer</a:t>
            </a:r>
            <a:r>
              <a:rPr lang="en-US" altLang="en-US" i="1" dirty="0">
                <a:sym typeface="Monotype Sorts" pitchFamily="-65" charset="2"/>
              </a:rPr>
              <a:t> </a:t>
            </a:r>
            <a:r>
              <a:rPr lang="en-US" altLang="en-US" i="1" dirty="0">
                <a:sym typeface="Iconic Symbols Ext"/>
              </a:rPr>
              <a:t>CGI </a:t>
            </a:r>
            <a:r>
              <a:rPr lang="en-US" altLang="en-US" dirty="0">
                <a:sym typeface="Symbol" panose="05050102010706020507" pitchFamily="18" charset="2"/>
              </a:rPr>
              <a:t></a:t>
            </a:r>
            <a:r>
              <a:rPr lang="en-US" altLang="en-US" dirty="0">
                <a:sym typeface="Monotype Sorts" pitchFamily="-65" charset="2"/>
              </a:rPr>
              <a:t> </a:t>
            </a:r>
            <a:r>
              <a:rPr lang="en-US" altLang="en-US" i="1" dirty="0">
                <a:sym typeface="Monotype Sorts" pitchFamily="-65" charset="2"/>
              </a:rPr>
              <a:t>HI, </a:t>
            </a:r>
            <a:endParaRPr lang="en-US" altLang="en-US" i="1" dirty="0">
              <a:sym typeface="Monotype Sorts" pitchFamily="-65" charset="2"/>
            </a:endParaRPr>
          </a:p>
          <a:p>
            <a:pPr lvl="2">
              <a:buFont typeface="Webdings" panose="05030102010509060703" pitchFamily="18" charset="2"/>
              <a:buNone/>
              <a:tabLst>
                <a:tab pos="803275" algn="l"/>
              </a:tabLst>
            </a:pPr>
            <a:r>
              <a:rPr lang="en-US" altLang="en-US" i="1" dirty="0">
                <a:sym typeface="Monotype Sorts" pitchFamily="-65" charset="2"/>
              </a:rPr>
              <a:t>                         </a:t>
            </a:r>
            <a:r>
              <a:rPr lang="en-US" altLang="en-US" dirty="0">
                <a:sym typeface="Monotype Sorts" pitchFamily="-65" charset="2"/>
              </a:rPr>
              <a:t>and then transitivity</a:t>
            </a:r>
            <a:endParaRPr lang="en-US" altLang="en-US" dirty="0">
              <a:sym typeface="Monotype Sorts" pitchFamily="-65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1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1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1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1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1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1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14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14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14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14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1443" grpId="0" bldLvl="3" autoUpdateAnimBg="0" build="p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538" name="Rectangle 2"/>
          <p:cNvSpPr>
            <a:spLocks noGrp="1" noChangeArrowheads="1"/>
          </p:cNvSpPr>
          <p:nvPr>
            <p:ph type="title"/>
          </p:nvPr>
        </p:nvSpPr>
        <p:spPr>
          <a:xfrm>
            <a:off x="863600" y="161925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Closure of Functional Dependencies (Cont.)</a:t>
            </a:r>
            <a:endParaRPr lang="en-US" altLang="en-US" sz="2800" dirty="0">
              <a:effectLst>
                <a:outerShdw blurRad="38100" dist="38100" dir="2700000" algn="tl">
                  <a:srgbClr val="C0C0C0"/>
                </a:outerShdw>
              </a:effectLst>
              <a:ea typeface="MS PGothic" panose="020B0600070205080204" pitchFamily="34" charset="-128"/>
            </a:endParaRP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72358" y="1118694"/>
            <a:ext cx="7285646" cy="2466477"/>
          </a:xfrm>
        </p:spPr>
        <p:txBody>
          <a:bodyPr/>
          <a:lstStyle/>
          <a:p>
            <a:r>
              <a:rPr lang="en-US" altLang="en-US" sz="2400" dirty="0"/>
              <a:t>Additional rules:</a:t>
            </a:r>
            <a:endParaRPr lang="en-US" altLang="en-US" sz="2400" dirty="0"/>
          </a:p>
          <a:p>
            <a:pPr lvl="1"/>
            <a:r>
              <a:rPr lang="en-US" altLang="en-US" sz="2400" b="1" dirty="0">
                <a:sym typeface="Symbol" panose="05050102010706020507" pitchFamily="18" charset="2"/>
              </a:rPr>
              <a:t>Union rule</a:t>
            </a:r>
            <a:r>
              <a:rPr lang="en-US" altLang="en-US" sz="2400" dirty="0">
                <a:sym typeface="Symbol" panose="05050102010706020507" pitchFamily="18" charset="2"/>
              </a:rPr>
              <a:t>: If  </a:t>
            </a:r>
            <a:r>
              <a:rPr lang="en-US" altLang="en-US" sz="2400" dirty="0">
                <a:sym typeface="Monotype Sorts" pitchFamily="-65" charset="2"/>
              </a:rPr>
              <a:t> </a:t>
            </a:r>
            <a:r>
              <a:rPr lang="en-US" altLang="en-US" sz="2400" i="1" dirty="0">
                <a:sym typeface="Symbol" panose="05050102010706020507" pitchFamily="18" charset="2"/>
              </a:rPr>
              <a:t> </a:t>
            </a:r>
            <a:r>
              <a:rPr lang="en-US" altLang="en-US" sz="2400" dirty="0">
                <a:sym typeface="Symbol" panose="05050102010706020507" pitchFamily="18" charset="2"/>
              </a:rPr>
              <a:t>holds</a:t>
            </a:r>
            <a:r>
              <a:rPr lang="en-US" altLang="en-US" sz="2400" i="1" dirty="0">
                <a:sym typeface="Symbol" panose="05050102010706020507" pitchFamily="18" charset="2"/>
              </a:rPr>
              <a:t> a</a:t>
            </a:r>
            <a:r>
              <a:rPr lang="en-US" altLang="en-US" sz="2400" dirty="0">
                <a:sym typeface="Symbol" panose="05050102010706020507" pitchFamily="18" charset="2"/>
              </a:rPr>
              <a:t>nd </a:t>
            </a:r>
            <a:r>
              <a:rPr lang="en-US" altLang="en-US" sz="2400" i="1" dirty="0">
                <a:sym typeface="Symbol" panose="05050102010706020507" pitchFamily="18" charset="2"/>
              </a:rPr>
              <a:t> </a:t>
            </a:r>
            <a:r>
              <a:rPr lang="en-US" altLang="en-US" sz="2400" dirty="0">
                <a:sym typeface="Symbol" panose="05050102010706020507" pitchFamily="18" charset="2"/>
              </a:rPr>
              <a:t></a:t>
            </a:r>
            <a:r>
              <a:rPr lang="en-US" altLang="en-US" sz="2400" dirty="0">
                <a:sym typeface="Monotype Sorts" pitchFamily="-65" charset="2"/>
              </a:rPr>
              <a:t> </a:t>
            </a:r>
            <a:r>
              <a:rPr lang="en-US" altLang="en-US" sz="2400" dirty="0">
                <a:sym typeface="Symbol" panose="05050102010706020507" pitchFamily="18" charset="2"/>
              </a:rPr>
              <a:t></a:t>
            </a:r>
            <a:r>
              <a:rPr lang="en-US" altLang="en-US" sz="2400" dirty="0">
                <a:sym typeface="Monotype Sorts" pitchFamily="-65" charset="2"/>
              </a:rPr>
              <a:t> holds,  then </a:t>
            </a:r>
            <a:r>
              <a:rPr lang="en-US" altLang="en-US" sz="2400" dirty="0">
                <a:sym typeface="Symbol" panose="05050102010706020507" pitchFamily="18" charset="2"/>
              </a:rPr>
              <a:t> </a:t>
            </a:r>
            <a:r>
              <a:rPr lang="en-US" altLang="en-US" sz="2400" dirty="0">
                <a:sym typeface="Monotype Sorts" pitchFamily="-65" charset="2"/>
              </a:rPr>
              <a:t> </a:t>
            </a:r>
            <a:r>
              <a:rPr lang="en-US" altLang="en-US" sz="2400" i="1" dirty="0">
                <a:sym typeface="Symbol" panose="05050102010706020507" pitchFamily="18" charset="2"/>
              </a:rPr>
              <a:t> </a:t>
            </a:r>
            <a:r>
              <a:rPr lang="en-US" altLang="en-US" sz="2400" dirty="0">
                <a:sym typeface="Symbol" panose="05050102010706020507" pitchFamily="18" charset="2"/>
              </a:rPr>
              <a:t></a:t>
            </a:r>
            <a:r>
              <a:rPr lang="en-US" altLang="en-US" sz="2400" dirty="0">
                <a:sym typeface="Greek Symbols"/>
              </a:rPr>
              <a:t> holds.</a:t>
            </a:r>
            <a:endParaRPr lang="en-US" altLang="en-US" sz="2400" dirty="0">
              <a:sym typeface="Greek Symbols"/>
            </a:endParaRPr>
          </a:p>
          <a:p>
            <a:pPr lvl="1"/>
            <a:r>
              <a:rPr lang="en-US" altLang="en-US" sz="2400" b="1" dirty="0">
                <a:sym typeface="Monotype Sorts" pitchFamily="-65" charset="2"/>
              </a:rPr>
              <a:t>Decomposition rule</a:t>
            </a:r>
            <a:r>
              <a:rPr lang="en-US" altLang="en-US" sz="2400" dirty="0">
                <a:sym typeface="Monotype Sorts" pitchFamily="-65" charset="2"/>
              </a:rPr>
              <a:t>:</a:t>
            </a:r>
            <a:r>
              <a:rPr lang="en-US" altLang="en-US" sz="2400" b="1" dirty="0">
                <a:sym typeface="Monotype Sorts" pitchFamily="-65" charset="2"/>
              </a:rPr>
              <a:t> </a:t>
            </a:r>
            <a:r>
              <a:rPr lang="en-US" altLang="en-US" sz="2400" dirty="0">
                <a:sym typeface="Greek Symbols"/>
              </a:rPr>
              <a:t>If </a:t>
            </a:r>
            <a:r>
              <a:rPr lang="en-US" altLang="en-US" sz="2400" dirty="0">
                <a:sym typeface="Symbol" panose="05050102010706020507" pitchFamily="18" charset="2"/>
              </a:rPr>
              <a:t> </a:t>
            </a:r>
            <a:r>
              <a:rPr lang="en-US" altLang="en-US" sz="2400" dirty="0">
                <a:sym typeface="Monotype Sorts" pitchFamily="-65" charset="2"/>
              </a:rPr>
              <a:t> </a:t>
            </a:r>
            <a:r>
              <a:rPr lang="en-US" altLang="en-US" sz="2400" i="1" dirty="0">
                <a:sym typeface="Symbol" panose="05050102010706020507" pitchFamily="18" charset="2"/>
              </a:rPr>
              <a:t> </a:t>
            </a:r>
            <a:r>
              <a:rPr lang="en-US" altLang="en-US" sz="2400" dirty="0">
                <a:sym typeface="Symbol" panose="05050102010706020507" pitchFamily="18" charset="2"/>
              </a:rPr>
              <a:t></a:t>
            </a:r>
            <a:r>
              <a:rPr lang="en-US" altLang="en-US" sz="2400" dirty="0">
                <a:sym typeface="Monotype Sorts" pitchFamily="-65" charset="2"/>
              </a:rPr>
              <a:t> holds, then </a:t>
            </a:r>
            <a:r>
              <a:rPr lang="en-US" altLang="en-US" sz="2400" dirty="0">
                <a:sym typeface="Symbol" panose="05050102010706020507" pitchFamily="18" charset="2"/>
              </a:rPr>
              <a:t> </a:t>
            </a:r>
            <a:r>
              <a:rPr lang="en-US" altLang="en-US" sz="2400" dirty="0">
                <a:sym typeface="Monotype Sorts" pitchFamily="-65" charset="2"/>
              </a:rPr>
              <a:t> </a:t>
            </a:r>
            <a:r>
              <a:rPr lang="en-US" altLang="en-US" sz="2400" i="1" dirty="0">
                <a:sym typeface="Symbol" panose="05050102010706020507" pitchFamily="18" charset="2"/>
              </a:rPr>
              <a:t>  </a:t>
            </a:r>
            <a:r>
              <a:rPr lang="en-US" altLang="en-US" sz="2400" dirty="0">
                <a:sym typeface="Symbol" panose="05050102010706020507" pitchFamily="18" charset="2"/>
              </a:rPr>
              <a:t>holds and </a:t>
            </a:r>
            <a:r>
              <a:rPr lang="en-US" altLang="en-US" sz="2400" i="1" dirty="0">
                <a:sym typeface="Symbol" panose="05050102010706020507" pitchFamily="18" charset="2"/>
              </a:rPr>
              <a:t> </a:t>
            </a:r>
            <a:r>
              <a:rPr lang="en-US" altLang="en-US" sz="2400" dirty="0">
                <a:sym typeface="Symbol" panose="05050102010706020507" pitchFamily="18" charset="2"/>
              </a:rPr>
              <a:t></a:t>
            </a:r>
            <a:r>
              <a:rPr lang="en-US" altLang="en-US" sz="2400" dirty="0">
                <a:sym typeface="Monotype Sorts" pitchFamily="-65" charset="2"/>
              </a:rPr>
              <a:t> </a:t>
            </a:r>
            <a:r>
              <a:rPr lang="en-US" altLang="en-US" sz="2400" dirty="0">
                <a:sym typeface="Symbol" panose="05050102010706020507" pitchFamily="18" charset="2"/>
              </a:rPr>
              <a:t></a:t>
            </a:r>
            <a:r>
              <a:rPr lang="en-US" altLang="en-US" sz="2400" dirty="0">
                <a:sym typeface="Monotype Sorts" pitchFamily="-65" charset="2"/>
              </a:rPr>
              <a:t> holds.</a:t>
            </a:r>
            <a:endParaRPr lang="en-US" altLang="en-US" sz="2400" dirty="0">
              <a:sym typeface="Monotype Sorts" pitchFamily="-65" charset="2"/>
            </a:endParaRPr>
          </a:p>
          <a:p>
            <a:pPr lvl="1"/>
            <a:r>
              <a:rPr lang="en-US" altLang="en-US" sz="2400" b="1" dirty="0" err="1">
                <a:sym typeface="Greek Symbols"/>
              </a:rPr>
              <a:t>Pseudotransitivity</a:t>
            </a:r>
            <a:r>
              <a:rPr lang="en-US" altLang="en-US" sz="2400" b="1" dirty="0">
                <a:sym typeface="Greek Symbols"/>
              </a:rPr>
              <a:t> </a:t>
            </a:r>
            <a:r>
              <a:rPr lang="en-US" altLang="en-US" sz="2400" b="1" dirty="0" err="1">
                <a:sym typeface="Greek Symbols"/>
              </a:rPr>
              <a:t>rule</a:t>
            </a:r>
            <a:r>
              <a:rPr lang="en-US" altLang="en-US" sz="2400" dirty="0" err="1">
                <a:sym typeface="Greek Symbols"/>
              </a:rPr>
              <a:t>:</a:t>
            </a:r>
            <a:r>
              <a:rPr lang="en-US" altLang="en-US" sz="2400" dirty="0" err="1">
                <a:sym typeface="Monotype Sorts" pitchFamily="-65" charset="2"/>
              </a:rPr>
              <a:t>If</a:t>
            </a:r>
            <a:r>
              <a:rPr lang="en-US" altLang="en-US" sz="2400" dirty="0">
                <a:sym typeface="Monotype Sorts" pitchFamily="-65" charset="2"/>
              </a:rPr>
              <a:t> </a:t>
            </a:r>
            <a:r>
              <a:rPr lang="en-US" altLang="en-US" sz="2400" dirty="0">
                <a:sym typeface="Symbol" panose="05050102010706020507" pitchFamily="18" charset="2"/>
              </a:rPr>
              <a:t> </a:t>
            </a:r>
            <a:r>
              <a:rPr lang="en-US" altLang="en-US" sz="2400" dirty="0">
                <a:sym typeface="Monotype Sorts" pitchFamily="-65" charset="2"/>
              </a:rPr>
              <a:t> </a:t>
            </a:r>
            <a:r>
              <a:rPr lang="en-US" altLang="en-US" sz="2400" i="1" dirty="0">
                <a:sym typeface="Symbol" panose="05050102010706020507" pitchFamily="18" charset="2"/>
              </a:rPr>
              <a:t>  </a:t>
            </a:r>
            <a:r>
              <a:rPr lang="en-US" altLang="en-US" sz="2400" dirty="0">
                <a:sym typeface="Symbol" panose="05050102010706020507" pitchFamily="18" charset="2"/>
              </a:rPr>
              <a:t>holds</a:t>
            </a:r>
            <a:r>
              <a:rPr lang="en-US" altLang="en-US" sz="2400" i="1" dirty="0">
                <a:sym typeface="Symbol" panose="05050102010706020507" pitchFamily="18" charset="2"/>
              </a:rPr>
              <a:t> a</a:t>
            </a:r>
            <a:r>
              <a:rPr lang="en-US" altLang="en-US" sz="2400" dirty="0">
                <a:sym typeface="Symbol" panose="05050102010706020507" pitchFamily="18" charset="2"/>
              </a:rPr>
              <a:t>nd </a:t>
            </a:r>
            <a:r>
              <a:rPr lang="en-US" altLang="en-US" sz="2400" dirty="0">
                <a:sym typeface="Greek Symbols"/>
              </a:rPr>
              <a:t> </a:t>
            </a:r>
            <a:r>
              <a:rPr lang="en-US" altLang="en-US" sz="2400" i="1" dirty="0">
                <a:sym typeface="Symbol" panose="05050102010706020507" pitchFamily="18" charset="2"/>
              </a:rPr>
              <a:t> </a:t>
            </a:r>
            <a:r>
              <a:rPr lang="en-US" altLang="en-US" sz="2400" dirty="0">
                <a:sym typeface="Symbol" panose="05050102010706020507" pitchFamily="18" charset="2"/>
              </a:rPr>
              <a:t></a:t>
            </a:r>
            <a:r>
              <a:rPr lang="en-US" altLang="en-US" sz="2400" dirty="0">
                <a:sym typeface="Monotype Sorts" pitchFamily="-65" charset="2"/>
              </a:rPr>
              <a:t> </a:t>
            </a:r>
            <a:r>
              <a:rPr lang="en-US" altLang="en-US" sz="2400" dirty="0">
                <a:sym typeface="Symbol" panose="05050102010706020507" pitchFamily="18" charset="2"/>
              </a:rPr>
              <a:t></a:t>
            </a:r>
            <a:r>
              <a:rPr lang="en-US" altLang="en-US" sz="2400" dirty="0">
                <a:sym typeface="Greek Symbols"/>
              </a:rPr>
              <a:t> holds, then </a:t>
            </a:r>
            <a:r>
              <a:rPr lang="en-US" altLang="en-US" sz="2400" dirty="0">
                <a:sym typeface="Symbol" panose="05050102010706020507" pitchFamily="18" charset="2"/>
              </a:rPr>
              <a:t> </a:t>
            </a:r>
            <a:r>
              <a:rPr lang="en-US" altLang="en-US" sz="2400" dirty="0">
                <a:sym typeface="Greek Symbols"/>
              </a:rPr>
              <a:t> </a:t>
            </a:r>
            <a:r>
              <a:rPr lang="en-US" altLang="en-US" sz="2400" dirty="0">
                <a:sym typeface="Symbol" panose="05050102010706020507" pitchFamily="18" charset="2"/>
              </a:rPr>
              <a:t></a:t>
            </a:r>
            <a:r>
              <a:rPr lang="en-US" altLang="en-US" sz="2400" dirty="0">
                <a:sym typeface="Monotype Sorts" pitchFamily="-65" charset="2"/>
              </a:rPr>
              <a:t> </a:t>
            </a:r>
            <a:r>
              <a:rPr lang="en-US" altLang="en-US" sz="2400" dirty="0">
                <a:sym typeface="Symbol" panose="05050102010706020507" pitchFamily="18" charset="2"/>
              </a:rPr>
              <a:t></a:t>
            </a:r>
            <a:r>
              <a:rPr lang="en-US" altLang="en-US" sz="2400" dirty="0">
                <a:sym typeface="Greek Symbols"/>
              </a:rPr>
              <a:t> holds</a:t>
            </a:r>
            <a:r>
              <a:rPr lang="en-US" altLang="en-US" sz="2400" b="1" dirty="0">
                <a:sym typeface="Greek Symbols"/>
              </a:rPr>
              <a:t>.</a:t>
            </a:r>
            <a:endParaRPr lang="en-US" altLang="en-US" sz="2400" dirty="0">
              <a:sym typeface="Greek Symbols"/>
            </a:endParaRPr>
          </a:p>
          <a:p>
            <a:r>
              <a:rPr lang="en-US" altLang="en-US" sz="2400" dirty="0">
                <a:sym typeface="Greek Symbols"/>
              </a:rPr>
              <a:t>The above rules can be inferred from Armstrong</a:t>
            </a:r>
            <a:r>
              <a:rPr lang="ja-JP" altLang="en-US" sz="2400" dirty="0">
                <a:latin typeface="Arial" panose="020B0604020202020204" pitchFamily="34" charset="0"/>
                <a:sym typeface="Greek Symbols"/>
              </a:rPr>
              <a:t>’</a:t>
            </a:r>
            <a:r>
              <a:rPr lang="en-US" altLang="ja-JP" sz="2400" dirty="0">
                <a:sym typeface="Greek Symbols"/>
              </a:rPr>
              <a:t>s axioms.</a:t>
            </a:r>
            <a:endParaRPr lang="en-US" altLang="en-US" sz="2400" dirty="0">
              <a:sym typeface="Greek Symbols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Procedure for Computing F</a:t>
            </a:r>
            <a:r>
              <a:rPr lang="en-US" altLang="en-US" baseline="30000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+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  <a:ea typeface="MS PGothic" panose="020B0600070205080204" pitchFamily="34" charset="-128"/>
            </a:endParaRPr>
          </a:p>
        </p:txBody>
      </p:sp>
      <p:sp>
        <p:nvSpPr>
          <p:cNvPr id="707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52525"/>
            <a:ext cx="7918449" cy="3720264"/>
          </a:xfrm>
        </p:spPr>
        <p:txBody>
          <a:bodyPr/>
          <a:lstStyle/>
          <a:p>
            <a:pPr>
              <a:tabLst>
                <a:tab pos="1026795" algn="l"/>
                <a:tab pos="1547495" algn="l"/>
                <a:tab pos="1771650" algn="l"/>
                <a:tab pos="2054225" algn="l"/>
                <a:tab pos="3140075" algn="ctr"/>
              </a:tabLst>
            </a:pPr>
            <a:r>
              <a:rPr lang="en-US" altLang="en-US" sz="2000" dirty="0"/>
              <a:t>To compute the closure of a set of functional dependencies F:</a:t>
            </a:r>
            <a:endParaRPr lang="en-US" altLang="en-US" sz="2000" i="1" dirty="0"/>
          </a:p>
          <a:p>
            <a:pPr>
              <a:buFont typeface="Monotype Sorts" pitchFamily="-65" charset="2"/>
              <a:buNone/>
            </a:pPr>
            <a:r>
              <a:rPr lang="en-US" altLang="en-US" sz="2000" i="1" dirty="0"/>
              <a:t>         F </a:t>
            </a:r>
            <a:r>
              <a:rPr lang="en-US" altLang="en-US" sz="2000" baseline="30000" dirty="0"/>
              <a:t>+</a:t>
            </a:r>
            <a:r>
              <a:rPr lang="en-US" altLang="en-US" sz="2000" dirty="0"/>
              <a:t> = </a:t>
            </a:r>
            <a:r>
              <a:rPr lang="en-US" altLang="en-US" sz="2000" i="1" dirty="0"/>
              <a:t>F</a:t>
            </a:r>
            <a:br>
              <a:rPr lang="en-US" altLang="en-US" sz="2000" dirty="0"/>
            </a:br>
            <a:r>
              <a:rPr lang="en-US" altLang="en-US" sz="2000" dirty="0"/>
              <a:t>    </a:t>
            </a:r>
            <a:r>
              <a:rPr lang="en-US" altLang="en-US" sz="2000" b="1" dirty="0"/>
              <a:t>repeat</a:t>
            </a:r>
            <a:br>
              <a:rPr lang="en-US" altLang="en-US" sz="2000" dirty="0"/>
            </a:br>
            <a:r>
              <a:rPr lang="en-US" altLang="en-US" sz="2000" dirty="0"/>
              <a:t>	</a:t>
            </a:r>
            <a:r>
              <a:rPr lang="en-US" altLang="en-US" sz="2000" b="1" dirty="0"/>
              <a:t>for each</a:t>
            </a:r>
            <a:r>
              <a:rPr lang="en-US" altLang="en-US" sz="2000" dirty="0"/>
              <a:t> functional dependency </a:t>
            </a:r>
            <a:r>
              <a:rPr lang="en-US" altLang="en-US" sz="2000" i="1" dirty="0"/>
              <a:t>f</a:t>
            </a:r>
            <a:r>
              <a:rPr lang="en-US" altLang="en-US" sz="2000" dirty="0"/>
              <a:t> in </a:t>
            </a:r>
            <a:r>
              <a:rPr lang="en-US" altLang="en-US" sz="2000" i="1" dirty="0"/>
              <a:t>F</a:t>
            </a:r>
            <a:r>
              <a:rPr lang="en-US" altLang="en-US" sz="2000" baseline="30000" dirty="0"/>
              <a:t>+</a:t>
            </a:r>
            <a:br>
              <a:rPr lang="en-US" altLang="en-US" sz="2000" baseline="30000" dirty="0"/>
            </a:br>
            <a:r>
              <a:rPr lang="en-US" altLang="en-US" sz="2000" baseline="30000" dirty="0"/>
              <a:t>	</a:t>
            </a:r>
            <a:r>
              <a:rPr lang="en-US" altLang="en-US" sz="2000" dirty="0"/>
              <a:t>       apply reflexivity and augmentation rules on </a:t>
            </a:r>
            <a:r>
              <a:rPr lang="en-US" altLang="en-US" sz="2000" i="1" dirty="0"/>
              <a:t>f</a:t>
            </a:r>
            <a:br>
              <a:rPr lang="en-US" altLang="en-US" sz="2000" i="1" dirty="0"/>
            </a:br>
            <a:r>
              <a:rPr lang="en-US" altLang="en-US" sz="2000" i="1" dirty="0"/>
              <a:t>	       </a:t>
            </a:r>
            <a:r>
              <a:rPr lang="en-US" altLang="en-US" sz="2000" dirty="0"/>
              <a:t>add the resulting functional dependencies to </a:t>
            </a:r>
            <a:r>
              <a:rPr lang="en-US" altLang="en-US" sz="2000" i="1" dirty="0"/>
              <a:t>F </a:t>
            </a:r>
            <a:r>
              <a:rPr lang="en-US" altLang="en-US" sz="2000" baseline="30000" dirty="0"/>
              <a:t>+</a:t>
            </a:r>
            <a:br>
              <a:rPr lang="en-US" altLang="en-US" sz="2000" baseline="30000" dirty="0"/>
            </a:br>
            <a:r>
              <a:rPr lang="en-US" altLang="en-US" sz="2000" baseline="30000" dirty="0"/>
              <a:t>	</a:t>
            </a:r>
            <a:r>
              <a:rPr lang="en-US" altLang="en-US" sz="2000" b="1" dirty="0"/>
              <a:t>for each </a:t>
            </a:r>
            <a:r>
              <a:rPr lang="en-US" altLang="en-US" sz="2000" dirty="0"/>
              <a:t>pair of functional dependencies </a:t>
            </a:r>
            <a:r>
              <a:rPr lang="en-US" altLang="en-US" sz="2000" i="1" dirty="0"/>
              <a:t>f</a:t>
            </a:r>
            <a:r>
              <a:rPr lang="en-US" altLang="en-US" sz="2000" baseline="-25000" dirty="0"/>
              <a:t>1</a:t>
            </a:r>
            <a:r>
              <a:rPr lang="en-US" altLang="en-US" sz="2000" dirty="0"/>
              <a:t>and </a:t>
            </a:r>
            <a:r>
              <a:rPr lang="en-US" altLang="en-US" sz="2000" i="1" dirty="0"/>
              <a:t>f</a:t>
            </a:r>
            <a:r>
              <a:rPr lang="en-US" altLang="en-US" sz="2000" baseline="-25000" dirty="0"/>
              <a:t>2</a:t>
            </a:r>
            <a:r>
              <a:rPr lang="en-US" altLang="en-US" sz="2000" dirty="0"/>
              <a:t> in </a:t>
            </a:r>
            <a:r>
              <a:rPr lang="en-US" altLang="en-US" sz="2000" i="1" dirty="0"/>
              <a:t>F </a:t>
            </a:r>
            <a:r>
              <a:rPr lang="en-US" altLang="en-US" sz="2000" baseline="30000" dirty="0"/>
              <a:t>+</a:t>
            </a:r>
            <a:br>
              <a:rPr lang="en-US" altLang="en-US" sz="2000" baseline="30000" dirty="0"/>
            </a:br>
            <a:r>
              <a:rPr lang="en-US" altLang="en-US" sz="2000" baseline="30000" dirty="0"/>
              <a:t>	</a:t>
            </a:r>
            <a:r>
              <a:rPr lang="en-US" altLang="en-US" sz="2000" dirty="0"/>
              <a:t>       </a:t>
            </a:r>
            <a:r>
              <a:rPr lang="en-US" altLang="en-US" sz="2000" b="1" dirty="0"/>
              <a:t>if</a:t>
            </a:r>
            <a:r>
              <a:rPr lang="en-US" altLang="en-US" sz="2000" dirty="0"/>
              <a:t> </a:t>
            </a:r>
            <a:r>
              <a:rPr lang="en-US" altLang="en-US" sz="2000" i="1" dirty="0"/>
              <a:t>f</a:t>
            </a:r>
            <a:r>
              <a:rPr lang="en-US" altLang="en-US" sz="2000" baseline="-25000" dirty="0"/>
              <a:t>1</a:t>
            </a:r>
            <a:r>
              <a:rPr lang="en-US" altLang="en-US" sz="2000" dirty="0"/>
              <a:t> and </a:t>
            </a:r>
            <a:r>
              <a:rPr lang="en-US" altLang="en-US" sz="2000" i="1" dirty="0"/>
              <a:t>f</a:t>
            </a:r>
            <a:r>
              <a:rPr lang="en-US" altLang="en-US" sz="2000" baseline="-25000" dirty="0"/>
              <a:t>2</a:t>
            </a:r>
            <a:r>
              <a:rPr lang="en-US" altLang="en-US" sz="2000" dirty="0"/>
              <a:t> can be combined using transitivity</a:t>
            </a:r>
            <a:br>
              <a:rPr lang="en-US" altLang="en-US" sz="2000" dirty="0"/>
            </a:br>
            <a:r>
              <a:rPr lang="en-US" altLang="en-US" sz="2000" dirty="0"/>
              <a:t>	             </a:t>
            </a:r>
            <a:r>
              <a:rPr lang="en-US" altLang="en-US" sz="2000" b="1" dirty="0"/>
              <a:t>then</a:t>
            </a:r>
            <a:r>
              <a:rPr lang="en-US" altLang="en-US" sz="2000" dirty="0"/>
              <a:t> add the resulting functional dependency to </a:t>
            </a:r>
            <a:r>
              <a:rPr lang="en-US" altLang="en-US" sz="2000" i="1" dirty="0"/>
              <a:t>F </a:t>
            </a:r>
            <a:r>
              <a:rPr lang="en-US" altLang="en-US" sz="2000" baseline="30000" dirty="0"/>
              <a:t>+</a:t>
            </a:r>
            <a:br>
              <a:rPr lang="en-US" altLang="en-US" sz="2000" baseline="30000" dirty="0"/>
            </a:br>
            <a:r>
              <a:rPr lang="en-US" altLang="en-US" sz="2000" baseline="30000" dirty="0"/>
              <a:t>       </a:t>
            </a:r>
            <a:r>
              <a:rPr lang="en-US" altLang="en-US" sz="2000" b="1" dirty="0"/>
              <a:t>until </a:t>
            </a:r>
            <a:r>
              <a:rPr lang="en-US" altLang="en-US" sz="2000" i="1" dirty="0"/>
              <a:t>F </a:t>
            </a:r>
            <a:r>
              <a:rPr lang="en-US" altLang="en-US" sz="2000" baseline="30000" dirty="0"/>
              <a:t>+</a:t>
            </a:r>
            <a:r>
              <a:rPr lang="en-US" altLang="en-US" sz="2000" dirty="0"/>
              <a:t> does not change any further</a:t>
            </a:r>
            <a:endParaRPr lang="en-US" altLang="en-US" sz="2000" dirty="0"/>
          </a:p>
          <a:p>
            <a:pPr>
              <a:buFont typeface="Monotype Sorts" pitchFamily="-65" charset="2"/>
              <a:buNone/>
            </a:pPr>
            <a:endParaRPr lang="en-US" altLang="en-US" sz="2000" dirty="0"/>
          </a:p>
          <a:p>
            <a:r>
              <a:rPr lang="en-US" altLang="en-US" sz="2000" b="1" dirty="0"/>
              <a:t> NOTE</a:t>
            </a:r>
            <a:r>
              <a:rPr lang="en-US" altLang="en-US" sz="2000" dirty="0"/>
              <a:t>:  We shall see an alternative procedure for this task later</a:t>
            </a:r>
            <a:endParaRPr lang="en-US" altLang="en-US" sz="2000" i="1" baseline="-25000" dirty="0"/>
          </a:p>
          <a:p>
            <a:pPr>
              <a:tabLst>
                <a:tab pos="1026795" algn="l"/>
                <a:tab pos="1547495" algn="l"/>
                <a:tab pos="1771650" algn="l"/>
                <a:tab pos="2054225" algn="l"/>
                <a:tab pos="3140075" algn="ctr"/>
              </a:tabLst>
            </a:pPr>
            <a:endParaRPr lang="en-US" altLang="en-US" i="1" dirty="0">
              <a:sym typeface="Greek Symbol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7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7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75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7587" grpId="0" autoUpdateAnimBg="0" build="p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Closure of Attribute Sets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  <a:ea typeface="MS PGothic" panose="020B0600070205080204" pitchFamily="34" charset="-128"/>
            </a:endParaRPr>
          </a:p>
        </p:txBody>
      </p:sp>
      <p:sp>
        <p:nvSpPr>
          <p:cNvPr id="707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52526"/>
            <a:ext cx="7674313" cy="2938212"/>
          </a:xfrm>
        </p:spPr>
        <p:txBody>
          <a:bodyPr/>
          <a:lstStyle/>
          <a:p>
            <a:pPr>
              <a:tabLst>
                <a:tab pos="1026795" algn="l"/>
                <a:tab pos="1547495" algn="l"/>
                <a:tab pos="1771650" algn="l"/>
                <a:tab pos="2054225" algn="l"/>
                <a:tab pos="3140075" algn="ctr"/>
              </a:tabLst>
            </a:pPr>
            <a:r>
              <a:rPr lang="en-US" altLang="en-US" sz="2400" dirty="0"/>
              <a:t>Given a set of attributes </a:t>
            </a:r>
            <a:r>
              <a:rPr lang="en-US" altLang="en-US" sz="2400" dirty="0">
                <a:latin typeface="Symbol" panose="05050102010706020507" pitchFamily="18" charset="2"/>
                <a:sym typeface="Greek Symbols"/>
              </a:rPr>
              <a:t>a,</a:t>
            </a:r>
            <a:r>
              <a:rPr lang="en-US" altLang="en-US" sz="2400" dirty="0"/>
              <a:t> define the </a:t>
            </a:r>
            <a:r>
              <a:rPr lang="en-US" altLang="en-US" sz="2400" b="1" i="1" dirty="0">
                <a:solidFill>
                  <a:srgbClr val="002060"/>
                </a:solidFill>
              </a:rPr>
              <a:t>closure</a:t>
            </a:r>
            <a:r>
              <a:rPr lang="en-US" altLang="en-US" sz="2400" i="1" dirty="0"/>
              <a:t> </a:t>
            </a:r>
            <a:r>
              <a:rPr lang="en-US" altLang="en-US" sz="2400" dirty="0"/>
              <a:t>of </a:t>
            </a:r>
            <a:r>
              <a:rPr lang="en-US" altLang="en-US" sz="2400" dirty="0">
                <a:latin typeface="Symbol" panose="05050102010706020507" pitchFamily="18" charset="2"/>
                <a:sym typeface="Greek Symbols"/>
              </a:rPr>
              <a:t>a</a:t>
            </a:r>
            <a:r>
              <a:rPr lang="en-US" altLang="en-US" sz="2400" dirty="0">
                <a:sym typeface="Greek Symbols"/>
              </a:rPr>
              <a:t> </a:t>
            </a:r>
            <a:r>
              <a:rPr lang="en-US" altLang="en-US" sz="2400" b="1" dirty="0">
                <a:solidFill>
                  <a:srgbClr val="002060"/>
                </a:solidFill>
                <a:sym typeface="Greek Symbols"/>
              </a:rPr>
              <a:t>under</a:t>
            </a:r>
            <a:r>
              <a:rPr lang="en-US" altLang="en-US" sz="2400" dirty="0">
                <a:sym typeface="Greek Symbols"/>
              </a:rPr>
              <a:t> </a:t>
            </a:r>
            <a:r>
              <a:rPr lang="en-US" altLang="en-US" sz="2400" i="1" dirty="0">
                <a:sym typeface="Greek Symbols"/>
              </a:rPr>
              <a:t>F</a:t>
            </a:r>
            <a:r>
              <a:rPr lang="en-US" altLang="en-US" sz="2400" dirty="0">
                <a:sym typeface="Greek Symbols"/>
              </a:rPr>
              <a:t> (denoted by </a:t>
            </a:r>
            <a:r>
              <a:rPr lang="en-US" altLang="en-US" sz="2400" dirty="0">
                <a:latin typeface="Symbol" panose="05050102010706020507" pitchFamily="18" charset="2"/>
                <a:sym typeface="Greek Symbols"/>
              </a:rPr>
              <a:t>a</a:t>
            </a:r>
            <a:r>
              <a:rPr lang="en-US" altLang="en-US" sz="2400" baseline="30000" dirty="0">
                <a:sym typeface="Greek Symbols"/>
              </a:rPr>
              <a:t>+</a:t>
            </a:r>
            <a:r>
              <a:rPr lang="en-US" altLang="en-US" sz="2400" dirty="0">
                <a:sym typeface="Greek Symbols"/>
              </a:rPr>
              <a:t>) as the set of attributes that are functionally determined by </a:t>
            </a:r>
            <a:r>
              <a:rPr lang="en-US" altLang="en-US" sz="2400" dirty="0">
                <a:latin typeface="Symbol" panose="05050102010706020507" pitchFamily="18" charset="2"/>
                <a:sym typeface="Greek Symbols"/>
              </a:rPr>
              <a:t>a</a:t>
            </a:r>
            <a:r>
              <a:rPr lang="en-US" altLang="en-US" sz="2400" dirty="0">
                <a:sym typeface="Greek Symbols"/>
              </a:rPr>
              <a:t> under </a:t>
            </a:r>
            <a:r>
              <a:rPr lang="en-US" altLang="en-US" sz="2400" i="1" dirty="0">
                <a:sym typeface="Greek Symbols"/>
              </a:rPr>
              <a:t>F</a:t>
            </a:r>
            <a:endParaRPr lang="en-US" altLang="en-US" sz="2400" i="1" dirty="0">
              <a:sym typeface="Greek Symbols"/>
            </a:endParaRPr>
          </a:p>
          <a:p>
            <a:pPr>
              <a:tabLst>
                <a:tab pos="1026795" algn="l"/>
                <a:tab pos="1547495" algn="l"/>
                <a:tab pos="1771650" algn="l"/>
                <a:tab pos="2054225" algn="l"/>
                <a:tab pos="3140075" algn="ctr"/>
              </a:tabLst>
            </a:pPr>
            <a:r>
              <a:rPr lang="en-US" altLang="en-US" sz="2400" dirty="0">
                <a:sym typeface="Greek Symbols"/>
              </a:rPr>
              <a:t> Algorithm to compute </a:t>
            </a:r>
            <a:r>
              <a:rPr lang="en-US" altLang="en-US" sz="2400" dirty="0">
                <a:latin typeface="Symbol" panose="05050102010706020507" pitchFamily="18" charset="2"/>
                <a:sym typeface="Greek Symbols"/>
              </a:rPr>
              <a:t>a</a:t>
            </a:r>
            <a:r>
              <a:rPr lang="en-US" altLang="en-US" sz="2400" baseline="30000" dirty="0">
                <a:sym typeface="Greek Symbols"/>
              </a:rPr>
              <a:t>+</a:t>
            </a:r>
            <a:r>
              <a:rPr lang="en-US" altLang="en-US" sz="2400" dirty="0">
                <a:sym typeface="Greek Symbols"/>
              </a:rPr>
              <a:t>, the closure of </a:t>
            </a:r>
            <a:r>
              <a:rPr lang="en-US" altLang="en-US" sz="2400" dirty="0">
                <a:latin typeface="Symbol" panose="05050102010706020507" pitchFamily="18" charset="2"/>
                <a:sym typeface="Greek Symbols"/>
              </a:rPr>
              <a:t>a</a:t>
            </a:r>
            <a:r>
              <a:rPr lang="en-US" altLang="en-US" sz="2400" dirty="0">
                <a:sym typeface="Greek Symbols"/>
              </a:rPr>
              <a:t> under </a:t>
            </a:r>
            <a:r>
              <a:rPr lang="en-US" altLang="en-US" sz="2400" i="1" dirty="0">
                <a:sym typeface="Greek Symbols"/>
              </a:rPr>
              <a:t>F</a:t>
            </a:r>
            <a:endParaRPr lang="en-US" altLang="en-US" sz="2400" i="1" dirty="0">
              <a:sym typeface="Greek Symbols"/>
            </a:endParaRPr>
          </a:p>
          <a:p>
            <a:pPr>
              <a:buFont typeface="Monotype Sorts" pitchFamily="-65" charset="2"/>
              <a:buNone/>
              <a:tabLst>
                <a:tab pos="1026795" algn="l"/>
                <a:tab pos="1547495" algn="l"/>
                <a:tab pos="1771650" algn="l"/>
                <a:tab pos="2054225" algn="l"/>
                <a:tab pos="3140075" algn="ctr"/>
              </a:tabLst>
            </a:pPr>
            <a:r>
              <a:rPr lang="en-US" altLang="en-US" sz="2400" i="1" dirty="0">
                <a:sym typeface="Greek Symbols"/>
              </a:rPr>
              <a:t>      	</a:t>
            </a:r>
            <a:r>
              <a:rPr lang="en-US" altLang="en-US" sz="2400" i="1" dirty="0">
                <a:solidFill>
                  <a:srgbClr val="7030A0"/>
                </a:solidFill>
                <a:sym typeface="Greek Symbols"/>
              </a:rPr>
              <a:t>result </a:t>
            </a:r>
            <a:r>
              <a:rPr lang="en-US" altLang="en-US" sz="2400" dirty="0">
                <a:solidFill>
                  <a:srgbClr val="7030A0"/>
                </a:solidFill>
                <a:sym typeface="Greek Symbols"/>
              </a:rPr>
              <a:t>:= </a:t>
            </a:r>
            <a:r>
              <a:rPr lang="en-US" altLang="en-US" sz="2400" dirty="0">
                <a:solidFill>
                  <a:srgbClr val="7030A0"/>
                </a:solidFill>
                <a:latin typeface="Symbol" panose="05050102010706020507" pitchFamily="18" charset="2"/>
                <a:sym typeface="Greek Symbols"/>
              </a:rPr>
              <a:t>a</a:t>
            </a:r>
            <a:r>
              <a:rPr lang="en-US" altLang="en-US" sz="2400" dirty="0">
                <a:solidFill>
                  <a:srgbClr val="7030A0"/>
                </a:solidFill>
                <a:sym typeface="Greek Symbols"/>
              </a:rPr>
              <a:t>;</a:t>
            </a:r>
            <a:br>
              <a:rPr lang="en-US" altLang="en-US" sz="2400" dirty="0">
                <a:solidFill>
                  <a:srgbClr val="7030A0"/>
                </a:solidFill>
                <a:sym typeface="Greek Symbols"/>
              </a:rPr>
            </a:br>
            <a:r>
              <a:rPr lang="en-US" altLang="en-US" sz="2400" dirty="0">
                <a:solidFill>
                  <a:srgbClr val="7030A0"/>
                </a:solidFill>
                <a:sym typeface="Greek Symbols"/>
              </a:rPr>
              <a:t>	</a:t>
            </a:r>
            <a:r>
              <a:rPr lang="en-US" altLang="en-US" sz="2400" b="1" dirty="0">
                <a:solidFill>
                  <a:srgbClr val="7030A0"/>
                </a:solidFill>
                <a:sym typeface="Greek Symbols"/>
              </a:rPr>
              <a:t>while</a:t>
            </a:r>
            <a:r>
              <a:rPr lang="en-US" altLang="en-US" sz="2400" dirty="0">
                <a:solidFill>
                  <a:srgbClr val="7030A0"/>
                </a:solidFill>
                <a:sym typeface="Greek Symbols"/>
              </a:rPr>
              <a:t> (changes to </a:t>
            </a:r>
            <a:r>
              <a:rPr lang="en-US" altLang="en-US" sz="2400" i="1" dirty="0">
                <a:solidFill>
                  <a:srgbClr val="7030A0"/>
                </a:solidFill>
                <a:sym typeface="Greek Symbols"/>
              </a:rPr>
              <a:t>result</a:t>
            </a:r>
            <a:r>
              <a:rPr lang="en-US" altLang="en-US" sz="2400" dirty="0">
                <a:solidFill>
                  <a:srgbClr val="7030A0"/>
                </a:solidFill>
                <a:sym typeface="Greek Symbols"/>
              </a:rPr>
              <a:t>) </a:t>
            </a:r>
            <a:r>
              <a:rPr lang="en-US" altLang="en-US" sz="2400" b="1" dirty="0">
                <a:solidFill>
                  <a:srgbClr val="7030A0"/>
                </a:solidFill>
                <a:sym typeface="Greek Symbols"/>
              </a:rPr>
              <a:t>do</a:t>
            </a:r>
            <a:br>
              <a:rPr lang="en-US" altLang="en-US" sz="2400" b="1" dirty="0">
                <a:solidFill>
                  <a:srgbClr val="7030A0"/>
                </a:solidFill>
                <a:sym typeface="Greek Symbols"/>
              </a:rPr>
            </a:br>
            <a:r>
              <a:rPr lang="en-US" altLang="en-US" sz="2400" b="1" dirty="0">
                <a:solidFill>
                  <a:srgbClr val="7030A0"/>
                </a:solidFill>
                <a:sym typeface="Greek Symbols"/>
              </a:rPr>
              <a:t>		for each </a:t>
            </a:r>
            <a:r>
              <a:rPr lang="en-US" altLang="en-US" sz="2400" dirty="0">
                <a:solidFill>
                  <a:srgbClr val="7030A0"/>
                </a:solidFill>
                <a:sym typeface="Symbol" panose="05050102010706020507" pitchFamily="18" charset="2"/>
              </a:rPr>
              <a:t></a:t>
            </a:r>
            <a:r>
              <a:rPr lang="en-US" altLang="en-US" sz="2400" i="1" dirty="0">
                <a:solidFill>
                  <a:srgbClr val="7030A0"/>
                </a:solidFill>
                <a:sym typeface="Greek Symbols"/>
              </a:rPr>
              <a:t> </a:t>
            </a:r>
            <a:r>
              <a:rPr lang="en-US" altLang="en-US" sz="2400" dirty="0">
                <a:solidFill>
                  <a:srgbClr val="7030A0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2400" dirty="0">
                <a:solidFill>
                  <a:srgbClr val="7030A0"/>
                </a:solidFill>
                <a:sym typeface="Monotype Sorts" pitchFamily="-65" charset="2"/>
              </a:rPr>
              <a:t> </a:t>
            </a:r>
            <a:r>
              <a:rPr lang="en-US" altLang="en-US" sz="2400" dirty="0">
                <a:solidFill>
                  <a:srgbClr val="7030A0"/>
                </a:solidFill>
                <a:sym typeface="Symbol" panose="05050102010706020507" pitchFamily="18" charset="2"/>
              </a:rPr>
              <a:t></a:t>
            </a:r>
            <a:r>
              <a:rPr lang="en-US" altLang="en-US" sz="2400" dirty="0">
                <a:solidFill>
                  <a:srgbClr val="7030A0"/>
                </a:solidFill>
                <a:sym typeface="Greek Symbols"/>
              </a:rPr>
              <a:t> </a:t>
            </a:r>
            <a:r>
              <a:rPr lang="en-US" altLang="en-US" sz="2400" b="1" dirty="0">
                <a:solidFill>
                  <a:srgbClr val="7030A0"/>
                </a:solidFill>
                <a:sym typeface="Greek Symbols"/>
              </a:rPr>
              <a:t>in</a:t>
            </a:r>
            <a:r>
              <a:rPr lang="en-US" altLang="en-US" sz="2400" i="1" dirty="0">
                <a:solidFill>
                  <a:srgbClr val="7030A0"/>
                </a:solidFill>
                <a:sym typeface="Greek Symbols"/>
              </a:rPr>
              <a:t> F</a:t>
            </a:r>
            <a:r>
              <a:rPr lang="en-US" altLang="en-US" sz="2400" b="1" dirty="0">
                <a:solidFill>
                  <a:srgbClr val="7030A0"/>
                </a:solidFill>
                <a:sym typeface="Greek Symbols"/>
              </a:rPr>
              <a:t> do</a:t>
            </a:r>
            <a:br>
              <a:rPr lang="en-US" altLang="en-US" sz="2400" b="1" dirty="0">
                <a:solidFill>
                  <a:srgbClr val="7030A0"/>
                </a:solidFill>
                <a:sym typeface="Greek Symbols"/>
              </a:rPr>
            </a:br>
            <a:r>
              <a:rPr lang="en-US" altLang="en-US" sz="2400" b="1" dirty="0">
                <a:solidFill>
                  <a:srgbClr val="7030A0"/>
                </a:solidFill>
                <a:sym typeface="Greek Symbols"/>
              </a:rPr>
              <a:t>			begin</a:t>
            </a:r>
            <a:br>
              <a:rPr lang="en-US" altLang="en-US" sz="2400" b="1" dirty="0">
                <a:solidFill>
                  <a:srgbClr val="7030A0"/>
                </a:solidFill>
                <a:sym typeface="Greek Symbols"/>
              </a:rPr>
            </a:br>
            <a:r>
              <a:rPr lang="en-US" altLang="en-US" sz="2400" b="1" dirty="0">
                <a:solidFill>
                  <a:srgbClr val="7030A0"/>
                </a:solidFill>
                <a:sym typeface="Greek Symbols"/>
              </a:rPr>
              <a:t>				if </a:t>
            </a:r>
            <a:r>
              <a:rPr lang="en-US" altLang="en-US" sz="2400" dirty="0">
                <a:solidFill>
                  <a:srgbClr val="7030A0"/>
                </a:solidFill>
                <a:sym typeface="Symbol" panose="05050102010706020507" pitchFamily="18" charset="2"/>
              </a:rPr>
              <a:t></a:t>
            </a:r>
            <a:r>
              <a:rPr lang="en-US" altLang="en-US" sz="2400" i="1" dirty="0">
                <a:solidFill>
                  <a:srgbClr val="7030A0"/>
                </a:solidFill>
                <a:sym typeface="Greek Symbols"/>
              </a:rPr>
              <a:t> </a:t>
            </a:r>
            <a:r>
              <a:rPr lang="en-US" altLang="en-US" sz="2400" dirty="0">
                <a:solidFill>
                  <a:srgbClr val="7030A0"/>
                </a:solidFill>
                <a:sym typeface="Symbol" panose="05050102010706020507" pitchFamily="18" charset="2"/>
              </a:rPr>
              <a:t> </a:t>
            </a:r>
            <a:r>
              <a:rPr lang="en-US" altLang="en-US" sz="2400" i="1" dirty="0">
                <a:solidFill>
                  <a:srgbClr val="7030A0"/>
                </a:solidFill>
                <a:sym typeface="Symbol" panose="05050102010706020507" pitchFamily="18" charset="2"/>
              </a:rPr>
              <a:t>result</a:t>
            </a:r>
            <a:r>
              <a:rPr lang="en-US" altLang="en-US" sz="2400" b="1" dirty="0">
                <a:solidFill>
                  <a:srgbClr val="7030A0"/>
                </a:solidFill>
                <a:sym typeface="Symbol" panose="05050102010706020507" pitchFamily="18" charset="2"/>
              </a:rPr>
              <a:t> then </a:t>
            </a:r>
            <a:r>
              <a:rPr lang="en-US" altLang="en-US" sz="2400" i="1" dirty="0">
                <a:solidFill>
                  <a:srgbClr val="7030A0"/>
                </a:solidFill>
                <a:sym typeface="Symbol" panose="05050102010706020507" pitchFamily="18" charset="2"/>
              </a:rPr>
              <a:t> result </a:t>
            </a:r>
            <a:r>
              <a:rPr lang="en-US" altLang="en-US" sz="2400" dirty="0">
                <a:solidFill>
                  <a:srgbClr val="7030A0"/>
                </a:solidFill>
                <a:sym typeface="Symbol" panose="05050102010706020507" pitchFamily="18" charset="2"/>
              </a:rPr>
              <a:t>:= </a:t>
            </a:r>
            <a:r>
              <a:rPr lang="en-US" altLang="en-US" sz="2400" i="1" dirty="0">
                <a:solidFill>
                  <a:srgbClr val="7030A0"/>
                </a:solidFill>
                <a:sym typeface="Symbol" panose="05050102010706020507" pitchFamily="18" charset="2"/>
              </a:rPr>
              <a:t>result </a:t>
            </a:r>
            <a:r>
              <a:rPr lang="en-US" altLang="en-US" sz="2400" dirty="0">
                <a:solidFill>
                  <a:srgbClr val="7030A0"/>
                </a:solidFill>
                <a:sym typeface="Symbol" panose="05050102010706020507" pitchFamily="18" charset="2"/>
              </a:rPr>
              <a:t></a:t>
            </a:r>
            <a:r>
              <a:rPr lang="en-US" altLang="en-US" sz="2400" dirty="0">
                <a:solidFill>
                  <a:srgbClr val="7030A0"/>
                </a:solidFill>
                <a:sym typeface="Greek Symbols"/>
              </a:rPr>
              <a:t> </a:t>
            </a:r>
            <a:r>
              <a:rPr lang="en-US" altLang="en-US" sz="2400" dirty="0">
                <a:solidFill>
                  <a:srgbClr val="7030A0"/>
                </a:solidFill>
                <a:sym typeface="Symbol" panose="05050102010706020507" pitchFamily="18" charset="2"/>
              </a:rPr>
              <a:t></a:t>
            </a:r>
            <a:r>
              <a:rPr lang="en-US" altLang="en-US" sz="2400" dirty="0">
                <a:solidFill>
                  <a:srgbClr val="7030A0"/>
                </a:solidFill>
                <a:sym typeface="Greek Symbols"/>
              </a:rPr>
              <a:t> </a:t>
            </a:r>
            <a:br>
              <a:rPr lang="en-US" altLang="en-US" sz="2400" dirty="0">
                <a:solidFill>
                  <a:srgbClr val="7030A0"/>
                </a:solidFill>
                <a:sym typeface="Greek Symbols"/>
              </a:rPr>
            </a:br>
            <a:r>
              <a:rPr lang="en-US" altLang="en-US" sz="2400" dirty="0">
                <a:solidFill>
                  <a:srgbClr val="7030A0"/>
                </a:solidFill>
                <a:sym typeface="Greek Symbols"/>
              </a:rPr>
              <a:t>			</a:t>
            </a:r>
            <a:r>
              <a:rPr lang="en-US" altLang="en-US" sz="2400" b="1" dirty="0">
                <a:solidFill>
                  <a:srgbClr val="7030A0"/>
                </a:solidFill>
                <a:sym typeface="Greek Symbols"/>
              </a:rPr>
              <a:t>end</a:t>
            </a:r>
            <a:endParaRPr lang="en-US" altLang="en-US" sz="2400" b="1" dirty="0">
              <a:solidFill>
                <a:srgbClr val="7030A0"/>
              </a:solidFill>
              <a:sym typeface="Greek Symbols"/>
            </a:endParaRPr>
          </a:p>
          <a:p>
            <a:pPr>
              <a:buFont typeface="Monotype Sorts" pitchFamily="-65" charset="2"/>
              <a:buNone/>
              <a:tabLst>
                <a:tab pos="1026795" algn="l"/>
                <a:tab pos="1547495" algn="l"/>
                <a:tab pos="1771650" algn="l"/>
                <a:tab pos="2054225" algn="l"/>
                <a:tab pos="3140075" algn="ctr"/>
              </a:tabLst>
            </a:pPr>
            <a:endParaRPr lang="en-US" altLang="en-US" b="1" dirty="0">
              <a:sym typeface="Greek Symbols"/>
            </a:endParaRPr>
          </a:p>
          <a:p>
            <a:pPr>
              <a:buFont typeface="Monotype Sorts" pitchFamily="-65" charset="2"/>
              <a:buNone/>
              <a:tabLst>
                <a:tab pos="1026795" algn="l"/>
                <a:tab pos="1547495" algn="l"/>
                <a:tab pos="1771650" algn="l"/>
                <a:tab pos="2054225" algn="l"/>
                <a:tab pos="3140075" algn="ctr"/>
              </a:tabLst>
            </a:pPr>
            <a:endParaRPr lang="en-US" altLang="en-US" b="1" dirty="0">
              <a:sym typeface="Greek Symbol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7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7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7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7587" grpId="0" autoUpdateAnimBg="0" build="p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Example of Attribute Set Closure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  <a:ea typeface="MS PGothic" panose="020B0600070205080204" pitchFamily="34" charset="-128"/>
            </a:endParaRPr>
          </a:p>
        </p:txBody>
      </p:sp>
      <p:sp>
        <p:nvSpPr>
          <p:cNvPr id="7096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056443"/>
            <a:ext cx="7136402" cy="5296231"/>
          </a:xfrm>
        </p:spPr>
        <p:txBody>
          <a:bodyPr/>
          <a:lstStyle/>
          <a:p>
            <a:pPr>
              <a:lnSpc>
                <a:spcPct val="90000"/>
              </a:lnSpc>
              <a:tabLst>
                <a:tab pos="803275" algn="l"/>
                <a:tab pos="2633345" algn="l"/>
                <a:tab pos="3140075" algn="l"/>
              </a:tabLst>
            </a:pPr>
            <a:r>
              <a:rPr lang="en-US" altLang="en-US" sz="1600" i="1" dirty="0"/>
              <a:t>R = (A, B, C, G, H, I)</a:t>
            </a:r>
            <a:endParaRPr lang="en-US" altLang="en-US" sz="1600" i="1" dirty="0"/>
          </a:p>
          <a:p>
            <a:pPr>
              <a:lnSpc>
                <a:spcPct val="90000"/>
              </a:lnSpc>
              <a:tabLst>
                <a:tab pos="803275" algn="l"/>
                <a:tab pos="2633345" algn="l"/>
                <a:tab pos="3140075" algn="l"/>
              </a:tabLst>
            </a:pPr>
            <a:r>
              <a:rPr lang="en-US" altLang="en-US" sz="1600" i="1" dirty="0"/>
              <a:t>F = </a:t>
            </a:r>
            <a:r>
              <a:rPr lang="en-US" altLang="en-US" sz="1600" dirty="0"/>
              <a:t>{</a:t>
            </a:r>
            <a:r>
              <a:rPr lang="en-US" altLang="en-US" sz="1600" i="1" dirty="0">
                <a:sym typeface="Iconic Symbols Ext"/>
              </a:rPr>
              <a:t>A </a:t>
            </a:r>
            <a:r>
              <a:rPr lang="en-US" altLang="en-US" sz="1600" dirty="0">
                <a:sym typeface="Symbol" panose="05050102010706020507" pitchFamily="18" charset="2"/>
              </a:rPr>
              <a:t></a:t>
            </a:r>
            <a:r>
              <a:rPr lang="en-US" altLang="en-US" sz="1600" dirty="0">
                <a:sym typeface="Monotype Sorts" pitchFamily="-65" charset="2"/>
              </a:rPr>
              <a:t> </a:t>
            </a:r>
            <a:r>
              <a:rPr lang="en-US" altLang="en-US" sz="1600" i="1" dirty="0">
                <a:sym typeface="Monotype Sorts" pitchFamily="-65" charset="2"/>
              </a:rPr>
              <a:t>B</a:t>
            </a:r>
            <a:br>
              <a:rPr lang="en-US" altLang="en-US" sz="1600" i="1" dirty="0">
                <a:sym typeface="Monotype Sorts" pitchFamily="-65" charset="2"/>
              </a:rPr>
            </a:br>
            <a:r>
              <a:rPr lang="en-US" altLang="en-US" sz="1600" i="1" dirty="0">
                <a:sym typeface="Monotype Sorts" pitchFamily="-65" charset="2"/>
              </a:rPr>
              <a:t>	</a:t>
            </a:r>
            <a:r>
              <a:rPr lang="en-US" altLang="en-US" sz="1600" i="1" dirty="0">
                <a:sym typeface="Iconic Symbols Ext"/>
              </a:rPr>
              <a:t>A </a:t>
            </a:r>
            <a:r>
              <a:rPr lang="en-US" altLang="en-US" sz="1600" dirty="0">
                <a:sym typeface="Symbol" panose="05050102010706020507" pitchFamily="18" charset="2"/>
              </a:rPr>
              <a:t></a:t>
            </a:r>
            <a:r>
              <a:rPr lang="en-US" altLang="en-US" sz="1600" dirty="0">
                <a:sym typeface="Monotype Sorts" pitchFamily="-65" charset="2"/>
              </a:rPr>
              <a:t> </a:t>
            </a:r>
            <a:r>
              <a:rPr lang="en-US" altLang="en-US" sz="1600" i="1" dirty="0">
                <a:sym typeface="Monotype Sorts" pitchFamily="-65" charset="2"/>
              </a:rPr>
              <a:t>C </a:t>
            </a:r>
            <a:br>
              <a:rPr lang="en-US" altLang="en-US" sz="1600" i="1" dirty="0">
                <a:sym typeface="Monotype Sorts" pitchFamily="-65" charset="2"/>
              </a:rPr>
            </a:br>
            <a:r>
              <a:rPr lang="en-US" altLang="en-US" sz="1600" i="1" dirty="0">
                <a:sym typeface="Monotype Sorts" pitchFamily="-65" charset="2"/>
              </a:rPr>
              <a:t>	</a:t>
            </a:r>
            <a:r>
              <a:rPr lang="en-US" altLang="en-US" sz="1600" i="1" dirty="0">
                <a:sym typeface="Iconic Symbols Ext"/>
              </a:rPr>
              <a:t>CG </a:t>
            </a:r>
            <a:r>
              <a:rPr lang="en-US" altLang="en-US" sz="1600" dirty="0">
                <a:sym typeface="Symbol" panose="05050102010706020507" pitchFamily="18" charset="2"/>
              </a:rPr>
              <a:t></a:t>
            </a:r>
            <a:r>
              <a:rPr lang="en-US" altLang="en-US" sz="1600" dirty="0">
                <a:sym typeface="Monotype Sorts" pitchFamily="-65" charset="2"/>
              </a:rPr>
              <a:t> </a:t>
            </a:r>
            <a:r>
              <a:rPr lang="en-US" altLang="en-US" sz="1600" i="1" dirty="0">
                <a:sym typeface="Monotype Sorts" pitchFamily="-65" charset="2"/>
              </a:rPr>
              <a:t>H</a:t>
            </a:r>
            <a:br>
              <a:rPr lang="en-US" altLang="en-US" sz="1600" i="1" dirty="0">
                <a:sym typeface="Monotype Sorts" pitchFamily="-65" charset="2"/>
              </a:rPr>
            </a:br>
            <a:r>
              <a:rPr lang="en-US" altLang="en-US" sz="1600" i="1" dirty="0">
                <a:sym typeface="Monotype Sorts" pitchFamily="-65" charset="2"/>
              </a:rPr>
              <a:t>	</a:t>
            </a:r>
            <a:r>
              <a:rPr lang="en-US" altLang="en-US" sz="1600" i="1" dirty="0">
                <a:sym typeface="Iconic Symbols Ext"/>
              </a:rPr>
              <a:t>CG </a:t>
            </a:r>
            <a:r>
              <a:rPr lang="en-US" altLang="en-US" sz="1600" dirty="0">
                <a:sym typeface="Symbol" panose="05050102010706020507" pitchFamily="18" charset="2"/>
              </a:rPr>
              <a:t></a:t>
            </a:r>
            <a:r>
              <a:rPr lang="en-US" altLang="en-US" sz="1600" dirty="0">
                <a:sym typeface="Monotype Sorts" pitchFamily="-65" charset="2"/>
              </a:rPr>
              <a:t> </a:t>
            </a:r>
            <a:r>
              <a:rPr lang="en-US" altLang="en-US" sz="1600" i="1" dirty="0">
                <a:sym typeface="Monotype Sorts" pitchFamily="-65" charset="2"/>
              </a:rPr>
              <a:t>I</a:t>
            </a:r>
            <a:br>
              <a:rPr lang="en-US" altLang="en-US" sz="1600" i="1" dirty="0">
                <a:sym typeface="Monotype Sorts" pitchFamily="-65" charset="2"/>
              </a:rPr>
            </a:br>
            <a:r>
              <a:rPr lang="en-US" altLang="en-US" sz="1600" i="1" dirty="0">
                <a:sym typeface="Monotype Sorts" pitchFamily="-65" charset="2"/>
              </a:rPr>
              <a:t>	</a:t>
            </a:r>
            <a:r>
              <a:rPr lang="en-US" altLang="en-US" sz="1600" i="1" dirty="0">
                <a:sym typeface="Iconic Symbols Ext"/>
              </a:rPr>
              <a:t>B </a:t>
            </a:r>
            <a:r>
              <a:rPr lang="en-US" altLang="en-US" sz="1600" dirty="0">
                <a:sym typeface="Symbol" panose="05050102010706020507" pitchFamily="18" charset="2"/>
              </a:rPr>
              <a:t></a:t>
            </a:r>
            <a:r>
              <a:rPr lang="en-US" altLang="en-US" sz="1600" dirty="0">
                <a:sym typeface="Monotype Sorts" pitchFamily="-65" charset="2"/>
              </a:rPr>
              <a:t> </a:t>
            </a:r>
            <a:r>
              <a:rPr lang="en-US" altLang="en-US" sz="1600" i="1" dirty="0">
                <a:sym typeface="Monotype Sorts" pitchFamily="-65" charset="2"/>
              </a:rPr>
              <a:t>H</a:t>
            </a:r>
            <a:r>
              <a:rPr lang="en-US" altLang="en-US" sz="1600" dirty="0">
                <a:sym typeface="Monotype Sorts" pitchFamily="-65" charset="2"/>
              </a:rPr>
              <a:t>}</a:t>
            </a:r>
            <a:endParaRPr lang="en-US" altLang="en-US" sz="1600" dirty="0">
              <a:sym typeface="MS LineDraw"/>
            </a:endParaRPr>
          </a:p>
          <a:p>
            <a:pPr>
              <a:lnSpc>
                <a:spcPct val="90000"/>
              </a:lnSpc>
              <a:tabLst>
                <a:tab pos="803275" algn="l"/>
                <a:tab pos="2633345" algn="l"/>
                <a:tab pos="3140075" algn="l"/>
              </a:tabLst>
            </a:pPr>
            <a:r>
              <a:rPr lang="en-US" altLang="en-US" sz="1600" dirty="0">
                <a:sym typeface="MS LineDraw"/>
              </a:rPr>
              <a:t>(</a:t>
            </a:r>
            <a:r>
              <a:rPr lang="en-US" altLang="en-US" sz="1600" i="1" dirty="0">
                <a:sym typeface="MS LineDraw"/>
              </a:rPr>
              <a:t>AG)</a:t>
            </a:r>
            <a:r>
              <a:rPr lang="en-US" altLang="en-US" sz="1600" baseline="30000" dirty="0">
                <a:sym typeface="MS LineDraw"/>
              </a:rPr>
              <a:t>+</a:t>
            </a:r>
            <a:endParaRPr lang="en-US" altLang="en-US" sz="1600" dirty="0">
              <a:sym typeface="MS LineDraw"/>
            </a:endParaRPr>
          </a:p>
          <a:p>
            <a:pPr marL="762000" lvl="1" indent="-304800">
              <a:lnSpc>
                <a:spcPct val="90000"/>
              </a:lnSpc>
              <a:buFont typeface="Monotype Sorts" pitchFamily="-65" charset="2"/>
              <a:buNone/>
              <a:tabLst>
                <a:tab pos="803275" algn="l"/>
                <a:tab pos="2633345" algn="l"/>
                <a:tab pos="3140075" algn="l"/>
              </a:tabLst>
            </a:pPr>
            <a:r>
              <a:rPr lang="en-US" altLang="en-US" sz="1600" dirty="0">
                <a:sym typeface="MS LineDraw"/>
              </a:rPr>
              <a:t>1.	</a:t>
            </a:r>
            <a:r>
              <a:rPr lang="en-US" altLang="en-US" sz="1600" i="1" dirty="0">
                <a:sym typeface="MS LineDraw"/>
              </a:rPr>
              <a:t>result = AG</a:t>
            </a:r>
            <a:endParaRPr lang="en-US" altLang="en-US" sz="1600" dirty="0">
              <a:sym typeface="MS LineDraw"/>
            </a:endParaRPr>
          </a:p>
          <a:p>
            <a:pPr marL="762000" lvl="1" indent="-304800">
              <a:lnSpc>
                <a:spcPct val="90000"/>
              </a:lnSpc>
              <a:buFont typeface="Monotype Sorts" pitchFamily="-65" charset="2"/>
              <a:buNone/>
              <a:tabLst>
                <a:tab pos="803275" algn="l"/>
                <a:tab pos="2633345" algn="l"/>
                <a:tab pos="3140075" algn="l"/>
              </a:tabLst>
            </a:pPr>
            <a:r>
              <a:rPr lang="en-US" altLang="en-US" sz="1600" dirty="0">
                <a:sym typeface="MS LineDraw"/>
              </a:rPr>
              <a:t>2.	</a:t>
            </a:r>
            <a:r>
              <a:rPr lang="en-US" altLang="en-US" sz="1600" i="1" dirty="0">
                <a:sym typeface="MS LineDraw"/>
              </a:rPr>
              <a:t>result = ABCG	(A </a:t>
            </a:r>
            <a:r>
              <a:rPr lang="en-US" altLang="en-US" sz="1600" dirty="0">
                <a:sym typeface="Symbol" panose="05050102010706020507" pitchFamily="18" charset="2"/>
              </a:rPr>
              <a:t></a:t>
            </a:r>
            <a:r>
              <a:rPr lang="en-US" altLang="en-US" sz="1600" dirty="0">
                <a:sym typeface="Monotype Sorts" pitchFamily="-65" charset="2"/>
              </a:rPr>
              <a:t> </a:t>
            </a:r>
            <a:r>
              <a:rPr lang="en-US" altLang="en-US" sz="1600" i="1" dirty="0">
                <a:sym typeface="Monotype Sorts" pitchFamily="-65" charset="2"/>
              </a:rPr>
              <a:t>C </a:t>
            </a:r>
            <a:r>
              <a:rPr lang="en-US" altLang="en-US" sz="1600" dirty="0">
                <a:sym typeface="Monotype Sorts" pitchFamily="-65" charset="2"/>
              </a:rPr>
              <a:t>and </a:t>
            </a:r>
            <a:r>
              <a:rPr lang="en-US" altLang="en-US" sz="1600" i="1" dirty="0">
                <a:sym typeface="Monotype Sorts" pitchFamily="-65" charset="2"/>
              </a:rPr>
              <a:t>A </a:t>
            </a:r>
            <a:r>
              <a:rPr lang="en-US" altLang="en-US" sz="1600" dirty="0">
                <a:sym typeface="Symbol" panose="05050102010706020507" pitchFamily="18" charset="2"/>
              </a:rPr>
              <a:t></a:t>
            </a:r>
            <a:r>
              <a:rPr lang="en-US" altLang="en-US" sz="1600" i="1" dirty="0">
                <a:sym typeface="Symbol" panose="05050102010706020507" pitchFamily="18" charset="2"/>
              </a:rPr>
              <a:t> B)</a:t>
            </a:r>
            <a:endParaRPr lang="en-US" altLang="en-US" sz="1600" dirty="0">
              <a:sym typeface="Symbol" panose="05050102010706020507" pitchFamily="18" charset="2"/>
            </a:endParaRPr>
          </a:p>
          <a:p>
            <a:pPr marL="762000" lvl="1" indent="-304800">
              <a:lnSpc>
                <a:spcPct val="90000"/>
              </a:lnSpc>
              <a:buFont typeface="Monotype Sorts" pitchFamily="-65" charset="2"/>
              <a:buNone/>
              <a:tabLst>
                <a:tab pos="803275" algn="l"/>
                <a:tab pos="2633345" algn="l"/>
                <a:tab pos="3140075" algn="l"/>
              </a:tabLst>
            </a:pPr>
            <a:r>
              <a:rPr lang="en-US" altLang="en-US" sz="1600" dirty="0">
                <a:sym typeface="Symbol" panose="05050102010706020507" pitchFamily="18" charset="2"/>
              </a:rPr>
              <a:t>3.	</a:t>
            </a:r>
            <a:r>
              <a:rPr lang="en-US" altLang="en-US" sz="1600" i="1" dirty="0">
                <a:sym typeface="MS LineDraw"/>
              </a:rPr>
              <a:t>result = ABCG</a:t>
            </a:r>
            <a:r>
              <a:rPr lang="en-US" altLang="en-US" sz="1600" i="1" dirty="0">
                <a:sym typeface="Monotype Sorts" pitchFamily="-65" charset="2"/>
              </a:rPr>
              <a:t>H	(CG </a:t>
            </a:r>
            <a:r>
              <a:rPr lang="en-US" altLang="en-US" sz="1600" dirty="0">
                <a:sym typeface="Symbol" panose="05050102010706020507" pitchFamily="18" charset="2"/>
              </a:rPr>
              <a:t></a:t>
            </a:r>
            <a:r>
              <a:rPr lang="en-US" altLang="en-US" sz="1600" dirty="0">
                <a:sym typeface="Monotype Sorts" pitchFamily="-65" charset="2"/>
              </a:rPr>
              <a:t> </a:t>
            </a:r>
            <a:r>
              <a:rPr lang="en-US" altLang="en-US" sz="1600" i="1" dirty="0">
                <a:sym typeface="Monotype Sorts" pitchFamily="-65" charset="2"/>
              </a:rPr>
              <a:t>H</a:t>
            </a:r>
            <a:r>
              <a:rPr lang="en-US" altLang="en-US" sz="1600" dirty="0">
                <a:sym typeface="Monotype Sorts" pitchFamily="-65" charset="2"/>
              </a:rPr>
              <a:t> and </a:t>
            </a:r>
            <a:r>
              <a:rPr lang="en-US" altLang="en-US" sz="1600" i="1" dirty="0">
                <a:sym typeface="Monotype Sorts" pitchFamily="-65" charset="2"/>
              </a:rPr>
              <a:t>CG </a:t>
            </a:r>
            <a:r>
              <a:rPr lang="en-US" altLang="en-US" sz="1600" dirty="0">
                <a:sym typeface="Symbol" panose="05050102010706020507" pitchFamily="18" charset="2"/>
              </a:rPr>
              <a:t> </a:t>
            </a:r>
            <a:r>
              <a:rPr lang="en-US" altLang="en-US" sz="1600" i="1" dirty="0">
                <a:sym typeface="Symbol" panose="05050102010706020507" pitchFamily="18" charset="2"/>
              </a:rPr>
              <a:t>AGBC)</a:t>
            </a:r>
            <a:endParaRPr lang="en-US" altLang="en-US" sz="1600" i="1" dirty="0">
              <a:sym typeface="Symbol" panose="05050102010706020507" pitchFamily="18" charset="2"/>
            </a:endParaRPr>
          </a:p>
          <a:p>
            <a:pPr marL="762000" lvl="1" indent="-304800">
              <a:lnSpc>
                <a:spcPct val="90000"/>
              </a:lnSpc>
              <a:buFont typeface="Monotype Sorts" pitchFamily="-65" charset="2"/>
              <a:buNone/>
              <a:tabLst>
                <a:tab pos="803275" algn="l"/>
                <a:tab pos="2633345" algn="l"/>
                <a:tab pos="3140075" algn="l"/>
              </a:tabLst>
            </a:pPr>
            <a:r>
              <a:rPr lang="en-US" altLang="en-US" sz="1600" dirty="0">
                <a:sym typeface="Symbol" panose="05050102010706020507" pitchFamily="18" charset="2"/>
              </a:rPr>
              <a:t>4.	</a:t>
            </a:r>
            <a:r>
              <a:rPr lang="en-US" altLang="en-US" sz="1600" i="1" dirty="0">
                <a:sym typeface="MS LineDraw"/>
              </a:rPr>
              <a:t>result = ABCG</a:t>
            </a:r>
            <a:r>
              <a:rPr lang="en-US" altLang="en-US" sz="1600" i="1" dirty="0">
                <a:sym typeface="Monotype Sorts" pitchFamily="-65" charset="2"/>
              </a:rPr>
              <a:t>HI	(CG </a:t>
            </a:r>
            <a:r>
              <a:rPr lang="en-US" altLang="en-US" sz="1600" dirty="0">
                <a:sym typeface="Symbol" panose="05050102010706020507" pitchFamily="18" charset="2"/>
              </a:rPr>
              <a:t></a:t>
            </a:r>
            <a:r>
              <a:rPr lang="en-US" altLang="en-US" sz="1600" dirty="0">
                <a:sym typeface="Monotype Sorts" pitchFamily="-65" charset="2"/>
              </a:rPr>
              <a:t> </a:t>
            </a:r>
            <a:r>
              <a:rPr lang="en-US" altLang="en-US" sz="1600" i="1" dirty="0">
                <a:sym typeface="Monotype Sorts" pitchFamily="-65" charset="2"/>
              </a:rPr>
              <a:t>I</a:t>
            </a:r>
            <a:r>
              <a:rPr lang="en-US" altLang="en-US" sz="1600" dirty="0">
                <a:sym typeface="Monotype Sorts" pitchFamily="-65" charset="2"/>
              </a:rPr>
              <a:t> and </a:t>
            </a:r>
            <a:r>
              <a:rPr lang="en-US" altLang="en-US" sz="1600" i="1" dirty="0">
                <a:sym typeface="Monotype Sorts" pitchFamily="-65" charset="2"/>
              </a:rPr>
              <a:t>CG </a:t>
            </a:r>
            <a:r>
              <a:rPr lang="en-US" altLang="en-US" sz="1600" dirty="0">
                <a:sym typeface="Symbol" panose="05050102010706020507" pitchFamily="18" charset="2"/>
              </a:rPr>
              <a:t> </a:t>
            </a:r>
            <a:r>
              <a:rPr lang="en-US" altLang="en-US" sz="1600" i="1" dirty="0">
                <a:sym typeface="Symbol" panose="05050102010706020507" pitchFamily="18" charset="2"/>
              </a:rPr>
              <a:t>AGBCH)</a:t>
            </a:r>
            <a:endParaRPr lang="en-US" altLang="en-US" sz="1600" i="1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tabLst>
                <a:tab pos="803275" algn="l"/>
                <a:tab pos="2633345" algn="l"/>
                <a:tab pos="3140075" algn="l"/>
              </a:tabLst>
            </a:pPr>
            <a:r>
              <a:rPr lang="en-US" altLang="en-US" sz="1600" dirty="0">
                <a:sym typeface="Symbol" panose="05050102010706020507" pitchFamily="18" charset="2"/>
              </a:rPr>
              <a:t>Is </a:t>
            </a:r>
            <a:r>
              <a:rPr lang="en-US" altLang="en-US" sz="1600" i="1" dirty="0">
                <a:sym typeface="Symbol" panose="05050102010706020507" pitchFamily="18" charset="2"/>
              </a:rPr>
              <a:t>AG</a:t>
            </a:r>
            <a:r>
              <a:rPr lang="en-US" altLang="en-US" sz="1600" dirty="0">
                <a:sym typeface="Symbol" panose="05050102010706020507" pitchFamily="18" charset="2"/>
              </a:rPr>
              <a:t> a candidate key?  </a:t>
            </a:r>
            <a:endParaRPr lang="en-US" altLang="en-US" sz="1600" dirty="0">
              <a:sym typeface="Symbol" panose="05050102010706020507" pitchFamily="18" charset="2"/>
            </a:endParaRPr>
          </a:p>
          <a:p>
            <a:pPr marL="762000" lvl="1" indent="-304800">
              <a:lnSpc>
                <a:spcPct val="90000"/>
              </a:lnSpc>
              <a:buFont typeface="Monotype Sorts" pitchFamily="-65" charset="2"/>
              <a:buAutoNum type="arabicPeriod"/>
              <a:tabLst>
                <a:tab pos="803275" algn="l"/>
                <a:tab pos="2633345" algn="l"/>
                <a:tab pos="3140075" algn="l"/>
              </a:tabLst>
            </a:pPr>
            <a:r>
              <a:rPr lang="en-US" altLang="en-US" sz="1600" dirty="0">
                <a:solidFill>
                  <a:srgbClr val="FF0000"/>
                </a:solidFill>
                <a:sym typeface="Symbol" panose="05050102010706020507" pitchFamily="18" charset="2"/>
              </a:rPr>
              <a:t>Is AG a super key?</a:t>
            </a:r>
            <a:endParaRPr lang="en-US" altLang="en-US" sz="1600" dirty="0">
              <a:solidFill>
                <a:srgbClr val="FF0000"/>
              </a:solidFill>
              <a:sym typeface="Symbol" panose="05050102010706020507" pitchFamily="18" charset="2"/>
            </a:endParaRPr>
          </a:p>
          <a:p>
            <a:pPr marL="1163955" lvl="2" indent="-304800">
              <a:lnSpc>
                <a:spcPct val="90000"/>
              </a:lnSpc>
              <a:buFont typeface="Monotype Sorts" pitchFamily="-65" charset="2"/>
              <a:buAutoNum type="arabicPeriod"/>
              <a:tabLst>
                <a:tab pos="803275" algn="l"/>
                <a:tab pos="2633345" algn="l"/>
                <a:tab pos="3140075" algn="l"/>
              </a:tabLst>
            </a:pPr>
            <a:r>
              <a:rPr lang="en-US" altLang="en-US" sz="1600" dirty="0">
                <a:sym typeface="Symbol" panose="05050102010706020507" pitchFamily="18" charset="2"/>
              </a:rPr>
              <a:t>Does </a:t>
            </a:r>
            <a:r>
              <a:rPr lang="en-US" altLang="en-US" sz="1600" i="1" dirty="0">
                <a:sym typeface="Symbol" panose="05050102010706020507" pitchFamily="18" charset="2"/>
              </a:rPr>
              <a:t>AG </a:t>
            </a:r>
            <a:r>
              <a:rPr lang="en-US" altLang="en-US" sz="1600" dirty="0">
                <a:sym typeface="Symbol" panose="05050102010706020507" pitchFamily="18" charset="2"/>
              </a:rPr>
              <a:t></a:t>
            </a:r>
            <a:r>
              <a:rPr lang="en-US" altLang="en-US" sz="1600" dirty="0">
                <a:sym typeface="Monotype Sorts" pitchFamily="-65" charset="2"/>
              </a:rPr>
              <a:t> </a:t>
            </a:r>
            <a:r>
              <a:rPr lang="en-US" altLang="en-US" sz="1600" i="1" dirty="0">
                <a:sym typeface="Monotype Sorts" pitchFamily="-65" charset="2"/>
              </a:rPr>
              <a:t>R? == </a:t>
            </a:r>
            <a:r>
              <a:rPr lang="en-US" altLang="en-US" sz="1600" dirty="0">
                <a:sym typeface="Monotype Sorts" pitchFamily="-65" charset="2"/>
              </a:rPr>
              <a:t>Is </a:t>
            </a:r>
            <a:r>
              <a:rPr lang="en-US" altLang="en-US" sz="1600" dirty="0">
                <a:sym typeface="Symbol" panose="05050102010706020507" pitchFamily="18" charset="2"/>
              </a:rPr>
              <a:t>R</a:t>
            </a:r>
            <a:r>
              <a:rPr lang="en-US" altLang="en-US" sz="1600" dirty="0">
                <a:sym typeface="Monotype Sorts" pitchFamily="-65" charset="2"/>
              </a:rPr>
              <a:t> </a:t>
            </a:r>
            <a:r>
              <a:rPr lang="en-US" altLang="en-US" sz="1600" dirty="0">
                <a:sym typeface="Symbol" panose="05050102010706020507" pitchFamily="18" charset="2"/>
              </a:rPr>
              <a:t> </a:t>
            </a:r>
            <a:r>
              <a:rPr lang="en-US" altLang="en-US" sz="1600" dirty="0">
                <a:sym typeface="Monotype Sorts" pitchFamily="-65" charset="2"/>
              </a:rPr>
              <a:t>(AG)</a:t>
            </a:r>
            <a:r>
              <a:rPr lang="en-US" altLang="en-US" sz="1600" baseline="30000" dirty="0">
                <a:sym typeface="Monotype Sorts" pitchFamily="-65" charset="2"/>
              </a:rPr>
              <a:t>+ </a:t>
            </a:r>
            <a:endParaRPr lang="en-US" altLang="en-US" sz="1600" i="1" dirty="0">
              <a:sym typeface="Monotype Sorts" pitchFamily="-65" charset="2"/>
            </a:endParaRPr>
          </a:p>
          <a:p>
            <a:pPr marL="762000" lvl="1" indent="-304800">
              <a:lnSpc>
                <a:spcPct val="90000"/>
              </a:lnSpc>
              <a:buFont typeface="Monotype Sorts" pitchFamily="-65" charset="2"/>
              <a:buAutoNum type="arabicPeriod" startAt="2"/>
              <a:tabLst>
                <a:tab pos="803275" algn="l"/>
                <a:tab pos="2633345" algn="l"/>
                <a:tab pos="3140075" algn="l"/>
              </a:tabLst>
            </a:pPr>
            <a:r>
              <a:rPr lang="en-US" altLang="en-US" sz="1600" dirty="0">
                <a:solidFill>
                  <a:srgbClr val="FF0000"/>
                </a:solidFill>
                <a:sym typeface="Monotype Sorts" pitchFamily="-65" charset="2"/>
              </a:rPr>
              <a:t>Is any subset of AG a </a:t>
            </a:r>
            <a:r>
              <a:rPr lang="en-US" altLang="en-US" sz="1600" dirty="0" err="1">
                <a:solidFill>
                  <a:srgbClr val="FF0000"/>
                </a:solidFill>
                <a:sym typeface="Monotype Sorts" pitchFamily="-65" charset="2"/>
              </a:rPr>
              <a:t>superkey</a:t>
            </a:r>
            <a:r>
              <a:rPr lang="en-US" altLang="en-US" sz="1600" dirty="0">
                <a:solidFill>
                  <a:srgbClr val="FF0000"/>
                </a:solidFill>
                <a:sym typeface="Monotype Sorts" pitchFamily="-65" charset="2"/>
              </a:rPr>
              <a:t>?</a:t>
            </a:r>
            <a:endParaRPr lang="en-US" altLang="en-US" sz="1600" dirty="0">
              <a:solidFill>
                <a:srgbClr val="FF0000"/>
              </a:solidFill>
              <a:sym typeface="Monotype Sorts" pitchFamily="-65" charset="2"/>
            </a:endParaRPr>
          </a:p>
          <a:p>
            <a:pPr marL="1163955" lvl="2" indent="-304800">
              <a:lnSpc>
                <a:spcPct val="90000"/>
              </a:lnSpc>
              <a:buFont typeface="Monotype Sorts" pitchFamily="-65" charset="2"/>
              <a:buAutoNum type="arabicPeriod"/>
              <a:tabLst>
                <a:tab pos="803275" algn="l"/>
                <a:tab pos="2633345" algn="l"/>
                <a:tab pos="3140075" algn="l"/>
              </a:tabLst>
            </a:pPr>
            <a:r>
              <a:rPr lang="en-US" altLang="en-US" sz="1600" dirty="0">
                <a:sym typeface="Monotype Sorts" pitchFamily="-65" charset="2"/>
              </a:rPr>
              <a:t>Does </a:t>
            </a:r>
            <a:r>
              <a:rPr lang="en-US" altLang="en-US" sz="1600" i="1" dirty="0">
                <a:sym typeface="Monotype Sorts" pitchFamily="-65" charset="2"/>
              </a:rPr>
              <a:t>A</a:t>
            </a:r>
            <a:r>
              <a:rPr lang="en-US" altLang="en-US" sz="1600" dirty="0">
                <a:sym typeface="Monotype Sorts" pitchFamily="-65" charset="2"/>
              </a:rPr>
              <a:t> </a:t>
            </a:r>
            <a:r>
              <a:rPr lang="en-US" altLang="en-US" sz="1600" dirty="0">
                <a:sym typeface="Symbol" panose="05050102010706020507" pitchFamily="18" charset="2"/>
              </a:rPr>
              <a:t></a:t>
            </a:r>
            <a:r>
              <a:rPr lang="en-US" altLang="en-US" sz="1600" dirty="0">
                <a:sym typeface="Monotype Sorts" pitchFamily="-65" charset="2"/>
              </a:rPr>
              <a:t> </a:t>
            </a:r>
            <a:r>
              <a:rPr lang="en-US" altLang="en-US" sz="1600" i="1" dirty="0">
                <a:sym typeface="Monotype Sorts" pitchFamily="-65" charset="2"/>
              </a:rPr>
              <a:t>R</a:t>
            </a:r>
            <a:r>
              <a:rPr lang="en-US" altLang="en-US" sz="1600" dirty="0">
                <a:sym typeface="Monotype Sorts" pitchFamily="-65" charset="2"/>
              </a:rPr>
              <a:t>? </a:t>
            </a:r>
            <a:r>
              <a:rPr lang="en-US" altLang="en-US" sz="1600" i="1" dirty="0">
                <a:sym typeface="Monotype Sorts" pitchFamily="-65" charset="2"/>
              </a:rPr>
              <a:t>== </a:t>
            </a:r>
            <a:r>
              <a:rPr lang="en-US" altLang="en-US" sz="1600" dirty="0">
                <a:sym typeface="Monotype Sorts" pitchFamily="-65" charset="2"/>
              </a:rPr>
              <a:t>Is </a:t>
            </a:r>
            <a:r>
              <a:rPr lang="en-US" altLang="en-US" sz="1600" dirty="0">
                <a:sym typeface="Symbol" panose="05050102010706020507" pitchFamily="18" charset="2"/>
              </a:rPr>
              <a:t>R</a:t>
            </a:r>
            <a:r>
              <a:rPr lang="en-US" altLang="en-US" sz="1600" dirty="0">
                <a:sym typeface="Monotype Sorts" pitchFamily="-65" charset="2"/>
              </a:rPr>
              <a:t> </a:t>
            </a:r>
            <a:r>
              <a:rPr lang="en-US" altLang="en-US" sz="1600" dirty="0">
                <a:sym typeface="Symbol" panose="05050102010706020507" pitchFamily="18" charset="2"/>
              </a:rPr>
              <a:t> </a:t>
            </a:r>
            <a:r>
              <a:rPr lang="en-US" altLang="en-US" sz="1600" dirty="0">
                <a:sym typeface="Monotype Sorts" pitchFamily="-65" charset="2"/>
              </a:rPr>
              <a:t>(A)</a:t>
            </a:r>
            <a:r>
              <a:rPr lang="en-US" altLang="en-US" sz="1600" baseline="30000" dirty="0">
                <a:sym typeface="Monotype Sorts" pitchFamily="-65" charset="2"/>
              </a:rPr>
              <a:t>+   </a:t>
            </a:r>
            <a:endParaRPr lang="en-US" altLang="en-US" sz="1600" dirty="0">
              <a:sym typeface="Monotype Sorts" pitchFamily="-65" charset="2"/>
            </a:endParaRPr>
          </a:p>
          <a:p>
            <a:pPr marL="1163955" lvl="2" indent="-304800">
              <a:lnSpc>
                <a:spcPct val="90000"/>
              </a:lnSpc>
              <a:buFont typeface="Monotype Sorts" pitchFamily="-65" charset="2"/>
              <a:buAutoNum type="arabicPeriod"/>
              <a:tabLst>
                <a:tab pos="803275" algn="l"/>
                <a:tab pos="2633345" algn="l"/>
                <a:tab pos="3140075" algn="l"/>
              </a:tabLst>
            </a:pPr>
            <a:r>
              <a:rPr lang="en-US" altLang="en-US" sz="1600" dirty="0">
                <a:sym typeface="Monotype Sorts" pitchFamily="-65" charset="2"/>
              </a:rPr>
              <a:t>Does </a:t>
            </a:r>
            <a:r>
              <a:rPr lang="en-US" altLang="en-US" sz="1600" i="1" dirty="0">
                <a:sym typeface="Monotype Sorts" pitchFamily="-65" charset="2"/>
              </a:rPr>
              <a:t>G</a:t>
            </a:r>
            <a:r>
              <a:rPr lang="en-US" altLang="en-US" sz="1600" dirty="0">
                <a:sym typeface="Monotype Sorts" pitchFamily="-65" charset="2"/>
              </a:rPr>
              <a:t> </a:t>
            </a:r>
            <a:r>
              <a:rPr lang="en-US" altLang="en-US" sz="1600" dirty="0">
                <a:sym typeface="Symbol" panose="05050102010706020507" pitchFamily="18" charset="2"/>
              </a:rPr>
              <a:t></a:t>
            </a:r>
            <a:r>
              <a:rPr lang="en-US" altLang="en-US" sz="1600" dirty="0">
                <a:sym typeface="Monotype Sorts" pitchFamily="-65" charset="2"/>
              </a:rPr>
              <a:t> </a:t>
            </a:r>
            <a:r>
              <a:rPr lang="en-US" altLang="en-US" sz="1600" i="1" dirty="0">
                <a:sym typeface="Monotype Sorts" pitchFamily="-65" charset="2"/>
              </a:rPr>
              <a:t>R</a:t>
            </a:r>
            <a:r>
              <a:rPr lang="en-US" altLang="en-US" sz="1600" dirty="0">
                <a:sym typeface="Monotype Sorts" pitchFamily="-65" charset="2"/>
              </a:rPr>
              <a:t>? == Is </a:t>
            </a:r>
            <a:r>
              <a:rPr lang="en-US" altLang="en-US" sz="1600" dirty="0">
                <a:sym typeface="Symbol" panose="05050102010706020507" pitchFamily="18" charset="2"/>
              </a:rPr>
              <a:t>R  </a:t>
            </a:r>
            <a:r>
              <a:rPr lang="en-US" altLang="en-US" sz="1600" dirty="0">
                <a:sym typeface="Monotype Sorts" pitchFamily="-65" charset="2"/>
              </a:rPr>
              <a:t>(G)</a:t>
            </a:r>
            <a:r>
              <a:rPr lang="en-US" altLang="en-US" sz="1600" baseline="30000" dirty="0">
                <a:sym typeface="Monotype Sorts" pitchFamily="-65" charset="2"/>
              </a:rPr>
              <a:t>+ </a:t>
            </a:r>
            <a:endParaRPr lang="en-US" altLang="en-US" sz="1600" baseline="30000" dirty="0">
              <a:sym typeface="Monotype Sorts" pitchFamily="-65" charset="2"/>
            </a:endParaRPr>
          </a:p>
          <a:p>
            <a:pPr marL="1163955" lvl="2" indent="-304800">
              <a:lnSpc>
                <a:spcPct val="90000"/>
              </a:lnSpc>
              <a:buFont typeface="Monotype Sorts" pitchFamily="-65" charset="2"/>
              <a:buAutoNum type="arabicPeriod"/>
              <a:tabLst>
                <a:tab pos="803275" algn="l"/>
                <a:tab pos="2633345" algn="l"/>
                <a:tab pos="3140075" algn="l"/>
              </a:tabLst>
            </a:pPr>
            <a:r>
              <a:rPr lang="en-US" altLang="en-US" sz="1600" dirty="0">
                <a:sym typeface="Monotype Sorts" pitchFamily="-65" charset="2"/>
              </a:rPr>
              <a:t>In general: check for each subset of size </a:t>
            </a:r>
            <a:r>
              <a:rPr lang="en-US" altLang="en-US" sz="1600" i="1" dirty="0">
                <a:sym typeface="Monotype Sorts" pitchFamily="-65" charset="2"/>
              </a:rPr>
              <a:t>n-1</a:t>
            </a:r>
            <a:endParaRPr lang="en-US" altLang="en-US" sz="1600" i="1" dirty="0"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9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9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96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96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96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96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96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96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96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96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96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963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963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963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9635" grpId="0" bldLvl="2" autoUpdateAnimBg="0" build="p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682" name="Rectangle 2"/>
          <p:cNvSpPr>
            <a:spLocks noGrp="1" noChangeArrowheads="1"/>
          </p:cNvSpPr>
          <p:nvPr>
            <p:ph type="title"/>
          </p:nvPr>
        </p:nvSpPr>
        <p:spPr>
          <a:xfrm>
            <a:off x="952500" y="153988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Uses of Attribute Closure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  <a:ea typeface="MS PGothic" panose="020B0600070205080204" pitchFamily="34" charset="-128"/>
            </a:endParaRPr>
          </a:p>
        </p:txBody>
      </p:sp>
      <p:sp>
        <p:nvSpPr>
          <p:cNvPr id="71168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90114" y="1093788"/>
            <a:ext cx="7563774" cy="4488865"/>
          </a:xfrm>
        </p:spPr>
        <p:txBody>
          <a:bodyPr/>
          <a:lstStyle/>
          <a:p>
            <a:pPr>
              <a:buFont typeface="Monotype Sorts" pitchFamily="-65" charset="2"/>
              <a:buNone/>
            </a:pPr>
            <a:r>
              <a:rPr lang="en-US" altLang="en-US" sz="2000" dirty="0"/>
              <a:t>There are several uses of the attribute closure algorithm:</a:t>
            </a:r>
            <a:endParaRPr lang="en-US" altLang="en-US" sz="20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2000" dirty="0"/>
              <a:t>Testing for </a:t>
            </a:r>
            <a:r>
              <a:rPr lang="en-US" altLang="en-US" sz="2000" dirty="0" err="1"/>
              <a:t>superkey</a:t>
            </a:r>
            <a:r>
              <a:rPr lang="en-US" altLang="en-US" sz="2000" dirty="0"/>
              <a:t>:</a:t>
            </a:r>
            <a:endParaRPr lang="en-US" altLang="en-US" sz="2000" dirty="0"/>
          </a:p>
          <a:p>
            <a:pPr lvl="1">
              <a:buSzPct val="110000"/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7030A0"/>
                </a:solidFill>
              </a:rPr>
              <a:t>To test if </a:t>
            </a:r>
            <a:r>
              <a:rPr lang="en-US" altLang="en-US" sz="2000" dirty="0">
                <a:solidFill>
                  <a:srgbClr val="7030A0"/>
                </a:solidFill>
                <a:sym typeface="Symbol" panose="05050102010706020507" pitchFamily="18" charset="2"/>
              </a:rPr>
              <a:t> is a </a:t>
            </a:r>
            <a:r>
              <a:rPr lang="en-US" altLang="en-US" sz="2000" dirty="0" err="1">
                <a:solidFill>
                  <a:srgbClr val="7030A0"/>
                </a:solidFill>
                <a:sym typeface="Symbol" panose="05050102010706020507" pitchFamily="18" charset="2"/>
              </a:rPr>
              <a:t>superkey</a:t>
            </a:r>
            <a:r>
              <a:rPr lang="en-US" altLang="en-US" sz="2000" dirty="0">
                <a:solidFill>
                  <a:srgbClr val="7030A0"/>
                </a:solidFill>
                <a:sym typeface="Symbol" panose="05050102010706020507" pitchFamily="18" charset="2"/>
              </a:rPr>
              <a:t>, we compute </a:t>
            </a:r>
            <a:r>
              <a:rPr lang="en-US" altLang="en-US" sz="2000" baseline="30000" dirty="0">
                <a:solidFill>
                  <a:srgbClr val="7030A0"/>
                </a:solidFill>
                <a:sym typeface="Symbol" panose="05050102010706020507" pitchFamily="18" charset="2"/>
              </a:rPr>
              <a:t>+,</a:t>
            </a:r>
            <a:r>
              <a:rPr lang="en-US" altLang="en-US" sz="2000" dirty="0">
                <a:solidFill>
                  <a:srgbClr val="7030A0"/>
                </a:solidFill>
                <a:sym typeface="Symbol" panose="05050102010706020507" pitchFamily="18" charset="2"/>
              </a:rPr>
              <a:t> and check if </a:t>
            </a:r>
            <a:r>
              <a:rPr lang="en-US" altLang="en-US" sz="2000" baseline="30000" dirty="0">
                <a:solidFill>
                  <a:srgbClr val="7030A0"/>
                </a:solidFill>
                <a:sym typeface="Symbol" panose="05050102010706020507" pitchFamily="18" charset="2"/>
              </a:rPr>
              <a:t>+ </a:t>
            </a:r>
            <a:r>
              <a:rPr lang="en-US" altLang="en-US" sz="2000" dirty="0">
                <a:solidFill>
                  <a:srgbClr val="7030A0"/>
                </a:solidFill>
                <a:sym typeface="Symbol" panose="05050102010706020507" pitchFamily="18" charset="2"/>
              </a:rPr>
              <a:t>contains all attributes of </a:t>
            </a:r>
            <a:r>
              <a:rPr lang="en-US" altLang="en-US" sz="2000" i="1" dirty="0">
                <a:solidFill>
                  <a:srgbClr val="7030A0"/>
                </a:solidFill>
                <a:sym typeface="Symbol" panose="05050102010706020507" pitchFamily="18" charset="2"/>
              </a:rPr>
              <a:t>R</a:t>
            </a:r>
            <a:r>
              <a:rPr lang="en-US" altLang="en-US" sz="2000" dirty="0">
                <a:solidFill>
                  <a:srgbClr val="7030A0"/>
                </a:solidFill>
                <a:sym typeface="Symbol" panose="05050102010706020507" pitchFamily="18" charset="2"/>
              </a:rPr>
              <a:t>.</a:t>
            </a:r>
            <a:endParaRPr lang="en-US" altLang="en-US" sz="2000" dirty="0">
              <a:solidFill>
                <a:srgbClr val="7030A0"/>
              </a:solidFill>
              <a:sym typeface="Symbol" panose="05050102010706020507" pitchFamily="18" charset="2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2000" dirty="0">
                <a:sym typeface="Symbol" panose="05050102010706020507" pitchFamily="18" charset="2"/>
              </a:rPr>
              <a:t>Testing functional dependencies</a:t>
            </a:r>
            <a:endParaRPr lang="en-US" altLang="en-US" sz="2000" dirty="0">
              <a:sym typeface="Symbol" panose="05050102010706020507" pitchFamily="18" charset="2"/>
            </a:endParaRPr>
          </a:p>
          <a:p>
            <a:pPr lvl="1">
              <a:buSzPct val="110000"/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7030A0"/>
                </a:solidFill>
                <a:sym typeface="Symbol" panose="05050102010706020507" pitchFamily="18" charset="2"/>
              </a:rPr>
              <a:t>To check if a functional dependency    holds (or, in other words, is in </a:t>
            </a:r>
            <a:r>
              <a:rPr lang="en-US" altLang="en-US" sz="2000" i="1" dirty="0">
                <a:solidFill>
                  <a:srgbClr val="7030A0"/>
                </a:solidFill>
                <a:sym typeface="Symbol" panose="05050102010706020507" pitchFamily="18" charset="2"/>
              </a:rPr>
              <a:t>F</a:t>
            </a:r>
            <a:r>
              <a:rPr lang="en-US" altLang="en-US" sz="2000" baseline="30000" dirty="0">
                <a:solidFill>
                  <a:srgbClr val="7030A0"/>
                </a:solidFill>
                <a:sym typeface="Symbol" panose="05050102010706020507" pitchFamily="18" charset="2"/>
              </a:rPr>
              <a:t>+</a:t>
            </a:r>
            <a:r>
              <a:rPr lang="en-US" altLang="en-US" sz="2000" dirty="0">
                <a:solidFill>
                  <a:srgbClr val="7030A0"/>
                </a:solidFill>
                <a:sym typeface="Symbol" panose="05050102010706020507" pitchFamily="18" charset="2"/>
              </a:rPr>
              <a:t>), just check if   </a:t>
            </a:r>
            <a:r>
              <a:rPr lang="en-US" altLang="en-US" sz="2000" baseline="30000" dirty="0">
                <a:solidFill>
                  <a:srgbClr val="7030A0"/>
                </a:solidFill>
                <a:sym typeface="Symbol" panose="05050102010706020507" pitchFamily="18" charset="2"/>
              </a:rPr>
              <a:t>+</a:t>
            </a:r>
            <a:r>
              <a:rPr lang="en-US" altLang="en-US" sz="2000" dirty="0">
                <a:solidFill>
                  <a:srgbClr val="7030A0"/>
                </a:solidFill>
                <a:sym typeface="Symbol" panose="05050102010706020507" pitchFamily="18" charset="2"/>
              </a:rPr>
              <a:t>. </a:t>
            </a:r>
            <a:endParaRPr lang="en-US" altLang="en-US" sz="2000" dirty="0">
              <a:solidFill>
                <a:srgbClr val="7030A0"/>
              </a:solidFill>
              <a:sym typeface="Symbol" panose="05050102010706020507" pitchFamily="18" charset="2"/>
            </a:endParaRPr>
          </a:p>
          <a:p>
            <a:pPr lvl="1">
              <a:buSzPct val="110000"/>
              <a:buFont typeface="Arial" panose="020B0604020202020204" pitchFamily="34" charset="0"/>
              <a:buChar char="•"/>
            </a:pPr>
            <a:r>
              <a:rPr lang="en-US" altLang="en-US" sz="2000" dirty="0">
                <a:sym typeface="Symbol" panose="05050102010706020507" pitchFamily="18" charset="2"/>
              </a:rPr>
              <a:t>That is, we compute </a:t>
            </a:r>
            <a:r>
              <a:rPr lang="en-US" altLang="en-US" sz="2000" baseline="30000" dirty="0">
                <a:sym typeface="Symbol" panose="05050102010706020507" pitchFamily="18" charset="2"/>
              </a:rPr>
              <a:t>+ </a:t>
            </a:r>
            <a:r>
              <a:rPr lang="en-US" altLang="en-US" sz="2000" dirty="0">
                <a:sym typeface="Symbol" panose="05050102010706020507" pitchFamily="18" charset="2"/>
              </a:rPr>
              <a:t>by using attribute closure, and then check if it contains . </a:t>
            </a:r>
            <a:endParaRPr lang="en-US" altLang="en-US" sz="2000" dirty="0">
              <a:sym typeface="Symbol" panose="05050102010706020507" pitchFamily="18" charset="2"/>
            </a:endParaRPr>
          </a:p>
          <a:p>
            <a:pPr lvl="1">
              <a:buSzPct val="110000"/>
              <a:buFont typeface="Arial" panose="020B0604020202020204" pitchFamily="34" charset="0"/>
              <a:buChar char="•"/>
            </a:pPr>
            <a:r>
              <a:rPr lang="en-US" altLang="en-US" sz="2000" dirty="0">
                <a:sym typeface="Symbol" panose="05050102010706020507" pitchFamily="18" charset="2"/>
              </a:rPr>
              <a:t>Is a simple and cheap test, and very useful</a:t>
            </a:r>
            <a:endParaRPr lang="en-US" altLang="en-US" sz="2000" dirty="0">
              <a:sym typeface="Symbol" panose="05050102010706020507" pitchFamily="18" charset="2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2000" dirty="0">
                <a:sym typeface="Symbol" panose="05050102010706020507" pitchFamily="18" charset="2"/>
              </a:rPr>
              <a:t>Computing closure of F</a:t>
            </a:r>
            <a:endParaRPr lang="en-US" altLang="en-US" sz="2000" dirty="0">
              <a:sym typeface="Symbol" panose="05050102010706020507" pitchFamily="18" charset="2"/>
            </a:endParaRPr>
          </a:p>
          <a:p>
            <a:pPr lvl="1">
              <a:buSzPct val="110000"/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7030A0"/>
                </a:solidFill>
                <a:sym typeface="Symbol" panose="05050102010706020507" pitchFamily="18" charset="2"/>
              </a:rPr>
              <a:t>For each   </a:t>
            </a:r>
            <a:r>
              <a:rPr lang="en-US" altLang="en-US" sz="2000" i="1" dirty="0">
                <a:solidFill>
                  <a:srgbClr val="7030A0"/>
                </a:solidFill>
                <a:sym typeface="Symbol" panose="05050102010706020507" pitchFamily="18" charset="2"/>
              </a:rPr>
              <a:t>R, </a:t>
            </a:r>
            <a:r>
              <a:rPr lang="en-US" altLang="en-US" sz="2000" dirty="0">
                <a:solidFill>
                  <a:srgbClr val="7030A0"/>
                </a:solidFill>
                <a:sym typeface="Symbol" panose="05050102010706020507" pitchFamily="18" charset="2"/>
              </a:rPr>
              <a:t>we find the closure </a:t>
            </a:r>
            <a:r>
              <a:rPr lang="en-US" altLang="en-US" sz="2000" baseline="30000" dirty="0">
                <a:solidFill>
                  <a:srgbClr val="7030A0"/>
                </a:solidFill>
                <a:sym typeface="Symbol" panose="05050102010706020507" pitchFamily="18" charset="2"/>
              </a:rPr>
              <a:t>+</a:t>
            </a:r>
            <a:r>
              <a:rPr lang="en-US" altLang="en-US" sz="2000" dirty="0">
                <a:solidFill>
                  <a:srgbClr val="7030A0"/>
                </a:solidFill>
                <a:sym typeface="Symbol" panose="05050102010706020507" pitchFamily="18" charset="2"/>
              </a:rPr>
              <a:t>, and for each </a:t>
            </a:r>
            <a:r>
              <a:rPr lang="en-US" altLang="en-US" sz="2000" i="1" dirty="0">
                <a:solidFill>
                  <a:srgbClr val="7030A0"/>
                </a:solidFill>
                <a:sym typeface="Symbol" panose="05050102010706020507" pitchFamily="18" charset="2"/>
              </a:rPr>
              <a:t>S</a:t>
            </a:r>
            <a:r>
              <a:rPr lang="en-US" altLang="en-US" sz="2000" dirty="0">
                <a:solidFill>
                  <a:srgbClr val="7030A0"/>
                </a:solidFill>
                <a:sym typeface="Symbol" panose="05050102010706020507" pitchFamily="18" charset="2"/>
              </a:rPr>
              <a:t>  </a:t>
            </a:r>
            <a:r>
              <a:rPr lang="en-US" altLang="en-US" sz="2000" baseline="30000" dirty="0">
                <a:solidFill>
                  <a:srgbClr val="7030A0"/>
                </a:solidFill>
                <a:sym typeface="Symbol" panose="05050102010706020507" pitchFamily="18" charset="2"/>
              </a:rPr>
              <a:t>+</a:t>
            </a:r>
            <a:r>
              <a:rPr lang="en-US" altLang="en-US" sz="2000" dirty="0">
                <a:solidFill>
                  <a:srgbClr val="7030A0"/>
                </a:solidFill>
                <a:sym typeface="Symbol" panose="05050102010706020507" pitchFamily="18" charset="2"/>
              </a:rPr>
              <a:t>, we output a functional dependency   </a:t>
            </a:r>
            <a:r>
              <a:rPr lang="en-US" altLang="en-US" sz="2000" i="1" dirty="0">
                <a:solidFill>
                  <a:srgbClr val="7030A0"/>
                </a:solidFill>
                <a:sym typeface="Symbol" panose="05050102010706020507" pitchFamily="18" charset="2"/>
              </a:rPr>
              <a:t>S</a:t>
            </a:r>
            <a:r>
              <a:rPr lang="en-US" altLang="en-US" sz="2000" i="1" dirty="0">
                <a:sym typeface="Symbol" panose="05050102010706020507" pitchFamily="18" charset="2"/>
              </a:rPr>
              <a:t>.</a:t>
            </a:r>
            <a:endParaRPr lang="en-US" alt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1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11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1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11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1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11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1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11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16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116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16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116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16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116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16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116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1683" grpId="0" autoUpdateAnimBg="0" build="p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练习</a:t>
            </a:r>
            <a:endParaRPr lang="zh-CN" altLang="en-US" smtClean="0"/>
          </a:p>
        </p:txBody>
      </p:sp>
      <p:sp>
        <p:nvSpPr>
          <p:cNvPr id="419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2400" dirty="0" smtClean="0"/>
              <a:t>R (C, T, H, R, S)</a:t>
            </a:r>
            <a:endParaRPr lang="en-US" altLang="zh-CN" sz="2400" dirty="0" smtClean="0"/>
          </a:p>
          <a:p>
            <a:pPr eaLnBrk="1" hangingPunct="1"/>
            <a:r>
              <a:rPr lang="en-US" altLang="zh-CN" sz="2400" dirty="0" smtClean="0"/>
              <a:t>F = {C</a:t>
            </a:r>
            <a:r>
              <a:rPr lang="en-US" altLang="zh-CN" sz="2400" dirty="0" smtClean="0">
                <a:sym typeface="Symbol" panose="05050102010706020507" pitchFamily="18" charset="2"/>
              </a:rPr>
              <a:t>T</a:t>
            </a:r>
            <a:r>
              <a:rPr lang="en-US" altLang="zh-CN" sz="2400" dirty="0" smtClean="0"/>
              <a:t>, HR</a:t>
            </a:r>
            <a:r>
              <a:rPr lang="en-US" altLang="zh-CN" sz="2400" dirty="0" smtClean="0">
                <a:sym typeface="Symbol" panose="05050102010706020507" pitchFamily="18" charset="2"/>
              </a:rPr>
              <a:t>C, HTR, HSR}</a:t>
            </a:r>
            <a:endParaRPr lang="en-US" altLang="zh-CN" sz="2400" dirty="0" smtClean="0">
              <a:sym typeface="Symbol" panose="05050102010706020507" pitchFamily="18" charset="2"/>
            </a:endParaRPr>
          </a:p>
          <a:p>
            <a:pPr eaLnBrk="1" hangingPunct="1"/>
            <a:r>
              <a:rPr lang="zh-CN" altLang="en-US" sz="2400" dirty="0" smtClean="0">
                <a:sym typeface="Symbol" panose="05050102010706020507" pitchFamily="18" charset="2"/>
              </a:rPr>
              <a:t>问题</a:t>
            </a:r>
            <a:r>
              <a:rPr lang="en-US" altLang="zh-CN" sz="2400" dirty="0" smtClean="0">
                <a:sym typeface="Symbol" panose="05050102010706020507" pitchFamily="18" charset="2"/>
              </a:rPr>
              <a:t>1</a:t>
            </a:r>
            <a:r>
              <a:rPr lang="zh-CN" altLang="en-US" sz="2400" dirty="0" smtClean="0">
                <a:sym typeface="Symbol" panose="05050102010706020507" pitchFamily="18" charset="2"/>
              </a:rPr>
              <a:t>：求</a:t>
            </a:r>
            <a:r>
              <a:rPr lang="en-US" altLang="zh-CN" sz="2400" dirty="0" smtClean="0">
                <a:sym typeface="Symbol" panose="05050102010706020507" pitchFamily="18" charset="2"/>
              </a:rPr>
              <a:t>(HR)</a:t>
            </a:r>
            <a:r>
              <a:rPr lang="zh-CN" altLang="en-US" sz="2400" dirty="0" smtClean="0">
                <a:sym typeface="Symbol" panose="05050102010706020507" pitchFamily="18" charset="2"/>
              </a:rPr>
              <a:t> </a:t>
            </a:r>
            <a:r>
              <a:rPr lang="en-US" altLang="zh-CN" sz="2400" baseline="30000" dirty="0" smtClean="0">
                <a:sym typeface="Symbol" panose="05050102010706020507" pitchFamily="18" charset="2"/>
              </a:rPr>
              <a:t>+</a:t>
            </a:r>
            <a:r>
              <a:rPr lang="zh-CN" altLang="en-US" sz="2400" dirty="0" smtClean="0">
                <a:sym typeface="Symbol" panose="05050102010706020507" pitchFamily="18" charset="2"/>
              </a:rPr>
              <a:t>？</a:t>
            </a:r>
            <a:endParaRPr lang="zh-CN" altLang="en-US" sz="2400" dirty="0" smtClean="0">
              <a:sym typeface="Symbol" panose="05050102010706020507" pitchFamily="18" charset="2"/>
            </a:endParaRPr>
          </a:p>
          <a:p>
            <a:pPr eaLnBrk="1" hangingPunct="1"/>
            <a:r>
              <a:rPr lang="zh-CN" altLang="en-US" sz="2400" dirty="0" smtClean="0">
                <a:sym typeface="Symbol" panose="05050102010706020507" pitchFamily="18" charset="2"/>
              </a:rPr>
              <a:t>问题</a:t>
            </a:r>
            <a:r>
              <a:rPr lang="en-US" altLang="zh-CN" sz="2400" dirty="0" smtClean="0">
                <a:sym typeface="Symbol" panose="05050102010706020507" pitchFamily="18" charset="2"/>
              </a:rPr>
              <a:t>2</a:t>
            </a:r>
            <a:r>
              <a:rPr lang="zh-CN" altLang="en-US" sz="2400" dirty="0" smtClean="0">
                <a:sym typeface="Symbol" panose="05050102010706020507" pitchFamily="18" charset="2"/>
              </a:rPr>
              <a:t>：</a:t>
            </a:r>
            <a:r>
              <a:rPr lang="en-US" altLang="zh-CN" sz="2400" dirty="0" smtClean="0">
                <a:sym typeface="Symbol" panose="05050102010706020507" pitchFamily="18" charset="2"/>
              </a:rPr>
              <a:t>HS</a:t>
            </a:r>
            <a:r>
              <a:rPr lang="zh-CN" altLang="en-US" sz="2400" dirty="0" smtClean="0">
                <a:sym typeface="Symbol" panose="05050102010706020507" pitchFamily="18" charset="2"/>
              </a:rPr>
              <a:t>是候选码么？</a:t>
            </a:r>
            <a:endParaRPr lang="zh-CN" altLang="en-US" sz="2400" dirty="0" smtClean="0">
              <a:sym typeface="Symbol" panose="05050102010706020507" pitchFamily="18" charset="2"/>
            </a:endParaRPr>
          </a:p>
          <a:p>
            <a:pPr eaLnBrk="1" hangingPunct="1"/>
            <a:r>
              <a:rPr lang="zh-CN" altLang="en-US" sz="2400" dirty="0" smtClean="0">
                <a:sym typeface="Symbol" panose="05050102010706020507" pitchFamily="18" charset="2"/>
              </a:rPr>
              <a:t>问题</a:t>
            </a:r>
            <a:r>
              <a:rPr lang="en-US" altLang="zh-CN" sz="2400" dirty="0" smtClean="0">
                <a:sym typeface="Symbol" panose="05050102010706020507" pitchFamily="18" charset="2"/>
              </a:rPr>
              <a:t>3</a:t>
            </a:r>
            <a:r>
              <a:rPr lang="zh-CN" altLang="en-US" sz="2400" dirty="0" smtClean="0">
                <a:sym typeface="Symbol" panose="05050102010706020507" pitchFamily="18" charset="2"/>
              </a:rPr>
              <a:t>：</a:t>
            </a:r>
            <a:r>
              <a:rPr lang="en-US" altLang="zh-CN" sz="2400" dirty="0" smtClean="0">
                <a:sym typeface="Symbol" panose="05050102010706020507" pitchFamily="18" charset="2"/>
              </a:rPr>
              <a:t>CH </a:t>
            </a:r>
            <a:r>
              <a:rPr lang="en-US" altLang="en-US" sz="2400" dirty="0" smtClean="0">
                <a:sym typeface="Symbol" panose="05050102010706020507" pitchFamily="18" charset="2"/>
              </a:rPr>
              <a:t>→</a:t>
            </a:r>
            <a:r>
              <a:rPr lang="en-US" altLang="zh-CN" sz="2400" dirty="0" smtClean="0">
                <a:sym typeface="Symbol" panose="05050102010706020507" pitchFamily="18" charset="2"/>
              </a:rPr>
              <a:t> S</a:t>
            </a:r>
            <a:r>
              <a:rPr lang="zh-CN" altLang="en-US" sz="2400" dirty="0" smtClean="0">
                <a:sym typeface="Symbol" panose="05050102010706020507" pitchFamily="18" charset="2"/>
              </a:rPr>
              <a:t>成立么？</a:t>
            </a:r>
            <a:endParaRPr lang="zh-CN" altLang="en-US" sz="2400" dirty="0" smtClean="0">
              <a:sym typeface="Symbol" panose="05050102010706020507" pitchFamily="18" charset="2"/>
            </a:endParaRPr>
          </a:p>
          <a:p>
            <a:pPr eaLnBrk="1" hangingPunct="1"/>
            <a:endParaRPr lang="zh-CN" altLang="en-US" dirty="0" smtClean="0"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Canonical Cover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  <a:ea typeface="MS PGothic" panose="020B0600070205080204" pitchFamily="34" charset="-128"/>
            </a:endParaRP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84910"/>
            <a:ext cx="8077199" cy="4425553"/>
          </a:xfrm>
        </p:spPr>
        <p:txBody>
          <a:bodyPr/>
          <a:lstStyle/>
          <a:p>
            <a:pPr>
              <a:defRPr/>
            </a:pPr>
            <a:r>
              <a:rPr lang="en-US" altLang="en-US" sz="2000" dirty="0"/>
              <a:t>Suppose that we have a set of functional dependencies </a:t>
            </a:r>
            <a:r>
              <a:rPr lang="en-US" altLang="en-US" sz="2000" i="1" dirty="0"/>
              <a:t>F</a:t>
            </a:r>
            <a:r>
              <a:rPr lang="en-US" altLang="en-US" sz="2000" dirty="0"/>
              <a:t> on a relation schema. Whenever a user performs an update on the relation, the database system must ensure that </a:t>
            </a:r>
            <a:r>
              <a:rPr lang="en-US" altLang="en-US" sz="2000" dirty="0">
                <a:solidFill>
                  <a:srgbClr val="FF0000"/>
                </a:solidFill>
              </a:rPr>
              <a:t>the</a:t>
            </a:r>
            <a:r>
              <a:rPr lang="en-US" altLang="en-US" sz="2000" dirty="0"/>
              <a:t> </a:t>
            </a:r>
            <a:r>
              <a:rPr lang="en-US" altLang="en-US" sz="2000" dirty="0">
                <a:solidFill>
                  <a:srgbClr val="FF0000"/>
                </a:solidFill>
              </a:rPr>
              <a:t>update does not violate any functional dependencies</a:t>
            </a:r>
            <a:r>
              <a:rPr lang="en-US" altLang="en-US" sz="2000" dirty="0"/>
              <a:t>; that is, all the functional dependencies in </a:t>
            </a:r>
            <a:r>
              <a:rPr lang="en-US" altLang="en-US" sz="2000" i="1" dirty="0"/>
              <a:t>F</a:t>
            </a:r>
            <a:r>
              <a:rPr lang="en-US" altLang="en-US" sz="2000" dirty="0"/>
              <a:t> are satisfied in the new database state.</a:t>
            </a:r>
            <a:endParaRPr lang="en-US" altLang="en-US" sz="2000" dirty="0"/>
          </a:p>
          <a:p>
            <a:pPr>
              <a:defRPr/>
            </a:pPr>
            <a:r>
              <a:rPr lang="en-US" altLang="en-US" sz="2000" dirty="0"/>
              <a:t>If an update violates any functional dependencies in the set </a:t>
            </a:r>
            <a:r>
              <a:rPr lang="en-US" altLang="en-US" sz="2000" i="1" dirty="0"/>
              <a:t>F, </a:t>
            </a:r>
            <a:r>
              <a:rPr lang="en-US" altLang="en-US" sz="2000" dirty="0"/>
              <a:t>the system must roll back the update.</a:t>
            </a:r>
            <a:endParaRPr lang="en-US" altLang="en-US" sz="2000" dirty="0"/>
          </a:p>
          <a:p>
            <a:pPr>
              <a:defRPr/>
            </a:pPr>
            <a:r>
              <a:rPr lang="en-US" altLang="en-US" sz="2000" dirty="0">
                <a:solidFill>
                  <a:srgbClr val="7030A0"/>
                </a:solidFill>
              </a:rPr>
              <a:t>We can reduce the effort spent in checking for violations by testing a simplified set of functional dependencies that has the same closure as the given set. </a:t>
            </a:r>
            <a:endParaRPr lang="en-US" altLang="en-US" sz="2000" dirty="0">
              <a:solidFill>
                <a:srgbClr val="7030A0"/>
              </a:solidFill>
            </a:endParaRPr>
          </a:p>
          <a:p>
            <a:pPr>
              <a:defRPr/>
            </a:pPr>
            <a:r>
              <a:rPr lang="en-US" altLang="en-US" sz="2000" dirty="0"/>
              <a:t>This simplified set is termed the </a:t>
            </a:r>
            <a:r>
              <a:rPr lang="en-US" altLang="en-US" sz="2000" b="1" dirty="0">
                <a:solidFill>
                  <a:srgbClr val="002060"/>
                </a:solidFill>
              </a:rPr>
              <a:t>canonical cover</a:t>
            </a:r>
            <a:endParaRPr lang="en-US" altLang="en-US" sz="2000" b="1" dirty="0">
              <a:solidFill>
                <a:srgbClr val="002060"/>
              </a:solidFill>
            </a:endParaRPr>
          </a:p>
          <a:p>
            <a:pPr>
              <a:defRPr/>
            </a:pP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To define canonical cover we must first define </a:t>
            </a:r>
            <a:r>
              <a:rPr lang="en-US" altLang="en-US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e</a:t>
            </a:r>
            <a:r>
              <a:rPr lang="en-US" altLang="en-US" sz="2000" b="1" dirty="0">
                <a:solidFill>
                  <a:srgbClr val="002060"/>
                </a:solidFill>
              </a:rPr>
              <a:t>xtraneous</a:t>
            </a:r>
            <a:r>
              <a:rPr lang="en-US" altLang="en-US" sz="2000" b="1" dirty="0">
                <a:solidFill>
                  <a:srgbClr val="000099"/>
                </a:solidFill>
              </a:rPr>
              <a:t> </a:t>
            </a:r>
            <a:r>
              <a:rPr lang="en-US" altLang="en-US" sz="2000" b="1" dirty="0">
                <a:solidFill>
                  <a:srgbClr val="002060"/>
                </a:solidFill>
              </a:rPr>
              <a:t>attributes</a:t>
            </a:r>
            <a:r>
              <a:rPr lang="en-US" altLang="en-US" sz="2000" b="1" dirty="0">
                <a:solidFill>
                  <a:srgbClr val="000099"/>
                </a:solidFill>
              </a:rPr>
              <a:t>.</a:t>
            </a:r>
            <a:endParaRPr lang="en-US" altLang="en-US" sz="2000" b="1" dirty="0">
              <a:solidFill>
                <a:srgbClr val="000099"/>
              </a:solidFill>
            </a:endParaRPr>
          </a:p>
          <a:p>
            <a:pPr lvl="1">
              <a:defRPr/>
            </a:pPr>
            <a:r>
              <a:rPr lang="en-US" altLang="en-US" sz="2000" dirty="0">
                <a:solidFill>
                  <a:srgbClr val="7030A0"/>
                </a:solidFill>
              </a:rPr>
              <a:t>An attribute of a functional dependency  in </a:t>
            </a:r>
            <a:r>
              <a:rPr lang="en-US" altLang="en-US" sz="2000" i="1" dirty="0">
                <a:solidFill>
                  <a:srgbClr val="7030A0"/>
                </a:solidFill>
              </a:rPr>
              <a:t>F</a:t>
            </a:r>
            <a:r>
              <a:rPr lang="en-US" altLang="en-US" sz="2000" dirty="0">
                <a:solidFill>
                  <a:srgbClr val="7030A0"/>
                </a:solidFill>
              </a:rPr>
              <a:t> is </a:t>
            </a:r>
            <a:r>
              <a:rPr lang="en-US" altLang="en-US" sz="2000" b="1" dirty="0">
                <a:solidFill>
                  <a:srgbClr val="7030A0"/>
                </a:solidFill>
              </a:rPr>
              <a:t>extraneous </a:t>
            </a:r>
            <a:r>
              <a:rPr lang="en-US" altLang="en-US" sz="2000" dirty="0">
                <a:solidFill>
                  <a:srgbClr val="7030A0"/>
                </a:solidFill>
              </a:rPr>
              <a:t>if we can remove it without changing </a:t>
            </a:r>
            <a:r>
              <a:rPr lang="en-US" altLang="en-US" sz="2000" i="1" dirty="0">
                <a:solidFill>
                  <a:srgbClr val="7030A0"/>
                </a:solidFill>
              </a:rPr>
              <a:t> F </a:t>
            </a:r>
            <a:r>
              <a:rPr lang="en-US" altLang="en-US" sz="2000" baseline="30000" dirty="0">
                <a:solidFill>
                  <a:srgbClr val="7030A0"/>
                </a:solidFill>
              </a:rPr>
              <a:t>+</a:t>
            </a:r>
            <a:r>
              <a:rPr lang="en-US" altLang="en-US" sz="2000" dirty="0">
                <a:solidFill>
                  <a:srgbClr val="7030A0"/>
                </a:solidFill>
              </a:rPr>
              <a:t> </a:t>
            </a:r>
            <a:endParaRPr lang="en-US" altLang="en-US" sz="2000" dirty="0">
              <a:solidFill>
                <a:srgbClr val="7030A0"/>
              </a:solidFill>
            </a:endParaRPr>
          </a:p>
          <a:p>
            <a:pPr lvl="1">
              <a:defRPr/>
            </a:pPr>
            <a:endParaRPr lang="en-US" altLang="en-US" b="1" dirty="0">
              <a:solidFill>
                <a:srgbClr val="000099"/>
              </a:solidFill>
              <a:cs typeface="+mn-cs"/>
            </a:endParaRPr>
          </a:p>
          <a:p>
            <a:pPr>
              <a:defRPr/>
            </a:pPr>
            <a:endParaRPr lang="en-US" altLang="en-US" dirty="0"/>
          </a:p>
          <a:p>
            <a:pPr>
              <a:defRPr/>
            </a:pPr>
            <a:endParaRPr lang="en-US" altLang="en-US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Extraneous Attributes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  <a:ea typeface="MS PGothic" panose="020B0600070205080204" pitchFamily="34" charset="-128"/>
            </a:endParaRP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63638"/>
            <a:ext cx="7585537" cy="3673057"/>
          </a:xfrm>
        </p:spPr>
        <p:txBody>
          <a:bodyPr/>
          <a:lstStyle/>
          <a:p>
            <a:r>
              <a:rPr lang="en-US" altLang="en-US" sz="2000" dirty="0"/>
              <a:t>Removing an attribute from the left side of a functional dependency could make it a stronger constraint.  </a:t>
            </a:r>
            <a:endParaRPr lang="en-US" altLang="en-US" sz="2000" dirty="0"/>
          </a:p>
          <a:p>
            <a:pPr lvl="1"/>
            <a:r>
              <a:rPr lang="en-US" altLang="en-US" sz="2000" dirty="0"/>
              <a:t>For example, if we have AB </a:t>
            </a:r>
            <a:r>
              <a:rPr lang="en-US" altLang="en-US" sz="2000" dirty="0">
                <a:sym typeface="Symbol" panose="05050102010706020507" pitchFamily="18" charset="2"/>
              </a:rPr>
              <a:t> </a:t>
            </a:r>
            <a:r>
              <a:rPr lang="en-US" altLang="en-US" sz="2000" dirty="0"/>
              <a:t>C and remove B, we get the possibly stronger result A </a:t>
            </a:r>
            <a:r>
              <a:rPr lang="en-US" altLang="en-US" sz="2000" dirty="0">
                <a:sym typeface="Symbol" panose="05050102010706020507" pitchFamily="18" charset="2"/>
              </a:rPr>
              <a:t> </a:t>
            </a:r>
            <a:r>
              <a:rPr lang="en-US" altLang="en-US" sz="2000" dirty="0"/>
              <a:t> C.  It may be stronger because A </a:t>
            </a:r>
            <a:r>
              <a:rPr lang="en-US" altLang="en-US" sz="2000" dirty="0">
                <a:sym typeface="Symbol" panose="05050102010706020507" pitchFamily="18" charset="2"/>
              </a:rPr>
              <a:t> </a:t>
            </a:r>
            <a:r>
              <a:rPr lang="en-US" altLang="en-US" sz="2000" dirty="0"/>
              <a:t> C logically implies AB </a:t>
            </a:r>
            <a:r>
              <a:rPr lang="en-US" altLang="en-US" sz="2000" dirty="0">
                <a:sym typeface="Symbol" panose="05050102010706020507" pitchFamily="18" charset="2"/>
              </a:rPr>
              <a:t> </a:t>
            </a:r>
            <a:r>
              <a:rPr lang="en-US" altLang="en-US" sz="2000" dirty="0"/>
              <a:t>C, but  AB </a:t>
            </a:r>
            <a:r>
              <a:rPr lang="en-US" altLang="en-US" sz="2000" dirty="0">
                <a:sym typeface="Symbol" panose="05050102010706020507" pitchFamily="18" charset="2"/>
              </a:rPr>
              <a:t> </a:t>
            </a:r>
            <a:r>
              <a:rPr lang="en-US" altLang="en-US" sz="2000" dirty="0"/>
              <a:t>C does not, on its own, logically imply A </a:t>
            </a:r>
            <a:r>
              <a:rPr lang="en-US" altLang="en-US" sz="2000" dirty="0">
                <a:sym typeface="Symbol" panose="05050102010706020507" pitchFamily="18" charset="2"/>
              </a:rPr>
              <a:t> </a:t>
            </a:r>
            <a:r>
              <a:rPr lang="en-US" altLang="en-US" sz="2000" dirty="0"/>
              <a:t> C</a:t>
            </a:r>
            <a:endParaRPr lang="en-US" altLang="en-US" sz="2000" dirty="0"/>
          </a:p>
          <a:p>
            <a:r>
              <a:rPr lang="en-US" altLang="en-US" sz="2000" dirty="0"/>
              <a:t>But, depending on what our set F of functional dependencies happens to be, we may be able to remove B from AB </a:t>
            </a:r>
            <a:r>
              <a:rPr lang="en-US" altLang="en-US" sz="2000" dirty="0">
                <a:sym typeface="Symbol" panose="05050102010706020507" pitchFamily="18" charset="2"/>
              </a:rPr>
              <a:t> </a:t>
            </a:r>
            <a:r>
              <a:rPr lang="en-US" altLang="en-US" sz="2000" dirty="0"/>
              <a:t>C safely.  </a:t>
            </a:r>
            <a:endParaRPr lang="en-US" altLang="en-US" sz="2000" dirty="0"/>
          </a:p>
          <a:p>
            <a:pPr lvl="1"/>
            <a:r>
              <a:rPr lang="en-US" altLang="en-US" sz="2000" dirty="0"/>
              <a:t>For example, suppose that</a:t>
            </a:r>
            <a:endParaRPr lang="en-US" altLang="en-US" sz="2000" dirty="0"/>
          </a:p>
          <a:p>
            <a:pPr lvl="1"/>
            <a:r>
              <a:rPr lang="en-US" altLang="en-US" sz="2000" dirty="0"/>
              <a:t>F =  {AB </a:t>
            </a:r>
            <a:r>
              <a:rPr lang="en-US" altLang="en-US" sz="2000" dirty="0">
                <a:sym typeface="Symbol" panose="05050102010706020507" pitchFamily="18" charset="2"/>
              </a:rPr>
              <a:t> </a:t>
            </a:r>
            <a:r>
              <a:rPr lang="en-US" altLang="en-US" sz="2000" dirty="0"/>
              <a:t>C, A </a:t>
            </a:r>
            <a:r>
              <a:rPr lang="en-US" altLang="en-US" sz="2000" dirty="0">
                <a:sym typeface="Symbol" panose="05050102010706020507" pitchFamily="18" charset="2"/>
              </a:rPr>
              <a:t> </a:t>
            </a:r>
            <a:r>
              <a:rPr lang="en-US" altLang="en-US" sz="2000" dirty="0"/>
              <a:t>D, D </a:t>
            </a:r>
            <a:r>
              <a:rPr lang="en-US" altLang="en-US" sz="2000" dirty="0">
                <a:sym typeface="Symbol" panose="05050102010706020507" pitchFamily="18" charset="2"/>
              </a:rPr>
              <a:t> </a:t>
            </a:r>
            <a:r>
              <a:rPr lang="en-US" altLang="en-US" sz="2000" dirty="0"/>
              <a:t>C}</a:t>
            </a:r>
            <a:endParaRPr lang="en-US" altLang="en-US" sz="2000" dirty="0"/>
          </a:p>
          <a:p>
            <a:pPr lvl="1"/>
            <a:r>
              <a:rPr lang="en-US" altLang="en-US" sz="2000" dirty="0"/>
              <a:t>Then we can show that F logically implies A </a:t>
            </a:r>
            <a:r>
              <a:rPr lang="en-US" altLang="en-US" sz="2000" dirty="0">
                <a:sym typeface="Symbol" panose="05050102010706020507" pitchFamily="18" charset="2"/>
              </a:rPr>
              <a:t> </a:t>
            </a:r>
            <a:r>
              <a:rPr lang="en-US" altLang="en-US" sz="2000" dirty="0"/>
              <a:t>C, making extraneous in AB </a:t>
            </a:r>
            <a:r>
              <a:rPr lang="en-US" altLang="en-US" sz="2000" dirty="0">
                <a:sym typeface="Symbol" panose="05050102010706020507" pitchFamily="18" charset="2"/>
              </a:rPr>
              <a:t> </a:t>
            </a:r>
            <a:r>
              <a:rPr lang="en-US" altLang="en-US" sz="2000" dirty="0"/>
              <a:t>C.</a:t>
            </a:r>
            <a:endParaRPr lang="en-US" altLang="en-US" sz="2000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Extraneous Attributes (Cont.)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  <a:ea typeface="MS PGothic" panose="020B0600070205080204" pitchFamily="34" charset="-128"/>
            </a:endParaRP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63638"/>
            <a:ext cx="7647681" cy="3384299"/>
          </a:xfrm>
        </p:spPr>
        <p:txBody>
          <a:bodyPr/>
          <a:lstStyle/>
          <a:p>
            <a:r>
              <a:rPr lang="en-US" altLang="en-US" sz="2000" dirty="0"/>
              <a:t>Removing an attribute from the right side of a functional dependency could make it a weaker constraint.  </a:t>
            </a:r>
            <a:endParaRPr lang="en-US" altLang="en-US" sz="2000" dirty="0"/>
          </a:p>
          <a:p>
            <a:pPr lvl="1"/>
            <a:r>
              <a:rPr lang="en-US" altLang="en-US" sz="2000" dirty="0"/>
              <a:t>For example, if we have AB </a:t>
            </a:r>
            <a:r>
              <a:rPr lang="en-US" altLang="en-US" sz="2000" dirty="0">
                <a:sym typeface="Symbol" panose="05050102010706020507" pitchFamily="18" charset="2"/>
              </a:rPr>
              <a:t> </a:t>
            </a:r>
            <a:r>
              <a:rPr lang="en-US" altLang="en-US" sz="2000" dirty="0"/>
              <a:t>CD and remove C, we get the possibly weaker result AB</a:t>
            </a:r>
            <a:r>
              <a:rPr lang="en-US" altLang="en-US" sz="2000" dirty="0">
                <a:sym typeface="Symbol" panose="05050102010706020507" pitchFamily="18" charset="2"/>
              </a:rPr>
              <a:t> </a:t>
            </a:r>
            <a:r>
              <a:rPr lang="en-US" altLang="en-US" sz="2000" dirty="0"/>
              <a:t> D.  It may be weaker because using just AB </a:t>
            </a:r>
            <a:r>
              <a:rPr lang="en-US" altLang="en-US" sz="2000" dirty="0">
                <a:sym typeface="Symbol" panose="05050102010706020507" pitchFamily="18" charset="2"/>
              </a:rPr>
              <a:t> </a:t>
            </a:r>
            <a:r>
              <a:rPr lang="en-US" altLang="en-US" sz="2000" dirty="0"/>
              <a:t>D, we can no longer infer AB </a:t>
            </a:r>
            <a:r>
              <a:rPr lang="en-US" altLang="en-US" sz="2000" dirty="0">
                <a:sym typeface="Symbol" panose="05050102010706020507" pitchFamily="18" charset="2"/>
              </a:rPr>
              <a:t> </a:t>
            </a:r>
            <a:r>
              <a:rPr lang="en-US" altLang="en-US" sz="2000" dirty="0"/>
              <a:t>C.</a:t>
            </a:r>
            <a:endParaRPr lang="en-US" altLang="en-US" sz="2000" dirty="0"/>
          </a:p>
          <a:p>
            <a:r>
              <a:rPr lang="en-US" altLang="en-US" sz="2000" dirty="0"/>
              <a:t>But, depending on what our set F of functional dependencies happens to be, we may be able to remove C from AB </a:t>
            </a:r>
            <a:r>
              <a:rPr lang="en-US" altLang="en-US" sz="2000" dirty="0">
                <a:sym typeface="Symbol" panose="05050102010706020507" pitchFamily="18" charset="2"/>
              </a:rPr>
              <a:t> </a:t>
            </a:r>
            <a:r>
              <a:rPr lang="en-US" altLang="en-US" sz="2000" dirty="0"/>
              <a:t>CD safely.  </a:t>
            </a:r>
            <a:endParaRPr lang="en-US" altLang="en-US" sz="2000" dirty="0"/>
          </a:p>
          <a:p>
            <a:pPr lvl="1"/>
            <a:r>
              <a:rPr lang="en-US" altLang="en-US" sz="2000" dirty="0"/>
              <a:t>For example, suppose that</a:t>
            </a:r>
            <a:endParaRPr lang="en-US" altLang="en-US" sz="2000" dirty="0"/>
          </a:p>
          <a:p>
            <a:pPr lvl="1">
              <a:buFont typeface="Monotype Sorts" pitchFamily="-65" charset="2"/>
              <a:buNone/>
            </a:pPr>
            <a:r>
              <a:rPr lang="en-US" altLang="en-US" sz="2000" dirty="0"/>
              <a:t>           F = { AB</a:t>
            </a:r>
            <a:r>
              <a:rPr lang="en-US" altLang="en-US" sz="2000" dirty="0">
                <a:sym typeface="Symbol" panose="05050102010706020507" pitchFamily="18" charset="2"/>
              </a:rPr>
              <a:t> </a:t>
            </a:r>
            <a:r>
              <a:rPr lang="en-US" altLang="en-US" sz="2000" dirty="0"/>
              <a:t> CD, A </a:t>
            </a:r>
            <a:r>
              <a:rPr lang="en-US" altLang="en-US" sz="2000" dirty="0">
                <a:sym typeface="Symbol" panose="05050102010706020507" pitchFamily="18" charset="2"/>
              </a:rPr>
              <a:t></a:t>
            </a:r>
            <a:r>
              <a:rPr lang="en-US" altLang="en-US" sz="2000" dirty="0"/>
              <a:t> C.</a:t>
            </a:r>
            <a:endParaRPr lang="en-US" altLang="en-US" sz="2000" dirty="0"/>
          </a:p>
          <a:p>
            <a:pPr lvl="1"/>
            <a:r>
              <a:rPr lang="en-US" altLang="en-US" sz="2000" dirty="0"/>
              <a:t>Then we can show that even after replacing AB </a:t>
            </a:r>
            <a:r>
              <a:rPr lang="en-US" altLang="en-US" sz="2000" dirty="0">
                <a:sym typeface="Symbol" panose="05050102010706020507" pitchFamily="18" charset="2"/>
              </a:rPr>
              <a:t></a:t>
            </a:r>
            <a:r>
              <a:rPr lang="en-US" altLang="en-US" sz="2000" dirty="0"/>
              <a:t> CD by AB </a:t>
            </a:r>
            <a:r>
              <a:rPr lang="en-US" altLang="en-US" sz="2000" dirty="0">
                <a:sym typeface="Symbol" panose="05050102010706020507" pitchFamily="18" charset="2"/>
              </a:rPr>
              <a:t> </a:t>
            </a:r>
            <a:r>
              <a:rPr lang="en-US" altLang="en-US" sz="2000" dirty="0"/>
              <a:t>D, we can still infer $AB </a:t>
            </a:r>
            <a:r>
              <a:rPr lang="en-US" altLang="en-US" sz="2000" dirty="0">
                <a:sym typeface="Symbol" panose="05050102010706020507" pitchFamily="18" charset="2"/>
              </a:rPr>
              <a:t> </a:t>
            </a:r>
            <a:r>
              <a:rPr lang="en-US" altLang="en-US" sz="2000" dirty="0"/>
              <a:t>C and thus AB</a:t>
            </a:r>
            <a:r>
              <a:rPr lang="en-US" altLang="en-US" sz="2000" dirty="0">
                <a:sym typeface="Symbol" panose="05050102010706020507" pitchFamily="18" charset="2"/>
              </a:rPr>
              <a:t> </a:t>
            </a:r>
            <a:r>
              <a:rPr lang="en-US" altLang="en-US" sz="2000" dirty="0"/>
              <a:t> CD.</a:t>
            </a:r>
            <a:endParaRPr lang="en-US" altLang="en-US" sz="20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Extraneous Attributes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  <a:ea typeface="MS PGothic" panose="020B0600070205080204" pitchFamily="34" charset="-128"/>
            </a:endParaRPr>
          </a:p>
        </p:txBody>
      </p:sp>
      <p:sp>
        <p:nvSpPr>
          <p:cNvPr id="7157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83076"/>
            <a:ext cx="8077200" cy="4511608"/>
          </a:xfrm>
        </p:spPr>
        <p:txBody>
          <a:bodyPr/>
          <a:lstStyle/>
          <a:p>
            <a:r>
              <a:rPr lang="en-US" altLang="en-US" sz="2000" dirty="0"/>
              <a:t>An attribute of a functional dependency  in </a:t>
            </a:r>
            <a:r>
              <a:rPr lang="en-US" altLang="en-US" sz="2000" i="1" dirty="0"/>
              <a:t>F</a:t>
            </a:r>
            <a:r>
              <a:rPr lang="en-US" altLang="en-US" sz="2000" dirty="0"/>
              <a:t> is </a:t>
            </a:r>
            <a:r>
              <a:rPr lang="en-US" altLang="en-US" sz="2000" b="1" dirty="0">
                <a:solidFill>
                  <a:srgbClr val="002060"/>
                </a:solidFill>
              </a:rPr>
              <a:t>extraneous</a:t>
            </a:r>
            <a:r>
              <a:rPr lang="en-US" altLang="en-US" sz="2000" b="1" dirty="0">
                <a:solidFill>
                  <a:srgbClr val="000099"/>
                </a:solidFill>
              </a:rPr>
              <a:t> </a:t>
            </a:r>
            <a:r>
              <a:rPr lang="en-US" altLang="en-US" sz="2000" dirty="0"/>
              <a:t>if we can remove it without changing </a:t>
            </a:r>
            <a:r>
              <a:rPr lang="en-US" altLang="en-US" sz="2000" i="1" dirty="0"/>
              <a:t> F </a:t>
            </a:r>
            <a:r>
              <a:rPr lang="en-US" altLang="en-US" sz="2000" baseline="30000" dirty="0"/>
              <a:t>+</a:t>
            </a:r>
            <a:r>
              <a:rPr lang="en-US" altLang="en-US" sz="2000" dirty="0"/>
              <a:t> </a:t>
            </a:r>
            <a:endParaRPr lang="en-US" altLang="en-US" sz="2000" dirty="0"/>
          </a:p>
          <a:p>
            <a:r>
              <a:rPr lang="en-US" altLang="en-US" sz="2000" dirty="0"/>
              <a:t>Consider a set </a:t>
            </a:r>
            <a:r>
              <a:rPr lang="en-US" altLang="en-US" sz="2000" i="1" dirty="0"/>
              <a:t>F</a:t>
            </a:r>
            <a:r>
              <a:rPr lang="en-US" altLang="en-US" sz="2000" dirty="0"/>
              <a:t> of functional dependencies and the functional dependency </a:t>
            </a:r>
            <a:r>
              <a:rPr lang="en-US" altLang="en-US" sz="2000" dirty="0">
                <a:sym typeface="Symbol" panose="05050102010706020507" pitchFamily="18" charset="2"/>
              </a:rPr>
              <a:t> </a:t>
            </a:r>
            <a:r>
              <a:rPr lang="en-US" altLang="en-US" sz="2000" dirty="0">
                <a:sym typeface="Monotype Sorts" pitchFamily="-65" charset="2"/>
              </a:rPr>
              <a:t> </a:t>
            </a:r>
            <a:r>
              <a:rPr lang="en-US" altLang="en-US" sz="2000" dirty="0">
                <a:sym typeface="Symbol" panose="05050102010706020507" pitchFamily="18" charset="2"/>
              </a:rPr>
              <a:t> </a:t>
            </a:r>
            <a:r>
              <a:rPr lang="en-US" altLang="en-US" sz="2000" dirty="0">
                <a:sym typeface="Greek Symbols"/>
              </a:rPr>
              <a:t>in </a:t>
            </a:r>
            <a:r>
              <a:rPr lang="en-US" altLang="en-US" sz="2000" i="1" dirty="0">
                <a:sym typeface="Greek Symbols"/>
              </a:rPr>
              <a:t>F</a:t>
            </a:r>
            <a:r>
              <a:rPr lang="en-US" altLang="en-US" sz="2000" dirty="0">
                <a:sym typeface="Greek Symbols"/>
              </a:rPr>
              <a:t>.</a:t>
            </a:r>
            <a:endParaRPr lang="en-US" altLang="en-US" sz="2000" dirty="0">
              <a:sym typeface="Greek Symbols"/>
            </a:endParaRPr>
          </a:p>
          <a:p>
            <a:pPr lvl="1"/>
            <a:r>
              <a:rPr lang="en-US" altLang="en-US" sz="2000" b="1" dirty="0">
                <a:sym typeface="Monotype Sorts" pitchFamily="-65" charset="2"/>
              </a:rPr>
              <a:t>Remove from the left side</a:t>
            </a:r>
            <a:r>
              <a:rPr lang="en-US" altLang="en-US" sz="2000" dirty="0">
                <a:sym typeface="Monotype Sorts" pitchFamily="-65" charset="2"/>
              </a:rPr>
              <a:t>: Attribute A is </a:t>
            </a:r>
            <a:r>
              <a:rPr lang="en-US" altLang="en-US" sz="2000" b="1" dirty="0">
                <a:solidFill>
                  <a:srgbClr val="002060"/>
                </a:solidFill>
                <a:sym typeface="Monotype Sorts" pitchFamily="-65" charset="2"/>
              </a:rPr>
              <a:t>extraneous</a:t>
            </a:r>
            <a:r>
              <a:rPr lang="en-US" altLang="en-US" sz="2000" dirty="0">
                <a:solidFill>
                  <a:schemeClr val="tx2"/>
                </a:solidFill>
                <a:sym typeface="Monotype Sorts" pitchFamily="-65" charset="2"/>
              </a:rPr>
              <a:t> </a:t>
            </a:r>
            <a:r>
              <a:rPr lang="en-US" altLang="en-US" sz="2000" dirty="0">
                <a:sym typeface="Monotype Sorts" pitchFamily="-65" charset="2"/>
              </a:rPr>
              <a:t>in </a:t>
            </a:r>
            <a:r>
              <a:rPr lang="en-US" altLang="en-US" sz="2000" dirty="0">
                <a:sym typeface="Symbol" panose="05050102010706020507" pitchFamily="18" charset="2"/>
              </a:rPr>
              <a:t></a:t>
            </a:r>
            <a:r>
              <a:rPr lang="en-US" altLang="en-US" sz="2000" dirty="0">
                <a:sym typeface="Greek Symbols"/>
              </a:rPr>
              <a:t> if</a:t>
            </a:r>
            <a:endParaRPr lang="en-US" altLang="en-US" sz="2000" dirty="0">
              <a:sym typeface="Greek Symbols"/>
            </a:endParaRPr>
          </a:p>
          <a:p>
            <a:pPr lvl="2"/>
            <a:r>
              <a:rPr lang="en-US" altLang="en-US" sz="2000" dirty="0">
                <a:sym typeface="Greek Symbols"/>
              </a:rPr>
              <a:t> </a:t>
            </a:r>
            <a:r>
              <a:rPr lang="en-US" altLang="en-US" sz="2000" i="1" dirty="0">
                <a:sym typeface="Greek Symbols"/>
              </a:rPr>
              <a:t>A </a:t>
            </a:r>
            <a:r>
              <a:rPr lang="en-US" altLang="en-US" sz="2000" dirty="0">
                <a:sym typeface="Symbol" panose="05050102010706020507" pitchFamily="18" charset="2"/>
              </a:rPr>
              <a:t> </a:t>
            </a:r>
            <a:r>
              <a:rPr lang="en-US" altLang="en-US" sz="2000" dirty="0">
                <a:sym typeface="Greek Symbols"/>
              </a:rPr>
              <a:t>  and </a:t>
            </a:r>
            <a:endParaRPr lang="en-US" altLang="en-US" sz="2000" dirty="0">
              <a:sym typeface="Greek Symbols"/>
            </a:endParaRPr>
          </a:p>
          <a:p>
            <a:pPr lvl="2"/>
            <a:r>
              <a:rPr lang="en-US" altLang="en-US" sz="2000" i="1" dirty="0">
                <a:sym typeface="Greek Symbols"/>
              </a:rPr>
              <a:t>F </a:t>
            </a:r>
            <a:r>
              <a:rPr lang="en-US" altLang="en-US" sz="2000" dirty="0">
                <a:sym typeface="Greek Symbols"/>
              </a:rPr>
              <a:t> logically implies (</a:t>
            </a:r>
            <a:r>
              <a:rPr lang="en-US" altLang="en-US" sz="2000" i="1" dirty="0">
                <a:sym typeface="Greek Symbols"/>
              </a:rPr>
              <a:t>F</a:t>
            </a:r>
            <a:r>
              <a:rPr lang="en-US" altLang="en-US" sz="2000" dirty="0">
                <a:sym typeface="Greek Symbols"/>
              </a:rPr>
              <a:t> – {</a:t>
            </a:r>
            <a:r>
              <a:rPr lang="en-US" altLang="en-US" sz="2000" dirty="0">
                <a:sym typeface="Symbol" panose="05050102010706020507" pitchFamily="18" charset="2"/>
              </a:rPr>
              <a:t></a:t>
            </a:r>
            <a:r>
              <a:rPr lang="en-US" altLang="en-US" sz="2000" dirty="0">
                <a:sym typeface="Greek Symbols"/>
              </a:rPr>
              <a:t> </a:t>
            </a:r>
            <a:r>
              <a:rPr lang="en-US" altLang="en-US" sz="2000" dirty="0">
                <a:sym typeface="Symbol" panose="05050102010706020507" pitchFamily="18" charset="2"/>
              </a:rPr>
              <a:t></a:t>
            </a:r>
            <a:r>
              <a:rPr lang="en-US" altLang="en-US" sz="2000" dirty="0">
                <a:sym typeface="Monotype Sorts" pitchFamily="-65" charset="2"/>
              </a:rPr>
              <a:t> </a:t>
            </a:r>
            <a:r>
              <a:rPr lang="en-US" altLang="en-US" sz="2000" dirty="0">
                <a:sym typeface="Symbol" panose="05050102010706020507" pitchFamily="18" charset="2"/>
              </a:rPr>
              <a:t></a:t>
            </a:r>
            <a:r>
              <a:rPr lang="en-US" altLang="en-US" sz="2000" dirty="0">
                <a:sym typeface="Greek Symbols"/>
              </a:rPr>
              <a:t>}) </a:t>
            </a:r>
            <a:r>
              <a:rPr lang="en-US" altLang="en-US" sz="2000" dirty="0">
                <a:sym typeface="Symbol" panose="05050102010706020507" pitchFamily="18" charset="2"/>
              </a:rPr>
              <a:t> {(</a:t>
            </a:r>
            <a:r>
              <a:rPr lang="en-US" altLang="en-US" sz="2000" dirty="0">
                <a:sym typeface="Greek Symbols"/>
              </a:rPr>
              <a:t>  – </a:t>
            </a:r>
            <a:r>
              <a:rPr lang="en-US" altLang="en-US" sz="2000" i="1" dirty="0">
                <a:sym typeface="Greek Symbols"/>
              </a:rPr>
              <a:t>A</a:t>
            </a:r>
            <a:r>
              <a:rPr lang="en-US" altLang="en-US" sz="2000" dirty="0">
                <a:sym typeface="Greek Symbols"/>
              </a:rPr>
              <a:t>) </a:t>
            </a:r>
            <a:r>
              <a:rPr lang="en-US" altLang="en-US" sz="2000" dirty="0">
                <a:sym typeface="Symbol" panose="05050102010706020507" pitchFamily="18" charset="2"/>
              </a:rPr>
              <a:t></a:t>
            </a:r>
            <a:r>
              <a:rPr lang="en-US" altLang="en-US" sz="2000" dirty="0">
                <a:sym typeface="Monotype Sorts" pitchFamily="-65" charset="2"/>
              </a:rPr>
              <a:t> </a:t>
            </a:r>
            <a:r>
              <a:rPr lang="en-US" altLang="en-US" sz="2000" dirty="0">
                <a:sym typeface="Symbol" panose="05050102010706020507" pitchFamily="18" charset="2"/>
              </a:rPr>
              <a:t></a:t>
            </a:r>
            <a:r>
              <a:rPr lang="en-US" altLang="en-US" sz="2000" dirty="0">
                <a:sym typeface="Greek Symbols"/>
              </a:rPr>
              <a:t>}.</a:t>
            </a:r>
            <a:endParaRPr lang="en-US" altLang="en-US" sz="2000" dirty="0">
              <a:sym typeface="Greek Symbols"/>
            </a:endParaRPr>
          </a:p>
          <a:p>
            <a:pPr lvl="1"/>
            <a:r>
              <a:rPr lang="en-US" altLang="en-US" sz="2000" b="1" dirty="0">
                <a:sym typeface="Monotype Sorts" pitchFamily="-65" charset="2"/>
              </a:rPr>
              <a:t>Remove from the right side</a:t>
            </a:r>
            <a:r>
              <a:rPr lang="en-US" altLang="en-US" sz="2000" dirty="0">
                <a:sym typeface="Monotype Sorts" pitchFamily="-65" charset="2"/>
              </a:rPr>
              <a:t>: </a:t>
            </a:r>
            <a:r>
              <a:rPr lang="en-US" altLang="en-US" sz="2000" dirty="0">
                <a:sym typeface="Greek Symbols"/>
              </a:rPr>
              <a:t>Attribute </a:t>
            </a:r>
            <a:r>
              <a:rPr lang="en-US" altLang="en-US" sz="2000" i="1" dirty="0">
                <a:sym typeface="Greek Symbols"/>
              </a:rPr>
              <a:t>A</a:t>
            </a:r>
            <a:r>
              <a:rPr lang="en-US" altLang="en-US" sz="2000" dirty="0">
                <a:sym typeface="Greek Symbols"/>
              </a:rPr>
              <a:t> is </a:t>
            </a:r>
            <a:r>
              <a:rPr lang="en-US" altLang="en-US" sz="2000" b="1" dirty="0">
                <a:solidFill>
                  <a:srgbClr val="002060"/>
                </a:solidFill>
                <a:sym typeface="Greek Symbols"/>
              </a:rPr>
              <a:t>extraneous</a:t>
            </a:r>
            <a:r>
              <a:rPr lang="en-US" altLang="en-US" sz="2000" dirty="0">
                <a:sym typeface="Greek Symbols"/>
              </a:rPr>
              <a:t> in </a:t>
            </a:r>
            <a:r>
              <a:rPr lang="en-US" altLang="en-US" sz="2000" dirty="0">
                <a:sym typeface="Symbol" panose="05050102010706020507" pitchFamily="18" charset="2"/>
              </a:rPr>
              <a:t> if</a:t>
            </a:r>
            <a:endParaRPr lang="en-US" altLang="en-US" sz="2000" dirty="0">
              <a:sym typeface="Symbol" panose="05050102010706020507" pitchFamily="18" charset="2"/>
            </a:endParaRPr>
          </a:p>
          <a:p>
            <a:pPr lvl="2"/>
            <a:r>
              <a:rPr lang="en-US" altLang="en-US" sz="2000" i="1" dirty="0">
                <a:sym typeface="Greek Symbols"/>
              </a:rPr>
              <a:t>A</a:t>
            </a:r>
            <a:r>
              <a:rPr lang="en-US" altLang="en-US" sz="2000" dirty="0">
                <a:sym typeface="Greek Symbols"/>
              </a:rPr>
              <a:t> </a:t>
            </a:r>
            <a:r>
              <a:rPr lang="en-US" altLang="en-US" sz="2000" dirty="0">
                <a:sym typeface="Symbol" panose="05050102010706020507" pitchFamily="18" charset="2"/>
              </a:rPr>
              <a:t> </a:t>
            </a:r>
            <a:r>
              <a:rPr lang="en-US" altLang="en-US" sz="2000" dirty="0">
                <a:sym typeface="Greek Symbols"/>
              </a:rPr>
              <a:t> and </a:t>
            </a:r>
            <a:endParaRPr lang="en-US" altLang="en-US" sz="2000" dirty="0">
              <a:sym typeface="Greek Symbols"/>
            </a:endParaRPr>
          </a:p>
          <a:p>
            <a:pPr lvl="2"/>
            <a:r>
              <a:rPr lang="en-US" altLang="en-US" sz="2000" dirty="0">
                <a:sym typeface="Greek Symbols"/>
              </a:rPr>
              <a:t>The set of functional dependencies    </a:t>
            </a:r>
            <a:endParaRPr lang="en-US" altLang="en-US" sz="2000" dirty="0">
              <a:sym typeface="Greek Symbols"/>
            </a:endParaRPr>
          </a:p>
          <a:p>
            <a:pPr lvl="2">
              <a:buFont typeface="Webdings" panose="05030102010509060703" pitchFamily="18" charset="2"/>
              <a:buNone/>
            </a:pPr>
            <a:r>
              <a:rPr lang="en-US" altLang="en-US" sz="2000" dirty="0">
                <a:sym typeface="Greek Symbols"/>
              </a:rPr>
              <a:t>        (</a:t>
            </a:r>
            <a:r>
              <a:rPr lang="en-US" altLang="en-US" sz="2000" i="1" dirty="0">
                <a:sym typeface="Greek Symbols"/>
              </a:rPr>
              <a:t>F</a:t>
            </a:r>
            <a:r>
              <a:rPr lang="en-US" altLang="en-US" sz="2000" dirty="0">
                <a:sym typeface="Greek Symbols"/>
              </a:rPr>
              <a:t>  – {</a:t>
            </a:r>
            <a:r>
              <a:rPr lang="en-US" altLang="en-US" sz="2000" dirty="0">
                <a:sym typeface="Symbol" panose="05050102010706020507" pitchFamily="18" charset="2"/>
              </a:rPr>
              <a:t></a:t>
            </a:r>
            <a:r>
              <a:rPr lang="en-US" altLang="en-US" sz="2000" dirty="0">
                <a:sym typeface="Greek Symbols"/>
              </a:rPr>
              <a:t> </a:t>
            </a:r>
            <a:r>
              <a:rPr lang="en-US" altLang="en-US" sz="2000" dirty="0">
                <a:sym typeface="Symbol" panose="05050102010706020507" pitchFamily="18" charset="2"/>
              </a:rPr>
              <a:t></a:t>
            </a:r>
            <a:r>
              <a:rPr lang="en-US" altLang="en-US" sz="2000" dirty="0">
                <a:sym typeface="Monotype Sorts" pitchFamily="-65" charset="2"/>
              </a:rPr>
              <a:t> </a:t>
            </a:r>
            <a:r>
              <a:rPr lang="en-US" altLang="en-US" sz="2000" dirty="0">
                <a:sym typeface="Symbol" panose="05050102010706020507" pitchFamily="18" charset="2"/>
              </a:rPr>
              <a:t></a:t>
            </a:r>
            <a:r>
              <a:rPr lang="en-US" altLang="en-US" sz="2000" dirty="0">
                <a:sym typeface="Greek Symbols"/>
              </a:rPr>
              <a:t>}) </a:t>
            </a:r>
            <a:r>
              <a:rPr lang="en-US" altLang="en-US" sz="2000" dirty="0">
                <a:sym typeface="Symbol" panose="05050102010706020507" pitchFamily="18" charset="2"/>
              </a:rPr>
              <a:t> {</a:t>
            </a:r>
            <a:r>
              <a:rPr lang="en-US" altLang="en-US" sz="2000" dirty="0">
                <a:sym typeface="Greek Symbols"/>
              </a:rPr>
              <a:t> </a:t>
            </a:r>
            <a:r>
              <a:rPr lang="en-US" altLang="en-US" sz="2000" dirty="0">
                <a:sym typeface="Symbol" panose="05050102010706020507" pitchFamily="18" charset="2"/>
              </a:rPr>
              <a:t></a:t>
            </a:r>
            <a:r>
              <a:rPr lang="en-US" altLang="en-US" sz="2000" i="1" dirty="0">
                <a:sym typeface="Greek Symbols"/>
              </a:rPr>
              <a:t>(</a:t>
            </a:r>
            <a:r>
              <a:rPr lang="en-US" altLang="en-US" sz="2000" dirty="0">
                <a:sym typeface="Symbol" panose="05050102010706020507" pitchFamily="18" charset="2"/>
              </a:rPr>
              <a:t></a:t>
            </a:r>
            <a:r>
              <a:rPr lang="en-US" altLang="en-US" sz="2000" i="1" dirty="0">
                <a:sym typeface="Greek Symbols"/>
              </a:rPr>
              <a:t> </a:t>
            </a:r>
            <a:r>
              <a:rPr lang="en-US" altLang="en-US" sz="2000" dirty="0">
                <a:sym typeface="Greek Symbols"/>
              </a:rPr>
              <a:t>– </a:t>
            </a:r>
            <a:r>
              <a:rPr lang="en-US" altLang="en-US" sz="2000" i="1" dirty="0">
                <a:sym typeface="Greek Symbols"/>
              </a:rPr>
              <a:t>A</a:t>
            </a:r>
            <a:r>
              <a:rPr lang="en-US" altLang="en-US" sz="2000" dirty="0">
                <a:sym typeface="Greek Symbols"/>
              </a:rPr>
              <a:t>)} logically implies </a:t>
            </a:r>
            <a:r>
              <a:rPr lang="en-US" altLang="en-US" sz="2000" i="1" dirty="0">
                <a:sym typeface="Greek Symbols"/>
              </a:rPr>
              <a:t>F.</a:t>
            </a:r>
            <a:endParaRPr lang="en-US" altLang="en-US" sz="2000" i="1" dirty="0">
              <a:sym typeface="Greek Symbols"/>
            </a:endParaRPr>
          </a:p>
          <a:p>
            <a:r>
              <a:rPr lang="en-US" altLang="en-US" sz="2000" i="1" dirty="0">
                <a:sym typeface="Greek Symbols"/>
              </a:rPr>
              <a:t>Note: </a:t>
            </a:r>
            <a:r>
              <a:rPr lang="en-US" altLang="en-US" sz="2000" dirty="0">
                <a:sym typeface="Greek Symbols"/>
              </a:rPr>
              <a:t>implication in the opposite direction is trivial in each of the cases above, since a </a:t>
            </a:r>
            <a:r>
              <a:rPr lang="ja-JP" altLang="en-US" sz="2000" dirty="0">
                <a:latin typeface="Arial" panose="020B0604020202020204" pitchFamily="34" charset="0"/>
                <a:sym typeface="Greek Symbols"/>
              </a:rPr>
              <a:t>“</a:t>
            </a:r>
            <a:r>
              <a:rPr lang="en-US" altLang="ja-JP" sz="2000" dirty="0">
                <a:sym typeface="Greek Symbols"/>
              </a:rPr>
              <a:t>stronger</a:t>
            </a:r>
            <a:r>
              <a:rPr lang="ja-JP" altLang="en-US" sz="2000" dirty="0">
                <a:latin typeface="Arial" panose="020B0604020202020204" pitchFamily="34" charset="0"/>
                <a:sym typeface="Greek Symbols"/>
              </a:rPr>
              <a:t>”</a:t>
            </a:r>
            <a:r>
              <a:rPr lang="en-US" altLang="ja-JP" sz="2000" dirty="0">
                <a:sym typeface="Greek Symbols"/>
              </a:rPr>
              <a:t> functional dependency always implies a weaker one</a:t>
            </a:r>
            <a:endParaRPr lang="en-US" altLang="ja-JP" sz="2000" dirty="0">
              <a:sym typeface="Greek Symbol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7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7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7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7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7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5779" grpId="0" build="p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826" name="Rectangle 2"/>
          <p:cNvSpPr>
            <a:spLocks noGrp="1" noChangeArrowheads="1"/>
          </p:cNvSpPr>
          <p:nvPr>
            <p:ph type="title"/>
          </p:nvPr>
        </p:nvSpPr>
        <p:spPr>
          <a:xfrm>
            <a:off x="1123950" y="128821"/>
            <a:ext cx="7685088" cy="60960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Testing if an Attribute is Extraneous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  <a:ea typeface="MS PGothic" panose="020B0600070205080204" pitchFamily="34" charset="-128"/>
            </a:endParaRP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72357" y="1093789"/>
            <a:ext cx="7493339" cy="3706811"/>
          </a:xfrm>
        </p:spPr>
        <p:txBody>
          <a:bodyPr/>
          <a:lstStyle/>
          <a:p>
            <a:pPr marL="381000" indent="-381000"/>
            <a:r>
              <a:rPr lang="en-US" altLang="en-US" sz="2000" dirty="0"/>
              <a:t>Let </a:t>
            </a:r>
            <a:r>
              <a:rPr lang="en-US" altLang="en-US" sz="2000" i="1" dirty="0"/>
              <a:t>R</a:t>
            </a:r>
            <a:r>
              <a:rPr lang="en-US" altLang="en-US" sz="2000" dirty="0"/>
              <a:t>  be  a relation  schema and  let  </a:t>
            </a:r>
            <a:r>
              <a:rPr lang="en-US" altLang="en-US" sz="2000" i="1" dirty="0"/>
              <a:t>F </a:t>
            </a:r>
            <a:r>
              <a:rPr lang="en-US" altLang="en-US" sz="2000" dirty="0"/>
              <a:t> be  a set of functional dependencies that hold on </a:t>
            </a:r>
            <a:r>
              <a:rPr lang="en-US" altLang="en-US" sz="2000" i="1" dirty="0"/>
              <a:t>R</a:t>
            </a:r>
            <a:r>
              <a:rPr lang="en-US" altLang="en-US" sz="2000" dirty="0"/>
              <a:t> . Consider an attribute  in the functional dependency </a:t>
            </a:r>
            <a:r>
              <a:rPr lang="en-US" altLang="en-US" sz="2000" dirty="0">
                <a:sym typeface="Symbol" panose="05050102010706020507" pitchFamily="18" charset="2"/>
              </a:rPr>
              <a:t> </a:t>
            </a:r>
            <a:r>
              <a:rPr lang="en-US" altLang="en-US" sz="2000" dirty="0">
                <a:sym typeface="Monotype Sorts" pitchFamily="-65" charset="2"/>
              </a:rPr>
              <a:t> </a:t>
            </a:r>
            <a:r>
              <a:rPr lang="en-US" altLang="en-US" sz="2000" dirty="0">
                <a:sym typeface="Symbol" panose="05050102010706020507" pitchFamily="18" charset="2"/>
              </a:rPr>
              <a:t></a:t>
            </a:r>
            <a:r>
              <a:rPr lang="en-US" altLang="en-US" sz="2000" dirty="0">
                <a:sym typeface="Greek Symbols"/>
              </a:rPr>
              <a:t>.</a:t>
            </a:r>
            <a:endParaRPr lang="en-US" altLang="en-US" sz="2000" dirty="0">
              <a:sym typeface="Greek Symbols"/>
            </a:endParaRPr>
          </a:p>
          <a:p>
            <a:pPr marL="381000" indent="-381000"/>
            <a:r>
              <a:rPr lang="en-US" altLang="en-US" sz="2000" dirty="0">
                <a:solidFill>
                  <a:srgbClr val="7030A0"/>
                </a:solidFill>
                <a:sym typeface="Greek Symbols"/>
              </a:rPr>
              <a:t>To test if attribute </a:t>
            </a:r>
            <a:r>
              <a:rPr lang="en-US" altLang="en-US" sz="2000" i="1" dirty="0">
                <a:solidFill>
                  <a:srgbClr val="7030A0"/>
                </a:solidFill>
                <a:sym typeface="Greek Symbols"/>
              </a:rPr>
              <a:t>A</a:t>
            </a:r>
            <a:r>
              <a:rPr lang="en-US" altLang="en-US" sz="2000" dirty="0">
                <a:solidFill>
                  <a:srgbClr val="7030A0"/>
                </a:solidFill>
                <a:sym typeface="Greek Symbols"/>
              </a:rPr>
              <a:t> </a:t>
            </a:r>
            <a:r>
              <a:rPr lang="en-US" altLang="en-US" sz="2000" dirty="0">
                <a:solidFill>
                  <a:srgbClr val="7030A0"/>
                </a:solidFill>
                <a:sym typeface="Symbol" panose="05050102010706020507" pitchFamily="18" charset="2"/>
              </a:rPr>
              <a:t> </a:t>
            </a:r>
            <a:r>
              <a:rPr lang="en-US" altLang="en-US" sz="2000" dirty="0">
                <a:solidFill>
                  <a:srgbClr val="7030A0"/>
                </a:solidFill>
                <a:sym typeface="Greek Symbols"/>
              </a:rPr>
              <a:t>  is extraneous in </a:t>
            </a:r>
            <a:r>
              <a:rPr lang="en-US" altLang="en-US" sz="2000" dirty="0">
                <a:solidFill>
                  <a:srgbClr val="7030A0"/>
                </a:solidFill>
                <a:sym typeface="Symbol" panose="05050102010706020507" pitchFamily="18" charset="2"/>
              </a:rPr>
              <a:t></a:t>
            </a:r>
            <a:r>
              <a:rPr lang="en-US" altLang="en-US" sz="2000" dirty="0">
                <a:solidFill>
                  <a:srgbClr val="7030A0"/>
                </a:solidFill>
                <a:sym typeface="Greek Symbols"/>
              </a:rPr>
              <a:t> </a:t>
            </a:r>
            <a:endParaRPr lang="en-US" altLang="en-US" sz="2000" dirty="0">
              <a:solidFill>
                <a:srgbClr val="7030A0"/>
              </a:solidFill>
              <a:sym typeface="Greek Symbols"/>
            </a:endParaRPr>
          </a:p>
          <a:p>
            <a:pPr marL="800100" lvl="1" indent="-342900"/>
            <a:r>
              <a:rPr lang="en-US" altLang="en-US" sz="2000" dirty="0">
                <a:solidFill>
                  <a:srgbClr val="7030A0"/>
                </a:solidFill>
                <a:sym typeface="Greek Symbols"/>
              </a:rPr>
              <a:t>Consider the set:</a:t>
            </a:r>
            <a:br>
              <a:rPr lang="en-US" altLang="en-US" sz="2000" dirty="0">
                <a:solidFill>
                  <a:srgbClr val="7030A0"/>
                </a:solidFill>
                <a:sym typeface="Greek Symbols"/>
              </a:rPr>
            </a:br>
            <a:r>
              <a:rPr lang="en-US" altLang="en-US" sz="2000" dirty="0">
                <a:solidFill>
                  <a:srgbClr val="7030A0"/>
                </a:solidFill>
                <a:sym typeface="Greek Symbols"/>
              </a:rPr>
              <a:t>         F</a:t>
            </a:r>
            <a:r>
              <a:rPr lang="en-US" altLang="ja-JP" sz="2000" dirty="0">
                <a:solidFill>
                  <a:srgbClr val="7030A0"/>
                </a:solidFill>
                <a:latin typeface="Arial" panose="020B0604020202020204" pitchFamily="34" charset="0"/>
                <a:sym typeface="Greek Symbols"/>
              </a:rPr>
              <a:t>'</a:t>
            </a:r>
            <a:r>
              <a:rPr lang="en-US" altLang="ja-JP" sz="2000" dirty="0">
                <a:solidFill>
                  <a:srgbClr val="7030A0"/>
                </a:solidFill>
                <a:sym typeface="Greek Symbols"/>
              </a:rPr>
              <a:t> = (</a:t>
            </a:r>
            <a:r>
              <a:rPr lang="en-US" altLang="ja-JP" sz="2000" i="1" dirty="0">
                <a:solidFill>
                  <a:srgbClr val="7030A0"/>
                </a:solidFill>
                <a:sym typeface="Greek Symbols"/>
              </a:rPr>
              <a:t>F</a:t>
            </a:r>
            <a:r>
              <a:rPr lang="en-US" altLang="ja-JP" sz="2000" dirty="0">
                <a:solidFill>
                  <a:srgbClr val="7030A0"/>
                </a:solidFill>
                <a:sym typeface="Greek Symbols"/>
              </a:rPr>
              <a:t>  – {</a:t>
            </a:r>
            <a:r>
              <a:rPr lang="en-US" altLang="ja-JP" sz="2000" dirty="0">
                <a:solidFill>
                  <a:srgbClr val="7030A0"/>
                </a:solidFill>
                <a:sym typeface="Symbol" panose="05050102010706020507" pitchFamily="18" charset="2"/>
              </a:rPr>
              <a:t></a:t>
            </a:r>
            <a:r>
              <a:rPr lang="en-US" altLang="ja-JP" sz="2000" dirty="0">
                <a:solidFill>
                  <a:srgbClr val="7030A0"/>
                </a:solidFill>
                <a:sym typeface="Greek Symbols"/>
              </a:rPr>
              <a:t> </a:t>
            </a:r>
            <a:r>
              <a:rPr lang="en-US" altLang="ja-JP" sz="2000" dirty="0">
                <a:solidFill>
                  <a:srgbClr val="7030A0"/>
                </a:solidFill>
                <a:sym typeface="Symbol" panose="05050102010706020507" pitchFamily="18" charset="2"/>
              </a:rPr>
              <a:t></a:t>
            </a:r>
            <a:r>
              <a:rPr lang="en-US" altLang="ja-JP" sz="2000" dirty="0">
                <a:solidFill>
                  <a:srgbClr val="7030A0"/>
                </a:solidFill>
                <a:sym typeface="Monotype Sorts" pitchFamily="-65" charset="2"/>
              </a:rPr>
              <a:t> </a:t>
            </a:r>
            <a:r>
              <a:rPr lang="en-US" altLang="ja-JP" sz="2000" dirty="0">
                <a:solidFill>
                  <a:srgbClr val="7030A0"/>
                </a:solidFill>
                <a:sym typeface="Symbol" panose="05050102010706020507" pitchFamily="18" charset="2"/>
              </a:rPr>
              <a:t></a:t>
            </a:r>
            <a:r>
              <a:rPr lang="en-US" altLang="ja-JP" sz="2000" dirty="0">
                <a:solidFill>
                  <a:srgbClr val="7030A0"/>
                </a:solidFill>
                <a:sym typeface="Greek Symbols"/>
              </a:rPr>
              <a:t>}) </a:t>
            </a:r>
            <a:r>
              <a:rPr lang="en-US" altLang="ja-JP" sz="2000" dirty="0">
                <a:solidFill>
                  <a:srgbClr val="7030A0"/>
                </a:solidFill>
                <a:sym typeface="Symbol" panose="05050102010706020507" pitchFamily="18" charset="2"/>
              </a:rPr>
              <a:t> {</a:t>
            </a:r>
            <a:r>
              <a:rPr lang="en-US" altLang="ja-JP" sz="2000" dirty="0">
                <a:solidFill>
                  <a:srgbClr val="7030A0"/>
                </a:solidFill>
                <a:sym typeface="Greek Symbols"/>
              </a:rPr>
              <a:t> </a:t>
            </a:r>
            <a:r>
              <a:rPr lang="en-US" altLang="ja-JP" sz="2000" dirty="0">
                <a:solidFill>
                  <a:srgbClr val="7030A0"/>
                </a:solidFill>
                <a:sym typeface="Symbol" panose="05050102010706020507" pitchFamily="18" charset="2"/>
              </a:rPr>
              <a:t></a:t>
            </a:r>
            <a:r>
              <a:rPr lang="en-US" altLang="ja-JP" sz="2000" i="1" dirty="0">
                <a:solidFill>
                  <a:srgbClr val="7030A0"/>
                </a:solidFill>
                <a:sym typeface="Greek Symbols"/>
              </a:rPr>
              <a:t>(</a:t>
            </a:r>
            <a:r>
              <a:rPr lang="en-US" altLang="ja-JP" sz="2000" dirty="0">
                <a:solidFill>
                  <a:srgbClr val="7030A0"/>
                </a:solidFill>
                <a:sym typeface="Symbol" panose="05050102010706020507" pitchFamily="18" charset="2"/>
              </a:rPr>
              <a:t></a:t>
            </a:r>
            <a:r>
              <a:rPr lang="en-US" altLang="ja-JP" sz="2000" i="1" dirty="0">
                <a:solidFill>
                  <a:srgbClr val="7030A0"/>
                </a:solidFill>
                <a:sym typeface="Greek Symbols"/>
              </a:rPr>
              <a:t> </a:t>
            </a:r>
            <a:r>
              <a:rPr lang="en-US" altLang="ja-JP" sz="2000" dirty="0">
                <a:solidFill>
                  <a:srgbClr val="7030A0"/>
                </a:solidFill>
                <a:sym typeface="Greek Symbols"/>
              </a:rPr>
              <a:t>– </a:t>
            </a:r>
            <a:r>
              <a:rPr lang="en-US" altLang="ja-JP" sz="2000" i="1" dirty="0">
                <a:solidFill>
                  <a:srgbClr val="7030A0"/>
                </a:solidFill>
                <a:sym typeface="Greek Symbols"/>
              </a:rPr>
              <a:t>A</a:t>
            </a:r>
            <a:r>
              <a:rPr lang="en-US" altLang="ja-JP" sz="2000" dirty="0">
                <a:solidFill>
                  <a:srgbClr val="7030A0"/>
                </a:solidFill>
                <a:sym typeface="Greek Symbols"/>
              </a:rPr>
              <a:t>)}, </a:t>
            </a:r>
            <a:endParaRPr lang="en-US" altLang="ja-JP" sz="2000" dirty="0">
              <a:solidFill>
                <a:srgbClr val="7030A0"/>
              </a:solidFill>
              <a:sym typeface="Greek Symbols"/>
            </a:endParaRPr>
          </a:p>
          <a:p>
            <a:pPr marL="800100" lvl="1" indent="-342900"/>
            <a:r>
              <a:rPr lang="en-US" altLang="en-US" sz="2000" dirty="0">
                <a:solidFill>
                  <a:srgbClr val="7030A0"/>
                </a:solidFill>
                <a:sym typeface="Greek Symbols"/>
              </a:rPr>
              <a:t> check that </a:t>
            </a:r>
            <a:r>
              <a:rPr lang="en-US" altLang="en-US" sz="2000" dirty="0">
                <a:solidFill>
                  <a:srgbClr val="7030A0"/>
                </a:solidFill>
                <a:sym typeface="Symbol" panose="05050102010706020507" pitchFamily="18" charset="2"/>
              </a:rPr>
              <a:t></a:t>
            </a:r>
            <a:r>
              <a:rPr lang="en-US" altLang="en-US" sz="2000" baseline="30000" dirty="0">
                <a:solidFill>
                  <a:srgbClr val="7030A0"/>
                </a:solidFill>
                <a:sym typeface="Greek Symbols"/>
              </a:rPr>
              <a:t>+ </a:t>
            </a:r>
            <a:r>
              <a:rPr lang="en-US" altLang="en-US" sz="2000" dirty="0">
                <a:solidFill>
                  <a:srgbClr val="7030A0"/>
                </a:solidFill>
                <a:sym typeface="Greek Symbols"/>
              </a:rPr>
              <a:t> contains </a:t>
            </a:r>
            <a:r>
              <a:rPr lang="en-US" altLang="en-US" sz="2000" i="1" dirty="0">
                <a:solidFill>
                  <a:srgbClr val="7030A0"/>
                </a:solidFill>
                <a:sym typeface="Greek Symbols"/>
              </a:rPr>
              <a:t>A; </a:t>
            </a:r>
            <a:r>
              <a:rPr lang="en-US" altLang="en-US" sz="2000" dirty="0">
                <a:solidFill>
                  <a:srgbClr val="7030A0"/>
                </a:solidFill>
                <a:sym typeface="Greek Symbols"/>
              </a:rPr>
              <a:t>if it does</a:t>
            </a:r>
            <a:r>
              <a:rPr lang="en-US" altLang="en-US" sz="2000" i="1" dirty="0">
                <a:solidFill>
                  <a:srgbClr val="7030A0"/>
                </a:solidFill>
                <a:sym typeface="Greek Symbols"/>
              </a:rPr>
              <a:t>, A </a:t>
            </a:r>
            <a:r>
              <a:rPr lang="en-US" altLang="en-US" sz="2000" dirty="0">
                <a:solidFill>
                  <a:srgbClr val="7030A0"/>
                </a:solidFill>
                <a:sym typeface="Greek Symbols"/>
              </a:rPr>
              <a:t>is extraneous in </a:t>
            </a:r>
            <a:r>
              <a:rPr lang="en-US" altLang="en-US" sz="2000" dirty="0">
                <a:solidFill>
                  <a:srgbClr val="7030A0"/>
                </a:solidFill>
                <a:sym typeface="Symbol" panose="05050102010706020507" pitchFamily="18" charset="2"/>
              </a:rPr>
              <a:t></a:t>
            </a:r>
            <a:r>
              <a:rPr lang="en-US" altLang="en-US" sz="2000" dirty="0">
                <a:solidFill>
                  <a:srgbClr val="7030A0"/>
                </a:solidFill>
                <a:sym typeface="Greek Symbols"/>
              </a:rPr>
              <a:t> </a:t>
            </a:r>
            <a:endParaRPr lang="en-US" altLang="en-US" sz="2000" dirty="0">
              <a:solidFill>
                <a:srgbClr val="7030A0"/>
              </a:solidFill>
              <a:sym typeface="Greek Symbols"/>
            </a:endParaRPr>
          </a:p>
          <a:p>
            <a:pPr marL="381000" indent="-381000"/>
            <a:r>
              <a:rPr lang="en-US" altLang="en-US" sz="2000" dirty="0">
                <a:solidFill>
                  <a:srgbClr val="7030A0"/>
                </a:solidFill>
                <a:sym typeface="Monotype Sorts" pitchFamily="-65" charset="2"/>
              </a:rPr>
              <a:t>To test if attribute A </a:t>
            </a:r>
            <a:r>
              <a:rPr lang="en-US" altLang="en-US" sz="2000" dirty="0">
                <a:solidFill>
                  <a:srgbClr val="7030A0"/>
                </a:solidFill>
                <a:sym typeface="Symbol" panose="05050102010706020507" pitchFamily="18" charset="2"/>
              </a:rPr>
              <a:t> </a:t>
            </a:r>
            <a:r>
              <a:rPr lang="en-US" altLang="en-US" sz="2000" dirty="0">
                <a:solidFill>
                  <a:srgbClr val="7030A0"/>
                </a:solidFill>
                <a:sym typeface="Monotype Sorts" pitchFamily="-65" charset="2"/>
              </a:rPr>
              <a:t> is extraneous in </a:t>
            </a:r>
            <a:r>
              <a:rPr lang="en-US" altLang="en-US" sz="2000" dirty="0">
                <a:solidFill>
                  <a:srgbClr val="7030A0"/>
                </a:solidFill>
                <a:sym typeface="Symbol" panose="05050102010706020507" pitchFamily="18" charset="2"/>
              </a:rPr>
              <a:t></a:t>
            </a:r>
            <a:r>
              <a:rPr lang="en-US" altLang="en-US" sz="2000" dirty="0">
                <a:solidFill>
                  <a:srgbClr val="7030A0"/>
                </a:solidFill>
                <a:sym typeface="Monotype Sorts" pitchFamily="-65" charset="2"/>
              </a:rPr>
              <a:t> </a:t>
            </a:r>
            <a:endParaRPr lang="en-US" altLang="en-US" sz="2000" dirty="0">
              <a:solidFill>
                <a:srgbClr val="7030A0"/>
              </a:solidFill>
              <a:sym typeface="Monotype Sorts" pitchFamily="-65" charset="2"/>
            </a:endParaRPr>
          </a:p>
          <a:p>
            <a:pPr marL="800100" lvl="1" indent="-342900"/>
            <a:r>
              <a:rPr lang="en-US" altLang="en-US" sz="2000" dirty="0">
                <a:solidFill>
                  <a:srgbClr val="7030A0"/>
                </a:solidFill>
                <a:sym typeface="Greek Symbols"/>
              </a:rPr>
              <a:t>Let </a:t>
            </a:r>
            <a:r>
              <a:rPr lang="en-US" altLang="en-US" sz="2000" dirty="0">
                <a:solidFill>
                  <a:srgbClr val="7030A0"/>
                </a:solidFill>
                <a:sym typeface="Symbol" panose="05050102010706020507" pitchFamily="18" charset="2"/>
              </a:rPr>
              <a:t></a:t>
            </a:r>
            <a:r>
              <a:rPr lang="en-US" altLang="en-US" sz="2000" dirty="0">
                <a:solidFill>
                  <a:srgbClr val="7030A0"/>
                </a:solidFill>
                <a:sym typeface="Greek Symbols"/>
              </a:rPr>
              <a:t> = </a:t>
            </a:r>
            <a:r>
              <a:rPr lang="en-US" altLang="en-US" sz="2000" dirty="0">
                <a:solidFill>
                  <a:srgbClr val="7030A0"/>
                </a:solidFill>
                <a:sym typeface="Symbol" panose="05050102010706020507" pitchFamily="18" charset="2"/>
              </a:rPr>
              <a:t> </a:t>
            </a:r>
            <a:r>
              <a:rPr lang="en-US" altLang="en-US" sz="2000" dirty="0">
                <a:solidFill>
                  <a:srgbClr val="7030A0"/>
                </a:solidFill>
                <a:sym typeface="Greek Symbols"/>
              </a:rPr>
              <a:t>– {A</a:t>
            </a:r>
            <a:r>
              <a:rPr lang="en-US" altLang="en-US" sz="2000" dirty="0">
                <a:solidFill>
                  <a:srgbClr val="7030A0"/>
                </a:solidFill>
                <a:sym typeface="Symbol" panose="05050102010706020507" pitchFamily="18" charset="2"/>
              </a:rPr>
              <a:t>}. Check if  </a:t>
            </a:r>
            <a:r>
              <a:rPr lang="en-US" altLang="ja-JP" sz="2000" dirty="0">
                <a:solidFill>
                  <a:srgbClr val="7030A0"/>
                </a:solidFill>
                <a:sym typeface="Greek Symbols"/>
              </a:rPr>
              <a:t> </a:t>
            </a:r>
            <a:r>
              <a:rPr lang="en-US" altLang="ja-JP" sz="2000" dirty="0">
                <a:solidFill>
                  <a:srgbClr val="7030A0"/>
                </a:solidFill>
                <a:sym typeface="Symbol" panose="05050102010706020507" pitchFamily="18" charset="2"/>
              </a:rPr>
              <a:t></a:t>
            </a:r>
            <a:r>
              <a:rPr lang="en-US" altLang="ja-JP" sz="2000" dirty="0">
                <a:solidFill>
                  <a:srgbClr val="7030A0"/>
                </a:solidFill>
                <a:sym typeface="Monotype Sorts" pitchFamily="-65" charset="2"/>
              </a:rPr>
              <a:t> </a:t>
            </a:r>
            <a:r>
              <a:rPr lang="en-US" altLang="ja-JP" sz="2000" dirty="0">
                <a:solidFill>
                  <a:srgbClr val="7030A0"/>
                </a:solidFill>
                <a:sym typeface="Symbol" panose="05050102010706020507" pitchFamily="18" charset="2"/>
              </a:rPr>
              <a:t></a:t>
            </a:r>
            <a:r>
              <a:rPr lang="en-US" altLang="en-US" sz="2000" dirty="0">
                <a:solidFill>
                  <a:srgbClr val="7030A0"/>
                </a:solidFill>
                <a:sym typeface="Symbol" panose="05050102010706020507" pitchFamily="18" charset="2"/>
              </a:rPr>
              <a:t>  can be inferred  from </a:t>
            </a:r>
            <a:r>
              <a:rPr lang="en-US" altLang="en-US" sz="2000" i="1" dirty="0">
                <a:solidFill>
                  <a:srgbClr val="7030A0"/>
                </a:solidFill>
                <a:sym typeface="Symbol" panose="05050102010706020507" pitchFamily="18" charset="2"/>
              </a:rPr>
              <a:t>F. </a:t>
            </a:r>
            <a:endParaRPr lang="en-US" altLang="en-US" sz="2000" i="1" dirty="0">
              <a:solidFill>
                <a:srgbClr val="7030A0"/>
              </a:solidFill>
              <a:sym typeface="Symbol" panose="05050102010706020507" pitchFamily="18" charset="2"/>
            </a:endParaRPr>
          </a:p>
          <a:p>
            <a:pPr marL="1143000" lvl="2" indent="-342900"/>
            <a:r>
              <a:rPr lang="en-US" altLang="en-US" sz="2000" dirty="0">
                <a:solidFill>
                  <a:srgbClr val="7030A0"/>
                </a:solidFill>
                <a:sym typeface="Symbol" panose="05050102010706020507" pitchFamily="18" charset="2"/>
              </a:rPr>
              <a:t> Compute </a:t>
            </a:r>
            <a:r>
              <a:rPr lang="en-US" altLang="en-US" sz="2000" baseline="30000" dirty="0">
                <a:solidFill>
                  <a:srgbClr val="7030A0"/>
                </a:solidFill>
                <a:sym typeface="Greek Symbols"/>
              </a:rPr>
              <a:t>+ </a:t>
            </a:r>
            <a:r>
              <a:rPr lang="en-US" altLang="en-US" sz="2000" dirty="0">
                <a:solidFill>
                  <a:srgbClr val="7030A0"/>
                </a:solidFill>
                <a:sym typeface="Symbol" panose="05050102010706020507" pitchFamily="18" charset="2"/>
              </a:rPr>
              <a:t>using the dependencies in </a:t>
            </a:r>
            <a:r>
              <a:rPr lang="en-US" altLang="en-US" sz="2000" i="1" dirty="0">
                <a:solidFill>
                  <a:srgbClr val="7030A0"/>
                </a:solidFill>
                <a:sym typeface="Greek Symbols"/>
              </a:rPr>
              <a:t>F</a:t>
            </a:r>
            <a:r>
              <a:rPr lang="en-US" altLang="en-US" sz="2000" dirty="0">
                <a:solidFill>
                  <a:srgbClr val="7030A0"/>
                </a:solidFill>
                <a:sym typeface="Greek Symbols"/>
              </a:rPr>
              <a:t> </a:t>
            </a:r>
            <a:endParaRPr lang="en-US" altLang="en-US" sz="2000" dirty="0">
              <a:solidFill>
                <a:srgbClr val="7030A0"/>
              </a:solidFill>
              <a:sym typeface="Symbol" panose="05050102010706020507" pitchFamily="18" charset="2"/>
            </a:endParaRPr>
          </a:p>
          <a:p>
            <a:pPr marL="1143000" lvl="2" indent="-342900"/>
            <a:r>
              <a:rPr lang="en-US" altLang="en-US" sz="2000" dirty="0">
                <a:solidFill>
                  <a:srgbClr val="7030A0"/>
                </a:solidFill>
                <a:sym typeface="Symbol" panose="05050102010706020507" pitchFamily="18" charset="2"/>
              </a:rPr>
              <a:t> If </a:t>
            </a:r>
            <a:r>
              <a:rPr lang="en-US" altLang="en-US" sz="2000" baseline="30000" dirty="0">
                <a:solidFill>
                  <a:srgbClr val="7030A0"/>
                </a:solidFill>
                <a:sym typeface="Greek Symbols"/>
              </a:rPr>
              <a:t>+  </a:t>
            </a:r>
            <a:r>
              <a:rPr lang="en-US" altLang="en-US" sz="2000" dirty="0">
                <a:solidFill>
                  <a:srgbClr val="7030A0"/>
                </a:solidFill>
                <a:sym typeface="Symbol" panose="05050102010706020507" pitchFamily="18" charset="2"/>
              </a:rPr>
              <a:t>includes all attributes in  then </a:t>
            </a:r>
            <a:r>
              <a:rPr lang="en-US" altLang="en-US" sz="2000" dirty="0">
                <a:solidFill>
                  <a:srgbClr val="7030A0"/>
                </a:solidFill>
                <a:sym typeface="Greek Symbols"/>
              </a:rPr>
              <a:t>, </a:t>
            </a:r>
            <a:r>
              <a:rPr lang="en-US" altLang="en-US" sz="2000" i="1" dirty="0">
                <a:solidFill>
                  <a:srgbClr val="7030A0"/>
                </a:solidFill>
                <a:sym typeface="Greek Symbols"/>
              </a:rPr>
              <a:t>A</a:t>
            </a:r>
            <a:r>
              <a:rPr lang="en-US" altLang="en-US" sz="2000" dirty="0">
                <a:solidFill>
                  <a:srgbClr val="7030A0"/>
                </a:solidFill>
                <a:sym typeface="Greek Symbols"/>
              </a:rPr>
              <a:t> is extraneous </a:t>
            </a:r>
            <a:r>
              <a:rPr lang="en-US" altLang="en-US" sz="2000" dirty="0">
                <a:solidFill>
                  <a:srgbClr val="7030A0"/>
                </a:solidFill>
                <a:sym typeface="Monotype Sorts" pitchFamily="-65" charset="2"/>
              </a:rPr>
              <a:t>in </a:t>
            </a:r>
            <a:r>
              <a:rPr lang="en-US" altLang="en-US" sz="2000" dirty="0">
                <a:solidFill>
                  <a:srgbClr val="7030A0"/>
                </a:solidFill>
                <a:sym typeface="Symbol" panose="05050102010706020507" pitchFamily="18" charset="2"/>
              </a:rPr>
              <a:t></a:t>
            </a:r>
            <a:r>
              <a:rPr lang="en-US" altLang="en-US" sz="2000" dirty="0">
                <a:solidFill>
                  <a:srgbClr val="7030A0"/>
                </a:solidFill>
                <a:sym typeface="Monotype Sorts" pitchFamily="-65" charset="2"/>
              </a:rPr>
              <a:t> </a:t>
            </a:r>
            <a:endParaRPr lang="en-US" altLang="en-US" sz="2000" dirty="0">
              <a:solidFill>
                <a:srgbClr val="7030A0"/>
              </a:solidFill>
              <a:sym typeface="Greek Symbols"/>
            </a:endParaRPr>
          </a:p>
          <a:p>
            <a:pPr marL="381000" indent="-381000">
              <a:buFont typeface="Monotype Sorts" pitchFamily="-65" charset="2"/>
              <a:buNone/>
            </a:pPr>
            <a:endParaRPr lang="en-US" altLang="en-US" dirty="0">
              <a:sym typeface="Greek Symbols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Examples of Extraneous Attributes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  <a:ea typeface="MS PGothic" panose="020B0600070205080204" pitchFamily="34" charset="-128"/>
            </a:endParaRPr>
          </a:p>
        </p:txBody>
      </p:sp>
      <p:sp>
        <p:nvSpPr>
          <p:cNvPr id="7157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63639"/>
            <a:ext cx="7709825" cy="2265362"/>
          </a:xfrm>
        </p:spPr>
        <p:txBody>
          <a:bodyPr/>
          <a:lstStyle/>
          <a:p>
            <a:r>
              <a:rPr lang="en-US" altLang="en-US" sz="2000" dirty="0"/>
              <a:t>Let </a:t>
            </a:r>
            <a:r>
              <a:rPr lang="en-US" altLang="en-US" sz="2000" i="1" dirty="0"/>
              <a:t>F</a:t>
            </a:r>
            <a:r>
              <a:rPr lang="en-US" altLang="en-US" sz="2000" dirty="0"/>
              <a:t> = {</a:t>
            </a:r>
            <a:r>
              <a:rPr lang="en-US" altLang="en-US" sz="2000" i="1" dirty="0"/>
              <a:t>AB</a:t>
            </a:r>
            <a:r>
              <a:rPr lang="en-US" altLang="en-US" sz="2000" dirty="0"/>
              <a:t> </a:t>
            </a:r>
            <a:r>
              <a:rPr lang="en-US" altLang="en-US" sz="2000" dirty="0">
                <a:sym typeface="Symbol" panose="05050102010706020507" pitchFamily="18" charset="2"/>
              </a:rPr>
              <a:t></a:t>
            </a:r>
            <a:r>
              <a:rPr lang="en-US" altLang="en-US" sz="2000" dirty="0"/>
              <a:t> </a:t>
            </a:r>
            <a:r>
              <a:rPr lang="en-US" altLang="en-US" sz="2000" i="1" dirty="0"/>
              <a:t>CD</a:t>
            </a:r>
            <a:r>
              <a:rPr lang="en-US" altLang="en-US" sz="2000" dirty="0"/>
              <a:t>, </a:t>
            </a:r>
            <a:r>
              <a:rPr lang="en-US" altLang="en-US" sz="2000" i="1" dirty="0"/>
              <a:t>A</a:t>
            </a:r>
            <a:r>
              <a:rPr lang="en-US" altLang="en-US" sz="2000" dirty="0"/>
              <a:t> </a:t>
            </a:r>
            <a:r>
              <a:rPr lang="en-US" altLang="en-US" sz="2000" dirty="0">
                <a:sym typeface="Symbol" panose="05050102010706020507" pitchFamily="18" charset="2"/>
              </a:rPr>
              <a:t></a:t>
            </a:r>
            <a:r>
              <a:rPr lang="en-US" altLang="en-US" sz="2000" dirty="0"/>
              <a:t> </a:t>
            </a:r>
            <a:r>
              <a:rPr lang="en-US" altLang="en-US" sz="2000" i="1" dirty="0"/>
              <a:t>E, E</a:t>
            </a:r>
            <a:r>
              <a:rPr lang="en-US" altLang="en-US" sz="2000" dirty="0"/>
              <a:t> </a:t>
            </a:r>
            <a:r>
              <a:rPr lang="en-US" altLang="en-US" sz="2000" dirty="0">
                <a:sym typeface="Symbol" panose="05050102010706020507" pitchFamily="18" charset="2"/>
              </a:rPr>
              <a:t></a:t>
            </a:r>
            <a:r>
              <a:rPr lang="en-US" altLang="en-US" sz="2000" dirty="0"/>
              <a:t> </a:t>
            </a:r>
            <a:r>
              <a:rPr lang="en-US" altLang="en-US" sz="2000" i="1" dirty="0"/>
              <a:t>C</a:t>
            </a:r>
            <a:r>
              <a:rPr lang="en-US" altLang="en-US" sz="2000" dirty="0"/>
              <a:t> }</a:t>
            </a:r>
            <a:endParaRPr lang="en-US" altLang="en-US" sz="2000" dirty="0"/>
          </a:p>
          <a:p>
            <a:r>
              <a:rPr lang="en-US" altLang="en-US" sz="2000" dirty="0"/>
              <a:t>To check if </a:t>
            </a:r>
            <a:r>
              <a:rPr lang="en-US" altLang="en-US" sz="2000" i="1" dirty="0"/>
              <a:t>C</a:t>
            </a:r>
            <a:r>
              <a:rPr lang="en-US" altLang="en-US" sz="2000" dirty="0"/>
              <a:t> is extraneous in </a:t>
            </a:r>
            <a:r>
              <a:rPr lang="en-US" altLang="en-US" sz="2000" i="1" dirty="0"/>
              <a:t>AB</a:t>
            </a:r>
            <a:r>
              <a:rPr lang="en-US" altLang="en-US" sz="2000" dirty="0"/>
              <a:t> </a:t>
            </a:r>
            <a:r>
              <a:rPr lang="en-US" altLang="en-US" sz="2000" dirty="0">
                <a:sym typeface="Symbol" panose="05050102010706020507" pitchFamily="18" charset="2"/>
              </a:rPr>
              <a:t></a:t>
            </a:r>
            <a:r>
              <a:rPr lang="en-US" altLang="en-US" sz="2000" i="1" dirty="0"/>
              <a:t> CD, </a:t>
            </a:r>
            <a:r>
              <a:rPr lang="en-US" altLang="en-US" sz="2000" dirty="0"/>
              <a:t>we:</a:t>
            </a:r>
            <a:endParaRPr lang="en-US" altLang="en-US" sz="2000" dirty="0"/>
          </a:p>
          <a:p>
            <a:pPr lvl="1"/>
            <a:r>
              <a:rPr lang="en-US" altLang="en-US" sz="2000" i="1" dirty="0"/>
              <a:t> </a:t>
            </a:r>
            <a:r>
              <a:rPr lang="en-US" altLang="en-US" sz="2000" dirty="0"/>
              <a:t>Compute the attribute closure of AB under </a:t>
            </a:r>
            <a:r>
              <a:rPr lang="en-US" altLang="en-US" sz="2000" i="1" dirty="0"/>
              <a:t>F</a:t>
            </a:r>
            <a:r>
              <a:rPr lang="en-US" altLang="en-US" sz="2000" dirty="0"/>
              <a:t>' = {</a:t>
            </a:r>
            <a:r>
              <a:rPr lang="en-US" altLang="en-US" sz="2000" i="1" dirty="0"/>
              <a:t>AB</a:t>
            </a:r>
            <a:r>
              <a:rPr lang="en-US" altLang="en-US" sz="2000" dirty="0"/>
              <a:t> </a:t>
            </a:r>
            <a:r>
              <a:rPr lang="en-US" altLang="en-US" sz="2000" dirty="0">
                <a:sym typeface="Symbol" panose="05050102010706020507" pitchFamily="18" charset="2"/>
              </a:rPr>
              <a:t></a:t>
            </a:r>
            <a:r>
              <a:rPr lang="en-US" altLang="en-US" sz="2000" i="1" dirty="0"/>
              <a:t> D,</a:t>
            </a:r>
            <a:r>
              <a:rPr lang="en-US" altLang="en-US" sz="2000" dirty="0"/>
              <a:t> </a:t>
            </a:r>
            <a:r>
              <a:rPr lang="en-US" altLang="en-US" sz="2000" i="1" dirty="0"/>
              <a:t>A</a:t>
            </a:r>
            <a:r>
              <a:rPr lang="en-US" altLang="en-US" sz="2000" dirty="0"/>
              <a:t> </a:t>
            </a:r>
            <a:r>
              <a:rPr lang="en-US" altLang="en-US" sz="2000" dirty="0">
                <a:sym typeface="Symbol" panose="05050102010706020507" pitchFamily="18" charset="2"/>
              </a:rPr>
              <a:t></a:t>
            </a:r>
            <a:r>
              <a:rPr lang="en-US" altLang="en-US" sz="2000" dirty="0"/>
              <a:t> </a:t>
            </a:r>
            <a:r>
              <a:rPr lang="en-US" altLang="en-US" sz="2000" i="1" dirty="0"/>
              <a:t>E, E</a:t>
            </a:r>
            <a:r>
              <a:rPr lang="en-US" altLang="en-US" sz="2000" dirty="0"/>
              <a:t> </a:t>
            </a:r>
            <a:r>
              <a:rPr lang="en-US" altLang="en-US" sz="2000" dirty="0">
                <a:sym typeface="Symbol" panose="05050102010706020507" pitchFamily="18" charset="2"/>
              </a:rPr>
              <a:t></a:t>
            </a:r>
            <a:r>
              <a:rPr lang="en-US" altLang="en-US" sz="2000" dirty="0"/>
              <a:t> </a:t>
            </a:r>
            <a:r>
              <a:rPr lang="en-US" altLang="en-US" sz="2000" i="1" dirty="0"/>
              <a:t>C}</a:t>
            </a:r>
            <a:endParaRPr lang="en-US" altLang="en-US" sz="2000" i="1" dirty="0"/>
          </a:p>
          <a:p>
            <a:pPr lvl="1"/>
            <a:r>
              <a:rPr lang="en-US" altLang="en-US" sz="2000" dirty="0"/>
              <a:t>The closure is </a:t>
            </a:r>
            <a:r>
              <a:rPr lang="en-US" altLang="en-US" sz="2000" i="1" dirty="0"/>
              <a:t>ABCDE, </a:t>
            </a:r>
            <a:r>
              <a:rPr lang="en-US" altLang="en-US" sz="2000" dirty="0"/>
              <a:t>which includes </a:t>
            </a:r>
            <a:r>
              <a:rPr lang="en-US" altLang="en-US" sz="2000" i="1" dirty="0"/>
              <a:t>CD</a:t>
            </a:r>
            <a:endParaRPr lang="en-US" altLang="en-US" sz="2000" i="1" dirty="0"/>
          </a:p>
          <a:p>
            <a:pPr lvl="1"/>
            <a:r>
              <a:rPr lang="en-US" altLang="en-US" sz="2000" dirty="0"/>
              <a:t>This implies tha</a:t>
            </a:r>
            <a:r>
              <a:rPr lang="en-US" altLang="en-US" sz="2000" i="1" dirty="0"/>
              <a:t>t C </a:t>
            </a:r>
            <a:r>
              <a:rPr lang="en-US" altLang="en-US" sz="2000" dirty="0"/>
              <a:t>is</a:t>
            </a:r>
            <a:r>
              <a:rPr lang="en-US" altLang="en-US" sz="2000" i="1" dirty="0"/>
              <a:t> </a:t>
            </a:r>
            <a:r>
              <a:rPr lang="en-US" altLang="en-US" sz="2000" dirty="0"/>
              <a:t>extraneous</a:t>
            </a:r>
            <a:endParaRPr lang="en-US" altLang="en-US" sz="2000" i="1" dirty="0"/>
          </a:p>
          <a:p>
            <a:pPr lvl="1"/>
            <a:endParaRPr lang="en-US" altLang="en-US" i="1" dirty="0"/>
          </a:p>
          <a:p>
            <a:pPr lvl="1">
              <a:buFont typeface="Monotype Sorts" pitchFamily="-65" charset="2"/>
              <a:buNone/>
            </a:pPr>
            <a:endParaRPr lang="en-US" altLang="en-US" i="1" dirty="0">
              <a:sym typeface="Greek Symbol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7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5779" grpId="0" build="p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Canonical Cover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  <a:ea typeface="MS PGothic" panose="020B0600070205080204" pitchFamily="34" charset="-128"/>
            </a:endParaRPr>
          </a:p>
        </p:txBody>
      </p:sp>
      <p:sp>
        <p:nvSpPr>
          <p:cNvPr id="7198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699" y="2019087"/>
            <a:ext cx="7378695" cy="250599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400" i="1" dirty="0">
                <a:sym typeface="Greek Symbols"/>
              </a:rPr>
              <a:t>F</a:t>
            </a:r>
            <a:r>
              <a:rPr lang="en-US" altLang="en-US" sz="2400" dirty="0">
                <a:sym typeface="Greek Symbols"/>
              </a:rPr>
              <a:t> logically implies all dependencies in </a:t>
            </a:r>
            <a:r>
              <a:rPr lang="en-US" altLang="en-US" sz="2400" i="1" dirty="0">
                <a:sym typeface="Greek Symbols"/>
              </a:rPr>
              <a:t>F</a:t>
            </a:r>
            <a:r>
              <a:rPr lang="en-US" altLang="en-US" sz="2400" i="1" baseline="-25000" dirty="0">
                <a:sym typeface="Greek Symbols"/>
              </a:rPr>
              <a:t>c</a:t>
            </a:r>
            <a:r>
              <a:rPr lang="en-US" altLang="en-US" sz="2400" dirty="0">
                <a:sym typeface="Greek Symbols"/>
              </a:rPr>
              <a:t> , and </a:t>
            </a:r>
            <a:endParaRPr lang="en-US" altLang="en-US" sz="2400" dirty="0">
              <a:sym typeface="Greek Symbols"/>
            </a:endParaRPr>
          </a:p>
          <a:p>
            <a:pPr>
              <a:lnSpc>
                <a:spcPct val="90000"/>
              </a:lnSpc>
            </a:pPr>
            <a:r>
              <a:rPr lang="en-US" altLang="en-US" sz="2400" i="1" dirty="0">
                <a:sym typeface="Greek Symbols"/>
              </a:rPr>
              <a:t>F</a:t>
            </a:r>
            <a:r>
              <a:rPr lang="en-US" altLang="en-US" sz="2400" i="1" baseline="-25000" dirty="0">
                <a:sym typeface="Greek Symbols"/>
              </a:rPr>
              <a:t>c</a:t>
            </a:r>
            <a:r>
              <a:rPr lang="en-US" altLang="en-US" sz="2400" baseline="-25000" dirty="0">
                <a:sym typeface="Greek Symbols"/>
              </a:rPr>
              <a:t> </a:t>
            </a:r>
            <a:r>
              <a:rPr lang="en-US" altLang="en-US" sz="2400" dirty="0">
                <a:sym typeface="Greek Symbols"/>
              </a:rPr>
              <a:t>logically implies all dependencies in </a:t>
            </a:r>
            <a:r>
              <a:rPr lang="en-US" altLang="en-US" sz="2400" i="1" dirty="0">
                <a:sym typeface="Greek Symbols"/>
              </a:rPr>
              <a:t>F,</a:t>
            </a:r>
            <a:r>
              <a:rPr lang="en-US" altLang="en-US" sz="2400" dirty="0">
                <a:sym typeface="Greek Symbols"/>
              </a:rPr>
              <a:t> and</a:t>
            </a:r>
            <a:endParaRPr lang="en-US" altLang="en-US" sz="2400" dirty="0">
              <a:sym typeface="Greek Symbols"/>
            </a:endParaRPr>
          </a:p>
          <a:p>
            <a:pPr>
              <a:lnSpc>
                <a:spcPct val="90000"/>
              </a:lnSpc>
            </a:pPr>
            <a:r>
              <a:rPr lang="en-US" altLang="en-US" sz="2400" dirty="0">
                <a:solidFill>
                  <a:srgbClr val="7030A0"/>
                </a:solidFill>
                <a:sym typeface="Greek Symbols"/>
              </a:rPr>
              <a:t>No functional dependency in </a:t>
            </a:r>
            <a:r>
              <a:rPr lang="en-US" altLang="en-US" sz="2400" i="1" dirty="0">
                <a:solidFill>
                  <a:srgbClr val="7030A0"/>
                </a:solidFill>
                <a:sym typeface="Greek Symbols"/>
              </a:rPr>
              <a:t>F</a:t>
            </a:r>
            <a:r>
              <a:rPr lang="en-US" altLang="en-US" sz="2400" i="1" baseline="-25000" dirty="0">
                <a:solidFill>
                  <a:srgbClr val="7030A0"/>
                </a:solidFill>
                <a:sym typeface="Greek Symbols"/>
              </a:rPr>
              <a:t>c</a:t>
            </a:r>
            <a:r>
              <a:rPr lang="en-US" altLang="en-US" sz="2400" dirty="0">
                <a:solidFill>
                  <a:srgbClr val="7030A0"/>
                </a:solidFill>
                <a:sym typeface="Greek Symbols"/>
              </a:rPr>
              <a:t> contains an extraneous attribute</a:t>
            </a:r>
            <a:r>
              <a:rPr lang="en-US" altLang="en-US" sz="2400" dirty="0">
                <a:sym typeface="Greek Symbols"/>
              </a:rPr>
              <a:t>, and</a:t>
            </a:r>
            <a:endParaRPr lang="en-US" altLang="en-US" sz="2400" dirty="0">
              <a:sym typeface="Greek Symbols"/>
            </a:endParaRPr>
          </a:p>
          <a:p>
            <a:pPr>
              <a:lnSpc>
                <a:spcPct val="90000"/>
              </a:lnSpc>
            </a:pPr>
            <a:r>
              <a:rPr lang="en-US" altLang="en-US" sz="2400" dirty="0">
                <a:solidFill>
                  <a:srgbClr val="7030A0"/>
                </a:solidFill>
                <a:sym typeface="Greek Symbols"/>
              </a:rPr>
              <a:t>Each left side of functional dependency in </a:t>
            </a:r>
            <a:r>
              <a:rPr lang="en-US" altLang="en-US" sz="2400" i="1" dirty="0">
                <a:solidFill>
                  <a:srgbClr val="7030A0"/>
                </a:solidFill>
                <a:sym typeface="Greek Symbols"/>
              </a:rPr>
              <a:t>F</a:t>
            </a:r>
            <a:r>
              <a:rPr lang="en-US" altLang="en-US" sz="2400" i="1" baseline="-25000" dirty="0">
                <a:solidFill>
                  <a:srgbClr val="7030A0"/>
                </a:solidFill>
                <a:sym typeface="Greek Symbols"/>
              </a:rPr>
              <a:t>c</a:t>
            </a:r>
            <a:r>
              <a:rPr lang="en-US" altLang="en-US" sz="2400" i="1" dirty="0">
                <a:solidFill>
                  <a:srgbClr val="7030A0"/>
                </a:solidFill>
                <a:sym typeface="Greek Symbols"/>
              </a:rPr>
              <a:t> </a:t>
            </a:r>
            <a:r>
              <a:rPr lang="en-US" altLang="en-US" sz="2400" dirty="0">
                <a:solidFill>
                  <a:srgbClr val="7030A0"/>
                </a:solidFill>
                <a:sym typeface="Greek Symbols"/>
              </a:rPr>
              <a:t>is unique</a:t>
            </a:r>
            <a:r>
              <a:rPr lang="en-US" altLang="en-US" sz="2400" dirty="0">
                <a:sym typeface="Greek Symbols"/>
              </a:rPr>
              <a:t>. That is, there are no two dependencies in </a:t>
            </a:r>
            <a:r>
              <a:rPr lang="en-US" altLang="en-US" sz="2400" i="1" dirty="0">
                <a:sym typeface="Greek Symbols"/>
              </a:rPr>
              <a:t>F</a:t>
            </a:r>
            <a:r>
              <a:rPr lang="en-US" altLang="en-US" sz="2400" i="1" baseline="-25000" dirty="0">
                <a:sym typeface="Greek Symbols"/>
              </a:rPr>
              <a:t>c</a:t>
            </a:r>
            <a:endParaRPr lang="en-US" altLang="en-US" sz="2400" dirty="0">
              <a:sym typeface="Greek Symbols"/>
            </a:endParaRPr>
          </a:p>
          <a:p>
            <a:pPr lvl="1">
              <a:lnSpc>
                <a:spcPct val="90000"/>
              </a:lnSpc>
            </a:pPr>
            <a:r>
              <a:rPr lang="en-US" altLang="en-US" sz="2400" dirty="0">
                <a:sym typeface="Symbol" panose="05050102010706020507" pitchFamily="18" charset="2"/>
              </a:rPr>
              <a:t></a:t>
            </a:r>
            <a:r>
              <a:rPr lang="en-US" altLang="en-US" sz="2400" baseline="-25000" dirty="0">
                <a:sym typeface="Greek Symbols"/>
              </a:rPr>
              <a:t>1</a:t>
            </a:r>
            <a:r>
              <a:rPr lang="en-US" altLang="en-US" sz="2400" dirty="0">
                <a:sym typeface="Greek Symbols"/>
              </a:rPr>
              <a:t> </a:t>
            </a:r>
            <a:r>
              <a:rPr lang="en-US" altLang="en-US" sz="2400" dirty="0">
                <a:sym typeface="Symbol" panose="05050102010706020507" pitchFamily="18" charset="2"/>
              </a:rPr>
              <a:t></a:t>
            </a:r>
            <a:r>
              <a:rPr lang="en-US" altLang="en-US" sz="2400" dirty="0">
                <a:sym typeface="Monotype Sorts" pitchFamily="-65" charset="2"/>
              </a:rPr>
              <a:t> </a:t>
            </a:r>
            <a:r>
              <a:rPr lang="en-US" altLang="en-US" sz="2400" dirty="0">
                <a:sym typeface="Symbol" panose="05050102010706020507" pitchFamily="18" charset="2"/>
              </a:rPr>
              <a:t></a:t>
            </a:r>
            <a:r>
              <a:rPr lang="en-US" altLang="en-US" sz="2400" baseline="-25000" dirty="0">
                <a:sym typeface="Greek Symbols"/>
              </a:rPr>
              <a:t>1</a:t>
            </a:r>
            <a:r>
              <a:rPr lang="en-US" altLang="en-US" sz="2400" dirty="0">
                <a:sym typeface="Greek Symbols"/>
              </a:rPr>
              <a:t> and </a:t>
            </a:r>
            <a:r>
              <a:rPr lang="en-US" altLang="en-US" sz="2400" dirty="0">
                <a:sym typeface="Symbol" panose="05050102010706020507" pitchFamily="18" charset="2"/>
              </a:rPr>
              <a:t></a:t>
            </a:r>
            <a:r>
              <a:rPr lang="en-US" altLang="en-US" sz="2400" baseline="-25000" dirty="0">
                <a:sym typeface="Greek Symbols"/>
              </a:rPr>
              <a:t>2</a:t>
            </a:r>
            <a:r>
              <a:rPr lang="en-US" altLang="en-US" sz="2400" dirty="0">
                <a:sym typeface="Greek Symbols"/>
              </a:rPr>
              <a:t> </a:t>
            </a:r>
            <a:r>
              <a:rPr lang="en-US" altLang="en-US" sz="2400" dirty="0">
                <a:sym typeface="Symbol" panose="05050102010706020507" pitchFamily="18" charset="2"/>
              </a:rPr>
              <a:t></a:t>
            </a:r>
            <a:r>
              <a:rPr lang="en-US" altLang="en-US" sz="2400" dirty="0">
                <a:sym typeface="Monotype Sorts" pitchFamily="-65" charset="2"/>
              </a:rPr>
              <a:t> </a:t>
            </a:r>
            <a:r>
              <a:rPr lang="en-US" altLang="en-US" sz="2400" dirty="0">
                <a:sym typeface="Symbol" panose="05050102010706020507" pitchFamily="18" charset="2"/>
              </a:rPr>
              <a:t></a:t>
            </a:r>
            <a:r>
              <a:rPr lang="en-US" altLang="en-US" sz="2400" baseline="-25000" dirty="0">
                <a:sym typeface="Greek Symbols"/>
              </a:rPr>
              <a:t>2</a:t>
            </a:r>
            <a:r>
              <a:rPr lang="en-US" altLang="en-US" sz="2400" dirty="0">
                <a:sym typeface="Greek Symbols"/>
              </a:rPr>
              <a:t> such that </a:t>
            </a:r>
            <a:endParaRPr lang="en-US" altLang="en-US" sz="2400" dirty="0">
              <a:sym typeface="Greek Symbols"/>
            </a:endParaRPr>
          </a:p>
          <a:p>
            <a:pPr lvl="1">
              <a:lnSpc>
                <a:spcPct val="90000"/>
              </a:lnSpc>
            </a:pPr>
            <a:r>
              <a:rPr lang="en-US" altLang="en-US" sz="2400" dirty="0">
                <a:sym typeface="Symbol" panose="05050102010706020507" pitchFamily="18" charset="2"/>
              </a:rPr>
              <a:t></a:t>
            </a:r>
            <a:r>
              <a:rPr lang="en-US" altLang="en-US" sz="2400" baseline="-25000" dirty="0">
                <a:sym typeface="Greek Symbols"/>
              </a:rPr>
              <a:t>1</a:t>
            </a:r>
            <a:r>
              <a:rPr lang="en-US" altLang="en-US" sz="2400" dirty="0">
                <a:sym typeface="Greek Symbols"/>
              </a:rPr>
              <a:t> </a:t>
            </a:r>
            <a:r>
              <a:rPr lang="en-US" altLang="en-US" sz="2400" dirty="0">
                <a:sym typeface="Symbol" panose="05050102010706020507" pitchFamily="18" charset="2"/>
              </a:rPr>
              <a:t>=</a:t>
            </a:r>
            <a:r>
              <a:rPr lang="en-US" altLang="en-US" sz="2400" dirty="0">
                <a:sym typeface="Monotype Sorts" pitchFamily="-65" charset="2"/>
              </a:rPr>
              <a:t> </a:t>
            </a:r>
            <a:r>
              <a:rPr lang="en-US" altLang="en-US" sz="2400" dirty="0">
                <a:sym typeface="Symbol" panose="05050102010706020507" pitchFamily="18" charset="2"/>
              </a:rPr>
              <a:t></a:t>
            </a:r>
            <a:r>
              <a:rPr lang="en-US" altLang="en-US" sz="2400" baseline="-25000" dirty="0">
                <a:sym typeface="Greek Symbols"/>
              </a:rPr>
              <a:t>2</a:t>
            </a:r>
            <a:endParaRPr lang="en-US" altLang="en-US" sz="2400" baseline="-25000" dirty="0">
              <a:sym typeface="Greek Symbols"/>
            </a:endParaRPr>
          </a:p>
          <a:p>
            <a:pPr>
              <a:lnSpc>
                <a:spcPct val="90000"/>
              </a:lnSpc>
              <a:buFont typeface="Monotype Sorts" pitchFamily="-65" charset="2"/>
              <a:buNone/>
            </a:pPr>
            <a:r>
              <a:rPr lang="en-US" altLang="en-US" dirty="0">
                <a:sym typeface="Greek Symbols"/>
              </a:rPr>
              <a:t> </a:t>
            </a:r>
            <a:endParaRPr lang="en-US" altLang="en-US" dirty="0">
              <a:sym typeface="Greek Symbols"/>
            </a:endParaRPr>
          </a:p>
          <a:p>
            <a:pPr lvl="1">
              <a:lnSpc>
                <a:spcPct val="90000"/>
              </a:lnSpc>
              <a:buFont typeface="Monotype Sorts" pitchFamily="-65" charset="2"/>
              <a:buNone/>
            </a:pPr>
            <a:endParaRPr lang="en-US" altLang="en-US" dirty="0">
              <a:sym typeface="Greek Symbols"/>
            </a:endParaRPr>
          </a:p>
          <a:p>
            <a:pPr>
              <a:lnSpc>
                <a:spcPct val="90000"/>
              </a:lnSpc>
            </a:pPr>
            <a:endParaRPr lang="en-US" altLang="en-US" dirty="0">
              <a:sym typeface="Greek Symbols"/>
            </a:endParaRPr>
          </a:p>
          <a:p>
            <a:pPr>
              <a:lnSpc>
                <a:spcPct val="90000"/>
              </a:lnSpc>
            </a:pPr>
            <a:endParaRPr lang="en-US" alt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768349" y="1118934"/>
            <a:ext cx="7525045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400" dirty="0">
                <a:sym typeface="Greek Symbols"/>
              </a:rPr>
              <a:t>A </a:t>
            </a:r>
            <a:r>
              <a:rPr lang="en-US" altLang="en-US" sz="2400" b="1" dirty="0">
                <a:solidFill>
                  <a:srgbClr val="002060"/>
                </a:solidFill>
                <a:sym typeface="Greek Symbols"/>
              </a:rPr>
              <a:t>canonical cover</a:t>
            </a:r>
            <a:r>
              <a:rPr lang="en-US" altLang="en-US" sz="2400" i="1" dirty="0">
                <a:solidFill>
                  <a:srgbClr val="002060"/>
                </a:solidFill>
                <a:sym typeface="Greek Symbols"/>
              </a:rPr>
              <a:t> </a:t>
            </a:r>
            <a:r>
              <a:rPr lang="en-US" altLang="en-US" sz="2400" dirty="0">
                <a:sym typeface="Greek Symbols"/>
              </a:rPr>
              <a:t>for </a:t>
            </a:r>
            <a:r>
              <a:rPr lang="en-US" altLang="en-US" sz="2400" i="1" dirty="0">
                <a:sym typeface="Greek Symbols"/>
              </a:rPr>
              <a:t>F</a:t>
            </a:r>
            <a:r>
              <a:rPr lang="en-US" altLang="en-US" sz="2400" dirty="0">
                <a:sym typeface="Greek Symbols"/>
              </a:rPr>
              <a:t> is a set of dependencies </a:t>
            </a:r>
            <a:r>
              <a:rPr lang="en-US" altLang="en-US" sz="2400" i="1" dirty="0">
                <a:sym typeface="Greek Symbols"/>
              </a:rPr>
              <a:t>F</a:t>
            </a:r>
            <a:r>
              <a:rPr lang="en-US" altLang="en-US" sz="2400" i="1" baseline="-25000" dirty="0">
                <a:sym typeface="Greek Symbols"/>
              </a:rPr>
              <a:t>c </a:t>
            </a:r>
            <a:r>
              <a:rPr lang="en-US" altLang="en-US" sz="2400" dirty="0">
                <a:sym typeface="Greek Symbols"/>
              </a:rPr>
              <a:t>such that</a:t>
            </a:r>
            <a:r>
              <a:rPr lang="en-US" altLang="en-US" sz="2000" dirty="0">
                <a:sym typeface="Greek Symbols"/>
              </a:rPr>
              <a:t> </a:t>
            </a:r>
            <a:endParaRPr lang="en-US" altLang="en-US" sz="2000" dirty="0">
              <a:sym typeface="Greek Symbols"/>
            </a:endParaRPr>
          </a:p>
          <a:p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98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98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98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98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98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98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9875" grpId="0" autoUpdateAnimBg="0" build="p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Canonical Cover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  <a:ea typeface="MS PGothic" panose="020B0600070205080204" pitchFamily="34" charset="-128"/>
            </a:endParaRPr>
          </a:p>
        </p:txBody>
      </p:sp>
      <p:sp>
        <p:nvSpPr>
          <p:cNvPr id="7198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54098"/>
            <a:ext cx="7603293" cy="4139797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1800" dirty="0"/>
              <a:t>To compute a canonical cover for </a:t>
            </a:r>
            <a:r>
              <a:rPr lang="en-US" altLang="en-US" sz="1800" i="1" dirty="0"/>
              <a:t>F</a:t>
            </a:r>
            <a:r>
              <a:rPr lang="en-US" altLang="en-US" sz="1800" dirty="0"/>
              <a:t>:</a:t>
            </a:r>
            <a:endParaRPr lang="en-US" altLang="en-US" sz="1800" dirty="0"/>
          </a:p>
          <a:p>
            <a:pPr>
              <a:lnSpc>
                <a:spcPct val="90000"/>
              </a:lnSpc>
              <a:buFont typeface="Monotype Sorts" pitchFamily="-65" charset="2"/>
              <a:buNone/>
            </a:pPr>
            <a:r>
              <a:rPr lang="en-US" altLang="en-US" sz="1800" dirty="0"/>
              <a:t> </a:t>
            </a:r>
            <a:br>
              <a:rPr lang="en-US" altLang="en-US" sz="1800" dirty="0"/>
            </a:br>
            <a:r>
              <a:rPr lang="en-US" altLang="en-US" sz="1800" b="1" dirty="0"/>
              <a:t>repeat</a:t>
            </a:r>
            <a:endParaRPr lang="en-US" altLang="en-US" sz="1800" b="1" dirty="0"/>
          </a:p>
          <a:p>
            <a:pPr>
              <a:lnSpc>
                <a:spcPct val="90000"/>
              </a:lnSpc>
              <a:buFont typeface="Monotype Sorts" pitchFamily="-65" charset="2"/>
              <a:buNone/>
            </a:pPr>
            <a:r>
              <a:rPr lang="en-US" altLang="en-US" sz="1800" b="1" dirty="0"/>
              <a:t>	</a:t>
            </a:r>
            <a:r>
              <a:rPr lang="en-US" altLang="en-US" sz="1800" b="1" dirty="0">
                <a:solidFill>
                  <a:srgbClr val="7030A0"/>
                </a:solidFill>
              </a:rPr>
              <a:t>         </a:t>
            </a:r>
            <a:r>
              <a:rPr lang="en-US" altLang="en-US" sz="1800" dirty="0">
                <a:solidFill>
                  <a:srgbClr val="7030A0"/>
                </a:solidFill>
              </a:rPr>
              <a:t>Use the union rule to replace any dependencies in </a:t>
            </a:r>
            <a:r>
              <a:rPr lang="en-US" altLang="en-US" sz="1800" i="1" dirty="0">
                <a:solidFill>
                  <a:srgbClr val="7030A0"/>
                </a:solidFill>
              </a:rPr>
              <a:t>F </a:t>
            </a:r>
            <a:r>
              <a:rPr lang="en-US" altLang="en-US" sz="1800" dirty="0">
                <a:solidFill>
                  <a:srgbClr val="7030A0"/>
                </a:solidFill>
              </a:rPr>
              <a:t>of the form</a:t>
            </a:r>
            <a:endParaRPr lang="en-US" altLang="en-US" sz="1800" dirty="0">
              <a:solidFill>
                <a:srgbClr val="7030A0"/>
              </a:solidFill>
            </a:endParaRPr>
          </a:p>
          <a:p>
            <a:pPr>
              <a:lnSpc>
                <a:spcPct val="90000"/>
              </a:lnSpc>
              <a:buFont typeface="Monotype Sorts" pitchFamily="-65" charset="2"/>
              <a:buNone/>
            </a:pPr>
            <a:r>
              <a:rPr lang="en-US" altLang="en-US" sz="1800" i="1" dirty="0">
                <a:solidFill>
                  <a:srgbClr val="7030A0"/>
                </a:solidFill>
              </a:rPr>
              <a:t> </a:t>
            </a:r>
            <a:br>
              <a:rPr lang="en-US" altLang="en-US" sz="1800" i="1" dirty="0">
                <a:solidFill>
                  <a:srgbClr val="7030A0"/>
                </a:solidFill>
              </a:rPr>
            </a:br>
            <a:r>
              <a:rPr lang="en-US" altLang="en-US" sz="1800" i="1" dirty="0">
                <a:solidFill>
                  <a:srgbClr val="7030A0"/>
                </a:solidFill>
              </a:rPr>
              <a:t>		 </a:t>
            </a:r>
            <a:r>
              <a:rPr lang="en-US" altLang="en-US" sz="1800" dirty="0">
                <a:solidFill>
                  <a:srgbClr val="7030A0"/>
                </a:solidFill>
                <a:sym typeface="Symbol" panose="05050102010706020507" pitchFamily="18" charset="2"/>
              </a:rPr>
              <a:t></a:t>
            </a:r>
            <a:r>
              <a:rPr lang="en-US" altLang="en-US" sz="1800" baseline="-25000" dirty="0">
                <a:solidFill>
                  <a:srgbClr val="7030A0"/>
                </a:solidFill>
                <a:sym typeface="Greek Symbols"/>
              </a:rPr>
              <a:t>1</a:t>
            </a:r>
            <a:r>
              <a:rPr lang="en-US" altLang="en-US" sz="1800" dirty="0">
                <a:solidFill>
                  <a:srgbClr val="7030A0"/>
                </a:solidFill>
                <a:sym typeface="Greek Symbols"/>
              </a:rPr>
              <a:t> </a:t>
            </a:r>
            <a:r>
              <a:rPr lang="en-US" altLang="en-US" sz="1800" dirty="0">
                <a:solidFill>
                  <a:srgbClr val="7030A0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1800" dirty="0">
                <a:solidFill>
                  <a:srgbClr val="7030A0"/>
                </a:solidFill>
                <a:sym typeface="Monotype Sorts" pitchFamily="-65" charset="2"/>
              </a:rPr>
              <a:t> </a:t>
            </a:r>
            <a:r>
              <a:rPr lang="en-US" altLang="en-US" sz="1800" dirty="0">
                <a:solidFill>
                  <a:srgbClr val="7030A0"/>
                </a:solidFill>
                <a:sym typeface="Symbol" panose="05050102010706020507" pitchFamily="18" charset="2"/>
              </a:rPr>
              <a:t></a:t>
            </a:r>
            <a:r>
              <a:rPr lang="en-US" altLang="en-US" sz="1800" baseline="-25000" dirty="0">
                <a:solidFill>
                  <a:srgbClr val="7030A0"/>
                </a:solidFill>
                <a:sym typeface="Greek Symbols"/>
              </a:rPr>
              <a:t>1</a:t>
            </a:r>
            <a:r>
              <a:rPr lang="en-US" altLang="en-US" sz="1800" dirty="0">
                <a:solidFill>
                  <a:srgbClr val="7030A0"/>
                </a:solidFill>
                <a:sym typeface="Greek Symbols"/>
              </a:rPr>
              <a:t> and </a:t>
            </a:r>
            <a:r>
              <a:rPr lang="en-US" altLang="en-US" sz="1800" dirty="0">
                <a:solidFill>
                  <a:srgbClr val="7030A0"/>
                </a:solidFill>
                <a:sym typeface="Symbol" panose="05050102010706020507" pitchFamily="18" charset="2"/>
              </a:rPr>
              <a:t></a:t>
            </a:r>
            <a:r>
              <a:rPr lang="en-US" altLang="en-US" sz="1800" baseline="-25000" dirty="0">
                <a:solidFill>
                  <a:srgbClr val="7030A0"/>
                </a:solidFill>
                <a:sym typeface="Greek Symbols"/>
              </a:rPr>
              <a:t>1</a:t>
            </a:r>
            <a:r>
              <a:rPr lang="en-US" altLang="en-US" sz="1800" dirty="0">
                <a:solidFill>
                  <a:srgbClr val="7030A0"/>
                </a:solidFill>
                <a:sym typeface="Greek Symbols"/>
              </a:rPr>
              <a:t> </a:t>
            </a:r>
            <a:r>
              <a:rPr lang="en-US" altLang="en-US" sz="1800" dirty="0">
                <a:solidFill>
                  <a:srgbClr val="7030A0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1800" dirty="0">
                <a:solidFill>
                  <a:srgbClr val="7030A0"/>
                </a:solidFill>
                <a:sym typeface="Monotype Sorts" pitchFamily="-65" charset="2"/>
              </a:rPr>
              <a:t> </a:t>
            </a:r>
            <a:r>
              <a:rPr lang="en-US" altLang="en-US" sz="1800" dirty="0">
                <a:solidFill>
                  <a:srgbClr val="7030A0"/>
                </a:solidFill>
                <a:sym typeface="Symbol" panose="05050102010706020507" pitchFamily="18" charset="2"/>
              </a:rPr>
              <a:t></a:t>
            </a:r>
            <a:r>
              <a:rPr lang="en-US" altLang="en-US" sz="1800" baseline="-25000" dirty="0">
                <a:solidFill>
                  <a:srgbClr val="7030A0"/>
                </a:solidFill>
                <a:sym typeface="Greek Symbols"/>
              </a:rPr>
              <a:t>2</a:t>
            </a:r>
            <a:r>
              <a:rPr lang="en-US" altLang="en-US" sz="1800" dirty="0">
                <a:solidFill>
                  <a:srgbClr val="7030A0"/>
                </a:solidFill>
                <a:sym typeface="Greek Symbols"/>
              </a:rPr>
              <a:t> with </a:t>
            </a:r>
            <a:r>
              <a:rPr lang="en-US" altLang="en-US" sz="1800" dirty="0">
                <a:solidFill>
                  <a:srgbClr val="7030A0"/>
                </a:solidFill>
                <a:sym typeface="Symbol" panose="05050102010706020507" pitchFamily="18" charset="2"/>
              </a:rPr>
              <a:t></a:t>
            </a:r>
            <a:r>
              <a:rPr lang="en-US" altLang="en-US" sz="1800" baseline="-25000" dirty="0">
                <a:solidFill>
                  <a:srgbClr val="7030A0"/>
                </a:solidFill>
                <a:sym typeface="Greek Symbols"/>
              </a:rPr>
              <a:t>1</a:t>
            </a:r>
            <a:r>
              <a:rPr lang="en-US" altLang="en-US" sz="1800" dirty="0">
                <a:solidFill>
                  <a:srgbClr val="7030A0"/>
                </a:solidFill>
                <a:sym typeface="Greek Symbols"/>
              </a:rPr>
              <a:t> </a:t>
            </a:r>
            <a:r>
              <a:rPr lang="en-US" altLang="en-US" sz="1800" dirty="0">
                <a:solidFill>
                  <a:srgbClr val="7030A0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1800" dirty="0">
                <a:solidFill>
                  <a:srgbClr val="7030A0"/>
                </a:solidFill>
                <a:sym typeface="Monotype Sorts" pitchFamily="-65" charset="2"/>
              </a:rPr>
              <a:t> </a:t>
            </a:r>
            <a:r>
              <a:rPr lang="en-US" altLang="en-US" sz="1800" dirty="0">
                <a:solidFill>
                  <a:srgbClr val="7030A0"/>
                </a:solidFill>
                <a:sym typeface="Symbol" panose="05050102010706020507" pitchFamily="18" charset="2"/>
              </a:rPr>
              <a:t></a:t>
            </a:r>
            <a:r>
              <a:rPr lang="en-US" altLang="en-US" sz="1800" baseline="-25000" dirty="0">
                <a:solidFill>
                  <a:srgbClr val="7030A0"/>
                </a:solidFill>
                <a:sym typeface="Greek Symbols"/>
              </a:rPr>
              <a:t>1</a:t>
            </a:r>
            <a:r>
              <a:rPr lang="en-US" altLang="en-US" sz="1800" dirty="0">
                <a:solidFill>
                  <a:srgbClr val="7030A0"/>
                </a:solidFill>
                <a:sym typeface="Greek Symbols"/>
              </a:rPr>
              <a:t> </a:t>
            </a:r>
            <a:r>
              <a:rPr lang="en-US" altLang="en-US" sz="1800" dirty="0">
                <a:solidFill>
                  <a:srgbClr val="7030A0"/>
                </a:solidFill>
                <a:sym typeface="Symbol" panose="05050102010706020507" pitchFamily="18" charset="2"/>
              </a:rPr>
              <a:t></a:t>
            </a:r>
            <a:r>
              <a:rPr lang="en-US" altLang="en-US" sz="1800" baseline="-25000" dirty="0">
                <a:solidFill>
                  <a:srgbClr val="7030A0"/>
                </a:solidFill>
                <a:sym typeface="Greek Symbols"/>
              </a:rPr>
              <a:t>2</a:t>
            </a:r>
            <a:endParaRPr lang="en-US" altLang="en-US" sz="1800" baseline="-25000" dirty="0">
              <a:solidFill>
                <a:srgbClr val="7030A0"/>
              </a:solidFill>
              <a:sym typeface="Greek Symbols"/>
            </a:endParaRPr>
          </a:p>
          <a:p>
            <a:pPr>
              <a:lnSpc>
                <a:spcPct val="90000"/>
              </a:lnSpc>
              <a:spcBef>
                <a:spcPts val="0"/>
              </a:spcBef>
              <a:buFont typeface="Monotype Sorts" pitchFamily="-65" charset="2"/>
              <a:buNone/>
            </a:pPr>
            <a:r>
              <a:rPr lang="en-US" altLang="en-US" sz="1800" dirty="0">
                <a:solidFill>
                  <a:srgbClr val="7030A0"/>
                </a:solidFill>
                <a:sym typeface="Greek Symbols"/>
              </a:rPr>
              <a:t> </a:t>
            </a:r>
            <a:br>
              <a:rPr lang="en-US" altLang="en-US" sz="1800" dirty="0">
                <a:solidFill>
                  <a:srgbClr val="7030A0"/>
                </a:solidFill>
                <a:sym typeface="Greek Symbols"/>
              </a:rPr>
            </a:br>
            <a:r>
              <a:rPr lang="en-US" altLang="en-US" sz="1800" dirty="0">
                <a:solidFill>
                  <a:srgbClr val="7030A0"/>
                </a:solidFill>
                <a:sym typeface="Greek Symbols"/>
              </a:rPr>
              <a:t>	Find a functional dependency </a:t>
            </a:r>
            <a:r>
              <a:rPr lang="en-US" altLang="en-US" sz="1800" dirty="0">
                <a:solidFill>
                  <a:srgbClr val="7030A0"/>
                </a:solidFill>
                <a:sym typeface="Symbol" panose="05050102010706020507" pitchFamily="18" charset="2"/>
              </a:rPr>
              <a:t></a:t>
            </a:r>
            <a:r>
              <a:rPr lang="en-US" altLang="en-US" sz="1800" dirty="0">
                <a:solidFill>
                  <a:srgbClr val="7030A0"/>
                </a:solidFill>
                <a:sym typeface="Greek Symbols"/>
              </a:rPr>
              <a:t> </a:t>
            </a:r>
            <a:r>
              <a:rPr lang="en-US" altLang="en-US" sz="1800" dirty="0">
                <a:solidFill>
                  <a:srgbClr val="7030A0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1800" dirty="0">
                <a:solidFill>
                  <a:srgbClr val="7030A0"/>
                </a:solidFill>
                <a:sym typeface="Monotype Sorts" pitchFamily="-65" charset="2"/>
              </a:rPr>
              <a:t> </a:t>
            </a:r>
            <a:r>
              <a:rPr lang="en-US" altLang="en-US" sz="1800" dirty="0">
                <a:solidFill>
                  <a:srgbClr val="7030A0"/>
                </a:solidFill>
                <a:sym typeface="Symbol" panose="05050102010706020507" pitchFamily="18" charset="2"/>
              </a:rPr>
              <a:t></a:t>
            </a:r>
            <a:r>
              <a:rPr lang="en-US" altLang="en-US" sz="1800" dirty="0">
                <a:solidFill>
                  <a:srgbClr val="7030A0"/>
                </a:solidFill>
                <a:sym typeface="Greek Symbols"/>
              </a:rPr>
              <a:t>  in </a:t>
            </a:r>
            <a:r>
              <a:rPr lang="en-US" altLang="en-US" sz="1800" i="1" dirty="0">
                <a:solidFill>
                  <a:srgbClr val="7030A0"/>
                </a:solidFill>
                <a:sym typeface="Greek Symbols"/>
              </a:rPr>
              <a:t>F</a:t>
            </a:r>
            <a:r>
              <a:rPr lang="en-US" altLang="en-US" sz="1800" i="1" baseline="-25000" dirty="0">
                <a:solidFill>
                  <a:srgbClr val="7030A0"/>
                </a:solidFill>
                <a:sym typeface="Greek Symbols"/>
              </a:rPr>
              <a:t>c</a:t>
            </a:r>
            <a:r>
              <a:rPr lang="en-US" altLang="en-US" sz="1800" dirty="0">
                <a:solidFill>
                  <a:srgbClr val="7030A0"/>
                </a:solidFill>
                <a:sym typeface="Greek Symbols"/>
              </a:rPr>
              <a:t> with an extraneous  </a:t>
            </a:r>
            <a:endParaRPr lang="en-US" altLang="en-US" sz="1800" dirty="0">
              <a:solidFill>
                <a:srgbClr val="7030A0"/>
              </a:solidFill>
              <a:sym typeface="Greek Symbols"/>
            </a:endParaRPr>
          </a:p>
          <a:p>
            <a:pPr>
              <a:lnSpc>
                <a:spcPct val="90000"/>
              </a:lnSpc>
              <a:spcBef>
                <a:spcPts val="0"/>
              </a:spcBef>
              <a:buFont typeface="Monotype Sorts" pitchFamily="-65" charset="2"/>
              <a:buNone/>
            </a:pPr>
            <a:r>
              <a:rPr lang="en-US" altLang="en-US" sz="1800" dirty="0">
                <a:solidFill>
                  <a:srgbClr val="7030A0"/>
                </a:solidFill>
                <a:sym typeface="Greek Symbols"/>
              </a:rPr>
              <a:t>               attribute either in </a:t>
            </a:r>
            <a:r>
              <a:rPr lang="en-US" altLang="en-US" sz="1800" dirty="0">
                <a:solidFill>
                  <a:srgbClr val="7030A0"/>
                </a:solidFill>
                <a:sym typeface="Symbol" panose="05050102010706020507" pitchFamily="18" charset="2"/>
              </a:rPr>
              <a:t></a:t>
            </a:r>
            <a:r>
              <a:rPr lang="en-US" altLang="en-US" sz="1800" dirty="0">
                <a:solidFill>
                  <a:srgbClr val="7030A0"/>
                </a:solidFill>
                <a:sym typeface="Greek Symbols"/>
              </a:rPr>
              <a:t> or in </a:t>
            </a:r>
            <a:r>
              <a:rPr lang="en-US" altLang="en-US" sz="1800" dirty="0">
                <a:solidFill>
                  <a:srgbClr val="7030A0"/>
                </a:solidFill>
                <a:sym typeface="Symbol" panose="05050102010706020507" pitchFamily="18" charset="2"/>
              </a:rPr>
              <a:t></a:t>
            </a:r>
            <a:r>
              <a:rPr lang="en-US" altLang="en-US" sz="1800" dirty="0">
                <a:solidFill>
                  <a:srgbClr val="7030A0"/>
                </a:solidFill>
                <a:sym typeface="Monotype Sorts" pitchFamily="-65" charset="2"/>
              </a:rPr>
              <a:t> </a:t>
            </a:r>
            <a:endParaRPr lang="en-US" altLang="en-US" sz="1800" dirty="0">
              <a:solidFill>
                <a:srgbClr val="7030A0"/>
              </a:solidFill>
              <a:sym typeface="Monotype Sorts" pitchFamily="-65" charset="2"/>
            </a:endParaRPr>
          </a:p>
          <a:p>
            <a:pPr>
              <a:lnSpc>
                <a:spcPct val="90000"/>
              </a:lnSpc>
              <a:buFont typeface="Monotype Sorts" pitchFamily="-65" charset="2"/>
              <a:buNone/>
            </a:pPr>
            <a:br>
              <a:rPr lang="en-US" altLang="en-US" sz="1800" dirty="0">
                <a:solidFill>
                  <a:srgbClr val="7030A0"/>
                </a:solidFill>
                <a:sym typeface="Greek Symbols"/>
              </a:rPr>
            </a:br>
            <a:r>
              <a:rPr lang="en-US" altLang="en-US" sz="1800" dirty="0">
                <a:solidFill>
                  <a:srgbClr val="7030A0"/>
                </a:solidFill>
                <a:sym typeface="Greek Symbols"/>
              </a:rPr>
              <a:t>                /* Note: test for extraneous attributes done using </a:t>
            </a:r>
            <a:r>
              <a:rPr lang="en-US" altLang="en-US" sz="1800" i="1" dirty="0">
                <a:solidFill>
                  <a:srgbClr val="7030A0"/>
                </a:solidFill>
                <a:sym typeface="Greek Symbols"/>
              </a:rPr>
              <a:t>F</a:t>
            </a:r>
            <a:r>
              <a:rPr lang="en-US" altLang="en-US" sz="1800" i="1" baseline="-25000" dirty="0">
                <a:solidFill>
                  <a:srgbClr val="7030A0"/>
                </a:solidFill>
                <a:sym typeface="Greek Symbols"/>
              </a:rPr>
              <a:t>c,</a:t>
            </a:r>
            <a:r>
              <a:rPr lang="en-US" altLang="en-US" sz="1800" dirty="0">
                <a:solidFill>
                  <a:srgbClr val="7030A0"/>
                </a:solidFill>
                <a:sym typeface="Greek Symbols"/>
              </a:rPr>
              <a:t> not F*/</a:t>
            </a:r>
            <a:endParaRPr lang="en-US" altLang="en-US" sz="1800" dirty="0">
              <a:solidFill>
                <a:srgbClr val="7030A0"/>
              </a:solidFill>
              <a:sym typeface="Greek Symbols"/>
            </a:endParaRPr>
          </a:p>
          <a:p>
            <a:pPr>
              <a:lnSpc>
                <a:spcPct val="90000"/>
              </a:lnSpc>
              <a:buFont typeface="Monotype Sorts" pitchFamily="-65" charset="2"/>
              <a:buNone/>
            </a:pPr>
            <a:r>
              <a:rPr lang="en-US" altLang="en-US" sz="1800" dirty="0">
                <a:solidFill>
                  <a:srgbClr val="7030A0"/>
                </a:solidFill>
                <a:sym typeface="Greek Symbols"/>
              </a:rPr>
              <a:t> </a:t>
            </a:r>
            <a:br>
              <a:rPr lang="en-US" altLang="en-US" sz="1800" dirty="0">
                <a:solidFill>
                  <a:srgbClr val="7030A0"/>
                </a:solidFill>
                <a:sym typeface="Greek Symbols"/>
              </a:rPr>
            </a:br>
            <a:r>
              <a:rPr lang="en-US" altLang="en-US" sz="1800" dirty="0">
                <a:solidFill>
                  <a:srgbClr val="7030A0"/>
                </a:solidFill>
                <a:sym typeface="Greek Symbols"/>
              </a:rPr>
              <a:t> 	If an extraneous attribute is found, delete it from </a:t>
            </a:r>
            <a:r>
              <a:rPr lang="en-US" altLang="en-US" sz="1800" dirty="0">
                <a:solidFill>
                  <a:srgbClr val="7030A0"/>
                </a:solidFill>
                <a:sym typeface="Symbol" panose="05050102010706020507" pitchFamily="18" charset="2"/>
              </a:rPr>
              <a:t></a:t>
            </a:r>
            <a:r>
              <a:rPr lang="en-US" altLang="en-US" sz="1800" dirty="0">
                <a:solidFill>
                  <a:srgbClr val="7030A0"/>
                </a:solidFill>
                <a:sym typeface="Greek Symbols"/>
              </a:rPr>
              <a:t> </a:t>
            </a:r>
            <a:r>
              <a:rPr lang="en-US" altLang="en-US" sz="1800" dirty="0">
                <a:solidFill>
                  <a:srgbClr val="7030A0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1800" dirty="0">
                <a:solidFill>
                  <a:srgbClr val="7030A0"/>
                </a:solidFill>
                <a:sym typeface="Monotype Sorts" pitchFamily="-65" charset="2"/>
              </a:rPr>
              <a:t> </a:t>
            </a:r>
            <a:r>
              <a:rPr lang="en-US" altLang="en-US" sz="1800" dirty="0">
                <a:solidFill>
                  <a:srgbClr val="7030A0"/>
                </a:solidFill>
                <a:sym typeface="Symbol" panose="05050102010706020507" pitchFamily="18" charset="2"/>
              </a:rPr>
              <a:t></a:t>
            </a:r>
            <a:r>
              <a:rPr lang="en-US" altLang="en-US" sz="1800" i="1" dirty="0">
                <a:solidFill>
                  <a:srgbClr val="7030A0"/>
                </a:solidFill>
                <a:sym typeface="Greek Symbols"/>
              </a:rPr>
              <a:t> </a:t>
            </a:r>
            <a:endParaRPr lang="en-US" altLang="en-US" sz="1800" i="1" dirty="0">
              <a:solidFill>
                <a:srgbClr val="7030A0"/>
              </a:solidFill>
              <a:sym typeface="Greek Symbols"/>
            </a:endParaRPr>
          </a:p>
          <a:p>
            <a:pPr>
              <a:lnSpc>
                <a:spcPct val="90000"/>
              </a:lnSpc>
              <a:buFont typeface="Monotype Sorts" pitchFamily="-65" charset="2"/>
              <a:buNone/>
            </a:pPr>
            <a:br>
              <a:rPr lang="en-US" altLang="en-US" sz="1800" dirty="0">
                <a:sym typeface="Greek Symbols"/>
              </a:rPr>
            </a:br>
            <a:r>
              <a:rPr lang="en-US" altLang="en-US" sz="1800" b="1" dirty="0">
                <a:sym typeface="Greek Symbols"/>
              </a:rPr>
              <a:t>until  </a:t>
            </a:r>
            <a:r>
              <a:rPr lang="en-US" altLang="en-US" sz="1800" dirty="0">
                <a:sym typeface="Greek Symbols"/>
              </a:rPr>
              <a:t>(</a:t>
            </a:r>
            <a:r>
              <a:rPr lang="en-US" altLang="en-US" sz="1800" i="1" dirty="0">
                <a:sym typeface="Greek Symbols"/>
              </a:rPr>
              <a:t>F</a:t>
            </a:r>
            <a:r>
              <a:rPr lang="en-US" altLang="en-US" sz="1800" i="1" baseline="-25000" dirty="0">
                <a:sym typeface="Greek Symbols"/>
              </a:rPr>
              <a:t>c</a:t>
            </a:r>
            <a:r>
              <a:rPr lang="en-US" altLang="en-US" sz="1800" dirty="0">
                <a:sym typeface="Greek Symbols"/>
              </a:rPr>
              <a:t> not </a:t>
            </a:r>
            <a:r>
              <a:rPr lang="en-US" altLang="en-US" sz="1800" dirty="0" smtClean="0">
                <a:sym typeface="Greek Symbols"/>
              </a:rPr>
              <a:t>change</a:t>
            </a:r>
            <a:r>
              <a:rPr lang="zh-CN" altLang="en-US" sz="1800" dirty="0" smtClean="0">
                <a:sym typeface="Greek Symbols"/>
              </a:rPr>
              <a:t>）</a:t>
            </a:r>
            <a:endParaRPr lang="en-US" altLang="en-US" sz="1800" dirty="0">
              <a:sym typeface="Greek Symbols"/>
            </a:endParaRPr>
          </a:p>
          <a:p>
            <a:pPr>
              <a:lnSpc>
                <a:spcPct val="90000"/>
              </a:lnSpc>
              <a:buFont typeface="Monotype Sorts" pitchFamily="-65" charset="2"/>
              <a:buNone/>
            </a:pPr>
            <a:r>
              <a:rPr lang="en-US" altLang="en-US" sz="1800" dirty="0">
                <a:sym typeface="Greek Symbols"/>
              </a:rPr>
              <a:t> </a:t>
            </a:r>
            <a:endParaRPr lang="en-US" altLang="en-US" sz="1800" dirty="0">
              <a:sym typeface="Greek Symbols"/>
            </a:endParaRPr>
          </a:p>
          <a:p>
            <a:pPr>
              <a:lnSpc>
                <a:spcPct val="90000"/>
              </a:lnSpc>
            </a:pPr>
            <a:r>
              <a:rPr lang="en-US" altLang="en-US" sz="1800" dirty="0">
                <a:sym typeface="Greek Symbols"/>
              </a:rPr>
              <a:t>Note: Union rule may become applicable after some extraneous attributes have been deleted, so it has to be re-applied</a:t>
            </a:r>
            <a:endParaRPr lang="en-US" altLang="en-US" sz="1800" dirty="0">
              <a:sym typeface="Greek Symbols"/>
            </a:endParaRPr>
          </a:p>
          <a:p>
            <a:pPr>
              <a:lnSpc>
                <a:spcPct val="90000"/>
              </a:lnSpc>
            </a:pPr>
            <a:endParaRPr lang="en-US" altLang="en-US" dirty="0">
              <a:sym typeface="Greek Symbol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987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9875" grpId="0" autoUpdateAnimBg="0" build="p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922" name="Rectangle 2"/>
          <p:cNvSpPr>
            <a:spLocks noGrp="1" noChangeArrowheads="1"/>
          </p:cNvSpPr>
          <p:nvPr>
            <p:ph type="title"/>
          </p:nvPr>
        </p:nvSpPr>
        <p:spPr>
          <a:xfrm>
            <a:off x="919163" y="223838"/>
            <a:ext cx="8277225" cy="45720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Example: Computing a Canonical Cover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  <a:ea typeface="MS PGothic" panose="020B0600070205080204" pitchFamily="34" charset="-128"/>
            </a:endParaRPr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4603" y="1029809"/>
            <a:ext cx="7688062" cy="5334896"/>
          </a:xfrm>
        </p:spPr>
        <p:txBody>
          <a:bodyPr/>
          <a:lstStyle/>
          <a:p>
            <a:pPr>
              <a:tabLst>
                <a:tab pos="683895" algn="l"/>
                <a:tab pos="2917825" algn="l"/>
              </a:tabLst>
            </a:pPr>
            <a:r>
              <a:rPr lang="en-US" altLang="en-US" sz="1600" i="1" dirty="0"/>
              <a:t>R </a:t>
            </a:r>
            <a:r>
              <a:rPr lang="en-US" altLang="en-US" sz="1600" dirty="0"/>
              <a:t>= (</a:t>
            </a:r>
            <a:r>
              <a:rPr lang="en-US" altLang="en-US" sz="1600" i="1" dirty="0"/>
              <a:t>A, B, C)</a:t>
            </a:r>
            <a:br>
              <a:rPr lang="en-US" altLang="en-US" sz="1600" i="1" dirty="0"/>
            </a:br>
            <a:r>
              <a:rPr lang="en-US" altLang="en-US" sz="1600" i="1" dirty="0"/>
              <a:t>F = {A </a:t>
            </a:r>
            <a:r>
              <a:rPr lang="en-US" altLang="en-US" sz="1600" dirty="0">
                <a:sym typeface="Symbol" panose="05050102010706020507" pitchFamily="18" charset="2"/>
              </a:rPr>
              <a:t></a:t>
            </a:r>
            <a:r>
              <a:rPr lang="en-US" altLang="en-US" sz="1600" dirty="0">
                <a:sym typeface="Monotype Sorts" pitchFamily="-65" charset="2"/>
              </a:rPr>
              <a:t> </a:t>
            </a:r>
            <a:r>
              <a:rPr lang="en-US" altLang="en-US" sz="1600" i="1" dirty="0">
                <a:sym typeface="Monotype Sorts" pitchFamily="-65" charset="2"/>
              </a:rPr>
              <a:t>BC</a:t>
            </a:r>
            <a:br>
              <a:rPr lang="en-US" altLang="en-US" sz="1600" i="1" dirty="0">
                <a:sym typeface="Monotype Sorts" pitchFamily="-65" charset="2"/>
              </a:rPr>
            </a:br>
            <a:r>
              <a:rPr lang="en-US" altLang="en-US" sz="1600" i="1" dirty="0">
                <a:sym typeface="Monotype Sorts" pitchFamily="-65" charset="2"/>
              </a:rPr>
              <a:t>	  B </a:t>
            </a:r>
            <a:r>
              <a:rPr lang="en-US" altLang="en-US" sz="1600" dirty="0">
                <a:sym typeface="Symbol" panose="05050102010706020507" pitchFamily="18" charset="2"/>
              </a:rPr>
              <a:t></a:t>
            </a:r>
            <a:r>
              <a:rPr lang="en-US" altLang="en-US" sz="1600" dirty="0">
                <a:sym typeface="Monotype Sorts" pitchFamily="-65" charset="2"/>
              </a:rPr>
              <a:t> </a:t>
            </a:r>
            <a:r>
              <a:rPr lang="en-US" altLang="en-US" sz="1600" i="1" dirty="0">
                <a:sym typeface="Monotype Sorts" pitchFamily="-65" charset="2"/>
              </a:rPr>
              <a:t>C</a:t>
            </a:r>
            <a:br>
              <a:rPr lang="en-US" altLang="en-US" sz="1600" i="1" dirty="0">
                <a:sym typeface="Monotype Sorts" pitchFamily="-65" charset="2"/>
              </a:rPr>
            </a:br>
            <a:r>
              <a:rPr lang="en-US" altLang="en-US" sz="1600" i="1" dirty="0">
                <a:sym typeface="Monotype Sorts" pitchFamily="-65" charset="2"/>
              </a:rPr>
              <a:t>	  A </a:t>
            </a:r>
            <a:r>
              <a:rPr lang="en-US" altLang="en-US" sz="1600" dirty="0">
                <a:sym typeface="Symbol" panose="05050102010706020507" pitchFamily="18" charset="2"/>
              </a:rPr>
              <a:t></a:t>
            </a:r>
            <a:r>
              <a:rPr lang="en-US" altLang="en-US" sz="1600" dirty="0">
                <a:sym typeface="Monotype Sorts" pitchFamily="-65" charset="2"/>
              </a:rPr>
              <a:t> </a:t>
            </a:r>
            <a:r>
              <a:rPr lang="en-US" altLang="en-US" sz="1600" i="1" dirty="0">
                <a:sym typeface="Monotype Sorts" pitchFamily="-65" charset="2"/>
              </a:rPr>
              <a:t>B</a:t>
            </a:r>
            <a:br>
              <a:rPr lang="en-US" altLang="en-US" sz="1600" dirty="0">
                <a:sym typeface="Monotype Sorts" pitchFamily="-65" charset="2"/>
              </a:rPr>
            </a:br>
            <a:r>
              <a:rPr lang="en-US" altLang="en-US" sz="1600" dirty="0">
                <a:sym typeface="Monotype Sorts" pitchFamily="-65" charset="2"/>
              </a:rPr>
              <a:t>	</a:t>
            </a:r>
            <a:r>
              <a:rPr lang="en-US" altLang="en-US" sz="1600" i="1" dirty="0">
                <a:sym typeface="Monotype Sorts" pitchFamily="-65" charset="2"/>
              </a:rPr>
              <a:t>AB</a:t>
            </a:r>
            <a:r>
              <a:rPr lang="en-US" altLang="en-US" sz="1600" dirty="0">
                <a:sym typeface="Monotype Sorts" pitchFamily="-65" charset="2"/>
              </a:rPr>
              <a:t> </a:t>
            </a:r>
            <a:r>
              <a:rPr lang="en-US" altLang="en-US" sz="1600" dirty="0">
                <a:sym typeface="Symbol" panose="05050102010706020507" pitchFamily="18" charset="2"/>
              </a:rPr>
              <a:t></a:t>
            </a:r>
            <a:r>
              <a:rPr lang="en-US" altLang="en-US" sz="1600" dirty="0">
                <a:sym typeface="Monotype Sorts" pitchFamily="-65" charset="2"/>
              </a:rPr>
              <a:t> </a:t>
            </a:r>
            <a:r>
              <a:rPr lang="en-US" altLang="en-US" sz="1600" i="1" dirty="0">
                <a:sym typeface="Monotype Sorts" pitchFamily="-65" charset="2"/>
              </a:rPr>
              <a:t>C</a:t>
            </a:r>
            <a:r>
              <a:rPr lang="en-US" altLang="en-US" sz="1600" dirty="0">
                <a:sym typeface="Monotype Sorts" pitchFamily="-65" charset="2"/>
              </a:rPr>
              <a:t>}</a:t>
            </a:r>
            <a:endParaRPr lang="en-US" altLang="en-US" sz="1600" dirty="0">
              <a:sym typeface="Monotype Sorts" pitchFamily="-65" charset="2"/>
            </a:endParaRPr>
          </a:p>
          <a:p>
            <a:pPr>
              <a:tabLst>
                <a:tab pos="683895" algn="l"/>
                <a:tab pos="2917825" algn="l"/>
              </a:tabLst>
            </a:pPr>
            <a:r>
              <a:rPr lang="en-US" altLang="en-US" sz="1600" dirty="0">
                <a:sym typeface="Monotype Sorts" pitchFamily="-65" charset="2"/>
              </a:rPr>
              <a:t>Combine </a:t>
            </a:r>
            <a:r>
              <a:rPr lang="en-US" altLang="en-US" sz="1600" i="1" dirty="0">
                <a:sym typeface="Monotype Sorts" pitchFamily="-65" charset="2"/>
              </a:rPr>
              <a:t>A </a:t>
            </a:r>
            <a:r>
              <a:rPr lang="en-US" altLang="en-US" sz="1600" dirty="0">
                <a:sym typeface="Symbol" panose="05050102010706020507" pitchFamily="18" charset="2"/>
              </a:rPr>
              <a:t></a:t>
            </a:r>
            <a:r>
              <a:rPr lang="en-US" altLang="en-US" sz="1600" dirty="0">
                <a:sym typeface="Monotype Sorts" pitchFamily="-65" charset="2"/>
              </a:rPr>
              <a:t> </a:t>
            </a:r>
            <a:r>
              <a:rPr lang="en-US" altLang="en-US" sz="1600" i="1" dirty="0">
                <a:sym typeface="Monotype Sorts" pitchFamily="-65" charset="2"/>
              </a:rPr>
              <a:t>BC </a:t>
            </a:r>
            <a:r>
              <a:rPr lang="en-US" altLang="en-US" sz="1600" dirty="0">
                <a:sym typeface="Monotype Sorts" pitchFamily="-65" charset="2"/>
              </a:rPr>
              <a:t>and </a:t>
            </a:r>
            <a:r>
              <a:rPr lang="en-US" altLang="en-US" sz="1600" i="1" dirty="0">
                <a:sym typeface="Monotype Sorts" pitchFamily="-65" charset="2"/>
              </a:rPr>
              <a:t>A </a:t>
            </a:r>
            <a:r>
              <a:rPr lang="en-US" altLang="en-US" sz="1600" dirty="0">
                <a:sym typeface="Symbol" panose="05050102010706020507" pitchFamily="18" charset="2"/>
              </a:rPr>
              <a:t></a:t>
            </a:r>
            <a:r>
              <a:rPr lang="en-US" altLang="en-US" sz="1600" dirty="0">
                <a:sym typeface="Monotype Sorts" pitchFamily="-65" charset="2"/>
              </a:rPr>
              <a:t> </a:t>
            </a:r>
            <a:r>
              <a:rPr lang="en-US" altLang="en-US" sz="1600" i="1" dirty="0">
                <a:sym typeface="Monotype Sorts" pitchFamily="-65" charset="2"/>
              </a:rPr>
              <a:t>B </a:t>
            </a:r>
            <a:r>
              <a:rPr lang="en-US" altLang="en-US" sz="1600" dirty="0">
                <a:sym typeface="Monotype Sorts" pitchFamily="-65" charset="2"/>
              </a:rPr>
              <a:t>into </a:t>
            </a:r>
            <a:r>
              <a:rPr lang="en-US" altLang="en-US" sz="1600" i="1" dirty="0">
                <a:sym typeface="Monotype Sorts" pitchFamily="-65" charset="2"/>
              </a:rPr>
              <a:t>A </a:t>
            </a:r>
            <a:r>
              <a:rPr lang="en-US" altLang="en-US" sz="1600" dirty="0">
                <a:sym typeface="Symbol" panose="05050102010706020507" pitchFamily="18" charset="2"/>
              </a:rPr>
              <a:t></a:t>
            </a:r>
            <a:r>
              <a:rPr lang="en-US" altLang="en-US" sz="1600" dirty="0">
                <a:sym typeface="Monotype Sorts" pitchFamily="-65" charset="2"/>
              </a:rPr>
              <a:t> </a:t>
            </a:r>
            <a:r>
              <a:rPr lang="en-US" altLang="en-US" sz="1600" i="1" dirty="0">
                <a:sym typeface="Monotype Sorts" pitchFamily="-65" charset="2"/>
              </a:rPr>
              <a:t>BC</a:t>
            </a:r>
            <a:endParaRPr lang="en-US" altLang="en-US" sz="1600" i="1" dirty="0">
              <a:sym typeface="Monotype Sorts" pitchFamily="-65" charset="2"/>
            </a:endParaRPr>
          </a:p>
          <a:p>
            <a:pPr lvl="1">
              <a:tabLst>
                <a:tab pos="683895" algn="l"/>
                <a:tab pos="2917825" algn="l"/>
              </a:tabLst>
            </a:pPr>
            <a:r>
              <a:rPr lang="en-US" altLang="en-US" sz="1600" dirty="0">
                <a:sym typeface="Monotype Sorts" pitchFamily="-65" charset="2"/>
              </a:rPr>
              <a:t>Set is now </a:t>
            </a:r>
            <a:r>
              <a:rPr lang="en-US" altLang="en-US" sz="1600" i="1" dirty="0"/>
              <a:t>{A </a:t>
            </a:r>
            <a:r>
              <a:rPr lang="en-US" altLang="en-US" sz="1600" dirty="0">
                <a:sym typeface="Symbol" panose="05050102010706020507" pitchFamily="18" charset="2"/>
              </a:rPr>
              <a:t></a:t>
            </a:r>
            <a:r>
              <a:rPr lang="en-US" altLang="en-US" sz="1600" dirty="0">
                <a:sym typeface="Monotype Sorts" pitchFamily="-65" charset="2"/>
              </a:rPr>
              <a:t> </a:t>
            </a:r>
            <a:r>
              <a:rPr lang="en-US" altLang="en-US" sz="1600" i="1" dirty="0">
                <a:sym typeface="Monotype Sorts" pitchFamily="-65" charset="2"/>
              </a:rPr>
              <a:t>BC, B </a:t>
            </a:r>
            <a:r>
              <a:rPr lang="en-US" altLang="en-US" sz="1600" dirty="0">
                <a:sym typeface="Symbol" panose="05050102010706020507" pitchFamily="18" charset="2"/>
              </a:rPr>
              <a:t></a:t>
            </a:r>
            <a:r>
              <a:rPr lang="en-US" altLang="en-US" sz="1600" dirty="0">
                <a:sym typeface="Monotype Sorts" pitchFamily="-65" charset="2"/>
              </a:rPr>
              <a:t> </a:t>
            </a:r>
            <a:r>
              <a:rPr lang="en-US" altLang="en-US" sz="1600" i="1" dirty="0">
                <a:sym typeface="Monotype Sorts" pitchFamily="-65" charset="2"/>
              </a:rPr>
              <a:t>C, AB</a:t>
            </a:r>
            <a:r>
              <a:rPr lang="en-US" altLang="en-US" sz="1600" dirty="0">
                <a:sym typeface="Monotype Sorts" pitchFamily="-65" charset="2"/>
              </a:rPr>
              <a:t> </a:t>
            </a:r>
            <a:r>
              <a:rPr lang="en-US" altLang="en-US" sz="1600" dirty="0">
                <a:sym typeface="Symbol" panose="05050102010706020507" pitchFamily="18" charset="2"/>
              </a:rPr>
              <a:t></a:t>
            </a:r>
            <a:r>
              <a:rPr lang="en-US" altLang="en-US" sz="1600" dirty="0">
                <a:sym typeface="Monotype Sorts" pitchFamily="-65" charset="2"/>
              </a:rPr>
              <a:t> </a:t>
            </a:r>
            <a:r>
              <a:rPr lang="en-US" altLang="en-US" sz="1600" i="1" dirty="0">
                <a:sym typeface="Monotype Sorts" pitchFamily="-65" charset="2"/>
              </a:rPr>
              <a:t>C</a:t>
            </a:r>
            <a:r>
              <a:rPr lang="en-US" altLang="en-US" sz="1600" dirty="0">
                <a:sym typeface="Monotype Sorts" pitchFamily="-65" charset="2"/>
              </a:rPr>
              <a:t>}</a:t>
            </a:r>
            <a:endParaRPr lang="en-US" altLang="en-US" sz="1600" dirty="0">
              <a:sym typeface="Monotype Sorts" pitchFamily="-65" charset="2"/>
            </a:endParaRPr>
          </a:p>
          <a:p>
            <a:pPr>
              <a:tabLst>
                <a:tab pos="683895" algn="l"/>
                <a:tab pos="2917825" algn="l"/>
              </a:tabLst>
            </a:pPr>
            <a:r>
              <a:rPr lang="en-US" altLang="en-US" sz="1600" i="1" dirty="0">
                <a:sym typeface="Monotype Sorts" pitchFamily="-65" charset="2"/>
              </a:rPr>
              <a:t>A</a:t>
            </a:r>
            <a:r>
              <a:rPr lang="en-US" altLang="en-US" sz="1600" dirty="0">
                <a:sym typeface="Monotype Sorts" pitchFamily="-65" charset="2"/>
              </a:rPr>
              <a:t> is extraneous in </a:t>
            </a:r>
            <a:r>
              <a:rPr lang="en-US" altLang="en-US" sz="1600" i="1" dirty="0">
                <a:sym typeface="Monotype Sorts" pitchFamily="-65" charset="2"/>
              </a:rPr>
              <a:t>AB</a:t>
            </a:r>
            <a:r>
              <a:rPr lang="en-US" altLang="en-US" sz="1600" dirty="0">
                <a:sym typeface="Monotype Sorts" pitchFamily="-65" charset="2"/>
              </a:rPr>
              <a:t> </a:t>
            </a:r>
            <a:r>
              <a:rPr lang="en-US" altLang="en-US" sz="1600" dirty="0">
                <a:sym typeface="Symbol" panose="05050102010706020507" pitchFamily="18" charset="2"/>
              </a:rPr>
              <a:t></a:t>
            </a:r>
            <a:r>
              <a:rPr lang="en-US" altLang="en-US" sz="1600" dirty="0">
                <a:sym typeface="Monotype Sorts" pitchFamily="-65" charset="2"/>
              </a:rPr>
              <a:t> </a:t>
            </a:r>
            <a:r>
              <a:rPr lang="en-US" altLang="en-US" sz="1600" i="1" dirty="0">
                <a:sym typeface="Monotype Sorts" pitchFamily="-65" charset="2"/>
              </a:rPr>
              <a:t>C</a:t>
            </a:r>
            <a:endParaRPr lang="en-US" altLang="en-US" sz="1600" i="1" dirty="0">
              <a:sym typeface="Monotype Sorts" pitchFamily="-65" charset="2"/>
            </a:endParaRPr>
          </a:p>
          <a:p>
            <a:pPr lvl="1">
              <a:tabLst>
                <a:tab pos="683895" algn="l"/>
                <a:tab pos="2917825" algn="l"/>
              </a:tabLst>
            </a:pPr>
            <a:r>
              <a:rPr lang="en-US" altLang="en-US" sz="1600" dirty="0">
                <a:sym typeface="Monotype Sorts" pitchFamily="-65" charset="2"/>
              </a:rPr>
              <a:t>Check if the result of deleting A from  </a:t>
            </a:r>
            <a:r>
              <a:rPr lang="en-US" altLang="en-US" sz="1600" i="1" dirty="0">
                <a:sym typeface="Monotype Sorts" pitchFamily="-65" charset="2"/>
              </a:rPr>
              <a:t>AB</a:t>
            </a:r>
            <a:r>
              <a:rPr lang="en-US" altLang="en-US" sz="1600" dirty="0">
                <a:sym typeface="Monotype Sorts" pitchFamily="-65" charset="2"/>
              </a:rPr>
              <a:t> </a:t>
            </a:r>
            <a:r>
              <a:rPr lang="en-US" altLang="en-US" sz="1600" dirty="0">
                <a:sym typeface="Symbol" panose="05050102010706020507" pitchFamily="18" charset="2"/>
              </a:rPr>
              <a:t></a:t>
            </a:r>
            <a:r>
              <a:rPr lang="en-US" altLang="en-US" sz="1600" dirty="0">
                <a:sym typeface="Monotype Sorts" pitchFamily="-65" charset="2"/>
              </a:rPr>
              <a:t> </a:t>
            </a:r>
            <a:r>
              <a:rPr lang="en-US" altLang="en-US" sz="1600" i="1" dirty="0">
                <a:sym typeface="Monotype Sorts" pitchFamily="-65" charset="2"/>
              </a:rPr>
              <a:t>C  </a:t>
            </a:r>
            <a:r>
              <a:rPr lang="en-US" altLang="en-US" sz="1600" dirty="0">
                <a:sym typeface="Monotype Sorts" pitchFamily="-65" charset="2"/>
              </a:rPr>
              <a:t>is implied by the other dependencies</a:t>
            </a:r>
            <a:endParaRPr lang="en-US" altLang="en-US" sz="1600" dirty="0">
              <a:sym typeface="Monotype Sorts" pitchFamily="-65" charset="2"/>
            </a:endParaRPr>
          </a:p>
          <a:p>
            <a:pPr lvl="2">
              <a:tabLst>
                <a:tab pos="683895" algn="l"/>
                <a:tab pos="2917825" algn="l"/>
              </a:tabLst>
            </a:pPr>
            <a:r>
              <a:rPr lang="en-US" altLang="en-US" sz="1600" dirty="0">
                <a:sym typeface="Monotype Sorts" pitchFamily="-65" charset="2"/>
              </a:rPr>
              <a:t>Yes: in fact,  </a:t>
            </a:r>
            <a:r>
              <a:rPr lang="en-US" altLang="en-US" sz="1600" i="1" dirty="0">
                <a:sym typeface="Monotype Sorts" pitchFamily="-65" charset="2"/>
              </a:rPr>
              <a:t>B</a:t>
            </a:r>
            <a:r>
              <a:rPr lang="en-US" altLang="en-US" sz="1600" dirty="0">
                <a:sym typeface="Monotype Sorts" pitchFamily="-65" charset="2"/>
              </a:rPr>
              <a:t> </a:t>
            </a:r>
            <a:r>
              <a:rPr lang="en-US" altLang="en-US" sz="1600" dirty="0">
                <a:sym typeface="Symbol" panose="05050102010706020507" pitchFamily="18" charset="2"/>
              </a:rPr>
              <a:t></a:t>
            </a:r>
            <a:r>
              <a:rPr lang="en-US" altLang="en-US" sz="1600" dirty="0">
                <a:sym typeface="Monotype Sorts" pitchFamily="-65" charset="2"/>
              </a:rPr>
              <a:t> </a:t>
            </a:r>
            <a:r>
              <a:rPr lang="en-US" altLang="en-US" sz="1600" i="1" dirty="0">
                <a:sym typeface="Monotype Sorts" pitchFamily="-65" charset="2"/>
              </a:rPr>
              <a:t>C </a:t>
            </a:r>
            <a:r>
              <a:rPr lang="en-US" altLang="en-US" sz="1600" dirty="0">
                <a:sym typeface="Monotype Sorts" pitchFamily="-65" charset="2"/>
              </a:rPr>
              <a:t>is already present!</a:t>
            </a:r>
            <a:endParaRPr lang="en-US" altLang="en-US" sz="1600" dirty="0">
              <a:sym typeface="Monotype Sorts" pitchFamily="-65" charset="2"/>
            </a:endParaRPr>
          </a:p>
          <a:p>
            <a:pPr lvl="1">
              <a:tabLst>
                <a:tab pos="683895" algn="l"/>
                <a:tab pos="2917825" algn="l"/>
              </a:tabLst>
            </a:pPr>
            <a:r>
              <a:rPr lang="en-US" altLang="en-US" sz="1600" dirty="0">
                <a:sym typeface="Monotype Sorts" pitchFamily="-65" charset="2"/>
              </a:rPr>
              <a:t>Set is now </a:t>
            </a:r>
            <a:r>
              <a:rPr lang="en-US" altLang="en-US" sz="1600" i="1" dirty="0"/>
              <a:t>{A </a:t>
            </a:r>
            <a:r>
              <a:rPr lang="en-US" altLang="en-US" sz="1600" dirty="0">
                <a:sym typeface="Symbol" panose="05050102010706020507" pitchFamily="18" charset="2"/>
              </a:rPr>
              <a:t></a:t>
            </a:r>
            <a:r>
              <a:rPr lang="en-US" altLang="en-US" sz="1600" dirty="0">
                <a:sym typeface="Monotype Sorts" pitchFamily="-65" charset="2"/>
              </a:rPr>
              <a:t> </a:t>
            </a:r>
            <a:r>
              <a:rPr lang="en-US" altLang="en-US" sz="1600" i="1" dirty="0">
                <a:sym typeface="Monotype Sorts" pitchFamily="-65" charset="2"/>
              </a:rPr>
              <a:t>BC, B </a:t>
            </a:r>
            <a:r>
              <a:rPr lang="en-US" altLang="en-US" sz="1600" dirty="0">
                <a:sym typeface="Symbol" panose="05050102010706020507" pitchFamily="18" charset="2"/>
              </a:rPr>
              <a:t></a:t>
            </a:r>
            <a:r>
              <a:rPr lang="en-US" altLang="en-US" sz="1600" dirty="0">
                <a:sym typeface="Monotype Sorts" pitchFamily="-65" charset="2"/>
              </a:rPr>
              <a:t> </a:t>
            </a:r>
            <a:r>
              <a:rPr lang="en-US" altLang="en-US" sz="1600" i="1" dirty="0">
                <a:sym typeface="Monotype Sorts" pitchFamily="-65" charset="2"/>
              </a:rPr>
              <a:t>C</a:t>
            </a:r>
            <a:r>
              <a:rPr lang="en-US" altLang="en-US" sz="1600" dirty="0">
                <a:sym typeface="Monotype Sorts" pitchFamily="-65" charset="2"/>
              </a:rPr>
              <a:t>}</a:t>
            </a:r>
            <a:endParaRPr lang="en-US" altLang="en-US" sz="1600" i="1" dirty="0">
              <a:sym typeface="Monotype Sorts" pitchFamily="-65" charset="2"/>
            </a:endParaRPr>
          </a:p>
          <a:p>
            <a:pPr>
              <a:tabLst>
                <a:tab pos="683895" algn="l"/>
                <a:tab pos="2917825" algn="l"/>
              </a:tabLst>
            </a:pPr>
            <a:r>
              <a:rPr lang="en-US" altLang="en-US" sz="1600" i="1" dirty="0">
                <a:sym typeface="Monotype Sorts" pitchFamily="-65" charset="2"/>
              </a:rPr>
              <a:t>C</a:t>
            </a:r>
            <a:r>
              <a:rPr lang="en-US" altLang="en-US" sz="1600" dirty="0">
                <a:sym typeface="Monotype Sorts" pitchFamily="-65" charset="2"/>
              </a:rPr>
              <a:t> is extraneous in </a:t>
            </a:r>
            <a:r>
              <a:rPr lang="en-US" altLang="en-US" sz="1600" i="1" dirty="0">
                <a:sym typeface="Monotype Sorts" pitchFamily="-65" charset="2"/>
              </a:rPr>
              <a:t>A</a:t>
            </a:r>
            <a:r>
              <a:rPr lang="en-US" altLang="en-US" sz="1600" dirty="0">
                <a:sym typeface="Monotype Sorts" pitchFamily="-65" charset="2"/>
              </a:rPr>
              <a:t> </a:t>
            </a:r>
            <a:r>
              <a:rPr lang="en-US" altLang="en-US" sz="1600" dirty="0">
                <a:sym typeface="Symbol" panose="05050102010706020507" pitchFamily="18" charset="2"/>
              </a:rPr>
              <a:t></a:t>
            </a:r>
            <a:r>
              <a:rPr lang="en-US" altLang="en-US" sz="1600" dirty="0">
                <a:sym typeface="Monotype Sorts" pitchFamily="-65" charset="2"/>
              </a:rPr>
              <a:t> </a:t>
            </a:r>
            <a:r>
              <a:rPr lang="en-US" altLang="en-US" sz="1600" i="1" dirty="0">
                <a:sym typeface="Monotype Sorts" pitchFamily="-65" charset="2"/>
              </a:rPr>
              <a:t>BC</a:t>
            </a:r>
            <a:r>
              <a:rPr lang="en-US" altLang="en-US" sz="1600" dirty="0">
                <a:sym typeface="Monotype Sorts" pitchFamily="-65" charset="2"/>
              </a:rPr>
              <a:t> </a:t>
            </a:r>
            <a:endParaRPr lang="en-US" altLang="en-US" sz="1600" dirty="0">
              <a:sym typeface="Monotype Sorts" pitchFamily="-65" charset="2"/>
            </a:endParaRPr>
          </a:p>
          <a:p>
            <a:pPr lvl="1">
              <a:tabLst>
                <a:tab pos="683895" algn="l"/>
                <a:tab pos="2917825" algn="l"/>
              </a:tabLst>
            </a:pPr>
            <a:r>
              <a:rPr lang="en-US" altLang="en-US" sz="1600" dirty="0">
                <a:sym typeface="Monotype Sorts" pitchFamily="-65" charset="2"/>
              </a:rPr>
              <a:t>Check if </a:t>
            </a:r>
            <a:r>
              <a:rPr lang="en-US" altLang="en-US" sz="1600" i="1" dirty="0">
                <a:sym typeface="Monotype Sorts" pitchFamily="-65" charset="2"/>
              </a:rPr>
              <a:t>A </a:t>
            </a:r>
            <a:r>
              <a:rPr lang="en-US" altLang="en-US" sz="1600" dirty="0">
                <a:sym typeface="Symbol" panose="05050102010706020507" pitchFamily="18" charset="2"/>
              </a:rPr>
              <a:t></a:t>
            </a:r>
            <a:r>
              <a:rPr lang="en-US" altLang="en-US" sz="1600" dirty="0">
                <a:sym typeface="Monotype Sorts" pitchFamily="-65" charset="2"/>
              </a:rPr>
              <a:t> </a:t>
            </a:r>
            <a:r>
              <a:rPr lang="en-US" altLang="en-US" sz="1600" i="1" dirty="0">
                <a:sym typeface="Monotype Sorts" pitchFamily="-65" charset="2"/>
              </a:rPr>
              <a:t>C</a:t>
            </a:r>
            <a:r>
              <a:rPr lang="en-US" altLang="en-US" sz="1600" dirty="0">
                <a:sym typeface="Monotype Sorts" pitchFamily="-65" charset="2"/>
              </a:rPr>
              <a:t> is logically implied by </a:t>
            </a:r>
            <a:r>
              <a:rPr lang="en-US" altLang="en-US" sz="1600" i="1" dirty="0">
                <a:sym typeface="Monotype Sorts" pitchFamily="-65" charset="2"/>
              </a:rPr>
              <a:t>A </a:t>
            </a:r>
            <a:r>
              <a:rPr lang="en-US" altLang="en-US" sz="1600" dirty="0">
                <a:sym typeface="Symbol" panose="05050102010706020507" pitchFamily="18" charset="2"/>
              </a:rPr>
              <a:t></a:t>
            </a:r>
            <a:r>
              <a:rPr lang="en-US" altLang="en-US" sz="1600" dirty="0">
                <a:sym typeface="Monotype Sorts" pitchFamily="-65" charset="2"/>
              </a:rPr>
              <a:t> </a:t>
            </a:r>
            <a:r>
              <a:rPr lang="en-US" altLang="en-US" sz="1600" i="1" dirty="0">
                <a:sym typeface="Monotype Sorts" pitchFamily="-65" charset="2"/>
              </a:rPr>
              <a:t>B </a:t>
            </a:r>
            <a:r>
              <a:rPr lang="en-US" altLang="en-US" sz="1600" dirty="0">
                <a:sym typeface="Monotype Sorts" pitchFamily="-65" charset="2"/>
              </a:rPr>
              <a:t>and the other dependencies</a:t>
            </a:r>
            <a:endParaRPr lang="en-US" altLang="en-US" sz="1600" dirty="0">
              <a:sym typeface="Monotype Sorts" pitchFamily="-65" charset="2"/>
            </a:endParaRPr>
          </a:p>
          <a:p>
            <a:pPr lvl="2">
              <a:tabLst>
                <a:tab pos="683895" algn="l"/>
                <a:tab pos="2917825" algn="l"/>
              </a:tabLst>
            </a:pPr>
            <a:r>
              <a:rPr lang="en-US" altLang="en-US" sz="1600" dirty="0">
                <a:sym typeface="Monotype Sorts" pitchFamily="-65" charset="2"/>
              </a:rPr>
              <a:t>Yes</a:t>
            </a:r>
            <a:r>
              <a:rPr lang="en-US" altLang="en-US" sz="1600" i="1" dirty="0">
                <a:sym typeface="Monotype Sorts" pitchFamily="-65" charset="2"/>
              </a:rPr>
              <a:t>: </a:t>
            </a:r>
            <a:r>
              <a:rPr lang="en-US" altLang="en-US" sz="1600" dirty="0">
                <a:sym typeface="Monotype Sorts" pitchFamily="-65" charset="2"/>
              </a:rPr>
              <a:t>using transitivity on </a:t>
            </a:r>
            <a:r>
              <a:rPr lang="en-US" altLang="en-US" sz="1600" i="1" dirty="0">
                <a:sym typeface="Monotype Sorts" pitchFamily="-65" charset="2"/>
              </a:rPr>
              <a:t>A </a:t>
            </a:r>
            <a:r>
              <a:rPr lang="en-US" altLang="en-US" sz="1600" dirty="0">
                <a:sym typeface="Symbol" panose="05050102010706020507" pitchFamily="18" charset="2"/>
              </a:rPr>
              <a:t></a:t>
            </a:r>
            <a:r>
              <a:rPr lang="en-US" altLang="en-US" sz="1600" dirty="0">
                <a:sym typeface="Monotype Sorts" pitchFamily="-65" charset="2"/>
              </a:rPr>
              <a:t> </a:t>
            </a:r>
            <a:r>
              <a:rPr lang="en-US" altLang="en-US" sz="1600" i="1" dirty="0">
                <a:sym typeface="Monotype Sorts" pitchFamily="-65" charset="2"/>
              </a:rPr>
              <a:t>B  and B </a:t>
            </a:r>
            <a:r>
              <a:rPr lang="en-US" altLang="en-US" sz="1600" dirty="0">
                <a:sym typeface="Symbol" panose="05050102010706020507" pitchFamily="18" charset="2"/>
              </a:rPr>
              <a:t></a:t>
            </a:r>
            <a:r>
              <a:rPr lang="en-US" altLang="en-US" sz="1600" dirty="0">
                <a:sym typeface="Monotype Sorts" pitchFamily="-65" charset="2"/>
              </a:rPr>
              <a:t> C. </a:t>
            </a:r>
            <a:endParaRPr lang="en-US" altLang="en-US" sz="1600" dirty="0">
              <a:sym typeface="Monotype Sorts" pitchFamily="-65" charset="2"/>
            </a:endParaRPr>
          </a:p>
          <a:p>
            <a:pPr lvl="3">
              <a:tabLst>
                <a:tab pos="683895" algn="l"/>
                <a:tab pos="2917825" algn="l"/>
              </a:tabLst>
            </a:pPr>
            <a:r>
              <a:rPr lang="en-US" altLang="en-US" sz="1600" dirty="0">
                <a:sym typeface="Monotype Sorts" pitchFamily="-65" charset="2"/>
              </a:rPr>
              <a:t>Can use attribute closure of </a:t>
            </a:r>
            <a:r>
              <a:rPr lang="en-US" altLang="en-US" sz="1600" i="1" dirty="0">
                <a:sym typeface="Monotype Sorts" pitchFamily="-65" charset="2"/>
              </a:rPr>
              <a:t>A</a:t>
            </a:r>
            <a:r>
              <a:rPr lang="en-US" altLang="en-US" sz="1600" dirty="0">
                <a:sym typeface="Monotype Sorts" pitchFamily="-65" charset="2"/>
              </a:rPr>
              <a:t> in more complex cases</a:t>
            </a:r>
            <a:endParaRPr lang="en-US" altLang="en-US" sz="1600" dirty="0">
              <a:sym typeface="Monotype Sorts" pitchFamily="-65" charset="2"/>
            </a:endParaRPr>
          </a:p>
          <a:p>
            <a:pPr>
              <a:tabLst>
                <a:tab pos="683895" algn="l"/>
                <a:tab pos="2917825" algn="l"/>
              </a:tabLst>
            </a:pPr>
            <a:r>
              <a:rPr lang="en-US" altLang="en-US" sz="1600" dirty="0">
                <a:sym typeface="Monotype Sorts" pitchFamily="-65" charset="2"/>
              </a:rPr>
              <a:t>The canonical cover is: 	</a:t>
            </a:r>
            <a:r>
              <a:rPr lang="en-US" altLang="en-US" sz="1600" i="1" dirty="0">
                <a:sym typeface="Monotype Sorts" pitchFamily="-65" charset="2"/>
              </a:rPr>
              <a:t>A </a:t>
            </a:r>
            <a:r>
              <a:rPr lang="en-US" altLang="en-US" sz="1600" dirty="0">
                <a:sym typeface="Symbol" panose="05050102010706020507" pitchFamily="18" charset="2"/>
              </a:rPr>
              <a:t></a:t>
            </a:r>
            <a:r>
              <a:rPr lang="en-US" altLang="en-US" sz="1600" dirty="0">
                <a:sym typeface="Monotype Sorts" pitchFamily="-65" charset="2"/>
              </a:rPr>
              <a:t> </a:t>
            </a:r>
            <a:r>
              <a:rPr lang="en-US" altLang="en-US" sz="1600" i="1" dirty="0">
                <a:sym typeface="Monotype Sorts" pitchFamily="-65" charset="2"/>
              </a:rPr>
              <a:t>B</a:t>
            </a:r>
            <a:br>
              <a:rPr lang="en-US" altLang="en-US" sz="1600" i="1" dirty="0">
                <a:sym typeface="Monotype Sorts" pitchFamily="-65" charset="2"/>
              </a:rPr>
            </a:br>
            <a:r>
              <a:rPr lang="en-US" altLang="en-US" sz="1600" i="1" dirty="0">
                <a:sym typeface="Monotype Sorts" pitchFamily="-65" charset="2"/>
              </a:rPr>
              <a:t>		B </a:t>
            </a:r>
            <a:r>
              <a:rPr lang="en-US" altLang="en-US" sz="1600" dirty="0">
                <a:sym typeface="Symbol" panose="05050102010706020507" pitchFamily="18" charset="2"/>
              </a:rPr>
              <a:t></a:t>
            </a:r>
            <a:r>
              <a:rPr lang="en-US" altLang="en-US" sz="1600" dirty="0">
                <a:sym typeface="Monotype Sorts" pitchFamily="-65" charset="2"/>
              </a:rPr>
              <a:t> </a:t>
            </a:r>
            <a:r>
              <a:rPr lang="en-US" altLang="en-US" sz="1600" i="1" dirty="0">
                <a:sym typeface="Monotype Sorts" pitchFamily="-65" charset="2"/>
              </a:rPr>
              <a:t>C</a:t>
            </a:r>
            <a:endParaRPr lang="en-US" altLang="en-US" sz="1600" i="1" dirty="0">
              <a:sym typeface="Monotype Sorts" pitchFamily="-65" charset="2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91953" y="2255838"/>
            <a:ext cx="7378947" cy="1638300"/>
          </a:xfrm>
        </p:spPr>
        <p:txBody>
          <a:bodyPr/>
          <a:lstStyle/>
          <a:p>
            <a:pPr>
              <a:buFont typeface="Monotype Sorts" pitchFamily="-65" charset="2"/>
              <a:buNone/>
              <a:defRPr/>
            </a:pPr>
            <a:r>
              <a:rPr lang="en-US" alt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MS PGothic" panose="020B0600070205080204" pitchFamily="34" charset="-128"/>
                <a:cs typeface="+mj-cs"/>
              </a:rPr>
              <a:t>Algorithm for Decomposition Using</a:t>
            </a:r>
            <a:endParaRPr lang="en-US" altLang="en-US" sz="3200" b="1" dirty="0"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j-lt"/>
              <a:ea typeface="MS PGothic" panose="020B0600070205080204" pitchFamily="34" charset="-128"/>
              <a:cs typeface="+mj-cs"/>
            </a:endParaRPr>
          </a:p>
          <a:p>
            <a:pPr>
              <a:buFont typeface="Monotype Sorts" pitchFamily="-65" charset="2"/>
              <a:buNone/>
              <a:defRPr/>
            </a:pPr>
            <a:r>
              <a:rPr lang="en-US" alt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MS PGothic" panose="020B0600070205080204" pitchFamily="34" charset="-128"/>
                <a:cs typeface="+mj-cs"/>
              </a:rPr>
              <a:t>        Functional Dependencies </a:t>
            </a:r>
            <a:endParaRPr lang="en-US" altLang="en-US" sz="3200" b="1" dirty="0"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j-lt"/>
              <a:ea typeface="MS PGothic" panose="020B0600070205080204" pitchFamily="34" charset="-128"/>
              <a:cs typeface="+mj-cs"/>
            </a:endParaRPr>
          </a:p>
        </p:txBody>
      </p:sp>
    </p:spTree>
  </p:cSld>
  <p:clrMapOvr>
    <a:masterClrMapping/>
  </p:clrMapOvr>
  <p:transition spd="slow"/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如何让关系达到更高的范式</a:t>
            </a:r>
            <a:r>
              <a:rPr lang="en-US" altLang="zh-CN" smtClean="0"/>
              <a:t>?</a:t>
            </a:r>
            <a:endParaRPr lang="zh-CN" altLang="en-US" smtClean="0"/>
          </a:p>
        </p:txBody>
      </p:sp>
      <p:sp>
        <p:nvSpPr>
          <p:cNvPr id="645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2400" dirty="0" smtClean="0"/>
              <a:t>分解</a:t>
            </a:r>
            <a:endParaRPr lang="zh-CN" altLang="en-US" sz="2400" dirty="0" smtClean="0"/>
          </a:p>
          <a:p>
            <a:pPr lvl="1" eaLnBrk="1" hangingPunct="1">
              <a:defRPr/>
            </a:pPr>
            <a:r>
              <a:rPr lang="zh-CN" altLang="en-US" sz="2400" dirty="0" smtClean="0"/>
              <a:t>把一个属于低级范式的</a:t>
            </a:r>
            <a:r>
              <a:rPr lang="en-US" altLang="zh-CN" sz="2400" dirty="0" smtClean="0">
                <a:latin typeface="Helvetica" panose="020B0604020202020204" pitchFamily="34" charset="0"/>
              </a:rPr>
              <a:t>“</a:t>
            </a:r>
            <a:r>
              <a:rPr lang="zh-CN" altLang="en-US" sz="2400" dirty="0" smtClean="0"/>
              <a:t>坏</a:t>
            </a:r>
            <a:r>
              <a:rPr lang="zh-CN" altLang="en-US" sz="2400" dirty="0" smtClean="0">
                <a:latin typeface="Helvetica" panose="020B0604020202020204" pitchFamily="34" charset="0"/>
              </a:rPr>
              <a:t>”</a:t>
            </a:r>
            <a:r>
              <a:rPr lang="zh-CN" altLang="en-US" sz="2400" dirty="0" smtClean="0"/>
              <a:t>关系，分解为几个属于高级范式的 </a:t>
            </a:r>
            <a:r>
              <a:rPr lang="en-US" altLang="zh-CN" sz="2400" dirty="0" smtClean="0">
                <a:latin typeface="Helvetica" panose="020B0604020202020204" pitchFamily="34" charset="0"/>
              </a:rPr>
              <a:t>“</a:t>
            </a:r>
            <a:r>
              <a:rPr lang="zh-CN" altLang="en-US" sz="2400" dirty="0" smtClean="0"/>
              <a:t>好</a:t>
            </a:r>
            <a:r>
              <a:rPr lang="zh-CN" altLang="en-US" sz="2400" dirty="0" smtClean="0">
                <a:latin typeface="Helvetica" panose="020B0604020202020204" pitchFamily="34" charset="0"/>
              </a:rPr>
              <a:t>”</a:t>
            </a:r>
            <a:r>
              <a:rPr lang="zh-CN" altLang="en-US" sz="2400" dirty="0" smtClean="0"/>
              <a:t>关系</a:t>
            </a:r>
            <a:endParaRPr lang="zh-CN" altLang="en-US" sz="2400" dirty="0" smtClean="0"/>
          </a:p>
          <a:p>
            <a:pPr lvl="1" eaLnBrk="1" hangingPunct="1">
              <a:defRPr/>
            </a:pPr>
            <a:r>
              <a:rPr lang="zh-CN" altLang="en-US" sz="2400" dirty="0" smtClean="0"/>
              <a:t>但是某些情况下分解会带来新的问题，比如信息丢失，这样的分解是不正确的。</a:t>
            </a:r>
            <a:endParaRPr lang="zh-CN" altLang="en-US" sz="2400" dirty="0" smtClean="0"/>
          </a:p>
          <a:p>
            <a:pPr eaLnBrk="1" hangingPunct="1">
              <a:defRPr/>
            </a:pPr>
            <a:endParaRPr lang="zh-CN" altLang="en-US" sz="2400" dirty="0" smtClean="0"/>
          </a:p>
          <a:p>
            <a:pPr eaLnBrk="1" hangingPunct="1">
              <a:defRPr/>
            </a:pPr>
            <a:r>
              <a:rPr lang="zh-CN" altLang="en-US" sz="2400" dirty="0" smtClean="0"/>
              <a:t>两个要点</a:t>
            </a:r>
            <a:endParaRPr lang="zh-CN" altLang="en-US" sz="2400" dirty="0" smtClean="0"/>
          </a:p>
          <a:p>
            <a:pPr marL="914400" lvl="1" indent="-457200" eaLnBrk="1" hangingPunct="1">
              <a:buFont typeface="Arial" panose="020B0604020202020204" pitchFamily="34" charset="0"/>
              <a:buAutoNum type="arabicPeriod"/>
              <a:defRPr/>
            </a:pPr>
            <a:r>
              <a:rPr lang="zh-CN" altLang="en-US" sz="2400" dirty="0" smtClean="0"/>
              <a:t>什么样的分解方案才是正确的（不丢失信息的）</a:t>
            </a:r>
            <a:r>
              <a:rPr lang="en-US" altLang="zh-CN" sz="2400" dirty="0" smtClean="0"/>
              <a:t>?  </a:t>
            </a:r>
            <a:r>
              <a:rPr lang="en-US" altLang="zh-CN" sz="2400" dirty="0" smtClean="0">
                <a:latin typeface="Helvetica" panose="020B0604020202020204" pitchFamily="34" charset="0"/>
              </a:rPr>
              <a:t>——</a:t>
            </a:r>
            <a:r>
              <a:rPr lang="en-US" altLang="zh-CN" sz="2400" dirty="0" smtClean="0"/>
              <a:t> </a:t>
            </a:r>
            <a:r>
              <a:rPr lang="zh-CN" altLang="en-US" sz="2400" u="sng" dirty="0" smtClean="0">
                <a:solidFill>
                  <a:srgbClr val="00E444"/>
                </a:solidFill>
              </a:rPr>
              <a:t>无损连接分解： </a:t>
            </a:r>
            <a:endParaRPr lang="en-US" altLang="zh-CN" sz="2400" u="sng" dirty="0" smtClean="0">
              <a:solidFill>
                <a:srgbClr val="00E444"/>
              </a:solidFill>
            </a:endParaRPr>
          </a:p>
          <a:p>
            <a:pPr marL="914400" lvl="1" indent="-457200" eaLnBrk="1" hangingPunct="1">
              <a:buFont typeface="Arial" panose="020B0604020202020204" pitchFamily="34" charset="0"/>
              <a:buAutoNum type="arabicPeriod"/>
              <a:defRPr/>
            </a:pPr>
            <a:r>
              <a:rPr lang="en-US" altLang="en-US" sz="2400" dirty="0" smtClean="0">
                <a:solidFill>
                  <a:srgbClr val="7030A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Dependency Preservation </a:t>
            </a:r>
            <a:endParaRPr lang="en-US" altLang="en-US" sz="2400" dirty="0">
              <a:solidFill>
                <a:srgbClr val="7030A0"/>
              </a:solidFill>
              <a:effectLst>
                <a:outerShdw blurRad="38100" dist="38100" dir="2700000" algn="tl">
                  <a:srgbClr val="C0C0C0"/>
                </a:outerShdw>
              </a:effectLst>
              <a:ea typeface="MS PGothic" panose="020B0600070205080204" pitchFamily="34" charset="-128"/>
            </a:endParaRPr>
          </a:p>
          <a:p>
            <a:pPr marL="914400" lvl="1" indent="-457200" eaLnBrk="1" hangingPunct="1">
              <a:buFont typeface="Arial" panose="020B0604020202020204" pitchFamily="34" charset="0"/>
              <a:buAutoNum type="arabicPeriod"/>
              <a:defRPr/>
            </a:pPr>
            <a:r>
              <a:rPr lang="en-US" altLang="en-US" sz="2400" dirty="0" smtClean="0">
                <a:solidFill>
                  <a:srgbClr val="7030A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Lossless </a:t>
            </a:r>
            <a:r>
              <a:rPr lang="en-US" altLang="en-US" sz="2400" dirty="0">
                <a:solidFill>
                  <a:srgbClr val="7030A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Decomposition</a:t>
            </a:r>
            <a:endParaRPr lang="en-US" altLang="zh-CN" sz="2400" u="sng" dirty="0" smtClean="0">
              <a:solidFill>
                <a:srgbClr val="7030A0"/>
              </a:solidFill>
            </a:endParaRPr>
          </a:p>
          <a:p>
            <a:pPr marL="914400" lvl="1" indent="-457200" eaLnBrk="1" hangingPunct="1">
              <a:buFont typeface="Arial" panose="020B0604020202020204" pitchFamily="34" charset="0"/>
              <a:buAutoNum type="arabicPeriod"/>
              <a:defRPr/>
            </a:pPr>
            <a:endParaRPr lang="zh-CN" altLang="en-US" sz="2400" u="sng" dirty="0" smtClean="0">
              <a:solidFill>
                <a:srgbClr val="00E444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066" name="Rectangle 2"/>
          <p:cNvSpPr>
            <a:spLocks noGrp="1" noChangeArrowheads="1"/>
          </p:cNvSpPr>
          <p:nvPr>
            <p:ph type="title"/>
          </p:nvPr>
        </p:nvSpPr>
        <p:spPr>
          <a:xfrm>
            <a:off x="709613" y="212725"/>
            <a:ext cx="7993062" cy="441325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Dependency Preservation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  <a:ea typeface="MS PGothic" panose="020B0600070205080204" pitchFamily="34" charset="-128"/>
            </a:endParaRP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72357" y="1093788"/>
            <a:ext cx="7818190" cy="2696159"/>
          </a:xfrm>
        </p:spPr>
        <p:txBody>
          <a:bodyPr/>
          <a:lstStyle/>
          <a:p>
            <a:r>
              <a:rPr lang="en-US" altLang="en-US" sz="2400" dirty="0"/>
              <a:t> Let </a:t>
            </a:r>
            <a:r>
              <a:rPr lang="en-US" altLang="en-US" sz="2400" i="1" dirty="0"/>
              <a:t>F</a:t>
            </a:r>
            <a:r>
              <a:rPr lang="en-US" altLang="en-US" sz="2400" i="1" baseline="-25000" dirty="0"/>
              <a:t>i</a:t>
            </a:r>
            <a:r>
              <a:rPr lang="en-US" altLang="en-US" sz="2400" i="1" dirty="0"/>
              <a:t> </a:t>
            </a:r>
            <a:r>
              <a:rPr lang="en-US" altLang="en-US" sz="2400" dirty="0"/>
              <a:t>be the set of dependencies </a:t>
            </a:r>
            <a:r>
              <a:rPr lang="en-US" altLang="en-US" sz="2400" i="1" dirty="0"/>
              <a:t>F </a:t>
            </a:r>
            <a:r>
              <a:rPr lang="en-US" altLang="en-US" sz="2400" i="1" baseline="30000" dirty="0"/>
              <a:t>+</a:t>
            </a:r>
            <a:r>
              <a:rPr lang="en-US" altLang="en-US" sz="2400" dirty="0"/>
              <a:t> that include only attributes in </a:t>
            </a:r>
            <a:r>
              <a:rPr lang="en-US" altLang="en-US" sz="2400" i="1" dirty="0"/>
              <a:t>R</a:t>
            </a:r>
            <a:r>
              <a:rPr lang="en-US" altLang="en-US" sz="2400" i="1" baseline="-25000" dirty="0"/>
              <a:t>i</a:t>
            </a:r>
            <a:r>
              <a:rPr lang="en-US" altLang="en-US" sz="2400" i="1" dirty="0"/>
              <a:t>. </a:t>
            </a:r>
            <a:endParaRPr lang="en-US" altLang="en-US" sz="2400" i="1" dirty="0"/>
          </a:p>
          <a:p>
            <a:pPr lvl="1"/>
            <a:r>
              <a:rPr lang="en-US" altLang="en-US" sz="2400" dirty="0"/>
              <a:t> A  decomposition is </a:t>
            </a:r>
            <a:r>
              <a:rPr lang="en-US" altLang="en-US" sz="2400" b="1" dirty="0">
                <a:solidFill>
                  <a:srgbClr val="002060"/>
                </a:solidFill>
              </a:rPr>
              <a:t>dependency preserving</a:t>
            </a:r>
            <a:r>
              <a:rPr lang="en-US" altLang="en-US" sz="2400" dirty="0"/>
              <a:t>,  if</a:t>
            </a:r>
            <a:endParaRPr lang="en-US" altLang="en-US" sz="2400" dirty="0"/>
          </a:p>
          <a:p>
            <a:pPr lvl="1">
              <a:buFont typeface="Webdings" panose="05030102010509060703" pitchFamily="18" charset="2"/>
              <a:buNone/>
            </a:pPr>
            <a:r>
              <a:rPr lang="en-US" altLang="en-US" sz="2400" dirty="0"/>
              <a:t>           (</a:t>
            </a:r>
            <a:r>
              <a:rPr lang="en-US" altLang="en-US" sz="2400" i="1" dirty="0"/>
              <a:t>F</a:t>
            </a:r>
            <a:r>
              <a:rPr lang="en-US" altLang="en-US" sz="2400" baseline="-25000" dirty="0"/>
              <a:t>1</a:t>
            </a:r>
            <a:r>
              <a:rPr lang="en-US" altLang="en-US" sz="2400" i="1" dirty="0"/>
              <a:t> </a:t>
            </a:r>
            <a:r>
              <a:rPr lang="en-US" altLang="en-US" sz="2400" dirty="0">
                <a:sym typeface="Symbol" panose="05050102010706020507" pitchFamily="18" charset="2"/>
              </a:rPr>
              <a:t></a:t>
            </a:r>
            <a:r>
              <a:rPr lang="en-US" altLang="en-US" sz="2400" i="1" dirty="0">
                <a:sym typeface="Symbol" panose="05050102010706020507" pitchFamily="18" charset="2"/>
              </a:rPr>
              <a:t> F</a:t>
            </a:r>
            <a:r>
              <a:rPr lang="en-US" altLang="en-US" sz="2400" baseline="-25000" dirty="0">
                <a:sym typeface="Symbol" panose="05050102010706020507" pitchFamily="18" charset="2"/>
              </a:rPr>
              <a:t>2 </a:t>
            </a:r>
            <a:r>
              <a:rPr lang="en-US" altLang="en-US" sz="2400" dirty="0">
                <a:sym typeface="Symbol" panose="05050102010706020507" pitchFamily="18" charset="2"/>
              </a:rPr>
              <a:t></a:t>
            </a:r>
            <a:r>
              <a:rPr lang="en-US" altLang="en-US" sz="2400" i="1" dirty="0">
                <a:sym typeface="Symbol" panose="05050102010706020507" pitchFamily="18" charset="2"/>
              </a:rPr>
              <a:t> …</a:t>
            </a:r>
            <a:r>
              <a:rPr lang="en-US" altLang="en-US" sz="2400" dirty="0">
                <a:sym typeface="Symbol" panose="05050102010706020507" pitchFamily="18" charset="2"/>
              </a:rPr>
              <a:t> </a:t>
            </a:r>
            <a:r>
              <a:rPr lang="en-US" altLang="en-US" sz="2400" i="1" dirty="0">
                <a:sym typeface="Symbol" panose="05050102010706020507" pitchFamily="18" charset="2"/>
              </a:rPr>
              <a:t> </a:t>
            </a:r>
            <a:r>
              <a:rPr lang="en-US" altLang="en-US" sz="2400" i="1" dirty="0" err="1">
                <a:sym typeface="Symbol" panose="05050102010706020507" pitchFamily="18" charset="2"/>
              </a:rPr>
              <a:t>F</a:t>
            </a:r>
            <a:r>
              <a:rPr lang="en-US" altLang="en-US" sz="2400" baseline="-25000" dirty="0" err="1">
                <a:sym typeface="Symbol" panose="05050102010706020507" pitchFamily="18" charset="2"/>
              </a:rPr>
              <a:t>n</a:t>
            </a:r>
            <a:r>
              <a:rPr lang="en-US" altLang="en-US" sz="2400" baseline="-25000" dirty="0">
                <a:sym typeface="Symbol" panose="05050102010706020507" pitchFamily="18" charset="2"/>
              </a:rPr>
              <a:t> </a:t>
            </a:r>
            <a:r>
              <a:rPr lang="en-US" altLang="en-US" sz="2400" dirty="0">
                <a:sym typeface="Symbol" panose="05050102010706020507" pitchFamily="18" charset="2"/>
              </a:rPr>
              <a:t>)</a:t>
            </a:r>
            <a:r>
              <a:rPr lang="en-US" altLang="en-US" sz="2400" baseline="30000" dirty="0">
                <a:sym typeface="Symbol" panose="05050102010706020507" pitchFamily="18" charset="2"/>
              </a:rPr>
              <a:t>+</a:t>
            </a:r>
            <a:r>
              <a:rPr lang="en-US" altLang="en-US" sz="2400" dirty="0">
                <a:sym typeface="Symbol" panose="05050102010706020507" pitchFamily="18" charset="2"/>
              </a:rPr>
              <a:t> = </a:t>
            </a:r>
            <a:r>
              <a:rPr lang="en-US" altLang="en-US" sz="2400" i="1" dirty="0">
                <a:sym typeface="Symbol" panose="05050102010706020507" pitchFamily="18" charset="2"/>
              </a:rPr>
              <a:t>F </a:t>
            </a:r>
            <a:r>
              <a:rPr lang="en-US" altLang="en-US" sz="2400" i="1" baseline="30000" dirty="0">
                <a:sym typeface="Symbol" panose="05050102010706020507" pitchFamily="18" charset="2"/>
              </a:rPr>
              <a:t>+</a:t>
            </a:r>
            <a:endParaRPr lang="en-US" altLang="en-US" sz="2400" i="1" baseline="30000" dirty="0">
              <a:sym typeface="Symbol" panose="05050102010706020507" pitchFamily="18" charset="2"/>
            </a:endParaRPr>
          </a:p>
          <a:p>
            <a:r>
              <a:rPr lang="en-US" altLang="en-US" sz="2400" dirty="0">
                <a:sym typeface="Symbol" panose="05050102010706020507" pitchFamily="18" charset="2"/>
              </a:rPr>
              <a:t>Using the above definition,  testing for dependency preservation take exponential time.</a:t>
            </a:r>
            <a:endParaRPr lang="en-US" altLang="en-US" sz="2400" dirty="0">
              <a:sym typeface="Symbol" panose="05050102010706020507" pitchFamily="18" charset="2"/>
            </a:endParaRPr>
          </a:p>
          <a:p>
            <a:r>
              <a:rPr lang="en-US" altLang="en-US" sz="2400" dirty="0">
                <a:sym typeface="Symbol" panose="05050102010706020507" pitchFamily="18" charset="2"/>
              </a:rPr>
              <a:t>Not that if a decomposition is NOT dependency preserving </a:t>
            </a:r>
            <a:r>
              <a:rPr lang="en-US" altLang="en-US" sz="2400" dirty="0"/>
              <a:t>then checking updates for violation of functional dependencies may require computing joins, which is expensive.</a:t>
            </a:r>
            <a:endParaRPr lang="en-US" altLang="en-US" sz="24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066" name="Rectangle 2"/>
          <p:cNvSpPr>
            <a:spLocks noGrp="1" noChangeArrowheads="1"/>
          </p:cNvSpPr>
          <p:nvPr>
            <p:ph type="title"/>
          </p:nvPr>
        </p:nvSpPr>
        <p:spPr>
          <a:xfrm>
            <a:off x="709613" y="212725"/>
            <a:ext cx="7993062" cy="441325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Dependency Preservation (Cont.)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  <a:ea typeface="MS PGothic" panose="020B0600070205080204" pitchFamily="34" charset="-128"/>
            </a:endParaRPr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1234" y="1093788"/>
            <a:ext cx="7995017" cy="3466180"/>
          </a:xfrm>
        </p:spPr>
        <p:txBody>
          <a:bodyPr/>
          <a:lstStyle/>
          <a:p>
            <a:r>
              <a:rPr lang="en-US" altLang="en-US" sz="2400" dirty="0"/>
              <a:t>Let </a:t>
            </a:r>
            <a:r>
              <a:rPr lang="en-US" altLang="en-US" sz="2400" i="1" dirty="0"/>
              <a:t>F </a:t>
            </a:r>
            <a:r>
              <a:rPr lang="en-US" altLang="en-US" sz="2400" i="1" baseline="-25000" dirty="0"/>
              <a:t> </a:t>
            </a:r>
            <a:r>
              <a:rPr lang="en-US" altLang="en-US" sz="2400" dirty="0"/>
              <a:t>be the set of dependencies  on schema </a:t>
            </a:r>
            <a:r>
              <a:rPr lang="en-US" altLang="en-US" sz="2400" i="1" dirty="0"/>
              <a:t>R</a:t>
            </a:r>
            <a:r>
              <a:rPr lang="en-US" altLang="en-US" sz="2400" dirty="0"/>
              <a:t>  and let </a:t>
            </a:r>
            <a:r>
              <a:rPr lang="en-US" altLang="en-US" sz="2400" i="1" dirty="0"/>
              <a:t>R</a:t>
            </a:r>
            <a:r>
              <a:rPr lang="en-US" altLang="en-US" sz="2400" baseline="-25000" dirty="0"/>
              <a:t>1</a:t>
            </a:r>
            <a:r>
              <a:rPr lang="en-US" altLang="en-US" sz="2400" i="1" dirty="0"/>
              <a:t>,</a:t>
            </a:r>
            <a:r>
              <a:rPr lang="en-US" altLang="en-US" sz="2400" i="1" dirty="0">
                <a:sym typeface="Symbol" panose="05050102010706020507" pitchFamily="18" charset="2"/>
              </a:rPr>
              <a:t> R</a:t>
            </a:r>
            <a:r>
              <a:rPr lang="en-US" altLang="en-US" sz="2400" baseline="-25000" dirty="0">
                <a:sym typeface="Symbol" panose="05050102010706020507" pitchFamily="18" charset="2"/>
              </a:rPr>
              <a:t>2 </a:t>
            </a:r>
            <a:r>
              <a:rPr lang="en-US" altLang="en-US" sz="2400" dirty="0">
                <a:sym typeface="Symbol" panose="05050102010706020507" pitchFamily="18" charset="2"/>
              </a:rPr>
              <a:t>,</a:t>
            </a:r>
            <a:r>
              <a:rPr lang="en-US" altLang="en-US" sz="2400" i="1" dirty="0">
                <a:sym typeface="Symbol" panose="05050102010706020507" pitchFamily="18" charset="2"/>
              </a:rPr>
              <a:t>  .., R</a:t>
            </a:r>
            <a:r>
              <a:rPr lang="en-US" altLang="en-US" sz="2400" baseline="-25000" dirty="0">
                <a:sym typeface="Symbol" panose="05050102010706020507" pitchFamily="18" charset="2"/>
              </a:rPr>
              <a:t>n </a:t>
            </a:r>
            <a:r>
              <a:rPr lang="en-US" altLang="en-US" sz="2400" dirty="0">
                <a:sym typeface="Symbol" panose="05050102010706020507" pitchFamily="18" charset="2"/>
              </a:rPr>
              <a:t>  be a decomposition of </a:t>
            </a:r>
            <a:r>
              <a:rPr lang="en-US" altLang="en-US" sz="2400" i="1" dirty="0">
                <a:sym typeface="Symbol" panose="05050102010706020507" pitchFamily="18" charset="2"/>
              </a:rPr>
              <a:t>R.</a:t>
            </a:r>
            <a:endParaRPr lang="en-US" altLang="en-US" sz="2400" i="1" dirty="0">
              <a:sym typeface="Symbol" panose="05050102010706020507" pitchFamily="18" charset="2"/>
            </a:endParaRPr>
          </a:p>
          <a:p>
            <a:r>
              <a:rPr lang="en-US" altLang="en-US" sz="2400" dirty="0">
                <a:sym typeface="Symbol" panose="05050102010706020507" pitchFamily="18" charset="2"/>
              </a:rPr>
              <a:t>The restriction of  </a:t>
            </a:r>
            <a:r>
              <a:rPr lang="en-US" altLang="en-US" sz="2400" i="1" dirty="0">
                <a:sym typeface="Symbol" panose="05050102010706020507" pitchFamily="18" charset="2"/>
              </a:rPr>
              <a:t>F</a:t>
            </a:r>
            <a:r>
              <a:rPr lang="en-US" altLang="en-US" sz="2400" dirty="0">
                <a:sym typeface="Symbol" panose="05050102010706020507" pitchFamily="18" charset="2"/>
              </a:rPr>
              <a:t> to </a:t>
            </a:r>
            <a:r>
              <a:rPr lang="en-US" altLang="en-US" sz="2400" i="1" dirty="0">
                <a:sym typeface="Symbol" panose="05050102010706020507" pitchFamily="18" charset="2"/>
              </a:rPr>
              <a:t>R</a:t>
            </a:r>
            <a:r>
              <a:rPr lang="en-US" altLang="en-US" sz="2400" baseline="-25000" dirty="0"/>
              <a:t>i </a:t>
            </a:r>
            <a:r>
              <a:rPr lang="en-US" altLang="en-US" sz="2400" dirty="0"/>
              <a:t> </a:t>
            </a:r>
            <a:r>
              <a:rPr lang="en-US" altLang="en-US" sz="2400" dirty="0">
                <a:sym typeface="Symbol" panose="05050102010706020507" pitchFamily="18" charset="2"/>
              </a:rPr>
              <a:t>is the set </a:t>
            </a:r>
            <a:r>
              <a:rPr lang="en-US" altLang="en-US" sz="2400" i="1" dirty="0"/>
              <a:t>F</a:t>
            </a:r>
            <a:r>
              <a:rPr lang="en-US" altLang="en-US" sz="2400" baseline="-25000" dirty="0"/>
              <a:t>i  </a:t>
            </a:r>
            <a:r>
              <a:rPr lang="en-US" altLang="en-US" sz="2400" dirty="0">
                <a:sym typeface="Symbol" panose="05050102010706020507" pitchFamily="18" charset="2"/>
              </a:rPr>
              <a:t>of all  functional dependencies in </a:t>
            </a:r>
            <a:r>
              <a:rPr lang="en-US" altLang="en-US" sz="2400" i="1" dirty="0">
                <a:sym typeface="Symbol" panose="05050102010706020507" pitchFamily="18" charset="2"/>
              </a:rPr>
              <a:t>F </a:t>
            </a:r>
            <a:r>
              <a:rPr lang="en-US" altLang="en-US" sz="2400" i="1" baseline="30000" dirty="0">
                <a:sym typeface="Symbol" panose="05050102010706020507" pitchFamily="18" charset="2"/>
              </a:rPr>
              <a:t>+ </a:t>
            </a:r>
            <a:r>
              <a:rPr lang="en-US" altLang="en-US" sz="2400" dirty="0">
                <a:sym typeface="Symbol" panose="05050102010706020507" pitchFamily="18" charset="2"/>
              </a:rPr>
              <a:t>that include </a:t>
            </a:r>
            <a:r>
              <a:rPr lang="en-US" altLang="en-US" sz="2400" b="1" dirty="0">
                <a:sym typeface="Symbol" panose="05050102010706020507" pitchFamily="18" charset="2"/>
              </a:rPr>
              <a:t>only</a:t>
            </a:r>
            <a:r>
              <a:rPr lang="en-US" altLang="en-US" sz="2400" dirty="0">
                <a:sym typeface="Symbol" panose="05050102010706020507" pitchFamily="18" charset="2"/>
              </a:rPr>
              <a:t> attributes  of </a:t>
            </a:r>
            <a:r>
              <a:rPr lang="en-US" altLang="en-US" sz="2400" i="1" dirty="0">
                <a:sym typeface="Symbol" panose="05050102010706020507" pitchFamily="18" charset="2"/>
              </a:rPr>
              <a:t>R</a:t>
            </a:r>
            <a:r>
              <a:rPr lang="en-US" altLang="en-US" sz="2400" baseline="-25000" dirty="0"/>
              <a:t>i </a:t>
            </a:r>
            <a:r>
              <a:rPr lang="en-US" altLang="en-US" sz="2400" dirty="0">
                <a:sym typeface="Symbol" panose="05050102010706020507" pitchFamily="18" charset="2"/>
              </a:rPr>
              <a:t>.</a:t>
            </a:r>
            <a:endParaRPr lang="en-US" altLang="en-US" sz="2400" dirty="0">
              <a:sym typeface="Symbol" panose="05050102010706020507" pitchFamily="18" charset="2"/>
            </a:endParaRPr>
          </a:p>
          <a:p>
            <a:r>
              <a:rPr lang="en-US" altLang="en-US" sz="2400" dirty="0">
                <a:sym typeface="Symbol" panose="05050102010706020507" pitchFamily="18" charset="2"/>
              </a:rPr>
              <a:t>Since all functional dependencies in a restriction involve attributes of only one relation schema, it is possible to test such a dependency for satisfaction by checking only one relation.</a:t>
            </a:r>
            <a:endParaRPr lang="en-US" altLang="en-US" sz="2400" dirty="0">
              <a:sym typeface="Symbol" panose="05050102010706020507" pitchFamily="18" charset="2"/>
            </a:endParaRPr>
          </a:p>
          <a:p>
            <a:r>
              <a:rPr lang="en-US" altLang="en-US" sz="2400" dirty="0">
                <a:solidFill>
                  <a:srgbClr val="7030A0"/>
                </a:solidFill>
                <a:sym typeface="Symbol" panose="05050102010706020507" pitchFamily="18" charset="2"/>
              </a:rPr>
              <a:t>Note that the definition of restriction uses all dependencies in in </a:t>
            </a:r>
            <a:r>
              <a:rPr lang="en-US" altLang="en-US" sz="2400" i="1" dirty="0">
                <a:solidFill>
                  <a:srgbClr val="7030A0"/>
                </a:solidFill>
                <a:sym typeface="Symbol" panose="05050102010706020507" pitchFamily="18" charset="2"/>
              </a:rPr>
              <a:t>F </a:t>
            </a:r>
            <a:r>
              <a:rPr lang="en-US" altLang="en-US" sz="2400" i="1" baseline="30000" dirty="0">
                <a:solidFill>
                  <a:srgbClr val="7030A0"/>
                </a:solidFill>
                <a:sym typeface="Symbol" panose="05050102010706020507" pitchFamily="18" charset="2"/>
              </a:rPr>
              <a:t>+</a:t>
            </a:r>
            <a:r>
              <a:rPr lang="en-US" altLang="en-US" sz="2400" i="1" dirty="0">
                <a:solidFill>
                  <a:srgbClr val="7030A0"/>
                </a:solidFill>
                <a:sym typeface="Symbol" panose="05050102010706020507" pitchFamily="18" charset="2"/>
              </a:rPr>
              <a:t>, </a:t>
            </a:r>
            <a:r>
              <a:rPr lang="en-US" altLang="en-US" sz="2400" dirty="0">
                <a:solidFill>
                  <a:srgbClr val="7030A0"/>
                </a:solidFill>
                <a:sym typeface="Symbol" panose="05050102010706020507" pitchFamily="18" charset="2"/>
              </a:rPr>
              <a:t>not just those in </a:t>
            </a:r>
            <a:r>
              <a:rPr lang="en-US" altLang="en-US" sz="2400" i="1" dirty="0">
                <a:solidFill>
                  <a:srgbClr val="7030A0"/>
                </a:solidFill>
                <a:sym typeface="Symbol" panose="05050102010706020507" pitchFamily="18" charset="2"/>
              </a:rPr>
              <a:t>F</a:t>
            </a:r>
            <a:r>
              <a:rPr lang="en-US" altLang="en-US" sz="2400" dirty="0">
                <a:solidFill>
                  <a:srgbClr val="7030A0"/>
                </a:solidFill>
                <a:sym typeface="Symbol" panose="05050102010706020507" pitchFamily="18" charset="2"/>
              </a:rPr>
              <a:t>.</a:t>
            </a:r>
            <a:endParaRPr lang="en-US" altLang="en-US" sz="2400" dirty="0">
              <a:solidFill>
                <a:srgbClr val="7030A0"/>
              </a:solidFill>
              <a:sym typeface="Symbol" panose="05050102010706020507" pitchFamily="18" charset="2"/>
            </a:endParaRPr>
          </a:p>
          <a:p>
            <a:r>
              <a:rPr lang="en-US" altLang="en-US" sz="2400" dirty="0"/>
              <a:t>The set of restrictions </a:t>
            </a:r>
            <a:r>
              <a:rPr lang="en-US" altLang="en-US" sz="2400" i="1" dirty="0"/>
              <a:t>F</a:t>
            </a:r>
            <a:r>
              <a:rPr lang="en-US" altLang="en-US" sz="2400" baseline="-25000" dirty="0"/>
              <a:t>1</a:t>
            </a:r>
            <a:r>
              <a:rPr lang="en-US" altLang="en-US" sz="2400" i="1" dirty="0"/>
              <a:t>,</a:t>
            </a:r>
            <a:r>
              <a:rPr lang="en-US" altLang="en-US" sz="2400" i="1" dirty="0">
                <a:sym typeface="Symbol" panose="05050102010706020507" pitchFamily="18" charset="2"/>
              </a:rPr>
              <a:t> F</a:t>
            </a:r>
            <a:r>
              <a:rPr lang="en-US" altLang="en-US" sz="2400" baseline="-25000" dirty="0">
                <a:sym typeface="Symbol" panose="05050102010706020507" pitchFamily="18" charset="2"/>
              </a:rPr>
              <a:t>2 </a:t>
            </a:r>
            <a:r>
              <a:rPr lang="en-US" altLang="en-US" sz="2400" dirty="0">
                <a:sym typeface="Symbol" panose="05050102010706020507" pitchFamily="18" charset="2"/>
              </a:rPr>
              <a:t>, .. ,</a:t>
            </a:r>
            <a:r>
              <a:rPr lang="en-US" altLang="en-US" sz="2400" i="1" dirty="0">
                <a:sym typeface="Symbol" panose="05050102010706020507" pitchFamily="18" charset="2"/>
              </a:rPr>
              <a:t> </a:t>
            </a:r>
            <a:r>
              <a:rPr lang="en-US" altLang="en-US" sz="2400" i="1" dirty="0" err="1">
                <a:sym typeface="Symbol" panose="05050102010706020507" pitchFamily="18" charset="2"/>
              </a:rPr>
              <a:t>F</a:t>
            </a:r>
            <a:r>
              <a:rPr lang="en-US" altLang="en-US" sz="2400" baseline="-25000" dirty="0" err="1">
                <a:sym typeface="Symbol" panose="05050102010706020507" pitchFamily="18" charset="2"/>
              </a:rPr>
              <a:t>n</a:t>
            </a:r>
            <a:r>
              <a:rPr lang="en-US" altLang="en-US" sz="2400" baseline="-25000" dirty="0">
                <a:sym typeface="Symbol" panose="05050102010706020507" pitchFamily="18" charset="2"/>
              </a:rPr>
              <a:t>  </a:t>
            </a:r>
            <a:r>
              <a:rPr lang="en-US" altLang="en-US" sz="2400" dirty="0">
                <a:sym typeface="Symbol" panose="05050102010706020507" pitchFamily="18" charset="2"/>
              </a:rPr>
              <a:t> </a:t>
            </a:r>
            <a:r>
              <a:rPr lang="en-US" altLang="en-US" sz="2400" dirty="0"/>
              <a:t>is the set of functional  dependencies that can be checked efficiently.</a:t>
            </a:r>
            <a:endParaRPr lang="en-US" altLang="en-US" sz="24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114" name="Rectangle 2"/>
          <p:cNvSpPr>
            <a:spLocks noGrp="1" noChangeArrowheads="1"/>
          </p:cNvSpPr>
          <p:nvPr>
            <p:ph type="title"/>
          </p:nvPr>
        </p:nvSpPr>
        <p:spPr>
          <a:xfrm>
            <a:off x="766763" y="100013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Testing for Dependency Preservation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  <a:ea typeface="MS PGothic" panose="020B0600070205080204" pitchFamily="34" charset="-128"/>
            </a:endParaRPr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75641" y="1100831"/>
            <a:ext cx="7871402" cy="4590106"/>
          </a:xfrm>
        </p:spPr>
        <p:txBody>
          <a:bodyPr/>
          <a:lstStyle/>
          <a:p>
            <a:pPr>
              <a:buSzPct val="110000"/>
              <a:buFont typeface="Wingdings" panose="05000000000000000000" pitchFamily="2" charset="2"/>
              <a:buChar char="§"/>
            </a:pPr>
            <a:r>
              <a:rPr lang="en-US" altLang="en-US" sz="2000" dirty="0">
                <a:sym typeface="Symbol" panose="05050102010706020507" pitchFamily="18" charset="2"/>
              </a:rPr>
              <a:t>To check if a dependency    is preserved in a decomposition of </a:t>
            </a:r>
            <a:r>
              <a:rPr lang="en-US" altLang="en-US" sz="2000" i="1" dirty="0">
                <a:sym typeface="Symbol" panose="05050102010706020507" pitchFamily="18" charset="2"/>
              </a:rPr>
              <a:t>R</a:t>
            </a:r>
            <a:r>
              <a:rPr lang="en-US" altLang="en-US" sz="2000" dirty="0">
                <a:sym typeface="Symbol" panose="05050102010706020507" pitchFamily="18" charset="2"/>
              </a:rPr>
              <a:t> into </a:t>
            </a:r>
            <a:r>
              <a:rPr lang="en-US" altLang="en-US" sz="2000" i="1" dirty="0">
                <a:sym typeface="Symbol" panose="05050102010706020507" pitchFamily="18" charset="2"/>
              </a:rPr>
              <a:t>R</a:t>
            </a:r>
            <a:r>
              <a:rPr lang="en-US" altLang="en-US" sz="2000" baseline="-25000" dirty="0">
                <a:sym typeface="Symbol" panose="05050102010706020507" pitchFamily="18" charset="2"/>
              </a:rPr>
              <a:t>1</a:t>
            </a:r>
            <a:r>
              <a:rPr lang="en-US" altLang="en-US" sz="2000" dirty="0">
                <a:sym typeface="Symbol" panose="05050102010706020507" pitchFamily="18" charset="2"/>
              </a:rPr>
              <a:t>, </a:t>
            </a:r>
            <a:r>
              <a:rPr lang="en-US" altLang="en-US" sz="2000" i="1" dirty="0">
                <a:sym typeface="Symbol" panose="05050102010706020507" pitchFamily="18" charset="2"/>
              </a:rPr>
              <a:t>R</a:t>
            </a:r>
            <a:r>
              <a:rPr lang="en-US" altLang="en-US" sz="2000" baseline="-25000" dirty="0">
                <a:sym typeface="Symbol" panose="05050102010706020507" pitchFamily="18" charset="2"/>
              </a:rPr>
              <a:t>2</a:t>
            </a:r>
            <a:r>
              <a:rPr lang="en-US" altLang="en-US" sz="2000" dirty="0">
                <a:sym typeface="Symbol" panose="05050102010706020507" pitchFamily="18" charset="2"/>
              </a:rPr>
              <a:t>, …, </a:t>
            </a:r>
            <a:r>
              <a:rPr lang="en-US" altLang="en-US" sz="2000" i="1" dirty="0">
                <a:sym typeface="Symbol" panose="05050102010706020507" pitchFamily="18" charset="2"/>
              </a:rPr>
              <a:t>R</a:t>
            </a:r>
            <a:r>
              <a:rPr lang="en-US" altLang="en-US" sz="2000" baseline="-25000" dirty="0">
                <a:sym typeface="Symbol" panose="05050102010706020507" pitchFamily="18" charset="2"/>
              </a:rPr>
              <a:t>n</a:t>
            </a:r>
            <a:r>
              <a:rPr lang="en-US" altLang="en-US" sz="2000" dirty="0">
                <a:sym typeface="Symbol" panose="05050102010706020507" pitchFamily="18" charset="2"/>
              </a:rPr>
              <a:t> , we apply the following test (with attribute closure done with respect to </a:t>
            </a:r>
            <a:r>
              <a:rPr lang="en-US" altLang="en-US" sz="2000" i="1" dirty="0">
                <a:sym typeface="Symbol" panose="05050102010706020507" pitchFamily="18" charset="2"/>
              </a:rPr>
              <a:t>F</a:t>
            </a:r>
            <a:r>
              <a:rPr lang="en-US" altLang="en-US" sz="2000" dirty="0">
                <a:sym typeface="Symbol" panose="05050102010706020507" pitchFamily="18" charset="2"/>
              </a:rPr>
              <a:t>)</a:t>
            </a:r>
            <a:endParaRPr lang="en-US" altLang="en-US" sz="2000" dirty="0">
              <a:sym typeface="Symbol" panose="05050102010706020507" pitchFamily="18" charset="2"/>
            </a:endParaRPr>
          </a:p>
          <a:p>
            <a:pPr lvl="1">
              <a:buSzPct val="110000"/>
              <a:buFont typeface="Arial" panose="020B0604020202020204" pitchFamily="34" charset="0"/>
              <a:buChar char="•"/>
            </a:pPr>
            <a:r>
              <a:rPr lang="en-US" altLang="en-US" sz="2000" i="1" dirty="0">
                <a:solidFill>
                  <a:srgbClr val="7030A0"/>
                </a:solidFill>
              </a:rPr>
              <a:t>result </a:t>
            </a:r>
            <a:r>
              <a:rPr lang="en-US" altLang="en-US" sz="2000" dirty="0">
                <a:solidFill>
                  <a:srgbClr val="7030A0"/>
                </a:solidFill>
              </a:rPr>
              <a:t>= </a:t>
            </a:r>
            <a:r>
              <a:rPr lang="en-US" altLang="en-US" sz="2000" dirty="0">
                <a:solidFill>
                  <a:srgbClr val="7030A0"/>
                </a:solidFill>
                <a:sym typeface="Symbol" panose="05050102010706020507" pitchFamily="18" charset="2"/>
              </a:rPr>
              <a:t></a:t>
            </a:r>
            <a:br>
              <a:rPr lang="en-US" altLang="en-US" sz="2000" dirty="0">
                <a:solidFill>
                  <a:srgbClr val="7030A0"/>
                </a:solidFill>
                <a:sym typeface="Symbol" panose="05050102010706020507" pitchFamily="18" charset="2"/>
              </a:rPr>
            </a:br>
            <a:r>
              <a:rPr lang="en-US" altLang="en-US" sz="2000" b="1" dirty="0">
                <a:solidFill>
                  <a:srgbClr val="7030A0"/>
                </a:solidFill>
                <a:sym typeface="Symbol" panose="05050102010706020507" pitchFamily="18" charset="2"/>
              </a:rPr>
              <a:t>repeat</a:t>
            </a:r>
            <a:r>
              <a:rPr lang="en-US" altLang="en-US" sz="2000" dirty="0">
                <a:solidFill>
                  <a:srgbClr val="7030A0"/>
                </a:solidFill>
                <a:sym typeface="Symbol" panose="05050102010706020507" pitchFamily="18" charset="2"/>
              </a:rPr>
              <a:t> </a:t>
            </a:r>
            <a:br>
              <a:rPr lang="en-US" altLang="en-US" sz="2000" dirty="0">
                <a:solidFill>
                  <a:srgbClr val="7030A0"/>
                </a:solidFill>
                <a:sym typeface="Symbol" panose="05050102010706020507" pitchFamily="18" charset="2"/>
              </a:rPr>
            </a:br>
            <a:r>
              <a:rPr lang="en-US" altLang="en-US" sz="2000" dirty="0">
                <a:solidFill>
                  <a:srgbClr val="7030A0"/>
                </a:solidFill>
                <a:sym typeface="Symbol" panose="05050102010706020507" pitchFamily="18" charset="2"/>
              </a:rPr>
              <a:t>	</a:t>
            </a:r>
            <a:r>
              <a:rPr lang="en-US" altLang="en-US" sz="2000" b="1" dirty="0">
                <a:solidFill>
                  <a:srgbClr val="7030A0"/>
                </a:solidFill>
                <a:sym typeface="Symbol" panose="05050102010706020507" pitchFamily="18" charset="2"/>
              </a:rPr>
              <a:t>for each</a:t>
            </a:r>
            <a:r>
              <a:rPr lang="en-US" altLang="en-US" sz="2000" dirty="0">
                <a:solidFill>
                  <a:srgbClr val="7030A0"/>
                </a:solidFill>
                <a:sym typeface="Symbol" panose="05050102010706020507" pitchFamily="18" charset="2"/>
              </a:rPr>
              <a:t> </a:t>
            </a:r>
            <a:r>
              <a:rPr lang="en-US" altLang="en-US" sz="2000" i="1" dirty="0">
                <a:solidFill>
                  <a:srgbClr val="7030A0"/>
                </a:solidFill>
                <a:sym typeface="Symbol" panose="05050102010706020507" pitchFamily="18" charset="2"/>
              </a:rPr>
              <a:t>R</a:t>
            </a:r>
            <a:r>
              <a:rPr lang="en-US" altLang="en-US" sz="2000" i="1" baseline="-25000" dirty="0">
                <a:solidFill>
                  <a:srgbClr val="7030A0"/>
                </a:solidFill>
                <a:sym typeface="Symbol" panose="05050102010706020507" pitchFamily="18" charset="2"/>
              </a:rPr>
              <a:t>i</a:t>
            </a:r>
            <a:r>
              <a:rPr lang="en-US" altLang="en-US" sz="2000" i="1" dirty="0">
                <a:solidFill>
                  <a:srgbClr val="7030A0"/>
                </a:solidFill>
                <a:sym typeface="Symbol" panose="05050102010706020507" pitchFamily="18" charset="2"/>
              </a:rPr>
              <a:t> </a:t>
            </a:r>
            <a:r>
              <a:rPr lang="en-US" altLang="en-US" sz="2000" dirty="0">
                <a:solidFill>
                  <a:srgbClr val="7030A0"/>
                </a:solidFill>
                <a:sym typeface="Symbol" panose="05050102010706020507" pitchFamily="18" charset="2"/>
              </a:rPr>
              <a:t>in the decomposition</a:t>
            </a:r>
            <a:br>
              <a:rPr lang="en-US" altLang="en-US" sz="2000" dirty="0">
                <a:solidFill>
                  <a:srgbClr val="7030A0"/>
                </a:solidFill>
                <a:sym typeface="Symbol" panose="05050102010706020507" pitchFamily="18" charset="2"/>
              </a:rPr>
            </a:br>
            <a:r>
              <a:rPr lang="en-US" altLang="en-US" sz="2000" dirty="0">
                <a:solidFill>
                  <a:srgbClr val="7030A0"/>
                </a:solidFill>
                <a:sym typeface="Symbol" panose="05050102010706020507" pitchFamily="18" charset="2"/>
              </a:rPr>
              <a:t>		</a:t>
            </a:r>
            <a:r>
              <a:rPr lang="en-US" altLang="en-US" sz="2000" i="1" dirty="0">
                <a:solidFill>
                  <a:srgbClr val="7030A0"/>
                </a:solidFill>
                <a:sym typeface="Symbol" panose="05050102010706020507" pitchFamily="18" charset="2"/>
              </a:rPr>
              <a:t>t</a:t>
            </a:r>
            <a:r>
              <a:rPr lang="en-US" altLang="en-US" sz="2000" dirty="0">
                <a:solidFill>
                  <a:srgbClr val="7030A0"/>
                </a:solidFill>
                <a:sym typeface="Symbol" panose="05050102010706020507" pitchFamily="18" charset="2"/>
              </a:rPr>
              <a:t> = (</a:t>
            </a:r>
            <a:r>
              <a:rPr lang="en-US" altLang="en-US" sz="2000" i="1" dirty="0">
                <a:solidFill>
                  <a:srgbClr val="7030A0"/>
                </a:solidFill>
                <a:sym typeface="Symbol" panose="05050102010706020507" pitchFamily="18" charset="2"/>
              </a:rPr>
              <a:t>result </a:t>
            </a:r>
            <a:r>
              <a:rPr lang="en-US" altLang="en-US" sz="2000" dirty="0">
                <a:solidFill>
                  <a:srgbClr val="7030A0"/>
                </a:solidFill>
                <a:sym typeface="Symbol" panose="05050102010706020507" pitchFamily="18" charset="2"/>
              </a:rPr>
              <a:t> </a:t>
            </a:r>
            <a:r>
              <a:rPr lang="en-US" altLang="en-US" sz="2000" i="1" dirty="0">
                <a:solidFill>
                  <a:srgbClr val="7030A0"/>
                </a:solidFill>
                <a:sym typeface="Symbol" panose="05050102010706020507" pitchFamily="18" charset="2"/>
              </a:rPr>
              <a:t>R</a:t>
            </a:r>
            <a:r>
              <a:rPr lang="en-US" altLang="en-US" sz="2000" i="1" baseline="-25000" dirty="0">
                <a:solidFill>
                  <a:srgbClr val="7030A0"/>
                </a:solidFill>
                <a:sym typeface="Symbol" panose="05050102010706020507" pitchFamily="18" charset="2"/>
              </a:rPr>
              <a:t>i</a:t>
            </a:r>
            <a:r>
              <a:rPr lang="en-US" altLang="en-US" sz="2000" dirty="0">
                <a:solidFill>
                  <a:srgbClr val="7030A0"/>
                </a:solidFill>
                <a:sym typeface="Symbol" panose="05050102010706020507" pitchFamily="18" charset="2"/>
              </a:rPr>
              <a:t>)</a:t>
            </a:r>
            <a:r>
              <a:rPr lang="en-US" altLang="en-US" sz="2000" baseline="30000" dirty="0">
                <a:solidFill>
                  <a:srgbClr val="7030A0"/>
                </a:solidFill>
                <a:sym typeface="Symbol" panose="05050102010706020507" pitchFamily="18" charset="2"/>
              </a:rPr>
              <a:t>+ </a:t>
            </a:r>
            <a:r>
              <a:rPr lang="en-US" altLang="en-US" sz="2000" dirty="0">
                <a:solidFill>
                  <a:srgbClr val="7030A0"/>
                </a:solidFill>
                <a:sym typeface="Symbol" panose="05050102010706020507" pitchFamily="18" charset="2"/>
              </a:rPr>
              <a:t> </a:t>
            </a:r>
            <a:r>
              <a:rPr lang="en-US" altLang="en-US" sz="2000" i="1" dirty="0">
                <a:solidFill>
                  <a:srgbClr val="7030A0"/>
                </a:solidFill>
                <a:sym typeface="Symbol" panose="05050102010706020507" pitchFamily="18" charset="2"/>
              </a:rPr>
              <a:t>R</a:t>
            </a:r>
            <a:r>
              <a:rPr lang="en-US" altLang="en-US" sz="2000" i="1" baseline="-25000" dirty="0">
                <a:solidFill>
                  <a:srgbClr val="7030A0"/>
                </a:solidFill>
                <a:sym typeface="Symbol" panose="05050102010706020507" pitchFamily="18" charset="2"/>
              </a:rPr>
              <a:t>i</a:t>
            </a:r>
            <a:br>
              <a:rPr lang="en-US" altLang="en-US" sz="2000" i="1" baseline="-25000" dirty="0">
                <a:solidFill>
                  <a:srgbClr val="7030A0"/>
                </a:solidFill>
                <a:sym typeface="Symbol" panose="05050102010706020507" pitchFamily="18" charset="2"/>
              </a:rPr>
            </a:br>
            <a:r>
              <a:rPr lang="en-US" altLang="en-US" sz="2000" i="1" baseline="-25000" dirty="0">
                <a:solidFill>
                  <a:srgbClr val="7030A0"/>
                </a:solidFill>
                <a:sym typeface="Symbol" panose="05050102010706020507" pitchFamily="18" charset="2"/>
              </a:rPr>
              <a:t>		</a:t>
            </a:r>
            <a:r>
              <a:rPr lang="en-US" altLang="en-US" sz="2000" i="1" dirty="0">
                <a:solidFill>
                  <a:srgbClr val="7030A0"/>
                </a:solidFill>
                <a:sym typeface="Symbol" panose="05050102010706020507" pitchFamily="18" charset="2"/>
              </a:rPr>
              <a:t>result  =  result  </a:t>
            </a:r>
            <a:r>
              <a:rPr lang="en-US" altLang="en-US" sz="2000" dirty="0">
                <a:solidFill>
                  <a:srgbClr val="7030A0"/>
                </a:solidFill>
                <a:sym typeface="Symbol" panose="05050102010706020507" pitchFamily="18" charset="2"/>
              </a:rPr>
              <a:t> </a:t>
            </a:r>
            <a:r>
              <a:rPr lang="en-US" altLang="en-US" sz="2000" i="1" dirty="0">
                <a:solidFill>
                  <a:srgbClr val="7030A0"/>
                </a:solidFill>
                <a:sym typeface="Symbol" panose="05050102010706020507" pitchFamily="18" charset="2"/>
              </a:rPr>
              <a:t>t</a:t>
            </a:r>
            <a:endParaRPr lang="en-US" altLang="en-US" sz="2000" i="1" dirty="0">
              <a:solidFill>
                <a:srgbClr val="7030A0"/>
              </a:solidFill>
              <a:sym typeface="Symbol" panose="05050102010706020507" pitchFamily="18" charset="2"/>
            </a:endParaRPr>
          </a:p>
          <a:p>
            <a:pPr marL="457200" lvl="1" indent="0">
              <a:buSzPct val="110000"/>
              <a:buNone/>
            </a:pPr>
            <a:r>
              <a:rPr lang="en-US" altLang="en-US" sz="2000" i="1" dirty="0">
                <a:solidFill>
                  <a:srgbClr val="7030A0"/>
                </a:solidFill>
                <a:sym typeface="Symbol" panose="05050102010706020507" pitchFamily="18" charset="2"/>
              </a:rPr>
              <a:t>          </a:t>
            </a:r>
            <a:r>
              <a:rPr lang="en-US" altLang="en-US" sz="2000" b="1" dirty="0">
                <a:solidFill>
                  <a:srgbClr val="7030A0"/>
                </a:solidFill>
                <a:sym typeface="Symbol" panose="05050102010706020507" pitchFamily="18" charset="2"/>
              </a:rPr>
              <a:t>until </a:t>
            </a:r>
            <a:r>
              <a:rPr lang="en-US" altLang="en-US" sz="2000" dirty="0">
                <a:solidFill>
                  <a:srgbClr val="7030A0"/>
                </a:solidFill>
                <a:sym typeface="Symbol" panose="05050102010706020507" pitchFamily="18" charset="2"/>
              </a:rPr>
              <a:t> (</a:t>
            </a:r>
            <a:r>
              <a:rPr lang="en-US" altLang="en-US" sz="2000" i="1" dirty="0">
                <a:solidFill>
                  <a:srgbClr val="7030A0"/>
                </a:solidFill>
                <a:sym typeface="Symbol" panose="05050102010706020507" pitchFamily="18" charset="2"/>
              </a:rPr>
              <a:t>result </a:t>
            </a:r>
            <a:r>
              <a:rPr lang="en-US" altLang="en-US" sz="2000" dirty="0">
                <a:solidFill>
                  <a:srgbClr val="7030A0"/>
                </a:solidFill>
                <a:sym typeface="Symbol" panose="05050102010706020507" pitchFamily="18" charset="2"/>
              </a:rPr>
              <a:t>does not change)</a:t>
            </a:r>
            <a:endParaRPr lang="en-US" altLang="en-US" sz="2000" i="1" dirty="0">
              <a:solidFill>
                <a:srgbClr val="7030A0"/>
              </a:solidFill>
              <a:sym typeface="Symbol" panose="05050102010706020507" pitchFamily="18" charset="2"/>
            </a:endParaRPr>
          </a:p>
          <a:p>
            <a:pPr lvl="1">
              <a:buSzPct val="110000"/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7030A0"/>
                </a:solidFill>
                <a:sym typeface="Symbol" panose="05050102010706020507" pitchFamily="18" charset="2"/>
              </a:rPr>
              <a:t>If </a:t>
            </a:r>
            <a:r>
              <a:rPr lang="en-US" altLang="en-US" sz="2000" i="1" dirty="0">
                <a:solidFill>
                  <a:srgbClr val="7030A0"/>
                </a:solidFill>
                <a:sym typeface="Symbol" panose="05050102010706020507" pitchFamily="18" charset="2"/>
              </a:rPr>
              <a:t>result</a:t>
            </a:r>
            <a:r>
              <a:rPr lang="en-US" altLang="en-US" sz="2000" dirty="0">
                <a:solidFill>
                  <a:srgbClr val="7030A0"/>
                </a:solidFill>
                <a:sym typeface="Symbol" panose="05050102010706020507" pitchFamily="18" charset="2"/>
              </a:rPr>
              <a:t> contains all attributes in , then the functional dependency     is preserved</a:t>
            </a:r>
            <a:r>
              <a:rPr lang="en-US" altLang="en-US" sz="2000" dirty="0">
                <a:sym typeface="Symbol" panose="05050102010706020507" pitchFamily="18" charset="2"/>
              </a:rPr>
              <a:t>.</a:t>
            </a:r>
            <a:endParaRPr lang="en-US" altLang="en-US" sz="2000" dirty="0">
              <a:sym typeface="Symbol" panose="05050102010706020507" pitchFamily="18" charset="2"/>
            </a:endParaRPr>
          </a:p>
          <a:p>
            <a:pPr>
              <a:buSzPct val="110000"/>
              <a:buFont typeface="Wingdings" panose="05000000000000000000" pitchFamily="2" charset="2"/>
              <a:buChar char="§"/>
            </a:pPr>
            <a:r>
              <a:rPr lang="en-US" altLang="en-US" sz="2000" dirty="0">
                <a:sym typeface="Symbol" panose="05050102010706020507" pitchFamily="18" charset="2"/>
              </a:rPr>
              <a:t>We apply the test on all dependencies in </a:t>
            </a:r>
            <a:r>
              <a:rPr lang="en-US" altLang="en-US" sz="2000" i="1" dirty="0">
                <a:sym typeface="Symbol" panose="05050102010706020507" pitchFamily="18" charset="2"/>
              </a:rPr>
              <a:t>F</a:t>
            </a:r>
            <a:r>
              <a:rPr lang="en-US" altLang="en-US" sz="2000" dirty="0">
                <a:sym typeface="Symbol" panose="05050102010706020507" pitchFamily="18" charset="2"/>
              </a:rPr>
              <a:t>  to check if a decomposition is dependency preserving</a:t>
            </a:r>
            <a:endParaRPr lang="en-US" altLang="en-US" sz="2000" dirty="0">
              <a:sym typeface="Symbol" panose="05050102010706020507" pitchFamily="18" charset="2"/>
            </a:endParaRPr>
          </a:p>
          <a:p>
            <a:pPr>
              <a:buSzPct val="110000"/>
              <a:buFont typeface="Wingdings" panose="05000000000000000000" pitchFamily="2" charset="2"/>
              <a:buChar char="§"/>
            </a:pPr>
            <a:r>
              <a:rPr lang="en-US" altLang="en-US" sz="2000" dirty="0">
                <a:sym typeface="Symbol" panose="05050102010706020507" pitchFamily="18" charset="2"/>
              </a:rPr>
              <a:t>This procedure takes polynomial time, instead of the exponential time required to compute </a:t>
            </a:r>
            <a:r>
              <a:rPr lang="en-US" altLang="en-US" sz="2000" i="1" dirty="0">
                <a:sym typeface="Symbol" panose="05050102010706020507" pitchFamily="18" charset="2"/>
              </a:rPr>
              <a:t>F</a:t>
            </a:r>
            <a:r>
              <a:rPr lang="en-US" altLang="en-US" sz="2000" i="1" baseline="30000" dirty="0">
                <a:sym typeface="Symbol" panose="05050102010706020507" pitchFamily="18" charset="2"/>
              </a:rPr>
              <a:t>+</a:t>
            </a:r>
            <a:r>
              <a:rPr lang="en-US" altLang="en-US" sz="2000" i="1" dirty="0">
                <a:sym typeface="Symbol" panose="05050102010706020507" pitchFamily="18" charset="2"/>
              </a:rPr>
              <a:t> </a:t>
            </a:r>
            <a:r>
              <a:rPr lang="en-US" altLang="en-US" sz="2000" dirty="0">
                <a:sym typeface="Symbol" panose="05050102010706020507" pitchFamily="18" charset="2"/>
              </a:rPr>
              <a:t>and</a:t>
            </a:r>
            <a:r>
              <a:rPr lang="en-US" altLang="en-US" sz="2000" i="1" dirty="0">
                <a:sym typeface="Symbol" panose="05050102010706020507" pitchFamily="18" charset="2"/>
              </a:rPr>
              <a:t> </a:t>
            </a:r>
            <a:r>
              <a:rPr lang="en-US" altLang="en-US" sz="2000" dirty="0"/>
              <a:t>(</a:t>
            </a:r>
            <a:r>
              <a:rPr lang="en-US" altLang="en-US" sz="2000" i="1" dirty="0"/>
              <a:t>F</a:t>
            </a:r>
            <a:r>
              <a:rPr lang="en-US" altLang="en-US" sz="2000" baseline="-25000" dirty="0"/>
              <a:t>1</a:t>
            </a:r>
            <a:r>
              <a:rPr lang="en-US" altLang="en-US" sz="2000" i="1" dirty="0"/>
              <a:t> </a:t>
            </a:r>
            <a:r>
              <a:rPr lang="en-US" altLang="en-US" sz="2000" dirty="0">
                <a:sym typeface="Symbol" panose="05050102010706020507" pitchFamily="18" charset="2"/>
              </a:rPr>
              <a:t></a:t>
            </a:r>
            <a:r>
              <a:rPr lang="en-US" altLang="en-US" sz="2000" i="1" dirty="0">
                <a:sym typeface="Symbol" panose="05050102010706020507" pitchFamily="18" charset="2"/>
              </a:rPr>
              <a:t> F</a:t>
            </a:r>
            <a:r>
              <a:rPr lang="en-US" altLang="en-US" sz="2000" baseline="-25000" dirty="0">
                <a:sym typeface="Symbol" panose="05050102010706020507" pitchFamily="18" charset="2"/>
              </a:rPr>
              <a:t>2</a:t>
            </a:r>
            <a:r>
              <a:rPr lang="en-US" altLang="en-US" sz="2000" dirty="0">
                <a:sym typeface="Symbol" panose="05050102010706020507" pitchFamily="18" charset="2"/>
              </a:rPr>
              <a:t> </a:t>
            </a:r>
            <a:r>
              <a:rPr lang="en-US" altLang="en-US" sz="2000" i="1" dirty="0">
                <a:sym typeface="Symbol" panose="05050102010706020507" pitchFamily="18" charset="2"/>
              </a:rPr>
              <a:t> … </a:t>
            </a:r>
            <a:r>
              <a:rPr lang="en-US" altLang="en-US" sz="2000" dirty="0">
                <a:sym typeface="Symbol" panose="05050102010706020507" pitchFamily="18" charset="2"/>
              </a:rPr>
              <a:t></a:t>
            </a:r>
            <a:r>
              <a:rPr lang="en-US" altLang="en-US" sz="2000" i="1" dirty="0">
                <a:sym typeface="Symbol" panose="05050102010706020507" pitchFamily="18" charset="2"/>
              </a:rPr>
              <a:t> </a:t>
            </a:r>
            <a:r>
              <a:rPr lang="en-US" altLang="en-US" sz="2000" i="1" dirty="0" err="1">
                <a:sym typeface="Symbol" panose="05050102010706020507" pitchFamily="18" charset="2"/>
              </a:rPr>
              <a:t>F</a:t>
            </a:r>
            <a:r>
              <a:rPr lang="en-US" altLang="en-US" sz="2000" baseline="-25000" dirty="0" err="1">
                <a:sym typeface="Symbol" panose="05050102010706020507" pitchFamily="18" charset="2"/>
              </a:rPr>
              <a:t>n</a:t>
            </a:r>
            <a:r>
              <a:rPr lang="en-US" altLang="en-US" sz="2000" dirty="0">
                <a:sym typeface="Symbol" panose="05050102010706020507" pitchFamily="18" charset="2"/>
              </a:rPr>
              <a:t>)</a:t>
            </a:r>
            <a:r>
              <a:rPr lang="en-US" altLang="en-US" sz="2000" baseline="30000" dirty="0">
                <a:sym typeface="Symbol" panose="05050102010706020507" pitchFamily="18" charset="2"/>
              </a:rPr>
              <a:t>+</a:t>
            </a:r>
            <a:r>
              <a:rPr lang="en-US" altLang="en-US" sz="2000" dirty="0">
                <a:sym typeface="Symbol" panose="05050102010706020507" pitchFamily="18" charset="2"/>
              </a:rPr>
              <a:t> </a:t>
            </a:r>
            <a:endParaRPr lang="en-US" altLang="en-US" sz="2000" dirty="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Example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  <a:ea typeface="MS PGothic" panose="020B0600070205080204" pitchFamily="34" charset="-128"/>
            </a:endParaRP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39575"/>
            <a:ext cx="7585537" cy="2951162"/>
          </a:xfrm>
        </p:spPr>
        <p:txBody>
          <a:bodyPr/>
          <a:lstStyle/>
          <a:p>
            <a:pPr>
              <a:tabLst>
                <a:tab pos="744220" algn="l"/>
              </a:tabLst>
            </a:pPr>
            <a:r>
              <a:rPr lang="en-US" altLang="en-US" sz="2400" i="1" dirty="0"/>
              <a:t>R = </a:t>
            </a:r>
            <a:r>
              <a:rPr lang="en-US" altLang="en-US" sz="2400" dirty="0"/>
              <a:t>(</a:t>
            </a:r>
            <a:r>
              <a:rPr lang="en-US" altLang="en-US" sz="2400" i="1" dirty="0"/>
              <a:t>A, B, C </a:t>
            </a:r>
            <a:r>
              <a:rPr lang="en-US" altLang="en-US" sz="2400" dirty="0"/>
              <a:t>)</a:t>
            </a:r>
            <a:br>
              <a:rPr lang="en-US" altLang="en-US" sz="2400" i="1" dirty="0"/>
            </a:br>
            <a:r>
              <a:rPr lang="en-US" altLang="en-US" sz="2400" i="1" dirty="0"/>
              <a:t>F = </a:t>
            </a:r>
            <a:r>
              <a:rPr lang="en-US" altLang="en-US" sz="2400" dirty="0"/>
              <a:t>{</a:t>
            </a:r>
            <a:r>
              <a:rPr lang="en-US" altLang="en-US" sz="2400" i="1" dirty="0"/>
              <a:t>A</a:t>
            </a:r>
            <a:r>
              <a:rPr lang="en-US" altLang="en-US" sz="2400" dirty="0"/>
              <a:t> </a:t>
            </a:r>
            <a:r>
              <a:rPr lang="en-US" altLang="en-US" sz="2400" dirty="0">
                <a:sym typeface="Symbol" panose="05050102010706020507" pitchFamily="18" charset="2"/>
              </a:rPr>
              <a:t></a:t>
            </a:r>
            <a:r>
              <a:rPr lang="en-US" altLang="en-US" sz="2400" dirty="0">
                <a:sym typeface="Monotype Sorts" pitchFamily="-65" charset="2"/>
              </a:rPr>
              <a:t> </a:t>
            </a:r>
            <a:r>
              <a:rPr lang="en-US" altLang="en-US" sz="2400" i="1" dirty="0">
                <a:sym typeface="Monotype Sorts" pitchFamily="-65" charset="2"/>
              </a:rPr>
              <a:t>B</a:t>
            </a:r>
            <a:br>
              <a:rPr lang="en-US" altLang="en-US" sz="2400" i="1" dirty="0">
                <a:sym typeface="Monotype Sorts" pitchFamily="-65" charset="2"/>
              </a:rPr>
            </a:br>
            <a:r>
              <a:rPr lang="en-US" altLang="en-US" sz="2400" i="1" dirty="0">
                <a:sym typeface="Monotype Sorts" pitchFamily="-65" charset="2"/>
              </a:rPr>
              <a:t>	 B </a:t>
            </a:r>
            <a:r>
              <a:rPr lang="en-US" altLang="en-US" sz="2400" dirty="0">
                <a:sym typeface="Symbol" panose="05050102010706020507" pitchFamily="18" charset="2"/>
              </a:rPr>
              <a:t></a:t>
            </a:r>
            <a:r>
              <a:rPr lang="en-US" altLang="en-US" sz="2400" i="1" dirty="0">
                <a:sym typeface="Monotype Sorts" pitchFamily="-65" charset="2"/>
              </a:rPr>
              <a:t> C</a:t>
            </a:r>
            <a:r>
              <a:rPr lang="en-US" altLang="en-US" sz="2400" dirty="0">
                <a:sym typeface="Monotype Sorts" pitchFamily="-65" charset="2"/>
              </a:rPr>
              <a:t>}</a:t>
            </a:r>
            <a:br>
              <a:rPr lang="en-US" altLang="en-US" sz="2400" dirty="0">
                <a:sym typeface="Monotype Sorts" pitchFamily="-65" charset="2"/>
              </a:rPr>
            </a:br>
            <a:r>
              <a:rPr lang="en-US" altLang="en-US" sz="2400" dirty="0">
                <a:sym typeface="Monotype Sorts" pitchFamily="-65" charset="2"/>
              </a:rPr>
              <a:t>Key = {</a:t>
            </a:r>
            <a:r>
              <a:rPr lang="en-US" altLang="en-US" sz="2400" i="1" dirty="0">
                <a:sym typeface="Monotype Sorts" pitchFamily="-65" charset="2"/>
              </a:rPr>
              <a:t>A</a:t>
            </a:r>
            <a:r>
              <a:rPr lang="en-US" altLang="en-US" sz="2400" dirty="0">
                <a:sym typeface="Monotype Sorts" pitchFamily="-65" charset="2"/>
              </a:rPr>
              <a:t>}</a:t>
            </a:r>
            <a:endParaRPr lang="en-US" altLang="en-US" sz="2400" dirty="0">
              <a:sym typeface="Monotype Sorts" pitchFamily="-65" charset="2"/>
            </a:endParaRPr>
          </a:p>
          <a:p>
            <a:pPr>
              <a:tabLst>
                <a:tab pos="744220" algn="l"/>
              </a:tabLst>
            </a:pPr>
            <a:r>
              <a:rPr lang="en-US" altLang="en-US" sz="2400" i="1" dirty="0">
                <a:sym typeface="Monotype Sorts" pitchFamily="-65" charset="2"/>
              </a:rPr>
              <a:t>R</a:t>
            </a:r>
            <a:r>
              <a:rPr lang="en-US" altLang="en-US" sz="2400" dirty="0">
                <a:sym typeface="Monotype Sorts" pitchFamily="-65" charset="2"/>
              </a:rPr>
              <a:t> is not in BCNF</a:t>
            </a:r>
            <a:endParaRPr lang="en-US" altLang="en-US" sz="2400" dirty="0">
              <a:sym typeface="Monotype Sorts" pitchFamily="-65" charset="2"/>
            </a:endParaRPr>
          </a:p>
          <a:p>
            <a:pPr>
              <a:tabLst>
                <a:tab pos="744220" algn="l"/>
              </a:tabLst>
            </a:pPr>
            <a:r>
              <a:rPr lang="en-US" altLang="en-US" sz="2400" dirty="0">
                <a:sym typeface="Monotype Sorts" pitchFamily="-65" charset="2"/>
              </a:rPr>
              <a:t>Decomposition </a:t>
            </a:r>
            <a:r>
              <a:rPr lang="en-US" altLang="en-US" sz="2400" i="1" dirty="0">
                <a:sym typeface="Monotype Sorts" pitchFamily="-65" charset="2"/>
              </a:rPr>
              <a:t>R</a:t>
            </a:r>
            <a:r>
              <a:rPr lang="en-US" altLang="en-US" sz="2400" baseline="-25000" dirty="0">
                <a:sym typeface="Monotype Sorts" pitchFamily="-65" charset="2"/>
              </a:rPr>
              <a:t>1</a:t>
            </a:r>
            <a:r>
              <a:rPr lang="en-US" altLang="en-US" sz="2400" dirty="0">
                <a:sym typeface="Monotype Sorts" pitchFamily="-65" charset="2"/>
              </a:rPr>
              <a:t> = (</a:t>
            </a:r>
            <a:r>
              <a:rPr lang="en-US" altLang="en-US" sz="2400" i="1" dirty="0">
                <a:sym typeface="Monotype Sorts" pitchFamily="-65" charset="2"/>
              </a:rPr>
              <a:t>A, B),  R</a:t>
            </a:r>
            <a:r>
              <a:rPr lang="en-US" altLang="en-US" sz="2400" baseline="-25000" dirty="0">
                <a:sym typeface="Monotype Sorts" pitchFamily="-65" charset="2"/>
              </a:rPr>
              <a:t>2</a:t>
            </a:r>
            <a:r>
              <a:rPr lang="en-US" altLang="en-US" sz="2400" dirty="0">
                <a:sym typeface="Monotype Sorts" pitchFamily="-65" charset="2"/>
              </a:rPr>
              <a:t> = </a:t>
            </a:r>
            <a:r>
              <a:rPr lang="en-US" altLang="en-US" sz="2400" i="1" dirty="0">
                <a:sym typeface="Monotype Sorts" pitchFamily="-65" charset="2"/>
              </a:rPr>
              <a:t>(B, C)</a:t>
            </a:r>
            <a:endParaRPr lang="en-US" altLang="en-US" sz="2400" i="1" dirty="0">
              <a:sym typeface="Monotype Sorts" pitchFamily="-65" charset="2"/>
            </a:endParaRPr>
          </a:p>
          <a:p>
            <a:pPr lvl="1">
              <a:tabLst>
                <a:tab pos="744220" algn="l"/>
              </a:tabLst>
            </a:pPr>
            <a:r>
              <a:rPr lang="en-US" altLang="en-US" sz="2400" i="1" dirty="0">
                <a:sym typeface="Monotype Sorts" pitchFamily="-65" charset="2"/>
              </a:rPr>
              <a:t>R</a:t>
            </a:r>
            <a:r>
              <a:rPr lang="en-US" altLang="en-US" sz="2400" baseline="-25000" dirty="0">
                <a:sym typeface="Monotype Sorts" pitchFamily="-65" charset="2"/>
              </a:rPr>
              <a:t>1</a:t>
            </a:r>
            <a:r>
              <a:rPr lang="en-US" altLang="en-US" sz="2400" i="1" baseline="-25000" dirty="0">
                <a:sym typeface="Monotype Sorts" pitchFamily="-65" charset="2"/>
              </a:rPr>
              <a:t> </a:t>
            </a:r>
            <a:r>
              <a:rPr lang="en-US" altLang="en-US" sz="2400" dirty="0">
                <a:sym typeface="Monotype Sorts" pitchFamily="-65" charset="2"/>
              </a:rPr>
              <a:t>and </a:t>
            </a:r>
            <a:r>
              <a:rPr lang="en-US" altLang="en-US" sz="2400" i="1" dirty="0">
                <a:sym typeface="Monotype Sorts" pitchFamily="-65" charset="2"/>
              </a:rPr>
              <a:t>R</a:t>
            </a:r>
            <a:r>
              <a:rPr lang="en-US" altLang="en-US" sz="2400" baseline="-25000" dirty="0">
                <a:sym typeface="Monotype Sorts" pitchFamily="-65" charset="2"/>
              </a:rPr>
              <a:t>2</a:t>
            </a:r>
            <a:r>
              <a:rPr lang="en-US" altLang="en-US" sz="2400" dirty="0">
                <a:sym typeface="Monotype Sorts" pitchFamily="-65" charset="2"/>
              </a:rPr>
              <a:t> in BCNF</a:t>
            </a:r>
            <a:endParaRPr lang="en-US" altLang="en-US" sz="2400" dirty="0">
              <a:sym typeface="Monotype Sorts" pitchFamily="-65" charset="2"/>
            </a:endParaRPr>
          </a:p>
          <a:p>
            <a:pPr lvl="1">
              <a:tabLst>
                <a:tab pos="744220" algn="l"/>
              </a:tabLst>
            </a:pPr>
            <a:r>
              <a:rPr lang="en-US" altLang="en-US" sz="2400" dirty="0">
                <a:solidFill>
                  <a:srgbClr val="FF0000"/>
                </a:solidFill>
                <a:sym typeface="Monotype Sorts" pitchFamily="-65" charset="2"/>
              </a:rPr>
              <a:t>Lossless-join decomposition</a:t>
            </a:r>
            <a:endParaRPr lang="en-US" altLang="en-US" sz="2400" dirty="0">
              <a:solidFill>
                <a:srgbClr val="FF0000"/>
              </a:solidFill>
              <a:sym typeface="Monotype Sorts" pitchFamily="-65" charset="2"/>
            </a:endParaRPr>
          </a:p>
          <a:p>
            <a:pPr lvl="1">
              <a:tabLst>
                <a:tab pos="744220" algn="l"/>
              </a:tabLst>
            </a:pPr>
            <a:r>
              <a:rPr lang="en-US" altLang="en-US" sz="2400" dirty="0">
                <a:solidFill>
                  <a:srgbClr val="FF0000"/>
                </a:solidFill>
                <a:sym typeface="Monotype Sorts" pitchFamily="-65" charset="2"/>
              </a:rPr>
              <a:t>Dependency preserving</a:t>
            </a:r>
            <a:endParaRPr lang="en-US" altLang="en-US" sz="2400" dirty="0">
              <a:solidFill>
                <a:srgbClr val="FF0000"/>
              </a:solidFill>
              <a:sym typeface="Monotype Sorts" pitchFamily="-65" charset="2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Lossless Decomposition</a:t>
            </a:r>
            <a:endParaRPr lang="en-US" altLang="en-US" sz="2800" dirty="0">
              <a:effectLst>
                <a:outerShdw blurRad="38100" dist="38100" dir="2700000" algn="tl">
                  <a:srgbClr val="C0C0C0"/>
                </a:outerShdw>
              </a:effectLst>
              <a:ea typeface="MS PGothic" panose="020B0600070205080204" pitchFamily="34" charset="-128"/>
            </a:endParaRP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58875"/>
            <a:ext cx="7603293" cy="4937125"/>
          </a:xfrm>
        </p:spPr>
        <p:txBody>
          <a:bodyPr/>
          <a:lstStyle/>
          <a:p>
            <a:pPr>
              <a:tabLst>
                <a:tab pos="2292350" algn="l"/>
                <a:tab pos="2976245" algn="l"/>
              </a:tabLst>
            </a:pPr>
            <a:r>
              <a:rPr lang="en-US" altLang="en-US" sz="2000" dirty="0"/>
              <a:t>We can use functional dependencies to show when certain decomposition are lossless.  </a:t>
            </a:r>
            <a:endParaRPr lang="en-US" altLang="en-US" sz="2000" dirty="0"/>
          </a:p>
          <a:p>
            <a:pPr>
              <a:tabLst>
                <a:tab pos="2292350" algn="l"/>
                <a:tab pos="2976245" algn="l"/>
              </a:tabLst>
            </a:pPr>
            <a:r>
              <a:rPr lang="en-US" altLang="en-US" sz="2000" dirty="0"/>
              <a:t>For the case of</a:t>
            </a:r>
            <a:r>
              <a:rPr lang="en-US" altLang="en-US" sz="2000" i="1" dirty="0"/>
              <a:t> R</a:t>
            </a:r>
            <a:r>
              <a:rPr lang="en-US" altLang="en-US" sz="2000" dirty="0"/>
              <a:t> = (</a:t>
            </a:r>
            <a:r>
              <a:rPr lang="en-US" altLang="en-US" sz="2000" i="1" dirty="0"/>
              <a:t>R</a:t>
            </a:r>
            <a:r>
              <a:rPr lang="en-US" altLang="en-US" sz="2000" baseline="-25000" dirty="0"/>
              <a:t>1</a:t>
            </a:r>
            <a:r>
              <a:rPr lang="en-US" altLang="en-US" sz="2000" i="1" dirty="0"/>
              <a:t>, R</a:t>
            </a:r>
            <a:r>
              <a:rPr lang="en-US" altLang="en-US" sz="2000" baseline="-25000" dirty="0"/>
              <a:t>2</a:t>
            </a:r>
            <a:r>
              <a:rPr lang="en-US" altLang="en-US" sz="2000" dirty="0"/>
              <a:t>)</a:t>
            </a:r>
            <a:r>
              <a:rPr lang="en-US" altLang="en-US" sz="2000" i="1" dirty="0"/>
              <a:t>,</a:t>
            </a:r>
            <a:r>
              <a:rPr lang="en-US" altLang="en-US" sz="2000" dirty="0"/>
              <a:t> we require that for all possible relations </a:t>
            </a:r>
            <a:r>
              <a:rPr lang="en-US" altLang="en-US" sz="2000" i="1" dirty="0"/>
              <a:t>r</a:t>
            </a:r>
            <a:r>
              <a:rPr lang="en-US" altLang="en-US" sz="2000" dirty="0"/>
              <a:t> on schema </a:t>
            </a:r>
            <a:r>
              <a:rPr lang="en-US" altLang="en-US" sz="2000" i="1" dirty="0"/>
              <a:t>R</a:t>
            </a:r>
            <a:endParaRPr lang="en-US" altLang="en-US" sz="2000" i="1" dirty="0"/>
          </a:p>
          <a:p>
            <a:pPr>
              <a:buFont typeface="Monotype Sorts" pitchFamily="-65" charset="2"/>
              <a:buNone/>
              <a:tabLst>
                <a:tab pos="2292350" algn="l"/>
                <a:tab pos="2976245" algn="l"/>
              </a:tabLst>
            </a:pPr>
            <a:r>
              <a:rPr lang="en-US" altLang="en-US" sz="2000" baseline="-25000" dirty="0"/>
              <a:t>		</a:t>
            </a:r>
            <a:r>
              <a:rPr lang="en-US" altLang="en-US" sz="2000" i="1" dirty="0"/>
              <a:t>r = </a:t>
            </a:r>
            <a:r>
              <a:rPr lang="en-US" altLang="en-US" sz="2000" dirty="0">
                <a:sym typeface="Symbol" panose="05050102010706020507" pitchFamily="18" charset="2"/>
              </a:rPr>
              <a:t></a:t>
            </a:r>
            <a:r>
              <a:rPr lang="en-US" altLang="en-US" sz="2000" i="1" baseline="-25000" dirty="0">
                <a:sym typeface="Symbol" panose="05050102010706020507" pitchFamily="18" charset="2"/>
              </a:rPr>
              <a:t>R1</a:t>
            </a:r>
            <a:r>
              <a:rPr lang="en-US" altLang="en-US" sz="2000" baseline="-25000" dirty="0">
                <a:sym typeface="Symbol" panose="05050102010706020507" pitchFamily="18" charset="2"/>
              </a:rPr>
              <a:t> </a:t>
            </a:r>
            <a:r>
              <a:rPr lang="en-US" altLang="en-US" sz="2000" dirty="0">
                <a:sym typeface="Symbol" panose="05050102010706020507" pitchFamily="18" charset="2"/>
              </a:rPr>
              <a:t>(</a:t>
            </a:r>
            <a:r>
              <a:rPr lang="en-US" altLang="en-US" sz="2000" i="1" dirty="0">
                <a:sym typeface="Symbol" panose="05050102010706020507" pitchFamily="18" charset="2"/>
              </a:rPr>
              <a:t>r </a:t>
            </a:r>
            <a:r>
              <a:rPr lang="en-US" altLang="en-US" sz="2000" dirty="0">
                <a:sym typeface="Symbol" panose="05050102010706020507" pitchFamily="18" charset="2"/>
              </a:rPr>
              <a:t>)    </a:t>
            </a:r>
            <a:r>
              <a:rPr lang="en-US" altLang="en-US" sz="2000" i="1" baseline="-25000" dirty="0">
                <a:sym typeface="Symbol" panose="05050102010706020507" pitchFamily="18" charset="2"/>
              </a:rPr>
              <a:t>R2</a:t>
            </a:r>
            <a:r>
              <a:rPr lang="en-US" altLang="en-US" sz="2000" baseline="-25000" dirty="0">
                <a:sym typeface="Symbol" panose="05050102010706020507" pitchFamily="18" charset="2"/>
              </a:rPr>
              <a:t> </a:t>
            </a:r>
            <a:r>
              <a:rPr lang="en-US" altLang="en-US" sz="2000" dirty="0">
                <a:sym typeface="Symbol" panose="05050102010706020507" pitchFamily="18" charset="2"/>
              </a:rPr>
              <a:t>(</a:t>
            </a:r>
            <a:r>
              <a:rPr lang="en-US" altLang="en-US" sz="2000" i="1" dirty="0">
                <a:sym typeface="Symbol" panose="05050102010706020507" pitchFamily="18" charset="2"/>
              </a:rPr>
              <a:t>r </a:t>
            </a:r>
            <a:r>
              <a:rPr lang="en-US" altLang="en-US" sz="2000" dirty="0">
                <a:sym typeface="Symbol" panose="05050102010706020507" pitchFamily="18" charset="2"/>
              </a:rPr>
              <a:t>) </a:t>
            </a:r>
            <a:endParaRPr lang="en-US" altLang="en-US" sz="2000" dirty="0">
              <a:sym typeface="Symbol" panose="05050102010706020507" pitchFamily="18" charset="2"/>
            </a:endParaRPr>
          </a:p>
          <a:p>
            <a:pPr>
              <a:tabLst>
                <a:tab pos="2292350" algn="l"/>
                <a:tab pos="2976245" algn="l"/>
              </a:tabLst>
            </a:pPr>
            <a:r>
              <a:rPr lang="en-US" altLang="en-US" sz="2000" dirty="0">
                <a:solidFill>
                  <a:srgbClr val="FF0000"/>
                </a:solidFill>
              </a:rPr>
              <a:t>A decomposition of </a:t>
            </a:r>
            <a:r>
              <a:rPr lang="en-US" altLang="en-US" sz="2000" i="1" dirty="0">
                <a:solidFill>
                  <a:srgbClr val="FF0000"/>
                </a:solidFill>
              </a:rPr>
              <a:t>R</a:t>
            </a:r>
            <a:r>
              <a:rPr lang="en-US" altLang="en-US" sz="2000" dirty="0">
                <a:solidFill>
                  <a:srgbClr val="FF0000"/>
                </a:solidFill>
              </a:rPr>
              <a:t> into </a:t>
            </a:r>
            <a:r>
              <a:rPr kumimoji="0" lang="en-US" altLang="en-US" sz="2000" i="1" dirty="0">
                <a:solidFill>
                  <a:srgbClr val="FF0000"/>
                </a:solidFill>
              </a:rPr>
              <a:t>R</a:t>
            </a:r>
            <a:r>
              <a:rPr kumimoji="0" lang="en-US" altLang="en-US" sz="2000" baseline="-25000" dirty="0">
                <a:solidFill>
                  <a:srgbClr val="FF0000"/>
                </a:solidFill>
              </a:rPr>
              <a:t>1</a:t>
            </a:r>
            <a:r>
              <a:rPr kumimoji="0" lang="en-US" altLang="en-US" sz="2000" dirty="0">
                <a:solidFill>
                  <a:srgbClr val="FF0000"/>
                </a:solidFill>
              </a:rPr>
              <a:t> and </a:t>
            </a:r>
            <a:r>
              <a:rPr kumimoji="0" lang="en-US" altLang="en-US" sz="2000" i="1" dirty="0">
                <a:solidFill>
                  <a:srgbClr val="FF0000"/>
                </a:solidFill>
              </a:rPr>
              <a:t>R</a:t>
            </a:r>
            <a:r>
              <a:rPr kumimoji="0" lang="en-US" altLang="en-US" sz="2000" baseline="-25000" dirty="0">
                <a:solidFill>
                  <a:srgbClr val="FF0000"/>
                </a:solidFill>
              </a:rPr>
              <a:t>2</a:t>
            </a:r>
            <a:r>
              <a:rPr kumimoji="0" lang="en-US" altLang="en-US" sz="2000" dirty="0">
                <a:solidFill>
                  <a:srgbClr val="FF0000"/>
                </a:solidFill>
              </a:rPr>
              <a:t> is lossless decomposition  if at</a:t>
            </a:r>
            <a:r>
              <a:rPr lang="en-US" altLang="en-US" sz="2000" dirty="0">
                <a:solidFill>
                  <a:srgbClr val="FF0000"/>
                </a:solidFill>
              </a:rPr>
              <a:t> least one of the following dependencies is in </a:t>
            </a:r>
            <a:r>
              <a:rPr lang="en-US" altLang="en-US" sz="2000" i="1" dirty="0">
                <a:solidFill>
                  <a:srgbClr val="FF0000"/>
                </a:solidFill>
              </a:rPr>
              <a:t>F</a:t>
            </a:r>
            <a:r>
              <a:rPr lang="en-US" altLang="en-US" sz="2000" baseline="30000" dirty="0">
                <a:solidFill>
                  <a:srgbClr val="FF0000"/>
                </a:solidFill>
              </a:rPr>
              <a:t>+</a:t>
            </a:r>
            <a:r>
              <a:rPr lang="en-US" altLang="en-US" sz="2000" dirty="0">
                <a:solidFill>
                  <a:srgbClr val="FF0000"/>
                </a:solidFill>
              </a:rPr>
              <a:t>:</a:t>
            </a:r>
            <a:endParaRPr lang="en-US" altLang="en-US" sz="2000" dirty="0">
              <a:solidFill>
                <a:srgbClr val="FF0000"/>
              </a:solidFill>
            </a:endParaRPr>
          </a:p>
          <a:p>
            <a:pPr lvl="1">
              <a:tabLst>
                <a:tab pos="2292350" algn="l"/>
                <a:tab pos="2976245" algn="l"/>
              </a:tabLst>
            </a:pPr>
            <a:r>
              <a:rPr lang="en-US" altLang="en-US" sz="2000" i="1" dirty="0">
                <a:solidFill>
                  <a:srgbClr val="FF0000"/>
                </a:solidFill>
              </a:rPr>
              <a:t>R</a:t>
            </a:r>
            <a:r>
              <a:rPr lang="en-US" altLang="en-US" sz="2000" baseline="-25000" dirty="0">
                <a:solidFill>
                  <a:srgbClr val="FF0000"/>
                </a:solidFill>
              </a:rPr>
              <a:t>1</a:t>
            </a:r>
            <a:r>
              <a:rPr lang="en-US" altLang="en-US" sz="2000" dirty="0">
                <a:solidFill>
                  <a:srgbClr val="FF0000"/>
                </a:solidFill>
              </a:rPr>
              <a:t> </a:t>
            </a:r>
            <a:r>
              <a:rPr lang="en-US" altLang="en-US" sz="2000" dirty="0">
                <a:solidFill>
                  <a:srgbClr val="FF0000"/>
                </a:solidFill>
                <a:sym typeface="Symbol" panose="05050102010706020507" pitchFamily="18" charset="2"/>
              </a:rPr>
              <a:t> </a:t>
            </a:r>
            <a:r>
              <a:rPr lang="en-US" altLang="en-US" sz="2000" i="1" dirty="0">
                <a:solidFill>
                  <a:srgbClr val="FF0000"/>
                </a:solidFill>
              </a:rPr>
              <a:t>R</a:t>
            </a:r>
            <a:r>
              <a:rPr lang="en-US" altLang="en-US" sz="2000" baseline="-25000" dirty="0">
                <a:solidFill>
                  <a:srgbClr val="FF0000"/>
                </a:solidFill>
              </a:rPr>
              <a:t>2</a:t>
            </a:r>
            <a:r>
              <a:rPr lang="en-US" altLang="en-US" sz="2000" dirty="0">
                <a:solidFill>
                  <a:srgbClr val="FF0000"/>
                </a:solidFill>
              </a:rPr>
              <a:t> </a:t>
            </a:r>
            <a:r>
              <a:rPr lang="en-US" altLang="en-US" sz="2000" dirty="0">
                <a:solidFill>
                  <a:srgbClr val="FF0000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2000" dirty="0">
                <a:solidFill>
                  <a:srgbClr val="FF0000"/>
                </a:solidFill>
                <a:sym typeface="Monotype Sorts" pitchFamily="-65" charset="2"/>
              </a:rPr>
              <a:t> </a:t>
            </a:r>
            <a:r>
              <a:rPr lang="en-US" altLang="en-US" sz="2000" i="1" dirty="0">
                <a:solidFill>
                  <a:srgbClr val="FF0000"/>
                </a:solidFill>
              </a:rPr>
              <a:t>R</a:t>
            </a:r>
            <a:r>
              <a:rPr lang="en-US" altLang="en-US" sz="2000" baseline="-25000" dirty="0">
                <a:solidFill>
                  <a:srgbClr val="FF0000"/>
                </a:solidFill>
              </a:rPr>
              <a:t>1</a:t>
            </a:r>
            <a:endParaRPr lang="en-US" altLang="en-US" sz="2000" baseline="-25000" dirty="0">
              <a:solidFill>
                <a:srgbClr val="FF0000"/>
              </a:solidFill>
            </a:endParaRPr>
          </a:p>
          <a:p>
            <a:pPr lvl="1">
              <a:tabLst>
                <a:tab pos="2292350" algn="l"/>
                <a:tab pos="2976245" algn="l"/>
              </a:tabLst>
            </a:pPr>
            <a:r>
              <a:rPr lang="en-US" altLang="en-US" sz="2000" i="1" dirty="0">
                <a:solidFill>
                  <a:srgbClr val="FF0000"/>
                </a:solidFill>
              </a:rPr>
              <a:t>R</a:t>
            </a:r>
            <a:r>
              <a:rPr lang="en-US" altLang="en-US" sz="2000" baseline="-25000" dirty="0">
                <a:solidFill>
                  <a:srgbClr val="FF0000"/>
                </a:solidFill>
              </a:rPr>
              <a:t>1</a:t>
            </a:r>
            <a:r>
              <a:rPr lang="en-US" altLang="en-US" sz="2000" dirty="0">
                <a:solidFill>
                  <a:srgbClr val="FF0000"/>
                </a:solidFill>
              </a:rPr>
              <a:t> </a:t>
            </a:r>
            <a:r>
              <a:rPr lang="en-US" altLang="en-US" sz="2000" dirty="0">
                <a:solidFill>
                  <a:srgbClr val="FF0000"/>
                </a:solidFill>
                <a:sym typeface="Symbol" panose="05050102010706020507" pitchFamily="18" charset="2"/>
              </a:rPr>
              <a:t> </a:t>
            </a:r>
            <a:r>
              <a:rPr lang="en-US" altLang="en-US" sz="2000" i="1" dirty="0">
                <a:solidFill>
                  <a:srgbClr val="FF0000"/>
                </a:solidFill>
              </a:rPr>
              <a:t>R</a:t>
            </a:r>
            <a:r>
              <a:rPr lang="en-US" altLang="en-US" sz="2000" baseline="-25000" dirty="0">
                <a:solidFill>
                  <a:srgbClr val="FF0000"/>
                </a:solidFill>
              </a:rPr>
              <a:t>2</a:t>
            </a:r>
            <a:r>
              <a:rPr lang="en-US" altLang="en-US" sz="2000" dirty="0">
                <a:solidFill>
                  <a:srgbClr val="FF0000"/>
                </a:solidFill>
              </a:rPr>
              <a:t> </a:t>
            </a:r>
            <a:r>
              <a:rPr lang="en-US" altLang="en-US" sz="2000" dirty="0">
                <a:solidFill>
                  <a:srgbClr val="FF0000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2000" dirty="0">
                <a:solidFill>
                  <a:srgbClr val="FF0000"/>
                </a:solidFill>
                <a:sym typeface="Monotype Sorts" pitchFamily="-65" charset="2"/>
              </a:rPr>
              <a:t> </a:t>
            </a:r>
            <a:r>
              <a:rPr lang="en-US" altLang="en-US" sz="2000" i="1" dirty="0">
                <a:solidFill>
                  <a:srgbClr val="FF0000"/>
                </a:solidFill>
              </a:rPr>
              <a:t>R</a:t>
            </a:r>
            <a:r>
              <a:rPr lang="en-US" altLang="en-US" sz="2000" baseline="-25000" dirty="0">
                <a:solidFill>
                  <a:srgbClr val="FF0000"/>
                </a:solidFill>
              </a:rPr>
              <a:t>2</a:t>
            </a:r>
            <a:endParaRPr lang="en-US" altLang="en-US" sz="2000" dirty="0">
              <a:solidFill>
                <a:srgbClr val="FF0000"/>
              </a:solidFill>
            </a:endParaRPr>
          </a:p>
          <a:p>
            <a:pPr>
              <a:tabLst>
                <a:tab pos="2292350" algn="l"/>
                <a:tab pos="2976245" algn="l"/>
              </a:tabLst>
            </a:pPr>
            <a:r>
              <a:rPr lang="en-US" altLang="en-US" sz="2000" dirty="0">
                <a:sym typeface="Symbol" panose="05050102010706020507" pitchFamily="18" charset="2"/>
              </a:rPr>
              <a:t>The above functional dependencies are a sufficient condition for lossless join decomposition; the dependencies are a necessary condition only if all constraints are functional dependencies</a:t>
            </a:r>
            <a:endParaRPr lang="en-US" altLang="en-US" sz="2000" dirty="0">
              <a:sym typeface="Symbol" panose="05050102010706020507" pitchFamily="18" charset="2"/>
            </a:endParaRPr>
          </a:p>
        </p:txBody>
      </p:sp>
      <p:sp>
        <p:nvSpPr>
          <p:cNvPr id="22532" name="Freeform 4"/>
          <p:cNvSpPr/>
          <p:nvPr/>
        </p:nvSpPr>
        <p:spPr bwMode="auto">
          <a:xfrm>
            <a:off x="4387364" y="2703444"/>
            <a:ext cx="164757" cy="175321"/>
          </a:xfrm>
          <a:custGeom>
            <a:avLst/>
            <a:gdLst>
              <a:gd name="T0" fmla="*/ 0 w 182"/>
              <a:gd name="T1" fmla="*/ 0 h 182"/>
              <a:gd name="T2" fmla="*/ 0 w 182"/>
              <a:gd name="T3" fmla="*/ 2147483647 h 182"/>
              <a:gd name="T4" fmla="*/ 2147483647 w 182"/>
              <a:gd name="T5" fmla="*/ 0 h 182"/>
              <a:gd name="T6" fmla="*/ 2147483647 w 182"/>
              <a:gd name="T7" fmla="*/ 2147483647 h 182"/>
              <a:gd name="T8" fmla="*/ 0 w 182"/>
              <a:gd name="T9" fmla="*/ 0 h 18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82"/>
              <a:gd name="T16" fmla="*/ 0 h 182"/>
              <a:gd name="T17" fmla="*/ 182 w 182"/>
              <a:gd name="T18" fmla="*/ 182 h 18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82" h="182">
                <a:moveTo>
                  <a:pt x="0" y="0"/>
                </a:moveTo>
                <a:lnTo>
                  <a:pt x="0" y="182"/>
                </a:lnTo>
                <a:lnTo>
                  <a:pt x="182" y="0"/>
                </a:lnTo>
                <a:lnTo>
                  <a:pt x="182" y="182"/>
                </a:lnTo>
                <a:lnTo>
                  <a:pt x="0" y="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>
                <a:ea typeface="MS PGothic" panose="020B0600070205080204" pitchFamily="34" charset="-128"/>
              </a:rPr>
              <a:t>Example</a:t>
            </a:r>
            <a:endParaRPr lang="en-US" sz="2800" dirty="0">
              <a:ea typeface="MS PGothic" panose="020B0600070205080204" pitchFamily="34" charset="-128"/>
            </a:endParaRPr>
          </a:p>
        </p:txBody>
      </p:sp>
      <p:sp>
        <p:nvSpPr>
          <p:cNvPr id="926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55256"/>
            <a:ext cx="6910896" cy="4522787"/>
          </a:xfrm>
        </p:spPr>
        <p:txBody>
          <a:bodyPr/>
          <a:lstStyle/>
          <a:p>
            <a:pPr>
              <a:tabLst>
                <a:tab pos="2054225" algn="l"/>
              </a:tabLst>
            </a:pPr>
            <a:r>
              <a:rPr lang="en-US" altLang="en-US" sz="2000" i="1" dirty="0"/>
              <a:t>R = (A, B, C)</a:t>
            </a:r>
            <a:br>
              <a:rPr lang="en-US" altLang="en-US" sz="2000" i="1" dirty="0"/>
            </a:br>
            <a:r>
              <a:rPr lang="en-US" altLang="en-US" sz="2000" i="1" dirty="0"/>
              <a:t>F = {A </a:t>
            </a:r>
            <a:r>
              <a:rPr lang="en-US" altLang="en-US" sz="2000" dirty="0">
                <a:sym typeface="Symbol" panose="05050102010706020507" pitchFamily="18" charset="2"/>
              </a:rPr>
              <a:t></a:t>
            </a:r>
            <a:r>
              <a:rPr lang="en-US" altLang="en-US" sz="2000" dirty="0">
                <a:sym typeface="Monotype Sorts" pitchFamily="-65" charset="2"/>
              </a:rPr>
              <a:t> </a:t>
            </a:r>
            <a:r>
              <a:rPr lang="en-US" altLang="en-US" sz="2000" i="1" dirty="0">
                <a:sym typeface="Monotype Sorts" pitchFamily="-65" charset="2"/>
              </a:rPr>
              <a:t>B, B </a:t>
            </a:r>
            <a:r>
              <a:rPr lang="en-US" altLang="en-US" sz="2000" dirty="0">
                <a:sym typeface="Symbol" panose="05050102010706020507" pitchFamily="18" charset="2"/>
              </a:rPr>
              <a:t></a:t>
            </a:r>
            <a:r>
              <a:rPr lang="en-US" altLang="en-US" sz="2000" dirty="0">
                <a:sym typeface="Monotype Sorts" pitchFamily="-65" charset="2"/>
              </a:rPr>
              <a:t> </a:t>
            </a:r>
            <a:r>
              <a:rPr lang="en-US" altLang="en-US" sz="2000" i="1" dirty="0">
                <a:sym typeface="Monotype Sorts" pitchFamily="-65" charset="2"/>
              </a:rPr>
              <a:t>C)</a:t>
            </a:r>
            <a:endParaRPr lang="en-US" altLang="en-US" sz="2000" i="1" dirty="0">
              <a:sym typeface="Monotype Sorts" pitchFamily="-65" charset="2"/>
            </a:endParaRPr>
          </a:p>
          <a:p>
            <a:pPr>
              <a:tabLst>
                <a:tab pos="2054225" algn="l"/>
              </a:tabLst>
            </a:pPr>
            <a:r>
              <a:rPr lang="en-US" altLang="en-US" sz="2000" i="1" dirty="0">
                <a:sym typeface="Monotype Sorts" pitchFamily="-65" charset="2"/>
              </a:rPr>
              <a:t>R</a:t>
            </a:r>
            <a:r>
              <a:rPr lang="en-US" altLang="en-US" sz="2000" baseline="-25000" dirty="0">
                <a:sym typeface="Monotype Sorts" pitchFamily="-65" charset="2"/>
              </a:rPr>
              <a:t>1</a:t>
            </a:r>
            <a:r>
              <a:rPr lang="en-US" altLang="en-US" sz="2000" i="1" dirty="0">
                <a:sym typeface="Monotype Sorts" pitchFamily="-65" charset="2"/>
              </a:rPr>
              <a:t> = (A, B),   R</a:t>
            </a:r>
            <a:r>
              <a:rPr lang="en-US" altLang="en-US" sz="2000" baseline="-25000" dirty="0">
                <a:sym typeface="Monotype Sorts" pitchFamily="-65" charset="2"/>
              </a:rPr>
              <a:t>2</a:t>
            </a:r>
            <a:r>
              <a:rPr lang="en-US" altLang="en-US" sz="2000" i="1" dirty="0">
                <a:sym typeface="Monotype Sorts" pitchFamily="-65" charset="2"/>
              </a:rPr>
              <a:t> = (B, C)</a:t>
            </a:r>
            <a:endParaRPr lang="en-US" altLang="en-US" sz="2000" i="1" dirty="0">
              <a:sym typeface="Monotype Sorts" pitchFamily="-65" charset="2"/>
            </a:endParaRPr>
          </a:p>
          <a:p>
            <a:pPr lvl="1">
              <a:tabLst>
                <a:tab pos="2054225" algn="l"/>
              </a:tabLst>
            </a:pPr>
            <a:r>
              <a:rPr lang="en-US" altLang="en-US" sz="2000" dirty="0">
                <a:sym typeface="Monotype Sorts" pitchFamily="-65" charset="2"/>
              </a:rPr>
              <a:t>Lossless decomposition:</a:t>
            </a:r>
            <a:endParaRPr lang="en-US" altLang="en-US" sz="2000" dirty="0">
              <a:sym typeface="Monotype Sorts" pitchFamily="-65" charset="2"/>
            </a:endParaRPr>
          </a:p>
          <a:p>
            <a:pPr lvl="1">
              <a:buFont typeface="Monotype Sorts" pitchFamily="-65" charset="2"/>
              <a:buNone/>
              <a:tabLst>
                <a:tab pos="2054225" algn="l"/>
              </a:tabLst>
            </a:pPr>
            <a:r>
              <a:rPr lang="en-US" altLang="en-US" sz="2000" dirty="0">
                <a:sym typeface="Monotype Sorts" pitchFamily="-65" charset="2"/>
              </a:rPr>
              <a:t>	        </a:t>
            </a:r>
            <a:r>
              <a:rPr lang="en-US" altLang="en-US" sz="2000" i="1" dirty="0">
                <a:sym typeface="Monotype Sorts" pitchFamily="-65" charset="2"/>
              </a:rPr>
              <a:t>R</a:t>
            </a:r>
            <a:r>
              <a:rPr lang="en-US" altLang="en-US" sz="2000" baseline="-25000" dirty="0">
                <a:sym typeface="Monotype Sorts" pitchFamily="-65" charset="2"/>
              </a:rPr>
              <a:t>1  </a:t>
            </a:r>
            <a:r>
              <a:rPr lang="en-US" altLang="en-US" sz="2000" dirty="0">
                <a:sym typeface="Symbol" panose="05050102010706020507" pitchFamily="18" charset="2"/>
              </a:rPr>
              <a:t> </a:t>
            </a:r>
            <a:r>
              <a:rPr lang="en-US" altLang="en-US" sz="2000" i="1" dirty="0">
                <a:sym typeface="Monotype Sorts" pitchFamily="-65" charset="2"/>
              </a:rPr>
              <a:t>R</a:t>
            </a:r>
            <a:r>
              <a:rPr lang="en-US" altLang="en-US" sz="2000" baseline="-25000" dirty="0">
                <a:sym typeface="Monotype Sorts" pitchFamily="-65" charset="2"/>
              </a:rPr>
              <a:t>2</a:t>
            </a:r>
            <a:r>
              <a:rPr lang="en-US" altLang="en-US" sz="2000" i="1" dirty="0">
                <a:sym typeface="Monotype Sorts" pitchFamily="-65" charset="2"/>
              </a:rPr>
              <a:t> = </a:t>
            </a:r>
            <a:r>
              <a:rPr lang="en-US" altLang="en-US" sz="2000" dirty="0">
                <a:sym typeface="Monotype Sorts" pitchFamily="-65" charset="2"/>
              </a:rPr>
              <a:t>{</a:t>
            </a:r>
            <a:r>
              <a:rPr lang="en-US" altLang="en-US" sz="2000" i="1" dirty="0">
                <a:sym typeface="Monotype Sorts" pitchFamily="-65" charset="2"/>
              </a:rPr>
              <a:t>B</a:t>
            </a:r>
            <a:r>
              <a:rPr lang="en-US" altLang="en-US" sz="2000" dirty="0">
                <a:sym typeface="Monotype Sorts" pitchFamily="-65" charset="2"/>
              </a:rPr>
              <a:t>}</a:t>
            </a:r>
            <a:r>
              <a:rPr lang="en-US" altLang="en-US" sz="2000" i="1" dirty="0">
                <a:sym typeface="Monotype Sorts" pitchFamily="-65" charset="2"/>
              </a:rPr>
              <a:t>  </a:t>
            </a:r>
            <a:r>
              <a:rPr lang="en-US" altLang="en-US" sz="2000" dirty="0">
                <a:sym typeface="Monotype Sorts" pitchFamily="-65" charset="2"/>
              </a:rPr>
              <a:t>and </a:t>
            </a:r>
            <a:r>
              <a:rPr lang="en-US" altLang="en-US" sz="2000" i="1" dirty="0">
                <a:sym typeface="Monotype Sorts" pitchFamily="-65" charset="2"/>
              </a:rPr>
              <a:t>B </a:t>
            </a:r>
            <a:r>
              <a:rPr lang="en-US" altLang="en-US" sz="2000" dirty="0">
                <a:sym typeface="Symbol" panose="05050102010706020507" pitchFamily="18" charset="2"/>
              </a:rPr>
              <a:t></a:t>
            </a:r>
            <a:r>
              <a:rPr lang="en-US" altLang="en-US" sz="2000" dirty="0">
                <a:sym typeface="Monotype Sorts" pitchFamily="-65" charset="2"/>
              </a:rPr>
              <a:t> </a:t>
            </a:r>
            <a:r>
              <a:rPr lang="en-US" altLang="en-US" sz="2000" i="1" dirty="0">
                <a:sym typeface="Monotype Sorts" pitchFamily="-65" charset="2"/>
              </a:rPr>
              <a:t>BC</a:t>
            </a:r>
            <a:endParaRPr lang="en-US" altLang="en-US" sz="2000" i="1" dirty="0">
              <a:sym typeface="Monotype Sorts" pitchFamily="-65" charset="2"/>
            </a:endParaRPr>
          </a:p>
          <a:p>
            <a:pPr>
              <a:tabLst>
                <a:tab pos="2054225" algn="l"/>
              </a:tabLst>
            </a:pPr>
            <a:r>
              <a:rPr lang="en-US" altLang="en-US" sz="2000" i="1" dirty="0">
                <a:sym typeface="Monotype Sorts" pitchFamily="-65" charset="2"/>
              </a:rPr>
              <a:t>R</a:t>
            </a:r>
            <a:r>
              <a:rPr lang="en-US" altLang="en-US" sz="2000" i="1" baseline="-25000" dirty="0">
                <a:sym typeface="Monotype Sorts" pitchFamily="-65" charset="2"/>
              </a:rPr>
              <a:t>1 </a:t>
            </a:r>
            <a:r>
              <a:rPr lang="en-US" altLang="en-US" sz="2000" i="1" dirty="0">
                <a:sym typeface="Monotype Sorts" pitchFamily="-65" charset="2"/>
              </a:rPr>
              <a:t>= (A, B),   R</a:t>
            </a:r>
            <a:r>
              <a:rPr lang="en-US" altLang="en-US" sz="2000" baseline="-25000" dirty="0">
                <a:sym typeface="Monotype Sorts" pitchFamily="-65" charset="2"/>
              </a:rPr>
              <a:t>2</a:t>
            </a:r>
            <a:r>
              <a:rPr lang="en-US" altLang="en-US" sz="2000" i="1" dirty="0">
                <a:sym typeface="Monotype Sorts" pitchFamily="-65" charset="2"/>
              </a:rPr>
              <a:t> = (A, C)</a:t>
            </a:r>
            <a:endParaRPr lang="en-US" altLang="en-US" sz="2000" i="1" dirty="0">
              <a:sym typeface="Monotype Sorts" pitchFamily="-65" charset="2"/>
            </a:endParaRPr>
          </a:p>
          <a:p>
            <a:pPr lvl="1">
              <a:tabLst>
                <a:tab pos="2054225" algn="l"/>
              </a:tabLst>
            </a:pPr>
            <a:r>
              <a:rPr lang="en-US" altLang="en-US" sz="2000" dirty="0">
                <a:sym typeface="Monotype Sorts" pitchFamily="-65" charset="2"/>
              </a:rPr>
              <a:t>Lossless decomposition:</a:t>
            </a:r>
            <a:endParaRPr lang="en-US" altLang="en-US" sz="2000" dirty="0">
              <a:sym typeface="Monotype Sorts" pitchFamily="-65" charset="2"/>
            </a:endParaRPr>
          </a:p>
          <a:p>
            <a:pPr lvl="1">
              <a:buFont typeface="Monotype Sorts" pitchFamily="-65" charset="2"/>
              <a:buNone/>
              <a:tabLst>
                <a:tab pos="2054225" algn="l"/>
              </a:tabLst>
            </a:pPr>
            <a:r>
              <a:rPr lang="en-US" altLang="en-US" sz="2000" dirty="0">
                <a:sym typeface="Monotype Sorts" pitchFamily="-65" charset="2"/>
              </a:rPr>
              <a:t>             </a:t>
            </a:r>
            <a:r>
              <a:rPr lang="en-US" altLang="en-US" sz="2000" i="1" dirty="0">
                <a:sym typeface="Monotype Sorts" pitchFamily="-65" charset="2"/>
              </a:rPr>
              <a:t>R</a:t>
            </a:r>
            <a:r>
              <a:rPr lang="en-US" altLang="en-US" sz="2000" baseline="-25000" dirty="0">
                <a:sym typeface="Monotype Sorts" pitchFamily="-65" charset="2"/>
              </a:rPr>
              <a:t>1  </a:t>
            </a:r>
            <a:r>
              <a:rPr lang="en-US" altLang="en-US" sz="2000" dirty="0">
                <a:sym typeface="Symbol" panose="05050102010706020507" pitchFamily="18" charset="2"/>
              </a:rPr>
              <a:t> </a:t>
            </a:r>
            <a:r>
              <a:rPr lang="en-US" altLang="en-US" sz="2000" i="1" dirty="0">
                <a:sym typeface="Monotype Sorts" pitchFamily="-65" charset="2"/>
              </a:rPr>
              <a:t>R</a:t>
            </a:r>
            <a:r>
              <a:rPr lang="en-US" altLang="en-US" sz="2000" baseline="-25000" dirty="0">
                <a:sym typeface="Monotype Sorts" pitchFamily="-65" charset="2"/>
              </a:rPr>
              <a:t>2</a:t>
            </a:r>
            <a:r>
              <a:rPr lang="en-US" altLang="en-US" sz="2000" i="1" dirty="0">
                <a:sym typeface="Monotype Sorts" pitchFamily="-65" charset="2"/>
              </a:rPr>
              <a:t> =</a:t>
            </a:r>
            <a:r>
              <a:rPr lang="en-US" altLang="en-US" sz="2000" dirty="0">
                <a:sym typeface="Monotype Sorts" pitchFamily="-65" charset="2"/>
              </a:rPr>
              <a:t> {</a:t>
            </a:r>
            <a:r>
              <a:rPr lang="en-US" altLang="en-US" sz="2000" i="1" dirty="0">
                <a:sym typeface="Monotype Sorts" pitchFamily="-65" charset="2"/>
              </a:rPr>
              <a:t>A</a:t>
            </a:r>
            <a:r>
              <a:rPr lang="en-US" altLang="en-US" sz="2000" dirty="0">
                <a:sym typeface="Monotype Sorts" pitchFamily="-65" charset="2"/>
              </a:rPr>
              <a:t>}</a:t>
            </a:r>
            <a:r>
              <a:rPr lang="en-US" altLang="en-US" sz="2000" i="1" dirty="0">
                <a:sym typeface="Monotype Sorts" pitchFamily="-65" charset="2"/>
              </a:rPr>
              <a:t>  </a:t>
            </a:r>
            <a:r>
              <a:rPr lang="en-US" altLang="en-US" sz="2000" dirty="0">
                <a:sym typeface="Monotype Sorts" pitchFamily="-65" charset="2"/>
              </a:rPr>
              <a:t>and </a:t>
            </a:r>
            <a:r>
              <a:rPr lang="en-US" altLang="en-US" sz="2000" i="1" dirty="0">
                <a:sym typeface="Monotype Sorts" pitchFamily="-65" charset="2"/>
              </a:rPr>
              <a:t>A </a:t>
            </a:r>
            <a:r>
              <a:rPr lang="en-US" altLang="en-US" sz="2000" dirty="0">
                <a:sym typeface="Symbol" panose="05050102010706020507" pitchFamily="18" charset="2"/>
              </a:rPr>
              <a:t></a:t>
            </a:r>
            <a:r>
              <a:rPr lang="en-US" altLang="en-US" sz="2000" dirty="0">
                <a:sym typeface="Monotype Sorts" pitchFamily="-65" charset="2"/>
              </a:rPr>
              <a:t> A</a:t>
            </a:r>
            <a:r>
              <a:rPr lang="en-US" altLang="en-US" sz="2000" i="1" dirty="0">
                <a:sym typeface="Monotype Sorts" pitchFamily="-65" charset="2"/>
              </a:rPr>
              <a:t>B</a:t>
            </a:r>
            <a:endParaRPr lang="en-US" altLang="en-US" sz="2000" i="1" dirty="0">
              <a:sym typeface="Monotype Sorts" pitchFamily="-65" charset="2"/>
            </a:endParaRPr>
          </a:p>
          <a:p>
            <a:pPr>
              <a:tabLst>
                <a:tab pos="2054225" algn="l"/>
              </a:tabLst>
            </a:pPr>
            <a:r>
              <a:rPr lang="en-US" altLang="en-US" sz="2000" i="1" dirty="0">
                <a:sym typeface="Monotype Sorts" pitchFamily="-65" charset="2"/>
              </a:rPr>
              <a:t>Note:</a:t>
            </a:r>
            <a:endParaRPr lang="en-US" altLang="en-US" sz="2000" i="1" dirty="0">
              <a:sym typeface="Monotype Sorts" pitchFamily="-65" charset="2"/>
            </a:endParaRPr>
          </a:p>
          <a:p>
            <a:pPr lvl="1">
              <a:tabLst>
                <a:tab pos="2054225" algn="l"/>
              </a:tabLst>
            </a:pPr>
            <a:r>
              <a:rPr lang="en-US" altLang="en-US" sz="2000" i="1" dirty="0">
                <a:sym typeface="Monotype Sorts" pitchFamily="-65" charset="2"/>
              </a:rPr>
              <a:t> B </a:t>
            </a:r>
            <a:r>
              <a:rPr lang="en-US" altLang="en-US" sz="2000" dirty="0">
                <a:sym typeface="Symbol" panose="05050102010706020507" pitchFamily="18" charset="2"/>
              </a:rPr>
              <a:t></a:t>
            </a:r>
            <a:r>
              <a:rPr lang="en-US" altLang="en-US" sz="2000" dirty="0">
                <a:sym typeface="Monotype Sorts" pitchFamily="-65" charset="2"/>
              </a:rPr>
              <a:t> </a:t>
            </a:r>
            <a:r>
              <a:rPr lang="en-US" altLang="en-US" sz="2000" i="1" dirty="0">
                <a:sym typeface="Monotype Sorts" pitchFamily="-65" charset="2"/>
              </a:rPr>
              <a:t>BC </a:t>
            </a:r>
            <a:endParaRPr lang="en-US" altLang="en-US" sz="2000" i="1" dirty="0">
              <a:sym typeface="Monotype Sorts" pitchFamily="-65" charset="2"/>
            </a:endParaRPr>
          </a:p>
          <a:p>
            <a:pPr lvl="1">
              <a:buFont typeface="Monotype Sorts" pitchFamily="-65" charset="2"/>
              <a:buNone/>
              <a:tabLst>
                <a:tab pos="2054225" algn="l"/>
              </a:tabLst>
            </a:pPr>
            <a:r>
              <a:rPr lang="en-US" altLang="en-US" sz="2000" i="1" dirty="0">
                <a:sym typeface="Monotype Sorts" pitchFamily="-65" charset="2"/>
              </a:rPr>
              <a:t>         </a:t>
            </a:r>
            <a:r>
              <a:rPr lang="en-US" altLang="en-US" sz="2000" dirty="0">
                <a:sym typeface="Monotype Sorts" pitchFamily="-65" charset="2"/>
              </a:rPr>
              <a:t>is a shorthand notation for </a:t>
            </a:r>
            <a:endParaRPr lang="en-US" altLang="en-US" sz="2000" dirty="0">
              <a:sym typeface="Monotype Sorts" pitchFamily="-65" charset="2"/>
            </a:endParaRPr>
          </a:p>
          <a:p>
            <a:pPr lvl="1">
              <a:tabLst>
                <a:tab pos="2054225" algn="l"/>
              </a:tabLst>
            </a:pPr>
            <a:r>
              <a:rPr lang="en-US" altLang="en-US" sz="2000" i="1" dirty="0">
                <a:sym typeface="Monotype Sorts" pitchFamily="-65" charset="2"/>
              </a:rPr>
              <a:t> B </a:t>
            </a:r>
            <a:r>
              <a:rPr lang="en-US" altLang="en-US" sz="2000" dirty="0">
                <a:sym typeface="Symbol" panose="05050102010706020507" pitchFamily="18" charset="2"/>
              </a:rPr>
              <a:t></a:t>
            </a:r>
            <a:r>
              <a:rPr lang="en-US" altLang="en-US" sz="2000" dirty="0">
                <a:sym typeface="Monotype Sorts" pitchFamily="-65" charset="2"/>
              </a:rPr>
              <a:t> {</a:t>
            </a:r>
            <a:r>
              <a:rPr lang="en-US" altLang="en-US" sz="2000" i="1" dirty="0">
                <a:sym typeface="Monotype Sorts" pitchFamily="-65" charset="2"/>
              </a:rPr>
              <a:t>B, C</a:t>
            </a:r>
            <a:r>
              <a:rPr lang="en-US" altLang="en-US" sz="2000" dirty="0">
                <a:sym typeface="Monotype Sorts" pitchFamily="-65" charset="2"/>
              </a:rPr>
              <a:t>}</a:t>
            </a:r>
            <a:endParaRPr lang="en-US" altLang="en-US" sz="2000" i="1" dirty="0">
              <a:sym typeface="Monotype Sorts" pitchFamily="-65" charset="2"/>
            </a:endParaRPr>
          </a:p>
          <a:p>
            <a:pPr lvl="1">
              <a:tabLst>
                <a:tab pos="2054225" algn="l"/>
              </a:tabLst>
            </a:pPr>
            <a:endParaRPr lang="en-US" altLang="en-US" sz="2000" i="1" dirty="0">
              <a:sym typeface="Monotype Sorts" pitchFamily="-65" charset="2"/>
            </a:endParaRPr>
          </a:p>
          <a:p>
            <a:pPr lvl="1">
              <a:tabLst>
                <a:tab pos="2054225" algn="l"/>
              </a:tabLst>
            </a:pPr>
            <a:endParaRPr lang="en-US" altLang="en-US" sz="2000" i="1" dirty="0">
              <a:sym typeface="Monotype Sorts" pitchFamily="-65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6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6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6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6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67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67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67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67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67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67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6723" grpId="0" autoUpdateAnimBg="0" build="p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MS PGothic" panose="020B0600070205080204" pitchFamily="34" charset="-128"/>
              </a:rPr>
              <a:t>Example</a:t>
            </a:r>
            <a:endParaRPr lang="zh-CN" altLang="en-US" dirty="0" smtClean="0"/>
          </a:p>
        </p:txBody>
      </p:sp>
      <p:sp>
        <p:nvSpPr>
          <p:cNvPr id="739331" name="Rectangle 3"/>
          <p:cNvSpPr>
            <a:spLocks noGrp="1" noChangeArrowheads="1"/>
          </p:cNvSpPr>
          <p:nvPr>
            <p:ph idx="1"/>
          </p:nvPr>
        </p:nvSpPr>
        <p:spPr/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sz="2400" i="1" dirty="0" smtClean="0"/>
              <a:t>R(C, T, H, R, S)    </a:t>
            </a:r>
            <a:br>
              <a:rPr lang="en-US" altLang="zh-CN" sz="2400" i="1" dirty="0" smtClean="0"/>
            </a:br>
            <a:r>
              <a:rPr lang="en-US" altLang="zh-CN" sz="2400" i="1" dirty="0" smtClean="0"/>
              <a:t>F = </a:t>
            </a:r>
            <a:r>
              <a:rPr lang="en-US" altLang="zh-CN" sz="2400" dirty="0" smtClean="0"/>
              <a:t>{ </a:t>
            </a:r>
            <a:r>
              <a:rPr lang="en-US" altLang="zh-CN" sz="2400" dirty="0" smtClean="0">
                <a:sym typeface="Monotype Sorts" pitchFamily="-65" charset="2"/>
              </a:rPr>
              <a:t>C→T, HR</a:t>
            </a:r>
            <a:r>
              <a:rPr lang="zh-CN" altLang="en-US" sz="2400" dirty="0" smtClean="0">
                <a:sym typeface="Monotype Sorts" pitchFamily="-65" charset="2"/>
              </a:rPr>
              <a:t>→</a:t>
            </a:r>
            <a:r>
              <a:rPr lang="en-US" altLang="zh-CN" sz="2400" dirty="0" smtClean="0">
                <a:sym typeface="Monotype Sorts" pitchFamily="-65" charset="2"/>
              </a:rPr>
              <a:t>C, HT</a:t>
            </a:r>
            <a:r>
              <a:rPr lang="zh-CN" altLang="en-US" sz="2400" dirty="0" smtClean="0">
                <a:sym typeface="Monotype Sorts" pitchFamily="-65" charset="2"/>
              </a:rPr>
              <a:t>→</a:t>
            </a:r>
            <a:r>
              <a:rPr lang="en-US" altLang="zh-CN" sz="2400" dirty="0" smtClean="0">
                <a:sym typeface="Monotype Sorts" pitchFamily="-65" charset="2"/>
              </a:rPr>
              <a:t>R, HS</a:t>
            </a:r>
            <a:r>
              <a:rPr lang="zh-CN" altLang="en-US" sz="2400" dirty="0" smtClean="0">
                <a:sym typeface="Monotype Sorts" pitchFamily="-65" charset="2"/>
              </a:rPr>
              <a:t>→</a:t>
            </a:r>
            <a:r>
              <a:rPr lang="en-US" altLang="zh-CN" sz="2400" dirty="0" smtClean="0">
                <a:sym typeface="Monotype Sorts" pitchFamily="-65" charset="2"/>
              </a:rPr>
              <a:t>R }</a:t>
            </a:r>
            <a:endParaRPr lang="en-US" altLang="zh-CN" sz="2400" dirty="0" smtClean="0">
              <a:sym typeface="Monotype Sorts" pitchFamily="-65" charset="2"/>
            </a:endParaRPr>
          </a:p>
          <a:p>
            <a:pPr eaLnBrk="1" fontAlgn="auto" hangingPunct="1">
              <a:spcAft>
                <a:spcPts val="0"/>
              </a:spcAft>
              <a:defRPr/>
            </a:pPr>
            <a:endParaRPr lang="zh-CN" altLang="en-US" sz="2400" dirty="0" smtClean="0">
              <a:sym typeface="Monotype Sorts" pitchFamily="-65" charset="2"/>
            </a:endParaRP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2400" dirty="0" smtClean="0">
                <a:sym typeface="Monotype Sorts" pitchFamily="-65" charset="2"/>
              </a:rPr>
              <a:t>问题</a:t>
            </a:r>
            <a:r>
              <a:rPr lang="en-US" altLang="zh-CN" sz="2400" dirty="0" smtClean="0">
                <a:sym typeface="Monotype Sorts" pitchFamily="-65" charset="2"/>
              </a:rPr>
              <a:t>1: </a:t>
            </a:r>
            <a:r>
              <a:rPr lang="en-US" altLang="zh-CN" sz="2400" i="1" dirty="0" smtClean="0">
                <a:sym typeface="Monotype Sorts" pitchFamily="-65" charset="2"/>
              </a:rPr>
              <a:t>R → R1(C, H, S), R2(C, T, H, R)</a:t>
            </a:r>
            <a:r>
              <a:rPr lang="en-US" altLang="zh-CN" sz="2400" dirty="0" smtClean="0">
                <a:sym typeface="Monotype Sorts" pitchFamily="-65" charset="2"/>
              </a:rPr>
              <a:t>. </a:t>
            </a:r>
            <a:r>
              <a:rPr lang="zh-CN" altLang="en-US" sz="2400" dirty="0" smtClean="0">
                <a:sym typeface="Monotype Sorts" pitchFamily="-65" charset="2"/>
              </a:rPr>
              <a:t>这一分解是无损的么</a:t>
            </a:r>
            <a:r>
              <a:rPr lang="en-US" altLang="zh-CN" sz="2400" dirty="0" smtClean="0">
                <a:sym typeface="Monotype Sorts" pitchFamily="-65" charset="2"/>
              </a:rPr>
              <a:t>?</a:t>
            </a:r>
            <a:endParaRPr lang="en-US" altLang="zh-CN" sz="2400" dirty="0">
              <a:sym typeface="Monotype Sorts" pitchFamily="-65" charset="2"/>
            </a:endParaRPr>
          </a:p>
          <a:p>
            <a:pPr eaLnBrk="1" fontAlgn="auto" hangingPunct="1">
              <a:spcAft>
                <a:spcPts val="0"/>
              </a:spcAft>
              <a:defRPr/>
            </a:pPr>
            <a:endParaRPr lang="en-US" altLang="zh-CN" sz="2400" i="1" dirty="0" smtClean="0">
              <a:sym typeface="Monotype Sorts" pitchFamily="-65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066" name="Rectangle 2"/>
          <p:cNvSpPr>
            <a:spLocks noGrp="1" noChangeArrowheads="1"/>
          </p:cNvSpPr>
          <p:nvPr>
            <p:ph type="title"/>
          </p:nvPr>
        </p:nvSpPr>
        <p:spPr>
          <a:xfrm>
            <a:off x="709613" y="296949"/>
            <a:ext cx="7993062" cy="441325"/>
          </a:xfrm>
        </p:spPr>
        <p:txBody>
          <a:bodyPr/>
          <a:lstStyle/>
          <a:p>
            <a:pPr>
              <a:defRPr/>
            </a:pPr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Dependency Preservation</a:t>
            </a:r>
            <a:endParaRPr lang="en-US" altLang="en-US" sz="2800" dirty="0">
              <a:effectLst>
                <a:outerShdw blurRad="38100" dist="38100" dir="2700000" algn="tl">
                  <a:srgbClr val="C0C0C0"/>
                </a:outerShdw>
              </a:effectLst>
              <a:ea typeface="MS PGothic" panose="020B0600070205080204" pitchFamily="34" charset="-128"/>
            </a:endParaRP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72357" y="1093788"/>
            <a:ext cx="7396283" cy="3539172"/>
          </a:xfrm>
        </p:spPr>
        <p:txBody>
          <a:bodyPr/>
          <a:lstStyle/>
          <a:p>
            <a:pPr>
              <a:defRPr/>
            </a:pPr>
            <a:r>
              <a:rPr lang="en-US" altLang="en-US" sz="2000" dirty="0"/>
              <a:t>Testing functional dependency constraints each time the database is updated can be costly</a:t>
            </a:r>
            <a:endParaRPr lang="en-US" altLang="en-US" sz="2000" dirty="0"/>
          </a:p>
          <a:p>
            <a:pPr>
              <a:defRPr/>
            </a:pPr>
            <a:r>
              <a:rPr lang="en-US" altLang="en-US" sz="2000" dirty="0"/>
              <a:t>It is useful to design the database in a way that constraints can be tested efficiently.  </a:t>
            </a:r>
            <a:endParaRPr lang="en-US" altLang="en-US" sz="2000" dirty="0"/>
          </a:p>
          <a:p>
            <a:pPr>
              <a:defRPr/>
            </a:pPr>
            <a:r>
              <a:rPr lang="en-US" altLang="en-US" sz="2000" dirty="0"/>
              <a:t>If testing a functional dependency can be done by considering just one relation, then the cost of testing this constraint is low</a:t>
            </a:r>
            <a:endParaRPr lang="en-US" altLang="en-US" sz="2000" dirty="0"/>
          </a:p>
          <a:p>
            <a:pPr>
              <a:defRPr/>
            </a:pPr>
            <a:r>
              <a:rPr lang="en-US" altLang="en-US" sz="2000" dirty="0"/>
              <a:t>When decomposing a relation it is possible that it is no longer possible to do the testing without having to perform a Cartesian Produced.</a:t>
            </a:r>
            <a:endParaRPr lang="en-US" altLang="en-US" sz="2000" dirty="0"/>
          </a:p>
          <a:p>
            <a:pPr>
              <a:defRPr/>
            </a:pPr>
            <a:r>
              <a:rPr lang="en-US" altLang="en-US" sz="2000" dirty="0"/>
              <a:t>A decomposition that makes it computationally hard to enforce functional dependency is said to be NOT </a:t>
            </a:r>
            <a:r>
              <a:rPr lang="en-US" altLang="en-US" sz="2000" b="1" dirty="0">
                <a:solidFill>
                  <a:srgbClr val="002060"/>
                </a:solidFill>
              </a:rPr>
              <a:t>dependency preserving</a:t>
            </a:r>
            <a:r>
              <a:rPr lang="en-US" altLang="en-US" sz="2000" dirty="0"/>
              <a:t>.</a:t>
            </a:r>
            <a:endParaRPr lang="en-US" altLang="en-US" sz="20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066" name="Rectangle 2"/>
          <p:cNvSpPr>
            <a:spLocks noGrp="1" noChangeArrowheads="1"/>
          </p:cNvSpPr>
          <p:nvPr>
            <p:ph type="title"/>
          </p:nvPr>
        </p:nvSpPr>
        <p:spPr>
          <a:xfrm>
            <a:off x="709613" y="264699"/>
            <a:ext cx="7993062" cy="497639"/>
          </a:xfrm>
        </p:spPr>
        <p:txBody>
          <a:bodyPr/>
          <a:lstStyle/>
          <a:p>
            <a:pPr>
              <a:defRPr/>
            </a:pPr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Dependency Preservation Example</a:t>
            </a:r>
            <a:endParaRPr lang="en-US" altLang="en-US" sz="2800" dirty="0">
              <a:effectLst>
                <a:outerShdw blurRad="38100" dist="38100" dir="2700000" algn="tl">
                  <a:srgbClr val="C0C0C0"/>
                </a:outerShdw>
              </a:effectLst>
              <a:ea typeface="MS PGothic" panose="020B0600070205080204" pitchFamily="34" charset="-128"/>
            </a:endParaRP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1235" y="1093788"/>
            <a:ext cx="7472749" cy="4526724"/>
          </a:xfrm>
        </p:spPr>
        <p:txBody>
          <a:bodyPr/>
          <a:lstStyle/>
          <a:p>
            <a:pPr>
              <a:defRPr/>
            </a:pPr>
            <a:r>
              <a:rPr lang="en-US" altLang="en-US" sz="2000" dirty="0"/>
              <a:t>Consider a schema:</a:t>
            </a:r>
            <a:endParaRPr lang="en-US" altLang="en-US" sz="2000" dirty="0"/>
          </a:p>
          <a:p>
            <a:pPr>
              <a:buFont typeface="Monotype Sorts" pitchFamily="-65" charset="2"/>
              <a:buNone/>
              <a:defRPr/>
            </a:pPr>
            <a:r>
              <a:rPr lang="en-US" altLang="en-US" sz="2000" dirty="0"/>
              <a:t>         </a:t>
            </a:r>
            <a:r>
              <a:rPr lang="en-US" altLang="en-US" sz="2000" i="1" dirty="0"/>
              <a:t>dept_advisor(s_ID, i_ID, department_name</a:t>
            </a:r>
            <a:r>
              <a:rPr lang="en-US" altLang="en-US" sz="2000" dirty="0"/>
              <a:t>)</a:t>
            </a:r>
            <a:endParaRPr lang="en-US" altLang="en-US" sz="2000" dirty="0"/>
          </a:p>
          <a:p>
            <a:pPr>
              <a:defRPr/>
            </a:pPr>
            <a:r>
              <a:rPr lang="en-US" altLang="en-US" sz="2000" dirty="0"/>
              <a:t>With function dependencies:</a:t>
            </a:r>
            <a:endParaRPr lang="en-US" altLang="en-US" sz="2000" dirty="0"/>
          </a:p>
          <a:p>
            <a:pPr>
              <a:buFont typeface="Monotype Sorts" pitchFamily="-65" charset="2"/>
              <a:buNone/>
              <a:defRPr/>
            </a:pPr>
            <a:r>
              <a:rPr lang="en-US" altLang="en-US" sz="2000" dirty="0"/>
              <a:t>             </a:t>
            </a:r>
            <a:r>
              <a:rPr lang="en-US" altLang="en-US" sz="2000" i="1" dirty="0"/>
              <a:t>i_ID</a:t>
            </a:r>
            <a:r>
              <a:rPr lang="en-US" altLang="en-US" sz="2000" dirty="0"/>
              <a:t> </a:t>
            </a:r>
            <a:r>
              <a:rPr lang="en-US" altLang="en-US" sz="2000" dirty="0">
                <a:sym typeface="Symbol" panose="05050102010706020507" pitchFamily="18" charset="2"/>
              </a:rPr>
              <a:t> </a:t>
            </a:r>
            <a:r>
              <a:rPr lang="en-US" altLang="en-US" sz="2000" i="1" dirty="0">
                <a:sym typeface="Symbol" panose="05050102010706020507" pitchFamily="18" charset="2"/>
              </a:rPr>
              <a:t>dept_name</a:t>
            </a:r>
            <a:endParaRPr lang="en-US" altLang="en-US" sz="2000" i="1" dirty="0">
              <a:sym typeface="Symbol" panose="05050102010706020507" pitchFamily="18" charset="2"/>
            </a:endParaRPr>
          </a:p>
          <a:p>
            <a:pPr>
              <a:buFont typeface="Monotype Sorts" pitchFamily="-65" charset="2"/>
              <a:buNone/>
              <a:defRPr/>
            </a:pPr>
            <a:r>
              <a:rPr lang="en-US" altLang="en-US" sz="2000" dirty="0"/>
              <a:t>             </a:t>
            </a:r>
            <a:r>
              <a:rPr lang="en-US" altLang="en-US" sz="2000" i="1" dirty="0"/>
              <a:t>s_ID, </a:t>
            </a:r>
            <a:r>
              <a:rPr lang="en-US" altLang="en-US" sz="2000" i="1" dirty="0">
                <a:sym typeface="Symbol" panose="05050102010706020507" pitchFamily="18" charset="2"/>
              </a:rPr>
              <a:t>dept_name</a:t>
            </a:r>
            <a:r>
              <a:rPr lang="en-US" altLang="en-US" sz="2000" i="1" dirty="0"/>
              <a:t> </a:t>
            </a:r>
            <a:r>
              <a:rPr lang="en-US" altLang="en-US" sz="2000" dirty="0">
                <a:sym typeface="Symbol" panose="05050102010706020507" pitchFamily="18" charset="2"/>
              </a:rPr>
              <a:t> </a:t>
            </a:r>
            <a:r>
              <a:rPr lang="en-US" altLang="en-US" sz="2000" i="1" dirty="0">
                <a:sym typeface="Symbol" panose="05050102010706020507" pitchFamily="18" charset="2"/>
              </a:rPr>
              <a:t>i_ID</a:t>
            </a:r>
            <a:endParaRPr lang="en-US" altLang="en-US" sz="2000" i="1" dirty="0">
              <a:sym typeface="Symbol" panose="05050102010706020507" pitchFamily="18" charset="2"/>
            </a:endParaRPr>
          </a:p>
          <a:p>
            <a:pPr>
              <a:defRPr/>
            </a:pPr>
            <a:r>
              <a:rPr lang="en-US" altLang="en-US" sz="2000" dirty="0">
                <a:sym typeface="Symbol" panose="05050102010706020507" pitchFamily="18" charset="2"/>
              </a:rPr>
              <a:t>In the above design we are forced to repeat the department name once for each time an instructor participates in a </a:t>
            </a:r>
            <a:r>
              <a:rPr lang="en-US" altLang="en-US" sz="2000" i="1" dirty="0">
                <a:sym typeface="Symbol" panose="05050102010706020507" pitchFamily="18" charset="2"/>
              </a:rPr>
              <a:t>dept_advisor</a:t>
            </a:r>
            <a:r>
              <a:rPr lang="en-US" altLang="en-US" sz="2000" dirty="0">
                <a:sym typeface="Symbol" panose="05050102010706020507" pitchFamily="18" charset="2"/>
              </a:rPr>
              <a:t> relationship.  </a:t>
            </a:r>
            <a:endParaRPr lang="en-US" altLang="en-US" sz="2000" dirty="0">
              <a:sym typeface="Symbol" panose="05050102010706020507" pitchFamily="18" charset="2"/>
            </a:endParaRPr>
          </a:p>
          <a:p>
            <a:pPr>
              <a:defRPr/>
            </a:pPr>
            <a:r>
              <a:rPr lang="en-US" altLang="en-US" sz="2000" dirty="0">
                <a:sym typeface="Symbol" panose="05050102010706020507" pitchFamily="18" charset="2"/>
              </a:rPr>
              <a:t>To fix this, we need to decompose </a:t>
            </a:r>
            <a:r>
              <a:rPr lang="en-US" altLang="en-US" sz="2000" i="1" dirty="0"/>
              <a:t>dept_advisor</a:t>
            </a:r>
            <a:endParaRPr lang="en-US" altLang="en-US" sz="2000" i="1" dirty="0"/>
          </a:p>
          <a:p>
            <a:pPr>
              <a:defRPr/>
            </a:pPr>
            <a:r>
              <a:rPr lang="en-US" altLang="en-US" sz="2000" dirty="0">
                <a:solidFill>
                  <a:srgbClr val="FF0000"/>
                </a:solidFill>
                <a:sym typeface="Symbol" panose="05050102010706020507" pitchFamily="18" charset="2"/>
              </a:rPr>
              <a:t>Any decomposition will not include all the attributes in</a:t>
            </a:r>
            <a:endParaRPr lang="en-US" altLang="en-US" sz="2000" dirty="0">
              <a:solidFill>
                <a:srgbClr val="FF0000"/>
              </a:solidFill>
              <a:sym typeface="Symbol" panose="05050102010706020507" pitchFamily="18" charset="2"/>
            </a:endParaRPr>
          </a:p>
          <a:p>
            <a:pPr>
              <a:buFont typeface="Monotype Sorts" pitchFamily="-65" charset="2"/>
              <a:buNone/>
              <a:defRPr/>
            </a:pPr>
            <a:r>
              <a:rPr lang="en-US" altLang="en-US" sz="2000" dirty="0">
                <a:solidFill>
                  <a:srgbClr val="FF0000"/>
                </a:solidFill>
                <a:sym typeface="Symbol" panose="05050102010706020507" pitchFamily="18" charset="2"/>
              </a:rPr>
              <a:t>            </a:t>
            </a:r>
            <a:r>
              <a:rPr lang="en-US" altLang="en-US" sz="2000" i="1" dirty="0">
                <a:solidFill>
                  <a:srgbClr val="FF0000"/>
                </a:solidFill>
              </a:rPr>
              <a:t>s_ID, </a:t>
            </a:r>
            <a:r>
              <a:rPr lang="en-US" altLang="en-US" sz="2000" i="1" dirty="0">
                <a:solidFill>
                  <a:srgbClr val="FF0000"/>
                </a:solidFill>
                <a:sym typeface="Symbol" panose="05050102010706020507" pitchFamily="18" charset="2"/>
              </a:rPr>
              <a:t>dept_name</a:t>
            </a:r>
            <a:r>
              <a:rPr lang="en-US" altLang="en-US" sz="2000" i="1" dirty="0">
                <a:solidFill>
                  <a:srgbClr val="FF0000"/>
                </a:solidFill>
              </a:rPr>
              <a:t> </a:t>
            </a:r>
            <a:r>
              <a:rPr lang="en-US" altLang="en-US" sz="2000" i="1" dirty="0">
                <a:solidFill>
                  <a:srgbClr val="FF0000"/>
                </a:solidFill>
                <a:sym typeface="Symbol" panose="05050102010706020507" pitchFamily="18" charset="2"/>
              </a:rPr>
              <a:t> i_ID</a:t>
            </a:r>
            <a:endParaRPr lang="en-US" altLang="en-US" sz="2000" i="1" dirty="0">
              <a:solidFill>
                <a:srgbClr val="FF0000"/>
              </a:solidFill>
              <a:sym typeface="Symbol" panose="05050102010706020507" pitchFamily="18" charset="2"/>
            </a:endParaRPr>
          </a:p>
          <a:p>
            <a:pPr>
              <a:defRPr/>
            </a:pPr>
            <a:r>
              <a:rPr lang="en-US" altLang="en-US" sz="2000" dirty="0">
                <a:solidFill>
                  <a:srgbClr val="FF0000"/>
                </a:solidFill>
                <a:sym typeface="Symbol" panose="05050102010706020507" pitchFamily="18" charset="2"/>
              </a:rPr>
              <a:t>Thus, the composition NOT be</a:t>
            </a:r>
            <a:r>
              <a:rPr lang="en-US" altLang="en-US" sz="2000" b="1" dirty="0">
                <a:solidFill>
                  <a:srgbClr val="FF0000"/>
                </a:solidFill>
              </a:rPr>
              <a:t> </a:t>
            </a:r>
            <a:r>
              <a:rPr lang="en-US" altLang="en-US" sz="2000" dirty="0">
                <a:solidFill>
                  <a:srgbClr val="FF0000"/>
                </a:solidFill>
                <a:sym typeface="Symbol" panose="05050102010706020507" pitchFamily="18" charset="2"/>
              </a:rPr>
              <a:t>dependency preserving</a:t>
            </a:r>
            <a:r>
              <a:rPr lang="en-US" altLang="en-US" sz="1700" dirty="0">
                <a:solidFill>
                  <a:srgbClr val="FF0000"/>
                </a:solidFill>
                <a:sym typeface="Symbol" panose="05050102010706020507" pitchFamily="18" charset="2"/>
              </a:rPr>
              <a:t> </a:t>
            </a:r>
            <a:endParaRPr lang="en-US" altLang="en-US" sz="1700" dirty="0">
              <a:solidFill>
                <a:srgbClr val="FF0000"/>
              </a:solidFill>
              <a:sym typeface="Symbol" panose="05050102010706020507" pitchFamily="18" charset="2"/>
            </a:endParaRPr>
          </a:p>
          <a:p>
            <a:pPr>
              <a:buFont typeface="Monotype Sorts" pitchFamily="-65" charset="2"/>
              <a:buNone/>
              <a:defRPr/>
            </a:pPr>
            <a:endParaRPr lang="en-US" altLang="en-US" sz="1700" dirty="0">
              <a:sym typeface="Symbol" panose="05050102010706020507" pitchFamily="18" charset="2"/>
            </a:endParaRPr>
          </a:p>
          <a:p>
            <a:pPr>
              <a:defRPr/>
            </a:pPr>
            <a:endParaRPr lang="en-US" altLang="en-US" sz="20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Testing for BCNF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  <a:ea typeface="MS PGothic" panose="020B0600070205080204" pitchFamily="34" charset="-128"/>
            </a:endParaRPr>
          </a:p>
        </p:txBody>
      </p:sp>
      <p:sp>
        <p:nvSpPr>
          <p:cNvPr id="7342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68358" y="1092201"/>
            <a:ext cx="8666920" cy="494765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000" dirty="0"/>
              <a:t>To check if a non-trivial dependency </a:t>
            </a:r>
            <a:r>
              <a:rPr lang="en-US" altLang="en-US" sz="2000" dirty="0">
                <a:sym typeface="Symbol" panose="05050102010706020507" pitchFamily="18" charset="2"/>
              </a:rPr>
              <a:t></a:t>
            </a:r>
            <a:r>
              <a:rPr lang="en-US" altLang="en-US" sz="2000" dirty="0">
                <a:sym typeface="Greek Symbols"/>
              </a:rPr>
              <a:t> </a:t>
            </a:r>
            <a:r>
              <a:rPr kumimoji="0" lang="en-US" altLang="en-US" sz="2000" dirty="0">
                <a:sym typeface="Symbol" panose="05050102010706020507" pitchFamily="18" charset="2"/>
              </a:rPr>
              <a:t></a:t>
            </a:r>
            <a:r>
              <a:rPr lang="en-US" altLang="en-US" sz="2000" i="1" dirty="0">
                <a:sym typeface="Symbol" panose="05050102010706020507" pitchFamily="18" charset="2"/>
              </a:rPr>
              <a:t></a:t>
            </a:r>
            <a:r>
              <a:rPr lang="en-US" altLang="en-US" sz="2000" i="1" dirty="0">
                <a:sym typeface="Greek Symbols"/>
              </a:rPr>
              <a:t>  </a:t>
            </a:r>
            <a:r>
              <a:rPr lang="en-US" altLang="en-US" sz="2000" dirty="0"/>
              <a:t>causes a violation of BCNF</a:t>
            </a:r>
            <a:endParaRPr lang="en-US" altLang="en-US" sz="2000" dirty="0"/>
          </a:p>
          <a:p>
            <a:pPr lvl="1">
              <a:lnSpc>
                <a:spcPct val="90000"/>
              </a:lnSpc>
              <a:buFont typeface="Monotype Sorts" pitchFamily="-65" charset="2"/>
              <a:buNone/>
            </a:pPr>
            <a:r>
              <a:rPr lang="en-US" altLang="en-US" sz="2000" dirty="0"/>
              <a:t>1.  compute </a:t>
            </a:r>
            <a:r>
              <a:rPr lang="en-US" altLang="en-US" sz="2000" dirty="0">
                <a:sym typeface="Symbol" panose="05050102010706020507" pitchFamily="18" charset="2"/>
              </a:rPr>
              <a:t></a:t>
            </a:r>
            <a:r>
              <a:rPr lang="en-US" altLang="en-US" sz="2000" baseline="30000" dirty="0"/>
              <a:t>+</a:t>
            </a:r>
            <a:r>
              <a:rPr lang="en-US" altLang="en-US" sz="2000" dirty="0"/>
              <a:t> (the attribute closure of </a:t>
            </a:r>
            <a:r>
              <a:rPr lang="en-US" altLang="en-US" sz="2000" dirty="0">
                <a:sym typeface="Symbol" panose="05050102010706020507" pitchFamily="18" charset="2"/>
              </a:rPr>
              <a:t></a:t>
            </a:r>
            <a:r>
              <a:rPr lang="en-US" altLang="en-US" sz="2000" dirty="0"/>
              <a:t>), and </a:t>
            </a:r>
            <a:endParaRPr lang="en-US" altLang="en-US" sz="2000" dirty="0"/>
          </a:p>
          <a:p>
            <a:pPr lvl="1">
              <a:lnSpc>
                <a:spcPct val="90000"/>
              </a:lnSpc>
              <a:buFont typeface="Monotype Sorts" pitchFamily="-65" charset="2"/>
              <a:buNone/>
            </a:pPr>
            <a:r>
              <a:rPr lang="en-US" altLang="en-US" sz="2000" dirty="0"/>
              <a:t>2.  verify that it includes all attributes of </a:t>
            </a:r>
            <a:r>
              <a:rPr lang="en-US" altLang="en-US" sz="2000" i="1" dirty="0"/>
              <a:t>R</a:t>
            </a:r>
            <a:r>
              <a:rPr lang="en-US" altLang="en-US" sz="2000" dirty="0"/>
              <a:t>, that is, it is a </a:t>
            </a:r>
            <a:r>
              <a:rPr lang="en-US" altLang="en-US" sz="2000" dirty="0" err="1"/>
              <a:t>superkey</a:t>
            </a:r>
            <a:r>
              <a:rPr lang="en-US" altLang="en-US" sz="2000" dirty="0"/>
              <a:t> of </a:t>
            </a:r>
            <a:r>
              <a:rPr lang="en-US" altLang="en-US" sz="2000" i="1" dirty="0"/>
              <a:t>R</a:t>
            </a:r>
            <a:r>
              <a:rPr lang="en-US" altLang="en-US" sz="2000" dirty="0"/>
              <a:t>.</a:t>
            </a:r>
            <a:endParaRPr lang="en-US" altLang="en-US" sz="2000" dirty="0"/>
          </a:p>
          <a:p>
            <a:pPr>
              <a:lnSpc>
                <a:spcPct val="90000"/>
              </a:lnSpc>
            </a:pPr>
            <a:r>
              <a:rPr lang="en-US" altLang="en-US" sz="2000" b="1" dirty="0">
                <a:solidFill>
                  <a:srgbClr val="002060"/>
                </a:solidFill>
              </a:rPr>
              <a:t>Simplified test</a:t>
            </a:r>
            <a:r>
              <a:rPr lang="en-US" altLang="en-US" sz="2000" dirty="0"/>
              <a:t>: To check if a relation schema </a:t>
            </a:r>
            <a:r>
              <a:rPr lang="en-US" altLang="en-US" sz="2000" i="1" dirty="0"/>
              <a:t>R</a:t>
            </a:r>
            <a:r>
              <a:rPr lang="en-US" altLang="en-US" sz="2000" dirty="0"/>
              <a:t> is in BCNF, it suffices to check only the dependencies in the given set </a:t>
            </a:r>
            <a:r>
              <a:rPr lang="en-US" altLang="en-US" sz="2000" i="1" dirty="0"/>
              <a:t>F</a:t>
            </a:r>
            <a:r>
              <a:rPr lang="en-US" altLang="en-US" sz="2000" dirty="0"/>
              <a:t> for violation of BCNF, rather than checking all dependencies in </a:t>
            </a:r>
            <a:r>
              <a:rPr lang="en-US" altLang="en-US" sz="2000" i="1" dirty="0"/>
              <a:t>F</a:t>
            </a:r>
            <a:r>
              <a:rPr lang="en-US" altLang="en-US" sz="2000" baseline="30000" dirty="0"/>
              <a:t>+</a:t>
            </a:r>
            <a:r>
              <a:rPr lang="en-US" altLang="en-US" sz="2000" dirty="0"/>
              <a:t>.</a:t>
            </a:r>
            <a:endParaRPr lang="en-US" altLang="en-US" sz="2000" dirty="0"/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If none of the dependencies in </a:t>
            </a:r>
            <a:r>
              <a:rPr lang="en-US" altLang="en-US" sz="2000" i="1" dirty="0"/>
              <a:t>F</a:t>
            </a:r>
            <a:r>
              <a:rPr lang="en-US" altLang="en-US" sz="2000" dirty="0"/>
              <a:t> causes a violation of BCNF, then none of the dependencies in </a:t>
            </a:r>
            <a:r>
              <a:rPr lang="en-US" altLang="en-US" sz="2000" i="1" dirty="0"/>
              <a:t>F</a:t>
            </a:r>
            <a:r>
              <a:rPr lang="en-US" altLang="en-US" sz="2000" baseline="30000" dirty="0"/>
              <a:t>+</a:t>
            </a:r>
            <a:r>
              <a:rPr lang="en-US" altLang="en-US" sz="2000" dirty="0"/>
              <a:t> will cause a violation of BCNF either.</a:t>
            </a:r>
            <a:endParaRPr lang="en-US" altLang="en-US" sz="2000" dirty="0"/>
          </a:p>
          <a:p>
            <a:pPr>
              <a:lnSpc>
                <a:spcPct val="90000"/>
              </a:lnSpc>
            </a:pPr>
            <a:r>
              <a:rPr lang="en-US" altLang="en-US" sz="2000" dirty="0"/>
              <a:t>However, </a:t>
            </a:r>
            <a:r>
              <a:rPr lang="en-US" altLang="en-US" sz="2000" b="1" dirty="0">
                <a:solidFill>
                  <a:srgbClr val="002060"/>
                </a:solidFill>
              </a:rPr>
              <a:t>simplified test </a:t>
            </a:r>
            <a:r>
              <a:rPr lang="en-US" altLang="en-US" sz="2000" dirty="0"/>
              <a:t>using only F is incorrect when testing a relation in a decomposition of R</a:t>
            </a:r>
            <a:endParaRPr lang="en-US" altLang="en-US" sz="2000" dirty="0"/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Consider </a:t>
            </a:r>
            <a:r>
              <a:rPr lang="en-US" altLang="en-US" sz="2000" i="1" dirty="0"/>
              <a:t>R =</a:t>
            </a:r>
            <a:r>
              <a:rPr lang="en-US" altLang="en-US" sz="2000" dirty="0"/>
              <a:t> (</a:t>
            </a:r>
            <a:r>
              <a:rPr lang="en-US" altLang="en-US" sz="2000" i="1" dirty="0"/>
              <a:t>A, B, C, D, E</a:t>
            </a:r>
            <a:r>
              <a:rPr lang="en-US" altLang="en-US" sz="2000" dirty="0"/>
              <a:t>), with </a:t>
            </a:r>
            <a:r>
              <a:rPr lang="en-US" altLang="en-US" sz="2000" i="1" dirty="0"/>
              <a:t>F</a:t>
            </a:r>
            <a:r>
              <a:rPr lang="en-US" altLang="en-US" sz="2000" dirty="0"/>
              <a:t> = { </a:t>
            </a:r>
            <a:r>
              <a:rPr lang="en-US" altLang="en-US" sz="2000" i="1" dirty="0"/>
              <a:t>A </a:t>
            </a:r>
            <a:r>
              <a:rPr lang="en-US" altLang="en-US" sz="2000" i="1" dirty="0">
                <a:sym typeface="Symbol" panose="05050102010706020507" pitchFamily="18" charset="2"/>
              </a:rPr>
              <a:t> </a:t>
            </a:r>
            <a:r>
              <a:rPr lang="en-US" altLang="en-US" sz="2000" i="1" dirty="0"/>
              <a:t>B, BC </a:t>
            </a:r>
            <a:r>
              <a:rPr lang="en-US" altLang="en-US" sz="2000" i="1" dirty="0">
                <a:sym typeface="Symbol" panose="05050102010706020507" pitchFamily="18" charset="2"/>
              </a:rPr>
              <a:t> D</a:t>
            </a:r>
            <a:r>
              <a:rPr lang="en-US" altLang="en-US" sz="2000" dirty="0"/>
              <a:t>}</a:t>
            </a:r>
            <a:endParaRPr lang="en-US" altLang="en-US" sz="2000" dirty="0"/>
          </a:p>
          <a:p>
            <a:pPr lvl="2">
              <a:lnSpc>
                <a:spcPct val="90000"/>
              </a:lnSpc>
            </a:pPr>
            <a:r>
              <a:rPr lang="en-US" altLang="en-US" sz="2000" dirty="0"/>
              <a:t>Decompose </a:t>
            </a:r>
            <a:r>
              <a:rPr lang="en-US" altLang="en-US" sz="2000" i="1" dirty="0"/>
              <a:t>R</a:t>
            </a:r>
            <a:r>
              <a:rPr lang="en-US" altLang="en-US" sz="2000" dirty="0"/>
              <a:t> into </a:t>
            </a:r>
            <a:r>
              <a:rPr lang="en-US" altLang="en-US" sz="2000" i="1" dirty="0"/>
              <a:t>R</a:t>
            </a:r>
            <a:r>
              <a:rPr lang="en-US" altLang="en-US" sz="2000" baseline="-25000" dirty="0"/>
              <a:t>1 </a:t>
            </a:r>
            <a:r>
              <a:rPr lang="en-US" altLang="en-US" sz="2000" dirty="0"/>
              <a:t>=</a:t>
            </a:r>
            <a:r>
              <a:rPr lang="en-US" altLang="en-US" sz="2000" baseline="-25000" dirty="0"/>
              <a:t> </a:t>
            </a:r>
            <a:r>
              <a:rPr lang="en-US" altLang="en-US" sz="2000" dirty="0"/>
              <a:t>(</a:t>
            </a:r>
            <a:r>
              <a:rPr lang="en-US" altLang="en-US" sz="2000" i="1" dirty="0"/>
              <a:t>A,B</a:t>
            </a:r>
            <a:r>
              <a:rPr lang="en-US" altLang="en-US" sz="2000" dirty="0"/>
              <a:t>) and </a:t>
            </a:r>
            <a:r>
              <a:rPr lang="en-US" altLang="en-US" sz="2000" i="1" dirty="0"/>
              <a:t>R</a:t>
            </a:r>
            <a:r>
              <a:rPr lang="en-US" altLang="en-US" sz="2000" baseline="-25000" dirty="0"/>
              <a:t>2 </a:t>
            </a:r>
            <a:r>
              <a:rPr lang="en-US" altLang="en-US" sz="2000" dirty="0"/>
              <a:t>=</a:t>
            </a:r>
            <a:r>
              <a:rPr lang="en-US" altLang="en-US" sz="2000" baseline="-25000" dirty="0"/>
              <a:t> </a:t>
            </a:r>
            <a:r>
              <a:rPr lang="en-US" altLang="en-US" sz="2000" dirty="0"/>
              <a:t>(</a:t>
            </a:r>
            <a:r>
              <a:rPr lang="en-US" altLang="en-US" sz="2000" i="1" dirty="0"/>
              <a:t>A,C,D, E</a:t>
            </a:r>
            <a:r>
              <a:rPr lang="en-US" altLang="en-US" sz="2000" dirty="0"/>
              <a:t>) </a:t>
            </a:r>
            <a:endParaRPr lang="en-US" altLang="en-US" sz="2000" dirty="0"/>
          </a:p>
          <a:p>
            <a:pPr lvl="2">
              <a:lnSpc>
                <a:spcPct val="90000"/>
              </a:lnSpc>
            </a:pPr>
            <a:r>
              <a:rPr lang="en-US" altLang="en-US" sz="2000" dirty="0"/>
              <a:t>Neither of the dependencies in </a:t>
            </a:r>
            <a:r>
              <a:rPr lang="en-US" altLang="en-US" sz="2000" i="1" dirty="0"/>
              <a:t>F</a:t>
            </a:r>
            <a:r>
              <a:rPr lang="en-US" altLang="en-US" sz="2000" dirty="0"/>
              <a:t> contain only attributes from</a:t>
            </a:r>
            <a:br>
              <a:rPr lang="en-US" altLang="en-US" sz="2000" dirty="0"/>
            </a:br>
            <a:r>
              <a:rPr lang="en-US" altLang="en-US" sz="2000" dirty="0"/>
              <a:t> (</a:t>
            </a:r>
            <a:r>
              <a:rPr lang="en-US" altLang="en-US" sz="2000" i="1" dirty="0"/>
              <a:t>A,C,D,E</a:t>
            </a:r>
            <a:r>
              <a:rPr lang="en-US" altLang="en-US" sz="2000" dirty="0"/>
              <a:t>) so we might be mislead into thinking </a:t>
            </a:r>
            <a:r>
              <a:rPr lang="en-US" altLang="en-US" sz="2000" i="1" dirty="0"/>
              <a:t>R</a:t>
            </a:r>
            <a:r>
              <a:rPr lang="en-US" altLang="en-US" sz="2000" baseline="-25000" dirty="0"/>
              <a:t>2</a:t>
            </a:r>
            <a:r>
              <a:rPr lang="en-US" altLang="en-US" sz="2000" dirty="0"/>
              <a:t> satisfies BCNF.  </a:t>
            </a:r>
            <a:endParaRPr lang="en-US" altLang="en-US" sz="2000" dirty="0"/>
          </a:p>
          <a:p>
            <a:pPr lvl="2">
              <a:lnSpc>
                <a:spcPct val="90000"/>
              </a:lnSpc>
            </a:pPr>
            <a:r>
              <a:rPr lang="en-US" altLang="en-US" sz="2000" dirty="0"/>
              <a:t>In fact, dependency </a:t>
            </a:r>
            <a:r>
              <a:rPr lang="en-US" altLang="en-US" sz="2000" i="1" dirty="0"/>
              <a:t>AC</a:t>
            </a:r>
            <a:r>
              <a:rPr lang="en-US" altLang="en-US" sz="2000" dirty="0"/>
              <a:t> </a:t>
            </a:r>
            <a:r>
              <a:rPr lang="en-US" altLang="en-US" sz="2000" dirty="0">
                <a:sym typeface="Symbol" panose="05050102010706020507" pitchFamily="18" charset="2"/>
              </a:rPr>
              <a:t></a:t>
            </a:r>
            <a:r>
              <a:rPr lang="en-US" altLang="en-US" sz="2000" dirty="0"/>
              <a:t> </a:t>
            </a:r>
            <a:r>
              <a:rPr lang="en-US" altLang="en-US" sz="2000" i="1" dirty="0"/>
              <a:t>D</a:t>
            </a:r>
            <a:r>
              <a:rPr lang="en-US" altLang="en-US" sz="2000" dirty="0"/>
              <a:t> in </a:t>
            </a:r>
            <a:r>
              <a:rPr lang="en-US" altLang="en-US" sz="2000" i="1" dirty="0"/>
              <a:t>F</a:t>
            </a:r>
            <a:r>
              <a:rPr lang="en-US" altLang="en-US" sz="2000" baseline="30000" dirty="0"/>
              <a:t>+</a:t>
            </a:r>
            <a:r>
              <a:rPr lang="en-US" altLang="en-US" sz="2000" dirty="0"/>
              <a:t> shows </a:t>
            </a:r>
            <a:r>
              <a:rPr lang="en-US" altLang="en-US" sz="2000" i="1" dirty="0"/>
              <a:t>R</a:t>
            </a:r>
            <a:r>
              <a:rPr lang="en-US" altLang="en-US" sz="2000" baseline="-25000" dirty="0"/>
              <a:t>2</a:t>
            </a:r>
            <a:r>
              <a:rPr lang="en-US" altLang="en-US" sz="2000" dirty="0"/>
              <a:t> is not in BCNF. </a:t>
            </a:r>
            <a:endParaRPr lang="en-US" alt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42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42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42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42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42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42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42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4211" grpId="0" autoUpdateAnimBg="0" build="p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2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Testing Decomposition for BCNF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  <a:ea typeface="MS PGothic" panose="020B0600070205080204" pitchFamily="34" charset="-128"/>
            </a:endParaRPr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29811" y="1636297"/>
            <a:ext cx="7306322" cy="3585408"/>
          </a:xfrm>
        </p:spPr>
        <p:txBody>
          <a:bodyPr/>
          <a:lstStyle/>
          <a:p>
            <a:r>
              <a:rPr lang="en-US" altLang="en-US" sz="2000" dirty="0"/>
              <a:t>Either test R</a:t>
            </a:r>
            <a:r>
              <a:rPr lang="en-US" altLang="en-US" sz="2000" baseline="-25000" dirty="0"/>
              <a:t>i </a:t>
            </a:r>
            <a:r>
              <a:rPr lang="en-US" altLang="en-US" sz="2000" dirty="0"/>
              <a:t>for BCNF with respect to the </a:t>
            </a:r>
            <a:r>
              <a:rPr lang="en-US" altLang="en-US" sz="2000" b="1" dirty="0">
                <a:solidFill>
                  <a:srgbClr val="002060"/>
                </a:solidFill>
              </a:rPr>
              <a:t>restriction</a:t>
            </a:r>
            <a:r>
              <a:rPr lang="en-US" altLang="en-US" sz="2000" dirty="0"/>
              <a:t> of F</a:t>
            </a:r>
            <a:r>
              <a:rPr lang="en-US" altLang="en-US" sz="2000" baseline="30000" dirty="0"/>
              <a:t>+</a:t>
            </a:r>
            <a:r>
              <a:rPr lang="en-US" altLang="en-US" sz="2000" dirty="0"/>
              <a:t> to R</a:t>
            </a:r>
            <a:r>
              <a:rPr lang="en-US" altLang="en-US" sz="2000" baseline="-25000" dirty="0"/>
              <a:t>i</a:t>
            </a:r>
            <a:r>
              <a:rPr lang="en-US" altLang="en-US" sz="2000" dirty="0"/>
              <a:t>  (that is, all FDs in F</a:t>
            </a:r>
            <a:r>
              <a:rPr lang="en-US" altLang="en-US" sz="2000" baseline="30000" dirty="0"/>
              <a:t>+</a:t>
            </a:r>
            <a:r>
              <a:rPr lang="en-US" altLang="en-US" sz="2000" dirty="0"/>
              <a:t> that contain only attributes from R</a:t>
            </a:r>
            <a:r>
              <a:rPr lang="en-US" altLang="en-US" sz="2000" baseline="-25000" dirty="0"/>
              <a:t>i</a:t>
            </a:r>
            <a:r>
              <a:rPr lang="en-US" altLang="en-US" sz="2000" dirty="0"/>
              <a:t>)</a:t>
            </a:r>
            <a:endParaRPr lang="en-US" altLang="en-US" sz="2000" dirty="0"/>
          </a:p>
          <a:p>
            <a:r>
              <a:rPr lang="en-US" altLang="en-US" sz="2000" dirty="0"/>
              <a:t>Or use the original set of dependencies </a:t>
            </a:r>
            <a:r>
              <a:rPr lang="en-US" altLang="en-US" sz="2000" i="1" dirty="0"/>
              <a:t>F</a:t>
            </a:r>
            <a:r>
              <a:rPr lang="en-US" altLang="en-US" sz="2000" dirty="0"/>
              <a:t> that hold on </a:t>
            </a:r>
            <a:r>
              <a:rPr lang="en-US" altLang="en-US" sz="2000" i="1" dirty="0"/>
              <a:t>R</a:t>
            </a:r>
            <a:r>
              <a:rPr lang="en-US" altLang="en-US" sz="2000" dirty="0"/>
              <a:t>, but with the following test:</a:t>
            </a:r>
            <a:endParaRPr lang="en-US" altLang="en-US" sz="2000" dirty="0"/>
          </a:p>
          <a:p>
            <a:pPr lvl="2"/>
            <a:r>
              <a:rPr lang="en-US" altLang="en-US" sz="2000" dirty="0">
                <a:solidFill>
                  <a:srgbClr val="7030A0"/>
                </a:solidFill>
              </a:rPr>
              <a:t>for every set of attributes </a:t>
            </a:r>
            <a:r>
              <a:rPr lang="en-US" altLang="en-US" sz="2000" dirty="0">
                <a:solidFill>
                  <a:srgbClr val="7030A0"/>
                </a:solidFill>
                <a:sym typeface="Symbol" panose="05050102010706020507" pitchFamily="18" charset="2"/>
              </a:rPr>
              <a:t>  </a:t>
            </a:r>
            <a:r>
              <a:rPr lang="en-US" altLang="en-US" sz="2000" i="1" dirty="0">
                <a:solidFill>
                  <a:srgbClr val="7030A0"/>
                </a:solidFill>
              </a:rPr>
              <a:t>R</a:t>
            </a:r>
            <a:r>
              <a:rPr lang="en-US" altLang="en-US" sz="2000" i="1" baseline="-25000" dirty="0">
                <a:solidFill>
                  <a:srgbClr val="7030A0"/>
                </a:solidFill>
              </a:rPr>
              <a:t>i</a:t>
            </a:r>
            <a:r>
              <a:rPr lang="en-US" altLang="en-US" sz="2000" dirty="0">
                <a:solidFill>
                  <a:srgbClr val="7030A0"/>
                </a:solidFill>
              </a:rPr>
              <a:t>, check that </a:t>
            </a:r>
            <a:r>
              <a:rPr lang="en-US" altLang="en-US" sz="2000" dirty="0">
                <a:solidFill>
                  <a:srgbClr val="7030A0"/>
                </a:solidFill>
                <a:sym typeface="Symbol" panose="05050102010706020507" pitchFamily="18" charset="2"/>
              </a:rPr>
              <a:t></a:t>
            </a:r>
            <a:r>
              <a:rPr lang="en-US" altLang="en-US" sz="2000" baseline="30000" dirty="0">
                <a:solidFill>
                  <a:srgbClr val="7030A0"/>
                </a:solidFill>
              </a:rPr>
              <a:t>+</a:t>
            </a:r>
            <a:r>
              <a:rPr lang="en-US" altLang="en-US" sz="2000" dirty="0">
                <a:solidFill>
                  <a:srgbClr val="7030A0"/>
                </a:solidFill>
              </a:rPr>
              <a:t> (the attribute closure of </a:t>
            </a:r>
            <a:r>
              <a:rPr lang="en-US" altLang="en-US" sz="2000" dirty="0">
                <a:solidFill>
                  <a:srgbClr val="7030A0"/>
                </a:solidFill>
                <a:sym typeface="Symbol" panose="05050102010706020507" pitchFamily="18" charset="2"/>
              </a:rPr>
              <a:t></a:t>
            </a:r>
            <a:r>
              <a:rPr lang="en-US" altLang="en-US" sz="2000" dirty="0">
                <a:solidFill>
                  <a:srgbClr val="7030A0"/>
                </a:solidFill>
              </a:rPr>
              <a:t>) either includes no attribute of </a:t>
            </a:r>
            <a:r>
              <a:rPr lang="en-US" altLang="en-US" sz="2000" i="1" dirty="0">
                <a:solidFill>
                  <a:srgbClr val="7030A0"/>
                </a:solidFill>
              </a:rPr>
              <a:t>R</a:t>
            </a:r>
            <a:r>
              <a:rPr lang="en-US" altLang="en-US" sz="2000" i="1" baseline="-25000" dirty="0">
                <a:solidFill>
                  <a:srgbClr val="7030A0"/>
                </a:solidFill>
              </a:rPr>
              <a:t>i</a:t>
            </a:r>
            <a:r>
              <a:rPr lang="en-US" altLang="en-US" sz="2000" dirty="0">
                <a:solidFill>
                  <a:srgbClr val="7030A0"/>
                </a:solidFill>
              </a:rPr>
              <a:t>- </a:t>
            </a:r>
            <a:r>
              <a:rPr lang="en-US" altLang="en-US" sz="2000" dirty="0">
                <a:solidFill>
                  <a:srgbClr val="7030A0"/>
                </a:solidFill>
                <a:sym typeface="Symbol" panose="05050102010706020507" pitchFamily="18" charset="2"/>
              </a:rPr>
              <a:t></a:t>
            </a:r>
            <a:r>
              <a:rPr lang="en-US" altLang="en-US" sz="2000" dirty="0">
                <a:solidFill>
                  <a:srgbClr val="7030A0"/>
                </a:solidFill>
              </a:rPr>
              <a:t>, or includes all attributes of </a:t>
            </a:r>
            <a:r>
              <a:rPr lang="en-US" altLang="en-US" sz="2000" i="1" dirty="0">
                <a:solidFill>
                  <a:srgbClr val="7030A0"/>
                </a:solidFill>
              </a:rPr>
              <a:t>R</a:t>
            </a:r>
            <a:r>
              <a:rPr lang="en-US" altLang="en-US" sz="2000" i="1" baseline="-25000" dirty="0">
                <a:solidFill>
                  <a:srgbClr val="7030A0"/>
                </a:solidFill>
              </a:rPr>
              <a:t>i</a:t>
            </a:r>
            <a:r>
              <a:rPr lang="en-US" altLang="en-US" sz="2000" dirty="0">
                <a:solidFill>
                  <a:srgbClr val="7030A0"/>
                </a:solidFill>
              </a:rPr>
              <a:t>.</a:t>
            </a:r>
            <a:endParaRPr lang="en-US" altLang="en-US" sz="2000" dirty="0">
              <a:solidFill>
                <a:srgbClr val="7030A0"/>
              </a:solidFill>
            </a:endParaRPr>
          </a:p>
          <a:p>
            <a:pPr lvl="1"/>
            <a:r>
              <a:rPr lang="en-US" altLang="en-US" sz="2000" dirty="0"/>
              <a:t>If the condition is violated by some </a:t>
            </a:r>
            <a:r>
              <a:rPr lang="en-US" altLang="en-US" sz="2000" dirty="0">
                <a:sym typeface="Symbol" panose="05050102010706020507" pitchFamily="18" charset="2"/>
              </a:rPr>
              <a:t></a:t>
            </a:r>
            <a:r>
              <a:rPr lang="en-US" altLang="en-US" sz="2000" dirty="0">
                <a:sym typeface="Greek Symbols"/>
              </a:rPr>
              <a:t> </a:t>
            </a:r>
            <a:r>
              <a:rPr lang="en-US" altLang="en-US" sz="2000" dirty="0">
                <a:sym typeface="Symbol" panose="05050102010706020507" pitchFamily="18" charset="2"/>
              </a:rPr>
              <a:t> </a:t>
            </a:r>
            <a:r>
              <a:rPr lang="en-US" altLang="en-US" sz="2000" i="1" dirty="0">
                <a:sym typeface="Symbol" panose="05050102010706020507" pitchFamily="18" charset="2"/>
              </a:rPr>
              <a:t></a:t>
            </a:r>
            <a:r>
              <a:rPr lang="en-US" altLang="en-US" sz="2000" dirty="0"/>
              <a:t>  in F</a:t>
            </a:r>
            <a:r>
              <a:rPr lang="en-US" altLang="en-US" sz="2000" baseline="30000" dirty="0"/>
              <a:t>+</a:t>
            </a:r>
            <a:r>
              <a:rPr lang="en-US" altLang="en-US" sz="2000" dirty="0"/>
              <a:t>, the dependency</a:t>
            </a:r>
            <a:br>
              <a:rPr lang="en-US" altLang="en-US" sz="2000" dirty="0"/>
            </a:br>
            <a:r>
              <a:rPr lang="en-US" altLang="en-US" sz="2000" dirty="0"/>
              <a:t>      </a:t>
            </a:r>
            <a:r>
              <a:rPr lang="en-US" altLang="en-US" sz="2000" dirty="0">
                <a:sym typeface="Symbol" panose="05050102010706020507" pitchFamily="18" charset="2"/>
              </a:rPr>
              <a:t></a:t>
            </a:r>
            <a:r>
              <a:rPr lang="en-US" altLang="en-US" sz="2000" dirty="0">
                <a:sym typeface="Greek Symbols"/>
              </a:rPr>
              <a:t> </a:t>
            </a:r>
            <a:r>
              <a:rPr lang="en-US" altLang="en-US" sz="2000" dirty="0">
                <a:sym typeface="Symbol" panose="05050102010706020507" pitchFamily="18" charset="2"/>
              </a:rPr>
              <a:t> (</a:t>
            </a:r>
            <a:r>
              <a:rPr lang="en-US" altLang="en-US" sz="2000" baseline="30000" dirty="0">
                <a:sym typeface="Symbol" panose="05050102010706020507" pitchFamily="18" charset="2"/>
              </a:rPr>
              <a:t>+ </a:t>
            </a:r>
            <a:r>
              <a:rPr lang="en-US" altLang="en-US" sz="2000" dirty="0">
                <a:sym typeface="Symbol" panose="05050102010706020507" pitchFamily="18" charset="2"/>
              </a:rPr>
              <a:t>- )  </a:t>
            </a:r>
            <a:r>
              <a:rPr lang="en-US" altLang="en-US" sz="2000" i="1" dirty="0"/>
              <a:t>R</a:t>
            </a:r>
            <a:r>
              <a:rPr lang="en-US" altLang="en-US" sz="2000" i="1" baseline="-25000" dirty="0"/>
              <a:t>i</a:t>
            </a:r>
            <a:br>
              <a:rPr lang="en-US" altLang="en-US" sz="2000" baseline="30000" dirty="0"/>
            </a:br>
            <a:r>
              <a:rPr lang="en-US" altLang="en-US" sz="2000" dirty="0"/>
              <a:t>can be shown to hold on </a:t>
            </a:r>
            <a:r>
              <a:rPr lang="en-US" altLang="en-US" sz="2000" i="1" dirty="0"/>
              <a:t>R</a:t>
            </a:r>
            <a:r>
              <a:rPr lang="en-US" altLang="en-US" sz="2000" i="1" baseline="-25000" dirty="0"/>
              <a:t>i</a:t>
            </a:r>
            <a:r>
              <a:rPr lang="en-US" altLang="en-US" sz="2000" dirty="0"/>
              <a:t>, and </a:t>
            </a:r>
            <a:r>
              <a:rPr lang="en-US" altLang="en-US" sz="2000" i="1" dirty="0"/>
              <a:t>R</a:t>
            </a:r>
            <a:r>
              <a:rPr lang="en-US" altLang="en-US" sz="2000" i="1" baseline="-25000" dirty="0"/>
              <a:t>i</a:t>
            </a:r>
            <a:r>
              <a:rPr lang="en-US" altLang="en-US" sz="2000" dirty="0"/>
              <a:t> violates BCNF.</a:t>
            </a:r>
            <a:endParaRPr lang="en-US" altLang="en-US" sz="2000" dirty="0"/>
          </a:p>
          <a:p>
            <a:pPr lvl="1"/>
            <a:r>
              <a:rPr lang="en-US" altLang="en-US" sz="2000" dirty="0"/>
              <a:t>We use above dependency to decompose </a:t>
            </a:r>
            <a:r>
              <a:rPr lang="en-US" altLang="en-US" sz="2000" i="1" dirty="0"/>
              <a:t>R</a:t>
            </a:r>
            <a:r>
              <a:rPr lang="en-US" altLang="en-US" sz="2000" i="1" baseline="-25000" dirty="0"/>
              <a:t>i</a:t>
            </a:r>
            <a:endParaRPr lang="en-US" altLang="en-US" sz="2000" i="1" dirty="0"/>
          </a:p>
        </p:txBody>
      </p:sp>
      <p:sp>
        <p:nvSpPr>
          <p:cNvPr id="2" name="TextBox 1"/>
          <p:cNvSpPr txBox="1"/>
          <p:nvPr/>
        </p:nvSpPr>
        <p:spPr>
          <a:xfrm>
            <a:off x="768350" y="1143000"/>
            <a:ext cx="70770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000" dirty="0"/>
              <a:t>To check if a relation </a:t>
            </a:r>
            <a:r>
              <a:rPr lang="en-US" altLang="en-US" sz="2000" i="1" dirty="0" err="1"/>
              <a:t>R</a:t>
            </a:r>
            <a:r>
              <a:rPr lang="en-US" altLang="en-US" sz="2000" i="1" baseline="-25000" dirty="0" err="1"/>
              <a:t>i</a:t>
            </a:r>
            <a:r>
              <a:rPr lang="en-US" altLang="en-US" sz="2000" dirty="0"/>
              <a:t> in a decomposition of </a:t>
            </a:r>
            <a:r>
              <a:rPr lang="en-US" altLang="en-US" sz="2000" i="1" dirty="0"/>
              <a:t>R</a:t>
            </a:r>
            <a:r>
              <a:rPr lang="en-US" altLang="en-US" sz="2000" dirty="0"/>
              <a:t> is in BCNF</a:t>
            </a:r>
            <a:endParaRPr lang="en-US" sz="200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3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BCNF Decomposition Algorithm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  <a:ea typeface="MS PGothic" panose="020B0600070205080204" pitchFamily="34" charset="-128"/>
            </a:endParaRPr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49350"/>
            <a:ext cx="7763091" cy="4291013"/>
          </a:xfrm>
        </p:spPr>
        <p:txBody>
          <a:bodyPr/>
          <a:lstStyle/>
          <a:p>
            <a:pPr>
              <a:buFont typeface="Monotype Sorts" pitchFamily="-65" charset="2"/>
              <a:buNone/>
              <a:tabLst>
                <a:tab pos="565150" algn="l"/>
                <a:tab pos="803275" algn="l"/>
                <a:tab pos="1489075" algn="l"/>
                <a:tab pos="1771650" algn="l"/>
              </a:tabLst>
            </a:pPr>
            <a:r>
              <a:rPr lang="en-US" altLang="en-US" i="1" dirty="0"/>
              <a:t>	</a:t>
            </a:r>
            <a:r>
              <a:rPr lang="en-US" altLang="en-US" sz="2000" i="1" dirty="0">
                <a:solidFill>
                  <a:srgbClr val="7030A0"/>
                </a:solidFill>
              </a:rPr>
              <a:t>result </a:t>
            </a:r>
            <a:r>
              <a:rPr lang="en-US" altLang="en-US" sz="2000" dirty="0">
                <a:solidFill>
                  <a:srgbClr val="7030A0"/>
                </a:solidFill>
              </a:rPr>
              <a:t>:= {</a:t>
            </a:r>
            <a:r>
              <a:rPr lang="en-US" altLang="en-US" sz="2000" i="1" dirty="0">
                <a:solidFill>
                  <a:srgbClr val="7030A0"/>
                </a:solidFill>
              </a:rPr>
              <a:t>R </a:t>
            </a:r>
            <a:r>
              <a:rPr lang="en-US" altLang="en-US" sz="2000" dirty="0">
                <a:solidFill>
                  <a:srgbClr val="7030A0"/>
                </a:solidFill>
              </a:rPr>
              <a:t>};</a:t>
            </a:r>
            <a:br>
              <a:rPr lang="en-US" altLang="en-US" sz="2000" dirty="0">
                <a:solidFill>
                  <a:srgbClr val="7030A0"/>
                </a:solidFill>
              </a:rPr>
            </a:br>
            <a:r>
              <a:rPr lang="en-US" altLang="en-US" sz="2000" i="1" dirty="0">
                <a:solidFill>
                  <a:srgbClr val="7030A0"/>
                </a:solidFill>
              </a:rPr>
              <a:t>done </a:t>
            </a:r>
            <a:r>
              <a:rPr lang="en-US" altLang="en-US" sz="2000" dirty="0">
                <a:solidFill>
                  <a:srgbClr val="7030A0"/>
                </a:solidFill>
              </a:rPr>
              <a:t>:= false;</a:t>
            </a:r>
            <a:br>
              <a:rPr lang="en-US" altLang="en-US" sz="2000" dirty="0">
                <a:solidFill>
                  <a:srgbClr val="7030A0"/>
                </a:solidFill>
              </a:rPr>
            </a:br>
            <a:r>
              <a:rPr lang="en-US" altLang="en-US" sz="2000" dirty="0">
                <a:solidFill>
                  <a:srgbClr val="7030A0"/>
                </a:solidFill>
              </a:rPr>
              <a:t>compute </a:t>
            </a:r>
            <a:r>
              <a:rPr lang="en-US" altLang="en-US" sz="2000" i="1" dirty="0">
                <a:solidFill>
                  <a:srgbClr val="7030A0"/>
                </a:solidFill>
              </a:rPr>
              <a:t>F </a:t>
            </a:r>
            <a:r>
              <a:rPr lang="en-US" altLang="en-US" sz="2000" baseline="30000" dirty="0">
                <a:solidFill>
                  <a:srgbClr val="7030A0"/>
                </a:solidFill>
              </a:rPr>
              <a:t>+</a:t>
            </a:r>
            <a:r>
              <a:rPr lang="en-US" altLang="en-US" sz="2000" dirty="0">
                <a:solidFill>
                  <a:srgbClr val="7030A0"/>
                </a:solidFill>
              </a:rPr>
              <a:t>;</a:t>
            </a:r>
            <a:br>
              <a:rPr lang="en-US" altLang="en-US" sz="2000" dirty="0">
                <a:solidFill>
                  <a:srgbClr val="7030A0"/>
                </a:solidFill>
              </a:rPr>
            </a:br>
            <a:r>
              <a:rPr lang="en-US" altLang="en-US" sz="2000" b="1" dirty="0">
                <a:solidFill>
                  <a:srgbClr val="7030A0"/>
                </a:solidFill>
              </a:rPr>
              <a:t>while (not </a:t>
            </a:r>
            <a:r>
              <a:rPr lang="en-US" altLang="en-US" sz="2000" i="1" dirty="0">
                <a:solidFill>
                  <a:srgbClr val="7030A0"/>
                </a:solidFill>
              </a:rPr>
              <a:t>done) </a:t>
            </a:r>
            <a:r>
              <a:rPr lang="en-US" altLang="en-US" sz="2000" b="1" dirty="0">
                <a:solidFill>
                  <a:srgbClr val="7030A0"/>
                </a:solidFill>
              </a:rPr>
              <a:t>do</a:t>
            </a:r>
            <a:br>
              <a:rPr lang="en-US" altLang="en-US" sz="2000" b="1" dirty="0">
                <a:solidFill>
                  <a:srgbClr val="7030A0"/>
                </a:solidFill>
              </a:rPr>
            </a:br>
            <a:r>
              <a:rPr lang="en-US" altLang="en-US" sz="2000" b="1" dirty="0">
                <a:solidFill>
                  <a:srgbClr val="7030A0"/>
                </a:solidFill>
              </a:rPr>
              <a:t>	if </a:t>
            </a:r>
            <a:r>
              <a:rPr lang="en-US" altLang="en-US" sz="2000" dirty="0">
                <a:solidFill>
                  <a:srgbClr val="7030A0"/>
                </a:solidFill>
              </a:rPr>
              <a:t>(there is a schema </a:t>
            </a:r>
            <a:r>
              <a:rPr lang="en-US" altLang="en-US" sz="2000" i="1" dirty="0">
                <a:solidFill>
                  <a:srgbClr val="7030A0"/>
                </a:solidFill>
              </a:rPr>
              <a:t>R</a:t>
            </a:r>
            <a:r>
              <a:rPr lang="en-US" altLang="en-US" sz="2000" i="1" baseline="-25000" dirty="0">
                <a:solidFill>
                  <a:srgbClr val="7030A0"/>
                </a:solidFill>
              </a:rPr>
              <a:t>i</a:t>
            </a:r>
            <a:r>
              <a:rPr lang="en-US" altLang="en-US" sz="2000" i="1" dirty="0">
                <a:solidFill>
                  <a:srgbClr val="7030A0"/>
                </a:solidFill>
              </a:rPr>
              <a:t> </a:t>
            </a:r>
            <a:r>
              <a:rPr lang="en-US" altLang="en-US" sz="2000" dirty="0">
                <a:solidFill>
                  <a:srgbClr val="7030A0"/>
                </a:solidFill>
              </a:rPr>
              <a:t>in </a:t>
            </a:r>
            <a:r>
              <a:rPr lang="en-US" altLang="en-US" sz="2000" i="1" dirty="0">
                <a:solidFill>
                  <a:srgbClr val="7030A0"/>
                </a:solidFill>
              </a:rPr>
              <a:t>result </a:t>
            </a:r>
            <a:r>
              <a:rPr lang="en-US" altLang="en-US" sz="2000" dirty="0">
                <a:solidFill>
                  <a:srgbClr val="7030A0"/>
                </a:solidFill>
              </a:rPr>
              <a:t> that is not in BCNF)</a:t>
            </a:r>
            <a:br>
              <a:rPr lang="en-US" altLang="en-US" sz="2000" dirty="0">
                <a:solidFill>
                  <a:srgbClr val="7030A0"/>
                </a:solidFill>
              </a:rPr>
            </a:br>
            <a:r>
              <a:rPr lang="en-US" altLang="en-US" sz="2000" dirty="0">
                <a:solidFill>
                  <a:srgbClr val="7030A0"/>
                </a:solidFill>
              </a:rPr>
              <a:t>		</a:t>
            </a:r>
            <a:r>
              <a:rPr lang="en-US" altLang="en-US" sz="2000" b="1" dirty="0">
                <a:solidFill>
                  <a:srgbClr val="7030A0"/>
                </a:solidFill>
              </a:rPr>
              <a:t>then begin</a:t>
            </a:r>
            <a:br>
              <a:rPr lang="en-US" altLang="en-US" sz="2000" b="1" dirty="0">
                <a:solidFill>
                  <a:srgbClr val="7030A0"/>
                </a:solidFill>
              </a:rPr>
            </a:br>
            <a:r>
              <a:rPr lang="en-US" altLang="en-US" sz="2000" b="1" dirty="0">
                <a:solidFill>
                  <a:srgbClr val="7030A0"/>
                </a:solidFill>
              </a:rPr>
              <a:t>			</a:t>
            </a:r>
            <a:r>
              <a:rPr lang="en-US" altLang="en-US" sz="2000" dirty="0">
                <a:solidFill>
                  <a:srgbClr val="7030A0"/>
                </a:solidFill>
              </a:rPr>
              <a:t>let </a:t>
            </a:r>
            <a:r>
              <a:rPr lang="en-US" altLang="en-US" sz="2000" dirty="0">
                <a:solidFill>
                  <a:srgbClr val="7030A0"/>
                </a:solidFill>
                <a:sym typeface="Symbol" panose="05050102010706020507" pitchFamily="18" charset="2"/>
              </a:rPr>
              <a:t></a:t>
            </a:r>
            <a:r>
              <a:rPr lang="en-US" altLang="en-US" sz="2000" dirty="0">
                <a:solidFill>
                  <a:srgbClr val="7030A0"/>
                </a:solidFill>
                <a:sym typeface="Greek Symbols"/>
              </a:rPr>
              <a:t> </a:t>
            </a:r>
            <a:r>
              <a:rPr lang="en-US" altLang="en-US" sz="2000" dirty="0">
                <a:solidFill>
                  <a:srgbClr val="7030A0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2000" dirty="0">
                <a:solidFill>
                  <a:srgbClr val="7030A0"/>
                </a:solidFill>
                <a:sym typeface="Monotype Sorts" pitchFamily="-65" charset="2"/>
              </a:rPr>
              <a:t> </a:t>
            </a:r>
            <a:r>
              <a:rPr lang="en-US" altLang="en-US" sz="2000" i="1" dirty="0">
                <a:solidFill>
                  <a:srgbClr val="7030A0"/>
                </a:solidFill>
                <a:sym typeface="Symbol" panose="05050102010706020507" pitchFamily="18" charset="2"/>
              </a:rPr>
              <a:t></a:t>
            </a:r>
            <a:r>
              <a:rPr lang="en-US" altLang="en-US" sz="2000" i="1" dirty="0">
                <a:solidFill>
                  <a:srgbClr val="7030A0"/>
                </a:solidFill>
                <a:sym typeface="Greek Symbols"/>
              </a:rPr>
              <a:t> </a:t>
            </a:r>
            <a:r>
              <a:rPr lang="en-US" altLang="en-US" sz="2000" dirty="0">
                <a:solidFill>
                  <a:srgbClr val="7030A0"/>
                </a:solidFill>
                <a:sym typeface="Greek Symbols"/>
              </a:rPr>
              <a:t> be a nontrivial functional dependency that </a:t>
            </a:r>
            <a:br>
              <a:rPr lang="en-US" altLang="en-US" sz="2000" dirty="0">
                <a:solidFill>
                  <a:srgbClr val="7030A0"/>
                </a:solidFill>
                <a:sym typeface="Greek Symbols"/>
              </a:rPr>
            </a:br>
            <a:r>
              <a:rPr lang="en-US" altLang="en-US" sz="2000" dirty="0">
                <a:solidFill>
                  <a:srgbClr val="7030A0"/>
                </a:solidFill>
                <a:sym typeface="Greek Symbols"/>
              </a:rPr>
              <a:t>                       holds on </a:t>
            </a:r>
            <a:r>
              <a:rPr lang="en-US" altLang="en-US" sz="2000" i="1" dirty="0">
                <a:solidFill>
                  <a:srgbClr val="7030A0"/>
                </a:solidFill>
                <a:sym typeface="Greek Symbols"/>
              </a:rPr>
              <a:t>R</a:t>
            </a:r>
            <a:r>
              <a:rPr lang="en-US" altLang="en-US" sz="2000" i="1" baseline="-25000" dirty="0">
                <a:solidFill>
                  <a:srgbClr val="7030A0"/>
                </a:solidFill>
                <a:sym typeface="Greek Symbols"/>
              </a:rPr>
              <a:t>i</a:t>
            </a:r>
            <a:r>
              <a:rPr lang="en-US" altLang="en-US" sz="2000" i="1" dirty="0">
                <a:solidFill>
                  <a:srgbClr val="7030A0"/>
                </a:solidFill>
                <a:sym typeface="Greek Symbols"/>
              </a:rPr>
              <a:t>  </a:t>
            </a:r>
            <a:r>
              <a:rPr lang="en-US" altLang="en-US" sz="2000" dirty="0">
                <a:solidFill>
                  <a:srgbClr val="7030A0"/>
                </a:solidFill>
                <a:sym typeface="Greek Symbols"/>
              </a:rPr>
              <a:t>such that </a:t>
            </a:r>
            <a:r>
              <a:rPr lang="en-US" altLang="en-US" sz="2000" dirty="0">
                <a:solidFill>
                  <a:srgbClr val="7030A0"/>
                </a:solidFill>
                <a:sym typeface="Symbol" panose="05050102010706020507" pitchFamily="18" charset="2"/>
              </a:rPr>
              <a:t></a:t>
            </a:r>
            <a:r>
              <a:rPr lang="en-US" altLang="en-US" sz="2000" dirty="0">
                <a:solidFill>
                  <a:srgbClr val="7030A0"/>
                </a:solidFill>
                <a:sym typeface="Greek Symbols"/>
              </a:rPr>
              <a:t> </a:t>
            </a:r>
            <a:r>
              <a:rPr lang="en-US" altLang="en-US" sz="2000" dirty="0">
                <a:solidFill>
                  <a:srgbClr val="7030A0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2000" dirty="0">
                <a:solidFill>
                  <a:srgbClr val="7030A0"/>
                </a:solidFill>
                <a:sym typeface="Monotype Sorts" pitchFamily="-65" charset="2"/>
              </a:rPr>
              <a:t> </a:t>
            </a:r>
            <a:r>
              <a:rPr lang="en-US" altLang="en-US" sz="2000" i="1" dirty="0">
                <a:solidFill>
                  <a:srgbClr val="7030A0"/>
                </a:solidFill>
                <a:sym typeface="Greek Symbols"/>
              </a:rPr>
              <a:t>R</a:t>
            </a:r>
            <a:r>
              <a:rPr lang="en-US" altLang="en-US" sz="2000" i="1" baseline="-25000" dirty="0">
                <a:solidFill>
                  <a:srgbClr val="7030A0"/>
                </a:solidFill>
                <a:sym typeface="Greek Symbols"/>
              </a:rPr>
              <a:t>i</a:t>
            </a:r>
            <a:r>
              <a:rPr lang="en-US" altLang="en-US" sz="2000" i="1" dirty="0">
                <a:solidFill>
                  <a:srgbClr val="7030A0"/>
                </a:solidFill>
                <a:sym typeface="Greek Symbols"/>
              </a:rPr>
              <a:t> </a:t>
            </a:r>
            <a:r>
              <a:rPr lang="en-US" altLang="en-US" sz="2000" dirty="0">
                <a:solidFill>
                  <a:srgbClr val="7030A0"/>
                </a:solidFill>
                <a:sym typeface="Greek Symbols"/>
              </a:rPr>
              <a:t>is not in </a:t>
            </a:r>
            <a:r>
              <a:rPr lang="en-US" altLang="en-US" sz="2000" i="1" dirty="0">
                <a:solidFill>
                  <a:srgbClr val="7030A0"/>
                </a:solidFill>
                <a:sym typeface="Greek Symbols"/>
              </a:rPr>
              <a:t>F </a:t>
            </a:r>
            <a:r>
              <a:rPr lang="en-US" altLang="en-US" sz="2000" baseline="30000" dirty="0">
                <a:solidFill>
                  <a:srgbClr val="7030A0"/>
                </a:solidFill>
                <a:sym typeface="Greek Symbols"/>
              </a:rPr>
              <a:t>+</a:t>
            </a:r>
            <a:r>
              <a:rPr lang="en-US" altLang="en-US" sz="2000" dirty="0">
                <a:solidFill>
                  <a:srgbClr val="7030A0"/>
                </a:solidFill>
                <a:sym typeface="Greek Symbols"/>
              </a:rPr>
              <a:t>, </a:t>
            </a:r>
            <a:br>
              <a:rPr lang="en-US" altLang="en-US" sz="2000" dirty="0">
                <a:solidFill>
                  <a:srgbClr val="7030A0"/>
                </a:solidFill>
                <a:sym typeface="Greek Symbols"/>
              </a:rPr>
            </a:br>
            <a:r>
              <a:rPr lang="en-US" altLang="en-US" sz="2000" dirty="0">
                <a:solidFill>
                  <a:srgbClr val="7030A0"/>
                </a:solidFill>
                <a:sym typeface="Greek Symbols"/>
              </a:rPr>
              <a:t>				   and </a:t>
            </a:r>
            <a:r>
              <a:rPr lang="en-US" altLang="en-US" sz="2000" dirty="0">
                <a:solidFill>
                  <a:srgbClr val="7030A0"/>
                </a:solidFill>
                <a:sym typeface="Symbol" panose="05050102010706020507" pitchFamily="18" charset="2"/>
              </a:rPr>
              <a:t></a:t>
            </a:r>
            <a:r>
              <a:rPr lang="en-US" altLang="en-US" sz="2000" dirty="0">
                <a:solidFill>
                  <a:srgbClr val="7030A0"/>
                </a:solidFill>
                <a:sym typeface="Greek Symbols"/>
              </a:rPr>
              <a:t> </a:t>
            </a:r>
            <a:r>
              <a:rPr lang="en-US" altLang="en-US" sz="2000" dirty="0">
                <a:solidFill>
                  <a:srgbClr val="7030A0"/>
                </a:solidFill>
                <a:sym typeface="Symbol" panose="05050102010706020507" pitchFamily="18" charset="2"/>
              </a:rPr>
              <a:t> </a:t>
            </a:r>
            <a:r>
              <a:rPr lang="en-US" altLang="en-US" sz="2000" i="1" dirty="0">
                <a:solidFill>
                  <a:srgbClr val="7030A0"/>
                </a:solidFill>
                <a:sym typeface="Symbol" panose="05050102010706020507" pitchFamily="18" charset="2"/>
              </a:rPr>
              <a:t></a:t>
            </a:r>
            <a:r>
              <a:rPr lang="en-US" altLang="en-US" sz="2000" i="1" dirty="0">
                <a:solidFill>
                  <a:srgbClr val="7030A0"/>
                </a:solidFill>
                <a:sym typeface="Greek Symbols"/>
              </a:rPr>
              <a:t>  = </a:t>
            </a:r>
            <a:r>
              <a:rPr lang="en-US" altLang="en-US" sz="2000" dirty="0">
                <a:solidFill>
                  <a:srgbClr val="7030A0"/>
                </a:solidFill>
                <a:sym typeface="Symbol" panose="05050102010706020507" pitchFamily="18" charset="2"/>
              </a:rPr>
              <a:t>;</a:t>
            </a:r>
            <a:br>
              <a:rPr lang="en-US" altLang="en-US" sz="2000" dirty="0">
                <a:solidFill>
                  <a:srgbClr val="7030A0"/>
                </a:solidFill>
                <a:sym typeface="Symbol" panose="05050102010706020507" pitchFamily="18" charset="2"/>
              </a:rPr>
            </a:br>
            <a:r>
              <a:rPr lang="en-US" altLang="en-US" sz="2000" dirty="0">
                <a:solidFill>
                  <a:srgbClr val="7030A0"/>
                </a:solidFill>
                <a:sym typeface="Symbol" panose="05050102010706020507" pitchFamily="18" charset="2"/>
              </a:rPr>
              <a:t>			   </a:t>
            </a:r>
            <a:r>
              <a:rPr lang="en-US" altLang="en-US" sz="2000" i="1" dirty="0">
                <a:solidFill>
                  <a:srgbClr val="7030A0"/>
                </a:solidFill>
                <a:sym typeface="Symbol" panose="05050102010706020507" pitchFamily="18" charset="2"/>
              </a:rPr>
              <a:t>result </a:t>
            </a:r>
            <a:r>
              <a:rPr lang="en-US" altLang="en-US" sz="2000" dirty="0" smtClean="0">
                <a:solidFill>
                  <a:srgbClr val="7030A0"/>
                </a:solidFill>
                <a:sym typeface="Symbol" panose="05050102010706020507" pitchFamily="18" charset="2"/>
              </a:rPr>
              <a:t>:=</a:t>
            </a:r>
            <a:r>
              <a:rPr lang="zh-CN" altLang="en-US" sz="2000" dirty="0" smtClean="0">
                <a:solidFill>
                  <a:srgbClr val="FF0000"/>
                </a:solidFill>
                <a:sym typeface="Symbol" panose="05050102010706020507" pitchFamily="18" charset="2"/>
              </a:rPr>
              <a:t>｛</a:t>
            </a:r>
            <a:r>
              <a:rPr lang="en-US" altLang="en-US" sz="2000" dirty="0" smtClean="0">
                <a:solidFill>
                  <a:srgbClr val="7030A0"/>
                </a:solidFill>
                <a:sym typeface="Symbol" panose="05050102010706020507" pitchFamily="18" charset="2"/>
              </a:rPr>
              <a:t> </a:t>
            </a:r>
            <a:r>
              <a:rPr lang="en-US" altLang="en-US" sz="2000" dirty="0">
                <a:solidFill>
                  <a:srgbClr val="7030A0"/>
                </a:solidFill>
                <a:sym typeface="Symbol" panose="05050102010706020507" pitchFamily="18" charset="2"/>
              </a:rPr>
              <a:t>(</a:t>
            </a:r>
            <a:r>
              <a:rPr lang="en-US" altLang="en-US" sz="2000" i="1" dirty="0">
                <a:solidFill>
                  <a:srgbClr val="7030A0"/>
                </a:solidFill>
                <a:sym typeface="Symbol" panose="05050102010706020507" pitchFamily="18" charset="2"/>
              </a:rPr>
              <a:t>result – R</a:t>
            </a:r>
            <a:r>
              <a:rPr lang="en-US" altLang="en-US" sz="2000" i="1" baseline="-25000" dirty="0">
                <a:solidFill>
                  <a:srgbClr val="7030A0"/>
                </a:solidFill>
                <a:sym typeface="Symbol" panose="05050102010706020507" pitchFamily="18" charset="2"/>
              </a:rPr>
              <a:t>i </a:t>
            </a:r>
            <a:r>
              <a:rPr lang="en-US" altLang="en-US" sz="2000" i="1" dirty="0">
                <a:solidFill>
                  <a:srgbClr val="7030A0"/>
                </a:solidFill>
                <a:sym typeface="Symbol" panose="05050102010706020507" pitchFamily="18" charset="2"/>
              </a:rPr>
              <a:t>) </a:t>
            </a:r>
            <a:r>
              <a:rPr lang="en-US" altLang="en-US" sz="2000" dirty="0">
                <a:solidFill>
                  <a:srgbClr val="7030A0"/>
                </a:solidFill>
                <a:sym typeface="Symbol" panose="05050102010706020507" pitchFamily="18" charset="2"/>
              </a:rPr>
              <a:t> (</a:t>
            </a:r>
            <a:r>
              <a:rPr lang="en-US" altLang="en-US" sz="2000" i="1" dirty="0">
                <a:solidFill>
                  <a:srgbClr val="7030A0"/>
                </a:solidFill>
                <a:sym typeface="Symbol" panose="05050102010706020507" pitchFamily="18" charset="2"/>
              </a:rPr>
              <a:t>R</a:t>
            </a:r>
            <a:r>
              <a:rPr lang="en-US" altLang="en-US" sz="2000" i="1" baseline="-25000" dirty="0">
                <a:solidFill>
                  <a:srgbClr val="7030A0"/>
                </a:solidFill>
                <a:sym typeface="Symbol" panose="05050102010706020507" pitchFamily="18" charset="2"/>
              </a:rPr>
              <a:t>i</a:t>
            </a:r>
            <a:r>
              <a:rPr lang="en-US" altLang="en-US" sz="2000" i="1" dirty="0">
                <a:solidFill>
                  <a:srgbClr val="7030A0"/>
                </a:solidFill>
                <a:sym typeface="Symbol" panose="05050102010706020507" pitchFamily="18" charset="2"/>
              </a:rPr>
              <a:t> – </a:t>
            </a:r>
            <a:r>
              <a:rPr lang="en-US" altLang="en-US" sz="2000" dirty="0">
                <a:solidFill>
                  <a:srgbClr val="7030A0"/>
                </a:solidFill>
                <a:sym typeface="Greek Symbols"/>
              </a:rPr>
              <a:t>) </a:t>
            </a:r>
            <a:r>
              <a:rPr lang="zh-CN" altLang="en-US" sz="2000" dirty="0" smtClean="0">
                <a:solidFill>
                  <a:srgbClr val="FF0000"/>
                </a:solidFill>
                <a:sym typeface="Greek Symbols"/>
              </a:rPr>
              <a:t>｝</a:t>
            </a:r>
            <a:r>
              <a:rPr lang="en-US" altLang="en-US" sz="2000" dirty="0" smtClean="0">
                <a:solidFill>
                  <a:srgbClr val="7030A0"/>
                </a:solidFill>
                <a:sym typeface="Symbol" panose="05050102010706020507" pitchFamily="18" charset="2"/>
              </a:rPr>
              <a:t> </a:t>
            </a:r>
            <a:r>
              <a:rPr lang="zh-CN" altLang="en-US" sz="2000" dirty="0" smtClean="0">
                <a:solidFill>
                  <a:srgbClr val="FF0000"/>
                </a:solidFill>
                <a:sym typeface="Symbol" panose="05050102010706020507" pitchFamily="18" charset="2"/>
              </a:rPr>
              <a:t>｛</a:t>
            </a:r>
            <a:r>
              <a:rPr lang="en-US" altLang="en-US" sz="2000" dirty="0" smtClean="0">
                <a:solidFill>
                  <a:srgbClr val="7030A0"/>
                </a:solidFill>
                <a:sym typeface="Symbol" panose="05050102010706020507" pitchFamily="18" charset="2"/>
              </a:rPr>
              <a:t>(</a:t>
            </a:r>
            <a:r>
              <a:rPr lang="en-US" altLang="en-US" sz="2000" dirty="0">
                <a:solidFill>
                  <a:srgbClr val="7030A0"/>
                </a:solidFill>
                <a:sym typeface="Symbol" panose="05050102010706020507" pitchFamily="18" charset="2"/>
              </a:rPr>
              <a:t></a:t>
            </a:r>
            <a:r>
              <a:rPr lang="en-US" altLang="en-US" sz="2000" dirty="0">
                <a:solidFill>
                  <a:srgbClr val="7030A0"/>
                </a:solidFill>
                <a:sym typeface="Greek Symbols"/>
              </a:rPr>
              <a:t>, </a:t>
            </a:r>
            <a:r>
              <a:rPr lang="en-US" altLang="en-US" sz="2000" i="1" dirty="0">
                <a:solidFill>
                  <a:srgbClr val="7030A0"/>
                </a:solidFill>
                <a:sym typeface="Symbol" panose="05050102010706020507" pitchFamily="18" charset="2"/>
              </a:rPr>
              <a:t></a:t>
            </a:r>
            <a:r>
              <a:rPr lang="en-US" altLang="en-US" sz="2000" i="1" dirty="0">
                <a:solidFill>
                  <a:srgbClr val="7030A0"/>
                </a:solidFill>
                <a:sym typeface="Greek Symbols"/>
              </a:rPr>
              <a:t> </a:t>
            </a:r>
            <a:r>
              <a:rPr lang="en-US" altLang="en-US" sz="2000" i="1" dirty="0" smtClean="0">
                <a:solidFill>
                  <a:srgbClr val="7030A0"/>
                </a:solidFill>
                <a:sym typeface="Greek Symbols"/>
              </a:rPr>
              <a:t>)</a:t>
            </a:r>
            <a:r>
              <a:rPr lang="zh-CN" altLang="en-US" sz="2000" i="1" dirty="0" smtClean="0">
                <a:solidFill>
                  <a:srgbClr val="FF0000"/>
                </a:solidFill>
                <a:sym typeface="Greek Symbols"/>
              </a:rPr>
              <a:t>｝</a:t>
            </a:r>
            <a:r>
              <a:rPr lang="en-US" altLang="en-US" sz="2000" i="1" dirty="0" smtClean="0">
                <a:solidFill>
                  <a:srgbClr val="7030A0"/>
                </a:solidFill>
                <a:sym typeface="Greek Symbols"/>
              </a:rPr>
              <a:t>;</a:t>
            </a:r>
            <a:br>
              <a:rPr lang="en-US" altLang="en-US" sz="2000" i="1" dirty="0">
                <a:solidFill>
                  <a:srgbClr val="7030A0"/>
                </a:solidFill>
                <a:sym typeface="Greek Symbols"/>
              </a:rPr>
            </a:br>
            <a:r>
              <a:rPr lang="en-US" altLang="en-US" sz="2000" i="1" dirty="0">
                <a:solidFill>
                  <a:srgbClr val="7030A0"/>
                </a:solidFill>
                <a:sym typeface="Greek Symbols"/>
              </a:rPr>
              <a:t>	    	</a:t>
            </a:r>
            <a:r>
              <a:rPr lang="en-US" altLang="en-US" sz="2000" b="1" dirty="0">
                <a:solidFill>
                  <a:srgbClr val="7030A0"/>
                </a:solidFill>
                <a:sym typeface="Greek Symbols"/>
              </a:rPr>
              <a:t>end</a:t>
            </a:r>
            <a:br>
              <a:rPr lang="en-US" altLang="en-US" sz="2000" b="1" dirty="0">
                <a:solidFill>
                  <a:srgbClr val="7030A0"/>
                </a:solidFill>
                <a:sym typeface="Greek Symbols"/>
              </a:rPr>
            </a:br>
            <a:r>
              <a:rPr lang="en-US" altLang="en-US" sz="2000" b="1" dirty="0">
                <a:solidFill>
                  <a:srgbClr val="7030A0"/>
                </a:solidFill>
                <a:sym typeface="Greek Symbols"/>
              </a:rPr>
              <a:t>		else</a:t>
            </a:r>
            <a:r>
              <a:rPr lang="en-US" altLang="en-US" sz="2000" i="1" dirty="0">
                <a:solidFill>
                  <a:srgbClr val="7030A0"/>
                </a:solidFill>
                <a:sym typeface="Greek Symbols"/>
              </a:rPr>
              <a:t> done </a:t>
            </a:r>
            <a:r>
              <a:rPr lang="en-US" altLang="en-US" sz="2000" dirty="0">
                <a:solidFill>
                  <a:srgbClr val="7030A0"/>
                </a:solidFill>
                <a:sym typeface="Greek Symbols"/>
              </a:rPr>
              <a:t>:= </a:t>
            </a:r>
            <a:r>
              <a:rPr lang="en-US" altLang="en-US" sz="2000" b="1" dirty="0">
                <a:solidFill>
                  <a:srgbClr val="7030A0"/>
                </a:solidFill>
                <a:sym typeface="Greek Symbols"/>
              </a:rPr>
              <a:t>true;</a:t>
            </a:r>
            <a:r>
              <a:rPr lang="en-US" altLang="en-US" sz="2000" b="1" dirty="0">
                <a:sym typeface="Greek Symbols"/>
              </a:rPr>
              <a:t> </a:t>
            </a:r>
            <a:endParaRPr lang="en-US" altLang="en-US" sz="2000" b="1" dirty="0">
              <a:sym typeface="Greek Symbols"/>
            </a:endParaRPr>
          </a:p>
          <a:p>
            <a:pPr>
              <a:buFont typeface="Monotype Sorts" pitchFamily="-65" charset="2"/>
              <a:buNone/>
              <a:tabLst>
                <a:tab pos="565150" algn="l"/>
                <a:tab pos="803275" algn="l"/>
                <a:tab pos="1489075" algn="l"/>
                <a:tab pos="1771650" algn="l"/>
              </a:tabLst>
            </a:pPr>
            <a:endParaRPr lang="en-US" altLang="en-US" sz="2000" b="1" dirty="0">
              <a:sym typeface="Greek Symbols"/>
            </a:endParaRPr>
          </a:p>
          <a:p>
            <a:pPr>
              <a:buFont typeface="Monotype Sorts" pitchFamily="-65" charset="2"/>
              <a:buNone/>
              <a:tabLst>
                <a:tab pos="565150" algn="l"/>
                <a:tab pos="803275" algn="l"/>
                <a:tab pos="1489075" algn="l"/>
                <a:tab pos="1771650" algn="l"/>
              </a:tabLst>
            </a:pPr>
            <a:r>
              <a:rPr lang="en-US" altLang="en-US" sz="2000" dirty="0">
                <a:sym typeface="Greek Symbols"/>
              </a:rPr>
              <a:t>     Note:  each </a:t>
            </a:r>
            <a:r>
              <a:rPr lang="en-US" altLang="en-US" sz="2000" i="1" dirty="0">
                <a:sym typeface="Greek Symbols"/>
              </a:rPr>
              <a:t>R</a:t>
            </a:r>
            <a:r>
              <a:rPr lang="en-US" altLang="en-US" sz="2000" i="1" baseline="-25000" dirty="0">
                <a:sym typeface="Greek Symbols"/>
              </a:rPr>
              <a:t>i</a:t>
            </a:r>
            <a:r>
              <a:rPr lang="en-US" altLang="en-US" sz="2000" i="1" dirty="0">
                <a:sym typeface="Greek Symbols"/>
              </a:rPr>
              <a:t> </a:t>
            </a:r>
            <a:r>
              <a:rPr lang="en-US" altLang="en-US" sz="2000" dirty="0">
                <a:sym typeface="Greek Symbols"/>
              </a:rPr>
              <a:t>is in BCNF, and decomposition is lossless-join.</a:t>
            </a:r>
            <a:endParaRPr lang="en-US" altLang="en-US" sz="2000" dirty="0">
              <a:sym typeface="Greek Symbols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4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Example of BCNF Decomposition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  <a:ea typeface="MS PGothic" panose="020B0600070205080204" pitchFamily="34" charset="-128"/>
            </a:endParaRPr>
          </a:p>
        </p:txBody>
      </p:sp>
      <p:sp>
        <p:nvSpPr>
          <p:cNvPr id="7424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93788"/>
            <a:ext cx="7594415" cy="4633244"/>
          </a:xfrm>
        </p:spPr>
        <p:txBody>
          <a:bodyPr/>
          <a:lstStyle/>
          <a:p>
            <a:pPr>
              <a:lnSpc>
                <a:spcPct val="90000"/>
              </a:lnSpc>
              <a:tabLst>
                <a:tab pos="744220" algn="l"/>
                <a:tab pos="2574925" algn="l"/>
              </a:tabLst>
            </a:pPr>
            <a:r>
              <a:rPr lang="en-US" altLang="en-US" sz="2000" i="1" dirty="0"/>
              <a:t>class </a:t>
            </a:r>
            <a:r>
              <a:rPr lang="en-US" altLang="en-US" sz="2000" dirty="0"/>
              <a:t>(</a:t>
            </a:r>
            <a:r>
              <a:rPr lang="en-US" altLang="en-US" sz="2000" i="1" dirty="0" err="1"/>
              <a:t>course_id</a:t>
            </a:r>
            <a:r>
              <a:rPr lang="en-US" altLang="en-US" sz="2000" dirty="0"/>
              <a:t>, </a:t>
            </a:r>
            <a:r>
              <a:rPr lang="en-US" altLang="en-US" sz="2000" i="1" dirty="0"/>
              <a:t>title</a:t>
            </a:r>
            <a:r>
              <a:rPr lang="en-US" altLang="en-US" sz="2000" dirty="0"/>
              <a:t>, </a:t>
            </a:r>
            <a:r>
              <a:rPr lang="en-US" altLang="en-US" sz="2000" i="1" dirty="0" err="1"/>
              <a:t>dept_name</a:t>
            </a:r>
            <a:r>
              <a:rPr lang="en-US" altLang="en-US" sz="2000" dirty="0"/>
              <a:t>, </a:t>
            </a:r>
            <a:r>
              <a:rPr lang="en-US" altLang="en-US" sz="2000" i="1" dirty="0"/>
              <a:t>credits</a:t>
            </a:r>
            <a:r>
              <a:rPr lang="en-US" altLang="en-US" sz="2000" dirty="0"/>
              <a:t>, </a:t>
            </a:r>
            <a:r>
              <a:rPr lang="en-US" altLang="en-US" sz="2000" i="1" dirty="0" err="1"/>
              <a:t>sec_id</a:t>
            </a:r>
            <a:r>
              <a:rPr lang="en-US" altLang="en-US" sz="2000" dirty="0"/>
              <a:t>, </a:t>
            </a:r>
            <a:r>
              <a:rPr lang="en-US" altLang="en-US" sz="2000" i="1" dirty="0"/>
              <a:t>semester</a:t>
            </a:r>
            <a:r>
              <a:rPr lang="en-US" altLang="en-US" sz="2000" dirty="0"/>
              <a:t>, </a:t>
            </a:r>
            <a:r>
              <a:rPr lang="en-US" altLang="en-US" sz="2000" i="1" dirty="0"/>
              <a:t>year</a:t>
            </a:r>
            <a:r>
              <a:rPr lang="en-US" altLang="en-US" sz="2000" dirty="0"/>
              <a:t>, </a:t>
            </a:r>
            <a:r>
              <a:rPr lang="en-US" altLang="en-US" sz="2000" i="1" dirty="0"/>
              <a:t>building</a:t>
            </a:r>
            <a:r>
              <a:rPr lang="en-US" altLang="en-US" sz="2000" dirty="0"/>
              <a:t>, </a:t>
            </a:r>
            <a:r>
              <a:rPr lang="en-US" altLang="en-US" sz="2000" i="1" dirty="0" err="1"/>
              <a:t>room_number</a:t>
            </a:r>
            <a:r>
              <a:rPr lang="en-US" altLang="en-US" sz="2000" dirty="0"/>
              <a:t>, </a:t>
            </a:r>
            <a:r>
              <a:rPr lang="en-US" altLang="en-US" sz="2000" i="1" dirty="0"/>
              <a:t>capacity</a:t>
            </a:r>
            <a:r>
              <a:rPr lang="en-US" altLang="en-US" sz="2000" dirty="0"/>
              <a:t>, </a:t>
            </a:r>
            <a:r>
              <a:rPr lang="en-US" altLang="en-US" sz="2000" i="1" dirty="0" err="1"/>
              <a:t>time_slot_id</a:t>
            </a:r>
            <a:r>
              <a:rPr lang="en-US" altLang="en-US" sz="2000" dirty="0"/>
              <a:t>)</a:t>
            </a:r>
            <a:endParaRPr lang="en-US" altLang="en-US" sz="2000" dirty="0"/>
          </a:p>
          <a:p>
            <a:pPr>
              <a:lnSpc>
                <a:spcPct val="90000"/>
              </a:lnSpc>
              <a:tabLst>
                <a:tab pos="744220" algn="l"/>
                <a:tab pos="2574925" algn="l"/>
              </a:tabLst>
            </a:pPr>
            <a:r>
              <a:rPr lang="en-US" altLang="en-US" sz="2000" dirty="0"/>
              <a:t>Functional dependencies:</a:t>
            </a:r>
            <a:endParaRPr lang="en-US" altLang="en-US" sz="2000" dirty="0"/>
          </a:p>
          <a:p>
            <a:pPr lvl="1">
              <a:lnSpc>
                <a:spcPct val="90000"/>
              </a:lnSpc>
              <a:tabLst>
                <a:tab pos="744220" algn="l"/>
                <a:tab pos="2574925" algn="l"/>
              </a:tabLst>
            </a:pPr>
            <a:r>
              <a:rPr lang="en-US" altLang="en-US" sz="2000" i="1" dirty="0" err="1"/>
              <a:t>course_id</a:t>
            </a:r>
            <a:r>
              <a:rPr lang="en-US" altLang="en-US" sz="2000" dirty="0"/>
              <a:t>→ </a:t>
            </a:r>
            <a:r>
              <a:rPr lang="en-US" altLang="en-US" sz="2000" i="1" dirty="0"/>
              <a:t>title</a:t>
            </a:r>
            <a:r>
              <a:rPr lang="en-US" altLang="en-US" sz="2000" dirty="0"/>
              <a:t>, </a:t>
            </a:r>
            <a:r>
              <a:rPr lang="en-US" altLang="en-US" sz="2000" i="1" dirty="0" err="1"/>
              <a:t>dept_name</a:t>
            </a:r>
            <a:r>
              <a:rPr lang="en-US" altLang="en-US" sz="2000" dirty="0"/>
              <a:t>, </a:t>
            </a:r>
            <a:r>
              <a:rPr lang="en-US" altLang="en-US" sz="2000" i="1" dirty="0"/>
              <a:t>credits</a:t>
            </a:r>
            <a:endParaRPr lang="en-US" altLang="en-US" sz="2000" i="1" dirty="0"/>
          </a:p>
          <a:p>
            <a:pPr lvl="1">
              <a:lnSpc>
                <a:spcPct val="90000"/>
              </a:lnSpc>
              <a:tabLst>
                <a:tab pos="744220" algn="l"/>
                <a:tab pos="2574925" algn="l"/>
              </a:tabLst>
            </a:pPr>
            <a:r>
              <a:rPr lang="en-US" altLang="en-US" sz="2000" i="1" dirty="0"/>
              <a:t>building</a:t>
            </a:r>
            <a:r>
              <a:rPr lang="en-US" altLang="en-US" sz="2000" dirty="0"/>
              <a:t>, </a:t>
            </a:r>
            <a:r>
              <a:rPr lang="en-US" altLang="en-US" sz="2000" i="1" dirty="0" err="1"/>
              <a:t>room_number</a:t>
            </a:r>
            <a:r>
              <a:rPr lang="en-US" altLang="en-US" sz="2000" dirty="0" err="1"/>
              <a:t>→</a:t>
            </a:r>
            <a:r>
              <a:rPr lang="en-US" altLang="en-US" sz="2000" i="1" dirty="0" err="1"/>
              <a:t>capacity</a:t>
            </a:r>
            <a:endParaRPr lang="en-US" altLang="en-US" sz="2000" i="1" dirty="0"/>
          </a:p>
          <a:p>
            <a:pPr lvl="1">
              <a:lnSpc>
                <a:spcPct val="90000"/>
              </a:lnSpc>
              <a:tabLst>
                <a:tab pos="744220" algn="l"/>
                <a:tab pos="2574925" algn="l"/>
              </a:tabLst>
            </a:pPr>
            <a:r>
              <a:rPr lang="en-US" altLang="en-US" sz="2000" i="1" dirty="0" err="1"/>
              <a:t>course_id</a:t>
            </a:r>
            <a:r>
              <a:rPr lang="en-US" altLang="en-US" sz="2000" dirty="0"/>
              <a:t>, </a:t>
            </a:r>
            <a:r>
              <a:rPr lang="en-US" altLang="en-US" sz="2000" i="1" dirty="0" err="1"/>
              <a:t>sec_id</a:t>
            </a:r>
            <a:r>
              <a:rPr lang="en-US" altLang="en-US" sz="2000" dirty="0"/>
              <a:t>, </a:t>
            </a:r>
            <a:r>
              <a:rPr lang="en-US" altLang="en-US" sz="2000" i="1" dirty="0"/>
              <a:t>semester</a:t>
            </a:r>
            <a:r>
              <a:rPr lang="en-US" altLang="en-US" sz="2000" dirty="0"/>
              <a:t>, </a:t>
            </a:r>
            <a:r>
              <a:rPr lang="en-US" altLang="en-US" sz="2000" i="1" dirty="0" err="1"/>
              <a:t>year</a:t>
            </a:r>
            <a:r>
              <a:rPr lang="en-US" altLang="en-US" sz="2000" dirty="0" err="1"/>
              <a:t>→</a:t>
            </a:r>
            <a:r>
              <a:rPr lang="en-US" altLang="en-US" sz="2000" i="1" dirty="0" err="1"/>
              <a:t>building</a:t>
            </a:r>
            <a:r>
              <a:rPr lang="en-US" altLang="en-US" sz="2000" dirty="0"/>
              <a:t>, </a:t>
            </a:r>
            <a:r>
              <a:rPr lang="en-US" altLang="en-US" sz="2000" i="1" dirty="0" err="1"/>
              <a:t>room_number</a:t>
            </a:r>
            <a:r>
              <a:rPr lang="en-US" altLang="en-US" sz="2000" dirty="0"/>
              <a:t>, </a:t>
            </a:r>
            <a:r>
              <a:rPr lang="en-US" altLang="en-US" sz="2000" i="1" dirty="0" err="1"/>
              <a:t>time_slot_id</a:t>
            </a:r>
            <a:endParaRPr lang="en-US" altLang="en-US" sz="2000" i="1" dirty="0"/>
          </a:p>
          <a:p>
            <a:pPr>
              <a:lnSpc>
                <a:spcPct val="90000"/>
              </a:lnSpc>
              <a:tabLst>
                <a:tab pos="744220" algn="l"/>
                <a:tab pos="2574925" algn="l"/>
              </a:tabLst>
            </a:pPr>
            <a:r>
              <a:rPr lang="en-US" altLang="en-US" sz="2000" dirty="0"/>
              <a:t>A candidate key {</a:t>
            </a:r>
            <a:r>
              <a:rPr lang="en-US" altLang="en-US" sz="2000" i="1" dirty="0" err="1"/>
              <a:t>course_id</a:t>
            </a:r>
            <a:r>
              <a:rPr lang="en-US" altLang="en-US" sz="2000" dirty="0"/>
              <a:t>, </a:t>
            </a:r>
            <a:r>
              <a:rPr lang="en-US" altLang="en-US" sz="2000" i="1" dirty="0" err="1"/>
              <a:t>sec_id</a:t>
            </a:r>
            <a:r>
              <a:rPr lang="en-US" altLang="en-US" sz="2000" dirty="0"/>
              <a:t>, </a:t>
            </a:r>
            <a:r>
              <a:rPr lang="en-US" altLang="en-US" sz="2000" i="1" dirty="0"/>
              <a:t>semester</a:t>
            </a:r>
            <a:r>
              <a:rPr lang="en-US" altLang="en-US" sz="2000" dirty="0"/>
              <a:t>, </a:t>
            </a:r>
            <a:r>
              <a:rPr lang="en-US" altLang="en-US" sz="2000" i="1" dirty="0"/>
              <a:t>year</a:t>
            </a:r>
            <a:r>
              <a:rPr lang="en-US" altLang="en-US" sz="2000" dirty="0"/>
              <a:t>}.</a:t>
            </a:r>
            <a:endParaRPr lang="en-US" altLang="en-US" sz="2000" dirty="0"/>
          </a:p>
          <a:p>
            <a:pPr>
              <a:lnSpc>
                <a:spcPct val="90000"/>
              </a:lnSpc>
              <a:tabLst>
                <a:tab pos="744220" algn="l"/>
                <a:tab pos="2574925" algn="l"/>
              </a:tabLst>
            </a:pPr>
            <a:r>
              <a:rPr lang="en-US" altLang="en-US" sz="2000" dirty="0"/>
              <a:t>BCNF Decomposition:</a:t>
            </a:r>
            <a:endParaRPr lang="en-US" altLang="en-US" sz="2000" dirty="0"/>
          </a:p>
          <a:p>
            <a:pPr lvl="1">
              <a:lnSpc>
                <a:spcPct val="90000"/>
              </a:lnSpc>
              <a:tabLst>
                <a:tab pos="744220" algn="l"/>
                <a:tab pos="2574925" algn="l"/>
              </a:tabLst>
            </a:pPr>
            <a:r>
              <a:rPr lang="en-US" altLang="en-US" sz="2000" i="1" dirty="0" err="1"/>
              <a:t>course_id</a:t>
            </a:r>
            <a:r>
              <a:rPr lang="en-US" altLang="en-US" sz="2000" dirty="0"/>
              <a:t>→ </a:t>
            </a:r>
            <a:r>
              <a:rPr lang="en-US" altLang="en-US" sz="2000" i="1" dirty="0"/>
              <a:t>title</a:t>
            </a:r>
            <a:r>
              <a:rPr lang="en-US" altLang="en-US" sz="2000" dirty="0"/>
              <a:t>, </a:t>
            </a:r>
            <a:r>
              <a:rPr lang="en-US" altLang="en-US" sz="2000" i="1" dirty="0" err="1"/>
              <a:t>dept_name</a:t>
            </a:r>
            <a:r>
              <a:rPr lang="en-US" altLang="en-US" sz="2000" dirty="0"/>
              <a:t>, </a:t>
            </a:r>
            <a:r>
              <a:rPr lang="en-US" altLang="en-US" sz="2000" i="1" dirty="0"/>
              <a:t>credits  </a:t>
            </a:r>
            <a:r>
              <a:rPr lang="en-US" altLang="en-US" sz="2000" dirty="0"/>
              <a:t>holds</a:t>
            </a:r>
            <a:endParaRPr lang="en-US" altLang="en-US" sz="2000" dirty="0"/>
          </a:p>
          <a:p>
            <a:pPr lvl="2">
              <a:lnSpc>
                <a:spcPct val="90000"/>
              </a:lnSpc>
              <a:tabLst>
                <a:tab pos="744220" algn="l"/>
                <a:tab pos="2574925" algn="l"/>
              </a:tabLst>
            </a:pPr>
            <a:r>
              <a:rPr lang="en-US" altLang="en-US" sz="2000" dirty="0"/>
              <a:t>but </a:t>
            </a:r>
            <a:r>
              <a:rPr lang="en-US" altLang="en-US" sz="2000" i="1" dirty="0" err="1"/>
              <a:t>course_id</a:t>
            </a:r>
            <a:r>
              <a:rPr lang="en-US" altLang="en-US" sz="2000" i="1" dirty="0"/>
              <a:t> </a:t>
            </a:r>
            <a:r>
              <a:rPr lang="en-US" altLang="en-US" sz="2000" dirty="0"/>
              <a:t>is not a </a:t>
            </a:r>
            <a:r>
              <a:rPr lang="en-US" altLang="en-US" sz="2000" dirty="0" err="1"/>
              <a:t>superkey</a:t>
            </a:r>
            <a:r>
              <a:rPr lang="en-US" altLang="en-US" sz="2000" dirty="0"/>
              <a:t>.</a:t>
            </a:r>
            <a:endParaRPr lang="en-US" altLang="en-US" sz="2000" dirty="0"/>
          </a:p>
          <a:p>
            <a:pPr lvl="1">
              <a:lnSpc>
                <a:spcPct val="90000"/>
              </a:lnSpc>
              <a:tabLst>
                <a:tab pos="744220" algn="l"/>
                <a:tab pos="2574925" algn="l"/>
              </a:tabLst>
            </a:pPr>
            <a:r>
              <a:rPr lang="en-US" altLang="en-US" sz="2000" dirty="0"/>
              <a:t> We replace </a:t>
            </a:r>
            <a:r>
              <a:rPr lang="en-US" altLang="en-US" sz="2000" i="1" dirty="0"/>
              <a:t>class </a:t>
            </a:r>
            <a:r>
              <a:rPr lang="en-US" altLang="en-US" sz="2000" dirty="0"/>
              <a:t>by:</a:t>
            </a:r>
            <a:endParaRPr lang="en-US" altLang="en-US" sz="2000" dirty="0"/>
          </a:p>
          <a:p>
            <a:pPr lvl="2">
              <a:lnSpc>
                <a:spcPct val="90000"/>
              </a:lnSpc>
              <a:tabLst>
                <a:tab pos="744220" algn="l"/>
                <a:tab pos="2574925" algn="l"/>
              </a:tabLst>
            </a:pPr>
            <a:r>
              <a:rPr lang="en-US" altLang="en-US" sz="2000" i="1" dirty="0"/>
              <a:t>course</a:t>
            </a:r>
            <a:r>
              <a:rPr lang="en-US" altLang="en-US" sz="2000" dirty="0"/>
              <a:t>(</a:t>
            </a:r>
            <a:r>
              <a:rPr lang="en-US" altLang="en-US" sz="2000" i="1" dirty="0" err="1"/>
              <a:t>course_id</a:t>
            </a:r>
            <a:r>
              <a:rPr lang="en-US" altLang="en-US" sz="2000" dirty="0"/>
              <a:t>, </a:t>
            </a:r>
            <a:r>
              <a:rPr lang="en-US" altLang="en-US" sz="2000" i="1" dirty="0"/>
              <a:t>title</a:t>
            </a:r>
            <a:r>
              <a:rPr lang="en-US" altLang="en-US" sz="2000" dirty="0"/>
              <a:t>, </a:t>
            </a:r>
            <a:r>
              <a:rPr lang="en-US" altLang="en-US" sz="2000" i="1" dirty="0" err="1"/>
              <a:t>dept_name</a:t>
            </a:r>
            <a:r>
              <a:rPr lang="en-US" altLang="en-US" sz="2000" dirty="0"/>
              <a:t>, </a:t>
            </a:r>
            <a:r>
              <a:rPr lang="en-US" altLang="en-US" sz="2000" i="1" dirty="0"/>
              <a:t>credits</a:t>
            </a:r>
            <a:r>
              <a:rPr lang="en-US" altLang="en-US" sz="2000" dirty="0"/>
              <a:t>)</a:t>
            </a:r>
            <a:endParaRPr lang="en-US" altLang="en-US" sz="2000" dirty="0"/>
          </a:p>
          <a:p>
            <a:pPr lvl="2">
              <a:lnSpc>
                <a:spcPct val="90000"/>
              </a:lnSpc>
              <a:tabLst>
                <a:tab pos="744220" algn="l"/>
                <a:tab pos="2574925" algn="l"/>
              </a:tabLst>
            </a:pPr>
            <a:r>
              <a:rPr lang="en-US" altLang="en-US" sz="2000" i="1" dirty="0"/>
              <a:t>class-1 </a:t>
            </a:r>
            <a:r>
              <a:rPr lang="en-US" altLang="en-US" sz="2000" dirty="0"/>
              <a:t>(</a:t>
            </a:r>
            <a:r>
              <a:rPr lang="en-US" altLang="en-US" sz="2000" i="1" dirty="0" err="1"/>
              <a:t>course_id</a:t>
            </a:r>
            <a:r>
              <a:rPr lang="en-US" altLang="en-US" sz="2000" dirty="0"/>
              <a:t>, </a:t>
            </a:r>
            <a:r>
              <a:rPr lang="en-US" altLang="en-US" sz="2000" i="1" dirty="0" err="1"/>
              <a:t>sec_id</a:t>
            </a:r>
            <a:r>
              <a:rPr lang="en-US" altLang="en-US" sz="2000" dirty="0"/>
              <a:t>, </a:t>
            </a:r>
            <a:r>
              <a:rPr lang="en-US" altLang="en-US" sz="2000" i="1" dirty="0"/>
              <a:t>semester</a:t>
            </a:r>
            <a:r>
              <a:rPr lang="en-US" altLang="en-US" sz="2000" dirty="0"/>
              <a:t>, </a:t>
            </a:r>
            <a:r>
              <a:rPr lang="en-US" altLang="en-US" sz="2000" i="1" dirty="0"/>
              <a:t>year</a:t>
            </a:r>
            <a:r>
              <a:rPr lang="en-US" altLang="en-US" sz="2000" dirty="0"/>
              <a:t>, </a:t>
            </a:r>
            <a:r>
              <a:rPr lang="en-US" altLang="en-US" sz="2000" i="1" dirty="0"/>
              <a:t>building</a:t>
            </a:r>
            <a:r>
              <a:rPr lang="en-US" altLang="en-US" sz="2000" dirty="0"/>
              <a:t>,           </a:t>
            </a:r>
            <a:br>
              <a:rPr lang="en-US" altLang="en-US" sz="2000" dirty="0"/>
            </a:br>
            <a:r>
              <a:rPr lang="en-US" altLang="en-US" sz="2000" dirty="0"/>
              <a:t>             </a:t>
            </a:r>
            <a:r>
              <a:rPr lang="en-US" altLang="en-US" sz="2000" i="1" dirty="0" err="1"/>
              <a:t>room_number</a:t>
            </a:r>
            <a:r>
              <a:rPr lang="en-US" altLang="en-US" sz="2000" i="1" dirty="0"/>
              <a:t>, capacity</a:t>
            </a:r>
            <a:r>
              <a:rPr lang="en-US" altLang="en-US" sz="2000" dirty="0"/>
              <a:t>, </a:t>
            </a:r>
            <a:r>
              <a:rPr lang="en-US" altLang="en-US" sz="2000" i="1" dirty="0" err="1"/>
              <a:t>time_slot_id</a:t>
            </a:r>
            <a:r>
              <a:rPr lang="en-US" altLang="en-US" sz="2000" dirty="0"/>
              <a:t>)</a:t>
            </a:r>
            <a:endParaRPr lang="en-US" alt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24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24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24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24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24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24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240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2403" grpId="0" autoUpdateAnimBg="0" build="p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BCNF Decomposition (Cont.)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  <a:ea typeface="MS PGothic" panose="020B0600070205080204" pitchFamily="34" charset="-128"/>
            </a:endParaRPr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93788"/>
            <a:ext cx="7505638" cy="3237580"/>
          </a:xfrm>
        </p:spPr>
        <p:txBody>
          <a:bodyPr/>
          <a:lstStyle/>
          <a:p>
            <a:r>
              <a:rPr lang="en-US" altLang="en-US" sz="2000" i="1" dirty="0"/>
              <a:t>course </a:t>
            </a:r>
            <a:r>
              <a:rPr lang="en-US" altLang="en-US" sz="2000" dirty="0"/>
              <a:t>is in BCNF</a:t>
            </a:r>
            <a:endParaRPr lang="en-US" altLang="en-US" sz="2000" dirty="0"/>
          </a:p>
          <a:p>
            <a:pPr lvl="1"/>
            <a:r>
              <a:rPr lang="en-US" altLang="en-US" sz="2000" dirty="0"/>
              <a:t>How do we know this?</a:t>
            </a:r>
            <a:endParaRPr lang="en-US" altLang="en-US" sz="2000" dirty="0"/>
          </a:p>
          <a:p>
            <a:r>
              <a:rPr lang="en-US" altLang="en-US" sz="2000" i="1" dirty="0"/>
              <a:t>building</a:t>
            </a:r>
            <a:r>
              <a:rPr lang="en-US" altLang="en-US" sz="2000" dirty="0"/>
              <a:t>, </a:t>
            </a:r>
            <a:r>
              <a:rPr lang="en-US" altLang="en-US" sz="2000" i="1" dirty="0" err="1"/>
              <a:t>room_number</a:t>
            </a:r>
            <a:r>
              <a:rPr lang="en-US" altLang="en-US" sz="2000" dirty="0" err="1"/>
              <a:t>→</a:t>
            </a:r>
            <a:r>
              <a:rPr lang="en-US" altLang="en-US" sz="2000" i="1" dirty="0" err="1"/>
              <a:t>capacity</a:t>
            </a:r>
            <a:r>
              <a:rPr lang="en-US" altLang="en-US" sz="2000" i="1" dirty="0"/>
              <a:t>  </a:t>
            </a:r>
            <a:r>
              <a:rPr lang="en-US" altLang="en-US" sz="2000" dirty="0"/>
              <a:t>holds on </a:t>
            </a:r>
            <a:r>
              <a:rPr lang="en-US" altLang="en-US" sz="2000" i="1" dirty="0"/>
              <a:t>class-1</a:t>
            </a:r>
            <a:endParaRPr lang="en-US" altLang="en-US" sz="2000" dirty="0"/>
          </a:p>
          <a:p>
            <a:pPr lvl="1"/>
            <a:r>
              <a:rPr lang="en-US" altLang="en-US" sz="2000" dirty="0"/>
              <a:t> but {</a:t>
            </a:r>
            <a:r>
              <a:rPr lang="en-US" altLang="en-US" sz="2000" i="1" dirty="0"/>
              <a:t>building</a:t>
            </a:r>
            <a:r>
              <a:rPr lang="en-US" altLang="en-US" sz="2000" dirty="0"/>
              <a:t>, </a:t>
            </a:r>
            <a:r>
              <a:rPr lang="en-US" altLang="en-US" sz="2000" i="1" dirty="0" err="1"/>
              <a:t>room_number</a:t>
            </a:r>
            <a:r>
              <a:rPr lang="en-US" altLang="en-US" sz="2000" dirty="0"/>
              <a:t>} is not a </a:t>
            </a:r>
            <a:r>
              <a:rPr lang="en-US" altLang="en-US" sz="2000" dirty="0" err="1"/>
              <a:t>superkey</a:t>
            </a:r>
            <a:r>
              <a:rPr lang="en-US" altLang="en-US" sz="2000" dirty="0"/>
              <a:t> for </a:t>
            </a:r>
            <a:r>
              <a:rPr lang="en-US" altLang="en-US" sz="2000" i="1" dirty="0"/>
              <a:t>class-1</a:t>
            </a:r>
            <a:r>
              <a:rPr lang="en-US" altLang="en-US" sz="2000" dirty="0"/>
              <a:t>.</a:t>
            </a:r>
            <a:endParaRPr lang="en-US" altLang="en-US" sz="2000" dirty="0"/>
          </a:p>
          <a:p>
            <a:pPr lvl="1"/>
            <a:r>
              <a:rPr lang="en-US" altLang="en-US" sz="2000" dirty="0"/>
              <a:t>We replace </a:t>
            </a:r>
            <a:r>
              <a:rPr lang="en-US" altLang="en-US" sz="2000" i="1" dirty="0"/>
              <a:t>class-1 </a:t>
            </a:r>
            <a:r>
              <a:rPr lang="en-US" altLang="en-US" sz="2000" dirty="0"/>
              <a:t>by:</a:t>
            </a:r>
            <a:endParaRPr lang="en-US" altLang="en-US" sz="2000" dirty="0"/>
          </a:p>
          <a:p>
            <a:pPr lvl="2"/>
            <a:r>
              <a:rPr lang="en-US" altLang="en-US" sz="2000" i="1" dirty="0"/>
              <a:t>classroom </a:t>
            </a:r>
            <a:r>
              <a:rPr lang="en-US" altLang="en-US" sz="2000" dirty="0"/>
              <a:t>(</a:t>
            </a:r>
            <a:r>
              <a:rPr lang="en-US" altLang="en-US" sz="2000" i="1" dirty="0"/>
              <a:t>building</a:t>
            </a:r>
            <a:r>
              <a:rPr lang="en-US" altLang="en-US" sz="2000" dirty="0"/>
              <a:t>, </a:t>
            </a:r>
            <a:r>
              <a:rPr lang="en-US" altLang="en-US" sz="2000" i="1" dirty="0" err="1"/>
              <a:t>room_number</a:t>
            </a:r>
            <a:r>
              <a:rPr lang="en-US" altLang="en-US" sz="2000" dirty="0"/>
              <a:t>, </a:t>
            </a:r>
            <a:r>
              <a:rPr lang="en-US" altLang="en-US" sz="2000" i="1" dirty="0"/>
              <a:t>capacity</a:t>
            </a:r>
            <a:r>
              <a:rPr lang="en-US" altLang="en-US" sz="2000" dirty="0"/>
              <a:t>)</a:t>
            </a:r>
            <a:endParaRPr lang="en-US" altLang="en-US" sz="2000" dirty="0"/>
          </a:p>
          <a:p>
            <a:pPr lvl="2"/>
            <a:r>
              <a:rPr lang="en-US" altLang="en-US" sz="2000" i="1" dirty="0"/>
              <a:t>section </a:t>
            </a:r>
            <a:r>
              <a:rPr lang="en-US" altLang="en-US" sz="2000" dirty="0"/>
              <a:t>(</a:t>
            </a:r>
            <a:r>
              <a:rPr lang="en-US" altLang="en-US" sz="2000" i="1" dirty="0" err="1"/>
              <a:t>course_id</a:t>
            </a:r>
            <a:r>
              <a:rPr lang="en-US" altLang="en-US" sz="2000" dirty="0"/>
              <a:t>, </a:t>
            </a:r>
            <a:r>
              <a:rPr lang="en-US" altLang="en-US" sz="2000" i="1" dirty="0" err="1"/>
              <a:t>sec_id</a:t>
            </a:r>
            <a:r>
              <a:rPr lang="en-US" altLang="en-US" sz="2000" dirty="0"/>
              <a:t>, </a:t>
            </a:r>
            <a:r>
              <a:rPr lang="en-US" altLang="en-US" sz="2000" i="1" dirty="0"/>
              <a:t>semester</a:t>
            </a:r>
            <a:r>
              <a:rPr lang="en-US" altLang="en-US" sz="2000" dirty="0"/>
              <a:t>, </a:t>
            </a:r>
            <a:r>
              <a:rPr lang="en-US" altLang="en-US" sz="2000" i="1" dirty="0"/>
              <a:t>year</a:t>
            </a:r>
            <a:r>
              <a:rPr lang="en-US" altLang="en-US" sz="2000" dirty="0"/>
              <a:t>, </a:t>
            </a:r>
            <a:r>
              <a:rPr lang="en-US" altLang="en-US" sz="2000" i="1" dirty="0"/>
              <a:t>building</a:t>
            </a:r>
            <a:r>
              <a:rPr lang="en-US" altLang="en-US" sz="2000" dirty="0"/>
              <a:t>, </a:t>
            </a:r>
            <a:r>
              <a:rPr lang="en-US" altLang="en-US" sz="2000" i="1" dirty="0" err="1"/>
              <a:t>room_number</a:t>
            </a:r>
            <a:r>
              <a:rPr lang="en-US" altLang="en-US" sz="2000" dirty="0"/>
              <a:t>, </a:t>
            </a:r>
            <a:r>
              <a:rPr lang="en-US" altLang="en-US" sz="2000" i="1" dirty="0" err="1"/>
              <a:t>time_slot_id</a:t>
            </a:r>
            <a:r>
              <a:rPr lang="en-US" altLang="en-US" sz="2000" dirty="0"/>
              <a:t>)</a:t>
            </a:r>
            <a:endParaRPr lang="en-US" altLang="en-US" sz="2000" dirty="0"/>
          </a:p>
          <a:p>
            <a:r>
              <a:rPr lang="en-US" altLang="en-US" sz="2000" i="1" dirty="0"/>
              <a:t>classroom </a:t>
            </a:r>
            <a:r>
              <a:rPr lang="en-US" altLang="en-US" sz="2000" dirty="0"/>
              <a:t>and </a:t>
            </a:r>
            <a:r>
              <a:rPr lang="en-US" altLang="en-US" sz="2000" i="1" dirty="0"/>
              <a:t>section </a:t>
            </a:r>
            <a:r>
              <a:rPr lang="en-US" altLang="en-US" sz="2000" dirty="0"/>
              <a:t>are in BCNF.</a:t>
            </a:r>
            <a:endParaRPr lang="en-US" altLang="en-US" sz="2000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4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Third Normal Form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  <a:ea typeface="MS PGothic" panose="020B0600070205080204" pitchFamily="34" charset="-128"/>
            </a:endParaRPr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93788"/>
            <a:ext cx="7638803" cy="3297738"/>
          </a:xfrm>
        </p:spPr>
        <p:txBody>
          <a:bodyPr/>
          <a:lstStyle/>
          <a:p>
            <a:r>
              <a:rPr lang="en-US" altLang="en-US" sz="2000" dirty="0"/>
              <a:t>There are some situations where </a:t>
            </a:r>
            <a:endParaRPr lang="en-US" altLang="en-US" sz="2000" dirty="0"/>
          </a:p>
          <a:p>
            <a:pPr lvl="1"/>
            <a:r>
              <a:rPr lang="en-US" altLang="en-US" sz="2000" dirty="0"/>
              <a:t>BCNF is not dependency preserving, and </a:t>
            </a:r>
            <a:endParaRPr lang="en-US" altLang="en-US" sz="2000" dirty="0"/>
          </a:p>
          <a:p>
            <a:pPr lvl="1"/>
            <a:r>
              <a:rPr lang="en-US" altLang="en-US" sz="2000" dirty="0"/>
              <a:t>efficient checking for FD violation on updates is important</a:t>
            </a:r>
            <a:endParaRPr lang="en-US" altLang="en-US" sz="2000" dirty="0"/>
          </a:p>
          <a:p>
            <a:r>
              <a:rPr lang="en-US" altLang="en-US" sz="2000" dirty="0"/>
              <a:t>Solution: define a weaker normal form, called Third Normal Form (3NF)</a:t>
            </a:r>
            <a:endParaRPr lang="en-US" altLang="en-US" sz="2000" dirty="0"/>
          </a:p>
          <a:p>
            <a:pPr lvl="1"/>
            <a:r>
              <a:rPr lang="en-US" altLang="en-US" sz="2000" dirty="0"/>
              <a:t>Allows some redundancy (with resultant problems; we </a:t>
            </a:r>
            <a:r>
              <a:rPr lang="en-US" altLang="en-US" sz="2000" dirty="0">
                <a:sym typeface="Greek Symbols"/>
              </a:rPr>
              <a:t>will see examples later)</a:t>
            </a:r>
            <a:endParaRPr lang="en-US" altLang="en-US" sz="2000" dirty="0"/>
          </a:p>
          <a:p>
            <a:pPr lvl="1"/>
            <a:r>
              <a:rPr lang="en-US" altLang="en-US" sz="2000" dirty="0"/>
              <a:t>But functional dependencies can be checked on individual relations without computing a join.</a:t>
            </a:r>
            <a:endParaRPr lang="en-US" altLang="en-US" sz="2000" dirty="0"/>
          </a:p>
          <a:p>
            <a:pPr lvl="1"/>
            <a:r>
              <a:rPr lang="en-US" altLang="en-US" sz="2000" dirty="0"/>
              <a:t>There is always a lossless-join, dependency-preserving decomposition into 3NF.</a:t>
            </a:r>
            <a:endParaRPr lang="en-US" altLang="en-US" sz="200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5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3NF Example -- </a:t>
            </a:r>
            <a:r>
              <a:rPr lang="en-US" altLang="en-US" dirty="0"/>
              <a:t>Relation </a:t>
            </a:r>
            <a:r>
              <a:rPr lang="en-US" altLang="en-US" i="1" dirty="0"/>
              <a:t>dept_advisor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  <a:ea typeface="MS PGothic" panose="020B0600070205080204" pitchFamily="34" charset="-128"/>
            </a:endParaRPr>
          </a:p>
        </p:txBody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53948"/>
            <a:ext cx="7558904" cy="3285707"/>
          </a:xfrm>
        </p:spPr>
        <p:txBody>
          <a:bodyPr/>
          <a:lstStyle/>
          <a:p>
            <a:pPr>
              <a:tabLst>
                <a:tab pos="1026795" algn="l"/>
                <a:tab pos="2455545" algn="l"/>
              </a:tabLst>
            </a:pPr>
            <a:r>
              <a:rPr lang="en-US" altLang="en-US" sz="2400" i="1" dirty="0"/>
              <a:t>dept_advisor </a:t>
            </a:r>
            <a:r>
              <a:rPr lang="en-US" altLang="en-US" sz="2400" dirty="0"/>
              <a:t>(</a:t>
            </a:r>
            <a:r>
              <a:rPr lang="en-US" altLang="en-US" sz="2400" i="1" dirty="0"/>
              <a:t>s_ID, i_ID, dept_name)</a:t>
            </a:r>
            <a:br>
              <a:rPr lang="en-US" altLang="en-US" sz="2400" i="1" dirty="0"/>
            </a:br>
            <a:r>
              <a:rPr lang="en-US" altLang="en-US" sz="2400" i="1" dirty="0"/>
              <a:t>F = </a:t>
            </a:r>
            <a:r>
              <a:rPr lang="en-US" altLang="en-US" sz="2400" dirty="0"/>
              <a:t>{</a:t>
            </a:r>
            <a:r>
              <a:rPr lang="en-US" altLang="en-US" sz="2400" i="1" dirty="0"/>
              <a:t>s_ID, dept_name </a:t>
            </a:r>
            <a:r>
              <a:rPr lang="en-US" altLang="en-US" sz="2400" dirty="0">
                <a:sym typeface="Symbol" panose="05050102010706020507" pitchFamily="18" charset="2"/>
              </a:rPr>
              <a:t></a:t>
            </a:r>
            <a:r>
              <a:rPr lang="en-US" altLang="en-US" sz="2400" i="1" dirty="0"/>
              <a:t> i_ID,  i_ID </a:t>
            </a:r>
            <a:r>
              <a:rPr lang="en-US" altLang="en-US" sz="2400" dirty="0">
                <a:sym typeface="Symbol" panose="05050102010706020507" pitchFamily="18" charset="2"/>
              </a:rPr>
              <a:t></a:t>
            </a:r>
            <a:r>
              <a:rPr lang="en-US" altLang="en-US" sz="2400" i="1" dirty="0">
                <a:sym typeface="Wingdings" panose="05000000000000000000" pitchFamily="2" charset="2"/>
              </a:rPr>
              <a:t> dept_name</a:t>
            </a:r>
            <a:r>
              <a:rPr lang="en-US" altLang="en-US" sz="2400" dirty="0">
                <a:sym typeface="Monotype Sorts" pitchFamily="-65" charset="2"/>
              </a:rPr>
              <a:t>}</a:t>
            </a:r>
            <a:endParaRPr lang="en-US" altLang="en-US" sz="2400" dirty="0">
              <a:sym typeface="Monotype Sorts" pitchFamily="-65" charset="2"/>
            </a:endParaRPr>
          </a:p>
          <a:p>
            <a:pPr>
              <a:tabLst>
                <a:tab pos="1026795" algn="l"/>
                <a:tab pos="2455545" algn="l"/>
              </a:tabLst>
            </a:pPr>
            <a:r>
              <a:rPr lang="en-US" altLang="en-US" sz="2400" dirty="0">
                <a:sym typeface="Monotype Sorts" pitchFamily="-65" charset="2"/>
              </a:rPr>
              <a:t>Two candidate keys:  </a:t>
            </a:r>
            <a:r>
              <a:rPr lang="en-US" altLang="en-US" sz="2400" i="1" dirty="0" err="1">
                <a:sym typeface="Monotype Sorts" pitchFamily="-65" charset="2"/>
              </a:rPr>
              <a:t>s_ID</a:t>
            </a:r>
            <a:r>
              <a:rPr lang="en-US" altLang="en-US" sz="2400" i="1" dirty="0">
                <a:sym typeface="Monotype Sorts" pitchFamily="-65" charset="2"/>
              </a:rPr>
              <a:t>, </a:t>
            </a:r>
            <a:r>
              <a:rPr lang="en-US" altLang="en-US" sz="2400" i="1" dirty="0" err="1">
                <a:sym typeface="Monotype Sorts" pitchFamily="-65" charset="2"/>
              </a:rPr>
              <a:t>dept_name</a:t>
            </a:r>
            <a:r>
              <a:rPr lang="en-US" altLang="en-US" sz="2400" i="1" dirty="0">
                <a:sym typeface="Monotype Sorts" pitchFamily="-65" charset="2"/>
              </a:rPr>
              <a:t>, </a:t>
            </a:r>
            <a:r>
              <a:rPr lang="en-US" altLang="en-US" sz="2400" dirty="0">
                <a:sym typeface="Monotype Sorts" pitchFamily="-65" charset="2"/>
              </a:rPr>
              <a:t>and </a:t>
            </a:r>
            <a:r>
              <a:rPr lang="en-US" altLang="en-US" sz="2400" i="1" dirty="0">
                <a:sym typeface="Monotype Sorts" pitchFamily="-65" charset="2"/>
              </a:rPr>
              <a:t> </a:t>
            </a:r>
            <a:r>
              <a:rPr lang="en-US" altLang="en-US" sz="2400" i="1" dirty="0" err="1">
                <a:sym typeface="Monotype Sorts" pitchFamily="-65" charset="2"/>
              </a:rPr>
              <a:t>i_ID</a:t>
            </a:r>
            <a:r>
              <a:rPr lang="en-US" altLang="en-US" sz="2400" i="1" dirty="0">
                <a:sym typeface="Monotype Sorts" pitchFamily="-65" charset="2"/>
              </a:rPr>
              <a:t>, </a:t>
            </a:r>
            <a:r>
              <a:rPr lang="en-US" altLang="en-US" sz="2400" i="1" dirty="0" err="1">
                <a:sym typeface="Monotype Sorts" pitchFamily="-65" charset="2"/>
              </a:rPr>
              <a:t>s_ID</a:t>
            </a:r>
            <a:endParaRPr lang="en-US" altLang="en-US" sz="2400" i="1" dirty="0">
              <a:sym typeface="Monotype Sorts" pitchFamily="-65" charset="2"/>
            </a:endParaRPr>
          </a:p>
          <a:p>
            <a:pPr>
              <a:tabLst>
                <a:tab pos="1026795" algn="l"/>
                <a:tab pos="2455545" algn="l"/>
              </a:tabLst>
            </a:pPr>
            <a:r>
              <a:rPr lang="en-US" altLang="en-US" sz="2400" i="1" dirty="0">
                <a:sym typeface="Monotype Sorts" pitchFamily="-65" charset="2"/>
              </a:rPr>
              <a:t>R</a:t>
            </a:r>
            <a:r>
              <a:rPr lang="en-US" altLang="en-US" sz="2400" dirty="0">
                <a:sym typeface="Monotype Sorts" pitchFamily="-65" charset="2"/>
              </a:rPr>
              <a:t> is in 3NF</a:t>
            </a:r>
            <a:endParaRPr lang="en-US" altLang="en-US" sz="2400" dirty="0">
              <a:sym typeface="Monotype Sorts" pitchFamily="-65" charset="2"/>
            </a:endParaRPr>
          </a:p>
          <a:p>
            <a:pPr lvl="1">
              <a:tabLst>
                <a:tab pos="1026795" algn="l"/>
                <a:tab pos="2455545" algn="l"/>
              </a:tabLst>
            </a:pPr>
            <a:r>
              <a:rPr lang="en-US" altLang="en-US" sz="2400" i="1" dirty="0" err="1"/>
              <a:t>s_ID</a:t>
            </a:r>
            <a:r>
              <a:rPr lang="en-US" altLang="en-US" sz="2400" i="1" dirty="0"/>
              <a:t>, </a:t>
            </a:r>
            <a:r>
              <a:rPr lang="en-US" altLang="en-US" sz="2400" i="1" dirty="0" err="1"/>
              <a:t>dept_name</a:t>
            </a:r>
            <a:r>
              <a:rPr lang="en-US" altLang="en-US" sz="2400" i="1" dirty="0"/>
              <a:t> </a:t>
            </a:r>
            <a:r>
              <a:rPr lang="en-US" altLang="en-US" sz="2400" dirty="0">
                <a:sym typeface="Symbol" panose="05050102010706020507" pitchFamily="18" charset="2"/>
              </a:rPr>
              <a:t></a:t>
            </a:r>
            <a:r>
              <a:rPr lang="en-US" altLang="en-US" sz="2400" i="1" dirty="0"/>
              <a:t> </a:t>
            </a:r>
            <a:r>
              <a:rPr lang="en-US" altLang="en-US" sz="2400" i="1" dirty="0" err="1"/>
              <a:t>i_ID</a:t>
            </a:r>
            <a:r>
              <a:rPr lang="en-US" altLang="en-US" sz="2400" i="1" dirty="0">
                <a:sym typeface="Monotype Sorts" pitchFamily="-65" charset="2"/>
              </a:rPr>
              <a:t>   </a:t>
            </a:r>
            <a:r>
              <a:rPr lang="en-US" altLang="en-US" sz="2400" i="1" dirty="0" err="1"/>
              <a:t>s_ID</a:t>
            </a:r>
            <a:endParaRPr lang="en-US" altLang="en-US" sz="2400" i="1" dirty="0"/>
          </a:p>
          <a:p>
            <a:pPr lvl="2">
              <a:tabLst>
                <a:tab pos="1026795" algn="l"/>
                <a:tab pos="2455545" algn="l"/>
              </a:tabLst>
            </a:pPr>
            <a:r>
              <a:rPr lang="en-US" altLang="en-US" sz="2400" i="1" dirty="0"/>
              <a:t> </a:t>
            </a:r>
            <a:r>
              <a:rPr lang="en-US" altLang="en-US" sz="2400" i="1" dirty="0" err="1"/>
              <a:t>dept_name</a:t>
            </a:r>
            <a:r>
              <a:rPr lang="en-US" altLang="en-US" sz="2400" i="1" dirty="0"/>
              <a:t> </a:t>
            </a:r>
            <a:r>
              <a:rPr lang="en-US" altLang="en-US" sz="2400" dirty="0">
                <a:sym typeface="Monotype Sorts" pitchFamily="-65" charset="2"/>
              </a:rPr>
              <a:t>is a </a:t>
            </a:r>
            <a:r>
              <a:rPr lang="en-US" altLang="en-US" sz="2400" dirty="0" err="1">
                <a:sym typeface="Monotype Sorts" pitchFamily="-65" charset="2"/>
              </a:rPr>
              <a:t>superkey</a:t>
            </a:r>
            <a:endParaRPr lang="en-US" altLang="en-US" sz="2400" dirty="0">
              <a:sym typeface="Monotype Sorts" pitchFamily="-65" charset="2"/>
            </a:endParaRPr>
          </a:p>
          <a:p>
            <a:pPr lvl="1">
              <a:tabLst>
                <a:tab pos="1026795" algn="l"/>
                <a:tab pos="2455545" algn="l"/>
              </a:tabLst>
            </a:pPr>
            <a:r>
              <a:rPr lang="en-US" altLang="en-US" sz="2400" dirty="0">
                <a:sym typeface="Monotype Sorts" pitchFamily="-65" charset="2"/>
              </a:rPr>
              <a:t> </a:t>
            </a:r>
            <a:r>
              <a:rPr lang="en-US" altLang="en-US" sz="2400" i="1" dirty="0" err="1"/>
              <a:t>i_ID</a:t>
            </a:r>
            <a:r>
              <a:rPr lang="en-US" altLang="en-US" sz="2400" i="1" dirty="0"/>
              <a:t> </a:t>
            </a:r>
            <a:r>
              <a:rPr lang="en-US" altLang="en-US" sz="2400" dirty="0">
                <a:sym typeface="Symbol" panose="05050102010706020507" pitchFamily="18" charset="2"/>
              </a:rPr>
              <a:t></a:t>
            </a:r>
            <a:r>
              <a:rPr lang="en-US" altLang="en-US" sz="2400" i="1" dirty="0">
                <a:sym typeface="Wingdings" panose="05000000000000000000" pitchFamily="2" charset="2"/>
              </a:rPr>
              <a:t> </a:t>
            </a:r>
            <a:r>
              <a:rPr lang="en-US" altLang="en-US" sz="2400" i="1" dirty="0" err="1">
                <a:sym typeface="Wingdings" panose="05000000000000000000" pitchFamily="2" charset="2"/>
              </a:rPr>
              <a:t>dept_name</a:t>
            </a:r>
            <a:r>
              <a:rPr lang="en-US" altLang="en-US" sz="2400" i="1" dirty="0">
                <a:sym typeface="Monotype Sorts" pitchFamily="-65" charset="2"/>
              </a:rPr>
              <a:t> 	</a:t>
            </a:r>
            <a:endParaRPr lang="en-US" altLang="en-US" sz="2400" i="1" dirty="0">
              <a:sym typeface="Monotype Sorts" pitchFamily="-65" charset="2"/>
            </a:endParaRPr>
          </a:p>
          <a:p>
            <a:pPr lvl="2">
              <a:tabLst>
                <a:tab pos="1026795" algn="l"/>
                <a:tab pos="2455545" algn="l"/>
              </a:tabLst>
            </a:pPr>
            <a:r>
              <a:rPr lang="en-US" altLang="en-US" sz="2400" i="1" dirty="0" err="1">
                <a:sym typeface="Monotype Sorts" pitchFamily="-65" charset="2"/>
              </a:rPr>
              <a:t>dept_name</a:t>
            </a:r>
            <a:r>
              <a:rPr lang="en-US" altLang="en-US" sz="2400" i="1" dirty="0">
                <a:sym typeface="Monotype Sorts" pitchFamily="-65" charset="2"/>
              </a:rPr>
              <a:t> </a:t>
            </a:r>
            <a:r>
              <a:rPr lang="en-US" altLang="en-US" sz="2400" dirty="0">
                <a:sym typeface="Monotype Sorts" pitchFamily="-65" charset="2"/>
              </a:rPr>
              <a:t>is contained in a candidate key</a:t>
            </a:r>
            <a:endParaRPr lang="en-US" altLang="en-US" sz="2400" dirty="0">
              <a:sym typeface="Monotype Sorts" pitchFamily="-65" charset="2"/>
            </a:endParaRPr>
          </a:p>
          <a:p>
            <a:pPr>
              <a:buFont typeface="Monotype Sorts" pitchFamily="-65" charset="2"/>
              <a:buNone/>
              <a:tabLst>
                <a:tab pos="1026795" algn="l"/>
                <a:tab pos="2455545" algn="l"/>
              </a:tabLst>
            </a:pPr>
            <a:endParaRPr lang="en-US" altLang="en-US" dirty="0">
              <a:sym typeface="Symbol" panose="05050102010706020507" pitchFamily="18" charset="2"/>
            </a:endParaRPr>
          </a:p>
          <a:p>
            <a:pPr>
              <a:tabLst>
                <a:tab pos="1026795" algn="l"/>
                <a:tab pos="2455545" algn="l"/>
              </a:tabLst>
            </a:pPr>
            <a:endParaRPr lang="en-US" altLang="en-US" dirty="0">
              <a:sym typeface="Monotype Sorts" pitchFamily="-65" charset="2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6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Testing for 3NF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  <a:ea typeface="MS PGothic" panose="020B0600070205080204" pitchFamily="34" charset="-128"/>
            </a:endParaRPr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93789"/>
            <a:ext cx="7656559" cy="3141327"/>
          </a:xfrm>
        </p:spPr>
        <p:txBody>
          <a:bodyPr/>
          <a:lstStyle/>
          <a:p>
            <a:r>
              <a:rPr lang="en-US" altLang="en-US" sz="2000" dirty="0"/>
              <a:t>Need to check only FDs in </a:t>
            </a:r>
            <a:r>
              <a:rPr lang="en-US" altLang="en-US" sz="2000" i="1" dirty="0"/>
              <a:t>F</a:t>
            </a:r>
            <a:r>
              <a:rPr lang="en-US" altLang="en-US" sz="2000" dirty="0"/>
              <a:t>, need not check all FDs in </a:t>
            </a:r>
            <a:r>
              <a:rPr lang="en-US" altLang="en-US" sz="2000" i="1" dirty="0"/>
              <a:t>F</a:t>
            </a:r>
            <a:r>
              <a:rPr lang="en-US" altLang="en-US" sz="2000" i="1" baseline="30000" dirty="0"/>
              <a:t>+</a:t>
            </a:r>
            <a:r>
              <a:rPr lang="en-US" altLang="en-US" sz="2000" dirty="0"/>
              <a:t>.</a:t>
            </a:r>
            <a:endParaRPr lang="en-US" altLang="en-US" sz="2000" dirty="0"/>
          </a:p>
          <a:p>
            <a:r>
              <a:rPr lang="en-US" altLang="en-US" sz="2000" dirty="0"/>
              <a:t>Use attribute closure to check for each dependency </a:t>
            </a:r>
            <a:r>
              <a:rPr lang="en-US" altLang="en-US" sz="2000" dirty="0">
                <a:sym typeface="Symbol" panose="05050102010706020507" pitchFamily="18" charset="2"/>
              </a:rPr>
              <a:t>  , if  </a:t>
            </a:r>
            <a:r>
              <a:rPr lang="en-US" altLang="en-US" sz="2000" dirty="0"/>
              <a:t>is a </a:t>
            </a:r>
            <a:r>
              <a:rPr lang="en-US" altLang="en-US" sz="2000" dirty="0" err="1"/>
              <a:t>superkey</a:t>
            </a:r>
            <a:r>
              <a:rPr lang="en-US" altLang="en-US" sz="2000" dirty="0"/>
              <a:t>.</a:t>
            </a:r>
            <a:endParaRPr lang="en-US" altLang="en-US" sz="2000" dirty="0"/>
          </a:p>
          <a:p>
            <a:r>
              <a:rPr lang="en-US" altLang="en-US" sz="2000" dirty="0"/>
              <a:t>If </a:t>
            </a:r>
            <a:r>
              <a:rPr lang="en-US" altLang="en-US" sz="2000" dirty="0">
                <a:sym typeface="Symbol" panose="05050102010706020507" pitchFamily="18" charset="2"/>
              </a:rPr>
              <a:t> </a:t>
            </a:r>
            <a:r>
              <a:rPr lang="en-US" altLang="en-US" sz="2000" dirty="0"/>
              <a:t>is not a </a:t>
            </a:r>
            <a:r>
              <a:rPr lang="en-US" altLang="en-US" sz="2000" dirty="0" err="1"/>
              <a:t>superkey</a:t>
            </a:r>
            <a:r>
              <a:rPr lang="en-US" altLang="en-US" sz="2000" dirty="0"/>
              <a:t>, we have to verify if each attribute in </a:t>
            </a:r>
            <a:r>
              <a:rPr lang="en-US" altLang="en-US" sz="2000" dirty="0">
                <a:sym typeface="Symbol" panose="05050102010706020507" pitchFamily="18" charset="2"/>
              </a:rPr>
              <a:t></a:t>
            </a:r>
            <a:r>
              <a:rPr lang="en-US" altLang="en-US" sz="2000" dirty="0"/>
              <a:t> is contained in a candidate key of </a:t>
            </a:r>
            <a:r>
              <a:rPr lang="en-US" altLang="en-US" sz="2000" i="1" dirty="0"/>
              <a:t>R</a:t>
            </a:r>
            <a:endParaRPr lang="en-US" altLang="en-US" sz="2000" i="1" dirty="0"/>
          </a:p>
          <a:p>
            <a:pPr lvl="1"/>
            <a:r>
              <a:rPr lang="en-US" altLang="en-US" sz="2000" dirty="0"/>
              <a:t>This test is rather more expensive, since it involve finding candidate keys</a:t>
            </a:r>
            <a:endParaRPr lang="en-US" altLang="en-US" sz="2000" dirty="0"/>
          </a:p>
          <a:p>
            <a:pPr lvl="1"/>
            <a:r>
              <a:rPr lang="en-US" altLang="en-US" sz="2000" dirty="0"/>
              <a:t>Testing for 3NF has been shown to be NP-hard</a:t>
            </a:r>
            <a:endParaRPr lang="en-US" altLang="en-US" sz="2000" dirty="0"/>
          </a:p>
          <a:p>
            <a:pPr lvl="1"/>
            <a:r>
              <a:rPr lang="en-US" altLang="en-US" sz="2000" dirty="0"/>
              <a:t>Interestingly, decomposition into third normal form (described shortly) can be done in polynomial time </a:t>
            </a:r>
            <a:endParaRPr lang="en-US" altLang="en-US" sz="2000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6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3NF Decomposition Algorithm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  <a:ea typeface="MS PGothic" panose="020B0600070205080204" pitchFamily="34" charset="-128"/>
            </a:endParaRPr>
          </a:p>
        </p:txBody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63638"/>
            <a:ext cx="7681791" cy="4924341"/>
          </a:xfrm>
        </p:spPr>
        <p:txBody>
          <a:bodyPr/>
          <a:lstStyle/>
          <a:p>
            <a:pPr>
              <a:lnSpc>
                <a:spcPct val="90000"/>
              </a:lnSpc>
              <a:buFont typeface="Monotype Sorts" pitchFamily="-65" charset="2"/>
              <a:buNone/>
              <a:tabLst>
                <a:tab pos="461645" algn="l"/>
                <a:tab pos="1026795" algn="l"/>
                <a:tab pos="1309370" algn="l"/>
                <a:tab pos="1711325" algn="l"/>
              </a:tabLst>
            </a:pPr>
            <a:r>
              <a:rPr lang="en-US" altLang="en-US" dirty="0"/>
              <a:t>	</a:t>
            </a:r>
            <a:r>
              <a:rPr lang="en-US" altLang="en-US" dirty="0">
                <a:solidFill>
                  <a:srgbClr val="7030A0"/>
                </a:solidFill>
              </a:rPr>
              <a:t>Let </a:t>
            </a:r>
            <a:r>
              <a:rPr lang="en-US" altLang="en-US" i="1" dirty="0">
                <a:solidFill>
                  <a:srgbClr val="7030A0"/>
                </a:solidFill>
              </a:rPr>
              <a:t>F</a:t>
            </a:r>
            <a:r>
              <a:rPr lang="en-US" altLang="en-US" sz="2000" i="1" baseline="-25000" dirty="0">
                <a:solidFill>
                  <a:srgbClr val="7030A0"/>
                </a:solidFill>
              </a:rPr>
              <a:t>c</a:t>
            </a:r>
            <a:r>
              <a:rPr lang="en-US" altLang="en-US" i="1" dirty="0">
                <a:solidFill>
                  <a:srgbClr val="7030A0"/>
                </a:solidFill>
              </a:rPr>
              <a:t> </a:t>
            </a:r>
            <a:r>
              <a:rPr lang="en-US" altLang="en-US" dirty="0">
                <a:solidFill>
                  <a:srgbClr val="7030A0"/>
                </a:solidFill>
              </a:rPr>
              <a:t>be a canonical cover for </a:t>
            </a:r>
            <a:r>
              <a:rPr lang="en-US" altLang="en-US" i="1" dirty="0">
                <a:solidFill>
                  <a:srgbClr val="7030A0"/>
                </a:solidFill>
              </a:rPr>
              <a:t>F;</a:t>
            </a:r>
            <a:br>
              <a:rPr lang="en-US" altLang="en-US" i="1" dirty="0">
                <a:solidFill>
                  <a:srgbClr val="7030A0"/>
                </a:solidFill>
              </a:rPr>
            </a:br>
            <a:r>
              <a:rPr lang="en-US" altLang="en-US" i="1" dirty="0" err="1">
                <a:solidFill>
                  <a:srgbClr val="7030A0"/>
                </a:solidFill>
              </a:rPr>
              <a:t>i</a:t>
            </a:r>
            <a:r>
              <a:rPr lang="en-US" altLang="en-US" i="1" dirty="0">
                <a:solidFill>
                  <a:srgbClr val="7030A0"/>
                </a:solidFill>
              </a:rPr>
              <a:t> </a:t>
            </a:r>
            <a:r>
              <a:rPr lang="en-US" altLang="en-US" dirty="0">
                <a:solidFill>
                  <a:srgbClr val="7030A0"/>
                </a:solidFill>
              </a:rPr>
              <a:t>:= 0;</a:t>
            </a:r>
            <a:br>
              <a:rPr lang="en-US" altLang="en-US" dirty="0">
                <a:solidFill>
                  <a:srgbClr val="7030A0"/>
                </a:solidFill>
              </a:rPr>
            </a:br>
            <a:r>
              <a:rPr lang="en-US" altLang="en-US" b="1" dirty="0">
                <a:solidFill>
                  <a:srgbClr val="7030A0"/>
                </a:solidFill>
              </a:rPr>
              <a:t>for each </a:t>
            </a:r>
            <a:r>
              <a:rPr lang="en-US" altLang="en-US" dirty="0">
                <a:solidFill>
                  <a:srgbClr val="7030A0"/>
                </a:solidFill>
              </a:rPr>
              <a:t> functional dependency </a:t>
            </a:r>
            <a:r>
              <a:rPr lang="en-US" altLang="en-US" dirty="0">
                <a:solidFill>
                  <a:srgbClr val="7030A0"/>
                </a:solidFill>
                <a:sym typeface="Symbol" panose="05050102010706020507" pitchFamily="18" charset="2"/>
              </a:rPr>
              <a:t></a:t>
            </a:r>
            <a:r>
              <a:rPr lang="en-US" altLang="en-US" dirty="0">
                <a:solidFill>
                  <a:srgbClr val="7030A0"/>
                </a:solidFill>
                <a:sym typeface="Greek Symbols"/>
              </a:rPr>
              <a:t> </a:t>
            </a:r>
            <a:r>
              <a:rPr lang="en-US" altLang="en-US" dirty="0">
                <a:solidFill>
                  <a:srgbClr val="7030A0"/>
                </a:solidFill>
                <a:sym typeface="Symbol" panose="05050102010706020507" pitchFamily="18" charset="2"/>
              </a:rPr>
              <a:t></a:t>
            </a:r>
            <a:r>
              <a:rPr lang="en-US" altLang="en-US" dirty="0">
                <a:solidFill>
                  <a:srgbClr val="7030A0"/>
                </a:solidFill>
                <a:sym typeface="Monotype Sorts" pitchFamily="-65" charset="2"/>
              </a:rPr>
              <a:t> </a:t>
            </a:r>
            <a:r>
              <a:rPr lang="en-US" altLang="en-US" i="1" dirty="0">
                <a:solidFill>
                  <a:srgbClr val="7030A0"/>
                </a:solidFill>
                <a:sym typeface="Symbol" panose="05050102010706020507" pitchFamily="18" charset="2"/>
              </a:rPr>
              <a:t></a:t>
            </a:r>
            <a:r>
              <a:rPr lang="en-US" altLang="en-US" i="1" dirty="0">
                <a:solidFill>
                  <a:srgbClr val="7030A0"/>
                </a:solidFill>
                <a:sym typeface="Greek Symbols"/>
              </a:rPr>
              <a:t> </a:t>
            </a:r>
            <a:r>
              <a:rPr lang="en-US" altLang="en-US" dirty="0">
                <a:solidFill>
                  <a:srgbClr val="7030A0"/>
                </a:solidFill>
                <a:sym typeface="Greek Symbols"/>
              </a:rPr>
              <a:t>in </a:t>
            </a:r>
            <a:r>
              <a:rPr lang="en-US" altLang="en-US" i="1" dirty="0">
                <a:solidFill>
                  <a:srgbClr val="7030A0"/>
                </a:solidFill>
                <a:sym typeface="Greek Symbols"/>
              </a:rPr>
              <a:t>F</a:t>
            </a:r>
            <a:r>
              <a:rPr lang="en-US" altLang="en-US" sz="2000" i="1" baseline="-25000" dirty="0">
                <a:solidFill>
                  <a:srgbClr val="7030A0"/>
                </a:solidFill>
                <a:sym typeface="Greek Symbols"/>
              </a:rPr>
              <a:t>c</a:t>
            </a:r>
            <a:r>
              <a:rPr lang="en-US" altLang="en-US" i="1" dirty="0">
                <a:solidFill>
                  <a:srgbClr val="7030A0"/>
                </a:solidFill>
                <a:sym typeface="Greek Symbols"/>
              </a:rPr>
              <a:t> </a:t>
            </a:r>
            <a:r>
              <a:rPr lang="en-US" altLang="en-US" b="1" dirty="0">
                <a:solidFill>
                  <a:srgbClr val="7030A0"/>
                </a:solidFill>
                <a:sym typeface="Greek Symbols"/>
              </a:rPr>
              <a:t>do</a:t>
            </a:r>
            <a:br>
              <a:rPr lang="en-US" altLang="en-US" b="1" dirty="0">
                <a:solidFill>
                  <a:srgbClr val="7030A0"/>
                </a:solidFill>
                <a:sym typeface="Greek Symbols"/>
              </a:rPr>
            </a:br>
            <a:r>
              <a:rPr lang="en-US" altLang="en-US" b="1" dirty="0">
                <a:solidFill>
                  <a:srgbClr val="7030A0"/>
                </a:solidFill>
                <a:sym typeface="Greek Symbols"/>
              </a:rPr>
              <a:t>	if </a:t>
            </a:r>
            <a:r>
              <a:rPr lang="en-US" altLang="en-US" dirty="0">
                <a:solidFill>
                  <a:srgbClr val="7030A0"/>
                </a:solidFill>
                <a:sym typeface="Greek Symbols"/>
              </a:rPr>
              <a:t>none of the schemas </a:t>
            </a:r>
            <a:r>
              <a:rPr lang="en-US" altLang="en-US" i="1" dirty="0" err="1">
                <a:solidFill>
                  <a:srgbClr val="7030A0"/>
                </a:solidFill>
                <a:sym typeface="Greek Symbols"/>
              </a:rPr>
              <a:t>R</a:t>
            </a:r>
            <a:r>
              <a:rPr lang="en-US" altLang="en-US" i="1" baseline="-25000" dirty="0" err="1">
                <a:solidFill>
                  <a:srgbClr val="7030A0"/>
                </a:solidFill>
                <a:sym typeface="Greek Symbols"/>
              </a:rPr>
              <a:t>j</a:t>
            </a:r>
            <a:r>
              <a:rPr lang="en-US" altLang="en-US" i="1" dirty="0">
                <a:solidFill>
                  <a:srgbClr val="7030A0"/>
                </a:solidFill>
                <a:sym typeface="Greek Symbols"/>
              </a:rPr>
              <a:t>, </a:t>
            </a:r>
            <a:r>
              <a:rPr lang="en-US" altLang="en-US" dirty="0">
                <a:solidFill>
                  <a:srgbClr val="7030A0"/>
                </a:solidFill>
                <a:sym typeface="Greek Symbols"/>
              </a:rPr>
              <a:t>1 </a:t>
            </a:r>
            <a:r>
              <a:rPr lang="en-US" altLang="en-US" dirty="0">
                <a:solidFill>
                  <a:srgbClr val="7030A0"/>
                </a:solidFill>
                <a:sym typeface="Symbol" panose="05050102010706020507" pitchFamily="18" charset="2"/>
              </a:rPr>
              <a:t> </a:t>
            </a:r>
            <a:r>
              <a:rPr lang="en-US" altLang="en-US" i="1" dirty="0">
                <a:solidFill>
                  <a:srgbClr val="7030A0"/>
                </a:solidFill>
                <a:sym typeface="Symbol" panose="05050102010706020507" pitchFamily="18" charset="2"/>
              </a:rPr>
              <a:t>j </a:t>
            </a:r>
            <a:r>
              <a:rPr lang="en-US" altLang="en-US" dirty="0">
                <a:solidFill>
                  <a:srgbClr val="7030A0"/>
                </a:solidFill>
                <a:sym typeface="Greek Symbols"/>
              </a:rPr>
              <a:t> </a:t>
            </a:r>
            <a:r>
              <a:rPr lang="en-US" altLang="en-US" dirty="0">
                <a:solidFill>
                  <a:srgbClr val="7030A0"/>
                </a:solidFill>
                <a:sym typeface="Symbol" panose="05050102010706020507" pitchFamily="18" charset="2"/>
              </a:rPr>
              <a:t></a:t>
            </a:r>
            <a:r>
              <a:rPr lang="en-US" altLang="en-US" i="1" dirty="0">
                <a:solidFill>
                  <a:srgbClr val="7030A0"/>
                </a:solidFill>
                <a:sym typeface="Symbol" panose="05050102010706020507" pitchFamily="18" charset="2"/>
              </a:rPr>
              <a:t> </a:t>
            </a:r>
            <a:r>
              <a:rPr lang="en-US" altLang="en-US" i="1" dirty="0" err="1">
                <a:solidFill>
                  <a:srgbClr val="7030A0"/>
                </a:solidFill>
                <a:sym typeface="Symbol" panose="05050102010706020507" pitchFamily="18" charset="2"/>
              </a:rPr>
              <a:t>i</a:t>
            </a:r>
            <a:r>
              <a:rPr lang="en-US" altLang="en-US" i="1" dirty="0">
                <a:solidFill>
                  <a:srgbClr val="7030A0"/>
                </a:solidFill>
                <a:sym typeface="Symbol" panose="05050102010706020507" pitchFamily="18" charset="2"/>
              </a:rPr>
              <a:t> </a:t>
            </a:r>
            <a:r>
              <a:rPr lang="en-US" altLang="en-US" dirty="0">
                <a:solidFill>
                  <a:srgbClr val="7030A0"/>
                </a:solidFill>
                <a:sym typeface="Symbol" panose="05050102010706020507" pitchFamily="18" charset="2"/>
              </a:rPr>
              <a:t>contains  </a:t>
            </a:r>
            <a:r>
              <a:rPr lang="en-US" altLang="en-US" dirty="0">
                <a:solidFill>
                  <a:srgbClr val="7030A0"/>
                </a:solidFill>
                <a:sym typeface="Greek Symbols"/>
              </a:rPr>
              <a:t> </a:t>
            </a:r>
            <a:r>
              <a:rPr lang="en-US" altLang="en-US" i="1" dirty="0">
                <a:solidFill>
                  <a:srgbClr val="7030A0"/>
                </a:solidFill>
                <a:sym typeface="Symbol" panose="05050102010706020507" pitchFamily="18" charset="2"/>
              </a:rPr>
              <a:t></a:t>
            </a:r>
            <a:r>
              <a:rPr lang="en-US" altLang="en-US" i="1" dirty="0">
                <a:solidFill>
                  <a:srgbClr val="7030A0"/>
                </a:solidFill>
                <a:sym typeface="Greek Symbols"/>
              </a:rPr>
              <a:t> </a:t>
            </a:r>
            <a:br>
              <a:rPr lang="en-US" altLang="en-US" dirty="0">
                <a:solidFill>
                  <a:srgbClr val="7030A0"/>
                </a:solidFill>
                <a:sym typeface="Greek Symbols"/>
              </a:rPr>
            </a:br>
            <a:r>
              <a:rPr lang="en-US" altLang="en-US" dirty="0">
                <a:solidFill>
                  <a:srgbClr val="7030A0"/>
                </a:solidFill>
                <a:sym typeface="Greek Symbols"/>
              </a:rPr>
              <a:t>		</a:t>
            </a:r>
            <a:r>
              <a:rPr lang="en-US" altLang="en-US" b="1" dirty="0">
                <a:solidFill>
                  <a:srgbClr val="7030A0"/>
                </a:solidFill>
                <a:sym typeface="Greek Symbols"/>
              </a:rPr>
              <a:t>then begin</a:t>
            </a:r>
            <a:br>
              <a:rPr lang="en-US" altLang="en-US" b="1" dirty="0">
                <a:solidFill>
                  <a:srgbClr val="7030A0"/>
                </a:solidFill>
                <a:sym typeface="Greek Symbols"/>
              </a:rPr>
            </a:br>
            <a:r>
              <a:rPr lang="en-US" altLang="en-US" b="1" dirty="0">
                <a:solidFill>
                  <a:srgbClr val="7030A0"/>
                </a:solidFill>
                <a:sym typeface="Greek Symbols"/>
              </a:rPr>
              <a:t>				</a:t>
            </a:r>
            <a:r>
              <a:rPr lang="en-US" altLang="en-US" i="1" dirty="0" err="1">
                <a:solidFill>
                  <a:srgbClr val="7030A0"/>
                </a:solidFill>
                <a:sym typeface="Greek Symbols"/>
              </a:rPr>
              <a:t>i</a:t>
            </a:r>
            <a:r>
              <a:rPr lang="en-US" altLang="en-US" i="1" dirty="0">
                <a:solidFill>
                  <a:srgbClr val="7030A0"/>
                </a:solidFill>
                <a:sym typeface="Greek Symbols"/>
              </a:rPr>
              <a:t> </a:t>
            </a:r>
            <a:r>
              <a:rPr lang="en-US" altLang="en-US" dirty="0">
                <a:solidFill>
                  <a:srgbClr val="7030A0"/>
                </a:solidFill>
                <a:sym typeface="Greek Symbols"/>
              </a:rPr>
              <a:t>:= </a:t>
            </a:r>
            <a:r>
              <a:rPr lang="en-US" altLang="en-US" i="1" dirty="0" err="1">
                <a:solidFill>
                  <a:srgbClr val="7030A0"/>
                </a:solidFill>
                <a:sym typeface="Greek Symbols"/>
              </a:rPr>
              <a:t>i</a:t>
            </a:r>
            <a:r>
              <a:rPr lang="en-US" altLang="en-US" i="1" dirty="0">
                <a:solidFill>
                  <a:srgbClr val="7030A0"/>
                </a:solidFill>
                <a:sym typeface="Greek Symbols"/>
              </a:rPr>
              <a:t>  + </a:t>
            </a:r>
            <a:r>
              <a:rPr lang="en-US" altLang="en-US" dirty="0">
                <a:solidFill>
                  <a:srgbClr val="7030A0"/>
                </a:solidFill>
                <a:sym typeface="Greek Symbols"/>
              </a:rPr>
              <a:t>1;</a:t>
            </a:r>
            <a:br>
              <a:rPr lang="en-US" altLang="en-US" dirty="0">
                <a:solidFill>
                  <a:srgbClr val="7030A0"/>
                </a:solidFill>
                <a:sym typeface="Greek Symbols"/>
              </a:rPr>
            </a:br>
            <a:r>
              <a:rPr lang="en-US" altLang="en-US" dirty="0">
                <a:solidFill>
                  <a:srgbClr val="7030A0"/>
                </a:solidFill>
                <a:sym typeface="Greek Symbols"/>
              </a:rPr>
              <a:t>				</a:t>
            </a:r>
            <a:r>
              <a:rPr lang="en-US" altLang="en-US" i="1" dirty="0">
                <a:solidFill>
                  <a:srgbClr val="7030A0"/>
                </a:solidFill>
                <a:sym typeface="Greek Symbols"/>
              </a:rPr>
              <a:t>R</a:t>
            </a:r>
            <a:r>
              <a:rPr lang="en-US" altLang="en-US" i="1" baseline="-25000" dirty="0">
                <a:solidFill>
                  <a:srgbClr val="7030A0"/>
                </a:solidFill>
                <a:sym typeface="Greek Symbols"/>
              </a:rPr>
              <a:t>i </a:t>
            </a:r>
            <a:r>
              <a:rPr lang="en-US" altLang="en-US" dirty="0">
                <a:solidFill>
                  <a:srgbClr val="7030A0"/>
                </a:solidFill>
                <a:sym typeface="Greek Symbols"/>
              </a:rPr>
              <a:t> := </a:t>
            </a:r>
            <a:r>
              <a:rPr lang="en-US" altLang="en-US" dirty="0">
                <a:solidFill>
                  <a:srgbClr val="7030A0"/>
                </a:solidFill>
                <a:sym typeface="Symbol" panose="05050102010706020507" pitchFamily="18" charset="2"/>
              </a:rPr>
              <a:t></a:t>
            </a:r>
            <a:r>
              <a:rPr lang="en-US" altLang="en-US" dirty="0">
                <a:solidFill>
                  <a:srgbClr val="7030A0"/>
                </a:solidFill>
                <a:sym typeface="Greek Symbols"/>
              </a:rPr>
              <a:t> </a:t>
            </a:r>
            <a:r>
              <a:rPr lang="en-US" altLang="en-US" i="1" dirty="0">
                <a:solidFill>
                  <a:srgbClr val="7030A0"/>
                </a:solidFill>
                <a:sym typeface="Symbol" panose="05050102010706020507" pitchFamily="18" charset="2"/>
              </a:rPr>
              <a:t></a:t>
            </a:r>
            <a:r>
              <a:rPr lang="en-US" altLang="en-US" i="1" dirty="0">
                <a:solidFill>
                  <a:srgbClr val="7030A0"/>
                </a:solidFill>
                <a:sym typeface="Greek Symbols"/>
              </a:rPr>
              <a:t> </a:t>
            </a:r>
            <a:br>
              <a:rPr lang="en-US" altLang="en-US" i="1" dirty="0">
                <a:solidFill>
                  <a:srgbClr val="7030A0"/>
                </a:solidFill>
                <a:sym typeface="Greek Symbols"/>
              </a:rPr>
            </a:br>
            <a:r>
              <a:rPr lang="en-US" altLang="en-US" i="1" dirty="0">
                <a:solidFill>
                  <a:srgbClr val="7030A0"/>
                </a:solidFill>
                <a:sym typeface="Greek Symbols"/>
              </a:rPr>
              <a:t>			</a:t>
            </a:r>
            <a:r>
              <a:rPr lang="en-US" altLang="en-US" b="1" dirty="0">
                <a:solidFill>
                  <a:srgbClr val="7030A0"/>
                </a:solidFill>
                <a:sym typeface="Greek Symbols"/>
              </a:rPr>
              <a:t>end</a:t>
            </a:r>
            <a:br>
              <a:rPr lang="en-US" altLang="en-US" b="1" dirty="0">
                <a:solidFill>
                  <a:srgbClr val="7030A0"/>
                </a:solidFill>
                <a:sym typeface="Greek Symbols"/>
              </a:rPr>
            </a:br>
            <a:r>
              <a:rPr lang="en-US" altLang="en-US" b="1" dirty="0">
                <a:solidFill>
                  <a:srgbClr val="7030A0"/>
                </a:solidFill>
                <a:sym typeface="Greek Symbols"/>
              </a:rPr>
              <a:t>if</a:t>
            </a:r>
            <a:r>
              <a:rPr lang="en-US" altLang="en-US" dirty="0">
                <a:solidFill>
                  <a:srgbClr val="7030A0"/>
                </a:solidFill>
                <a:sym typeface="Greek Symbols"/>
              </a:rPr>
              <a:t> none of the schemas </a:t>
            </a:r>
            <a:r>
              <a:rPr lang="en-US" altLang="en-US" i="1" dirty="0" err="1">
                <a:solidFill>
                  <a:srgbClr val="7030A0"/>
                </a:solidFill>
                <a:sym typeface="Greek Symbols"/>
              </a:rPr>
              <a:t>R</a:t>
            </a:r>
            <a:r>
              <a:rPr lang="en-US" altLang="en-US" sz="2400" i="1" baseline="-25000" dirty="0" err="1">
                <a:solidFill>
                  <a:srgbClr val="7030A0"/>
                </a:solidFill>
                <a:sym typeface="Greek Symbols"/>
              </a:rPr>
              <a:t>j</a:t>
            </a:r>
            <a:r>
              <a:rPr lang="en-US" altLang="en-US" i="1" dirty="0">
                <a:solidFill>
                  <a:srgbClr val="7030A0"/>
                </a:solidFill>
                <a:sym typeface="Greek Symbols"/>
              </a:rPr>
              <a:t>, </a:t>
            </a:r>
            <a:r>
              <a:rPr lang="en-US" altLang="en-US" dirty="0">
                <a:solidFill>
                  <a:srgbClr val="7030A0"/>
                </a:solidFill>
                <a:sym typeface="Greek Symbols"/>
              </a:rPr>
              <a:t>1 </a:t>
            </a:r>
            <a:r>
              <a:rPr lang="en-US" altLang="en-US" dirty="0">
                <a:solidFill>
                  <a:srgbClr val="7030A0"/>
                </a:solidFill>
                <a:sym typeface="Symbol" panose="05050102010706020507" pitchFamily="18" charset="2"/>
              </a:rPr>
              <a:t> </a:t>
            </a:r>
            <a:r>
              <a:rPr lang="en-US" altLang="en-US" i="1" dirty="0">
                <a:solidFill>
                  <a:srgbClr val="7030A0"/>
                </a:solidFill>
                <a:sym typeface="Symbol" panose="05050102010706020507" pitchFamily="18" charset="2"/>
              </a:rPr>
              <a:t>j </a:t>
            </a:r>
            <a:r>
              <a:rPr lang="en-US" altLang="en-US" dirty="0">
                <a:solidFill>
                  <a:srgbClr val="7030A0"/>
                </a:solidFill>
                <a:sym typeface="Greek Symbols"/>
              </a:rPr>
              <a:t> </a:t>
            </a:r>
            <a:r>
              <a:rPr lang="en-US" altLang="en-US" dirty="0">
                <a:solidFill>
                  <a:srgbClr val="7030A0"/>
                </a:solidFill>
                <a:sym typeface="Symbol" panose="05050102010706020507" pitchFamily="18" charset="2"/>
              </a:rPr>
              <a:t></a:t>
            </a:r>
            <a:r>
              <a:rPr lang="en-US" altLang="en-US" i="1" dirty="0">
                <a:solidFill>
                  <a:srgbClr val="7030A0"/>
                </a:solidFill>
                <a:sym typeface="Symbol" panose="05050102010706020507" pitchFamily="18" charset="2"/>
              </a:rPr>
              <a:t> </a:t>
            </a:r>
            <a:r>
              <a:rPr lang="en-US" altLang="en-US" i="1" dirty="0" err="1">
                <a:solidFill>
                  <a:srgbClr val="7030A0"/>
                </a:solidFill>
                <a:sym typeface="Symbol" panose="05050102010706020507" pitchFamily="18" charset="2"/>
              </a:rPr>
              <a:t>i</a:t>
            </a:r>
            <a:r>
              <a:rPr lang="en-US" altLang="en-US" i="1" dirty="0">
                <a:solidFill>
                  <a:srgbClr val="7030A0"/>
                </a:solidFill>
                <a:sym typeface="Symbol" panose="05050102010706020507" pitchFamily="18" charset="2"/>
              </a:rPr>
              <a:t> </a:t>
            </a:r>
            <a:r>
              <a:rPr lang="en-US" altLang="en-US" dirty="0">
                <a:solidFill>
                  <a:srgbClr val="7030A0"/>
                </a:solidFill>
                <a:sym typeface="Symbol" panose="05050102010706020507" pitchFamily="18" charset="2"/>
              </a:rPr>
              <a:t>contains a candidate key for </a:t>
            </a:r>
            <a:r>
              <a:rPr lang="en-US" altLang="en-US" i="1" dirty="0">
                <a:solidFill>
                  <a:srgbClr val="7030A0"/>
                </a:solidFill>
                <a:sym typeface="Symbol" panose="05050102010706020507" pitchFamily="18" charset="2"/>
              </a:rPr>
              <a:t>R</a:t>
            </a:r>
            <a:br>
              <a:rPr lang="en-US" altLang="en-US" i="1" dirty="0">
                <a:solidFill>
                  <a:srgbClr val="7030A0"/>
                </a:solidFill>
                <a:sym typeface="Symbol" panose="05050102010706020507" pitchFamily="18" charset="2"/>
              </a:rPr>
            </a:br>
            <a:r>
              <a:rPr lang="en-US" altLang="en-US" i="1" dirty="0">
                <a:solidFill>
                  <a:srgbClr val="7030A0"/>
                </a:solidFill>
                <a:sym typeface="Symbol" panose="05050102010706020507" pitchFamily="18" charset="2"/>
              </a:rPr>
              <a:t>	</a:t>
            </a:r>
            <a:r>
              <a:rPr lang="en-US" altLang="en-US" b="1" dirty="0">
                <a:solidFill>
                  <a:srgbClr val="7030A0"/>
                </a:solidFill>
                <a:sym typeface="Symbol" panose="05050102010706020507" pitchFamily="18" charset="2"/>
              </a:rPr>
              <a:t>then begin</a:t>
            </a:r>
            <a:br>
              <a:rPr lang="en-US" altLang="en-US" b="1" dirty="0">
                <a:solidFill>
                  <a:srgbClr val="7030A0"/>
                </a:solidFill>
                <a:sym typeface="Symbol" panose="05050102010706020507" pitchFamily="18" charset="2"/>
              </a:rPr>
            </a:br>
            <a:r>
              <a:rPr lang="en-US" altLang="en-US" b="1" dirty="0">
                <a:solidFill>
                  <a:srgbClr val="7030A0"/>
                </a:solidFill>
                <a:sym typeface="Symbol" panose="05050102010706020507" pitchFamily="18" charset="2"/>
              </a:rPr>
              <a:t>			</a:t>
            </a:r>
            <a:r>
              <a:rPr lang="en-US" altLang="en-US" i="1" dirty="0" err="1">
                <a:solidFill>
                  <a:srgbClr val="7030A0"/>
                </a:solidFill>
                <a:sym typeface="Symbol" panose="05050102010706020507" pitchFamily="18" charset="2"/>
              </a:rPr>
              <a:t>i</a:t>
            </a:r>
            <a:r>
              <a:rPr lang="en-US" altLang="en-US" i="1" dirty="0">
                <a:solidFill>
                  <a:srgbClr val="7030A0"/>
                </a:solidFill>
                <a:sym typeface="Symbol" panose="05050102010706020507" pitchFamily="18" charset="2"/>
              </a:rPr>
              <a:t> </a:t>
            </a:r>
            <a:r>
              <a:rPr lang="en-US" altLang="en-US" dirty="0">
                <a:solidFill>
                  <a:srgbClr val="7030A0"/>
                </a:solidFill>
                <a:sym typeface="Symbol" panose="05050102010706020507" pitchFamily="18" charset="2"/>
              </a:rPr>
              <a:t>:=</a:t>
            </a:r>
            <a:r>
              <a:rPr lang="en-US" altLang="en-US" i="1" dirty="0">
                <a:solidFill>
                  <a:srgbClr val="7030A0"/>
                </a:solidFill>
                <a:sym typeface="Symbol" panose="05050102010706020507" pitchFamily="18" charset="2"/>
              </a:rPr>
              <a:t> </a:t>
            </a:r>
            <a:r>
              <a:rPr lang="en-US" altLang="en-US" i="1" dirty="0" err="1">
                <a:solidFill>
                  <a:srgbClr val="7030A0"/>
                </a:solidFill>
                <a:sym typeface="Symbol" panose="05050102010706020507" pitchFamily="18" charset="2"/>
              </a:rPr>
              <a:t>i</a:t>
            </a:r>
            <a:r>
              <a:rPr lang="en-US" altLang="en-US" i="1" dirty="0">
                <a:solidFill>
                  <a:srgbClr val="7030A0"/>
                </a:solidFill>
                <a:sym typeface="Symbol" panose="05050102010706020507" pitchFamily="18" charset="2"/>
              </a:rPr>
              <a:t> </a:t>
            </a:r>
            <a:r>
              <a:rPr lang="en-US" altLang="en-US" dirty="0">
                <a:solidFill>
                  <a:srgbClr val="7030A0"/>
                </a:solidFill>
                <a:sym typeface="Symbol" panose="05050102010706020507" pitchFamily="18" charset="2"/>
              </a:rPr>
              <a:t> + 1;</a:t>
            </a:r>
            <a:br>
              <a:rPr lang="en-US" altLang="en-US" dirty="0">
                <a:solidFill>
                  <a:srgbClr val="7030A0"/>
                </a:solidFill>
                <a:sym typeface="Symbol" panose="05050102010706020507" pitchFamily="18" charset="2"/>
              </a:rPr>
            </a:br>
            <a:r>
              <a:rPr lang="en-US" altLang="en-US" dirty="0">
                <a:solidFill>
                  <a:srgbClr val="7030A0"/>
                </a:solidFill>
                <a:sym typeface="Symbol" panose="05050102010706020507" pitchFamily="18" charset="2"/>
              </a:rPr>
              <a:t>			</a:t>
            </a:r>
            <a:r>
              <a:rPr lang="en-US" altLang="en-US" i="1" dirty="0">
                <a:solidFill>
                  <a:srgbClr val="7030A0"/>
                </a:solidFill>
                <a:sym typeface="Symbol" panose="05050102010706020507" pitchFamily="18" charset="2"/>
              </a:rPr>
              <a:t>R</a:t>
            </a:r>
            <a:r>
              <a:rPr lang="en-US" altLang="en-US" sz="2400" i="1" baseline="-25000" dirty="0">
                <a:solidFill>
                  <a:srgbClr val="7030A0"/>
                </a:solidFill>
                <a:sym typeface="Symbol" panose="05050102010706020507" pitchFamily="18" charset="2"/>
              </a:rPr>
              <a:t>i</a:t>
            </a:r>
            <a:r>
              <a:rPr lang="en-US" altLang="en-US" dirty="0">
                <a:solidFill>
                  <a:srgbClr val="7030A0"/>
                </a:solidFill>
                <a:sym typeface="Symbol" panose="05050102010706020507" pitchFamily="18" charset="2"/>
              </a:rPr>
              <a:t> := any candidate key for </a:t>
            </a:r>
            <a:r>
              <a:rPr lang="en-US" altLang="en-US" i="1" dirty="0">
                <a:solidFill>
                  <a:srgbClr val="7030A0"/>
                </a:solidFill>
                <a:sym typeface="Symbol" panose="05050102010706020507" pitchFamily="18" charset="2"/>
              </a:rPr>
              <a:t>R;</a:t>
            </a:r>
            <a:br>
              <a:rPr lang="en-US" altLang="en-US" i="1" dirty="0">
                <a:solidFill>
                  <a:srgbClr val="7030A0"/>
                </a:solidFill>
                <a:sym typeface="Symbol" panose="05050102010706020507" pitchFamily="18" charset="2"/>
              </a:rPr>
            </a:br>
            <a:r>
              <a:rPr lang="en-US" altLang="en-US" i="1" dirty="0">
                <a:solidFill>
                  <a:srgbClr val="7030A0"/>
                </a:solidFill>
                <a:sym typeface="Symbol" panose="05050102010706020507" pitchFamily="18" charset="2"/>
              </a:rPr>
              <a:t>		</a:t>
            </a:r>
            <a:r>
              <a:rPr lang="en-US" altLang="en-US" b="1" dirty="0">
                <a:solidFill>
                  <a:srgbClr val="7030A0"/>
                </a:solidFill>
                <a:sym typeface="Symbol" panose="05050102010706020507" pitchFamily="18" charset="2"/>
              </a:rPr>
              <a:t>end </a:t>
            </a:r>
            <a:br>
              <a:rPr lang="en-US" altLang="en-US" b="1" dirty="0">
                <a:solidFill>
                  <a:srgbClr val="7030A0"/>
                </a:solidFill>
                <a:sym typeface="Symbol" panose="05050102010706020507" pitchFamily="18" charset="2"/>
              </a:rPr>
            </a:br>
            <a:r>
              <a:rPr lang="en-US" altLang="en-US" dirty="0">
                <a:solidFill>
                  <a:srgbClr val="7030A0"/>
                </a:solidFill>
                <a:sym typeface="Symbol" panose="05050102010706020507" pitchFamily="18" charset="2"/>
              </a:rPr>
              <a:t>/* Optionally, remove redundant relations */</a:t>
            </a:r>
            <a:endParaRPr lang="en-US" altLang="en-US" dirty="0">
              <a:solidFill>
                <a:srgbClr val="7030A0"/>
              </a:solidFill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buFont typeface="Monotype Sorts" pitchFamily="-65" charset="2"/>
              <a:buNone/>
              <a:tabLst>
                <a:tab pos="461645" algn="l"/>
                <a:tab pos="1026795" algn="l"/>
                <a:tab pos="1309370" algn="l"/>
                <a:tab pos="1711325" algn="l"/>
              </a:tabLst>
            </a:pPr>
            <a:r>
              <a:rPr lang="en-US" altLang="en-US" b="1" dirty="0">
                <a:solidFill>
                  <a:srgbClr val="7030A0"/>
                </a:solidFill>
                <a:sym typeface="Symbol" panose="05050102010706020507" pitchFamily="18" charset="2"/>
              </a:rPr>
              <a:t>      repeat</a:t>
            </a:r>
            <a:br>
              <a:rPr lang="en-US" altLang="en-US" b="1" dirty="0">
                <a:solidFill>
                  <a:srgbClr val="7030A0"/>
                </a:solidFill>
                <a:sym typeface="Symbol" panose="05050102010706020507" pitchFamily="18" charset="2"/>
              </a:rPr>
            </a:br>
            <a:r>
              <a:rPr lang="en-US" altLang="en-US" b="1" dirty="0">
                <a:solidFill>
                  <a:srgbClr val="7030A0"/>
                </a:solidFill>
                <a:sym typeface="Symbol" panose="05050102010706020507" pitchFamily="18" charset="2"/>
              </a:rPr>
              <a:t>if </a:t>
            </a:r>
            <a:r>
              <a:rPr lang="en-US" altLang="en-US" dirty="0">
                <a:solidFill>
                  <a:srgbClr val="7030A0"/>
                </a:solidFill>
                <a:sym typeface="Symbol" panose="05050102010706020507" pitchFamily="18" charset="2"/>
              </a:rPr>
              <a:t>any schema </a:t>
            </a:r>
            <a:r>
              <a:rPr lang="en-US" altLang="en-US" i="1" dirty="0" err="1">
                <a:solidFill>
                  <a:srgbClr val="7030A0"/>
                </a:solidFill>
                <a:sym typeface="Symbol" panose="05050102010706020507" pitchFamily="18" charset="2"/>
              </a:rPr>
              <a:t>R</a:t>
            </a:r>
            <a:r>
              <a:rPr lang="en-US" altLang="en-US" i="1" baseline="-25000" dirty="0" err="1">
                <a:solidFill>
                  <a:srgbClr val="7030A0"/>
                </a:solidFill>
                <a:sym typeface="Symbol" panose="05050102010706020507" pitchFamily="18" charset="2"/>
              </a:rPr>
              <a:t>j</a:t>
            </a:r>
            <a:r>
              <a:rPr lang="en-US" altLang="en-US" sz="2400" i="1" baseline="-25000" dirty="0">
                <a:solidFill>
                  <a:srgbClr val="7030A0"/>
                </a:solidFill>
                <a:sym typeface="Symbol" panose="05050102010706020507" pitchFamily="18" charset="2"/>
              </a:rPr>
              <a:t> </a:t>
            </a:r>
            <a:r>
              <a:rPr lang="en-US" altLang="en-US" dirty="0">
                <a:solidFill>
                  <a:srgbClr val="7030A0"/>
                </a:solidFill>
                <a:sym typeface="Symbol" panose="05050102010706020507" pitchFamily="18" charset="2"/>
              </a:rPr>
              <a:t>is contained in another schema </a:t>
            </a:r>
            <a:r>
              <a:rPr lang="en-US" altLang="en-US" i="1" dirty="0" err="1">
                <a:solidFill>
                  <a:srgbClr val="7030A0"/>
                </a:solidFill>
                <a:sym typeface="Symbol" panose="05050102010706020507" pitchFamily="18" charset="2"/>
              </a:rPr>
              <a:t>R</a:t>
            </a:r>
            <a:r>
              <a:rPr lang="en-US" altLang="en-US" sz="2400" i="1" baseline="-25000" dirty="0" err="1">
                <a:solidFill>
                  <a:srgbClr val="7030A0"/>
                </a:solidFill>
                <a:sym typeface="Symbol" panose="05050102010706020507" pitchFamily="18" charset="2"/>
              </a:rPr>
              <a:t>k</a:t>
            </a:r>
            <a:br>
              <a:rPr lang="en-US" altLang="en-US" sz="2400" i="1" baseline="-25000" dirty="0">
                <a:solidFill>
                  <a:srgbClr val="7030A0"/>
                </a:solidFill>
                <a:sym typeface="Symbol" panose="05050102010706020507" pitchFamily="18" charset="2"/>
              </a:rPr>
            </a:br>
            <a:r>
              <a:rPr lang="en-US" altLang="en-US" sz="2400" i="1" baseline="-25000" dirty="0">
                <a:solidFill>
                  <a:srgbClr val="7030A0"/>
                </a:solidFill>
                <a:sym typeface="Symbol" panose="05050102010706020507" pitchFamily="18" charset="2"/>
              </a:rPr>
              <a:t>        </a:t>
            </a:r>
            <a:r>
              <a:rPr lang="en-US" altLang="en-US" b="1" dirty="0">
                <a:solidFill>
                  <a:srgbClr val="7030A0"/>
                </a:solidFill>
                <a:sym typeface="Greek Symbols"/>
              </a:rPr>
              <a:t>then /* </a:t>
            </a:r>
            <a:r>
              <a:rPr lang="en-US" altLang="en-US" dirty="0">
                <a:solidFill>
                  <a:srgbClr val="7030A0"/>
                </a:solidFill>
                <a:sym typeface="Greek Symbols"/>
              </a:rPr>
              <a:t>delete </a:t>
            </a:r>
            <a:r>
              <a:rPr lang="en-US" altLang="en-US" i="1" dirty="0" err="1">
                <a:solidFill>
                  <a:srgbClr val="7030A0"/>
                </a:solidFill>
                <a:sym typeface="Symbol" panose="05050102010706020507" pitchFamily="18" charset="2"/>
              </a:rPr>
              <a:t>R</a:t>
            </a:r>
            <a:r>
              <a:rPr lang="en-US" altLang="en-US" i="1" baseline="-25000" dirty="0" err="1">
                <a:solidFill>
                  <a:srgbClr val="7030A0"/>
                </a:solidFill>
                <a:sym typeface="Symbol" panose="05050102010706020507" pitchFamily="18" charset="2"/>
              </a:rPr>
              <a:t>j</a:t>
            </a:r>
            <a:r>
              <a:rPr lang="en-US" altLang="en-US" sz="2400" i="1" baseline="-25000" dirty="0">
                <a:solidFill>
                  <a:srgbClr val="7030A0"/>
                </a:solidFill>
                <a:sym typeface="Symbol" panose="05050102010706020507" pitchFamily="18" charset="2"/>
              </a:rPr>
              <a:t>  </a:t>
            </a:r>
            <a:r>
              <a:rPr lang="en-US" altLang="en-US" b="1" dirty="0">
                <a:solidFill>
                  <a:srgbClr val="7030A0"/>
                </a:solidFill>
                <a:sym typeface="Greek Symbols"/>
              </a:rPr>
              <a:t>*/</a:t>
            </a:r>
            <a:br>
              <a:rPr lang="en-US" altLang="en-US" b="1" dirty="0">
                <a:solidFill>
                  <a:srgbClr val="7030A0"/>
                </a:solidFill>
                <a:sym typeface="Greek Symbols"/>
              </a:rPr>
            </a:br>
            <a:r>
              <a:rPr lang="en-US" altLang="en-US" b="1" dirty="0">
                <a:solidFill>
                  <a:srgbClr val="7030A0"/>
                </a:solidFill>
                <a:sym typeface="Greek Symbols"/>
              </a:rPr>
              <a:t>           </a:t>
            </a:r>
            <a:r>
              <a:rPr lang="en-US" altLang="en-US" i="1" dirty="0" err="1">
                <a:solidFill>
                  <a:srgbClr val="7030A0"/>
                </a:solidFill>
                <a:sym typeface="Symbol" panose="05050102010706020507" pitchFamily="18" charset="2"/>
              </a:rPr>
              <a:t>R</a:t>
            </a:r>
            <a:r>
              <a:rPr lang="en-US" altLang="en-US" i="1" baseline="-25000" dirty="0" err="1">
                <a:solidFill>
                  <a:srgbClr val="7030A0"/>
                </a:solidFill>
                <a:sym typeface="Symbol" panose="05050102010706020507" pitchFamily="18" charset="2"/>
              </a:rPr>
              <a:t>j</a:t>
            </a:r>
            <a:r>
              <a:rPr lang="en-US" altLang="en-US" i="1" baseline="-25000" dirty="0">
                <a:solidFill>
                  <a:srgbClr val="7030A0"/>
                </a:solidFill>
                <a:sym typeface="Symbol" panose="05050102010706020507" pitchFamily="18" charset="2"/>
              </a:rPr>
              <a:t> </a:t>
            </a:r>
            <a:r>
              <a:rPr lang="en-US" altLang="en-US" i="1" dirty="0">
                <a:solidFill>
                  <a:srgbClr val="7030A0"/>
                </a:solidFill>
                <a:sym typeface="Symbol" panose="05050102010706020507" pitchFamily="18" charset="2"/>
              </a:rPr>
              <a:t>= R;;</a:t>
            </a:r>
            <a:br>
              <a:rPr lang="en-US" altLang="en-US" i="1" dirty="0">
                <a:solidFill>
                  <a:srgbClr val="7030A0"/>
                </a:solidFill>
                <a:sym typeface="Symbol" panose="05050102010706020507" pitchFamily="18" charset="2"/>
              </a:rPr>
            </a:br>
            <a:r>
              <a:rPr lang="en-US" altLang="en-US" i="1" dirty="0">
                <a:solidFill>
                  <a:srgbClr val="7030A0"/>
                </a:solidFill>
                <a:sym typeface="Symbol" panose="05050102010706020507" pitchFamily="18" charset="2"/>
              </a:rPr>
              <a:t>           </a:t>
            </a:r>
            <a:r>
              <a:rPr lang="en-US" altLang="en-US" i="1" dirty="0" err="1">
                <a:solidFill>
                  <a:srgbClr val="7030A0"/>
                </a:solidFill>
                <a:sym typeface="Symbol" panose="05050102010706020507" pitchFamily="18" charset="2"/>
              </a:rPr>
              <a:t>i</a:t>
            </a:r>
            <a:r>
              <a:rPr lang="en-US" altLang="en-US" i="1" dirty="0">
                <a:solidFill>
                  <a:srgbClr val="7030A0"/>
                </a:solidFill>
                <a:sym typeface="Symbol" panose="05050102010706020507" pitchFamily="18" charset="2"/>
              </a:rPr>
              <a:t>=i-1;</a:t>
            </a:r>
            <a:br>
              <a:rPr lang="en-US" altLang="en-US" dirty="0">
                <a:solidFill>
                  <a:srgbClr val="7030A0"/>
                </a:solidFill>
                <a:sym typeface="Greek Symbols"/>
              </a:rPr>
            </a:br>
            <a:r>
              <a:rPr lang="en-US" altLang="en-US" b="1" dirty="0">
                <a:solidFill>
                  <a:srgbClr val="7030A0"/>
                </a:solidFill>
                <a:sym typeface="Symbol" panose="05050102010706020507" pitchFamily="18" charset="2"/>
              </a:rPr>
              <a:t>return </a:t>
            </a:r>
            <a:r>
              <a:rPr lang="en-US" altLang="en-US" i="1" dirty="0">
                <a:solidFill>
                  <a:srgbClr val="7030A0"/>
                </a:solidFill>
                <a:sym typeface="Symbol" panose="05050102010706020507" pitchFamily="18" charset="2"/>
              </a:rPr>
              <a:t>(R</a:t>
            </a:r>
            <a:r>
              <a:rPr lang="en-US" altLang="en-US" sz="2000" baseline="-25000" dirty="0">
                <a:solidFill>
                  <a:srgbClr val="7030A0"/>
                </a:solidFill>
                <a:sym typeface="Symbol" panose="05050102010706020507" pitchFamily="18" charset="2"/>
              </a:rPr>
              <a:t>1</a:t>
            </a:r>
            <a:r>
              <a:rPr lang="en-US" altLang="en-US" dirty="0">
                <a:solidFill>
                  <a:srgbClr val="7030A0"/>
                </a:solidFill>
                <a:sym typeface="Symbol" panose="05050102010706020507" pitchFamily="18" charset="2"/>
              </a:rPr>
              <a:t>, </a:t>
            </a:r>
            <a:r>
              <a:rPr lang="en-US" altLang="en-US" i="1" dirty="0">
                <a:solidFill>
                  <a:srgbClr val="7030A0"/>
                </a:solidFill>
                <a:sym typeface="Symbol" panose="05050102010706020507" pitchFamily="18" charset="2"/>
              </a:rPr>
              <a:t>R</a:t>
            </a:r>
            <a:r>
              <a:rPr lang="en-US" altLang="en-US" sz="2000" baseline="-25000" dirty="0">
                <a:solidFill>
                  <a:srgbClr val="7030A0"/>
                </a:solidFill>
                <a:sym typeface="Symbol" panose="05050102010706020507" pitchFamily="18" charset="2"/>
              </a:rPr>
              <a:t>2</a:t>
            </a:r>
            <a:r>
              <a:rPr lang="en-US" altLang="en-US" dirty="0">
                <a:solidFill>
                  <a:srgbClr val="7030A0"/>
                </a:solidFill>
                <a:sym typeface="Symbol" panose="05050102010706020507" pitchFamily="18" charset="2"/>
              </a:rPr>
              <a:t>, ..., </a:t>
            </a:r>
            <a:r>
              <a:rPr lang="en-US" altLang="en-US" i="1" dirty="0">
                <a:solidFill>
                  <a:srgbClr val="7030A0"/>
                </a:solidFill>
                <a:sym typeface="Symbol" panose="05050102010706020507" pitchFamily="18" charset="2"/>
              </a:rPr>
              <a:t>R</a:t>
            </a:r>
            <a:r>
              <a:rPr lang="en-US" altLang="en-US" sz="2400" i="1" baseline="-25000" dirty="0">
                <a:solidFill>
                  <a:srgbClr val="7030A0"/>
                </a:solidFill>
                <a:sym typeface="Symbol" panose="05050102010706020507" pitchFamily="18" charset="2"/>
              </a:rPr>
              <a:t>i</a:t>
            </a:r>
            <a:r>
              <a:rPr lang="en-US" altLang="en-US" i="1" dirty="0">
                <a:solidFill>
                  <a:srgbClr val="7030A0"/>
                </a:solidFill>
                <a:sym typeface="Symbol" panose="05050102010706020507" pitchFamily="18" charset="2"/>
              </a:rPr>
              <a:t>)</a:t>
            </a:r>
            <a:r>
              <a:rPr lang="en-US" altLang="en-US" i="1" dirty="0">
                <a:solidFill>
                  <a:srgbClr val="7030A0"/>
                </a:solidFill>
                <a:sym typeface="Greek Symbols"/>
              </a:rPr>
              <a:t>	</a:t>
            </a:r>
            <a:r>
              <a:rPr lang="en-US" altLang="en-US" sz="1600" i="1" dirty="0">
                <a:solidFill>
                  <a:srgbClr val="7030A0"/>
                </a:solidFill>
                <a:sym typeface="Greek Symbols"/>
              </a:rPr>
              <a:t>	</a:t>
            </a:r>
            <a:r>
              <a:rPr lang="en-US" altLang="en-US" sz="1600" i="1" dirty="0">
                <a:sym typeface="Greek Symbols"/>
              </a:rPr>
              <a:t>    </a:t>
            </a:r>
            <a:endParaRPr lang="en-US" altLang="en-US" sz="1600" i="1" dirty="0">
              <a:sym typeface="Greek Symbols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738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66675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3NF Decomposition Algorithm (Cont.)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  <a:ea typeface="MS PGothic" panose="020B0600070205080204" pitchFamily="34" charset="-128"/>
            </a:endParaRPr>
          </a:p>
        </p:txBody>
      </p:sp>
      <p:sp>
        <p:nvSpPr>
          <p:cNvPr id="7567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36566" y="1715311"/>
            <a:ext cx="7315199" cy="1335516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sz="2400" dirty="0">
                <a:ea typeface="+mn-ea"/>
                <a:sym typeface="Monotype Sorts" charset="0"/>
              </a:rPr>
              <a:t>Each relation schema </a:t>
            </a:r>
            <a:r>
              <a:rPr lang="en-US" sz="2400" i="1" dirty="0">
                <a:ea typeface="+mn-ea"/>
                <a:sym typeface="Monotype Sorts" charset="0"/>
              </a:rPr>
              <a:t>R</a:t>
            </a:r>
            <a:r>
              <a:rPr lang="en-US" sz="2400" i="1" baseline="-25000" dirty="0">
                <a:ea typeface="+mn-ea"/>
                <a:sym typeface="Monotype Sorts" charset="0"/>
              </a:rPr>
              <a:t>i</a:t>
            </a:r>
            <a:r>
              <a:rPr lang="en-US" sz="2400" i="1" dirty="0">
                <a:ea typeface="+mn-ea"/>
                <a:sym typeface="Monotype Sorts" charset="0"/>
              </a:rPr>
              <a:t> </a:t>
            </a:r>
            <a:r>
              <a:rPr lang="en-US" sz="2400" dirty="0">
                <a:ea typeface="+mn-ea"/>
                <a:sym typeface="Monotype Sorts" charset="0"/>
              </a:rPr>
              <a:t>is in 3NF</a:t>
            </a:r>
            <a:endParaRPr lang="en-US" sz="2400" dirty="0">
              <a:ea typeface="+mn-ea"/>
              <a:sym typeface="Monotype Sorts" charset="0"/>
            </a:endParaRPr>
          </a:p>
          <a:p>
            <a:pPr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sz="2400" dirty="0">
                <a:ea typeface="+mn-ea"/>
                <a:sym typeface="Monotype Sorts" charset="0"/>
              </a:rPr>
              <a:t>Decomposition is dependency preserving and lossless-join</a:t>
            </a:r>
            <a:endParaRPr lang="en-US" sz="2400" dirty="0">
              <a:ea typeface="+mn-ea"/>
              <a:sym typeface="Monotype Sorts" charset="0"/>
            </a:endParaRPr>
          </a:p>
          <a:p>
            <a:pPr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sz="2400" dirty="0">
                <a:ea typeface="+mn-ea"/>
                <a:sym typeface="Monotype Sorts" charset="0"/>
              </a:rPr>
              <a:t>Proof of correctness is at end of this presentation (click here)</a:t>
            </a:r>
            <a:endParaRPr lang="en-US" sz="2400" dirty="0">
              <a:ea typeface="+mn-ea"/>
              <a:sym typeface="Monotype Sorts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72357" y="1191121"/>
            <a:ext cx="4942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ym typeface="Monotype Sorts" charset="0"/>
              </a:rPr>
              <a:t>Above algorithm ensures</a:t>
            </a:r>
            <a:endParaRPr lang="en-US" sz="2400"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7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3NF Decomposition: An Example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  <a:ea typeface="MS PGothic" panose="020B0600070205080204" pitchFamily="34" charset="-128"/>
            </a:endParaRPr>
          </a:p>
        </p:txBody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15510"/>
            <a:ext cx="7567782" cy="4202446"/>
          </a:xfrm>
        </p:spPr>
        <p:txBody>
          <a:bodyPr/>
          <a:lstStyle/>
          <a:p>
            <a:pPr>
              <a:tabLst>
                <a:tab pos="1026795" algn="l"/>
                <a:tab pos="2857500" algn="ctr"/>
                <a:tab pos="3036570" algn="l"/>
              </a:tabLst>
            </a:pPr>
            <a:r>
              <a:rPr lang="en-US" altLang="en-US" sz="2000" dirty="0"/>
              <a:t>Relation schema:</a:t>
            </a:r>
            <a:endParaRPr lang="en-US" altLang="en-US" sz="2000" dirty="0"/>
          </a:p>
          <a:p>
            <a:pPr marL="800100" lvl="1" indent="-342900">
              <a:buFont typeface="Monotype Sorts" pitchFamily="-65" charset="2"/>
              <a:buNone/>
              <a:tabLst>
                <a:tab pos="1026795" algn="l"/>
                <a:tab pos="2857500" algn="ctr"/>
                <a:tab pos="3036570" algn="l"/>
              </a:tabLst>
            </a:pPr>
            <a:r>
              <a:rPr lang="en-US" altLang="en-US" sz="2000" i="1" dirty="0" err="1"/>
              <a:t>cust_banker_branch</a:t>
            </a:r>
            <a:r>
              <a:rPr lang="en-US" altLang="en-US" sz="2000" i="1" dirty="0"/>
              <a:t> = </a:t>
            </a:r>
            <a:r>
              <a:rPr lang="en-US" altLang="en-US" sz="2000" dirty="0"/>
              <a:t>(</a:t>
            </a:r>
            <a:r>
              <a:rPr lang="en-US" altLang="en-US" sz="2000" i="1" u="sng" dirty="0" err="1"/>
              <a:t>customer_id</a:t>
            </a:r>
            <a:r>
              <a:rPr lang="en-US" altLang="en-US" sz="2000" i="1" u="sng" dirty="0"/>
              <a:t>, </a:t>
            </a:r>
            <a:r>
              <a:rPr lang="en-US" altLang="en-US" sz="2000" i="1" u="sng" dirty="0" err="1"/>
              <a:t>employee_id</a:t>
            </a:r>
            <a:r>
              <a:rPr lang="en-US" altLang="en-US" sz="2000" i="1" dirty="0"/>
              <a:t>, </a:t>
            </a:r>
            <a:r>
              <a:rPr lang="en-US" altLang="en-US" sz="2000" i="1" dirty="0" err="1"/>
              <a:t>branch_name</a:t>
            </a:r>
            <a:r>
              <a:rPr lang="en-US" altLang="en-US" sz="2000" i="1" dirty="0"/>
              <a:t>, type </a:t>
            </a:r>
            <a:r>
              <a:rPr lang="en-US" altLang="en-US" sz="2000" dirty="0"/>
              <a:t>)</a:t>
            </a:r>
            <a:endParaRPr lang="en-US" altLang="en-US" sz="2000" i="1" dirty="0"/>
          </a:p>
          <a:p>
            <a:pPr>
              <a:tabLst>
                <a:tab pos="1026795" algn="l"/>
                <a:tab pos="2857500" algn="ctr"/>
                <a:tab pos="3036570" algn="l"/>
              </a:tabLst>
            </a:pPr>
            <a:r>
              <a:rPr lang="en-US" altLang="en-US" sz="2000" dirty="0"/>
              <a:t>The functional dependencies for this relation schema are:</a:t>
            </a:r>
            <a:endParaRPr lang="en-US" altLang="en-US" sz="2000" dirty="0"/>
          </a:p>
          <a:p>
            <a:pPr marL="800100" lvl="1" indent="-342900">
              <a:tabLst>
                <a:tab pos="1026795" algn="l"/>
                <a:tab pos="2857500" algn="ctr"/>
                <a:tab pos="3036570" algn="l"/>
              </a:tabLst>
            </a:pPr>
            <a:r>
              <a:rPr lang="en-US" altLang="en-US" sz="2000" i="1" dirty="0" err="1"/>
              <a:t>customer_id</a:t>
            </a:r>
            <a:r>
              <a:rPr lang="en-US" altLang="en-US" sz="2000" i="1" dirty="0"/>
              <a:t>, </a:t>
            </a:r>
            <a:r>
              <a:rPr lang="en-US" altLang="en-US" sz="2000" i="1" dirty="0" err="1"/>
              <a:t>employee_id</a:t>
            </a:r>
            <a:r>
              <a:rPr lang="en-US" altLang="en-US" sz="2000" i="1" dirty="0"/>
              <a:t> </a:t>
            </a:r>
            <a:r>
              <a:rPr lang="en-US" altLang="en-US" sz="2000" dirty="0">
                <a:sym typeface="Symbol" panose="05050102010706020507" pitchFamily="18" charset="2"/>
              </a:rPr>
              <a:t></a:t>
            </a:r>
            <a:r>
              <a:rPr lang="en-US" altLang="en-US" sz="2000" dirty="0">
                <a:sym typeface="Monotype Sorts" pitchFamily="-65" charset="2"/>
              </a:rPr>
              <a:t> </a:t>
            </a:r>
            <a:r>
              <a:rPr lang="en-US" altLang="en-US" sz="2000" i="1" dirty="0" err="1">
                <a:sym typeface="Monotype Sorts" pitchFamily="-65" charset="2"/>
              </a:rPr>
              <a:t>branch_name</a:t>
            </a:r>
            <a:r>
              <a:rPr lang="en-US" altLang="en-US" sz="2000" i="1" dirty="0">
                <a:sym typeface="Monotype Sorts" pitchFamily="-65" charset="2"/>
              </a:rPr>
              <a:t>, type</a:t>
            </a:r>
            <a:endParaRPr lang="en-US" altLang="en-US" sz="2000" i="1" dirty="0">
              <a:sym typeface="Monotype Sorts" pitchFamily="-65" charset="2"/>
            </a:endParaRPr>
          </a:p>
          <a:p>
            <a:pPr marL="800100" lvl="1" indent="-342900">
              <a:tabLst>
                <a:tab pos="1026795" algn="l"/>
                <a:tab pos="2857500" algn="ctr"/>
                <a:tab pos="3036570" algn="l"/>
              </a:tabLst>
            </a:pPr>
            <a:r>
              <a:rPr lang="en-US" altLang="en-US" sz="2000" i="1" dirty="0" err="1">
                <a:sym typeface="Monotype Sorts" pitchFamily="-65" charset="2"/>
              </a:rPr>
              <a:t>employee_id</a:t>
            </a:r>
            <a:r>
              <a:rPr lang="en-US" altLang="en-US" sz="2000" i="1" dirty="0">
                <a:sym typeface="Monotype Sorts" pitchFamily="-65" charset="2"/>
              </a:rPr>
              <a:t> </a:t>
            </a:r>
            <a:r>
              <a:rPr lang="en-US" altLang="en-US" sz="2000" dirty="0">
                <a:sym typeface="Symbol" panose="05050102010706020507" pitchFamily="18" charset="2"/>
              </a:rPr>
              <a:t></a:t>
            </a:r>
            <a:r>
              <a:rPr lang="en-US" altLang="en-US" sz="2000" i="1" dirty="0">
                <a:sym typeface="Monotype Sorts" pitchFamily="-65" charset="2"/>
              </a:rPr>
              <a:t> </a:t>
            </a:r>
            <a:r>
              <a:rPr lang="en-US" altLang="en-US" sz="2000" i="1" dirty="0" err="1">
                <a:sym typeface="Monotype Sorts" pitchFamily="-65" charset="2"/>
              </a:rPr>
              <a:t>branch_name</a:t>
            </a:r>
            <a:endParaRPr lang="en-US" altLang="en-US" sz="2000" i="1" dirty="0">
              <a:sym typeface="Monotype Sorts" pitchFamily="-65" charset="2"/>
            </a:endParaRPr>
          </a:p>
          <a:p>
            <a:pPr marL="800100" lvl="1" indent="-342900">
              <a:tabLst>
                <a:tab pos="1026795" algn="l"/>
                <a:tab pos="2857500" algn="ctr"/>
                <a:tab pos="3036570" algn="l"/>
              </a:tabLst>
            </a:pPr>
            <a:r>
              <a:rPr lang="en-US" altLang="en-US" sz="2000" i="1" dirty="0" err="1">
                <a:sym typeface="Monotype Sorts" pitchFamily="-65" charset="2"/>
              </a:rPr>
              <a:t>customer_id</a:t>
            </a:r>
            <a:r>
              <a:rPr lang="en-US" altLang="en-US" sz="2000" i="1" dirty="0">
                <a:sym typeface="Monotype Sorts" pitchFamily="-65" charset="2"/>
              </a:rPr>
              <a:t>, </a:t>
            </a:r>
            <a:r>
              <a:rPr lang="en-US" altLang="en-US" sz="2000" i="1" dirty="0" err="1">
                <a:sym typeface="Monotype Sorts" pitchFamily="-65" charset="2"/>
              </a:rPr>
              <a:t>branch_name</a:t>
            </a:r>
            <a:r>
              <a:rPr lang="en-US" altLang="en-US" sz="2000" i="1" dirty="0">
                <a:sym typeface="Monotype Sorts" pitchFamily="-65" charset="2"/>
              </a:rPr>
              <a:t> </a:t>
            </a:r>
            <a:r>
              <a:rPr lang="en-US" altLang="en-US" sz="2000" dirty="0">
                <a:sym typeface="Symbol" panose="05050102010706020507" pitchFamily="18" charset="2"/>
              </a:rPr>
              <a:t></a:t>
            </a:r>
            <a:r>
              <a:rPr lang="en-US" altLang="en-US" sz="2000" dirty="0">
                <a:sym typeface="Monotype Sorts" pitchFamily="-65" charset="2"/>
              </a:rPr>
              <a:t> </a:t>
            </a:r>
            <a:r>
              <a:rPr lang="en-US" altLang="en-US" sz="2000" i="1" dirty="0" err="1">
                <a:sym typeface="Wingdings" panose="05000000000000000000" pitchFamily="2" charset="2"/>
              </a:rPr>
              <a:t>employee_id</a:t>
            </a:r>
            <a:endParaRPr lang="en-US" altLang="en-US" sz="2000" i="1" dirty="0">
              <a:sym typeface="Wingdings" panose="05000000000000000000" pitchFamily="2" charset="2"/>
            </a:endParaRPr>
          </a:p>
          <a:p>
            <a:pPr>
              <a:tabLst>
                <a:tab pos="1026795" algn="l"/>
                <a:tab pos="2857500" algn="ctr"/>
                <a:tab pos="3036570" algn="l"/>
              </a:tabLst>
            </a:pPr>
            <a:r>
              <a:rPr lang="en-US" altLang="en-US" sz="2000" dirty="0">
                <a:sym typeface="Wingdings" panose="05000000000000000000" pitchFamily="2" charset="2"/>
              </a:rPr>
              <a:t>We first compute a canonical cover</a:t>
            </a:r>
            <a:endParaRPr lang="en-US" altLang="en-US" sz="2000" dirty="0">
              <a:sym typeface="Wingdings" panose="05000000000000000000" pitchFamily="2" charset="2"/>
            </a:endParaRPr>
          </a:p>
          <a:p>
            <a:pPr marL="800100" lvl="1" indent="-342900">
              <a:tabLst>
                <a:tab pos="1026795" algn="l"/>
                <a:tab pos="2857500" algn="ctr"/>
                <a:tab pos="3036570" algn="l"/>
              </a:tabLst>
            </a:pPr>
            <a:r>
              <a:rPr lang="en-US" altLang="en-US" sz="2000" i="1" dirty="0" err="1">
                <a:sym typeface="Wingdings" panose="05000000000000000000" pitchFamily="2" charset="2"/>
              </a:rPr>
              <a:t>branch_name</a:t>
            </a:r>
            <a:r>
              <a:rPr lang="en-US" altLang="en-US" sz="2000" i="1" dirty="0">
                <a:sym typeface="Wingdings" panose="05000000000000000000" pitchFamily="2" charset="2"/>
              </a:rPr>
              <a:t> </a:t>
            </a:r>
            <a:r>
              <a:rPr lang="en-US" altLang="en-US" sz="2000" dirty="0">
                <a:sym typeface="Wingdings" panose="05000000000000000000" pitchFamily="2" charset="2"/>
              </a:rPr>
              <a:t>is extraneous in the </a:t>
            </a:r>
            <a:r>
              <a:rPr lang="en-US" altLang="en-US" sz="2000" dirty="0" err="1">
                <a:sym typeface="Wingdings" panose="05000000000000000000" pitchFamily="2" charset="2"/>
              </a:rPr>
              <a:t>r.h.s</a:t>
            </a:r>
            <a:r>
              <a:rPr lang="en-US" altLang="en-US" sz="2000" dirty="0">
                <a:sym typeface="Wingdings" panose="05000000000000000000" pitchFamily="2" charset="2"/>
              </a:rPr>
              <a:t>. of the 1</a:t>
            </a:r>
            <a:r>
              <a:rPr lang="en-US" altLang="en-US" sz="2000" baseline="30000" dirty="0">
                <a:sym typeface="Wingdings" panose="05000000000000000000" pitchFamily="2" charset="2"/>
              </a:rPr>
              <a:t>st</a:t>
            </a:r>
            <a:r>
              <a:rPr lang="en-US" altLang="en-US" sz="2000" dirty="0">
                <a:sym typeface="Wingdings" panose="05000000000000000000" pitchFamily="2" charset="2"/>
              </a:rPr>
              <a:t> dependency</a:t>
            </a:r>
            <a:endParaRPr lang="en-US" altLang="en-US" sz="2000" dirty="0">
              <a:sym typeface="Wingdings" panose="05000000000000000000" pitchFamily="2" charset="2"/>
            </a:endParaRPr>
          </a:p>
          <a:p>
            <a:pPr marL="800100" lvl="1" indent="-342900">
              <a:tabLst>
                <a:tab pos="1026795" algn="l"/>
                <a:tab pos="2857500" algn="ctr"/>
                <a:tab pos="3036570" algn="l"/>
              </a:tabLst>
            </a:pPr>
            <a:r>
              <a:rPr lang="en-US" altLang="en-US" sz="2000" dirty="0">
                <a:sym typeface="Wingdings" panose="05000000000000000000" pitchFamily="2" charset="2"/>
              </a:rPr>
              <a:t>No other attribute is extraneous, so we get F</a:t>
            </a:r>
            <a:r>
              <a:rPr lang="en-US" altLang="en-US" sz="2000" baseline="-25000" dirty="0">
                <a:sym typeface="Wingdings" panose="05000000000000000000" pitchFamily="2" charset="2"/>
              </a:rPr>
              <a:t>C </a:t>
            </a:r>
            <a:r>
              <a:rPr lang="en-US" altLang="en-US" sz="2000" dirty="0">
                <a:sym typeface="Wingdings" panose="05000000000000000000" pitchFamily="2" charset="2"/>
              </a:rPr>
              <a:t>=</a:t>
            </a:r>
            <a:endParaRPr lang="en-US" altLang="en-US" sz="2000" dirty="0">
              <a:sym typeface="Wingdings" panose="05000000000000000000" pitchFamily="2" charset="2"/>
            </a:endParaRPr>
          </a:p>
          <a:p>
            <a:pPr marL="800100" lvl="1" indent="-342900">
              <a:buFont typeface="Monotype Sorts" pitchFamily="-65" charset="2"/>
              <a:buNone/>
              <a:tabLst>
                <a:tab pos="1026795" algn="l"/>
                <a:tab pos="2857500" algn="ctr"/>
                <a:tab pos="3036570" algn="l"/>
              </a:tabLst>
            </a:pPr>
            <a:r>
              <a:rPr lang="en-US" altLang="en-US" sz="2000" i="1" dirty="0"/>
              <a:t>             </a:t>
            </a:r>
            <a:r>
              <a:rPr lang="en-US" altLang="en-US" sz="2000" i="1" dirty="0" err="1"/>
              <a:t>customer_id</a:t>
            </a:r>
            <a:r>
              <a:rPr lang="en-US" altLang="en-US" sz="2000" i="1" dirty="0"/>
              <a:t>, </a:t>
            </a:r>
            <a:r>
              <a:rPr lang="en-US" altLang="en-US" sz="2000" i="1" dirty="0" err="1"/>
              <a:t>employee_id</a:t>
            </a:r>
            <a:r>
              <a:rPr lang="en-US" altLang="en-US" sz="2000" i="1" dirty="0"/>
              <a:t> </a:t>
            </a:r>
            <a:r>
              <a:rPr lang="en-US" altLang="en-US" sz="2000" dirty="0">
                <a:sym typeface="Symbol" panose="05050102010706020507" pitchFamily="18" charset="2"/>
              </a:rPr>
              <a:t></a:t>
            </a:r>
            <a:r>
              <a:rPr lang="en-US" altLang="en-US" sz="2000" i="1" dirty="0">
                <a:sym typeface="Monotype Sorts" pitchFamily="-65" charset="2"/>
              </a:rPr>
              <a:t> type</a:t>
            </a:r>
            <a:br>
              <a:rPr lang="en-US" altLang="en-US" sz="2000" i="1" dirty="0">
                <a:sym typeface="Monotype Sorts" pitchFamily="-65" charset="2"/>
              </a:rPr>
            </a:br>
            <a:r>
              <a:rPr lang="en-US" altLang="en-US" sz="2000" i="1" dirty="0">
                <a:sym typeface="Monotype Sorts" pitchFamily="-65" charset="2"/>
              </a:rPr>
              <a:t>	    </a:t>
            </a:r>
            <a:r>
              <a:rPr lang="en-US" altLang="en-US" sz="2000" i="1" dirty="0" err="1">
                <a:sym typeface="Monotype Sorts" pitchFamily="-65" charset="2"/>
              </a:rPr>
              <a:t>employee_id</a:t>
            </a:r>
            <a:r>
              <a:rPr lang="en-US" altLang="en-US" sz="2000" i="1" dirty="0">
                <a:sym typeface="Monotype Sorts" pitchFamily="-65" charset="2"/>
              </a:rPr>
              <a:t> </a:t>
            </a:r>
            <a:r>
              <a:rPr lang="en-US" altLang="en-US" sz="2000" dirty="0">
                <a:sym typeface="Symbol" panose="05050102010706020507" pitchFamily="18" charset="2"/>
              </a:rPr>
              <a:t></a:t>
            </a:r>
            <a:r>
              <a:rPr lang="en-US" altLang="en-US" sz="2000" i="1" dirty="0">
                <a:sym typeface="Monotype Sorts" pitchFamily="-65" charset="2"/>
              </a:rPr>
              <a:t> </a:t>
            </a:r>
            <a:r>
              <a:rPr lang="en-US" altLang="en-US" sz="2000" i="1" dirty="0" err="1">
                <a:sym typeface="Monotype Sorts" pitchFamily="-65" charset="2"/>
              </a:rPr>
              <a:t>branch_name</a:t>
            </a:r>
            <a:br>
              <a:rPr lang="en-US" altLang="en-US" sz="2000" i="1" dirty="0">
                <a:sym typeface="Monotype Sorts" pitchFamily="-65" charset="2"/>
              </a:rPr>
            </a:br>
            <a:r>
              <a:rPr lang="en-US" altLang="en-US" sz="2000" i="1" dirty="0">
                <a:sym typeface="Monotype Sorts" pitchFamily="-65" charset="2"/>
              </a:rPr>
              <a:t>        </a:t>
            </a:r>
            <a:r>
              <a:rPr lang="en-US" altLang="en-US" sz="2000" i="1" dirty="0" err="1">
                <a:sym typeface="Monotype Sorts" pitchFamily="-65" charset="2"/>
              </a:rPr>
              <a:t>customer_id</a:t>
            </a:r>
            <a:r>
              <a:rPr lang="en-US" altLang="en-US" sz="2000" i="1" dirty="0">
                <a:sym typeface="Monotype Sorts" pitchFamily="-65" charset="2"/>
              </a:rPr>
              <a:t>, </a:t>
            </a:r>
            <a:r>
              <a:rPr lang="en-US" altLang="en-US" sz="2000" i="1" dirty="0" err="1">
                <a:sym typeface="Monotype Sorts" pitchFamily="-65" charset="2"/>
              </a:rPr>
              <a:t>branch_name</a:t>
            </a:r>
            <a:r>
              <a:rPr lang="en-US" altLang="en-US" sz="2000" i="1" dirty="0">
                <a:sym typeface="Monotype Sorts" pitchFamily="-65" charset="2"/>
              </a:rPr>
              <a:t> </a:t>
            </a:r>
            <a:r>
              <a:rPr lang="en-US" altLang="en-US" sz="2000" dirty="0">
                <a:sym typeface="Symbol" panose="05050102010706020507" pitchFamily="18" charset="2"/>
              </a:rPr>
              <a:t></a:t>
            </a:r>
            <a:r>
              <a:rPr lang="en-US" altLang="en-US" sz="2000" dirty="0">
                <a:sym typeface="Monotype Sorts" pitchFamily="-65" charset="2"/>
              </a:rPr>
              <a:t> </a:t>
            </a:r>
            <a:r>
              <a:rPr lang="en-US" altLang="en-US" sz="2000" i="1" dirty="0" err="1">
                <a:sym typeface="Wingdings" panose="05000000000000000000" pitchFamily="2" charset="2"/>
              </a:rPr>
              <a:t>employee_id</a:t>
            </a:r>
            <a:endParaRPr lang="en-US" altLang="en-US" sz="2000" i="1" dirty="0">
              <a:sym typeface="Wingdings" panose="05000000000000000000" pitchFamily="2" charset="2"/>
            </a:endParaRPr>
          </a:p>
          <a:p>
            <a:pPr marL="800100" lvl="1" indent="-342900">
              <a:buFont typeface="Monotype Sorts" pitchFamily="-65" charset="2"/>
              <a:buNone/>
              <a:tabLst>
                <a:tab pos="1026795" algn="l"/>
                <a:tab pos="2857500" algn="ctr"/>
                <a:tab pos="3036570" algn="l"/>
              </a:tabLst>
            </a:pPr>
            <a:endParaRPr lang="en-US" altLang="en-US" dirty="0">
              <a:sym typeface="Wingdings" panose="05000000000000000000" pitchFamily="2" charset="2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8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3NF Decompsition Example (Cont.)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  <a:ea typeface="MS PGothic" panose="020B0600070205080204" pitchFamily="34" charset="-128"/>
            </a:endParaRPr>
          </a:p>
        </p:txBody>
      </p:sp>
      <p:sp>
        <p:nvSpPr>
          <p:cNvPr id="7608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71852"/>
            <a:ext cx="7617661" cy="4434864"/>
          </a:xfrm>
        </p:spPr>
        <p:txBody>
          <a:bodyPr/>
          <a:lstStyle/>
          <a:p>
            <a:r>
              <a:rPr lang="en-US" altLang="en-US" sz="2000" dirty="0">
                <a:sym typeface="Monotype Sorts" pitchFamily="-65" charset="2"/>
              </a:rPr>
              <a:t>The </a:t>
            </a:r>
            <a:r>
              <a:rPr lang="en-US" altLang="en-US" sz="2000" b="1" dirty="0">
                <a:sym typeface="Monotype Sorts" pitchFamily="-65" charset="2"/>
              </a:rPr>
              <a:t>for</a:t>
            </a:r>
            <a:r>
              <a:rPr lang="en-US" altLang="en-US" sz="2000" dirty="0">
                <a:sym typeface="Monotype Sorts" pitchFamily="-65" charset="2"/>
              </a:rPr>
              <a:t> loop generates following 3NF schema:</a:t>
            </a:r>
            <a:endParaRPr lang="en-US" altLang="en-US" sz="2000" dirty="0">
              <a:sym typeface="Monotype Sorts" pitchFamily="-65" charset="2"/>
            </a:endParaRPr>
          </a:p>
          <a:p>
            <a:pPr>
              <a:buFont typeface="Monotype Sorts" pitchFamily="-65" charset="2"/>
              <a:buNone/>
            </a:pPr>
            <a:r>
              <a:rPr lang="en-US" altLang="en-US" sz="2000" dirty="0">
                <a:sym typeface="Monotype Sorts" pitchFamily="-65" charset="2"/>
              </a:rPr>
              <a:t>	            (</a:t>
            </a:r>
            <a:r>
              <a:rPr lang="en-US" altLang="en-US" sz="2000" i="1" dirty="0" err="1"/>
              <a:t>customer_id</a:t>
            </a:r>
            <a:r>
              <a:rPr lang="en-US" altLang="en-US" sz="2000" i="1" dirty="0"/>
              <a:t>, </a:t>
            </a:r>
            <a:r>
              <a:rPr lang="en-US" altLang="en-US" sz="2000" i="1" dirty="0" err="1"/>
              <a:t>employee_id</a:t>
            </a:r>
            <a:r>
              <a:rPr lang="en-US" altLang="en-US" sz="2000" i="1" dirty="0"/>
              <a:t>, type </a:t>
            </a:r>
            <a:r>
              <a:rPr lang="en-US" altLang="en-US" sz="2000" dirty="0"/>
              <a:t>)</a:t>
            </a:r>
            <a:endParaRPr lang="en-US" altLang="en-US" sz="2000" dirty="0"/>
          </a:p>
          <a:p>
            <a:pPr>
              <a:buFont typeface="Monotype Sorts" pitchFamily="-65" charset="2"/>
              <a:buNone/>
            </a:pPr>
            <a:r>
              <a:rPr lang="en-US" altLang="en-US" sz="2000" dirty="0"/>
              <a:t>                  </a:t>
            </a:r>
            <a:r>
              <a:rPr lang="en-US" altLang="en-US" sz="2000" dirty="0">
                <a:sym typeface="Monotype Sorts" pitchFamily="-65" charset="2"/>
              </a:rPr>
              <a:t>(</a:t>
            </a:r>
            <a:r>
              <a:rPr lang="en-US" altLang="en-US" sz="2000" i="1" u="sng" dirty="0" err="1"/>
              <a:t>employee_id</a:t>
            </a:r>
            <a:r>
              <a:rPr lang="en-US" altLang="en-US" sz="2000" i="1" dirty="0"/>
              <a:t>, </a:t>
            </a:r>
            <a:r>
              <a:rPr lang="en-US" altLang="en-US" sz="2000" i="1" dirty="0" err="1"/>
              <a:t>branch_name</a:t>
            </a:r>
            <a:r>
              <a:rPr lang="en-US" altLang="en-US" sz="2000" dirty="0"/>
              <a:t>)</a:t>
            </a:r>
            <a:endParaRPr lang="en-US" altLang="en-US" sz="2000" dirty="0"/>
          </a:p>
          <a:p>
            <a:pPr>
              <a:buFont typeface="Monotype Sorts" pitchFamily="-65" charset="2"/>
              <a:buNone/>
            </a:pPr>
            <a:r>
              <a:rPr lang="en-US" altLang="en-US" sz="2000" dirty="0"/>
              <a:t>                  (</a:t>
            </a:r>
            <a:r>
              <a:rPr lang="en-US" altLang="en-US" sz="2000" i="1" dirty="0" err="1"/>
              <a:t>customer_id</a:t>
            </a:r>
            <a:r>
              <a:rPr lang="en-US" altLang="en-US" sz="2000" i="1" dirty="0"/>
              <a:t>, </a:t>
            </a:r>
            <a:r>
              <a:rPr lang="en-US" altLang="en-US" sz="2000" i="1" dirty="0" err="1"/>
              <a:t>branch_name</a:t>
            </a:r>
            <a:r>
              <a:rPr lang="en-US" altLang="en-US" sz="2000" i="1" dirty="0"/>
              <a:t>, </a:t>
            </a:r>
            <a:r>
              <a:rPr lang="en-US" altLang="en-US" sz="2000" i="1" dirty="0" err="1"/>
              <a:t>employee_id</a:t>
            </a:r>
            <a:r>
              <a:rPr lang="en-US" altLang="en-US" sz="2000" i="1" dirty="0"/>
              <a:t>)</a:t>
            </a:r>
            <a:endParaRPr lang="en-US" altLang="en-US" sz="2000" i="1" dirty="0"/>
          </a:p>
          <a:p>
            <a:pPr lvl="1">
              <a:lnSpc>
                <a:spcPct val="80000"/>
              </a:lnSpc>
            </a:pPr>
            <a:r>
              <a:rPr lang="en-US" altLang="en-US" sz="2000" dirty="0"/>
              <a:t>Observe that</a:t>
            </a:r>
            <a:r>
              <a:rPr lang="en-US" altLang="en-US" sz="2000" dirty="0">
                <a:sym typeface="Monotype Sorts" pitchFamily="-65" charset="2"/>
              </a:rPr>
              <a:t> (</a:t>
            </a:r>
            <a:r>
              <a:rPr lang="en-US" altLang="en-US" sz="2000" i="1" dirty="0" err="1"/>
              <a:t>customer_id</a:t>
            </a:r>
            <a:r>
              <a:rPr lang="en-US" altLang="en-US" sz="2000" i="1" dirty="0"/>
              <a:t>, </a:t>
            </a:r>
            <a:r>
              <a:rPr lang="en-US" altLang="en-US" sz="2000" i="1" dirty="0" err="1"/>
              <a:t>employee_id</a:t>
            </a:r>
            <a:r>
              <a:rPr lang="en-US" altLang="en-US" sz="2000" i="1" dirty="0"/>
              <a:t>, type </a:t>
            </a:r>
            <a:r>
              <a:rPr lang="en-US" altLang="en-US" sz="2000" dirty="0"/>
              <a:t>) contains a candidate key of the original schema, so no further relation schema needs be added</a:t>
            </a:r>
            <a:endParaRPr lang="en-US" altLang="en-US" sz="2000" dirty="0"/>
          </a:p>
          <a:p>
            <a:r>
              <a:rPr lang="en-US" altLang="en-US" sz="2000" dirty="0"/>
              <a:t>At end of for loop, detect and delete schemas, such as  </a:t>
            </a:r>
            <a:r>
              <a:rPr lang="en-US" altLang="en-US" sz="2000" dirty="0">
                <a:sym typeface="Monotype Sorts" pitchFamily="-65" charset="2"/>
              </a:rPr>
              <a:t>(</a:t>
            </a:r>
            <a:r>
              <a:rPr lang="en-US" altLang="en-US" sz="2000" i="1" u="sng" dirty="0" err="1"/>
              <a:t>employee_id</a:t>
            </a:r>
            <a:r>
              <a:rPr lang="en-US" altLang="en-US" sz="2000" i="1" dirty="0"/>
              <a:t>, </a:t>
            </a:r>
            <a:r>
              <a:rPr lang="en-US" altLang="en-US" sz="2000" i="1" dirty="0" err="1"/>
              <a:t>branch_name</a:t>
            </a:r>
            <a:r>
              <a:rPr lang="en-US" altLang="en-US" sz="2000" dirty="0"/>
              <a:t>), which are subsets of other schemas</a:t>
            </a:r>
            <a:endParaRPr lang="en-US" altLang="en-US" sz="2000" dirty="0"/>
          </a:p>
          <a:p>
            <a:pPr lvl="1"/>
            <a:r>
              <a:rPr lang="en-US" altLang="en-US" sz="2000" dirty="0"/>
              <a:t>result will not depend on the order in which FDs are considered</a:t>
            </a:r>
            <a:endParaRPr lang="en-US" altLang="en-US" sz="2000" dirty="0"/>
          </a:p>
          <a:p>
            <a:r>
              <a:rPr lang="en-US" altLang="en-US" sz="2000" dirty="0"/>
              <a:t>The resultant simplified 3NF schema is:</a:t>
            </a:r>
            <a:endParaRPr lang="en-US" altLang="en-US" sz="2000" dirty="0"/>
          </a:p>
          <a:p>
            <a:pPr>
              <a:buFont typeface="Monotype Sorts" pitchFamily="-65" charset="2"/>
              <a:buNone/>
            </a:pPr>
            <a:r>
              <a:rPr lang="en-US" altLang="en-US" sz="2000" dirty="0">
                <a:sym typeface="Monotype Sorts" pitchFamily="-65" charset="2"/>
              </a:rPr>
              <a:t> 		   (</a:t>
            </a:r>
            <a:r>
              <a:rPr lang="en-US" altLang="en-US" sz="2000" i="1" dirty="0" err="1"/>
              <a:t>customer_id</a:t>
            </a:r>
            <a:r>
              <a:rPr lang="en-US" altLang="en-US" sz="2000" i="1" dirty="0"/>
              <a:t>, </a:t>
            </a:r>
            <a:r>
              <a:rPr lang="en-US" altLang="en-US" sz="2000" i="1" dirty="0" err="1"/>
              <a:t>employee_id</a:t>
            </a:r>
            <a:r>
              <a:rPr lang="en-US" altLang="en-US" sz="2000" i="1" dirty="0"/>
              <a:t>, type</a:t>
            </a:r>
            <a:r>
              <a:rPr lang="en-US" altLang="en-US" sz="2000" dirty="0"/>
              <a:t>)</a:t>
            </a:r>
            <a:endParaRPr lang="en-US" altLang="en-US" sz="2000" dirty="0"/>
          </a:p>
          <a:p>
            <a:pPr>
              <a:buFont typeface="Monotype Sorts" pitchFamily="-65" charset="2"/>
              <a:buNone/>
            </a:pPr>
            <a:r>
              <a:rPr lang="en-US" altLang="en-US" sz="2000" dirty="0"/>
              <a:t>                (</a:t>
            </a:r>
            <a:r>
              <a:rPr lang="en-US" altLang="en-US" sz="2000" i="1" dirty="0" err="1"/>
              <a:t>customer_id</a:t>
            </a:r>
            <a:r>
              <a:rPr lang="en-US" altLang="en-US" sz="2000" i="1" dirty="0"/>
              <a:t>, </a:t>
            </a:r>
            <a:r>
              <a:rPr lang="en-US" altLang="en-US" sz="2000" i="1" dirty="0" err="1"/>
              <a:t>branch_name</a:t>
            </a:r>
            <a:r>
              <a:rPr lang="en-US" altLang="en-US" sz="2000" i="1" dirty="0"/>
              <a:t>, </a:t>
            </a:r>
            <a:r>
              <a:rPr lang="en-US" altLang="en-US" sz="2000" i="1" dirty="0" err="1"/>
              <a:t>employee_id</a:t>
            </a:r>
            <a:r>
              <a:rPr lang="en-US" altLang="en-US" sz="2000" i="1" dirty="0"/>
              <a:t>)</a:t>
            </a:r>
            <a:endParaRPr lang="en-US" altLang="en-US" sz="2000" i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08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08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08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08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08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规范化到</a:t>
            </a:r>
            <a:r>
              <a:rPr lang="en-US" altLang="zh-CN" smtClean="0"/>
              <a:t>3NF</a:t>
            </a:r>
            <a:endParaRPr lang="zh-CN" altLang="en-US" smtClean="0"/>
          </a:p>
        </p:txBody>
      </p:sp>
      <p:sp>
        <p:nvSpPr>
          <p:cNvPr id="890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2400" dirty="0" smtClean="0"/>
              <a:t>例</a:t>
            </a:r>
            <a:endParaRPr lang="en-US" altLang="zh-CN" sz="2400" dirty="0" smtClean="0"/>
          </a:p>
          <a:p>
            <a:pPr lvl="1" eaLnBrk="1" hangingPunct="1">
              <a:defRPr/>
            </a:pPr>
            <a:r>
              <a:rPr lang="zh-CN" altLang="en-US" sz="2400" dirty="0" smtClean="0"/>
              <a:t>输入</a:t>
            </a:r>
            <a:r>
              <a:rPr lang="en-US" altLang="zh-CN" sz="2400" dirty="0" smtClean="0"/>
              <a:t>:  R(A, B, C, D, E), F = (A→B, C→D, D → E)</a:t>
            </a:r>
            <a:endParaRPr lang="en-US" altLang="zh-CN" sz="2400" dirty="0" smtClean="0"/>
          </a:p>
          <a:p>
            <a:pPr lvl="1" eaLnBrk="1" hangingPunct="1">
              <a:defRPr/>
            </a:pPr>
            <a:r>
              <a:rPr lang="zh-CN" altLang="en-US" sz="2400" dirty="0" smtClean="0"/>
              <a:t>候选码</a:t>
            </a:r>
            <a:r>
              <a:rPr lang="en-US" altLang="zh-CN" sz="2400" dirty="0" smtClean="0"/>
              <a:t>: </a:t>
            </a:r>
            <a:r>
              <a:rPr lang="en-US" altLang="zh-CN" sz="2400" dirty="0" smtClean="0">
                <a:solidFill>
                  <a:srgbClr val="00E444"/>
                </a:solidFill>
              </a:rPr>
              <a:t>AC</a:t>
            </a:r>
            <a:br>
              <a:rPr lang="en-US" altLang="zh-CN" sz="2400" dirty="0" smtClean="0"/>
            </a:br>
            <a:endParaRPr lang="en-US" altLang="zh-CN" sz="2400" dirty="0" smtClean="0"/>
          </a:p>
          <a:p>
            <a:pPr marL="457200" lvl="1" indent="0" eaLnBrk="1" hangingPunct="1">
              <a:buFont typeface="Arial" panose="020B0604020202020204" pitchFamily="34" charset="0"/>
              <a:buNone/>
              <a:defRPr/>
            </a:pPr>
            <a:r>
              <a:rPr lang="en-US" altLang="zh-CN" sz="2400" dirty="0" smtClean="0"/>
              <a:t>      1.    R1(</a:t>
            </a:r>
            <a:r>
              <a:rPr lang="en-US" altLang="zh-CN" sz="2400" u="sng" dirty="0" smtClean="0"/>
              <a:t>A</a:t>
            </a:r>
            <a:r>
              <a:rPr lang="en-US" altLang="zh-CN" sz="2400" dirty="0" smtClean="0"/>
              <a:t>B)</a:t>
            </a:r>
            <a:endParaRPr lang="en-US" altLang="zh-CN" sz="2400" dirty="0" smtClean="0"/>
          </a:p>
          <a:p>
            <a:pPr marL="457200" lvl="1" indent="0" eaLnBrk="1" hangingPunct="1">
              <a:buFont typeface="Arial" panose="020B0604020202020204" pitchFamily="34" charset="0"/>
              <a:buNone/>
              <a:defRPr/>
            </a:pPr>
            <a:r>
              <a:rPr lang="en-US" altLang="zh-CN" sz="2400" dirty="0" smtClean="0"/>
              <a:t>      2.    R1(</a:t>
            </a:r>
            <a:r>
              <a:rPr lang="en-US" altLang="zh-CN" sz="2400" u="sng" dirty="0" smtClean="0"/>
              <a:t>A</a:t>
            </a:r>
            <a:r>
              <a:rPr lang="en-US" altLang="zh-CN" sz="2400" dirty="0" smtClean="0"/>
              <a:t>B),   R2(</a:t>
            </a:r>
            <a:r>
              <a:rPr lang="en-US" altLang="zh-CN" sz="2400" u="sng" dirty="0" smtClean="0"/>
              <a:t>C</a:t>
            </a:r>
            <a:r>
              <a:rPr lang="en-US" altLang="zh-CN" sz="2400" dirty="0" smtClean="0"/>
              <a:t>D)</a:t>
            </a:r>
            <a:endParaRPr lang="en-US" altLang="zh-CN" sz="2400" dirty="0" smtClean="0"/>
          </a:p>
          <a:p>
            <a:pPr marL="457200" lvl="1" indent="0" eaLnBrk="1" hangingPunct="1">
              <a:buFont typeface="Arial" panose="020B0604020202020204" pitchFamily="34" charset="0"/>
              <a:buNone/>
              <a:defRPr/>
            </a:pPr>
            <a:r>
              <a:rPr lang="en-US" altLang="zh-CN" sz="2400" dirty="0" smtClean="0"/>
              <a:t>      3.    R1(</a:t>
            </a:r>
            <a:r>
              <a:rPr lang="en-US" altLang="zh-CN" sz="2400" u="sng" dirty="0" smtClean="0"/>
              <a:t>A</a:t>
            </a:r>
            <a:r>
              <a:rPr lang="en-US" altLang="zh-CN" sz="2400" dirty="0" smtClean="0"/>
              <a:t>B),   R2(</a:t>
            </a:r>
            <a:r>
              <a:rPr lang="en-US" altLang="zh-CN" sz="2400" u="sng" dirty="0" smtClean="0"/>
              <a:t>C</a:t>
            </a:r>
            <a:r>
              <a:rPr lang="en-US" altLang="zh-CN" sz="2400" dirty="0" smtClean="0"/>
              <a:t>D), R3(</a:t>
            </a:r>
            <a:r>
              <a:rPr lang="en-US" altLang="zh-CN" sz="2400" u="sng" dirty="0" smtClean="0"/>
              <a:t>D</a:t>
            </a:r>
            <a:r>
              <a:rPr lang="en-US" altLang="zh-CN" sz="2400" dirty="0" smtClean="0"/>
              <a:t>E)</a:t>
            </a:r>
            <a:endParaRPr lang="en-US" altLang="zh-CN" sz="2400" dirty="0" smtClean="0"/>
          </a:p>
          <a:p>
            <a:pPr marL="457200" lvl="1" indent="0" eaLnBrk="1" hangingPunct="1">
              <a:buFont typeface="Arial" panose="020B0604020202020204" pitchFamily="34" charset="0"/>
              <a:buNone/>
              <a:defRPr/>
            </a:pPr>
            <a:r>
              <a:rPr lang="en-US" altLang="zh-CN" sz="2400" dirty="0" smtClean="0"/>
              <a:t>      4.    R1(</a:t>
            </a:r>
            <a:r>
              <a:rPr lang="en-US" altLang="zh-CN" sz="2400" u="sng" dirty="0" smtClean="0"/>
              <a:t>A</a:t>
            </a:r>
            <a:r>
              <a:rPr lang="en-US" altLang="zh-CN" sz="2400" dirty="0" smtClean="0"/>
              <a:t>B),   R2(</a:t>
            </a:r>
            <a:r>
              <a:rPr lang="en-US" altLang="zh-CN" sz="2400" u="sng" dirty="0" smtClean="0"/>
              <a:t>C</a:t>
            </a:r>
            <a:r>
              <a:rPr lang="en-US" altLang="zh-CN" sz="2400" dirty="0" smtClean="0"/>
              <a:t>D), R3(</a:t>
            </a:r>
            <a:r>
              <a:rPr lang="en-US" altLang="zh-CN" sz="2400" u="sng" dirty="0" smtClean="0"/>
              <a:t>D</a:t>
            </a:r>
            <a:r>
              <a:rPr lang="en-US" altLang="zh-CN" sz="2400" dirty="0" smtClean="0"/>
              <a:t>E), R4(</a:t>
            </a:r>
            <a:r>
              <a:rPr lang="en-US" altLang="zh-CN" sz="2400" u="sng" dirty="0" smtClean="0"/>
              <a:t>AC</a:t>
            </a:r>
            <a:r>
              <a:rPr lang="en-US" altLang="zh-CN" sz="2400" dirty="0" smtClean="0"/>
              <a:t>)</a:t>
            </a:r>
            <a:endParaRPr lang="en-US" altLang="zh-CN" sz="2400" dirty="0" smtClean="0"/>
          </a:p>
          <a:p>
            <a:pPr lvl="1" eaLnBrk="1" hangingPunct="1">
              <a:defRPr/>
            </a:pPr>
            <a:endParaRPr lang="en-US" altLang="zh-CN" sz="2400" dirty="0" smtClean="0"/>
          </a:p>
          <a:p>
            <a:pPr lvl="1" eaLnBrk="1" hangingPunct="1">
              <a:defRPr/>
            </a:pPr>
            <a:r>
              <a:rPr lang="en-US" altLang="zh-CN" sz="2400" dirty="0" smtClean="0"/>
              <a:t>Output:  R1(</a:t>
            </a:r>
            <a:r>
              <a:rPr lang="en-US" altLang="zh-CN" sz="2400" u="sng" dirty="0" smtClean="0"/>
              <a:t>A</a:t>
            </a:r>
            <a:r>
              <a:rPr lang="en-US" altLang="zh-CN" sz="2400" dirty="0" smtClean="0"/>
              <a:t>B),   R2(</a:t>
            </a:r>
            <a:r>
              <a:rPr lang="en-US" altLang="zh-CN" sz="2400" u="sng" dirty="0" smtClean="0"/>
              <a:t>C</a:t>
            </a:r>
            <a:r>
              <a:rPr lang="en-US" altLang="zh-CN" sz="2400" dirty="0" smtClean="0"/>
              <a:t>D), R3(</a:t>
            </a:r>
            <a:r>
              <a:rPr lang="en-US" altLang="zh-CN" sz="2400" u="sng" dirty="0" smtClean="0"/>
              <a:t>D</a:t>
            </a:r>
            <a:r>
              <a:rPr lang="en-US" altLang="zh-CN" sz="2400" dirty="0" smtClean="0"/>
              <a:t>E), R4(</a:t>
            </a:r>
            <a:r>
              <a:rPr lang="en-US" altLang="zh-CN" sz="2400" u="sng" dirty="0" smtClean="0"/>
              <a:t>AC</a:t>
            </a:r>
            <a:r>
              <a:rPr lang="en-US" altLang="zh-CN" sz="2400" dirty="0" smtClean="0"/>
              <a:t>)</a:t>
            </a:r>
            <a:endParaRPr lang="en-US" altLang="zh-CN" sz="2400" dirty="0" smtClean="0"/>
          </a:p>
          <a:p>
            <a:pPr lvl="1" eaLnBrk="1" hangingPunct="1">
              <a:defRPr/>
            </a:pPr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Comparison of BCNF and 3NF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  <a:ea typeface="MS PGothic" panose="020B0600070205080204" pitchFamily="34" charset="-128"/>
            </a:endParaRPr>
          </a:p>
        </p:txBody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93789"/>
            <a:ext cx="7629692" cy="2970211"/>
          </a:xfrm>
        </p:spPr>
        <p:txBody>
          <a:bodyPr/>
          <a:lstStyle/>
          <a:p>
            <a:r>
              <a:rPr lang="en-US" altLang="en-US" sz="2400" dirty="0"/>
              <a:t>It is always possible to decompose a relation into a set of  relations that are in 3NF such that:</a:t>
            </a:r>
            <a:endParaRPr lang="en-US" altLang="en-US" sz="2400" dirty="0"/>
          </a:p>
          <a:p>
            <a:pPr lvl="1"/>
            <a:r>
              <a:rPr lang="en-US" altLang="en-US" sz="2400" dirty="0"/>
              <a:t>The decomposition is lossless</a:t>
            </a:r>
            <a:endParaRPr lang="en-US" altLang="en-US" sz="2400" dirty="0"/>
          </a:p>
          <a:p>
            <a:pPr lvl="1"/>
            <a:r>
              <a:rPr lang="en-US" altLang="en-US" sz="2400" dirty="0"/>
              <a:t>The dependencies are preserved</a:t>
            </a:r>
            <a:endParaRPr lang="en-US" altLang="en-US" sz="2400" dirty="0"/>
          </a:p>
          <a:p>
            <a:r>
              <a:rPr lang="en-US" altLang="en-US" sz="2400" dirty="0"/>
              <a:t>It is always possible to decompose a relation into a set of relations that are in BCNF such that:</a:t>
            </a:r>
            <a:endParaRPr lang="en-US" altLang="en-US" sz="2400" dirty="0"/>
          </a:p>
          <a:p>
            <a:pPr lvl="1"/>
            <a:r>
              <a:rPr lang="en-US" altLang="en-US" sz="2400" dirty="0"/>
              <a:t>The decomposition is lossless</a:t>
            </a:r>
            <a:endParaRPr lang="en-US" altLang="en-US" sz="2400" dirty="0"/>
          </a:p>
          <a:p>
            <a:pPr lvl="1"/>
            <a:r>
              <a:rPr lang="en-US" altLang="en-US" sz="2400" dirty="0"/>
              <a:t>It may not be possible to preserve dependencies.</a:t>
            </a:r>
            <a:endParaRPr lang="en-US" altLang="en-US" sz="2400" dirty="0"/>
          </a:p>
          <a:p>
            <a:pPr lvl="1"/>
            <a:endParaRPr lang="en-US" altLang="en-US" dirty="0"/>
          </a:p>
        </p:txBody>
      </p:sp>
      <p:sp>
        <p:nvSpPr>
          <p:cNvPr id="77828" name="Rectangle 4"/>
          <p:cNvSpPr>
            <a:spLocks noChangeArrowheads="1"/>
          </p:cNvSpPr>
          <p:nvPr/>
        </p:nvSpPr>
        <p:spPr bwMode="auto">
          <a:xfrm>
            <a:off x="596900" y="4064000"/>
            <a:ext cx="7283450" cy="259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tabLst>
                <a:tab pos="683895" algn="l"/>
              </a:tabLs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683895" algn="l"/>
              </a:tabLs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683895" algn="l"/>
              </a:tabLs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683895" algn="l"/>
              </a:tabLs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683895" algn="l"/>
              </a:tabLs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83895" algn="l"/>
              </a:tabLs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83895" algn="l"/>
              </a:tabLs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83895" algn="l"/>
              </a:tabLs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83895" algn="l"/>
              </a:tabLs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</a:pPr>
            <a:endParaRPr kumimoji="1" lang="en-US" altLang="en-US" sz="1800" i="1">
              <a:sym typeface="Monotype Sorts" pitchFamily="-65" charset="2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9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Design Goals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  <a:ea typeface="MS PGothic" panose="020B0600070205080204" pitchFamily="34" charset="-128"/>
            </a:endParaRPr>
          </a:p>
        </p:txBody>
      </p:sp>
      <p:sp>
        <p:nvSpPr>
          <p:cNvPr id="788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928484"/>
            <a:ext cx="7848876" cy="4693402"/>
          </a:xfrm>
        </p:spPr>
        <p:txBody>
          <a:bodyPr/>
          <a:lstStyle/>
          <a:p>
            <a:r>
              <a:rPr lang="en-US" altLang="en-US" sz="2000" dirty="0"/>
              <a:t>Goal for a relational database design is:</a:t>
            </a:r>
            <a:endParaRPr lang="en-US" altLang="en-US" sz="2000" dirty="0"/>
          </a:p>
          <a:p>
            <a:pPr lvl="1"/>
            <a:r>
              <a:rPr lang="en-US" altLang="en-US" sz="2000" dirty="0"/>
              <a:t>BCNF.</a:t>
            </a:r>
            <a:endParaRPr lang="en-US" altLang="en-US" sz="2000" dirty="0"/>
          </a:p>
          <a:p>
            <a:pPr lvl="1"/>
            <a:r>
              <a:rPr lang="en-US" altLang="en-US" sz="2000" dirty="0"/>
              <a:t>Lossless join.</a:t>
            </a:r>
            <a:endParaRPr lang="en-US" altLang="en-US" sz="2000" dirty="0"/>
          </a:p>
          <a:p>
            <a:pPr lvl="1"/>
            <a:r>
              <a:rPr lang="en-US" altLang="en-US" sz="2000" dirty="0"/>
              <a:t>Dependency preservation.</a:t>
            </a:r>
            <a:endParaRPr lang="en-US" altLang="en-US" sz="2000" dirty="0"/>
          </a:p>
          <a:p>
            <a:r>
              <a:rPr lang="en-US" altLang="en-US" sz="2000" dirty="0"/>
              <a:t>If we cannot achieve this, we accept one of</a:t>
            </a:r>
            <a:endParaRPr lang="en-US" altLang="en-US" sz="2000" dirty="0"/>
          </a:p>
          <a:p>
            <a:pPr lvl="1"/>
            <a:r>
              <a:rPr lang="en-US" altLang="en-US" sz="2000" dirty="0"/>
              <a:t>Lack of dependency preservation </a:t>
            </a:r>
            <a:endParaRPr lang="en-US" altLang="en-US" sz="2000" dirty="0"/>
          </a:p>
          <a:p>
            <a:pPr lvl="1"/>
            <a:r>
              <a:rPr lang="en-US" altLang="en-US" sz="2000" dirty="0"/>
              <a:t>Redundancy due to use of 3NF</a:t>
            </a:r>
            <a:endParaRPr lang="en-US" altLang="en-US" sz="2000" dirty="0"/>
          </a:p>
          <a:p>
            <a:r>
              <a:rPr lang="en-US" altLang="en-US" sz="2000" dirty="0"/>
              <a:t>Interestingly, SQL does not provide a direct way of specifying functional dependencies other than </a:t>
            </a:r>
            <a:r>
              <a:rPr lang="en-US" altLang="en-US" sz="2000" dirty="0" err="1"/>
              <a:t>superkeys</a:t>
            </a:r>
            <a:r>
              <a:rPr lang="en-US" altLang="en-US" sz="2000" dirty="0"/>
              <a:t>.</a:t>
            </a:r>
            <a:endParaRPr lang="en-US" altLang="en-US" sz="2000" dirty="0"/>
          </a:p>
          <a:p>
            <a:pPr>
              <a:buFont typeface="Monotype Sorts" pitchFamily="-65" charset="2"/>
              <a:buNone/>
            </a:pPr>
            <a:r>
              <a:rPr lang="en-US" altLang="en-US" sz="2000" dirty="0"/>
              <a:t>	Can specify FDs using assertions, but they are expensive to test, (and currently not supported by any of the widely used databases!)</a:t>
            </a:r>
            <a:endParaRPr lang="en-US" altLang="en-US" sz="2000" dirty="0"/>
          </a:p>
          <a:p>
            <a:r>
              <a:rPr lang="en-US" altLang="en-US" sz="2000" dirty="0"/>
              <a:t>Even if we had a dependency preserving decomposition, using SQL we would not be able to efficiently test a functional dependency whose left hand side is not a key.</a:t>
            </a:r>
            <a:endParaRPr lang="en-US" altLang="en-US" sz="2000" dirty="0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58963" y="2400300"/>
            <a:ext cx="5773737" cy="1257300"/>
          </a:xfrm>
        </p:spPr>
        <p:txBody>
          <a:bodyPr/>
          <a:lstStyle/>
          <a:p>
            <a:pPr>
              <a:buFont typeface="Monotype Sorts" pitchFamily="-65" charset="2"/>
              <a:buNone/>
              <a:defRPr/>
            </a:pPr>
            <a:r>
              <a:rPr lang="en-US" alt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MS PGothic" panose="020B0600070205080204" pitchFamily="34" charset="-128"/>
                <a:cs typeface="+mj-cs"/>
              </a:rPr>
              <a:t>Multivalued Dependencies</a:t>
            </a:r>
            <a:endParaRPr lang="en-US" altLang="en-US" sz="3200" b="1" dirty="0"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j-lt"/>
              <a:ea typeface="MS PGothic" panose="020B0600070205080204" pitchFamily="34" charset="-128"/>
              <a:cs typeface="+mj-cs"/>
            </a:endParaRPr>
          </a:p>
        </p:txBody>
      </p:sp>
    </p:spTree>
  </p:cSld>
  <p:clrMapOvr>
    <a:masterClrMapping/>
  </p:clrMapOvr>
  <p:transition spd="slow"/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8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Multivalued Dependencies (MVDs)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  <a:ea typeface="MS PGothic" panose="020B0600070205080204" pitchFamily="34" charset="-128"/>
            </a:endParaRPr>
          </a:p>
        </p:txBody>
      </p:sp>
      <p:sp>
        <p:nvSpPr>
          <p:cNvPr id="808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093789"/>
            <a:ext cx="7585536" cy="4103854"/>
          </a:xfrm>
        </p:spPr>
        <p:txBody>
          <a:bodyPr/>
          <a:lstStyle/>
          <a:p>
            <a:r>
              <a:rPr lang="en-US" altLang="en-US" sz="2000" dirty="0"/>
              <a:t>Suppose we record names of children, and phone numbers for instructors:</a:t>
            </a:r>
            <a:endParaRPr lang="en-US" altLang="en-US" sz="2000" dirty="0"/>
          </a:p>
          <a:p>
            <a:pPr lvl="1"/>
            <a:r>
              <a:rPr lang="en-US" altLang="en-US" sz="2000" i="1" dirty="0" err="1"/>
              <a:t>inst_child</a:t>
            </a:r>
            <a:r>
              <a:rPr lang="en-US" altLang="en-US" sz="2000" dirty="0"/>
              <a:t>(</a:t>
            </a:r>
            <a:r>
              <a:rPr lang="en-US" altLang="en-US" sz="2000" i="1" dirty="0"/>
              <a:t>ID</a:t>
            </a:r>
            <a:r>
              <a:rPr lang="en-US" altLang="en-US" sz="2000" dirty="0"/>
              <a:t>, </a:t>
            </a:r>
            <a:r>
              <a:rPr lang="en-US" altLang="en-US" sz="2000" i="1" dirty="0" err="1"/>
              <a:t>child_name</a:t>
            </a:r>
            <a:r>
              <a:rPr lang="en-US" altLang="en-US" sz="2000" dirty="0"/>
              <a:t>)</a:t>
            </a:r>
            <a:endParaRPr lang="en-US" altLang="en-US" sz="2000" dirty="0"/>
          </a:p>
          <a:p>
            <a:pPr lvl="1"/>
            <a:r>
              <a:rPr lang="en-US" altLang="en-US" sz="2000" i="1" dirty="0" err="1"/>
              <a:t>inst_phone</a:t>
            </a:r>
            <a:r>
              <a:rPr lang="en-US" altLang="en-US" sz="2000" dirty="0"/>
              <a:t>(</a:t>
            </a:r>
            <a:r>
              <a:rPr lang="en-US" altLang="en-US" sz="2000" i="1" dirty="0"/>
              <a:t>ID</a:t>
            </a:r>
            <a:r>
              <a:rPr lang="en-US" altLang="en-US" sz="2000" dirty="0"/>
              <a:t>, </a:t>
            </a:r>
            <a:r>
              <a:rPr lang="en-US" altLang="en-US" sz="2000" i="1" dirty="0" err="1"/>
              <a:t>phone_number</a:t>
            </a:r>
            <a:r>
              <a:rPr lang="en-US" altLang="en-US" sz="2000" dirty="0"/>
              <a:t>)</a:t>
            </a:r>
            <a:endParaRPr lang="en-US" altLang="en-US" sz="2000" dirty="0"/>
          </a:p>
          <a:p>
            <a:r>
              <a:rPr lang="en-US" altLang="en-US" sz="2000" dirty="0"/>
              <a:t>If we were to combine these schemas to get</a:t>
            </a:r>
            <a:endParaRPr lang="en-US" altLang="en-US" sz="2000" dirty="0"/>
          </a:p>
          <a:p>
            <a:pPr lvl="1"/>
            <a:r>
              <a:rPr lang="en-US" altLang="en-US" sz="2000" i="1" dirty="0" err="1"/>
              <a:t>inst_info</a:t>
            </a:r>
            <a:r>
              <a:rPr lang="en-US" altLang="en-US" sz="2000" dirty="0"/>
              <a:t>(</a:t>
            </a:r>
            <a:r>
              <a:rPr lang="en-US" altLang="en-US" sz="2000" i="1" dirty="0"/>
              <a:t>ID</a:t>
            </a:r>
            <a:r>
              <a:rPr lang="en-US" altLang="en-US" sz="2000" dirty="0"/>
              <a:t>, </a:t>
            </a:r>
            <a:r>
              <a:rPr lang="en-US" altLang="en-US" sz="2000" i="1" dirty="0" err="1"/>
              <a:t>child_name</a:t>
            </a:r>
            <a:r>
              <a:rPr lang="en-US" altLang="en-US" sz="2000" dirty="0"/>
              <a:t>, </a:t>
            </a:r>
            <a:r>
              <a:rPr lang="en-US" altLang="en-US" sz="2000" i="1" dirty="0" err="1"/>
              <a:t>phone_number</a:t>
            </a:r>
            <a:r>
              <a:rPr lang="en-US" altLang="en-US" sz="2000" dirty="0"/>
              <a:t>)</a:t>
            </a:r>
            <a:endParaRPr lang="en-US" altLang="en-US" sz="2000" dirty="0"/>
          </a:p>
          <a:p>
            <a:pPr lvl="1"/>
            <a:r>
              <a:rPr lang="en-US" altLang="en-US" sz="2000" dirty="0"/>
              <a:t>Example data:</a:t>
            </a:r>
            <a:br>
              <a:rPr lang="en-US" altLang="en-US" sz="2000" dirty="0"/>
            </a:br>
            <a:r>
              <a:rPr lang="en-US" altLang="en-US" sz="2000" dirty="0"/>
              <a:t>(99999, David, 512-555-1234)</a:t>
            </a:r>
            <a:br>
              <a:rPr lang="en-US" altLang="en-US" sz="2000" dirty="0"/>
            </a:br>
            <a:r>
              <a:rPr lang="en-US" altLang="en-US" sz="2000" dirty="0"/>
              <a:t>(99999, David, 512-555-4321)</a:t>
            </a:r>
            <a:br>
              <a:rPr lang="en-US" altLang="en-US" sz="2000" dirty="0"/>
            </a:br>
            <a:r>
              <a:rPr lang="en-US" altLang="en-US" sz="2000" dirty="0"/>
              <a:t>(99999, William, 512-555-1234)</a:t>
            </a:r>
            <a:br>
              <a:rPr lang="en-US" altLang="en-US" sz="2000" dirty="0"/>
            </a:br>
            <a:r>
              <a:rPr lang="en-US" altLang="en-US" sz="2000" dirty="0"/>
              <a:t>(99999, William, 512-555-4321)</a:t>
            </a:r>
            <a:endParaRPr lang="en-US" altLang="en-US" sz="2000" dirty="0"/>
          </a:p>
          <a:p>
            <a:r>
              <a:rPr lang="en-US" altLang="en-US" sz="2000" dirty="0"/>
              <a:t>This relation is in BCNF</a:t>
            </a:r>
            <a:endParaRPr lang="en-US" altLang="en-US" sz="2000" dirty="0"/>
          </a:p>
          <a:p>
            <a:pPr lvl="1"/>
            <a:r>
              <a:rPr lang="en-US" altLang="en-US" sz="2000" dirty="0"/>
              <a:t>Why?</a:t>
            </a:r>
            <a:endParaRPr lang="en-US" altLang="en-US" sz="2000" dirty="0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9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Multivalued Dependencies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  <a:ea typeface="MS PGothic" panose="020B0600070205080204" pitchFamily="34" charset="-128"/>
            </a:endParaRPr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82688"/>
            <a:ext cx="7603293" cy="3184775"/>
          </a:xfrm>
        </p:spPr>
        <p:txBody>
          <a:bodyPr/>
          <a:lstStyle/>
          <a:p>
            <a:pPr>
              <a:tabLst>
                <a:tab pos="1890395" algn="l"/>
                <a:tab pos="2798445" algn="l"/>
              </a:tabLst>
            </a:pPr>
            <a:r>
              <a:rPr lang="en-US" altLang="en-US" sz="2000" dirty="0"/>
              <a:t>Let </a:t>
            </a:r>
            <a:r>
              <a:rPr lang="en-US" altLang="en-US" sz="2000" i="1" dirty="0"/>
              <a:t>R</a:t>
            </a:r>
            <a:r>
              <a:rPr lang="en-US" altLang="en-US" sz="2000" dirty="0"/>
              <a:t> be a relation schema and let </a:t>
            </a:r>
            <a:r>
              <a:rPr lang="en-US" altLang="en-US" sz="2000" dirty="0">
                <a:sym typeface="Symbol" panose="05050102010706020507" pitchFamily="18" charset="2"/>
              </a:rPr>
              <a:t>  </a:t>
            </a:r>
            <a:r>
              <a:rPr lang="en-US" altLang="en-US" sz="2000" i="1" dirty="0">
                <a:sym typeface="Symbol" panose="05050102010706020507" pitchFamily="18" charset="2"/>
              </a:rPr>
              <a:t>R</a:t>
            </a:r>
            <a:r>
              <a:rPr lang="en-US" altLang="en-US" sz="2000" dirty="0">
                <a:sym typeface="Symbol" panose="05050102010706020507" pitchFamily="18" charset="2"/>
              </a:rPr>
              <a:t> and </a:t>
            </a:r>
            <a:r>
              <a:rPr lang="en-US" altLang="en-US" sz="2000" dirty="0">
                <a:sym typeface="Greek Symbols"/>
              </a:rPr>
              <a:t> </a:t>
            </a:r>
            <a:r>
              <a:rPr lang="en-US" altLang="en-US" sz="2000" dirty="0">
                <a:sym typeface="Symbol" panose="05050102010706020507" pitchFamily="18" charset="2"/>
              </a:rPr>
              <a:t> </a:t>
            </a:r>
            <a:r>
              <a:rPr lang="en-US" altLang="en-US" sz="2000" i="1" dirty="0">
                <a:sym typeface="Symbol" panose="05050102010706020507" pitchFamily="18" charset="2"/>
              </a:rPr>
              <a:t>R. </a:t>
            </a:r>
            <a:r>
              <a:rPr lang="en-US" altLang="en-US" sz="2000" dirty="0">
                <a:sym typeface="Symbol" panose="05050102010706020507" pitchFamily="18" charset="2"/>
              </a:rPr>
              <a:t>  The </a:t>
            </a:r>
            <a:r>
              <a:rPr lang="en-US" altLang="en-US" sz="2000" b="1" dirty="0">
                <a:solidFill>
                  <a:srgbClr val="002060"/>
                </a:solidFill>
                <a:sym typeface="Symbol" panose="05050102010706020507" pitchFamily="18" charset="2"/>
              </a:rPr>
              <a:t>multivalued dependency</a:t>
            </a:r>
            <a:r>
              <a:rPr lang="en-US" altLang="en-US" sz="2000" dirty="0">
                <a:solidFill>
                  <a:srgbClr val="002060"/>
                </a:solidFill>
                <a:sym typeface="Symbol" panose="05050102010706020507" pitchFamily="18" charset="2"/>
              </a:rPr>
              <a:t> </a:t>
            </a:r>
            <a:endParaRPr lang="en-US" altLang="en-US" sz="2000" dirty="0">
              <a:solidFill>
                <a:srgbClr val="002060"/>
              </a:solidFill>
            </a:endParaRPr>
          </a:p>
          <a:p>
            <a:pPr>
              <a:buFont typeface="Monotype Sorts" pitchFamily="-65" charset="2"/>
              <a:buNone/>
              <a:tabLst>
                <a:tab pos="1890395" algn="l"/>
                <a:tab pos="2798445" algn="l"/>
              </a:tabLst>
            </a:pPr>
            <a:r>
              <a:rPr lang="en-US" altLang="en-US" sz="2000" dirty="0">
                <a:sym typeface="Greek Symbols"/>
              </a:rPr>
              <a:t>			</a:t>
            </a:r>
            <a:r>
              <a:rPr lang="en-US" altLang="en-US" sz="2000" dirty="0">
                <a:sym typeface="Symbol" panose="05050102010706020507" pitchFamily="18" charset="2"/>
              </a:rPr>
              <a:t></a:t>
            </a:r>
            <a:r>
              <a:rPr lang="en-US" altLang="en-US" sz="2000" dirty="0">
                <a:sym typeface="Greek Symbols"/>
              </a:rPr>
              <a:t> </a:t>
            </a:r>
            <a:r>
              <a:rPr lang="en-US" altLang="en-US" sz="2000" b="1" dirty="0">
                <a:sym typeface="Symbol" panose="05050102010706020507" pitchFamily="18" charset="2"/>
              </a:rPr>
              <a:t></a:t>
            </a:r>
            <a:r>
              <a:rPr lang="en-US" altLang="en-US" sz="2000" dirty="0">
                <a:sym typeface="Monotype Sorts" pitchFamily="-65" charset="2"/>
              </a:rPr>
              <a:t> </a:t>
            </a:r>
            <a:r>
              <a:rPr lang="en-US" altLang="en-US" sz="2000" dirty="0">
                <a:sym typeface="Symbol" panose="05050102010706020507" pitchFamily="18" charset="2"/>
              </a:rPr>
              <a:t></a:t>
            </a:r>
            <a:endParaRPr lang="en-US" altLang="en-US" sz="2000" i="1" dirty="0">
              <a:sym typeface="Greek Symbols"/>
            </a:endParaRPr>
          </a:p>
          <a:p>
            <a:pPr>
              <a:buFont typeface="Monotype Sorts" pitchFamily="-65" charset="2"/>
              <a:buNone/>
              <a:tabLst>
                <a:tab pos="1890395" algn="l"/>
                <a:tab pos="2798445" algn="l"/>
              </a:tabLst>
            </a:pPr>
            <a:r>
              <a:rPr lang="en-US" altLang="en-US" sz="2000" i="1" dirty="0">
                <a:sym typeface="Greek Symbols"/>
              </a:rPr>
              <a:t>	</a:t>
            </a:r>
            <a:r>
              <a:rPr lang="en-US" altLang="en-US" sz="2000" dirty="0">
                <a:sym typeface="Greek Symbols"/>
              </a:rPr>
              <a:t>holds on </a:t>
            </a:r>
            <a:r>
              <a:rPr lang="en-US" altLang="en-US" sz="2000" i="1" dirty="0">
                <a:sym typeface="Greek Symbols"/>
              </a:rPr>
              <a:t>R</a:t>
            </a:r>
            <a:r>
              <a:rPr lang="en-US" altLang="en-US" sz="2000" dirty="0">
                <a:sym typeface="Greek Symbols"/>
              </a:rPr>
              <a:t> if in any legal relation </a:t>
            </a:r>
            <a:r>
              <a:rPr lang="en-US" altLang="en-US" sz="2000" i="1" dirty="0">
                <a:sym typeface="Greek Symbols"/>
              </a:rPr>
              <a:t>r(R),</a:t>
            </a:r>
            <a:r>
              <a:rPr lang="en-US" altLang="en-US" sz="2000" dirty="0">
                <a:sym typeface="Greek Symbols"/>
              </a:rPr>
              <a:t> for all pairs for tuples </a:t>
            </a:r>
            <a:r>
              <a:rPr lang="en-US" altLang="en-US" sz="2000" i="1" dirty="0">
                <a:sym typeface="Greek Symbols"/>
              </a:rPr>
              <a:t>t</a:t>
            </a:r>
            <a:r>
              <a:rPr lang="en-US" altLang="en-US" sz="2000" baseline="-25000" dirty="0">
                <a:sym typeface="Greek Symbols"/>
              </a:rPr>
              <a:t>1 </a:t>
            </a:r>
            <a:r>
              <a:rPr lang="en-US" altLang="en-US" sz="2000" dirty="0">
                <a:sym typeface="Greek Symbols"/>
              </a:rPr>
              <a:t>and </a:t>
            </a:r>
            <a:r>
              <a:rPr lang="en-US" altLang="en-US" sz="2000" i="1" dirty="0">
                <a:sym typeface="Greek Symbols"/>
              </a:rPr>
              <a:t>t</a:t>
            </a:r>
            <a:r>
              <a:rPr lang="en-US" altLang="en-US" sz="2000" i="1" baseline="-25000" dirty="0">
                <a:sym typeface="Greek Symbols"/>
              </a:rPr>
              <a:t>2</a:t>
            </a:r>
            <a:r>
              <a:rPr lang="en-US" altLang="en-US" sz="2000" dirty="0">
                <a:sym typeface="Greek Symbols"/>
              </a:rPr>
              <a:t> in </a:t>
            </a:r>
            <a:r>
              <a:rPr lang="en-US" altLang="en-US" sz="2000" i="1" dirty="0">
                <a:sym typeface="Greek Symbols"/>
              </a:rPr>
              <a:t>r</a:t>
            </a:r>
            <a:r>
              <a:rPr lang="en-US" altLang="en-US" sz="2000" dirty="0">
                <a:sym typeface="Greek Symbols"/>
              </a:rPr>
              <a:t> such that </a:t>
            </a:r>
            <a:r>
              <a:rPr lang="en-US" altLang="en-US" sz="2000" i="1" dirty="0">
                <a:sym typeface="Greek Symbols"/>
              </a:rPr>
              <a:t>t</a:t>
            </a:r>
            <a:r>
              <a:rPr lang="en-US" altLang="en-US" sz="2000" baseline="-25000" dirty="0">
                <a:sym typeface="Greek Symbols"/>
              </a:rPr>
              <a:t>1</a:t>
            </a:r>
            <a:r>
              <a:rPr lang="en-US" altLang="en-US" sz="2000" dirty="0">
                <a:sym typeface="Greek Symbols"/>
              </a:rPr>
              <a:t>[</a:t>
            </a:r>
            <a:r>
              <a:rPr lang="en-US" altLang="en-US" sz="2000" dirty="0">
                <a:sym typeface="Symbol" panose="05050102010706020507" pitchFamily="18" charset="2"/>
              </a:rPr>
              <a:t></a:t>
            </a:r>
            <a:r>
              <a:rPr lang="en-US" altLang="en-US" sz="2000" dirty="0">
                <a:sym typeface="Greek Symbols"/>
              </a:rPr>
              <a:t>] = </a:t>
            </a:r>
            <a:r>
              <a:rPr lang="en-US" altLang="en-US" sz="2000" i="1" dirty="0">
                <a:sym typeface="Greek Symbols"/>
              </a:rPr>
              <a:t>t</a:t>
            </a:r>
            <a:r>
              <a:rPr lang="en-US" altLang="en-US" sz="2000" i="1" baseline="-25000" dirty="0">
                <a:sym typeface="Greek Symbols"/>
              </a:rPr>
              <a:t>2 </a:t>
            </a:r>
            <a:r>
              <a:rPr lang="en-US" altLang="en-US" sz="2000" dirty="0">
                <a:sym typeface="Greek Symbols"/>
              </a:rPr>
              <a:t>[</a:t>
            </a:r>
            <a:r>
              <a:rPr lang="en-US" altLang="en-US" sz="2000" dirty="0">
                <a:sym typeface="Symbol" panose="05050102010706020507" pitchFamily="18" charset="2"/>
              </a:rPr>
              <a:t></a:t>
            </a:r>
            <a:r>
              <a:rPr lang="en-US" altLang="en-US" sz="2000" dirty="0">
                <a:sym typeface="Greek Symbols"/>
              </a:rPr>
              <a:t>], there exist tuples </a:t>
            </a:r>
            <a:r>
              <a:rPr lang="en-US" altLang="en-US" sz="2000" i="1" dirty="0">
                <a:sym typeface="Greek Symbols"/>
              </a:rPr>
              <a:t>t</a:t>
            </a:r>
            <a:r>
              <a:rPr lang="en-US" altLang="en-US" sz="2000" i="1" baseline="-25000" dirty="0">
                <a:sym typeface="Greek Symbols"/>
              </a:rPr>
              <a:t>3</a:t>
            </a:r>
            <a:r>
              <a:rPr lang="en-US" altLang="en-US" sz="2000" dirty="0">
                <a:sym typeface="Greek Symbols"/>
              </a:rPr>
              <a:t> and </a:t>
            </a:r>
            <a:r>
              <a:rPr lang="en-US" altLang="en-US" sz="2000" i="1" dirty="0">
                <a:sym typeface="Greek Symbols"/>
              </a:rPr>
              <a:t>t</a:t>
            </a:r>
            <a:r>
              <a:rPr lang="en-US" altLang="en-US" sz="2000" baseline="-25000" dirty="0">
                <a:sym typeface="Greek Symbols"/>
              </a:rPr>
              <a:t>4</a:t>
            </a:r>
            <a:r>
              <a:rPr lang="en-US" altLang="en-US" sz="2000" dirty="0">
                <a:sym typeface="Greek Symbols"/>
              </a:rPr>
              <a:t> in </a:t>
            </a:r>
            <a:r>
              <a:rPr lang="en-US" altLang="en-US" sz="2000" i="1" dirty="0">
                <a:sym typeface="Greek Symbols"/>
              </a:rPr>
              <a:t>r </a:t>
            </a:r>
            <a:r>
              <a:rPr lang="en-US" altLang="en-US" sz="2000" dirty="0">
                <a:sym typeface="Greek Symbols"/>
              </a:rPr>
              <a:t>such that: </a:t>
            </a:r>
            <a:endParaRPr lang="en-US" altLang="en-US" sz="2000" dirty="0">
              <a:sym typeface="Greek Symbols"/>
            </a:endParaRPr>
          </a:p>
          <a:p>
            <a:pPr>
              <a:buFont typeface="Monotype Sorts" pitchFamily="-65" charset="2"/>
              <a:buNone/>
              <a:tabLst>
                <a:tab pos="1890395" algn="l"/>
                <a:tab pos="2798445" algn="l"/>
              </a:tabLst>
            </a:pPr>
            <a:r>
              <a:rPr lang="en-US" altLang="en-US" sz="2000" dirty="0">
                <a:sym typeface="Greek Symbols"/>
              </a:rPr>
              <a:t>		 </a:t>
            </a:r>
            <a:r>
              <a:rPr lang="en-US" altLang="en-US" sz="2000" i="1" dirty="0">
                <a:sym typeface="Greek Symbols"/>
              </a:rPr>
              <a:t>t</a:t>
            </a:r>
            <a:r>
              <a:rPr lang="en-US" altLang="en-US" sz="2000" baseline="-25000" dirty="0">
                <a:sym typeface="Greek Symbols"/>
              </a:rPr>
              <a:t>1</a:t>
            </a:r>
            <a:r>
              <a:rPr lang="en-US" altLang="en-US" sz="2000" dirty="0">
                <a:sym typeface="Greek Symbols"/>
              </a:rPr>
              <a:t>[</a:t>
            </a:r>
            <a:r>
              <a:rPr lang="en-US" altLang="en-US" sz="2000" dirty="0">
                <a:sym typeface="Symbol" panose="05050102010706020507" pitchFamily="18" charset="2"/>
              </a:rPr>
              <a:t></a:t>
            </a:r>
            <a:r>
              <a:rPr lang="en-US" altLang="en-US" sz="2000" dirty="0">
                <a:sym typeface="Greek Symbols"/>
              </a:rPr>
              <a:t>] = </a:t>
            </a:r>
            <a:r>
              <a:rPr lang="en-US" altLang="en-US" sz="2000" i="1" dirty="0">
                <a:sym typeface="Greek Symbols"/>
              </a:rPr>
              <a:t>t</a:t>
            </a:r>
            <a:r>
              <a:rPr lang="en-US" altLang="en-US" sz="2000" i="1" baseline="-25000" dirty="0">
                <a:sym typeface="Greek Symbols"/>
              </a:rPr>
              <a:t>2 </a:t>
            </a:r>
            <a:r>
              <a:rPr lang="en-US" altLang="en-US" sz="2000" dirty="0">
                <a:sym typeface="Greek Symbols"/>
              </a:rPr>
              <a:t>[</a:t>
            </a:r>
            <a:r>
              <a:rPr lang="en-US" altLang="en-US" sz="2000" dirty="0">
                <a:sym typeface="Symbol" panose="05050102010706020507" pitchFamily="18" charset="2"/>
              </a:rPr>
              <a:t></a:t>
            </a:r>
            <a:r>
              <a:rPr lang="en-US" altLang="en-US" sz="2000" dirty="0">
                <a:sym typeface="Greek Symbols"/>
              </a:rPr>
              <a:t>] = </a:t>
            </a:r>
            <a:r>
              <a:rPr lang="en-US" altLang="en-US" sz="2000" i="1" dirty="0">
                <a:sym typeface="Greek Symbols"/>
              </a:rPr>
              <a:t>t</a:t>
            </a:r>
            <a:r>
              <a:rPr lang="en-US" altLang="en-US" sz="2000" baseline="-25000" dirty="0">
                <a:sym typeface="Greek Symbols"/>
              </a:rPr>
              <a:t>3</a:t>
            </a:r>
            <a:r>
              <a:rPr lang="en-US" altLang="en-US" sz="2000" dirty="0">
                <a:sym typeface="Greek Symbols"/>
              </a:rPr>
              <a:t> [</a:t>
            </a:r>
            <a:r>
              <a:rPr lang="en-US" altLang="en-US" sz="2000" dirty="0">
                <a:sym typeface="Symbol" panose="05050102010706020507" pitchFamily="18" charset="2"/>
              </a:rPr>
              <a:t></a:t>
            </a:r>
            <a:r>
              <a:rPr lang="en-US" altLang="en-US" sz="2000" dirty="0">
                <a:sym typeface="Greek Symbols"/>
              </a:rPr>
              <a:t>] = </a:t>
            </a:r>
            <a:r>
              <a:rPr lang="en-US" altLang="en-US" sz="2000" i="1" dirty="0">
                <a:sym typeface="Greek Symbols"/>
              </a:rPr>
              <a:t>t</a:t>
            </a:r>
            <a:r>
              <a:rPr lang="en-US" altLang="en-US" sz="2000" baseline="-25000" dirty="0">
                <a:sym typeface="Greek Symbols"/>
              </a:rPr>
              <a:t>4</a:t>
            </a:r>
            <a:r>
              <a:rPr lang="en-US" altLang="en-US" sz="2000" i="1" baseline="-25000" dirty="0">
                <a:sym typeface="Greek Symbols"/>
              </a:rPr>
              <a:t> </a:t>
            </a:r>
            <a:r>
              <a:rPr lang="en-US" altLang="en-US" sz="2000" dirty="0">
                <a:sym typeface="Greek Symbols"/>
              </a:rPr>
              <a:t>[</a:t>
            </a:r>
            <a:r>
              <a:rPr lang="en-US" altLang="en-US" sz="2000" dirty="0">
                <a:sym typeface="Symbol" panose="05050102010706020507" pitchFamily="18" charset="2"/>
              </a:rPr>
              <a:t></a:t>
            </a:r>
            <a:r>
              <a:rPr lang="en-US" altLang="en-US" sz="2000" dirty="0">
                <a:sym typeface="Greek Symbols"/>
              </a:rPr>
              <a:t>] </a:t>
            </a:r>
            <a:br>
              <a:rPr lang="en-US" altLang="en-US" sz="2000" dirty="0">
                <a:sym typeface="Greek Symbols"/>
              </a:rPr>
            </a:br>
            <a:r>
              <a:rPr lang="en-US" altLang="en-US" sz="2000" dirty="0">
                <a:sym typeface="Greek Symbols"/>
              </a:rPr>
              <a:t>	 </a:t>
            </a:r>
            <a:r>
              <a:rPr lang="en-US" altLang="en-US" sz="2000" i="1" dirty="0">
                <a:sym typeface="Greek Symbols"/>
              </a:rPr>
              <a:t>t</a:t>
            </a:r>
            <a:r>
              <a:rPr lang="en-US" altLang="en-US" sz="2000" baseline="-25000" dirty="0">
                <a:sym typeface="Greek Symbols"/>
              </a:rPr>
              <a:t>3</a:t>
            </a:r>
            <a:r>
              <a:rPr lang="en-US" altLang="en-US" sz="2000" dirty="0">
                <a:sym typeface="Greek Symbols"/>
              </a:rPr>
              <a:t>[</a:t>
            </a:r>
            <a:r>
              <a:rPr lang="en-US" altLang="en-US" sz="2000" dirty="0">
                <a:sym typeface="Symbol" panose="05050102010706020507" pitchFamily="18" charset="2"/>
              </a:rPr>
              <a:t></a:t>
            </a:r>
            <a:r>
              <a:rPr lang="en-US" altLang="en-US" sz="2000" dirty="0">
                <a:sym typeface="Greek Symbols"/>
              </a:rPr>
              <a:t>]         =  </a:t>
            </a:r>
            <a:r>
              <a:rPr lang="en-US" altLang="en-US" sz="2000" i="1" dirty="0">
                <a:sym typeface="Greek Symbols"/>
              </a:rPr>
              <a:t>t</a:t>
            </a:r>
            <a:r>
              <a:rPr lang="en-US" altLang="en-US" sz="2000" baseline="-25000" dirty="0">
                <a:sym typeface="Greek Symbols"/>
              </a:rPr>
              <a:t>1 </a:t>
            </a:r>
            <a:r>
              <a:rPr lang="en-US" altLang="en-US" sz="2000" dirty="0">
                <a:sym typeface="Greek Symbols"/>
              </a:rPr>
              <a:t>[</a:t>
            </a:r>
            <a:r>
              <a:rPr lang="en-US" altLang="en-US" sz="2000" dirty="0">
                <a:sym typeface="Symbol" panose="05050102010706020507" pitchFamily="18" charset="2"/>
              </a:rPr>
              <a:t></a:t>
            </a:r>
            <a:r>
              <a:rPr lang="en-US" altLang="en-US" sz="2000" dirty="0">
                <a:sym typeface="Greek Symbols"/>
              </a:rPr>
              <a:t>] </a:t>
            </a:r>
            <a:br>
              <a:rPr lang="en-US" altLang="en-US" sz="2000" dirty="0">
                <a:sym typeface="Greek Symbols"/>
              </a:rPr>
            </a:br>
            <a:r>
              <a:rPr lang="en-US" altLang="en-US" sz="2000" dirty="0">
                <a:sym typeface="Greek Symbols"/>
              </a:rPr>
              <a:t>	 </a:t>
            </a:r>
            <a:r>
              <a:rPr lang="en-US" altLang="en-US" sz="2000" i="1" dirty="0">
                <a:sym typeface="Greek Symbols"/>
              </a:rPr>
              <a:t>t</a:t>
            </a:r>
            <a:r>
              <a:rPr lang="en-US" altLang="en-US" sz="2000" baseline="-25000" dirty="0">
                <a:sym typeface="Greek Symbols"/>
              </a:rPr>
              <a:t>3</a:t>
            </a:r>
            <a:r>
              <a:rPr lang="en-US" altLang="en-US" sz="2000" dirty="0">
                <a:sym typeface="Greek Symbols"/>
              </a:rPr>
              <a:t>[</a:t>
            </a:r>
            <a:r>
              <a:rPr lang="en-US" altLang="en-US" sz="2000" i="1" dirty="0">
                <a:sym typeface="Greek Symbols"/>
              </a:rPr>
              <a:t>R  – </a:t>
            </a:r>
            <a:r>
              <a:rPr lang="en-US" altLang="en-US" sz="2000" dirty="0">
                <a:sym typeface="Symbol" panose="05050102010706020507" pitchFamily="18" charset="2"/>
              </a:rPr>
              <a:t></a:t>
            </a:r>
            <a:r>
              <a:rPr lang="en-US" altLang="en-US" sz="2000" dirty="0">
                <a:sym typeface="Greek Symbols"/>
              </a:rPr>
              <a:t>] =  </a:t>
            </a:r>
            <a:r>
              <a:rPr lang="en-US" altLang="en-US" sz="2000" i="1" dirty="0">
                <a:sym typeface="Greek Symbols"/>
              </a:rPr>
              <a:t>t</a:t>
            </a:r>
            <a:r>
              <a:rPr lang="en-US" altLang="en-US" sz="2000" baseline="-25000" dirty="0">
                <a:sym typeface="Greek Symbols"/>
              </a:rPr>
              <a:t>2</a:t>
            </a:r>
            <a:r>
              <a:rPr lang="en-US" altLang="en-US" sz="2000" dirty="0">
                <a:sym typeface="Greek Symbols"/>
              </a:rPr>
              <a:t>[</a:t>
            </a:r>
            <a:r>
              <a:rPr lang="en-US" altLang="en-US" sz="2000" i="1" dirty="0">
                <a:sym typeface="Greek Symbols"/>
              </a:rPr>
              <a:t>R  – </a:t>
            </a:r>
            <a:r>
              <a:rPr lang="en-US" altLang="en-US" sz="2000" dirty="0">
                <a:sym typeface="Symbol" panose="05050102010706020507" pitchFamily="18" charset="2"/>
              </a:rPr>
              <a:t></a:t>
            </a:r>
            <a:r>
              <a:rPr lang="en-US" altLang="en-US" sz="2000" dirty="0">
                <a:sym typeface="Greek Symbols"/>
              </a:rPr>
              <a:t>] </a:t>
            </a:r>
            <a:br>
              <a:rPr lang="en-US" altLang="en-US" sz="2000" dirty="0">
                <a:sym typeface="Greek Symbols"/>
              </a:rPr>
            </a:br>
            <a:r>
              <a:rPr lang="en-US" altLang="en-US" sz="2000" dirty="0">
                <a:sym typeface="Greek Symbols"/>
              </a:rPr>
              <a:t>	 </a:t>
            </a:r>
            <a:r>
              <a:rPr lang="en-US" altLang="en-US" sz="2000" i="1" dirty="0">
                <a:sym typeface="Greek Symbols"/>
              </a:rPr>
              <a:t>t</a:t>
            </a:r>
            <a:r>
              <a:rPr lang="en-US" altLang="en-US" sz="2000" baseline="-25000" dirty="0">
                <a:sym typeface="Greek Symbols"/>
              </a:rPr>
              <a:t>4 </a:t>
            </a:r>
            <a:r>
              <a:rPr lang="en-US" altLang="en-US" sz="2000" dirty="0">
                <a:sym typeface="Greek Symbols"/>
              </a:rPr>
              <a:t>[</a:t>
            </a:r>
            <a:r>
              <a:rPr lang="en-US" altLang="en-US" sz="2000" dirty="0">
                <a:sym typeface="Symbol" panose="05050102010706020507" pitchFamily="18" charset="2"/>
              </a:rPr>
              <a:t></a:t>
            </a:r>
            <a:r>
              <a:rPr lang="en-US" altLang="en-US" sz="2000" dirty="0">
                <a:sym typeface="Greek Symbols"/>
              </a:rPr>
              <a:t>]         =  </a:t>
            </a:r>
            <a:r>
              <a:rPr lang="en-US" altLang="en-US" sz="2000" i="1" dirty="0">
                <a:sym typeface="Greek Symbols"/>
              </a:rPr>
              <a:t>t</a:t>
            </a:r>
            <a:r>
              <a:rPr lang="en-US" altLang="en-US" sz="2000" baseline="-25000" dirty="0">
                <a:sym typeface="Greek Symbols"/>
              </a:rPr>
              <a:t>2</a:t>
            </a:r>
            <a:r>
              <a:rPr lang="en-US" altLang="en-US" sz="2000" dirty="0">
                <a:sym typeface="Greek Symbols"/>
              </a:rPr>
              <a:t>[</a:t>
            </a:r>
            <a:r>
              <a:rPr lang="en-US" altLang="en-US" sz="2000" dirty="0">
                <a:sym typeface="Symbol" panose="05050102010706020507" pitchFamily="18" charset="2"/>
              </a:rPr>
              <a:t></a:t>
            </a:r>
            <a:r>
              <a:rPr lang="en-US" altLang="en-US" sz="2000" dirty="0">
                <a:sym typeface="Greek Symbols"/>
              </a:rPr>
              <a:t>] </a:t>
            </a:r>
            <a:br>
              <a:rPr lang="en-US" altLang="en-US" sz="2000" dirty="0">
                <a:sym typeface="Greek Symbols"/>
              </a:rPr>
            </a:br>
            <a:r>
              <a:rPr lang="en-US" altLang="en-US" sz="2000" dirty="0">
                <a:sym typeface="Greek Symbols"/>
              </a:rPr>
              <a:t>	 </a:t>
            </a:r>
            <a:r>
              <a:rPr lang="en-US" altLang="en-US" sz="2000" i="1" dirty="0">
                <a:sym typeface="Greek Symbols"/>
              </a:rPr>
              <a:t>t</a:t>
            </a:r>
            <a:r>
              <a:rPr lang="en-US" altLang="en-US" sz="2000" baseline="-25000" dirty="0">
                <a:sym typeface="Greek Symbols"/>
              </a:rPr>
              <a:t>4</a:t>
            </a:r>
            <a:r>
              <a:rPr lang="en-US" altLang="en-US" sz="2000" dirty="0">
                <a:sym typeface="Greek Symbols"/>
              </a:rPr>
              <a:t>[</a:t>
            </a:r>
            <a:r>
              <a:rPr lang="en-US" altLang="en-US" sz="2000" i="1" dirty="0">
                <a:sym typeface="Greek Symbols"/>
              </a:rPr>
              <a:t>R  – </a:t>
            </a:r>
            <a:r>
              <a:rPr lang="en-US" altLang="en-US" sz="2000" dirty="0">
                <a:sym typeface="Symbol" panose="05050102010706020507" pitchFamily="18" charset="2"/>
              </a:rPr>
              <a:t></a:t>
            </a:r>
            <a:r>
              <a:rPr lang="en-US" altLang="en-US" sz="2000" dirty="0">
                <a:sym typeface="Greek Symbols"/>
              </a:rPr>
              <a:t>] =  </a:t>
            </a:r>
            <a:r>
              <a:rPr lang="en-US" altLang="en-US" sz="2000" i="1" dirty="0">
                <a:sym typeface="Greek Symbols"/>
              </a:rPr>
              <a:t>t</a:t>
            </a:r>
            <a:r>
              <a:rPr lang="en-US" altLang="en-US" sz="2000" baseline="-25000" dirty="0">
                <a:sym typeface="Greek Symbols"/>
              </a:rPr>
              <a:t>1</a:t>
            </a:r>
            <a:r>
              <a:rPr lang="en-US" altLang="en-US" sz="2000" dirty="0">
                <a:sym typeface="Greek Symbols"/>
              </a:rPr>
              <a:t>[</a:t>
            </a:r>
            <a:r>
              <a:rPr lang="en-US" altLang="en-US" sz="2000" i="1" dirty="0">
                <a:sym typeface="Greek Symbols"/>
              </a:rPr>
              <a:t>R  – </a:t>
            </a:r>
            <a:r>
              <a:rPr lang="en-US" altLang="en-US" sz="2000" dirty="0">
                <a:sym typeface="Symbol" panose="05050102010706020507" pitchFamily="18" charset="2"/>
              </a:rPr>
              <a:t></a:t>
            </a:r>
            <a:r>
              <a:rPr lang="en-US" altLang="en-US" sz="2000" dirty="0">
                <a:sym typeface="Greek Symbols"/>
              </a:rPr>
              <a:t>] </a:t>
            </a:r>
            <a:br>
              <a:rPr lang="en-US" altLang="en-US" dirty="0">
                <a:sym typeface="Greek Symbols"/>
              </a:rPr>
            </a:br>
            <a:endParaRPr lang="en-US" altLang="en-US" dirty="0">
              <a:sym typeface="Greek Symbols"/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MVD --</a:t>
            </a:r>
            <a:r>
              <a:rPr lang="en-US" altLang="en-US" dirty="0"/>
              <a:t> Tabular representation 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  <a:ea typeface="MS PGothic" panose="020B0600070205080204" pitchFamily="34" charset="-128"/>
            </a:endParaRPr>
          </a:p>
        </p:txBody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93789"/>
            <a:ext cx="6703267" cy="506412"/>
          </a:xfrm>
        </p:spPr>
        <p:txBody>
          <a:bodyPr/>
          <a:lstStyle/>
          <a:p>
            <a:r>
              <a:rPr lang="en-US" altLang="en-US" sz="2400" dirty="0"/>
              <a:t>Tabular representation of </a:t>
            </a:r>
            <a:r>
              <a:rPr lang="en-US" altLang="en-US" sz="2400" dirty="0">
                <a:sym typeface="Symbol" panose="05050102010706020507" pitchFamily="18" charset="2"/>
              </a:rPr>
              <a:t></a:t>
            </a:r>
            <a:r>
              <a:rPr lang="en-US" altLang="en-US" sz="2400" dirty="0">
                <a:sym typeface="Greek Symbols"/>
              </a:rPr>
              <a:t> </a:t>
            </a:r>
            <a:r>
              <a:rPr lang="en-US" altLang="en-US" sz="2400" b="1" dirty="0">
                <a:sym typeface="Symbol" panose="05050102010706020507" pitchFamily="18" charset="2"/>
              </a:rPr>
              <a:t></a:t>
            </a:r>
            <a:r>
              <a:rPr lang="en-US" altLang="en-US" sz="2400" i="1" dirty="0">
                <a:sym typeface="Monotype Sorts" pitchFamily="-65" charset="2"/>
              </a:rPr>
              <a:t> </a:t>
            </a:r>
            <a:r>
              <a:rPr lang="en-US" altLang="en-US" sz="2400" dirty="0">
                <a:sym typeface="Symbol" panose="05050102010706020507" pitchFamily="18" charset="2"/>
              </a:rPr>
              <a:t></a:t>
            </a:r>
            <a:endParaRPr lang="en-US" altLang="en-US" sz="2400" dirty="0">
              <a:sym typeface="Symbol" panose="05050102010706020507" pitchFamily="18" charset="2"/>
            </a:endParaRPr>
          </a:p>
        </p:txBody>
      </p:sp>
      <p:pic>
        <p:nvPicPr>
          <p:cNvPr id="82948" name="Picture 5" descr="8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9432" y="1847206"/>
            <a:ext cx="4532730" cy="15931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MVD (Cont.)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  <a:ea typeface="MS PGothic" panose="020B0600070205080204" pitchFamily="34" charset="-128"/>
            </a:endParaRPr>
          </a:p>
        </p:txBody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19189"/>
            <a:ext cx="7593596" cy="3416716"/>
          </a:xfrm>
        </p:spPr>
        <p:txBody>
          <a:bodyPr/>
          <a:lstStyle/>
          <a:p>
            <a:pPr>
              <a:tabLst>
                <a:tab pos="1149350" algn="l"/>
                <a:tab pos="3311525" algn="ctr"/>
              </a:tabLst>
            </a:pPr>
            <a:r>
              <a:rPr lang="en-US" altLang="en-US" sz="2000" dirty="0"/>
              <a:t>Let </a:t>
            </a:r>
            <a:r>
              <a:rPr lang="en-US" altLang="en-US" sz="2000" i="1" dirty="0"/>
              <a:t>R</a:t>
            </a:r>
            <a:r>
              <a:rPr lang="en-US" altLang="en-US" sz="2000" dirty="0"/>
              <a:t> be a relation schema with a set of attributes that are partitioned into 3 nonempty subsets.</a:t>
            </a:r>
            <a:endParaRPr lang="en-US" altLang="en-US" sz="2000" dirty="0"/>
          </a:p>
          <a:p>
            <a:pPr>
              <a:buFont typeface="Monotype Sorts" pitchFamily="-65" charset="2"/>
              <a:buNone/>
              <a:tabLst>
                <a:tab pos="1149350" algn="l"/>
                <a:tab pos="3311525" algn="ctr"/>
              </a:tabLst>
            </a:pPr>
            <a:r>
              <a:rPr lang="en-US" altLang="en-US" sz="2000" dirty="0"/>
              <a:t>			</a:t>
            </a:r>
            <a:r>
              <a:rPr lang="en-US" altLang="en-US" sz="2000" i="1" dirty="0"/>
              <a:t>Y, Z, W</a:t>
            </a:r>
            <a:endParaRPr lang="en-US" altLang="en-US" sz="2000" i="1" dirty="0"/>
          </a:p>
          <a:p>
            <a:pPr>
              <a:tabLst>
                <a:tab pos="1149350" algn="l"/>
                <a:tab pos="3311525" algn="ctr"/>
              </a:tabLst>
            </a:pPr>
            <a:r>
              <a:rPr lang="en-US" altLang="en-US" sz="2000" dirty="0"/>
              <a:t>We say that </a:t>
            </a:r>
            <a:r>
              <a:rPr lang="en-US" altLang="en-US" sz="2000" i="1" dirty="0"/>
              <a:t>Y </a:t>
            </a:r>
            <a:r>
              <a:rPr lang="en-US" altLang="en-US" sz="2000" b="1" dirty="0">
                <a:sym typeface="Symbol" panose="05050102010706020507" pitchFamily="18" charset="2"/>
              </a:rPr>
              <a:t></a:t>
            </a:r>
            <a:r>
              <a:rPr lang="en-US" altLang="en-US" sz="2000" dirty="0">
                <a:sym typeface="Monotype Sorts" pitchFamily="-65" charset="2"/>
              </a:rPr>
              <a:t> </a:t>
            </a:r>
            <a:r>
              <a:rPr lang="en-US" altLang="en-US" sz="2000" i="1" dirty="0">
                <a:sym typeface="Monotype Sorts" pitchFamily="-65" charset="2"/>
              </a:rPr>
              <a:t>Z </a:t>
            </a:r>
            <a:r>
              <a:rPr lang="en-US" altLang="en-US" sz="2000" dirty="0">
                <a:sym typeface="Monotype Sorts" pitchFamily="-65" charset="2"/>
              </a:rPr>
              <a:t>(</a:t>
            </a:r>
            <a:r>
              <a:rPr lang="en-US" altLang="en-US" sz="2000" i="1" dirty="0">
                <a:sym typeface="Monotype Sorts" pitchFamily="-65" charset="2"/>
              </a:rPr>
              <a:t>Y</a:t>
            </a:r>
            <a:r>
              <a:rPr lang="en-US" altLang="en-US" sz="2000" dirty="0">
                <a:sym typeface="Monotype Sorts" pitchFamily="-65" charset="2"/>
              </a:rPr>
              <a:t> </a:t>
            </a:r>
            <a:r>
              <a:rPr lang="en-US" altLang="en-US" sz="2000" b="1" dirty="0" err="1">
                <a:solidFill>
                  <a:srgbClr val="002060"/>
                </a:solidFill>
                <a:sym typeface="Monotype Sorts" pitchFamily="-65" charset="2"/>
              </a:rPr>
              <a:t>multidetermines</a:t>
            </a:r>
            <a:r>
              <a:rPr lang="en-US" altLang="en-US" sz="2000" dirty="0">
                <a:sym typeface="Monotype Sorts" pitchFamily="-65" charset="2"/>
              </a:rPr>
              <a:t> </a:t>
            </a:r>
            <a:r>
              <a:rPr lang="en-US" altLang="en-US" sz="2000" i="1" dirty="0">
                <a:sym typeface="Monotype Sorts" pitchFamily="-65" charset="2"/>
              </a:rPr>
              <a:t>Z </a:t>
            </a:r>
            <a:r>
              <a:rPr lang="en-US" altLang="en-US" sz="2000" dirty="0">
                <a:sym typeface="Monotype Sorts" pitchFamily="-65" charset="2"/>
              </a:rPr>
              <a:t>)</a:t>
            </a:r>
            <a:br>
              <a:rPr lang="en-US" altLang="en-US" sz="2000" i="1" dirty="0">
                <a:sym typeface="Monotype Sorts" pitchFamily="-65" charset="2"/>
              </a:rPr>
            </a:br>
            <a:r>
              <a:rPr lang="en-US" altLang="en-US" sz="2000" dirty="0">
                <a:sym typeface="Monotype Sorts" pitchFamily="-65" charset="2"/>
              </a:rPr>
              <a:t>if and only if for all possible relations </a:t>
            </a:r>
            <a:r>
              <a:rPr lang="en-US" altLang="en-US" sz="2000" i="1" dirty="0">
                <a:sym typeface="Monotype Sorts" pitchFamily="-65" charset="2"/>
              </a:rPr>
              <a:t>r </a:t>
            </a:r>
            <a:r>
              <a:rPr lang="en-US" altLang="en-US" sz="2000" dirty="0">
                <a:sym typeface="Monotype Sorts" pitchFamily="-65" charset="2"/>
              </a:rPr>
              <a:t>(</a:t>
            </a:r>
            <a:r>
              <a:rPr lang="en-US" altLang="en-US" sz="2000" i="1" dirty="0">
                <a:sym typeface="Monotype Sorts" pitchFamily="-65" charset="2"/>
              </a:rPr>
              <a:t>R </a:t>
            </a:r>
            <a:r>
              <a:rPr lang="en-US" altLang="en-US" sz="2000" dirty="0">
                <a:sym typeface="Monotype Sorts" pitchFamily="-65" charset="2"/>
              </a:rPr>
              <a:t>)</a:t>
            </a:r>
            <a:endParaRPr lang="en-US" altLang="en-US" sz="2000" i="1" dirty="0">
              <a:sym typeface="Monotype Sorts" pitchFamily="-65" charset="2"/>
            </a:endParaRPr>
          </a:p>
          <a:p>
            <a:pPr>
              <a:buFont typeface="Monotype Sorts" pitchFamily="-65" charset="2"/>
              <a:buNone/>
              <a:tabLst>
                <a:tab pos="1149350" algn="l"/>
                <a:tab pos="3311525" algn="ctr"/>
              </a:tabLst>
            </a:pPr>
            <a:r>
              <a:rPr lang="en-US" altLang="en-US" sz="2000" dirty="0">
                <a:sym typeface="Monotype Sorts" pitchFamily="-65" charset="2"/>
              </a:rPr>
              <a:t>		&lt; </a:t>
            </a:r>
            <a:r>
              <a:rPr lang="en-US" altLang="en-US" sz="2000" i="1" dirty="0">
                <a:sym typeface="Monotype Sorts" pitchFamily="-65" charset="2"/>
              </a:rPr>
              <a:t>y</a:t>
            </a:r>
            <a:r>
              <a:rPr lang="en-US" altLang="en-US" sz="2000" baseline="-25000" dirty="0">
                <a:sym typeface="Monotype Sorts" pitchFamily="-65" charset="2"/>
              </a:rPr>
              <a:t>1</a:t>
            </a:r>
            <a:r>
              <a:rPr lang="en-US" altLang="en-US" sz="2000" dirty="0">
                <a:sym typeface="Monotype Sorts" pitchFamily="-65" charset="2"/>
              </a:rPr>
              <a:t>, </a:t>
            </a:r>
            <a:r>
              <a:rPr lang="en-US" altLang="en-US" sz="2000" i="1" dirty="0">
                <a:sym typeface="Monotype Sorts" pitchFamily="-65" charset="2"/>
              </a:rPr>
              <a:t>z</a:t>
            </a:r>
            <a:r>
              <a:rPr lang="en-US" altLang="en-US" sz="2000" baseline="-25000" dirty="0">
                <a:sym typeface="Monotype Sorts" pitchFamily="-65" charset="2"/>
              </a:rPr>
              <a:t>1</a:t>
            </a:r>
            <a:r>
              <a:rPr lang="en-US" altLang="en-US" sz="2000" dirty="0">
                <a:sym typeface="Monotype Sorts" pitchFamily="-65" charset="2"/>
              </a:rPr>
              <a:t>, </a:t>
            </a:r>
            <a:r>
              <a:rPr lang="en-US" altLang="en-US" sz="2000" i="1" dirty="0">
                <a:sym typeface="Monotype Sorts" pitchFamily="-65" charset="2"/>
              </a:rPr>
              <a:t>w</a:t>
            </a:r>
            <a:r>
              <a:rPr lang="en-US" altLang="en-US" sz="2000" baseline="-25000" dirty="0">
                <a:sym typeface="Monotype Sorts" pitchFamily="-65" charset="2"/>
              </a:rPr>
              <a:t>1</a:t>
            </a:r>
            <a:r>
              <a:rPr lang="en-US" altLang="en-US" sz="2000" dirty="0">
                <a:sym typeface="Monotype Sorts" pitchFamily="-65" charset="2"/>
              </a:rPr>
              <a:t> &gt; </a:t>
            </a:r>
            <a:r>
              <a:rPr lang="en-US" altLang="en-US" sz="2000" dirty="0">
                <a:sym typeface="Symbol" panose="05050102010706020507" pitchFamily="18" charset="2"/>
              </a:rPr>
              <a:t> </a:t>
            </a:r>
            <a:r>
              <a:rPr lang="en-US" altLang="en-US" sz="2000" i="1" dirty="0">
                <a:sym typeface="Symbol" panose="05050102010706020507" pitchFamily="18" charset="2"/>
              </a:rPr>
              <a:t>r</a:t>
            </a:r>
            <a:r>
              <a:rPr lang="en-US" altLang="en-US" sz="2000" dirty="0">
                <a:sym typeface="Symbol" panose="05050102010706020507" pitchFamily="18" charset="2"/>
              </a:rPr>
              <a:t> and &lt; </a:t>
            </a:r>
            <a:r>
              <a:rPr lang="en-US" altLang="en-US" sz="2000" i="1" dirty="0">
                <a:sym typeface="Monotype Sorts" pitchFamily="-65" charset="2"/>
              </a:rPr>
              <a:t>y</a:t>
            </a:r>
            <a:r>
              <a:rPr lang="en-US" altLang="en-US" sz="2000" baseline="-25000" dirty="0">
                <a:sym typeface="Monotype Sorts" pitchFamily="-65" charset="2"/>
              </a:rPr>
              <a:t>1</a:t>
            </a:r>
            <a:r>
              <a:rPr lang="en-US" altLang="en-US" sz="2000" dirty="0">
                <a:sym typeface="Monotype Sorts" pitchFamily="-65" charset="2"/>
              </a:rPr>
              <a:t>, </a:t>
            </a:r>
            <a:r>
              <a:rPr lang="en-US" altLang="en-US" sz="2000" i="1" dirty="0">
                <a:sym typeface="Monotype Sorts" pitchFamily="-65" charset="2"/>
              </a:rPr>
              <a:t>z</a:t>
            </a:r>
            <a:r>
              <a:rPr lang="en-US" altLang="en-US" sz="2000" baseline="-25000" dirty="0">
                <a:sym typeface="Monotype Sorts" pitchFamily="-65" charset="2"/>
              </a:rPr>
              <a:t>2</a:t>
            </a:r>
            <a:r>
              <a:rPr lang="en-US" altLang="en-US" sz="2000" dirty="0">
                <a:sym typeface="Monotype Sorts" pitchFamily="-65" charset="2"/>
              </a:rPr>
              <a:t>, </a:t>
            </a:r>
            <a:r>
              <a:rPr lang="en-US" altLang="en-US" sz="2000" i="1" dirty="0">
                <a:sym typeface="Monotype Sorts" pitchFamily="-65" charset="2"/>
              </a:rPr>
              <a:t>w</a:t>
            </a:r>
            <a:r>
              <a:rPr lang="en-US" altLang="en-US" sz="2000" baseline="-25000" dirty="0">
                <a:sym typeface="Monotype Sorts" pitchFamily="-65" charset="2"/>
              </a:rPr>
              <a:t>2</a:t>
            </a:r>
            <a:r>
              <a:rPr lang="en-US" altLang="en-US" sz="2000" dirty="0">
                <a:sym typeface="Monotype Sorts" pitchFamily="-65" charset="2"/>
              </a:rPr>
              <a:t> &gt; </a:t>
            </a:r>
            <a:r>
              <a:rPr lang="en-US" altLang="en-US" sz="2000" dirty="0">
                <a:sym typeface="Symbol" panose="05050102010706020507" pitchFamily="18" charset="2"/>
              </a:rPr>
              <a:t> </a:t>
            </a:r>
            <a:r>
              <a:rPr lang="en-US" altLang="en-US" sz="2000" i="1" dirty="0">
                <a:sym typeface="Symbol" panose="05050102010706020507" pitchFamily="18" charset="2"/>
              </a:rPr>
              <a:t>r</a:t>
            </a:r>
            <a:endParaRPr lang="en-US" altLang="en-US" sz="2000" dirty="0">
              <a:sym typeface="Symbol" panose="05050102010706020507" pitchFamily="18" charset="2"/>
            </a:endParaRPr>
          </a:p>
          <a:p>
            <a:pPr>
              <a:buFont typeface="Monotype Sorts" pitchFamily="-65" charset="2"/>
              <a:buNone/>
              <a:tabLst>
                <a:tab pos="1149350" algn="l"/>
                <a:tab pos="3311525" algn="ctr"/>
              </a:tabLst>
            </a:pPr>
            <a:r>
              <a:rPr lang="en-US" altLang="en-US" sz="2000" dirty="0">
                <a:sym typeface="Symbol" panose="05050102010706020507" pitchFamily="18" charset="2"/>
              </a:rPr>
              <a:t>	then</a:t>
            </a:r>
            <a:endParaRPr lang="en-US" altLang="en-US" sz="2000" dirty="0">
              <a:sym typeface="Symbol" panose="05050102010706020507" pitchFamily="18" charset="2"/>
            </a:endParaRPr>
          </a:p>
          <a:p>
            <a:pPr>
              <a:buFont typeface="Monotype Sorts" pitchFamily="-65" charset="2"/>
              <a:buNone/>
              <a:tabLst>
                <a:tab pos="1149350" algn="l"/>
                <a:tab pos="3311525" algn="ctr"/>
              </a:tabLst>
            </a:pPr>
            <a:r>
              <a:rPr lang="en-US" altLang="en-US" sz="2000" dirty="0">
                <a:sym typeface="Symbol" panose="05050102010706020507" pitchFamily="18" charset="2"/>
              </a:rPr>
              <a:t>		</a:t>
            </a:r>
            <a:r>
              <a:rPr lang="en-US" altLang="en-US" sz="2000" dirty="0">
                <a:sym typeface="Monotype Sorts" pitchFamily="-65" charset="2"/>
              </a:rPr>
              <a:t>&lt; </a:t>
            </a:r>
            <a:r>
              <a:rPr lang="en-US" altLang="en-US" sz="2000" i="1" dirty="0">
                <a:sym typeface="Monotype Sorts" pitchFamily="-65" charset="2"/>
              </a:rPr>
              <a:t>y</a:t>
            </a:r>
            <a:r>
              <a:rPr lang="en-US" altLang="en-US" sz="2000" baseline="-25000" dirty="0">
                <a:sym typeface="Monotype Sorts" pitchFamily="-65" charset="2"/>
              </a:rPr>
              <a:t>1</a:t>
            </a:r>
            <a:r>
              <a:rPr lang="en-US" altLang="en-US" sz="2000" dirty="0">
                <a:sym typeface="Monotype Sorts" pitchFamily="-65" charset="2"/>
              </a:rPr>
              <a:t>, </a:t>
            </a:r>
            <a:r>
              <a:rPr lang="en-US" altLang="en-US" sz="2000" i="1" dirty="0">
                <a:sym typeface="Monotype Sorts" pitchFamily="-65" charset="2"/>
              </a:rPr>
              <a:t>z</a:t>
            </a:r>
            <a:r>
              <a:rPr lang="en-US" altLang="en-US" sz="2000" baseline="-25000" dirty="0">
                <a:sym typeface="Monotype Sorts" pitchFamily="-65" charset="2"/>
              </a:rPr>
              <a:t>1</a:t>
            </a:r>
            <a:r>
              <a:rPr lang="en-US" altLang="en-US" sz="2000" dirty="0">
                <a:sym typeface="Monotype Sorts" pitchFamily="-65" charset="2"/>
              </a:rPr>
              <a:t>, </a:t>
            </a:r>
            <a:r>
              <a:rPr lang="en-US" altLang="en-US" sz="2000" i="1" dirty="0">
                <a:sym typeface="Monotype Sorts" pitchFamily="-65" charset="2"/>
              </a:rPr>
              <a:t>w</a:t>
            </a:r>
            <a:r>
              <a:rPr lang="en-US" altLang="en-US" sz="2000" baseline="-25000" dirty="0">
                <a:sym typeface="Monotype Sorts" pitchFamily="-65" charset="2"/>
              </a:rPr>
              <a:t>2</a:t>
            </a:r>
            <a:r>
              <a:rPr lang="en-US" altLang="en-US" sz="2000" dirty="0">
                <a:sym typeface="Monotype Sorts" pitchFamily="-65" charset="2"/>
              </a:rPr>
              <a:t> &gt; </a:t>
            </a:r>
            <a:r>
              <a:rPr lang="en-US" altLang="en-US" sz="2000" dirty="0">
                <a:sym typeface="Symbol" panose="05050102010706020507" pitchFamily="18" charset="2"/>
              </a:rPr>
              <a:t> </a:t>
            </a:r>
            <a:r>
              <a:rPr lang="en-US" altLang="en-US" sz="2000" i="1" dirty="0">
                <a:sym typeface="Symbol" panose="05050102010706020507" pitchFamily="18" charset="2"/>
              </a:rPr>
              <a:t>r</a:t>
            </a:r>
            <a:r>
              <a:rPr lang="en-US" altLang="en-US" sz="2000" dirty="0">
                <a:sym typeface="Symbol" panose="05050102010706020507" pitchFamily="18" charset="2"/>
              </a:rPr>
              <a:t> and &lt; </a:t>
            </a:r>
            <a:r>
              <a:rPr lang="en-US" altLang="en-US" sz="2000" i="1" dirty="0">
                <a:sym typeface="Monotype Sorts" pitchFamily="-65" charset="2"/>
              </a:rPr>
              <a:t>y</a:t>
            </a:r>
            <a:r>
              <a:rPr lang="en-US" altLang="en-US" sz="2000" baseline="-25000" dirty="0">
                <a:sym typeface="Monotype Sorts" pitchFamily="-65" charset="2"/>
              </a:rPr>
              <a:t>1</a:t>
            </a:r>
            <a:r>
              <a:rPr lang="en-US" altLang="en-US" sz="2000" dirty="0">
                <a:sym typeface="Monotype Sorts" pitchFamily="-65" charset="2"/>
              </a:rPr>
              <a:t>, </a:t>
            </a:r>
            <a:r>
              <a:rPr lang="en-US" altLang="en-US" sz="2000" i="1" dirty="0">
                <a:sym typeface="Monotype Sorts" pitchFamily="-65" charset="2"/>
              </a:rPr>
              <a:t>z</a:t>
            </a:r>
            <a:r>
              <a:rPr lang="en-US" altLang="en-US" sz="2000" baseline="-25000" dirty="0">
                <a:sym typeface="Monotype Sorts" pitchFamily="-65" charset="2"/>
              </a:rPr>
              <a:t>2</a:t>
            </a:r>
            <a:r>
              <a:rPr lang="en-US" altLang="en-US" sz="2000" dirty="0">
                <a:sym typeface="Monotype Sorts" pitchFamily="-65" charset="2"/>
              </a:rPr>
              <a:t>, </a:t>
            </a:r>
            <a:r>
              <a:rPr lang="en-US" altLang="en-US" sz="2000" i="1" dirty="0">
                <a:sym typeface="Monotype Sorts" pitchFamily="-65" charset="2"/>
              </a:rPr>
              <a:t>w</a:t>
            </a:r>
            <a:r>
              <a:rPr lang="en-US" altLang="en-US" sz="2000" baseline="-25000" dirty="0">
                <a:sym typeface="Monotype Sorts" pitchFamily="-65" charset="2"/>
              </a:rPr>
              <a:t>1</a:t>
            </a:r>
            <a:r>
              <a:rPr lang="en-US" altLang="en-US" sz="2000" dirty="0">
                <a:sym typeface="Monotype Sorts" pitchFamily="-65" charset="2"/>
              </a:rPr>
              <a:t> &gt; </a:t>
            </a:r>
            <a:r>
              <a:rPr lang="en-US" altLang="en-US" sz="2000" dirty="0">
                <a:sym typeface="Symbol" panose="05050102010706020507" pitchFamily="18" charset="2"/>
              </a:rPr>
              <a:t> </a:t>
            </a:r>
            <a:r>
              <a:rPr lang="en-US" altLang="en-US" sz="2000" i="1" dirty="0">
                <a:sym typeface="Symbol" panose="05050102010706020507" pitchFamily="18" charset="2"/>
              </a:rPr>
              <a:t>r</a:t>
            </a:r>
            <a:endParaRPr lang="en-US" altLang="en-US" sz="2000" i="1" dirty="0">
              <a:sym typeface="Symbol" panose="05050102010706020507" pitchFamily="18" charset="2"/>
            </a:endParaRPr>
          </a:p>
          <a:p>
            <a:pPr>
              <a:tabLst>
                <a:tab pos="1149350" algn="l"/>
                <a:tab pos="3311525" algn="ctr"/>
              </a:tabLst>
            </a:pPr>
            <a:r>
              <a:rPr lang="en-US" altLang="en-US" sz="2000" dirty="0">
                <a:sym typeface="Symbol" panose="05050102010706020507" pitchFamily="18" charset="2"/>
              </a:rPr>
              <a:t>Note that since the behavior of </a:t>
            </a:r>
            <a:r>
              <a:rPr lang="en-US" altLang="en-US" sz="2000" i="1" dirty="0">
                <a:sym typeface="Symbol" panose="05050102010706020507" pitchFamily="18" charset="2"/>
              </a:rPr>
              <a:t>Z</a:t>
            </a:r>
            <a:r>
              <a:rPr lang="en-US" altLang="en-US" sz="2000" dirty="0">
                <a:sym typeface="Symbol" panose="05050102010706020507" pitchFamily="18" charset="2"/>
              </a:rPr>
              <a:t> and </a:t>
            </a:r>
            <a:r>
              <a:rPr lang="en-US" altLang="en-US" sz="2000" i="1" dirty="0">
                <a:sym typeface="Symbol" panose="05050102010706020507" pitchFamily="18" charset="2"/>
              </a:rPr>
              <a:t>W</a:t>
            </a:r>
            <a:r>
              <a:rPr lang="en-US" altLang="en-US" sz="2000" dirty="0">
                <a:sym typeface="Symbol" panose="05050102010706020507" pitchFamily="18" charset="2"/>
              </a:rPr>
              <a:t> are identical it follows that </a:t>
            </a:r>
            <a:endParaRPr lang="en-US" altLang="en-US" sz="2000" dirty="0">
              <a:sym typeface="Symbol" panose="05050102010706020507" pitchFamily="18" charset="2"/>
            </a:endParaRPr>
          </a:p>
          <a:p>
            <a:pPr>
              <a:buFont typeface="Monotype Sorts" pitchFamily="-65" charset="2"/>
              <a:buNone/>
              <a:tabLst>
                <a:tab pos="1149350" algn="l"/>
                <a:tab pos="3311525" algn="ctr"/>
              </a:tabLst>
            </a:pPr>
            <a:r>
              <a:rPr lang="en-US" altLang="en-US" sz="2000" i="1" dirty="0">
                <a:sym typeface="Symbol" panose="05050102010706020507" pitchFamily="18" charset="2"/>
              </a:rPr>
              <a:t>	Y </a:t>
            </a:r>
            <a:r>
              <a:rPr lang="en-US" altLang="en-US" sz="2000" b="1" dirty="0">
                <a:sym typeface="Symbol" panose="05050102010706020507" pitchFamily="18" charset="2"/>
              </a:rPr>
              <a:t></a:t>
            </a:r>
            <a:r>
              <a:rPr lang="en-US" altLang="en-US" sz="2000" dirty="0">
                <a:sym typeface="Monotype Sorts" pitchFamily="-65" charset="2"/>
              </a:rPr>
              <a:t> </a:t>
            </a:r>
            <a:r>
              <a:rPr lang="en-US" altLang="en-US" sz="2000" i="1" dirty="0">
                <a:sym typeface="Monotype Sorts" pitchFamily="-65" charset="2"/>
              </a:rPr>
              <a:t>Z </a:t>
            </a:r>
            <a:r>
              <a:rPr lang="en-US" altLang="en-US" sz="2000" dirty="0">
                <a:sym typeface="Monotype Sorts" pitchFamily="-65" charset="2"/>
              </a:rPr>
              <a:t>if </a:t>
            </a:r>
            <a:r>
              <a:rPr lang="en-US" altLang="en-US" sz="2000" i="1" dirty="0">
                <a:sym typeface="Monotype Sorts" pitchFamily="-65" charset="2"/>
              </a:rPr>
              <a:t>Y</a:t>
            </a:r>
            <a:r>
              <a:rPr lang="en-US" altLang="en-US" sz="2000" dirty="0">
                <a:sym typeface="Monotype Sorts" pitchFamily="-65" charset="2"/>
              </a:rPr>
              <a:t> </a:t>
            </a:r>
            <a:r>
              <a:rPr lang="en-US" altLang="en-US" sz="2000" b="1" dirty="0">
                <a:sym typeface="Symbol" panose="05050102010706020507" pitchFamily="18" charset="2"/>
              </a:rPr>
              <a:t></a:t>
            </a:r>
            <a:r>
              <a:rPr lang="en-US" altLang="en-US" sz="2000" dirty="0">
                <a:sym typeface="Monotype Sorts" pitchFamily="-65" charset="2"/>
              </a:rPr>
              <a:t> </a:t>
            </a:r>
            <a:r>
              <a:rPr lang="en-US" altLang="en-US" sz="2000" i="1" dirty="0">
                <a:sym typeface="Monotype Sorts" pitchFamily="-65" charset="2"/>
              </a:rPr>
              <a:t>W </a:t>
            </a:r>
            <a:endParaRPr lang="en-US" altLang="en-US" sz="2000" i="1" dirty="0">
              <a:sym typeface="Monotype Sorts" pitchFamily="-65" charset="2"/>
            </a:endParaRPr>
          </a:p>
          <a:p>
            <a:pPr>
              <a:buFont typeface="Monotype Sorts" pitchFamily="-65" charset="2"/>
              <a:buNone/>
              <a:tabLst>
                <a:tab pos="1149350" algn="l"/>
                <a:tab pos="3311525" algn="ctr"/>
              </a:tabLst>
            </a:pPr>
            <a:endParaRPr lang="en-US" altLang="en-US" dirty="0">
              <a:sym typeface="Symbol" panose="05050102010706020507" pitchFamily="18" charset="2"/>
            </a:endParaRPr>
          </a:p>
          <a:p>
            <a:pPr>
              <a:buFont typeface="Monotype Sorts" pitchFamily="-65" charset="2"/>
              <a:buNone/>
              <a:tabLst>
                <a:tab pos="1149350" algn="l"/>
                <a:tab pos="3311525" algn="ctr"/>
              </a:tabLst>
            </a:pPr>
            <a:endParaRPr lang="en-US" altLang="en-US" dirty="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Example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  <a:ea typeface="MS PGothic" panose="020B0600070205080204" pitchFamily="34" charset="-128"/>
            </a:endParaRPr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49" y="1093789"/>
            <a:ext cx="7594415" cy="3430085"/>
          </a:xfrm>
        </p:spPr>
        <p:txBody>
          <a:bodyPr/>
          <a:lstStyle/>
          <a:p>
            <a:pPr>
              <a:tabLst>
                <a:tab pos="2463800" algn="l"/>
              </a:tabLst>
            </a:pPr>
            <a:r>
              <a:rPr lang="en-US" altLang="en-US" sz="2000" dirty="0"/>
              <a:t>In our example:</a:t>
            </a:r>
            <a:endParaRPr lang="en-US" altLang="en-US" sz="2000" dirty="0"/>
          </a:p>
          <a:p>
            <a:pPr>
              <a:buFont typeface="Monotype Sorts" pitchFamily="-65" charset="2"/>
              <a:buNone/>
              <a:tabLst>
                <a:tab pos="2463800" algn="l"/>
              </a:tabLst>
            </a:pPr>
            <a:r>
              <a:rPr lang="en-US" altLang="en-US" sz="2000" dirty="0"/>
              <a:t>		</a:t>
            </a:r>
            <a:r>
              <a:rPr lang="en-US" altLang="en-US" sz="2000" i="1" dirty="0"/>
              <a:t>ID </a:t>
            </a:r>
            <a:r>
              <a:rPr lang="en-US" altLang="en-US" sz="2000" b="1" dirty="0">
                <a:sym typeface="Symbol" panose="05050102010706020507" pitchFamily="18" charset="2"/>
              </a:rPr>
              <a:t></a:t>
            </a:r>
            <a:r>
              <a:rPr lang="en-US" altLang="en-US" sz="2000" dirty="0">
                <a:sym typeface="Monotype Sorts" pitchFamily="-65" charset="2"/>
              </a:rPr>
              <a:t> </a:t>
            </a:r>
            <a:r>
              <a:rPr lang="en-US" altLang="en-US" sz="2000" i="1" dirty="0" err="1">
                <a:sym typeface="Monotype Sorts" pitchFamily="-65" charset="2"/>
              </a:rPr>
              <a:t>child_name</a:t>
            </a:r>
            <a:r>
              <a:rPr lang="en-US" altLang="en-US" sz="2000" dirty="0">
                <a:sym typeface="Monotype Sorts" pitchFamily="-65" charset="2"/>
              </a:rPr>
              <a:t>	</a:t>
            </a:r>
            <a:br>
              <a:rPr lang="en-US" altLang="en-US" sz="2000" dirty="0">
                <a:sym typeface="Monotype Sorts" pitchFamily="-65" charset="2"/>
              </a:rPr>
            </a:br>
            <a:r>
              <a:rPr lang="en-US" altLang="en-US" sz="2000" dirty="0">
                <a:sym typeface="Monotype Sorts" pitchFamily="-65" charset="2"/>
              </a:rPr>
              <a:t>	</a:t>
            </a:r>
            <a:r>
              <a:rPr lang="en-US" altLang="en-US" sz="2000" i="1" dirty="0">
                <a:sym typeface="Monotype Sorts" pitchFamily="-65" charset="2"/>
              </a:rPr>
              <a:t>ID </a:t>
            </a:r>
            <a:r>
              <a:rPr lang="en-US" altLang="en-US" sz="2000" b="1" dirty="0">
                <a:sym typeface="Symbol" panose="05050102010706020507" pitchFamily="18" charset="2"/>
              </a:rPr>
              <a:t></a:t>
            </a:r>
            <a:r>
              <a:rPr lang="en-US" altLang="en-US" sz="2000" i="1" dirty="0">
                <a:sym typeface="Monotype Sorts" pitchFamily="-65" charset="2"/>
              </a:rPr>
              <a:t> </a:t>
            </a:r>
            <a:r>
              <a:rPr lang="en-US" altLang="en-US" sz="2000" i="1" dirty="0" err="1">
                <a:sym typeface="Monotype Sorts" pitchFamily="-65" charset="2"/>
              </a:rPr>
              <a:t>phone_number</a:t>
            </a:r>
            <a:endParaRPr lang="en-US" altLang="en-US" sz="2000" i="1" dirty="0">
              <a:sym typeface="Monotype Sorts" pitchFamily="-65" charset="2"/>
            </a:endParaRPr>
          </a:p>
          <a:p>
            <a:pPr>
              <a:tabLst>
                <a:tab pos="2463800" algn="l"/>
              </a:tabLst>
            </a:pPr>
            <a:r>
              <a:rPr lang="en-US" altLang="en-US" sz="2000" dirty="0">
                <a:sym typeface="Monotype Sorts" pitchFamily="-65" charset="2"/>
              </a:rPr>
              <a:t>The above formal definition is supposed to formalize the notion that given a particular value of </a:t>
            </a:r>
            <a:r>
              <a:rPr lang="en-US" altLang="en-US" sz="2000" i="1" dirty="0">
                <a:sym typeface="Monotype Sorts" pitchFamily="-65" charset="2"/>
              </a:rPr>
              <a:t>Y </a:t>
            </a:r>
            <a:r>
              <a:rPr lang="en-US" altLang="en-US" sz="2000" dirty="0">
                <a:sym typeface="Monotype Sorts" pitchFamily="-65" charset="2"/>
              </a:rPr>
              <a:t>(</a:t>
            </a:r>
            <a:r>
              <a:rPr lang="en-US" altLang="en-US" sz="2000" i="1" dirty="0">
                <a:sym typeface="Monotype Sorts" pitchFamily="-65" charset="2"/>
              </a:rPr>
              <a:t>ID</a:t>
            </a:r>
            <a:r>
              <a:rPr lang="en-US" altLang="en-US" sz="2000" dirty="0">
                <a:sym typeface="Monotype Sorts" pitchFamily="-65" charset="2"/>
              </a:rPr>
              <a:t>) it has associated with it a set of values of </a:t>
            </a:r>
            <a:r>
              <a:rPr lang="en-US" altLang="en-US" sz="2000" i="1" dirty="0">
                <a:sym typeface="Monotype Sorts" pitchFamily="-65" charset="2"/>
              </a:rPr>
              <a:t>Z (</a:t>
            </a:r>
            <a:r>
              <a:rPr lang="en-US" altLang="en-US" sz="2000" i="1" dirty="0" err="1">
                <a:sym typeface="Monotype Sorts" pitchFamily="-65" charset="2"/>
              </a:rPr>
              <a:t>child_name</a:t>
            </a:r>
            <a:r>
              <a:rPr lang="en-US" altLang="en-US" sz="2000" i="1" dirty="0">
                <a:sym typeface="Monotype Sorts" pitchFamily="-65" charset="2"/>
              </a:rPr>
              <a:t>) </a:t>
            </a:r>
            <a:r>
              <a:rPr lang="en-US" altLang="en-US" sz="2000" dirty="0">
                <a:sym typeface="Monotype Sorts" pitchFamily="-65" charset="2"/>
              </a:rPr>
              <a:t>and a set of values of </a:t>
            </a:r>
            <a:r>
              <a:rPr lang="en-US" altLang="en-US" sz="2000" i="1" dirty="0">
                <a:sym typeface="Monotype Sorts" pitchFamily="-65" charset="2"/>
              </a:rPr>
              <a:t>W (</a:t>
            </a:r>
            <a:r>
              <a:rPr lang="en-US" altLang="en-US" sz="2000" i="1" dirty="0" err="1">
                <a:sym typeface="Monotype Sorts" pitchFamily="-65" charset="2"/>
              </a:rPr>
              <a:t>phone_number</a:t>
            </a:r>
            <a:r>
              <a:rPr lang="en-US" altLang="en-US" sz="2000" i="1" dirty="0">
                <a:sym typeface="Monotype Sorts" pitchFamily="-65" charset="2"/>
              </a:rPr>
              <a:t>)</a:t>
            </a:r>
            <a:r>
              <a:rPr lang="en-US" altLang="en-US" sz="2000" dirty="0">
                <a:sym typeface="Monotype Sorts" pitchFamily="-65" charset="2"/>
              </a:rPr>
              <a:t>, and these two sets are in some sense independent of each other.</a:t>
            </a:r>
            <a:endParaRPr lang="en-US" altLang="en-US" sz="2000" dirty="0">
              <a:sym typeface="Monotype Sorts" pitchFamily="-65" charset="2"/>
            </a:endParaRPr>
          </a:p>
          <a:p>
            <a:pPr>
              <a:tabLst>
                <a:tab pos="2463800" algn="l"/>
              </a:tabLst>
            </a:pPr>
            <a:r>
              <a:rPr lang="en-US" altLang="en-US" sz="2000" dirty="0">
                <a:sym typeface="Monotype Sorts" pitchFamily="-65" charset="2"/>
              </a:rPr>
              <a:t>Note: </a:t>
            </a:r>
            <a:endParaRPr lang="en-US" altLang="en-US" sz="2000" dirty="0">
              <a:sym typeface="Monotype Sorts" pitchFamily="-65" charset="2"/>
            </a:endParaRPr>
          </a:p>
          <a:p>
            <a:pPr lvl="1">
              <a:tabLst>
                <a:tab pos="2463800" algn="l"/>
              </a:tabLst>
            </a:pPr>
            <a:r>
              <a:rPr lang="en-US" altLang="en-US" sz="2000" dirty="0">
                <a:sym typeface="Monotype Sorts" pitchFamily="-65" charset="2"/>
              </a:rPr>
              <a:t>If </a:t>
            </a:r>
            <a:r>
              <a:rPr lang="en-US" altLang="en-US" sz="2000" i="1" dirty="0">
                <a:sym typeface="Monotype Sorts" pitchFamily="-65" charset="2"/>
              </a:rPr>
              <a:t>Y </a:t>
            </a:r>
            <a:r>
              <a:rPr lang="en-US" altLang="en-US" sz="2000" dirty="0">
                <a:sym typeface="Symbol" panose="05050102010706020507" pitchFamily="18" charset="2"/>
              </a:rPr>
              <a:t></a:t>
            </a:r>
            <a:r>
              <a:rPr lang="en-US" altLang="en-US" sz="2000" dirty="0">
                <a:sym typeface="Monotype Sorts" pitchFamily="-65" charset="2"/>
              </a:rPr>
              <a:t> </a:t>
            </a:r>
            <a:r>
              <a:rPr lang="en-US" altLang="en-US" sz="2000" i="1" dirty="0">
                <a:sym typeface="Monotype Sorts" pitchFamily="-65" charset="2"/>
              </a:rPr>
              <a:t>Z </a:t>
            </a:r>
            <a:r>
              <a:rPr lang="en-US" altLang="en-US" sz="2000" dirty="0">
                <a:sym typeface="Monotype Sorts" pitchFamily="-65" charset="2"/>
              </a:rPr>
              <a:t> then  </a:t>
            </a:r>
            <a:r>
              <a:rPr lang="en-US" altLang="en-US" sz="2000" i="1" dirty="0">
                <a:sym typeface="Monotype Sorts" pitchFamily="-65" charset="2"/>
              </a:rPr>
              <a:t>Y </a:t>
            </a:r>
            <a:r>
              <a:rPr lang="en-US" altLang="en-US" sz="2000" b="1" dirty="0">
                <a:sym typeface="Symbol" panose="05050102010706020507" pitchFamily="18" charset="2"/>
              </a:rPr>
              <a:t></a:t>
            </a:r>
            <a:r>
              <a:rPr lang="en-US" altLang="en-US" sz="2000" dirty="0">
                <a:sym typeface="Monotype Sorts" pitchFamily="-65" charset="2"/>
              </a:rPr>
              <a:t> </a:t>
            </a:r>
            <a:r>
              <a:rPr lang="en-US" altLang="en-US" sz="2000" i="1" dirty="0">
                <a:sym typeface="Monotype Sorts" pitchFamily="-65" charset="2"/>
              </a:rPr>
              <a:t>Z</a:t>
            </a:r>
            <a:endParaRPr lang="en-US" altLang="en-US" sz="2000" dirty="0">
              <a:sym typeface="Monotype Sorts" pitchFamily="-65" charset="2"/>
            </a:endParaRPr>
          </a:p>
          <a:p>
            <a:pPr lvl="1">
              <a:tabLst>
                <a:tab pos="2463800" algn="l"/>
              </a:tabLst>
            </a:pPr>
            <a:r>
              <a:rPr lang="en-US" altLang="en-US" sz="2000" dirty="0">
                <a:sym typeface="Monotype Sorts" pitchFamily="-65" charset="2"/>
              </a:rPr>
              <a:t>Indeed we have (in above notation) </a:t>
            </a:r>
            <a:r>
              <a:rPr lang="en-US" altLang="en-US" sz="2000" i="1" dirty="0">
                <a:sym typeface="Monotype Sorts" pitchFamily="-65" charset="2"/>
              </a:rPr>
              <a:t>Z</a:t>
            </a:r>
            <a:r>
              <a:rPr lang="en-US" altLang="en-US" sz="2000" baseline="-25000" dirty="0">
                <a:sym typeface="Monotype Sorts" pitchFamily="-65" charset="2"/>
              </a:rPr>
              <a:t>1</a:t>
            </a:r>
            <a:r>
              <a:rPr lang="en-US" altLang="en-US" sz="2000" i="1" dirty="0">
                <a:sym typeface="Monotype Sorts" pitchFamily="-65" charset="2"/>
              </a:rPr>
              <a:t> = Z</a:t>
            </a:r>
            <a:r>
              <a:rPr lang="en-US" altLang="en-US" sz="2000" baseline="-25000" dirty="0">
                <a:sym typeface="Monotype Sorts" pitchFamily="-65" charset="2"/>
              </a:rPr>
              <a:t>2</a:t>
            </a:r>
            <a:br>
              <a:rPr lang="en-US" altLang="en-US" sz="2000" baseline="-25000" dirty="0">
                <a:sym typeface="Monotype Sorts" pitchFamily="-65" charset="2"/>
              </a:rPr>
            </a:br>
            <a:r>
              <a:rPr lang="en-US" altLang="en-US" sz="2000" dirty="0">
                <a:sym typeface="Monotype Sorts" pitchFamily="-65" charset="2"/>
              </a:rPr>
              <a:t>The claim follows.</a:t>
            </a:r>
            <a:endParaRPr lang="en-US" altLang="en-US" sz="2000" dirty="0">
              <a:sym typeface="Monotype Sorts" pitchFamily="-65" charset="2"/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Use of Multivalued Dependencies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  <a:ea typeface="MS PGothic" panose="020B0600070205080204" pitchFamily="34" charset="-128"/>
            </a:endParaRPr>
          </a:p>
        </p:txBody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093788"/>
            <a:ext cx="7638802" cy="2900696"/>
          </a:xfrm>
        </p:spPr>
        <p:txBody>
          <a:bodyPr/>
          <a:lstStyle/>
          <a:p>
            <a:r>
              <a:rPr lang="en-US" altLang="en-US" sz="2000" dirty="0"/>
              <a:t>We use multivalued dependencies in two ways: </a:t>
            </a:r>
            <a:endParaRPr lang="en-US" altLang="en-US" sz="2000" dirty="0"/>
          </a:p>
          <a:p>
            <a:pPr lvl="1">
              <a:buFont typeface="Monotype Sorts" pitchFamily="-65" charset="2"/>
              <a:buNone/>
            </a:pPr>
            <a:r>
              <a:rPr lang="en-US" altLang="en-US" sz="2000" dirty="0"/>
              <a:t>1.	To test relations to </a:t>
            </a:r>
            <a:r>
              <a:rPr lang="en-US" altLang="en-US" sz="2000" b="1" dirty="0">
                <a:solidFill>
                  <a:srgbClr val="002060"/>
                </a:solidFill>
              </a:rPr>
              <a:t>determine</a:t>
            </a:r>
            <a:r>
              <a:rPr lang="en-US" altLang="en-US" sz="2000" dirty="0"/>
              <a:t> whether they are legal under a given set of functional and multivalued dependencies</a:t>
            </a:r>
            <a:endParaRPr lang="en-US" altLang="en-US" sz="2000" dirty="0"/>
          </a:p>
          <a:p>
            <a:pPr lvl="1">
              <a:buFont typeface="Monotype Sorts" pitchFamily="-65" charset="2"/>
              <a:buNone/>
            </a:pPr>
            <a:r>
              <a:rPr lang="en-US" altLang="en-US" sz="2000" dirty="0"/>
              <a:t>2.	To specify </a:t>
            </a:r>
            <a:r>
              <a:rPr lang="en-US" altLang="en-US" sz="2000" b="1" dirty="0">
                <a:solidFill>
                  <a:srgbClr val="002060"/>
                </a:solidFill>
              </a:rPr>
              <a:t>constraints</a:t>
            </a:r>
            <a:r>
              <a:rPr lang="en-US" altLang="en-US" sz="2000" dirty="0"/>
              <a:t> on the set of legal relations.  We shall concern ourselves </a:t>
            </a:r>
            <a:r>
              <a:rPr lang="en-US" altLang="en-US" sz="2000" i="1" dirty="0"/>
              <a:t>only</a:t>
            </a:r>
            <a:r>
              <a:rPr lang="en-US" altLang="en-US" sz="2000" dirty="0"/>
              <a:t> with relations that satisfy a given set of functional and multivalued dependencies.</a:t>
            </a:r>
            <a:endParaRPr lang="en-US" altLang="en-US" sz="2000" dirty="0"/>
          </a:p>
          <a:p>
            <a:r>
              <a:rPr lang="en-US" altLang="en-US" sz="2000" dirty="0"/>
              <a:t>If a relation </a:t>
            </a:r>
            <a:r>
              <a:rPr lang="en-US" altLang="en-US" sz="2000" i="1" dirty="0"/>
              <a:t>r</a:t>
            </a:r>
            <a:r>
              <a:rPr lang="en-US" altLang="en-US" sz="2000" dirty="0"/>
              <a:t> fails to satisfy a given multivalued dependency, we can construct a relations </a:t>
            </a:r>
            <a:r>
              <a:rPr lang="en-US" altLang="en-US" sz="2000" i="1" dirty="0"/>
              <a:t>r</a:t>
            </a:r>
            <a:r>
              <a:rPr lang="en-US" altLang="en-US" sz="2000" i="1" dirty="0">
                <a:sym typeface="Symbol" panose="05050102010706020507" pitchFamily="18" charset="2"/>
              </a:rPr>
              <a:t></a:t>
            </a:r>
            <a:r>
              <a:rPr lang="en-US" altLang="en-US" sz="2000" dirty="0">
                <a:sym typeface="Symbol" panose="05050102010706020507" pitchFamily="18" charset="2"/>
              </a:rPr>
              <a:t>  that does satisfy the multivalued dependency by adding tuples to </a:t>
            </a:r>
            <a:r>
              <a:rPr lang="en-US" altLang="en-US" sz="2000" i="1" dirty="0">
                <a:sym typeface="Symbol" panose="05050102010706020507" pitchFamily="18" charset="2"/>
              </a:rPr>
              <a:t>r. </a:t>
            </a:r>
            <a:endParaRPr lang="en-US" altLang="en-US" sz="2000" dirty="0"/>
          </a:p>
          <a:p>
            <a:pPr>
              <a:buFont typeface="Monotype Sorts" pitchFamily="-65" charset="2"/>
              <a:buNone/>
            </a:pPr>
            <a:r>
              <a:rPr lang="en-US" altLang="en-US" dirty="0"/>
              <a:t>		</a:t>
            </a:r>
            <a:endParaRPr lang="en-US" altLang="en-US" dirty="0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Theory of MVDs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  <a:ea typeface="MS PGothic" panose="020B0600070205080204" pitchFamily="34" charset="-128"/>
            </a:endParaRPr>
          </a:p>
        </p:txBody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097449"/>
            <a:ext cx="7621048" cy="3956398"/>
          </a:xfrm>
        </p:spPr>
        <p:txBody>
          <a:bodyPr/>
          <a:lstStyle/>
          <a:p>
            <a:r>
              <a:rPr lang="en-US" altLang="en-US" sz="2000" dirty="0"/>
              <a:t>From the definition of multivalued dependency, we can derive the following rule:</a:t>
            </a:r>
            <a:endParaRPr lang="en-US" altLang="en-US" sz="2000" dirty="0"/>
          </a:p>
          <a:p>
            <a:pPr lvl="1"/>
            <a:r>
              <a:rPr lang="en-US" altLang="en-US" sz="2000" dirty="0"/>
              <a:t>If </a:t>
            </a:r>
            <a:r>
              <a:rPr lang="en-US" altLang="en-US" sz="2000" dirty="0">
                <a:sym typeface="Symbol" panose="05050102010706020507" pitchFamily="18" charset="2"/>
              </a:rPr>
              <a:t>  </a:t>
            </a:r>
            <a:r>
              <a:rPr lang="en-US" altLang="en-US" sz="2000" dirty="0"/>
              <a:t>, then </a:t>
            </a:r>
            <a:r>
              <a:rPr lang="en-US" altLang="en-US" sz="2000" dirty="0">
                <a:sym typeface="Symbol" panose="05050102010706020507" pitchFamily="18" charset="2"/>
              </a:rPr>
              <a:t> </a:t>
            </a:r>
            <a:r>
              <a:rPr lang="en-US" altLang="en-US" sz="2000" b="1" dirty="0">
                <a:sym typeface="Symbol" panose="05050102010706020507" pitchFamily="18" charset="2"/>
              </a:rPr>
              <a:t></a:t>
            </a:r>
            <a:r>
              <a:rPr lang="en-US" altLang="en-US" sz="2000" dirty="0">
                <a:sym typeface="Symbol" panose="05050102010706020507" pitchFamily="18" charset="2"/>
              </a:rPr>
              <a:t> </a:t>
            </a:r>
            <a:endParaRPr lang="en-US" altLang="en-US" sz="2000" dirty="0"/>
          </a:p>
          <a:p>
            <a:pPr>
              <a:buFont typeface="Monotype Sorts" pitchFamily="-65" charset="2"/>
              <a:buNone/>
            </a:pPr>
            <a:r>
              <a:rPr lang="en-US" altLang="en-US" sz="2000" dirty="0"/>
              <a:t>	That is, every functional dependency is also a multivalued dependency</a:t>
            </a:r>
            <a:endParaRPr lang="en-US" altLang="en-US" sz="2000" dirty="0"/>
          </a:p>
          <a:p>
            <a:r>
              <a:rPr lang="en-US" altLang="en-US" sz="2000" dirty="0"/>
              <a:t>The </a:t>
            </a:r>
            <a:r>
              <a:rPr lang="en-US" altLang="en-US" sz="2000" b="1" dirty="0">
                <a:solidFill>
                  <a:srgbClr val="002060"/>
                </a:solidFill>
              </a:rPr>
              <a:t>closure</a:t>
            </a:r>
            <a:r>
              <a:rPr lang="en-US" altLang="en-US" sz="2000" dirty="0"/>
              <a:t> D</a:t>
            </a:r>
            <a:r>
              <a:rPr lang="en-US" altLang="en-US" sz="2000" baseline="30000" dirty="0"/>
              <a:t>+</a:t>
            </a:r>
            <a:r>
              <a:rPr lang="en-US" altLang="en-US" sz="2000" dirty="0"/>
              <a:t> of </a:t>
            </a:r>
            <a:r>
              <a:rPr lang="en-US" altLang="en-US" sz="2000" i="1" dirty="0"/>
              <a:t>D</a:t>
            </a:r>
            <a:r>
              <a:rPr lang="en-US" altLang="en-US" sz="2000" dirty="0"/>
              <a:t> is the set of all functional and multivalued dependencies logically implied by </a:t>
            </a:r>
            <a:r>
              <a:rPr lang="en-US" altLang="en-US" sz="2000" i="1" dirty="0"/>
              <a:t>D</a:t>
            </a:r>
            <a:r>
              <a:rPr lang="en-US" altLang="en-US" sz="2000" dirty="0"/>
              <a:t>. </a:t>
            </a:r>
            <a:endParaRPr lang="en-US" altLang="en-US" sz="2000" dirty="0"/>
          </a:p>
          <a:p>
            <a:pPr lvl="1"/>
            <a:r>
              <a:rPr lang="en-US" altLang="en-US" sz="2000" dirty="0"/>
              <a:t>We can compute D</a:t>
            </a:r>
            <a:r>
              <a:rPr lang="en-US" altLang="en-US" sz="2000" baseline="30000" dirty="0"/>
              <a:t>+</a:t>
            </a:r>
            <a:r>
              <a:rPr lang="en-US" altLang="en-US" sz="2000" dirty="0"/>
              <a:t> from </a:t>
            </a:r>
            <a:r>
              <a:rPr lang="en-US" altLang="en-US" sz="2000" i="1" dirty="0"/>
              <a:t>D</a:t>
            </a:r>
            <a:r>
              <a:rPr lang="en-US" altLang="en-US" sz="2000" dirty="0"/>
              <a:t>, using the formal definitions of functional dependencies and multivalued dependencies.</a:t>
            </a:r>
            <a:endParaRPr lang="en-US" altLang="en-US" sz="2000" dirty="0"/>
          </a:p>
          <a:p>
            <a:pPr lvl="1"/>
            <a:r>
              <a:rPr lang="en-US" altLang="en-US" sz="2000" dirty="0"/>
              <a:t>We can manage with such reasoning for very simple multivalued dependencies, which seem to be most common in practice</a:t>
            </a:r>
            <a:endParaRPr lang="en-US" altLang="en-US" sz="2000" dirty="0"/>
          </a:p>
          <a:p>
            <a:pPr lvl="1"/>
            <a:r>
              <a:rPr lang="en-US" altLang="en-US" sz="2000" dirty="0"/>
              <a:t>For complex dependencies, it is better to reason about sets of dependencies using a system of inference rules (Appendix C).</a:t>
            </a:r>
            <a:endParaRPr lang="en-US" altLang="en-US" sz="2000" dirty="0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Fourth Normal Form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  <a:ea typeface="MS PGothic" panose="020B0600070205080204" pitchFamily="34" charset="-128"/>
            </a:endParaRPr>
          </a:p>
        </p:txBody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92614"/>
            <a:ext cx="7594415" cy="2241299"/>
          </a:xfrm>
        </p:spPr>
        <p:txBody>
          <a:bodyPr/>
          <a:lstStyle/>
          <a:p>
            <a:r>
              <a:rPr lang="en-US" altLang="en-US" sz="2400" dirty="0"/>
              <a:t>A relation schema </a:t>
            </a:r>
            <a:r>
              <a:rPr lang="en-US" altLang="en-US" sz="2400" i="1" dirty="0"/>
              <a:t>R</a:t>
            </a:r>
            <a:r>
              <a:rPr lang="en-US" altLang="en-US" sz="2400" dirty="0"/>
              <a:t> is in </a:t>
            </a:r>
            <a:r>
              <a:rPr lang="en-US" altLang="en-US" sz="2400" b="1" dirty="0">
                <a:solidFill>
                  <a:srgbClr val="002060"/>
                </a:solidFill>
              </a:rPr>
              <a:t>4NF</a:t>
            </a:r>
            <a:r>
              <a:rPr lang="en-US" altLang="en-US" sz="2400" dirty="0"/>
              <a:t> with respect to a set </a:t>
            </a:r>
            <a:r>
              <a:rPr lang="en-US" altLang="en-US" sz="2400" i="1" dirty="0"/>
              <a:t>D</a:t>
            </a:r>
            <a:r>
              <a:rPr lang="en-US" altLang="en-US" sz="2400" dirty="0"/>
              <a:t> of functional and multivalued dependencies if for all multivalued dependencies in </a:t>
            </a:r>
            <a:r>
              <a:rPr lang="en-US" altLang="en-US" sz="2400" i="1" dirty="0"/>
              <a:t>D</a:t>
            </a:r>
            <a:r>
              <a:rPr lang="en-US" altLang="en-US" sz="2400" baseline="30000" dirty="0"/>
              <a:t>+</a:t>
            </a:r>
            <a:r>
              <a:rPr lang="en-US" altLang="en-US" sz="2400" dirty="0"/>
              <a:t> of the form </a:t>
            </a:r>
            <a:r>
              <a:rPr lang="en-US" altLang="en-US" sz="2400" dirty="0">
                <a:sym typeface="Symbol" panose="05050102010706020507" pitchFamily="18" charset="2"/>
              </a:rPr>
              <a:t></a:t>
            </a:r>
            <a:r>
              <a:rPr lang="en-US" altLang="en-US" sz="2400" dirty="0">
                <a:sym typeface="Greek Symbols"/>
              </a:rPr>
              <a:t> </a:t>
            </a:r>
            <a:r>
              <a:rPr lang="en-US" altLang="en-US" sz="2400" b="1" dirty="0">
                <a:sym typeface="Symbol" panose="05050102010706020507" pitchFamily="18" charset="2"/>
              </a:rPr>
              <a:t></a:t>
            </a:r>
            <a:r>
              <a:rPr lang="en-US" altLang="en-US" sz="2400" i="1" dirty="0">
                <a:sym typeface="Monotype Sorts" pitchFamily="-65" charset="2"/>
              </a:rPr>
              <a:t> </a:t>
            </a:r>
            <a:r>
              <a:rPr lang="en-US" altLang="en-US" sz="2400" dirty="0">
                <a:sym typeface="Symbol" panose="05050102010706020507" pitchFamily="18" charset="2"/>
              </a:rPr>
              <a:t></a:t>
            </a:r>
            <a:r>
              <a:rPr lang="en-US" altLang="en-US" sz="2400" dirty="0">
                <a:sym typeface="Greek Symbols"/>
              </a:rPr>
              <a:t>, where </a:t>
            </a:r>
            <a:r>
              <a:rPr lang="en-US" altLang="en-US" sz="2400" dirty="0">
                <a:sym typeface="Symbol" panose="05050102010706020507" pitchFamily="18" charset="2"/>
              </a:rPr>
              <a:t></a:t>
            </a:r>
            <a:r>
              <a:rPr lang="en-US" altLang="en-US" sz="2400" dirty="0">
                <a:sym typeface="Greek Symbols"/>
              </a:rPr>
              <a:t> </a:t>
            </a:r>
            <a:r>
              <a:rPr lang="en-US" altLang="en-US" sz="2400" dirty="0">
                <a:sym typeface="Symbol" panose="05050102010706020507" pitchFamily="18" charset="2"/>
              </a:rPr>
              <a:t> </a:t>
            </a:r>
            <a:r>
              <a:rPr lang="en-US" altLang="en-US" sz="2400" i="1" dirty="0">
                <a:sym typeface="Symbol" panose="05050102010706020507" pitchFamily="18" charset="2"/>
              </a:rPr>
              <a:t>R</a:t>
            </a:r>
            <a:r>
              <a:rPr lang="en-US" altLang="en-US" sz="2400" dirty="0">
                <a:sym typeface="Symbol" panose="05050102010706020507" pitchFamily="18" charset="2"/>
              </a:rPr>
              <a:t> and </a:t>
            </a:r>
            <a:r>
              <a:rPr lang="en-US" altLang="en-US" sz="2400" i="1" dirty="0">
                <a:sym typeface="Greek Symbols"/>
              </a:rPr>
              <a:t> </a:t>
            </a:r>
            <a:r>
              <a:rPr lang="en-US" altLang="en-US" sz="2400" dirty="0">
                <a:sym typeface="Symbol" panose="05050102010706020507" pitchFamily="18" charset="2"/>
              </a:rPr>
              <a:t> </a:t>
            </a:r>
            <a:r>
              <a:rPr lang="en-US" altLang="en-US" sz="2400" i="1" dirty="0">
                <a:sym typeface="Symbol" panose="05050102010706020507" pitchFamily="18" charset="2"/>
              </a:rPr>
              <a:t>R, </a:t>
            </a:r>
            <a:r>
              <a:rPr lang="en-US" altLang="en-US" sz="2400" dirty="0">
                <a:sym typeface="Symbol" panose="05050102010706020507" pitchFamily="18" charset="2"/>
              </a:rPr>
              <a:t>at least one of the following hold:</a:t>
            </a:r>
            <a:endParaRPr lang="en-US" altLang="en-US" sz="2400" dirty="0">
              <a:sym typeface="Symbol" panose="05050102010706020507" pitchFamily="18" charset="2"/>
            </a:endParaRPr>
          </a:p>
          <a:p>
            <a:pPr lvl="1"/>
            <a:r>
              <a:rPr lang="en-US" altLang="en-US" sz="2400" dirty="0">
                <a:sym typeface="Symbol" panose="05050102010706020507" pitchFamily="18" charset="2"/>
              </a:rPr>
              <a:t></a:t>
            </a:r>
            <a:r>
              <a:rPr lang="en-US" altLang="en-US" sz="2400" dirty="0">
                <a:sym typeface="Greek Symbols"/>
              </a:rPr>
              <a:t> </a:t>
            </a:r>
            <a:r>
              <a:rPr lang="en-US" altLang="en-US" sz="2400" b="1" dirty="0">
                <a:sym typeface="Symbol" panose="05050102010706020507" pitchFamily="18" charset="2"/>
              </a:rPr>
              <a:t></a:t>
            </a:r>
            <a:r>
              <a:rPr lang="en-US" altLang="en-US" sz="2400" i="1" dirty="0">
                <a:sym typeface="Monotype Sorts" pitchFamily="-65" charset="2"/>
              </a:rPr>
              <a:t> </a:t>
            </a:r>
            <a:r>
              <a:rPr lang="en-US" altLang="en-US" sz="2400" dirty="0">
                <a:sym typeface="Symbol" panose="05050102010706020507" pitchFamily="18" charset="2"/>
              </a:rPr>
              <a:t></a:t>
            </a:r>
            <a:r>
              <a:rPr lang="en-US" altLang="en-US" sz="2400" dirty="0">
                <a:sym typeface="Greek Symbols"/>
              </a:rPr>
              <a:t> is trivial (i.e., </a:t>
            </a:r>
            <a:r>
              <a:rPr lang="en-US" altLang="en-US" sz="2400" dirty="0">
                <a:sym typeface="Symbol" panose="05050102010706020507" pitchFamily="18" charset="2"/>
              </a:rPr>
              <a:t></a:t>
            </a:r>
            <a:r>
              <a:rPr lang="en-US" altLang="en-US" sz="2400" i="1" dirty="0">
                <a:sym typeface="Greek Symbols"/>
              </a:rPr>
              <a:t> </a:t>
            </a:r>
            <a:r>
              <a:rPr lang="en-US" altLang="en-US" sz="2400" dirty="0">
                <a:sym typeface="Symbol" panose="05050102010706020507" pitchFamily="18" charset="2"/>
              </a:rPr>
              <a:t> </a:t>
            </a:r>
            <a:r>
              <a:rPr lang="en-US" altLang="en-US" sz="2400" dirty="0">
                <a:sym typeface="Greek Symbols"/>
              </a:rPr>
              <a:t> or </a:t>
            </a:r>
            <a:r>
              <a:rPr lang="en-US" altLang="en-US" sz="2400" dirty="0">
                <a:sym typeface="Symbol" panose="05050102010706020507" pitchFamily="18" charset="2"/>
              </a:rPr>
              <a:t></a:t>
            </a:r>
            <a:r>
              <a:rPr lang="en-US" altLang="en-US" sz="2400" dirty="0">
                <a:sym typeface="Greek Symbols"/>
              </a:rPr>
              <a:t> </a:t>
            </a:r>
            <a:r>
              <a:rPr lang="en-US" altLang="en-US" sz="2400" dirty="0">
                <a:sym typeface="Symbol" panose="05050102010706020507" pitchFamily="18" charset="2"/>
              </a:rPr>
              <a:t> </a:t>
            </a:r>
            <a:r>
              <a:rPr lang="en-US" altLang="en-US" sz="2400" i="1" dirty="0">
                <a:sym typeface="Greek Symbols"/>
              </a:rPr>
              <a:t> = R)</a:t>
            </a:r>
            <a:endParaRPr lang="en-US" altLang="en-US" sz="2400" i="1" dirty="0">
              <a:sym typeface="Greek Symbols"/>
            </a:endParaRPr>
          </a:p>
          <a:p>
            <a:pPr lvl="1"/>
            <a:r>
              <a:rPr lang="en-US" altLang="en-US" sz="2400" dirty="0">
                <a:sym typeface="Symbol" panose="05050102010706020507" pitchFamily="18" charset="2"/>
              </a:rPr>
              <a:t></a:t>
            </a:r>
            <a:r>
              <a:rPr lang="en-US" altLang="en-US" sz="2400" dirty="0">
                <a:sym typeface="Greek Symbols"/>
              </a:rPr>
              <a:t> is a </a:t>
            </a:r>
            <a:r>
              <a:rPr lang="en-US" altLang="en-US" sz="2400" dirty="0" err="1">
                <a:sym typeface="Greek Symbols"/>
              </a:rPr>
              <a:t>superkey</a:t>
            </a:r>
            <a:r>
              <a:rPr lang="en-US" altLang="en-US" sz="2400" dirty="0">
                <a:sym typeface="Greek Symbols"/>
              </a:rPr>
              <a:t> for schema </a:t>
            </a:r>
            <a:r>
              <a:rPr lang="en-US" altLang="en-US" sz="2400" i="1" dirty="0">
                <a:sym typeface="Greek Symbols"/>
              </a:rPr>
              <a:t>R</a:t>
            </a:r>
            <a:endParaRPr lang="en-US" altLang="en-US" sz="2400" i="1" dirty="0">
              <a:sym typeface="Greek Symbols"/>
            </a:endParaRPr>
          </a:p>
          <a:p>
            <a:r>
              <a:rPr lang="en-US" altLang="en-US" sz="2400" dirty="0">
                <a:sym typeface="Greek Symbols"/>
              </a:rPr>
              <a:t>If a relation is in 4NF it is in BCNF</a:t>
            </a:r>
            <a:endParaRPr lang="en-US" altLang="en-US" sz="2400" dirty="0">
              <a:sym typeface="Greek Symbols"/>
            </a:endParaRP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314" name="Rectangle 2"/>
          <p:cNvSpPr>
            <a:spLocks noGrp="1" noChangeArrowheads="1"/>
          </p:cNvSpPr>
          <p:nvPr>
            <p:ph type="title"/>
          </p:nvPr>
        </p:nvSpPr>
        <p:spPr>
          <a:xfrm>
            <a:off x="873125" y="79375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Restriction of Multivalued Dependencies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  <a:ea typeface="MS PGothic" panose="020B0600070205080204" pitchFamily="34" charset="-128"/>
            </a:endParaRPr>
          </a:p>
        </p:txBody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3480" y="1093788"/>
            <a:ext cx="7964851" cy="2359275"/>
          </a:xfrm>
        </p:spPr>
        <p:txBody>
          <a:bodyPr/>
          <a:lstStyle/>
          <a:p>
            <a:r>
              <a:rPr lang="en-US" altLang="en-US" sz="2400" dirty="0"/>
              <a:t>The restriction of  D to R</a:t>
            </a:r>
            <a:r>
              <a:rPr lang="en-US" altLang="en-US" sz="2400" baseline="-25000" dirty="0"/>
              <a:t>i</a:t>
            </a:r>
            <a:r>
              <a:rPr lang="en-US" altLang="en-US" sz="2400" dirty="0"/>
              <a:t> is the set D</a:t>
            </a:r>
            <a:r>
              <a:rPr lang="en-US" altLang="en-US" sz="2400" baseline="-25000" dirty="0"/>
              <a:t>i</a:t>
            </a:r>
            <a:r>
              <a:rPr lang="en-US" altLang="en-US" sz="2400" dirty="0"/>
              <a:t> consisting of</a:t>
            </a:r>
            <a:endParaRPr lang="en-US" altLang="en-US" sz="2400" dirty="0"/>
          </a:p>
          <a:p>
            <a:pPr lvl="1"/>
            <a:r>
              <a:rPr lang="en-US" altLang="en-US" sz="2400" dirty="0"/>
              <a:t>All functional dependencies in D</a:t>
            </a:r>
            <a:r>
              <a:rPr lang="en-US" altLang="en-US" sz="2400" baseline="30000" dirty="0"/>
              <a:t>+</a:t>
            </a:r>
            <a:r>
              <a:rPr lang="en-US" altLang="en-US" sz="2400" dirty="0"/>
              <a:t> that include only attributes of R</a:t>
            </a:r>
            <a:r>
              <a:rPr lang="en-US" altLang="en-US" sz="2400" baseline="-25000" dirty="0"/>
              <a:t>i</a:t>
            </a:r>
            <a:endParaRPr lang="en-US" altLang="en-US" sz="2400" baseline="-25000" dirty="0"/>
          </a:p>
          <a:p>
            <a:pPr lvl="1"/>
            <a:r>
              <a:rPr lang="en-US" altLang="en-US" sz="2400" dirty="0"/>
              <a:t>All multivalued dependencies of the form</a:t>
            </a:r>
            <a:endParaRPr lang="en-US" altLang="en-US" sz="2400" dirty="0"/>
          </a:p>
          <a:p>
            <a:pPr lvl="2">
              <a:buFont typeface="Webdings" panose="05030102010509060703" pitchFamily="18" charset="2"/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   </a:t>
            </a:r>
            <a:r>
              <a:rPr lang="en-US" altLang="en-US" sz="2400" dirty="0">
                <a:sym typeface="Greek Symbols"/>
              </a:rPr>
              <a:t> </a:t>
            </a:r>
            <a:r>
              <a:rPr lang="en-US" altLang="en-US" sz="2400" b="1" dirty="0">
                <a:sym typeface="Symbol" panose="05050102010706020507" pitchFamily="18" charset="2"/>
              </a:rPr>
              <a:t></a:t>
            </a:r>
            <a:r>
              <a:rPr lang="en-US" altLang="en-US" sz="2400" i="1" dirty="0">
                <a:sym typeface="Monotype Sorts" pitchFamily="-65" charset="2"/>
              </a:rPr>
              <a:t> (</a:t>
            </a:r>
            <a:r>
              <a:rPr lang="en-US" altLang="en-US" sz="2400" dirty="0">
                <a:sym typeface="Symbol" panose="05050102010706020507" pitchFamily="18" charset="2"/>
              </a:rPr>
              <a:t> </a:t>
            </a:r>
            <a:r>
              <a:rPr lang="en-US" altLang="en-US" sz="2400" dirty="0">
                <a:sym typeface="Greek Symbols"/>
              </a:rPr>
              <a:t> </a:t>
            </a:r>
            <a:r>
              <a:rPr lang="en-US" altLang="en-US" sz="2400" dirty="0"/>
              <a:t>R</a:t>
            </a:r>
            <a:r>
              <a:rPr lang="en-US" altLang="en-US" sz="2400" baseline="-25000" dirty="0"/>
              <a:t>i</a:t>
            </a:r>
            <a:r>
              <a:rPr lang="en-US" altLang="en-US" sz="2400" dirty="0"/>
              <a:t>)</a:t>
            </a:r>
            <a:endParaRPr lang="en-US" altLang="en-US" sz="2400" baseline="-25000" dirty="0"/>
          </a:p>
          <a:p>
            <a:pPr lvl="1">
              <a:buFont typeface="Monotype Sorts" pitchFamily="-65" charset="2"/>
              <a:buNone/>
            </a:pPr>
            <a:r>
              <a:rPr lang="en-US" altLang="en-US" sz="2400" dirty="0"/>
              <a:t>    where </a:t>
            </a:r>
            <a:r>
              <a:rPr lang="en-US" altLang="en-US" sz="2400" dirty="0">
                <a:sym typeface="Symbol" panose="05050102010706020507" pitchFamily="18" charset="2"/>
              </a:rPr>
              <a:t></a:t>
            </a:r>
            <a:r>
              <a:rPr lang="en-US" altLang="en-US" sz="2400" dirty="0"/>
              <a:t> </a:t>
            </a:r>
            <a:r>
              <a:rPr lang="en-US" altLang="en-US" sz="2400" dirty="0">
                <a:sym typeface="Symbol" panose="05050102010706020507" pitchFamily="18" charset="2"/>
              </a:rPr>
              <a:t></a:t>
            </a:r>
            <a:r>
              <a:rPr lang="en-US" altLang="en-US" sz="2400" dirty="0"/>
              <a:t> R</a:t>
            </a:r>
            <a:r>
              <a:rPr lang="en-US" altLang="en-US" sz="2400" baseline="-25000" dirty="0"/>
              <a:t>i </a:t>
            </a:r>
            <a:r>
              <a:rPr lang="en-US" altLang="en-US" sz="2400" dirty="0"/>
              <a:t> and  </a:t>
            </a:r>
            <a:r>
              <a:rPr lang="en-US" altLang="en-US" sz="2400" dirty="0">
                <a:sym typeface="Symbol" panose="05050102010706020507" pitchFamily="18" charset="2"/>
              </a:rPr>
              <a:t></a:t>
            </a:r>
            <a:r>
              <a:rPr lang="en-US" altLang="en-US" sz="2400" dirty="0"/>
              <a:t> </a:t>
            </a:r>
            <a:r>
              <a:rPr lang="en-US" altLang="en-US" sz="2400" b="1" dirty="0">
                <a:sym typeface="Symbol" panose="05050102010706020507" pitchFamily="18" charset="2"/>
              </a:rPr>
              <a:t></a:t>
            </a:r>
            <a:r>
              <a:rPr lang="en-US" altLang="en-US" sz="2400" dirty="0"/>
              <a:t> </a:t>
            </a:r>
            <a:r>
              <a:rPr lang="en-US" altLang="en-US" sz="2400" dirty="0">
                <a:sym typeface="Symbol" panose="05050102010706020507" pitchFamily="18" charset="2"/>
              </a:rPr>
              <a:t></a:t>
            </a:r>
            <a:r>
              <a:rPr lang="en-US" altLang="en-US" sz="2400" dirty="0"/>
              <a:t> is in D</a:t>
            </a:r>
            <a:r>
              <a:rPr lang="en-US" altLang="en-US" sz="2400" baseline="30000" dirty="0"/>
              <a:t>+</a:t>
            </a:r>
            <a:r>
              <a:rPr lang="en-US" altLang="en-US" sz="2400" dirty="0"/>
              <a:t> </a:t>
            </a:r>
            <a:endParaRPr lang="en-US" altLang="en-US" sz="2400" dirty="0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4NF Decomposition Algorithm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  <a:ea typeface="MS PGothic" panose="020B0600070205080204" pitchFamily="34" charset="-128"/>
            </a:endParaRPr>
          </a:p>
        </p:txBody>
      </p:sp>
      <p:sp>
        <p:nvSpPr>
          <p:cNvPr id="90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63638"/>
            <a:ext cx="7496761" cy="3901657"/>
          </a:xfrm>
        </p:spPr>
        <p:txBody>
          <a:bodyPr/>
          <a:lstStyle/>
          <a:p>
            <a:pPr>
              <a:buFont typeface="Monotype Sorts" pitchFamily="-65" charset="2"/>
              <a:buNone/>
            </a:pPr>
            <a:r>
              <a:rPr lang="en-US" altLang="en-US" sz="2000" i="1" dirty="0"/>
              <a:t>     </a:t>
            </a:r>
            <a:r>
              <a:rPr lang="en-US" altLang="en-US" sz="2000" i="1" dirty="0">
                <a:solidFill>
                  <a:srgbClr val="7030A0"/>
                </a:solidFill>
              </a:rPr>
              <a:t>result:</a:t>
            </a:r>
            <a:r>
              <a:rPr lang="en-US" altLang="en-US" sz="2000" dirty="0">
                <a:solidFill>
                  <a:srgbClr val="7030A0"/>
                </a:solidFill>
              </a:rPr>
              <a:t> = {</a:t>
            </a:r>
            <a:r>
              <a:rPr lang="en-US" altLang="en-US" sz="2000" i="1" dirty="0">
                <a:solidFill>
                  <a:srgbClr val="7030A0"/>
                </a:solidFill>
              </a:rPr>
              <a:t>R</a:t>
            </a:r>
            <a:r>
              <a:rPr lang="en-US" altLang="en-US" sz="2000" dirty="0">
                <a:solidFill>
                  <a:srgbClr val="7030A0"/>
                </a:solidFill>
              </a:rPr>
              <a:t>};</a:t>
            </a:r>
            <a:br>
              <a:rPr lang="en-US" altLang="en-US" sz="2000" dirty="0">
                <a:solidFill>
                  <a:srgbClr val="7030A0"/>
                </a:solidFill>
              </a:rPr>
            </a:br>
            <a:r>
              <a:rPr lang="en-US" altLang="en-US" sz="2000" i="1" dirty="0">
                <a:solidFill>
                  <a:srgbClr val="7030A0"/>
                </a:solidFill>
              </a:rPr>
              <a:t>done</a:t>
            </a:r>
            <a:r>
              <a:rPr lang="en-US" altLang="en-US" sz="2000" dirty="0">
                <a:solidFill>
                  <a:srgbClr val="7030A0"/>
                </a:solidFill>
              </a:rPr>
              <a:t> := false;</a:t>
            </a:r>
            <a:br>
              <a:rPr lang="en-US" altLang="en-US" sz="2000" dirty="0">
                <a:solidFill>
                  <a:srgbClr val="7030A0"/>
                </a:solidFill>
              </a:rPr>
            </a:br>
            <a:r>
              <a:rPr lang="en-US" altLang="en-US" sz="2000" i="1" dirty="0">
                <a:solidFill>
                  <a:srgbClr val="7030A0"/>
                </a:solidFill>
              </a:rPr>
              <a:t>compute D</a:t>
            </a:r>
            <a:r>
              <a:rPr lang="en-US" altLang="en-US" sz="2000" baseline="30000" dirty="0">
                <a:solidFill>
                  <a:srgbClr val="7030A0"/>
                </a:solidFill>
              </a:rPr>
              <a:t>+</a:t>
            </a:r>
            <a:r>
              <a:rPr lang="en-US" altLang="en-US" sz="2000" dirty="0">
                <a:solidFill>
                  <a:srgbClr val="7030A0"/>
                </a:solidFill>
              </a:rPr>
              <a:t>;</a:t>
            </a:r>
            <a:br>
              <a:rPr lang="en-US" altLang="en-US" sz="2000" dirty="0">
                <a:solidFill>
                  <a:srgbClr val="7030A0"/>
                </a:solidFill>
              </a:rPr>
            </a:br>
            <a:r>
              <a:rPr lang="en-US" altLang="en-US" sz="2000" dirty="0">
                <a:solidFill>
                  <a:srgbClr val="7030A0"/>
                </a:solidFill>
              </a:rPr>
              <a:t>Let D</a:t>
            </a:r>
            <a:r>
              <a:rPr lang="en-US" altLang="en-US" sz="2000" baseline="-25000" dirty="0">
                <a:solidFill>
                  <a:srgbClr val="7030A0"/>
                </a:solidFill>
              </a:rPr>
              <a:t>i</a:t>
            </a:r>
            <a:r>
              <a:rPr lang="en-US" altLang="en-US" sz="2000" dirty="0">
                <a:solidFill>
                  <a:srgbClr val="7030A0"/>
                </a:solidFill>
              </a:rPr>
              <a:t> denote the restriction of D</a:t>
            </a:r>
            <a:r>
              <a:rPr lang="en-US" altLang="en-US" sz="2000" baseline="30000" dirty="0">
                <a:solidFill>
                  <a:srgbClr val="7030A0"/>
                </a:solidFill>
              </a:rPr>
              <a:t>+</a:t>
            </a:r>
            <a:r>
              <a:rPr lang="en-US" altLang="en-US" sz="2000" dirty="0">
                <a:solidFill>
                  <a:srgbClr val="7030A0"/>
                </a:solidFill>
              </a:rPr>
              <a:t> to R</a:t>
            </a:r>
            <a:r>
              <a:rPr lang="en-US" altLang="en-US" sz="2000" baseline="-25000" dirty="0">
                <a:solidFill>
                  <a:srgbClr val="7030A0"/>
                </a:solidFill>
              </a:rPr>
              <a:t>i</a:t>
            </a:r>
            <a:endParaRPr lang="en-US" altLang="en-US" sz="2000" baseline="-25000" dirty="0">
              <a:solidFill>
                <a:srgbClr val="7030A0"/>
              </a:solidFill>
            </a:endParaRPr>
          </a:p>
          <a:p>
            <a:pPr>
              <a:buFont typeface="Monotype Sorts" pitchFamily="-65" charset="2"/>
              <a:buNone/>
            </a:pPr>
            <a:r>
              <a:rPr lang="en-US" altLang="en-US" sz="2000" b="1" dirty="0">
                <a:solidFill>
                  <a:srgbClr val="7030A0"/>
                </a:solidFill>
              </a:rPr>
              <a:t>      while </a:t>
            </a:r>
            <a:r>
              <a:rPr lang="en-US" altLang="en-US" sz="2000" dirty="0">
                <a:solidFill>
                  <a:srgbClr val="7030A0"/>
                </a:solidFill>
              </a:rPr>
              <a:t>(</a:t>
            </a:r>
            <a:r>
              <a:rPr lang="en-US" altLang="en-US" sz="2000" b="1" dirty="0">
                <a:solidFill>
                  <a:srgbClr val="7030A0"/>
                </a:solidFill>
              </a:rPr>
              <a:t>not </a:t>
            </a:r>
            <a:r>
              <a:rPr lang="en-US" altLang="en-US" sz="2000" i="1" dirty="0">
                <a:solidFill>
                  <a:srgbClr val="7030A0"/>
                </a:solidFill>
              </a:rPr>
              <a:t>done</a:t>
            </a:r>
            <a:r>
              <a:rPr lang="en-US" altLang="en-US" sz="2000" dirty="0">
                <a:solidFill>
                  <a:srgbClr val="7030A0"/>
                </a:solidFill>
              </a:rPr>
              <a:t>) </a:t>
            </a:r>
            <a:br>
              <a:rPr lang="en-US" altLang="en-US" sz="2000" dirty="0">
                <a:solidFill>
                  <a:srgbClr val="7030A0"/>
                </a:solidFill>
              </a:rPr>
            </a:br>
            <a:r>
              <a:rPr lang="en-US" altLang="en-US" sz="2000" dirty="0">
                <a:solidFill>
                  <a:srgbClr val="7030A0"/>
                </a:solidFill>
              </a:rPr>
              <a:t>    </a:t>
            </a:r>
            <a:r>
              <a:rPr lang="en-US" altLang="en-US" sz="2000" b="1" dirty="0">
                <a:solidFill>
                  <a:srgbClr val="7030A0"/>
                </a:solidFill>
              </a:rPr>
              <a:t>if </a:t>
            </a:r>
            <a:r>
              <a:rPr lang="en-US" altLang="en-US" sz="2000" dirty="0">
                <a:solidFill>
                  <a:srgbClr val="7030A0"/>
                </a:solidFill>
              </a:rPr>
              <a:t>(there is a schema </a:t>
            </a:r>
            <a:r>
              <a:rPr lang="en-US" altLang="en-US" sz="2000" b="1" dirty="0">
                <a:solidFill>
                  <a:srgbClr val="7030A0"/>
                </a:solidFill>
              </a:rPr>
              <a:t>R</a:t>
            </a:r>
            <a:r>
              <a:rPr lang="en-US" altLang="en-US" sz="2000" baseline="-25000" dirty="0">
                <a:solidFill>
                  <a:srgbClr val="7030A0"/>
                </a:solidFill>
              </a:rPr>
              <a:t>i</a:t>
            </a:r>
            <a:r>
              <a:rPr lang="en-US" altLang="en-US" sz="2000" dirty="0">
                <a:solidFill>
                  <a:srgbClr val="7030A0"/>
                </a:solidFill>
              </a:rPr>
              <a:t> in </a:t>
            </a:r>
            <a:r>
              <a:rPr lang="en-US" altLang="en-US" sz="2000" i="1" dirty="0">
                <a:solidFill>
                  <a:srgbClr val="7030A0"/>
                </a:solidFill>
              </a:rPr>
              <a:t>result </a:t>
            </a:r>
            <a:r>
              <a:rPr lang="en-US" altLang="en-US" sz="2000" dirty="0">
                <a:solidFill>
                  <a:srgbClr val="7030A0"/>
                </a:solidFill>
              </a:rPr>
              <a:t>that is not in 4NF) </a:t>
            </a:r>
            <a:r>
              <a:rPr lang="en-US" altLang="en-US" sz="2000" b="1" dirty="0">
                <a:solidFill>
                  <a:srgbClr val="7030A0"/>
                </a:solidFill>
              </a:rPr>
              <a:t>then</a:t>
            </a:r>
            <a:br>
              <a:rPr lang="en-US" altLang="en-US" sz="2000" b="1" dirty="0">
                <a:solidFill>
                  <a:srgbClr val="7030A0"/>
                </a:solidFill>
              </a:rPr>
            </a:br>
            <a:r>
              <a:rPr lang="en-US" altLang="en-US" sz="2000" b="1" dirty="0">
                <a:solidFill>
                  <a:srgbClr val="7030A0"/>
                </a:solidFill>
              </a:rPr>
              <a:t>       begin</a:t>
            </a:r>
            <a:endParaRPr lang="en-US" altLang="en-US" sz="2000" dirty="0">
              <a:solidFill>
                <a:srgbClr val="7030A0"/>
              </a:solidFill>
            </a:endParaRPr>
          </a:p>
          <a:p>
            <a:pPr>
              <a:buFont typeface="Monotype Sorts" pitchFamily="-65" charset="2"/>
              <a:buNone/>
            </a:pPr>
            <a:r>
              <a:rPr lang="en-US" altLang="en-US" sz="2000" dirty="0">
                <a:solidFill>
                  <a:srgbClr val="7030A0"/>
                </a:solidFill>
              </a:rPr>
              <a:t>		 let </a:t>
            </a:r>
            <a:r>
              <a:rPr lang="en-US" altLang="en-US" sz="2000" dirty="0">
                <a:solidFill>
                  <a:srgbClr val="7030A0"/>
                </a:solidFill>
                <a:sym typeface="Symbol" panose="05050102010706020507" pitchFamily="18" charset="2"/>
              </a:rPr>
              <a:t> </a:t>
            </a:r>
            <a:r>
              <a:rPr lang="en-US" altLang="en-US" sz="2000" b="1" dirty="0">
                <a:solidFill>
                  <a:srgbClr val="7030A0"/>
                </a:solidFill>
                <a:sym typeface="Symbol" panose="05050102010706020507" pitchFamily="18" charset="2"/>
              </a:rPr>
              <a:t></a:t>
            </a:r>
            <a:r>
              <a:rPr lang="en-US" altLang="en-US" sz="2000" dirty="0">
                <a:solidFill>
                  <a:srgbClr val="7030A0"/>
                </a:solidFill>
                <a:sym typeface="Symbol" panose="05050102010706020507" pitchFamily="18" charset="2"/>
              </a:rPr>
              <a:t>  be a nontrivial multivalued dependency that holds</a:t>
            </a:r>
            <a:br>
              <a:rPr lang="en-US" altLang="en-US" sz="2000" dirty="0">
                <a:solidFill>
                  <a:srgbClr val="7030A0"/>
                </a:solidFill>
                <a:sym typeface="Symbol" panose="05050102010706020507" pitchFamily="18" charset="2"/>
              </a:rPr>
            </a:br>
            <a:r>
              <a:rPr lang="en-US" altLang="en-US" sz="2000" dirty="0">
                <a:solidFill>
                  <a:srgbClr val="7030A0"/>
                </a:solidFill>
                <a:sym typeface="Symbol" panose="05050102010706020507" pitchFamily="18" charset="2"/>
              </a:rPr>
              <a:t>            on </a:t>
            </a:r>
            <a:r>
              <a:rPr lang="en-US" altLang="en-US" sz="2000" i="1" dirty="0">
                <a:solidFill>
                  <a:srgbClr val="7030A0"/>
                </a:solidFill>
                <a:sym typeface="Symbol" panose="05050102010706020507" pitchFamily="18" charset="2"/>
              </a:rPr>
              <a:t>R</a:t>
            </a:r>
            <a:r>
              <a:rPr lang="en-US" altLang="en-US" sz="2000" baseline="-25000" dirty="0">
                <a:solidFill>
                  <a:srgbClr val="7030A0"/>
                </a:solidFill>
                <a:sym typeface="Symbol" panose="05050102010706020507" pitchFamily="18" charset="2"/>
              </a:rPr>
              <a:t>i</a:t>
            </a:r>
            <a:r>
              <a:rPr lang="en-US" altLang="en-US" sz="2000" dirty="0">
                <a:solidFill>
                  <a:srgbClr val="7030A0"/>
                </a:solidFill>
                <a:sym typeface="Symbol" panose="05050102010706020507" pitchFamily="18" charset="2"/>
              </a:rPr>
              <a:t> such that   </a:t>
            </a:r>
            <a:r>
              <a:rPr lang="en-US" altLang="en-US" sz="2000" i="1" dirty="0">
                <a:solidFill>
                  <a:srgbClr val="7030A0"/>
                </a:solidFill>
                <a:sym typeface="Symbol" panose="05050102010706020507" pitchFamily="18" charset="2"/>
              </a:rPr>
              <a:t>R</a:t>
            </a:r>
            <a:r>
              <a:rPr lang="en-US" altLang="en-US" sz="2000" i="1" baseline="-25000" dirty="0">
                <a:solidFill>
                  <a:srgbClr val="7030A0"/>
                </a:solidFill>
                <a:sym typeface="Symbol" panose="05050102010706020507" pitchFamily="18" charset="2"/>
              </a:rPr>
              <a:t>i  </a:t>
            </a:r>
            <a:r>
              <a:rPr lang="en-US" altLang="en-US" sz="2000" dirty="0">
                <a:solidFill>
                  <a:srgbClr val="7030A0"/>
                </a:solidFill>
                <a:sym typeface="Symbol" panose="05050102010706020507" pitchFamily="18" charset="2"/>
              </a:rPr>
              <a:t>is not in </a:t>
            </a:r>
            <a:r>
              <a:rPr lang="en-US" altLang="en-US" sz="2000" i="1" dirty="0">
                <a:solidFill>
                  <a:srgbClr val="7030A0"/>
                </a:solidFill>
              </a:rPr>
              <a:t>D</a:t>
            </a:r>
            <a:r>
              <a:rPr lang="en-US" altLang="en-US" sz="2000" baseline="-25000" dirty="0">
                <a:solidFill>
                  <a:srgbClr val="7030A0"/>
                </a:solidFill>
              </a:rPr>
              <a:t>i</a:t>
            </a:r>
            <a:r>
              <a:rPr lang="en-US" altLang="en-US" sz="2000" dirty="0">
                <a:solidFill>
                  <a:srgbClr val="7030A0"/>
                </a:solidFill>
              </a:rPr>
              <a:t>, and </a:t>
            </a:r>
            <a:r>
              <a:rPr lang="en-US" altLang="en-US" sz="2000" dirty="0">
                <a:solidFill>
                  <a:srgbClr val="7030A0"/>
                </a:solidFill>
                <a:sym typeface="Symbol" panose="05050102010706020507" pitchFamily="18" charset="2"/>
              </a:rPr>
              <a:t>; </a:t>
            </a:r>
            <a:br>
              <a:rPr lang="en-US" altLang="en-US" sz="2000" dirty="0">
                <a:solidFill>
                  <a:srgbClr val="7030A0"/>
                </a:solidFill>
                <a:sym typeface="Symbol" panose="05050102010706020507" pitchFamily="18" charset="2"/>
              </a:rPr>
            </a:br>
            <a:r>
              <a:rPr lang="en-US" altLang="en-US" sz="2000" dirty="0">
                <a:solidFill>
                  <a:srgbClr val="7030A0"/>
                </a:solidFill>
                <a:sym typeface="Symbol" panose="05050102010706020507" pitchFamily="18" charset="2"/>
              </a:rPr>
              <a:t>          </a:t>
            </a:r>
            <a:r>
              <a:rPr lang="en-US" altLang="en-US" sz="2000" i="1" dirty="0">
                <a:solidFill>
                  <a:srgbClr val="7030A0"/>
                </a:solidFill>
                <a:sym typeface="Symbol" panose="05050102010706020507" pitchFamily="18" charset="2"/>
              </a:rPr>
              <a:t>result </a:t>
            </a:r>
            <a:r>
              <a:rPr lang="en-US" altLang="en-US" sz="2000" dirty="0">
                <a:solidFill>
                  <a:srgbClr val="7030A0"/>
                </a:solidFill>
                <a:sym typeface="Symbol" panose="05050102010706020507" pitchFamily="18" charset="2"/>
              </a:rPr>
              <a:t>:=  (</a:t>
            </a:r>
            <a:r>
              <a:rPr lang="en-US" altLang="en-US" sz="2000" i="1" dirty="0">
                <a:solidFill>
                  <a:srgbClr val="7030A0"/>
                </a:solidFill>
                <a:sym typeface="Symbol" panose="05050102010706020507" pitchFamily="18" charset="2"/>
              </a:rPr>
              <a:t>result </a:t>
            </a:r>
            <a:r>
              <a:rPr lang="en-US" altLang="en-US" sz="2000" dirty="0">
                <a:solidFill>
                  <a:srgbClr val="7030A0"/>
                </a:solidFill>
                <a:sym typeface="Symbol" panose="05050102010706020507" pitchFamily="18" charset="2"/>
              </a:rPr>
              <a:t>- </a:t>
            </a:r>
            <a:r>
              <a:rPr lang="en-US" altLang="en-US" sz="2000" i="1" dirty="0">
                <a:solidFill>
                  <a:srgbClr val="7030A0"/>
                </a:solidFill>
                <a:sym typeface="Symbol" panose="05050102010706020507" pitchFamily="18" charset="2"/>
              </a:rPr>
              <a:t>R</a:t>
            </a:r>
            <a:r>
              <a:rPr lang="en-US" altLang="en-US" sz="2000" i="1" baseline="-25000" dirty="0">
                <a:solidFill>
                  <a:srgbClr val="7030A0"/>
                </a:solidFill>
                <a:sym typeface="Symbol" panose="05050102010706020507" pitchFamily="18" charset="2"/>
              </a:rPr>
              <a:t>i</a:t>
            </a:r>
            <a:r>
              <a:rPr lang="en-US" altLang="en-US" sz="2000" dirty="0">
                <a:solidFill>
                  <a:srgbClr val="7030A0"/>
                </a:solidFill>
                <a:sym typeface="Symbol" panose="05050102010706020507" pitchFamily="18" charset="2"/>
              </a:rPr>
              <a:t>)  (</a:t>
            </a:r>
            <a:r>
              <a:rPr lang="en-US" altLang="en-US" sz="2000" i="1" dirty="0">
                <a:solidFill>
                  <a:srgbClr val="7030A0"/>
                </a:solidFill>
                <a:sym typeface="Symbol" panose="05050102010706020507" pitchFamily="18" charset="2"/>
              </a:rPr>
              <a:t>R</a:t>
            </a:r>
            <a:r>
              <a:rPr lang="en-US" altLang="en-US" sz="2000" i="1" baseline="-25000" dirty="0">
                <a:solidFill>
                  <a:srgbClr val="7030A0"/>
                </a:solidFill>
                <a:sym typeface="Symbol" panose="05050102010706020507" pitchFamily="18" charset="2"/>
              </a:rPr>
              <a:t>i</a:t>
            </a:r>
            <a:r>
              <a:rPr lang="en-US" altLang="en-US" sz="2000" baseline="-25000" dirty="0">
                <a:solidFill>
                  <a:srgbClr val="7030A0"/>
                </a:solidFill>
                <a:sym typeface="Symbol" panose="05050102010706020507" pitchFamily="18" charset="2"/>
              </a:rPr>
              <a:t> </a:t>
            </a:r>
            <a:r>
              <a:rPr lang="en-US" altLang="en-US" sz="2000" dirty="0">
                <a:solidFill>
                  <a:srgbClr val="7030A0"/>
                </a:solidFill>
                <a:sym typeface="Symbol" panose="05050102010706020507" pitchFamily="18" charset="2"/>
              </a:rPr>
              <a:t>- )   (, ); </a:t>
            </a:r>
            <a:br>
              <a:rPr lang="en-US" altLang="en-US" sz="2000" dirty="0">
                <a:solidFill>
                  <a:srgbClr val="7030A0"/>
                </a:solidFill>
                <a:sym typeface="Symbol" panose="05050102010706020507" pitchFamily="18" charset="2"/>
              </a:rPr>
            </a:br>
            <a:r>
              <a:rPr lang="en-US" altLang="en-US" sz="2000" b="1" dirty="0">
                <a:solidFill>
                  <a:srgbClr val="7030A0"/>
                </a:solidFill>
                <a:sym typeface="Symbol" panose="05050102010706020507" pitchFamily="18" charset="2"/>
              </a:rPr>
              <a:t>       end</a:t>
            </a:r>
            <a:br>
              <a:rPr lang="en-US" altLang="en-US" sz="2000" dirty="0">
                <a:solidFill>
                  <a:srgbClr val="7030A0"/>
                </a:solidFill>
                <a:sym typeface="Symbol" panose="05050102010706020507" pitchFamily="18" charset="2"/>
              </a:rPr>
            </a:br>
            <a:r>
              <a:rPr lang="en-US" altLang="en-US" sz="2000" b="1" dirty="0">
                <a:solidFill>
                  <a:srgbClr val="7030A0"/>
                </a:solidFill>
                <a:sym typeface="Symbol" panose="05050102010706020507" pitchFamily="18" charset="2"/>
              </a:rPr>
              <a:t>    else </a:t>
            </a:r>
            <a:r>
              <a:rPr lang="en-US" altLang="en-US" sz="2000" i="1" dirty="0">
                <a:solidFill>
                  <a:srgbClr val="7030A0"/>
                </a:solidFill>
                <a:sym typeface="Symbol" panose="05050102010706020507" pitchFamily="18" charset="2"/>
              </a:rPr>
              <a:t>done</a:t>
            </a:r>
            <a:r>
              <a:rPr lang="en-US" altLang="en-US" sz="2000" dirty="0">
                <a:solidFill>
                  <a:srgbClr val="7030A0"/>
                </a:solidFill>
                <a:sym typeface="Symbol" panose="05050102010706020507" pitchFamily="18" charset="2"/>
              </a:rPr>
              <a:t>:= true;</a:t>
            </a:r>
            <a:endParaRPr lang="en-US" altLang="en-US" sz="2000" dirty="0">
              <a:solidFill>
                <a:srgbClr val="7030A0"/>
              </a:solidFill>
              <a:sym typeface="Symbol" panose="05050102010706020507" pitchFamily="18" charset="2"/>
            </a:endParaRPr>
          </a:p>
          <a:p>
            <a:pPr>
              <a:buFont typeface="Monotype Sorts" pitchFamily="-65" charset="2"/>
              <a:buNone/>
            </a:pPr>
            <a:r>
              <a:rPr lang="en-US" altLang="en-US" sz="2000" dirty="0">
                <a:solidFill>
                  <a:srgbClr val="7030A0"/>
                </a:solidFill>
                <a:sym typeface="Symbol" panose="05050102010706020507" pitchFamily="18" charset="2"/>
              </a:rPr>
              <a:t>      Note: each </a:t>
            </a:r>
            <a:r>
              <a:rPr lang="en-US" altLang="en-US" sz="2000" i="1" dirty="0">
                <a:solidFill>
                  <a:srgbClr val="7030A0"/>
                </a:solidFill>
                <a:sym typeface="Symbol" panose="05050102010706020507" pitchFamily="18" charset="2"/>
              </a:rPr>
              <a:t>R</a:t>
            </a:r>
            <a:r>
              <a:rPr lang="en-US" altLang="en-US" sz="2000" i="1" baseline="-25000" dirty="0">
                <a:solidFill>
                  <a:srgbClr val="7030A0"/>
                </a:solidFill>
                <a:sym typeface="Symbol" panose="05050102010706020507" pitchFamily="18" charset="2"/>
              </a:rPr>
              <a:t>i</a:t>
            </a:r>
            <a:r>
              <a:rPr lang="en-US" altLang="en-US" sz="2000" i="1" dirty="0">
                <a:solidFill>
                  <a:srgbClr val="7030A0"/>
                </a:solidFill>
                <a:sym typeface="Symbol" panose="05050102010706020507" pitchFamily="18" charset="2"/>
              </a:rPr>
              <a:t> </a:t>
            </a:r>
            <a:r>
              <a:rPr lang="en-US" altLang="en-US" sz="2000" dirty="0">
                <a:solidFill>
                  <a:srgbClr val="7030A0"/>
                </a:solidFill>
                <a:sym typeface="Symbol" panose="05050102010706020507" pitchFamily="18" charset="2"/>
              </a:rPr>
              <a:t>is in 4NF, and decomposition is lossless-join</a:t>
            </a:r>
            <a:endParaRPr lang="en-US" altLang="en-US" sz="2000" dirty="0">
              <a:solidFill>
                <a:srgbClr val="7030A0"/>
              </a:solidFill>
              <a:sym typeface="Symbol" panose="05050102010706020507" pitchFamily="18" charset="2"/>
            </a:endParaRPr>
          </a:p>
        </p:txBody>
      </p:sp>
      <p:grpSp>
        <p:nvGrpSpPr>
          <p:cNvPr id="2" name="Group 4"/>
          <p:cNvGrpSpPr/>
          <p:nvPr/>
        </p:nvGrpSpPr>
        <p:grpSpPr bwMode="auto">
          <a:xfrm>
            <a:off x="8348663" y="6477000"/>
            <a:ext cx="317500" cy="4763"/>
            <a:chOff x="2640" y="1301"/>
            <a:chExt cx="200" cy="3"/>
          </a:xfrm>
        </p:grpSpPr>
        <p:sp>
          <p:nvSpPr>
            <p:cNvPr id="90117" name="Line 5"/>
            <p:cNvSpPr>
              <a:spLocks noChangeShapeType="1"/>
            </p:cNvSpPr>
            <p:nvPr/>
          </p:nvSpPr>
          <p:spPr bwMode="auto">
            <a:xfrm flipV="1">
              <a:off x="2640" y="1301"/>
              <a:ext cx="136" cy="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90118" name="Line 6"/>
            <p:cNvSpPr>
              <a:spLocks noChangeShapeType="1"/>
            </p:cNvSpPr>
            <p:nvPr/>
          </p:nvSpPr>
          <p:spPr bwMode="auto">
            <a:xfrm>
              <a:off x="2704" y="1304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Example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  <a:ea typeface="MS PGothic" panose="020B0600070205080204" pitchFamily="34" charset="-128"/>
            </a:endParaRPr>
          </a:p>
        </p:txBody>
      </p:sp>
      <p:sp>
        <p:nvSpPr>
          <p:cNvPr id="785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8830" y="1163638"/>
            <a:ext cx="8258917" cy="4816057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i="1" dirty="0"/>
              <a:t>R</a:t>
            </a:r>
            <a:r>
              <a:rPr lang="en-US" altLang="en-US" dirty="0"/>
              <a:t> =(</a:t>
            </a:r>
            <a:r>
              <a:rPr lang="en-US" altLang="en-US" i="1" dirty="0"/>
              <a:t>A, B, C, G, H, I</a:t>
            </a:r>
            <a:r>
              <a:rPr lang="en-US" altLang="en-US" dirty="0"/>
              <a:t>)</a:t>
            </a:r>
            <a:endParaRPr lang="en-US" altLang="en-US" dirty="0"/>
          </a:p>
          <a:p>
            <a:pPr>
              <a:lnSpc>
                <a:spcPct val="90000"/>
              </a:lnSpc>
              <a:buFont typeface="Monotype Sorts" pitchFamily="-65" charset="2"/>
              <a:buNone/>
            </a:pPr>
            <a:r>
              <a:rPr lang="en-US" altLang="en-US" i="1" dirty="0"/>
              <a:t>	F </a:t>
            </a:r>
            <a:r>
              <a:rPr lang="en-US" altLang="en-US" dirty="0"/>
              <a:t>={ </a:t>
            </a:r>
            <a:r>
              <a:rPr lang="en-US" altLang="en-US" i="1" dirty="0"/>
              <a:t>A </a:t>
            </a:r>
            <a:r>
              <a:rPr lang="en-US" altLang="en-US" b="1" dirty="0">
                <a:sym typeface="Symbol" panose="05050102010706020507" pitchFamily="18" charset="2"/>
              </a:rPr>
              <a:t>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US" altLang="en-US" i="1" dirty="0"/>
              <a:t>B</a:t>
            </a:r>
            <a:endParaRPr lang="en-US" altLang="en-US" dirty="0"/>
          </a:p>
          <a:p>
            <a:pPr>
              <a:lnSpc>
                <a:spcPct val="90000"/>
              </a:lnSpc>
              <a:buFont typeface="Monotype Sorts" pitchFamily="-65" charset="2"/>
              <a:buNone/>
            </a:pPr>
            <a:r>
              <a:rPr lang="en-US" altLang="en-US" i="1" dirty="0"/>
              <a:t>		B</a:t>
            </a:r>
            <a:r>
              <a:rPr lang="en-US" altLang="en-US" dirty="0"/>
              <a:t> </a:t>
            </a:r>
            <a:r>
              <a:rPr lang="en-US" altLang="en-US" b="1" dirty="0">
                <a:sym typeface="Symbol" panose="05050102010706020507" pitchFamily="18" charset="2"/>
              </a:rPr>
              <a:t></a:t>
            </a:r>
            <a:r>
              <a:rPr lang="en-US" altLang="en-US" dirty="0"/>
              <a:t> </a:t>
            </a:r>
            <a:r>
              <a:rPr lang="en-US" altLang="en-US" i="1" dirty="0"/>
              <a:t>HI</a:t>
            </a:r>
            <a:endParaRPr lang="en-US" altLang="en-US" dirty="0"/>
          </a:p>
          <a:p>
            <a:pPr>
              <a:lnSpc>
                <a:spcPct val="90000"/>
              </a:lnSpc>
              <a:buFont typeface="Monotype Sorts" pitchFamily="-65" charset="2"/>
              <a:buNone/>
            </a:pPr>
            <a:r>
              <a:rPr lang="en-US" altLang="en-US" i="1" dirty="0"/>
              <a:t>		CG </a:t>
            </a:r>
            <a:r>
              <a:rPr lang="en-US" altLang="en-US" b="1" dirty="0">
                <a:sym typeface="Symbol" panose="05050102010706020507" pitchFamily="18" charset="2"/>
              </a:rPr>
              <a:t>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US" altLang="en-US" i="1" dirty="0"/>
              <a:t>H</a:t>
            </a:r>
            <a:r>
              <a:rPr lang="en-US" altLang="en-US" dirty="0"/>
              <a:t> }</a:t>
            </a: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i="1" dirty="0"/>
              <a:t>R</a:t>
            </a:r>
            <a:r>
              <a:rPr lang="en-US" altLang="en-US" dirty="0"/>
              <a:t> is not in 4NF since </a:t>
            </a:r>
            <a:r>
              <a:rPr lang="en-US" altLang="en-US" i="1" dirty="0"/>
              <a:t>A</a:t>
            </a:r>
            <a:r>
              <a:rPr lang="en-US" altLang="en-US" dirty="0"/>
              <a:t> </a:t>
            </a:r>
            <a:r>
              <a:rPr lang="en-US" altLang="en-US" b="1" dirty="0">
                <a:sym typeface="Symbol" panose="05050102010706020507" pitchFamily="18" charset="2"/>
              </a:rPr>
              <a:t></a:t>
            </a:r>
            <a:r>
              <a:rPr lang="en-US" altLang="en-US" dirty="0"/>
              <a:t> </a:t>
            </a:r>
            <a:r>
              <a:rPr lang="en-US" altLang="en-US" i="1" dirty="0"/>
              <a:t>B</a:t>
            </a:r>
            <a:r>
              <a:rPr lang="en-US" altLang="en-US" dirty="0"/>
              <a:t> and </a:t>
            </a:r>
            <a:r>
              <a:rPr lang="en-US" altLang="en-US" i="1" dirty="0"/>
              <a:t>A</a:t>
            </a:r>
            <a:r>
              <a:rPr lang="en-US" altLang="en-US" dirty="0"/>
              <a:t> is not a </a:t>
            </a:r>
            <a:r>
              <a:rPr lang="en-US" altLang="en-US" dirty="0" err="1"/>
              <a:t>superkey</a:t>
            </a:r>
            <a:r>
              <a:rPr lang="en-US" altLang="en-US" dirty="0"/>
              <a:t> for </a:t>
            </a:r>
            <a:r>
              <a:rPr lang="en-US" altLang="en-US" i="1" dirty="0"/>
              <a:t>R</a:t>
            </a: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Decomposition</a:t>
            </a:r>
            <a:endParaRPr lang="en-US" altLang="en-US" dirty="0"/>
          </a:p>
          <a:p>
            <a:pPr>
              <a:lnSpc>
                <a:spcPct val="90000"/>
              </a:lnSpc>
              <a:buFont typeface="Monotype Sorts" pitchFamily="-65" charset="2"/>
              <a:buNone/>
            </a:pPr>
            <a:r>
              <a:rPr lang="en-US" altLang="en-US" dirty="0"/>
              <a:t>	a) </a:t>
            </a:r>
            <a:r>
              <a:rPr lang="en-US" altLang="en-US" i="1" dirty="0"/>
              <a:t>R</a:t>
            </a:r>
            <a:r>
              <a:rPr lang="en-US" altLang="en-US" i="1" baseline="-25000" dirty="0"/>
              <a:t>1</a:t>
            </a:r>
            <a:r>
              <a:rPr lang="en-US" altLang="en-US" dirty="0"/>
              <a:t> = (</a:t>
            </a:r>
            <a:r>
              <a:rPr lang="en-US" altLang="en-US" i="1" dirty="0"/>
              <a:t>A, B</a:t>
            </a:r>
            <a:r>
              <a:rPr lang="en-US" altLang="en-US" dirty="0"/>
              <a:t>) 			(</a:t>
            </a:r>
            <a:r>
              <a:rPr lang="en-US" altLang="en-US" i="1" dirty="0"/>
              <a:t>R</a:t>
            </a:r>
            <a:r>
              <a:rPr lang="en-US" altLang="en-US" i="1" baseline="-25000" dirty="0"/>
              <a:t>1</a:t>
            </a:r>
            <a:r>
              <a:rPr lang="en-US" altLang="en-US" dirty="0"/>
              <a:t> is in 4NF)</a:t>
            </a:r>
            <a:endParaRPr lang="en-US" altLang="en-US" dirty="0"/>
          </a:p>
          <a:p>
            <a:pPr>
              <a:lnSpc>
                <a:spcPct val="90000"/>
              </a:lnSpc>
              <a:buFont typeface="Monotype Sorts" pitchFamily="-65" charset="2"/>
              <a:buNone/>
            </a:pPr>
            <a:r>
              <a:rPr lang="en-US" altLang="en-US" dirty="0"/>
              <a:t>	b) </a:t>
            </a:r>
            <a:r>
              <a:rPr lang="en-US" altLang="en-US" i="1" dirty="0"/>
              <a:t>R</a:t>
            </a:r>
            <a:r>
              <a:rPr lang="en-US" altLang="en-US" baseline="-25000" dirty="0"/>
              <a:t>2</a:t>
            </a:r>
            <a:r>
              <a:rPr lang="en-US" altLang="en-US" dirty="0"/>
              <a:t> = (</a:t>
            </a:r>
            <a:r>
              <a:rPr lang="en-US" altLang="en-US" i="1" dirty="0"/>
              <a:t>A, C, G, H, I</a:t>
            </a:r>
            <a:r>
              <a:rPr lang="en-US" altLang="en-US" dirty="0"/>
              <a:t>)  		(</a:t>
            </a:r>
            <a:r>
              <a:rPr lang="en-US" altLang="en-US" i="1" dirty="0"/>
              <a:t>R</a:t>
            </a:r>
            <a:r>
              <a:rPr lang="en-US" altLang="en-US" i="1" baseline="-25000" dirty="0"/>
              <a:t>2</a:t>
            </a:r>
            <a:r>
              <a:rPr lang="en-US" altLang="en-US" dirty="0"/>
              <a:t> is not in 4NF, decompose into R</a:t>
            </a:r>
            <a:r>
              <a:rPr lang="en-US" altLang="en-US" baseline="-25000" dirty="0"/>
              <a:t>3 </a:t>
            </a:r>
            <a:r>
              <a:rPr lang="en-US" altLang="en-US" dirty="0"/>
              <a:t>and R</a:t>
            </a:r>
            <a:r>
              <a:rPr lang="en-US" altLang="en-US" baseline="-25000" dirty="0"/>
              <a:t>4</a:t>
            </a:r>
            <a:r>
              <a:rPr lang="en-US" altLang="en-US" dirty="0"/>
              <a:t>)</a:t>
            </a:r>
            <a:endParaRPr lang="en-US" altLang="en-US" dirty="0"/>
          </a:p>
          <a:p>
            <a:pPr>
              <a:lnSpc>
                <a:spcPct val="90000"/>
              </a:lnSpc>
              <a:buFont typeface="Monotype Sorts" pitchFamily="-65" charset="2"/>
              <a:buNone/>
            </a:pPr>
            <a:r>
              <a:rPr lang="en-US" altLang="en-US" dirty="0"/>
              <a:t>	c) </a:t>
            </a:r>
            <a:r>
              <a:rPr lang="en-US" altLang="en-US" i="1" dirty="0"/>
              <a:t>R</a:t>
            </a:r>
            <a:r>
              <a:rPr lang="en-US" altLang="en-US" baseline="-25000" dirty="0"/>
              <a:t>3</a:t>
            </a:r>
            <a:r>
              <a:rPr lang="en-US" altLang="en-US" dirty="0"/>
              <a:t> = (</a:t>
            </a:r>
            <a:r>
              <a:rPr lang="en-US" altLang="en-US" i="1" dirty="0"/>
              <a:t>C, G, H</a:t>
            </a:r>
            <a:r>
              <a:rPr lang="en-US" altLang="en-US" dirty="0"/>
              <a:t>) 		(</a:t>
            </a:r>
            <a:r>
              <a:rPr lang="en-US" altLang="en-US" i="1" dirty="0"/>
              <a:t>R</a:t>
            </a:r>
            <a:r>
              <a:rPr lang="en-US" altLang="en-US" baseline="-25000" dirty="0"/>
              <a:t>3</a:t>
            </a:r>
            <a:r>
              <a:rPr lang="en-US" altLang="en-US" dirty="0"/>
              <a:t> is in 4NF)</a:t>
            </a:r>
            <a:endParaRPr lang="en-US" altLang="en-US" dirty="0"/>
          </a:p>
          <a:p>
            <a:pPr>
              <a:lnSpc>
                <a:spcPct val="90000"/>
              </a:lnSpc>
              <a:buFont typeface="Monotype Sorts" pitchFamily="-65" charset="2"/>
              <a:buNone/>
            </a:pPr>
            <a:r>
              <a:rPr lang="en-US" altLang="en-US" dirty="0"/>
              <a:t>	d) </a:t>
            </a:r>
            <a:r>
              <a:rPr lang="en-US" altLang="en-US" i="1" dirty="0"/>
              <a:t>R</a:t>
            </a:r>
            <a:r>
              <a:rPr lang="en-US" altLang="en-US" i="1" baseline="-25000" dirty="0"/>
              <a:t>4</a:t>
            </a:r>
            <a:r>
              <a:rPr lang="en-US" altLang="en-US" dirty="0"/>
              <a:t> = (</a:t>
            </a:r>
            <a:r>
              <a:rPr lang="en-US" altLang="en-US" i="1" dirty="0"/>
              <a:t>A, C, G, I</a:t>
            </a:r>
            <a:r>
              <a:rPr lang="en-US" altLang="en-US" dirty="0"/>
              <a:t>)  		(</a:t>
            </a:r>
            <a:r>
              <a:rPr lang="en-US" altLang="en-US" i="1" dirty="0"/>
              <a:t>R</a:t>
            </a:r>
            <a:r>
              <a:rPr lang="en-US" altLang="en-US" i="1" baseline="-25000" dirty="0"/>
              <a:t>4</a:t>
            </a:r>
            <a:r>
              <a:rPr lang="en-US" altLang="en-US" dirty="0"/>
              <a:t> is not in 4NF, decompose into R</a:t>
            </a:r>
            <a:r>
              <a:rPr lang="en-US" altLang="en-US" baseline="-25000" dirty="0"/>
              <a:t>5 </a:t>
            </a:r>
            <a:r>
              <a:rPr lang="en-US" altLang="en-US" dirty="0"/>
              <a:t>and R</a:t>
            </a:r>
            <a:r>
              <a:rPr lang="en-US" altLang="en-US" baseline="-25000" dirty="0"/>
              <a:t>6</a:t>
            </a:r>
            <a:r>
              <a:rPr lang="en-US" altLang="en-US" dirty="0"/>
              <a:t>)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i="1" dirty="0"/>
              <a:t>A</a:t>
            </a:r>
            <a:r>
              <a:rPr lang="en-US" altLang="en-US" dirty="0"/>
              <a:t> </a:t>
            </a:r>
            <a:r>
              <a:rPr lang="en-US" altLang="en-US" b="1" dirty="0">
                <a:sym typeface="Symbol" panose="05050102010706020507" pitchFamily="18" charset="2"/>
              </a:rPr>
              <a:t>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US" altLang="en-US" i="1" dirty="0"/>
              <a:t>B</a:t>
            </a:r>
            <a:r>
              <a:rPr lang="en-US" altLang="en-US" dirty="0"/>
              <a:t> and </a:t>
            </a:r>
            <a:r>
              <a:rPr lang="en-US" altLang="en-US" i="1" dirty="0"/>
              <a:t>B</a:t>
            </a:r>
            <a:r>
              <a:rPr lang="en-US" altLang="en-US" dirty="0"/>
              <a:t> </a:t>
            </a:r>
            <a:r>
              <a:rPr lang="en-US" altLang="en-US" b="1" dirty="0">
                <a:sym typeface="Symbol" panose="05050102010706020507" pitchFamily="18" charset="2"/>
              </a:rPr>
              <a:t></a:t>
            </a:r>
            <a:r>
              <a:rPr lang="en-US" altLang="en-US" dirty="0"/>
              <a:t> </a:t>
            </a:r>
            <a:r>
              <a:rPr lang="en-US" altLang="en-US" i="1" dirty="0"/>
              <a:t>HI </a:t>
            </a:r>
            <a:r>
              <a:rPr lang="en-US" altLang="en-US" i="1" dirty="0">
                <a:sym typeface="Wingdings" panose="05000000000000000000" pitchFamily="2" charset="2"/>
              </a:rPr>
              <a:t> </a:t>
            </a:r>
            <a:r>
              <a:rPr lang="en-US" altLang="en-US" i="1" dirty="0"/>
              <a:t>A</a:t>
            </a:r>
            <a:r>
              <a:rPr lang="en-US" altLang="en-US" dirty="0"/>
              <a:t> </a:t>
            </a:r>
            <a:r>
              <a:rPr lang="en-US" altLang="en-US" b="1" dirty="0">
                <a:sym typeface="Symbol" panose="05050102010706020507" pitchFamily="18" charset="2"/>
              </a:rPr>
              <a:t>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US" altLang="en-US" i="1" dirty="0"/>
              <a:t>HI</a:t>
            </a:r>
            <a:r>
              <a:rPr lang="en-US" altLang="en-US" dirty="0"/>
              <a:t>, (MVD transitivity), and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and hence </a:t>
            </a:r>
            <a:r>
              <a:rPr lang="en-US" altLang="en-US" i="1" dirty="0"/>
              <a:t>A</a:t>
            </a:r>
            <a:r>
              <a:rPr lang="en-US" altLang="en-US" dirty="0"/>
              <a:t> </a:t>
            </a:r>
            <a:r>
              <a:rPr lang="en-US" altLang="en-US" b="1" dirty="0">
                <a:sym typeface="Symbol" panose="05050102010706020507" pitchFamily="18" charset="2"/>
              </a:rPr>
              <a:t>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US" altLang="en-US" i="1" dirty="0"/>
              <a:t>I (MVD restriction to R</a:t>
            </a:r>
            <a:r>
              <a:rPr lang="en-US" altLang="en-US" i="1" baseline="-25000" dirty="0"/>
              <a:t>4</a:t>
            </a:r>
            <a:r>
              <a:rPr lang="en-US" altLang="en-US" i="1" dirty="0"/>
              <a:t>)</a:t>
            </a:r>
            <a:endParaRPr lang="en-US" altLang="en-US" dirty="0"/>
          </a:p>
          <a:p>
            <a:pPr>
              <a:lnSpc>
                <a:spcPct val="90000"/>
              </a:lnSpc>
              <a:buFont typeface="Monotype Sorts" pitchFamily="-65" charset="2"/>
              <a:buNone/>
            </a:pPr>
            <a:r>
              <a:rPr lang="en-US" altLang="en-US" dirty="0"/>
              <a:t>	e) </a:t>
            </a:r>
            <a:r>
              <a:rPr lang="en-US" altLang="en-US" i="1" dirty="0"/>
              <a:t>R</a:t>
            </a:r>
            <a:r>
              <a:rPr lang="en-US" altLang="en-US" i="1" baseline="-25000" dirty="0"/>
              <a:t>5</a:t>
            </a:r>
            <a:r>
              <a:rPr lang="en-US" altLang="en-US" dirty="0"/>
              <a:t> = (</a:t>
            </a:r>
            <a:r>
              <a:rPr lang="en-US" altLang="en-US" i="1" dirty="0"/>
              <a:t>A, I</a:t>
            </a:r>
            <a:r>
              <a:rPr lang="en-US" altLang="en-US" dirty="0"/>
              <a:t>)  			(</a:t>
            </a:r>
            <a:r>
              <a:rPr lang="en-US" altLang="en-US" i="1" dirty="0"/>
              <a:t>R</a:t>
            </a:r>
            <a:r>
              <a:rPr lang="en-US" altLang="en-US" i="1" baseline="-25000" dirty="0"/>
              <a:t>5</a:t>
            </a:r>
            <a:r>
              <a:rPr lang="en-US" altLang="en-US" dirty="0"/>
              <a:t> is in 4NF)</a:t>
            </a:r>
            <a:endParaRPr lang="en-US" altLang="en-US" dirty="0"/>
          </a:p>
          <a:p>
            <a:pPr>
              <a:lnSpc>
                <a:spcPct val="90000"/>
              </a:lnSpc>
              <a:buFont typeface="Monotype Sorts" pitchFamily="-65" charset="2"/>
              <a:buNone/>
            </a:pPr>
            <a:r>
              <a:rPr lang="en-US" altLang="en-US" dirty="0"/>
              <a:t>	f)</a:t>
            </a:r>
            <a:r>
              <a:rPr lang="en-US" altLang="en-US" i="1" dirty="0"/>
              <a:t>R</a:t>
            </a:r>
            <a:r>
              <a:rPr lang="en-US" altLang="en-US" i="1" baseline="-25000" dirty="0"/>
              <a:t>6</a:t>
            </a:r>
            <a:r>
              <a:rPr lang="en-US" altLang="en-US" dirty="0"/>
              <a:t> = (A, C, G)  		(R</a:t>
            </a:r>
            <a:r>
              <a:rPr lang="en-US" altLang="en-US" baseline="-25000" dirty="0"/>
              <a:t>6</a:t>
            </a:r>
            <a:r>
              <a:rPr lang="en-US" altLang="en-US" dirty="0"/>
              <a:t> is in  4NF)</a:t>
            </a:r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5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5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5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5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5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5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5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54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54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54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54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54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54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541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5411" grpId="0" bldLvl="2" autoUpdateAnimBg="0" build="p"/>
    </p:bld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83402" y="2400300"/>
            <a:ext cx="5544598" cy="1257300"/>
          </a:xfrm>
        </p:spPr>
        <p:txBody>
          <a:bodyPr/>
          <a:lstStyle/>
          <a:p>
            <a:pPr>
              <a:buFont typeface="Monotype Sorts" pitchFamily="-65" charset="2"/>
              <a:buNone/>
              <a:defRPr/>
            </a:pPr>
            <a:r>
              <a:rPr lang="en-US" alt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MS PGothic" panose="020B0600070205080204" pitchFamily="34" charset="-128"/>
                <a:cs typeface="+mj-cs"/>
              </a:rPr>
              <a:t>Additional issues</a:t>
            </a:r>
            <a:endParaRPr lang="en-US" altLang="en-US" sz="3200" b="1" dirty="0"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j-lt"/>
              <a:ea typeface="MS PGothic" panose="020B0600070205080204" pitchFamily="34" charset="-128"/>
              <a:cs typeface="+mj-cs"/>
            </a:endParaRPr>
          </a:p>
        </p:txBody>
      </p:sp>
    </p:spTree>
  </p:cSld>
  <p:clrMapOvr>
    <a:masterClrMapping/>
  </p:clrMapOvr>
  <p:transition spd="slow"/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458" name="Rectangle 2"/>
          <p:cNvSpPr>
            <a:spLocks noGrp="1" noChangeArrowheads="1"/>
          </p:cNvSpPr>
          <p:nvPr>
            <p:ph type="title"/>
          </p:nvPr>
        </p:nvSpPr>
        <p:spPr>
          <a:xfrm>
            <a:off x="552450" y="85725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Further Normal Forms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  <a:ea typeface="MS PGothic" panose="020B0600070205080204" pitchFamily="34" charset="-128"/>
            </a:endParaRPr>
          </a:p>
        </p:txBody>
      </p:sp>
      <p:sp>
        <p:nvSpPr>
          <p:cNvPr id="931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3479" y="1141917"/>
            <a:ext cx="7714695" cy="2792409"/>
          </a:xfrm>
        </p:spPr>
        <p:txBody>
          <a:bodyPr/>
          <a:lstStyle/>
          <a:p>
            <a:r>
              <a:rPr lang="en-US" altLang="en-US" b="1" dirty="0">
                <a:solidFill>
                  <a:srgbClr val="002060"/>
                </a:solidFill>
              </a:rPr>
              <a:t>Join dependencies</a:t>
            </a:r>
            <a:r>
              <a:rPr lang="en-US" altLang="en-US" dirty="0">
                <a:solidFill>
                  <a:srgbClr val="002060"/>
                </a:solidFill>
              </a:rPr>
              <a:t> </a:t>
            </a:r>
            <a:r>
              <a:rPr lang="en-US" altLang="en-US" dirty="0"/>
              <a:t>generalize multivalued dependencies</a:t>
            </a:r>
            <a:endParaRPr lang="en-US" altLang="en-US" dirty="0"/>
          </a:p>
          <a:p>
            <a:pPr lvl="1"/>
            <a:r>
              <a:rPr lang="en-US" altLang="en-US" dirty="0"/>
              <a:t>lead to </a:t>
            </a:r>
            <a:r>
              <a:rPr lang="en-US" altLang="en-US" b="1" dirty="0">
                <a:solidFill>
                  <a:srgbClr val="002060"/>
                </a:solidFill>
              </a:rPr>
              <a:t>project-join normal form (PJNF)</a:t>
            </a:r>
            <a:r>
              <a:rPr lang="en-US" altLang="en-US" dirty="0">
                <a:solidFill>
                  <a:srgbClr val="002060"/>
                </a:solidFill>
              </a:rPr>
              <a:t> </a:t>
            </a:r>
            <a:r>
              <a:rPr lang="en-US" altLang="en-US" dirty="0"/>
              <a:t>(also called </a:t>
            </a:r>
            <a:r>
              <a:rPr lang="en-US" altLang="en-US" b="1" dirty="0">
                <a:solidFill>
                  <a:srgbClr val="002060"/>
                </a:solidFill>
              </a:rPr>
              <a:t>fifth normal form</a:t>
            </a:r>
            <a:r>
              <a:rPr lang="en-US" altLang="en-US" dirty="0"/>
              <a:t>)</a:t>
            </a:r>
            <a:endParaRPr lang="en-US" altLang="en-US" dirty="0"/>
          </a:p>
          <a:p>
            <a:r>
              <a:rPr lang="en-US" altLang="en-US" dirty="0"/>
              <a:t>A class of even more general constraints, leads to a normal form called </a:t>
            </a:r>
            <a:r>
              <a:rPr lang="en-US" altLang="en-US" b="1" dirty="0">
                <a:solidFill>
                  <a:srgbClr val="002060"/>
                </a:solidFill>
              </a:rPr>
              <a:t>domain-key normal form</a:t>
            </a:r>
            <a:r>
              <a:rPr lang="en-US" altLang="en-US" dirty="0"/>
              <a:t>.</a:t>
            </a:r>
            <a:endParaRPr lang="en-US" altLang="en-US" dirty="0"/>
          </a:p>
          <a:p>
            <a:r>
              <a:rPr lang="en-US" altLang="en-US" dirty="0"/>
              <a:t>Problem with these generalized constraints:  are hard to reason with, and no set of sound and complete set of inference rules exists.</a:t>
            </a:r>
            <a:endParaRPr lang="en-US" altLang="en-US" dirty="0"/>
          </a:p>
          <a:p>
            <a:r>
              <a:rPr lang="en-US" altLang="en-US" dirty="0"/>
              <a:t>Hence rarely used</a:t>
            </a:r>
            <a:endParaRPr lang="en-US" altLang="en-US" dirty="0"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Overall Database Design Process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  <a:ea typeface="MS PGothic" panose="020B0600070205080204" pitchFamily="34" charset="-128"/>
            </a:endParaRPr>
          </a:p>
        </p:txBody>
      </p:sp>
      <p:sp>
        <p:nvSpPr>
          <p:cNvPr id="942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00832" y="1680990"/>
            <a:ext cx="7280770" cy="2566154"/>
          </a:xfrm>
        </p:spPr>
        <p:txBody>
          <a:bodyPr/>
          <a:lstStyle/>
          <a:p>
            <a:r>
              <a:rPr lang="en-US" altLang="en-US" i="1" dirty="0"/>
              <a:t>R</a:t>
            </a:r>
            <a:r>
              <a:rPr lang="en-US" altLang="en-US" dirty="0"/>
              <a:t> could have been generated when converting E-R diagram to a set of tables.</a:t>
            </a:r>
            <a:endParaRPr lang="en-US" altLang="en-US" dirty="0"/>
          </a:p>
          <a:p>
            <a:r>
              <a:rPr lang="en-US" altLang="en-US" i="1" dirty="0"/>
              <a:t>R</a:t>
            </a:r>
            <a:r>
              <a:rPr lang="en-US" altLang="en-US" dirty="0"/>
              <a:t> could have been a single relation containing </a:t>
            </a:r>
            <a:r>
              <a:rPr lang="en-US" altLang="en-US" i="1" dirty="0"/>
              <a:t>all</a:t>
            </a:r>
            <a:r>
              <a:rPr lang="en-US" altLang="en-US" dirty="0"/>
              <a:t> attributes that are of interest (called </a:t>
            </a:r>
            <a:r>
              <a:rPr lang="en-US" altLang="en-US" b="1" dirty="0">
                <a:solidFill>
                  <a:srgbClr val="002060"/>
                </a:solidFill>
              </a:rPr>
              <a:t>universal relation</a:t>
            </a:r>
            <a:r>
              <a:rPr lang="en-US" altLang="en-US" dirty="0"/>
              <a:t>).</a:t>
            </a:r>
            <a:endParaRPr lang="en-US" altLang="en-US" dirty="0"/>
          </a:p>
          <a:p>
            <a:r>
              <a:rPr lang="en-US" altLang="en-US" dirty="0"/>
              <a:t>Normalization breaks </a:t>
            </a:r>
            <a:r>
              <a:rPr lang="en-US" altLang="en-US" i="1" dirty="0"/>
              <a:t>R</a:t>
            </a:r>
            <a:r>
              <a:rPr lang="en-US" altLang="en-US" dirty="0"/>
              <a:t> into smaller relations.</a:t>
            </a:r>
            <a:endParaRPr lang="en-US" altLang="en-US" dirty="0"/>
          </a:p>
          <a:p>
            <a:r>
              <a:rPr lang="en-US" altLang="en-US" i="1" dirty="0"/>
              <a:t>R</a:t>
            </a:r>
            <a:r>
              <a:rPr lang="en-US" altLang="en-US" dirty="0"/>
              <a:t> could have been the result of some ad hoc design of relations, which we then test/convert to normal form.</a:t>
            </a:r>
            <a:endParaRPr lang="en-US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768350" y="1299408"/>
            <a:ext cx="7280771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700" dirty="0"/>
              <a:t>We have assumed schema </a:t>
            </a:r>
            <a:r>
              <a:rPr lang="en-US" altLang="en-US" sz="1700" i="1" dirty="0"/>
              <a:t>R</a:t>
            </a:r>
            <a:r>
              <a:rPr lang="en-US" altLang="en-US" sz="1700" dirty="0"/>
              <a:t> is given</a:t>
            </a:r>
            <a:endParaRPr lang="en-US" altLang="en-US" sz="1700" dirty="0"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ER Model and Normalization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  <a:ea typeface="MS PGothic" panose="020B0600070205080204" pitchFamily="34" charset="-128"/>
            </a:endParaRPr>
          </a:p>
        </p:txBody>
      </p:sp>
      <p:sp>
        <p:nvSpPr>
          <p:cNvPr id="952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90110"/>
            <a:ext cx="7713913" cy="4384257"/>
          </a:xfrm>
        </p:spPr>
        <p:txBody>
          <a:bodyPr/>
          <a:lstStyle/>
          <a:p>
            <a:r>
              <a:rPr lang="en-US" altLang="en-US" dirty="0"/>
              <a:t>When an E-R diagram is carefully designed, identifying all entities correctly, the tables generated from the E-R diagram should not need further normalization.</a:t>
            </a:r>
            <a:endParaRPr lang="en-US" altLang="en-US" dirty="0"/>
          </a:p>
          <a:p>
            <a:r>
              <a:rPr lang="en-US" altLang="en-US" dirty="0"/>
              <a:t>However, in a real (imperfect) design, there can be functional dependencies from non-key attributes of an entity to other attributes of the entity</a:t>
            </a:r>
            <a:endParaRPr lang="en-US" altLang="en-US" dirty="0"/>
          </a:p>
          <a:p>
            <a:pPr lvl="1"/>
            <a:r>
              <a:rPr lang="en-US" altLang="en-US" dirty="0"/>
              <a:t>Example:  an </a:t>
            </a:r>
            <a:r>
              <a:rPr lang="en-US" altLang="en-US" i="1" dirty="0"/>
              <a:t>employee</a:t>
            </a:r>
            <a:r>
              <a:rPr lang="en-US" altLang="en-US" dirty="0"/>
              <a:t> entity with</a:t>
            </a:r>
            <a:endParaRPr lang="en-US" altLang="en-US" dirty="0"/>
          </a:p>
          <a:p>
            <a:pPr lvl="2"/>
            <a:r>
              <a:rPr lang="en-US" altLang="en-US" dirty="0"/>
              <a:t> attributes </a:t>
            </a:r>
            <a:br>
              <a:rPr lang="en-US" altLang="en-US" dirty="0"/>
            </a:br>
            <a:r>
              <a:rPr lang="en-US" altLang="en-US" dirty="0"/>
              <a:t>   </a:t>
            </a:r>
            <a:r>
              <a:rPr lang="en-US" altLang="en-US" i="1" dirty="0" err="1"/>
              <a:t>department_name</a:t>
            </a:r>
            <a:r>
              <a:rPr lang="en-US" altLang="en-US" i="1" dirty="0"/>
              <a:t> </a:t>
            </a:r>
            <a:r>
              <a:rPr lang="en-US" altLang="en-US" dirty="0"/>
              <a:t>and </a:t>
            </a:r>
            <a:r>
              <a:rPr lang="en-US" altLang="en-US" i="1" dirty="0"/>
              <a:t>building</a:t>
            </a:r>
            <a:r>
              <a:rPr lang="en-US" altLang="en-US" dirty="0"/>
              <a:t>, </a:t>
            </a:r>
            <a:endParaRPr lang="en-US" altLang="en-US" dirty="0"/>
          </a:p>
          <a:p>
            <a:pPr lvl="2"/>
            <a:r>
              <a:rPr lang="en-US" altLang="en-US" dirty="0"/>
              <a:t> functional dependency </a:t>
            </a:r>
            <a:br>
              <a:rPr lang="en-US" altLang="en-US" dirty="0"/>
            </a:br>
            <a:r>
              <a:rPr lang="en-US" altLang="en-US" dirty="0"/>
              <a:t>   </a:t>
            </a:r>
            <a:r>
              <a:rPr lang="en-US" altLang="en-US" i="1" dirty="0" err="1"/>
              <a:t>department_name</a:t>
            </a:r>
            <a:r>
              <a:rPr lang="en-US" altLang="en-US" i="1" dirty="0">
                <a:sym typeface="Symbol" panose="05050102010706020507" pitchFamily="18" charset="2"/>
              </a:rPr>
              <a:t> </a:t>
            </a:r>
            <a:r>
              <a:rPr lang="en-US" altLang="en-US" i="1" dirty="0"/>
              <a:t>building</a:t>
            </a:r>
            <a:endParaRPr lang="en-US" altLang="en-US" i="1" dirty="0"/>
          </a:p>
          <a:p>
            <a:pPr lvl="2"/>
            <a:r>
              <a:rPr lang="en-US" altLang="en-US" dirty="0"/>
              <a:t>Good design would have made department an entity</a:t>
            </a:r>
            <a:endParaRPr lang="en-US" altLang="en-US" dirty="0"/>
          </a:p>
          <a:p>
            <a:r>
              <a:rPr lang="en-US" altLang="en-US" dirty="0"/>
              <a:t>Functional dependencies from non-key attributes of a relationship set possible, but rare --- most relationships are binary </a:t>
            </a:r>
            <a:endParaRPr lang="en-US" altLang="en-US" dirty="0"/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Denormalization for Performance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  <a:ea typeface="MS PGothic" panose="020B0600070205080204" pitchFamily="34" charset="-128"/>
            </a:endParaRPr>
          </a:p>
        </p:txBody>
      </p:sp>
      <p:sp>
        <p:nvSpPr>
          <p:cNvPr id="962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44588"/>
            <a:ext cx="7629926" cy="4125244"/>
          </a:xfrm>
        </p:spPr>
        <p:txBody>
          <a:bodyPr/>
          <a:lstStyle/>
          <a:p>
            <a:r>
              <a:rPr lang="en-US" altLang="en-US" dirty="0"/>
              <a:t>May want to use non-normalized schema for performance</a:t>
            </a:r>
            <a:endParaRPr lang="en-US" altLang="en-US" dirty="0"/>
          </a:p>
          <a:p>
            <a:r>
              <a:rPr lang="en-US" altLang="en-US" dirty="0"/>
              <a:t>For example, displaying </a:t>
            </a:r>
            <a:r>
              <a:rPr lang="en-US" altLang="en-US" i="1" dirty="0" err="1"/>
              <a:t>prereqs</a:t>
            </a:r>
            <a:r>
              <a:rPr lang="en-US" altLang="en-US" dirty="0"/>
              <a:t> along with </a:t>
            </a:r>
            <a:r>
              <a:rPr lang="en-US" altLang="en-US" i="1" dirty="0" err="1"/>
              <a:t>course_id</a:t>
            </a:r>
            <a:r>
              <a:rPr lang="en-US" altLang="en-US" i="1" dirty="0"/>
              <a:t>, </a:t>
            </a:r>
            <a:r>
              <a:rPr lang="en-US" altLang="en-US" dirty="0"/>
              <a:t> and </a:t>
            </a:r>
            <a:r>
              <a:rPr lang="en-US" altLang="en-US" i="1" dirty="0"/>
              <a:t>title</a:t>
            </a:r>
            <a:r>
              <a:rPr lang="en-US" altLang="en-US" dirty="0"/>
              <a:t> requires join of </a:t>
            </a:r>
            <a:r>
              <a:rPr lang="en-US" altLang="en-US" i="1" dirty="0"/>
              <a:t>course</a:t>
            </a:r>
            <a:r>
              <a:rPr lang="en-US" altLang="en-US" dirty="0"/>
              <a:t> with </a:t>
            </a:r>
            <a:r>
              <a:rPr lang="en-US" altLang="en-US" i="1" dirty="0" err="1"/>
              <a:t>prereq</a:t>
            </a:r>
            <a:endParaRPr lang="en-US" altLang="en-US" i="1" dirty="0"/>
          </a:p>
          <a:p>
            <a:r>
              <a:rPr lang="en-US" altLang="en-US" dirty="0"/>
              <a:t>Alternative 1:  Use </a:t>
            </a:r>
            <a:r>
              <a:rPr lang="en-US" altLang="en-US" dirty="0" err="1"/>
              <a:t>denormalized</a:t>
            </a:r>
            <a:r>
              <a:rPr lang="en-US" altLang="en-US" dirty="0"/>
              <a:t> relation containing attributes of </a:t>
            </a:r>
            <a:r>
              <a:rPr lang="en-US" altLang="en-US" i="1" dirty="0"/>
              <a:t>course</a:t>
            </a:r>
            <a:r>
              <a:rPr lang="en-US" altLang="en-US" dirty="0"/>
              <a:t> as well as </a:t>
            </a:r>
            <a:r>
              <a:rPr lang="en-US" altLang="en-US" i="1" dirty="0" err="1"/>
              <a:t>prereq</a:t>
            </a:r>
            <a:r>
              <a:rPr lang="en-US" altLang="en-US" dirty="0"/>
              <a:t> with all above attributes</a:t>
            </a:r>
            <a:endParaRPr lang="en-US" altLang="en-US" dirty="0"/>
          </a:p>
          <a:p>
            <a:pPr lvl="1"/>
            <a:r>
              <a:rPr lang="en-US" altLang="en-US" dirty="0"/>
              <a:t>faster lookup</a:t>
            </a:r>
            <a:endParaRPr lang="en-US" altLang="en-US" dirty="0"/>
          </a:p>
          <a:p>
            <a:pPr lvl="1"/>
            <a:r>
              <a:rPr lang="en-US" altLang="en-US" dirty="0"/>
              <a:t>extra space and extra execution time for updates</a:t>
            </a:r>
            <a:endParaRPr lang="en-US" altLang="en-US" dirty="0"/>
          </a:p>
          <a:p>
            <a:pPr lvl="1"/>
            <a:r>
              <a:rPr lang="en-US" altLang="en-US" dirty="0"/>
              <a:t>extra coding work for programmer and possibility of error in extra code</a:t>
            </a:r>
            <a:endParaRPr lang="en-US" altLang="en-US" dirty="0"/>
          </a:p>
          <a:p>
            <a:r>
              <a:rPr lang="en-US" altLang="en-US" dirty="0"/>
              <a:t>Alternative 2: use a materialized view defined a </a:t>
            </a:r>
            <a:r>
              <a:rPr lang="en-US" altLang="en-US" i="1" dirty="0"/>
              <a:t>course</a:t>
            </a:r>
            <a:r>
              <a:rPr lang="en-US" altLang="en-US" dirty="0"/>
              <a:t>      </a:t>
            </a:r>
            <a:r>
              <a:rPr lang="en-US" altLang="en-US" i="1" dirty="0" err="1"/>
              <a:t>prereq</a:t>
            </a:r>
            <a:endParaRPr lang="en-US" altLang="en-US" i="1" dirty="0"/>
          </a:p>
          <a:p>
            <a:pPr lvl="1"/>
            <a:r>
              <a:rPr lang="en-US" altLang="en-US" dirty="0"/>
              <a:t>Benefits and drawbacks same as above, except no extra coding work for programmer and avoids possible errors</a:t>
            </a:r>
            <a:endParaRPr lang="en-US" altLang="en-US" dirty="0"/>
          </a:p>
        </p:txBody>
      </p:sp>
      <p:sp>
        <p:nvSpPr>
          <p:cNvPr id="96260" name="Freeform 4"/>
          <p:cNvSpPr/>
          <p:nvPr/>
        </p:nvSpPr>
        <p:spPr bwMode="auto">
          <a:xfrm>
            <a:off x="6556026" y="4146413"/>
            <a:ext cx="142875" cy="142875"/>
          </a:xfrm>
          <a:custGeom>
            <a:avLst/>
            <a:gdLst>
              <a:gd name="T0" fmla="*/ 0 w 182"/>
              <a:gd name="T1" fmla="*/ 0 h 182"/>
              <a:gd name="T2" fmla="*/ 0 w 182"/>
              <a:gd name="T3" fmla="*/ 2147483647 h 182"/>
              <a:gd name="T4" fmla="*/ 2147483647 w 182"/>
              <a:gd name="T5" fmla="*/ 0 h 182"/>
              <a:gd name="T6" fmla="*/ 2147483647 w 182"/>
              <a:gd name="T7" fmla="*/ 2147483647 h 182"/>
              <a:gd name="T8" fmla="*/ 0 w 182"/>
              <a:gd name="T9" fmla="*/ 0 h 18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82"/>
              <a:gd name="T16" fmla="*/ 0 h 182"/>
              <a:gd name="T17" fmla="*/ 182 w 182"/>
              <a:gd name="T18" fmla="*/ 182 h 18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82" h="182">
                <a:moveTo>
                  <a:pt x="0" y="0"/>
                </a:moveTo>
                <a:lnTo>
                  <a:pt x="0" y="182"/>
                </a:lnTo>
                <a:lnTo>
                  <a:pt x="182" y="0"/>
                </a:lnTo>
                <a:lnTo>
                  <a:pt x="182" y="182"/>
                </a:lnTo>
                <a:lnTo>
                  <a:pt x="0" y="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Other Design Issues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  <a:ea typeface="MS PGothic" panose="020B0600070205080204" pitchFamily="34" charset="-128"/>
            </a:endParaRPr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57693"/>
            <a:ext cx="7683192" cy="4885908"/>
          </a:xfrm>
        </p:spPr>
        <p:txBody>
          <a:bodyPr/>
          <a:lstStyle/>
          <a:p>
            <a:r>
              <a:rPr lang="en-US" altLang="en-US" dirty="0"/>
              <a:t>Some aspects of database design are not caught by normalization</a:t>
            </a:r>
            <a:endParaRPr lang="en-US" altLang="en-US" dirty="0"/>
          </a:p>
          <a:p>
            <a:r>
              <a:rPr lang="en-US" altLang="en-US" dirty="0"/>
              <a:t>Examples of bad database design, to be avoided: </a:t>
            </a:r>
            <a:endParaRPr lang="en-US" altLang="en-US" dirty="0"/>
          </a:p>
          <a:p>
            <a:pPr>
              <a:buFont typeface="Monotype Sorts" pitchFamily="-65" charset="2"/>
              <a:buNone/>
            </a:pPr>
            <a:r>
              <a:rPr lang="en-US" altLang="en-US" dirty="0"/>
              <a:t>	Instead of </a:t>
            </a:r>
            <a:r>
              <a:rPr lang="en-US" altLang="en-US" i="1" dirty="0"/>
              <a:t>earnings </a:t>
            </a:r>
            <a:r>
              <a:rPr lang="en-US" altLang="en-US" dirty="0"/>
              <a:t>(</a:t>
            </a:r>
            <a:r>
              <a:rPr lang="en-US" altLang="en-US" i="1" dirty="0" err="1"/>
              <a:t>company_id</a:t>
            </a:r>
            <a:r>
              <a:rPr lang="en-US" altLang="en-US" i="1" dirty="0"/>
              <a:t>, year, amount </a:t>
            </a:r>
            <a:r>
              <a:rPr lang="en-US" altLang="en-US" dirty="0"/>
              <a:t>), use </a:t>
            </a:r>
            <a:endParaRPr lang="en-US" altLang="en-US" dirty="0"/>
          </a:p>
          <a:p>
            <a:pPr lvl="1"/>
            <a:r>
              <a:rPr lang="en-US" altLang="en-US" i="1" dirty="0"/>
              <a:t>earnings_2004, earnings_2005, earnings_2006</a:t>
            </a:r>
            <a:r>
              <a:rPr lang="en-US" altLang="en-US" dirty="0"/>
              <a:t>, etc., all on the schema (</a:t>
            </a:r>
            <a:r>
              <a:rPr lang="en-US" altLang="en-US" i="1" dirty="0" err="1"/>
              <a:t>company_id</a:t>
            </a:r>
            <a:r>
              <a:rPr lang="en-US" altLang="en-US" i="1" dirty="0"/>
              <a:t>, earnings</a:t>
            </a:r>
            <a:r>
              <a:rPr lang="en-US" altLang="en-US" dirty="0"/>
              <a:t>).</a:t>
            </a:r>
            <a:endParaRPr lang="en-US" altLang="en-US" dirty="0"/>
          </a:p>
          <a:p>
            <a:pPr lvl="2"/>
            <a:r>
              <a:rPr lang="en-US" altLang="en-US" dirty="0"/>
              <a:t>Above are in BCNF, but make querying across years difficult and needs new table each year</a:t>
            </a:r>
            <a:endParaRPr lang="en-US" altLang="en-US" dirty="0"/>
          </a:p>
          <a:p>
            <a:pPr lvl="1"/>
            <a:r>
              <a:rPr lang="en-US" altLang="en-US" i="1" dirty="0" err="1"/>
              <a:t>company_year</a:t>
            </a:r>
            <a:r>
              <a:rPr lang="en-US" altLang="en-US" i="1" dirty="0"/>
              <a:t> </a:t>
            </a:r>
            <a:r>
              <a:rPr lang="en-US" altLang="en-US" dirty="0"/>
              <a:t>(</a:t>
            </a:r>
            <a:r>
              <a:rPr lang="en-US" altLang="en-US" i="1" dirty="0" err="1"/>
              <a:t>company_id</a:t>
            </a:r>
            <a:r>
              <a:rPr lang="en-US" altLang="en-US" i="1" dirty="0"/>
              <a:t>, earnings_2004, earnings_2005,  </a:t>
            </a:r>
            <a:br>
              <a:rPr lang="en-US" altLang="en-US" i="1" dirty="0"/>
            </a:br>
            <a:r>
              <a:rPr lang="en-US" altLang="en-US" i="1" dirty="0"/>
              <a:t>earnings_2006</a:t>
            </a:r>
            <a:r>
              <a:rPr lang="en-US" altLang="en-US" dirty="0"/>
              <a:t>)</a:t>
            </a:r>
            <a:endParaRPr lang="en-US" altLang="en-US" dirty="0"/>
          </a:p>
          <a:p>
            <a:pPr lvl="2"/>
            <a:r>
              <a:rPr lang="en-US" altLang="en-US" dirty="0"/>
              <a:t>Also in BCNF, but also makes querying across years difficult and requires new attribute each year.</a:t>
            </a:r>
            <a:endParaRPr lang="en-US" altLang="en-US" dirty="0"/>
          </a:p>
          <a:p>
            <a:pPr lvl="2"/>
            <a:r>
              <a:rPr lang="en-US" altLang="en-US" dirty="0"/>
              <a:t>Is an example of a </a:t>
            </a:r>
            <a:r>
              <a:rPr lang="en-US" altLang="en-US" b="1" dirty="0"/>
              <a:t>crosstab</a:t>
            </a:r>
            <a:r>
              <a:rPr lang="en-US" altLang="en-US" dirty="0"/>
              <a:t>, where values for one attribute become column names</a:t>
            </a:r>
            <a:endParaRPr lang="en-US" altLang="en-US" dirty="0"/>
          </a:p>
          <a:p>
            <a:pPr lvl="2"/>
            <a:r>
              <a:rPr lang="en-US" altLang="en-US" dirty="0"/>
              <a:t>Used in spreadsheets, and in data analysis tools</a:t>
            </a:r>
            <a:endParaRPr lang="en-US" altLang="en-US" dirty="0"/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Modeling Temporal Data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  <a:ea typeface="MS PGothic" panose="020B0600070205080204" pitchFamily="34" charset="-128"/>
            </a:endParaRPr>
          </a:p>
        </p:txBody>
      </p:sp>
      <p:sp>
        <p:nvSpPr>
          <p:cNvPr id="983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093789"/>
            <a:ext cx="7677818" cy="4645274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2060"/>
                </a:solidFill>
              </a:rPr>
              <a:t>Temporal data</a:t>
            </a:r>
            <a:r>
              <a:rPr lang="en-US" altLang="en-US" dirty="0">
                <a:solidFill>
                  <a:srgbClr val="002060"/>
                </a:solidFill>
              </a:rPr>
              <a:t> </a:t>
            </a:r>
            <a:r>
              <a:rPr lang="en-US" altLang="en-US" dirty="0"/>
              <a:t>have an association time interval during which the data are </a:t>
            </a:r>
            <a:r>
              <a:rPr lang="en-US" altLang="en-US" i="1" dirty="0"/>
              <a:t>valid.</a:t>
            </a: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A </a:t>
            </a:r>
            <a:r>
              <a:rPr lang="en-US" altLang="en-US" b="1" dirty="0">
                <a:solidFill>
                  <a:srgbClr val="002060"/>
                </a:solidFill>
              </a:rPr>
              <a:t>snapshot</a:t>
            </a:r>
            <a:r>
              <a:rPr lang="en-US" altLang="en-US" dirty="0"/>
              <a:t> is the value of the data at a particular point in time</a:t>
            </a: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Several proposals to extend ER model by adding valid time to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attributes, e.g., address of an instructor at different points in time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entities, e.g., time duration when a student entity exists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relationships, e.g., time during which an instructor was associated with a student as an advisor.</a:t>
            </a: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But no accepted standard</a:t>
            </a: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Adding a temporal component results in functional dependencies like</a:t>
            </a:r>
            <a:endParaRPr lang="en-US" altLang="en-US" dirty="0"/>
          </a:p>
          <a:p>
            <a:pPr>
              <a:lnSpc>
                <a:spcPct val="90000"/>
              </a:lnSpc>
              <a:buFont typeface="Monotype Sorts" pitchFamily="-65" charset="2"/>
              <a:buNone/>
            </a:pPr>
            <a:r>
              <a:rPr lang="en-US" altLang="en-US" i="1" dirty="0"/>
              <a:t>		ID </a:t>
            </a:r>
            <a:r>
              <a:rPr lang="en-US" altLang="en-US" dirty="0">
                <a:sym typeface="Symbol" panose="05050102010706020507" pitchFamily="18" charset="2"/>
              </a:rPr>
              <a:t></a:t>
            </a:r>
            <a:r>
              <a:rPr lang="en-US" altLang="en-US" i="1" dirty="0"/>
              <a:t> street, city</a:t>
            </a:r>
            <a:endParaRPr lang="en-US" altLang="en-US" i="1" dirty="0"/>
          </a:p>
          <a:p>
            <a:pPr>
              <a:lnSpc>
                <a:spcPct val="90000"/>
              </a:lnSpc>
              <a:buFont typeface="Monotype Sorts" pitchFamily="-65" charset="2"/>
              <a:buNone/>
            </a:pPr>
            <a:r>
              <a:rPr lang="en-US" altLang="en-US" dirty="0"/>
              <a:t>	not holding, because the address varies over time</a:t>
            </a: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A </a:t>
            </a:r>
            <a:r>
              <a:rPr lang="en-US" altLang="en-US" b="1" dirty="0">
                <a:solidFill>
                  <a:srgbClr val="002060"/>
                </a:solidFill>
              </a:rPr>
              <a:t>temporal functional dependency</a:t>
            </a:r>
            <a:r>
              <a:rPr lang="en-US" altLang="en-US" i="1" dirty="0">
                <a:solidFill>
                  <a:srgbClr val="002060"/>
                </a:solidFill>
              </a:rPr>
              <a:t>  </a:t>
            </a:r>
            <a:r>
              <a:rPr lang="en-US" altLang="en-US" dirty="0"/>
              <a:t>X </a:t>
            </a:r>
            <a:r>
              <a:rPr lang="en-US" altLang="en-US" dirty="0">
                <a:sym typeface="Symbol" panose="05050102010706020507" pitchFamily="18" charset="2"/>
              </a:rPr>
              <a:t></a:t>
            </a:r>
            <a:r>
              <a:rPr lang="en-US" altLang="en-US" dirty="0">
                <a:sym typeface="Wingdings" panose="05000000000000000000" pitchFamily="2" charset="2"/>
              </a:rPr>
              <a:t> Y </a:t>
            </a:r>
            <a:r>
              <a:rPr lang="en-US" altLang="en-US" dirty="0"/>
              <a:t>holds on schema </a:t>
            </a:r>
            <a:r>
              <a:rPr lang="en-US" altLang="en-US" i="1" dirty="0"/>
              <a:t>R</a:t>
            </a:r>
            <a:r>
              <a:rPr lang="en-US" altLang="en-US" dirty="0"/>
              <a:t> if the functional dependency X </a:t>
            </a:r>
            <a:r>
              <a:rPr lang="en-US" altLang="en-US" dirty="0">
                <a:sym typeface="Wingdings" panose="05000000000000000000" pitchFamily="2" charset="2"/>
              </a:rPr>
              <a:t> Y </a:t>
            </a:r>
            <a:r>
              <a:rPr lang="en-US" altLang="en-US" dirty="0"/>
              <a:t>holds on all snapshots for all legal instances r (</a:t>
            </a:r>
            <a:r>
              <a:rPr lang="en-US" altLang="en-US" i="1" dirty="0"/>
              <a:t>R</a:t>
            </a:r>
            <a:r>
              <a:rPr lang="en-US" altLang="en-US" dirty="0"/>
              <a:t>).</a:t>
            </a: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Modeling Temporal Data (Cont.)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  <a:ea typeface="MS PGothic" panose="020B0600070205080204" pitchFamily="34" charset="-128"/>
            </a:endParaRPr>
          </a:p>
        </p:txBody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93789"/>
            <a:ext cx="7713913" cy="3478211"/>
          </a:xfrm>
        </p:spPr>
        <p:txBody>
          <a:bodyPr/>
          <a:lstStyle/>
          <a:p>
            <a:r>
              <a:rPr lang="en-US" altLang="en-US" dirty="0"/>
              <a:t>In practice, database designers may add start and end time attributes to relations</a:t>
            </a:r>
            <a:endParaRPr lang="en-US" altLang="en-US" dirty="0"/>
          </a:p>
          <a:p>
            <a:pPr lvl="1"/>
            <a:r>
              <a:rPr lang="en-US" altLang="en-US" dirty="0"/>
              <a:t>E.g., </a:t>
            </a:r>
            <a:r>
              <a:rPr lang="en-US" altLang="en-US" i="1" dirty="0"/>
              <a:t>course</a:t>
            </a:r>
            <a:r>
              <a:rPr lang="en-US" altLang="en-US" dirty="0"/>
              <a:t>(</a:t>
            </a:r>
            <a:r>
              <a:rPr lang="en-US" altLang="en-US" i="1" dirty="0" err="1"/>
              <a:t>course_id</a:t>
            </a:r>
            <a:r>
              <a:rPr lang="en-US" altLang="en-US" i="1" dirty="0"/>
              <a:t>, </a:t>
            </a:r>
            <a:r>
              <a:rPr lang="en-US" altLang="en-US" i="1" dirty="0" err="1"/>
              <a:t>course_title</a:t>
            </a:r>
            <a:r>
              <a:rPr lang="en-US" altLang="en-US" dirty="0"/>
              <a:t>) </a:t>
            </a:r>
            <a:r>
              <a:rPr lang="en-US" altLang="en-US" dirty="0">
                <a:sym typeface="Wingdings" panose="05000000000000000000" pitchFamily="2" charset="2"/>
              </a:rPr>
              <a:t>is replaced by</a:t>
            </a:r>
            <a:endParaRPr lang="en-US" altLang="en-US" dirty="0"/>
          </a:p>
          <a:p>
            <a:pPr lvl="2">
              <a:buFont typeface="Webdings" panose="05030102010509060703" pitchFamily="18" charset="2"/>
              <a:buNone/>
            </a:pPr>
            <a:r>
              <a:rPr lang="en-US" altLang="en-US" i="1" dirty="0"/>
              <a:t>     course</a:t>
            </a:r>
            <a:r>
              <a:rPr lang="en-US" altLang="en-US" dirty="0"/>
              <a:t>(</a:t>
            </a:r>
            <a:r>
              <a:rPr lang="en-US" altLang="en-US" i="1" dirty="0" err="1"/>
              <a:t>course_id</a:t>
            </a:r>
            <a:r>
              <a:rPr lang="en-US" altLang="en-US" i="1" dirty="0"/>
              <a:t>, </a:t>
            </a:r>
            <a:r>
              <a:rPr lang="en-US" altLang="en-US" i="1" dirty="0" err="1"/>
              <a:t>course_title</a:t>
            </a:r>
            <a:r>
              <a:rPr lang="en-US" altLang="en-US" i="1" dirty="0"/>
              <a:t>, start, end</a:t>
            </a:r>
            <a:r>
              <a:rPr lang="en-US" altLang="en-US" dirty="0"/>
              <a:t>)</a:t>
            </a:r>
            <a:endParaRPr lang="en-US" altLang="en-US" dirty="0"/>
          </a:p>
          <a:p>
            <a:pPr lvl="1"/>
            <a:r>
              <a:rPr lang="en-US" altLang="en-US" dirty="0"/>
              <a:t>Constraint: no two tuples can have overlapping valid times</a:t>
            </a:r>
            <a:endParaRPr lang="en-US" altLang="en-US" dirty="0"/>
          </a:p>
          <a:p>
            <a:pPr lvl="2"/>
            <a:r>
              <a:rPr lang="en-US" altLang="en-US" dirty="0"/>
              <a:t>Hard to enforce efficiently</a:t>
            </a:r>
            <a:endParaRPr lang="en-US" altLang="en-US" dirty="0"/>
          </a:p>
          <a:p>
            <a:r>
              <a:rPr lang="en-US" altLang="en-US" dirty="0"/>
              <a:t>Foreign key references may be to current version of data, or to data at a point in time</a:t>
            </a:r>
            <a:endParaRPr lang="en-US" altLang="en-US" dirty="0"/>
          </a:p>
          <a:p>
            <a:pPr lvl="1"/>
            <a:r>
              <a:rPr lang="en-US" altLang="en-US" dirty="0"/>
              <a:t>E.g., student transcript should refer to course information at the time the course was taken</a:t>
            </a:r>
            <a:endParaRPr lang="en-US" altLang="en-US" dirty="0"/>
          </a:p>
          <a:p>
            <a:pPr lvl="1">
              <a:buFont typeface="Monotype Sorts" pitchFamily="-65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794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End of Chapter </a:t>
            </a:r>
            <a:r>
              <a:rPr lang="en-US" altLang="en-US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7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  <a:ea typeface="MS PGothic" panose="020B0600070205080204" pitchFamily="34" charset="-128"/>
            </a:endParaRP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15231" y="2400300"/>
            <a:ext cx="6112769" cy="1257300"/>
          </a:xfrm>
        </p:spPr>
        <p:txBody>
          <a:bodyPr/>
          <a:lstStyle/>
          <a:p>
            <a:pPr>
              <a:buFont typeface="Monotype Sorts" pitchFamily="-65" charset="2"/>
              <a:buNone/>
              <a:defRPr/>
            </a:pPr>
            <a:r>
              <a:rPr lang="en-US" alt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MS PGothic" panose="020B0600070205080204" pitchFamily="34" charset="-128"/>
                <a:cs typeface="+mj-cs"/>
              </a:rPr>
              <a:t>Proof of Correctness of 3NF Decomposition Algorithm</a:t>
            </a:r>
            <a:endParaRPr lang="en-US" altLang="en-US" sz="3200" b="1" dirty="0"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j-lt"/>
              <a:ea typeface="MS PGothic" panose="020B0600070205080204" pitchFamily="34" charset="-128"/>
              <a:cs typeface="+mj-cs"/>
            </a:endParaRPr>
          </a:p>
        </p:txBody>
      </p:sp>
    </p:spTree>
  </p:cSld>
  <p:clrMapOvr>
    <a:masterClrMapping/>
  </p:clrMapOvr>
  <p:transition spd="slow"/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890" name="Rectangle 2"/>
          <p:cNvSpPr>
            <a:spLocks noGrp="1" noChangeArrowheads="1"/>
          </p:cNvSpPr>
          <p:nvPr>
            <p:ph type="title"/>
          </p:nvPr>
        </p:nvSpPr>
        <p:spPr>
          <a:xfrm>
            <a:off x="682625" y="60325"/>
            <a:ext cx="8461375" cy="644525"/>
          </a:xfrm>
        </p:spPr>
        <p:txBody>
          <a:bodyPr/>
          <a:lstStyle/>
          <a:p>
            <a:pPr>
              <a:defRPr/>
            </a:pPr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Correctness of 3NF Decomposition Algorithm</a:t>
            </a:r>
            <a:endParaRPr lang="en-US" altLang="en-US" sz="2800" dirty="0">
              <a:effectLst>
                <a:outerShdw blurRad="38100" dist="38100" dir="2700000" algn="tl">
                  <a:srgbClr val="C0C0C0"/>
                </a:outerShdw>
              </a:effectLst>
              <a:ea typeface="MS PGothic" panose="020B0600070205080204" pitchFamily="34" charset="-128"/>
            </a:endParaRPr>
          </a:p>
        </p:txBody>
      </p:sp>
      <p:sp>
        <p:nvSpPr>
          <p:cNvPr id="1024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7868" y="1283371"/>
            <a:ext cx="7483875" cy="2879555"/>
          </a:xfrm>
        </p:spPr>
        <p:txBody>
          <a:bodyPr/>
          <a:lstStyle/>
          <a:p>
            <a:r>
              <a:rPr lang="en-US" altLang="en-US" sz="2400" dirty="0"/>
              <a:t>3NF decomposition algorithm is dependency preserving (since there is a relation for every FD in </a:t>
            </a:r>
            <a:r>
              <a:rPr lang="en-US" altLang="en-US" sz="2400" i="1" dirty="0"/>
              <a:t>F</a:t>
            </a:r>
            <a:r>
              <a:rPr lang="en-US" altLang="en-US" sz="2400" i="1" baseline="-25000" dirty="0"/>
              <a:t>c</a:t>
            </a:r>
            <a:r>
              <a:rPr lang="en-US" altLang="en-US" sz="2400" dirty="0"/>
              <a:t>)</a:t>
            </a:r>
            <a:endParaRPr lang="en-US" altLang="en-US" sz="2400" dirty="0"/>
          </a:p>
          <a:p>
            <a:r>
              <a:rPr lang="en-US" altLang="en-US" sz="2400" dirty="0"/>
              <a:t>Decomposition is lossless</a:t>
            </a:r>
            <a:endParaRPr lang="en-US" altLang="en-US" sz="2400" dirty="0"/>
          </a:p>
          <a:p>
            <a:pPr lvl="1"/>
            <a:r>
              <a:rPr lang="en-US" altLang="en-US" sz="2400" dirty="0"/>
              <a:t>A candidate key (</a:t>
            </a:r>
            <a:r>
              <a:rPr lang="en-US" altLang="en-US" sz="2400" i="1" dirty="0"/>
              <a:t>C </a:t>
            </a:r>
            <a:r>
              <a:rPr lang="en-US" altLang="en-US" sz="2400" dirty="0"/>
              <a:t>) is in one of the relations </a:t>
            </a:r>
            <a:r>
              <a:rPr lang="en-US" altLang="en-US" sz="2400" i="1" dirty="0"/>
              <a:t>R</a:t>
            </a:r>
            <a:r>
              <a:rPr lang="en-US" altLang="en-US" sz="2400" i="1" baseline="-25000" dirty="0"/>
              <a:t>i</a:t>
            </a:r>
            <a:r>
              <a:rPr lang="en-US" altLang="en-US" sz="2400" dirty="0"/>
              <a:t> in decomposition</a:t>
            </a:r>
            <a:endParaRPr lang="en-US" altLang="en-US" sz="2400" dirty="0"/>
          </a:p>
          <a:p>
            <a:pPr lvl="1"/>
            <a:r>
              <a:rPr lang="en-US" altLang="en-US" sz="2400" dirty="0"/>
              <a:t>Closure of candidate key under </a:t>
            </a:r>
            <a:r>
              <a:rPr lang="en-US" altLang="en-US" sz="2400" i="1" dirty="0"/>
              <a:t>F</a:t>
            </a:r>
            <a:r>
              <a:rPr lang="en-US" altLang="en-US" sz="2400" i="1" baseline="-25000" dirty="0"/>
              <a:t>c</a:t>
            </a:r>
            <a:r>
              <a:rPr lang="en-US" altLang="en-US" sz="2400" dirty="0"/>
              <a:t> must contain all attributes in </a:t>
            </a:r>
            <a:r>
              <a:rPr lang="en-US" altLang="en-US" sz="2400" i="1" dirty="0"/>
              <a:t>R</a:t>
            </a:r>
            <a:r>
              <a:rPr lang="en-US" altLang="en-US" sz="2400" dirty="0"/>
              <a:t>.  </a:t>
            </a:r>
            <a:endParaRPr lang="en-US" altLang="en-US" sz="2400" dirty="0"/>
          </a:p>
          <a:p>
            <a:pPr lvl="1"/>
            <a:r>
              <a:rPr lang="en-US" altLang="en-US" sz="2400" dirty="0"/>
              <a:t>Follow the steps of attribute closure algorithm to show there is only one tuple in the join result for each tuple in</a:t>
            </a:r>
            <a:r>
              <a:rPr lang="en-US" altLang="en-US" sz="2400" i="1" dirty="0"/>
              <a:t> R</a:t>
            </a:r>
            <a:r>
              <a:rPr lang="en-US" altLang="en-US" sz="2400" i="1" baseline="-25000" dirty="0"/>
              <a:t>i</a:t>
            </a:r>
            <a:endParaRPr lang="en-US" altLang="en-US" sz="2400" dirty="0"/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890" name="Rectangle 2"/>
          <p:cNvSpPr>
            <a:spLocks noGrp="1" noChangeArrowheads="1"/>
          </p:cNvSpPr>
          <p:nvPr>
            <p:ph type="title"/>
          </p:nvPr>
        </p:nvSpPr>
        <p:spPr>
          <a:xfrm>
            <a:off x="682625" y="60325"/>
            <a:ext cx="8461375" cy="644525"/>
          </a:xfrm>
        </p:spPr>
        <p:txBody>
          <a:bodyPr/>
          <a:lstStyle/>
          <a:p>
            <a:pPr>
              <a:defRPr/>
            </a:pPr>
            <a:r>
              <a:rPr lang="en-US" altLang="en-US" sz="2400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Correctness of 3NF Decomposition Algorithm (Cont</a:t>
            </a:r>
            <a:r>
              <a:rPr lang="en-US" altLang="en-US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MS PGothic" panose="020B0600070205080204" pitchFamily="34" charset="-128"/>
              </a:rPr>
              <a:t>.</a:t>
            </a:r>
            <a:r>
              <a:rPr lang="en-US" altLang="ja-JP" sz="2400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)</a:t>
            </a:r>
            <a:endParaRPr lang="en-US" altLang="en-US" sz="2400" dirty="0">
              <a:effectLst>
                <a:outerShdw blurRad="38100" dist="38100" dir="2700000" algn="tl">
                  <a:srgbClr val="C0C0C0"/>
                </a:outerShdw>
              </a:effectLst>
              <a:ea typeface="MS PGothic" panose="020B0600070205080204" pitchFamily="34" charset="-128"/>
            </a:endParaRPr>
          </a:p>
        </p:txBody>
      </p:sp>
      <p:sp>
        <p:nvSpPr>
          <p:cNvPr id="1034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16745" y="1278385"/>
            <a:ext cx="7636139" cy="3058708"/>
          </a:xfrm>
        </p:spPr>
        <p:txBody>
          <a:bodyPr/>
          <a:lstStyle/>
          <a:p>
            <a:r>
              <a:rPr lang="en-US" altLang="en-US" sz="2400" dirty="0"/>
              <a:t>Claim: if a relation </a:t>
            </a:r>
            <a:r>
              <a:rPr lang="en-US" altLang="en-US" sz="2400" i="1" dirty="0"/>
              <a:t>R</a:t>
            </a:r>
            <a:r>
              <a:rPr lang="en-US" altLang="en-US" sz="2400" i="1" baseline="-25000" dirty="0"/>
              <a:t>i</a:t>
            </a:r>
            <a:r>
              <a:rPr lang="en-US" altLang="en-US" sz="2400" dirty="0"/>
              <a:t> is in the decomposition generated by the  above algorithm, then </a:t>
            </a:r>
            <a:r>
              <a:rPr lang="en-US" altLang="en-US" sz="2400" i="1" dirty="0"/>
              <a:t>R</a:t>
            </a:r>
            <a:r>
              <a:rPr lang="en-US" altLang="en-US" sz="2400" i="1" baseline="-25000" dirty="0"/>
              <a:t>i</a:t>
            </a:r>
            <a:r>
              <a:rPr lang="en-US" altLang="en-US" sz="2400" dirty="0"/>
              <a:t> satisfies 3NF.</a:t>
            </a:r>
            <a:endParaRPr lang="en-US" altLang="en-US" sz="2400" dirty="0"/>
          </a:p>
          <a:p>
            <a:r>
              <a:rPr lang="en-US" altLang="en-US" sz="2400" dirty="0"/>
              <a:t>Proof:</a:t>
            </a:r>
            <a:endParaRPr lang="en-US" altLang="en-US" sz="2400" dirty="0"/>
          </a:p>
          <a:p>
            <a:pPr lvl="1"/>
            <a:r>
              <a:rPr lang="en-US" altLang="en-US" sz="2400" dirty="0"/>
              <a:t>Let </a:t>
            </a:r>
            <a:r>
              <a:rPr lang="en-US" altLang="en-US" sz="2400" i="1" dirty="0"/>
              <a:t>R</a:t>
            </a:r>
            <a:r>
              <a:rPr lang="en-US" altLang="en-US" sz="2400" i="1" baseline="-25000" dirty="0"/>
              <a:t>i</a:t>
            </a:r>
            <a:r>
              <a:rPr lang="en-US" altLang="en-US" sz="2400" dirty="0"/>
              <a:t> be generated from the dependency </a:t>
            </a:r>
            <a:r>
              <a:rPr lang="en-US" altLang="en-US" sz="2400" dirty="0">
                <a:sym typeface="Symbol" panose="05050102010706020507" pitchFamily="18" charset="2"/>
              </a:rPr>
              <a:t>  </a:t>
            </a:r>
            <a:endParaRPr lang="en-US" altLang="en-US" sz="2400" dirty="0"/>
          </a:p>
          <a:p>
            <a:pPr lvl="1"/>
            <a:r>
              <a:rPr lang="en-US" altLang="en-US" sz="2400" dirty="0"/>
              <a:t>Let </a:t>
            </a:r>
            <a:r>
              <a:rPr lang="en-US" altLang="en-US" sz="2400" dirty="0">
                <a:sym typeface="Symbol" panose="05050102010706020507" pitchFamily="18" charset="2"/>
              </a:rPr>
              <a:t>  B </a:t>
            </a:r>
            <a:r>
              <a:rPr lang="en-US" altLang="en-US" sz="2400" dirty="0"/>
              <a:t>be any non-trivial functional dependency on </a:t>
            </a:r>
            <a:r>
              <a:rPr lang="en-US" altLang="en-US" sz="2400" i="1" dirty="0"/>
              <a:t>R</a:t>
            </a:r>
            <a:r>
              <a:rPr lang="en-US" altLang="en-US" sz="2400" i="1" baseline="-25000" dirty="0"/>
              <a:t>i</a:t>
            </a:r>
            <a:r>
              <a:rPr lang="en-US" altLang="en-US" sz="2400" dirty="0"/>
              <a:t>. (We need only consider FDs whose right-hand side is a single attribute.)</a:t>
            </a:r>
            <a:endParaRPr lang="en-US" altLang="en-US" sz="2400" dirty="0"/>
          </a:p>
          <a:p>
            <a:pPr lvl="1"/>
            <a:r>
              <a:rPr lang="en-US" altLang="en-US" sz="2400" dirty="0"/>
              <a:t>Now, </a:t>
            </a:r>
            <a:r>
              <a:rPr lang="en-US" altLang="en-US" sz="2400" i="1" dirty="0"/>
              <a:t>B</a:t>
            </a:r>
            <a:r>
              <a:rPr lang="en-US" altLang="en-US" sz="2400" dirty="0"/>
              <a:t> can be in either </a:t>
            </a:r>
            <a:r>
              <a:rPr lang="en-US" altLang="en-US" sz="2400" dirty="0">
                <a:sym typeface="Symbol" panose="05050102010706020507" pitchFamily="18" charset="2"/>
              </a:rPr>
              <a:t> </a:t>
            </a:r>
            <a:r>
              <a:rPr lang="en-US" altLang="en-US" sz="2400" dirty="0"/>
              <a:t>or </a:t>
            </a:r>
            <a:r>
              <a:rPr lang="en-US" altLang="en-US" sz="2400" dirty="0">
                <a:sym typeface="Symbol" panose="05050102010706020507" pitchFamily="18" charset="2"/>
              </a:rPr>
              <a:t> </a:t>
            </a:r>
            <a:r>
              <a:rPr lang="en-US" altLang="en-US" sz="2400" dirty="0"/>
              <a:t>but not in both. Consider each case separately.</a:t>
            </a:r>
            <a:endParaRPr lang="en-US" altLang="en-US" sz="2400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986" name="Rectangle 2"/>
          <p:cNvSpPr>
            <a:spLocks noGrp="1" noChangeArrowheads="1"/>
          </p:cNvSpPr>
          <p:nvPr>
            <p:ph type="title"/>
          </p:nvPr>
        </p:nvSpPr>
        <p:spPr>
          <a:xfrm>
            <a:off x="890588" y="158750"/>
            <a:ext cx="7915275" cy="569913"/>
          </a:xfrm>
        </p:spPr>
        <p:txBody>
          <a:bodyPr/>
          <a:lstStyle/>
          <a:p>
            <a:pPr>
              <a:defRPr/>
            </a:pPr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Correctness of 3NF Decomposition (Cont</a:t>
            </a:r>
            <a:r>
              <a:rPr lang="en-US" altLang="ja-JP" sz="2800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.)</a:t>
            </a:r>
            <a:endParaRPr lang="en-US" altLang="en-US" sz="2800" dirty="0">
              <a:effectLst>
                <a:outerShdw blurRad="38100" dist="38100" dir="2700000" algn="tl">
                  <a:srgbClr val="C0C0C0"/>
                </a:outerShdw>
              </a:effectLst>
              <a:ea typeface="MS PGothic" panose="020B0600070205080204" pitchFamily="34" charset="-128"/>
            </a:endParaRPr>
          </a:p>
        </p:txBody>
      </p:sp>
      <p:sp>
        <p:nvSpPr>
          <p:cNvPr id="1044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98992" y="1162974"/>
            <a:ext cx="7589006" cy="4278453"/>
          </a:xfrm>
        </p:spPr>
        <p:txBody>
          <a:bodyPr/>
          <a:lstStyle/>
          <a:p>
            <a:r>
              <a:rPr lang="en-US" altLang="en-US" sz="2000" dirty="0"/>
              <a:t>Case 1: If </a:t>
            </a:r>
            <a:r>
              <a:rPr lang="en-US" altLang="en-US" sz="2000" i="1" dirty="0"/>
              <a:t>B</a:t>
            </a:r>
            <a:r>
              <a:rPr lang="en-US" altLang="en-US" sz="2000" dirty="0"/>
              <a:t> in </a:t>
            </a:r>
            <a:r>
              <a:rPr lang="en-US" altLang="en-US" sz="2000" dirty="0">
                <a:sym typeface="Symbol" panose="05050102010706020507" pitchFamily="18" charset="2"/>
              </a:rPr>
              <a:t></a:t>
            </a:r>
            <a:r>
              <a:rPr lang="en-US" altLang="en-US" sz="2000" dirty="0"/>
              <a:t>:</a:t>
            </a:r>
            <a:endParaRPr lang="en-US" altLang="en-US" sz="2000" dirty="0"/>
          </a:p>
          <a:p>
            <a:pPr lvl="1"/>
            <a:r>
              <a:rPr lang="en-US" altLang="en-US" sz="2000" dirty="0"/>
              <a:t>If </a:t>
            </a:r>
            <a:r>
              <a:rPr lang="en-US" altLang="en-US" sz="2000" dirty="0">
                <a:sym typeface="Symbol" panose="05050102010706020507" pitchFamily="18" charset="2"/>
              </a:rPr>
              <a:t></a:t>
            </a:r>
            <a:r>
              <a:rPr lang="en-US" altLang="en-US" sz="2000" dirty="0"/>
              <a:t> is a </a:t>
            </a:r>
            <a:r>
              <a:rPr lang="en-US" altLang="en-US" sz="2000" dirty="0" err="1"/>
              <a:t>superkey</a:t>
            </a:r>
            <a:r>
              <a:rPr lang="en-US" altLang="en-US" sz="2000" dirty="0"/>
              <a:t>, the 2nd condition of 3NF is satisfied</a:t>
            </a:r>
            <a:endParaRPr lang="en-US" altLang="en-US" sz="2000" dirty="0"/>
          </a:p>
          <a:p>
            <a:pPr lvl="1"/>
            <a:r>
              <a:rPr lang="en-US" altLang="en-US" sz="2000" dirty="0"/>
              <a:t>Otherwise </a:t>
            </a:r>
            <a:r>
              <a:rPr lang="en-US" altLang="en-US" sz="2000" dirty="0">
                <a:sym typeface="Symbol" panose="05050102010706020507" pitchFamily="18" charset="2"/>
              </a:rPr>
              <a:t></a:t>
            </a:r>
            <a:r>
              <a:rPr lang="en-US" altLang="en-US" sz="2000" dirty="0"/>
              <a:t> must contain some attribute not in </a:t>
            </a:r>
            <a:r>
              <a:rPr lang="en-US" altLang="en-US" sz="2000" dirty="0">
                <a:sym typeface="Symbol" panose="05050102010706020507" pitchFamily="18" charset="2"/>
              </a:rPr>
              <a:t></a:t>
            </a:r>
            <a:endParaRPr lang="en-US" altLang="en-US" sz="2000" dirty="0"/>
          </a:p>
          <a:p>
            <a:pPr lvl="1"/>
            <a:r>
              <a:rPr lang="en-US" altLang="en-US" sz="2000" dirty="0"/>
              <a:t>Since </a:t>
            </a:r>
            <a:r>
              <a:rPr lang="en-US" altLang="en-US" sz="2000" dirty="0">
                <a:sym typeface="Symbol" panose="05050102010706020507" pitchFamily="18" charset="2"/>
              </a:rPr>
              <a:t></a:t>
            </a:r>
            <a:r>
              <a:rPr lang="en-US" altLang="en-US" sz="2000" dirty="0"/>
              <a:t> </a:t>
            </a:r>
            <a:r>
              <a:rPr lang="en-US" altLang="en-US" sz="2000" dirty="0">
                <a:sym typeface="Symbol" panose="05050102010706020507" pitchFamily="18" charset="2"/>
              </a:rPr>
              <a:t></a:t>
            </a:r>
            <a:r>
              <a:rPr lang="en-US" altLang="en-US" sz="2000" dirty="0"/>
              <a:t> </a:t>
            </a:r>
            <a:r>
              <a:rPr lang="en-US" altLang="en-US" sz="2000" i="1" dirty="0"/>
              <a:t>B</a:t>
            </a:r>
            <a:r>
              <a:rPr lang="en-US" altLang="en-US" sz="2000" dirty="0"/>
              <a:t> is in </a:t>
            </a:r>
            <a:r>
              <a:rPr lang="en-US" altLang="en-US" sz="2000" i="1" dirty="0"/>
              <a:t>F</a:t>
            </a:r>
            <a:r>
              <a:rPr lang="en-US" altLang="en-US" sz="2000" i="1" baseline="30000" dirty="0"/>
              <a:t>+</a:t>
            </a:r>
            <a:r>
              <a:rPr lang="en-US" altLang="en-US" sz="2000" dirty="0"/>
              <a:t> it must be derivable from </a:t>
            </a:r>
            <a:r>
              <a:rPr lang="en-US" altLang="en-US" sz="2000" i="1" dirty="0"/>
              <a:t>F</a:t>
            </a:r>
            <a:r>
              <a:rPr lang="en-US" altLang="en-US" sz="2000" i="1" baseline="-25000" dirty="0"/>
              <a:t>c</a:t>
            </a:r>
            <a:r>
              <a:rPr lang="en-US" altLang="en-US" sz="2000" dirty="0"/>
              <a:t>, by using attribute closure on </a:t>
            </a:r>
            <a:r>
              <a:rPr lang="en-US" altLang="en-US" sz="2000" dirty="0">
                <a:sym typeface="Symbol" panose="05050102010706020507" pitchFamily="18" charset="2"/>
              </a:rPr>
              <a:t></a:t>
            </a:r>
            <a:r>
              <a:rPr lang="en-US" altLang="en-US" sz="2000" dirty="0"/>
              <a:t>.</a:t>
            </a:r>
            <a:endParaRPr lang="en-US" altLang="en-US" sz="2000" dirty="0"/>
          </a:p>
          <a:p>
            <a:pPr lvl="1"/>
            <a:r>
              <a:rPr lang="en-US" altLang="en-US" sz="2000" dirty="0"/>
              <a:t>Attribute closure not have used </a:t>
            </a:r>
            <a:r>
              <a:rPr lang="en-US" altLang="en-US" sz="2000" dirty="0">
                <a:sym typeface="Symbol" panose="05050102010706020507" pitchFamily="18" charset="2"/>
              </a:rPr>
              <a:t> .  If </a:t>
            </a:r>
            <a:r>
              <a:rPr lang="en-US" altLang="en-US" sz="2000" dirty="0"/>
              <a:t>it had been used, </a:t>
            </a:r>
            <a:r>
              <a:rPr lang="en-US" altLang="en-US" sz="2000" dirty="0">
                <a:sym typeface="Symbol" panose="05050102010706020507" pitchFamily="18" charset="2"/>
              </a:rPr>
              <a:t></a:t>
            </a:r>
            <a:r>
              <a:rPr lang="en-US" altLang="en-US" sz="2000" dirty="0"/>
              <a:t> must be contained in the attribute closure of </a:t>
            </a:r>
            <a:r>
              <a:rPr lang="en-US" altLang="en-US" sz="2000" dirty="0">
                <a:sym typeface="Symbol" panose="05050102010706020507" pitchFamily="18" charset="2"/>
              </a:rPr>
              <a:t></a:t>
            </a:r>
            <a:r>
              <a:rPr lang="en-US" altLang="en-US" sz="2000" dirty="0"/>
              <a:t>, which is not possible, since we assumed </a:t>
            </a:r>
            <a:r>
              <a:rPr lang="en-US" altLang="en-US" sz="2000" dirty="0">
                <a:sym typeface="Symbol" panose="05050102010706020507" pitchFamily="18" charset="2"/>
              </a:rPr>
              <a:t></a:t>
            </a:r>
            <a:r>
              <a:rPr lang="en-US" altLang="en-US" sz="2000" dirty="0"/>
              <a:t> is not a </a:t>
            </a:r>
            <a:r>
              <a:rPr lang="en-US" altLang="en-US" sz="2000" dirty="0" err="1"/>
              <a:t>superkey</a:t>
            </a:r>
            <a:r>
              <a:rPr lang="en-US" altLang="en-US" sz="2000" dirty="0"/>
              <a:t>.</a:t>
            </a:r>
            <a:endParaRPr lang="en-US" altLang="en-US" sz="2000" dirty="0"/>
          </a:p>
          <a:p>
            <a:pPr lvl="1"/>
            <a:r>
              <a:rPr lang="en-US" altLang="en-US" sz="2000" dirty="0"/>
              <a:t>Now, using </a:t>
            </a:r>
            <a:r>
              <a:rPr lang="en-US" altLang="en-US" sz="2000" dirty="0">
                <a:sym typeface="Symbol" panose="05050102010706020507" pitchFamily="18" charset="2"/>
              </a:rPr>
              <a:t></a:t>
            </a:r>
            <a:r>
              <a:rPr lang="en-US" altLang="en-US" sz="2000" dirty="0"/>
              <a:t>  (</a:t>
            </a:r>
            <a:r>
              <a:rPr lang="en-US" altLang="en-US" sz="2000" dirty="0">
                <a:sym typeface="Symbol" panose="05050102010706020507" pitchFamily="18" charset="2"/>
              </a:rPr>
              <a:t></a:t>
            </a:r>
            <a:r>
              <a:rPr lang="en-US" altLang="en-US" sz="2000" dirty="0"/>
              <a:t>- {B}) and </a:t>
            </a:r>
            <a:r>
              <a:rPr lang="en-US" altLang="en-US" sz="2000" dirty="0">
                <a:sym typeface="Symbol" panose="05050102010706020507" pitchFamily="18" charset="2"/>
              </a:rPr>
              <a:t></a:t>
            </a:r>
            <a:r>
              <a:rPr lang="en-US" altLang="en-US" sz="2000" dirty="0"/>
              <a:t> </a:t>
            </a:r>
            <a:r>
              <a:rPr lang="en-US" altLang="en-US" sz="2000" dirty="0">
                <a:sym typeface="Symbol" panose="05050102010706020507" pitchFamily="18" charset="2"/>
              </a:rPr>
              <a:t></a:t>
            </a:r>
            <a:r>
              <a:rPr lang="en-US" altLang="en-US" sz="2000" dirty="0"/>
              <a:t> </a:t>
            </a:r>
            <a:r>
              <a:rPr lang="en-US" altLang="en-US" sz="2000" i="1" dirty="0"/>
              <a:t>B</a:t>
            </a:r>
            <a:r>
              <a:rPr lang="en-US" altLang="en-US" sz="2000" dirty="0"/>
              <a:t>, we can derive </a:t>
            </a:r>
            <a:r>
              <a:rPr lang="en-US" altLang="en-US" sz="2000" dirty="0">
                <a:sym typeface="Symbol" panose="05050102010706020507" pitchFamily="18" charset="2"/>
              </a:rPr>
              <a:t> </a:t>
            </a:r>
            <a:r>
              <a:rPr lang="en-US" altLang="en-US" sz="2000" i="1" dirty="0">
                <a:sym typeface="Symbol" panose="05050102010706020507" pitchFamily="18" charset="2"/>
              </a:rPr>
              <a:t>B</a:t>
            </a:r>
            <a:endParaRPr lang="en-US" altLang="en-US" sz="2000" i="1" dirty="0"/>
          </a:p>
          <a:p>
            <a:pPr lvl="1">
              <a:buFont typeface="Monotype Sorts" pitchFamily="-65" charset="2"/>
              <a:buNone/>
            </a:pPr>
            <a:r>
              <a:rPr lang="en-US" altLang="en-US" sz="2000" dirty="0"/>
              <a:t>	(since </a:t>
            </a:r>
            <a:r>
              <a:rPr lang="en-US" altLang="en-US" sz="2000" dirty="0">
                <a:sym typeface="Symbol" panose="05050102010706020507" pitchFamily="18" charset="2"/>
              </a:rPr>
              <a:t>   , and B   since  </a:t>
            </a:r>
            <a:r>
              <a:rPr lang="en-US" altLang="en-US" sz="2000" dirty="0"/>
              <a:t> </a:t>
            </a:r>
            <a:r>
              <a:rPr lang="en-US" altLang="en-US" sz="2000" i="1" dirty="0"/>
              <a:t>B</a:t>
            </a:r>
            <a:r>
              <a:rPr lang="en-US" altLang="en-US" sz="2000" dirty="0"/>
              <a:t> is non-trivial)</a:t>
            </a:r>
            <a:endParaRPr lang="en-US" altLang="en-US" sz="2000" dirty="0"/>
          </a:p>
          <a:p>
            <a:pPr lvl="1"/>
            <a:r>
              <a:rPr lang="en-US" altLang="en-US" sz="2000" dirty="0"/>
              <a:t>Then, </a:t>
            </a:r>
            <a:r>
              <a:rPr lang="en-US" altLang="en-US" sz="2000" i="1" dirty="0"/>
              <a:t>B</a:t>
            </a:r>
            <a:r>
              <a:rPr lang="en-US" altLang="en-US" sz="2000" dirty="0"/>
              <a:t> is extraneous in the right-hand side of </a:t>
            </a:r>
            <a:r>
              <a:rPr lang="en-US" altLang="en-US" sz="2000" dirty="0">
                <a:sym typeface="Symbol" panose="05050102010706020507" pitchFamily="18" charset="2"/>
              </a:rPr>
              <a:t> ;</a:t>
            </a:r>
            <a:r>
              <a:rPr lang="en-US" altLang="en-US" sz="2000" dirty="0"/>
              <a:t> which is not possible since </a:t>
            </a:r>
            <a:r>
              <a:rPr lang="en-US" altLang="en-US" sz="2000" dirty="0">
                <a:sym typeface="Symbol" panose="05050102010706020507" pitchFamily="18" charset="2"/>
              </a:rPr>
              <a:t> </a:t>
            </a:r>
            <a:r>
              <a:rPr lang="en-US" altLang="en-US" sz="2000" dirty="0"/>
              <a:t> is in F</a:t>
            </a:r>
            <a:r>
              <a:rPr lang="en-US" altLang="en-US" sz="2000" baseline="-25000" dirty="0"/>
              <a:t>c</a:t>
            </a:r>
            <a:r>
              <a:rPr lang="en-US" altLang="en-US" sz="2000" dirty="0"/>
              <a:t>.</a:t>
            </a:r>
            <a:endParaRPr lang="en-US" altLang="en-US" sz="2000" dirty="0"/>
          </a:p>
          <a:p>
            <a:pPr lvl="1"/>
            <a:r>
              <a:rPr lang="en-US" altLang="en-US" sz="2000" dirty="0"/>
              <a:t>Thus, if </a:t>
            </a:r>
            <a:r>
              <a:rPr lang="en-US" altLang="en-US" sz="2000" i="1" dirty="0"/>
              <a:t>B</a:t>
            </a:r>
            <a:r>
              <a:rPr lang="en-US" altLang="en-US" sz="2000" dirty="0"/>
              <a:t> is in </a:t>
            </a:r>
            <a:r>
              <a:rPr lang="en-US" altLang="en-US" sz="2000" dirty="0">
                <a:sym typeface="Symbol" panose="05050102010706020507" pitchFamily="18" charset="2"/>
              </a:rPr>
              <a:t></a:t>
            </a:r>
            <a:r>
              <a:rPr lang="en-US" altLang="en-US" sz="2000" dirty="0"/>
              <a:t> then </a:t>
            </a:r>
            <a:r>
              <a:rPr lang="en-US" altLang="en-US" sz="2000" dirty="0">
                <a:sym typeface="Symbol" panose="05050102010706020507" pitchFamily="18" charset="2"/>
              </a:rPr>
              <a:t></a:t>
            </a:r>
            <a:r>
              <a:rPr lang="en-US" altLang="en-US" sz="2000" dirty="0"/>
              <a:t>  must be a </a:t>
            </a:r>
            <a:r>
              <a:rPr lang="en-US" altLang="en-US" sz="2000" dirty="0" err="1"/>
              <a:t>superkey</a:t>
            </a:r>
            <a:r>
              <a:rPr lang="en-US" altLang="en-US" sz="2000" dirty="0"/>
              <a:t>, and the second condition of 3NF must be satisfied.</a:t>
            </a:r>
            <a:endParaRPr lang="en-US" altLang="en-US" sz="2000" dirty="0"/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034" name="Rectangle 2"/>
          <p:cNvSpPr>
            <a:spLocks noGrp="1" noChangeArrowheads="1"/>
          </p:cNvSpPr>
          <p:nvPr>
            <p:ph type="title"/>
          </p:nvPr>
        </p:nvSpPr>
        <p:spPr>
          <a:xfrm>
            <a:off x="682625" y="96838"/>
            <a:ext cx="8069263" cy="565150"/>
          </a:xfrm>
        </p:spPr>
        <p:txBody>
          <a:bodyPr/>
          <a:lstStyle/>
          <a:p>
            <a:pPr>
              <a:defRPr/>
            </a:pPr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Correctness of 3NF Decomposition (Cont</a:t>
            </a:r>
            <a:r>
              <a:rPr lang="en-US" altLang="ja-JP" sz="2800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.)</a:t>
            </a:r>
            <a:endParaRPr lang="en-US" altLang="en-US" sz="2800" dirty="0">
              <a:effectLst>
                <a:outerShdw blurRad="38100" dist="38100" dir="2700000" algn="tl">
                  <a:srgbClr val="C0C0C0"/>
                </a:outerShdw>
              </a:effectLst>
              <a:ea typeface="MS PGothic" panose="020B0600070205080204" pitchFamily="34" charset="-128"/>
            </a:endParaRPr>
          </a:p>
        </p:txBody>
      </p:sp>
      <p:sp>
        <p:nvSpPr>
          <p:cNvPr id="1054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90113" y="1136003"/>
            <a:ext cx="7568682" cy="2735012"/>
          </a:xfrm>
        </p:spPr>
        <p:txBody>
          <a:bodyPr/>
          <a:lstStyle/>
          <a:p>
            <a:r>
              <a:rPr lang="en-US" altLang="en-US" sz="2400" dirty="0"/>
              <a:t>Case 2:  </a:t>
            </a:r>
            <a:r>
              <a:rPr lang="en-US" altLang="en-US" sz="2400" i="1" dirty="0"/>
              <a:t>B</a:t>
            </a:r>
            <a:r>
              <a:rPr lang="en-US" altLang="en-US" sz="2400" dirty="0"/>
              <a:t> is in </a:t>
            </a:r>
            <a:r>
              <a:rPr lang="en-US" altLang="en-US" sz="2400" dirty="0">
                <a:sym typeface="Symbol" panose="05050102010706020507" pitchFamily="18" charset="2"/>
              </a:rPr>
              <a:t>.</a:t>
            </a:r>
            <a:endParaRPr lang="en-US" altLang="en-US" sz="2400" dirty="0"/>
          </a:p>
          <a:p>
            <a:pPr lvl="1"/>
            <a:r>
              <a:rPr lang="en-US" altLang="en-US" sz="2400" dirty="0"/>
              <a:t>Since </a:t>
            </a:r>
            <a:r>
              <a:rPr lang="en-US" altLang="en-US" sz="2400" dirty="0">
                <a:sym typeface="Symbol" panose="05050102010706020507" pitchFamily="18" charset="2"/>
              </a:rPr>
              <a:t></a:t>
            </a:r>
            <a:r>
              <a:rPr lang="en-US" altLang="en-US" sz="2400" dirty="0"/>
              <a:t>  is a candidate key, the third alternative in the definition of 3NF is trivially satisfied.</a:t>
            </a:r>
            <a:endParaRPr lang="en-US" altLang="en-US" sz="2400" dirty="0"/>
          </a:p>
          <a:p>
            <a:pPr lvl="1"/>
            <a:r>
              <a:rPr lang="en-US" altLang="en-US" sz="2400" dirty="0"/>
              <a:t>In fact, we cannot show that </a:t>
            </a:r>
            <a:r>
              <a:rPr lang="en-US" altLang="en-US" sz="2400" dirty="0">
                <a:sym typeface="Symbol" panose="05050102010706020507" pitchFamily="18" charset="2"/>
              </a:rPr>
              <a:t> </a:t>
            </a:r>
            <a:r>
              <a:rPr lang="en-US" altLang="en-US" sz="2400" dirty="0"/>
              <a:t>is a </a:t>
            </a:r>
            <a:r>
              <a:rPr lang="en-US" altLang="en-US" sz="2400" dirty="0" err="1"/>
              <a:t>superkey</a:t>
            </a:r>
            <a:r>
              <a:rPr lang="en-US" altLang="en-US" sz="2400" dirty="0"/>
              <a:t>.</a:t>
            </a:r>
            <a:endParaRPr lang="en-US" altLang="en-US" sz="2400" dirty="0"/>
          </a:p>
          <a:p>
            <a:pPr lvl="1"/>
            <a:r>
              <a:rPr lang="en-US" altLang="en-US" sz="2400" dirty="0"/>
              <a:t>This shows exactly why the third alternative is present in the definition of 3NF.</a:t>
            </a:r>
            <a:endParaRPr lang="en-US" altLang="en-US" sz="2400" dirty="0"/>
          </a:p>
          <a:p>
            <a:pPr>
              <a:buFont typeface="Monotype Sorts" pitchFamily="-65" charset="2"/>
              <a:buNone/>
            </a:pPr>
            <a:r>
              <a:rPr lang="en-US" altLang="en-US" sz="2400" dirty="0"/>
              <a:t>Q.E.D.</a:t>
            </a:r>
            <a:endParaRPr lang="en-US" altLang="en-US" sz="2400" dirty="0"/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First Normal Form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  <a:ea typeface="MS PGothic" panose="020B0600070205080204" pitchFamily="34" charset="-128"/>
            </a:endParaRPr>
          </a:p>
        </p:txBody>
      </p:sp>
      <p:sp>
        <p:nvSpPr>
          <p:cNvPr id="1064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17268"/>
            <a:ext cx="7789724" cy="4321008"/>
          </a:xfrm>
        </p:spPr>
        <p:txBody>
          <a:bodyPr/>
          <a:lstStyle/>
          <a:p>
            <a:r>
              <a:rPr lang="en-US" altLang="en-US" dirty="0"/>
              <a:t>Domain is </a:t>
            </a:r>
            <a:r>
              <a:rPr lang="en-US" altLang="en-US" b="1" dirty="0">
                <a:solidFill>
                  <a:srgbClr val="002060"/>
                </a:solidFill>
              </a:rPr>
              <a:t>atomic</a:t>
            </a:r>
            <a:r>
              <a:rPr lang="en-US" altLang="en-US" dirty="0">
                <a:solidFill>
                  <a:srgbClr val="002060"/>
                </a:solidFill>
              </a:rPr>
              <a:t> </a:t>
            </a:r>
            <a:r>
              <a:rPr lang="en-US" altLang="en-US" dirty="0"/>
              <a:t>if its elements are considered to be indivisible units</a:t>
            </a:r>
            <a:endParaRPr lang="en-US" altLang="en-US" dirty="0"/>
          </a:p>
          <a:p>
            <a:pPr lvl="1"/>
            <a:r>
              <a:rPr lang="en-US" altLang="en-US" dirty="0"/>
              <a:t>Examples of non-atomic domains:</a:t>
            </a:r>
            <a:endParaRPr lang="en-US" altLang="en-US" dirty="0"/>
          </a:p>
          <a:p>
            <a:pPr lvl="2"/>
            <a:r>
              <a:rPr lang="en-US" altLang="en-US" dirty="0"/>
              <a:t>Set of names, composite attributes</a:t>
            </a:r>
            <a:endParaRPr lang="en-US" altLang="en-US" dirty="0"/>
          </a:p>
          <a:p>
            <a:pPr lvl="2"/>
            <a:r>
              <a:rPr lang="en-US" altLang="en-US" dirty="0"/>
              <a:t>Identification numbers like CS101  that can be broken up into parts</a:t>
            </a:r>
            <a:endParaRPr lang="en-US" altLang="en-US" dirty="0"/>
          </a:p>
          <a:p>
            <a:r>
              <a:rPr lang="en-US" altLang="en-US" dirty="0"/>
              <a:t>A relational schema R is in </a:t>
            </a:r>
            <a:r>
              <a:rPr lang="en-US" altLang="en-US" b="1" dirty="0">
                <a:solidFill>
                  <a:srgbClr val="002060"/>
                </a:solidFill>
              </a:rPr>
              <a:t>first normal form</a:t>
            </a:r>
            <a:r>
              <a:rPr lang="en-US" altLang="en-US" dirty="0">
                <a:solidFill>
                  <a:srgbClr val="002060"/>
                </a:solidFill>
              </a:rPr>
              <a:t> </a:t>
            </a:r>
            <a:r>
              <a:rPr lang="en-US" altLang="en-US" dirty="0"/>
              <a:t>if the domains of all attributes of R are atomic</a:t>
            </a:r>
            <a:endParaRPr lang="en-US" altLang="en-US" dirty="0"/>
          </a:p>
          <a:p>
            <a:r>
              <a:rPr lang="en-US" altLang="en-US" dirty="0"/>
              <a:t>Non-atomic values complicate storage and encourage redundant (repeated) storage of data</a:t>
            </a:r>
            <a:endParaRPr lang="en-US" altLang="en-US" dirty="0"/>
          </a:p>
          <a:p>
            <a:pPr lvl="1"/>
            <a:r>
              <a:rPr lang="en-US" altLang="en-US" dirty="0"/>
              <a:t>Example:  Set of accounts stored with each customer, and set of owners stored with each account</a:t>
            </a:r>
            <a:endParaRPr lang="en-US" altLang="en-US" dirty="0"/>
          </a:p>
          <a:p>
            <a:pPr lvl="1"/>
            <a:r>
              <a:rPr lang="en-US" altLang="en-US" dirty="0"/>
              <a:t>We assume all relations are in first normal form (and revisit this in Chapter 22: Object Based Databases)</a:t>
            </a:r>
            <a:endParaRPr lang="en-US" altLang="en-US" dirty="0"/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04775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First Normal Form (Cont</a:t>
            </a: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MS PGothic" panose="020B0600070205080204" pitchFamily="34" charset="-128"/>
              </a:rPr>
              <a:t>.</a:t>
            </a:r>
            <a:r>
              <a:rPr lang="en-US" altLang="ja-JP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)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  <a:ea typeface="MS PGothic" panose="020B0600070205080204" pitchFamily="34" charset="-128"/>
            </a:endParaRPr>
          </a:p>
        </p:txBody>
      </p:sp>
      <p:sp>
        <p:nvSpPr>
          <p:cNvPr id="1075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79100" y="1203326"/>
            <a:ext cx="7743463" cy="3055854"/>
          </a:xfrm>
        </p:spPr>
        <p:txBody>
          <a:bodyPr/>
          <a:lstStyle/>
          <a:p>
            <a:r>
              <a:rPr lang="en-US" altLang="en-US" dirty="0"/>
              <a:t>Atomicity is actually a property of how the elements of the domain are used.</a:t>
            </a:r>
            <a:endParaRPr lang="en-US" altLang="en-US" dirty="0"/>
          </a:p>
          <a:p>
            <a:pPr lvl="1"/>
            <a:r>
              <a:rPr lang="en-US" altLang="en-US" dirty="0"/>
              <a:t>Example: Strings would normally be considered indivisible </a:t>
            </a:r>
            <a:endParaRPr lang="en-US" altLang="en-US" dirty="0"/>
          </a:p>
          <a:p>
            <a:pPr lvl="1"/>
            <a:r>
              <a:rPr lang="en-US" altLang="en-US" dirty="0"/>
              <a:t>Suppose that students are given roll numbers which are strings of the form </a:t>
            </a:r>
            <a:r>
              <a:rPr lang="en-US" altLang="en-US" i="1" dirty="0"/>
              <a:t>CS0012 </a:t>
            </a:r>
            <a:r>
              <a:rPr lang="en-US" altLang="en-US" dirty="0"/>
              <a:t>or </a:t>
            </a:r>
            <a:r>
              <a:rPr lang="en-US" altLang="en-US" i="1" dirty="0"/>
              <a:t>EE1127</a:t>
            </a:r>
            <a:endParaRPr lang="en-US" altLang="en-US" i="1" dirty="0"/>
          </a:p>
          <a:p>
            <a:pPr lvl="1"/>
            <a:r>
              <a:rPr lang="en-US" altLang="en-US" dirty="0"/>
              <a:t>If the first two characters are extracted to find the department, the domain of roll numbers is not atomic.</a:t>
            </a:r>
            <a:endParaRPr lang="en-US" altLang="en-US" dirty="0"/>
          </a:p>
          <a:p>
            <a:pPr lvl="1"/>
            <a:r>
              <a:rPr lang="en-US" altLang="en-US" dirty="0"/>
              <a:t>Doing so is a bad idea: leads to encoding of information in application program rather than in the database.</a:t>
            </a:r>
            <a:endParaRPr lang="en-US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db-5-grey">
  <a:themeElements>
    <a:clrScheme name="">
      <a:dk1>
        <a:srgbClr val="000000"/>
      </a:dk1>
      <a:lt1>
        <a:srgbClr val="CCECFF"/>
      </a:lt1>
      <a:dk2>
        <a:srgbClr val="CC3300"/>
      </a:dk2>
      <a:lt2>
        <a:srgbClr val="666699"/>
      </a:lt2>
      <a:accent1>
        <a:srgbClr val="FFFFFF"/>
      </a:accent1>
      <a:accent2>
        <a:srgbClr val="CCCC00"/>
      </a:accent2>
      <a:accent3>
        <a:srgbClr val="E2F4FF"/>
      </a:accent3>
      <a:accent4>
        <a:srgbClr val="000000"/>
      </a:accent4>
      <a:accent5>
        <a:srgbClr val="FFFFFF"/>
      </a:accent5>
      <a:accent6>
        <a:srgbClr val="B9B900"/>
      </a:accent6>
      <a:hlink>
        <a:srgbClr val="FF9900"/>
      </a:hlink>
      <a:folHlink>
        <a:srgbClr val="FF9933"/>
      </a:folHlink>
    </a:clrScheme>
    <a:fontScheme name="2_db-5-grey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panose="020B0604020202020204" pitchFamily="34" charset="0"/>
          </a:defRPr>
        </a:defPPr>
      </a:lstStyle>
    </a:lnDef>
  </a:objectDefaults>
  <a:extraClrSchemeLst>
    <a:extraClrScheme>
      <a:clrScheme name="2_db-5-grey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b-5-grey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b-5-grey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DB6</Template>
  <TotalTime>0</TotalTime>
  <Words>47104</Words>
  <Application>WPS 演示</Application>
  <PresentationFormat>全屏显示(4:3)</PresentationFormat>
  <Paragraphs>2467</Paragraphs>
  <Slides>142</Slides>
  <Notes>105</Notes>
  <HiddenSlides>0</HiddenSlides>
  <MMClips>0</MMClips>
  <ScaleCrop>false</ScaleCrop>
  <HeadingPairs>
    <vt:vector size="8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142</vt:i4>
      </vt:variant>
      <vt:variant>
        <vt:lpstr>自定义放映</vt:lpstr>
      </vt:variant>
      <vt:variant>
        <vt:i4>1</vt:i4>
      </vt:variant>
    </vt:vector>
  </HeadingPairs>
  <TitlesOfParts>
    <vt:vector size="163" baseType="lpstr">
      <vt:lpstr>Arial</vt:lpstr>
      <vt:lpstr>宋体</vt:lpstr>
      <vt:lpstr>Wingdings</vt:lpstr>
      <vt:lpstr>Helvetica</vt:lpstr>
      <vt:lpstr>MS PGothic</vt:lpstr>
      <vt:lpstr>Times New Roman</vt:lpstr>
      <vt:lpstr>Monotype Sorts</vt:lpstr>
      <vt:lpstr>Wingdings</vt:lpstr>
      <vt:lpstr>Webdings</vt:lpstr>
      <vt:lpstr>Tahoma</vt:lpstr>
      <vt:lpstr>Symbol</vt:lpstr>
      <vt:lpstr>微软雅黑</vt:lpstr>
      <vt:lpstr>Arial Unicode MS</vt:lpstr>
      <vt:lpstr>Greek Symbols</vt:lpstr>
      <vt:lpstr>Segoe Print</vt:lpstr>
      <vt:lpstr>Times</vt:lpstr>
      <vt:lpstr>MS LineDraw</vt:lpstr>
      <vt:lpstr>Iconic Symbols Ext</vt:lpstr>
      <vt:lpstr>Monotype Sorts</vt:lpstr>
      <vt:lpstr>2_db-5-grey</vt:lpstr>
      <vt:lpstr>Chapter 7:  Normalization</vt:lpstr>
      <vt:lpstr>PowerPoint 演示文稿</vt:lpstr>
      <vt:lpstr>Features of Good Relational Designs</vt:lpstr>
      <vt:lpstr>“好”的关系数据库设计 </vt:lpstr>
      <vt:lpstr>关系数据库中的问题</vt:lpstr>
      <vt:lpstr>关系数据库中的问题</vt:lpstr>
      <vt:lpstr>关系数据库中的问题</vt:lpstr>
      <vt:lpstr>关系数据库中的问题</vt:lpstr>
      <vt:lpstr>关系数据库中的问题</vt:lpstr>
      <vt:lpstr>什么导致了这些问题？</vt:lpstr>
      <vt:lpstr>什么导致了这些问题？</vt:lpstr>
      <vt:lpstr>什么导致了这些问题？</vt:lpstr>
      <vt:lpstr>如何解决这些问题？</vt:lpstr>
      <vt:lpstr>如何解决这些问题？</vt:lpstr>
      <vt:lpstr>如何解决这些问题？</vt:lpstr>
      <vt:lpstr>如何解决这些问题？</vt:lpstr>
      <vt:lpstr>思考与练习</vt:lpstr>
      <vt:lpstr>数据库设计理论</vt:lpstr>
      <vt:lpstr>PowerPoint 演示文稿</vt:lpstr>
      <vt:lpstr>Functional Dependencies</vt:lpstr>
      <vt:lpstr>Functional Dependencies (Cont.)</vt:lpstr>
      <vt:lpstr>Functional Dependencies Definition </vt:lpstr>
      <vt:lpstr>补充：函数依赖</vt:lpstr>
      <vt:lpstr>函数依赖</vt:lpstr>
      <vt:lpstr>函数依赖</vt:lpstr>
      <vt:lpstr>PowerPoint 演示文稿</vt:lpstr>
      <vt:lpstr>为什么使用范式？</vt:lpstr>
      <vt:lpstr>范式</vt:lpstr>
      <vt:lpstr>范式</vt:lpstr>
      <vt:lpstr>第一范式</vt:lpstr>
      <vt:lpstr>第一范式</vt:lpstr>
      <vt:lpstr>一些术语和解释</vt:lpstr>
      <vt:lpstr>一些术语和解释</vt:lpstr>
      <vt:lpstr>第二范式</vt:lpstr>
      <vt:lpstr>第二范式</vt:lpstr>
      <vt:lpstr>第三范式</vt:lpstr>
      <vt:lpstr>第三范式</vt:lpstr>
      <vt:lpstr>Third Normal Form</vt:lpstr>
      <vt:lpstr>3NF Example</vt:lpstr>
      <vt:lpstr>Redundancy in 3NF</vt:lpstr>
      <vt:lpstr>Boyce-Codd Normal Form</vt:lpstr>
      <vt:lpstr>Boyce-Codd Normal Form (Cont.)</vt:lpstr>
      <vt:lpstr>例子：范式</vt:lpstr>
      <vt:lpstr>范式</vt:lpstr>
      <vt:lpstr>范式</vt:lpstr>
      <vt:lpstr>范式</vt:lpstr>
      <vt:lpstr>BC范式</vt:lpstr>
      <vt:lpstr>总结</vt:lpstr>
      <vt:lpstr>How good is BCNF?</vt:lpstr>
      <vt:lpstr>How good is BCNF? (Cont.)</vt:lpstr>
      <vt:lpstr>Higher Normal Forms </vt:lpstr>
      <vt:lpstr>PowerPoint 演示文稿</vt:lpstr>
      <vt:lpstr>Decomposition</vt:lpstr>
      <vt:lpstr>A Lossy Decomposition</vt:lpstr>
      <vt:lpstr>Lossless Decomposition</vt:lpstr>
      <vt:lpstr>Example of Lossless Decomposition </vt:lpstr>
      <vt:lpstr>Normalization Theory</vt:lpstr>
      <vt:lpstr>Closure of a Set of Functional Dependencies</vt:lpstr>
      <vt:lpstr>Keys and Functional Dependencies</vt:lpstr>
      <vt:lpstr>Use of Functional Dependencies</vt:lpstr>
      <vt:lpstr>Trivial Functional Dependencies</vt:lpstr>
      <vt:lpstr>如何让关系达到更高的范式?</vt:lpstr>
      <vt:lpstr>如何让关系达到更高的范式?</vt:lpstr>
      <vt:lpstr>Decomposing a Schema into BCNF</vt:lpstr>
      <vt:lpstr>Example</vt:lpstr>
      <vt:lpstr>BCNF and Dependency Preservation</vt:lpstr>
      <vt:lpstr>Comparison of BCNF and 3NF</vt:lpstr>
      <vt:lpstr>Goals of Normalization</vt:lpstr>
      <vt:lpstr>PowerPoint 演示文稿</vt:lpstr>
      <vt:lpstr>Functional-Dependency Theory Roadmap</vt:lpstr>
      <vt:lpstr>Closure of a Set of Functional Dependencies</vt:lpstr>
      <vt:lpstr>Closure of a Set of Functional Dependencies</vt:lpstr>
      <vt:lpstr>Example of  F+</vt:lpstr>
      <vt:lpstr>Closure of Functional Dependencies (Cont.)</vt:lpstr>
      <vt:lpstr>Procedure for Computing F+</vt:lpstr>
      <vt:lpstr>Closure of Attribute Sets</vt:lpstr>
      <vt:lpstr>Example of Attribute Set Closure</vt:lpstr>
      <vt:lpstr>Uses of Attribute Closure</vt:lpstr>
      <vt:lpstr>练习</vt:lpstr>
      <vt:lpstr>Canonical Cover</vt:lpstr>
      <vt:lpstr>Extraneous Attributes</vt:lpstr>
      <vt:lpstr>Extraneous Attributes (Cont.)</vt:lpstr>
      <vt:lpstr>Extraneous Attributes</vt:lpstr>
      <vt:lpstr>Testing if an Attribute is Extraneous</vt:lpstr>
      <vt:lpstr>Examples of Extraneous Attributes</vt:lpstr>
      <vt:lpstr>Canonical Cover</vt:lpstr>
      <vt:lpstr>Canonical Cover</vt:lpstr>
      <vt:lpstr>Example: Computing a Canonical Cover</vt:lpstr>
      <vt:lpstr>PowerPoint 演示文稿</vt:lpstr>
      <vt:lpstr>如何让关系达到更高的范式?</vt:lpstr>
      <vt:lpstr>Dependency Preservation</vt:lpstr>
      <vt:lpstr>Dependency Preservation (Cont.)</vt:lpstr>
      <vt:lpstr>Testing for Dependency Preservation</vt:lpstr>
      <vt:lpstr>Example</vt:lpstr>
      <vt:lpstr>Lossless Decomposition</vt:lpstr>
      <vt:lpstr>Example</vt:lpstr>
      <vt:lpstr>Example</vt:lpstr>
      <vt:lpstr>Dependency Preservation</vt:lpstr>
      <vt:lpstr>Dependency Preservation Example</vt:lpstr>
      <vt:lpstr>Testing for BCNF</vt:lpstr>
      <vt:lpstr>Testing Decomposition for BCNF</vt:lpstr>
      <vt:lpstr>BCNF Decomposition Algorithm</vt:lpstr>
      <vt:lpstr>Example of BCNF Decomposition</vt:lpstr>
      <vt:lpstr>BCNF Decomposition (Cont.)</vt:lpstr>
      <vt:lpstr>Third Normal Form</vt:lpstr>
      <vt:lpstr>3NF Example -- Relation dept_advisor</vt:lpstr>
      <vt:lpstr>Testing for 3NF</vt:lpstr>
      <vt:lpstr>3NF Decomposition Algorithm</vt:lpstr>
      <vt:lpstr>3NF Decomposition Algorithm (Cont.)</vt:lpstr>
      <vt:lpstr>3NF Decomposition: An Example</vt:lpstr>
      <vt:lpstr>3NF Decompsition Example (Cont.)</vt:lpstr>
      <vt:lpstr>规范化到3NF</vt:lpstr>
      <vt:lpstr>Comparison of BCNF and 3NF</vt:lpstr>
      <vt:lpstr>Design Goals</vt:lpstr>
      <vt:lpstr>PowerPoint 演示文稿</vt:lpstr>
      <vt:lpstr>Multivalued Dependencies (MVDs)</vt:lpstr>
      <vt:lpstr>Multivalued Dependencies</vt:lpstr>
      <vt:lpstr>MVD -- Tabular representation </vt:lpstr>
      <vt:lpstr>MVD (Cont.)</vt:lpstr>
      <vt:lpstr>Example</vt:lpstr>
      <vt:lpstr>Use of Multivalued Dependencies</vt:lpstr>
      <vt:lpstr>Theory of MVDs</vt:lpstr>
      <vt:lpstr>Fourth Normal Form</vt:lpstr>
      <vt:lpstr>Restriction of Multivalued Dependencies</vt:lpstr>
      <vt:lpstr>4NF Decomposition Algorithm</vt:lpstr>
      <vt:lpstr>Example</vt:lpstr>
      <vt:lpstr>PowerPoint 演示文稿</vt:lpstr>
      <vt:lpstr>Further Normal Forms</vt:lpstr>
      <vt:lpstr>Overall Database Design Process</vt:lpstr>
      <vt:lpstr>ER Model and Normalization</vt:lpstr>
      <vt:lpstr>Denormalization for Performance</vt:lpstr>
      <vt:lpstr>Other Design Issues</vt:lpstr>
      <vt:lpstr>Modeling Temporal Data</vt:lpstr>
      <vt:lpstr>Modeling Temporal Data (Cont.)</vt:lpstr>
      <vt:lpstr>End of Chapter 7</vt:lpstr>
      <vt:lpstr>PowerPoint 演示文稿</vt:lpstr>
      <vt:lpstr>Correctness of 3NF Decomposition Algorithm</vt:lpstr>
      <vt:lpstr>Correctness of 3NF Decomposition Algorithm (Cont.)</vt:lpstr>
      <vt:lpstr>Correctness of 3NF Decomposition (Cont.)</vt:lpstr>
      <vt:lpstr>Correctness of 3NF Decomposition (Cont.)</vt:lpstr>
      <vt:lpstr>First Normal Form</vt:lpstr>
      <vt:lpstr>First Normal Form (Cont.)</vt:lpstr>
      <vt:lpstr>Custom Show 1</vt:lpstr>
    </vt:vector>
  </TitlesOfParts>
  <Company>Lucent Technologies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7:  Relational Database Design</dc:title>
  <dc:creator>Marilyn Turnamian</dc:creator>
  <cp:lastModifiedBy>赖韩江</cp:lastModifiedBy>
  <cp:revision>575</cp:revision>
  <cp:lastPrinted>1999-06-28T19:27:00Z</cp:lastPrinted>
  <dcterms:created xsi:type="dcterms:W3CDTF">2009-12-21T15:40:00Z</dcterms:created>
  <dcterms:modified xsi:type="dcterms:W3CDTF">2025-11-12T07:44:44Z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D02659E318F142729BAA92E28314E721_12</vt:lpwstr>
  </property>
  <property fmtid="{D5CDD505-2E9C-101B-9397-08002B2CF9AE}" pid="3" name="KSOProductBuildVer">
    <vt:lpwstr>2052-12.1.0.18912</vt:lpwstr>
  </property>
</Properties>
</file>